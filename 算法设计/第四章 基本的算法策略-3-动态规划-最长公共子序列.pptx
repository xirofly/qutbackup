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theme/theme2.xml" ContentType="application/vnd.openxmlformats-officedocument.theme+xml"/>
  <Override PartName="/ppt/tags/tag1.xml" ContentType="application/vnd.openxmlformats-officedocument.presentationml.tags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tags/tag2.xml" ContentType="application/vnd.openxmlformats-officedocument.presentationml.tags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133"/>
  </p:notesMasterIdLst>
  <p:sldIdLst>
    <p:sldId id="395" r:id="rId2"/>
    <p:sldId id="259" r:id="rId3"/>
    <p:sldId id="425" r:id="rId4"/>
    <p:sldId id="427" r:id="rId5"/>
    <p:sldId id="428" r:id="rId6"/>
    <p:sldId id="261" r:id="rId7"/>
    <p:sldId id="262" r:id="rId8"/>
    <p:sldId id="263" r:id="rId9"/>
    <p:sldId id="264" r:id="rId10"/>
    <p:sldId id="265" r:id="rId11"/>
    <p:sldId id="266" r:id="rId12"/>
    <p:sldId id="271" r:id="rId13"/>
    <p:sldId id="272" r:id="rId14"/>
    <p:sldId id="273" r:id="rId15"/>
    <p:sldId id="274" r:id="rId16"/>
    <p:sldId id="275" r:id="rId17"/>
    <p:sldId id="276" r:id="rId18"/>
    <p:sldId id="277" r:id="rId19"/>
    <p:sldId id="278" r:id="rId20"/>
    <p:sldId id="279" r:id="rId21"/>
    <p:sldId id="280" r:id="rId22"/>
    <p:sldId id="281" r:id="rId23"/>
    <p:sldId id="282" r:id="rId24"/>
    <p:sldId id="283" r:id="rId25"/>
    <p:sldId id="284" r:id="rId26"/>
    <p:sldId id="285" r:id="rId27"/>
    <p:sldId id="286" r:id="rId28"/>
    <p:sldId id="287" r:id="rId29"/>
    <p:sldId id="288" r:id="rId30"/>
    <p:sldId id="289" r:id="rId31"/>
    <p:sldId id="291" r:id="rId32"/>
    <p:sldId id="293" r:id="rId33"/>
    <p:sldId id="294" r:id="rId34"/>
    <p:sldId id="295" r:id="rId35"/>
    <p:sldId id="297" r:id="rId36"/>
    <p:sldId id="298" r:id="rId37"/>
    <p:sldId id="301" r:id="rId38"/>
    <p:sldId id="303" r:id="rId39"/>
    <p:sldId id="304" r:id="rId40"/>
    <p:sldId id="305" r:id="rId41"/>
    <p:sldId id="308" r:id="rId42"/>
    <p:sldId id="309" r:id="rId43"/>
    <p:sldId id="310" r:id="rId44"/>
    <p:sldId id="311" r:id="rId45"/>
    <p:sldId id="312" r:id="rId46"/>
    <p:sldId id="315" r:id="rId47"/>
    <p:sldId id="432" r:id="rId48"/>
    <p:sldId id="433" r:id="rId49"/>
    <p:sldId id="316" r:id="rId50"/>
    <p:sldId id="317" r:id="rId51"/>
    <p:sldId id="430" r:id="rId52"/>
    <p:sldId id="319" r:id="rId53"/>
    <p:sldId id="320" r:id="rId54"/>
    <p:sldId id="321" r:id="rId55"/>
    <p:sldId id="322" r:id="rId56"/>
    <p:sldId id="323" r:id="rId57"/>
    <p:sldId id="324" r:id="rId58"/>
    <p:sldId id="325" r:id="rId59"/>
    <p:sldId id="326" r:id="rId60"/>
    <p:sldId id="327" r:id="rId61"/>
    <p:sldId id="328" r:id="rId62"/>
    <p:sldId id="329" r:id="rId63"/>
    <p:sldId id="330" r:id="rId64"/>
    <p:sldId id="331" r:id="rId65"/>
    <p:sldId id="332" r:id="rId66"/>
    <p:sldId id="333" r:id="rId67"/>
    <p:sldId id="334" r:id="rId68"/>
    <p:sldId id="335" r:id="rId69"/>
    <p:sldId id="336" r:id="rId70"/>
    <p:sldId id="337" r:id="rId71"/>
    <p:sldId id="338" r:id="rId72"/>
    <p:sldId id="339" r:id="rId73"/>
    <p:sldId id="340" r:id="rId74"/>
    <p:sldId id="341" r:id="rId75"/>
    <p:sldId id="342" r:id="rId76"/>
    <p:sldId id="343" r:id="rId77"/>
    <p:sldId id="344" r:id="rId78"/>
    <p:sldId id="345" r:id="rId79"/>
    <p:sldId id="346" r:id="rId80"/>
    <p:sldId id="347" r:id="rId81"/>
    <p:sldId id="348" r:id="rId82"/>
    <p:sldId id="349" r:id="rId83"/>
    <p:sldId id="350" r:id="rId84"/>
    <p:sldId id="351" r:id="rId85"/>
    <p:sldId id="352" r:id="rId86"/>
    <p:sldId id="353" r:id="rId87"/>
    <p:sldId id="354" r:id="rId88"/>
    <p:sldId id="355" r:id="rId89"/>
    <p:sldId id="356" r:id="rId90"/>
    <p:sldId id="357" r:id="rId91"/>
    <p:sldId id="358" r:id="rId92"/>
    <p:sldId id="359" r:id="rId93"/>
    <p:sldId id="360" r:id="rId94"/>
    <p:sldId id="361" r:id="rId95"/>
    <p:sldId id="362" r:id="rId96"/>
    <p:sldId id="363" r:id="rId97"/>
    <p:sldId id="364" r:id="rId98"/>
    <p:sldId id="365" r:id="rId99"/>
    <p:sldId id="366" r:id="rId100"/>
    <p:sldId id="367" r:id="rId101"/>
    <p:sldId id="368" r:id="rId102"/>
    <p:sldId id="369" r:id="rId103"/>
    <p:sldId id="370" r:id="rId104"/>
    <p:sldId id="371" r:id="rId105"/>
    <p:sldId id="372" r:id="rId106"/>
    <p:sldId id="373" r:id="rId107"/>
    <p:sldId id="374" r:id="rId108"/>
    <p:sldId id="375" r:id="rId109"/>
    <p:sldId id="376" r:id="rId110"/>
    <p:sldId id="377" r:id="rId111"/>
    <p:sldId id="378" r:id="rId112"/>
    <p:sldId id="379" r:id="rId113"/>
    <p:sldId id="380" r:id="rId114"/>
    <p:sldId id="381" r:id="rId115"/>
    <p:sldId id="382" r:id="rId116"/>
    <p:sldId id="383" r:id="rId117"/>
    <p:sldId id="384" r:id="rId118"/>
    <p:sldId id="385" r:id="rId119"/>
    <p:sldId id="386" r:id="rId120"/>
    <p:sldId id="387" r:id="rId121"/>
    <p:sldId id="388" r:id="rId122"/>
    <p:sldId id="389" r:id="rId123"/>
    <p:sldId id="390" r:id="rId124"/>
    <p:sldId id="391" r:id="rId125"/>
    <p:sldId id="392" r:id="rId126"/>
    <p:sldId id="393" r:id="rId127"/>
    <p:sldId id="394" r:id="rId128"/>
    <p:sldId id="431" r:id="rId129"/>
    <p:sldId id="396" r:id="rId130"/>
    <p:sldId id="397" r:id="rId131"/>
    <p:sldId id="398" r:id="rId132"/>
  </p:sldIdLst>
  <p:sldSz cx="12192000" cy="6858000"/>
  <p:notesSz cx="6858000" cy="9144000"/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27805"/>
    <p:restoredTop sz="85613"/>
  </p:normalViewPr>
  <p:slideViewPr>
    <p:cSldViewPr snapToGrid="0" snapToObjects="1">
      <p:cViewPr varScale="1">
        <p:scale>
          <a:sx n="103" d="100"/>
          <a:sy n="103" d="100"/>
        </p:scale>
        <p:origin x="200" y="68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6" Type="http://schemas.openxmlformats.org/officeDocument/2006/relationships/slide" Target="slides/slide15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28" Type="http://schemas.openxmlformats.org/officeDocument/2006/relationships/slide" Target="slides/slide127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18" Type="http://schemas.openxmlformats.org/officeDocument/2006/relationships/slide" Target="slides/slide117.xml"/><Relationship Id="rId134" Type="http://schemas.openxmlformats.org/officeDocument/2006/relationships/presProps" Target="presProps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slide" Target="slides/slide123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35" Type="http://schemas.openxmlformats.org/officeDocument/2006/relationships/viewProps" Target="viewProps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theme" Target="theme/theme1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tableStyles" Target="tableStyle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notesMaster" Target="notesMasters/notesMaster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kumimoji="1"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77A31A9-199E-0040-B421-36D8B674C3C2}" type="datetimeFigureOut">
              <a:rPr kumimoji="1" lang="zh-CN" altLang="en-US" smtClean="0"/>
              <a:t>2023/5/31</a:t>
            </a:fld>
            <a:endParaRPr kumimoji="1"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kumimoji="1" lang="zh-CN" altLang="en-US"/>
              <a:t>单击此处编辑母版文本样式</a:t>
            </a:r>
          </a:p>
          <a:p>
            <a:pPr lvl="1"/>
            <a:r>
              <a:rPr kumimoji="1" lang="zh-CN" altLang="en-US"/>
              <a:t>二级</a:t>
            </a:r>
          </a:p>
          <a:p>
            <a:pPr lvl="2"/>
            <a:r>
              <a:rPr kumimoji="1" lang="zh-CN" altLang="en-US"/>
              <a:t>三级</a:t>
            </a:r>
          </a:p>
          <a:p>
            <a:pPr lvl="3"/>
            <a:r>
              <a:rPr kumimoji="1" lang="zh-CN" altLang="en-US"/>
              <a:t>四级</a:t>
            </a:r>
          </a:p>
          <a:p>
            <a:pPr lvl="4"/>
            <a:r>
              <a:rPr kumimoji="1" lang="zh-CN" altLang="en-US"/>
              <a:t>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kumimoji="1"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F91ABD9-FA3A-ED42-B2DF-4A75A1E7DD15}" type="slidenum">
              <a:rPr kumimoji="1" lang="zh-CN" altLang="en-US" smtClean="0"/>
              <a:t>‹#›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322005846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C6B3782-2C2A-4249-98A3-D66C57BFD1C7}" type="slidenum">
              <a:rPr lang="zh-CN" altLang="en-US" smtClean="0"/>
              <a:t>1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8AA5F0-770B-410C-90B7-ECBA0CF9027F}" type="slidenum">
              <a:rPr lang="zh-CN" altLang="en-US" smtClean="0"/>
              <a:t>2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zh-CN" altLang="en-US" dirty="0"/>
              <a:t>并不要求子序列是原序列中连续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F91ABD9-FA3A-ED42-B2DF-4A75A1E7DD15}" type="slidenum">
              <a:rPr kumimoji="1" lang="zh-CN" altLang="en-US" smtClean="0"/>
              <a:t>6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129625495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zh-CN" altLang="en-US" dirty="0"/>
              <a:t>公共子序列不唯一，即使最长也不唯一。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F91ABD9-FA3A-ED42-B2DF-4A75A1E7DD15}" type="slidenum">
              <a:rPr kumimoji="1" lang="zh-CN" altLang="en-US" smtClean="0"/>
              <a:t>11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245484827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zh-CN" altLang="en-US" dirty="0"/>
              <a:t>即使长度相同，子序列也是不唯一的。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F91ABD9-FA3A-ED42-B2DF-4A75A1E7DD15}" type="slidenum">
              <a:rPr kumimoji="1" lang="zh-CN" altLang="en-US" smtClean="0"/>
              <a:t>18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352731515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zh-CN" altLang="en-US" dirty="0"/>
              <a:t>可以依次枚举长度为</a:t>
            </a:r>
            <a:r>
              <a:rPr kumimoji="1" lang="en-US" altLang="zh-CN" dirty="0"/>
              <a:t>2,3</a:t>
            </a:r>
            <a:r>
              <a:rPr kumimoji="1" lang="zh-CN" altLang="en-US" dirty="0"/>
              <a:t>的子序列，就不一一展示了。我们讨论一下长度为</a:t>
            </a:r>
            <a:r>
              <a:rPr kumimoji="1" lang="en-US" altLang="zh-CN" dirty="0"/>
              <a:t>4</a:t>
            </a:r>
            <a:r>
              <a:rPr kumimoji="1" lang="zh-CN" altLang="en-US" dirty="0"/>
              <a:t>的子序列。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F91ABD9-FA3A-ED42-B2DF-4A75A1E7DD15}" type="slidenum">
              <a:rPr kumimoji="1" lang="zh-CN" altLang="en-US" smtClean="0"/>
              <a:t>19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223475782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zh-CN" altLang="en-US" dirty="0"/>
              <a:t>周三，讲到这里了。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F91ABD9-FA3A-ED42-B2DF-4A75A1E7DD15}" type="slidenum">
              <a:rPr kumimoji="1" lang="zh-CN" altLang="en-US" smtClean="0"/>
              <a:t>24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2221410389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zh-CN" altLang="en-US" dirty="0"/>
              <a:t>因为</a:t>
            </a:r>
            <a:r>
              <a:rPr kumimoji="1" lang="en-US" altLang="zh-CN" dirty="0"/>
              <a:t>c</a:t>
            </a:r>
            <a:r>
              <a:rPr kumimoji="1" lang="zh-CN" altLang="en-US" dirty="0"/>
              <a:t> </a:t>
            </a:r>
            <a:r>
              <a:rPr kumimoji="1" lang="en-US" altLang="zh-CN" dirty="0" err="1"/>
              <a:t>i,j</a:t>
            </a:r>
            <a:r>
              <a:rPr kumimoji="1" lang="zh-CN" altLang="en-US" dirty="0"/>
              <a:t> 和  </a:t>
            </a:r>
            <a:r>
              <a:rPr kumimoji="1" lang="en-US" altLang="zh-CN" dirty="0"/>
              <a:t>c</a:t>
            </a:r>
            <a:r>
              <a:rPr kumimoji="1" lang="zh-CN" altLang="en-US" dirty="0"/>
              <a:t> </a:t>
            </a:r>
            <a:r>
              <a:rPr kumimoji="1" lang="en-US" altLang="zh-CN" dirty="0" err="1"/>
              <a:t>n,m</a:t>
            </a:r>
            <a:r>
              <a:rPr kumimoji="1" lang="zh-CN" altLang="en-US" dirty="0"/>
              <a:t> 都是最后一个元素</a:t>
            </a:r>
            <a:endParaRPr kumimoji="1" lang="en-US" altLang="zh-CN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F91ABD9-FA3A-ED42-B2DF-4A75A1E7DD15}" type="slidenum">
              <a:rPr kumimoji="1" lang="zh-CN" altLang="en-US" smtClean="0"/>
              <a:t>32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1069512166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zh-CN" altLang="en-US" dirty="0"/>
              <a:t>一种情况是同时出现了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F91ABD9-FA3A-ED42-B2DF-4A75A1E7DD15}" type="slidenum">
              <a:rPr kumimoji="1" lang="zh-CN" altLang="en-US" smtClean="0"/>
              <a:t>38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2873698874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zh-CN" altLang="en-US" dirty="0"/>
              <a:t>两个</a:t>
            </a:r>
            <a:r>
              <a:rPr kumimoji="1" lang="en-US" altLang="zh-CN" dirty="0"/>
              <a:t>B</a:t>
            </a:r>
            <a:r>
              <a:rPr kumimoji="1" lang="zh-CN" altLang="en-US" dirty="0"/>
              <a:t>同时出现在末尾，就一定出现在最长公共子序列里吗，不一定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F91ABD9-FA3A-ED42-B2DF-4A75A1E7DD15}" type="slidenum">
              <a:rPr kumimoji="1" lang="zh-CN" altLang="en-US" smtClean="0"/>
              <a:t>39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1834356731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zh-CN" altLang="en-US" dirty="0"/>
              <a:t>虽然最后两个</a:t>
            </a:r>
            <a:r>
              <a:rPr kumimoji="1" lang="en-US" altLang="zh-CN" dirty="0"/>
              <a:t>B</a:t>
            </a:r>
            <a:r>
              <a:rPr kumimoji="1" lang="zh-CN" altLang="en-US" dirty="0"/>
              <a:t>是相等的，但</a:t>
            </a:r>
            <a:r>
              <a:rPr kumimoji="1" lang="en-US" altLang="zh-CN" dirty="0"/>
              <a:t>Y</a:t>
            </a:r>
            <a:r>
              <a:rPr kumimoji="1" lang="zh-CN" altLang="en-US" dirty="0"/>
              <a:t>里面的</a:t>
            </a:r>
            <a:r>
              <a:rPr kumimoji="1" lang="en-US" altLang="zh-CN" dirty="0"/>
              <a:t>B</a:t>
            </a:r>
            <a:r>
              <a:rPr kumimoji="1" lang="zh-CN" altLang="en-US" dirty="0"/>
              <a:t>没出现在最长子序列里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F91ABD9-FA3A-ED42-B2DF-4A75A1E7DD15}" type="slidenum">
              <a:rPr kumimoji="1" lang="zh-CN" altLang="en-US" smtClean="0"/>
              <a:t>40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1572240566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zh-CN" altLang="en-US" dirty="0"/>
              <a:t>我们再深刻的分析，是不是这三种情况都要求解、 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F91ABD9-FA3A-ED42-B2DF-4A75A1E7DD15}" type="slidenum">
              <a:rPr kumimoji="1" lang="zh-CN" altLang="en-US" smtClean="0"/>
              <a:t>41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2480844092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C6B3782-2C2A-4249-98A3-D66C57BFD1C7}" type="slidenum">
              <a:rPr lang="zh-CN" altLang="en-US" smtClean="0"/>
              <a:t>47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50289833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zh-CN" altLang="en-US" dirty="0"/>
              <a:t>最长公共子序列（课本</a:t>
            </a:r>
            <a:r>
              <a:rPr kumimoji="1" lang="en-US" altLang="zh-CN" dirty="0"/>
              <a:t>176</a:t>
            </a:r>
            <a:r>
              <a:rPr kumimoji="1" lang="zh-CN" altLang="en-US" dirty="0"/>
              <a:t>页），该递推公式的含义是什么？这三个元素与</a:t>
            </a:r>
            <a:r>
              <a:rPr kumimoji="1" lang="en-US" altLang="zh-CN" dirty="0"/>
              <a:t>c[</a:t>
            </a:r>
            <a:r>
              <a:rPr kumimoji="1" lang="en-US" altLang="zh-CN" dirty="0" err="1"/>
              <a:t>i,j</a:t>
            </a:r>
            <a:r>
              <a:rPr kumimoji="1" lang="en-US" altLang="zh-CN" dirty="0"/>
              <a:t>]</a:t>
            </a:r>
            <a:r>
              <a:rPr kumimoji="1" lang="zh-CN" altLang="en-US" dirty="0"/>
              <a:t>的位置关系是什么？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F91ABD9-FA3A-ED42-B2DF-4A75A1E7DD15}" type="slidenum">
              <a:rPr kumimoji="1" lang="zh-CN" altLang="en-US" smtClean="0"/>
              <a:t>49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4261726258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F91ABD9-FA3A-ED42-B2DF-4A75A1E7DD15}" type="slidenum">
              <a:rPr kumimoji="1" lang="zh-CN" altLang="en-US" smtClean="0"/>
              <a:t>56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1357134961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F91ABD9-FA3A-ED42-B2DF-4A75A1E7DD15}" type="slidenum">
              <a:rPr kumimoji="1" lang="zh-CN" altLang="en-US" smtClean="0"/>
              <a:t>67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285742801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2.png"/><Relationship Id="rId4" Type="http://schemas.microsoft.com/office/2007/relationships/hdphoto" Target="../media/hdphoto1.wdp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章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矩形 55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2" name="图片 1" descr="5"/>
          <p:cNvPicPr>
            <a:picLocks noChangeAspect="1"/>
          </p:cNvPicPr>
          <p:nvPr userDrawn="1"/>
        </p:nvPicPr>
        <p:blipFill>
          <a:blip r:embed="rId2">
            <a:alphaModFix amt="30000"/>
          </a:blip>
          <a:stretch>
            <a:fillRect/>
          </a:stretch>
        </p:blipFill>
        <p:spPr>
          <a:xfrm>
            <a:off x="-3822065" y="-434340"/>
            <a:ext cx="7726680" cy="7726680"/>
          </a:xfrm>
          <a:prstGeom prst="rect">
            <a:avLst/>
          </a:prstGeom>
        </p:spPr>
      </p:pic>
      <p:pic>
        <p:nvPicPr>
          <p:cNvPr id="3" name="图片 2" descr="5"/>
          <p:cNvPicPr>
            <a:picLocks noChangeAspect="1"/>
          </p:cNvPicPr>
          <p:nvPr userDrawn="1"/>
        </p:nvPicPr>
        <p:blipFill>
          <a:blip r:embed="rId2">
            <a:alphaModFix amt="30000"/>
          </a:blip>
          <a:stretch>
            <a:fillRect/>
          </a:stretch>
        </p:blipFill>
        <p:spPr>
          <a:xfrm>
            <a:off x="8355330" y="-434340"/>
            <a:ext cx="7726680" cy="7726680"/>
          </a:xfrm>
          <a:prstGeom prst="rect">
            <a:avLst/>
          </a:prstGeom>
        </p:spPr>
      </p:pic>
      <p:sp>
        <p:nvSpPr>
          <p:cNvPr id="9" name="任意多边形: 形状 8"/>
          <p:cNvSpPr/>
          <p:nvPr userDrawn="1"/>
        </p:nvSpPr>
        <p:spPr>
          <a:xfrm rot="21413345">
            <a:off x="-107772" y="5889232"/>
            <a:ext cx="12369445" cy="1288985"/>
          </a:xfrm>
          <a:custGeom>
            <a:avLst/>
            <a:gdLst>
              <a:gd name="connsiteX0" fmla="*/ 12401882 w 12401882"/>
              <a:gd name="connsiteY0" fmla="*/ 73849 h 1288985"/>
              <a:gd name="connsiteX1" fmla="*/ 12335841 w 12401882"/>
              <a:gd name="connsiteY1" fmla="*/ 1288985 h 1288985"/>
              <a:gd name="connsiteX2" fmla="*/ 0 w 12401882"/>
              <a:gd name="connsiteY2" fmla="*/ 618542 h 1288985"/>
              <a:gd name="connsiteX3" fmla="*/ 33618 w 12401882"/>
              <a:gd name="connsiteY3" fmla="*/ 0 h 1288985"/>
              <a:gd name="connsiteX4" fmla="*/ 103646 w 12401882"/>
              <a:gd name="connsiteY4" fmla="*/ 32857 h 1288985"/>
              <a:gd name="connsiteX5" fmla="*/ 6308538 w 12401882"/>
              <a:gd name="connsiteY5" fmla="*/ 553243 h 1288985"/>
              <a:gd name="connsiteX6" fmla="*/ 12326375 w 12401882"/>
              <a:gd name="connsiteY6" fmla="*/ 98014 h 1288985"/>
              <a:gd name="connsiteX7" fmla="*/ 12401882 w 12401882"/>
              <a:gd name="connsiteY7" fmla="*/ 73849 h 12889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401882" h="1288985">
                <a:moveTo>
                  <a:pt x="12401882" y="73849"/>
                </a:moveTo>
                <a:lnTo>
                  <a:pt x="12335841" y="1288985"/>
                </a:lnTo>
                <a:lnTo>
                  <a:pt x="0" y="618542"/>
                </a:lnTo>
                <a:lnTo>
                  <a:pt x="33618" y="0"/>
                </a:lnTo>
                <a:lnTo>
                  <a:pt x="103646" y="32857"/>
                </a:lnTo>
                <a:cubicBezTo>
                  <a:pt x="814657" y="332114"/>
                  <a:pt x="3323130" y="553243"/>
                  <a:pt x="6308538" y="553243"/>
                </a:cubicBezTo>
                <a:cubicBezTo>
                  <a:pt x="9072803" y="553244"/>
                  <a:pt x="11428175" y="363661"/>
                  <a:pt x="12326375" y="98014"/>
                </a:cubicBezTo>
                <a:lnTo>
                  <a:pt x="12401882" y="73849"/>
                </a:lnTo>
                <a:close/>
              </a:path>
            </a:pathLst>
          </a:custGeom>
          <a:solidFill>
            <a:srgbClr val="005D96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8" name="任意多边形: 形状 7"/>
          <p:cNvSpPr/>
          <p:nvPr userDrawn="1"/>
        </p:nvSpPr>
        <p:spPr>
          <a:xfrm rot="21413345">
            <a:off x="-60722" y="5797965"/>
            <a:ext cx="12335849" cy="1470933"/>
          </a:xfrm>
          <a:custGeom>
            <a:avLst/>
            <a:gdLst>
              <a:gd name="connsiteX0" fmla="*/ 12401882 w 12401882"/>
              <a:gd name="connsiteY0" fmla="*/ 73849 h 1288985"/>
              <a:gd name="connsiteX1" fmla="*/ 12335841 w 12401882"/>
              <a:gd name="connsiteY1" fmla="*/ 1288985 h 1288985"/>
              <a:gd name="connsiteX2" fmla="*/ 0 w 12401882"/>
              <a:gd name="connsiteY2" fmla="*/ 618542 h 1288985"/>
              <a:gd name="connsiteX3" fmla="*/ 33618 w 12401882"/>
              <a:gd name="connsiteY3" fmla="*/ 0 h 1288985"/>
              <a:gd name="connsiteX4" fmla="*/ 103646 w 12401882"/>
              <a:gd name="connsiteY4" fmla="*/ 32857 h 1288985"/>
              <a:gd name="connsiteX5" fmla="*/ 6308538 w 12401882"/>
              <a:gd name="connsiteY5" fmla="*/ 553243 h 1288985"/>
              <a:gd name="connsiteX6" fmla="*/ 12326375 w 12401882"/>
              <a:gd name="connsiteY6" fmla="*/ 98014 h 1288985"/>
              <a:gd name="connsiteX7" fmla="*/ 12401882 w 12401882"/>
              <a:gd name="connsiteY7" fmla="*/ 73849 h 12889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401882" h="1288985">
                <a:moveTo>
                  <a:pt x="12401882" y="73849"/>
                </a:moveTo>
                <a:lnTo>
                  <a:pt x="12335841" y="1288985"/>
                </a:lnTo>
                <a:lnTo>
                  <a:pt x="0" y="618542"/>
                </a:lnTo>
                <a:lnTo>
                  <a:pt x="33618" y="0"/>
                </a:lnTo>
                <a:lnTo>
                  <a:pt x="103646" y="32857"/>
                </a:lnTo>
                <a:cubicBezTo>
                  <a:pt x="814657" y="332114"/>
                  <a:pt x="3323130" y="553243"/>
                  <a:pt x="6308538" y="553243"/>
                </a:cubicBezTo>
                <a:cubicBezTo>
                  <a:pt x="9072803" y="553244"/>
                  <a:pt x="11428175" y="363661"/>
                  <a:pt x="12326375" y="98014"/>
                </a:cubicBezTo>
                <a:lnTo>
                  <a:pt x="12401882" y="73849"/>
                </a:lnTo>
                <a:close/>
              </a:path>
            </a:pathLst>
          </a:custGeom>
          <a:solidFill>
            <a:srgbClr val="005D96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7" name="任意多边形: 形状 6"/>
          <p:cNvSpPr/>
          <p:nvPr userDrawn="1"/>
        </p:nvSpPr>
        <p:spPr>
          <a:xfrm rot="21413345">
            <a:off x="-101880" y="5734499"/>
            <a:ext cx="12376686" cy="1507273"/>
          </a:xfrm>
          <a:custGeom>
            <a:avLst/>
            <a:gdLst>
              <a:gd name="connsiteX0" fmla="*/ 12401882 w 12401882"/>
              <a:gd name="connsiteY0" fmla="*/ 73849 h 1288985"/>
              <a:gd name="connsiteX1" fmla="*/ 12335841 w 12401882"/>
              <a:gd name="connsiteY1" fmla="*/ 1288985 h 1288985"/>
              <a:gd name="connsiteX2" fmla="*/ 0 w 12401882"/>
              <a:gd name="connsiteY2" fmla="*/ 618542 h 1288985"/>
              <a:gd name="connsiteX3" fmla="*/ 33618 w 12401882"/>
              <a:gd name="connsiteY3" fmla="*/ 0 h 1288985"/>
              <a:gd name="connsiteX4" fmla="*/ 103646 w 12401882"/>
              <a:gd name="connsiteY4" fmla="*/ 32857 h 1288985"/>
              <a:gd name="connsiteX5" fmla="*/ 6308538 w 12401882"/>
              <a:gd name="connsiteY5" fmla="*/ 553243 h 1288985"/>
              <a:gd name="connsiteX6" fmla="*/ 12326375 w 12401882"/>
              <a:gd name="connsiteY6" fmla="*/ 98014 h 1288985"/>
              <a:gd name="connsiteX7" fmla="*/ 12401882 w 12401882"/>
              <a:gd name="connsiteY7" fmla="*/ 73849 h 12889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401882" h="1288985">
                <a:moveTo>
                  <a:pt x="12401882" y="73849"/>
                </a:moveTo>
                <a:lnTo>
                  <a:pt x="12335841" y="1288985"/>
                </a:lnTo>
                <a:lnTo>
                  <a:pt x="0" y="618542"/>
                </a:lnTo>
                <a:lnTo>
                  <a:pt x="33618" y="0"/>
                </a:lnTo>
                <a:lnTo>
                  <a:pt x="103646" y="32857"/>
                </a:lnTo>
                <a:cubicBezTo>
                  <a:pt x="814657" y="332114"/>
                  <a:pt x="3323130" y="553243"/>
                  <a:pt x="6308538" y="553243"/>
                </a:cubicBezTo>
                <a:cubicBezTo>
                  <a:pt x="9072803" y="553244"/>
                  <a:pt x="11428175" y="363661"/>
                  <a:pt x="12326375" y="98014"/>
                </a:cubicBezTo>
                <a:lnTo>
                  <a:pt x="12401882" y="73849"/>
                </a:lnTo>
                <a:close/>
              </a:path>
            </a:pathLst>
          </a:custGeom>
          <a:solidFill>
            <a:srgbClr val="005D96">
              <a:alpha val="3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10" name="日期占位符 9"/>
          <p:cNvSpPr>
            <a:spLocks noGrp="1"/>
          </p:cNvSpPr>
          <p:nvPr>
            <p:ph type="dt" sz="half" idx="2"/>
          </p:nvPr>
        </p:nvSpPr>
        <p:spPr>
          <a:xfrm>
            <a:off x="468630" y="6493076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 spc="300">
                <a:solidFill>
                  <a:schemeClr val="bg2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defRPr>
            </a:lvl1pPr>
          </a:lstStyle>
          <a:p>
            <a:r>
              <a:rPr lang="zh-CN" altLang="en-US" dirty="0"/>
              <a:t>百折不挠</a:t>
            </a:r>
            <a:r>
              <a:rPr lang="en-US" altLang="zh-CN" dirty="0"/>
              <a:t> </a:t>
            </a:r>
            <a:r>
              <a:rPr lang="zh-CN" altLang="en-US" dirty="0"/>
              <a:t>刚毅厚重</a:t>
            </a:r>
            <a:r>
              <a:rPr lang="en-US" altLang="zh-CN" dirty="0"/>
              <a:t> </a:t>
            </a:r>
            <a:r>
              <a:rPr lang="zh-CN" altLang="en-US" dirty="0"/>
              <a:t>勇承重载</a:t>
            </a:r>
          </a:p>
        </p:txBody>
      </p:sp>
    </p:spTree>
    <p:extLst>
      <p:ext uri="{BB962C8B-B14F-4D97-AF65-F5344CB8AC3E}">
        <p14:creationId xmlns:p14="http://schemas.microsoft.com/office/powerpoint/2010/main" val="193039387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1_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E8C55D43-650A-8A4B-B4D9-196FB2C293E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副标题 2">
            <a:extLst>
              <a:ext uri="{FF2B5EF4-FFF2-40B4-BE49-F238E27FC236}">
                <a16:creationId xmlns:a16="http://schemas.microsoft.com/office/drawing/2014/main" id="{85E4EBA6-65F5-F74A-84A4-1DAA79C9FDEA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kumimoji="1" lang="zh-CN" altLang="en-US"/>
              <a:t>单击此处编辑母版副标题样式</a:t>
            </a:r>
          </a:p>
        </p:txBody>
      </p:sp>
    </p:spTree>
    <p:extLst>
      <p:ext uri="{BB962C8B-B14F-4D97-AF65-F5344CB8AC3E}">
        <p14:creationId xmlns:p14="http://schemas.microsoft.com/office/powerpoint/2010/main" val="186730518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B4F5F6E5-6A2C-7845-96D1-C3F40C702DB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kumimoji="1" lang="zh-CN" altLang="en-US" dirty="0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C7972C42-3007-F74B-BAC1-5ECA1441429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kumimoji="1" lang="zh-CN" altLang="en-US"/>
              <a:t>单击此处编辑母版文本样式</a:t>
            </a:r>
          </a:p>
          <a:p>
            <a:pPr lvl="1"/>
            <a:r>
              <a:rPr kumimoji="1" lang="zh-CN" altLang="en-US"/>
              <a:t>二级</a:t>
            </a:r>
          </a:p>
          <a:p>
            <a:pPr lvl="2"/>
            <a:r>
              <a:rPr kumimoji="1" lang="zh-CN" altLang="en-US"/>
              <a:t>三级</a:t>
            </a:r>
          </a:p>
          <a:p>
            <a:pPr lvl="3"/>
            <a:r>
              <a:rPr kumimoji="1" lang="zh-CN" altLang="en-US"/>
              <a:t>四级</a:t>
            </a:r>
          </a:p>
          <a:p>
            <a:pPr lvl="4"/>
            <a:r>
              <a:rPr kumimoji="1" lang="zh-CN" altLang="en-US"/>
              <a:t>五级</a:t>
            </a:r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61DA583F-A0A9-184A-920D-99C2970D07DB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5" name="图片 4" descr="5">
            <a:extLst>
              <a:ext uri="{FF2B5EF4-FFF2-40B4-BE49-F238E27FC236}">
                <a16:creationId xmlns:a16="http://schemas.microsoft.com/office/drawing/2014/main" id="{59417B76-385F-8F47-9B73-0CC349ACC12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alphaModFix amt="30000"/>
          </a:blip>
          <a:stretch>
            <a:fillRect/>
          </a:stretch>
        </p:blipFill>
        <p:spPr>
          <a:xfrm>
            <a:off x="-3822065" y="-434340"/>
            <a:ext cx="7726680" cy="7726680"/>
          </a:xfrm>
          <a:prstGeom prst="rect">
            <a:avLst/>
          </a:prstGeom>
        </p:spPr>
      </p:pic>
      <p:pic>
        <p:nvPicPr>
          <p:cNvPr id="6" name="图片 5" descr="5">
            <a:extLst>
              <a:ext uri="{FF2B5EF4-FFF2-40B4-BE49-F238E27FC236}">
                <a16:creationId xmlns:a16="http://schemas.microsoft.com/office/drawing/2014/main" id="{B1FF307E-882A-204E-8371-C5B671C94F4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alphaModFix amt="30000"/>
          </a:blip>
          <a:stretch>
            <a:fillRect/>
          </a:stretch>
        </p:blipFill>
        <p:spPr>
          <a:xfrm>
            <a:off x="8355330" y="-434340"/>
            <a:ext cx="7726680" cy="7726680"/>
          </a:xfrm>
          <a:prstGeom prst="rect">
            <a:avLst/>
          </a:prstGeom>
        </p:spPr>
      </p:pic>
      <p:sp>
        <p:nvSpPr>
          <p:cNvPr id="7" name="任意多边形: 形状 8">
            <a:extLst>
              <a:ext uri="{FF2B5EF4-FFF2-40B4-BE49-F238E27FC236}">
                <a16:creationId xmlns:a16="http://schemas.microsoft.com/office/drawing/2014/main" id="{CD9F0C46-2A13-7B45-81EB-EFB03DDF0203}"/>
              </a:ext>
            </a:extLst>
          </p:cNvPr>
          <p:cNvSpPr/>
          <p:nvPr userDrawn="1"/>
        </p:nvSpPr>
        <p:spPr>
          <a:xfrm rot="21413345">
            <a:off x="-107772" y="5889232"/>
            <a:ext cx="12369445" cy="1288985"/>
          </a:xfrm>
          <a:custGeom>
            <a:avLst/>
            <a:gdLst>
              <a:gd name="connsiteX0" fmla="*/ 12401882 w 12401882"/>
              <a:gd name="connsiteY0" fmla="*/ 73849 h 1288985"/>
              <a:gd name="connsiteX1" fmla="*/ 12335841 w 12401882"/>
              <a:gd name="connsiteY1" fmla="*/ 1288985 h 1288985"/>
              <a:gd name="connsiteX2" fmla="*/ 0 w 12401882"/>
              <a:gd name="connsiteY2" fmla="*/ 618542 h 1288985"/>
              <a:gd name="connsiteX3" fmla="*/ 33618 w 12401882"/>
              <a:gd name="connsiteY3" fmla="*/ 0 h 1288985"/>
              <a:gd name="connsiteX4" fmla="*/ 103646 w 12401882"/>
              <a:gd name="connsiteY4" fmla="*/ 32857 h 1288985"/>
              <a:gd name="connsiteX5" fmla="*/ 6308538 w 12401882"/>
              <a:gd name="connsiteY5" fmla="*/ 553243 h 1288985"/>
              <a:gd name="connsiteX6" fmla="*/ 12326375 w 12401882"/>
              <a:gd name="connsiteY6" fmla="*/ 98014 h 1288985"/>
              <a:gd name="connsiteX7" fmla="*/ 12401882 w 12401882"/>
              <a:gd name="connsiteY7" fmla="*/ 73849 h 12889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401882" h="1288985">
                <a:moveTo>
                  <a:pt x="12401882" y="73849"/>
                </a:moveTo>
                <a:lnTo>
                  <a:pt x="12335841" y="1288985"/>
                </a:lnTo>
                <a:lnTo>
                  <a:pt x="0" y="618542"/>
                </a:lnTo>
                <a:lnTo>
                  <a:pt x="33618" y="0"/>
                </a:lnTo>
                <a:lnTo>
                  <a:pt x="103646" y="32857"/>
                </a:lnTo>
                <a:cubicBezTo>
                  <a:pt x="814657" y="332114"/>
                  <a:pt x="3323130" y="553243"/>
                  <a:pt x="6308538" y="553243"/>
                </a:cubicBezTo>
                <a:cubicBezTo>
                  <a:pt x="9072803" y="553244"/>
                  <a:pt x="11428175" y="363661"/>
                  <a:pt x="12326375" y="98014"/>
                </a:cubicBezTo>
                <a:lnTo>
                  <a:pt x="12401882" y="73849"/>
                </a:lnTo>
                <a:close/>
              </a:path>
            </a:pathLst>
          </a:custGeom>
          <a:solidFill>
            <a:srgbClr val="005D96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4DBBE2AB-3342-1A43-B2D9-3B6F8B655CDE}"/>
              </a:ext>
            </a:extLst>
          </p:cNvPr>
          <p:cNvSpPr/>
          <p:nvPr userDrawn="1"/>
        </p:nvSpPr>
        <p:spPr>
          <a:xfrm rot="21413345">
            <a:off x="-60722" y="5797965"/>
            <a:ext cx="12335849" cy="1470933"/>
          </a:xfrm>
          <a:custGeom>
            <a:avLst/>
            <a:gdLst>
              <a:gd name="connsiteX0" fmla="*/ 12401882 w 12401882"/>
              <a:gd name="connsiteY0" fmla="*/ 73849 h 1288985"/>
              <a:gd name="connsiteX1" fmla="*/ 12335841 w 12401882"/>
              <a:gd name="connsiteY1" fmla="*/ 1288985 h 1288985"/>
              <a:gd name="connsiteX2" fmla="*/ 0 w 12401882"/>
              <a:gd name="connsiteY2" fmla="*/ 618542 h 1288985"/>
              <a:gd name="connsiteX3" fmla="*/ 33618 w 12401882"/>
              <a:gd name="connsiteY3" fmla="*/ 0 h 1288985"/>
              <a:gd name="connsiteX4" fmla="*/ 103646 w 12401882"/>
              <a:gd name="connsiteY4" fmla="*/ 32857 h 1288985"/>
              <a:gd name="connsiteX5" fmla="*/ 6308538 w 12401882"/>
              <a:gd name="connsiteY5" fmla="*/ 553243 h 1288985"/>
              <a:gd name="connsiteX6" fmla="*/ 12326375 w 12401882"/>
              <a:gd name="connsiteY6" fmla="*/ 98014 h 1288985"/>
              <a:gd name="connsiteX7" fmla="*/ 12401882 w 12401882"/>
              <a:gd name="connsiteY7" fmla="*/ 73849 h 12889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401882" h="1288985">
                <a:moveTo>
                  <a:pt x="12401882" y="73849"/>
                </a:moveTo>
                <a:lnTo>
                  <a:pt x="12335841" y="1288985"/>
                </a:lnTo>
                <a:lnTo>
                  <a:pt x="0" y="618542"/>
                </a:lnTo>
                <a:lnTo>
                  <a:pt x="33618" y="0"/>
                </a:lnTo>
                <a:lnTo>
                  <a:pt x="103646" y="32857"/>
                </a:lnTo>
                <a:cubicBezTo>
                  <a:pt x="814657" y="332114"/>
                  <a:pt x="3323130" y="553243"/>
                  <a:pt x="6308538" y="553243"/>
                </a:cubicBezTo>
                <a:cubicBezTo>
                  <a:pt x="9072803" y="553244"/>
                  <a:pt x="11428175" y="363661"/>
                  <a:pt x="12326375" y="98014"/>
                </a:cubicBezTo>
                <a:lnTo>
                  <a:pt x="12401882" y="73849"/>
                </a:lnTo>
                <a:close/>
              </a:path>
            </a:pathLst>
          </a:custGeom>
          <a:solidFill>
            <a:srgbClr val="005D96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9" name="任意多边形: 形状 6">
            <a:extLst>
              <a:ext uri="{FF2B5EF4-FFF2-40B4-BE49-F238E27FC236}">
                <a16:creationId xmlns:a16="http://schemas.microsoft.com/office/drawing/2014/main" id="{238E4E78-41CE-BF47-A793-D77629CA3E76}"/>
              </a:ext>
            </a:extLst>
          </p:cNvPr>
          <p:cNvSpPr/>
          <p:nvPr userDrawn="1"/>
        </p:nvSpPr>
        <p:spPr>
          <a:xfrm rot="21413345">
            <a:off x="-101880" y="5734499"/>
            <a:ext cx="12376686" cy="1507273"/>
          </a:xfrm>
          <a:custGeom>
            <a:avLst/>
            <a:gdLst>
              <a:gd name="connsiteX0" fmla="*/ 12401882 w 12401882"/>
              <a:gd name="connsiteY0" fmla="*/ 73849 h 1288985"/>
              <a:gd name="connsiteX1" fmla="*/ 12335841 w 12401882"/>
              <a:gd name="connsiteY1" fmla="*/ 1288985 h 1288985"/>
              <a:gd name="connsiteX2" fmla="*/ 0 w 12401882"/>
              <a:gd name="connsiteY2" fmla="*/ 618542 h 1288985"/>
              <a:gd name="connsiteX3" fmla="*/ 33618 w 12401882"/>
              <a:gd name="connsiteY3" fmla="*/ 0 h 1288985"/>
              <a:gd name="connsiteX4" fmla="*/ 103646 w 12401882"/>
              <a:gd name="connsiteY4" fmla="*/ 32857 h 1288985"/>
              <a:gd name="connsiteX5" fmla="*/ 6308538 w 12401882"/>
              <a:gd name="connsiteY5" fmla="*/ 553243 h 1288985"/>
              <a:gd name="connsiteX6" fmla="*/ 12326375 w 12401882"/>
              <a:gd name="connsiteY6" fmla="*/ 98014 h 1288985"/>
              <a:gd name="connsiteX7" fmla="*/ 12401882 w 12401882"/>
              <a:gd name="connsiteY7" fmla="*/ 73849 h 12889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401882" h="1288985">
                <a:moveTo>
                  <a:pt x="12401882" y="73849"/>
                </a:moveTo>
                <a:lnTo>
                  <a:pt x="12335841" y="1288985"/>
                </a:lnTo>
                <a:lnTo>
                  <a:pt x="0" y="618542"/>
                </a:lnTo>
                <a:lnTo>
                  <a:pt x="33618" y="0"/>
                </a:lnTo>
                <a:lnTo>
                  <a:pt x="103646" y="32857"/>
                </a:lnTo>
                <a:cubicBezTo>
                  <a:pt x="814657" y="332114"/>
                  <a:pt x="3323130" y="553243"/>
                  <a:pt x="6308538" y="553243"/>
                </a:cubicBezTo>
                <a:cubicBezTo>
                  <a:pt x="9072803" y="553244"/>
                  <a:pt x="11428175" y="363661"/>
                  <a:pt x="12326375" y="98014"/>
                </a:cubicBezTo>
                <a:lnTo>
                  <a:pt x="12401882" y="73849"/>
                </a:lnTo>
                <a:close/>
              </a:path>
            </a:pathLst>
          </a:custGeom>
          <a:solidFill>
            <a:srgbClr val="005D96">
              <a:alpha val="3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10" name="日期占位符 9">
            <a:extLst>
              <a:ext uri="{FF2B5EF4-FFF2-40B4-BE49-F238E27FC236}">
                <a16:creationId xmlns:a16="http://schemas.microsoft.com/office/drawing/2014/main" id="{EF31D326-2891-3944-8D5B-E4558A6F158A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468630" y="6493076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 spc="300">
                <a:solidFill>
                  <a:schemeClr val="bg2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defRPr>
            </a:lvl1pPr>
          </a:lstStyle>
          <a:p>
            <a:r>
              <a:rPr lang="zh-CN" altLang="en-US" dirty="0"/>
              <a:t>百折不挠</a:t>
            </a:r>
            <a:r>
              <a:rPr lang="en-US" altLang="zh-CN" dirty="0"/>
              <a:t> </a:t>
            </a:r>
            <a:r>
              <a:rPr lang="zh-CN" altLang="en-US" dirty="0"/>
              <a:t>刚毅厚重</a:t>
            </a:r>
            <a:r>
              <a:rPr lang="en-US" altLang="zh-CN" dirty="0"/>
              <a:t> </a:t>
            </a:r>
            <a:r>
              <a:rPr lang="zh-CN" altLang="en-US" dirty="0"/>
              <a:t>勇承重载</a:t>
            </a:r>
          </a:p>
        </p:txBody>
      </p:sp>
    </p:spTree>
    <p:extLst>
      <p:ext uri="{BB962C8B-B14F-4D97-AF65-F5344CB8AC3E}">
        <p14:creationId xmlns:p14="http://schemas.microsoft.com/office/powerpoint/2010/main" val="274642720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1_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A37D2F9D-10B2-074B-8179-66513359D97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  <a:prstGeom prst="rect">
            <a:avLst/>
          </a:prstGeom>
        </p:spPr>
        <p:txBody>
          <a:bodyPr anchor="b"/>
          <a:lstStyle>
            <a:lvl1pPr>
              <a:defRPr sz="6000"/>
            </a:lvl1pPr>
          </a:lstStyle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id="{3A2FD4FF-6442-7D42-B1EE-9A10919FD37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kumimoji="1" lang="zh-CN" altLang="en-US"/>
              <a:t>单击此处编辑母版文本样式</a:t>
            </a:r>
          </a:p>
        </p:txBody>
      </p:sp>
    </p:spTree>
    <p:extLst>
      <p:ext uri="{BB962C8B-B14F-4D97-AF65-F5344CB8AC3E}">
        <p14:creationId xmlns:p14="http://schemas.microsoft.com/office/powerpoint/2010/main" val="74457406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_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62C3275C-4BF5-474C-80F4-71D90D9D3FD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D84C7054-56E6-B54D-86C2-B62A7024A415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kumimoji="1" lang="zh-CN" altLang="en-US"/>
              <a:t>单击此处编辑母版文本样式</a:t>
            </a:r>
          </a:p>
          <a:p>
            <a:pPr lvl="1"/>
            <a:r>
              <a:rPr kumimoji="1" lang="zh-CN" altLang="en-US"/>
              <a:t>二级</a:t>
            </a:r>
          </a:p>
          <a:p>
            <a:pPr lvl="2"/>
            <a:r>
              <a:rPr kumimoji="1" lang="zh-CN" altLang="en-US"/>
              <a:t>三级</a:t>
            </a:r>
          </a:p>
          <a:p>
            <a:pPr lvl="3"/>
            <a:r>
              <a:rPr kumimoji="1" lang="zh-CN" altLang="en-US"/>
              <a:t>四级</a:t>
            </a:r>
          </a:p>
          <a:p>
            <a:pPr lvl="4"/>
            <a:r>
              <a:rPr kumimoji="1" lang="zh-CN" altLang="en-US"/>
              <a:t>五级</a:t>
            </a:r>
          </a:p>
        </p:txBody>
      </p:sp>
      <p:sp>
        <p:nvSpPr>
          <p:cNvPr id="4" name="内容占位符 3">
            <a:extLst>
              <a:ext uri="{FF2B5EF4-FFF2-40B4-BE49-F238E27FC236}">
                <a16:creationId xmlns:a16="http://schemas.microsoft.com/office/drawing/2014/main" id="{0E159AA6-2DAB-3D4B-968C-0C2209838485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kumimoji="1" lang="zh-CN" altLang="en-US"/>
              <a:t>单击此处编辑母版文本样式</a:t>
            </a:r>
          </a:p>
          <a:p>
            <a:pPr lvl="1"/>
            <a:r>
              <a:rPr kumimoji="1" lang="zh-CN" altLang="en-US"/>
              <a:t>二级</a:t>
            </a:r>
          </a:p>
          <a:p>
            <a:pPr lvl="2"/>
            <a:r>
              <a:rPr kumimoji="1" lang="zh-CN" altLang="en-US"/>
              <a:t>三级</a:t>
            </a:r>
          </a:p>
          <a:p>
            <a:pPr lvl="3"/>
            <a:r>
              <a:rPr kumimoji="1" lang="zh-CN" altLang="en-US"/>
              <a:t>四级</a:t>
            </a:r>
          </a:p>
          <a:p>
            <a:pPr lvl="4"/>
            <a:r>
              <a:rPr kumimoji="1" lang="zh-CN" altLang="en-US"/>
              <a:t>五级</a:t>
            </a:r>
          </a:p>
        </p:txBody>
      </p:sp>
    </p:spTree>
    <p:extLst>
      <p:ext uri="{BB962C8B-B14F-4D97-AF65-F5344CB8AC3E}">
        <p14:creationId xmlns:p14="http://schemas.microsoft.com/office/powerpoint/2010/main" val="90620231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_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572E1A48-F79F-564A-B2C8-EB0F930EFBB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id="{C9B51C87-D0E9-8B44-8CAB-1AE71AC396B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kumimoji="1" lang="zh-CN" altLang="en-US"/>
              <a:t>单击此处编辑母版文本样式</a:t>
            </a:r>
          </a:p>
        </p:txBody>
      </p:sp>
      <p:sp>
        <p:nvSpPr>
          <p:cNvPr id="4" name="内容占位符 3">
            <a:extLst>
              <a:ext uri="{FF2B5EF4-FFF2-40B4-BE49-F238E27FC236}">
                <a16:creationId xmlns:a16="http://schemas.microsoft.com/office/drawing/2014/main" id="{3EEDA7B3-E5BE-FC4D-B7BF-2B58A049340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kumimoji="1" lang="zh-CN" altLang="en-US"/>
              <a:t>单击此处编辑母版文本样式</a:t>
            </a:r>
          </a:p>
          <a:p>
            <a:pPr lvl="1"/>
            <a:r>
              <a:rPr kumimoji="1" lang="zh-CN" altLang="en-US"/>
              <a:t>二级</a:t>
            </a:r>
          </a:p>
          <a:p>
            <a:pPr lvl="2"/>
            <a:r>
              <a:rPr kumimoji="1" lang="zh-CN" altLang="en-US"/>
              <a:t>三级</a:t>
            </a:r>
          </a:p>
          <a:p>
            <a:pPr lvl="3"/>
            <a:r>
              <a:rPr kumimoji="1" lang="zh-CN" altLang="en-US"/>
              <a:t>四级</a:t>
            </a:r>
          </a:p>
          <a:p>
            <a:pPr lvl="4"/>
            <a:r>
              <a:rPr kumimoji="1" lang="zh-CN" altLang="en-US"/>
              <a:t>五级</a:t>
            </a:r>
          </a:p>
        </p:txBody>
      </p:sp>
      <p:sp>
        <p:nvSpPr>
          <p:cNvPr id="5" name="文本占位符 4">
            <a:extLst>
              <a:ext uri="{FF2B5EF4-FFF2-40B4-BE49-F238E27FC236}">
                <a16:creationId xmlns:a16="http://schemas.microsoft.com/office/drawing/2014/main" id="{75D6C4BB-9DB3-5143-8B4A-DBAE48BA7764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kumimoji="1" lang="zh-CN" altLang="en-US"/>
              <a:t>单击此处编辑母版文本样式</a:t>
            </a:r>
          </a:p>
        </p:txBody>
      </p:sp>
      <p:sp>
        <p:nvSpPr>
          <p:cNvPr id="6" name="内容占位符 5">
            <a:extLst>
              <a:ext uri="{FF2B5EF4-FFF2-40B4-BE49-F238E27FC236}">
                <a16:creationId xmlns:a16="http://schemas.microsoft.com/office/drawing/2014/main" id="{8FE585AB-BE90-9748-958F-7AFFC1666F86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kumimoji="1" lang="zh-CN" altLang="en-US"/>
              <a:t>单击此处编辑母版文本样式</a:t>
            </a:r>
          </a:p>
          <a:p>
            <a:pPr lvl="1"/>
            <a:r>
              <a:rPr kumimoji="1" lang="zh-CN" altLang="en-US"/>
              <a:t>二级</a:t>
            </a:r>
          </a:p>
          <a:p>
            <a:pPr lvl="2"/>
            <a:r>
              <a:rPr kumimoji="1" lang="zh-CN" altLang="en-US"/>
              <a:t>三级</a:t>
            </a:r>
          </a:p>
          <a:p>
            <a:pPr lvl="3"/>
            <a:r>
              <a:rPr kumimoji="1" lang="zh-CN" altLang="en-US"/>
              <a:t>四级</a:t>
            </a:r>
          </a:p>
          <a:p>
            <a:pPr lvl="4"/>
            <a:r>
              <a:rPr kumimoji="1" lang="zh-CN" altLang="en-US"/>
              <a:t>五级</a:t>
            </a:r>
          </a:p>
        </p:txBody>
      </p:sp>
    </p:spTree>
    <p:extLst>
      <p:ext uri="{BB962C8B-B14F-4D97-AF65-F5344CB8AC3E}">
        <p14:creationId xmlns:p14="http://schemas.microsoft.com/office/powerpoint/2010/main" val="130034817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_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6C1C073C-34CE-AC4E-ABB7-C7FC12F3BC3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kumimoji="1" lang="zh-CN" altLang="en-US"/>
              <a:t>单击此处编辑母版标题样式</a:t>
            </a:r>
          </a:p>
        </p:txBody>
      </p:sp>
    </p:spTree>
    <p:extLst>
      <p:ext uri="{BB962C8B-B14F-4D97-AF65-F5344CB8AC3E}">
        <p14:creationId xmlns:p14="http://schemas.microsoft.com/office/powerpoint/2010/main" val="289382544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5358381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1_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4E379DE3-176F-7442-91F0-E6732C33406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A99DB349-89E5-AF43-A214-0FF14DB1A0E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kumimoji="1" lang="zh-CN" altLang="en-US"/>
              <a:t>单击此处编辑母版文本样式</a:t>
            </a:r>
          </a:p>
          <a:p>
            <a:pPr lvl="1"/>
            <a:r>
              <a:rPr kumimoji="1" lang="zh-CN" altLang="en-US"/>
              <a:t>二级</a:t>
            </a:r>
          </a:p>
          <a:p>
            <a:pPr lvl="2"/>
            <a:r>
              <a:rPr kumimoji="1" lang="zh-CN" altLang="en-US"/>
              <a:t>三级</a:t>
            </a:r>
          </a:p>
          <a:p>
            <a:pPr lvl="3"/>
            <a:r>
              <a:rPr kumimoji="1" lang="zh-CN" altLang="en-US"/>
              <a:t>四级</a:t>
            </a:r>
          </a:p>
          <a:p>
            <a:pPr lvl="4"/>
            <a:r>
              <a:rPr kumimoji="1" lang="zh-CN" altLang="en-US"/>
              <a:t>五级</a:t>
            </a:r>
          </a:p>
        </p:txBody>
      </p:sp>
      <p:sp>
        <p:nvSpPr>
          <p:cNvPr id="4" name="文本占位符 3">
            <a:extLst>
              <a:ext uri="{FF2B5EF4-FFF2-40B4-BE49-F238E27FC236}">
                <a16:creationId xmlns:a16="http://schemas.microsoft.com/office/drawing/2014/main" id="{EDA0DD20-A8C2-9849-809E-627CE58CD89B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kumimoji="1" lang="zh-CN" altLang="en-US"/>
              <a:t>单击此处编辑母版文本样式</a:t>
            </a:r>
          </a:p>
        </p:txBody>
      </p:sp>
    </p:spTree>
    <p:extLst>
      <p:ext uri="{BB962C8B-B14F-4D97-AF65-F5344CB8AC3E}">
        <p14:creationId xmlns:p14="http://schemas.microsoft.com/office/powerpoint/2010/main" val="91167145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1_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70F92B43-D872-114B-9A28-B008488664C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图片占位符 2">
            <a:extLst>
              <a:ext uri="{FF2B5EF4-FFF2-40B4-BE49-F238E27FC236}">
                <a16:creationId xmlns:a16="http://schemas.microsoft.com/office/drawing/2014/main" id="{7D339AFF-5EFD-7944-A43D-2353E09902DC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kumimoji="1" lang="zh-CN" altLang="en-US"/>
          </a:p>
        </p:txBody>
      </p:sp>
      <p:sp>
        <p:nvSpPr>
          <p:cNvPr id="4" name="文本占位符 3">
            <a:extLst>
              <a:ext uri="{FF2B5EF4-FFF2-40B4-BE49-F238E27FC236}">
                <a16:creationId xmlns:a16="http://schemas.microsoft.com/office/drawing/2014/main" id="{9ED4B25B-91B6-DC42-9D31-70F2E52EAFE3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kumimoji="1" lang="zh-CN" altLang="en-US"/>
              <a:t>单击此处编辑母版文本样式</a:t>
            </a:r>
          </a:p>
        </p:txBody>
      </p:sp>
    </p:spTree>
    <p:extLst>
      <p:ext uri="{BB962C8B-B14F-4D97-AF65-F5344CB8AC3E}">
        <p14:creationId xmlns:p14="http://schemas.microsoft.com/office/powerpoint/2010/main" val="140807349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1_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F5C22525-0C80-9541-BB3B-BC93FC851C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竖排文字占位符 2">
            <a:extLst>
              <a:ext uri="{FF2B5EF4-FFF2-40B4-BE49-F238E27FC236}">
                <a16:creationId xmlns:a16="http://schemas.microsoft.com/office/drawing/2014/main" id="{E98C1780-5833-6242-ABA7-FD54F283EF89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kumimoji="1" lang="zh-CN" altLang="en-US"/>
              <a:t>单击此处编辑母版文本样式</a:t>
            </a:r>
          </a:p>
          <a:p>
            <a:pPr lvl="1"/>
            <a:r>
              <a:rPr kumimoji="1" lang="zh-CN" altLang="en-US"/>
              <a:t>二级</a:t>
            </a:r>
          </a:p>
          <a:p>
            <a:pPr lvl="2"/>
            <a:r>
              <a:rPr kumimoji="1" lang="zh-CN" altLang="en-US"/>
              <a:t>三级</a:t>
            </a:r>
          </a:p>
          <a:p>
            <a:pPr lvl="3"/>
            <a:r>
              <a:rPr kumimoji="1" lang="zh-CN" altLang="en-US"/>
              <a:t>四级</a:t>
            </a:r>
          </a:p>
          <a:p>
            <a:pPr lvl="4"/>
            <a:r>
              <a:rPr kumimoji="1" lang="zh-CN" altLang="en-US"/>
              <a:t>五级</a:t>
            </a:r>
          </a:p>
        </p:txBody>
      </p:sp>
    </p:spTree>
    <p:extLst>
      <p:ext uri="{BB962C8B-B14F-4D97-AF65-F5344CB8AC3E}">
        <p14:creationId xmlns:p14="http://schemas.microsoft.com/office/powerpoint/2010/main" val="793547628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1_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>
            <a:extLst>
              <a:ext uri="{FF2B5EF4-FFF2-40B4-BE49-F238E27FC236}">
                <a16:creationId xmlns:a16="http://schemas.microsoft.com/office/drawing/2014/main" id="{281D9FF4-CA80-5F4D-AD5D-F4CDA27A74DE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  <a:prstGeom prst="rect">
            <a:avLst/>
          </a:prstGeom>
        </p:spPr>
        <p:txBody>
          <a:bodyPr vert="eaVert"/>
          <a:lstStyle/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竖排文字占位符 2">
            <a:extLst>
              <a:ext uri="{FF2B5EF4-FFF2-40B4-BE49-F238E27FC236}">
                <a16:creationId xmlns:a16="http://schemas.microsoft.com/office/drawing/2014/main" id="{4F123BF3-514A-1149-85D7-971F2301A782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kumimoji="1" lang="zh-CN" altLang="en-US"/>
              <a:t>单击此处编辑母版文本样式</a:t>
            </a:r>
          </a:p>
          <a:p>
            <a:pPr lvl="1"/>
            <a:r>
              <a:rPr kumimoji="1" lang="zh-CN" altLang="en-US"/>
              <a:t>二级</a:t>
            </a:r>
          </a:p>
          <a:p>
            <a:pPr lvl="2"/>
            <a:r>
              <a:rPr kumimoji="1" lang="zh-CN" altLang="en-US"/>
              <a:t>三级</a:t>
            </a:r>
          </a:p>
          <a:p>
            <a:pPr lvl="3"/>
            <a:r>
              <a:rPr kumimoji="1" lang="zh-CN" altLang="en-US"/>
              <a:t>四级</a:t>
            </a:r>
          </a:p>
          <a:p>
            <a:pPr lvl="4"/>
            <a:r>
              <a:rPr kumimoji="1" lang="zh-CN" altLang="en-US"/>
              <a:t>五级</a:t>
            </a:r>
          </a:p>
        </p:txBody>
      </p:sp>
    </p:spTree>
    <p:extLst>
      <p:ext uri="{BB962C8B-B14F-4D97-AF65-F5344CB8AC3E}">
        <p14:creationId xmlns:p14="http://schemas.microsoft.com/office/powerpoint/2010/main" val="2537626673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78D2C13E-B573-714B-95DA-FE1C7233BD6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副标题 2">
            <a:extLst>
              <a:ext uri="{FF2B5EF4-FFF2-40B4-BE49-F238E27FC236}">
                <a16:creationId xmlns:a16="http://schemas.microsoft.com/office/drawing/2014/main" id="{F99F250F-66A4-CB44-B444-3B095FB2BB95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kumimoji="1" lang="zh-CN" altLang="en-US"/>
              <a:t>单击此处编辑母版副标题样式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FA7F82AD-DCFE-7E4E-BC3B-B8961D0D8C5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05CF517-7373-6349-A426-5E433EDE14F4}" type="datetimeFigureOut">
              <a:rPr kumimoji="1" lang="zh-CN" altLang="en-US" smtClean="0"/>
              <a:t>2023/5/31</a:t>
            </a:fld>
            <a:endParaRPr kumimoji="1"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DC56CDDD-056A-1A4C-95F9-15BE2F0C592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C5BCE82C-2DD0-3646-86EF-14086348DB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729EF8-2028-4447-86E5-25060CA00E4D}" type="slidenum">
              <a:rPr kumimoji="1" lang="zh-CN" altLang="en-US" smtClean="0"/>
              <a:t>‹#›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442140681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6F1E2E0D-F100-0B4D-BA37-588E52D6E90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8BBA4034-A796-F141-8E93-7D05FA74888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kumimoji="1" lang="zh-CN" altLang="en-US"/>
              <a:t>单击此处编辑母版文本样式</a:t>
            </a:r>
          </a:p>
          <a:p>
            <a:pPr lvl="1"/>
            <a:r>
              <a:rPr kumimoji="1" lang="zh-CN" altLang="en-US"/>
              <a:t>二级</a:t>
            </a:r>
          </a:p>
          <a:p>
            <a:pPr lvl="2"/>
            <a:r>
              <a:rPr kumimoji="1" lang="zh-CN" altLang="en-US"/>
              <a:t>三级</a:t>
            </a:r>
          </a:p>
          <a:p>
            <a:pPr lvl="3"/>
            <a:r>
              <a:rPr kumimoji="1" lang="zh-CN" altLang="en-US"/>
              <a:t>四级</a:t>
            </a:r>
          </a:p>
          <a:p>
            <a:pPr lvl="4"/>
            <a:r>
              <a:rPr kumimoji="1" lang="zh-CN" altLang="en-US"/>
              <a:t>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C21E16C0-D6BE-0D44-807B-EE5C78EBE95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05CF517-7373-6349-A426-5E433EDE14F4}" type="datetimeFigureOut">
              <a:rPr kumimoji="1" lang="zh-CN" altLang="en-US" smtClean="0"/>
              <a:t>2023/5/31</a:t>
            </a:fld>
            <a:endParaRPr kumimoji="1"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570FBDA1-4D93-7443-974E-B17BB720ECB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84B5421B-EACC-AE4F-B121-1D692C9CB2B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729EF8-2028-4447-86E5-25060CA00E4D}" type="slidenum">
              <a:rPr kumimoji="1" lang="zh-CN" altLang="en-US" smtClean="0"/>
              <a:t>‹#›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131781775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4A60E980-962D-3F44-B0EA-A409EF1DA80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id="{EEA65C97-A96A-6A4D-927E-F838B2F044D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kumimoji="1" lang="zh-CN" altLang="en-US"/>
              <a:t>单击此处编辑母版文本样式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832C3D4C-C0E9-CC4A-8470-334D0F88055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05CF517-7373-6349-A426-5E433EDE14F4}" type="datetimeFigureOut">
              <a:rPr kumimoji="1" lang="zh-CN" altLang="en-US" smtClean="0"/>
              <a:t>2023/5/31</a:t>
            </a:fld>
            <a:endParaRPr kumimoji="1"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DDD69112-64F2-DB41-9DE9-D0C488E2C54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B74F072F-377D-184E-8A96-A3A16B3BD3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729EF8-2028-4447-86E5-25060CA00E4D}" type="slidenum">
              <a:rPr kumimoji="1" lang="zh-CN" altLang="en-US" smtClean="0"/>
              <a:t>‹#›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224287967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38A1FDEA-62E9-A94A-B877-2CEE48D65D8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5B4BAE09-663E-5246-B2E4-5FB1D3203C2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kumimoji="1" lang="zh-CN" altLang="en-US"/>
              <a:t>单击此处编辑母版文本样式</a:t>
            </a:r>
          </a:p>
          <a:p>
            <a:pPr lvl="1"/>
            <a:r>
              <a:rPr kumimoji="1" lang="zh-CN" altLang="en-US"/>
              <a:t>二级</a:t>
            </a:r>
          </a:p>
          <a:p>
            <a:pPr lvl="2"/>
            <a:r>
              <a:rPr kumimoji="1" lang="zh-CN" altLang="en-US"/>
              <a:t>三级</a:t>
            </a:r>
          </a:p>
          <a:p>
            <a:pPr lvl="3"/>
            <a:r>
              <a:rPr kumimoji="1" lang="zh-CN" altLang="en-US"/>
              <a:t>四级</a:t>
            </a:r>
          </a:p>
          <a:p>
            <a:pPr lvl="4"/>
            <a:r>
              <a:rPr kumimoji="1" lang="zh-CN" altLang="en-US"/>
              <a:t>五级</a:t>
            </a:r>
          </a:p>
        </p:txBody>
      </p:sp>
      <p:sp>
        <p:nvSpPr>
          <p:cNvPr id="4" name="内容占位符 3">
            <a:extLst>
              <a:ext uri="{FF2B5EF4-FFF2-40B4-BE49-F238E27FC236}">
                <a16:creationId xmlns:a16="http://schemas.microsoft.com/office/drawing/2014/main" id="{E53204E9-1F8D-1441-9E4C-06E8C04E0E3D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kumimoji="1" lang="zh-CN" altLang="en-US"/>
              <a:t>单击此处编辑母版文本样式</a:t>
            </a:r>
          </a:p>
          <a:p>
            <a:pPr lvl="1"/>
            <a:r>
              <a:rPr kumimoji="1" lang="zh-CN" altLang="en-US"/>
              <a:t>二级</a:t>
            </a:r>
          </a:p>
          <a:p>
            <a:pPr lvl="2"/>
            <a:r>
              <a:rPr kumimoji="1" lang="zh-CN" altLang="en-US"/>
              <a:t>三级</a:t>
            </a:r>
          </a:p>
          <a:p>
            <a:pPr lvl="3"/>
            <a:r>
              <a:rPr kumimoji="1" lang="zh-CN" altLang="en-US"/>
              <a:t>四级</a:t>
            </a:r>
          </a:p>
          <a:p>
            <a:pPr lvl="4"/>
            <a:r>
              <a:rPr kumimoji="1" lang="zh-CN" altLang="en-US"/>
              <a:t>五级</a:t>
            </a:r>
          </a:p>
        </p:txBody>
      </p:sp>
      <p:sp>
        <p:nvSpPr>
          <p:cNvPr id="5" name="日期占位符 4">
            <a:extLst>
              <a:ext uri="{FF2B5EF4-FFF2-40B4-BE49-F238E27FC236}">
                <a16:creationId xmlns:a16="http://schemas.microsoft.com/office/drawing/2014/main" id="{DB1DC6EB-2F6E-0244-93A2-A837744C5CA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05CF517-7373-6349-A426-5E433EDE14F4}" type="datetimeFigureOut">
              <a:rPr kumimoji="1" lang="zh-CN" altLang="en-US" smtClean="0"/>
              <a:t>2023/5/31</a:t>
            </a:fld>
            <a:endParaRPr kumimoji="1" lang="zh-CN" altLang="en-US"/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9DC55E37-181B-A148-966C-4DAF9A1A881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zh-CN" altLang="en-US"/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E8BCD124-A548-0943-8084-CC531D00038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729EF8-2028-4447-86E5-25060CA00E4D}" type="slidenum">
              <a:rPr kumimoji="1" lang="zh-CN" altLang="en-US" smtClean="0"/>
              <a:t>‹#›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3926323237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8BC78BAB-2899-214C-BD61-A44AF5D1AD1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id="{1D53B725-02FC-B943-BB4C-36416CD16FD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kumimoji="1" lang="zh-CN" altLang="en-US"/>
              <a:t>单击此处编辑母版文本样式</a:t>
            </a:r>
          </a:p>
        </p:txBody>
      </p:sp>
      <p:sp>
        <p:nvSpPr>
          <p:cNvPr id="4" name="内容占位符 3">
            <a:extLst>
              <a:ext uri="{FF2B5EF4-FFF2-40B4-BE49-F238E27FC236}">
                <a16:creationId xmlns:a16="http://schemas.microsoft.com/office/drawing/2014/main" id="{E685D86A-09D3-C44C-B9F4-6E588BD2E29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kumimoji="1" lang="zh-CN" altLang="en-US"/>
              <a:t>单击此处编辑母版文本样式</a:t>
            </a:r>
          </a:p>
          <a:p>
            <a:pPr lvl="1"/>
            <a:r>
              <a:rPr kumimoji="1" lang="zh-CN" altLang="en-US"/>
              <a:t>二级</a:t>
            </a:r>
          </a:p>
          <a:p>
            <a:pPr lvl="2"/>
            <a:r>
              <a:rPr kumimoji="1" lang="zh-CN" altLang="en-US"/>
              <a:t>三级</a:t>
            </a:r>
          </a:p>
          <a:p>
            <a:pPr lvl="3"/>
            <a:r>
              <a:rPr kumimoji="1" lang="zh-CN" altLang="en-US"/>
              <a:t>四级</a:t>
            </a:r>
          </a:p>
          <a:p>
            <a:pPr lvl="4"/>
            <a:r>
              <a:rPr kumimoji="1" lang="zh-CN" altLang="en-US"/>
              <a:t>五级</a:t>
            </a:r>
          </a:p>
        </p:txBody>
      </p:sp>
      <p:sp>
        <p:nvSpPr>
          <p:cNvPr id="5" name="文本占位符 4">
            <a:extLst>
              <a:ext uri="{FF2B5EF4-FFF2-40B4-BE49-F238E27FC236}">
                <a16:creationId xmlns:a16="http://schemas.microsoft.com/office/drawing/2014/main" id="{F8530A9B-0EB2-7D46-9DBE-21F3FC0226E7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kumimoji="1" lang="zh-CN" altLang="en-US"/>
              <a:t>单击此处编辑母版文本样式</a:t>
            </a:r>
          </a:p>
        </p:txBody>
      </p:sp>
      <p:sp>
        <p:nvSpPr>
          <p:cNvPr id="6" name="内容占位符 5">
            <a:extLst>
              <a:ext uri="{FF2B5EF4-FFF2-40B4-BE49-F238E27FC236}">
                <a16:creationId xmlns:a16="http://schemas.microsoft.com/office/drawing/2014/main" id="{04191EEA-8572-9B4E-9BBC-22A9CFF172AA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kumimoji="1" lang="zh-CN" altLang="en-US"/>
              <a:t>单击此处编辑母版文本样式</a:t>
            </a:r>
          </a:p>
          <a:p>
            <a:pPr lvl="1"/>
            <a:r>
              <a:rPr kumimoji="1" lang="zh-CN" altLang="en-US"/>
              <a:t>二级</a:t>
            </a:r>
          </a:p>
          <a:p>
            <a:pPr lvl="2"/>
            <a:r>
              <a:rPr kumimoji="1" lang="zh-CN" altLang="en-US"/>
              <a:t>三级</a:t>
            </a:r>
          </a:p>
          <a:p>
            <a:pPr lvl="3"/>
            <a:r>
              <a:rPr kumimoji="1" lang="zh-CN" altLang="en-US"/>
              <a:t>四级</a:t>
            </a:r>
          </a:p>
          <a:p>
            <a:pPr lvl="4"/>
            <a:r>
              <a:rPr kumimoji="1" lang="zh-CN" altLang="en-US"/>
              <a:t>五级</a:t>
            </a:r>
          </a:p>
        </p:txBody>
      </p:sp>
      <p:sp>
        <p:nvSpPr>
          <p:cNvPr id="7" name="日期占位符 6">
            <a:extLst>
              <a:ext uri="{FF2B5EF4-FFF2-40B4-BE49-F238E27FC236}">
                <a16:creationId xmlns:a16="http://schemas.microsoft.com/office/drawing/2014/main" id="{BA4ECD55-32DF-4F4E-87AB-7EA31985974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05CF517-7373-6349-A426-5E433EDE14F4}" type="datetimeFigureOut">
              <a:rPr kumimoji="1" lang="zh-CN" altLang="en-US" smtClean="0"/>
              <a:t>2023/5/31</a:t>
            </a:fld>
            <a:endParaRPr kumimoji="1" lang="zh-CN" altLang="en-US"/>
          </a:p>
        </p:txBody>
      </p:sp>
      <p:sp>
        <p:nvSpPr>
          <p:cNvPr id="8" name="页脚占位符 7">
            <a:extLst>
              <a:ext uri="{FF2B5EF4-FFF2-40B4-BE49-F238E27FC236}">
                <a16:creationId xmlns:a16="http://schemas.microsoft.com/office/drawing/2014/main" id="{B30257D9-AB89-CD48-8EAB-65F0C1A251D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zh-CN" altLang="en-US"/>
          </a:p>
        </p:txBody>
      </p:sp>
      <p:sp>
        <p:nvSpPr>
          <p:cNvPr id="9" name="灯片编号占位符 8">
            <a:extLst>
              <a:ext uri="{FF2B5EF4-FFF2-40B4-BE49-F238E27FC236}">
                <a16:creationId xmlns:a16="http://schemas.microsoft.com/office/drawing/2014/main" id="{D892495F-1C7B-FC49-9072-1A1CE7A023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729EF8-2028-4447-86E5-25060CA00E4D}" type="slidenum">
              <a:rPr kumimoji="1" lang="zh-CN" altLang="en-US" smtClean="0"/>
              <a:t>‹#›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1856789205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B6F79860-597F-4B4F-883A-07CEB02132A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日期占位符 2">
            <a:extLst>
              <a:ext uri="{FF2B5EF4-FFF2-40B4-BE49-F238E27FC236}">
                <a16:creationId xmlns:a16="http://schemas.microsoft.com/office/drawing/2014/main" id="{D9DBCFC3-D3A4-C04F-BCEF-DEC58AC205B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05CF517-7373-6349-A426-5E433EDE14F4}" type="datetimeFigureOut">
              <a:rPr kumimoji="1" lang="zh-CN" altLang="en-US" smtClean="0"/>
              <a:t>2023/5/31</a:t>
            </a:fld>
            <a:endParaRPr kumimoji="1" lang="zh-CN" altLang="en-US"/>
          </a:p>
        </p:txBody>
      </p:sp>
      <p:sp>
        <p:nvSpPr>
          <p:cNvPr id="4" name="页脚占位符 3">
            <a:extLst>
              <a:ext uri="{FF2B5EF4-FFF2-40B4-BE49-F238E27FC236}">
                <a16:creationId xmlns:a16="http://schemas.microsoft.com/office/drawing/2014/main" id="{DC8B824B-4892-E447-B7D3-02DD4BE5FE9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zh-CN" altLang="en-US"/>
          </a:p>
        </p:txBody>
      </p:sp>
      <p:sp>
        <p:nvSpPr>
          <p:cNvPr id="5" name="灯片编号占位符 4">
            <a:extLst>
              <a:ext uri="{FF2B5EF4-FFF2-40B4-BE49-F238E27FC236}">
                <a16:creationId xmlns:a16="http://schemas.microsoft.com/office/drawing/2014/main" id="{3F7D6A84-B6F8-E146-9356-7F8CA2E5918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729EF8-2028-4447-86E5-25060CA00E4D}" type="slidenum">
              <a:rPr kumimoji="1" lang="zh-CN" altLang="en-US" smtClean="0"/>
              <a:t>‹#›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340493819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>
            <a:extLst>
              <a:ext uri="{FF2B5EF4-FFF2-40B4-BE49-F238E27FC236}">
                <a16:creationId xmlns:a16="http://schemas.microsoft.com/office/drawing/2014/main" id="{C5B2F9ED-98A6-1F40-B60C-87E353539EB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05CF517-7373-6349-A426-5E433EDE14F4}" type="datetimeFigureOut">
              <a:rPr kumimoji="1" lang="zh-CN" altLang="en-US" smtClean="0"/>
              <a:t>2023/5/31</a:t>
            </a:fld>
            <a:endParaRPr kumimoji="1" lang="zh-CN" altLang="en-US"/>
          </a:p>
        </p:txBody>
      </p:sp>
      <p:sp>
        <p:nvSpPr>
          <p:cNvPr id="3" name="页脚占位符 2">
            <a:extLst>
              <a:ext uri="{FF2B5EF4-FFF2-40B4-BE49-F238E27FC236}">
                <a16:creationId xmlns:a16="http://schemas.microsoft.com/office/drawing/2014/main" id="{44693E35-5555-584E-A717-28E84DBBCAA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zh-CN" altLang="en-US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E5FBD873-0F17-9343-9583-D51ABBFA35A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729EF8-2028-4447-86E5-25060CA00E4D}" type="slidenum">
              <a:rPr kumimoji="1" lang="zh-CN" altLang="en-US" smtClean="0"/>
              <a:t>‹#›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702651451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9C3F2912-F3DA-C647-9CA0-A29982569C2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9A58FE21-107F-0A46-9DCC-01F8EFC192B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kumimoji="1" lang="zh-CN" altLang="en-US"/>
              <a:t>单击此处编辑母版文本样式</a:t>
            </a:r>
          </a:p>
          <a:p>
            <a:pPr lvl="1"/>
            <a:r>
              <a:rPr kumimoji="1" lang="zh-CN" altLang="en-US"/>
              <a:t>二级</a:t>
            </a:r>
          </a:p>
          <a:p>
            <a:pPr lvl="2"/>
            <a:r>
              <a:rPr kumimoji="1" lang="zh-CN" altLang="en-US"/>
              <a:t>三级</a:t>
            </a:r>
          </a:p>
          <a:p>
            <a:pPr lvl="3"/>
            <a:r>
              <a:rPr kumimoji="1" lang="zh-CN" altLang="en-US"/>
              <a:t>四级</a:t>
            </a:r>
          </a:p>
          <a:p>
            <a:pPr lvl="4"/>
            <a:r>
              <a:rPr kumimoji="1" lang="zh-CN" altLang="en-US"/>
              <a:t>五级</a:t>
            </a:r>
          </a:p>
        </p:txBody>
      </p:sp>
      <p:sp>
        <p:nvSpPr>
          <p:cNvPr id="4" name="文本占位符 3">
            <a:extLst>
              <a:ext uri="{FF2B5EF4-FFF2-40B4-BE49-F238E27FC236}">
                <a16:creationId xmlns:a16="http://schemas.microsoft.com/office/drawing/2014/main" id="{A0677B0A-3D49-6F4A-A0BD-178A30EA537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kumimoji="1" lang="zh-CN" altLang="en-US"/>
              <a:t>单击此处编辑母版文本样式</a:t>
            </a:r>
          </a:p>
        </p:txBody>
      </p:sp>
      <p:sp>
        <p:nvSpPr>
          <p:cNvPr id="5" name="日期占位符 4">
            <a:extLst>
              <a:ext uri="{FF2B5EF4-FFF2-40B4-BE49-F238E27FC236}">
                <a16:creationId xmlns:a16="http://schemas.microsoft.com/office/drawing/2014/main" id="{AF78C4D0-E7BC-7346-A225-616065D0C80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05CF517-7373-6349-A426-5E433EDE14F4}" type="datetimeFigureOut">
              <a:rPr kumimoji="1" lang="zh-CN" altLang="en-US" smtClean="0"/>
              <a:t>2023/5/31</a:t>
            </a:fld>
            <a:endParaRPr kumimoji="1" lang="zh-CN" altLang="en-US"/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4D455970-7EEC-9F4D-9441-ACCDA32EB20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zh-CN" altLang="en-US"/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B89A71E7-E4C1-0345-916A-B57A481A6BD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729EF8-2028-4447-86E5-25060CA00E4D}" type="slidenum">
              <a:rPr kumimoji="1" lang="zh-CN" altLang="en-US" smtClean="0"/>
              <a:t>‹#›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893745275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F7964561-286B-E149-AE7F-1FF412E946E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图片占位符 2">
            <a:extLst>
              <a:ext uri="{FF2B5EF4-FFF2-40B4-BE49-F238E27FC236}">
                <a16:creationId xmlns:a16="http://schemas.microsoft.com/office/drawing/2014/main" id="{563A84CE-2FA0-6E48-A6C9-C447366AD058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kumimoji="1" lang="zh-CN" altLang="en-US"/>
          </a:p>
        </p:txBody>
      </p:sp>
      <p:sp>
        <p:nvSpPr>
          <p:cNvPr id="4" name="文本占位符 3">
            <a:extLst>
              <a:ext uri="{FF2B5EF4-FFF2-40B4-BE49-F238E27FC236}">
                <a16:creationId xmlns:a16="http://schemas.microsoft.com/office/drawing/2014/main" id="{8A4A75F7-3CD5-0848-9A3B-8CD19328764B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kumimoji="1" lang="zh-CN" altLang="en-US"/>
              <a:t>单击此处编辑母版文本样式</a:t>
            </a:r>
          </a:p>
        </p:txBody>
      </p:sp>
      <p:sp>
        <p:nvSpPr>
          <p:cNvPr id="5" name="日期占位符 4">
            <a:extLst>
              <a:ext uri="{FF2B5EF4-FFF2-40B4-BE49-F238E27FC236}">
                <a16:creationId xmlns:a16="http://schemas.microsoft.com/office/drawing/2014/main" id="{447D8C3B-237F-1C49-99C1-735A2D853DB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05CF517-7373-6349-A426-5E433EDE14F4}" type="datetimeFigureOut">
              <a:rPr kumimoji="1" lang="zh-CN" altLang="en-US" smtClean="0"/>
              <a:t>2023/5/31</a:t>
            </a:fld>
            <a:endParaRPr kumimoji="1" lang="zh-CN" altLang="en-US"/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3392BEC2-2425-2742-8386-3ADBB062692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zh-CN" altLang="en-US"/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FA296E39-1419-7E45-BD69-DE0A3C7DC5B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729EF8-2028-4447-86E5-25060CA00E4D}" type="slidenum">
              <a:rPr kumimoji="1" lang="zh-CN" altLang="en-US" smtClean="0"/>
              <a:t>‹#›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2724809495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072AF69E-AF88-B64D-ABDD-04DB5D3E557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竖排文字占位符 2">
            <a:extLst>
              <a:ext uri="{FF2B5EF4-FFF2-40B4-BE49-F238E27FC236}">
                <a16:creationId xmlns:a16="http://schemas.microsoft.com/office/drawing/2014/main" id="{16F59B29-31C7-A143-8657-8AE1CB8EF22A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kumimoji="1" lang="zh-CN" altLang="en-US"/>
              <a:t>单击此处编辑母版文本样式</a:t>
            </a:r>
          </a:p>
          <a:p>
            <a:pPr lvl="1"/>
            <a:r>
              <a:rPr kumimoji="1" lang="zh-CN" altLang="en-US"/>
              <a:t>二级</a:t>
            </a:r>
          </a:p>
          <a:p>
            <a:pPr lvl="2"/>
            <a:r>
              <a:rPr kumimoji="1" lang="zh-CN" altLang="en-US"/>
              <a:t>三级</a:t>
            </a:r>
          </a:p>
          <a:p>
            <a:pPr lvl="3"/>
            <a:r>
              <a:rPr kumimoji="1" lang="zh-CN" altLang="en-US"/>
              <a:t>四级</a:t>
            </a:r>
          </a:p>
          <a:p>
            <a:pPr lvl="4"/>
            <a:r>
              <a:rPr kumimoji="1" lang="zh-CN" altLang="en-US"/>
              <a:t>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7EF5996D-ACFA-8F4D-B912-DF75E3CC13D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05CF517-7373-6349-A426-5E433EDE14F4}" type="datetimeFigureOut">
              <a:rPr kumimoji="1" lang="zh-CN" altLang="en-US" smtClean="0"/>
              <a:t>2023/5/31</a:t>
            </a:fld>
            <a:endParaRPr kumimoji="1"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4632A62C-C6DE-D04B-8735-FED3190F3A1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840D29B5-61B5-B74D-BE03-88925EFB373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729EF8-2028-4447-86E5-25060CA00E4D}" type="slidenum">
              <a:rPr kumimoji="1" lang="zh-CN" altLang="en-US" smtClean="0"/>
              <a:t>‹#›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1066705716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>
            <a:extLst>
              <a:ext uri="{FF2B5EF4-FFF2-40B4-BE49-F238E27FC236}">
                <a16:creationId xmlns:a16="http://schemas.microsoft.com/office/drawing/2014/main" id="{C50B4B1E-E39D-DD4A-B7F7-1B2FF26C70A5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竖排文字占位符 2">
            <a:extLst>
              <a:ext uri="{FF2B5EF4-FFF2-40B4-BE49-F238E27FC236}">
                <a16:creationId xmlns:a16="http://schemas.microsoft.com/office/drawing/2014/main" id="{2D80FF54-B8C4-224E-8541-7902A00311C8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kumimoji="1" lang="zh-CN" altLang="en-US"/>
              <a:t>单击此处编辑母版文本样式</a:t>
            </a:r>
          </a:p>
          <a:p>
            <a:pPr lvl="1"/>
            <a:r>
              <a:rPr kumimoji="1" lang="zh-CN" altLang="en-US"/>
              <a:t>二级</a:t>
            </a:r>
          </a:p>
          <a:p>
            <a:pPr lvl="2"/>
            <a:r>
              <a:rPr kumimoji="1" lang="zh-CN" altLang="en-US"/>
              <a:t>三级</a:t>
            </a:r>
          </a:p>
          <a:p>
            <a:pPr lvl="3"/>
            <a:r>
              <a:rPr kumimoji="1" lang="zh-CN" altLang="en-US"/>
              <a:t>四级</a:t>
            </a:r>
          </a:p>
          <a:p>
            <a:pPr lvl="4"/>
            <a:r>
              <a:rPr kumimoji="1" lang="zh-CN" altLang="en-US"/>
              <a:t>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C71664AE-D3DB-2A40-ACE1-DBC1E97AE6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05CF517-7373-6349-A426-5E433EDE14F4}" type="datetimeFigureOut">
              <a:rPr kumimoji="1" lang="zh-CN" altLang="en-US" smtClean="0"/>
              <a:t>2023/5/31</a:t>
            </a:fld>
            <a:endParaRPr kumimoji="1"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8FD85D98-2BB9-784B-8D6D-76BBD0EA237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175E00FF-4311-1C4D-A115-27DB4E71F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729EF8-2028-4447-86E5-25060CA00E4D}" type="slidenum">
              <a:rPr kumimoji="1" lang="zh-CN" altLang="en-US" smtClean="0"/>
              <a:t>‹#›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3368700422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封面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0" name="直接连接符 29"/>
          <p:cNvCxnSpPr/>
          <p:nvPr userDrawn="1"/>
        </p:nvCxnSpPr>
        <p:spPr>
          <a:xfrm flipV="1">
            <a:off x="2784475" y="5851525"/>
            <a:ext cx="0" cy="265430"/>
          </a:xfrm>
          <a:prstGeom prst="line">
            <a:avLst/>
          </a:prstGeom>
          <a:ln w="28575" cap="rnd">
            <a:solidFill>
              <a:srgbClr val="005D9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接连接符 30"/>
          <p:cNvCxnSpPr/>
          <p:nvPr userDrawn="1"/>
        </p:nvCxnSpPr>
        <p:spPr>
          <a:xfrm flipV="1">
            <a:off x="2861310" y="5899150"/>
            <a:ext cx="0" cy="170180"/>
          </a:xfrm>
          <a:prstGeom prst="line">
            <a:avLst/>
          </a:prstGeom>
          <a:ln w="28575" cap="rnd">
            <a:solidFill>
              <a:srgbClr val="005D96">
                <a:alpha val="60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/>
          <p:cNvCxnSpPr/>
          <p:nvPr userDrawn="1"/>
        </p:nvCxnSpPr>
        <p:spPr>
          <a:xfrm rot="16200000">
            <a:off x="2880995" y="5984240"/>
            <a:ext cx="113665" cy="0"/>
          </a:xfrm>
          <a:prstGeom prst="line">
            <a:avLst/>
          </a:prstGeom>
          <a:ln w="28575" cap="rnd">
            <a:solidFill>
              <a:srgbClr val="005D96">
                <a:alpha val="30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/>
          <p:cNvCxnSpPr/>
          <p:nvPr userDrawn="1"/>
        </p:nvCxnSpPr>
        <p:spPr>
          <a:xfrm rot="10800000" flipH="1" flipV="1">
            <a:off x="9404350" y="5851525"/>
            <a:ext cx="0" cy="265430"/>
          </a:xfrm>
          <a:prstGeom prst="line">
            <a:avLst/>
          </a:prstGeom>
          <a:ln w="28575" cap="rnd">
            <a:solidFill>
              <a:srgbClr val="005D9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/>
          <p:nvPr userDrawn="1"/>
        </p:nvCxnSpPr>
        <p:spPr>
          <a:xfrm rot="10800000" flipH="1" flipV="1">
            <a:off x="9327515" y="5899150"/>
            <a:ext cx="0" cy="170180"/>
          </a:xfrm>
          <a:prstGeom prst="line">
            <a:avLst/>
          </a:prstGeom>
          <a:ln w="28575" cap="rnd">
            <a:solidFill>
              <a:srgbClr val="005D96">
                <a:alpha val="60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接连接符 37"/>
          <p:cNvCxnSpPr/>
          <p:nvPr userDrawn="1"/>
        </p:nvCxnSpPr>
        <p:spPr>
          <a:xfrm rot="5400000" flipH="1">
            <a:off x="9193530" y="5984240"/>
            <a:ext cx="113665" cy="0"/>
          </a:xfrm>
          <a:prstGeom prst="line">
            <a:avLst/>
          </a:prstGeom>
          <a:ln w="28575" cap="rnd">
            <a:solidFill>
              <a:srgbClr val="005D96">
                <a:alpha val="30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图片占位符 12"/>
          <p:cNvSpPr>
            <a:spLocks noGrp="1"/>
          </p:cNvSpPr>
          <p:nvPr>
            <p:ph type="pic" sz="quarter" idx="12"/>
          </p:nvPr>
        </p:nvSpPr>
        <p:spPr>
          <a:xfrm>
            <a:off x="126" y="-5114"/>
            <a:ext cx="12191748" cy="3616817"/>
          </a:xfrm>
        </p:spPr>
      </p:sp>
      <p:sp>
        <p:nvSpPr>
          <p:cNvPr id="40" name="任意多边形: 形状 39"/>
          <p:cNvSpPr/>
          <p:nvPr userDrawn="1"/>
        </p:nvSpPr>
        <p:spPr>
          <a:xfrm>
            <a:off x="0" y="-10810"/>
            <a:ext cx="12192000" cy="3621880"/>
          </a:xfrm>
          <a:custGeom>
            <a:avLst/>
            <a:gdLst>
              <a:gd name="connsiteX0" fmla="*/ 0 w 12192000"/>
              <a:gd name="connsiteY0" fmla="*/ 0 h 3621880"/>
              <a:gd name="connsiteX1" fmla="*/ 12192000 w 12192000"/>
              <a:gd name="connsiteY1" fmla="*/ 0 h 3621880"/>
              <a:gd name="connsiteX2" fmla="*/ 12192000 w 12192000"/>
              <a:gd name="connsiteY2" fmla="*/ 3505120 h 3621880"/>
              <a:gd name="connsiteX3" fmla="*/ 12178164 w 12192000"/>
              <a:gd name="connsiteY3" fmla="*/ 3496691 h 3621880"/>
              <a:gd name="connsiteX4" fmla="*/ 6188598 w 12192000"/>
              <a:gd name="connsiteY4" fmla="*/ 2384382 h 3621880"/>
              <a:gd name="connsiteX5" fmla="*/ 48605 w 12192000"/>
              <a:gd name="connsiteY5" fmla="*/ 3588334 h 3621880"/>
              <a:gd name="connsiteX6" fmla="*/ 0 w 12192000"/>
              <a:gd name="connsiteY6" fmla="*/ 3621880 h 3621880"/>
              <a:gd name="connsiteX7" fmla="*/ 0 w 12192000"/>
              <a:gd name="connsiteY7" fmla="*/ 0 h 3621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2000" h="3621880">
                <a:moveTo>
                  <a:pt x="0" y="0"/>
                </a:moveTo>
                <a:lnTo>
                  <a:pt x="12192000" y="0"/>
                </a:lnTo>
                <a:lnTo>
                  <a:pt x="12192000" y="3505120"/>
                </a:lnTo>
                <a:lnTo>
                  <a:pt x="12178164" y="3496691"/>
                </a:lnTo>
                <a:cubicBezTo>
                  <a:pt x="11024675" y="2834150"/>
                  <a:pt x="8774972" y="2384382"/>
                  <a:pt x="6188598" y="2384382"/>
                </a:cubicBezTo>
                <a:cubicBezTo>
                  <a:pt x="3484661" y="2384382"/>
                  <a:pt x="1148698" y="2875967"/>
                  <a:pt x="48605" y="3588334"/>
                </a:cubicBezTo>
                <a:lnTo>
                  <a:pt x="0" y="3621880"/>
                </a:lnTo>
                <a:lnTo>
                  <a:pt x="0" y="0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1" name="任意多边形: 形状 40"/>
          <p:cNvSpPr/>
          <p:nvPr userDrawn="1"/>
        </p:nvSpPr>
        <p:spPr>
          <a:xfrm>
            <a:off x="0" y="-10810"/>
            <a:ext cx="12192000" cy="3621880"/>
          </a:xfrm>
          <a:custGeom>
            <a:avLst/>
            <a:gdLst>
              <a:gd name="connsiteX0" fmla="*/ 0 w 12192000"/>
              <a:gd name="connsiteY0" fmla="*/ 0 h 3621880"/>
              <a:gd name="connsiteX1" fmla="*/ 12192000 w 12192000"/>
              <a:gd name="connsiteY1" fmla="*/ 0 h 3621880"/>
              <a:gd name="connsiteX2" fmla="*/ 12192000 w 12192000"/>
              <a:gd name="connsiteY2" fmla="*/ 3505120 h 3621880"/>
              <a:gd name="connsiteX3" fmla="*/ 12178164 w 12192000"/>
              <a:gd name="connsiteY3" fmla="*/ 3496691 h 3621880"/>
              <a:gd name="connsiteX4" fmla="*/ 6188598 w 12192000"/>
              <a:gd name="connsiteY4" fmla="*/ 2384382 h 3621880"/>
              <a:gd name="connsiteX5" fmla="*/ 48605 w 12192000"/>
              <a:gd name="connsiteY5" fmla="*/ 3588334 h 3621880"/>
              <a:gd name="connsiteX6" fmla="*/ 0 w 12192000"/>
              <a:gd name="connsiteY6" fmla="*/ 3621880 h 3621880"/>
              <a:gd name="connsiteX7" fmla="*/ 0 w 12192000"/>
              <a:gd name="connsiteY7" fmla="*/ 0 h 3621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2000" h="3621880">
                <a:moveTo>
                  <a:pt x="0" y="0"/>
                </a:moveTo>
                <a:lnTo>
                  <a:pt x="12192000" y="0"/>
                </a:lnTo>
                <a:lnTo>
                  <a:pt x="12192000" y="3505120"/>
                </a:lnTo>
                <a:lnTo>
                  <a:pt x="12178164" y="3496691"/>
                </a:lnTo>
                <a:cubicBezTo>
                  <a:pt x="11024675" y="2834150"/>
                  <a:pt x="8774972" y="2384382"/>
                  <a:pt x="6188598" y="2384382"/>
                </a:cubicBezTo>
                <a:cubicBezTo>
                  <a:pt x="3484661" y="2384382"/>
                  <a:pt x="1148698" y="2875967"/>
                  <a:pt x="48605" y="3588334"/>
                </a:cubicBezTo>
                <a:lnTo>
                  <a:pt x="0" y="362188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1">
              <a:alpha val="90000"/>
            </a:schemeClr>
          </a:solidFill>
          <a:ln>
            <a:noFill/>
          </a:ln>
          <a:effectLst>
            <a:outerShdw blurRad="190500" dist="38100" dir="5400000" algn="t" rotWithShape="0">
              <a:prstClr val="black">
                <a:alpha val="10000"/>
              </a:prstClr>
            </a:outerShd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2" name="任意多边形: 形状 41"/>
          <p:cNvSpPr/>
          <p:nvPr userDrawn="1"/>
        </p:nvSpPr>
        <p:spPr>
          <a:xfrm>
            <a:off x="-170180" y="-10795"/>
            <a:ext cx="12532360" cy="3841115"/>
          </a:xfrm>
          <a:custGeom>
            <a:avLst/>
            <a:gdLst>
              <a:gd name="connsiteX0" fmla="*/ 0 w 12192000"/>
              <a:gd name="connsiteY0" fmla="*/ 0 h 3621880"/>
              <a:gd name="connsiteX1" fmla="*/ 12192000 w 12192000"/>
              <a:gd name="connsiteY1" fmla="*/ 0 h 3621880"/>
              <a:gd name="connsiteX2" fmla="*/ 12192000 w 12192000"/>
              <a:gd name="connsiteY2" fmla="*/ 3505120 h 3621880"/>
              <a:gd name="connsiteX3" fmla="*/ 12178164 w 12192000"/>
              <a:gd name="connsiteY3" fmla="*/ 3496691 h 3621880"/>
              <a:gd name="connsiteX4" fmla="*/ 6188598 w 12192000"/>
              <a:gd name="connsiteY4" fmla="*/ 2384382 h 3621880"/>
              <a:gd name="connsiteX5" fmla="*/ 48605 w 12192000"/>
              <a:gd name="connsiteY5" fmla="*/ 3588334 h 3621880"/>
              <a:gd name="connsiteX6" fmla="*/ 0 w 12192000"/>
              <a:gd name="connsiteY6" fmla="*/ 3621880 h 3621880"/>
              <a:gd name="connsiteX7" fmla="*/ 0 w 12192000"/>
              <a:gd name="connsiteY7" fmla="*/ 0 h 3621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2000" h="3621880">
                <a:moveTo>
                  <a:pt x="0" y="0"/>
                </a:moveTo>
                <a:lnTo>
                  <a:pt x="12192000" y="0"/>
                </a:lnTo>
                <a:lnTo>
                  <a:pt x="12192000" y="3505120"/>
                </a:lnTo>
                <a:lnTo>
                  <a:pt x="12178164" y="3496691"/>
                </a:lnTo>
                <a:cubicBezTo>
                  <a:pt x="11024675" y="2834150"/>
                  <a:pt x="8774972" y="2384382"/>
                  <a:pt x="6188598" y="2384382"/>
                </a:cubicBezTo>
                <a:cubicBezTo>
                  <a:pt x="3484661" y="2384382"/>
                  <a:pt x="1148698" y="2875967"/>
                  <a:pt x="48605" y="3588334"/>
                </a:cubicBezTo>
                <a:lnTo>
                  <a:pt x="0" y="3621880"/>
                </a:lnTo>
                <a:lnTo>
                  <a:pt x="0" y="0"/>
                </a:lnTo>
                <a:close/>
              </a:path>
            </a:pathLst>
          </a:custGeom>
          <a:blipFill dpi="0" rotWithShape="1">
            <a:blip r:embed="rId3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artisticFilmGrain grainSize="5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586" t="-64169" r="586" b="-25181"/>
            </a:stretch>
          </a:blipFill>
          <a:ln>
            <a:noFill/>
          </a:ln>
          <a:effectLst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 dirty="0"/>
          </a:p>
        </p:txBody>
      </p:sp>
      <p:sp>
        <p:nvSpPr>
          <p:cNvPr id="2" name="标题 1"/>
          <p:cNvSpPr>
            <a:spLocks noGrp="1"/>
          </p:cNvSpPr>
          <p:nvPr>
            <p:ph type="title" hasCustomPrompt="1"/>
          </p:nvPr>
        </p:nvSpPr>
        <p:spPr>
          <a:xfrm>
            <a:off x="2719867" y="3935404"/>
            <a:ext cx="6752267" cy="652810"/>
          </a:xfrm>
        </p:spPr>
        <p:txBody>
          <a:bodyPr lIns="0" tIns="0" rIns="0" bIns="0"/>
          <a:lstStyle>
            <a:lvl1pPr>
              <a:defRPr b="1">
                <a:solidFill>
                  <a:srgbClr val="005D96"/>
                </a:solidFill>
                <a:latin typeface="方正大标宋简体" panose="02010601030101010101" pitchFamily="2" charset="-122"/>
                <a:ea typeface="方正大标宋简体" panose="02010601030101010101" pitchFamily="2" charset="-122"/>
              </a:defRPr>
            </a:lvl1pPr>
          </a:lstStyle>
          <a:p>
            <a:pPr lvl="0"/>
            <a:r>
              <a:rPr lang="zh-CN" altLang="en-US" b="1" dirty="0"/>
              <a:t>青岛理工大学答辩答辩模板</a:t>
            </a:r>
            <a:endParaRPr kumimoji="0" lang="zh-CN" altLang="en-US" sz="8800" b="1" i="0" u="none" strike="noStrike" kern="1200" cap="none" spc="100" normalizeH="0" baseline="0" noProof="0" dirty="0">
              <a:ln>
                <a:noFill/>
              </a:ln>
              <a:effectLst/>
              <a:uLnTx/>
              <a:uFillTx/>
              <a:latin typeface="方正大标宋简体" panose="02010601030101010101" pitchFamily="2" charset="-122"/>
              <a:ea typeface="方正大标宋简体" panose="02010601030101010101" pitchFamily="2" charset="-122"/>
            </a:endParaRPr>
          </a:p>
        </p:txBody>
      </p:sp>
      <p:sp>
        <p:nvSpPr>
          <p:cNvPr id="37" name="弧形 36"/>
          <p:cNvSpPr/>
          <p:nvPr userDrawn="1"/>
        </p:nvSpPr>
        <p:spPr>
          <a:xfrm>
            <a:off x="-912640" y="2648627"/>
            <a:ext cx="14352607" cy="5450476"/>
          </a:xfrm>
          <a:prstGeom prst="arc">
            <a:avLst>
              <a:gd name="adj1" fmla="val 11562219"/>
              <a:gd name="adj2" fmla="val 20729169"/>
            </a:avLst>
          </a:prstGeom>
          <a:ln w="53975">
            <a:solidFill>
              <a:srgbClr val="005D96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文本占位符 9"/>
          <p:cNvSpPr>
            <a:spLocks noGrp="1"/>
          </p:cNvSpPr>
          <p:nvPr>
            <p:ph type="body" sz="quarter" idx="11" hasCustomPrompt="1"/>
          </p:nvPr>
        </p:nvSpPr>
        <p:spPr>
          <a:xfrm>
            <a:off x="515937" y="4657177"/>
            <a:ext cx="11160126" cy="337185"/>
          </a:xfrm>
          <a:prstGeom prst="rect">
            <a:avLst/>
          </a:prstGeom>
        </p:spPr>
        <p:txBody>
          <a:bodyPr vert="horz" wrap="square" lIns="0" tIns="45720" rIns="91440" bIns="45720" anchor="ctr" anchorCtr="0">
            <a:spAutoFit/>
          </a:bodyPr>
          <a:lstStyle>
            <a:lvl1pPr marL="0" indent="0" algn="ctr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Font typeface="Arial" panose="020B0604020202020204" pitchFamily="34" charset="0"/>
              <a:buNone/>
              <a:defRPr sz="1600" spc="200">
                <a:solidFill>
                  <a:srgbClr val="595959"/>
                </a:solidFill>
                <a:latin typeface="Arial" panose="020B0604020202020204" pitchFamily="34" charset="0"/>
                <a:ea typeface="微软雅黑 Light" panose="020B0502040204020203" pitchFamily="34" charset="-122"/>
                <a:sym typeface="Arial" panose="020B0604020202020204" pitchFamily="34" charset="0"/>
              </a:defRPr>
            </a:lvl1pPr>
            <a:lvl2pPr marL="457200" indent="-22860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/>
            </a:lvl2pPr>
            <a:lvl3pPr marL="914400" indent="-22860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/>
            </a:lvl3pPr>
            <a:lvl4pPr marL="1371600" indent="-22860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/>
            </a:lvl4pPr>
            <a:lvl5pPr marL="1828800" indent="-22860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/>
            </a:lvl5pPr>
          </a:lstStyle>
          <a:p>
            <a:pPr lvl="0"/>
            <a:r>
              <a:rPr lang="en-US" altLang="zh-CN" dirty="0"/>
              <a:t>Qingdao University of Technology PowerPoint Template</a:t>
            </a:r>
            <a:endParaRPr lang="zh-CN" altLang="en-US" dirty="0"/>
          </a:p>
        </p:txBody>
      </p:sp>
      <p:grpSp>
        <p:nvGrpSpPr>
          <p:cNvPr id="24" name="组合 23"/>
          <p:cNvGrpSpPr/>
          <p:nvPr userDrawn="1"/>
        </p:nvGrpSpPr>
        <p:grpSpPr>
          <a:xfrm>
            <a:off x="2704260" y="5219564"/>
            <a:ext cx="6783480" cy="99986"/>
            <a:chOff x="628656" y="974915"/>
            <a:chExt cx="11038056" cy="24702"/>
          </a:xfrm>
        </p:grpSpPr>
        <p:cxnSp>
          <p:nvCxnSpPr>
            <p:cNvPr id="25" name="直接连接符 24"/>
            <p:cNvCxnSpPr/>
            <p:nvPr/>
          </p:nvCxnSpPr>
          <p:spPr>
            <a:xfrm>
              <a:off x="628656" y="975360"/>
              <a:ext cx="8627657" cy="0"/>
            </a:xfrm>
            <a:prstGeom prst="line">
              <a:avLst/>
            </a:prstGeom>
            <a:ln w="19050">
              <a:solidFill>
                <a:srgbClr val="005D96"/>
              </a:solidFill>
            </a:ln>
          </p:spPr>
          <p:style>
            <a:lnRef idx="3">
              <a:schemeClr val="accent1"/>
            </a:lnRef>
            <a:fillRef idx="0">
              <a:schemeClr val="accent1"/>
            </a:fillRef>
            <a:effectRef idx="2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接连接符 25"/>
            <p:cNvCxnSpPr/>
            <p:nvPr/>
          </p:nvCxnSpPr>
          <p:spPr>
            <a:xfrm flipH="1">
              <a:off x="9233073" y="974915"/>
              <a:ext cx="23240" cy="24702"/>
            </a:xfrm>
            <a:prstGeom prst="line">
              <a:avLst/>
            </a:prstGeom>
            <a:ln w="19050" cap="rnd">
              <a:solidFill>
                <a:srgbClr val="005D9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直接连接符 26"/>
            <p:cNvCxnSpPr/>
            <p:nvPr/>
          </p:nvCxnSpPr>
          <p:spPr>
            <a:xfrm flipV="1">
              <a:off x="9233070" y="975360"/>
              <a:ext cx="189380" cy="24257"/>
            </a:xfrm>
            <a:prstGeom prst="line">
              <a:avLst/>
            </a:prstGeom>
            <a:ln w="19050" cap="rnd">
              <a:solidFill>
                <a:srgbClr val="005D96"/>
              </a:solidFill>
              <a:miter lim="800000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直接连接符 27"/>
            <p:cNvCxnSpPr/>
            <p:nvPr/>
          </p:nvCxnSpPr>
          <p:spPr>
            <a:xfrm>
              <a:off x="9422450" y="975360"/>
              <a:ext cx="2244262" cy="0"/>
            </a:xfrm>
            <a:prstGeom prst="line">
              <a:avLst/>
            </a:prstGeom>
            <a:ln w="19050">
              <a:solidFill>
                <a:srgbClr val="005D9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3" name="文本占位符 52"/>
          <p:cNvSpPr>
            <a:spLocks noGrp="1"/>
          </p:cNvSpPr>
          <p:nvPr>
            <p:ph type="body" sz="quarter" idx="13" hasCustomPrompt="1"/>
          </p:nvPr>
        </p:nvSpPr>
        <p:spPr>
          <a:xfrm>
            <a:off x="3979414" y="5821985"/>
            <a:ext cx="1978489" cy="304165"/>
          </a:xfrm>
          <a:prstGeom prst="rect">
            <a:avLst/>
          </a:prstGeom>
        </p:spPr>
        <p:txBody>
          <a:bodyPr vert="horz" wrap="square" lIns="0" tIns="0" rIns="0" bIns="0" anchor="b" anchorCtr="0">
            <a:spAutoFit/>
          </a:bodyPr>
          <a:lstStyle>
            <a:lvl1pPr mar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800" spc="0">
                <a:solidFill>
                  <a:srgbClr val="005D96"/>
                </a:solidFill>
                <a:latin typeface="方正大标宋简体" panose="02010601030101010101" pitchFamily="2" charset="-122"/>
                <a:ea typeface="方正大标宋简体" panose="02010601030101010101" pitchFamily="2" charset="-122"/>
                <a:sym typeface="方正大标宋简体" panose="02010601030101010101" pitchFamily="2" charset="-122"/>
              </a:defRPr>
            </a:lvl1pPr>
            <a:lvl2pPr marL="457200" indent="-22860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/>
            </a:lvl2pPr>
            <a:lvl3pPr marL="914400" indent="-22860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/>
            </a:lvl3pPr>
            <a:lvl4pPr marL="1371600" indent="-22860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/>
            </a:lvl4pPr>
            <a:lvl5pPr marL="1828800" indent="-22860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/>
            </a:lvl5pPr>
          </a:lstStyle>
          <a:p>
            <a:pPr lvl="0"/>
            <a:r>
              <a:rPr lang="zh-CN" altLang="en-US" dirty="0"/>
              <a:t>汇报人：青小理</a:t>
            </a:r>
          </a:p>
        </p:txBody>
      </p:sp>
      <p:sp>
        <p:nvSpPr>
          <p:cNvPr id="44" name="文本占位符 1"/>
          <p:cNvSpPr>
            <a:spLocks noGrp="1"/>
          </p:cNvSpPr>
          <p:nvPr>
            <p:ph type="body" sz="quarter" idx="15" hasCustomPrompt="1"/>
          </p:nvPr>
        </p:nvSpPr>
        <p:spPr>
          <a:xfrm>
            <a:off x="6756211" y="5838317"/>
            <a:ext cx="1849890" cy="287836"/>
          </a:xfrm>
          <a:prstGeom prst="rect">
            <a:avLst/>
          </a:prstGeom>
        </p:spPr>
        <p:txBody>
          <a:bodyPr vert="horz" wrap="square" lIns="0" tIns="0" rIns="0" bIns="0" anchor="b" anchorCtr="0">
            <a:normAutofit/>
          </a:bodyPr>
          <a:lstStyle>
            <a:lvl1pPr mar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800" spc="0">
                <a:solidFill>
                  <a:srgbClr val="005D96"/>
                </a:solidFill>
                <a:latin typeface="方正大标宋简体" panose="02010601030101010101" pitchFamily="2" charset="-122"/>
                <a:ea typeface="方正大标宋简体" panose="02010601030101010101" pitchFamily="2" charset="-122"/>
                <a:sym typeface="方正大标宋简体" panose="02010601030101010101" pitchFamily="2" charset="-122"/>
              </a:defRPr>
            </a:lvl1pPr>
            <a:lvl2pPr marL="457200" indent="-22860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/>
            </a:lvl2pPr>
            <a:lvl3pPr marL="914400" indent="-22860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/>
            </a:lvl3pPr>
            <a:lvl4pPr marL="1371600" indent="-22860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/>
            </a:lvl4pPr>
            <a:lvl5pPr marL="1828800" indent="-22860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/>
            </a:lvl5pPr>
          </a:lstStyle>
          <a:p>
            <a:pPr lvl="0"/>
            <a:r>
              <a:rPr lang="zh-CN" altLang="en-US" dirty="0"/>
              <a:t>指导老师：青老师</a:t>
            </a:r>
          </a:p>
        </p:txBody>
      </p:sp>
      <p:sp>
        <p:nvSpPr>
          <p:cNvPr id="17" name="任意多边形: 形状 41"/>
          <p:cNvSpPr/>
          <p:nvPr userDrawn="1"/>
        </p:nvSpPr>
        <p:spPr>
          <a:xfrm>
            <a:off x="-170180" y="-56515"/>
            <a:ext cx="12532360" cy="3908425"/>
          </a:xfrm>
          <a:custGeom>
            <a:avLst/>
            <a:gdLst>
              <a:gd name="connsiteX0" fmla="*/ 0 w 12192000"/>
              <a:gd name="connsiteY0" fmla="*/ 0 h 3621880"/>
              <a:gd name="connsiteX1" fmla="*/ 12192000 w 12192000"/>
              <a:gd name="connsiteY1" fmla="*/ 0 h 3621880"/>
              <a:gd name="connsiteX2" fmla="*/ 12192000 w 12192000"/>
              <a:gd name="connsiteY2" fmla="*/ 3505120 h 3621880"/>
              <a:gd name="connsiteX3" fmla="*/ 12178164 w 12192000"/>
              <a:gd name="connsiteY3" fmla="*/ 3496691 h 3621880"/>
              <a:gd name="connsiteX4" fmla="*/ 6188598 w 12192000"/>
              <a:gd name="connsiteY4" fmla="*/ 2384382 h 3621880"/>
              <a:gd name="connsiteX5" fmla="*/ 48605 w 12192000"/>
              <a:gd name="connsiteY5" fmla="*/ 3588334 h 3621880"/>
              <a:gd name="connsiteX6" fmla="*/ 0 w 12192000"/>
              <a:gd name="connsiteY6" fmla="*/ 3621880 h 3621880"/>
              <a:gd name="connsiteX7" fmla="*/ 0 w 12192000"/>
              <a:gd name="connsiteY7" fmla="*/ 0 h 3621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2000" h="3621880">
                <a:moveTo>
                  <a:pt x="0" y="0"/>
                </a:moveTo>
                <a:lnTo>
                  <a:pt x="12192000" y="0"/>
                </a:lnTo>
                <a:lnTo>
                  <a:pt x="12192000" y="3505120"/>
                </a:lnTo>
                <a:lnTo>
                  <a:pt x="12178164" y="3496691"/>
                </a:lnTo>
                <a:cubicBezTo>
                  <a:pt x="11024675" y="2834150"/>
                  <a:pt x="8774972" y="2384382"/>
                  <a:pt x="6188598" y="2384382"/>
                </a:cubicBezTo>
                <a:cubicBezTo>
                  <a:pt x="3484661" y="2384382"/>
                  <a:pt x="1148698" y="2875967"/>
                  <a:pt x="48605" y="3588334"/>
                </a:cubicBezTo>
                <a:lnTo>
                  <a:pt x="0" y="3621880"/>
                </a:lnTo>
                <a:lnTo>
                  <a:pt x="0" y="0"/>
                </a:lnTo>
                <a:close/>
              </a:path>
            </a:pathLst>
          </a:custGeom>
          <a:solidFill>
            <a:srgbClr val="005D96">
              <a:alpha val="69000"/>
            </a:srgbClr>
          </a:solidFill>
          <a:ln>
            <a:noFill/>
          </a:ln>
          <a:effectLst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 dirty="0"/>
          </a:p>
        </p:txBody>
      </p:sp>
      <p:sp>
        <p:nvSpPr>
          <p:cNvPr id="18" name="文本框 17"/>
          <p:cNvSpPr txBox="1"/>
          <p:nvPr userDrawn="1"/>
        </p:nvSpPr>
        <p:spPr>
          <a:xfrm>
            <a:off x="10196830" y="-1358900"/>
            <a:ext cx="309880" cy="36830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zh-CN" altLang="en-US"/>
          </a:p>
        </p:txBody>
      </p:sp>
      <p:pic>
        <p:nvPicPr>
          <p:cNvPr id="19" name="图片 18" descr="青岛理工大学校徽"/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5283835" y="1692910"/>
            <a:ext cx="1783715" cy="17837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55395525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章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矩形 55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2" name="图片 1" descr="5"/>
          <p:cNvPicPr>
            <a:picLocks noChangeAspect="1"/>
          </p:cNvPicPr>
          <p:nvPr userDrawn="1"/>
        </p:nvPicPr>
        <p:blipFill>
          <a:blip r:embed="rId2">
            <a:alphaModFix amt="30000"/>
          </a:blip>
          <a:stretch>
            <a:fillRect/>
          </a:stretch>
        </p:blipFill>
        <p:spPr>
          <a:xfrm>
            <a:off x="-3822065" y="-434340"/>
            <a:ext cx="7726680" cy="7726680"/>
          </a:xfrm>
          <a:prstGeom prst="rect">
            <a:avLst/>
          </a:prstGeom>
        </p:spPr>
      </p:pic>
      <p:pic>
        <p:nvPicPr>
          <p:cNvPr id="3" name="图片 2" descr="5"/>
          <p:cNvPicPr>
            <a:picLocks noChangeAspect="1"/>
          </p:cNvPicPr>
          <p:nvPr userDrawn="1"/>
        </p:nvPicPr>
        <p:blipFill>
          <a:blip r:embed="rId2">
            <a:alphaModFix amt="30000"/>
          </a:blip>
          <a:stretch>
            <a:fillRect/>
          </a:stretch>
        </p:blipFill>
        <p:spPr>
          <a:xfrm>
            <a:off x="8355330" y="-434340"/>
            <a:ext cx="7726680" cy="7726680"/>
          </a:xfrm>
          <a:prstGeom prst="rect">
            <a:avLst/>
          </a:prstGeom>
        </p:spPr>
      </p:pic>
      <p:sp>
        <p:nvSpPr>
          <p:cNvPr id="9" name="任意多边形: 形状 8"/>
          <p:cNvSpPr/>
          <p:nvPr userDrawn="1"/>
        </p:nvSpPr>
        <p:spPr>
          <a:xfrm rot="21413345">
            <a:off x="-107772" y="5889232"/>
            <a:ext cx="12369445" cy="1288985"/>
          </a:xfrm>
          <a:custGeom>
            <a:avLst/>
            <a:gdLst>
              <a:gd name="connsiteX0" fmla="*/ 12401882 w 12401882"/>
              <a:gd name="connsiteY0" fmla="*/ 73849 h 1288985"/>
              <a:gd name="connsiteX1" fmla="*/ 12335841 w 12401882"/>
              <a:gd name="connsiteY1" fmla="*/ 1288985 h 1288985"/>
              <a:gd name="connsiteX2" fmla="*/ 0 w 12401882"/>
              <a:gd name="connsiteY2" fmla="*/ 618542 h 1288985"/>
              <a:gd name="connsiteX3" fmla="*/ 33618 w 12401882"/>
              <a:gd name="connsiteY3" fmla="*/ 0 h 1288985"/>
              <a:gd name="connsiteX4" fmla="*/ 103646 w 12401882"/>
              <a:gd name="connsiteY4" fmla="*/ 32857 h 1288985"/>
              <a:gd name="connsiteX5" fmla="*/ 6308538 w 12401882"/>
              <a:gd name="connsiteY5" fmla="*/ 553243 h 1288985"/>
              <a:gd name="connsiteX6" fmla="*/ 12326375 w 12401882"/>
              <a:gd name="connsiteY6" fmla="*/ 98014 h 1288985"/>
              <a:gd name="connsiteX7" fmla="*/ 12401882 w 12401882"/>
              <a:gd name="connsiteY7" fmla="*/ 73849 h 12889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401882" h="1288985">
                <a:moveTo>
                  <a:pt x="12401882" y="73849"/>
                </a:moveTo>
                <a:lnTo>
                  <a:pt x="12335841" y="1288985"/>
                </a:lnTo>
                <a:lnTo>
                  <a:pt x="0" y="618542"/>
                </a:lnTo>
                <a:lnTo>
                  <a:pt x="33618" y="0"/>
                </a:lnTo>
                <a:lnTo>
                  <a:pt x="103646" y="32857"/>
                </a:lnTo>
                <a:cubicBezTo>
                  <a:pt x="814657" y="332114"/>
                  <a:pt x="3323130" y="553243"/>
                  <a:pt x="6308538" y="553243"/>
                </a:cubicBezTo>
                <a:cubicBezTo>
                  <a:pt x="9072803" y="553244"/>
                  <a:pt x="11428175" y="363661"/>
                  <a:pt x="12326375" y="98014"/>
                </a:cubicBezTo>
                <a:lnTo>
                  <a:pt x="12401882" y="73849"/>
                </a:lnTo>
                <a:close/>
              </a:path>
            </a:pathLst>
          </a:custGeom>
          <a:solidFill>
            <a:srgbClr val="005D96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8" name="任意多边形: 形状 7"/>
          <p:cNvSpPr/>
          <p:nvPr userDrawn="1"/>
        </p:nvSpPr>
        <p:spPr>
          <a:xfrm rot="21413345">
            <a:off x="-60722" y="5797965"/>
            <a:ext cx="12335849" cy="1470933"/>
          </a:xfrm>
          <a:custGeom>
            <a:avLst/>
            <a:gdLst>
              <a:gd name="connsiteX0" fmla="*/ 12401882 w 12401882"/>
              <a:gd name="connsiteY0" fmla="*/ 73849 h 1288985"/>
              <a:gd name="connsiteX1" fmla="*/ 12335841 w 12401882"/>
              <a:gd name="connsiteY1" fmla="*/ 1288985 h 1288985"/>
              <a:gd name="connsiteX2" fmla="*/ 0 w 12401882"/>
              <a:gd name="connsiteY2" fmla="*/ 618542 h 1288985"/>
              <a:gd name="connsiteX3" fmla="*/ 33618 w 12401882"/>
              <a:gd name="connsiteY3" fmla="*/ 0 h 1288985"/>
              <a:gd name="connsiteX4" fmla="*/ 103646 w 12401882"/>
              <a:gd name="connsiteY4" fmla="*/ 32857 h 1288985"/>
              <a:gd name="connsiteX5" fmla="*/ 6308538 w 12401882"/>
              <a:gd name="connsiteY5" fmla="*/ 553243 h 1288985"/>
              <a:gd name="connsiteX6" fmla="*/ 12326375 w 12401882"/>
              <a:gd name="connsiteY6" fmla="*/ 98014 h 1288985"/>
              <a:gd name="connsiteX7" fmla="*/ 12401882 w 12401882"/>
              <a:gd name="connsiteY7" fmla="*/ 73849 h 12889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401882" h="1288985">
                <a:moveTo>
                  <a:pt x="12401882" y="73849"/>
                </a:moveTo>
                <a:lnTo>
                  <a:pt x="12335841" y="1288985"/>
                </a:lnTo>
                <a:lnTo>
                  <a:pt x="0" y="618542"/>
                </a:lnTo>
                <a:lnTo>
                  <a:pt x="33618" y="0"/>
                </a:lnTo>
                <a:lnTo>
                  <a:pt x="103646" y="32857"/>
                </a:lnTo>
                <a:cubicBezTo>
                  <a:pt x="814657" y="332114"/>
                  <a:pt x="3323130" y="553243"/>
                  <a:pt x="6308538" y="553243"/>
                </a:cubicBezTo>
                <a:cubicBezTo>
                  <a:pt x="9072803" y="553244"/>
                  <a:pt x="11428175" y="363661"/>
                  <a:pt x="12326375" y="98014"/>
                </a:cubicBezTo>
                <a:lnTo>
                  <a:pt x="12401882" y="73849"/>
                </a:lnTo>
                <a:close/>
              </a:path>
            </a:pathLst>
          </a:custGeom>
          <a:solidFill>
            <a:srgbClr val="005D96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7" name="任意多边形: 形状 6"/>
          <p:cNvSpPr/>
          <p:nvPr userDrawn="1"/>
        </p:nvSpPr>
        <p:spPr>
          <a:xfrm rot="21413345">
            <a:off x="-101880" y="5734499"/>
            <a:ext cx="12376686" cy="1507273"/>
          </a:xfrm>
          <a:custGeom>
            <a:avLst/>
            <a:gdLst>
              <a:gd name="connsiteX0" fmla="*/ 12401882 w 12401882"/>
              <a:gd name="connsiteY0" fmla="*/ 73849 h 1288985"/>
              <a:gd name="connsiteX1" fmla="*/ 12335841 w 12401882"/>
              <a:gd name="connsiteY1" fmla="*/ 1288985 h 1288985"/>
              <a:gd name="connsiteX2" fmla="*/ 0 w 12401882"/>
              <a:gd name="connsiteY2" fmla="*/ 618542 h 1288985"/>
              <a:gd name="connsiteX3" fmla="*/ 33618 w 12401882"/>
              <a:gd name="connsiteY3" fmla="*/ 0 h 1288985"/>
              <a:gd name="connsiteX4" fmla="*/ 103646 w 12401882"/>
              <a:gd name="connsiteY4" fmla="*/ 32857 h 1288985"/>
              <a:gd name="connsiteX5" fmla="*/ 6308538 w 12401882"/>
              <a:gd name="connsiteY5" fmla="*/ 553243 h 1288985"/>
              <a:gd name="connsiteX6" fmla="*/ 12326375 w 12401882"/>
              <a:gd name="connsiteY6" fmla="*/ 98014 h 1288985"/>
              <a:gd name="connsiteX7" fmla="*/ 12401882 w 12401882"/>
              <a:gd name="connsiteY7" fmla="*/ 73849 h 12889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401882" h="1288985">
                <a:moveTo>
                  <a:pt x="12401882" y="73849"/>
                </a:moveTo>
                <a:lnTo>
                  <a:pt x="12335841" y="1288985"/>
                </a:lnTo>
                <a:lnTo>
                  <a:pt x="0" y="618542"/>
                </a:lnTo>
                <a:lnTo>
                  <a:pt x="33618" y="0"/>
                </a:lnTo>
                <a:lnTo>
                  <a:pt x="103646" y="32857"/>
                </a:lnTo>
                <a:cubicBezTo>
                  <a:pt x="814657" y="332114"/>
                  <a:pt x="3323130" y="553243"/>
                  <a:pt x="6308538" y="553243"/>
                </a:cubicBezTo>
                <a:cubicBezTo>
                  <a:pt x="9072803" y="553244"/>
                  <a:pt x="11428175" y="363661"/>
                  <a:pt x="12326375" y="98014"/>
                </a:cubicBezTo>
                <a:lnTo>
                  <a:pt x="12401882" y="73849"/>
                </a:lnTo>
                <a:close/>
              </a:path>
            </a:pathLst>
          </a:custGeom>
          <a:solidFill>
            <a:srgbClr val="005D96">
              <a:alpha val="3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10" name="日期占位符 9"/>
          <p:cNvSpPr>
            <a:spLocks noGrp="1"/>
          </p:cNvSpPr>
          <p:nvPr>
            <p:ph type="dt" sz="half" idx="2"/>
          </p:nvPr>
        </p:nvSpPr>
        <p:spPr>
          <a:xfrm>
            <a:off x="468630" y="6493076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 spc="300">
                <a:solidFill>
                  <a:schemeClr val="bg2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defRPr>
            </a:lvl1pPr>
          </a:lstStyle>
          <a:p>
            <a:r>
              <a:rPr lang="zh-CN" altLang="en-US" dirty="0"/>
              <a:t>百折不挠</a:t>
            </a:r>
            <a:r>
              <a:rPr lang="en-US" altLang="zh-CN" dirty="0"/>
              <a:t> </a:t>
            </a:r>
            <a:r>
              <a:rPr lang="zh-CN" altLang="en-US" dirty="0"/>
              <a:t>刚毅厚重</a:t>
            </a:r>
            <a:r>
              <a:rPr lang="en-US" altLang="zh-CN" dirty="0"/>
              <a:t> </a:t>
            </a:r>
            <a:r>
              <a:rPr lang="zh-CN" altLang="en-US" dirty="0"/>
              <a:t>勇承重载</a:t>
            </a:r>
          </a:p>
        </p:txBody>
      </p:sp>
    </p:spTree>
    <p:extLst>
      <p:ext uri="{BB962C8B-B14F-4D97-AF65-F5344CB8AC3E}">
        <p14:creationId xmlns:p14="http://schemas.microsoft.com/office/powerpoint/2010/main" val="55445741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image" Target="../media/image2.png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image" Target="../media/image1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>
            <a:extLst>
              <a:ext uri="{FF2B5EF4-FFF2-40B4-BE49-F238E27FC236}">
                <a16:creationId xmlns:a16="http://schemas.microsoft.com/office/drawing/2014/main" id="{5D2D3ABB-1285-294F-A20A-F30083EB953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id="{7A1A8907-74D6-0D45-95A8-836E4EC85A5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kumimoji="1" lang="zh-CN" altLang="en-US"/>
              <a:t>单击此处编辑母版文本样式</a:t>
            </a:r>
          </a:p>
          <a:p>
            <a:pPr lvl="1"/>
            <a:r>
              <a:rPr kumimoji="1" lang="zh-CN" altLang="en-US"/>
              <a:t>二级</a:t>
            </a:r>
          </a:p>
          <a:p>
            <a:pPr lvl="2"/>
            <a:r>
              <a:rPr kumimoji="1" lang="zh-CN" altLang="en-US"/>
              <a:t>三级</a:t>
            </a:r>
          </a:p>
          <a:p>
            <a:pPr lvl="3"/>
            <a:r>
              <a:rPr kumimoji="1" lang="zh-CN" altLang="en-US"/>
              <a:t>四级</a:t>
            </a:r>
          </a:p>
          <a:p>
            <a:pPr lvl="4"/>
            <a:r>
              <a:rPr kumimoji="1" lang="zh-CN" altLang="en-US"/>
              <a:t>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F017F7AE-BD20-0A4F-80C4-18B0EDB6DE0E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05CF517-7373-6349-A426-5E433EDE14F4}" type="datetimeFigureOut">
              <a:rPr kumimoji="1" lang="zh-CN" altLang="en-US" smtClean="0"/>
              <a:t>2023/5/31</a:t>
            </a:fld>
            <a:endParaRPr kumimoji="1"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F034DFE5-4086-414D-857D-C32B7481EA39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kumimoji="1"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256FCBA4-62E5-7A40-8979-12F1BF0DD7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4729EF8-2028-4447-86E5-25060CA00E4D}" type="slidenum">
              <a:rPr kumimoji="1" lang="zh-CN" altLang="en-US" smtClean="0"/>
              <a:t>‹#›</a:t>
            </a:fld>
            <a:endParaRPr kumimoji="1" lang="zh-CN" altLang="en-US"/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7487543E-91E5-5145-A581-4D7204F32DA7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8" name="图片 7" descr="5">
            <a:extLst>
              <a:ext uri="{FF2B5EF4-FFF2-40B4-BE49-F238E27FC236}">
                <a16:creationId xmlns:a16="http://schemas.microsoft.com/office/drawing/2014/main" id="{86770886-93F4-434C-9FE2-AEFDCF90D23E}"/>
              </a:ext>
            </a:extLst>
          </p:cNvPr>
          <p:cNvPicPr>
            <a:picLocks noChangeAspect="1"/>
          </p:cNvPicPr>
          <p:nvPr userDrawn="1"/>
        </p:nvPicPr>
        <p:blipFill>
          <a:blip r:embed="rId27">
            <a:alphaModFix amt="30000"/>
          </a:blip>
          <a:stretch>
            <a:fillRect/>
          </a:stretch>
        </p:blipFill>
        <p:spPr>
          <a:xfrm>
            <a:off x="-3829050" y="-421622"/>
            <a:ext cx="7726680" cy="7726680"/>
          </a:xfrm>
          <a:prstGeom prst="rect">
            <a:avLst/>
          </a:prstGeom>
        </p:spPr>
      </p:pic>
      <p:pic>
        <p:nvPicPr>
          <p:cNvPr id="9" name="图片 8" descr="5">
            <a:extLst>
              <a:ext uri="{FF2B5EF4-FFF2-40B4-BE49-F238E27FC236}">
                <a16:creationId xmlns:a16="http://schemas.microsoft.com/office/drawing/2014/main" id="{33BEC999-C1B9-3948-9008-02B970DB7EAB}"/>
              </a:ext>
            </a:extLst>
          </p:cNvPr>
          <p:cNvPicPr>
            <a:picLocks noChangeAspect="1"/>
          </p:cNvPicPr>
          <p:nvPr userDrawn="1"/>
        </p:nvPicPr>
        <p:blipFill>
          <a:blip r:embed="rId27">
            <a:alphaModFix amt="30000"/>
          </a:blip>
          <a:stretch>
            <a:fillRect/>
          </a:stretch>
        </p:blipFill>
        <p:spPr>
          <a:xfrm>
            <a:off x="8328660" y="-434340"/>
            <a:ext cx="7726680" cy="7726680"/>
          </a:xfrm>
          <a:prstGeom prst="rect">
            <a:avLst/>
          </a:prstGeom>
        </p:spPr>
      </p:pic>
      <p:sp>
        <p:nvSpPr>
          <p:cNvPr id="10" name="任意多边形: 形状 8">
            <a:extLst>
              <a:ext uri="{FF2B5EF4-FFF2-40B4-BE49-F238E27FC236}">
                <a16:creationId xmlns:a16="http://schemas.microsoft.com/office/drawing/2014/main" id="{CF7A9872-9A2D-0544-B95E-53F0A0452969}"/>
              </a:ext>
            </a:extLst>
          </p:cNvPr>
          <p:cNvSpPr/>
          <p:nvPr userDrawn="1"/>
        </p:nvSpPr>
        <p:spPr>
          <a:xfrm rot="21413345">
            <a:off x="-107772" y="5889232"/>
            <a:ext cx="12369445" cy="1288985"/>
          </a:xfrm>
          <a:custGeom>
            <a:avLst/>
            <a:gdLst>
              <a:gd name="connsiteX0" fmla="*/ 12401882 w 12401882"/>
              <a:gd name="connsiteY0" fmla="*/ 73849 h 1288985"/>
              <a:gd name="connsiteX1" fmla="*/ 12335841 w 12401882"/>
              <a:gd name="connsiteY1" fmla="*/ 1288985 h 1288985"/>
              <a:gd name="connsiteX2" fmla="*/ 0 w 12401882"/>
              <a:gd name="connsiteY2" fmla="*/ 618542 h 1288985"/>
              <a:gd name="connsiteX3" fmla="*/ 33618 w 12401882"/>
              <a:gd name="connsiteY3" fmla="*/ 0 h 1288985"/>
              <a:gd name="connsiteX4" fmla="*/ 103646 w 12401882"/>
              <a:gd name="connsiteY4" fmla="*/ 32857 h 1288985"/>
              <a:gd name="connsiteX5" fmla="*/ 6308538 w 12401882"/>
              <a:gd name="connsiteY5" fmla="*/ 553243 h 1288985"/>
              <a:gd name="connsiteX6" fmla="*/ 12326375 w 12401882"/>
              <a:gd name="connsiteY6" fmla="*/ 98014 h 1288985"/>
              <a:gd name="connsiteX7" fmla="*/ 12401882 w 12401882"/>
              <a:gd name="connsiteY7" fmla="*/ 73849 h 12889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401882" h="1288985">
                <a:moveTo>
                  <a:pt x="12401882" y="73849"/>
                </a:moveTo>
                <a:lnTo>
                  <a:pt x="12335841" y="1288985"/>
                </a:lnTo>
                <a:lnTo>
                  <a:pt x="0" y="618542"/>
                </a:lnTo>
                <a:lnTo>
                  <a:pt x="33618" y="0"/>
                </a:lnTo>
                <a:lnTo>
                  <a:pt x="103646" y="32857"/>
                </a:lnTo>
                <a:cubicBezTo>
                  <a:pt x="814657" y="332114"/>
                  <a:pt x="3323130" y="553243"/>
                  <a:pt x="6308538" y="553243"/>
                </a:cubicBezTo>
                <a:cubicBezTo>
                  <a:pt x="9072803" y="553244"/>
                  <a:pt x="11428175" y="363661"/>
                  <a:pt x="12326375" y="98014"/>
                </a:cubicBezTo>
                <a:lnTo>
                  <a:pt x="12401882" y="73849"/>
                </a:lnTo>
                <a:close/>
              </a:path>
            </a:pathLst>
          </a:custGeom>
          <a:solidFill>
            <a:srgbClr val="005D96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11" name="任意多边形: 形状 7">
            <a:extLst>
              <a:ext uri="{FF2B5EF4-FFF2-40B4-BE49-F238E27FC236}">
                <a16:creationId xmlns:a16="http://schemas.microsoft.com/office/drawing/2014/main" id="{7990B218-ED19-EA44-9E8D-A10600CCD7A7}"/>
              </a:ext>
            </a:extLst>
          </p:cNvPr>
          <p:cNvSpPr/>
          <p:nvPr userDrawn="1"/>
        </p:nvSpPr>
        <p:spPr>
          <a:xfrm rot="21413345">
            <a:off x="-51285" y="5815216"/>
            <a:ext cx="12335849" cy="1470933"/>
          </a:xfrm>
          <a:custGeom>
            <a:avLst/>
            <a:gdLst>
              <a:gd name="connsiteX0" fmla="*/ 12401882 w 12401882"/>
              <a:gd name="connsiteY0" fmla="*/ 73849 h 1288985"/>
              <a:gd name="connsiteX1" fmla="*/ 12335841 w 12401882"/>
              <a:gd name="connsiteY1" fmla="*/ 1288985 h 1288985"/>
              <a:gd name="connsiteX2" fmla="*/ 0 w 12401882"/>
              <a:gd name="connsiteY2" fmla="*/ 618542 h 1288985"/>
              <a:gd name="connsiteX3" fmla="*/ 33618 w 12401882"/>
              <a:gd name="connsiteY3" fmla="*/ 0 h 1288985"/>
              <a:gd name="connsiteX4" fmla="*/ 103646 w 12401882"/>
              <a:gd name="connsiteY4" fmla="*/ 32857 h 1288985"/>
              <a:gd name="connsiteX5" fmla="*/ 6308538 w 12401882"/>
              <a:gd name="connsiteY5" fmla="*/ 553243 h 1288985"/>
              <a:gd name="connsiteX6" fmla="*/ 12326375 w 12401882"/>
              <a:gd name="connsiteY6" fmla="*/ 98014 h 1288985"/>
              <a:gd name="connsiteX7" fmla="*/ 12401882 w 12401882"/>
              <a:gd name="connsiteY7" fmla="*/ 73849 h 12889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401882" h="1288985">
                <a:moveTo>
                  <a:pt x="12401882" y="73849"/>
                </a:moveTo>
                <a:lnTo>
                  <a:pt x="12335841" y="1288985"/>
                </a:lnTo>
                <a:lnTo>
                  <a:pt x="0" y="618542"/>
                </a:lnTo>
                <a:lnTo>
                  <a:pt x="33618" y="0"/>
                </a:lnTo>
                <a:lnTo>
                  <a:pt x="103646" y="32857"/>
                </a:lnTo>
                <a:cubicBezTo>
                  <a:pt x="814657" y="332114"/>
                  <a:pt x="3323130" y="553243"/>
                  <a:pt x="6308538" y="553243"/>
                </a:cubicBezTo>
                <a:cubicBezTo>
                  <a:pt x="9072803" y="553244"/>
                  <a:pt x="11428175" y="363661"/>
                  <a:pt x="12326375" y="98014"/>
                </a:cubicBezTo>
                <a:lnTo>
                  <a:pt x="12401882" y="73849"/>
                </a:lnTo>
                <a:close/>
              </a:path>
            </a:pathLst>
          </a:custGeom>
          <a:solidFill>
            <a:srgbClr val="005D96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12" name="任意多边形: 形状 6">
            <a:extLst>
              <a:ext uri="{FF2B5EF4-FFF2-40B4-BE49-F238E27FC236}">
                <a16:creationId xmlns:a16="http://schemas.microsoft.com/office/drawing/2014/main" id="{AF003127-AEDD-8E4C-9F09-DA9AF5FD300F}"/>
              </a:ext>
            </a:extLst>
          </p:cNvPr>
          <p:cNvSpPr/>
          <p:nvPr userDrawn="1"/>
        </p:nvSpPr>
        <p:spPr>
          <a:xfrm rot="21413345">
            <a:off x="-9274" y="5823247"/>
            <a:ext cx="12376686" cy="1507273"/>
          </a:xfrm>
          <a:custGeom>
            <a:avLst/>
            <a:gdLst>
              <a:gd name="connsiteX0" fmla="*/ 12401882 w 12401882"/>
              <a:gd name="connsiteY0" fmla="*/ 73849 h 1288985"/>
              <a:gd name="connsiteX1" fmla="*/ 12335841 w 12401882"/>
              <a:gd name="connsiteY1" fmla="*/ 1288985 h 1288985"/>
              <a:gd name="connsiteX2" fmla="*/ 0 w 12401882"/>
              <a:gd name="connsiteY2" fmla="*/ 618542 h 1288985"/>
              <a:gd name="connsiteX3" fmla="*/ 33618 w 12401882"/>
              <a:gd name="connsiteY3" fmla="*/ 0 h 1288985"/>
              <a:gd name="connsiteX4" fmla="*/ 103646 w 12401882"/>
              <a:gd name="connsiteY4" fmla="*/ 32857 h 1288985"/>
              <a:gd name="connsiteX5" fmla="*/ 6308538 w 12401882"/>
              <a:gd name="connsiteY5" fmla="*/ 553243 h 1288985"/>
              <a:gd name="connsiteX6" fmla="*/ 12326375 w 12401882"/>
              <a:gd name="connsiteY6" fmla="*/ 98014 h 1288985"/>
              <a:gd name="connsiteX7" fmla="*/ 12401882 w 12401882"/>
              <a:gd name="connsiteY7" fmla="*/ 73849 h 12889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401882" h="1288985">
                <a:moveTo>
                  <a:pt x="12401882" y="73849"/>
                </a:moveTo>
                <a:lnTo>
                  <a:pt x="12335841" y="1288985"/>
                </a:lnTo>
                <a:lnTo>
                  <a:pt x="0" y="618542"/>
                </a:lnTo>
                <a:lnTo>
                  <a:pt x="33618" y="0"/>
                </a:lnTo>
                <a:lnTo>
                  <a:pt x="103646" y="32857"/>
                </a:lnTo>
                <a:cubicBezTo>
                  <a:pt x="814657" y="332114"/>
                  <a:pt x="3323130" y="553243"/>
                  <a:pt x="6308538" y="553243"/>
                </a:cubicBezTo>
                <a:cubicBezTo>
                  <a:pt x="9072803" y="553244"/>
                  <a:pt x="11428175" y="363661"/>
                  <a:pt x="12326375" y="98014"/>
                </a:cubicBezTo>
                <a:lnTo>
                  <a:pt x="12401882" y="73849"/>
                </a:lnTo>
                <a:close/>
              </a:path>
            </a:pathLst>
          </a:custGeom>
          <a:solidFill>
            <a:srgbClr val="005D96">
              <a:alpha val="3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13" name="日期占位符 9">
            <a:extLst>
              <a:ext uri="{FF2B5EF4-FFF2-40B4-BE49-F238E27FC236}">
                <a16:creationId xmlns:a16="http://schemas.microsoft.com/office/drawing/2014/main" id="{25D4FA56-C140-9844-933D-B552570A8775}"/>
              </a:ext>
            </a:extLst>
          </p:cNvPr>
          <p:cNvSpPr txBox="1">
            <a:spLocks/>
          </p:cNvSpPr>
          <p:nvPr userDrawn="1"/>
        </p:nvSpPr>
        <p:spPr>
          <a:xfrm>
            <a:off x="468630" y="6493076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zh-CN"/>
            </a:defPPr>
            <a:lvl1pPr marL="0" algn="l" defTabSz="914400" rtl="0" eaLnBrk="1" latinLnBrk="0" hangingPunct="1">
              <a:defRPr sz="1200" kern="1200" spc="300">
                <a:solidFill>
                  <a:schemeClr val="bg2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zh-CN" altLang="en-US"/>
              <a:t>百折不挠</a:t>
            </a:r>
            <a:r>
              <a:rPr lang="en-US" altLang="zh-CN"/>
              <a:t> </a:t>
            </a:r>
            <a:r>
              <a:rPr lang="zh-CN" altLang="en-US"/>
              <a:t>刚毅厚重</a:t>
            </a:r>
            <a:r>
              <a:rPr lang="en-US" altLang="zh-CN"/>
              <a:t> </a:t>
            </a:r>
            <a:r>
              <a:rPr lang="zh-CN" altLang="en-US"/>
              <a:t>勇承重载</a:t>
            </a:r>
            <a:endParaRPr lang="zh-CN" altLang="en-US" dirty="0"/>
          </a:p>
        </p:txBody>
      </p:sp>
      <p:sp>
        <p:nvSpPr>
          <p:cNvPr id="14" name="矩形 13">
            <a:extLst>
              <a:ext uri="{FF2B5EF4-FFF2-40B4-BE49-F238E27FC236}">
                <a16:creationId xmlns:a16="http://schemas.microsoft.com/office/drawing/2014/main" id="{73BF4C09-9862-DF42-BD08-3AFBEDF9DF09}"/>
              </a:ext>
            </a:extLst>
          </p:cNvPr>
          <p:cNvSpPr/>
          <p:nvPr userDrawn="1"/>
        </p:nvSpPr>
        <p:spPr>
          <a:xfrm>
            <a:off x="762000" y="0"/>
            <a:ext cx="333926" cy="944563"/>
          </a:xfrm>
          <a:prstGeom prst="rect">
            <a:avLst/>
          </a:prstGeom>
          <a:solidFill>
            <a:srgbClr val="005D9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  <a:cs typeface="+mn-ea"/>
              <a:sym typeface="+mn-lt"/>
            </a:endParaRPr>
          </a:p>
        </p:txBody>
      </p:sp>
      <p:pic>
        <p:nvPicPr>
          <p:cNvPr id="15" name="图片 14" descr="青岛理工大学校徽">
            <a:extLst>
              <a:ext uri="{FF2B5EF4-FFF2-40B4-BE49-F238E27FC236}">
                <a16:creationId xmlns:a16="http://schemas.microsoft.com/office/drawing/2014/main" id="{41EA12D9-A451-3B45-A579-CA2846C1C316}"/>
              </a:ext>
            </a:extLst>
          </p:cNvPr>
          <p:cNvPicPr>
            <a:picLocks noChangeAspect="1"/>
          </p:cNvPicPr>
          <p:nvPr userDrawn="1"/>
        </p:nvPicPr>
        <p:blipFill>
          <a:blip r:embed="rId28"/>
          <a:stretch>
            <a:fillRect/>
          </a:stretch>
        </p:blipFill>
        <p:spPr>
          <a:xfrm>
            <a:off x="10973435" y="221615"/>
            <a:ext cx="723265" cy="72326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1386564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4" r:id="rId1"/>
    <p:sldLayoutId id="2147483663" r:id="rId2"/>
    <p:sldLayoutId id="2147483664" r:id="rId3"/>
    <p:sldLayoutId id="2147483665" r:id="rId4"/>
    <p:sldLayoutId id="2147483666" r:id="rId5"/>
    <p:sldLayoutId id="2147483667" r:id="rId6"/>
    <p:sldLayoutId id="2147483668" r:id="rId7"/>
    <p:sldLayoutId id="2147483669" r:id="rId8"/>
    <p:sldLayoutId id="2147483670" r:id="rId9"/>
    <p:sldLayoutId id="2147483671" r:id="rId10"/>
    <p:sldLayoutId id="2147483672" r:id="rId11"/>
    <p:sldLayoutId id="2147483673" r:id="rId12"/>
    <p:sldLayoutId id="2147483649" r:id="rId13"/>
    <p:sldLayoutId id="2147483650" r:id="rId14"/>
    <p:sldLayoutId id="2147483651" r:id="rId15"/>
    <p:sldLayoutId id="2147483652" r:id="rId16"/>
    <p:sldLayoutId id="2147483653" r:id="rId17"/>
    <p:sldLayoutId id="2147483654" r:id="rId18"/>
    <p:sldLayoutId id="2147483655" r:id="rId19"/>
    <p:sldLayoutId id="2147483656" r:id="rId20"/>
    <p:sldLayoutId id="2147483657" r:id="rId21"/>
    <p:sldLayoutId id="2147483658" r:id="rId22"/>
    <p:sldLayoutId id="2147483659" r:id="rId23"/>
    <p:sldLayoutId id="2147483660" r:id="rId24"/>
    <p:sldLayoutId id="2147483661" r:id="rId25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.xml"/><Relationship Id="rId2" Type="http://schemas.openxmlformats.org/officeDocument/2006/relationships/slideLayout" Target="../slideLayouts/slideLayout24.xml"/><Relationship Id="rId1" Type="http://schemas.openxmlformats.org/officeDocument/2006/relationships/tags" Target="../tags/tag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5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3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3.xml"/><Relationship Id="rId2" Type="http://schemas.openxmlformats.org/officeDocument/2006/relationships/slideLayout" Target="../slideLayouts/slideLayout24.xml"/><Relationship Id="rId1" Type="http://schemas.openxmlformats.org/officeDocument/2006/relationships/tags" Target="../tags/tag2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3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3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10.png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10.png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3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3.xml"/></Relationships>
</file>

<file path=ppt/slides/_rels/slide1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3.xml"/></Relationships>
</file>

<file path=ppt/slides/_rels/slide1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3.xml"/></Relationships>
</file>

<file path=ppt/slides/_rels/slide1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3.xml"/></Relationships>
</file>

<file path=ppt/slides/_rels/slide1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3.xml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3.xml"/></Relationships>
</file>

<file path=ppt/slides/_rels/slide1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3.xml"/></Relationships>
</file>

<file path=ppt/slides/_rels/slide1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3.xml"/></Relationships>
</file>

<file path=ppt/slides/_rels/slide1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3.xml"/></Relationships>
</file>

<file path=ppt/slides/_rels/slide1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3.xml"/></Relationships>
</file>

<file path=ppt/slides/_rels/slide1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标题 11"/>
          <p:cNvSpPr>
            <a:spLocks noGrp="1"/>
          </p:cNvSpPr>
          <p:nvPr>
            <p:ph type="title"/>
          </p:nvPr>
        </p:nvSpPr>
        <p:spPr>
          <a:xfrm>
            <a:off x="2719705" y="3857271"/>
            <a:ext cx="7350125" cy="652780"/>
          </a:xfrm>
        </p:spPr>
        <p:txBody>
          <a:bodyPr>
            <a:normAutofit/>
          </a:bodyPr>
          <a:lstStyle/>
          <a:p>
            <a:pPr algn="ctr"/>
            <a:r>
              <a:rPr lang="zh-CN" altLang="en-US" dirty="0"/>
              <a:t>算法设计与分析</a:t>
            </a:r>
            <a:endParaRPr lang="zh-CN" altLang="en-US" dirty="0">
              <a:solidFill>
                <a:srgbClr val="005D96"/>
              </a:solidFill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704260" y="5219564"/>
            <a:ext cx="6783480" cy="99986"/>
            <a:chOff x="628656" y="974915"/>
            <a:chExt cx="11038056" cy="24702"/>
          </a:xfrm>
        </p:grpSpPr>
        <p:cxnSp>
          <p:nvCxnSpPr>
            <p:cNvPr id="40" name="直接连接符 39"/>
            <p:cNvCxnSpPr/>
            <p:nvPr/>
          </p:nvCxnSpPr>
          <p:spPr>
            <a:xfrm>
              <a:off x="628656" y="975360"/>
              <a:ext cx="8627657" cy="0"/>
            </a:xfrm>
            <a:prstGeom prst="line">
              <a:avLst/>
            </a:prstGeom>
            <a:ln w="19050">
              <a:solidFill>
                <a:srgbClr val="005D96"/>
              </a:solidFill>
            </a:ln>
          </p:spPr>
          <p:style>
            <a:lnRef idx="3">
              <a:schemeClr val="accent1"/>
            </a:lnRef>
            <a:fillRef idx="0">
              <a:schemeClr val="accent1"/>
            </a:fillRef>
            <a:effectRef idx="2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接连接符 46"/>
            <p:cNvCxnSpPr/>
            <p:nvPr/>
          </p:nvCxnSpPr>
          <p:spPr>
            <a:xfrm flipH="1">
              <a:off x="9233073" y="974915"/>
              <a:ext cx="23240" cy="24702"/>
            </a:xfrm>
            <a:prstGeom prst="line">
              <a:avLst/>
            </a:prstGeom>
            <a:ln w="19050" cap="rnd">
              <a:solidFill>
                <a:srgbClr val="005D9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接连接符 50"/>
            <p:cNvCxnSpPr/>
            <p:nvPr/>
          </p:nvCxnSpPr>
          <p:spPr>
            <a:xfrm flipV="1">
              <a:off x="9233070" y="975360"/>
              <a:ext cx="189380" cy="24257"/>
            </a:xfrm>
            <a:prstGeom prst="line">
              <a:avLst/>
            </a:prstGeom>
            <a:ln w="19050" cap="rnd">
              <a:solidFill>
                <a:srgbClr val="005D96"/>
              </a:solidFill>
              <a:miter lim="800000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接连接符 51"/>
            <p:cNvCxnSpPr/>
            <p:nvPr/>
          </p:nvCxnSpPr>
          <p:spPr>
            <a:xfrm>
              <a:off x="9422450" y="975360"/>
              <a:ext cx="2244262" cy="0"/>
            </a:xfrm>
            <a:prstGeom prst="line">
              <a:avLst/>
            </a:prstGeom>
            <a:ln w="19050">
              <a:solidFill>
                <a:srgbClr val="005D9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5" name="直接连接符 94"/>
          <p:cNvCxnSpPr/>
          <p:nvPr/>
        </p:nvCxnSpPr>
        <p:spPr>
          <a:xfrm flipV="1">
            <a:off x="2784475" y="5848350"/>
            <a:ext cx="0" cy="265430"/>
          </a:xfrm>
          <a:prstGeom prst="line">
            <a:avLst/>
          </a:prstGeom>
          <a:ln w="28575" cap="rnd">
            <a:solidFill>
              <a:srgbClr val="005D9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直接连接符 95"/>
          <p:cNvCxnSpPr/>
          <p:nvPr/>
        </p:nvCxnSpPr>
        <p:spPr>
          <a:xfrm flipV="1">
            <a:off x="2861310" y="5895340"/>
            <a:ext cx="0" cy="170180"/>
          </a:xfrm>
          <a:prstGeom prst="line">
            <a:avLst/>
          </a:prstGeom>
          <a:ln w="28575" cap="rnd">
            <a:solidFill>
              <a:srgbClr val="005D96">
                <a:alpha val="60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直接连接符 96"/>
          <p:cNvCxnSpPr/>
          <p:nvPr/>
        </p:nvCxnSpPr>
        <p:spPr>
          <a:xfrm rot="16200000">
            <a:off x="2880995" y="5981065"/>
            <a:ext cx="113665" cy="0"/>
          </a:xfrm>
          <a:prstGeom prst="line">
            <a:avLst/>
          </a:prstGeom>
          <a:ln w="28575" cap="rnd">
            <a:solidFill>
              <a:srgbClr val="005D96">
                <a:alpha val="30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5" name="组合 34"/>
          <p:cNvGrpSpPr/>
          <p:nvPr/>
        </p:nvGrpSpPr>
        <p:grpSpPr>
          <a:xfrm>
            <a:off x="3161491" y="5800840"/>
            <a:ext cx="5933868" cy="367111"/>
            <a:chOff x="3517041" y="5800840"/>
            <a:chExt cx="5082917" cy="367111"/>
          </a:xfrm>
        </p:grpSpPr>
        <p:sp>
          <p:nvSpPr>
            <p:cNvPr id="36" name="文本框 35"/>
            <p:cNvSpPr txBox="1"/>
            <p:nvPr/>
          </p:nvSpPr>
          <p:spPr>
            <a:xfrm>
              <a:off x="3826448" y="5856877"/>
              <a:ext cx="2349253" cy="283476"/>
            </a:xfrm>
            <a:prstGeom prst="rect">
              <a:avLst/>
            </a:prstGeom>
            <a:noFill/>
          </p:spPr>
          <p:txBody>
            <a:bodyPr wrap="square" lIns="0" tIns="0" rIns="0" bIns="0" rtlCol="0" anchor="b">
              <a:spAutoFit/>
            </a:bodyPr>
            <a:lstStyle/>
            <a:p>
              <a:pPr lvl="0" algn="r">
                <a:lnSpc>
                  <a:spcPct val="110000"/>
                </a:lnSpc>
                <a:defRPr/>
              </a:pPr>
              <a:r>
                <a:rPr lang="zh-CN" altLang="en-US" dirty="0">
                  <a:solidFill>
                    <a:srgbClr val="005D96"/>
                  </a:solidFill>
                  <a:latin typeface="方正大标宋简体" panose="02010601030101010101" pitchFamily="2" charset="-122"/>
                  <a:ea typeface="方正大标宋简体" panose="02010601030101010101" pitchFamily="2" charset="-122"/>
                </a:rPr>
                <a:t>开课专业班级：软件</a:t>
              </a:r>
              <a:r>
                <a:rPr lang="en-US" altLang="zh-CN" dirty="0">
                  <a:solidFill>
                    <a:srgbClr val="005D96"/>
                  </a:solidFill>
                  <a:latin typeface="方正大标宋简体" panose="02010601030101010101" pitchFamily="2" charset="-122"/>
                  <a:ea typeface="方正大标宋简体" panose="02010601030101010101" pitchFamily="2" charset="-122"/>
                </a:rPr>
                <a:t>211-3</a:t>
              </a:r>
              <a:r>
                <a:rPr kumimoji="0" lang="zh-CN" altLang="en-US" b="0" i="0" u="none" strike="noStrike" kern="1200" cap="none" spc="0" normalizeH="0" baseline="0" noProof="0" dirty="0">
                  <a:ln>
                    <a:noFill/>
                  </a:ln>
                  <a:solidFill>
                    <a:srgbClr val="005D96"/>
                  </a:solidFill>
                  <a:effectLst/>
                  <a:uLnTx/>
                  <a:uFillTx/>
                  <a:latin typeface="方正大标宋简体" panose="02010601030101010101" pitchFamily="2" charset="-122"/>
                  <a:ea typeface="方正大标宋简体" panose="02010601030101010101" pitchFamily="2" charset="-122"/>
                </a:rPr>
                <a:t> </a:t>
              </a:r>
            </a:p>
          </p:txBody>
        </p:sp>
        <p:sp>
          <p:nvSpPr>
            <p:cNvPr id="38" name="文本框 37"/>
            <p:cNvSpPr txBox="1"/>
            <p:nvPr/>
          </p:nvSpPr>
          <p:spPr>
            <a:xfrm>
              <a:off x="6830089" y="5810965"/>
              <a:ext cx="1769869" cy="314894"/>
            </a:xfrm>
            <a:prstGeom prst="rect">
              <a:avLst/>
            </a:prstGeom>
            <a:noFill/>
          </p:spPr>
          <p:txBody>
            <a:bodyPr wrap="square" lIns="0" tIns="0" rIns="0" bIns="0" rtlCol="0" anchor="b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lang="zh-CN" altLang="en-US" dirty="0">
                  <a:solidFill>
                    <a:srgbClr val="005D96"/>
                  </a:solidFill>
                  <a:latin typeface="方正大标宋简体" panose="02010601030101010101" pitchFamily="2" charset="-122"/>
                  <a:ea typeface="方正大标宋简体" panose="02010601030101010101" pitchFamily="2" charset="-122"/>
                </a:rPr>
                <a:t>开课教师：</a:t>
              </a:r>
              <a:r>
                <a:rPr lang="zh-CN" altLang="en-US" sz="2000" dirty="0">
                  <a:solidFill>
                    <a:srgbClr val="005D96"/>
                  </a:solidFill>
                  <a:latin typeface="方正大标宋简体" panose="02010601030101010101" pitchFamily="2" charset="-122"/>
                  <a:ea typeface="方正大标宋简体" panose="02010601030101010101" pitchFamily="2" charset="-122"/>
                </a:rPr>
                <a:t>赵浩然</a:t>
              </a:r>
            </a:p>
          </p:txBody>
        </p:sp>
        <p:sp>
          <p:nvSpPr>
            <p:cNvPr id="39" name="graduate_57239"/>
            <p:cNvSpPr>
              <a:spLocks noChangeAspect="1"/>
            </p:cNvSpPr>
            <p:nvPr/>
          </p:nvSpPr>
          <p:spPr bwMode="auto">
            <a:xfrm>
              <a:off x="3517041" y="5800840"/>
              <a:ext cx="247420" cy="360000"/>
            </a:xfrm>
            <a:custGeom>
              <a:avLst/>
              <a:gdLst>
                <a:gd name="connsiteX0" fmla="*/ 142468 w 412043"/>
                <a:gd name="connsiteY0" fmla="*/ 396851 h 599527"/>
                <a:gd name="connsiteX1" fmla="*/ 153964 w 412043"/>
                <a:gd name="connsiteY1" fmla="*/ 405753 h 599527"/>
                <a:gd name="connsiteX2" fmla="*/ 144814 w 412043"/>
                <a:gd name="connsiteY2" fmla="*/ 585910 h 599527"/>
                <a:gd name="connsiteX3" fmla="*/ 135898 w 412043"/>
                <a:gd name="connsiteY3" fmla="*/ 595046 h 599527"/>
                <a:gd name="connsiteX4" fmla="*/ 15768 w 412043"/>
                <a:gd name="connsiteY4" fmla="*/ 599498 h 599527"/>
                <a:gd name="connsiteX5" fmla="*/ 6383 w 412043"/>
                <a:gd name="connsiteY5" fmla="*/ 590127 h 599527"/>
                <a:gd name="connsiteX6" fmla="*/ 142468 w 412043"/>
                <a:gd name="connsiteY6" fmla="*/ 396851 h 599527"/>
                <a:gd name="connsiteX7" fmla="*/ 275305 w 412043"/>
                <a:gd name="connsiteY7" fmla="*/ 271238 h 599527"/>
                <a:gd name="connsiteX8" fmla="*/ 222034 w 412043"/>
                <a:gd name="connsiteY8" fmla="*/ 284828 h 599527"/>
                <a:gd name="connsiteX9" fmla="*/ 158437 w 412043"/>
                <a:gd name="connsiteY9" fmla="*/ 287640 h 599527"/>
                <a:gd name="connsiteX10" fmla="*/ 99299 w 412043"/>
                <a:gd name="connsiteY10" fmla="*/ 277096 h 599527"/>
                <a:gd name="connsiteX11" fmla="*/ 205137 w 412043"/>
                <a:gd name="connsiteY11" fmla="*/ 392382 h 599527"/>
                <a:gd name="connsiteX12" fmla="*/ 312148 w 412043"/>
                <a:gd name="connsiteY12" fmla="*/ 309432 h 599527"/>
                <a:gd name="connsiteX13" fmla="*/ 305108 w 412043"/>
                <a:gd name="connsiteY13" fmla="*/ 310604 h 599527"/>
                <a:gd name="connsiteX14" fmla="*/ 275305 w 412043"/>
                <a:gd name="connsiteY14" fmla="*/ 271238 h 599527"/>
                <a:gd name="connsiteX15" fmla="*/ 93667 w 412043"/>
                <a:gd name="connsiteY15" fmla="*/ 210314 h 599527"/>
                <a:gd name="connsiteX16" fmla="*/ 93667 w 412043"/>
                <a:gd name="connsiteY16" fmla="*/ 212892 h 599527"/>
                <a:gd name="connsiteX17" fmla="*/ 100003 w 412043"/>
                <a:gd name="connsiteY17" fmla="*/ 213595 h 599527"/>
                <a:gd name="connsiteX18" fmla="*/ 93667 w 412043"/>
                <a:gd name="connsiteY18" fmla="*/ 210314 h 599527"/>
                <a:gd name="connsiteX19" fmla="*/ 80202 w 412043"/>
                <a:gd name="connsiteY19" fmla="*/ 186355 h 599527"/>
                <a:gd name="connsiteX20" fmla="*/ 89443 w 412043"/>
                <a:gd name="connsiteY20" fmla="*/ 186413 h 599527"/>
                <a:gd name="connsiteX21" fmla="*/ 269203 w 412043"/>
                <a:gd name="connsiteY21" fmla="*/ 193209 h 599527"/>
                <a:gd name="connsiteX22" fmla="*/ 279059 w 412043"/>
                <a:gd name="connsiteY22" fmla="*/ 193209 h 599527"/>
                <a:gd name="connsiteX23" fmla="*/ 284222 w 412043"/>
                <a:gd name="connsiteY23" fmla="*/ 197661 h 599527"/>
                <a:gd name="connsiteX24" fmla="*/ 288681 w 412043"/>
                <a:gd name="connsiteY24" fmla="*/ 255304 h 599527"/>
                <a:gd name="connsiteX25" fmla="*/ 312383 w 412043"/>
                <a:gd name="connsiteY25" fmla="*/ 289280 h 599527"/>
                <a:gd name="connsiteX26" fmla="*/ 314965 w 412043"/>
                <a:gd name="connsiteY26" fmla="*/ 201175 h 599527"/>
                <a:gd name="connsiteX27" fmla="*/ 330688 w 412043"/>
                <a:gd name="connsiteY27" fmla="*/ 199067 h 599527"/>
                <a:gd name="connsiteX28" fmla="*/ 260051 w 412043"/>
                <a:gd name="connsiteY28" fmla="*/ 401287 h 599527"/>
                <a:gd name="connsiteX29" fmla="*/ 263102 w 412043"/>
                <a:gd name="connsiteY29" fmla="*/ 401990 h 599527"/>
                <a:gd name="connsiteX30" fmla="*/ 401325 w 412043"/>
                <a:gd name="connsiteY30" fmla="*/ 590150 h 599527"/>
                <a:gd name="connsiteX31" fmla="*/ 389591 w 412043"/>
                <a:gd name="connsiteY31" fmla="*/ 599289 h 599527"/>
                <a:gd name="connsiteX32" fmla="*/ 262867 w 412043"/>
                <a:gd name="connsiteY32" fmla="*/ 595071 h 599527"/>
                <a:gd name="connsiteX33" fmla="*/ 253480 w 412043"/>
                <a:gd name="connsiteY33" fmla="*/ 585698 h 599527"/>
                <a:gd name="connsiteX34" fmla="*/ 247144 w 412043"/>
                <a:gd name="connsiteY34" fmla="*/ 414643 h 599527"/>
                <a:gd name="connsiteX35" fmla="*/ 248786 w 412043"/>
                <a:gd name="connsiteY35" fmla="*/ 410660 h 599527"/>
                <a:gd name="connsiteX36" fmla="*/ 251603 w 412043"/>
                <a:gd name="connsiteY36" fmla="*/ 404802 h 599527"/>
                <a:gd name="connsiteX37" fmla="*/ 205137 w 412043"/>
                <a:gd name="connsiteY37" fmla="*/ 410894 h 599527"/>
                <a:gd name="connsiteX38" fmla="*/ 75362 w 412043"/>
                <a:gd name="connsiteY38" fmla="*/ 194380 h 599527"/>
                <a:gd name="connsiteX39" fmla="*/ 80202 w 412043"/>
                <a:gd name="connsiteY39" fmla="*/ 186355 h 599527"/>
                <a:gd name="connsiteX40" fmla="*/ 204675 w 412043"/>
                <a:gd name="connsiteY40" fmla="*/ 1071 h 599527"/>
                <a:gd name="connsiteX41" fmla="*/ 297143 w 412043"/>
                <a:gd name="connsiteY41" fmla="*/ 36212 h 599527"/>
                <a:gd name="connsiteX42" fmla="*/ 407917 w 412043"/>
                <a:gd name="connsiteY42" fmla="*/ 88689 h 599527"/>
                <a:gd name="connsiteX43" fmla="*/ 405335 w 412043"/>
                <a:gd name="connsiteY43" fmla="*/ 105790 h 599527"/>
                <a:gd name="connsiteX44" fmla="*/ 367785 w 412043"/>
                <a:gd name="connsiteY44" fmla="*/ 126172 h 599527"/>
                <a:gd name="connsiteX45" fmla="*/ 313102 w 412043"/>
                <a:gd name="connsiteY45" fmla="*/ 136948 h 599527"/>
                <a:gd name="connsiteX46" fmla="*/ 200216 w 412043"/>
                <a:gd name="connsiteY46" fmla="*/ 93608 h 599527"/>
                <a:gd name="connsiteX47" fmla="*/ 282123 w 412043"/>
                <a:gd name="connsiteY47" fmla="*/ 147256 h 599527"/>
                <a:gd name="connsiteX48" fmla="*/ 285643 w 412043"/>
                <a:gd name="connsiteY48" fmla="*/ 153347 h 599527"/>
                <a:gd name="connsiteX49" fmla="*/ 285174 w 412043"/>
                <a:gd name="connsiteY49" fmla="*/ 165530 h 599527"/>
                <a:gd name="connsiteX50" fmla="*/ 172757 w 412043"/>
                <a:gd name="connsiteY50" fmla="*/ 198328 h 599527"/>
                <a:gd name="connsiteX51" fmla="*/ 8474 w 412043"/>
                <a:gd name="connsiteY51" fmla="*/ 110242 h 599527"/>
                <a:gd name="connsiteX52" fmla="*/ 3310 w 412043"/>
                <a:gd name="connsiteY52" fmla="*/ 97122 h 599527"/>
                <a:gd name="connsiteX53" fmla="*/ 113146 w 412043"/>
                <a:gd name="connsiteY53" fmla="*/ 45114 h 599527"/>
                <a:gd name="connsiteX54" fmla="*/ 204675 w 412043"/>
                <a:gd name="connsiteY54" fmla="*/ 1071 h 599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412043" h="599527">
                  <a:moveTo>
                    <a:pt x="142468" y="396851"/>
                  </a:moveTo>
                  <a:cubicBezTo>
                    <a:pt x="148333" y="395679"/>
                    <a:pt x="153730" y="399662"/>
                    <a:pt x="153964" y="405753"/>
                  </a:cubicBezTo>
                  <a:cubicBezTo>
                    <a:pt x="156545" y="464556"/>
                    <a:pt x="165461" y="529215"/>
                    <a:pt x="144814" y="585910"/>
                  </a:cubicBezTo>
                  <a:cubicBezTo>
                    <a:pt x="145048" y="590595"/>
                    <a:pt x="142233" y="595515"/>
                    <a:pt x="135898" y="595046"/>
                  </a:cubicBezTo>
                  <a:cubicBezTo>
                    <a:pt x="95776" y="591532"/>
                    <a:pt x="55889" y="595046"/>
                    <a:pt x="15768" y="599498"/>
                  </a:cubicBezTo>
                  <a:cubicBezTo>
                    <a:pt x="10606" y="599966"/>
                    <a:pt x="6383" y="594812"/>
                    <a:pt x="6383" y="590127"/>
                  </a:cubicBezTo>
                  <a:cubicBezTo>
                    <a:pt x="5913" y="512348"/>
                    <a:pt x="62224" y="414655"/>
                    <a:pt x="142468" y="396851"/>
                  </a:cubicBezTo>
                  <a:close/>
                  <a:moveTo>
                    <a:pt x="275305" y="271238"/>
                  </a:moveTo>
                  <a:cubicBezTo>
                    <a:pt x="260285" y="280845"/>
                    <a:pt x="239165" y="282251"/>
                    <a:pt x="222034" y="284828"/>
                  </a:cubicBezTo>
                  <a:cubicBezTo>
                    <a:pt x="201148" y="287875"/>
                    <a:pt x="179557" y="289280"/>
                    <a:pt x="158437" y="287640"/>
                  </a:cubicBezTo>
                  <a:cubicBezTo>
                    <a:pt x="143887" y="286469"/>
                    <a:pt x="116899" y="285531"/>
                    <a:pt x="99299" y="277096"/>
                  </a:cubicBezTo>
                  <a:cubicBezTo>
                    <a:pt x="110329" y="336145"/>
                    <a:pt x="139663" y="391679"/>
                    <a:pt x="205137" y="392382"/>
                  </a:cubicBezTo>
                  <a:cubicBezTo>
                    <a:pt x="262163" y="392851"/>
                    <a:pt x="296895" y="356062"/>
                    <a:pt x="312148" y="309432"/>
                  </a:cubicBezTo>
                  <a:cubicBezTo>
                    <a:pt x="310036" y="310135"/>
                    <a:pt x="307690" y="310604"/>
                    <a:pt x="305108" y="310604"/>
                  </a:cubicBezTo>
                  <a:cubicBezTo>
                    <a:pt x="287977" y="310604"/>
                    <a:pt x="279294" y="293030"/>
                    <a:pt x="275305" y="271238"/>
                  </a:cubicBezTo>
                  <a:close/>
                  <a:moveTo>
                    <a:pt x="93667" y="210314"/>
                  </a:moveTo>
                  <a:cubicBezTo>
                    <a:pt x="93667" y="211251"/>
                    <a:pt x="93667" y="212189"/>
                    <a:pt x="93667" y="212892"/>
                  </a:cubicBezTo>
                  <a:cubicBezTo>
                    <a:pt x="95779" y="213126"/>
                    <a:pt x="97891" y="213360"/>
                    <a:pt x="100003" y="213595"/>
                  </a:cubicBezTo>
                  <a:cubicBezTo>
                    <a:pt x="97891" y="212423"/>
                    <a:pt x="95779" y="211486"/>
                    <a:pt x="93667" y="210314"/>
                  </a:cubicBezTo>
                  <a:close/>
                  <a:moveTo>
                    <a:pt x="80202" y="186355"/>
                  </a:moveTo>
                  <a:cubicBezTo>
                    <a:pt x="82872" y="184714"/>
                    <a:pt x="86275" y="184422"/>
                    <a:pt x="89443" y="186413"/>
                  </a:cubicBezTo>
                  <a:cubicBezTo>
                    <a:pt x="144356" y="220156"/>
                    <a:pt x="213820" y="232340"/>
                    <a:pt x="269203" y="193209"/>
                  </a:cubicBezTo>
                  <a:cubicBezTo>
                    <a:pt x="272958" y="190397"/>
                    <a:pt x="276713" y="191100"/>
                    <a:pt x="279059" y="193209"/>
                  </a:cubicBezTo>
                  <a:cubicBezTo>
                    <a:pt x="281641" y="192271"/>
                    <a:pt x="284692" y="194380"/>
                    <a:pt x="284222" y="197661"/>
                  </a:cubicBezTo>
                  <a:cubicBezTo>
                    <a:pt x="281876" y="216172"/>
                    <a:pt x="285630" y="237261"/>
                    <a:pt x="288681" y="255304"/>
                  </a:cubicBezTo>
                  <a:cubicBezTo>
                    <a:pt x="289620" y="261162"/>
                    <a:pt x="304404" y="314587"/>
                    <a:pt x="312383" y="289280"/>
                  </a:cubicBezTo>
                  <a:cubicBezTo>
                    <a:pt x="321301" y="261162"/>
                    <a:pt x="315434" y="229997"/>
                    <a:pt x="314965" y="201175"/>
                  </a:cubicBezTo>
                  <a:cubicBezTo>
                    <a:pt x="314730" y="192037"/>
                    <a:pt x="328341" y="190397"/>
                    <a:pt x="330688" y="199067"/>
                  </a:cubicBezTo>
                  <a:cubicBezTo>
                    <a:pt x="349227" y="270300"/>
                    <a:pt x="328576" y="369887"/>
                    <a:pt x="260051" y="401287"/>
                  </a:cubicBezTo>
                  <a:cubicBezTo>
                    <a:pt x="261224" y="401287"/>
                    <a:pt x="262163" y="401521"/>
                    <a:pt x="263102" y="401990"/>
                  </a:cubicBezTo>
                  <a:cubicBezTo>
                    <a:pt x="332330" y="431983"/>
                    <a:pt x="406018" y="510481"/>
                    <a:pt x="401325" y="590150"/>
                  </a:cubicBezTo>
                  <a:cubicBezTo>
                    <a:pt x="401090" y="596711"/>
                    <a:pt x="395693" y="600226"/>
                    <a:pt x="389591" y="599289"/>
                  </a:cubicBezTo>
                  <a:cubicBezTo>
                    <a:pt x="347584" y="591790"/>
                    <a:pt x="305108" y="600460"/>
                    <a:pt x="262867" y="595071"/>
                  </a:cubicBezTo>
                  <a:cubicBezTo>
                    <a:pt x="257704" y="594368"/>
                    <a:pt x="253480" y="591322"/>
                    <a:pt x="253480" y="585698"/>
                  </a:cubicBezTo>
                  <a:cubicBezTo>
                    <a:pt x="252776" y="529226"/>
                    <a:pt x="239634" y="471115"/>
                    <a:pt x="247144" y="414643"/>
                  </a:cubicBezTo>
                  <a:cubicBezTo>
                    <a:pt x="247378" y="413003"/>
                    <a:pt x="248082" y="411831"/>
                    <a:pt x="248786" y="410660"/>
                  </a:cubicBezTo>
                  <a:cubicBezTo>
                    <a:pt x="249021" y="408551"/>
                    <a:pt x="249960" y="406442"/>
                    <a:pt x="251603" y="404802"/>
                  </a:cubicBezTo>
                  <a:cubicBezTo>
                    <a:pt x="237757" y="409722"/>
                    <a:pt x="222268" y="411831"/>
                    <a:pt x="205137" y="410894"/>
                  </a:cubicBezTo>
                  <a:cubicBezTo>
                    <a:pt x="96248" y="404802"/>
                    <a:pt x="70903" y="284360"/>
                    <a:pt x="75362" y="194380"/>
                  </a:cubicBezTo>
                  <a:cubicBezTo>
                    <a:pt x="75597" y="190983"/>
                    <a:pt x="77533" y="187995"/>
                    <a:pt x="80202" y="186355"/>
                  </a:cubicBezTo>
                  <a:close/>
                  <a:moveTo>
                    <a:pt x="204675" y="1071"/>
                  </a:moveTo>
                  <a:cubicBezTo>
                    <a:pt x="234481" y="-6191"/>
                    <a:pt x="272031" y="25435"/>
                    <a:pt x="297143" y="36212"/>
                  </a:cubicBezTo>
                  <a:cubicBezTo>
                    <a:pt x="334459" y="52142"/>
                    <a:pt x="374121" y="65730"/>
                    <a:pt x="407917" y="88689"/>
                  </a:cubicBezTo>
                  <a:cubicBezTo>
                    <a:pt x="415192" y="93843"/>
                    <a:pt x="411907" y="104150"/>
                    <a:pt x="405335" y="105790"/>
                  </a:cubicBezTo>
                  <a:cubicBezTo>
                    <a:pt x="398295" y="117035"/>
                    <a:pt x="379519" y="122189"/>
                    <a:pt x="367785" y="126172"/>
                  </a:cubicBezTo>
                  <a:cubicBezTo>
                    <a:pt x="351122" y="132029"/>
                    <a:pt x="331173" y="139291"/>
                    <a:pt x="313102" y="136948"/>
                  </a:cubicBezTo>
                  <a:cubicBezTo>
                    <a:pt x="271562" y="131092"/>
                    <a:pt x="243164" y="83769"/>
                    <a:pt x="200216" y="93608"/>
                  </a:cubicBezTo>
                  <a:cubicBezTo>
                    <a:pt x="211481" y="122658"/>
                    <a:pt x="255368" y="139760"/>
                    <a:pt x="282123" y="147256"/>
                  </a:cubicBezTo>
                  <a:cubicBezTo>
                    <a:pt x="285174" y="148193"/>
                    <a:pt x="286113" y="150770"/>
                    <a:pt x="285643" y="153347"/>
                  </a:cubicBezTo>
                  <a:cubicBezTo>
                    <a:pt x="288459" y="156627"/>
                    <a:pt x="289398" y="161547"/>
                    <a:pt x="285174" y="165530"/>
                  </a:cubicBezTo>
                  <a:cubicBezTo>
                    <a:pt x="254899" y="193408"/>
                    <a:pt x="213358" y="214961"/>
                    <a:pt x="172757" y="198328"/>
                  </a:cubicBezTo>
                  <a:cubicBezTo>
                    <a:pt x="115493" y="174666"/>
                    <a:pt x="65738" y="134840"/>
                    <a:pt x="8474" y="110242"/>
                  </a:cubicBezTo>
                  <a:cubicBezTo>
                    <a:pt x="728" y="112584"/>
                    <a:pt x="-3261" y="101339"/>
                    <a:pt x="3310" y="97122"/>
                  </a:cubicBezTo>
                  <a:cubicBezTo>
                    <a:pt x="37341" y="75569"/>
                    <a:pt x="76769" y="61982"/>
                    <a:pt x="113146" y="45114"/>
                  </a:cubicBezTo>
                  <a:cubicBezTo>
                    <a:pt x="142482" y="31526"/>
                    <a:pt x="173226" y="8568"/>
                    <a:pt x="204675" y="1071"/>
                  </a:cubicBezTo>
                  <a:close/>
                </a:path>
              </a:pathLst>
            </a:custGeom>
            <a:solidFill>
              <a:srgbClr val="005D96"/>
            </a:solidFill>
            <a:ln>
              <a:noFill/>
            </a:ln>
          </p:spPr>
          <p:txBody>
            <a:bodyPr/>
            <a:lstStyle/>
            <a:p>
              <a:endParaRPr lang="zh-CN" altLang="en-US" dirty="0">
                <a:solidFill>
                  <a:schemeClr val="accent4"/>
                </a:solidFill>
              </a:endParaRPr>
            </a:p>
          </p:txBody>
        </p:sp>
        <p:sp>
          <p:nvSpPr>
            <p:cNvPr id="45" name="professor_53644"/>
            <p:cNvSpPr>
              <a:spLocks noChangeAspect="1"/>
            </p:cNvSpPr>
            <p:nvPr/>
          </p:nvSpPr>
          <p:spPr bwMode="auto">
            <a:xfrm>
              <a:off x="6601606" y="5807951"/>
              <a:ext cx="254137" cy="360000"/>
            </a:xfrm>
            <a:custGeom>
              <a:avLst/>
              <a:gdLst>
                <a:gd name="connsiteX0" fmla="*/ 274879 w 424808"/>
                <a:gd name="connsiteY0" fmla="*/ 445205 h 601764"/>
                <a:gd name="connsiteX1" fmla="*/ 274879 w 424808"/>
                <a:gd name="connsiteY1" fmla="*/ 470531 h 601764"/>
                <a:gd name="connsiteX2" fmla="*/ 332512 w 424808"/>
                <a:gd name="connsiteY2" fmla="*/ 470531 h 601764"/>
                <a:gd name="connsiteX3" fmla="*/ 332512 w 424808"/>
                <a:gd name="connsiteY3" fmla="*/ 445205 h 601764"/>
                <a:gd name="connsiteX4" fmla="*/ 107051 w 424808"/>
                <a:gd name="connsiteY4" fmla="*/ 280818 h 601764"/>
                <a:gd name="connsiteX5" fmla="*/ 183588 w 424808"/>
                <a:gd name="connsiteY5" fmla="*/ 420340 h 601764"/>
                <a:gd name="connsiteX6" fmla="*/ 191426 w 424808"/>
                <a:gd name="connsiteY6" fmla="*/ 393633 h 601764"/>
                <a:gd name="connsiteX7" fmla="*/ 179899 w 424808"/>
                <a:gd name="connsiteY7" fmla="*/ 369228 h 601764"/>
                <a:gd name="connsiteX8" fmla="*/ 212174 w 424808"/>
                <a:gd name="connsiteY8" fmla="*/ 336074 h 601764"/>
                <a:gd name="connsiteX9" fmla="*/ 244910 w 424808"/>
                <a:gd name="connsiteY9" fmla="*/ 369228 h 601764"/>
                <a:gd name="connsiteX10" fmla="*/ 233383 w 424808"/>
                <a:gd name="connsiteY10" fmla="*/ 393633 h 601764"/>
                <a:gd name="connsiteX11" fmla="*/ 240760 w 424808"/>
                <a:gd name="connsiteY11" fmla="*/ 420340 h 601764"/>
                <a:gd name="connsiteX12" fmla="*/ 317758 w 424808"/>
                <a:gd name="connsiteY12" fmla="*/ 280818 h 601764"/>
                <a:gd name="connsiteX13" fmla="*/ 424726 w 424808"/>
                <a:gd name="connsiteY13" fmla="*/ 513815 h 601764"/>
                <a:gd name="connsiteX14" fmla="*/ 388763 w 424808"/>
                <a:gd name="connsiteY14" fmla="*/ 559861 h 601764"/>
                <a:gd name="connsiteX15" fmla="*/ 347267 w 424808"/>
                <a:gd name="connsiteY15" fmla="*/ 561703 h 601764"/>
                <a:gd name="connsiteX16" fmla="*/ 213557 w 424808"/>
                <a:gd name="connsiteY16" fmla="*/ 601764 h 601764"/>
                <a:gd name="connsiteX17" fmla="*/ 78003 w 424808"/>
                <a:gd name="connsiteY17" fmla="*/ 561703 h 601764"/>
                <a:gd name="connsiteX18" fmla="*/ 36507 w 424808"/>
                <a:gd name="connsiteY18" fmla="*/ 559861 h 601764"/>
                <a:gd name="connsiteX19" fmla="*/ 83 w 424808"/>
                <a:gd name="connsiteY19" fmla="*/ 513815 h 601764"/>
                <a:gd name="connsiteX20" fmla="*/ 107051 w 424808"/>
                <a:gd name="connsiteY20" fmla="*/ 280818 h 601764"/>
                <a:gd name="connsiteX21" fmla="*/ 184977 w 424808"/>
                <a:gd name="connsiteY21" fmla="*/ 152406 h 601764"/>
                <a:gd name="connsiteX22" fmla="*/ 153631 w 424808"/>
                <a:gd name="connsiteY22" fmla="*/ 166680 h 601764"/>
                <a:gd name="connsiteX23" fmla="*/ 153631 w 424808"/>
                <a:gd name="connsiteY23" fmla="*/ 167601 h 601764"/>
                <a:gd name="connsiteX24" fmla="*/ 170226 w 424808"/>
                <a:gd name="connsiteY24" fmla="*/ 184637 h 601764"/>
                <a:gd name="connsiteX25" fmla="*/ 178062 w 424808"/>
                <a:gd name="connsiteY25" fmla="*/ 184637 h 601764"/>
                <a:gd name="connsiteX26" fmla="*/ 195118 w 424808"/>
                <a:gd name="connsiteY26" fmla="*/ 167601 h 601764"/>
                <a:gd name="connsiteX27" fmla="*/ 184977 w 424808"/>
                <a:gd name="connsiteY27" fmla="*/ 152406 h 601764"/>
                <a:gd name="connsiteX28" fmla="*/ 247208 w 424808"/>
                <a:gd name="connsiteY28" fmla="*/ 150564 h 601764"/>
                <a:gd name="connsiteX29" fmla="*/ 230152 w 424808"/>
                <a:gd name="connsiteY29" fmla="*/ 167601 h 601764"/>
                <a:gd name="connsiteX30" fmla="*/ 247208 w 424808"/>
                <a:gd name="connsiteY30" fmla="*/ 184637 h 601764"/>
                <a:gd name="connsiteX31" fmla="*/ 254583 w 424808"/>
                <a:gd name="connsiteY31" fmla="*/ 184637 h 601764"/>
                <a:gd name="connsiteX32" fmla="*/ 271639 w 424808"/>
                <a:gd name="connsiteY32" fmla="*/ 167601 h 601764"/>
                <a:gd name="connsiteX33" fmla="*/ 254583 w 424808"/>
                <a:gd name="connsiteY33" fmla="*/ 150564 h 601764"/>
                <a:gd name="connsiteX34" fmla="*/ 236144 w 424808"/>
                <a:gd name="connsiteY34" fmla="*/ 107283 h 601764"/>
                <a:gd name="connsiteX35" fmla="*/ 196040 w 424808"/>
                <a:gd name="connsiteY35" fmla="*/ 145039 h 601764"/>
                <a:gd name="connsiteX36" fmla="*/ 201572 w 424808"/>
                <a:gd name="connsiteY36" fmla="*/ 150564 h 601764"/>
                <a:gd name="connsiteX37" fmla="*/ 223237 w 424808"/>
                <a:gd name="connsiteY37" fmla="*/ 150564 h 601764"/>
                <a:gd name="connsiteX38" fmla="*/ 247208 w 424808"/>
                <a:gd name="connsiteY38" fmla="*/ 138593 h 601764"/>
                <a:gd name="connsiteX39" fmla="*/ 254583 w 424808"/>
                <a:gd name="connsiteY39" fmla="*/ 138593 h 601764"/>
                <a:gd name="connsiteX40" fmla="*/ 284085 w 424808"/>
                <a:gd name="connsiteY40" fmla="*/ 167601 h 601764"/>
                <a:gd name="connsiteX41" fmla="*/ 254583 w 424808"/>
                <a:gd name="connsiteY41" fmla="*/ 197069 h 601764"/>
                <a:gd name="connsiteX42" fmla="*/ 247208 w 424808"/>
                <a:gd name="connsiteY42" fmla="*/ 197069 h 601764"/>
                <a:gd name="connsiteX43" fmla="*/ 217706 w 424808"/>
                <a:gd name="connsiteY43" fmla="*/ 167601 h 601764"/>
                <a:gd name="connsiteX44" fmla="*/ 218167 w 424808"/>
                <a:gd name="connsiteY44" fmla="*/ 162996 h 601764"/>
                <a:gd name="connsiteX45" fmla="*/ 206642 w 424808"/>
                <a:gd name="connsiteY45" fmla="*/ 162996 h 601764"/>
                <a:gd name="connsiteX46" fmla="*/ 207103 w 424808"/>
                <a:gd name="connsiteY46" fmla="*/ 167601 h 601764"/>
                <a:gd name="connsiteX47" fmla="*/ 178062 w 424808"/>
                <a:gd name="connsiteY47" fmla="*/ 197069 h 601764"/>
                <a:gd name="connsiteX48" fmla="*/ 170226 w 424808"/>
                <a:gd name="connsiteY48" fmla="*/ 197069 h 601764"/>
                <a:gd name="connsiteX49" fmla="*/ 141185 w 424808"/>
                <a:gd name="connsiteY49" fmla="*/ 170363 h 601764"/>
                <a:gd name="connsiteX50" fmla="*/ 119519 w 424808"/>
                <a:gd name="connsiteY50" fmla="*/ 173586 h 601764"/>
                <a:gd name="connsiteX51" fmla="*/ 212635 w 424808"/>
                <a:gd name="connsiteY51" fmla="*/ 280869 h 601764"/>
                <a:gd name="connsiteX52" fmla="*/ 307594 w 424808"/>
                <a:gd name="connsiteY52" fmla="*/ 155629 h 601764"/>
                <a:gd name="connsiteX53" fmla="*/ 236144 w 424808"/>
                <a:gd name="connsiteY53" fmla="*/ 107283 h 601764"/>
                <a:gd name="connsiteX54" fmla="*/ 212635 w 424808"/>
                <a:gd name="connsiteY54" fmla="*/ 0 h 601764"/>
                <a:gd name="connsiteX55" fmla="*/ 340323 w 424808"/>
                <a:gd name="connsiteY55" fmla="*/ 127082 h 601764"/>
                <a:gd name="connsiteX56" fmla="*/ 365215 w 424808"/>
                <a:gd name="connsiteY56" fmla="*/ 175889 h 601764"/>
                <a:gd name="connsiteX57" fmla="*/ 326955 w 424808"/>
                <a:gd name="connsiteY57" fmla="*/ 224695 h 601764"/>
                <a:gd name="connsiteX58" fmla="*/ 212635 w 424808"/>
                <a:gd name="connsiteY58" fmla="*/ 317244 h 601764"/>
                <a:gd name="connsiteX59" fmla="*/ 98315 w 424808"/>
                <a:gd name="connsiteY59" fmla="*/ 224695 h 601764"/>
                <a:gd name="connsiteX60" fmla="*/ 59594 w 424808"/>
                <a:gd name="connsiteY60" fmla="*/ 175889 h 601764"/>
                <a:gd name="connsiteX61" fmla="*/ 84947 w 424808"/>
                <a:gd name="connsiteY61" fmla="*/ 127082 h 601764"/>
                <a:gd name="connsiteX62" fmla="*/ 212635 w 424808"/>
                <a:gd name="connsiteY62" fmla="*/ 0 h 601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424808" h="601764">
                  <a:moveTo>
                    <a:pt x="274879" y="445205"/>
                  </a:moveTo>
                  <a:lnTo>
                    <a:pt x="274879" y="470531"/>
                  </a:lnTo>
                  <a:lnTo>
                    <a:pt x="332512" y="470531"/>
                  </a:lnTo>
                  <a:lnTo>
                    <a:pt x="332512" y="445205"/>
                  </a:lnTo>
                  <a:close/>
                  <a:moveTo>
                    <a:pt x="107051" y="280818"/>
                  </a:moveTo>
                  <a:lnTo>
                    <a:pt x="183588" y="420340"/>
                  </a:lnTo>
                  <a:lnTo>
                    <a:pt x="191426" y="393633"/>
                  </a:lnTo>
                  <a:cubicBezTo>
                    <a:pt x="184510" y="387647"/>
                    <a:pt x="179899" y="378898"/>
                    <a:pt x="179899" y="369228"/>
                  </a:cubicBezTo>
                  <a:cubicBezTo>
                    <a:pt x="179899" y="350809"/>
                    <a:pt x="193731" y="336074"/>
                    <a:pt x="212174" y="336074"/>
                  </a:cubicBezTo>
                  <a:cubicBezTo>
                    <a:pt x="230156" y="336074"/>
                    <a:pt x="244910" y="350809"/>
                    <a:pt x="244910" y="369228"/>
                  </a:cubicBezTo>
                  <a:cubicBezTo>
                    <a:pt x="244910" y="378898"/>
                    <a:pt x="240299" y="387647"/>
                    <a:pt x="233383" y="393633"/>
                  </a:cubicBezTo>
                  <a:lnTo>
                    <a:pt x="240760" y="420340"/>
                  </a:lnTo>
                  <a:lnTo>
                    <a:pt x="317758" y="280818"/>
                  </a:lnTo>
                  <a:cubicBezTo>
                    <a:pt x="367092" y="310288"/>
                    <a:pt x="417810" y="377977"/>
                    <a:pt x="424726" y="513815"/>
                  </a:cubicBezTo>
                  <a:cubicBezTo>
                    <a:pt x="426109" y="537759"/>
                    <a:pt x="409972" y="558480"/>
                    <a:pt x="388763" y="559861"/>
                  </a:cubicBezTo>
                  <a:cubicBezTo>
                    <a:pt x="387840" y="559861"/>
                    <a:pt x="347267" y="561703"/>
                    <a:pt x="347267" y="561703"/>
                  </a:cubicBezTo>
                  <a:cubicBezTo>
                    <a:pt x="322830" y="588410"/>
                    <a:pt x="274879" y="601764"/>
                    <a:pt x="213557" y="601764"/>
                  </a:cubicBezTo>
                  <a:cubicBezTo>
                    <a:pt x="155463" y="601764"/>
                    <a:pt x="103362" y="590713"/>
                    <a:pt x="78003" y="561703"/>
                  </a:cubicBezTo>
                  <a:cubicBezTo>
                    <a:pt x="78003" y="561703"/>
                    <a:pt x="36969" y="559861"/>
                    <a:pt x="36507" y="559861"/>
                  </a:cubicBezTo>
                  <a:cubicBezTo>
                    <a:pt x="14837" y="558480"/>
                    <a:pt x="-1300" y="537759"/>
                    <a:pt x="83" y="513815"/>
                  </a:cubicBezTo>
                  <a:cubicBezTo>
                    <a:pt x="6999" y="377056"/>
                    <a:pt x="57717" y="309827"/>
                    <a:pt x="107051" y="280818"/>
                  </a:cubicBezTo>
                  <a:close/>
                  <a:moveTo>
                    <a:pt x="184977" y="152406"/>
                  </a:moveTo>
                  <a:cubicBezTo>
                    <a:pt x="175758" y="157931"/>
                    <a:pt x="165155" y="162996"/>
                    <a:pt x="153631" y="166680"/>
                  </a:cubicBezTo>
                  <a:cubicBezTo>
                    <a:pt x="153631" y="167140"/>
                    <a:pt x="153631" y="167601"/>
                    <a:pt x="153631" y="167601"/>
                  </a:cubicBezTo>
                  <a:cubicBezTo>
                    <a:pt x="153631" y="176809"/>
                    <a:pt x="161007" y="184637"/>
                    <a:pt x="170226" y="184637"/>
                  </a:cubicBezTo>
                  <a:lnTo>
                    <a:pt x="178062" y="184637"/>
                  </a:lnTo>
                  <a:cubicBezTo>
                    <a:pt x="187282" y="184637"/>
                    <a:pt x="195118" y="176809"/>
                    <a:pt x="195118" y="167601"/>
                  </a:cubicBezTo>
                  <a:cubicBezTo>
                    <a:pt x="195118" y="160694"/>
                    <a:pt x="190969" y="155169"/>
                    <a:pt x="184977" y="152406"/>
                  </a:cubicBezTo>
                  <a:close/>
                  <a:moveTo>
                    <a:pt x="247208" y="150564"/>
                  </a:moveTo>
                  <a:cubicBezTo>
                    <a:pt x="237527" y="150564"/>
                    <a:pt x="230152" y="158392"/>
                    <a:pt x="230152" y="167601"/>
                  </a:cubicBezTo>
                  <a:cubicBezTo>
                    <a:pt x="230152" y="176809"/>
                    <a:pt x="237527" y="184637"/>
                    <a:pt x="247208" y="184637"/>
                  </a:cubicBezTo>
                  <a:lnTo>
                    <a:pt x="254583" y="184637"/>
                  </a:lnTo>
                  <a:cubicBezTo>
                    <a:pt x="263802" y="184637"/>
                    <a:pt x="271639" y="176809"/>
                    <a:pt x="271639" y="167601"/>
                  </a:cubicBezTo>
                  <a:cubicBezTo>
                    <a:pt x="271639" y="158392"/>
                    <a:pt x="263802" y="150564"/>
                    <a:pt x="254583" y="150564"/>
                  </a:cubicBezTo>
                  <a:close/>
                  <a:moveTo>
                    <a:pt x="236144" y="107283"/>
                  </a:moveTo>
                  <a:cubicBezTo>
                    <a:pt x="232457" y="111887"/>
                    <a:pt x="218628" y="129384"/>
                    <a:pt x="196040" y="145039"/>
                  </a:cubicBezTo>
                  <a:cubicBezTo>
                    <a:pt x="198345" y="146420"/>
                    <a:pt x="200189" y="148723"/>
                    <a:pt x="201572" y="150564"/>
                  </a:cubicBezTo>
                  <a:lnTo>
                    <a:pt x="223237" y="150564"/>
                  </a:lnTo>
                  <a:cubicBezTo>
                    <a:pt x="228769" y="143197"/>
                    <a:pt x="237066" y="138593"/>
                    <a:pt x="247208" y="138593"/>
                  </a:cubicBezTo>
                  <a:lnTo>
                    <a:pt x="254583" y="138593"/>
                  </a:lnTo>
                  <a:cubicBezTo>
                    <a:pt x="270717" y="138593"/>
                    <a:pt x="284085" y="151485"/>
                    <a:pt x="284085" y="167601"/>
                  </a:cubicBezTo>
                  <a:cubicBezTo>
                    <a:pt x="284085" y="183716"/>
                    <a:pt x="270717" y="197069"/>
                    <a:pt x="254583" y="197069"/>
                  </a:cubicBezTo>
                  <a:lnTo>
                    <a:pt x="247208" y="197069"/>
                  </a:lnTo>
                  <a:cubicBezTo>
                    <a:pt x="231074" y="197069"/>
                    <a:pt x="217706" y="183716"/>
                    <a:pt x="217706" y="167601"/>
                  </a:cubicBezTo>
                  <a:cubicBezTo>
                    <a:pt x="217706" y="166219"/>
                    <a:pt x="218167" y="164378"/>
                    <a:pt x="218167" y="162996"/>
                  </a:cubicBezTo>
                  <a:lnTo>
                    <a:pt x="206642" y="162996"/>
                  </a:lnTo>
                  <a:cubicBezTo>
                    <a:pt x="207103" y="164378"/>
                    <a:pt x="207103" y="166219"/>
                    <a:pt x="207103" y="167601"/>
                  </a:cubicBezTo>
                  <a:cubicBezTo>
                    <a:pt x="207103" y="183716"/>
                    <a:pt x="194196" y="197069"/>
                    <a:pt x="178062" y="197069"/>
                  </a:cubicBezTo>
                  <a:lnTo>
                    <a:pt x="170226" y="197069"/>
                  </a:lnTo>
                  <a:cubicBezTo>
                    <a:pt x="155014" y="197069"/>
                    <a:pt x="142568" y="185097"/>
                    <a:pt x="141185" y="170363"/>
                  </a:cubicBezTo>
                  <a:cubicBezTo>
                    <a:pt x="134270" y="171745"/>
                    <a:pt x="126895" y="173126"/>
                    <a:pt x="119519" y="173586"/>
                  </a:cubicBezTo>
                  <a:cubicBezTo>
                    <a:pt x="129200" y="235746"/>
                    <a:pt x="163311" y="280869"/>
                    <a:pt x="212635" y="280869"/>
                  </a:cubicBezTo>
                  <a:cubicBezTo>
                    <a:pt x="264724" y="280869"/>
                    <a:pt x="302985" y="228839"/>
                    <a:pt x="307594" y="155629"/>
                  </a:cubicBezTo>
                  <a:cubicBezTo>
                    <a:pt x="260576" y="144579"/>
                    <a:pt x="242598" y="119715"/>
                    <a:pt x="236144" y="107283"/>
                  </a:cubicBezTo>
                  <a:close/>
                  <a:moveTo>
                    <a:pt x="212635" y="0"/>
                  </a:moveTo>
                  <a:cubicBezTo>
                    <a:pt x="313126" y="0"/>
                    <a:pt x="333870" y="55713"/>
                    <a:pt x="340323" y="127082"/>
                  </a:cubicBezTo>
                  <a:cubicBezTo>
                    <a:pt x="359684" y="130305"/>
                    <a:pt x="370286" y="145499"/>
                    <a:pt x="365215" y="175889"/>
                  </a:cubicBezTo>
                  <a:cubicBezTo>
                    <a:pt x="361067" y="201213"/>
                    <a:pt x="349081" y="222854"/>
                    <a:pt x="326955" y="224695"/>
                  </a:cubicBezTo>
                  <a:cubicBezTo>
                    <a:pt x="305290" y="281790"/>
                    <a:pt x="262420" y="317244"/>
                    <a:pt x="212635" y="317244"/>
                  </a:cubicBezTo>
                  <a:cubicBezTo>
                    <a:pt x="160546" y="317244"/>
                    <a:pt x="119980" y="280409"/>
                    <a:pt x="98315" y="224695"/>
                  </a:cubicBezTo>
                  <a:cubicBezTo>
                    <a:pt x="76188" y="222854"/>
                    <a:pt x="64203" y="201213"/>
                    <a:pt x="59594" y="175889"/>
                  </a:cubicBezTo>
                  <a:cubicBezTo>
                    <a:pt x="54523" y="145499"/>
                    <a:pt x="65586" y="130305"/>
                    <a:pt x="84947" y="127082"/>
                  </a:cubicBezTo>
                  <a:cubicBezTo>
                    <a:pt x="91400" y="55713"/>
                    <a:pt x="111222" y="0"/>
                    <a:pt x="212635" y="0"/>
                  </a:cubicBezTo>
                  <a:close/>
                </a:path>
              </a:pathLst>
            </a:custGeom>
            <a:solidFill>
              <a:srgbClr val="005D96"/>
            </a:solidFill>
            <a:ln>
              <a:noFill/>
            </a:ln>
          </p:spPr>
          <p:txBody>
            <a:bodyPr/>
            <a:lstStyle/>
            <a:p>
              <a:endParaRPr lang="zh-CN" altLang="en-US" dirty="0">
                <a:solidFill>
                  <a:schemeClr val="accent4"/>
                </a:solidFill>
              </a:endParaRPr>
            </a:p>
          </p:txBody>
        </p:sp>
      </p:grpSp>
      <p:sp>
        <p:nvSpPr>
          <p:cNvPr id="3" name="文本框 2"/>
          <p:cNvSpPr txBox="1"/>
          <p:nvPr/>
        </p:nvSpPr>
        <p:spPr>
          <a:xfrm>
            <a:off x="-114300" y="4502150"/>
            <a:ext cx="309880" cy="36830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zh-CN" altLang="en-US"/>
          </a:p>
        </p:txBody>
      </p:sp>
      <p:sp>
        <p:nvSpPr>
          <p:cNvPr id="4" name="文本占位符 3">
            <a:extLst>
              <a:ext uri="{FF2B5EF4-FFF2-40B4-BE49-F238E27FC236}">
                <a16:creationId xmlns:a16="http://schemas.microsoft.com/office/drawing/2014/main" id="{4ADE574F-A14B-EE44-B58F-28595D784A72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4908922" y="4734940"/>
            <a:ext cx="5881922" cy="337185"/>
          </a:xfrm>
        </p:spPr>
        <p:txBody>
          <a:bodyPr/>
          <a:lstStyle/>
          <a:p>
            <a:r>
              <a:rPr lang="en-US" altLang="zh-CN" b="1" dirty="0">
                <a:solidFill>
                  <a:schemeClr val="tx1"/>
                </a:solidFill>
              </a:rPr>
              <a:t>----</a:t>
            </a:r>
            <a:r>
              <a:rPr lang="zh-CN" altLang="en-US" b="1" dirty="0">
                <a:solidFill>
                  <a:schemeClr val="tx1"/>
                </a:solidFill>
              </a:rPr>
              <a:t> 课程编号：</a:t>
            </a:r>
            <a:r>
              <a:rPr lang="en-US" altLang="zh-CN" b="1" dirty="0">
                <a:solidFill>
                  <a:schemeClr val="tx1"/>
                </a:solidFill>
              </a:rPr>
              <a:t>BK10504150-01</a:t>
            </a:r>
            <a:endParaRPr lang="zh-CN" altLang="en-US" b="1" dirty="0">
              <a:solidFill>
                <a:schemeClr val="tx1"/>
              </a:solidFill>
            </a:endParaRPr>
          </a:p>
        </p:txBody>
      </p:sp>
    </p:spTree>
    <p:custDataLst>
      <p:tags r:id="rId1"/>
    </p:custData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椭圆 1"/>
          <p:cNvSpPr/>
          <p:nvPr/>
        </p:nvSpPr>
        <p:spPr>
          <a:xfrm>
            <a:off x="5483860" y="981075"/>
            <a:ext cx="1360805" cy="1334770"/>
          </a:xfrm>
          <a:prstGeom prst="ellipse">
            <a:avLst/>
          </a:prstGeom>
          <a:gradFill>
            <a:gsLst>
              <a:gs pos="0">
                <a:srgbClr val="005D96"/>
              </a:gs>
              <a:gs pos="100000">
                <a:srgbClr val="06253A"/>
              </a:gs>
            </a:gsLst>
            <a:lin ang="13500000" scaled="1"/>
          </a:gradFill>
          <a:ln>
            <a:solidFill>
              <a:srgbClr val="005D9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6000" dirty="0">
                <a:latin typeface="Times New Roman Regular" panose="02020603050405020304" charset="0"/>
                <a:ea typeface="+mj-ea"/>
                <a:cs typeface="Times New Roman Regular" panose="02020603050405020304" charset="0"/>
              </a:rPr>
              <a:t>04</a:t>
            </a:r>
          </a:p>
        </p:txBody>
      </p:sp>
      <p:sp>
        <p:nvSpPr>
          <p:cNvPr id="7" name="文本框 6"/>
          <p:cNvSpPr txBox="1"/>
          <p:nvPr/>
        </p:nvSpPr>
        <p:spPr>
          <a:xfrm>
            <a:off x="2944526" y="2794468"/>
            <a:ext cx="6301725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zh-CN" altLang="en-US" sz="4000" b="1" spc="600" dirty="0">
                <a:solidFill>
                  <a:schemeClr val="tx2">
                    <a:lumMod val="50000"/>
                  </a:schemeClr>
                </a:solidFill>
              </a:rPr>
              <a:t>第四章 基本的算法策略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文本框 4">
            <a:extLst>
              <a:ext uri="{FF2B5EF4-FFF2-40B4-BE49-F238E27FC236}">
                <a16:creationId xmlns:a16="http://schemas.microsoft.com/office/drawing/2014/main" id="{B89F25AF-86B9-C443-AC0F-408445C8B7A5}"/>
              </a:ext>
            </a:extLst>
          </p:cNvPr>
          <p:cNvSpPr txBox="1"/>
          <p:nvPr/>
        </p:nvSpPr>
        <p:spPr>
          <a:xfrm>
            <a:off x="1268729" y="232528"/>
            <a:ext cx="4541055" cy="76944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4400" dirty="0">
                <a:latin typeface="SimSun" panose="02010600030101010101" pitchFamily="2" charset="-122"/>
                <a:ea typeface="SimSun" panose="02010600030101010101" pitchFamily="2" charset="-122"/>
              </a:rPr>
              <a:t>分而治之法</a:t>
            </a: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26871972-7126-AE40-8810-E975CFED95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2873" y="1434464"/>
            <a:ext cx="7488237" cy="4714875"/>
          </a:xfrm>
          <a:prstGeom prst="rect">
            <a:avLst/>
          </a:prstGeom>
          <a:noFill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just">
              <a:lnSpc>
                <a:spcPct val="150000"/>
              </a:lnSpc>
            </a:pPr>
            <a:r>
              <a:rPr lang="en-US" altLang="zh-CN" b="1" dirty="0">
                <a:solidFill>
                  <a:srgbClr val="808080"/>
                </a:solidFill>
                <a:latin typeface="SimSun" panose="02010600030101010101" pitchFamily="2" charset="-122"/>
                <a:ea typeface="SimSun" panose="02010600030101010101" pitchFamily="2" charset="-122"/>
              </a:rPr>
              <a:t>4.1 </a:t>
            </a:r>
            <a:r>
              <a:rPr lang="zh-CN" altLang="en-US" b="1" dirty="0">
                <a:solidFill>
                  <a:srgbClr val="808080"/>
                </a:solidFill>
                <a:latin typeface="SimSun" panose="02010600030101010101" pitchFamily="2" charset="-122"/>
                <a:ea typeface="SimSun" panose="02010600030101010101" pitchFamily="2" charset="-122"/>
              </a:rPr>
              <a:t>迭代算法</a:t>
            </a:r>
          </a:p>
          <a:p>
            <a:pPr algn="just">
              <a:lnSpc>
                <a:spcPct val="150000"/>
              </a:lnSpc>
            </a:pPr>
            <a:r>
              <a:rPr lang="en-US" altLang="zh-CN" b="1" dirty="0">
                <a:solidFill>
                  <a:srgbClr val="808080"/>
                </a:solidFill>
                <a:latin typeface="SimSun" panose="02010600030101010101" pitchFamily="2" charset="-122"/>
                <a:ea typeface="SimSun" panose="02010600030101010101" pitchFamily="2" charset="-122"/>
              </a:rPr>
              <a:t>4.2 </a:t>
            </a:r>
            <a:r>
              <a:rPr lang="zh-CN" altLang="en-US" b="1" dirty="0">
                <a:solidFill>
                  <a:srgbClr val="808080"/>
                </a:solidFill>
                <a:latin typeface="SimSun" panose="02010600030101010101" pitchFamily="2" charset="-122"/>
                <a:ea typeface="SimSun" panose="02010600030101010101" pitchFamily="2" charset="-122"/>
              </a:rPr>
              <a:t>蛮力法</a:t>
            </a:r>
          </a:p>
          <a:p>
            <a:pPr algn="just">
              <a:lnSpc>
                <a:spcPct val="150000"/>
              </a:lnSpc>
            </a:pPr>
            <a:r>
              <a:rPr lang="en-US" altLang="zh-CN" b="1" dirty="0">
                <a:solidFill>
                  <a:srgbClr val="808080"/>
                </a:solidFill>
                <a:latin typeface="SimSun" panose="02010600030101010101" pitchFamily="2" charset="-122"/>
                <a:ea typeface="SimSun" panose="02010600030101010101" pitchFamily="2" charset="-122"/>
              </a:rPr>
              <a:t>4.3 </a:t>
            </a:r>
            <a:r>
              <a:rPr lang="zh-CN" altLang="en-US" b="1" dirty="0">
                <a:solidFill>
                  <a:srgbClr val="808080"/>
                </a:solidFill>
                <a:latin typeface="SimSun" panose="02010600030101010101" pitchFamily="2" charset="-122"/>
                <a:ea typeface="SimSun" panose="02010600030101010101" pitchFamily="2" charset="-122"/>
              </a:rPr>
              <a:t>分治算法</a:t>
            </a:r>
          </a:p>
          <a:p>
            <a:pPr algn="just">
              <a:lnSpc>
                <a:spcPct val="150000"/>
              </a:lnSpc>
            </a:pPr>
            <a:r>
              <a:rPr lang="en-US" altLang="zh-CN" b="1" dirty="0">
                <a:solidFill>
                  <a:srgbClr val="808080"/>
                </a:solidFill>
                <a:latin typeface="SimSun" panose="02010600030101010101" pitchFamily="2" charset="-122"/>
                <a:ea typeface="SimSun" panose="02010600030101010101" pitchFamily="2" charset="-122"/>
              </a:rPr>
              <a:t>4.4 </a:t>
            </a:r>
            <a:r>
              <a:rPr lang="zh-CN" altLang="en-US" b="1" dirty="0">
                <a:solidFill>
                  <a:srgbClr val="808080"/>
                </a:solidFill>
                <a:latin typeface="SimSun" panose="02010600030101010101" pitchFamily="2" charset="-122"/>
                <a:ea typeface="SimSun" panose="02010600030101010101" pitchFamily="2" charset="-122"/>
              </a:rPr>
              <a:t>贪婪算法</a:t>
            </a:r>
          </a:p>
          <a:p>
            <a:pPr algn="just">
              <a:lnSpc>
                <a:spcPct val="150000"/>
              </a:lnSpc>
            </a:pPr>
            <a:r>
              <a:rPr lang="en-US" altLang="zh-CN" b="1" dirty="0">
                <a:latin typeface="SimSun" panose="02010600030101010101" pitchFamily="2" charset="-122"/>
                <a:ea typeface="SimSun" panose="02010600030101010101" pitchFamily="2" charset="-122"/>
              </a:rPr>
              <a:t>4.5 </a:t>
            </a:r>
            <a:r>
              <a:rPr lang="zh-CN" altLang="en-US" b="1" dirty="0">
                <a:latin typeface="SimSun" panose="02010600030101010101" pitchFamily="2" charset="-122"/>
                <a:ea typeface="SimSun" panose="02010600030101010101" pitchFamily="2" charset="-122"/>
              </a:rPr>
              <a:t>动态规划</a:t>
            </a:r>
          </a:p>
          <a:p>
            <a:pPr algn="just">
              <a:lnSpc>
                <a:spcPct val="150000"/>
              </a:lnSpc>
            </a:pPr>
            <a:r>
              <a:rPr lang="en-US" altLang="zh-CN" b="1" dirty="0">
                <a:solidFill>
                  <a:srgbClr val="808080"/>
                </a:solidFill>
                <a:latin typeface="SimSun" panose="02010600030101010101" pitchFamily="2" charset="-122"/>
                <a:ea typeface="SimSun" panose="02010600030101010101" pitchFamily="2" charset="-122"/>
              </a:rPr>
              <a:t>4.6 </a:t>
            </a:r>
            <a:r>
              <a:rPr lang="zh-CN" altLang="en-US" b="1" dirty="0">
                <a:solidFill>
                  <a:srgbClr val="808080"/>
                </a:solidFill>
                <a:latin typeface="SimSun" panose="02010600030101010101" pitchFamily="2" charset="-122"/>
                <a:ea typeface="SimSun" panose="02010600030101010101" pitchFamily="2" charset="-122"/>
              </a:rPr>
              <a:t>算法策略间的比较</a:t>
            </a:r>
          </a:p>
        </p:txBody>
      </p:sp>
    </p:spTree>
    <p:extLst>
      <p:ext uri="{BB962C8B-B14F-4D97-AF65-F5344CB8AC3E}">
        <p14:creationId xmlns:p14="http://schemas.microsoft.com/office/powerpoint/2010/main" val="8279416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191566" y="179473"/>
            <a:ext cx="5587607" cy="627736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0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问题背景：子序</a:t>
            </a:r>
            <a:r>
              <a:rPr sz="40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列</a:t>
            </a:r>
            <a:endParaRPr sz="40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38444" y="1144519"/>
            <a:ext cx="8337550" cy="1938655"/>
          </a:xfrm>
          <a:prstGeom prst="rect">
            <a:avLst/>
          </a:prstGeom>
        </p:spPr>
        <p:txBody>
          <a:bodyPr vert="horz" wrap="square" lIns="0" tIns="104139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819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2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子序列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04215" lvl="1" indent="-347980">
              <a:lnSpc>
                <a:spcPct val="100000"/>
              </a:lnSpc>
              <a:spcBef>
                <a:spcPts val="61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</a:tabLst>
            </a:pPr>
            <a:r>
              <a:rPr sz="240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将给定序列中零个或多个元素（如字符）</a:t>
            </a:r>
            <a:r>
              <a:rPr sz="24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去掉后所得结果</a:t>
            </a:r>
            <a:endParaRPr sz="24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355600" indent="-342900">
              <a:lnSpc>
                <a:spcPct val="100000"/>
              </a:lnSpc>
              <a:spcBef>
                <a:spcPts val="63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25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示例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04215" lvl="1" indent="-347980">
              <a:lnSpc>
                <a:spcPct val="100000"/>
              </a:lnSpc>
              <a:spcBef>
                <a:spcPts val="620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</a:tabLst>
            </a:pPr>
            <a:r>
              <a:rPr sz="240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给定序列</a:t>
            </a:r>
            <a:r>
              <a:rPr sz="2400" spc="-50" dirty="0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𝑿</a:t>
            </a:r>
            <a:endParaRPr sz="2400" dirty="0">
              <a:latin typeface="SimSun" panose="02010600030101010101" pitchFamily="2" charset="-122"/>
              <a:ea typeface="SimSun" panose="02010600030101010101" pitchFamily="2" charset="-122"/>
              <a:cs typeface="Cambria Math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82867" y="4008968"/>
            <a:ext cx="180340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60045" indent="-347980">
              <a:lnSpc>
                <a:spcPct val="100000"/>
              </a:lnSpc>
              <a:spcBef>
                <a:spcPts val="100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360045" algn="l"/>
                <a:tab pos="360680" algn="l"/>
              </a:tabLst>
            </a:pPr>
            <a:r>
              <a:rPr sz="2400" dirty="0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𝑿</a:t>
            </a:r>
            <a:r>
              <a:rPr sz="2400" spc="-15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的子序列</a:t>
            </a:r>
            <a:endParaRPr sz="24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graphicFrame>
        <p:nvGraphicFramePr>
          <p:cNvPr id="5" name="object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0136826"/>
              </p:ext>
            </p:extLst>
          </p:nvPr>
        </p:nvGraphicFramePr>
        <p:xfrm>
          <a:off x="2735899" y="3283416"/>
          <a:ext cx="4237351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74658271"/>
              </p:ext>
            </p:extLst>
          </p:nvPr>
        </p:nvGraphicFramePr>
        <p:xfrm>
          <a:off x="2735899" y="4722707"/>
          <a:ext cx="4237351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2400" spc="-37" baseline="-156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𝟏</a:t>
                      </a:r>
                      <a:endParaRPr sz="2400" baseline="-15625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191566" y="179473"/>
            <a:ext cx="5587607" cy="627736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0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问题背景：子序</a:t>
            </a:r>
            <a:r>
              <a:rPr sz="40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列</a:t>
            </a:r>
            <a:endParaRPr sz="40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38444" y="1144519"/>
            <a:ext cx="8337550" cy="1938655"/>
          </a:xfrm>
          <a:prstGeom prst="rect">
            <a:avLst/>
          </a:prstGeom>
        </p:spPr>
        <p:txBody>
          <a:bodyPr vert="horz" wrap="square" lIns="0" tIns="104139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819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2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子序列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04215" lvl="1" indent="-347980">
              <a:lnSpc>
                <a:spcPct val="100000"/>
              </a:lnSpc>
              <a:spcBef>
                <a:spcPts val="61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</a:tabLst>
            </a:pPr>
            <a:r>
              <a:rPr sz="240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将给定序列中零个或多个元素（如字符）</a:t>
            </a:r>
            <a:r>
              <a:rPr sz="24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去掉后所得结果</a:t>
            </a:r>
            <a:endParaRPr sz="24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355600" indent="-342900">
              <a:lnSpc>
                <a:spcPct val="100000"/>
              </a:lnSpc>
              <a:spcBef>
                <a:spcPts val="63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25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示例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04215" lvl="1" indent="-347980">
              <a:lnSpc>
                <a:spcPct val="100000"/>
              </a:lnSpc>
              <a:spcBef>
                <a:spcPts val="620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</a:tabLst>
            </a:pPr>
            <a:r>
              <a:rPr sz="240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给定序列</a:t>
            </a:r>
            <a:r>
              <a:rPr sz="2400" spc="-50" dirty="0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𝑿</a:t>
            </a:r>
            <a:endParaRPr sz="2400" dirty="0">
              <a:latin typeface="SimSun" panose="02010600030101010101" pitchFamily="2" charset="-122"/>
              <a:ea typeface="SimSun" panose="02010600030101010101" pitchFamily="2" charset="-122"/>
              <a:cs typeface="Cambria Math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82867" y="4008968"/>
            <a:ext cx="180340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60045" indent="-347980">
              <a:lnSpc>
                <a:spcPct val="100000"/>
              </a:lnSpc>
              <a:spcBef>
                <a:spcPts val="100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360045" algn="l"/>
                <a:tab pos="360680" algn="l"/>
              </a:tabLst>
            </a:pPr>
            <a:r>
              <a:rPr sz="2400" dirty="0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𝑿</a:t>
            </a:r>
            <a:r>
              <a:rPr sz="2400" spc="-15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的子序列</a:t>
            </a:r>
            <a:endParaRPr sz="24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graphicFrame>
        <p:nvGraphicFramePr>
          <p:cNvPr id="6" name="object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8807661"/>
              </p:ext>
            </p:extLst>
          </p:nvPr>
        </p:nvGraphicFramePr>
        <p:xfrm>
          <a:off x="2735899" y="4597447"/>
          <a:ext cx="4237351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2400" spc="-37" baseline="-156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𝟏</a:t>
                      </a:r>
                      <a:endParaRPr sz="2400" baseline="-15625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 dirty="0">
                          <a:latin typeface="Cambria Math"/>
                          <a:cs typeface="Cambria Math"/>
                        </a:rPr>
                        <a:t>𝑩</a:t>
                      </a:r>
                      <a:endParaRPr sz="2200" dirty="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7" name="object 5">
            <a:extLst>
              <a:ext uri="{FF2B5EF4-FFF2-40B4-BE49-F238E27FC236}">
                <a16:creationId xmlns:a16="http://schemas.microsoft.com/office/drawing/2014/main" id="{61FB2A98-34C3-1C41-AE71-17CB94563B0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3008755"/>
              </p:ext>
            </p:extLst>
          </p:nvPr>
        </p:nvGraphicFramePr>
        <p:xfrm>
          <a:off x="2723373" y="3247499"/>
          <a:ext cx="4237351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 dirty="0">
                          <a:latin typeface="Cambria Math"/>
                          <a:cs typeface="Cambria Math"/>
                        </a:rPr>
                        <a:t>𝑩</a:t>
                      </a:r>
                      <a:endParaRPr sz="2200" dirty="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A6A6A6"/>
                          </a:solidFill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9050">
                      <a:solidFill>
                        <a:srgbClr val="7E7E7E"/>
                      </a:solidFill>
                      <a:prstDash val="sysDash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9050">
                      <a:solidFill>
                        <a:srgbClr val="7E7E7E"/>
                      </a:solidFill>
                      <a:prstDash val="sysDash"/>
                    </a:lnT>
                    <a:lnB w="19050">
                      <a:solidFill>
                        <a:srgbClr val="7E7E7E"/>
                      </a:solidFill>
                      <a:prstDash val="sysDash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A6A6A6"/>
                          </a:solidFill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9050">
                      <a:solidFill>
                        <a:srgbClr val="7E7E7E"/>
                      </a:solidFill>
                      <a:prstDash val="sysDash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9050">
                      <a:solidFill>
                        <a:srgbClr val="7E7E7E"/>
                      </a:solidFill>
                      <a:prstDash val="sysDash"/>
                    </a:lnT>
                    <a:lnB w="19050">
                      <a:solidFill>
                        <a:srgbClr val="7E7E7E"/>
                      </a:solidFill>
                      <a:prstDash val="sysDash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 dirty="0">
                          <a:solidFill>
                            <a:srgbClr val="A6A6A6"/>
                          </a:solidFill>
                          <a:latin typeface="Cambria Math"/>
                          <a:cs typeface="Cambria Math"/>
                        </a:rPr>
                        <a:t>𝑩</a:t>
                      </a:r>
                      <a:endParaRPr sz="2200" dirty="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9050">
                      <a:solidFill>
                        <a:srgbClr val="7E7E7E"/>
                      </a:solidFill>
                      <a:prstDash val="sysDash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9050">
                      <a:solidFill>
                        <a:srgbClr val="7E7E7E"/>
                      </a:solidFill>
                      <a:prstDash val="sysDash"/>
                    </a:lnT>
                    <a:lnB w="19050">
                      <a:solidFill>
                        <a:srgbClr val="7E7E7E"/>
                      </a:solidFill>
                      <a:prstDash val="sysDash"/>
                    </a:lnB>
                    <a:solidFill>
                      <a:srgbClr val="BEBEB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9" name="object 7">
            <a:extLst>
              <a:ext uri="{FF2B5EF4-FFF2-40B4-BE49-F238E27FC236}">
                <a16:creationId xmlns:a16="http://schemas.microsoft.com/office/drawing/2014/main" id="{78FFDB6A-9BF7-B943-8F39-20785EC006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28494648"/>
              </p:ext>
            </p:extLst>
          </p:nvPr>
        </p:nvGraphicFramePr>
        <p:xfrm>
          <a:off x="2723373" y="5292889"/>
          <a:ext cx="262953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2400" spc="-37" baseline="-156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𝟐</a:t>
                      </a:r>
                      <a:endParaRPr sz="2400" baseline="-15625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 dirty="0">
                          <a:latin typeface="Cambria Math"/>
                          <a:cs typeface="Cambria Math"/>
                        </a:rPr>
                        <a:t>𝑩</a:t>
                      </a:r>
                      <a:endParaRPr sz="2200" dirty="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0680645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/>
          <p:nvPr/>
        </p:nvSpPr>
        <p:spPr>
          <a:xfrm>
            <a:off x="729905" y="1067658"/>
            <a:ext cx="8337550" cy="1938655"/>
          </a:xfrm>
          <a:prstGeom prst="rect">
            <a:avLst/>
          </a:prstGeom>
        </p:spPr>
        <p:txBody>
          <a:bodyPr vert="horz" wrap="square" lIns="0" tIns="104139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819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20">
                <a:latin typeface="PMingLiU"/>
                <a:cs typeface="PMingLiU"/>
              </a:rPr>
              <a:t>子序列</a:t>
            </a:r>
            <a:endParaRPr sz="2800">
              <a:latin typeface="PMingLiU"/>
              <a:cs typeface="PMingLiU"/>
            </a:endParaRPr>
          </a:p>
          <a:p>
            <a:pPr marL="704215" lvl="1" indent="-347980">
              <a:lnSpc>
                <a:spcPct val="100000"/>
              </a:lnSpc>
              <a:spcBef>
                <a:spcPts val="61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</a:tabLst>
            </a:pPr>
            <a:r>
              <a:rPr sz="2400">
                <a:latin typeface="PMingLiU"/>
                <a:cs typeface="PMingLiU"/>
              </a:rPr>
              <a:t>将给定序列中零个或多个元素（如字符）</a:t>
            </a:r>
            <a:r>
              <a:rPr sz="2400" spc="-10">
                <a:latin typeface="PMingLiU"/>
                <a:cs typeface="PMingLiU"/>
              </a:rPr>
              <a:t>去掉后所得结果</a:t>
            </a:r>
            <a:endParaRPr sz="2400">
              <a:latin typeface="PMingLiU"/>
              <a:cs typeface="PMingLiU"/>
            </a:endParaRPr>
          </a:p>
          <a:p>
            <a:pPr marL="355600" indent="-342900">
              <a:lnSpc>
                <a:spcPct val="100000"/>
              </a:lnSpc>
              <a:spcBef>
                <a:spcPts val="63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25">
                <a:latin typeface="PMingLiU"/>
                <a:cs typeface="PMingLiU"/>
              </a:rPr>
              <a:t>示例</a:t>
            </a:r>
            <a:endParaRPr sz="2800">
              <a:latin typeface="PMingLiU"/>
              <a:cs typeface="PMingLiU"/>
            </a:endParaRPr>
          </a:p>
          <a:p>
            <a:pPr marL="704215" lvl="1" indent="-347980">
              <a:lnSpc>
                <a:spcPct val="100000"/>
              </a:lnSpc>
              <a:spcBef>
                <a:spcPts val="620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</a:tabLst>
            </a:pPr>
            <a:r>
              <a:rPr sz="2400">
                <a:latin typeface="PMingLiU"/>
                <a:cs typeface="PMingLiU"/>
              </a:rPr>
              <a:t>给定序列</a:t>
            </a:r>
            <a:r>
              <a:rPr sz="2400" spc="-50">
                <a:latin typeface="Cambria Math"/>
                <a:cs typeface="Cambria Math"/>
              </a:rPr>
              <a:t>𝑿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74328" y="3932107"/>
            <a:ext cx="180340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60045" indent="-347980">
              <a:lnSpc>
                <a:spcPct val="100000"/>
              </a:lnSpc>
              <a:spcBef>
                <a:spcPts val="100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360045" algn="l"/>
                <a:tab pos="360680" algn="l"/>
              </a:tabLst>
            </a:pPr>
            <a:r>
              <a:rPr sz="2400">
                <a:latin typeface="Cambria Math"/>
                <a:cs typeface="Cambria Math"/>
              </a:rPr>
              <a:t>𝑿</a:t>
            </a:r>
            <a:r>
              <a:rPr sz="2400" spc="-15">
                <a:latin typeface="PMingLiU"/>
                <a:cs typeface="PMingLiU"/>
              </a:rPr>
              <a:t>的子序列</a:t>
            </a:r>
            <a:endParaRPr sz="2400">
              <a:latin typeface="PMingLiU"/>
              <a:cs typeface="PMingLiU"/>
            </a:endParaRPr>
          </a:p>
        </p:txBody>
      </p:sp>
      <p:graphicFrame>
        <p:nvGraphicFramePr>
          <p:cNvPr id="5" name="object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32980884"/>
              </p:ext>
            </p:extLst>
          </p:nvPr>
        </p:nvGraphicFramePr>
        <p:xfrm>
          <a:off x="2727360" y="3203380"/>
          <a:ext cx="4237351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A6A6A6"/>
                          </a:solidFill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9050">
                      <a:solidFill>
                        <a:srgbClr val="7E7E7E"/>
                      </a:solidFill>
                      <a:prstDash val="sysDash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9050">
                      <a:solidFill>
                        <a:srgbClr val="7E7E7E"/>
                      </a:solidFill>
                      <a:prstDash val="solid"/>
                    </a:lnT>
                    <a:lnB w="19050">
                      <a:solidFill>
                        <a:srgbClr val="7E7E7E"/>
                      </a:solidFill>
                      <a:prstDash val="sysDash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9050">
                      <a:solidFill>
                        <a:srgbClr val="7E7E7E"/>
                      </a:solidFill>
                      <a:prstDash val="sysDash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A6A6A6"/>
                          </a:solidFill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9050">
                      <a:solidFill>
                        <a:srgbClr val="7E7E7E"/>
                      </a:solidFill>
                      <a:prstDash val="sysDash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9050">
                      <a:solidFill>
                        <a:srgbClr val="7E7E7E"/>
                      </a:solidFill>
                      <a:prstDash val="sysDash"/>
                    </a:lnT>
                    <a:lnB w="19050">
                      <a:solidFill>
                        <a:srgbClr val="7E7E7E"/>
                      </a:solidFill>
                      <a:prstDash val="sysDash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A6A6A6"/>
                          </a:solidFill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9050">
                      <a:solidFill>
                        <a:srgbClr val="7E7E7E"/>
                      </a:solidFill>
                      <a:prstDash val="sysDash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9050">
                      <a:solidFill>
                        <a:srgbClr val="7E7E7E"/>
                      </a:solidFill>
                      <a:prstDash val="sysDash"/>
                    </a:lnT>
                    <a:lnB w="19050">
                      <a:solidFill>
                        <a:srgbClr val="7E7E7E"/>
                      </a:solidFill>
                      <a:prstDash val="sysDash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9050">
                      <a:solidFill>
                        <a:srgbClr val="7E7E7E"/>
                      </a:solidFill>
                      <a:prstDash val="sysDash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87721511"/>
              </p:ext>
            </p:extLst>
          </p:nvPr>
        </p:nvGraphicFramePr>
        <p:xfrm>
          <a:off x="2727360" y="4645846"/>
          <a:ext cx="4237351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2400" spc="-37" baseline="-156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𝟏</a:t>
                      </a:r>
                      <a:endParaRPr sz="2400" baseline="-15625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3186838"/>
              </p:ext>
            </p:extLst>
          </p:nvPr>
        </p:nvGraphicFramePr>
        <p:xfrm>
          <a:off x="2727360" y="5320029"/>
          <a:ext cx="262953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2400" spc="-37" baseline="-156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𝟐</a:t>
                      </a:r>
                      <a:endParaRPr sz="2400" baseline="-15625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 dirty="0">
                          <a:latin typeface="Cambria Math"/>
                          <a:cs typeface="Cambria Math"/>
                        </a:rPr>
                        <a:t>𝑩</a:t>
                      </a:r>
                      <a:endParaRPr sz="2200" dirty="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8" name="object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1783357"/>
              </p:ext>
            </p:extLst>
          </p:nvPr>
        </p:nvGraphicFramePr>
        <p:xfrm>
          <a:off x="2727360" y="5994098"/>
          <a:ext cx="262953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2400" spc="-37" baseline="-156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𝟑</a:t>
                      </a:r>
                      <a:endParaRPr sz="2400" baseline="-15625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 dirty="0">
                          <a:latin typeface="Cambria Math"/>
                          <a:cs typeface="Cambria Math"/>
                        </a:rPr>
                        <a:t>𝑩</a:t>
                      </a:r>
                      <a:endParaRPr sz="2200" dirty="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1" name="object 2">
            <a:extLst>
              <a:ext uri="{FF2B5EF4-FFF2-40B4-BE49-F238E27FC236}">
                <a16:creationId xmlns:a16="http://schemas.microsoft.com/office/drawing/2014/main" id="{47C82DF3-EBD9-0448-B82B-642CEC773FB8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91566" y="179473"/>
            <a:ext cx="5587607" cy="627736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0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问题背景：子序</a:t>
            </a:r>
            <a:r>
              <a:rPr sz="40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列</a:t>
            </a:r>
            <a:endParaRPr sz="40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38444" y="1210744"/>
            <a:ext cx="333184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给定两个序列</a:t>
            </a:r>
            <a:r>
              <a:rPr sz="2800" spc="-10" dirty="0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𝑿</a:t>
            </a:r>
            <a:r>
              <a:rPr sz="280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和</a:t>
            </a:r>
            <a:r>
              <a:rPr sz="2800" spc="-50" dirty="0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𝒀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Cambria Math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275561" y="185814"/>
            <a:ext cx="6477819" cy="627736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0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问题背景：公共子序</a:t>
            </a:r>
            <a:r>
              <a:rPr sz="40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列</a:t>
            </a:r>
            <a:endParaRPr sz="40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405494"/>
              </p:ext>
            </p:extLst>
          </p:nvPr>
        </p:nvGraphicFramePr>
        <p:xfrm>
          <a:off x="1275561" y="1960485"/>
          <a:ext cx="4237351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" name="object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5033605"/>
              </p:ext>
            </p:extLst>
          </p:nvPr>
        </p:nvGraphicFramePr>
        <p:xfrm>
          <a:off x="5892024" y="1960485"/>
          <a:ext cx="374713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8340" y="1173166"/>
            <a:ext cx="333184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给定两个序列</a:t>
            </a:r>
            <a:r>
              <a:rPr sz="2800" spc="-10" dirty="0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𝑿</a:t>
            </a:r>
            <a:r>
              <a:rPr sz="280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和</a:t>
            </a:r>
            <a:r>
              <a:rPr sz="2800" spc="-50" dirty="0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𝒀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Cambria Math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688340" y="2709357"/>
            <a:ext cx="285940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公共子序列示例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1237983" y="1969836"/>
            <a:ext cx="501650" cy="489584"/>
            <a:chOff x="1237983" y="1581530"/>
            <a:chExt cx="501650" cy="489584"/>
          </a:xfrm>
        </p:grpSpPr>
        <p:sp>
          <p:nvSpPr>
            <p:cNvPr id="6" name="object 6"/>
            <p:cNvSpPr/>
            <p:nvPr/>
          </p:nvSpPr>
          <p:spPr>
            <a:xfrm flipH="1">
              <a:off x="1729993" y="1581530"/>
              <a:ext cx="0" cy="489584"/>
            </a:xfrm>
            <a:custGeom>
              <a:avLst/>
              <a:gdLst/>
              <a:ahLst/>
              <a:cxnLst/>
              <a:rect l="l" t="t" r="r" b="b"/>
              <a:pathLst>
                <a:path h="489584">
                  <a:moveTo>
                    <a:pt x="0" y="0"/>
                  </a:moveTo>
                  <a:lnTo>
                    <a:pt x="0" y="489458"/>
                  </a:lnTo>
                </a:path>
              </a:pathLst>
            </a:custGeom>
            <a:ln w="19050">
              <a:solidFill>
                <a:srgbClr val="7E7E7E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 flipH="1">
              <a:off x="1244333" y="1584705"/>
              <a:ext cx="0" cy="483234"/>
            </a:xfrm>
            <a:custGeom>
              <a:avLst/>
              <a:gdLst/>
              <a:ahLst/>
              <a:cxnLst/>
              <a:rect l="l" t="t" r="r" b="b"/>
              <a:pathLst>
                <a:path h="483234">
                  <a:moveTo>
                    <a:pt x="0" y="0"/>
                  </a:moveTo>
                  <a:lnTo>
                    <a:pt x="0" y="483108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237983" y="1584705"/>
              <a:ext cx="482600" cy="12700"/>
            </a:xfrm>
            <a:custGeom>
              <a:avLst/>
              <a:gdLst/>
              <a:ahLst/>
              <a:cxnLst/>
              <a:rect l="l" t="t" r="r" b="b"/>
              <a:pathLst>
                <a:path w="482600" h="12700">
                  <a:moveTo>
                    <a:pt x="0" y="12700"/>
                  </a:moveTo>
                  <a:lnTo>
                    <a:pt x="482485" y="12700"/>
                  </a:lnTo>
                  <a:lnTo>
                    <a:pt x="482485" y="0"/>
                  </a:lnTo>
                  <a:lnTo>
                    <a:pt x="0" y="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237983" y="2061463"/>
              <a:ext cx="482600" cy="0"/>
            </a:xfrm>
            <a:custGeom>
              <a:avLst/>
              <a:gdLst/>
              <a:ahLst/>
              <a:cxnLst/>
              <a:rect l="l" t="t" r="r" b="b"/>
              <a:pathLst>
                <a:path w="482600">
                  <a:moveTo>
                    <a:pt x="0" y="0"/>
                  </a:moveTo>
                  <a:lnTo>
                    <a:pt x="482485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0" name="object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4075904"/>
              </p:ext>
            </p:extLst>
          </p:nvPr>
        </p:nvGraphicFramePr>
        <p:xfrm>
          <a:off x="1232823" y="1969836"/>
          <a:ext cx="423925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640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72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A6A6A6"/>
                          </a:solidFill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R w="19050">
                      <a:solidFill>
                        <a:srgbClr val="7E7E7E"/>
                      </a:solidFill>
                      <a:prstDash val="sysDash"/>
                    </a:lnR>
                    <a:lnT w="19050">
                      <a:solidFill>
                        <a:srgbClr val="7E7E7E"/>
                      </a:solidFill>
                      <a:prstDash val="sysDash"/>
                    </a:lnT>
                    <a:lnB w="19050">
                      <a:solidFill>
                        <a:srgbClr val="7E7E7E"/>
                      </a:solidFill>
                      <a:prstDash val="sysDash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A6A6A6"/>
                          </a:solidFill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9050">
                      <a:solidFill>
                        <a:srgbClr val="7E7E7E"/>
                      </a:solidFill>
                      <a:prstDash val="sysDash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9050">
                      <a:solidFill>
                        <a:srgbClr val="7E7E7E"/>
                      </a:solidFill>
                      <a:prstDash val="sysDash"/>
                    </a:lnT>
                    <a:lnB w="19050">
                      <a:solidFill>
                        <a:srgbClr val="7E7E7E"/>
                      </a:solidFill>
                      <a:prstDash val="sysDash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9050">
                      <a:solidFill>
                        <a:srgbClr val="7E7E7E"/>
                      </a:solidFill>
                      <a:prstDash val="sysDash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A6A6A6"/>
                          </a:solidFill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9050">
                      <a:solidFill>
                        <a:srgbClr val="7E7E7E"/>
                      </a:solidFill>
                      <a:prstDash val="sysDash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9050">
                      <a:solidFill>
                        <a:srgbClr val="7E7E7E"/>
                      </a:solidFill>
                      <a:prstDash val="sysDash"/>
                    </a:lnT>
                    <a:lnB w="19050">
                      <a:solidFill>
                        <a:srgbClr val="7E7E7E"/>
                      </a:solidFill>
                      <a:prstDash val="sysDash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A6A6A6"/>
                          </a:solidFill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9050">
                      <a:solidFill>
                        <a:srgbClr val="7E7E7E"/>
                      </a:solidFill>
                      <a:prstDash val="sysDash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9050">
                      <a:solidFill>
                        <a:srgbClr val="7E7E7E"/>
                      </a:solidFill>
                      <a:prstDash val="sysDash"/>
                    </a:lnT>
                    <a:lnB w="19050">
                      <a:solidFill>
                        <a:srgbClr val="7E7E7E"/>
                      </a:solidFill>
                      <a:prstDash val="sysDash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9050">
                      <a:solidFill>
                        <a:srgbClr val="7E7E7E"/>
                      </a:solidFill>
                      <a:prstDash val="sysDash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A6A6A6"/>
                          </a:solidFill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9050">
                      <a:solidFill>
                        <a:srgbClr val="7E7E7E"/>
                      </a:solidFill>
                      <a:prstDash val="sysDash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9050">
                      <a:solidFill>
                        <a:srgbClr val="7E7E7E"/>
                      </a:solidFill>
                      <a:prstDash val="solid"/>
                    </a:lnT>
                    <a:lnB w="19050">
                      <a:solidFill>
                        <a:srgbClr val="7E7E7E"/>
                      </a:solidFill>
                      <a:prstDash val="sysDash"/>
                    </a:lnB>
                    <a:solidFill>
                      <a:srgbClr val="BEBEB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1" name="object 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96283044"/>
              </p:ext>
            </p:extLst>
          </p:nvPr>
        </p:nvGraphicFramePr>
        <p:xfrm>
          <a:off x="5851271" y="1969836"/>
          <a:ext cx="374713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A6A6A6"/>
                          </a:solidFill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9050">
                      <a:solidFill>
                        <a:srgbClr val="7E7E7E"/>
                      </a:solidFill>
                      <a:prstDash val="sysDash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9050">
                      <a:solidFill>
                        <a:srgbClr val="7E7E7E"/>
                      </a:solidFill>
                      <a:prstDash val="sysDash"/>
                    </a:lnT>
                    <a:lnB w="19050">
                      <a:solidFill>
                        <a:srgbClr val="7E7E7E"/>
                      </a:solidFill>
                      <a:prstDash val="sysDash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A6A6A6"/>
                          </a:solidFill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9050">
                      <a:solidFill>
                        <a:srgbClr val="7E7E7E"/>
                      </a:solidFill>
                      <a:prstDash val="sysDash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9050">
                      <a:solidFill>
                        <a:srgbClr val="7E7E7E"/>
                      </a:solidFill>
                      <a:prstDash val="sysDash"/>
                    </a:lnT>
                    <a:lnB w="19050">
                      <a:solidFill>
                        <a:srgbClr val="7E7E7E"/>
                      </a:solidFill>
                      <a:prstDash val="sysDash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9050">
                      <a:solidFill>
                        <a:srgbClr val="7E7E7E"/>
                      </a:solidFill>
                      <a:prstDash val="sysDash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A6A6A6"/>
                          </a:solidFill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9050">
                      <a:solidFill>
                        <a:srgbClr val="7E7E7E"/>
                      </a:solidFill>
                      <a:prstDash val="sysDash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9050">
                      <a:solidFill>
                        <a:srgbClr val="7E7E7E"/>
                      </a:solidFill>
                      <a:prstDash val="sysDash"/>
                    </a:lnT>
                    <a:lnB w="19050">
                      <a:solidFill>
                        <a:srgbClr val="7E7E7E"/>
                      </a:solidFill>
                      <a:prstDash val="sysDash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A6A6A6"/>
                          </a:solidFill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9050">
                      <a:solidFill>
                        <a:srgbClr val="7E7E7E"/>
                      </a:solidFill>
                      <a:prstDash val="sysDash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9050">
                      <a:solidFill>
                        <a:srgbClr val="7E7E7E"/>
                      </a:solidFill>
                      <a:prstDash val="sysDash"/>
                    </a:lnT>
                    <a:lnB w="19050">
                      <a:solidFill>
                        <a:srgbClr val="7E7E7E"/>
                      </a:solidFill>
                      <a:prstDash val="sysDash"/>
                    </a:lnB>
                    <a:solidFill>
                      <a:srgbClr val="BEBEB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2" name="object 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1466449"/>
              </p:ext>
            </p:extLst>
          </p:nvPr>
        </p:nvGraphicFramePr>
        <p:xfrm>
          <a:off x="1237983" y="3597723"/>
          <a:ext cx="155765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2400" spc="-37" baseline="-156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𝟏</a:t>
                      </a:r>
                      <a:endParaRPr sz="2400" baseline="-15625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3" name="object 1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14540100"/>
              </p:ext>
            </p:extLst>
          </p:nvPr>
        </p:nvGraphicFramePr>
        <p:xfrm>
          <a:off x="5854446" y="3597723"/>
          <a:ext cx="155765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2400" spc="-37" baseline="-156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𝟏</a:t>
                      </a:r>
                      <a:endParaRPr sz="2400" baseline="-15625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DB003611-EF50-584A-8CCD-50FD50F879FC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75561" y="185814"/>
            <a:ext cx="6477819" cy="627736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0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问题背景：公共子序</a:t>
            </a:r>
            <a:r>
              <a:rPr sz="40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列</a:t>
            </a:r>
            <a:endParaRPr sz="40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8340" y="1173166"/>
            <a:ext cx="333184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>
                <a:latin typeface="PMingLiU"/>
                <a:cs typeface="PMingLiU"/>
              </a:rPr>
              <a:t>给定两个序列</a:t>
            </a:r>
            <a:r>
              <a:rPr sz="2800" spc="-10">
                <a:latin typeface="Cambria Math"/>
                <a:cs typeface="Cambria Math"/>
              </a:rPr>
              <a:t>𝑿</a:t>
            </a:r>
            <a:r>
              <a:rPr sz="2800">
                <a:latin typeface="PMingLiU"/>
                <a:cs typeface="PMingLiU"/>
              </a:rPr>
              <a:t>和</a:t>
            </a:r>
            <a:r>
              <a:rPr sz="2800" spc="-50">
                <a:latin typeface="Cambria Math"/>
                <a:cs typeface="Cambria Math"/>
              </a:rPr>
              <a:t>𝒀</a:t>
            </a:r>
            <a:endParaRPr sz="2800">
              <a:latin typeface="Cambria Math"/>
              <a:cs typeface="Cambria Math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688340" y="2709357"/>
            <a:ext cx="285940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>
                <a:latin typeface="PMingLiU"/>
                <a:cs typeface="PMingLiU"/>
              </a:rPr>
              <a:t>公共子序列示例</a:t>
            </a:r>
            <a:endParaRPr sz="2800">
              <a:latin typeface="PMingLiU"/>
              <a:cs typeface="PMingLiU"/>
            </a:endParaRPr>
          </a:p>
        </p:txBody>
      </p:sp>
      <p:graphicFrame>
        <p:nvGraphicFramePr>
          <p:cNvPr id="5" name="object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7112989"/>
              </p:ext>
            </p:extLst>
          </p:nvPr>
        </p:nvGraphicFramePr>
        <p:xfrm>
          <a:off x="1234808" y="1969836"/>
          <a:ext cx="4237351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A6A6A6"/>
                          </a:solidFill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9050">
                      <a:solidFill>
                        <a:srgbClr val="7E7E7E"/>
                      </a:solidFill>
                      <a:prstDash val="sysDash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9050">
                      <a:solidFill>
                        <a:srgbClr val="7E7E7E"/>
                      </a:solidFill>
                      <a:prstDash val="sysDash"/>
                    </a:lnT>
                    <a:lnB w="19050">
                      <a:solidFill>
                        <a:srgbClr val="7E7E7E"/>
                      </a:solidFill>
                      <a:prstDash val="sysDash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A6A6A6"/>
                          </a:solidFill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9050">
                      <a:solidFill>
                        <a:srgbClr val="7E7E7E"/>
                      </a:solidFill>
                      <a:prstDash val="sysDash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9050">
                      <a:solidFill>
                        <a:srgbClr val="7E7E7E"/>
                      </a:solidFill>
                      <a:prstDash val="sysDash"/>
                    </a:lnT>
                    <a:lnB w="19050">
                      <a:solidFill>
                        <a:srgbClr val="7E7E7E"/>
                      </a:solidFill>
                      <a:prstDash val="sysDash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A6A6A6"/>
                          </a:solidFill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9050">
                      <a:solidFill>
                        <a:srgbClr val="7E7E7E"/>
                      </a:solidFill>
                      <a:prstDash val="sysDash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9050">
                      <a:solidFill>
                        <a:srgbClr val="7E7E7E"/>
                      </a:solidFill>
                      <a:prstDash val="sysDash"/>
                    </a:lnT>
                    <a:lnB w="19050">
                      <a:solidFill>
                        <a:srgbClr val="7E7E7E"/>
                      </a:solidFill>
                      <a:prstDash val="sysDash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9050">
                      <a:solidFill>
                        <a:srgbClr val="7E7E7E"/>
                      </a:solidFill>
                      <a:prstDash val="sysDash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A6A6A6"/>
                          </a:solidFill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9050">
                      <a:solidFill>
                        <a:srgbClr val="7E7E7E"/>
                      </a:solidFill>
                      <a:prstDash val="sysDash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9050">
                      <a:solidFill>
                        <a:srgbClr val="7E7E7E"/>
                      </a:solidFill>
                      <a:prstDash val="solid"/>
                    </a:lnT>
                    <a:lnB w="19050">
                      <a:solidFill>
                        <a:srgbClr val="7E7E7E"/>
                      </a:solidFill>
                      <a:prstDash val="sysDash"/>
                    </a:lnB>
                    <a:solidFill>
                      <a:srgbClr val="BEBEB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709119"/>
              </p:ext>
            </p:extLst>
          </p:nvPr>
        </p:nvGraphicFramePr>
        <p:xfrm>
          <a:off x="5854446" y="1969836"/>
          <a:ext cx="374713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A6A6A6"/>
                          </a:solidFill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9050">
                      <a:solidFill>
                        <a:srgbClr val="7E7E7E"/>
                      </a:solidFill>
                      <a:prstDash val="sysDash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9050">
                      <a:solidFill>
                        <a:srgbClr val="7E7E7E"/>
                      </a:solidFill>
                      <a:prstDash val="sysDash"/>
                    </a:lnT>
                    <a:lnB w="19050">
                      <a:solidFill>
                        <a:srgbClr val="7E7E7E"/>
                      </a:solidFill>
                      <a:prstDash val="sysDash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A6A6A6"/>
                          </a:solidFill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9050">
                      <a:solidFill>
                        <a:srgbClr val="7E7E7E"/>
                      </a:solidFill>
                      <a:prstDash val="sysDash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9050">
                      <a:solidFill>
                        <a:srgbClr val="7E7E7E"/>
                      </a:solidFill>
                      <a:prstDash val="sysDash"/>
                    </a:lnT>
                    <a:lnB w="19050">
                      <a:solidFill>
                        <a:srgbClr val="7E7E7E"/>
                      </a:solidFill>
                      <a:prstDash val="sysDash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A6A6A6"/>
                          </a:solidFill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9050">
                      <a:solidFill>
                        <a:srgbClr val="7E7E7E"/>
                      </a:solidFill>
                      <a:prstDash val="sysDash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9050">
                      <a:solidFill>
                        <a:srgbClr val="7E7E7E"/>
                      </a:solidFill>
                      <a:prstDash val="sysDash"/>
                    </a:lnT>
                    <a:lnB w="19050">
                      <a:solidFill>
                        <a:srgbClr val="7E7E7E"/>
                      </a:solidFill>
                      <a:prstDash val="sysDash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9050">
                      <a:solidFill>
                        <a:srgbClr val="7E7E7E"/>
                      </a:solidFill>
                      <a:prstDash val="sysDash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78754910"/>
              </p:ext>
            </p:extLst>
          </p:nvPr>
        </p:nvGraphicFramePr>
        <p:xfrm>
          <a:off x="1237983" y="3597723"/>
          <a:ext cx="155765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2400" spc="-37" baseline="-156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𝟏</a:t>
                      </a:r>
                      <a:endParaRPr sz="2400" baseline="-15625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8" name="object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93601668"/>
              </p:ext>
            </p:extLst>
          </p:nvPr>
        </p:nvGraphicFramePr>
        <p:xfrm>
          <a:off x="5854446" y="3597723"/>
          <a:ext cx="155765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2400" spc="-37" baseline="-156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𝟏</a:t>
                      </a:r>
                      <a:endParaRPr sz="2400" baseline="-15625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495499"/>
              </p:ext>
            </p:extLst>
          </p:nvPr>
        </p:nvGraphicFramePr>
        <p:xfrm>
          <a:off x="1237983" y="4516059"/>
          <a:ext cx="2141219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2400" spc="-37" baseline="-156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𝟐</a:t>
                      </a:r>
                      <a:endParaRPr sz="2400" baseline="-15625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6032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0" name="object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99229540"/>
              </p:ext>
            </p:extLst>
          </p:nvPr>
        </p:nvGraphicFramePr>
        <p:xfrm>
          <a:off x="5854446" y="4516059"/>
          <a:ext cx="2141219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768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2400" spc="-37" baseline="-156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𝟐</a:t>
                      </a:r>
                      <a:endParaRPr sz="2400" baseline="-15625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6032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3" name="object 3">
            <a:extLst>
              <a:ext uri="{FF2B5EF4-FFF2-40B4-BE49-F238E27FC236}">
                <a16:creationId xmlns:a16="http://schemas.microsoft.com/office/drawing/2014/main" id="{66114C56-A570-AC45-8361-0DFAD602DDBF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75561" y="185814"/>
            <a:ext cx="6477819" cy="627736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0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问题背景：公共子序</a:t>
            </a:r>
            <a:r>
              <a:rPr sz="40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列</a:t>
            </a:r>
            <a:endParaRPr sz="40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8340" y="1160640"/>
            <a:ext cx="333184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>
                <a:latin typeface="PMingLiU"/>
                <a:cs typeface="PMingLiU"/>
              </a:rPr>
              <a:t>给定两个序列</a:t>
            </a:r>
            <a:r>
              <a:rPr sz="2800" spc="-10">
                <a:latin typeface="Cambria Math"/>
                <a:cs typeface="Cambria Math"/>
              </a:rPr>
              <a:t>𝑿</a:t>
            </a:r>
            <a:r>
              <a:rPr sz="2800">
                <a:latin typeface="PMingLiU"/>
                <a:cs typeface="PMingLiU"/>
              </a:rPr>
              <a:t>和</a:t>
            </a:r>
            <a:r>
              <a:rPr sz="2800" spc="-50">
                <a:latin typeface="Cambria Math"/>
                <a:cs typeface="Cambria Math"/>
              </a:rPr>
              <a:t>𝒀</a:t>
            </a:r>
            <a:endParaRPr sz="2800">
              <a:latin typeface="Cambria Math"/>
              <a:cs typeface="Cambria Math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688340" y="2696831"/>
            <a:ext cx="285940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>
                <a:latin typeface="PMingLiU"/>
                <a:cs typeface="PMingLiU"/>
              </a:rPr>
              <a:t>公共子序列示例</a:t>
            </a:r>
            <a:endParaRPr sz="2800">
              <a:latin typeface="PMingLiU"/>
              <a:cs typeface="PMingLiU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1237983" y="1957310"/>
            <a:ext cx="501650" cy="489584"/>
            <a:chOff x="1237983" y="1581530"/>
            <a:chExt cx="501650" cy="489584"/>
          </a:xfrm>
        </p:grpSpPr>
        <p:sp>
          <p:nvSpPr>
            <p:cNvPr id="6" name="object 6"/>
            <p:cNvSpPr/>
            <p:nvPr/>
          </p:nvSpPr>
          <p:spPr>
            <a:xfrm flipH="1">
              <a:off x="1729993" y="1581530"/>
              <a:ext cx="0" cy="489584"/>
            </a:xfrm>
            <a:custGeom>
              <a:avLst/>
              <a:gdLst/>
              <a:ahLst/>
              <a:cxnLst/>
              <a:rect l="l" t="t" r="r" b="b"/>
              <a:pathLst>
                <a:path h="489584">
                  <a:moveTo>
                    <a:pt x="0" y="0"/>
                  </a:moveTo>
                  <a:lnTo>
                    <a:pt x="0" y="489458"/>
                  </a:lnTo>
                </a:path>
              </a:pathLst>
            </a:custGeom>
            <a:ln w="19050">
              <a:solidFill>
                <a:srgbClr val="7E7E7E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 flipH="1">
              <a:off x="1244333" y="1584705"/>
              <a:ext cx="0" cy="483234"/>
            </a:xfrm>
            <a:custGeom>
              <a:avLst/>
              <a:gdLst/>
              <a:ahLst/>
              <a:cxnLst/>
              <a:rect l="l" t="t" r="r" b="b"/>
              <a:pathLst>
                <a:path h="483234">
                  <a:moveTo>
                    <a:pt x="0" y="0"/>
                  </a:moveTo>
                  <a:lnTo>
                    <a:pt x="0" y="483108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237983" y="1584705"/>
              <a:ext cx="482600" cy="12700"/>
            </a:xfrm>
            <a:custGeom>
              <a:avLst/>
              <a:gdLst/>
              <a:ahLst/>
              <a:cxnLst/>
              <a:rect l="l" t="t" r="r" b="b"/>
              <a:pathLst>
                <a:path w="482600" h="12700">
                  <a:moveTo>
                    <a:pt x="0" y="12700"/>
                  </a:moveTo>
                  <a:lnTo>
                    <a:pt x="482485" y="12700"/>
                  </a:lnTo>
                  <a:lnTo>
                    <a:pt x="482485" y="0"/>
                  </a:lnTo>
                  <a:lnTo>
                    <a:pt x="0" y="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237983" y="2061463"/>
              <a:ext cx="482600" cy="0"/>
            </a:xfrm>
            <a:custGeom>
              <a:avLst/>
              <a:gdLst/>
              <a:ahLst/>
              <a:cxnLst/>
              <a:rect l="l" t="t" r="r" b="b"/>
              <a:pathLst>
                <a:path w="482600">
                  <a:moveTo>
                    <a:pt x="0" y="0"/>
                  </a:moveTo>
                  <a:lnTo>
                    <a:pt x="482485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0" name="object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93955399"/>
              </p:ext>
            </p:extLst>
          </p:nvPr>
        </p:nvGraphicFramePr>
        <p:xfrm>
          <a:off x="1235998" y="1957310"/>
          <a:ext cx="423925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640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72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A6A6A6"/>
                          </a:solidFill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R w="19050">
                      <a:solidFill>
                        <a:srgbClr val="7E7E7E"/>
                      </a:solidFill>
                      <a:prstDash val="sysDash"/>
                    </a:lnR>
                    <a:lnT w="19050">
                      <a:solidFill>
                        <a:srgbClr val="7E7E7E"/>
                      </a:solidFill>
                      <a:prstDash val="solid"/>
                    </a:lnT>
                    <a:lnB w="19050">
                      <a:solidFill>
                        <a:srgbClr val="7E7E7E"/>
                      </a:solidFill>
                      <a:prstDash val="sysDash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9050">
                      <a:solidFill>
                        <a:srgbClr val="7E7E7E"/>
                      </a:solidFill>
                      <a:prstDash val="sysDash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A6A6A6"/>
                          </a:solidFill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9050">
                      <a:solidFill>
                        <a:srgbClr val="7E7E7E"/>
                      </a:solidFill>
                      <a:prstDash val="sysDash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9050">
                      <a:solidFill>
                        <a:srgbClr val="7E7E7E"/>
                      </a:solidFill>
                      <a:prstDash val="sysDash"/>
                    </a:lnT>
                    <a:lnB w="19050">
                      <a:solidFill>
                        <a:srgbClr val="7E7E7E"/>
                      </a:solidFill>
                      <a:prstDash val="sysDash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A6A6A6"/>
                          </a:solidFill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9050">
                      <a:solidFill>
                        <a:srgbClr val="7E7E7E"/>
                      </a:solidFill>
                      <a:prstDash val="sysDash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9050">
                      <a:solidFill>
                        <a:srgbClr val="7E7E7E"/>
                      </a:solidFill>
                      <a:prstDash val="sysDash"/>
                    </a:lnT>
                    <a:lnB w="19050">
                      <a:solidFill>
                        <a:srgbClr val="7E7E7E"/>
                      </a:solidFill>
                      <a:prstDash val="sysDash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9050">
                      <a:solidFill>
                        <a:srgbClr val="7E7E7E"/>
                      </a:solidFill>
                      <a:prstDash val="sysDash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1" name="object 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75417785"/>
              </p:ext>
            </p:extLst>
          </p:nvPr>
        </p:nvGraphicFramePr>
        <p:xfrm>
          <a:off x="5851271" y="1957310"/>
          <a:ext cx="374713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A6A6A6"/>
                          </a:solidFill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9050">
                      <a:solidFill>
                        <a:srgbClr val="7E7E7E"/>
                      </a:solidFill>
                      <a:prstDash val="sysDash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9050">
                      <a:solidFill>
                        <a:srgbClr val="7E7E7E"/>
                      </a:solidFill>
                      <a:prstDash val="solid"/>
                    </a:lnT>
                    <a:lnB w="19050">
                      <a:solidFill>
                        <a:srgbClr val="7E7E7E"/>
                      </a:solidFill>
                      <a:prstDash val="sysDash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9050">
                      <a:solidFill>
                        <a:srgbClr val="7E7E7E"/>
                      </a:solidFill>
                      <a:prstDash val="sysDash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A6A6A6"/>
                          </a:solidFill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9050">
                      <a:solidFill>
                        <a:srgbClr val="7E7E7E"/>
                      </a:solidFill>
                      <a:prstDash val="sysDash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9050">
                      <a:solidFill>
                        <a:srgbClr val="7E7E7E"/>
                      </a:solidFill>
                      <a:prstDash val="solid"/>
                    </a:lnT>
                    <a:lnB w="19050">
                      <a:solidFill>
                        <a:srgbClr val="7E7E7E"/>
                      </a:solidFill>
                      <a:prstDash val="sysDash"/>
                    </a:lnB>
                    <a:solidFill>
                      <a:srgbClr val="BEBEB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2" name="object 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1978462"/>
              </p:ext>
            </p:extLst>
          </p:nvPr>
        </p:nvGraphicFramePr>
        <p:xfrm>
          <a:off x="1237983" y="5421744"/>
          <a:ext cx="262953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2400" spc="-37" baseline="-156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𝟑</a:t>
                      </a:r>
                      <a:endParaRPr sz="2400" baseline="-15625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3" name="object 1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42206394"/>
              </p:ext>
            </p:extLst>
          </p:nvPr>
        </p:nvGraphicFramePr>
        <p:xfrm>
          <a:off x="5854446" y="5421744"/>
          <a:ext cx="262953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2400" spc="-37" baseline="-156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𝟑</a:t>
                      </a:r>
                      <a:endParaRPr sz="2400" baseline="-15625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4" name="object 1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19786907"/>
              </p:ext>
            </p:extLst>
          </p:nvPr>
        </p:nvGraphicFramePr>
        <p:xfrm>
          <a:off x="1237983" y="3585197"/>
          <a:ext cx="155765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2400" spc="-37" baseline="-156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𝟏</a:t>
                      </a:r>
                      <a:endParaRPr sz="2400" baseline="-15625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5" name="object 1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23627748"/>
              </p:ext>
            </p:extLst>
          </p:nvPr>
        </p:nvGraphicFramePr>
        <p:xfrm>
          <a:off x="5854446" y="3585197"/>
          <a:ext cx="155765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2400" spc="-37" baseline="-156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𝟏</a:t>
                      </a:r>
                      <a:endParaRPr sz="2400" baseline="-15625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6" name="object 1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6423555"/>
              </p:ext>
            </p:extLst>
          </p:nvPr>
        </p:nvGraphicFramePr>
        <p:xfrm>
          <a:off x="1237983" y="4503533"/>
          <a:ext cx="2141219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2400" spc="-37" baseline="-156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𝟐</a:t>
                      </a:r>
                      <a:endParaRPr sz="2400" baseline="-15625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6032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7" name="object 1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7494210"/>
              </p:ext>
            </p:extLst>
          </p:nvPr>
        </p:nvGraphicFramePr>
        <p:xfrm>
          <a:off x="5854446" y="4503533"/>
          <a:ext cx="2141219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768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2400" spc="-37" baseline="-156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𝟐</a:t>
                      </a:r>
                      <a:endParaRPr sz="2400" baseline="-15625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6032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0" name="object 3">
            <a:extLst>
              <a:ext uri="{FF2B5EF4-FFF2-40B4-BE49-F238E27FC236}">
                <a16:creationId xmlns:a16="http://schemas.microsoft.com/office/drawing/2014/main" id="{F86AA1E5-0824-2E47-A72E-D7B33BE4D54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75561" y="185814"/>
            <a:ext cx="6477819" cy="627736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0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问题背景：公共子序</a:t>
            </a:r>
            <a:r>
              <a:rPr sz="40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列</a:t>
            </a:r>
            <a:endParaRPr sz="40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8340" y="1123062"/>
            <a:ext cx="333184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>
                <a:latin typeface="PMingLiU"/>
                <a:cs typeface="PMingLiU"/>
              </a:rPr>
              <a:t>给定两个序列</a:t>
            </a:r>
            <a:r>
              <a:rPr sz="2800" spc="-10">
                <a:latin typeface="Cambria Math"/>
                <a:cs typeface="Cambria Math"/>
              </a:rPr>
              <a:t>𝑿</a:t>
            </a:r>
            <a:r>
              <a:rPr sz="2800">
                <a:latin typeface="PMingLiU"/>
                <a:cs typeface="PMingLiU"/>
              </a:rPr>
              <a:t>和</a:t>
            </a:r>
            <a:r>
              <a:rPr sz="2800" spc="-50">
                <a:latin typeface="Cambria Math"/>
                <a:cs typeface="Cambria Math"/>
              </a:rPr>
              <a:t>𝒀</a:t>
            </a:r>
            <a:endParaRPr sz="2800">
              <a:latin typeface="Cambria Math"/>
              <a:cs typeface="Cambria Math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688340" y="2659253"/>
            <a:ext cx="285940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>
                <a:latin typeface="PMingLiU"/>
                <a:cs typeface="PMingLiU"/>
              </a:rPr>
              <a:t>公共子序列示例</a:t>
            </a:r>
            <a:endParaRPr sz="2800">
              <a:latin typeface="PMingLiU"/>
              <a:cs typeface="PMingLiU"/>
            </a:endParaRPr>
          </a:p>
        </p:txBody>
      </p:sp>
      <p:graphicFrame>
        <p:nvGraphicFramePr>
          <p:cNvPr id="5" name="object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8420804"/>
              </p:ext>
            </p:extLst>
          </p:nvPr>
        </p:nvGraphicFramePr>
        <p:xfrm>
          <a:off x="1237983" y="1922907"/>
          <a:ext cx="4237351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2174149"/>
              </p:ext>
            </p:extLst>
          </p:nvPr>
        </p:nvGraphicFramePr>
        <p:xfrm>
          <a:off x="5854446" y="1922907"/>
          <a:ext cx="374713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" name="object 7"/>
          <p:cNvSpPr txBox="1"/>
          <p:nvPr/>
        </p:nvSpPr>
        <p:spPr>
          <a:xfrm>
            <a:off x="1244346" y="5990948"/>
            <a:ext cx="8365490" cy="720090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</a:ln>
        </p:spPr>
        <p:txBody>
          <a:bodyPr vert="horz" wrap="square" lIns="0" tIns="102235" rIns="0" bIns="0" rtlCol="0">
            <a:spAutoFit/>
          </a:bodyPr>
          <a:lstStyle/>
          <a:p>
            <a:pPr marL="675640">
              <a:lnSpc>
                <a:spcPct val="100000"/>
              </a:lnSpc>
              <a:spcBef>
                <a:spcPts val="805"/>
              </a:spcBef>
            </a:pPr>
            <a:r>
              <a:rPr sz="2800" spc="-15">
                <a:latin typeface="PMingLiU"/>
                <a:cs typeface="PMingLiU"/>
              </a:rPr>
              <a:t>问题：如何求两个给定序列的最长公共子序列？</a:t>
            </a:r>
            <a:endParaRPr sz="2800">
              <a:latin typeface="PMingLiU"/>
              <a:cs typeface="PMingLiU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53126123"/>
              </p:ext>
            </p:extLst>
          </p:nvPr>
        </p:nvGraphicFramePr>
        <p:xfrm>
          <a:off x="1237983" y="5384166"/>
          <a:ext cx="262953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2400" spc="-37" baseline="-156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𝟑</a:t>
                      </a:r>
                      <a:endParaRPr sz="2400" baseline="-15625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8018895"/>
              </p:ext>
            </p:extLst>
          </p:nvPr>
        </p:nvGraphicFramePr>
        <p:xfrm>
          <a:off x="5854446" y="5384166"/>
          <a:ext cx="262953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2400" spc="-37" baseline="-156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𝟑</a:t>
                      </a:r>
                      <a:endParaRPr sz="2400" baseline="-15625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0" name="object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9672015"/>
              </p:ext>
            </p:extLst>
          </p:nvPr>
        </p:nvGraphicFramePr>
        <p:xfrm>
          <a:off x="1237983" y="3547619"/>
          <a:ext cx="155765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2400" spc="-37" baseline="-156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𝟏</a:t>
                      </a:r>
                      <a:endParaRPr sz="2400" baseline="-15625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1" name="object 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8880944"/>
              </p:ext>
            </p:extLst>
          </p:nvPr>
        </p:nvGraphicFramePr>
        <p:xfrm>
          <a:off x="5854446" y="3547619"/>
          <a:ext cx="155765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2400" spc="-37" baseline="-156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𝟏</a:t>
                      </a:r>
                      <a:endParaRPr sz="2400" baseline="-15625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2" name="object 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3828945"/>
              </p:ext>
            </p:extLst>
          </p:nvPr>
        </p:nvGraphicFramePr>
        <p:xfrm>
          <a:off x="1237983" y="4465955"/>
          <a:ext cx="2141219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2400" spc="-37" baseline="-156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𝟐</a:t>
                      </a:r>
                      <a:endParaRPr sz="2400" baseline="-15625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6032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3" name="object 1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86137643"/>
              </p:ext>
            </p:extLst>
          </p:nvPr>
        </p:nvGraphicFramePr>
        <p:xfrm>
          <a:off x="5854446" y="4465955"/>
          <a:ext cx="2141219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768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2400" spc="-37" baseline="-156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𝟐</a:t>
                      </a:r>
                      <a:endParaRPr sz="2400" baseline="-15625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6032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6B58F87D-7B77-3443-926B-F72EA1AAD2BF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75561" y="185814"/>
            <a:ext cx="6477819" cy="627736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0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问题背景：公共子序</a:t>
            </a:r>
            <a:r>
              <a:rPr sz="40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列</a:t>
            </a:r>
            <a:endParaRPr sz="40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309255" y="221729"/>
            <a:ext cx="2126673" cy="56618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6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问题定</a:t>
            </a:r>
            <a:r>
              <a:rPr sz="36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义</a:t>
            </a:r>
            <a:endParaRPr sz="36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757172" y="1607819"/>
            <a:ext cx="8677910" cy="4652010"/>
            <a:chOff x="1757172" y="1607819"/>
            <a:chExt cx="8677910" cy="4652010"/>
          </a:xfrm>
        </p:grpSpPr>
        <p:sp>
          <p:nvSpPr>
            <p:cNvPr id="4" name="object 4"/>
            <p:cNvSpPr/>
            <p:nvPr/>
          </p:nvSpPr>
          <p:spPr>
            <a:xfrm>
              <a:off x="1776222" y="2039111"/>
              <a:ext cx="8639810" cy="4030979"/>
            </a:xfrm>
            <a:custGeom>
              <a:avLst/>
              <a:gdLst/>
              <a:ahLst/>
              <a:cxnLst/>
              <a:rect l="l" t="t" r="r" b="b"/>
              <a:pathLst>
                <a:path w="8639810" h="4030979">
                  <a:moveTo>
                    <a:pt x="0" y="4030979"/>
                  </a:moveTo>
                  <a:lnTo>
                    <a:pt x="8639556" y="4030979"/>
                  </a:lnTo>
                  <a:lnTo>
                    <a:pt x="8639556" y="0"/>
                  </a:lnTo>
                  <a:lnTo>
                    <a:pt x="0" y="0"/>
                  </a:lnTo>
                  <a:lnTo>
                    <a:pt x="0" y="4030979"/>
                  </a:lnTo>
                  <a:close/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2029206" y="1607819"/>
              <a:ext cx="3302635" cy="431800"/>
            </a:xfrm>
            <a:custGeom>
              <a:avLst/>
              <a:gdLst/>
              <a:ahLst/>
              <a:cxnLst/>
              <a:rect l="l" t="t" r="r" b="b"/>
              <a:pathLst>
                <a:path w="3302635" h="431800">
                  <a:moveTo>
                    <a:pt x="3194685" y="0"/>
                  </a:moveTo>
                  <a:lnTo>
                    <a:pt x="107823" y="0"/>
                  </a:lnTo>
                  <a:lnTo>
                    <a:pt x="0" y="431291"/>
                  </a:lnTo>
                  <a:lnTo>
                    <a:pt x="3302507" y="431291"/>
                  </a:lnTo>
                  <a:lnTo>
                    <a:pt x="3194685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6692646" y="4245101"/>
              <a:ext cx="2543810" cy="2014855"/>
            </a:xfrm>
            <a:custGeom>
              <a:avLst/>
              <a:gdLst/>
              <a:ahLst/>
              <a:cxnLst/>
              <a:rect l="l" t="t" r="r" b="b"/>
              <a:pathLst>
                <a:path w="2543809" h="2014854">
                  <a:moveTo>
                    <a:pt x="198716" y="1687068"/>
                  </a:moveTo>
                  <a:lnTo>
                    <a:pt x="28244" y="1687068"/>
                  </a:lnTo>
                  <a:lnTo>
                    <a:pt x="28244" y="1698498"/>
                  </a:lnTo>
                  <a:lnTo>
                    <a:pt x="198716" y="1698498"/>
                  </a:lnTo>
                  <a:lnTo>
                    <a:pt x="198716" y="1687068"/>
                  </a:lnTo>
                  <a:close/>
                </a:path>
                <a:path w="2543809" h="2014854">
                  <a:moveTo>
                    <a:pt x="2543556" y="1634998"/>
                  </a:moveTo>
                  <a:lnTo>
                    <a:pt x="375666" y="1634998"/>
                  </a:lnTo>
                  <a:lnTo>
                    <a:pt x="375666" y="1687068"/>
                  </a:lnTo>
                  <a:lnTo>
                    <a:pt x="375666" y="1698498"/>
                  </a:lnTo>
                  <a:lnTo>
                    <a:pt x="211099" y="1698498"/>
                  </a:lnTo>
                  <a:lnTo>
                    <a:pt x="211099" y="1792478"/>
                  </a:lnTo>
                  <a:lnTo>
                    <a:pt x="375666" y="1792478"/>
                  </a:lnTo>
                  <a:lnTo>
                    <a:pt x="375666" y="2014728"/>
                  </a:lnTo>
                  <a:lnTo>
                    <a:pt x="2543556" y="2014728"/>
                  </a:lnTo>
                  <a:lnTo>
                    <a:pt x="2543556" y="1792478"/>
                  </a:lnTo>
                  <a:lnTo>
                    <a:pt x="2543556" y="1698498"/>
                  </a:lnTo>
                  <a:lnTo>
                    <a:pt x="2543556" y="1687068"/>
                  </a:lnTo>
                  <a:lnTo>
                    <a:pt x="2543556" y="1634998"/>
                  </a:lnTo>
                  <a:close/>
                </a:path>
                <a:path w="2543809" h="2014854">
                  <a:moveTo>
                    <a:pt x="2543556" y="0"/>
                  </a:moveTo>
                  <a:lnTo>
                    <a:pt x="375666" y="0"/>
                  </a:lnTo>
                  <a:lnTo>
                    <a:pt x="375666" y="222250"/>
                  </a:lnTo>
                  <a:lnTo>
                    <a:pt x="0" y="203962"/>
                  </a:lnTo>
                  <a:lnTo>
                    <a:pt x="375666" y="317500"/>
                  </a:lnTo>
                  <a:lnTo>
                    <a:pt x="375666" y="381000"/>
                  </a:lnTo>
                  <a:lnTo>
                    <a:pt x="2543556" y="381000"/>
                  </a:lnTo>
                  <a:lnTo>
                    <a:pt x="2543556" y="0"/>
                  </a:lnTo>
                  <a:close/>
                </a:path>
              </a:pathLst>
            </a:custGeom>
            <a:solidFill>
              <a:srgbClr val="0051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" name="object 7"/>
          <p:cNvSpPr txBox="1"/>
          <p:nvPr/>
        </p:nvSpPr>
        <p:spPr>
          <a:xfrm>
            <a:off x="679104" y="1675294"/>
            <a:ext cx="8846820" cy="457304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064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405765" algn="l"/>
                <a:tab pos="406400" algn="l"/>
              </a:tabLst>
            </a:pPr>
            <a:r>
              <a:rPr lang="zh-CN" altLang="en-US" sz="2400" spc="-10" dirty="0">
                <a:solidFill>
                  <a:srgbClr val="FFFFFF"/>
                </a:solidFill>
                <a:latin typeface="PMingLiU"/>
                <a:cs typeface="PMingLiU"/>
              </a:rPr>
              <a:t>              </a:t>
            </a:r>
            <a:r>
              <a:rPr sz="2400" spc="-10" dirty="0" err="1">
                <a:solidFill>
                  <a:srgbClr val="FFFFFF"/>
                </a:solidFill>
                <a:latin typeface="PMingLiU"/>
                <a:cs typeface="PMingLiU"/>
              </a:rPr>
              <a:t>最长公共子序列问题</a:t>
            </a:r>
            <a:endParaRPr sz="2400" dirty="0">
              <a:latin typeface="PMingLiU"/>
              <a:cs typeface="PMingLiU"/>
            </a:endParaRPr>
          </a:p>
          <a:p>
            <a:pPr marL="1229995">
              <a:lnSpc>
                <a:spcPct val="100000"/>
              </a:lnSpc>
              <a:spcBef>
                <a:spcPts val="805"/>
              </a:spcBef>
            </a:pPr>
            <a:r>
              <a:rPr sz="2200" b="1" dirty="0">
                <a:solidFill>
                  <a:srgbClr val="006FC0"/>
                </a:solidFill>
                <a:latin typeface="Times New Roman"/>
                <a:cs typeface="Times New Roman"/>
              </a:rPr>
              <a:t>Longest</a:t>
            </a:r>
            <a:r>
              <a:rPr sz="2200" b="1" spc="-35" dirty="0">
                <a:solidFill>
                  <a:srgbClr val="006FC0"/>
                </a:solidFill>
                <a:latin typeface="Times New Roman"/>
                <a:cs typeface="Times New Roman"/>
              </a:rPr>
              <a:t> </a:t>
            </a:r>
            <a:r>
              <a:rPr sz="2200" b="1" dirty="0">
                <a:solidFill>
                  <a:srgbClr val="006FC0"/>
                </a:solidFill>
                <a:latin typeface="Times New Roman"/>
                <a:cs typeface="Times New Roman"/>
              </a:rPr>
              <a:t>Common Subsequence</a:t>
            </a:r>
            <a:r>
              <a:rPr sz="2200" b="1" spc="-20" dirty="0">
                <a:solidFill>
                  <a:srgbClr val="006FC0"/>
                </a:solidFill>
                <a:latin typeface="Times New Roman"/>
                <a:cs typeface="Times New Roman"/>
              </a:rPr>
              <a:t> </a:t>
            </a:r>
            <a:r>
              <a:rPr sz="2200" b="1" spc="-10" dirty="0">
                <a:solidFill>
                  <a:srgbClr val="006FC0"/>
                </a:solidFill>
                <a:latin typeface="Times New Roman"/>
                <a:cs typeface="Times New Roman"/>
              </a:rPr>
              <a:t>Problem</a:t>
            </a:r>
            <a:endParaRPr sz="2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900" dirty="0">
              <a:latin typeface="Times New Roman"/>
              <a:cs typeface="Times New Roman"/>
            </a:endParaRPr>
          </a:p>
          <a:p>
            <a:pPr marL="1229995">
              <a:lnSpc>
                <a:spcPct val="100000"/>
              </a:lnSpc>
            </a:pPr>
            <a:r>
              <a:rPr sz="2000" spc="-20" dirty="0" err="1">
                <a:solidFill>
                  <a:srgbClr val="006FC0"/>
                </a:solidFill>
                <a:latin typeface="PMingLiU"/>
                <a:cs typeface="PMingLiU"/>
              </a:rPr>
              <a:t>输</a:t>
            </a:r>
            <a:r>
              <a:rPr sz="2000" spc="-50" dirty="0" err="1">
                <a:solidFill>
                  <a:srgbClr val="006FC0"/>
                </a:solidFill>
                <a:latin typeface="PMingLiU"/>
                <a:cs typeface="PMingLiU"/>
              </a:rPr>
              <a:t>入</a:t>
            </a:r>
            <a:endParaRPr sz="2000" dirty="0">
              <a:latin typeface="PMingLiU"/>
              <a:cs typeface="PMingLiU"/>
            </a:endParaRPr>
          </a:p>
          <a:p>
            <a:pPr marL="1515745" lvl="1" indent="-286385">
              <a:lnSpc>
                <a:spcPts val="2380"/>
              </a:lnSpc>
              <a:spcBef>
                <a:spcPts val="40"/>
              </a:spcBef>
              <a:buFont typeface="Arial"/>
              <a:buChar char="•"/>
              <a:tabLst>
                <a:tab pos="1515745" algn="l"/>
                <a:tab pos="1516380" algn="l"/>
              </a:tabLst>
            </a:pPr>
            <a:r>
              <a:rPr sz="2000" spc="-20" dirty="0" err="1">
                <a:latin typeface="PMingLiU"/>
                <a:cs typeface="PMingLiU"/>
              </a:rPr>
              <a:t>序列</a:t>
            </a:r>
            <a:r>
              <a:rPr sz="2000" dirty="0">
                <a:latin typeface="Cambria Math"/>
                <a:cs typeface="Cambria Math"/>
              </a:rPr>
              <a:t>𝑿</a:t>
            </a:r>
            <a:r>
              <a:rPr sz="2000" spc="60" dirty="0">
                <a:latin typeface="Cambria Math"/>
                <a:cs typeface="Cambria Math"/>
              </a:rPr>
              <a:t> =&lt; </a:t>
            </a:r>
            <a:r>
              <a:rPr sz="2000" dirty="0">
                <a:latin typeface="Cambria Math"/>
                <a:cs typeface="Cambria Math"/>
              </a:rPr>
              <a:t>𝒙</a:t>
            </a:r>
            <a:r>
              <a:rPr sz="2175" baseline="-15325" dirty="0">
                <a:latin typeface="Cambria Math"/>
                <a:cs typeface="Cambria Math"/>
              </a:rPr>
              <a:t>𝟏</a:t>
            </a:r>
            <a:r>
              <a:rPr sz="2000" spc="-50" dirty="0">
                <a:latin typeface="Cambria Math"/>
                <a:cs typeface="Cambria Math"/>
              </a:rPr>
              <a:t>, </a:t>
            </a:r>
            <a:r>
              <a:rPr sz="2000" dirty="0">
                <a:latin typeface="Cambria Math"/>
                <a:cs typeface="Cambria Math"/>
              </a:rPr>
              <a:t>𝒙</a:t>
            </a:r>
            <a:r>
              <a:rPr sz="2175" baseline="-15325" dirty="0">
                <a:latin typeface="Cambria Math"/>
                <a:cs typeface="Cambria Math"/>
              </a:rPr>
              <a:t>𝟐</a:t>
            </a:r>
            <a:r>
              <a:rPr sz="2000" spc="-60" dirty="0">
                <a:latin typeface="Cambria Math"/>
                <a:cs typeface="Cambria Math"/>
              </a:rPr>
              <a:t>, … , </a:t>
            </a:r>
            <a:r>
              <a:rPr sz="2000" dirty="0">
                <a:latin typeface="Cambria Math"/>
                <a:cs typeface="Cambria Math"/>
              </a:rPr>
              <a:t>𝒙</a:t>
            </a:r>
            <a:r>
              <a:rPr sz="2175" baseline="-15325" dirty="0">
                <a:latin typeface="Cambria Math"/>
                <a:cs typeface="Cambria Math"/>
              </a:rPr>
              <a:t>𝒏</a:t>
            </a:r>
            <a:r>
              <a:rPr sz="2175" spc="502" baseline="-15325" dirty="0">
                <a:latin typeface="Cambria Math"/>
                <a:cs typeface="Cambria Math"/>
              </a:rPr>
              <a:t> </a:t>
            </a:r>
            <a:r>
              <a:rPr sz="2000" spc="-15" dirty="0">
                <a:latin typeface="Cambria Math"/>
                <a:cs typeface="Cambria Math"/>
              </a:rPr>
              <a:t>&gt;</a:t>
            </a:r>
            <a:r>
              <a:rPr sz="2000" spc="-20" dirty="0" err="1">
                <a:latin typeface="PMingLiU"/>
                <a:cs typeface="PMingLiU"/>
              </a:rPr>
              <a:t>和序列</a:t>
            </a:r>
            <a:r>
              <a:rPr sz="2000" dirty="0">
                <a:latin typeface="Cambria Math"/>
                <a:cs typeface="Cambria Math"/>
              </a:rPr>
              <a:t>𝒀</a:t>
            </a:r>
            <a:r>
              <a:rPr sz="2000" spc="60" dirty="0">
                <a:latin typeface="Cambria Math"/>
                <a:cs typeface="Cambria Math"/>
              </a:rPr>
              <a:t> =&lt; </a:t>
            </a:r>
            <a:r>
              <a:rPr sz="2000" dirty="0">
                <a:latin typeface="Cambria Math"/>
                <a:cs typeface="Cambria Math"/>
              </a:rPr>
              <a:t>𝒚</a:t>
            </a:r>
            <a:r>
              <a:rPr sz="2175" baseline="-15325" dirty="0">
                <a:latin typeface="Cambria Math"/>
                <a:cs typeface="Cambria Math"/>
              </a:rPr>
              <a:t>𝟏</a:t>
            </a:r>
            <a:r>
              <a:rPr sz="2000" spc="-50" dirty="0">
                <a:latin typeface="Cambria Math"/>
                <a:cs typeface="Cambria Math"/>
              </a:rPr>
              <a:t>, </a:t>
            </a:r>
            <a:r>
              <a:rPr sz="2000" dirty="0">
                <a:latin typeface="Cambria Math"/>
                <a:cs typeface="Cambria Math"/>
              </a:rPr>
              <a:t>𝒚</a:t>
            </a:r>
            <a:r>
              <a:rPr sz="2175" baseline="-15325" dirty="0">
                <a:latin typeface="Cambria Math"/>
                <a:cs typeface="Cambria Math"/>
              </a:rPr>
              <a:t>𝟐</a:t>
            </a:r>
            <a:r>
              <a:rPr sz="2000" spc="-60" dirty="0">
                <a:latin typeface="Cambria Math"/>
                <a:cs typeface="Cambria Math"/>
              </a:rPr>
              <a:t>, … , </a:t>
            </a:r>
            <a:r>
              <a:rPr sz="2000" dirty="0">
                <a:latin typeface="Cambria Math"/>
                <a:cs typeface="Cambria Math"/>
              </a:rPr>
              <a:t>𝒚</a:t>
            </a:r>
            <a:r>
              <a:rPr sz="2175" baseline="-15325" dirty="0">
                <a:latin typeface="Cambria Math"/>
                <a:cs typeface="Cambria Math"/>
              </a:rPr>
              <a:t>𝒎</a:t>
            </a:r>
            <a:r>
              <a:rPr sz="2175" spc="502" baseline="-15325" dirty="0">
                <a:latin typeface="Cambria Math"/>
                <a:cs typeface="Cambria Math"/>
              </a:rPr>
              <a:t> </a:t>
            </a:r>
            <a:r>
              <a:rPr sz="2000" spc="-50" dirty="0">
                <a:latin typeface="Cambria Math"/>
                <a:cs typeface="Cambria Math"/>
              </a:rPr>
              <a:t>&gt;</a:t>
            </a:r>
            <a:endParaRPr sz="2000" dirty="0">
              <a:latin typeface="Cambria Math"/>
              <a:cs typeface="Cambria Math"/>
            </a:endParaRPr>
          </a:p>
          <a:p>
            <a:pPr marL="1229995">
              <a:lnSpc>
                <a:spcPts val="2380"/>
              </a:lnSpc>
            </a:pPr>
            <a:r>
              <a:rPr sz="2000" spc="-20" dirty="0" err="1">
                <a:solidFill>
                  <a:srgbClr val="006FC0"/>
                </a:solidFill>
                <a:latin typeface="PMingLiU"/>
                <a:cs typeface="PMingLiU"/>
              </a:rPr>
              <a:t>输</a:t>
            </a:r>
            <a:r>
              <a:rPr sz="2000" spc="-50" dirty="0" err="1">
                <a:solidFill>
                  <a:srgbClr val="006FC0"/>
                </a:solidFill>
                <a:latin typeface="PMingLiU"/>
                <a:cs typeface="PMingLiU"/>
              </a:rPr>
              <a:t>出</a:t>
            </a:r>
            <a:endParaRPr sz="2000" dirty="0">
              <a:latin typeface="PMingLiU"/>
              <a:cs typeface="PMingLiU"/>
            </a:endParaRPr>
          </a:p>
          <a:p>
            <a:pPr marL="1515745" lvl="1" indent="-286385">
              <a:lnSpc>
                <a:spcPct val="100000"/>
              </a:lnSpc>
              <a:spcBef>
                <a:spcPts val="70"/>
              </a:spcBef>
              <a:buFont typeface="Arial"/>
              <a:buChar char="•"/>
              <a:tabLst>
                <a:tab pos="1515745" algn="l"/>
                <a:tab pos="1516380" algn="l"/>
              </a:tabLst>
            </a:pPr>
            <a:r>
              <a:rPr sz="2000" spc="-20" dirty="0" err="1">
                <a:latin typeface="PMingLiU"/>
                <a:cs typeface="PMingLiU"/>
              </a:rPr>
              <a:t>求解一个公共子序列</a:t>
            </a:r>
            <a:r>
              <a:rPr sz="2000" dirty="0">
                <a:latin typeface="Cambria Math"/>
                <a:cs typeface="Cambria Math"/>
              </a:rPr>
              <a:t>𝒁</a:t>
            </a:r>
            <a:r>
              <a:rPr sz="2000" spc="65" dirty="0">
                <a:latin typeface="Cambria Math"/>
                <a:cs typeface="Cambria Math"/>
              </a:rPr>
              <a:t> =&lt; </a:t>
            </a:r>
            <a:r>
              <a:rPr sz="2000" dirty="0">
                <a:latin typeface="Cambria Math"/>
                <a:cs typeface="Cambria Math"/>
              </a:rPr>
              <a:t>𝒛</a:t>
            </a:r>
            <a:r>
              <a:rPr sz="2175" baseline="-15325" dirty="0">
                <a:latin typeface="Cambria Math"/>
                <a:cs typeface="Cambria Math"/>
              </a:rPr>
              <a:t>𝟏</a:t>
            </a:r>
            <a:r>
              <a:rPr sz="2000" spc="-45" dirty="0">
                <a:latin typeface="Cambria Math"/>
                <a:cs typeface="Cambria Math"/>
              </a:rPr>
              <a:t>, </a:t>
            </a:r>
            <a:r>
              <a:rPr sz="2000" dirty="0">
                <a:latin typeface="Cambria Math"/>
                <a:cs typeface="Cambria Math"/>
              </a:rPr>
              <a:t>𝒛</a:t>
            </a:r>
            <a:r>
              <a:rPr sz="2175" baseline="-15325" dirty="0">
                <a:latin typeface="Cambria Math"/>
                <a:cs typeface="Cambria Math"/>
              </a:rPr>
              <a:t>𝟐</a:t>
            </a:r>
            <a:r>
              <a:rPr sz="2000" spc="-60" dirty="0">
                <a:latin typeface="Cambria Math"/>
                <a:cs typeface="Cambria Math"/>
              </a:rPr>
              <a:t>, … , </a:t>
            </a:r>
            <a:r>
              <a:rPr sz="2000" dirty="0">
                <a:latin typeface="Cambria Math"/>
                <a:cs typeface="Cambria Math"/>
              </a:rPr>
              <a:t>𝒛</a:t>
            </a:r>
            <a:r>
              <a:rPr sz="2175" baseline="-15325" dirty="0">
                <a:latin typeface="Cambria Math"/>
                <a:cs typeface="Cambria Math"/>
              </a:rPr>
              <a:t>𝒍</a:t>
            </a:r>
            <a:r>
              <a:rPr sz="2175" spc="509" baseline="-15325" dirty="0">
                <a:latin typeface="Cambria Math"/>
                <a:cs typeface="Cambria Math"/>
              </a:rPr>
              <a:t> </a:t>
            </a:r>
            <a:r>
              <a:rPr sz="2000" spc="-25" dirty="0">
                <a:latin typeface="Cambria Math"/>
                <a:cs typeface="Cambria Math"/>
              </a:rPr>
              <a:t>&gt;</a:t>
            </a:r>
            <a:r>
              <a:rPr sz="2000" spc="-25" dirty="0">
                <a:latin typeface="PMingLiU"/>
                <a:cs typeface="PMingLiU"/>
              </a:rPr>
              <a:t>，</a:t>
            </a:r>
            <a:r>
              <a:rPr sz="2000" spc="-50" dirty="0" err="1">
                <a:latin typeface="PMingLiU"/>
                <a:cs typeface="PMingLiU"/>
              </a:rPr>
              <a:t>令</a:t>
            </a:r>
            <a:endParaRPr sz="2000" dirty="0">
              <a:latin typeface="PMingLiU"/>
              <a:cs typeface="PMingLiU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850" dirty="0">
              <a:latin typeface="PMingLiU"/>
              <a:cs typeface="PMingLiU"/>
            </a:endParaRPr>
          </a:p>
          <a:p>
            <a:pPr marL="5024755">
              <a:lnSpc>
                <a:spcPct val="100000"/>
              </a:lnSpc>
              <a:tabLst>
                <a:tab pos="7007225" algn="l"/>
              </a:tabLst>
            </a:pPr>
            <a:r>
              <a:rPr sz="3000" spc="-30" baseline="2777" dirty="0">
                <a:latin typeface="Cambria Math"/>
                <a:cs typeface="Cambria Math"/>
              </a:rPr>
              <a:t>𝐦𝐚𝐱</a:t>
            </a:r>
            <a:r>
              <a:rPr sz="3000" spc="-127" baseline="2777" dirty="0">
                <a:latin typeface="Cambria Math"/>
                <a:cs typeface="Cambria Math"/>
              </a:rPr>
              <a:t> </a:t>
            </a:r>
            <a:r>
              <a:rPr sz="3000" spc="-37" baseline="2777" dirty="0">
                <a:latin typeface="Cambria Math"/>
                <a:cs typeface="Cambria Math"/>
              </a:rPr>
              <a:t>|𝒁|</a:t>
            </a:r>
            <a:r>
              <a:rPr sz="3000" baseline="2777" dirty="0">
                <a:latin typeface="Cambria Math"/>
                <a:cs typeface="Cambria Math"/>
              </a:rPr>
              <a:t>	</a:t>
            </a:r>
            <a:r>
              <a:rPr sz="2000" spc="-20" dirty="0" err="1">
                <a:solidFill>
                  <a:srgbClr val="FFFFFF"/>
                </a:solidFill>
                <a:latin typeface="PMingLiU"/>
                <a:cs typeface="PMingLiU"/>
              </a:rPr>
              <a:t>优化目</a:t>
            </a:r>
            <a:r>
              <a:rPr sz="2000" spc="-50" dirty="0" err="1">
                <a:solidFill>
                  <a:srgbClr val="FFFFFF"/>
                </a:solidFill>
                <a:latin typeface="PMingLiU"/>
                <a:cs typeface="PMingLiU"/>
              </a:rPr>
              <a:t>标</a:t>
            </a:r>
            <a:endParaRPr sz="2000" dirty="0">
              <a:latin typeface="PMingLiU"/>
              <a:cs typeface="PMingLiU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3150" dirty="0">
              <a:latin typeface="PMingLiU"/>
              <a:cs typeface="PMingLiU"/>
            </a:endParaRPr>
          </a:p>
          <a:p>
            <a:pPr marL="2919095" marR="55880" indent="-786765">
              <a:lnSpc>
                <a:spcPct val="110200"/>
              </a:lnSpc>
            </a:pPr>
            <a:r>
              <a:rPr sz="2000" spc="-10" dirty="0">
                <a:latin typeface="Cambria Math"/>
                <a:cs typeface="Cambria Math"/>
              </a:rPr>
              <a:t>𝒔.</a:t>
            </a:r>
            <a:r>
              <a:rPr sz="2000" spc="-110" dirty="0">
                <a:latin typeface="Cambria Math"/>
                <a:cs typeface="Cambria Math"/>
              </a:rPr>
              <a:t> </a:t>
            </a:r>
            <a:r>
              <a:rPr sz="2000" spc="-10" dirty="0">
                <a:latin typeface="Cambria Math"/>
                <a:cs typeface="Cambria Math"/>
              </a:rPr>
              <a:t>𝒕.</a:t>
            </a:r>
            <a:r>
              <a:rPr sz="2000" spc="-105" dirty="0">
                <a:latin typeface="Cambria Math"/>
                <a:cs typeface="Cambria Math"/>
              </a:rPr>
              <a:t> </a:t>
            </a:r>
            <a:r>
              <a:rPr sz="2000" dirty="0">
                <a:latin typeface="Cambria Math"/>
                <a:cs typeface="Cambria Math"/>
              </a:rPr>
              <a:t>&lt;</a:t>
            </a:r>
            <a:r>
              <a:rPr sz="2000" spc="125" dirty="0">
                <a:latin typeface="Cambria Math"/>
                <a:cs typeface="Cambria Math"/>
              </a:rPr>
              <a:t> </a:t>
            </a:r>
            <a:r>
              <a:rPr sz="2000" dirty="0">
                <a:latin typeface="Cambria Math"/>
                <a:cs typeface="Cambria Math"/>
              </a:rPr>
              <a:t>𝒛</a:t>
            </a:r>
            <a:r>
              <a:rPr sz="2175" baseline="-15325" dirty="0">
                <a:latin typeface="Cambria Math"/>
                <a:cs typeface="Cambria Math"/>
              </a:rPr>
              <a:t>𝟏</a:t>
            </a:r>
            <a:r>
              <a:rPr sz="2000" dirty="0">
                <a:latin typeface="Cambria Math"/>
                <a:cs typeface="Cambria Math"/>
              </a:rPr>
              <a:t>,</a:t>
            </a:r>
            <a:r>
              <a:rPr sz="2000" spc="-105" dirty="0">
                <a:latin typeface="Cambria Math"/>
                <a:cs typeface="Cambria Math"/>
              </a:rPr>
              <a:t> </a:t>
            </a:r>
            <a:r>
              <a:rPr sz="2000" dirty="0">
                <a:latin typeface="Cambria Math"/>
                <a:cs typeface="Cambria Math"/>
              </a:rPr>
              <a:t>𝒛</a:t>
            </a:r>
            <a:r>
              <a:rPr sz="2175" baseline="-15325" dirty="0">
                <a:latin typeface="Cambria Math"/>
                <a:cs typeface="Cambria Math"/>
              </a:rPr>
              <a:t>𝟐</a:t>
            </a:r>
            <a:r>
              <a:rPr sz="2000" dirty="0">
                <a:latin typeface="Cambria Math"/>
                <a:cs typeface="Cambria Math"/>
              </a:rPr>
              <a:t>,</a:t>
            </a:r>
            <a:r>
              <a:rPr sz="2000" spc="-100" dirty="0">
                <a:latin typeface="Cambria Math"/>
                <a:cs typeface="Cambria Math"/>
              </a:rPr>
              <a:t> </a:t>
            </a:r>
            <a:r>
              <a:rPr sz="2000" spc="-25" dirty="0">
                <a:latin typeface="Cambria Math"/>
                <a:cs typeface="Cambria Math"/>
              </a:rPr>
              <a:t>…</a:t>
            </a:r>
            <a:r>
              <a:rPr sz="2000" spc="-110" dirty="0">
                <a:latin typeface="Cambria Math"/>
                <a:cs typeface="Cambria Math"/>
              </a:rPr>
              <a:t> </a:t>
            </a:r>
            <a:r>
              <a:rPr sz="2000" dirty="0">
                <a:latin typeface="Cambria Math"/>
                <a:cs typeface="Cambria Math"/>
              </a:rPr>
              <a:t>,</a:t>
            </a:r>
            <a:r>
              <a:rPr sz="2000" spc="-105" dirty="0">
                <a:latin typeface="Cambria Math"/>
                <a:cs typeface="Cambria Math"/>
              </a:rPr>
              <a:t> </a:t>
            </a:r>
            <a:r>
              <a:rPr sz="2000" dirty="0">
                <a:latin typeface="Cambria Math"/>
                <a:cs typeface="Cambria Math"/>
              </a:rPr>
              <a:t>𝒛</a:t>
            </a:r>
            <a:r>
              <a:rPr sz="2175" baseline="-15325" dirty="0">
                <a:latin typeface="Cambria Math"/>
                <a:cs typeface="Cambria Math"/>
              </a:rPr>
              <a:t>𝒍</a:t>
            </a:r>
            <a:r>
              <a:rPr sz="2175" spc="494" baseline="-15325" dirty="0">
                <a:latin typeface="Cambria Math"/>
                <a:cs typeface="Cambria Math"/>
              </a:rPr>
              <a:t> </a:t>
            </a:r>
            <a:r>
              <a:rPr sz="2000" dirty="0">
                <a:latin typeface="Cambria Math"/>
                <a:cs typeface="Cambria Math"/>
              </a:rPr>
              <a:t>&gt;</a:t>
            </a:r>
            <a:r>
              <a:rPr sz="2000" spc="5" dirty="0">
                <a:latin typeface="Cambria Math"/>
                <a:cs typeface="Cambria Math"/>
              </a:rPr>
              <a:t> </a:t>
            </a:r>
            <a:r>
              <a:rPr sz="2000" dirty="0">
                <a:latin typeface="Cambria Math"/>
                <a:cs typeface="Cambria Math"/>
              </a:rPr>
              <a:t>=&lt;</a:t>
            </a:r>
            <a:r>
              <a:rPr sz="2000" spc="120" dirty="0">
                <a:latin typeface="Cambria Math"/>
                <a:cs typeface="Cambria Math"/>
              </a:rPr>
              <a:t> </a:t>
            </a:r>
            <a:r>
              <a:rPr sz="2000" spc="-10" dirty="0">
                <a:latin typeface="Cambria Math"/>
                <a:cs typeface="Cambria Math"/>
              </a:rPr>
              <a:t>𝒙</a:t>
            </a:r>
            <a:r>
              <a:rPr sz="2175" spc="-15" baseline="-15325" dirty="0">
                <a:latin typeface="Cambria Math"/>
                <a:cs typeface="Cambria Math"/>
              </a:rPr>
              <a:t>𝒊</a:t>
            </a:r>
            <a:r>
              <a:rPr sz="1800" spc="-15" baseline="-32407" dirty="0">
                <a:latin typeface="Cambria Math"/>
                <a:cs typeface="Cambria Math"/>
              </a:rPr>
              <a:t>𝟏</a:t>
            </a:r>
            <a:r>
              <a:rPr sz="1800" spc="-187" baseline="-32407" dirty="0">
                <a:latin typeface="Cambria Math"/>
                <a:cs typeface="Cambria Math"/>
              </a:rPr>
              <a:t> </a:t>
            </a:r>
            <a:r>
              <a:rPr sz="2000" spc="-10" dirty="0">
                <a:latin typeface="Cambria Math"/>
                <a:cs typeface="Cambria Math"/>
              </a:rPr>
              <a:t>,</a:t>
            </a:r>
            <a:r>
              <a:rPr sz="2000" spc="-110" dirty="0">
                <a:latin typeface="Cambria Math"/>
                <a:cs typeface="Cambria Math"/>
              </a:rPr>
              <a:t> </a:t>
            </a:r>
            <a:r>
              <a:rPr sz="2000" spc="-10" dirty="0">
                <a:latin typeface="Cambria Math"/>
                <a:cs typeface="Cambria Math"/>
              </a:rPr>
              <a:t>𝒙</a:t>
            </a:r>
            <a:r>
              <a:rPr sz="2175" spc="-15" baseline="-15325" dirty="0">
                <a:latin typeface="Cambria Math"/>
                <a:cs typeface="Cambria Math"/>
              </a:rPr>
              <a:t>𝒊</a:t>
            </a:r>
            <a:r>
              <a:rPr sz="1800" spc="-15" baseline="-32407" dirty="0">
                <a:latin typeface="Cambria Math"/>
                <a:cs typeface="Cambria Math"/>
              </a:rPr>
              <a:t>𝟐</a:t>
            </a:r>
            <a:r>
              <a:rPr sz="1800" spc="-187" baseline="-32407" dirty="0">
                <a:latin typeface="Cambria Math"/>
                <a:cs typeface="Cambria Math"/>
              </a:rPr>
              <a:t> </a:t>
            </a:r>
            <a:r>
              <a:rPr sz="2000" spc="-10" dirty="0">
                <a:latin typeface="Cambria Math"/>
                <a:cs typeface="Cambria Math"/>
              </a:rPr>
              <a:t>,</a:t>
            </a:r>
            <a:r>
              <a:rPr sz="2000" spc="-105" dirty="0">
                <a:latin typeface="Cambria Math"/>
                <a:cs typeface="Cambria Math"/>
              </a:rPr>
              <a:t> </a:t>
            </a:r>
            <a:r>
              <a:rPr sz="2000" spc="-25" dirty="0">
                <a:latin typeface="Cambria Math"/>
                <a:cs typeface="Cambria Math"/>
              </a:rPr>
              <a:t>…</a:t>
            </a:r>
            <a:r>
              <a:rPr sz="2000" spc="-110" dirty="0">
                <a:latin typeface="Cambria Math"/>
                <a:cs typeface="Cambria Math"/>
              </a:rPr>
              <a:t> </a:t>
            </a:r>
            <a:r>
              <a:rPr sz="2000" dirty="0">
                <a:latin typeface="Cambria Math"/>
                <a:cs typeface="Cambria Math"/>
              </a:rPr>
              <a:t>,</a:t>
            </a:r>
            <a:r>
              <a:rPr sz="2000" spc="-105" dirty="0">
                <a:latin typeface="Cambria Math"/>
                <a:cs typeface="Cambria Math"/>
              </a:rPr>
              <a:t> </a:t>
            </a:r>
            <a:r>
              <a:rPr sz="2000" dirty="0">
                <a:latin typeface="Cambria Math"/>
                <a:cs typeface="Cambria Math"/>
              </a:rPr>
              <a:t>𝒙</a:t>
            </a:r>
            <a:r>
              <a:rPr sz="2175" baseline="-15325" dirty="0">
                <a:latin typeface="Cambria Math"/>
                <a:cs typeface="Cambria Math"/>
              </a:rPr>
              <a:t>𝒊</a:t>
            </a:r>
            <a:r>
              <a:rPr sz="1800" baseline="-32407" dirty="0">
                <a:latin typeface="Cambria Math"/>
                <a:cs typeface="Cambria Math"/>
              </a:rPr>
              <a:t>𝒍</a:t>
            </a:r>
            <a:r>
              <a:rPr sz="1800" spc="652" baseline="-32407" dirty="0">
                <a:latin typeface="Cambria Math"/>
                <a:cs typeface="Cambria Math"/>
              </a:rPr>
              <a:t> </a:t>
            </a:r>
            <a:r>
              <a:rPr sz="2000" dirty="0">
                <a:latin typeface="Cambria Math"/>
                <a:cs typeface="Cambria Math"/>
              </a:rPr>
              <a:t>&gt;</a:t>
            </a:r>
            <a:r>
              <a:rPr sz="2000" spc="5" dirty="0">
                <a:latin typeface="Cambria Math"/>
                <a:cs typeface="Cambria Math"/>
              </a:rPr>
              <a:t> </a:t>
            </a:r>
            <a:r>
              <a:rPr sz="2000" dirty="0">
                <a:latin typeface="Cambria Math"/>
                <a:cs typeface="Cambria Math"/>
              </a:rPr>
              <a:t>=&lt;</a:t>
            </a:r>
            <a:r>
              <a:rPr sz="2000" spc="125" dirty="0">
                <a:latin typeface="Cambria Math"/>
                <a:cs typeface="Cambria Math"/>
              </a:rPr>
              <a:t> </a:t>
            </a:r>
            <a:r>
              <a:rPr sz="2000" spc="-10" dirty="0">
                <a:latin typeface="Cambria Math"/>
                <a:cs typeface="Cambria Math"/>
              </a:rPr>
              <a:t>𝒚</a:t>
            </a:r>
            <a:r>
              <a:rPr sz="2175" spc="-15" baseline="-15325" dirty="0">
                <a:latin typeface="Cambria Math"/>
                <a:cs typeface="Cambria Math"/>
              </a:rPr>
              <a:t>𝒋</a:t>
            </a:r>
            <a:r>
              <a:rPr sz="1800" spc="-15" baseline="-32407" dirty="0">
                <a:latin typeface="Cambria Math"/>
                <a:cs typeface="Cambria Math"/>
              </a:rPr>
              <a:t>𝟏</a:t>
            </a:r>
            <a:r>
              <a:rPr sz="1800" spc="-187" baseline="-32407" dirty="0">
                <a:latin typeface="Cambria Math"/>
                <a:cs typeface="Cambria Math"/>
              </a:rPr>
              <a:t> </a:t>
            </a:r>
            <a:r>
              <a:rPr sz="2000" spc="-10" dirty="0">
                <a:latin typeface="Cambria Math"/>
                <a:cs typeface="Cambria Math"/>
              </a:rPr>
              <a:t>,</a:t>
            </a:r>
            <a:r>
              <a:rPr sz="2000" spc="-110" dirty="0">
                <a:latin typeface="Cambria Math"/>
                <a:cs typeface="Cambria Math"/>
              </a:rPr>
              <a:t> </a:t>
            </a:r>
            <a:r>
              <a:rPr sz="2000" spc="-10" dirty="0">
                <a:latin typeface="Cambria Math"/>
                <a:cs typeface="Cambria Math"/>
              </a:rPr>
              <a:t>𝒚</a:t>
            </a:r>
            <a:r>
              <a:rPr sz="2175" spc="-15" baseline="-15325" dirty="0">
                <a:latin typeface="Cambria Math"/>
                <a:cs typeface="Cambria Math"/>
              </a:rPr>
              <a:t>𝒋</a:t>
            </a:r>
            <a:r>
              <a:rPr sz="1800" spc="-15" baseline="-32407" dirty="0">
                <a:latin typeface="Cambria Math"/>
                <a:cs typeface="Cambria Math"/>
              </a:rPr>
              <a:t>𝟐</a:t>
            </a:r>
            <a:r>
              <a:rPr sz="1800" spc="-179" baseline="-32407" dirty="0">
                <a:latin typeface="Cambria Math"/>
                <a:cs typeface="Cambria Math"/>
              </a:rPr>
              <a:t> </a:t>
            </a:r>
            <a:r>
              <a:rPr sz="2000" spc="-10" dirty="0">
                <a:latin typeface="Cambria Math"/>
                <a:cs typeface="Cambria Math"/>
              </a:rPr>
              <a:t>,</a:t>
            </a:r>
            <a:r>
              <a:rPr sz="2000" spc="-114" dirty="0">
                <a:latin typeface="Cambria Math"/>
                <a:cs typeface="Cambria Math"/>
              </a:rPr>
              <a:t> </a:t>
            </a:r>
            <a:r>
              <a:rPr sz="2000" spc="-20" dirty="0">
                <a:latin typeface="Cambria Math"/>
                <a:cs typeface="Cambria Math"/>
              </a:rPr>
              <a:t>…</a:t>
            </a:r>
            <a:r>
              <a:rPr sz="2000" spc="-105" dirty="0">
                <a:latin typeface="Cambria Math"/>
                <a:cs typeface="Cambria Math"/>
              </a:rPr>
              <a:t> </a:t>
            </a:r>
            <a:r>
              <a:rPr sz="2000" spc="-10" dirty="0">
                <a:latin typeface="Cambria Math"/>
                <a:cs typeface="Cambria Math"/>
              </a:rPr>
              <a:t>,</a:t>
            </a:r>
            <a:r>
              <a:rPr sz="2000" spc="-105" dirty="0">
                <a:latin typeface="Cambria Math"/>
                <a:cs typeface="Cambria Math"/>
              </a:rPr>
              <a:t> </a:t>
            </a:r>
            <a:r>
              <a:rPr sz="2000" dirty="0">
                <a:latin typeface="Cambria Math"/>
                <a:cs typeface="Cambria Math"/>
              </a:rPr>
              <a:t>𝒚</a:t>
            </a:r>
            <a:r>
              <a:rPr sz="2175" baseline="-15325" dirty="0">
                <a:latin typeface="Cambria Math"/>
                <a:cs typeface="Cambria Math"/>
              </a:rPr>
              <a:t>𝒋</a:t>
            </a:r>
            <a:r>
              <a:rPr sz="1800" baseline="-32407" dirty="0">
                <a:latin typeface="Cambria Math"/>
                <a:cs typeface="Cambria Math"/>
              </a:rPr>
              <a:t>𝒍</a:t>
            </a:r>
            <a:r>
              <a:rPr sz="1800" spc="652" baseline="-32407" dirty="0">
                <a:latin typeface="Cambria Math"/>
                <a:cs typeface="Cambria Math"/>
              </a:rPr>
              <a:t> </a:t>
            </a:r>
            <a:r>
              <a:rPr sz="2000" spc="-50" dirty="0">
                <a:latin typeface="Cambria Math"/>
                <a:cs typeface="Cambria Math"/>
              </a:rPr>
              <a:t>&gt; </a:t>
            </a:r>
            <a:r>
              <a:rPr sz="2000" dirty="0">
                <a:latin typeface="Cambria Math"/>
                <a:cs typeface="Cambria Math"/>
              </a:rPr>
              <a:t>(𝟏</a:t>
            </a:r>
            <a:r>
              <a:rPr sz="2000" spc="110" dirty="0">
                <a:latin typeface="Cambria Math"/>
                <a:cs typeface="Cambria Math"/>
              </a:rPr>
              <a:t> </a:t>
            </a:r>
            <a:r>
              <a:rPr sz="2000" dirty="0">
                <a:latin typeface="Cambria Math"/>
                <a:cs typeface="Cambria Math"/>
              </a:rPr>
              <a:t>≤</a:t>
            </a:r>
            <a:r>
              <a:rPr sz="2000" spc="114" dirty="0">
                <a:latin typeface="Cambria Math"/>
                <a:cs typeface="Cambria Math"/>
              </a:rPr>
              <a:t> </a:t>
            </a:r>
            <a:r>
              <a:rPr sz="2000" dirty="0">
                <a:latin typeface="Cambria Math"/>
                <a:cs typeface="Cambria Math"/>
              </a:rPr>
              <a:t>𝒊</a:t>
            </a:r>
            <a:r>
              <a:rPr sz="2175" baseline="-15325" dirty="0">
                <a:latin typeface="Cambria Math"/>
                <a:cs typeface="Cambria Math"/>
              </a:rPr>
              <a:t>𝟏</a:t>
            </a:r>
            <a:r>
              <a:rPr sz="2175" spc="480" baseline="-15325" dirty="0">
                <a:latin typeface="Cambria Math"/>
                <a:cs typeface="Cambria Math"/>
              </a:rPr>
              <a:t> </a:t>
            </a:r>
            <a:r>
              <a:rPr sz="2000" dirty="0">
                <a:latin typeface="Cambria Math"/>
                <a:cs typeface="Cambria Math"/>
              </a:rPr>
              <a:t>&lt;</a:t>
            </a:r>
            <a:r>
              <a:rPr sz="2000" spc="114" dirty="0">
                <a:latin typeface="Cambria Math"/>
                <a:cs typeface="Cambria Math"/>
              </a:rPr>
              <a:t> </a:t>
            </a:r>
            <a:r>
              <a:rPr sz="2000" dirty="0">
                <a:latin typeface="Cambria Math"/>
                <a:cs typeface="Cambria Math"/>
              </a:rPr>
              <a:t>𝒊</a:t>
            </a:r>
            <a:r>
              <a:rPr sz="2175" baseline="-15325" dirty="0">
                <a:latin typeface="Cambria Math"/>
                <a:cs typeface="Cambria Math"/>
              </a:rPr>
              <a:t>𝟐</a:t>
            </a:r>
            <a:r>
              <a:rPr sz="2000" dirty="0">
                <a:latin typeface="Cambria Math"/>
                <a:cs typeface="Cambria Math"/>
              </a:rPr>
              <a:t>,</a:t>
            </a:r>
            <a:r>
              <a:rPr sz="2000" spc="-110" dirty="0">
                <a:latin typeface="Cambria Math"/>
                <a:cs typeface="Cambria Math"/>
              </a:rPr>
              <a:t> </a:t>
            </a:r>
            <a:r>
              <a:rPr sz="2000" spc="-20" dirty="0">
                <a:latin typeface="Cambria Math"/>
                <a:cs typeface="Cambria Math"/>
              </a:rPr>
              <a:t>…</a:t>
            </a:r>
            <a:r>
              <a:rPr sz="2000" spc="-105" dirty="0">
                <a:latin typeface="Cambria Math"/>
                <a:cs typeface="Cambria Math"/>
              </a:rPr>
              <a:t> </a:t>
            </a:r>
            <a:r>
              <a:rPr sz="2000" spc="-10" dirty="0">
                <a:latin typeface="Cambria Math"/>
                <a:cs typeface="Cambria Math"/>
              </a:rPr>
              <a:t>,</a:t>
            </a:r>
            <a:r>
              <a:rPr sz="2000" spc="-110" dirty="0">
                <a:latin typeface="Cambria Math"/>
                <a:cs typeface="Cambria Math"/>
              </a:rPr>
              <a:t> </a:t>
            </a:r>
            <a:r>
              <a:rPr sz="2000" dirty="0">
                <a:latin typeface="Cambria Math"/>
                <a:cs typeface="Cambria Math"/>
              </a:rPr>
              <a:t>𝒊</a:t>
            </a:r>
            <a:r>
              <a:rPr sz="2175" baseline="-15325" dirty="0">
                <a:latin typeface="Cambria Math"/>
                <a:cs typeface="Cambria Math"/>
              </a:rPr>
              <a:t>𝒍</a:t>
            </a:r>
            <a:r>
              <a:rPr sz="2175" spc="457" baseline="-15325" dirty="0">
                <a:latin typeface="Cambria Math"/>
                <a:cs typeface="Cambria Math"/>
              </a:rPr>
              <a:t> </a:t>
            </a:r>
            <a:r>
              <a:rPr sz="2000" dirty="0">
                <a:latin typeface="Cambria Math"/>
                <a:cs typeface="Cambria Math"/>
              </a:rPr>
              <a:t>≤</a:t>
            </a:r>
            <a:r>
              <a:rPr sz="2000" spc="120" dirty="0">
                <a:latin typeface="Cambria Math"/>
                <a:cs typeface="Cambria Math"/>
              </a:rPr>
              <a:t> </a:t>
            </a:r>
            <a:r>
              <a:rPr sz="2000" spc="-10" dirty="0">
                <a:latin typeface="Cambria Math"/>
                <a:cs typeface="Cambria Math"/>
              </a:rPr>
              <a:t>𝒏;</a:t>
            </a:r>
            <a:r>
              <a:rPr sz="2000" spc="-110" dirty="0">
                <a:latin typeface="Cambria Math"/>
                <a:cs typeface="Cambria Math"/>
              </a:rPr>
              <a:t> </a:t>
            </a:r>
            <a:r>
              <a:rPr sz="2000" dirty="0">
                <a:latin typeface="Cambria Math"/>
                <a:cs typeface="Cambria Math"/>
              </a:rPr>
              <a:t>𝟏</a:t>
            </a:r>
            <a:r>
              <a:rPr sz="2000" spc="120" dirty="0">
                <a:latin typeface="Cambria Math"/>
                <a:cs typeface="Cambria Math"/>
              </a:rPr>
              <a:t> </a:t>
            </a:r>
            <a:r>
              <a:rPr sz="2000" dirty="0">
                <a:latin typeface="Cambria Math"/>
                <a:cs typeface="Cambria Math"/>
              </a:rPr>
              <a:t>≤</a:t>
            </a:r>
            <a:r>
              <a:rPr sz="2000" spc="114" dirty="0">
                <a:latin typeface="Cambria Math"/>
                <a:cs typeface="Cambria Math"/>
              </a:rPr>
              <a:t> </a:t>
            </a:r>
            <a:r>
              <a:rPr sz="2000" dirty="0">
                <a:latin typeface="Cambria Math"/>
                <a:cs typeface="Cambria Math"/>
              </a:rPr>
              <a:t>𝒋</a:t>
            </a:r>
            <a:r>
              <a:rPr sz="2175" baseline="-15325" dirty="0">
                <a:latin typeface="Cambria Math"/>
                <a:cs typeface="Cambria Math"/>
              </a:rPr>
              <a:t>𝟏</a:t>
            </a:r>
            <a:r>
              <a:rPr sz="2175" spc="480" baseline="-15325" dirty="0">
                <a:latin typeface="Cambria Math"/>
                <a:cs typeface="Cambria Math"/>
              </a:rPr>
              <a:t> </a:t>
            </a:r>
            <a:r>
              <a:rPr sz="2000" dirty="0">
                <a:latin typeface="Cambria Math"/>
                <a:cs typeface="Cambria Math"/>
              </a:rPr>
              <a:t>&lt;</a:t>
            </a:r>
            <a:r>
              <a:rPr sz="2000" spc="114" dirty="0">
                <a:latin typeface="Cambria Math"/>
                <a:cs typeface="Cambria Math"/>
              </a:rPr>
              <a:t> </a:t>
            </a:r>
            <a:r>
              <a:rPr sz="2000" dirty="0">
                <a:latin typeface="Cambria Math"/>
                <a:cs typeface="Cambria Math"/>
              </a:rPr>
              <a:t>𝒋</a:t>
            </a:r>
            <a:r>
              <a:rPr sz="2175" baseline="-15325" dirty="0">
                <a:latin typeface="Cambria Math"/>
                <a:cs typeface="Cambria Math"/>
              </a:rPr>
              <a:t>𝟐</a:t>
            </a:r>
            <a:r>
              <a:rPr sz="2000" dirty="0">
                <a:latin typeface="Cambria Math"/>
                <a:cs typeface="Cambria Math"/>
              </a:rPr>
              <a:t>,</a:t>
            </a:r>
            <a:r>
              <a:rPr sz="2000" spc="-105" dirty="0">
                <a:latin typeface="Cambria Math"/>
                <a:cs typeface="Cambria Math"/>
              </a:rPr>
              <a:t> </a:t>
            </a:r>
            <a:r>
              <a:rPr sz="2000" spc="-25" dirty="0">
                <a:latin typeface="Cambria Math"/>
                <a:cs typeface="Cambria Math"/>
              </a:rPr>
              <a:t>…</a:t>
            </a:r>
            <a:r>
              <a:rPr sz="2000" spc="-114" dirty="0">
                <a:latin typeface="Cambria Math"/>
                <a:cs typeface="Cambria Math"/>
              </a:rPr>
              <a:t> </a:t>
            </a:r>
            <a:r>
              <a:rPr sz="2000" dirty="0">
                <a:latin typeface="Cambria Math"/>
                <a:cs typeface="Cambria Math"/>
              </a:rPr>
              <a:t>,</a:t>
            </a:r>
            <a:r>
              <a:rPr sz="2000" spc="-105" dirty="0">
                <a:latin typeface="Cambria Math"/>
                <a:cs typeface="Cambria Math"/>
              </a:rPr>
              <a:t> </a:t>
            </a:r>
            <a:r>
              <a:rPr sz="2000" dirty="0">
                <a:latin typeface="Cambria Math"/>
                <a:cs typeface="Cambria Math"/>
              </a:rPr>
              <a:t>𝒋</a:t>
            </a:r>
            <a:r>
              <a:rPr sz="2175" baseline="-15325" dirty="0">
                <a:latin typeface="Cambria Math"/>
                <a:cs typeface="Cambria Math"/>
              </a:rPr>
              <a:t>𝒍</a:t>
            </a:r>
            <a:r>
              <a:rPr sz="2175" spc="457" baseline="-15325" dirty="0">
                <a:latin typeface="Cambria Math"/>
                <a:cs typeface="Cambria Math"/>
              </a:rPr>
              <a:t> </a:t>
            </a:r>
            <a:r>
              <a:rPr sz="2000" dirty="0">
                <a:latin typeface="Cambria Math"/>
                <a:cs typeface="Cambria Math"/>
              </a:rPr>
              <a:t>≤</a:t>
            </a:r>
            <a:r>
              <a:rPr sz="2000" spc="114" dirty="0">
                <a:latin typeface="Cambria Math"/>
                <a:cs typeface="Cambria Math"/>
              </a:rPr>
              <a:t> </a:t>
            </a:r>
            <a:r>
              <a:rPr sz="2000" spc="-25" dirty="0">
                <a:latin typeface="Cambria Math"/>
                <a:cs typeface="Cambria Math"/>
              </a:rPr>
              <a:t>𝒎)</a:t>
            </a:r>
            <a:endParaRPr sz="2000" dirty="0">
              <a:latin typeface="Cambria Math"/>
              <a:cs typeface="Cambria Math"/>
            </a:endParaRPr>
          </a:p>
          <a:p>
            <a:pPr marR="815975" algn="r">
              <a:lnSpc>
                <a:spcPct val="100000"/>
              </a:lnSpc>
              <a:spcBef>
                <a:spcPts val="735"/>
              </a:spcBef>
            </a:pPr>
            <a:r>
              <a:rPr sz="2000" spc="-20" dirty="0" err="1">
                <a:solidFill>
                  <a:schemeClr val="bg1"/>
                </a:solidFill>
                <a:latin typeface="PMingLiU"/>
                <a:cs typeface="PMingLiU"/>
              </a:rPr>
              <a:t>约束条</a:t>
            </a:r>
            <a:r>
              <a:rPr sz="2000" spc="-50" dirty="0" err="1">
                <a:solidFill>
                  <a:schemeClr val="bg1"/>
                </a:solidFill>
                <a:latin typeface="PMingLiU"/>
                <a:cs typeface="PMingLiU"/>
              </a:rPr>
              <a:t>件</a:t>
            </a:r>
            <a:endParaRPr sz="2000" dirty="0">
              <a:solidFill>
                <a:schemeClr val="bg1"/>
              </a:solidFill>
              <a:latin typeface="PMingLiU"/>
              <a:cs typeface="PMingLiU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38444" y="1072958"/>
            <a:ext cx="285940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枚举所有子序列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237983" y="157124"/>
            <a:ext cx="2309762" cy="627736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0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蛮力枚</a:t>
            </a:r>
            <a:r>
              <a:rPr sz="40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举</a:t>
            </a:r>
            <a:endParaRPr sz="40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52127083"/>
              </p:ext>
            </p:extLst>
          </p:nvPr>
        </p:nvGraphicFramePr>
        <p:xfrm>
          <a:off x="1288087" y="1746058"/>
          <a:ext cx="4237351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" name="object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28289012"/>
              </p:ext>
            </p:extLst>
          </p:nvPr>
        </p:nvGraphicFramePr>
        <p:xfrm>
          <a:off x="5904550" y="1746058"/>
          <a:ext cx="374713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47372470"/>
              </p:ext>
            </p:extLst>
          </p:nvPr>
        </p:nvGraphicFramePr>
        <p:xfrm>
          <a:off x="1288087" y="2405823"/>
          <a:ext cx="102171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" name="object 7"/>
          <p:cNvSpPr txBox="1"/>
          <p:nvPr/>
        </p:nvSpPr>
        <p:spPr>
          <a:xfrm>
            <a:off x="4147058" y="6209791"/>
            <a:ext cx="3866515" cy="39116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b="1" dirty="0" err="1">
                <a:solidFill>
                  <a:schemeClr val="bg1"/>
                </a:solidFill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枚举并检查长度为</a:t>
            </a:r>
            <a:r>
              <a:rPr sz="2400" b="1" dirty="0">
                <a:solidFill>
                  <a:schemeClr val="bg1"/>
                </a:solidFill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𝟏</a:t>
            </a:r>
            <a:r>
              <a:rPr sz="2400" b="1" spc="-15" dirty="0" err="1">
                <a:solidFill>
                  <a:schemeClr val="bg1"/>
                </a:solidFill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的子序列</a:t>
            </a:r>
            <a:endParaRPr sz="2400" b="1" dirty="0">
              <a:solidFill>
                <a:schemeClr val="bg1"/>
              </a:solidFill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8340" y="1123062"/>
            <a:ext cx="285940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枚举所有子序列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27773109"/>
              </p:ext>
            </p:extLst>
          </p:nvPr>
        </p:nvGraphicFramePr>
        <p:xfrm>
          <a:off x="1237983" y="1796162"/>
          <a:ext cx="4237351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" name="object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0779590"/>
              </p:ext>
            </p:extLst>
          </p:nvPr>
        </p:nvGraphicFramePr>
        <p:xfrm>
          <a:off x="5854446" y="1796162"/>
          <a:ext cx="374713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72824742"/>
              </p:ext>
            </p:extLst>
          </p:nvPr>
        </p:nvGraphicFramePr>
        <p:xfrm>
          <a:off x="1237983" y="2455927"/>
          <a:ext cx="102171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0857095"/>
              </p:ext>
            </p:extLst>
          </p:nvPr>
        </p:nvGraphicFramePr>
        <p:xfrm>
          <a:off x="1237983" y="3072131"/>
          <a:ext cx="102171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1" name="object 3">
            <a:extLst>
              <a:ext uri="{FF2B5EF4-FFF2-40B4-BE49-F238E27FC236}">
                <a16:creationId xmlns:a16="http://schemas.microsoft.com/office/drawing/2014/main" id="{EEFCC27A-43B1-FD4D-985F-9BD22F0B0CE2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37983" y="157124"/>
            <a:ext cx="2309762" cy="627736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0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蛮力枚</a:t>
            </a:r>
            <a:r>
              <a:rPr sz="40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举</a:t>
            </a:r>
            <a:endParaRPr sz="40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12" name="object 7">
            <a:extLst>
              <a:ext uri="{FF2B5EF4-FFF2-40B4-BE49-F238E27FC236}">
                <a16:creationId xmlns:a16="http://schemas.microsoft.com/office/drawing/2014/main" id="{17F8FD67-3C35-1049-B0C4-0D83B7F9E1FD}"/>
              </a:ext>
            </a:extLst>
          </p:cNvPr>
          <p:cNvSpPr txBox="1"/>
          <p:nvPr/>
        </p:nvSpPr>
        <p:spPr>
          <a:xfrm>
            <a:off x="4147058" y="6209791"/>
            <a:ext cx="3866515" cy="39116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b="1" dirty="0" err="1">
                <a:solidFill>
                  <a:schemeClr val="bg1"/>
                </a:solidFill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枚举并检查长度为</a:t>
            </a:r>
            <a:r>
              <a:rPr sz="2400" b="1" dirty="0">
                <a:solidFill>
                  <a:schemeClr val="bg1"/>
                </a:solidFill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𝟏</a:t>
            </a:r>
            <a:r>
              <a:rPr sz="2400" b="1" spc="-15" dirty="0" err="1">
                <a:solidFill>
                  <a:schemeClr val="bg1"/>
                </a:solidFill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的子序列</a:t>
            </a:r>
            <a:endParaRPr sz="2400" b="1" dirty="0">
              <a:solidFill>
                <a:schemeClr val="bg1"/>
              </a:solidFill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8340" y="1123062"/>
            <a:ext cx="285940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枚举所有子序列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61627389"/>
              </p:ext>
            </p:extLst>
          </p:nvPr>
        </p:nvGraphicFramePr>
        <p:xfrm>
          <a:off x="1237983" y="1796162"/>
          <a:ext cx="4237351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" name="object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55572082"/>
              </p:ext>
            </p:extLst>
          </p:nvPr>
        </p:nvGraphicFramePr>
        <p:xfrm>
          <a:off x="5854446" y="1796162"/>
          <a:ext cx="374713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58643411"/>
              </p:ext>
            </p:extLst>
          </p:nvPr>
        </p:nvGraphicFramePr>
        <p:xfrm>
          <a:off x="1237983" y="2455927"/>
          <a:ext cx="102171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84410498"/>
              </p:ext>
            </p:extLst>
          </p:nvPr>
        </p:nvGraphicFramePr>
        <p:xfrm>
          <a:off x="1237983" y="3072131"/>
          <a:ext cx="102171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8" name="object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1572807"/>
              </p:ext>
            </p:extLst>
          </p:nvPr>
        </p:nvGraphicFramePr>
        <p:xfrm>
          <a:off x="1237983" y="3688207"/>
          <a:ext cx="102171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2" name="object 3">
            <a:extLst>
              <a:ext uri="{FF2B5EF4-FFF2-40B4-BE49-F238E27FC236}">
                <a16:creationId xmlns:a16="http://schemas.microsoft.com/office/drawing/2014/main" id="{E857F518-31A1-4F45-9195-83B30993020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37983" y="157124"/>
            <a:ext cx="2309762" cy="627736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0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蛮力枚</a:t>
            </a:r>
            <a:r>
              <a:rPr sz="40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举</a:t>
            </a:r>
            <a:endParaRPr sz="40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13" name="object 7">
            <a:extLst>
              <a:ext uri="{FF2B5EF4-FFF2-40B4-BE49-F238E27FC236}">
                <a16:creationId xmlns:a16="http://schemas.microsoft.com/office/drawing/2014/main" id="{E7F4035C-87C9-8D40-95F0-F42DE9A1BA74}"/>
              </a:ext>
            </a:extLst>
          </p:cNvPr>
          <p:cNvSpPr txBox="1"/>
          <p:nvPr/>
        </p:nvSpPr>
        <p:spPr>
          <a:xfrm>
            <a:off x="4147058" y="6209791"/>
            <a:ext cx="3866515" cy="39116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b="1" dirty="0" err="1">
                <a:solidFill>
                  <a:schemeClr val="bg1"/>
                </a:solidFill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枚举并检查长度为</a:t>
            </a:r>
            <a:r>
              <a:rPr sz="2400" b="1" dirty="0">
                <a:solidFill>
                  <a:schemeClr val="bg1"/>
                </a:solidFill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𝟏</a:t>
            </a:r>
            <a:r>
              <a:rPr sz="2400" b="1" spc="-15" dirty="0" err="1">
                <a:solidFill>
                  <a:schemeClr val="bg1"/>
                </a:solidFill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的子序列</a:t>
            </a:r>
            <a:endParaRPr sz="2400" b="1" dirty="0">
              <a:solidFill>
                <a:schemeClr val="bg1"/>
              </a:solidFill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8340" y="1110536"/>
            <a:ext cx="285940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枚举所有子序列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1355543"/>
              </p:ext>
            </p:extLst>
          </p:nvPr>
        </p:nvGraphicFramePr>
        <p:xfrm>
          <a:off x="1237983" y="1783636"/>
          <a:ext cx="4237351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" name="object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98359108"/>
              </p:ext>
            </p:extLst>
          </p:nvPr>
        </p:nvGraphicFramePr>
        <p:xfrm>
          <a:off x="5854446" y="1783636"/>
          <a:ext cx="374713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1412127"/>
              </p:ext>
            </p:extLst>
          </p:nvPr>
        </p:nvGraphicFramePr>
        <p:xfrm>
          <a:off x="1237983" y="2443401"/>
          <a:ext cx="102171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67495791"/>
              </p:ext>
            </p:extLst>
          </p:nvPr>
        </p:nvGraphicFramePr>
        <p:xfrm>
          <a:off x="1237983" y="6096492"/>
          <a:ext cx="102171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7399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b="1" i="1">
                          <a:latin typeface="Times New Roman"/>
                          <a:cs typeface="Times New Roman"/>
                        </a:rPr>
                        <a:t>B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8" name="object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43267403"/>
              </p:ext>
            </p:extLst>
          </p:nvPr>
        </p:nvGraphicFramePr>
        <p:xfrm>
          <a:off x="1237983" y="3059605"/>
          <a:ext cx="102171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55426310"/>
              </p:ext>
            </p:extLst>
          </p:nvPr>
        </p:nvGraphicFramePr>
        <p:xfrm>
          <a:off x="1237983" y="3675681"/>
          <a:ext cx="102171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0" name="object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20244110"/>
              </p:ext>
            </p:extLst>
          </p:nvPr>
        </p:nvGraphicFramePr>
        <p:xfrm>
          <a:off x="1237983" y="4291759"/>
          <a:ext cx="102171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1" name="object 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78301065"/>
              </p:ext>
            </p:extLst>
          </p:nvPr>
        </p:nvGraphicFramePr>
        <p:xfrm>
          <a:off x="1237983" y="5524040"/>
          <a:ext cx="102171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2" name="object 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015193"/>
              </p:ext>
            </p:extLst>
          </p:nvPr>
        </p:nvGraphicFramePr>
        <p:xfrm>
          <a:off x="1237983" y="4907962"/>
          <a:ext cx="102171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7236D152-CAF1-8048-A572-12DF2EF22E0C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37983" y="157124"/>
            <a:ext cx="2309762" cy="627736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0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蛮力枚</a:t>
            </a:r>
            <a:r>
              <a:rPr sz="40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举</a:t>
            </a:r>
            <a:endParaRPr sz="40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17" name="object 7">
            <a:extLst>
              <a:ext uri="{FF2B5EF4-FFF2-40B4-BE49-F238E27FC236}">
                <a16:creationId xmlns:a16="http://schemas.microsoft.com/office/drawing/2014/main" id="{20A6FDD6-1383-844C-9B12-4A17306D7D34}"/>
              </a:ext>
            </a:extLst>
          </p:cNvPr>
          <p:cNvSpPr txBox="1"/>
          <p:nvPr/>
        </p:nvSpPr>
        <p:spPr>
          <a:xfrm>
            <a:off x="4147058" y="6209791"/>
            <a:ext cx="3866515" cy="39116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b="1" dirty="0" err="1">
                <a:solidFill>
                  <a:schemeClr val="bg1"/>
                </a:solidFill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枚举并检查长度为</a:t>
            </a:r>
            <a:r>
              <a:rPr sz="2400" b="1" dirty="0">
                <a:solidFill>
                  <a:schemeClr val="bg1"/>
                </a:solidFill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𝟏</a:t>
            </a:r>
            <a:r>
              <a:rPr sz="2400" b="1" spc="-15" dirty="0" err="1">
                <a:solidFill>
                  <a:schemeClr val="bg1"/>
                </a:solidFill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的子序列</a:t>
            </a:r>
            <a:endParaRPr sz="2400" b="1" dirty="0">
              <a:solidFill>
                <a:schemeClr val="bg1"/>
              </a:solidFill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58550238"/>
              </p:ext>
            </p:extLst>
          </p:nvPr>
        </p:nvGraphicFramePr>
        <p:xfrm>
          <a:off x="1237983" y="1658376"/>
          <a:ext cx="4237351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" name="object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4417976"/>
              </p:ext>
            </p:extLst>
          </p:nvPr>
        </p:nvGraphicFramePr>
        <p:xfrm>
          <a:off x="5854446" y="1658376"/>
          <a:ext cx="374713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8242576"/>
              </p:ext>
            </p:extLst>
          </p:nvPr>
        </p:nvGraphicFramePr>
        <p:xfrm>
          <a:off x="1237983" y="2318141"/>
          <a:ext cx="102171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1443698"/>
              </p:ext>
            </p:extLst>
          </p:nvPr>
        </p:nvGraphicFramePr>
        <p:xfrm>
          <a:off x="1237983" y="5971232"/>
          <a:ext cx="102171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7399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b="1" i="1">
                          <a:latin typeface="Times New Roman"/>
                          <a:cs typeface="Times New Roman"/>
                        </a:rPr>
                        <a:t>B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8" name="object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11037178"/>
              </p:ext>
            </p:extLst>
          </p:nvPr>
        </p:nvGraphicFramePr>
        <p:xfrm>
          <a:off x="1237983" y="2934345"/>
          <a:ext cx="102171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13736470"/>
              </p:ext>
            </p:extLst>
          </p:nvPr>
        </p:nvGraphicFramePr>
        <p:xfrm>
          <a:off x="1237983" y="3550421"/>
          <a:ext cx="102171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0" name="object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29223321"/>
              </p:ext>
            </p:extLst>
          </p:nvPr>
        </p:nvGraphicFramePr>
        <p:xfrm>
          <a:off x="1237983" y="4166499"/>
          <a:ext cx="102171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1" name="object 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3784728"/>
              </p:ext>
            </p:extLst>
          </p:nvPr>
        </p:nvGraphicFramePr>
        <p:xfrm>
          <a:off x="1237983" y="5398780"/>
          <a:ext cx="102171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2" name="object 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0250580"/>
              </p:ext>
            </p:extLst>
          </p:nvPr>
        </p:nvGraphicFramePr>
        <p:xfrm>
          <a:off x="1237983" y="4782702"/>
          <a:ext cx="102171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3" name="object 1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94840126"/>
              </p:ext>
            </p:extLst>
          </p:nvPr>
        </p:nvGraphicFramePr>
        <p:xfrm>
          <a:off x="5854446" y="2318141"/>
          <a:ext cx="1070610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4" name="object 1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06153371"/>
              </p:ext>
            </p:extLst>
          </p:nvPr>
        </p:nvGraphicFramePr>
        <p:xfrm>
          <a:off x="5854446" y="2963427"/>
          <a:ext cx="1070610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5" name="object 1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0209710"/>
              </p:ext>
            </p:extLst>
          </p:nvPr>
        </p:nvGraphicFramePr>
        <p:xfrm>
          <a:off x="5854446" y="3608714"/>
          <a:ext cx="1070610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6" name="object 1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905774"/>
              </p:ext>
            </p:extLst>
          </p:nvPr>
        </p:nvGraphicFramePr>
        <p:xfrm>
          <a:off x="5854446" y="4254001"/>
          <a:ext cx="1070610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7" name="object 1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28694264"/>
              </p:ext>
            </p:extLst>
          </p:nvPr>
        </p:nvGraphicFramePr>
        <p:xfrm>
          <a:off x="5854446" y="4899288"/>
          <a:ext cx="1070610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8" name="object 1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0320920"/>
              </p:ext>
            </p:extLst>
          </p:nvPr>
        </p:nvGraphicFramePr>
        <p:xfrm>
          <a:off x="5854446" y="5544449"/>
          <a:ext cx="1070610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2" name="object 2">
            <a:extLst>
              <a:ext uri="{FF2B5EF4-FFF2-40B4-BE49-F238E27FC236}">
                <a16:creationId xmlns:a16="http://schemas.microsoft.com/office/drawing/2014/main" id="{A0EA50B1-5EF4-094C-9082-C22756ABE8FD}"/>
              </a:ext>
            </a:extLst>
          </p:cNvPr>
          <p:cNvSpPr txBox="1"/>
          <p:nvPr/>
        </p:nvSpPr>
        <p:spPr>
          <a:xfrm>
            <a:off x="688340" y="1110536"/>
            <a:ext cx="285940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枚举所有子序列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sp>
        <p:nvSpPr>
          <p:cNvPr id="23" name="object 3">
            <a:extLst>
              <a:ext uri="{FF2B5EF4-FFF2-40B4-BE49-F238E27FC236}">
                <a16:creationId xmlns:a16="http://schemas.microsoft.com/office/drawing/2014/main" id="{3095E134-D5B2-3642-9E99-F82D57BDEEF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37983" y="157124"/>
            <a:ext cx="2309762" cy="627736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0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蛮力枚</a:t>
            </a:r>
            <a:r>
              <a:rPr sz="40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举</a:t>
            </a:r>
            <a:endParaRPr sz="40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24" name="object 7">
            <a:extLst>
              <a:ext uri="{FF2B5EF4-FFF2-40B4-BE49-F238E27FC236}">
                <a16:creationId xmlns:a16="http://schemas.microsoft.com/office/drawing/2014/main" id="{DCD1D5AB-D706-B14C-A4B7-046DA42D24F6}"/>
              </a:ext>
            </a:extLst>
          </p:cNvPr>
          <p:cNvSpPr txBox="1"/>
          <p:nvPr/>
        </p:nvSpPr>
        <p:spPr>
          <a:xfrm>
            <a:off x="4147058" y="6209791"/>
            <a:ext cx="3866515" cy="39116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b="1" dirty="0" err="1">
                <a:solidFill>
                  <a:schemeClr val="bg1"/>
                </a:solidFill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枚举并检查长度为</a:t>
            </a:r>
            <a:r>
              <a:rPr sz="2400" b="1" dirty="0">
                <a:solidFill>
                  <a:schemeClr val="bg1"/>
                </a:solidFill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𝟏</a:t>
            </a:r>
            <a:r>
              <a:rPr sz="2400" b="1" spc="-15" dirty="0" err="1">
                <a:solidFill>
                  <a:schemeClr val="bg1"/>
                </a:solidFill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的子序列</a:t>
            </a:r>
            <a:endParaRPr sz="2400" b="1" dirty="0">
              <a:solidFill>
                <a:schemeClr val="bg1"/>
              </a:solidFill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80829014"/>
              </p:ext>
            </p:extLst>
          </p:nvPr>
        </p:nvGraphicFramePr>
        <p:xfrm>
          <a:off x="1237983" y="1608272"/>
          <a:ext cx="4237351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" name="object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03697855"/>
              </p:ext>
            </p:extLst>
          </p:nvPr>
        </p:nvGraphicFramePr>
        <p:xfrm>
          <a:off x="5854446" y="1608272"/>
          <a:ext cx="374713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47063349"/>
              </p:ext>
            </p:extLst>
          </p:nvPr>
        </p:nvGraphicFramePr>
        <p:xfrm>
          <a:off x="1237983" y="2268037"/>
          <a:ext cx="102171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79771071"/>
              </p:ext>
            </p:extLst>
          </p:nvPr>
        </p:nvGraphicFramePr>
        <p:xfrm>
          <a:off x="5854446" y="2268037"/>
          <a:ext cx="1070610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8" name="object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00519941"/>
              </p:ext>
            </p:extLst>
          </p:nvPr>
        </p:nvGraphicFramePr>
        <p:xfrm>
          <a:off x="5854446" y="2913323"/>
          <a:ext cx="1070610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6183160"/>
              </p:ext>
            </p:extLst>
          </p:nvPr>
        </p:nvGraphicFramePr>
        <p:xfrm>
          <a:off x="5854446" y="3558610"/>
          <a:ext cx="1070610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0" name="object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6127487"/>
              </p:ext>
            </p:extLst>
          </p:nvPr>
        </p:nvGraphicFramePr>
        <p:xfrm>
          <a:off x="5854446" y="4203897"/>
          <a:ext cx="1070610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1" name="object 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98778007"/>
              </p:ext>
            </p:extLst>
          </p:nvPr>
        </p:nvGraphicFramePr>
        <p:xfrm>
          <a:off x="5854446" y="4849184"/>
          <a:ext cx="1070610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2" name="object 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59253053"/>
              </p:ext>
            </p:extLst>
          </p:nvPr>
        </p:nvGraphicFramePr>
        <p:xfrm>
          <a:off x="5854446" y="5494345"/>
          <a:ext cx="1070610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3" name="object 13"/>
          <p:cNvSpPr/>
          <p:nvPr/>
        </p:nvSpPr>
        <p:spPr>
          <a:xfrm>
            <a:off x="2265426" y="2509463"/>
            <a:ext cx="3595370" cy="1936114"/>
          </a:xfrm>
          <a:custGeom>
            <a:avLst/>
            <a:gdLst/>
            <a:ahLst/>
            <a:cxnLst/>
            <a:rect l="l" t="t" r="r" b="b"/>
            <a:pathLst>
              <a:path w="3595370" h="1936114">
                <a:moveTo>
                  <a:pt x="0" y="0"/>
                </a:moveTo>
                <a:lnTo>
                  <a:pt x="3595243" y="1935861"/>
                </a:lnTo>
              </a:path>
            </a:pathLst>
          </a:custGeom>
          <a:ln w="285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4" name="object 1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54525146"/>
              </p:ext>
            </p:extLst>
          </p:nvPr>
        </p:nvGraphicFramePr>
        <p:xfrm>
          <a:off x="1237983" y="5921128"/>
          <a:ext cx="102171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7399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b="1" i="1">
                          <a:latin typeface="Times New Roman"/>
                          <a:cs typeface="Times New Roman"/>
                        </a:rPr>
                        <a:t>B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5" name="object 1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31182780"/>
              </p:ext>
            </p:extLst>
          </p:nvPr>
        </p:nvGraphicFramePr>
        <p:xfrm>
          <a:off x="1237983" y="2884241"/>
          <a:ext cx="102171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6" name="object 1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4186783"/>
              </p:ext>
            </p:extLst>
          </p:nvPr>
        </p:nvGraphicFramePr>
        <p:xfrm>
          <a:off x="1237983" y="3500317"/>
          <a:ext cx="102171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7" name="object 1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4135409"/>
              </p:ext>
            </p:extLst>
          </p:nvPr>
        </p:nvGraphicFramePr>
        <p:xfrm>
          <a:off x="1237983" y="4116395"/>
          <a:ext cx="102171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8" name="object 1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65880156"/>
              </p:ext>
            </p:extLst>
          </p:nvPr>
        </p:nvGraphicFramePr>
        <p:xfrm>
          <a:off x="1237983" y="5348676"/>
          <a:ext cx="102171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9" name="object 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9915029"/>
              </p:ext>
            </p:extLst>
          </p:nvPr>
        </p:nvGraphicFramePr>
        <p:xfrm>
          <a:off x="1237983" y="4732598"/>
          <a:ext cx="102171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3" name="object 2">
            <a:extLst>
              <a:ext uri="{FF2B5EF4-FFF2-40B4-BE49-F238E27FC236}">
                <a16:creationId xmlns:a16="http://schemas.microsoft.com/office/drawing/2014/main" id="{E7034F83-F727-6F47-813D-CDA4593995BF}"/>
              </a:ext>
            </a:extLst>
          </p:cNvPr>
          <p:cNvSpPr txBox="1"/>
          <p:nvPr/>
        </p:nvSpPr>
        <p:spPr>
          <a:xfrm>
            <a:off x="688340" y="1110536"/>
            <a:ext cx="285940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枚举所有子序列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sp>
        <p:nvSpPr>
          <p:cNvPr id="24" name="object 3">
            <a:extLst>
              <a:ext uri="{FF2B5EF4-FFF2-40B4-BE49-F238E27FC236}">
                <a16:creationId xmlns:a16="http://schemas.microsoft.com/office/drawing/2014/main" id="{CB342835-CAF0-BB48-ABDC-5079B1BEDB39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37983" y="157124"/>
            <a:ext cx="2309762" cy="627736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0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蛮力枚</a:t>
            </a:r>
            <a:r>
              <a:rPr sz="40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举</a:t>
            </a:r>
            <a:endParaRPr sz="40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25" name="object 7">
            <a:extLst>
              <a:ext uri="{FF2B5EF4-FFF2-40B4-BE49-F238E27FC236}">
                <a16:creationId xmlns:a16="http://schemas.microsoft.com/office/drawing/2014/main" id="{3F0ADE93-18E6-174C-8A0C-AE7448043438}"/>
              </a:ext>
            </a:extLst>
          </p:cNvPr>
          <p:cNvSpPr txBox="1"/>
          <p:nvPr/>
        </p:nvSpPr>
        <p:spPr>
          <a:xfrm>
            <a:off x="4147058" y="6209791"/>
            <a:ext cx="3866515" cy="39116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b="1" dirty="0" err="1">
                <a:solidFill>
                  <a:schemeClr val="bg1"/>
                </a:solidFill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枚举并检查长度为</a:t>
            </a:r>
            <a:r>
              <a:rPr sz="2400" b="1" dirty="0">
                <a:solidFill>
                  <a:schemeClr val="bg1"/>
                </a:solidFill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𝟏</a:t>
            </a:r>
            <a:r>
              <a:rPr sz="2400" b="1" spc="-15" dirty="0" err="1">
                <a:solidFill>
                  <a:schemeClr val="bg1"/>
                </a:solidFill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的子序列</a:t>
            </a:r>
            <a:endParaRPr sz="2400" b="1" dirty="0">
              <a:solidFill>
                <a:schemeClr val="bg1"/>
              </a:solidFill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5912674"/>
              </p:ext>
            </p:extLst>
          </p:nvPr>
        </p:nvGraphicFramePr>
        <p:xfrm>
          <a:off x="1237983" y="1570694"/>
          <a:ext cx="4237351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" name="object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1907027"/>
              </p:ext>
            </p:extLst>
          </p:nvPr>
        </p:nvGraphicFramePr>
        <p:xfrm>
          <a:off x="5854446" y="1570694"/>
          <a:ext cx="374713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6" name="object 6"/>
          <p:cNvSpPr txBox="1"/>
          <p:nvPr/>
        </p:nvSpPr>
        <p:spPr>
          <a:xfrm>
            <a:off x="2390901" y="4939750"/>
            <a:ext cx="33020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PMingLiU"/>
                <a:cs typeface="PMingLiU"/>
              </a:rPr>
              <a:t>…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7032497" y="4820116"/>
            <a:ext cx="33020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PMingLiU"/>
                <a:cs typeface="PMingLiU"/>
              </a:rPr>
              <a:t>…</a:t>
            </a:r>
          </a:p>
        </p:txBody>
      </p:sp>
      <p:graphicFrame>
        <p:nvGraphicFramePr>
          <p:cNvPr id="9" name="object 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2392477"/>
              </p:ext>
            </p:extLst>
          </p:nvPr>
        </p:nvGraphicFramePr>
        <p:xfrm>
          <a:off x="1237983" y="2221823"/>
          <a:ext cx="262953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0" name="object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67974609"/>
              </p:ext>
            </p:extLst>
          </p:nvPr>
        </p:nvGraphicFramePr>
        <p:xfrm>
          <a:off x="1237983" y="2766779"/>
          <a:ext cx="262953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1" name="object 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14031248"/>
              </p:ext>
            </p:extLst>
          </p:nvPr>
        </p:nvGraphicFramePr>
        <p:xfrm>
          <a:off x="1237983" y="3311736"/>
          <a:ext cx="262953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2" name="object 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15732910"/>
              </p:ext>
            </p:extLst>
          </p:nvPr>
        </p:nvGraphicFramePr>
        <p:xfrm>
          <a:off x="1237983" y="4393014"/>
          <a:ext cx="262953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3" name="object 1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03759656"/>
              </p:ext>
            </p:extLst>
          </p:nvPr>
        </p:nvGraphicFramePr>
        <p:xfrm>
          <a:off x="1237983" y="6019313"/>
          <a:ext cx="262953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4" name="object 1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4860439"/>
              </p:ext>
            </p:extLst>
          </p:nvPr>
        </p:nvGraphicFramePr>
        <p:xfrm>
          <a:off x="1237983" y="5474293"/>
          <a:ext cx="262953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5" name="object 1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4143935"/>
              </p:ext>
            </p:extLst>
          </p:nvPr>
        </p:nvGraphicFramePr>
        <p:xfrm>
          <a:off x="5854446" y="2230459"/>
          <a:ext cx="267652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6" name="object 1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9231142"/>
              </p:ext>
            </p:extLst>
          </p:nvPr>
        </p:nvGraphicFramePr>
        <p:xfrm>
          <a:off x="5854446" y="2879682"/>
          <a:ext cx="267652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7" name="object 1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26786702"/>
              </p:ext>
            </p:extLst>
          </p:nvPr>
        </p:nvGraphicFramePr>
        <p:xfrm>
          <a:off x="5854446" y="4169241"/>
          <a:ext cx="267652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8" name="object 1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8472106"/>
              </p:ext>
            </p:extLst>
          </p:nvPr>
        </p:nvGraphicFramePr>
        <p:xfrm>
          <a:off x="5854446" y="5458925"/>
          <a:ext cx="267652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9" name="object 19"/>
          <p:cNvSpPr txBox="1"/>
          <p:nvPr/>
        </p:nvSpPr>
        <p:spPr>
          <a:xfrm>
            <a:off x="2359914" y="3858472"/>
            <a:ext cx="33020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PMingLiU"/>
                <a:cs typeface="PMingLiU"/>
              </a:rPr>
              <a:t>…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7032497" y="3530304"/>
            <a:ext cx="33020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PMingLiU"/>
                <a:cs typeface="PMingLiU"/>
              </a:rPr>
              <a:t>…</a:t>
            </a:r>
          </a:p>
        </p:txBody>
      </p:sp>
      <p:sp>
        <p:nvSpPr>
          <p:cNvPr id="23" name="object 2">
            <a:extLst>
              <a:ext uri="{FF2B5EF4-FFF2-40B4-BE49-F238E27FC236}">
                <a16:creationId xmlns:a16="http://schemas.microsoft.com/office/drawing/2014/main" id="{4954DC16-5B08-CC46-9AAC-52174CC75EE6}"/>
              </a:ext>
            </a:extLst>
          </p:cNvPr>
          <p:cNvSpPr txBox="1"/>
          <p:nvPr/>
        </p:nvSpPr>
        <p:spPr>
          <a:xfrm>
            <a:off x="688340" y="1110536"/>
            <a:ext cx="285940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枚举所有子序列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sp>
        <p:nvSpPr>
          <p:cNvPr id="24" name="object 3">
            <a:extLst>
              <a:ext uri="{FF2B5EF4-FFF2-40B4-BE49-F238E27FC236}">
                <a16:creationId xmlns:a16="http://schemas.microsoft.com/office/drawing/2014/main" id="{23429D4B-294A-1F40-B0B9-9C66EE33B299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37983" y="157124"/>
            <a:ext cx="2309762" cy="627736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0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蛮力枚</a:t>
            </a:r>
            <a:r>
              <a:rPr sz="40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举</a:t>
            </a:r>
            <a:endParaRPr sz="40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25" name="object 7">
            <a:extLst>
              <a:ext uri="{FF2B5EF4-FFF2-40B4-BE49-F238E27FC236}">
                <a16:creationId xmlns:a16="http://schemas.microsoft.com/office/drawing/2014/main" id="{B2E2BB4E-6FC3-D542-8E4E-FAAA01C892DC}"/>
              </a:ext>
            </a:extLst>
          </p:cNvPr>
          <p:cNvSpPr txBox="1"/>
          <p:nvPr/>
        </p:nvSpPr>
        <p:spPr>
          <a:xfrm>
            <a:off x="4147058" y="6209791"/>
            <a:ext cx="3866515" cy="39116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b="1" dirty="0">
                <a:solidFill>
                  <a:schemeClr val="bg1"/>
                </a:solidFill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枚举并检查</a:t>
            </a:r>
            <a:r>
              <a:rPr sz="2400" b="1" dirty="0">
                <a:solidFill>
                  <a:srgbClr val="FF0000"/>
                </a:solidFill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长度为</a:t>
            </a:r>
            <a:r>
              <a:rPr lang="en-US" altLang="zh-CN" sz="2400" b="1" dirty="0">
                <a:solidFill>
                  <a:srgbClr val="FF0000"/>
                </a:solidFill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4</a:t>
            </a:r>
            <a:r>
              <a:rPr sz="2400" b="1" spc="-15" dirty="0">
                <a:solidFill>
                  <a:schemeClr val="bg1"/>
                </a:solidFill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的子序列</a:t>
            </a:r>
            <a:endParaRPr sz="2400" b="1" dirty="0">
              <a:solidFill>
                <a:schemeClr val="bg1"/>
              </a:solidFill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3766806"/>
              </p:ext>
            </p:extLst>
          </p:nvPr>
        </p:nvGraphicFramePr>
        <p:xfrm>
          <a:off x="1237983" y="1558168"/>
          <a:ext cx="4237351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" name="object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76070443"/>
              </p:ext>
            </p:extLst>
          </p:nvPr>
        </p:nvGraphicFramePr>
        <p:xfrm>
          <a:off x="5854446" y="1558168"/>
          <a:ext cx="374713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6" name="object 6"/>
          <p:cNvSpPr txBox="1"/>
          <p:nvPr/>
        </p:nvSpPr>
        <p:spPr>
          <a:xfrm>
            <a:off x="2390901" y="4927224"/>
            <a:ext cx="33020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PMingLiU"/>
                <a:cs typeface="PMingLiU"/>
              </a:rPr>
              <a:t>…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7032497" y="4807590"/>
            <a:ext cx="33020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PMingLiU"/>
                <a:cs typeface="PMingLiU"/>
              </a:rPr>
              <a:t>…</a:t>
            </a:r>
          </a:p>
        </p:txBody>
      </p:sp>
      <p:sp>
        <p:nvSpPr>
          <p:cNvPr id="9" name="object 9"/>
          <p:cNvSpPr/>
          <p:nvPr/>
        </p:nvSpPr>
        <p:spPr>
          <a:xfrm>
            <a:off x="3871721" y="4398649"/>
            <a:ext cx="1988820" cy="224154"/>
          </a:xfrm>
          <a:custGeom>
            <a:avLst/>
            <a:gdLst/>
            <a:ahLst/>
            <a:cxnLst/>
            <a:rect l="l" t="t" r="r" b="b"/>
            <a:pathLst>
              <a:path w="1988820" h="224153">
                <a:moveTo>
                  <a:pt x="0" y="223773"/>
                </a:moveTo>
                <a:lnTo>
                  <a:pt x="1988819" y="0"/>
                </a:lnTo>
              </a:path>
            </a:pathLst>
          </a:custGeom>
          <a:ln w="285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0" name="object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5184473"/>
              </p:ext>
            </p:extLst>
          </p:nvPr>
        </p:nvGraphicFramePr>
        <p:xfrm>
          <a:off x="1237983" y="4380488"/>
          <a:ext cx="262953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1" name="object 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36960110"/>
              </p:ext>
            </p:extLst>
          </p:nvPr>
        </p:nvGraphicFramePr>
        <p:xfrm>
          <a:off x="1237983" y="6006787"/>
          <a:ext cx="262953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2" name="object 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1781903"/>
              </p:ext>
            </p:extLst>
          </p:nvPr>
        </p:nvGraphicFramePr>
        <p:xfrm>
          <a:off x="1237983" y="5461767"/>
          <a:ext cx="262953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3" name="object 1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9206962"/>
              </p:ext>
            </p:extLst>
          </p:nvPr>
        </p:nvGraphicFramePr>
        <p:xfrm>
          <a:off x="5854446" y="2217933"/>
          <a:ext cx="267652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4" name="object 1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8582948"/>
              </p:ext>
            </p:extLst>
          </p:nvPr>
        </p:nvGraphicFramePr>
        <p:xfrm>
          <a:off x="5854446" y="2867156"/>
          <a:ext cx="267652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5" name="object 1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40062509"/>
              </p:ext>
            </p:extLst>
          </p:nvPr>
        </p:nvGraphicFramePr>
        <p:xfrm>
          <a:off x="5854446" y="4156715"/>
          <a:ext cx="267652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6" name="object 1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6772992"/>
              </p:ext>
            </p:extLst>
          </p:nvPr>
        </p:nvGraphicFramePr>
        <p:xfrm>
          <a:off x="5854446" y="5446399"/>
          <a:ext cx="267652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7" name="object 17"/>
          <p:cNvSpPr txBox="1"/>
          <p:nvPr/>
        </p:nvSpPr>
        <p:spPr>
          <a:xfrm>
            <a:off x="2359914" y="3845946"/>
            <a:ext cx="33020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PMingLiU"/>
                <a:cs typeface="PMingLiU"/>
              </a:rPr>
              <a:t>…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7032497" y="3517778"/>
            <a:ext cx="33020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PMingLiU"/>
                <a:cs typeface="PMingLiU"/>
              </a:rPr>
              <a:t>…</a:t>
            </a:r>
          </a:p>
        </p:txBody>
      </p:sp>
      <p:graphicFrame>
        <p:nvGraphicFramePr>
          <p:cNvPr id="19" name="object 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9246089"/>
              </p:ext>
            </p:extLst>
          </p:nvPr>
        </p:nvGraphicFramePr>
        <p:xfrm>
          <a:off x="1237983" y="2209297"/>
          <a:ext cx="262953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0" name="object 2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46384801"/>
              </p:ext>
            </p:extLst>
          </p:nvPr>
        </p:nvGraphicFramePr>
        <p:xfrm>
          <a:off x="1237983" y="2754253"/>
          <a:ext cx="262953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1" name="object 2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99727865"/>
              </p:ext>
            </p:extLst>
          </p:nvPr>
        </p:nvGraphicFramePr>
        <p:xfrm>
          <a:off x="1237983" y="3299210"/>
          <a:ext cx="262953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4" name="object 2">
            <a:extLst>
              <a:ext uri="{FF2B5EF4-FFF2-40B4-BE49-F238E27FC236}">
                <a16:creationId xmlns:a16="http://schemas.microsoft.com/office/drawing/2014/main" id="{200FBE7F-EB29-4B41-92CB-890C2C68FD21}"/>
              </a:ext>
            </a:extLst>
          </p:cNvPr>
          <p:cNvSpPr txBox="1"/>
          <p:nvPr/>
        </p:nvSpPr>
        <p:spPr>
          <a:xfrm>
            <a:off x="688340" y="1110536"/>
            <a:ext cx="285940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枚举所有子序列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sp>
        <p:nvSpPr>
          <p:cNvPr id="25" name="object 3">
            <a:extLst>
              <a:ext uri="{FF2B5EF4-FFF2-40B4-BE49-F238E27FC236}">
                <a16:creationId xmlns:a16="http://schemas.microsoft.com/office/drawing/2014/main" id="{9AF3A115-8F90-2447-B4C7-71CF3903ED4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37983" y="157124"/>
            <a:ext cx="2309762" cy="627736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0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蛮力枚</a:t>
            </a:r>
            <a:r>
              <a:rPr sz="40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举</a:t>
            </a:r>
            <a:endParaRPr sz="40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26" name="object 7">
            <a:extLst>
              <a:ext uri="{FF2B5EF4-FFF2-40B4-BE49-F238E27FC236}">
                <a16:creationId xmlns:a16="http://schemas.microsoft.com/office/drawing/2014/main" id="{77D2129C-6756-134E-B5A8-F89C4E33307A}"/>
              </a:ext>
            </a:extLst>
          </p:cNvPr>
          <p:cNvSpPr txBox="1"/>
          <p:nvPr/>
        </p:nvSpPr>
        <p:spPr>
          <a:xfrm>
            <a:off x="4147058" y="6209791"/>
            <a:ext cx="3866515" cy="39116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b="1" dirty="0">
                <a:solidFill>
                  <a:schemeClr val="bg1"/>
                </a:solidFill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枚举并检查长度为</a:t>
            </a:r>
            <a:r>
              <a:rPr lang="en-US" altLang="zh-CN" sz="2400" b="1" dirty="0">
                <a:solidFill>
                  <a:schemeClr val="bg1"/>
                </a:solidFill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4</a:t>
            </a:r>
            <a:r>
              <a:rPr sz="2400" b="1" spc="-15" dirty="0">
                <a:solidFill>
                  <a:schemeClr val="bg1"/>
                </a:solidFill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的子序列</a:t>
            </a:r>
            <a:endParaRPr sz="2400" b="1" dirty="0">
              <a:solidFill>
                <a:schemeClr val="bg1"/>
              </a:solidFill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32347384"/>
              </p:ext>
            </p:extLst>
          </p:nvPr>
        </p:nvGraphicFramePr>
        <p:xfrm>
          <a:off x="1237983" y="1570694"/>
          <a:ext cx="4237351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" name="object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5140794"/>
              </p:ext>
            </p:extLst>
          </p:nvPr>
        </p:nvGraphicFramePr>
        <p:xfrm>
          <a:off x="5854446" y="1570694"/>
          <a:ext cx="374713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6" name="object 6"/>
          <p:cNvSpPr txBox="1"/>
          <p:nvPr/>
        </p:nvSpPr>
        <p:spPr>
          <a:xfrm>
            <a:off x="2390901" y="4939750"/>
            <a:ext cx="33020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PMingLiU"/>
                <a:cs typeface="PMingLiU"/>
              </a:rPr>
              <a:t>…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7032497" y="4820116"/>
            <a:ext cx="33020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PMingLiU"/>
                <a:cs typeface="PMingLiU"/>
              </a:rPr>
              <a:t>…</a:t>
            </a:r>
          </a:p>
        </p:txBody>
      </p:sp>
      <p:sp>
        <p:nvSpPr>
          <p:cNvPr id="9" name="object 9"/>
          <p:cNvSpPr/>
          <p:nvPr/>
        </p:nvSpPr>
        <p:spPr>
          <a:xfrm>
            <a:off x="3871721" y="4411175"/>
            <a:ext cx="1988820" cy="1850389"/>
          </a:xfrm>
          <a:custGeom>
            <a:avLst/>
            <a:gdLst/>
            <a:ahLst/>
            <a:cxnLst/>
            <a:rect l="l" t="t" r="r" b="b"/>
            <a:pathLst>
              <a:path w="1988820" h="1850389">
                <a:moveTo>
                  <a:pt x="0" y="1850021"/>
                </a:moveTo>
                <a:lnTo>
                  <a:pt x="1988819" y="0"/>
                </a:lnTo>
              </a:path>
            </a:pathLst>
          </a:custGeom>
          <a:ln w="2857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3336544" y="4399453"/>
            <a:ext cx="535940" cy="470534"/>
          </a:xfrm>
          <a:custGeom>
            <a:avLst/>
            <a:gdLst/>
            <a:ahLst/>
            <a:cxnLst/>
            <a:rect l="l" t="t" r="r" b="b"/>
            <a:pathLst>
              <a:path w="535939" h="470534">
                <a:moveTo>
                  <a:pt x="535495" y="0"/>
                </a:moveTo>
                <a:lnTo>
                  <a:pt x="0" y="0"/>
                </a:lnTo>
                <a:lnTo>
                  <a:pt x="0" y="470319"/>
                </a:lnTo>
                <a:lnTo>
                  <a:pt x="535495" y="470319"/>
                </a:lnTo>
                <a:lnTo>
                  <a:pt x="5354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1" name="object 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40061890"/>
              </p:ext>
            </p:extLst>
          </p:nvPr>
        </p:nvGraphicFramePr>
        <p:xfrm>
          <a:off x="1237983" y="4393014"/>
          <a:ext cx="262953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2" name="object 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47603099"/>
              </p:ext>
            </p:extLst>
          </p:nvPr>
        </p:nvGraphicFramePr>
        <p:xfrm>
          <a:off x="1237983" y="6019313"/>
          <a:ext cx="262953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3" name="object 13"/>
          <p:cNvSpPr/>
          <p:nvPr/>
        </p:nvSpPr>
        <p:spPr>
          <a:xfrm>
            <a:off x="3336544" y="5480693"/>
            <a:ext cx="535940" cy="470534"/>
          </a:xfrm>
          <a:custGeom>
            <a:avLst/>
            <a:gdLst/>
            <a:ahLst/>
            <a:cxnLst/>
            <a:rect l="l" t="t" r="r" b="b"/>
            <a:pathLst>
              <a:path w="535939" h="470534">
                <a:moveTo>
                  <a:pt x="535495" y="0"/>
                </a:moveTo>
                <a:lnTo>
                  <a:pt x="0" y="0"/>
                </a:lnTo>
                <a:lnTo>
                  <a:pt x="0" y="470319"/>
                </a:lnTo>
                <a:lnTo>
                  <a:pt x="535495" y="470319"/>
                </a:lnTo>
                <a:lnTo>
                  <a:pt x="5354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4" name="object 1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23406077"/>
              </p:ext>
            </p:extLst>
          </p:nvPr>
        </p:nvGraphicFramePr>
        <p:xfrm>
          <a:off x="1237983" y="5474293"/>
          <a:ext cx="262953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5" name="object 1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2515474"/>
              </p:ext>
            </p:extLst>
          </p:nvPr>
        </p:nvGraphicFramePr>
        <p:xfrm>
          <a:off x="5854446" y="2230459"/>
          <a:ext cx="267652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6" name="object 1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3139243"/>
              </p:ext>
            </p:extLst>
          </p:nvPr>
        </p:nvGraphicFramePr>
        <p:xfrm>
          <a:off x="5854446" y="2879682"/>
          <a:ext cx="267652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7" name="object 1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96282671"/>
              </p:ext>
            </p:extLst>
          </p:nvPr>
        </p:nvGraphicFramePr>
        <p:xfrm>
          <a:off x="5854446" y="4169241"/>
          <a:ext cx="267652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8" name="object 1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825635"/>
              </p:ext>
            </p:extLst>
          </p:nvPr>
        </p:nvGraphicFramePr>
        <p:xfrm>
          <a:off x="5854446" y="5458925"/>
          <a:ext cx="267652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9" name="object 19"/>
          <p:cNvSpPr txBox="1"/>
          <p:nvPr/>
        </p:nvSpPr>
        <p:spPr>
          <a:xfrm>
            <a:off x="2359914" y="3858472"/>
            <a:ext cx="33020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PMingLiU"/>
                <a:cs typeface="PMingLiU"/>
              </a:rPr>
              <a:t>…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7032497" y="3530304"/>
            <a:ext cx="33020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PMingLiU"/>
                <a:cs typeface="PMingLiU"/>
              </a:rPr>
              <a:t>…</a:t>
            </a:r>
          </a:p>
        </p:txBody>
      </p:sp>
      <p:graphicFrame>
        <p:nvGraphicFramePr>
          <p:cNvPr id="21" name="object 2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6161421"/>
              </p:ext>
            </p:extLst>
          </p:nvPr>
        </p:nvGraphicFramePr>
        <p:xfrm>
          <a:off x="1237983" y="2221823"/>
          <a:ext cx="262953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2" name="object 2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22060172"/>
              </p:ext>
            </p:extLst>
          </p:nvPr>
        </p:nvGraphicFramePr>
        <p:xfrm>
          <a:off x="1237983" y="2766779"/>
          <a:ext cx="262953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3" name="object 2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1704884"/>
              </p:ext>
            </p:extLst>
          </p:nvPr>
        </p:nvGraphicFramePr>
        <p:xfrm>
          <a:off x="1237983" y="3311736"/>
          <a:ext cx="262953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6" name="object 2">
            <a:extLst>
              <a:ext uri="{FF2B5EF4-FFF2-40B4-BE49-F238E27FC236}">
                <a16:creationId xmlns:a16="http://schemas.microsoft.com/office/drawing/2014/main" id="{428A0770-99C2-2B41-8380-1E8B494AF489}"/>
              </a:ext>
            </a:extLst>
          </p:cNvPr>
          <p:cNvSpPr txBox="1"/>
          <p:nvPr/>
        </p:nvSpPr>
        <p:spPr>
          <a:xfrm>
            <a:off x="688340" y="1110536"/>
            <a:ext cx="285940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枚举所有子序列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sp>
        <p:nvSpPr>
          <p:cNvPr id="27" name="object 3">
            <a:extLst>
              <a:ext uri="{FF2B5EF4-FFF2-40B4-BE49-F238E27FC236}">
                <a16:creationId xmlns:a16="http://schemas.microsoft.com/office/drawing/2014/main" id="{A1009580-BBD3-8047-89CD-4A5946372357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37983" y="157124"/>
            <a:ext cx="2309762" cy="627736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0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蛮力枚</a:t>
            </a:r>
            <a:r>
              <a:rPr sz="40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举</a:t>
            </a:r>
            <a:endParaRPr sz="40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28" name="object 7">
            <a:extLst>
              <a:ext uri="{FF2B5EF4-FFF2-40B4-BE49-F238E27FC236}">
                <a16:creationId xmlns:a16="http://schemas.microsoft.com/office/drawing/2014/main" id="{4F0DEFAB-DA4F-274C-AA42-6B01BB400BD9}"/>
              </a:ext>
            </a:extLst>
          </p:cNvPr>
          <p:cNvSpPr txBox="1"/>
          <p:nvPr/>
        </p:nvSpPr>
        <p:spPr>
          <a:xfrm>
            <a:off x="4147058" y="6209791"/>
            <a:ext cx="3866515" cy="39116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b="1" dirty="0">
                <a:solidFill>
                  <a:schemeClr val="bg1"/>
                </a:solidFill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枚举并检查长度为</a:t>
            </a:r>
            <a:r>
              <a:rPr lang="en-US" altLang="zh-CN" sz="2400" b="1" dirty="0">
                <a:solidFill>
                  <a:schemeClr val="bg1"/>
                </a:solidFill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4</a:t>
            </a:r>
            <a:r>
              <a:rPr sz="2400" b="1" spc="-15" dirty="0">
                <a:solidFill>
                  <a:schemeClr val="bg1"/>
                </a:solidFill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的子序列</a:t>
            </a:r>
            <a:endParaRPr sz="2400" b="1" dirty="0">
              <a:solidFill>
                <a:schemeClr val="bg1"/>
              </a:solidFill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sp>
        <p:nvSpPr>
          <p:cNvPr id="2" name="云形 1">
            <a:extLst>
              <a:ext uri="{FF2B5EF4-FFF2-40B4-BE49-F238E27FC236}">
                <a16:creationId xmlns:a16="http://schemas.microsoft.com/office/drawing/2014/main" id="{04F95FDC-A73B-C444-81CE-449FB4997BF1}"/>
              </a:ext>
            </a:extLst>
          </p:cNvPr>
          <p:cNvSpPr/>
          <p:nvPr/>
        </p:nvSpPr>
        <p:spPr>
          <a:xfrm>
            <a:off x="8795625" y="3195516"/>
            <a:ext cx="2909455" cy="1432448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dirty="0"/>
              <a:t>尽管长度相同，子序列也不唯一</a:t>
            </a: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9365054"/>
              </p:ext>
            </p:extLst>
          </p:nvPr>
        </p:nvGraphicFramePr>
        <p:xfrm>
          <a:off x="1237983" y="1658376"/>
          <a:ext cx="4237351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" name="object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8876305"/>
              </p:ext>
            </p:extLst>
          </p:nvPr>
        </p:nvGraphicFramePr>
        <p:xfrm>
          <a:off x="5854446" y="1658376"/>
          <a:ext cx="374713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99879788"/>
              </p:ext>
            </p:extLst>
          </p:nvPr>
        </p:nvGraphicFramePr>
        <p:xfrm>
          <a:off x="1237983" y="2318141"/>
          <a:ext cx="3165473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13477521"/>
              </p:ext>
            </p:extLst>
          </p:nvPr>
        </p:nvGraphicFramePr>
        <p:xfrm>
          <a:off x="5854446" y="2318141"/>
          <a:ext cx="3211829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8" name="object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8987881"/>
              </p:ext>
            </p:extLst>
          </p:nvPr>
        </p:nvGraphicFramePr>
        <p:xfrm>
          <a:off x="5854446" y="2963808"/>
          <a:ext cx="3211829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10333246"/>
              </p:ext>
            </p:extLst>
          </p:nvPr>
        </p:nvGraphicFramePr>
        <p:xfrm>
          <a:off x="5854446" y="3609604"/>
          <a:ext cx="3211829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0" name="object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8441572"/>
              </p:ext>
            </p:extLst>
          </p:nvPr>
        </p:nvGraphicFramePr>
        <p:xfrm>
          <a:off x="5854446" y="4900939"/>
          <a:ext cx="3211829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1" name="object 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64402046"/>
              </p:ext>
            </p:extLst>
          </p:nvPr>
        </p:nvGraphicFramePr>
        <p:xfrm>
          <a:off x="5854446" y="5546607"/>
          <a:ext cx="3211829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3" name="object 1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88872859"/>
              </p:ext>
            </p:extLst>
          </p:nvPr>
        </p:nvGraphicFramePr>
        <p:xfrm>
          <a:off x="5854446" y="4255271"/>
          <a:ext cx="3211829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4" name="object 1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7623416"/>
              </p:ext>
            </p:extLst>
          </p:nvPr>
        </p:nvGraphicFramePr>
        <p:xfrm>
          <a:off x="1237983" y="2894848"/>
          <a:ext cx="3165473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5" name="object 1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92956999"/>
              </p:ext>
            </p:extLst>
          </p:nvPr>
        </p:nvGraphicFramePr>
        <p:xfrm>
          <a:off x="1237983" y="3471427"/>
          <a:ext cx="3165473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6" name="object 1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95395575"/>
              </p:ext>
            </p:extLst>
          </p:nvPr>
        </p:nvGraphicFramePr>
        <p:xfrm>
          <a:off x="1237983" y="4048007"/>
          <a:ext cx="3165473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7" name="object 1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9947145"/>
              </p:ext>
            </p:extLst>
          </p:nvPr>
        </p:nvGraphicFramePr>
        <p:xfrm>
          <a:off x="1237983" y="4624714"/>
          <a:ext cx="3165473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8" name="object 1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3616764"/>
              </p:ext>
            </p:extLst>
          </p:nvPr>
        </p:nvGraphicFramePr>
        <p:xfrm>
          <a:off x="1237983" y="5769238"/>
          <a:ext cx="3165473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1" name="object 2">
            <a:extLst>
              <a:ext uri="{FF2B5EF4-FFF2-40B4-BE49-F238E27FC236}">
                <a16:creationId xmlns:a16="http://schemas.microsoft.com/office/drawing/2014/main" id="{130A4069-590F-FE40-B2B2-817432CF786B}"/>
              </a:ext>
            </a:extLst>
          </p:cNvPr>
          <p:cNvSpPr txBox="1"/>
          <p:nvPr/>
        </p:nvSpPr>
        <p:spPr>
          <a:xfrm>
            <a:off x="688340" y="1110536"/>
            <a:ext cx="285940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枚举所有子序列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sp>
        <p:nvSpPr>
          <p:cNvPr id="22" name="object 3">
            <a:extLst>
              <a:ext uri="{FF2B5EF4-FFF2-40B4-BE49-F238E27FC236}">
                <a16:creationId xmlns:a16="http://schemas.microsoft.com/office/drawing/2014/main" id="{CB74658E-8A2F-D048-B48B-05A8D78B267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37983" y="157124"/>
            <a:ext cx="2309762" cy="627736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0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蛮力枚</a:t>
            </a:r>
            <a:r>
              <a:rPr sz="40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举</a:t>
            </a:r>
            <a:endParaRPr sz="40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23" name="object 7">
            <a:extLst>
              <a:ext uri="{FF2B5EF4-FFF2-40B4-BE49-F238E27FC236}">
                <a16:creationId xmlns:a16="http://schemas.microsoft.com/office/drawing/2014/main" id="{B0EAED17-E5E5-4C45-92DA-AE7C886B581A}"/>
              </a:ext>
            </a:extLst>
          </p:cNvPr>
          <p:cNvSpPr txBox="1"/>
          <p:nvPr/>
        </p:nvSpPr>
        <p:spPr>
          <a:xfrm>
            <a:off x="4147058" y="6209791"/>
            <a:ext cx="3866515" cy="39116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b="1" dirty="0">
                <a:solidFill>
                  <a:schemeClr val="bg1"/>
                </a:solidFill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枚举并检查</a:t>
            </a:r>
            <a:r>
              <a:rPr sz="2400" b="1" dirty="0">
                <a:solidFill>
                  <a:srgbClr val="FF0000"/>
                </a:solidFill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长度为</a:t>
            </a:r>
            <a:r>
              <a:rPr lang="en-US" altLang="zh-CN" sz="2400" b="1" dirty="0">
                <a:solidFill>
                  <a:srgbClr val="FF0000"/>
                </a:solidFill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5</a:t>
            </a:r>
            <a:r>
              <a:rPr sz="2400" b="1" spc="-15" dirty="0">
                <a:solidFill>
                  <a:schemeClr val="bg1"/>
                </a:solidFill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的子序列</a:t>
            </a:r>
            <a:endParaRPr sz="2400" b="1" dirty="0">
              <a:solidFill>
                <a:schemeClr val="bg1"/>
              </a:solidFill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1237983" y="1457960"/>
          <a:ext cx="4237351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5854446" y="1457960"/>
          <a:ext cx="374713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1237983" y="2117725"/>
          <a:ext cx="3165473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5854446" y="2117725"/>
          <a:ext cx="3211829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5854446" y="2763392"/>
          <a:ext cx="3211829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5854446" y="3409188"/>
          <a:ext cx="3211829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5854446" y="4700523"/>
          <a:ext cx="3211829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5854446" y="5346191"/>
          <a:ext cx="3211829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5854446" y="4054855"/>
          <a:ext cx="3211829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3" name="object 13"/>
          <p:cNvGraphicFramePr>
            <a:graphicFrameLocks noGrp="1"/>
          </p:cNvGraphicFramePr>
          <p:nvPr/>
        </p:nvGraphicFramePr>
        <p:xfrm>
          <a:off x="1237983" y="2694432"/>
          <a:ext cx="3165473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4" name="object 14"/>
          <p:cNvGraphicFramePr>
            <a:graphicFrameLocks noGrp="1"/>
          </p:cNvGraphicFramePr>
          <p:nvPr/>
        </p:nvGraphicFramePr>
        <p:xfrm>
          <a:off x="1237983" y="3271011"/>
          <a:ext cx="3165473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5" name="object 15"/>
          <p:cNvGraphicFramePr>
            <a:graphicFrameLocks noGrp="1"/>
          </p:cNvGraphicFramePr>
          <p:nvPr/>
        </p:nvGraphicFramePr>
        <p:xfrm>
          <a:off x="1237983" y="3847591"/>
          <a:ext cx="3165473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6" name="object 16"/>
          <p:cNvGraphicFramePr>
            <a:graphicFrameLocks noGrp="1"/>
          </p:cNvGraphicFramePr>
          <p:nvPr/>
        </p:nvGraphicFramePr>
        <p:xfrm>
          <a:off x="1237983" y="4424298"/>
          <a:ext cx="3165473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7" name="object 17"/>
          <p:cNvSpPr txBox="1"/>
          <p:nvPr/>
        </p:nvSpPr>
        <p:spPr>
          <a:xfrm>
            <a:off x="2658617" y="5002529"/>
            <a:ext cx="5354955" cy="159893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PMingLiU"/>
                <a:cs typeface="PMingLiU"/>
              </a:rPr>
              <a:t>…</a:t>
            </a:r>
          </a:p>
          <a:p>
            <a:pPr>
              <a:lnSpc>
                <a:spcPct val="100000"/>
              </a:lnSpc>
            </a:pPr>
            <a:endParaRPr sz="2900">
              <a:latin typeface="PMingLiU"/>
              <a:cs typeface="PMingLiU"/>
            </a:endParaRPr>
          </a:p>
          <a:p>
            <a:pPr marL="1501140">
              <a:lnSpc>
                <a:spcPct val="100000"/>
              </a:lnSpc>
              <a:spcBef>
                <a:spcPts val="2570"/>
              </a:spcBef>
            </a:pPr>
            <a:r>
              <a:rPr sz="2400">
                <a:latin typeface="PMingLiU"/>
                <a:cs typeface="PMingLiU"/>
              </a:rPr>
              <a:t>枚举并检查长度为</a:t>
            </a:r>
            <a:r>
              <a:rPr sz="2400">
                <a:latin typeface="Cambria Math"/>
                <a:cs typeface="Cambria Math"/>
              </a:rPr>
              <a:t>𝟓</a:t>
            </a:r>
            <a:r>
              <a:rPr sz="2400" spc="-15">
                <a:latin typeface="PMingLiU"/>
                <a:cs typeface="PMingLiU"/>
              </a:rPr>
              <a:t>的子序列</a:t>
            </a:r>
            <a:endParaRPr sz="2400">
              <a:latin typeface="PMingLiU"/>
              <a:cs typeface="PMingLiU"/>
            </a:endParaRPr>
          </a:p>
        </p:txBody>
      </p:sp>
      <p:graphicFrame>
        <p:nvGraphicFramePr>
          <p:cNvPr id="18" name="object 18"/>
          <p:cNvGraphicFramePr>
            <a:graphicFrameLocks noGrp="1"/>
          </p:cNvGraphicFramePr>
          <p:nvPr/>
        </p:nvGraphicFramePr>
        <p:xfrm>
          <a:off x="1237983" y="5568822"/>
          <a:ext cx="3165473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19" name="object 19"/>
          <p:cNvGrpSpPr/>
          <p:nvPr/>
        </p:nvGrpSpPr>
        <p:grpSpPr>
          <a:xfrm>
            <a:off x="1142364" y="2015617"/>
            <a:ext cx="4208145" cy="4070350"/>
            <a:chOff x="1142364" y="2015617"/>
            <a:chExt cx="4208145" cy="4070350"/>
          </a:xfrm>
        </p:grpSpPr>
        <p:pic>
          <p:nvPicPr>
            <p:cNvPr id="20" name="object 20"/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4816601" y="5519674"/>
              <a:ext cx="533400" cy="520700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1158239" y="2031492"/>
              <a:ext cx="3876040" cy="4038600"/>
            </a:xfrm>
            <a:custGeom>
              <a:avLst/>
              <a:gdLst/>
              <a:ahLst/>
              <a:cxnLst/>
              <a:rect l="l" t="t" r="r" b="b"/>
              <a:pathLst>
                <a:path w="3876040" h="4038600">
                  <a:moveTo>
                    <a:pt x="0" y="225425"/>
                  </a:moveTo>
                  <a:lnTo>
                    <a:pt x="4580" y="180005"/>
                  </a:lnTo>
                  <a:lnTo>
                    <a:pt x="17718" y="137695"/>
                  </a:lnTo>
                  <a:lnTo>
                    <a:pt x="38505" y="99404"/>
                  </a:lnTo>
                  <a:lnTo>
                    <a:pt x="66035" y="66039"/>
                  </a:lnTo>
                  <a:lnTo>
                    <a:pt x="99399" y="38509"/>
                  </a:lnTo>
                  <a:lnTo>
                    <a:pt x="137690" y="17720"/>
                  </a:lnTo>
                  <a:lnTo>
                    <a:pt x="180001" y="4581"/>
                  </a:lnTo>
                  <a:lnTo>
                    <a:pt x="225425" y="0"/>
                  </a:lnTo>
                  <a:lnTo>
                    <a:pt x="3650107" y="0"/>
                  </a:lnTo>
                  <a:lnTo>
                    <a:pt x="3695526" y="4581"/>
                  </a:lnTo>
                  <a:lnTo>
                    <a:pt x="3737836" y="17720"/>
                  </a:lnTo>
                  <a:lnTo>
                    <a:pt x="3776127" y="38509"/>
                  </a:lnTo>
                  <a:lnTo>
                    <a:pt x="3809492" y="66040"/>
                  </a:lnTo>
                  <a:lnTo>
                    <a:pt x="3837022" y="99404"/>
                  </a:lnTo>
                  <a:lnTo>
                    <a:pt x="3857811" y="137695"/>
                  </a:lnTo>
                  <a:lnTo>
                    <a:pt x="3870950" y="180005"/>
                  </a:lnTo>
                  <a:lnTo>
                    <a:pt x="3875532" y="225425"/>
                  </a:lnTo>
                  <a:lnTo>
                    <a:pt x="3875532" y="3813124"/>
                  </a:lnTo>
                  <a:lnTo>
                    <a:pt x="3870950" y="3858564"/>
                  </a:lnTo>
                  <a:lnTo>
                    <a:pt x="3857811" y="3900888"/>
                  </a:lnTo>
                  <a:lnTo>
                    <a:pt x="3837022" y="3939188"/>
                  </a:lnTo>
                  <a:lnTo>
                    <a:pt x="3809491" y="3972558"/>
                  </a:lnTo>
                  <a:lnTo>
                    <a:pt x="3776127" y="4000091"/>
                  </a:lnTo>
                  <a:lnTo>
                    <a:pt x="3737836" y="4020880"/>
                  </a:lnTo>
                  <a:lnTo>
                    <a:pt x="3695526" y="4034018"/>
                  </a:lnTo>
                  <a:lnTo>
                    <a:pt x="3650107" y="4038600"/>
                  </a:lnTo>
                  <a:lnTo>
                    <a:pt x="225425" y="4038600"/>
                  </a:lnTo>
                  <a:lnTo>
                    <a:pt x="180001" y="4034018"/>
                  </a:lnTo>
                  <a:lnTo>
                    <a:pt x="137690" y="4020880"/>
                  </a:lnTo>
                  <a:lnTo>
                    <a:pt x="99399" y="4000091"/>
                  </a:lnTo>
                  <a:lnTo>
                    <a:pt x="66035" y="3972558"/>
                  </a:lnTo>
                  <a:lnTo>
                    <a:pt x="38505" y="3939188"/>
                  </a:lnTo>
                  <a:lnTo>
                    <a:pt x="17718" y="3900888"/>
                  </a:lnTo>
                  <a:lnTo>
                    <a:pt x="4580" y="3858564"/>
                  </a:lnTo>
                  <a:lnTo>
                    <a:pt x="0" y="3813124"/>
                  </a:lnTo>
                  <a:lnTo>
                    <a:pt x="0" y="225425"/>
                  </a:lnTo>
                  <a:close/>
                </a:path>
              </a:pathLst>
            </a:custGeom>
            <a:ln w="31750">
              <a:solidFill>
                <a:srgbClr val="FF000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" name="object 2">
            <a:extLst>
              <a:ext uri="{FF2B5EF4-FFF2-40B4-BE49-F238E27FC236}">
                <a16:creationId xmlns:a16="http://schemas.microsoft.com/office/drawing/2014/main" id="{31514B66-8130-2342-8EC2-DD98B36A913F}"/>
              </a:ext>
            </a:extLst>
          </p:cNvPr>
          <p:cNvSpPr txBox="1"/>
          <p:nvPr/>
        </p:nvSpPr>
        <p:spPr>
          <a:xfrm>
            <a:off x="688340" y="930720"/>
            <a:ext cx="285940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枚举所有子序列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sp>
        <p:nvSpPr>
          <p:cNvPr id="25" name="object 3">
            <a:extLst>
              <a:ext uri="{FF2B5EF4-FFF2-40B4-BE49-F238E27FC236}">
                <a16:creationId xmlns:a16="http://schemas.microsoft.com/office/drawing/2014/main" id="{19CE53D9-24DD-6546-8C6F-280F6272033A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37983" y="157124"/>
            <a:ext cx="2309762" cy="627736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0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蛮力枚</a:t>
            </a:r>
            <a:r>
              <a:rPr sz="40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举</a:t>
            </a:r>
            <a:endParaRPr sz="40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602259" y="1457960"/>
          <a:ext cx="4232909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5218684" y="1457960"/>
          <a:ext cx="374713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602259" y="2229357"/>
          <a:ext cx="1021080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7399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b="1" i="1">
                          <a:latin typeface="Times New Roman"/>
                          <a:cs typeface="Times New Roman"/>
                        </a:rPr>
                        <a:t>B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5218684" y="2229230"/>
          <a:ext cx="1070610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2259" y="5315203"/>
          <a:ext cx="3162300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5220334" y="5314060"/>
          <a:ext cx="3211829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603250" y="3772280"/>
          <a:ext cx="2091690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5218557" y="3771646"/>
          <a:ext cx="2141219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5220334" y="4542790"/>
          <a:ext cx="267652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3" name="object 13"/>
          <p:cNvGraphicFramePr>
            <a:graphicFrameLocks noGrp="1"/>
          </p:cNvGraphicFramePr>
          <p:nvPr/>
        </p:nvGraphicFramePr>
        <p:xfrm>
          <a:off x="603250" y="4543805"/>
          <a:ext cx="262699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4" name="object 14"/>
          <p:cNvGraphicFramePr>
            <a:graphicFrameLocks noGrp="1"/>
          </p:cNvGraphicFramePr>
          <p:nvPr/>
        </p:nvGraphicFramePr>
        <p:xfrm>
          <a:off x="5218684" y="3000375"/>
          <a:ext cx="160591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5" name="object 15"/>
          <p:cNvGraphicFramePr>
            <a:graphicFrameLocks noGrp="1"/>
          </p:cNvGraphicFramePr>
          <p:nvPr/>
        </p:nvGraphicFramePr>
        <p:xfrm>
          <a:off x="602259" y="3000882"/>
          <a:ext cx="155638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6" name="object 16"/>
          <p:cNvGraphicFramePr>
            <a:graphicFrameLocks noGrp="1"/>
          </p:cNvGraphicFramePr>
          <p:nvPr/>
        </p:nvGraphicFramePr>
        <p:xfrm>
          <a:off x="5219700" y="6085268"/>
          <a:ext cx="374713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7" name="object 17"/>
          <p:cNvGraphicFramePr>
            <a:graphicFrameLocks noGrp="1"/>
          </p:cNvGraphicFramePr>
          <p:nvPr/>
        </p:nvGraphicFramePr>
        <p:xfrm>
          <a:off x="603250" y="6086665"/>
          <a:ext cx="369760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8" name="object 18"/>
          <p:cNvSpPr txBox="1"/>
          <p:nvPr/>
        </p:nvSpPr>
        <p:spPr>
          <a:xfrm>
            <a:off x="9648952" y="2247391"/>
            <a:ext cx="1093470" cy="42545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PMingLiU"/>
                <a:cs typeface="PMingLiU"/>
              </a:rPr>
              <a:t>长度为</a:t>
            </a:r>
            <a:r>
              <a:rPr sz="2400" b="1" spc="-50">
                <a:latin typeface="Times New Roman"/>
                <a:cs typeface="Times New Roman"/>
              </a:rPr>
              <a:t>1</a:t>
            </a:r>
            <a:endParaRPr sz="2400">
              <a:latin typeface="Times New Roman"/>
              <a:cs typeface="Times New Roman"/>
            </a:endParaRPr>
          </a:p>
          <a:p>
            <a:pPr marL="12700" marR="5080" algn="just">
              <a:lnSpc>
                <a:spcPct val="211200"/>
              </a:lnSpc>
            </a:pPr>
            <a:r>
              <a:rPr sz="2400">
                <a:latin typeface="PMingLiU"/>
                <a:cs typeface="PMingLiU"/>
              </a:rPr>
              <a:t>长度为</a:t>
            </a:r>
            <a:r>
              <a:rPr sz="2400" b="1" spc="-50">
                <a:latin typeface="Times New Roman"/>
                <a:cs typeface="Times New Roman"/>
              </a:rPr>
              <a:t>2</a:t>
            </a:r>
            <a:r>
              <a:rPr sz="2400">
                <a:latin typeface="PMingLiU"/>
                <a:cs typeface="PMingLiU"/>
              </a:rPr>
              <a:t>长度为</a:t>
            </a:r>
            <a:r>
              <a:rPr sz="2400" b="1" spc="-50">
                <a:latin typeface="Times New Roman"/>
                <a:cs typeface="Times New Roman"/>
              </a:rPr>
              <a:t>3</a:t>
            </a:r>
            <a:r>
              <a:rPr sz="2400">
                <a:latin typeface="PMingLiU"/>
                <a:cs typeface="PMingLiU"/>
              </a:rPr>
              <a:t>长度为</a:t>
            </a:r>
            <a:r>
              <a:rPr sz="2400" b="1" spc="-50">
                <a:latin typeface="Times New Roman"/>
                <a:cs typeface="Times New Roman"/>
              </a:rPr>
              <a:t>4</a:t>
            </a:r>
            <a:r>
              <a:rPr sz="2400">
                <a:latin typeface="PMingLiU"/>
                <a:cs typeface="PMingLiU"/>
              </a:rPr>
              <a:t>长度为</a:t>
            </a:r>
            <a:r>
              <a:rPr sz="2400" b="1" spc="-50">
                <a:latin typeface="Times New Roman"/>
                <a:cs typeface="Times New Roman"/>
              </a:rPr>
              <a:t>5</a:t>
            </a:r>
            <a:r>
              <a:rPr sz="2400">
                <a:latin typeface="PMingLiU"/>
                <a:cs typeface="PMingLiU"/>
              </a:rPr>
              <a:t>长度为</a:t>
            </a:r>
            <a:r>
              <a:rPr sz="2400" b="1" spc="-50">
                <a:latin typeface="Times New Roman"/>
                <a:cs typeface="Times New Roman"/>
              </a:rPr>
              <a:t>6</a:t>
            </a:r>
            <a:endParaRPr sz="2400">
              <a:latin typeface="Times New Roman"/>
              <a:cs typeface="Times New Roman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329945" y="5145785"/>
            <a:ext cx="9411970" cy="1625600"/>
            <a:chOff x="329945" y="5145785"/>
            <a:chExt cx="9411970" cy="1625600"/>
          </a:xfrm>
        </p:grpSpPr>
        <p:pic>
          <p:nvPicPr>
            <p:cNvPr id="20" name="object 20"/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9131807" y="6161531"/>
              <a:ext cx="609600" cy="609600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348995" y="5164835"/>
              <a:ext cx="9017635" cy="1510030"/>
            </a:xfrm>
            <a:custGeom>
              <a:avLst/>
              <a:gdLst/>
              <a:ahLst/>
              <a:cxnLst/>
              <a:rect l="l" t="t" r="r" b="b"/>
              <a:pathLst>
                <a:path w="9017635" h="1510029">
                  <a:moveTo>
                    <a:pt x="0" y="251586"/>
                  </a:moveTo>
                  <a:lnTo>
                    <a:pt x="4053" y="206366"/>
                  </a:lnTo>
                  <a:lnTo>
                    <a:pt x="15739" y="163804"/>
                  </a:lnTo>
                  <a:lnTo>
                    <a:pt x="34348" y="124610"/>
                  </a:lnTo>
                  <a:lnTo>
                    <a:pt x="59169" y="89496"/>
                  </a:lnTo>
                  <a:lnTo>
                    <a:pt x="89491" y="59173"/>
                  </a:lnTo>
                  <a:lnTo>
                    <a:pt x="124604" y="34351"/>
                  </a:lnTo>
                  <a:lnTo>
                    <a:pt x="163798" y="15741"/>
                  </a:lnTo>
                  <a:lnTo>
                    <a:pt x="206363" y="4053"/>
                  </a:lnTo>
                  <a:lnTo>
                    <a:pt x="251586" y="0"/>
                  </a:lnTo>
                  <a:lnTo>
                    <a:pt x="8765921" y="0"/>
                  </a:lnTo>
                  <a:lnTo>
                    <a:pt x="8811141" y="4053"/>
                  </a:lnTo>
                  <a:lnTo>
                    <a:pt x="8853703" y="15741"/>
                  </a:lnTo>
                  <a:lnTo>
                    <a:pt x="8892897" y="34351"/>
                  </a:lnTo>
                  <a:lnTo>
                    <a:pt x="8928011" y="59173"/>
                  </a:lnTo>
                  <a:lnTo>
                    <a:pt x="8958334" y="89496"/>
                  </a:lnTo>
                  <a:lnTo>
                    <a:pt x="8983156" y="124610"/>
                  </a:lnTo>
                  <a:lnTo>
                    <a:pt x="9001766" y="163804"/>
                  </a:lnTo>
                  <a:lnTo>
                    <a:pt x="9013454" y="206366"/>
                  </a:lnTo>
                  <a:lnTo>
                    <a:pt x="9017508" y="251586"/>
                  </a:lnTo>
                  <a:lnTo>
                    <a:pt x="9017508" y="1257934"/>
                  </a:lnTo>
                  <a:lnTo>
                    <a:pt x="9013454" y="1303158"/>
                  </a:lnTo>
                  <a:lnTo>
                    <a:pt x="9001766" y="1345723"/>
                  </a:lnTo>
                  <a:lnTo>
                    <a:pt x="8983156" y="1384917"/>
                  </a:lnTo>
                  <a:lnTo>
                    <a:pt x="8958334" y="1420030"/>
                  </a:lnTo>
                  <a:lnTo>
                    <a:pt x="8928011" y="1450352"/>
                  </a:lnTo>
                  <a:lnTo>
                    <a:pt x="8892897" y="1475173"/>
                  </a:lnTo>
                  <a:lnTo>
                    <a:pt x="8853703" y="1493782"/>
                  </a:lnTo>
                  <a:lnTo>
                    <a:pt x="8811141" y="1505468"/>
                  </a:lnTo>
                  <a:lnTo>
                    <a:pt x="8765921" y="1509521"/>
                  </a:lnTo>
                  <a:lnTo>
                    <a:pt x="251586" y="1509521"/>
                  </a:lnTo>
                  <a:lnTo>
                    <a:pt x="206363" y="1505468"/>
                  </a:lnTo>
                  <a:lnTo>
                    <a:pt x="163798" y="1493782"/>
                  </a:lnTo>
                  <a:lnTo>
                    <a:pt x="124604" y="1475173"/>
                  </a:lnTo>
                  <a:lnTo>
                    <a:pt x="89491" y="1450352"/>
                  </a:lnTo>
                  <a:lnTo>
                    <a:pt x="59169" y="1420030"/>
                  </a:lnTo>
                  <a:lnTo>
                    <a:pt x="34348" y="1384917"/>
                  </a:lnTo>
                  <a:lnTo>
                    <a:pt x="15739" y="1345723"/>
                  </a:lnTo>
                  <a:lnTo>
                    <a:pt x="4053" y="1303158"/>
                  </a:lnTo>
                  <a:lnTo>
                    <a:pt x="0" y="1257934"/>
                  </a:lnTo>
                  <a:lnTo>
                    <a:pt x="0" y="251586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" name="object 2">
            <a:extLst>
              <a:ext uri="{FF2B5EF4-FFF2-40B4-BE49-F238E27FC236}">
                <a16:creationId xmlns:a16="http://schemas.microsoft.com/office/drawing/2014/main" id="{862F01DD-E0A0-0545-B99B-C088F50FDA98}"/>
              </a:ext>
            </a:extLst>
          </p:cNvPr>
          <p:cNvSpPr txBox="1"/>
          <p:nvPr/>
        </p:nvSpPr>
        <p:spPr>
          <a:xfrm>
            <a:off x="688340" y="948918"/>
            <a:ext cx="285940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枚举所有子序列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sp>
        <p:nvSpPr>
          <p:cNvPr id="25" name="object 3">
            <a:extLst>
              <a:ext uri="{FF2B5EF4-FFF2-40B4-BE49-F238E27FC236}">
                <a16:creationId xmlns:a16="http://schemas.microsoft.com/office/drawing/2014/main" id="{6B9B62DD-8C63-1443-89EF-38FA676F26B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37983" y="157124"/>
            <a:ext cx="2309762" cy="627736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0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蛮力枚</a:t>
            </a:r>
            <a:r>
              <a:rPr sz="40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举</a:t>
            </a:r>
            <a:endParaRPr sz="40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602259" y="1457960"/>
          <a:ext cx="4232909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5218684" y="1457960"/>
          <a:ext cx="374713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602259" y="2229357"/>
          <a:ext cx="1021080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7399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b="1" i="1">
                          <a:latin typeface="Times New Roman"/>
                          <a:cs typeface="Times New Roman"/>
                        </a:rPr>
                        <a:t>B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5218684" y="2229230"/>
          <a:ext cx="1070610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8" name="object 8"/>
          <p:cNvSpPr txBox="1"/>
          <p:nvPr/>
        </p:nvSpPr>
        <p:spPr>
          <a:xfrm>
            <a:off x="9648952" y="2247391"/>
            <a:ext cx="1092200" cy="27089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PMingLiU"/>
                <a:cs typeface="PMingLiU"/>
              </a:rPr>
              <a:t>长度为</a:t>
            </a:r>
            <a:r>
              <a:rPr sz="2400" b="1" spc="-50">
                <a:latin typeface="Times New Roman"/>
                <a:cs typeface="Times New Roman"/>
              </a:rPr>
              <a:t>1</a:t>
            </a:r>
            <a:endParaRPr sz="2400">
              <a:latin typeface="Times New Roman"/>
              <a:cs typeface="Times New Roman"/>
            </a:endParaRPr>
          </a:p>
          <a:p>
            <a:pPr marL="12700" marR="5080" algn="just">
              <a:lnSpc>
                <a:spcPct val="211200"/>
              </a:lnSpc>
            </a:pPr>
            <a:r>
              <a:rPr sz="2400">
                <a:latin typeface="PMingLiU"/>
                <a:cs typeface="PMingLiU"/>
              </a:rPr>
              <a:t>长度为</a:t>
            </a:r>
            <a:r>
              <a:rPr sz="2400" b="1" spc="-50">
                <a:latin typeface="Times New Roman"/>
                <a:cs typeface="Times New Roman"/>
              </a:rPr>
              <a:t>2</a:t>
            </a:r>
            <a:r>
              <a:rPr sz="2400">
                <a:latin typeface="PMingLiU"/>
                <a:cs typeface="PMingLiU"/>
              </a:rPr>
              <a:t>长度为</a:t>
            </a:r>
            <a:r>
              <a:rPr sz="2400" b="1" spc="-50">
                <a:latin typeface="Times New Roman"/>
                <a:cs typeface="Times New Roman"/>
              </a:rPr>
              <a:t>3</a:t>
            </a:r>
            <a:r>
              <a:rPr sz="2400">
                <a:latin typeface="PMingLiU"/>
                <a:cs typeface="PMingLiU"/>
              </a:rPr>
              <a:t>长度为</a:t>
            </a:r>
            <a:r>
              <a:rPr sz="2400" b="1" spc="-50">
                <a:latin typeface="Times New Roman"/>
                <a:cs typeface="Times New Roman"/>
              </a:rPr>
              <a:t>4</a:t>
            </a:r>
            <a:endParaRPr sz="2400">
              <a:latin typeface="Times New Roman"/>
              <a:cs typeface="Times New Roman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603250" y="3772280"/>
          <a:ext cx="2091690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5218557" y="3771646"/>
          <a:ext cx="2141219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5220334" y="4542790"/>
          <a:ext cx="267652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603250" y="4543805"/>
          <a:ext cx="262699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3" name="object 13"/>
          <p:cNvGraphicFramePr>
            <a:graphicFrameLocks noGrp="1"/>
          </p:cNvGraphicFramePr>
          <p:nvPr/>
        </p:nvGraphicFramePr>
        <p:xfrm>
          <a:off x="5218684" y="3000375"/>
          <a:ext cx="160591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4" name="object 14"/>
          <p:cNvGraphicFramePr>
            <a:graphicFrameLocks noGrp="1"/>
          </p:cNvGraphicFramePr>
          <p:nvPr/>
        </p:nvGraphicFramePr>
        <p:xfrm>
          <a:off x="602259" y="3000882"/>
          <a:ext cx="155638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5" name="object 15"/>
          <p:cNvSpPr/>
          <p:nvPr/>
        </p:nvSpPr>
        <p:spPr>
          <a:xfrm>
            <a:off x="348995" y="2001773"/>
            <a:ext cx="9017635" cy="3171825"/>
          </a:xfrm>
          <a:custGeom>
            <a:avLst/>
            <a:gdLst/>
            <a:ahLst/>
            <a:cxnLst/>
            <a:rect l="l" t="t" r="r" b="b"/>
            <a:pathLst>
              <a:path w="9017635" h="3171825">
                <a:moveTo>
                  <a:pt x="0" y="528574"/>
                </a:moveTo>
                <a:lnTo>
                  <a:pt x="2160" y="480455"/>
                </a:lnTo>
                <a:lnTo>
                  <a:pt x="8516" y="433549"/>
                </a:lnTo>
                <a:lnTo>
                  <a:pt x="18881" y="388040"/>
                </a:lnTo>
                <a:lnTo>
                  <a:pt x="33069" y="344117"/>
                </a:lnTo>
                <a:lnTo>
                  <a:pt x="50893" y="301965"/>
                </a:lnTo>
                <a:lnTo>
                  <a:pt x="72166" y="261770"/>
                </a:lnTo>
                <a:lnTo>
                  <a:pt x="96702" y="223720"/>
                </a:lnTo>
                <a:lnTo>
                  <a:pt x="124315" y="188000"/>
                </a:lnTo>
                <a:lnTo>
                  <a:pt x="154817" y="154797"/>
                </a:lnTo>
                <a:lnTo>
                  <a:pt x="188023" y="124297"/>
                </a:lnTo>
                <a:lnTo>
                  <a:pt x="223745" y="96688"/>
                </a:lnTo>
                <a:lnTo>
                  <a:pt x="261796" y="72154"/>
                </a:lnTo>
                <a:lnTo>
                  <a:pt x="301991" y="50884"/>
                </a:lnTo>
                <a:lnTo>
                  <a:pt x="344143" y="33063"/>
                </a:lnTo>
                <a:lnTo>
                  <a:pt x="388065" y="18877"/>
                </a:lnTo>
                <a:lnTo>
                  <a:pt x="433571" y="8514"/>
                </a:lnTo>
                <a:lnTo>
                  <a:pt x="480473" y="2159"/>
                </a:lnTo>
                <a:lnTo>
                  <a:pt x="528586" y="0"/>
                </a:lnTo>
                <a:lnTo>
                  <a:pt x="8488934" y="0"/>
                </a:lnTo>
                <a:lnTo>
                  <a:pt x="8537052" y="2159"/>
                </a:lnTo>
                <a:lnTo>
                  <a:pt x="8583958" y="8514"/>
                </a:lnTo>
                <a:lnTo>
                  <a:pt x="8629467" y="18877"/>
                </a:lnTo>
                <a:lnTo>
                  <a:pt x="8673390" y="33063"/>
                </a:lnTo>
                <a:lnTo>
                  <a:pt x="8715542" y="50884"/>
                </a:lnTo>
                <a:lnTo>
                  <a:pt x="8755737" y="72154"/>
                </a:lnTo>
                <a:lnTo>
                  <a:pt x="8793787" y="96688"/>
                </a:lnTo>
                <a:lnTo>
                  <a:pt x="8829507" y="124297"/>
                </a:lnTo>
                <a:lnTo>
                  <a:pt x="8862710" y="154797"/>
                </a:lnTo>
                <a:lnTo>
                  <a:pt x="8893210" y="188000"/>
                </a:lnTo>
                <a:lnTo>
                  <a:pt x="8920819" y="223720"/>
                </a:lnTo>
                <a:lnTo>
                  <a:pt x="8945353" y="261770"/>
                </a:lnTo>
                <a:lnTo>
                  <a:pt x="8966623" y="301965"/>
                </a:lnTo>
                <a:lnTo>
                  <a:pt x="8984444" y="344117"/>
                </a:lnTo>
                <a:lnTo>
                  <a:pt x="8998630" y="388040"/>
                </a:lnTo>
                <a:lnTo>
                  <a:pt x="9008993" y="433549"/>
                </a:lnTo>
                <a:lnTo>
                  <a:pt x="9015348" y="480455"/>
                </a:lnTo>
                <a:lnTo>
                  <a:pt x="9017508" y="528574"/>
                </a:lnTo>
                <a:lnTo>
                  <a:pt x="9017508" y="2642870"/>
                </a:lnTo>
                <a:lnTo>
                  <a:pt x="9015348" y="2690988"/>
                </a:lnTo>
                <a:lnTo>
                  <a:pt x="9008993" y="2737894"/>
                </a:lnTo>
                <a:lnTo>
                  <a:pt x="8998630" y="2783403"/>
                </a:lnTo>
                <a:lnTo>
                  <a:pt x="8984444" y="2827326"/>
                </a:lnTo>
                <a:lnTo>
                  <a:pt x="8966623" y="2869478"/>
                </a:lnTo>
                <a:lnTo>
                  <a:pt x="8945353" y="2909673"/>
                </a:lnTo>
                <a:lnTo>
                  <a:pt x="8920819" y="2947723"/>
                </a:lnTo>
                <a:lnTo>
                  <a:pt x="8893210" y="2983443"/>
                </a:lnTo>
                <a:lnTo>
                  <a:pt x="8862710" y="3016646"/>
                </a:lnTo>
                <a:lnTo>
                  <a:pt x="8829507" y="3047146"/>
                </a:lnTo>
                <a:lnTo>
                  <a:pt x="8793787" y="3074755"/>
                </a:lnTo>
                <a:lnTo>
                  <a:pt x="8755737" y="3099289"/>
                </a:lnTo>
                <a:lnTo>
                  <a:pt x="8715542" y="3120559"/>
                </a:lnTo>
                <a:lnTo>
                  <a:pt x="8673390" y="3138380"/>
                </a:lnTo>
                <a:lnTo>
                  <a:pt x="8629467" y="3152566"/>
                </a:lnTo>
                <a:lnTo>
                  <a:pt x="8583958" y="3162929"/>
                </a:lnTo>
                <a:lnTo>
                  <a:pt x="8537052" y="3169284"/>
                </a:lnTo>
                <a:lnTo>
                  <a:pt x="8488934" y="3171444"/>
                </a:lnTo>
                <a:lnTo>
                  <a:pt x="528586" y="3171444"/>
                </a:lnTo>
                <a:lnTo>
                  <a:pt x="480473" y="3169284"/>
                </a:lnTo>
                <a:lnTo>
                  <a:pt x="433571" y="3162929"/>
                </a:lnTo>
                <a:lnTo>
                  <a:pt x="388065" y="3152566"/>
                </a:lnTo>
                <a:lnTo>
                  <a:pt x="344143" y="3138380"/>
                </a:lnTo>
                <a:lnTo>
                  <a:pt x="301991" y="3120559"/>
                </a:lnTo>
                <a:lnTo>
                  <a:pt x="261796" y="3099289"/>
                </a:lnTo>
                <a:lnTo>
                  <a:pt x="223745" y="3074755"/>
                </a:lnTo>
                <a:lnTo>
                  <a:pt x="188023" y="3047146"/>
                </a:lnTo>
                <a:lnTo>
                  <a:pt x="154817" y="3016646"/>
                </a:lnTo>
                <a:lnTo>
                  <a:pt x="124315" y="2983443"/>
                </a:lnTo>
                <a:lnTo>
                  <a:pt x="96702" y="2947723"/>
                </a:lnTo>
                <a:lnTo>
                  <a:pt x="72166" y="2909673"/>
                </a:lnTo>
                <a:lnTo>
                  <a:pt x="50893" y="2869478"/>
                </a:lnTo>
                <a:lnTo>
                  <a:pt x="33069" y="2827326"/>
                </a:lnTo>
                <a:lnTo>
                  <a:pt x="18881" y="2783403"/>
                </a:lnTo>
                <a:lnTo>
                  <a:pt x="8516" y="2737894"/>
                </a:lnTo>
                <a:lnTo>
                  <a:pt x="2160" y="2690988"/>
                </a:lnTo>
                <a:lnTo>
                  <a:pt x="0" y="2642870"/>
                </a:lnTo>
                <a:lnTo>
                  <a:pt x="0" y="528574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2">
            <a:extLst>
              <a:ext uri="{FF2B5EF4-FFF2-40B4-BE49-F238E27FC236}">
                <a16:creationId xmlns:a16="http://schemas.microsoft.com/office/drawing/2014/main" id="{19D62877-3089-264F-889F-AF4B489AD61D}"/>
              </a:ext>
            </a:extLst>
          </p:cNvPr>
          <p:cNvSpPr txBox="1"/>
          <p:nvPr/>
        </p:nvSpPr>
        <p:spPr>
          <a:xfrm>
            <a:off x="688340" y="931292"/>
            <a:ext cx="285940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枚举所有子序列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sp>
        <p:nvSpPr>
          <p:cNvPr id="19" name="object 3">
            <a:extLst>
              <a:ext uri="{FF2B5EF4-FFF2-40B4-BE49-F238E27FC236}">
                <a16:creationId xmlns:a16="http://schemas.microsoft.com/office/drawing/2014/main" id="{8E7B2910-6593-4246-9D4B-85CB2FF21257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37983" y="157124"/>
            <a:ext cx="2309762" cy="627736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0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蛮力枚</a:t>
            </a:r>
            <a:r>
              <a:rPr sz="40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举</a:t>
            </a:r>
            <a:endParaRPr sz="40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602259" y="1457960"/>
          <a:ext cx="4232909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5218684" y="1457960"/>
          <a:ext cx="374713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602259" y="2229357"/>
          <a:ext cx="1021080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7399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b="1" i="1">
                          <a:latin typeface="Times New Roman"/>
                          <a:cs typeface="Times New Roman"/>
                        </a:rPr>
                        <a:t>B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5218684" y="2229230"/>
          <a:ext cx="1070610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8" name="object 8"/>
          <p:cNvSpPr txBox="1"/>
          <p:nvPr/>
        </p:nvSpPr>
        <p:spPr>
          <a:xfrm>
            <a:off x="9648952" y="2247391"/>
            <a:ext cx="1092200" cy="27089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PMingLiU"/>
                <a:cs typeface="PMingLiU"/>
              </a:rPr>
              <a:t>长度为</a:t>
            </a:r>
            <a:r>
              <a:rPr sz="2400" b="1" spc="-50">
                <a:latin typeface="Times New Roman"/>
                <a:cs typeface="Times New Roman"/>
              </a:rPr>
              <a:t>1</a:t>
            </a:r>
            <a:endParaRPr sz="2400">
              <a:latin typeface="Times New Roman"/>
              <a:cs typeface="Times New Roman"/>
            </a:endParaRPr>
          </a:p>
          <a:p>
            <a:pPr marL="12700" marR="5080" algn="just">
              <a:lnSpc>
                <a:spcPct val="211200"/>
              </a:lnSpc>
            </a:pPr>
            <a:r>
              <a:rPr sz="2400">
                <a:latin typeface="PMingLiU"/>
                <a:cs typeface="PMingLiU"/>
              </a:rPr>
              <a:t>长度为</a:t>
            </a:r>
            <a:r>
              <a:rPr sz="2400" b="1" spc="-50">
                <a:latin typeface="Times New Roman"/>
                <a:cs typeface="Times New Roman"/>
              </a:rPr>
              <a:t>2</a:t>
            </a:r>
            <a:r>
              <a:rPr sz="2400">
                <a:latin typeface="PMingLiU"/>
                <a:cs typeface="PMingLiU"/>
              </a:rPr>
              <a:t>长度为</a:t>
            </a:r>
            <a:r>
              <a:rPr sz="2400" b="1" spc="-50">
                <a:latin typeface="Times New Roman"/>
                <a:cs typeface="Times New Roman"/>
              </a:rPr>
              <a:t>3</a:t>
            </a:r>
            <a:r>
              <a:rPr sz="2400">
                <a:latin typeface="PMingLiU"/>
                <a:cs typeface="PMingLiU"/>
              </a:rPr>
              <a:t>长度为</a:t>
            </a:r>
            <a:r>
              <a:rPr sz="2400" b="1" spc="-50">
                <a:latin typeface="Times New Roman"/>
                <a:cs typeface="Times New Roman"/>
              </a:rPr>
              <a:t>4</a:t>
            </a:r>
            <a:endParaRPr sz="2400">
              <a:latin typeface="Times New Roman"/>
              <a:cs typeface="Times New Roman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603250" y="3772280"/>
          <a:ext cx="2091690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5218557" y="3771646"/>
          <a:ext cx="2141219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5220334" y="4542790"/>
          <a:ext cx="267652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603250" y="4543805"/>
          <a:ext cx="262699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3" name="object 13"/>
          <p:cNvGraphicFramePr>
            <a:graphicFrameLocks noGrp="1"/>
          </p:cNvGraphicFramePr>
          <p:nvPr/>
        </p:nvGraphicFramePr>
        <p:xfrm>
          <a:off x="5218684" y="3000375"/>
          <a:ext cx="160591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4" name="object 14"/>
          <p:cNvGraphicFramePr>
            <a:graphicFrameLocks noGrp="1"/>
          </p:cNvGraphicFramePr>
          <p:nvPr/>
        </p:nvGraphicFramePr>
        <p:xfrm>
          <a:off x="602259" y="3000882"/>
          <a:ext cx="155638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15" name="object 15"/>
          <p:cNvGrpSpPr/>
          <p:nvPr/>
        </p:nvGrpSpPr>
        <p:grpSpPr>
          <a:xfrm>
            <a:off x="329945" y="4412741"/>
            <a:ext cx="9109075" cy="1149350"/>
            <a:chOff x="329945" y="4412741"/>
            <a:chExt cx="9109075" cy="1149350"/>
          </a:xfrm>
        </p:grpSpPr>
        <p:sp>
          <p:nvSpPr>
            <p:cNvPr id="16" name="object 16"/>
            <p:cNvSpPr/>
            <p:nvPr/>
          </p:nvSpPr>
          <p:spPr>
            <a:xfrm>
              <a:off x="348995" y="4431791"/>
              <a:ext cx="9017635" cy="677545"/>
            </a:xfrm>
            <a:custGeom>
              <a:avLst/>
              <a:gdLst/>
              <a:ahLst/>
              <a:cxnLst/>
              <a:rect l="l" t="t" r="r" b="b"/>
              <a:pathLst>
                <a:path w="9017635" h="677545">
                  <a:moveTo>
                    <a:pt x="0" y="112902"/>
                  </a:moveTo>
                  <a:lnTo>
                    <a:pt x="8872" y="68955"/>
                  </a:lnTo>
                  <a:lnTo>
                    <a:pt x="33067" y="33067"/>
                  </a:lnTo>
                  <a:lnTo>
                    <a:pt x="68955" y="8872"/>
                  </a:lnTo>
                  <a:lnTo>
                    <a:pt x="112902" y="0"/>
                  </a:lnTo>
                  <a:lnTo>
                    <a:pt x="8904605" y="0"/>
                  </a:lnTo>
                  <a:lnTo>
                    <a:pt x="8948552" y="8872"/>
                  </a:lnTo>
                  <a:lnTo>
                    <a:pt x="8984440" y="33067"/>
                  </a:lnTo>
                  <a:lnTo>
                    <a:pt x="9008635" y="68955"/>
                  </a:lnTo>
                  <a:lnTo>
                    <a:pt x="9017508" y="112902"/>
                  </a:lnTo>
                  <a:lnTo>
                    <a:pt x="9017508" y="564514"/>
                  </a:lnTo>
                  <a:lnTo>
                    <a:pt x="9008635" y="608462"/>
                  </a:lnTo>
                  <a:lnTo>
                    <a:pt x="8984440" y="644350"/>
                  </a:lnTo>
                  <a:lnTo>
                    <a:pt x="8948552" y="668545"/>
                  </a:lnTo>
                  <a:lnTo>
                    <a:pt x="8904605" y="677417"/>
                  </a:lnTo>
                  <a:lnTo>
                    <a:pt x="112902" y="677417"/>
                  </a:lnTo>
                  <a:lnTo>
                    <a:pt x="68955" y="668545"/>
                  </a:lnTo>
                  <a:lnTo>
                    <a:pt x="33067" y="644350"/>
                  </a:lnTo>
                  <a:lnTo>
                    <a:pt x="8872" y="608462"/>
                  </a:lnTo>
                  <a:lnTo>
                    <a:pt x="0" y="564514"/>
                  </a:lnTo>
                  <a:lnTo>
                    <a:pt x="0" y="112902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8901684" y="5024627"/>
              <a:ext cx="537209" cy="537210"/>
            </a:xfrm>
            <a:prstGeom prst="rect">
              <a:avLst/>
            </a:prstGeom>
          </p:spPr>
        </p:pic>
      </p:grpSp>
      <p:sp>
        <p:nvSpPr>
          <p:cNvPr id="18" name="object 18"/>
          <p:cNvSpPr txBox="1"/>
          <p:nvPr/>
        </p:nvSpPr>
        <p:spPr>
          <a:xfrm>
            <a:off x="5225034" y="5393435"/>
            <a:ext cx="2698750" cy="523875"/>
          </a:xfrm>
          <a:prstGeom prst="rect">
            <a:avLst/>
          </a:prstGeom>
          <a:solidFill>
            <a:srgbClr val="006FC0"/>
          </a:solidFill>
        </p:spPr>
        <p:txBody>
          <a:bodyPr vert="horz" wrap="square" lIns="0" tIns="3810" rIns="0" bIns="0" rtlCol="0">
            <a:spAutoFit/>
          </a:bodyPr>
          <a:lstStyle/>
          <a:p>
            <a:pPr marL="102870">
              <a:lnSpc>
                <a:spcPct val="100000"/>
              </a:lnSpc>
              <a:spcBef>
                <a:spcPts val="30"/>
              </a:spcBef>
            </a:pPr>
            <a:r>
              <a:rPr sz="2800" spc="-10">
                <a:solidFill>
                  <a:srgbClr val="FFFFFF"/>
                </a:solidFill>
                <a:latin typeface="PMingLiU"/>
                <a:cs typeface="PMingLiU"/>
              </a:rPr>
              <a:t>最长公共子序列</a:t>
            </a:r>
            <a:endParaRPr sz="2800">
              <a:latin typeface="PMingLiU"/>
              <a:cs typeface="PMingLiU"/>
            </a:endParaRPr>
          </a:p>
        </p:txBody>
      </p:sp>
      <p:sp>
        <p:nvSpPr>
          <p:cNvPr id="21" name="object 2">
            <a:extLst>
              <a:ext uri="{FF2B5EF4-FFF2-40B4-BE49-F238E27FC236}">
                <a16:creationId xmlns:a16="http://schemas.microsoft.com/office/drawing/2014/main" id="{09F15DF3-2B0E-BB4E-852D-9BBC0C452BF1}"/>
              </a:ext>
            </a:extLst>
          </p:cNvPr>
          <p:cNvSpPr txBox="1"/>
          <p:nvPr/>
        </p:nvSpPr>
        <p:spPr>
          <a:xfrm>
            <a:off x="688340" y="922646"/>
            <a:ext cx="285940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枚举所有子序列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sp>
        <p:nvSpPr>
          <p:cNvPr id="22" name="object 3">
            <a:extLst>
              <a:ext uri="{FF2B5EF4-FFF2-40B4-BE49-F238E27FC236}">
                <a16:creationId xmlns:a16="http://schemas.microsoft.com/office/drawing/2014/main" id="{AD4CDBD7-51E3-084F-92EA-21E2E649B592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37983" y="157124"/>
            <a:ext cx="2309762" cy="627736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0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蛮力枚</a:t>
            </a:r>
            <a:r>
              <a:rPr sz="40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举</a:t>
            </a:r>
            <a:endParaRPr sz="40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289137" y="193670"/>
            <a:ext cx="2105416" cy="56618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6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枚举观</a:t>
            </a:r>
            <a:r>
              <a:rPr sz="36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察</a:t>
            </a:r>
            <a:endParaRPr sz="36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5485765" y="1028953"/>
          <a:ext cx="267652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414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869365" y="1028953"/>
          <a:ext cx="262699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 dirty="0">
                          <a:latin typeface="Cambria Math"/>
                          <a:cs typeface="Cambria Math"/>
                        </a:rPr>
                        <a:t>𝑫</a:t>
                      </a:r>
                      <a:endParaRPr sz="2200" dirty="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 dirty="0">
                          <a:latin typeface="Cambria Math"/>
                          <a:cs typeface="Cambria Math"/>
                        </a:rPr>
                        <a:t>𝑩</a:t>
                      </a:r>
                      <a:endParaRPr sz="2200" dirty="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" name="object 5"/>
          <p:cNvSpPr txBox="1"/>
          <p:nvPr/>
        </p:nvSpPr>
        <p:spPr>
          <a:xfrm>
            <a:off x="9507981" y="1036828"/>
            <a:ext cx="1092835" cy="3917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spc="-10">
                <a:latin typeface="PMingLiU"/>
                <a:cs typeface="PMingLiU"/>
              </a:rPr>
              <a:t>长度为</a:t>
            </a:r>
            <a:r>
              <a:rPr sz="2400" b="1" spc="-50">
                <a:latin typeface="Times New Roman"/>
                <a:cs typeface="Times New Roman"/>
              </a:rPr>
              <a:t>4</a:t>
            </a:r>
            <a:endParaRPr sz="24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/>
          <p:nvPr/>
        </p:nvSpPr>
        <p:spPr>
          <a:xfrm>
            <a:off x="9507981" y="1036828"/>
            <a:ext cx="1092835" cy="103631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spc="-10">
                <a:latin typeface="PMingLiU"/>
                <a:cs typeface="PMingLiU"/>
              </a:rPr>
              <a:t>长度为</a:t>
            </a:r>
            <a:r>
              <a:rPr sz="2400" b="1" spc="-50">
                <a:latin typeface="Times New Roman"/>
                <a:cs typeface="Times New Roman"/>
              </a:rPr>
              <a:t>4</a:t>
            </a:r>
            <a:endParaRPr sz="2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195"/>
              </a:spcBef>
            </a:pPr>
            <a:r>
              <a:rPr sz="2400">
                <a:latin typeface="PMingLiU"/>
                <a:cs typeface="PMingLiU"/>
              </a:rPr>
              <a:t>长度为</a:t>
            </a:r>
            <a:r>
              <a:rPr sz="2400" b="1" spc="-50">
                <a:latin typeface="Times New Roman"/>
                <a:cs typeface="Times New Roman"/>
              </a:rPr>
              <a:t>3</a:t>
            </a:r>
            <a:endParaRPr sz="2400">
              <a:latin typeface="Times New Roman"/>
              <a:cs typeface="Times New Roman"/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869365" y="1673479"/>
          <a:ext cx="2091690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657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b="1" i="1">
                          <a:latin typeface="Times New Roman"/>
                          <a:cs typeface="Times New Roman"/>
                        </a:rPr>
                        <a:t>D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5485765" y="1673479"/>
          <a:ext cx="2141219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414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5485765" y="1028953"/>
          <a:ext cx="267652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414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869365" y="1028953"/>
          <a:ext cx="262699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0" name="object 2">
            <a:extLst>
              <a:ext uri="{FF2B5EF4-FFF2-40B4-BE49-F238E27FC236}">
                <a16:creationId xmlns:a16="http://schemas.microsoft.com/office/drawing/2014/main" id="{DA412E73-69EC-1543-BEBE-D80AFE4A14A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89137" y="193670"/>
            <a:ext cx="2105416" cy="56618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6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枚举观</a:t>
            </a:r>
            <a:r>
              <a:rPr sz="36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察</a:t>
            </a:r>
            <a:endParaRPr sz="36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/>
          <p:nvPr/>
        </p:nvSpPr>
        <p:spPr>
          <a:xfrm>
            <a:off x="9507981" y="1036828"/>
            <a:ext cx="1092835" cy="16897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spc="-10">
                <a:latin typeface="PMingLiU"/>
                <a:cs typeface="PMingLiU"/>
              </a:rPr>
              <a:t>长度为</a:t>
            </a:r>
            <a:r>
              <a:rPr sz="2400" b="1" spc="-50">
                <a:latin typeface="Times New Roman"/>
                <a:cs typeface="Times New Roman"/>
              </a:rPr>
              <a:t>4</a:t>
            </a:r>
            <a:endParaRPr sz="2400">
              <a:latin typeface="Times New Roman"/>
              <a:cs typeface="Times New Roman"/>
            </a:endParaRPr>
          </a:p>
          <a:p>
            <a:pPr marL="12700" marR="5080">
              <a:lnSpc>
                <a:spcPts val="5140"/>
              </a:lnSpc>
              <a:spcBef>
                <a:spcPts val="285"/>
              </a:spcBef>
            </a:pPr>
            <a:r>
              <a:rPr sz="2400">
                <a:latin typeface="PMingLiU"/>
                <a:cs typeface="PMingLiU"/>
              </a:rPr>
              <a:t>长度为</a:t>
            </a:r>
            <a:r>
              <a:rPr sz="2400" b="1" spc="-50">
                <a:latin typeface="Times New Roman"/>
                <a:cs typeface="Times New Roman"/>
              </a:rPr>
              <a:t>3</a:t>
            </a:r>
            <a:r>
              <a:rPr sz="2400">
                <a:latin typeface="PMingLiU"/>
                <a:cs typeface="PMingLiU"/>
              </a:rPr>
              <a:t>长度为</a:t>
            </a:r>
            <a:r>
              <a:rPr sz="2400" b="1" spc="-50">
                <a:latin typeface="Times New Roman"/>
                <a:cs typeface="Times New Roman"/>
              </a:rPr>
              <a:t>2</a:t>
            </a:r>
            <a:endParaRPr sz="2400">
              <a:latin typeface="Times New Roman"/>
              <a:cs typeface="Times New Roman"/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869365" y="1673479"/>
          <a:ext cx="2091690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657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b="1" i="1">
                          <a:latin typeface="Times New Roman"/>
                          <a:cs typeface="Times New Roman"/>
                        </a:rPr>
                        <a:t>D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5485765" y="1673479"/>
          <a:ext cx="2141219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414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5485765" y="1028953"/>
          <a:ext cx="267652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414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869365" y="1028953"/>
          <a:ext cx="262699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5485765" y="2318004"/>
          <a:ext cx="160591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414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869365" y="2318004"/>
          <a:ext cx="155638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2" name="object 2">
            <a:extLst>
              <a:ext uri="{FF2B5EF4-FFF2-40B4-BE49-F238E27FC236}">
                <a16:creationId xmlns:a16="http://schemas.microsoft.com/office/drawing/2014/main" id="{D9C8D159-A9FB-CF45-B71E-61694A7B36AF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89137" y="193670"/>
            <a:ext cx="2105416" cy="56618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6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枚举观</a:t>
            </a:r>
            <a:r>
              <a:rPr sz="36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察</a:t>
            </a:r>
            <a:endParaRPr sz="36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/>
          <p:nvPr/>
        </p:nvSpPr>
        <p:spPr>
          <a:xfrm>
            <a:off x="9507981" y="1036828"/>
            <a:ext cx="1092835" cy="23342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spc="-10">
                <a:latin typeface="PMingLiU"/>
                <a:cs typeface="PMingLiU"/>
              </a:rPr>
              <a:t>长度为</a:t>
            </a:r>
            <a:r>
              <a:rPr sz="2400" b="1" spc="-50">
                <a:latin typeface="Times New Roman"/>
                <a:cs typeface="Times New Roman"/>
              </a:rPr>
              <a:t>4</a:t>
            </a:r>
            <a:endParaRPr sz="2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195"/>
              </a:spcBef>
            </a:pPr>
            <a:r>
              <a:rPr sz="2400">
                <a:latin typeface="PMingLiU"/>
                <a:cs typeface="PMingLiU"/>
              </a:rPr>
              <a:t>长度为</a:t>
            </a:r>
            <a:r>
              <a:rPr sz="2400" b="1" spc="-50">
                <a:latin typeface="Times New Roman"/>
                <a:cs typeface="Times New Roman"/>
              </a:rPr>
              <a:t>3</a:t>
            </a:r>
            <a:endParaRPr sz="2400">
              <a:latin typeface="Times New Roman"/>
              <a:cs typeface="Times New Roman"/>
            </a:endParaRPr>
          </a:p>
          <a:p>
            <a:pPr marL="12700" marR="5080">
              <a:lnSpc>
                <a:spcPct val="176300"/>
              </a:lnSpc>
              <a:spcBef>
                <a:spcPts val="70"/>
              </a:spcBef>
            </a:pPr>
            <a:r>
              <a:rPr sz="2400">
                <a:latin typeface="PMingLiU"/>
                <a:cs typeface="PMingLiU"/>
              </a:rPr>
              <a:t>长度为</a:t>
            </a:r>
            <a:r>
              <a:rPr sz="2400" b="1" spc="-50">
                <a:latin typeface="Times New Roman"/>
                <a:cs typeface="Times New Roman"/>
              </a:rPr>
              <a:t>2</a:t>
            </a:r>
            <a:r>
              <a:rPr sz="2400">
                <a:latin typeface="PMingLiU"/>
                <a:cs typeface="PMingLiU"/>
              </a:rPr>
              <a:t>长度为</a:t>
            </a:r>
            <a:r>
              <a:rPr sz="2400" b="1" spc="-50">
                <a:latin typeface="Times New Roman"/>
                <a:cs typeface="Times New Roman"/>
              </a:rPr>
              <a:t>1</a:t>
            </a:r>
            <a:endParaRPr sz="2400">
              <a:latin typeface="Times New Roman"/>
              <a:cs typeface="Times New Roman"/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869365" y="1673479"/>
          <a:ext cx="2091690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657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b="1" i="1">
                          <a:latin typeface="Times New Roman"/>
                          <a:cs typeface="Times New Roman"/>
                        </a:rPr>
                        <a:t>D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5485765" y="1673479"/>
          <a:ext cx="2141219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414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5485765" y="1028953"/>
          <a:ext cx="267652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414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869365" y="1028953"/>
          <a:ext cx="262699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 dirty="0">
                          <a:latin typeface="Cambria Math"/>
                          <a:cs typeface="Cambria Math"/>
                        </a:rPr>
                        <a:t>𝑫</a:t>
                      </a:r>
                      <a:endParaRPr sz="2200" dirty="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 dirty="0">
                          <a:latin typeface="Cambria Math"/>
                          <a:cs typeface="Cambria Math"/>
                        </a:rPr>
                        <a:t>𝑩</a:t>
                      </a:r>
                      <a:endParaRPr sz="2200" dirty="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5485765" y="2318004"/>
          <a:ext cx="160591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414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869365" y="2318004"/>
          <a:ext cx="155638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869365" y="2962655"/>
          <a:ext cx="1021080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7399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b="1" i="1">
                          <a:latin typeface="Times New Roman"/>
                          <a:cs typeface="Times New Roman"/>
                        </a:rPr>
                        <a:t>B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5485765" y="2962655"/>
          <a:ext cx="1070610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414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4" name="object 2">
            <a:extLst>
              <a:ext uri="{FF2B5EF4-FFF2-40B4-BE49-F238E27FC236}">
                <a16:creationId xmlns:a16="http://schemas.microsoft.com/office/drawing/2014/main" id="{DA8ACE32-B2DD-1A46-89A4-BACD564C605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89137" y="193670"/>
            <a:ext cx="2105416" cy="56618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6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枚举观</a:t>
            </a:r>
            <a:r>
              <a:rPr sz="36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察</a:t>
            </a:r>
            <a:endParaRPr sz="36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8340" y="4113529"/>
            <a:ext cx="570547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可能存在</a:t>
            </a:r>
            <a:r>
              <a:rPr sz="2800" dirty="0" err="1">
                <a:solidFill>
                  <a:srgbClr val="FF0000"/>
                </a:solidFill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最优子结构</a:t>
            </a:r>
            <a:r>
              <a:rPr sz="280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和</a:t>
            </a:r>
            <a:r>
              <a:rPr sz="2800" spc="-15" dirty="0" err="1">
                <a:solidFill>
                  <a:srgbClr val="FF0000"/>
                </a:solidFill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重叠子问题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869365" y="2962655"/>
          <a:ext cx="1021080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7399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b="1" i="1">
                          <a:latin typeface="Times New Roman"/>
                          <a:cs typeface="Times New Roman"/>
                        </a:rPr>
                        <a:t>B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5485765" y="2962655"/>
          <a:ext cx="1070610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414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6" name="object 6"/>
          <p:cNvSpPr txBox="1"/>
          <p:nvPr/>
        </p:nvSpPr>
        <p:spPr>
          <a:xfrm>
            <a:off x="9507981" y="1036828"/>
            <a:ext cx="1092835" cy="23342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spc="-10">
                <a:latin typeface="PMingLiU"/>
                <a:cs typeface="PMingLiU"/>
              </a:rPr>
              <a:t>长度为</a:t>
            </a:r>
            <a:r>
              <a:rPr sz="2400" b="1" spc="-50">
                <a:latin typeface="Times New Roman"/>
                <a:cs typeface="Times New Roman"/>
              </a:rPr>
              <a:t>4</a:t>
            </a:r>
            <a:endParaRPr sz="2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195"/>
              </a:spcBef>
            </a:pPr>
            <a:r>
              <a:rPr sz="2400">
                <a:latin typeface="PMingLiU"/>
                <a:cs typeface="PMingLiU"/>
              </a:rPr>
              <a:t>长度为</a:t>
            </a:r>
            <a:r>
              <a:rPr sz="2400" b="1" spc="-50">
                <a:latin typeface="Times New Roman"/>
                <a:cs typeface="Times New Roman"/>
              </a:rPr>
              <a:t>3</a:t>
            </a:r>
            <a:endParaRPr sz="2400">
              <a:latin typeface="Times New Roman"/>
              <a:cs typeface="Times New Roman"/>
            </a:endParaRPr>
          </a:p>
          <a:p>
            <a:pPr marL="12700" marR="5080">
              <a:lnSpc>
                <a:spcPct val="176300"/>
              </a:lnSpc>
              <a:spcBef>
                <a:spcPts val="70"/>
              </a:spcBef>
            </a:pPr>
            <a:r>
              <a:rPr sz="2400">
                <a:latin typeface="PMingLiU"/>
                <a:cs typeface="PMingLiU"/>
              </a:rPr>
              <a:t>长度为</a:t>
            </a:r>
            <a:r>
              <a:rPr sz="2400" b="1" spc="-50">
                <a:latin typeface="Times New Roman"/>
                <a:cs typeface="Times New Roman"/>
              </a:rPr>
              <a:t>2</a:t>
            </a:r>
            <a:r>
              <a:rPr sz="2400">
                <a:latin typeface="PMingLiU"/>
                <a:cs typeface="PMingLiU"/>
              </a:rPr>
              <a:t>长度为</a:t>
            </a:r>
            <a:r>
              <a:rPr sz="2400" b="1" spc="-50">
                <a:latin typeface="Times New Roman"/>
                <a:cs typeface="Times New Roman"/>
              </a:rPr>
              <a:t>1</a:t>
            </a:r>
            <a:endParaRPr sz="2400">
              <a:latin typeface="Times New Roman"/>
              <a:cs typeface="Times New Roman"/>
            </a:endParaRPr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869365" y="1673479"/>
          <a:ext cx="2091690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657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b="1" i="1">
                          <a:latin typeface="Times New Roman"/>
                          <a:cs typeface="Times New Roman"/>
                        </a:rPr>
                        <a:t>D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5485765" y="1673479"/>
          <a:ext cx="2141219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414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5485765" y="1028953"/>
          <a:ext cx="267652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414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869365" y="1028953"/>
          <a:ext cx="262699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 dirty="0">
                          <a:latin typeface="Cambria Math"/>
                          <a:cs typeface="Cambria Math"/>
                        </a:rPr>
                        <a:t>𝑨</a:t>
                      </a:r>
                      <a:endParaRPr sz="2200" dirty="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 dirty="0">
                          <a:latin typeface="Cambria Math"/>
                          <a:cs typeface="Cambria Math"/>
                        </a:rPr>
                        <a:t>𝑩</a:t>
                      </a:r>
                      <a:endParaRPr sz="2200" dirty="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5485765" y="2318004"/>
          <a:ext cx="1605914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4414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869365" y="2318004"/>
          <a:ext cx="155638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3" name="object 13"/>
          <p:cNvSpPr txBox="1"/>
          <p:nvPr/>
        </p:nvSpPr>
        <p:spPr>
          <a:xfrm>
            <a:off x="2693096" y="5073396"/>
            <a:ext cx="5705475" cy="534121"/>
          </a:xfrm>
          <a:prstGeom prst="rect">
            <a:avLst/>
          </a:prstGeom>
          <a:ln w="38100">
            <a:solidFill>
              <a:srgbClr val="FF0000"/>
            </a:solidFill>
          </a:ln>
        </p:spPr>
        <p:txBody>
          <a:bodyPr vert="horz" wrap="square" lIns="0" tIns="102235" rIns="0" bIns="0" rtlCol="0">
            <a:spAutoFit/>
          </a:bodyPr>
          <a:lstStyle/>
          <a:p>
            <a:pPr marL="1270" algn="ctr">
              <a:lnSpc>
                <a:spcPct val="100000"/>
              </a:lnSpc>
              <a:spcBef>
                <a:spcPts val="805"/>
              </a:spcBef>
            </a:pPr>
            <a:r>
              <a:rPr sz="28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问题：如何利用动态规划求解</a:t>
            </a:r>
            <a:r>
              <a:rPr sz="2800" spc="-1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？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sp>
        <p:nvSpPr>
          <p:cNvPr id="16" name="object 2">
            <a:extLst>
              <a:ext uri="{FF2B5EF4-FFF2-40B4-BE49-F238E27FC236}">
                <a16:creationId xmlns:a16="http://schemas.microsoft.com/office/drawing/2014/main" id="{2F34D193-9949-4741-BE0E-03032E6EEF5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89137" y="193670"/>
            <a:ext cx="2105416" cy="56618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6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枚举观</a:t>
            </a:r>
            <a:r>
              <a:rPr sz="36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察</a:t>
            </a:r>
            <a:endParaRPr sz="36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3" grpId="1" animBg="1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63496" y="1233853"/>
            <a:ext cx="7967145" cy="981038"/>
          </a:xfrm>
          <a:prstGeom prst="rect">
            <a:avLst/>
          </a:prstGeom>
        </p:spPr>
        <p:txBody>
          <a:bodyPr vert="horz" wrap="square" lIns="0" tIns="10287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81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给出问题表示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04215" lvl="1" indent="-347980">
              <a:lnSpc>
                <a:spcPct val="100000"/>
              </a:lnSpc>
              <a:spcBef>
                <a:spcPts val="610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</a:tabLst>
            </a:pPr>
            <a:r>
              <a:rPr sz="2400" spc="-10" dirty="0">
                <a:latin typeface="Cambria Math"/>
                <a:cs typeface="Cambria Math"/>
              </a:rPr>
              <a:t>𝑪[𝒊</a:t>
            </a:r>
            <a:r>
              <a:rPr sz="2400" spc="-75" dirty="0">
                <a:latin typeface="Cambria Math"/>
                <a:cs typeface="Cambria Math"/>
              </a:rPr>
              <a:t>, </a:t>
            </a:r>
            <a:r>
              <a:rPr sz="2400" spc="-10" dirty="0">
                <a:latin typeface="Cambria Math"/>
                <a:cs typeface="Cambria Math"/>
              </a:rPr>
              <a:t>𝒋]</a:t>
            </a:r>
            <a:r>
              <a:rPr sz="2400" spc="-10" dirty="0">
                <a:latin typeface="PMingLiU"/>
                <a:cs typeface="PMingLiU"/>
              </a:rPr>
              <a:t>：</a:t>
            </a:r>
            <a:r>
              <a:rPr lang="zh-CN" altLang="en-US" sz="2400" spc="-10" dirty="0">
                <a:latin typeface="PMingLiU"/>
                <a:cs typeface="PMingLiU"/>
              </a:rPr>
              <a:t> </a:t>
            </a:r>
            <a:r>
              <a:rPr sz="2400" spc="-10" dirty="0">
                <a:latin typeface="Cambria Math"/>
                <a:cs typeface="Cambria Math"/>
              </a:rPr>
              <a:t>𝑿[𝟏</a:t>
            </a:r>
            <a:r>
              <a:rPr sz="2400" spc="-60" dirty="0">
                <a:latin typeface="Cambria Math"/>
                <a:cs typeface="Cambria Math"/>
              </a:rPr>
              <a:t>. . </a:t>
            </a:r>
            <a:r>
              <a:rPr sz="2400" spc="-10" dirty="0">
                <a:latin typeface="Cambria Math"/>
                <a:cs typeface="Cambria Math"/>
              </a:rPr>
              <a:t>𝒊]</a:t>
            </a:r>
            <a:r>
              <a:rPr sz="2400" dirty="0" err="1">
                <a:latin typeface="PMingLiU"/>
                <a:cs typeface="PMingLiU"/>
              </a:rPr>
              <a:t>和</a:t>
            </a:r>
            <a:r>
              <a:rPr sz="2400" spc="-10" dirty="0">
                <a:latin typeface="Cambria Math"/>
                <a:cs typeface="Cambria Math"/>
              </a:rPr>
              <a:t>𝒀[𝟏.</a:t>
            </a:r>
            <a:r>
              <a:rPr sz="2400" spc="-75" dirty="0">
                <a:latin typeface="Cambria Math"/>
                <a:cs typeface="Cambria Math"/>
              </a:rPr>
              <a:t> . </a:t>
            </a:r>
            <a:r>
              <a:rPr sz="2400" dirty="0">
                <a:latin typeface="Cambria Math"/>
                <a:cs typeface="Cambria Math"/>
              </a:rPr>
              <a:t>𝒋]</a:t>
            </a:r>
            <a:r>
              <a:rPr sz="24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的最长公共子序列长度</a:t>
            </a:r>
            <a:endParaRPr sz="24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63496" y="3988211"/>
            <a:ext cx="7575550" cy="1032510"/>
          </a:xfrm>
          <a:prstGeom prst="rect">
            <a:avLst/>
          </a:prstGeom>
        </p:spPr>
        <p:txBody>
          <a:bodyPr vert="horz" wrap="square" lIns="0" tIns="12827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1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明确原始问题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04215" lvl="1" indent="-347980">
              <a:lnSpc>
                <a:spcPct val="100000"/>
              </a:lnSpc>
              <a:spcBef>
                <a:spcPts val="77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</a:tabLst>
            </a:pPr>
            <a:r>
              <a:rPr sz="2400" spc="-10" dirty="0">
                <a:latin typeface="Cambria Math"/>
                <a:cs typeface="Cambria Math"/>
              </a:rPr>
              <a:t>𝑪[𝒏</a:t>
            </a:r>
            <a:r>
              <a:rPr sz="2400" spc="-75" dirty="0">
                <a:latin typeface="Cambria Math"/>
                <a:cs typeface="Cambria Math"/>
              </a:rPr>
              <a:t>, </a:t>
            </a:r>
            <a:r>
              <a:rPr sz="2400" dirty="0">
                <a:latin typeface="Cambria Math"/>
                <a:cs typeface="Cambria Math"/>
              </a:rPr>
              <a:t>𝒎]</a:t>
            </a:r>
            <a:r>
              <a:rPr sz="2400" dirty="0">
                <a:latin typeface="PMingLiU"/>
                <a:cs typeface="PMingLiU"/>
              </a:rPr>
              <a:t>： </a:t>
            </a:r>
            <a:r>
              <a:rPr sz="2400" spc="-10" dirty="0">
                <a:latin typeface="Cambria Math"/>
                <a:cs typeface="Cambria Math"/>
              </a:rPr>
              <a:t>𝑿[𝟏</a:t>
            </a:r>
            <a:r>
              <a:rPr sz="2400" spc="-65" dirty="0">
                <a:latin typeface="Cambria Math"/>
                <a:cs typeface="Cambria Math"/>
              </a:rPr>
              <a:t>. . </a:t>
            </a:r>
            <a:r>
              <a:rPr sz="2400" spc="-10" dirty="0">
                <a:latin typeface="Cambria Math"/>
                <a:cs typeface="Cambria Math"/>
              </a:rPr>
              <a:t>𝒏]</a:t>
            </a:r>
            <a:r>
              <a:rPr sz="2400" dirty="0" err="1">
                <a:latin typeface="PMingLiU"/>
                <a:cs typeface="PMingLiU"/>
              </a:rPr>
              <a:t>和</a:t>
            </a:r>
            <a:r>
              <a:rPr sz="2400" spc="-10" dirty="0">
                <a:latin typeface="Cambria Math"/>
                <a:cs typeface="Cambria Math"/>
              </a:rPr>
              <a:t>𝒀[𝟏</a:t>
            </a:r>
            <a:r>
              <a:rPr sz="2400" spc="-65" dirty="0">
                <a:latin typeface="Cambria Math"/>
                <a:cs typeface="Cambria Math"/>
              </a:rPr>
              <a:t>. . </a:t>
            </a:r>
            <a:r>
              <a:rPr sz="2400" spc="-10" dirty="0">
                <a:latin typeface="Cambria Math"/>
                <a:cs typeface="Cambria Math"/>
              </a:rPr>
              <a:t>𝒎]</a:t>
            </a:r>
            <a:r>
              <a:rPr sz="2400" spc="-5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的最长公共子序列长度</a:t>
            </a:r>
            <a:endParaRPr sz="24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1273182" y="289990"/>
            <a:ext cx="4385972" cy="56618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6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问题结构分</a:t>
            </a:r>
            <a:r>
              <a:rPr sz="36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析</a:t>
            </a:r>
            <a:endParaRPr sz="36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9670160" y="1018413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83C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9899650" y="1314449"/>
            <a:ext cx="1397000" cy="3003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20">
                <a:solidFill>
                  <a:srgbClr val="FFFFFF"/>
                </a:solidFill>
                <a:latin typeface="PMingLiU"/>
                <a:cs typeface="PMingLiU"/>
              </a:rPr>
              <a:t>问题结构分析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0378440" y="2052827"/>
            <a:ext cx="439420" cy="367030"/>
          </a:xfrm>
          <a:custGeom>
            <a:avLst/>
            <a:gdLst/>
            <a:ahLst/>
            <a:cxnLst/>
            <a:rect l="l" t="t" r="r" b="b"/>
            <a:pathLst>
              <a:path w="439420" h="367030">
                <a:moveTo>
                  <a:pt x="351154" y="0"/>
                </a:moveTo>
                <a:lnTo>
                  <a:pt x="87756" y="0"/>
                </a:lnTo>
                <a:lnTo>
                  <a:pt x="87756" y="183261"/>
                </a:lnTo>
                <a:lnTo>
                  <a:pt x="0" y="183261"/>
                </a:lnTo>
                <a:lnTo>
                  <a:pt x="219455" y="366522"/>
                </a:lnTo>
                <a:lnTo>
                  <a:pt x="438911" y="183261"/>
                </a:lnTo>
                <a:lnTo>
                  <a:pt x="351154" y="183261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9670160" y="2480691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9899650" y="2776982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递推关系建立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10378440" y="3515105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9"/>
                </a:lnTo>
                <a:lnTo>
                  <a:pt x="0" y="182499"/>
                </a:lnTo>
                <a:lnTo>
                  <a:pt x="219455" y="364998"/>
                </a:lnTo>
                <a:lnTo>
                  <a:pt x="438911" y="182499"/>
                </a:lnTo>
                <a:lnTo>
                  <a:pt x="351154" y="182499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9670160" y="3941445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8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8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9899650" y="4237735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自底向上计算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10378440" y="4975859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8"/>
                </a:lnTo>
                <a:lnTo>
                  <a:pt x="0" y="182498"/>
                </a:lnTo>
                <a:lnTo>
                  <a:pt x="219455" y="364997"/>
                </a:lnTo>
                <a:lnTo>
                  <a:pt x="438911" y="182498"/>
                </a:lnTo>
                <a:lnTo>
                  <a:pt x="351154" y="182498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670160" y="5402198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52"/>
                </a:lnTo>
                <a:lnTo>
                  <a:pt x="7647" y="914358"/>
                </a:lnTo>
                <a:lnTo>
                  <a:pt x="28511" y="945313"/>
                </a:lnTo>
                <a:lnTo>
                  <a:pt x="59471" y="966183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3"/>
                </a:lnTo>
                <a:lnTo>
                  <a:pt x="1827720" y="945313"/>
                </a:lnTo>
                <a:lnTo>
                  <a:pt x="1848584" y="914358"/>
                </a:lnTo>
                <a:lnTo>
                  <a:pt x="1856232" y="876452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9899650" y="5698744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最优方案追踪</a:t>
            </a:r>
            <a:endParaRPr sz="1800">
              <a:latin typeface="PMingLiU"/>
              <a:cs typeface="PMingLiU"/>
            </a:endParaRPr>
          </a:p>
        </p:txBody>
      </p:sp>
      <p:graphicFrame>
        <p:nvGraphicFramePr>
          <p:cNvPr id="16" name="object 1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33703254"/>
              </p:ext>
            </p:extLst>
          </p:nvPr>
        </p:nvGraphicFramePr>
        <p:xfrm>
          <a:off x="1115400" y="2552203"/>
          <a:ext cx="4701537" cy="514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315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0644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421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421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6868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064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4984">
                <a:tc>
                  <a:txBody>
                    <a:bodyPr/>
                    <a:lstStyle/>
                    <a:p>
                      <a:pPr marR="55880" algn="ctr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37490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6375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5110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7005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𝒊−𝟏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9079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𝒊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7" name="object 1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56665553"/>
              </p:ext>
            </p:extLst>
          </p:nvPr>
        </p:nvGraphicFramePr>
        <p:xfrm>
          <a:off x="1115400" y="3158754"/>
          <a:ext cx="4705348" cy="514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3533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108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64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26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953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1089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4984">
                <a:tc>
                  <a:txBody>
                    <a:bodyPr/>
                    <a:lstStyle/>
                    <a:p>
                      <a:pPr marR="55244" algn="ctr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4310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6220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5895">
                        <a:lnSpc>
                          <a:spcPct val="100000"/>
                        </a:lnSpc>
                        <a:spcBef>
                          <a:spcPts val="1035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𝒋−𝟏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3144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𝒋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7937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50622" y="994207"/>
            <a:ext cx="2899410" cy="988060"/>
          </a:xfrm>
          <a:prstGeom prst="rect">
            <a:avLst/>
          </a:prstGeom>
        </p:spPr>
        <p:txBody>
          <a:bodyPr vert="horz" wrap="square" lIns="0" tIns="104139" rIns="0" bIns="0" rtlCol="0">
            <a:spAutoFit/>
          </a:bodyPr>
          <a:lstStyle/>
          <a:p>
            <a:pPr marL="381000" indent="-342900">
              <a:lnSpc>
                <a:spcPct val="100000"/>
              </a:lnSpc>
              <a:spcBef>
                <a:spcPts val="819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80365" algn="l"/>
                <a:tab pos="381000" algn="l"/>
              </a:tabLst>
            </a:pPr>
            <a:r>
              <a:rPr sz="28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考察末尾字符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29615" lvl="1" indent="-347980">
              <a:lnSpc>
                <a:spcPct val="100000"/>
              </a:lnSpc>
              <a:spcBef>
                <a:spcPts val="61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29615" algn="l"/>
                <a:tab pos="730250" algn="l"/>
              </a:tabLst>
            </a:pPr>
            <a:r>
              <a:rPr sz="240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情况</a:t>
            </a:r>
            <a:r>
              <a:rPr sz="2400" dirty="0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𝟏</a:t>
            </a:r>
            <a:r>
              <a:rPr sz="2400" dirty="0">
                <a:latin typeface="PMingLiU"/>
                <a:cs typeface="PMingLiU"/>
              </a:rPr>
              <a:t>：</a:t>
            </a:r>
            <a:r>
              <a:rPr sz="2400" dirty="0">
                <a:latin typeface="Cambria Math"/>
                <a:cs typeface="Cambria Math"/>
              </a:rPr>
              <a:t>𝒙</a:t>
            </a:r>
            <a:r>
              <a:rPr sz="2625" baseline="-15873" dirty="0">
                <a:latin typeface="Cambria Math"/>
                <a:cs typeface="Cambria Math"/>
              </a:rPr>
              <a:t>𝟕</a:t>
            </a:r>
            <a:r>
              <a:rPr sz="2625" spc="569" baseline="-15873" dirty="0">
                <a:latin typeface="Cambria Math"/>
                <a:cs typeface="Cambria Math"/>
              </a:rPr>
              <a:t> </a:t>
            </a:r>
            <a:r>
              <a:rPr sz="2400" spc="65" dirty="0">
                <a:latin typeface="Cambria Math"/>
                <a:cs typeface="Cambria Math"/>
              </a:rPr>
              <a:t>≠ </a:t>
            </a:r>
            <a:r>
              <a:rPr sz="2400" spc="-25" dirty="0">
                <a:latin typeface="Cambria Math"/>
                <a:cs typeface="Cambria Math"/>
              </a:rPr>
              <a:t>𝒚</a:t>
            </a:r>
            <a:r>
              <a:rPr sz="2625" spc="-37" baseline="-15873" dirty="0">
                <a:latin typeface="Cambria Math"/>
                <a:cs typeface="Cambria Math"/>
              </a:rPr>
              <a:t>𝟔</a:t>
            </a:r>
            <a:endParaRPr sz="2625" baseline="-15873" dirty="0">
              <a:latin typeface="Cambria Math"/>
              <a:cs typeface="Cambria Math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95045" y="4224416"/>
            <a:ext cx="180022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5445" indent="-347980">
              <a:lnSpc>
                <a:spcPct val="100000"/>
              </a:lnSpc>
              <a:spcBef>
                <a:spcPts val="100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385445" algn="l"/>
                <a:tab pos="386080" algn="l"/>
              </a:tabLst>
            </a:pPr>
            <a:r>
              <a:rPr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情况</a:t>
            </a:r>
            <a:r>
              <a:rPr sz="2400" b="1" spc="-20" dirty="0">
                <a:latin typeface="SimSun" panose="02010600030101010101" pitchFamily="2" charset="-122"/>
                <a:ea typeface="SimSun" panose="02010600030101010101" pitchFamily="2" charset="-122"/>
                <a:cs typeface="Times New Roman"/>
              </a:rPr>
              <a:t>2</a:t>
            </a:r>
            <a:r>
              <a:rPr sz="2400" spc="-2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：</a:t>
            </a:r>
            <a:r>
              <a:rPr sz="2400" spc="-20" dirty="0">
                <a:latin typeface="Cambria Math"/>
                <a:cs typeface="Cambria Math"/>
              </a:rPr>
              <a:t>𝒙</a:t>
            </a:r>
            <a:r>
              <a:rPr sz="2625" spc="-30" baseline="-15873" dirty="0">
                <a:latin typeface="Cambria Math"/>
                <a:cs typeface="Cambria Math"/>
              </a:rPr>
              <a:t>𝟕</a:t>
            </a:r>
            <a:endParaRPr sz="2625" baseline="-15873" dirty="0">
              <a:latin typeface="Cambria Math"/>
              <a:cs typeface="Cambria Math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983536" y="4224416"/>
            <a:ext cx="70358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𝒚</a:t>
            </a:r>
            <a:r>
              <a:rPr sz="2625" spc="-37" baseline="-15873">
                <a:latin typeface="Cambria Math"/>
                <a:cs typeface="Cambria Math"/>
              </a:rPr>
              <a:t>𝟔</a:t>
            </a:r>
            <a:endParaRPr sz="2625" baseline="-15873">
              <a:latin typeface="Cambria Math"/>
              <a:cs typeface="Cambria Math"/>
            </a:endParaRPr>
          </a:p>
        </p:txBody>
      </p:sp>
      <p:sp>
        <p:nvSpPr>
          <p:cNvPr id="5" name="object 5"/>
          <p:cNvSpPr txBox="1">
            <a:spLocks noGrp="1"/>
          </p:cNvSpPr>
          <p:nvPr>
            <p:ph type="title"/>
          </p:nvPr>
        </p:nvSpPr>
        <p:spPr>
          <a:xfrm>
            <a:off x="1189026" y="253163"/>
            <a:ext cx="9691371" cy="56618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6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递推关系建立：分析最优（子）结</a:t>
            </a:r>
            <a:r>
              <a:rPr sz="36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构</a:t>
            </a:r>
            <a:endParaRPr sz="36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graphicFrame>
        <p:nvGraphicFramePr>
          <p:cNvPr id="6" name="object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16845507"/>
              </p:ext>
            </p:extLst>
          </p:nvPr>
        </p:nvGraphicFramePr>
        <p:xfrm>
          <a:off x="2260017" y="5847729"/>
          <a:ext cx="3165473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874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97717565"/>
              </p:ext>
            </p:extLst>
          </p:nvPr>
        </p:nvGraphicFramePr>
        <p:xfrm>
          <a:off x="1189026" y="5302519"/>
          <a:ext cx="4237351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8" name="object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10327370"/>
              </p:ext>
            </p:extLst>
          </p:nvPr>
        </p:nvGraphicFramePr>
        <p:xfrm>
          <a:off x="1724458" y="3105038"/>
          <a:ext cx="369760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93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17170084"/>
              </p:ext>
            </p:extLst>
          </p:nvPr>
        </p:nvGraphicFramePr>
        <p:xfrm>
          <a:off x="1189026" y="2379232"/>
          <a:ext cx="4237351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59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0" name="object 10"/>
          <p:cNvSpPr/>
          <p:nvPr/>
        </p:nvSpPr>
        <p:spPr>
          <a:xfrm>
            <a:off x="9670160" y="1018413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 txBox="1"/>
          <p:nvPr/>
        </p:nvSpPr>
        <p:spPr>
          <a:xfrm>
            <a:off x="9899650" y="1314449"/>
            <a:ext cx="1397000" cy="3003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20">
                <a:solidFill>
                  <a:srgbClr val="FFFFFF"/>
                </a:solidFill>
                <a:latin typeface="PMingLiU"/>
                <a:cs typeface="PMingLiU"/>
              </a:rPr>
              <a:t>问题结构分析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10378440" y="2052827"/>
            <a:ext cx="439420" cy="367030"/>
          </a:xfrm>
          <a:custGeom>
            <a:avLst/>
            <a:gdLst/>
            <a:ahLst/>
            <a:cxnLst/>
            <a:rect l="l" t="t" r="r" b="b"/>
            <a:pathLst>
              <a:path w="439420" h="367030">
                <a:moveTo>
                  <a:pt x="351154" y="0"/>
                </a:moveTo>
                <a:lnTo>
                  <a:pt x="87756" y="0"/>
                </a:lnTo>
                <a:lnTo>
                  <a:pt x="87756" y="183261"/>
                </a:lnTo>
                <a:lnTo>
                  <a:pt x="0" y="183261"/>
                </a:lnTo>
                <a:lnTo>
                  <a:pt x="219455" y="366522"/>
                </a:lnTo>
                <a:lnTo>
                  <a:pt x="438911" y="183261"/>
                </a:lnTo>
                <a:lnTo>
                  <a:pt x="351154" y="183261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670160" y="2480691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83C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9899650" y="2776982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递推关系建立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10378440" y="3515105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9"/>
                </a:lnTo>
                <a:lnTo>
                  <a:pt x="0" y="182499"/>
                </a:lnTo>
                <a:lnTo>
                  <a:pt x="219455" y="364998"/>
                </a:lnTo>
                <a:lnTo>
                  <a:pt x="438911" y="182499"/>
                </a:lnTo>
                <a:lnTo>
                  <a:pt x="351154" y="182499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9670160" y="3941445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8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8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 txBox="1"/>
          <p:nvPr/>
        </p:nvSpPr>
        <p:spPr>
          <a:xfrm>
            <a:off x="9899650" y="4237735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自底向上计算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10378440" y="4975859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8"/>
                </a:lnTo>
                <a:lnTo>
                  <a:pt x="0" y="182498"/>
                </a:lnTo>
                <a:lnTo>
                  <a:pt x="219455" y="364997"/>
                </a:lnTo>
                <a:lnTo>
                  <a:pt x="438911" y="182498"/>
                </a:lnTo>
                <a:lnTo>
                  <a:pt x="351154" y="182498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9670160" y="5402198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52"/>
                </a:lnTo>
                <a:lnTo>
                  <a:pt x="7647" y="914358"/>
                </a:lnTo>
                <a:lnTo>
                  <a:pt x="28511" y="945313"/>
                </a:lnTo>
                <a:lnTo>
                  <a:pt x="59471" y="966183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3"/>
                </a:lnTo>
                <a:lnTo>
                  <a:pt x="1827720" y="945313"/>
                </a:lnTo>
                <a:lnTo>
                  <a:pt x="1848584" y="914358"/>
                </a:lnTo>
                <a:lnTo>
                  <a:pt x="1856232" y="876452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 txBox="1"/>
          <p:nvPr/>
        </p:nvSpPr>
        <p:spPr>
          <a:xfrm>
            <a:off x="9899650" y="5698744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最优方案追踪</a:t>
            </a:r>
            <a:endParaRPr sz="1800">
              <a:latin typeface="PMingLiU"/>
              <a:cs typeface="PMingLiU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63496" y="1173166"/>
            <a:ext cx="250380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考察末尾字符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82519" y="2117284"/>
            <a:ext cx="255524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5445" indent="-347980">
              <a:lnSpc>
                <a:spcPct val="100000"/>
              </a:lnSpc>
              <a:spcBef>
                <a:spcPts val="100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385445" algn="l"/>
                <a:tab pos="386080" algn="l"/>
              </a:tabLst>
            </a:pPr>
            <a:r>
              <a:rPr sz="2400">
                <a:latin typeface="PMingLiU"/>
                <a:cs typeface="PMingLiU"/>
              </a:rPr>
              <a:t>情况</a:t>
            </a:r>
            <a:r>
              <a:rPr sz="2400">
                <a:latin typeface="Cambria Math"/>
                <a:cs typeface="Cambria Math"/>
              </a:rPr>
              <a:t>𝟏</a:t>
            </a:r>
            <a:r>
              <a:rPr sz="2400">
                <a:latin typeface="PMingLiU"/>
                <a:cs typeface="PMingLiU"/>
              </a:rPr>
              <a:t>：</a:t>
            </a:r>
            <a:r>
              <a:rPr sz="2400">
                <a:latin typeface="Cambria Math"/>
                <a:cs typeface="Cambria Math"/>
              </a:rPr>
              <a:t>𝒙</a:t>
            </a:r>
            <a:r>
              <a:rPr sz="2625" baseline="-15873">
                <a:latin typeface="Cambria Math"/>
                <a:cs typeface="Cambria Math"/>
              </a:rPr>
              <a:t>𝟕</a:t>
            </a:r>
            <a:r>
              <a:rPr sz="2625" spc="569" baseline="-15873">
                <a:latin typeface="Cambria Math"/>
                <a:cs typeface="Cambria Math"/>
              </a:rPr>
              <a:t> </a:t>
            </a:r>
            <a:r>
              <a:rPr sz="2400" spc="65">
                <a:latin typeface="Cambria Math"/>
                <a:cs typeface="Cambria Math"/>
              </a:rPr>
              <a:t>≠ </a:t>
            </a:r>
            <a:r>
              <a:rPr sz="2400" spc="-25">
                <a:latin typeface="Cambria Math"/>
                <a:cs typeface="Cambria Math"/>
              </a:rPr>
              <a:t>𝒚</a:t>
            </a:r>
            <a:r>
              <a:rPr sz="2625" spc="-37" baseline="-15873">
                <a:latin typeface="Cambria Math"/>
                <a:cs typeface="Cambria Math"/>
              </a:rPr>
              <a:t>𝟔</a:t>
            </a:r>
            <a:endParaRPr sz="2625" baseline="-15873">
              <a:latin typeface="Cambria Math"/>
              <a:cs typeface="Cambria Math"/>
            </a:endParaRPr>
          </a:p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647217" y="4070603"/>
          <a:ext cx="369760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874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111726" y="3344798"/>
          <a:ext cx="4232909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" name="object 7"/>
          <p:cNvSpPr txBox="1"/>
          <p:nvPr/>
        </p:nvSpPr>
        <p:spPr>
          <a:xfrm>
            <a:off x="235711" y="2901442"/>
            <a:ext cx="762000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000" spc="-20">
                <a:latin typeface="Cambria Math"/>
                <a:cs typeface="Cambria Math"/>
              </a:rPr>
              <a:t>𝑪[𝟕,</a:t>
            </a:r>
            <a:r>
              <a:rPr sz="2000" spc="-70">
                <a:latin typeface="Cambria Math"/>
                <a:cs typeface="Cambria Math"/>
              </a:rPr>
              <a:t> </a:t>
            </a:r>
            <a:r>
              <a:rPr sz="2000" spc="-25">
                <a:latin typeface="Cambria Math"/>
                <a:cs typeface="Cambria Math"/>
              </a:rPr>
              <a:t>𝟔]</a:t>
            </a:r>
            <a:endParaRPr sz="2000">
              <a:latin typeface="Cambria Math"/>
              <a:cs typeface="Cambria Math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9670160" y="1018413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9899650" y="1314449"/>
            <a:ext cx="1397000" cy="3003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20">
                <a:solidFill>
                  <a:srgbClr val="FFFFFF"/>
                </a:solidFill>
                <a:latin typeface="PMingLiU"/>
                <a:cs typeface="PMingLiU"/>
              </a:rPr>
              <a:t>问题结构分析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10378440" y="2052827"/>
            <a:ext cx="439420" cy="367030"/>
          </a:xfrm>
          <a:custGeom>
            <a:avLst/>
            <a:gdLst/>
            <a:ahLst/>
            <a:cxnLst/>
            <a:rect l="l" t="t" r="r" b="b"/>
            <a:pathLst>
              <a:path w="439420" h="367030">
                <a:moveTo>
                  <a:pt x="351154" y="0"/>
                </a:moveTo>
                <a:lnTo>
                  <a:pt x="87756" y="0"/>
                </a:lnTo>
                <a:lnTo>
                  <a:pt x="87756" y="183261"/>
                </a:lnTo>
                <a:lnTo>
                  <a:pt x="0" y="183261"/>
                </a:lnTo>
                <a:lnTo>
                  <a:pt x="219455" y="366522"/>
                </a:lnTo>
                <a:lnTo>
                  <a:pt x="438911" y="183261"/>
                </a:lnTo>
                <a:lnTo>
                  <a:pt x="351154" y="183261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9670160" y="2480691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83C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9899650" y="2776982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递推关系建立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10378440" y="3515105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9"/>
                </a:lnTo>
                <a:lnTo>
                  <a:pt x="0" y="182499"/>
                </a:lnTo>
                <a:lnTo>
                  <a:pt x="219455" y="364998"/>
                </a:lnTo>
                <a:lnTo>
                  <a:pt x="438911" y="182499"/>
                </a:lnTo>
                <a:lnTo>
                  <a:pt x="351154" y="182499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670160" y="3941445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8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8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9899650" y="4237735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自底向上计算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10378440" y="4975859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8"/>
                </a:lnTo>
                <a:lnTo>
                  <a:pt x="0" y="182498"/>
                </a:lnTo>
                <a:lnTo>
                  <a:pt x="219455" y="364997"/>
                </a:lnTo>
                <a:lnTo>
                  <a:pt x="438911" y="182498"/>
                </a:lnTo>
                <a:lnTo>
                  <a:pt x="351154" y="182498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9670160" y="5402198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52"/>
                </a:lnTo>
                <a:lnTo>
                  <a:pt x="7647" y="914358"/>
                </a:lnTo>
                <a:lnTo>
                  <a:pt x="28511" y="945313"/>
                </a:lnTo>
                <a:lnTo>
                  <a:pt x="59471" y="966183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3"/>
                </a:lnTo>
                <a:lnTo>
                  <a:pt x="1827720" y="945313"/>
                </a:lnTo>
                <a:lnTo>
                  <a:pt x="1848584" y="914358"/>
                </a:lnTo>
                <a:lnTo>
                  <a:pt x="1856232" y="876452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 txBox="1"/>
          <p:nvPr/>
        </p:nvSpPr>
        <p:spPr>
          <a:xfrm>
            <a:off x="9899650" y="5698744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最优方案追踪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3743705" y="3181350"/>
            <a:ext cx="730250" cy="1544955"/>
          </a:xfrm>
          <a:custGeom>
            <a:avLst/>
            <a:gdLst/>
            <a:ahLst/>
            <a:cxnLst/>
            <a:rect l="l" t="t" r="r" b="b"/>
            <a:pathLst>
              <a:path w="730250" h="1544954">
                <a:moveTo>
                  <a:pt x="0" y="121665"/>
                </a:moveTo>
                <a:lnTo>
                  <a:pt x="9562" y="74312"/>
                </a:lnTo>
                <a:lnTo>
                  <a:pt x="35639" y="35639"/>
                </a:lnTo>
                <a:lnTo>
                  <a:pt x="74312" y="9562"/>
                </a:lnTo>
                <a:lnTo>
                  <a:pt x="121666" y="0"/>
                </a:lnTo>
                <a:lnTo>
                  <a:pt x="608330" y="0"/>
                </a:lnTo>
                <a:lnTo>
                  <a:pt x="655683" y="9562"/>
                </a:lnTo>
                <a:lnTo>
                  <a:pt x="694356" y="35639"/>
                </a:lnTo>
                <a:lnTo>
                  <a:pt x="720433" y="74312"/>
                </a:lnTo>
                <a:lnTo>
                  <a:pt x="729996" y="121665"/>
                </a:lnTo>
                <a:lnTo>
                  <a:pt x="729996" y="1422908"/>
                </a:lnTo>
                <a:lnTo>
                  <a:pt x="720433" y="1470261"/>
                </a:lnTo>
                <a:lnTo>
                  <a:pt x="694356" y="1508934"/>
                </a:lnTo>
                <a:lnTo>
                  <a:pt x="655683" y="1535011"/>
                </a:lnTo>
                <a:lnTo>
                  <a:pt x="608330" y="1544574"/>
                </a:lnTo>
                <a:lnTo>
                  <a:pt x="121666" y="1544574"/>
                </a:lnTo>
                <a:lnTo>
                  <a:pt x="74312" y="1535011"/>
                </a:lnTo>
                <a:lnTo>
                  <a:pt x="35639" y="1508934"/>
                </a:lnTo>
                <a:lnTo>
                  <a:pt x="9562" y="1470261"/>
                </a:lnTo>
                <a:lnTo>
                  <a:pt x="0" y="1422908"/>
                </a:lnTo>
                <a:lnTo>
                  <a:pt x="0" y="121665"/>
                </a:lnTo>
                <a:close/>
              </a:path>
            </a:pathLst>
          </a:custGeom>
          <a:ln w="38099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 txBox="1"/>
          <p:nvPr/>
        </p:nvSpPr>
        <p:spPr>
          <a:xfrm>
            <a:off x="2859785" y="4798314"/>
            <a:ext cx="15506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spc="-10">
                <a:latin typeface="PMingLiU"/>
                <a:cs typeface="PMingLiU"/>
              </a:rPr>
              <a:t>不同时出现</a:t>
            </a:r>
            <a:endParaRPr sz="2400">
              <a:latin typeface="PMingLiU"/>
              <a:cs typeface="PMingLiU"/>
            </a:endParaRPr>
          </a:p>
        </p:txBody>
      </p:sp>
      <p:sp>
        <p:nvSpPr>
          <p:cNvPr id="23" name="object 5">
            <a:extLst>
              <a:ext uri="{FF2B5EF4-FFF2-40B4-BE49-F238E27FC236}">
                <a16:creationId xmlns:a16="http://schemas.microsoft.com/office/drawing/2014/main" id="{A640E91B-B3BA-8C4F-AABA-9ABEF8727AAA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89026" y="253163"/>
            <a:ext cx="9691371" cy="56618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6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递推关系建立：分析最优（子）结</a:t>
            </a:r>
            <a:r>
              <a:rPr sz="36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构</a:t>
            </a:r>
            <a:endParaRPr sz="36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65101" y="1150301"/>
            <a:ext cx="250380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考察末尾字符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44941" y="1966972"/>
            <a:ext cx="2878216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5445" indent="-347980">
              <a:lnSpc>
                <a:spcPct val="100000"/>
              </a:lnSpc>
              <a:spcBef>
                <a:spcPts val="100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385445" algn="l"/>
                <a:tab pos="386080" algn="l"/>
              </a:tabLst>
            </a:pPr>
            <a:r>
              <a:rPr sz="240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情况</a:t>
            </a:r>
            <a:r>
              <a:rPr sz="2400" dirty="0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𝟏</a:t>
            </a:r>
            <a:r>
              <a:rPr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：</a:t>
            </a:r>
            <a:r>
              <a:rPr sz="2400" dirty="0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𝒙</a:t>
            </a:r>
            <a:r>
              <a:rPr sz="2625" baseline="-15873" dirty="0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𝟕</a:t>
            </a:r>
            <a:r>
              <a:rPr sz="2625" spc="569" baseline="-15873" dirty="0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 </a:t>
            </a:r>
            <a:r>
              <a:rPr sz="2400" spc="65" dirty="0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≠ </a:t>
            </a:r>
            <a:r>
              <a:rPr sz="2400" spc="-25" dirty="0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𝒚</a:t>
            </a:r>
            <a:r>
              <a:rPr sz="2625" spc="-37" baseline="-15873" dirty="0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𝟔</a:t>
            </a:r>
            <a:endParaRPr sz="2625" baseline="-15873" dirty="0">
              <a:latin typeface="SimSun" panose="02010600030101010101" pitchFamily="2" charset="-122"/>
              <a:ea typeface="SimSun" panose="02010600030101010101" pitchFamily="2" charset="-122"/>
              <a:cs typeface="Cambria Math"/>
            </a:endParaRPr>
          </a:p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647217" y="4070603"/>
          <a:ext cx="369760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874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111726" y="3344798"/>
          <a:ext cx="4232909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" name="object 7"/>
          <p:cNvSpPr/>
          <p:nvPr/>
        </p:nvSpPr>
        <p:spPr>
          <a:xfrm>
            <a:off x="4495291" y="2669285"/>
            <a:ext cx="737870" cy="511175"/>
          </a:xfrm>
          <a:custGeom>
            <a:avLst/>
            <a:gdLst/>
            <a:ahLst/>
            <a:cxnLst/>
            <a:rect l="l" t="t" r="r" b="b"/>
            <a:pathLst>
              <a:path w="737870" h="511175">
                <a:moveTo>
                  <a:pt x="658873" y="36657"/>
                </a:moveTo>
                <a:lnTo>
                  <a:pt x="0" y="487425"/>
                </a:lnTo>
                <a:lnTo>
                  <a:pt x="16256" y="511048"/>
                </a:lnTo>
                <a:lnTo>
                  <a:pt x="675023" y="60266"/>
                </a:lnTo>
                <a:lnTo>
                  <a:pt x="658873" y="36657"/>
                </a:lnTo>
                <a:close/>
              </a:path>
              <a:path w="737870" h="511175">
                <a:moveTo>
                  <a:pt x="721769" y="28575"/>
                </a:moveTo>
                <a:lnTo>
                  <a:pt x="670687" y="28575"/>
                </a:lnTo>
                <a:lnTo>
                  <a:pt x="686816" y="52197"/>
                </a:lnTo>
                <a:lnTo>
                  <a:pt x="675023" y="60266"/>
                </a:lnTo>
                <a:lnTo>
                  <a:pt x="691134" y="83819"/>
                </a:lnTo>
                <a:lnTo>
                  <a:pt x="721769" y="28575"/>
                </a:lnTo>
                <a:close/>
              </a:path>
              <a:path w="737870" h="511175">
                <a:moveTo>
                  <a:pt x="670687" y="28575"/>
                </a:moveTo>
                <a:lnTo>
                  <a:pt x="658873" y="36657"/>
                </a:lnTo>
                <a:lnTo>
                  <a:pt x="675023" y="60266"/>
                </a:lnTo>
                <a:lnTo>
                  <a:pt x="686816" y="52197"/>
                </a:lnTo>
                <a:lnTo>
                  <a:pt x="670687" y="28575"/>
                </a:lnTo>
                <a:close/>
              </a:path>
              <a:path w="737870" h="511175">
                <a:moveTo>
                  <a:pt x="737616" y="0"/>
                </a:moveTo>
                <a:lnTo>
                  <a:pt x="642747" y="13080"/>
                </a:lnTo>
                <a:lnTo>
                  <a:pt x="658873" y="36657"/>
                </a:lnTo>
                <a:lnTo>
                  <a:pt x="670687" y="28575"/>
                </a:lnTo>
                <a:lnTo>
                  <a:pt x="721769" y="28575"/>
                </a:lnTo>
                <a:lnTo>
                  <a:pt x="73761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496815" y="4566920"/>
            <a:ext cx="736600" cy="395605"/>
          </a:xfrm>
          <a:custGeom>
            <a:avLst/>
            <a:gdLst/>
            <a:ahLst/>
            <a:cxnLst/>
            <a:rect l="l" t="t" r="r" b="b"/>
            <a:pathLst>
              <a:path w="736600" h="395604">
                <a:moveTo>
                  <a:pt x="653579" y="368012"/>
                </a:moveTo>
                <a:lnTo>
                  <a:pt x="640334" y="393318"/>
                </a:lnTo>
                <a:lnTo>
                  <a:pt x="736092" y="395223"/>
                </a:lnTo>
                <a:lnTo>
                  <a:pt x="721290" y="374649"/>
                </a:lnTo>
                <a:lnTo>
                  <a:pt x="666242" y="374649"/>
                </a:lnTo>
                <a:lnTo>
                  <a:pt x="653579" y="368012"/>
                </a:lnTo>
                <a:close/>
              </a:path>
              <a:path w="736600" h="395604">
                <a:moveTo>
                  <a:pt x="666831" y="342694"/>
                </a:moveTo>
                <a:lnTo>
                  <a:pt x="653579" y="368012"/>
                </a:lnTo>
                <a:lnTo>
                  <a:pt x="666242" y="374649"/>
                </a:lnTo>
                <a:lnTo>
                  <a:pt x="679576" y="349376"/>
                </a:lnTo>
                <a:lnTo>
                  <a:pt x="666831" y="342694"/>
                </a:lnTo>
                <a:close/>
              </a:path>
              <a:path w="736600" h="395604">
                <a:moveTo>
                  <a:pt x="680085" y="317372"/>
                </a:moveTo>
                <a:lnTo>
                  <a:pt x="666831" y="342694"/>
                </a:lnTo>
                <a:lnTo>
                  <a:pt x="679576" y="349376"/>
                </a:lnTo>
                <a:lnTo>
                  <a:pt x="666242" y="374649"/>
                </a:lnTo>
                <a:lnTo>
                  <a:pt x="721290" y="374649"/>
                </a:lnTo>
                <a:lnTo>
                  <a:pt x="680085" y="317372"/>
                </a:lnTo>
                <a:close/>
              </a:path>
              <a:path w="736600" h="395604">
                <a:moveTo>
                  <a:pt x="13208" y="0"/>
                </a:moveTo>
                <a:lnTo>
                  <a:pt x="0" y="25399"/>
                </a:lnTo>
                <a:lnTo>
                  <a:pt x="653579" y="368012"/>
                </a:lnTo>
                <a:lnTo>
                  <a:pt x="666831" y="342694"/>
                </a:lnTo>
                <a:lnTo>
                  <a:pt x="1320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235711" y="2901442"/>
            <a:ext cx="762000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000" spc="-20">
                <a:latin typeface="Cambria Math"/>
                <a:cs typeface="Cambria Math"/>
              </a:rPr>
              <a:t>𝑪[𝟕,</a:t>
            </a:r>
            <a:r>
              <a:rPr sz="2000" spc="-70">
                <a:latin typeface="Cambria Math"/>
                <a:cs typeface="Cambria Math"/>
              </a:rPr>
              <a:t> </a:t>
            </a:r>
            <a:r>
              <a:rPr sz="2000" spc="-25">
                <a:latin typeface="Cambria Math"/>
                <a:cs typeface="Cambria Math"/>
              </a:rPr>
              <a:t>𝟔]</a:t>
            </a:r>
            <a:endParaRPr sz="2000">
              <a:latin typeface="Cambria Math"/>
              <a:cs typeface="Cambria Math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5403596" y="1751076"/>
          <a:ext cx="4232909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5400421" y="2301113"/>
          <a:ext cx="369760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874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sz="2200" spc="-50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60325" marB="0">
                    <a:lnL w="19050">
                      <a:solidFill>
                        <a:srgbClr val="7E7E7E"/>
                      </a:solidFill>
                      <a:prstDash val="sysDash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9050">
                      <a:solidFill>
                        <a:srgbClr val="7E7E7E"/>
                      </a:solidFill>
                      <a:prstDash val="solid"/>
                    </a:lnT>
                    <a:lnB w="19050">
                      <a:solidFill>
                        <a:srgbClr val="7E7E7E"/>
                      </a:solidFill>
                      <a:prstDash val="sysDash"/>
                    </a:lnB>
                    <a:solidFill>
                      <a:srgbClr val="BEBEB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5400421" y="4620640"/>
          <a:ext cx="4232909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sz="2200" spc="-50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60325" marB="0">
                    <a:lnL w="19050">
                      <a:solidFill>
                        <a:srgbClr val="7E7E7E"/>
                      </a:solidFill>
                      <a:prstDash val="sysDash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9050">
                      <a:solidFill>
                        <a:srgbClr val="7E7E7E"/>
                      </a:solidFill>
                      <a:prstDash val="solid"/>
                    </a:lnT>
                    <a:lnB w="19050">
                      <a:solidFill>
                        <a:srgbClr val="7E7E7E"/>
                      </a:solidFill>
                      <a:prstDash val="sysDash"/>
                    </a:lnB>
                    <a:solidFill>
                      <a:srgbClr val="BEBEB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3" name="object 13"/>
          <p:cNvGraphicFramePr>
            <a:graphicFrameLocks noGrp="1"/>
          </p:cNvGraphicFramePr>
          <p:nvPr/>
        </p:nvGraphicFramePr>
        <p:xfrm>
          <a:off x="5403596" y="5165597"/>
          <a:ext cx="369760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874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4" name="object 14"/>
          <p:cNvSpPr/>
          <p:nvPr/>
        </p:nvSpPr>
        <p:spPr>
          <a:xfrm>
            <a:off x="9670160" y="1018413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9899650" y="1314449"/>
            <a:ext cx="1397000" cy="3003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20">
                <a:solidFill>
                  <a:srgbClr val="FFFFFF"/>
                </a:solidFill>
                <a:latin typeface="PMingLiU"/>
                <a:cs typeface="PMingLiU"/>
              </a:rPr>
              <a:t>问题结构分析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10378440" y="2052827"/>
            <a:ext cx="439420" cy="367030"/>
          </a:xfrm>
          <a:custGeom>
            <a:avLst/>
            <a:gdLst/>
            <a:ahLst/>
            <a:cxnLst/>
            <a:rect l="l" t="t" r="r" b="b"/>
            <a:pathLst>
              <a:path w="439420" h="367030">
                <a:moveTo>
                  <a:pt x="351154" y="0"/>
                </a:moveTo>
                <a:lnTo>
                  <a:pt x="87756" y="0"/>
                </a:lnTo>
                <a:lnTo>
                  <a:pt x="87756" y="183261"/>
                </a:lnTo>
                <a:lnTo>
                  <a:pt x="0" y="183261"/>
                </a:lnTo>
                <a:lnTo>
                  <a:pt x="219455" y="366522"/>
                </a:lnTo>
                <a:lnTo>
                  <a:pt x="438911" y="183261"/>
                </a:lnTo>
                <a:lnTo>
                  <a:pt x="351154" y="183261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9670160" y="2480691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83C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 txBox="1"/>
          <p:nvPr/>
        </p:nvSpPr>
        <p:spPr>
          <a:xfrm>
            <a:off x="9899650" y="2776982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递推关系建立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10378440" y="3515105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9"/>
                </a:lnTo>
                <a:lnTo>
                  <a:pt x="0" y="182499"/>
                </a:lnTo>
                <a:lnTo>
                  <a:pt x="219455" y="364998"/>
                </a:lnTo>
                <a:lnTo>
                  <a:pt x="438911" y="182499"/>
                </a:lnTo>
                <a:lnTo>
                  <a:pt x="351154" y="182499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9670160" y="3941445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8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8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9899650" y="4237735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自底向上计算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10378440" y="4975859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8"/>
                </a:lnTo>
                <a:lnTo>
                  <a:pt x="0" y="182498"/>
                </a:lnTo>
                <a:lnTo>
                  <a:pt x="219455" y="364997"/>
                </a:lnTo>
                <a:lnTo>
                  <a:pt x="438911" y="182498"/>
                </a:lnTo>
                <a:lnTo>
                  <a:pt x="351154" y="182498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9670160" y="5402198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52"/>
                </a:lnTo>
                <a:lnTo>
                  <a:pt x="7647" y="914358"/>
                </a:lnTo>
                <a:lnTo>
                  <a:pt x="28511" y="945313"/>
                </a:lnTo>
                <a:lnTo>
                  <a:pt x="59471" y="966183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3"/>
                </a:lnTo>
                <a:lnTo>
                  <a:pt x="1827720" y="945313"/>
                </a:lnTo>
                <a:lnTo>
                  <a:pt x="1848584" y="914358"/>
                </a:lnTo>
                <a:lnTo>
                  <a:pt x="1856232" y="876452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 txBox="1"/>
          <p:nvPr/>
        </p:nvSpPr>
        <p:spPr>
          <a:xfrm>
            <a:off x="9899650" y="5698744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最优方案追踪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7732014" y="1376679"/>
            <a:ext cx="55244" cy="236220"/>
          </a:xfrm>
          <a:custGeom>
            <a:avLst/>
            <a:gdLst/>
            <a:ahLst/>
            <a:cxnLst/>
            <a:rect l="l" t="t" r="r" b="b"/>
            <a:pathLst>
              <a:path w="55244" h="236219">
                <a:moveTo>
                  <a:pt x="55245" y="0"/>
                </a:moveTo>
                <a:lnTo>
                  <a:pt x="0" y="0"/>
                </a:lnTo>
                <a:lnTo>
                  <a:pt x="0" y="10160"/>
                </a:lnTo>
                <a:lnTo>
                  <a:pt x="34671" y="10160"/>
                </a:lnTo>
                <a:lnTo>
                  <a:pt x="34671" y="227330"/>
                </a:lnTo>
                <a:lnTo>
                  <a:pt x="0" y="227330"/>
                </a:lnTo>
                <a:lnTo>
                  <a:pt x="0" y="236220"/>
                </a:lnTo>
                <a:lnTo>
                  <a:pt x="55245" y="236220"/>
                </a:lnTo>
                <a:lnTo>
                  <a:pt x="55245" y="227330"/>
                </a:lnTo>
                <a:lnTo>
                  <a:pt x="55245" y="10160"/>
                </a:lnTo>
                <a:lnTo>
                  <a:pt x="552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6811518" y="1376679"/>
            <a:ext cx="55244" cy="236220"/>
          </a:xfrm>
          <a:custGeom>
            <a:avLst/>
            <a:gdLst/>
            <a:ahLst/>
            <a:cxnLst/>
            <a:rect l="l" t="t" r="r" b="b"/>
            <a:pathLst>
              <a:path w="55244" h="236219">
                <a:moveTo>
                  <a:pt x="55245" y="0"/>
                </a:moveTo>
                <a:lnTo>
                  <a:pt x="0" y="0"/>
                </a:lnTo>
                <a:lnTo>
                  <a:pt x="0" y="10160"/>
                </a:lnTo>
                <a:lnTo>
                  <a:pt x="0" y="227330"/>
                </a:lnTo>
                <a:lnTo>
                  <a:pt x="0" y="236220"/>
                </a:lnTo>
                <a:lnTo>
                  <a:pt x="55245" y="236220"/>
                </a:lnTo>
                <a:lnTo>
                  <a:pt x="55245" y="227330"/>
                </a:lnTo>
                <a:lnTo>
                  <a:pt x="20574" y="227330"/>
                </a:lnTo>
                <a:lnTo>
                  <a:pt x="20574" y="10160"/>
                </a:lnTo>
                <a:lnTo>
                  <a:pt x="55245" y="10160"/>
                </a:lnTo>
                <a:lnTo>
                  <a:pt x="552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 txBox="1"/>
          <p:nvPr/>
        </p:nvSpPr>
        <p:spPr>
          <a:xfrm>
            <a:off x="6611873" y="1300733"/>
            <a:ext cx="1673225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261110" algn="l"/>
              </a:tabLst>
            </a:pPr>
            <a:r>
              <a:rPr sz="2000">
                <a:latin typeface="Cambria Math"/>
                <a:cs typeface="Cambria Math"/>
              </a:rPr>
              <a:t>𝑪</a:t>
            </a:r>
            <a:r>
              <a:rPr sz="2000" spc="245">
                <a:latin typeface="Cambria Math"/>
                <a:cs typeface="Cambria Math"/>
              </a:rPr>
              <a:t> </a:t>
            </a:r>
            <a:r>
              <a:rPr sz="2000" spc="-20">
                <a:latin typeface="Cambria Math"/>
                <a:cs typeface="Cambria Math"/>
              </a:rPr>
              <a:t>𝟕,</a:t>
            </a:r>
            <a:r>
              <a:rPr sz="2000" spc="-105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𝟔 −</a:t>
            </a:r>
            <a:r>
              <a:rPr sz="2000" spc="5">
                <a:latin typeface="Cambria Math"/>
                <a:cs typeface="Cambria Math"/>
              </a:rPr>
              <a:t> </a:t>
            </a:r>
            <a:r>
              <a:rPr sz="2000" spc="-50">
                <a:latin typeface="Cambria Math"/>
                <a:cs typeface="Cambria Math"/>
              </a:rPr>
              <a:t>𝟏</a:t>
            </a:r>
            <a:r>
              <a:rPr sz="2000">
                <a:latin typeface="Cambria Math"/>
                <a:cs typeface="Cambria Math"/>
              </a:rPr>
              <a:t>	+</a:t>
            </a:r>
            <a:r>
              <a:rPr sz="2000" spc="-5">
                <a:latin typeface="Cambria Math"/>
                <a:cs typeface="Cambria Math"/>
              </a:rPr>
              <a:t> </a:t>
            </a:r>
            <a:r>
              <a:rPr sz="2000" spc="-60">
                <a:latin typeface="Cambria Math"/>
                <a:cs typeface="Cambria Math"/>
              </a:rPr>
              <a:t>𝟎</a:t>
            </a:r>
            <a:endParaRPr sz="2000">
              <a:latin typeface="Cambria Math"/>
              <a:cs typeface="Cambria Math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6811518" y="4240529"/>
            <a:ext cx="975994" cy="236220"/>
          </a:xfrm>
          <a:custGeom>
            <a:avLst/>
            <a:gdLst/>
            <a:ahLst/>
            <a:cxnLst/>
            <a:rect l="l" t="t" r="r" b="b"/>
            <a:pathLst>
              <a:path w="975994" h="236220">
                <a:moveTo>
                  <a:pt x="55245" y="0"/>
                </a:moveTo>
                <a:lnTo>
                  <a:pt x="0" y="0"/>
                </a:lnTo>
                <a:lnTo>
                  <a:pt x="0" y="10160"/>
                </a:lnTo>
                <a:lnTo>
                  <a:pt x="0" y="227330"/>
                </a:lnTo>
                <a:lnTo>
                  <a:pt x="0" y="236220"/>
                </a:lnTo>
                <a:lnTo>
                  <a:pt x="55245" y="236220"/>
                </a:lnTo>
                <a:lnTo>
                  <a:pt x="55245" y="227330"/>
                </a:lnTo>
                <a:lnTo>
                  <a:pt x="20574" y="227330"/>
                </a:lnTo>
                <a:lnTo>
                  <a:pt x="20574" y="10160"/>
                </a:lnTo>
                <a:lnTo>
                  <a:pt x="55245" y="10160"/>
                </a:lnTo>
                <a:lnTo>
                  <a:pt x="55245" y="0"/>
                </a:lnTo>
                <a:close/>
              </a:path>
              <a:path w="975994" h="236220">
                <a:moveTo>
                  <a:pt x="975741" y="0"/>
                </a:moveTo>
                <a:lnTo>
                  <a:pt x="920496" y="0"/>
                </a:lnTo>
                <a:lnTo>
                  <a:pt x="920496" y="10160"/>
                </a:lnTo>
                <a:lnTo>
                  <a:pt x="955167" y="10160"/>
                </a:lnTo>
                <a:lnTo>
                  <a:pt x="955167" y="227330"/>
                </a:lnTo>
                <a:lnTo>
                  <a:pt x="920496" y="227330"/>
                </a:lnTo>
                <a:lnTo>
                  <a:pt x="920496" y="236220"/>
                </a:lnTo>
                <a:lnTo>
                  <a:pt x="975741" y="236220"/>
                </a:lnTo>
                <a:lnTo>
                  <a:pt x="975741" y="227330"/>
                </a:lnTo>
                <a:lnTo>
                  <a:pt x="975741" y="10160"/>
                </a:lnTo>
                <a:lnTo>
                  <a:pt x="9757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 txBox="1"/>
          <p:nvPr/>
        </p:nvSpPr>
        <p:spPr>
          <a:xfrm>
            <a:off x="6611873" y="4165091"/>
            <a:ext cx="1673225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261110" algn="l"/>
              </a:tabLst>
            </a:pPr>
            <a:r>
              <a:rPr sz="2000">
                <a:latin typeface="Cambria Math"/>
                <a:cs typeface="Cambria Math"/>
              </a:rPr>
              <a:t>𝑪</a:t>
            </a:r>
            <a:r>
              <a:rPr sz="2000" spc="240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𝟕</a:t>
            </a:r>
            <a:r>
              <a:rPr sz="2000" spc="-10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−</a:t>
            </a:r>
            <a:r>
              <a:rPr sz="2000" spc="5">
                <a:latin typeface="Cambria Math"/>
                <a:cs typeface="Cambria Math"/>
              </a:rPr>
              <a:t> </a:t>
            </a:r>
            <a:r>
              <a:rPr sz="2000" spc="-10">
                <a:latin typeface="Cambria Math"/>
                <a:cs typeface="Cambria Math"/>
              </a:rPr>
              <a:t>𝟏,</a:t>
            </a:r>
            <a:r>
              <a:rPr sz="2000" spc="-110">
                <a:latin typeface="Cambria Math"/>
                <a:cs typeface="Cambria Math"/>
              </a:rPr>
              <a:t> </a:t>
            </a:r>
            <a:r>
              <a:rPr sz="2000" spc="-50">
                <a:latin typeface="Cambria Math"/>
                <a:cs typeface="Cambria Math"/>
              </a:rPr>
              <a:t>𝟔</a:t>
            </a:r>
            <a:r>
              <a:rPr sz="2000">
                <a:latin typeface="Cambria Math"/>
                <a:cs typeface="Cambria Math"/>
              </a:rPr>
              <a:t>	+</a:t>
            </a:r>
            <a:r>
              <a:rPr sz="2000" spc="-5">
                <a:latin typeface="Cambria Math"/>
                <a:cs typeface="Cambria Math"/>
              </a:rPr>
              <a:t> </a:t>
            </a:r>
            <a:r>
              <a:rPr sz="2000" spc="-60">
                <a:latin typeface="Cambria Math"/>
                <a:cs typeface="Cambria Math"/>
              </a:rPr>
              <a:t>𝟎</a:t>
            </a:r>
            <a:endParaRPr sz="2000">
              <a:latin typeface="Cambria Math"/>
              <a:cs typeface="Cambria Math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5258561" y="4138421"/>
            <a:ext cx="4401820" cy="1595120"/>
          </a:xfrm>
          <a:custGeom>
            <a:avLst/>
            <a:gdLst/>
            <a:ahLst/>
            <a:cxnLst/>
            <a:rect l="l" t="t" r="r" b="b"/>
            <a:pathLst>
              <a:path w="4401820" h="1595120">
                <a:moveTo>
                  <a:pt x="0" y="155194"/>
                </a:moveTo>
                <a:lnTo>
                  <a:pt x="7910" y="106135"/>
                </a:lnTo>
                <a:lnTo>
                  <a:pt x="29939" y="63532"/>
                </a:lnTo>
                <a:lnTo>
                  <a:pt x="63532" y="29939"/>
                </a:lnTo>
                <a:lnTo>
                  <a:pt x="106135" y="7910"/>
                </a:lnTo>
                <a:lnTo>
                  <a:pt x="155193" y="0"/>
                </a:lnTo>
                <a:lnTo>
                  <a:pt x="4246118" y="0"/>
                </a:lnTo>
                <a:lnTo>
                  <a:pt x="4295176" y="7910"/>
                </a:lnTo>
                <a:lnTo>
                  <a:pt x="4337779" y="29939"/>
                </a:lnTo>
                <a:lnTo>
                  <a:pt x="4371372" y="63532"/>
                </a:lnTo>
                <a:lnTo>
                  <a:pt x="4393401" y="106135"/>
                </a:lnTo>
                <a:lnTo>
                  <a:pt x="4401312" y="155194"/>
                </a:lnTo>
                <a:lnTo>
                  <a:pt x="4401312" y="1439671"/>
                </a:lnTo>
                <a:lnTo>
                  <a:pt x="4393401" y="1488720"/>
                </a:lnTo>
                <a:lnTo>
                  <a:pt x="4371372" y="1531322"/>
                </a:lnTo>
                <a:lnTo>
                  <a:pt x="4337779" y="1564919"/>
                </a:lnTo>
                <a:lnTo>
                  <a:pt x="4295176" y="1586952"/>
                </a:lnTo>
                <a:lnTo>
                  <a:pt x="4246118" y="1594865"/>
                </a:lnTo>
                <a:lnTo>
                  <a:pt x="155193" y="1594865"/>
                </a:lnTo>
                <a:lnTo>
                  <a:pt x="106135" y="1586952"/>
                </a:lnTo>
                <a:lnTo>
                  <a:pt x="63532" y="1564919"/>
                </a:lnTo>
                <a:lnTo>
                  <a:pt x="29939" y="1531322"/>
                </a:lnTo>
                <a:lnTo>
                  <a:pt x="7910" y="1488720"/>
                </a:lnTo>
                <a:lnTo>
                  <a:pt x="0" y="1439671"/>
                </a:lnTo>
                <a:lnTo>
                  <a:pt x="0" y="155194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5">
            <a:extLst>
              <a:ext uri="{FF2B5EF4-FFF2-40B4-BE49-F238E27FC236}">
                <a16:creationId xmlns:a16="http://schemas.microsoft.com/office/drawing/2014/main" id="{A3C42725-D17B-C849-986D-94DAEAD03E38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89026" y="253163"/>
            <a:ext cx="9691371" cy="56618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6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递推关系建立：分析最优（子）结</a:t>
            </a:r>
            <a:r>
              <a:rPr sz="36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构</a:t>
            </a:r>
            <a:endParaRPr sz="36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25" grpId="0" animBg="1"/>
      <p:bldP spid="26" grpId="0" animBg="1"/>
      <p:bldP spid="27" grpId="0"/>
      <p:bldP spid="28" grpId="0" animBg="1"/>
      <p:bldP spid="29" grpId="0"/>
      <p:bldP spid="30" grpId="0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38444" y="1173166"/>
            <a:ext cx="3111771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考察末尾字符</a:t>
            </a:r>
            <a:endParaRPr sz="280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57466" y="2117284"/>
            <a:ext cx="3175695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5445" indent="-347980">
              <a:lnSpc>
                <a:spcPct val="100000"/>
              </a:lnSpc>
              <a:spcBef>
                <a:spcPts val="100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385445" algn="l"/>
                <a:tab pos="386080" algn="l"/>
              </a:tabLst>
            </a:pPr>
            <a:r>
              <a:rPr sz="240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情况</a:t>
            </a:r>
            <a:r>
              <a:rPr sz="2400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𝟏</a:t>
            </a:r>
            <a:r>
              <a:rPr sz="240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：</a:t>
            </a:r>
            <a:r>
              <a:rPr sz="2400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𝒙</a:t>
            </a:r>
            <a:r>
              <a:rPr sz="2625" baseline="-15873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𝟕</a:t>
            </a:r>
            <a:r>
              <a:rPr sz="2625" spc="569" baseline="-15873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 </a:t>
            </a:r>
            <a:r>
              <a:rPr sz="2400" spc="65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≠ </a:t>
            </a:r>
            <a:r>
              <a:rPr sz="2400" spc="-25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𝒚</a:t>
            </a:r>
            <a:r>
              <a:rPr sz="2625" spc="-37" baseline="-15873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𝟔</a:t>
            </a:r>
            <a:endParaRPr sz="2625" baseline="-15873">
              <a:latin typeface="SimSun" panose="02010600030101010101" pitchFamily="2" charset="-122"/>
              <a:ea typeface="SimSun" panose="02010600030101010101" pitchFamily="2" charset="-122"/>
              <a:cs typeface="Cambria Math"/>
            </a:endParaRPr>
          </a:p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647217" y="4070603"/>
          <a:ext cx="369760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874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111726" y="3344798"/>
          <a:ext cx="4232909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" name="object 7"/>
          <p:cNvSpPr txBox="1"/>
          <p:nvPr/>
        </p:nvSpPr>
        <p:spPr>
          <a:xfrm>
            <a:off x="235711" y="2901442"/>
            <a:ext cx="762000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000" spc="-20">
                <a:latin typeface="Cambria Math"/>
                <a:cs typeface="Cambria Math"/>
              </a:rPr>
              <a:t>𝑪[𝟕,</a:t>
            </a:r>
            <a:r>
              <a:rPr sz="2000" spc="-70">
                <a:latin typeface="Cambria Math"/>
                <a:cs typeface="Cambria Math"/>
              </a:rPr>
              <a:t> </a:t>
            </a:r>
            <a:r>
              <a:rPr sz="2000" spc="-25">
                <a:latin typeface="Cambria Math"/>
                <a:cs typeface="Cambria Math"/>
              </a:rPr>
              <a:t>𝟔]</a:t>
            </a:r>
            <a:endParaRPr sz="2000">
              <a:latin typeface="Cambria Math"/>
              <a:cs typeface="Cambria Math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5403596" y="1751076"/>
          <a:ext cx="4232909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5400421" y="2301113"/>
          <a:ext cx="369760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874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sz="2200" spc="-50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60325" marB="0">
                    <a:lnL w="19050">
                      <a:solidFill>
                        <a:srgbClr val="7E7E7E"/>
                      </a:solidFill>
                      <a:prstDash val="sysDash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9050">
                      <a:solidFill>
                        <a:srgbClr val="7E7E7E"/>
                      </a:solidFill>
                      <a:prstDash val="solid"/>
                    </a:lnT>
                    <a:lnB w="19050">
                      <a:solidFill>
                        <a:srgbClr val="7E7E7E"/>
                      </a:solidFill>
                      <a:prstDash val="sysDash"/>
                    </a:lnB>
                    <a:solidFill>
                      <a:srgbClr val="BEBEB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5400421" y="4620640"/>
          <a:ext cx="4232909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sz="2200" spc="-50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60325" marB="0">
                    <a:lnL w="19050">
                      <a:solidFill>
                        <a:srgbClr val="7E7E7E"/>
                      </a:solidFill>
                      <a:prstDash val="sysDash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9050">
                      <a:solidFill>
                        <a:srgbClr val="7E7E7E"/>
                      </a:solidFill>
                      <a:prstDash val="solid"/>
                    </a:lnT>
                    <a:lnB w="19050">
                      <a:solidFill>
                        <a:srgbClr val="7E7E7E"/>
                      </a:solidFill>
                      <a:prstDash val="sysDash"/>
                    </a:lnB>
                    <a:solidFill>
                      <a:srgbClr val="BEBEB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5403596" y="5165597"/>
          <a:ext cx="369760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874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2" name="object 12"/>
          <p:cNvSpPr/>
          <p:nvPr/>
        </p:nvSpPr>
        <p:spPr>
          <a:xfrm>
            <a:off x="9670160" y="1018413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 txBox="1"/>
          <p:nvPr/>
        </p:nvSpPr>
        <p:spPr>
          <a:xfrm>
            <a:off x="9899650" y="1314449"/>
            <a:ext cx="1397000" cy="3003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20">
                <a:solidFill>
                  <a:srgbClr val="FFFFFF"/>
                </a:solidFill>
                <a:latin typeface="PMingLiU"/>
                <a:cs typeface="PMingLiU"/>
              </a:rPr>
              <a:t>问题结构分析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10378440" y="2052827"/>
            <a:ext cx="439420" cy="367030"/>
          </a:xfrm>
          <a:custGeom>
            <a:avLst/>
            <a:gdLst/>
            <a:ahLst/>
            <a:cxnLst/>
            <a:rect l="l" t="t" r="r" b="b"/>
            <a:pathLst>
              <a:path w="439420" h="367030">
                <a:moveTo>
                  <a:pt x="351154" y="0"/>
                </a:moveTo>
                <a:lnTo>
                  <a:pt x="87756" y="0"/>
                </a:lnTo>
                <a:lnTo>
                  <a:pt x="87756" y="183261"/>
                </a:lnTo>
                <a:lnTo>
                  <a:pt x="0" y="183261"/>
                </a:lnTo>
                <a:lnTo>
                  <a:pt x="219455" y="366522"/>
                </a:lnTo>
                <a:lnTo>
                  <a:pt x="438911" y="183261"/>
                </a:lnTo>
                <a:lnTo>
                  <a:pt x="351154" y="183261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9670160" y="2480691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83C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 txBox="1"/>
          <p:nvPr/>
        </p:nvSpPr>
        <p:spPr>
          <a:xfrm>
            <a:off x="9899650" y="2776982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递推关系建立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10378440" y="3515105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9"/>
                </a:lnTo>
                <a:lnTo>
                  <a:pt x="0" y="182499"/>
                </a:lnTo>
                <a:lnTo>
                  <a:pt x="219455" y="364998"/>
                </a:lnTo>
                <a:lnTo>
                  <a:pt x="438911" y="182499"/>
                </a:lnTo>
                <a:lnTo>
                  <a:pt x="351154" y="182499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670160" y="3941445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8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8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 txBox="1"/>
          <p:nvPr/>
        </p:nvSpPr>
        <p:spPr>
          <a:xfrm>
            <a:off x="9899650" y="4237735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自底向上计算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10378440" y="4975859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8"/>
                </a:lnTo>
                <a:lnTo>
                  <a:pt x="0" y="182498"/>
                </a:lnTo>
                <a:lnTo>
                  <a:pt x="219455" y="364997"/>
                </a:lnTo>
                <a:lnTo>
                  <a:pt x="438911" y="182498"/>
                </a:lnTo>
                <a:lnTo>
                  <a:pt x="351154" y="182498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9670160" y="5402198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52"/>
                </a:lnTo>
                <a:lnTo>
                  <a:pt x="7647" y="914358"/>
                </a:lnTo>
                <a:lnTo>
                  <a:pt x="28511" y="945313"/>
                </a:lnTo>
                <a:lnTo>
                  <a:pt x="59471" y="966183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3"/>
                </a:lnTo>
                <a:lnTo>
                  <a:pt x="1827720" y="945313"/>
                </a:lnTo>
                <a:lnTo>
                  <a:pt x="1848584" y="914358"/>
                </a:lnTo>
                <a:lnTo>
                  <a:pt x="1856232" y="876452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 txBox="1"/>
          <p:nvPr/>
        </p:nvSpPr>
        <p:spPr>
          <a:xfrm>
            <a:off x="9899650" y="5698744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最优方案追踪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7732014" y="1376679"/>
            <a:ext cx="55244" cy="236220"/>
          </a:xfrm>
          <a:custGeom>
            <a:avLst/>
            <a:gdLst/>
            <a:ahLst/>
            <a:cxnLst/>
            <a:rect l="l" t="t" r="r" b="b"/>
            <a:pathLst>
              <a:path w="55244" h="236219">
                <a:moveTo>
                  <a:pt x="55245" y="0"/>
                </a:moveTo>
                <a:lnTo>
                  <a:pt x="0" y="0"/>
                </a:lnTo>
                <a:lnTo>
                  <a:pt x="0" y="10160"/>
                </a:lnTo>
                <a:lnTo>
                  <a:pt x="34671" y="10160"/>
                </a:lnTo>
                <a:lnTo>
                  <a:pt x="34671" y="227330"/>
                </a:lnTo>
                <a:lnTo>
                  <a:pt x="0" y="227330"/>
                </a:lnTo>
                <a:lnTo>
                  <a:pt x="0" y="236220"/>
                </a:lnTo>
                <a:lnTo>
                  <a:pt x="55245" y="236220"/>
                </a:lnTo>
                <a:lnTo>
                  <a:pt x="55245" y="227330"/>
                </a:lnTo>
                <a:lnTo>
                  <a:pt x="55245" y="10160"/>
                </a:lnTo>
                <a:lnTo>
                  <a:pt x="552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6811518" y="1376679"/>
            <a:ext cx="55244" cy="236220"/>
          </a:xfrm>
          <a:custGeom>
            <a:avLst/>
            <a:gdLst/>
            <a:ahLst/>
            <a:cxnLst/>
            <a:rect l="l" t="t" r="r" b="b"/>
            <a:pathLst>
              <a:path w="55244" h="236219">
                <a:moveTo>
                  <a:pt x="55245" y="0"/>
                </a:moveTo>
                <a:lnTo>
                  <a:pt x="0" y="0"/>
                </a:lnTo>
                <a:lnTo>
                  <a:pt x="0" y="10160"/>
                </a:lnTo>
                <a:lnTo>
                  <a:pt x="0" y="227330"/>
                </a:lnTo>
                <a:lnTo>
                  <a:pt x="0" y="236220"/>
                </a:lnTo>
                <a:lnTo>
                  <a:pt x="55245" y="236220"/>
                </a:lnTo>
                <a:lnTo>
                  <a:pt x="55245" y="227330"/>
                </a:lnTo>
                <a:lnTo>
                  <a:pt x="20574" y="227330"/>
                </a:lnTo>
                <a:lnTo>
                  <a:pt x="20574" y="10160"/>
                </a:lnTo>
                <a:lnTo>
                  <a:pt x="55245" y="10160"/>
                </a:lnTo>
                <a:lnTo>
                  <a:pt x="552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6611873" y="1300733"/>
            <a:ext cx="1673225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261110" algn="l"/>
              </a:tabLst>
            </a:pPr>
            <a:r>
              <a:rPr sz="2000">
                <a:latin typeface="Cambria Math"/>
                <a:cs typeface="Cambria Math"/>
              </a:rPr>
              <a:t>𝑪</a:t>
            </a:r>
            <a:r>
              <a:rPr sz="2000" spc="245">
                <a:latin typeface="Cambria Math"/>
                <a:cs typeface="Cambria Math"/>
              </a:rPr>
              <a:t> </a:t>
            </a:r>
            <a:r>
              <a:rPr sz="2000" spc="-20">
                <a:latin typeface="Cambria Math"/>
                <a:cs typeface="Cambria Math"/>
              </a:rPr>
              <a:t>𝟕,</a:t>
            </a:r>
            <a:r>
              <a:rPr sz="2000" spc="-105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𝟔 −</a:t>
            </a:r>
            <a:r>
              <a:rPr sz="2000" spc="5">
                <a:latin typeface="Cambria Math"/>
                <a:cs typeface="Cambria Math"/>
              </a:rPr>
              <a:t> </a:t>
            </a:r>
            <a:r>
              <a:rPr sz="2000" spc="-50">
                <a:latin typeface="Cambria Math"/>
                <a:cs typeface="Cambria Math"/>
              </a:rPr>
              <a:t>𝟏</a:t>
            </a:r>
            <a:r>
              <a:rPr sz="2000">
                <a:latin typeface="Cambria Math"/>
                <a:cs typeface="Cambria Math"/>
              </a:rPr>
              <a:t>	+</a:t>
            </a:r>
            <a:r>
              <a:rPr sz="2000" spc="-5">
                <a:latin typeface="Cambria Math"/>
                <a:cs typeface="Cambria Math"/>
              </a:rPr>
              <a:t> </a:t>
            </a:r>
            <a:r>
              <a:rPr sz="2000" spc="-60">
                <a:latin typeface="Cambria Math"/>
                <a:cs typeface="Cambria Math"/>
              </a:rPr>
              <a:t>𝟎</a:t>
            </a:r>
            <a:endParaRPr sz="2000">
              <a:latin typeface="Cambria Math"/>
              <a:cs typeface="Cambria Math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7732014" y="4240529"/>
            <a:ext cx="55244" cy="236220"/>
          </a:xfrm>
          <a:custGeom>
            <a:avLst/>
            <a:gdLst/>
            <a:ahLst/>
            <a:cxnLst/>
            <a:rect l="l" t="t" r="r" b="b"/>
            <a:pathLst>
              <a:path w="55244" h="236220">
                <a:moveTo>
                  <a:pt x="55245" y="0"/>
                </a:moveTo>
                <a:lnTo>
                  <a:pt x="0" y="0"/>
                </a:lnTo>
                <a:lnTo>
                  <a:pt x="0" y="10160"/>
                </a:lnTo>
                <a:lnTo>
                  <a:pt x="34671" y="10160"/>
                </a:lnTo>
                <a:lnTo>
                  <a:pt x="34671" y="227330"/>
                </a:lnTo>
                <a:lnTo>
                  <a:pt x="0" y="227330"/>
                </a:lnTo>
                <a:lnTo>
                  <a:pt x="0" y="236220"/>
                </a:lnTo>
                <a:lnTo>
                  <a:pt x="55245" y="236220"/>
                </a:lnTo>
                <a:lnTo>
                  <a:pt x="55245" y="227330"/>
                </a:lnTo>
                <a:lnTo>
                  <a:pt x="55245" y="10160"/>
                </a:lnTo>
                <a:lnTo>
                  <a:pt x="552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6811518" y="4240529"/>
            <a:ext cx="55244" cy="236220"/>
          </a:xfrm>
          <a:custGeom>
            <a:avLst/>
            <a:gdLst/>
            <a:ahLst/>
            <a:cxnLst/>
            <a:rect l="l" t="t" r="r" b="b"/>
            <a:pathLst>
              <a:path w="55244" h="236220">
                <a:moveTo>
                  <a:pt x="55245" y="0"/>
                </a:moveTo>
                <a:lnTo>
                  <a:pt x="0" y="0"/>
                </a:lnTo>
                <a:lnTo>
                  <a:pt x="0" y="10160"/>
                </a:lnTo>
                <a:lnTo>
                  <a:pt x="0" y="227330"/>
                </a:lnTo>
                <a:lnTo>
                  <a:pt x="0" y="236220"/>
                </a:lnTo>
                <a:lnTo>
                  <a:pt x="55245" y="236220"/>
                </a:lnTo>
                <a:lnTo>
                  <a:pt x="55245" y="227330"/>
                </a:lnTo>
                <a:lnTo>
                  <a:pt x="20574" y="227330"/>
                </a:lnTo>
                <a:lnTo>
                  <a:pt x="20574" y="10160"/>
                </a:lnTo>
                <a:lnTo>
                  <a:pt x="55245" y="10160"/>
                </a:lnTo>
                <a:lnTo>
                  <a:pt x="552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 txBox="1"/>
          <p:nvPr/>
        </p:nvSpPr>
        <p:spPr>
          <a:xfrm>
            <a:off x="6611873" y="4165091"/>
            <a:ext cx="1673225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261110" algn="l"/>
              </a:tabLst>
            </a:pPr>
            <a:r>
              <a:rPr sz="2000">
                <a:latin typeface="Cambria Math"/>
                <a:cs typeface="Cambria Math"/>
              </a:rPr>
              <a:t>𝑪</a:t>
            </a:r>
            <a:r>
              <a:rPr sz="2000" spc="240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𝟕</a:t>
            </a:r>
            <a:r>
              <a:rPr sz="2000" spc="-10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−</a:t>
            </a:r>
            <a:r>
              <a:rPr sz="2000" spc="5">
                <a:latin typeface="Cambria Math"/>
                <a:cs typeface="Cambria Math"/>
              </a:rPr>
              <a:t> </a:t>
            </a:r>
            <a:r>
              <a:rPr sz="2000" spc="-10">
                <a:latin typeface="Cambria Math"/>
                <a:cs typeface="Cambria Math"/>
              </a:rPr>
              <a:t>𝟏,</a:t>
            </a:r>
            <a:r>
              <a:rPr sz="2000" spc="-110">
                <a:latin typeface="Cambria Math"/>
                <a:cs typeface="Cambria Math"/>
              </a:rPr>
              <a:t> </a:t>
            </a:r>
            <a:r>
              <a:rPr sz="2000" spc="-50">
                <a:latin typeface="Cambria Math"/>
                <a:cs typeface="Cambria Math"/>
              </a:rPr>
              <a:t>𝟔</a:t>
            </a:r>
            <a:r>
              <a:rPr sz="2000">
                <a:latin typeface="Cambria Math"/>
                <a:cs typeface="Cambria Math"/>
              </a:rPr>
              <a:t>	+</a:t>
            </a:r>
            <a:r>
              <a:rPr sz="2000" spc="-5">
                <a:latin typeface="Cambria Math"/>
                <a:cs typeface="Cambria Math"/>
              </a:rPr>
              <a:t> </a:t>
            </a:r>
            <a:r>
              <a:rPr sz="2000" spc="-60">
                <a:latin typeface="Cambria Math"/>
                <a:cs typeface="Cambria Math"/>
              </a:rPr>
              <a:t>𝟎</a:t>
            </a:r>
            <a:endParaRPr sz="2000">
              <a:latin typeface="Cambria Math"/>
              <a:cs typeface="Cambria Math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4380991" y="3236975"/>
            <a:ext cx="730250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800" spc="-25">
                <a:latin typeface="Cambria Math"/>
                <a:cs typeface="Cambria Math"/>
              </a:rPr>
              <a:t>𝐦𝐚𝐱</a:t>
            </a:r>
            <a:endParaRPr sz="2800">
              <a:latin typeface="Cambria Math"/>
              <a:cs typeface="Cambria Math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4975097" y="2414777"/>
            <a:ext cx="365760" cy="2628265"/>
          </a:xfrm>
          <a:custGeom>
            <a:avLst/>
            <a:gdLst/>
            <a:ahLst/>
            <a:cxnLst/>
            <a:rect l="l" t="t" r="r" b="b"/>
            <a:pathLst>
              <a:path w="365760" h="2628265">
                <a:moveTo>
                  <a:pt x="365760" y="2628138"/>
                </a:moveTo>
                <a:lnTo>
                  <a:pt x="294590" y="2625750"/>
                </a:lnTo>
                <a:lnTo>
                  <a:pt x="236458" y="2619232"/>
                </a:lnTo>
                <a:lnTo>
                  <a:pt x="197256" y="2609546"/>
                </a:lnTo>
                <a:lnTo>
                  <a:pt x="182879" y="2597658"/>
                </a:lnTo>
                <a:lnTo>
                  <a:pt x="182879" y="1344549"/>
                </a:lnTo>
                <a:lnTo>
                  <a:pt x="168503" y="1332660"/>
                </a:lnTo>
                <a:lnTo>
                  <a:pt x="129301" y="1322974"/>
                </a:lnTo>
                <a:lnTo>
                  <a:pt x="71169" y="1316456"/>
                </a:lnTo>
                <a:lnTo>
                  <a:pt x="0" y="1314069"/>
                </a:lnTo>
                <a:lnTo>
                  <a:pt x="71169" y="1311681"/>
                </a:lnTo>
                <a:lnTo>
                  <a:pt x="129301" y="1305163"/>
                </a:lnTo>
                <a:lnTo>
                  <a:pt x="168503" y="1295477"/>
                </a:lnTo>
                <a:lnTo>
                  <a:pt x="182879" y="1283589"/>
                </a:lnTo>
                <a:lnTo>
                  <a:pt x="182879" y="30480"/>
                </a:lnTo>
                <a:lnTo>
                  <a:pt x="197256" y="18591"/>
                </a:lnTo>
                <a:lnTo>
                  <a:pt x="236458" y="8905"/>
                </a:lnTo>
                <a:lnTo>
                  <a:pt x="294590" y="2387"/>
                </a:lnTo>
                <a:lnTo>
                  <a:pt x="365760" y="0"/>
                </a:lnTo>
              </a:path>
            </a:pathLst>
          </a:custGeom>
          <a:ln w="2857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5">
            <a:extLst>
              <a:ext uri="{FF2B5EF4-FFF2-40B4-BE49-F238E27FC236}">
                <a16:creationId xmlns:a16="http://schemas.microsoft.com/office/drawing/2014/main" id="{1D10F8D7-76C2-8645-9365-9C1069BB7BF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89026" y="253163"/>
            <a:ext cx="9691371" cy="56618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6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递推关系建立：分析最优（子）结</a:t>
            </a:r>
            <a:r>
              <a:rPr sz="36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构</a:t>
            </a:r>
            <a:endParaRPr sz="36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27731" y="1162049"/>
            <a:ext cx="151193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80365" algn="l"/>
                <a:tab pos="381000" algn="l"/>
              </a:tabLst>
            </a:pPr>
            <a:r>
              <a:rPr sz="2800" dirty="0">
                <a:latin typeface="Cambria Math"/>
                <a:cs typeface="Cambria Math"/>
              </a:rPr>
              <a:t>𝒙</a:t>
            </a:r>
            <a:r>
              <a:rPr sz="3075" baseline="-14905" dirty="0">
                <a:latin typeface="Cambria Math"/>
                <a:cs typeface="Cambria Math"/>
              </a:rPr>
              <a:t>𝒊</a:t>
            </a:r>
            <a:r>
              <a:rPr sz="3075" spc="652" baseline="-14905" dirty="0">
                <a:latin typeface="Cambria Math"/>
                <a:cs typeface="Cambria Math"/>
              </a:rPr>
              <a:t> </a:t>
            </a:r>
            <a:r>
              <a:rPr sz="2800" dirty="0">
                <a:latin typeface="Cambria Math"/>
                <a:cs typeface="Cambria Math"/>
              </a:rPr>
              <a:t>≠</a:t>
            </a:r>
            <a:r>
              <a:rPr sz="2800" spc="140" dirty="0">
                <a:latin typeface="Cambria Math"/>
                <a:cs typeface="Cambria Math"/>
              </a:rPr>
              <a:t> </a:t>
            </a:r>
            <a:r>
              <a:rPr sz="2800" spc="-25" dirty="0">
                <a:latin typeface="Cambria Math"/>
                <a:cs typeface="Cambria Math"/>
              </a:rPr>
              <a:t>𝒚</a:t>
            </a:r>
            <a:r>
              <a:rPr sz="3075" spc="-37" baseline="-14905" dirty="0">
                <a:latin typeface="Cambria Math"/>
                <a:cs typeface="Cambria Math"/>
              </a:rPr>
              <a:t>𝒋</a:t>
            </a:r>
            <a:endParaRPr sz="3075" baseline="-14905" dirty="0">
              <a:latin typeface="Cambria Math"/>
              <a:cs typeface="Cambria Math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3140627" y="5379187"/>
            <a:ext cx="2907030" cy="283845"/>
          </a:xfrm>
          <a:custGeom>
            <a:avLst/>
            <a:gdLst/>
            <a:ahLst/>
            <a:cxnLst/>
            <a:rect l="l" t="t" r="r" b="b"/>
            <a:pathLst>
              <a:path w="2907029" h="283845">
                <a:moveTo>
                  <a:pt x="2815843" y="0"/>
                </a:moveTo>
                <a:lnTo>
                  <a:pt x="2811906" y="0"/>
                </a:lnTo>
                <a:lnTo>
                  <a:pt x="2811906" y="11303"/>
                </a:lnTo>
                <a:lnTo>
                  <a:pt x="2814192" y="11303"/>
                </a:lnTo>
                <a:lnTo>
                  <a:pt x="2824382" y="11995"/>
                </a:lnTo>
                <a:lnTo>
                  <a:pt x="2857118" y="37417"/>
                </a:lnTo>
                <a:lnTo>
                  <a:pt x="2860166" y="59690"/>
                </a:lnTo>
                <a:lnTo>
                  <a:pt x="2859978" y="65164"/>
                </a:lnTo>
                <a:lnTo>
                  <a:pt x="2859420" y="71294"/>
                </a:lnTo>
                <a:lnTo>
                  <a:pt x="2858506" y="78067"/>
                </a:lnTo>
                <a:lnTo>
                  <a:pt x="2857246" y="85471"/>
                </a:lnTo>
                <a:lnTo>
                  <a:pt x="2855214" y="95631"/>
                </a:lnTo>
                <a:lnTo>
                  <a:pt x="2854198" y="102870"/>
                </a:lnTo>
                <a:lnTo>
                  <a:pt x="2854198" y="115697"/>
                </a:lnTo>
                <a:lnTo>
                  <a:pt x="2856738" y="122682"/>
                </a:lnTo>
                <a:lnTo>
                  <a:pt x="2861691" y="128016"/>
                </a:lnTo>
                <a:lnTo>
                  <a:pt x="2866643" y="133477"/>
                </a:lnTo>
                <a:lnTo>
                  <a:pt x="2872486" y="137414"/>
                </a:lnTo>
                <a:lnTo>
                  <a:pt x="2879343" y="140081"/>
                </a:lnTo>
                <a:lnTo>
                  <a:pt x="2879343" y="142748"/>
                </a:lnTo>
                <a:lnTo>
                  <a:pt x="2872486" y="145288"/>
                </a:lnTo>
                <a:lnTo>
                  <a:pt x="2866643" y="149225"/>
                </a:lnTo>
                <a:lnTo>
                  <a:pt x="2856738" y="160147"/>
                </a:lnTo>
                <a:lnTo>
                  <a:pt x="2854198" y="167005"/>
                </a:lnTo>
                <a:lnTo>
                  <a:pt x="2854198" y="179832"/>
                </a:lnTo>
                <a:lnTo>
                  <a:pt x="2855214" y="187071"/>
                </a:lnTo>
                <a:lnTo>
                  <a:pt x="2857246" y="197358"/>
                </a:lnTo>
                <a:lnTo>
                  <a:pt x="2858506" y="204701"/>
                </a:lnTo>
                <a:lnTo>
                  <a:pt x="2859420" y="211435"/>
                </a:lnTo>
                <a:lnTo>
                  <a:pt x="2859978" y="217560"/>
                </a:lnTo>
                <a:lnTo>
                  <a:pt x="2860166" y="223075"/>
                </a:lnTo>
                <a:lnTo>
                  <a:pt x="2859405" y="235562"/>
                </a:lnTo>
                <a:lnTo>
                  <a:pt x="2833417" y="269681"/>
                </a:lnTo>
                <a:lnTo>
                  <a:pt x="2814192" y="272491"/>
                </a:lnTo>
                <a:lnTo>
                  <a:pt x="2811906" y="272491"/>
                </a:lnTo>
                <a:lnTo>
                  <a:pt x="2811906" y="283794"/>
                </a:lnTo>
                <a:lnTo>
                  <a:pt x="2815843" y="283794"/>
                </a:lnTo>
                <a:lnTo>
                  <a:pt x="2832199" y="282572"/>
                </a:lnTo>
                <a:lnTo>
                  <a:pt x="2868167" y="267804"/>
                </a:lnTo>
                <a:lnTo>
                  <a:pt x="2885440" y="220395"/>
                </a:lnTo>
                <a:lnTo>
                  <a:pt x="2885225" y="214009"/>
                </a:lnTo>
                <a:lnTo>
                  <a:pt x="2884582" y="207194"/>
                </a:lnTo>
                <a:lnTo>
                  <a:pt x="2883511" y="199950"/>
                </a:lnTo>
                <a:lnTo>
                  <a:pt x="2882011" y="192278"/>
                </a:lnTo>
                <a:lnTo>
                  <a:pt x="2879598" y="181737"/>
                </a:lnTo>
                <a:lnTo>
                  <a:pt x="2878454" y="174752"/>
                </a:lnTo>
                <a:lnTo>
                  <a:pt x="2878454" y="164338"/>
                </a:lnTo>
                <a:lnTo>
                  <a:pt x="2880867" y="158750"/>
                </a:lnTo>
                <a:lnTo>
                  <a:pt x="2890266" y="150114"/>
                </a:lnTo>
                <a:lnTo>
                  <a:pt x="2897378" y="147828"/>
                </a:lnTo>
                <a:lnTo>
                  <a:pt x="2906903" y="147447"/>
                </a:lnTo>
                <a:lnTo>
                  <a:pt x="2906903" y="135255"/>
                </a:lnTo>
                <a:lnTo>
                  <a:pt x="2897378" y="135001"/>
                </a:lnTo>
                <a:lnTo>
                  <a:pt x="2890266" y="132715"/>
                </a:lnTo>
                <a:lnTo>
                  <a:pt x="2880867" y="124079"/>
                </a:lnTo>
                <a:lnTo>
                  <a:pt x="2878454" y="118491"/>
                </a:lnTo>
                <a:lnTo>
                  <a:pt x="2878454" y="108077"/>
                </a:lnTo>
                <a:lnTo>
                  <a:pt x="2879598" y="100965"/>
                </a:lnTo>
                <a:lnTo>
                  <a:pt x="2882011" y="90424"/>
                </a:lnTo>
                <a:lnTo>
                  <a:pt x="2883511" y="82805"/>
                </a:lnTo>
                <a:lnTo>
                  <a:pt x="2884582" y="75580"/>
                </a:lnTo>
                <a:lnTo>
                  <a:pt x="2885225" y="68760"/>
                </a:lnTo>
                <a:lnTo>
                  <a:pt x="2885440" y="62357"/>
                </a:lnTo>
                <a:lnTo>
                  <a:pt x="2884366" y="47827"/>
                </a:lnTo>
                <a:lnTo>
                  <a:pt x="2858385" y="9215"/>
                </a:lnTo>
                <a:lnTo>
                  <a:pt x="2832199" y="1214"/>
                </a:lnTo>
                <a:lnTo>
                  <a:pt x="2815843" y="0"/>
                </a:lnTo>
                <a:close/>
              </a:path>
              <a:path w="2907029" h="283845">
                <a:moveTo>
                  <a:pt x="94995" y="0"/>
                </a:moveTo>
                <a:lnTo>
                  <a:pt x="91185" y="0"/>
                </a:lnTo>
                <a:lnTo>
                  <a:pt x="74777" y="1214"/>
                </a:lnTo>
                <a:lnTo>
                  <a:pt x="38862" y="16002"/>
                </a:lnTo>
                <a:lnTo>
                  <a:pt x="21664" y="59563"/>
                </a:lnTo>
                <a:lnTo>
                  <a:pt x="21558" y="65035"/>
                </a:lnTo>
                <a:lnTo>
                  <a:pt x="21679" y="68615"/>
                </a:lnTo>
                <a:lnTo>
                  <a:pt x="22336" y="75406"/>
                </a:lnTo>
                <a:lnTo>
                  <a:pt x="23445" y="82625"/>
                </a:lnTo>
                <a:lnTo>
                  <a:pt x="25018" y="90297"/>
                </a:lnTo>
                <a:lnTo>
                  <a:pt x="27304" y="100838"/>
                </a:lnTo>
                <a:lnTo>
                  <a:pt x="28447" y="107823"/>
                </a:lnTo>
                <a:lnTo>
                  <a:pt x="28447" y="118364"/>
                </a:lnTo>
                <a:lnTo>
                  <a:pt x="26162" y="123825"/>
                </a:lnTo>
                <a:lnTo>
                  <a:pt x="21335" y="128143"/>
                </a:lnTo>
                <a:lnTo>
                  <a:pt x="16637" y="132461"/>
                </a:lnTo>
                <a:lnTo>
                  <a:pt x="9525" y="134874"/>
                </a:lnTo>
                <a:lnTo>
                  <a:pt x="0" y="135128"/>
                </a:lnTo>
                <a:lnTo>
                  <a:pt x="0" y="147320"/>
                </a:lnTo>
                <a:lnTo>
                  <a:pt x="9525" y="147574"/>
                </a:lnTo>
                <a:lnTo>
                  <a:pt x="16637" y="149987"/>
                </a:lnTo>
                <a:lnTo>
                  <a:pt x="21335" y="154305"/>
                </a:lnTo>
                <a:lnTo>
                  <a:pt x="26162" y="158623"/>
                </a:lnTo>
                <a:lnTo>
                  <a:pt x="28447" y="164084"/>
                </a:lnTo>
                <a:lnTo>
                  <a:pt x="28447" y="174498"/>
                </a:lnTo>
                <a:lnTo>
                  <a:pt x="27304" y="181610"/>
                </a:lnTo>
                <a:lnTo>
                  <a:pt x="25018" y="192151"/>
                </a:lnTo>
                <a:lnTo>
                  <a:pt x="23445" y="199808"/>
                </a:lnTo>
                <a:lnTo>
                  <a:pt x="22336" y="207046"/>
                </a:lnTo>
                <a:lnTo>
                  <a:pt x="21679" y="213862"/>
                </a:lnTo>
                <a:lnTo>
                  <a:pt x="21462" y="220256"/>
                </a:lnTo>
                <a:lnTo>
                  <a:pt x="22556" y="235279"/>
                </a:lnTo>
                <a:lnTo>
                  <a:pt x="48627" y="274576"/>
                </a:lnTo>
                <a:lnTo>
                  <a:pt x="91185" y="283794"/>
                </a:lnTo>
                <a:lnTo>
                  <a:pt x="94995" y="283794"/>
                </a:lnTo>
                <a:lnTo>
                  <a:pt x="94995" y="272491"/>
                </a:lnTo>
                <a:lnTo>
                  <a:pt x="92709" y="272491"/>
                </a:lnTo>
                <a:lnTo>
                  <a:pt x="82520" y="271788"/>
                </a:lnTo>
                <a:lnTo>
                  <a:pt x="49783" y="246051"/>
                </a:lnTo>
                <a:lnTo>
                  <a:pt x="46735" y="222935"/>
                </a:lnTo>
                <a:lnTo>
                  <a:pt x="46926" y="217419"/>
                </a:lnTo>
                <a:lnTo>
                  <a:pt x="47497" y="211293"/>
                </a:lnTo>
                <a:lnTo>
                  <a:pt x="48450" y="204562"/>
                </a:lnTo>
                <a:lnTo>
                  <a:pt x="49783" y="197231"/>
                </a:lnTo>
                <a:lnTo>
                  <a:pt x="51688" y="186944"/>
                </a:lnTo>
                <a:lnTo>
                  <a:pt x="52704" y="179705"/>
                </a:lnTo>
                <a:lnTo>
                  <a:pt x="52704" y="166878"/>
                </a:lnTo>
                <a:lnTo>
                  <a:pt x="50291" y="159893"/>
                </a:lnTo>
                <a:lnTo>
                  <a:pt x="45338" y="154559"/>
                </a:lnTo>
                <a:lnTo>
                  <a:pt x="40385" y="149098"/>
                </a:lnTo>
                <a:lnTo>
                  <a:pt x="34416" y="145161"/>
                </a:lnTo>
                <a:lnTo>
                  <a:pt x="27558" y="142621"/>
                </a:lnTo>
                <a:lnTo>
                  <a:pt x="27558" y="139827"/>
                </a:lnTo>
                <a:lnTo>
                  <a:pt x="34416" y="137287"/>
                </a:lnTo>
                <a:lnTo>
                  <a:pt x="40385" y="133350"/>
                </a:lnTo>
                <a:lnTo>
                  <a:pt x="45338" y="127889"/>
                </a:lnTo>
                <a:lnTo>
                  <a:pt x="50291" y="122555"/>
                </a:lnTo>
                <a:lnTo>
                  <a:pt x="52704" y="115570"/>
                </a:lnTo>
                <a:lnTo>
                  <a:pt x="52704" y="102743"/>
                </a:lnTo>
                <a:lnTo>
                  <a:pt x="51688" y="95504"/>
                </a:lnTo>
                <a:lnTo>
                  <a:pt x="49783" y="85217"/>
                </a:lnTo>
                <a:lnTo>
                  <a:pt x="48450" y="77886"/>
                </a:lnTo>
                <a:lnTo>
                  <a:pt x="47498" y="71151"/>
                </a:lnTo>
                <a:lnTo>
                  <a:pt x="46926" y="65035"/>
                </a:lnTo>
                <a:lnTo>
                  <a:pt x="46735" y="59563"/>
                </a:lnTo>
                <a:lnTo>
                  <a:pt x="47497" y="47535"/>
                </a:lnTo>
                <a:lnTo>
                  <a:pt x="73485" y="14081"/>
                </a:lnTo>
                <a:lnTo>
                  <a:pt x="92709" y="11303"/>
                </a:lnTo>
                <a:lnTo>
                  <a:pt x="94995" y="11303"/>
                </a:lnTo>
                <a:lnTo>
                  <a:pt x="9499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1032763" y="5301234"/>
            <a:ext cx="4939665" cy="3917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60045" indent="-347980">
              <a:lnSpc>
                <a:spcPct val="100000"/>
              </a:lnSpc>
              <a:spcBef>
                <a:spcPts val="100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360045" algn="l"/>
                <a:tab pos="360680" algn="l"/>
              </a:tabLst>
            </a:pPr>
            <a:r>
              <a:rPr sz="2400" spc="-10">
                <a:latin typeface="Cambria Math"/>
                <a:cs typeface="Cambria Math"/>
              </a:rPr>
              <a:t>𝑪[𝒊,</a:t>
            </a:r>
            <a:r>
              <a:rPr sz="2400" spc="-15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𝒋]</a:t>
            </a:r>
            <a:r>
              <a:rPr sz="2400" spc="14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𝐦𝐚𝐱</a:t>
            </a:r>
            <a:r>
              <a:rPr sz="2400" spc="409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𝑪[𝒊 −</a:t>
            </a:r>
            <a:r>
              <a:rPr sz="2400" spc="5">
                <a:latin typeface="Cambria Math"/>
                <a:cs typeface="Cambria Math"/>
              </a:rPr>
              <a:t> </a:t>
            </a:r>
            <a:r>
              <a:rPr sz="2400" spc="-10">
                <a:latin typeface="Cambria Math"/>
                <a:cs typeface="Cambria Math"/>
              </a:rPr>
              <a:t>𝟏,</a:t>
            </a:r>
            <a:r>
              <a:rPr sz="2400" spc="-135">
                <a:latin typeface="Cambria Math"/>
                <a:cs typeface="Cambria Math"/>
              </a:rPr>
              <a:t> </a:t>
            </a:r>
            <a:r>
              <a:rPr sz="2400" spc="-10">
                <a:latin typeface="Cambria Math"/>
                <a:cs typeface="Cambria Math"/>
              </a:rPr>
              <a:t>𝒋],</a:t>
            </a:r>
            <a:r>
              <a:rPr sz="2400" spc="-130">
                <a:latin typeface="Cambria Math"/>
                <a:cs typeface="Cambria Math"/>
              </a:rPr>
              <a:t> </a:t>
            </a:r>
            <a:r>
              <a:rPr sz="2400" spc="-10">
                <a:latin typeface="Cambria Math"/>
                <a:cs typeface="Cambria Math"/>
              </a:rPr>
              <a:t>𝑪[𝒊,</a:t>
            </a:r>
            <a:r>
              <a:rPr sz="2400" spc="-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𝒋</a:t>
            </a:r>
            <a:r>
              <a:rPr sz="2400" spc="1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−</a:t>
            </a:r>
            <a:r>
              <a:rPr sz="2400" spc="5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9670160" y="1018413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9899650" y="1314449"/>
            <a:ext cx="1397000" cy="3003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20">
                <a:solidFill>
                  <a:srgbClr val="FFFFFF"/>
                </a:solidFill>
                <a:latin typeface="PMingLiU"/>
                <a:cs typeface="PMingLiU"/>
              </a:rPr>
              <a:t>问题结构分析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10378440" y="2052827"/>
            <a:ext cx="439420" cy="367030"/>
          </a:xfrm>
          <a:custGeom>
            <a:avLst/>
            <a:gdLst/>
            <a:ahLst/>
            <a:cxnLst/>
            <a:rect l="l" t="t" r="r" b="b"/>
            <a:pathLst>
              <a:path w="439420" h="367030">
                <a:moveTo>
                  <a:pt x="351154" y="0"/>
                </a:moveTo>
                <a:lnTo>
                  <a:pt x="87756" y="0"/>
                </a:lnTo>
                <a:lnTo>
                  <a:pt x="87756" y="183261"/>
                </a:lnTo>
                <a:lnTo>
                  <a:pt x="0" y="183261"/>
                </a:lnTo>
                <a:lnTo>
                  <a:pt x="219455" y="366522"/>
                </a:lnTo>
                <a:lnTo>
                  <a:pt x="438911" y="183261"/>
                </a:lnTo>
                <a:lnTo>
                  <a:pt x="351154" y="183261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670160" y="2480691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83C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9899650" y="2776982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递推关系建立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10378440" y="3515105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9"/>
                </a:lnTo>
                <a:lnTo>
                  <a:pt x="0" y="182499"/>
                </a:lnTo>
                <a:lnTo>
                  <a:pt x="219455" y="364998"/>
                </a:lnTo>
                <a:lnTo>
                  <a:pt x="438911" y="182499"/>
                </a:lnTo>
                <a:lnTo>
                  <a:pt x="351154" y="182499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9670160" y="3941445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8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8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 txBox="1"/>
          <p:nvPr/>
        </p:nvSpPr>
        <p:spPr>
          <a:xfrm>
            <a:off x="9899650" y="4237735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自底向上计算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10378440" y="4975859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8"/>
                </a:lnTo>
                <a:lnTo>
                  <a:pt x="0" y="182498"/>
                </a:lnTo>
                <a:lnTo>
                  <a:pt x="219455" y="364997"/>
                </a:lnTo>
                <a:lnTo>
                  <a:pt x="438911" y="182498"/>
                </a:lnTo>
                <a:lnTo>
                  <a:pt x="351154" y="182498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9670160" y="5402198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52"/>
                </a:lnTo>
                <a:lnTo>
                  <a:pt x="7647" y="914358"/>
                </a:lnTo>
                <a:lnTo>
                  <a:pt x="28511" y="945313"/>
                </a:lnTo>
                <a:lnTo>
                  <a:pt x="59471" y="966183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3"/>
                </a:lnTo>
                <a:lnTo>
                  <a:pt x="1827720" y="945313"/>
                </a:lnTo>
                <a:lnTo>
                  <a:pt x="1848584" y="914358"/>
                </a:lnTo>
                <a:lnTo>
                  <a:pt x="1856232" y="876452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 txBox="1"/>
          <p:nvPr/>
        </p:nvSpPr>
        <p:spPr>
          <a:xfrm>
            <a:off x="9899650" y="5698744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最优方案追踪</a:t>
            </a:r>
            <a:endParaRPr sz="1800">
              <a:latin typeface="PMingLiU"/>
              <a:cs typeface="PMingLiU"/>
            </a:endParaRPr>
          </a:p>
        </p:txBody>
      </p:sp>
      <p:graphicFrame>
        <p:nvGraphicFramePr>
          <p:cNvPr id="17" name="object 17"/>
          <p:cNvGraphicFramePr>
            <a:graphicFrameLocks noGrp="1"/>
          </p:cNvGraphicFramePr>
          <p:nvPr/>
        </p:nvGraphicFramePr>
        <p:xfrm>
          <a:off x="364743" y="2707513"/>
          <a:ext cx="3350259" cy="514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4984"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1920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545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𝒊−𝟏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𝒊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8" name="object 18"/>
          <p:cNvGraphicFramePr>
            <a:graphicFrameLocks noGrp="1"/>
          </p:cNvGraphicFramePr>
          <p:nvPr/>
        </p:nvGraphicFramePr>
        <p:xfrm>
          <a:off x="364743" y="3304413"/>
          <a:ext cx="3350259" cy="514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4984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1874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652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">
                        <a:lnSpc>
                          <a:spcPct val="100000"/>
                        </a:lnSpc>
                        <a:spcBef>
                          <a:spcPts val="1035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𝒋−𝟏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3144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𝒋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7937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9" name="object 19"/>
          <p:cNvGraphicFramePr>
            <a:graphicFrameLocks noGrp="1"/>
          </p:cNvGraphicFramePr>
          <p:nvPr/>
        </p:nvGraphicFramePr>
        <p:xfrm>
          <a:off x="5564759" y="2114042"/>
          <a:ext cx="3350259" cy="514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4984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1874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652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  <a:spcBef>
                          <a:spcPts val="1030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𝒋−𝟏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3081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7E7E7E"/>
                      </a:solidFill>
                      <a:prstDash val="lgDash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2875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2000" spc="-25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80010" marB="0">
                    <a:lnL w="12700">
                      <a:solidFill>
                        <a:srgbClr val="7E7E7E"/>
                      </a:solidFill>
                      <a:prstDash val="lgDash"/>
                    </a:lnL>
                    <a:lnR w="12700">
                      <a:solidFill>
                        <a:srgbClr val="7E7E7E"/>
                      </a:solidFill>
                      <a:prstDash val="lgDash"/>
                    </a:lnR>
                    <a:lnT w="12700">
                      <a:solidFill>
                        <a:srgbClr val="7E7E7E"/>
                      </a:solidFill>
                      <a:prstDash val="solid"/>
                    </a:lnT>
                    <a:lnB w="12700">
                      <a:solidFill>
                        <a:srgbClr val="7E7E7E"/>
                      </a:solidFill>
                      <a:prstDash val="lgDash"/>
                    </a:lnB>
                    <a:solidFill>
                      <a:srgbClr val="BEBEB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0" name="object 20"/>
          <p:cNvGraphicFramePr>
            <a:graphicFrameLocks noGrp="1"/>
          </p:cNvGraphicFramePr>
          <p:nvPr/>
        </p:nvGraphicFramePr>
        <p:xfrm>
          <a:off x="5564759" y="3608451"/>
          <a:ext cx="3350259" cy="514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4984"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192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545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𝒊−𝟏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7E7E7E"/>
                      </a:solidFill>
                      <a:prstDash val="lgDash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7320">
                        <a:lnSpc>
                          <a:spcPct val="100000"/>
                        </a:lnSpc>
                        <a:spcBef>
                          <a:spcPts val="775"/>
                        </a:spcBef>
                      </a:pPr>
                      <a:r>
                        <a:rPr sz="2000" spc="-25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8425" marB="0">
                    <a:lnL w="12700">
                      <a:solidFill>
                        <a:srgbClr val="7E7E7E"/>
                      </a:solidFill>
                      <a:prstDash val="lgDash"/>
                    </a:lnL>
                    <a:lnR w="12700">
                      <a:solidFill>
                        <a:srgbClr val="7E7E7E"/>
                      </a:solidFill>
                      <a:prstDash val="lgDash"/>
                    </a:lnR>
                    <a:lnT w="12700">
                      <a:solidFill>
                        <a:srgbClr val="7E7E7E"/>
                      </a:solidFill>
                      <a:prstDash val="solid"/>
                    </a:lnT>
                    <a:lnB w="12700">
                      <a:solidFill>
                        <a:srgbClr val="7E7E7E"/>
                      </a:solidFill>
                      <a:prstDash val="lgDash"/>
                    </a:lnB>
                    <a:solidFill>
                      <a:srgbClr val="BEBEB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1" name="object 21"/>
          <p:cNvGraphicFramePr>
            <a:graphicFrameLocks noGrp="1"/>
          </p:cNvGraphicFramePr>
          <p:nvPr/>
        </p:nvGraphicFramePr>
        <p:xfrm>
          <a:off x="5564759" y="1517141"/>
          <a:ext cx="3350259" cy="514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4984"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1920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545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𝒊−𝟏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𝒊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2" name="object 22"/>
          <p:cNvGraphicFramePr>
            <a:graphicFrameLocks noGrp="1"/>
          </p:cNvGraphicFramePr>
          <p:nvPr/>
        </p:nvGraphicFramePr>
        <p:xfrm>
          <a:off x="5564759" y="4205985"/>
          <a:ext cx="3350259" cy="514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4984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1874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652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  <a:spcBef>
                          <a:spcPts val="1035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𝒋−𝟏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3144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9065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𝒋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7937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3" name="object 23"/>
          <p:cNvSpPr txBox="1"/>
          <p:nvPr/>
        </p:nvSpPr>
        <p:spPr>
          <a:xfrm>
            <a:off x="3834384" y="2881630"/>
            <a:ext cx="730250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800" spc="-25">
                <a:latin typeface="Cambria Math"/>
                <a:cs typeface="Cambria Math"/>
              </a:rPr>
              <a:t>𝐦𝐚𝐱</a:t>
            </a:r>
            <a:endParaRPr sz="2800">
              <a:latin typeface="Cambria Math"/>
              <a:cs typeface="Cambria Math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4696967" y="1844039"/>
            <a:ext cx="626745" cy="2628265"/>
          </a:xfrm>
          <a:custGeom>
            <a:avLst/>
            <a:gdLst/>
            <a:ahLst/>
            <a:cxnLst/>
            <a:rect l="l" t="t" r="r" b="b"/>
            <a:pathLst>
              <a:path w="626745" h="2628265">
                <a:moveTo>
                  <a:pt x="626364" y="2628138"/>
                </a:moveTo>
                <a:lnTo>
                  <a:pt x="554551" y="2626759"/>
                </a:lnTo>
                <a:lnTo>
                  <a:pt x="488630" y="2622832"/>
                </a:lnTo>
                <a:lnTo>
                  <a:pt x="430481" y="2616671"/>
                </a:lnTo>
                <a:lnTo>
                  <a:pt x="381981" y="2608588"/>
                </a:lnTo>
                <a:lnTo>
                  <a:pt x="345012" y="2598896"/>
                </a:lnTo>
                <a:lnTo>
                  <a:pt x="313182" y="2575941"/>
                </a:lnTo>
                <a:lnTo>
                  <a:pt x="313182" y="1366265"/>
                </a:lnTo>
                <a:lnTo>
                  <a:pt x="304911" y="1354297"/>
                </a:lnTo>
                <a:lnTo>
                  <a:pt x="244382" y="1333618"/>
                </a:lnTo>
                <a:lnTo>
                  <a:pt x="195882" y="1325535"/>
                </a:lnTo>
                <a:lnTo>
                  <a:pt x="137733" y="1319374"/>
                </a:lnTo>
                <a:lnTo>
                  <a:pt x="71812" y="1315447"/>
                </a:lnTo>
                <a:lnTo>
                  <a:pt x="0" y="1314069"/>
                </a:lnTo>
                <a:lnTo>
                  <a:pt x="71812" y="1312690"/>
                </a:lnTo>
                <a:lnTo>
                  <a:pt x="137733" y="1308763"/>
                </a:lnTo>
                <a:lnTo>
                  <a:pt x="195882" y="1302602"/>
                </a:lnTo>
                <a:lnTo>
                  <a:pt x="244382" y="1294519"/>
                </a:lnTo>
                <a:lnTo>
                  <a:pt x="281351" y="1284827"/>
                </a:lnTo>
                <a:lnTo>
                  <a:pt x="313182" y="1261872"/>
                </a:lnTo>
                <a:lnTo>
                  <a:pt x="313182" y="52197"/>
                </a:lnTo>
                <a:lnTo>
                  <a:pt x="321452" y="40228"/>
                </a:lnTo>
                <a:lnTo>
                  <a:pt x="381981" y="19549"/>
                </a:lnTo>
                <a:lnTo>
                  <a:pt x="430481" y="11466"/>
                </a:lnTo>
                <a:lnTo>
                  <a:pt x="488630" y="5305"/>
                </a:lnTo>
                <a:lnTo>
                  <a:pt x="554551" y="1378"/>
                </a:lnTo>
                <a:lnTo>
                  <a:pt x="626364" y="0"/>
                </a:lnTo>
              </a:path>
            </a:pathLst>
          </a:custGeom>
          <a:ln w="285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743827" y="1165859"/>
            <a:ext cx="66675" cy="284480"/>
          </a:xfrm>
          <a:custGeom>
            <a:avLst/>
            <a:gdLst/>
            <a:ahLst/>
            <a:cxnLst/>
            <a:rect l="l" t="t" r="r" b="b"/>
            <a:pathLst>
              <a:path w="66675" h="28448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656" y="11430"/>
                </a:lnTo>
                <a:lnTo>
                  <a:pt x="41656" y="273050"/>
                </a:lnTo>
                <a:lnTo>
                  <a:pt x="0" y="273050"/>
                </a:lnTo>
                <a:lnTo>
                  <a:pt x="0" y="284480"/>
                </a:lnTo>
                <a:lnTo>
                  <a:pt x="66421" y="284480"/>
                </a:lnTo>
                <a:lnTo>
                  <a:pt x="66421" y="27305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776214" y="1165859"/>
            <a:ext cx="66675" cy="284480"/>
          </a:xfrm>
          <a:custGeom>
            <a:avLst/>
            <a:gdLst/>
            <a:ahLst/>
            <a:cxnLst/>
            <a:rect l="l" t="t" r="r" b="b"/>
            <a:pathLst>
              <a:path w="66675" h="28448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3050"/>
                </a:lnTo>
                <a:lnTo>
                  <a:pt x="0" y="284480"/>
                </a:lnTo>
                <a:lnTo>
                  <a:pt x="66421" y="284480"/>
                </a:lnTo>
                <a:lnTo>
                  <a:pt x="66421" y="273050"/>
                </a:lnTo>
                <a:lnTo>
                  <a:pt x="24765" y="27305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 txBox="1"/>
          <p:nvPr/>
        </p:nvSpPr>
        <p:spPr>
          <a:xfrm>
            <a:off x="5538723" y="1077214"/>
            <a:ext cx="186372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373505" algn="l"/>
              </a:tabLst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310">
                <a:latin typeface="Cambria Math"/>
                <a:cs typeface="Cambria Math"/>
              </a:rPr>
              <a:t> </a:t>
            </a:r>
            <a:r>
              <a:rPr sz="2400" spc="-10">
                <a:latin typeface="Cambria Math"/>
                <a:cs typeface="Cambria Math"/>
              </a:rPr>
              <a:t>𝒊,</a:t>
            </a:r>
            <a:r>
              <a:rPr sz="2400" spc="-14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𝒋</a:t>
            </a:r>
            <a:r>
              <a:rPr sz="2400" spc="1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−</a:t>
            </a:r>
            <a:r>
              <a:rPr sz="2400" spc="5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𝟏</a:t>
            </a:r>
            <a:r>
              <a:rPr sz="2400">
                <a:latin typeface="Cambria Math"/>
                <a:cs typeface="Cambria Math"/>
              </a:rPr>
              <a:t>	+ </a:t>
            </a:r>
            <a:r>
              <a:rPr sz="2400" spc="-50">
                <a:latin typeface="Cambria Math"/>
                <a:cs typeface="Cambria Math"/>
              </a:rPr>
              <a:t>𝟎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6743827" y="3271519"/>
            <a:ext cx="66675" cy="284480"/>
          </a:xfrm>
          <a:custGeom>
            <a:avLst/>
            <a:gdLst/>
            <a:ahLst/>
            <a:cxnLst/>
            <a:rect l="l" t="t" r="r" b="b"/>
            <a:pathLst>
              <a:path w="66675" h="284479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656" y="11430"/>
                </a:lnTo>
                <a:lnTo>
                  <a:pt x="41656" y="273050"/>
                </a:lnTo>
                <a:lnTo>
                  <a:pt x="0" y="273050"/>
                </a:lnTo>
                <a:lnTo>
                  <a:pt x="0" y="284480"/>
                </a:lnTo>
                <a:lnTo>
                  <a:pt x="66421" y="284480"/>
                </a:lnTo>
                <a:lnTo>
                  <a:pt x="66421" y="27305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776214" y="3271519"/>
            <a:ext cx="66675" cy="284480"/>
          </a:xfrm>
          <a:custGeom>
            <a:avLst/>
            <a:gdLst/>
            <a:ahLst/>
            <a:cxnLst/>
            <a:rect l="l" t="t" r="r" b="b"/>
            <a:pathLst>
              <a:path w="66675" h="284479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3050"/>
                </a:lnTo>
                <a:lnTo>
                  <a:pt x="0" y="284480"/>
                </a:lnTo>
                <a:lnTo>
                  <a:pt x="66421" y="284480"/>
                </a:lnTo>
                <a:lnTo>
                  <a:pt x="66421" y="273050"/>
                </a:lnTo>
                <a:lnTo>
                  <a:pt x="24765" y="27305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 txBox="1"/>
          <p:nvPr/>
        </p:nvSpPr>
        <p:spPr>
          <a:xfrm>
            <a:off x="5538723" y="3183128"/>
            <a:ext cx="186372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373505" algn="l"/>
              </a:tabLst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31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𝒊</a:t>
            </a:r>
            <a:r>
              <a:rPr sz="2400" spc="-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−</a:t>
            </a:r>
            <a:r>
              <a:rPr sz="2400" spc="5">
                <a:latin typeface="Cambria Math"/>
                <a:cs typeface="Cambria Math"/>
              </a:rPr>
              <a:t> </a:t>
            </a:r>
            <a:r>
              <a:rPr sz="2400" spc="-10">
                <a:latin typeface="Cambria Math"/>
                <a:cs typeface="Cambria Math"/>
              </a:rPr>
              <a:t>𝟏,</a:t>
            </a:r>
            <a:r>
              <a:rPr sz="2400" spc="-13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𝒋</a:t>
            </a:r>
            <a:r>
              <a:rPr sz="2400">
                <a:latin typeface="Cambria Math"/>
                <a:cs typeface="Cambria Math"/>
              </a:rPr>
              <a:t>	+ </a:t>
            </a:r>
            <a:r>
              <a:rPr sz="2400" spc="-50">
                <a:latin typeface="Cambria Math"/>
                <a:cs typeface="Cambria Math"/>
              </a:rPr>
              <a:t>𝟎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479551" y="2185415"/>
            <a:ext cx="7740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spc="-10">
                <a:latin typeface="Cambria Math"/>
                <a:cs typeface="Cambria Math"/>
              </a:rPr>
              <a:t>𝑪[𝒊,</a:t>
            </a:r>
            <a:r>
              <a:rPr sz="2400" spc="-11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𝒋]</a:t>
            </a:r>
            <a:endParaRPr sz="2400">
              <a:latin typeface="Cambria Math"/>
              <a:cs typeface="Cambria Math"/>
            </a:endParaRPr>
          </a:p>
        </p:txBody>
      </p:sp>
      <p:grpSp>
        <p:nvGrpSpPr>
          <p:cNvPr id="32" name="object 32"/>
          <p:cNvGrpSpPr/>
          <p:nvPr/>
        </p:nvGrpSpPr>
        <p:grpSpPr>
          <a:xfrm>
            <a:off x="1809750" y="5788558"/>
            <a:ext cx="2787015" cy="1016635"/>
            <a:chOff x="1809750" y="5788558"/>
            <a:chExt cx="2787015" cy="1016635"/>
          </a:xfrm>
        </p:grpSpPr>
        <p:sp>
          <p:nvSpPr>
            <p:cNvPr id="33" name="object 33"/>
            <p:cNvSpPr/>
            <p:nvPr/>
          </p:nvSpPr>
          <p:spPr>
            <a:xfrm>
              <a:off x="1809750" y="5788558"/>
              <a:ext cx="2787015" cy="454659"/>
            </a:xfrm>
            <a:custGeom>
              <a:avLst/>
              <a:gdLst/>
              <a:ahLst/>
              <a:cxnLst/>
              <a:rect l="l" t="t" r="r" b="b"/>
              <a:pathLst>
                <a:path w="2787015" h="454659">
                  <a:moveTo>
                    <a:pt x="2787015" y="35407"/>
                  </a:moveTo>
                  <a:lnTo>
                    <a:pt x="2659253" y="31000"/>
                  </a:lnTo>
                  <a:lnTo>
                    <a:pt x="2675115" y="65633"/>
                  </a:lnTo>
                  <a:lnTo>
                    <a:pt x="1910816" y="415455"/>
                  </a:lnTo>
                  <a:lnTo>
                    <a:pt x="115735" y="37274"/>
                  </a:lnTo>
                  <a:lnTo>
                    <a:pt x="116560" y="33350"/>
                  </a:lnTo>
                  <a:lnTo>
                    <a:pt x="123571" y="0"/>
                  </a:lnTo>
                  <a:lnTo>
                    <a:pt x="0" y="32359"/>
                  </a:lnTo>
                  <a:lnTo>
                    <a:pt x="100076" y="111848"/>
                  </a:lnTo>
                  <a:lnTo>
                    <a:pt x="107899" y="74574"/>
                  </a:lnTo>
                  <a:lnTo>
                    <a:pt x="1909445" y="454101"/>
                  </a:lnTo>
                  <a:lnTo>
                    <a:pt x="1913407" y="435292"/>
                  </a:lnTo>
                  <a:lnTo>
                    <a:pt x="1921256" y="452526"/>
                  </a:lnTo>
                  <a:lnTo>
                    <a:pt x="2690990" y="100279"/>
                  </a:lnTo>
                  <a:lnTo>
                    <a:pt x="2706878" y="134937"/>
                  </a:lnTo>
                  <a:lnTo>
                    <a:pt x="2769044" y="57721"/>
                  </a:lnTo>
                  <a:lnTo>
                    <a:pt x="2787015" y="3540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2867405" y="6224015"/>
              <a:ext cx="1711960" cy="581025"/>
            </a:xfrm>
            <a:custGeom>
              <a:avLst/>
              <a:gdLst/>
              <a:ahLst/>
              <a:cxnLst/>
              <a:rect l="l" t="t" r="r" b="b"/>
              <a:pathLst>
                <a:path w="1711960" h="581025">
                  <a:moveTo>
                    <a:pt x="1711451" y="0"/>
                  </a:moveTo>
                  <a:lnTo>
                    <a:pt x="0" y="0"/>
                  </a:lnTo>
                  <a:lnTo>
                    <a:pt x="0" y="580644"/>
                  </a:lnTo>
                  <a:lnTo>
                    <a:pt x="1711451" y="580644"/>
                  </a:lnTo>
                  <a:lnTo>
                    <a:pt x="1711451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5" name="object 35"/>
          <p:cNvSpPr txBox="1"/>
          <p:nvPr/>
        </p:nvSpPr>
        <p:spPr>
          <a:xfrm>
            <a:off x="3011170" y="6299200"/>
            <a:ext cx="1423670" cy="3613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200" spc="-10">
                <a:solidFill>
                  <a:srgbClr val="FFFFFF"/>
                </a:solidFill>
                <a:latin typeface="PMingLiU"/>
                <a:cs typeface="PMingLiU"/>
              </a:rPr>
              <a:t>最优子结构</a:t>
            </a:r>
            <a:endParaRPr sz="2200">
              <a:latin typeface="PMingLiU"/>
              <a:cs typeface="PMingLiU"/>
            </a:endParaRPr>
          </a:p>
        </p:txBody>
      </p:sp>
      <p:sp>
        <p:nvSpPr>
          <p:cNvPr id="36" name="object 36"/>
          <p:cNvSpPr/>
          <p:nvPr/>
        </p:nvSpPr>
        <p:spPr>
          <a:xfrm>
            <a:off x="1364480" y="5196738"/>
            <a:ext cx="4577715" cy="591820"/>
          </a:xfrm>
          <a:custGeom>
            <a:avLst/>
            <a:gdLst/>
            <a:ahLst/>
            <a:cxnLst/>
            <a:rect l="l" t="t" r="r" b="b"/>
            <a:pathLst>
              <a:path w="4577715" h="591820">
                <a:moveTo>
                  <a:pt x="1859279" y="60960"/>
                </a:moveTo>
                <a:lnTo>
                  <a:pt x="1863780" y="38742"/>
                </a:lnTo>
                <a:lnTo>
                  <a:pt x="1876043" y="20574"/>
                </a:lnTo>
                <a:lnTo>
                  <a:pt x="1894212" y="8310"/>
                </a:lnTo>
                <a:lnTo>
                  <a:pt x="1916429" y="3810"/>
                </a:lnTo>
                <a:lnTo>
                  <a:pt x="4520183" y="3810"/>
                </a:lnTo>
                <a:lnTo>
                  <a:pt x="4542401" y="8310"/>
                </a:lnTo>
                <a:lnTo>
                  <a:pt x="4560570" y="20574"/>
                </a:lnTo>
                <a:lnTo>
                  <a:pt x="4572833" y="38742"/>
                </a:lnTo>
                <a:lnTo>
                  <a:pt x="4577333" y="60960"/>
                </a:lnTo>
                <a:lnTo>
                  <a:pt x="4577333" y="534123"/>
                </a:lnTo>
                <a:lnTo>
                  <a:pt x="4572833" y="556384"/>
                </a:lnTo>
                <a:lnTo>
                  <a:pt x="4560570" y="574562"/>
                </a:lnTo>
                <a:lnTo>
                  <a:pt x="4542401" y="586817"/>
                </a:lnTo>
                <a:lnTo>
                  <a:pt x="4520183" y="591312"/>
                </a:lnTo>
                <a:lnTo>
                  <a:pt x="1916429" y="591312"/>
                </a:lnTo>
                <a:lnTo>
                  <a:pt x="1894212" y="586817"/>
                </a:lnTo>
                <a:lnTo>
                  <a:pt x="1876043" y="574562"/>
                </a:lnTo>
                <a:lnTo>
                  <a:pt x="1863780" y="556384"/>
                </a:lnTo>
                <a:lnTo>
                  <a:pt x="1859279" y="534123"/>
                </a:lnTo>
                <a:lnTo>
                  <a:pt x="1859279" y="60960"/>
                </a:lnTo>
                <a:close/>
              </a:path>
              <a:path w="4577715" h="591820">
                <a:moveTo>
                  <a:pt x="0" y="57277"/>
                </a:moveTo>
                <a:lnTo>
                  <a:pt x="4502" y="34986"/>
                </a:lnTo>
                <a:lnTo>
                  <a:pt x="16779" y="16779"/>
                </a:lnTo>
                <a:lnTo>
                  <a:pt x="34986" y="4502"/>
                </a:lnTo>
                <a:lnTo>
                  <a:pt x="57276" y="0"/>
                </a:lnTo>
                <a:lnTo>
                  <a:pt x="805306" y="0"/>
                </a:lnTo>
                <a:lnTo>
                  <a:pt x="827597" y="4502"/>
                </a:lnTo>
                <a:lnTo>
                  <a:pt x="845804" y="16779"/>
                </a:lnTo>
                <a:lnTo>
                  <a:pt x="858081" y="34986"/>
                </a:lnTo>
                <a:lnTo>
                  <a:pt x="862584" y="57277"/>
                </a:lnTo>
                <a:lnTo>
                  <a:pt x="862584" y="531012"/>
                </a:lnTo>
                <a:lnTo>
                  <a:pt x="858081" y="553298"/>
                </a:lnTo>
                <a:lnTo>
                  <a:pt x="845804" y="571496"/>
                </a:lnTo>
                <a:lnTo>
                  <a:pt x="827597" y="583765"/>
                </a:lnTo>
                <a:lnTo>
                  <a:pt x="805306" y="588264"/>
                </a:lnTo>
                <a:lnTo>
                  <a:pt x="57276" y="588264"/>
                </a:lnTo>
                <a:lnTo>
                  <a:pt x="34986" y="583765"/>
                </a:lnTo>
                <a:lnTo>
                  <a:pt x="16779" y="571496"/>
                </a:lnTo>
                <a:lnTo>
                  <a:pt x="4502" y="553298"/>
                </a:lnTo>
                <a:lnTo>
                  <a:pt x="0" y="531012"/>
                </a:lnTo>
                <a:lnTo>
                  <a:pt x="0" y="57277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5">
            <a:extLst>
              <a:ext uri="{FF2B5EF4-FFF2-40B4-BE49-F238E27FC236}">
                <a16:creationId xmlns:a16="http://schemas.microsoft.com/office/drawing/2014/main" id="{A875EF79-21EB-3C45-B5E4-6806EEC4319C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89026" y="253163"/>
            <a:ext cx="9691371" cy="56618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6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递推关系建立：分析最优（子）结</a:t>
            </a:r>
            <a:r>
              <a:rPr sz="36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构</a:t>
            </a:r>
            <a:endParaRPr sz="36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35" grpId="0"/>
      <p:bldP spid="36" grpId="0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25918" y="1072958"/>
            <a:ext cx="250380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>
                <a:latin typeface="PMingLiU"/>
                <a:cs typeface="PMingLiU"/>
              </a:rPr>
              <a:t>考察末尾字符</a:t>
            </a:r>
            <a:endParaRPr sz="2800">
              <a:latin typeface="PMingLiU"/>
              <a:cs typeface="PMingLiU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44941" y="2090227"/>
            <a:ext cx="255524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5445" indent="-347980">
              <a:lnSpc>
                <a:spcPct val="100000"/>
              </a:lnSpc>
              <a:spcBef>
                <a:spcPts val="100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385445" algn="l"/>
                <a:tab pos="386080" algn="l"/>
              </a:tabLst>
            </a:pPr>
            <a:r>
              <a:rPr sz="2400">
                <a:latin typeface="PMingLiU"/>
                <a:cs typeface="PMingLiU"/>
              </a:rPr>
              <a:t>情况</a:t>
            </a:r>
            <a:r>
              <a:rPr sz="2400">
                <a:latin typeface="Cambria Math"/>
                <a:cs typeface="Cambria Math"/>
              </a:rPr>
              <a:t>𝟐</a:t>
            </a:r>
            <a:r>
              <a:rPr sz="2400">
                <a:latin typeface="PMingLiU"/>
                <a:cs typeface="PMingLiU"/>
              </a:rPr>
              <a:t>：</a:t>
            </a:r>
            <a:r>
              <a:rPr sz="2400">
                <a:latin typeface="Cambria Math"/>
                <a:cs typeface="Cambria Math"/>
              </a:rPr>
              <a:t>𝒙</a:t>
            </a:r>
            <a:r>
              <a:rPr sz="2625" baseline="-15873">
                <a:latin typeface="Cambria Math"/>
                <a:cs typeface="Cambria Math"/>
              </a:rPr>
              <a:t>𝟕</a:t>
            </a:r>
            <a:r>
              <a:rPr sz="2625" spc="569" baseline="-15873">
                <a:latin typeface="Cambria Math"/>
                <a:cs typeface="Cambria Math"/>
              </a:rPr>
              <a:t> </a:t>
            </a:r>
            <a:r>
              <a:rPr sz="2400" spc="65">
                <a:latin typeface="Cambria Math"/>
                <a:cs typeface="Cambria Math"/>
              </a:rPr>
              <a:t>= </a:t>
            </a:r>
            <a:r>
              <a:rPr sz="2400" spc="-25">
                <a:latin typeface="Cambria Math"/>
                <a:cs typeface="Cambria Math"/>
              </a:rPr>
              <a:t>𝒚</a:t>
            </a:r>
            <a:r>
              <a:rPr sz="2625" spc="-37" baseline="-15873">
                <a:latin typeface="Cambria Math"/>
                <a:cs typeface="Cambria Math"/>
              </a:rPr>
              <a:t>𝟔</a:t>
            </a:r>
            <a:endParaRPr sz="2625" baseline="-15873">
              <a:latin typeface="Cambria Math"/>
              <a:cs typeface="Cambria Math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9670160" y="1018413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83C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9899650" y="1314449"/>
            <a:ext cx="1397000" cy="3003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20">
                <a:solidFill>
                  <a:srgbClr val="FFFFFF"/>
                </a:solidFill>
                <a:latin typeface="PMingLiU"/>
                <a:cs typeface="PMingLiU"/>
              </a:rPr>
              <a:t>问题结构分析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0378440" y="2052827"/>
            <a:ext cx="439420" cy="367030"/>
          </a:xfrm>
          <a:custGeom>
            <a:avLst/>
            <a:gdLst/>
            <a:ahLst/>
            <a:cxnLst/>
            <a:rect l="l" t="t" r="r" b="b"/>
            <a:pathLst>
              <a:path w="439420" h="367030">
                <a:moveTo>
                  <a:pt x="351154" y="0"/>
                </a:moveTo>
                <a:lnTo>
                  <a:pt x="87756" y="0"/>
                </a:lnTo>
                <a:lnTo>
                  <a:pt x="87756" y="183261"/>
                </a:lnTo>
                <a:lnTo>
                  <a:pt x="0" y="183261"/>
                </a:lnTo>
                <a:lnTo>
                  <a:pt x="219455" y="366522"/>
                </a:lnTo>
                <a:lnTo>
                  <a:pt x="438911" y="183261"/>
                </a:lnTo>
                <a:lnTo>
                  <a:pt x="351154" y="183261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9670160" y="2480691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9899650" y="2776982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递推关系建立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10378440" y="3515105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9"/>
                </a:lnTo>
                <a:lnTo>
                  <a:pt x="0" y="182499"/>
                </a:lnTo>
                <a:lnTo>
                  <a:pt x="219455" y="364998"/>
                </a:lnTo>
                <a:lnTo>
                  <a:pt x="438911" y="182499"/>
                </a:lnTo>
                <a:lnTo>
                  <a:pt x="351154" y="182499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9670160" y="3941445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8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8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9899650" y="4237735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自底向上计算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10378440" y="4975859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8"/>
                </a:lnTo>
                <a:lnTo>
                  <a:pt x="0" y="182498"/>
                </a:lnTo>
                <a:lnTo>
                  <a:pt x="219455" y="364997"/>
                </a:lnTo>
                <a:lnTo>
                  <a:pt x="438911" y="182498"/>
                </a:lnTo>
                <a:lnTo>
                  <a:pt x="351154" y="182498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670160" y="5402198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52"/>
                </a:lnTo>
                <a:lnTo>
                  <a:pt x="7647" y="914358"/>
                </a:lnTo>
                <a:lnTo>
                  <a:pt x="28511" y="945313"/>
                </a:lnTo>
                <a:lnTo>
                  <a:pt x="59471" y="966183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3"/>
                </a:lnTo>
                <a:lnTo>
                  <a:pt x="1827720" y="945313"/>
                </a:lnTo>
                <a:lnTo>
                  <a:pt x="1848584" y="914358"/>
                </a:lnTo>
                <a:lnTo>
                  <a:pt x="1856232" y="876452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9899650" y="5698744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最优方案追踪</a:t>
            </a:r>
            <a:endParaRPr sz="1800">
              <a:latin typeface="PMingLiU"/>
              <a:cs typeface="PMingLiU"/>
            </a:endParaRPr>
          </a:p>
        </p:txBody>
      </p:sp>
      <p:graphicFrame>
        <p:nvGraphicFramePr>
          <p:cNvPr id="16" name="object 16"/>
          <p:cNvGraphicFramePr>
            <a:graphicFrameLocks noGrp="1"/>
          </p:cNvGraphicFramePr>
          <p:nvPr/>
        </p:nvGraphicFramePr>
        <p:xfrm>
          <a:off x="647217" y="4070603"/>
          <a:ext cx="369760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874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7" name="object 17"/>
          <p:cNvGraphicFramePr>
            <a:graphicFrameLocks noGrp="1"/>
          </p:cNvGraphicFramePr>
          <p:nvPr/>
        </p:nvGraphicFramePr>
        <p:xfrm>
          <a:off x="111726" y="3344798"/>
          <a:ext cx="4232909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8" name="object 18"/>
          <p:cNvSpPr txBox="1"/>
          <p:nvPr/>
        </p:nvSpPr>
        <p:spPr>
          <a:xfrm>
            <a:off x="235711" y="2901442"/>
            <a:ext cx="762000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000" spc="-20">
                <a:latin typeface="Cambria Math"/>
                <a:cs typeface="Cambria Math"/>
              </a:rPr>
              <a:t>𝑪[𝟕,</a:t>
            </a:r>
            <a:r>
              <a:rPr sz="2000" spc="-70">
                <a:latin typeface="Cambria Math"/>
                <a:cs typeface="Cambria Math"/>
              </a:rPr>
              <a:t> </a:t>
            </a:r>
            <a:r>
              <a:rPr sz="2000" spc="-25">
                <a:latin typeface="Cambria Math"/>
                <a:cs typeface="Cambria Math"/>
              </a:rPr>
              <a:t>𝟔]</a:t>
            </a:r>
            <a:endParaRPr sz="2000">
              <a:latin typeface="Cambria Math"/>
              <a:cs typeface="Cambria Math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3743705" y="3181350"/>
            <a:ext cx="730250" cy="1544955"/>
          </a:xfrm>
          <a:custGeom>
            <a:avLst/>
            <a:gdLst/>
            <a:ahLst/>
            <a:cxnLst/>
            <a:rect l="l" t="t" r="r" b="b"/>
            <a:pathLst>
              <a:path w="730250" h="1544954">
                <a:moveTo>
                  <a:pt x="0" y="121665"/>
                </a:moveTo>
                <a:lnTo>
                  <a:pt x="9562" y="74312"/>
                </a:lnTo>
                <a:lnTo>
                  <a:pt x="35639" y="35639"/>
                </a:lnTo>
                <a:lnTo>
                  <a:pt x="74312" y="9562"/>
                </a:lnTo>
                <a:lnTo>
                  <a:pt x="121666" y="0"/>
                </a:lnTo>
                <a:lnTo>
                  <a:pt x="608330" y="0"/>
                </a:lnTo>
                <a:lnTo>
                  <a:pt x="655683" y="9562"/>
                </a:lnTo>
                <a:lnTo>
                  <a:pt x="694356" y="35639"/>
                </a:lnTo>
                <a:lnTo>
                  <a:pt x="720433" y="74312"/>
                </a:lnTo>
                <a:lnTo>
                  <a:pt x="729996" y="121665"/>
                </a:lnTo>
                <a:lnTo>
                  <a:pt x="729996" y="1422908"/>
                </a:lnTo>
                <a:lnTo>
                  <a:pt x="720433" y="1470261"/>
                </a:lnTo>
                <a:lnTo>
                  <a:pt x="694356" y="1508934"/>
                </a:lnTo>
                <a:lnTo>
                  <a:pt x="655683" y="1535011"/>
                </a:lnTo>
                <a:lnTo>
                  <a:pt x="608330" y="1544574"/>
                </a:lnTo>
                <a:lnTo>
                  <a:pt x="121666" y="1544574"/>
                </a:lnTo>
                <a:lnTo>
                  <a:pt x="74312" y="1535011"/>
                </a:lnTo>
                <a:lnTo>
                  <a:pt x="35639" y="1508934"/>
                </a:lnTo>
                <a:lnTo>
                  <a:pt x="9562" y="1470261"/>
                </a:lnTo>
                <a:lnTo>
                  <a:pt x="0" y="1422908"/>
                </a:lnTo>
                <a:lnTo>
                  <a:pt x="0" y="121665"/>
                </a:lnTo>
                <a:close/>
              </a:path>
            </a:pathLst>
          </a:custGeom>
          <a:ln w="38099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 txBox="1"/>
          <p:nvPr/>
        </p:nvSpPr>
        <p:spPr>
          <a:xfrm>
            <a:off x="2266695" y="4798314"/>
            <a:ext cx="154940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spc="-10">
                <a:latin typeface="PMingLiU"/>
                <a:cs typeface="PMingLiU"/>
              </a:rPr>
              <a:t>可同时出现</a:t>
            </a:r>
            <a:endParaRPr sz="2400">
              <a:latin typeface="PMingLiU"/>
              <a:cs typeface="PMingLiU"/>
            </a:endParaRPr>
          </a:p>
        </p:txBody>
      </p:sp>
      <p:sp>
        <p:nvSpPr>
          <p:cNvPr id="23" name="object 5">
            <a:extLst>
              <a:ext uri="{FF2B5EF4-FFF2-40B4-BE49-F238E27FC236}">
                <a16:creationId xmlns:a16="http://schemas.microsoft.com/office/drawing/2014/main" id="{791FCC37-B807-254F-92BB-0AB8F10F70CA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89026" y="253163"/>
            <a:ext cx="9691371" cy="56618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6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递推关系建立：分析最优（子）结</a:t>
            </a:r>
            <a:r>
              <a:rPr sz="36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构</a:t>
            </a:r>
            <a:endParaRPr sz="36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20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63496" y="1123062"/>
            <a:ext cx="250380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>
                <a:latin typeface="PMingLiU"/>
                <a:cs typeface="PMingLiU"/>
              </a:rPr>
              <a:t>考察末尾字符</a:t>
            </a:r>
            <a:endParaRPr sz="2800">
              <a:latin typeface="PMingLiU"/>
              <a:cs typeface="PMingLiU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82519" y="2140331"/>
            <a:ext cx="255524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5445" indent="-347980">
              <a:lnSpc>
                <a:spcPct val="100000"/>
              </a:lnSpc>
              <a:spcBef>
                <a:spcPts val="100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385445" algn="l"/>
                <a:tab pos="386080" algn="l"/>
              </a:tabLst>
            </a:pPr>
            <a:r>
              <a:rPr sz="2400">
                <a:latin typeface="PMingLiU"/>
                <a:cs typeface="PMingLiU"/>
              </a:rPr>
              <a:t>情况</a:t>
            </a:r>
            <a:r>
              <a:rPr sz="2400">
                <a:latin typeface="Cambria Math"/>
                <a:cs typeface="Cambria Math"/>
              </a:rPr>
              <a:t>𝟐</a:t>
            </a:r>
            <a:r>
              <a:rPr sz="2400">
                <a:latin typeface="PMingLiU"/>
                <a:cs typeface="PMingLiU"/>
              </a:rPr>
              <a:t>：</a:t>
            </a:r>
            <a:r>
              <a:rPr sz="2400">
                <a:latin typeface="Cambria Math"/>
                <a:cs typeface="Cambria Math"/>
              </a:rPr>
              <a:t>𝒙</a:t>
            </a:r>
            <a:r>
              <a:rPr sz="2625" baseline="-15873">
                <a:latin typeface="Cambria Math"/>
                <a:cs typeface="Cambria Math"/>
              </a:rPr>
              <a:t>𝟕</a:t>
            </a:r>
            <a:r>
              <a:rPr sz="2625" spc="569" baseline="-15873">
                <a:latin typeface="Cambria Math"/>
                <a:cs typeface="Cambria Math"/>
              </a:rPr>
              <a:t> </a:t>
            </a:r>
            <a:r>
              <a:rPr sz="2400" spc="65">
                <a:latin typeface="Cambria Math"/>
                <a:cs typeface="Cambria Math"/>
              </a:rPr>
              <a:t>= </a:t>
            </a:r>
            <a:r>
              <a:rPr sz="2400" spc="-25">
                <a:latin typeface="Cambria Math"/>
                <a:cs typeface="Cambria Math"/>
              </a:rPr>
              <a:t>𝒚</a:t>
            </a:r>
            <a:r>
              <a:rPr sz="2625" spc="-37" baseline="-15873">
                <a:latin typeface="Cambria Math"/>
                <a:cs typeface="Cambria Math"/>
              </a:rPr>
              <a:t>𝟔</a:t>
            </a:r>
            <a:endParaRPr sz="2625" baseline="-15873">
              <a:latin typeface="Cambria Math"/>
              <a:cs typeface="Cambria Math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9670160" y="1018413"/>
            <a:ext cx="1856739" cy="2436495"/>
            <a:chOff x="9670160" y="1018413"/>
            <a:chExt cx="1856739" cy="2436495"/>
          </a:xfrm>
        </p:grpSpPr>
        <p:sp>
          <p:nvSpPr>
            <p:cNvPr id="6" name="object 6"/>
            <p:cNvSpPr/>
            <p:nvPr/>
          </p:nvSpPr>
          <p:spPr>
            <a:xfrm>
              <a:off x="9670160" y="1018413"/>
              <a:ext cx="1856739" cy="974090"/>
            </a:xfrm>
            <a:custGeom>
              <a:avLst/>
              <a:gdLst/>
              <a:ahLst/>
              <a:cxnLst/>
              <a:rect l="l" t="t" r="r" b="b"/>
              <a:pathLst>
                <a:path w="1856739" h="974089">
                  <a:moveTo>
                    <a:pt x="1758823" y="0"/>
                  </a:moveTo>
                  <a:lnTo>
                    <a:pt x="97409" y="0"/>
                  </a:lnTo>
                  <a:lnTo>
                    <a:pt x="59471" y="7647"/>
                  </a:lnTo>
                  <a:lnTo>
                    <a:pt x="28511" y="28511"/>
                  </a:lnTo>
                  <a:lnTo>
                    <a:pt x="7647" y="59471"/>
                  </a:lnTo>
                  <a:lnTo>
                    <a:pt x="0" y="97409"/>
                  </a:lnTo>
                  <a:lnTo>
                    <a:pt x="0" y="876426"/>
                  </a:lnTo>
                  <a:lnTo>
                    <a:pt x="7647" y="914364"/>
                  </a:lnTo>
                  <a:lnTo>
                    <a:pt x="28511" y="945324"/>
                  </a:lnTo>
                  <a:lnTo>
                    <a:pt x="59471" y="966188"/>
                  </a:lnTo>
                  <a:lnTo>
                    <a:pt x="97409" y="973836"/>
                  </a:lnTo>
                  <a:lnTo>
                    <a:pt x="1758823" y="973836"/>
                  </a:lnTo>
                  <a:lnTo>
                    <a:pt x="1796760" y="966188"/>
                  </a:lnTo>
                  <a:lnTo>
                    <a:pt x="1827720" y="945324"/>
                  </a:lnTo>
                  <a:lnTo>
                    <a:pt x="1848584" y="914364"/>
                  </a:lnTo>
                  <a:lnTo>
                    <a:pt x="1856232" y="876426"/>
                  </a:lnTo>
                  <a:lnTo>
                    <a:pt x="1856232" y="97409"/>
                  </a:lnTo>
                  <a:lnTo>
                    <a:pt x="1848584" y="59471"/>
                  </a:lnTo>
                  <a:lnTo>
                    <a:pt x="1827720" y="28511"/>
                  </a:lnTo>
                  <a:lnTo>
                    <a:pt x="1796760" y="7647"/>
                  </a:lnTo>
                  <a:lnTo>
                    <a:pt x="1758823" y="0"/>
                  </a:lnTo>
                  <a:close/>
                </a:path>
              </a:pathLst>
            </a:custGeom>
            <a:solidFill>
              <a:srgbClr val="083C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9670160" y="2480691"/>
              <a:ext cx="1856739" cy="974090"/>
            </a:xfrm>
            <a:custGeom>
              <a:avLst/>
              <a:gdLst/>
              <a:ahLst/>
              <a:cxnLst/>
              <a:rect l="l" t="t" r="r" b="b"/>
              <a:pathLst>
                <a:path w="1856739" h="974089">
                  <a:moveTo>
                    <a:pt x="1758823" y="0"/>
                  </a:moveTo>
                  <a:lnTo>
                    <a:pt x="97409" y="0"/>
                  </a:lnTo>
                  <a:lnTo>
                    <a:pt x="59471" y="7647"/>
                  </a:lnTo>
                  <a:lnTo>
                    <a:pt x="28511" y="28511"/>
                  </a:lnTo>
                  <a:lnTo>
                    <a:pt x="7647" y="59471"/>
                  </a:lnTo>
                  <a:lnTo>
                    <a:pt x="0" y="97409"/>
                  </a:lnTo>
                  <a:lnTo>
                    <a:pt x="0" y="876426"/>
                  </a:lnTo>
                  <a:lnTo>
                    <a:pt x="7647" y="914364"/>
                  </a:lnTo>
                  <a:lnTo>
                    <a:pt x="28511" y="945324"/>
                  </a:lnTo>
                  <a:lnTo>
                    <a:pt x="59471" y="966188"/>
                  </a:lnTo>
                  <a:lnTo>
                    <a:pt x="97409" y="973836"/>
                  </a:lnTo>
                  <a:lnTo>
                    <a:pt x="1758823" y="973836"/>
                  </a:lnTo>
                  <a:lnTo>
                    <a:pt x="1796760" y="966188"/>
                  </a:lnTo>
                  <a:lnTo>
                    <a:pt x="1827720" y="945324"/>
                  </a:lnTo>
                  <a:lnTo>
                    <a:pt x="1848584" y="914364"/>
                  </a:lnTo>
                  <a:lnTo>
                    <a:pt x="1856232" y="876426"/>
                  </a:lnTo>
                  <a:lnTo>
                    <a:pt x="1856232" y="97409"/>
                  </a:lnTo>
                  <a:lnTo>
                    <a:pt x="1848584" y="59471"/>
                  </a:lnTo>
                  <a:lnTo>
                    <a:pt x="1827720" y="28511"/>
                  </a:lnTo>
                  <a:lnTo>
                    <a:pt x="1796760" y="7647"/>
                  </a:lnTo>
                  <a:lnTo>
                    <a:pt x="1758823" y="0"/>
                  </a:lnTo>
                  <a:close/>
                </a:path>
              </a:pathLst>
            </a:custGeom>
            <a:solidFill>
              <a:srgbClr val="00A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" name="object 8"/>
          <p:cNvSpPr/>
          <p:nvPr/>
        </p:nvSpPr>
        <p:spPr>
          <a:xfrm>
            <a:off x="10378440" y="2052827"/>
            <a:ext cx="439420" cy="367030"/>
          </a:xfrm>
          <a:custGeom>
            <a:avLst/>
            <a:gdLst/>
            <a:ahLst/>
            <a:cxnLst/>
            <a:rect l="l" t="t" r="r" b="b"/>
            <a:pathLst>
              <a:path w="439420" h="367030">
                <a:moveTo>
                  <a:pt x="351154" y="0"/>
                </a:moveTo>
                <a:lnTo>
                  <a:pt x="87756" y="0"/>
                </a:lnTo>
                <a:lnTo>
                  <a:pt x="87756" y="183261"/>
                </a:lnTo>
                <a:lnTo>
                  <a:pt x="0" y="183261"/>
                </a:lnTo>
                <a:lnTo>
                  <a:pt x="219455" y="366522"/>
                </a:lnTo>
                <a:lnTo>
                  <a:pt x="438911" y="183261"/>
                </a:lnTo>
                <a:lnTo>
                  <a:pt x="351154" y="183261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9899650" y="2776982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递推关系建立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10378440" y="3515105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9"/>
                </a:lnTo>
                <a:lnTo>
                  <a:pt x="0" y="182499"/>
                </a:lnTo>
                <a:lnTo>
                  <a:pt x="219455" y="364998"/>
                </a:lnTo>
                <a:lnTo>
                  <a:pt x="438911" y="182499"/>
                </a:lnTo>
                <a:lnTo>
                  <a:pt x="351154" y="182499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9670160" y="3941445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8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8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9899650" y="4237735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自底向上计算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10378440" y="4975859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8"/>
                </a:lnTo>
                <a:lnTo>
                  <a:pt x="0" y="182498"/>
                </a:lnTo>
                <a:lnTo>
                  <a:pt x="219455" y="364997"/>
                </a:lnTo>
                <a:lnTo>
                  <a:pt x="438911" y="182498"/>
                </a:lnTo>
                <a:lnTo>
                  <a:pt x="351154" y="182498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670160" y="5402198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52"/>
                </a:lnTo>
                <a:lnTo>
                  <a:pt x="7647" y="914358"/>
                </a:lnTo>
                <a:lnTo>
                  <a:pt x="28511" y="945313"/>
                </a:lnTo>
                <a:lnTo>
                  <a:pt x="59471" y="966183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3"/>
                </a:lnTo>
                <a:lnTo>
                  <a:pt x="1827720" y="945313"/>
                </a:lnTo>
                <a:lnTo>
                  <a:pt x="1848584" y="914358"/>
                </a:lnTo>
                <a:lnTo>
                  <a:pt x="1856232" y="876452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9899650" y="5698744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最优方案追踪</a:t>
            </a:r>
            <a:endParaRPr sz="1800">
              <a:latin typeface="PMingLiU"/>
              <a:cs typeface="PMingLiU"/>
            </a:endParaRPr>
          </a:p>
        </p:txBody>
      </p:sp>
      <p:graphicFrame>
        <p:nvGraphicFramePr>
          <p:cNvPr id="16" name="object 16"/>
          <p:cNvGraphicFramePr>
            <a:graphicFrameLocks noGrp="1"/>
          </p:cNvGraphicFramePr>
          <p:nvPr/>
        </p:nvGraphicFramePr>
        <p:xfrm>
          <a:off x="647217" y="4070603"/>
          <a:ext cx="369760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874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7" name="object 17"/>
          <p:cNvGraphicFramePr>
            <a:graphicFrameLocks noGrp="1"/>
          </p:cNvGraphicFramePr>
          <p:nvPr/>
        </p:nvGraphicFramePr>
        <p:xfrm>
          <a:off x="111726" y="3344798"/>
          <a:ext cx="4232909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8" name="object 18"/>
          <p:cNvSpPr txBox="1"/>
          <p:nvPr/>
        </p:nvSpPr>
        <p:spPr>
          <a:xfrm>
            <a:off x="235711" y="2901442"/>
            <a:ext cx="762000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000" spc="-20">
                <a:latin typeface="Cambria Math"/>
                <a:cs typeface="Cambria Math"/>
              </a:rPr>
              <a:t>𝑪[𝟕,</a:t>
            </a:r>
            <a:r>
              <a:rPr sz="2000" spc="-70">
                <a:latin typeface="Cambria Math"/>
                <a:cs typeface="Cambria Math"/>
              </a:rPr>
              <a:t> </a:t>
            </a:r>
            <a:r>
              <a:rPr sz="2000" spc="-25">
                <a:latin typeface="Cambria Math"/>
                <a:cs typeface="Cambria Math"/>
              </a:rPr>
              <a:t>𝟔]</a:t>
            </a:r>
            <a:endParaRPr sz="2000">
              <a:latin typeface="Cambria Math"/>
              <a:cs typeface="Cambria Math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4495291" y="2669285"/>
            <a:ext cx="737870" cy="511175"/>
          </a:xfrm>
          <a:custGeom>
            <a:avLst/>
            <a:gdLst/>
            <a:ahLst/>
            <a:cxnLst/>
            <a:rect l="l" t="t" r="r" b="b"/>
            <a:pathLst>
              <a:path w="737870" h="511175">
                <a:moveTo>
                  <a:pt x="658873" y="36657"/>
                </a:moveTo>
                <a:lnTo>
                  <a:pt x="0" y="487425"/>
                </a:lnTo>
                <a:lnTo>
                  <a:pt x="16256" y="511048"/>
                </a:lnTo>
                <a:lnTo>
                  <a:pt x="675023" y="60266"/>
                </a:lnTo>
                <a:lnTo>
                  <a:pt x="658873" y="36657"/>
                </a:lnTo>
                <a:close/>
              </a:path>
              <a:path w="737870" h="511175">
                <a:moveTo>
                  <a:pt x="721769" y="28575"/>
                </a:moveTo>
                <a:lnTo>
                  <a:pt x="670687" y="28575"/>
                </a:lnTo>
                <a:lnTo>
                  <a:pt x="686816" y="52197"/>
                </a:lnTo>
                <a:lnTo>
                  <a:pt x="675023" y="60266"/>
                </a:lnTo>
                <a:lnTo>
                  <a:pt x="691134" y="83819"/>
                </a:lnTo>
                <a:lnTo>
                  <a:pt x="721769" y="28575"/>
                </a:lnTo>
                <a:close/>
              </a:path>
              <a:path w="737870" h="511175">
                <a:moveTo>
                  <a:pt x="670687" y="28575"/>
                </a:moveTo>
                <a:lnTo>
                  <a:pt x="658873" y="36657"/>
                </a:lnTo>
                <a:lnTo>
                  <a:pt x="675023" y="60266"/>
                </a:lnTo>
                <a:lnTo>
                  <a:pt x="686816" y="52197"/>
                </a:lnTo>
                <a:lnTo>
                  <a:pt x="670687" y="28575"/>
                </a:lnTo>
                <a:close/>
              </a:path>
              <a:path w="737870" h="511175">
                <a:moveTo>
                  <a:pt x="737616" y="0"/>
                </a:moveTo>
                <a:lnTo>
                  <a:pt x="642747" y="13080"/>
                </a:lnTo>
                <a:lnTo>
                  <a:pt x="658873" y="36657"/>
                </a:lnTo>
                <a:lnTo>
                  <a:pt x="670687" y="28575"/>
                </a:lnTo>
                <a:lnTo>
                  <a:pt x="721769" y="28575"/>
                </a:lnTo>
                <a:lnTo>
                  <a:pt x="73761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20" name="object 20"/>
          <p:cNvGraphicFramePr>
            <a:graphicFrameLocks noGrp="1"/>
          </p:cNvGraphicFramePr>
          <p:nvPr/>
        </p:nvGraphicFramePr>
        <p:xfrm>
          <a:off x="5392165" y="2528442"/>
          <a:ext cx="369760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93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sz="2200" spc="-50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60325" marB="0">
                    <a:lnL w="19050">
                      <a:solidFill>
                        <a:srgbClr val="7E7E7E"/>
                      </a:solidFill>
                      <a:prstDash val="sysDash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9050">
                      <a:solidFill>
                        <a:srgbClr val="7E7E7E"/>
                      </a:solidFill>
                      <a:prstDash val="solid"/>
                    </a:lnT>
                    <a:lnB w="19050">
                      <a:solidFill>
                        <a:srgbClr val="7E7E7E"/>
                      </a:solidFill>
                      <a:prstDash val="sysDash"/>
                    </a:lnB>
                    <a:solidFill>
                      <a:srgbClr val="BEBEB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1" name="object 21"/>
          <p:cNvGraphicFramePr>
            <a:graphicFrameLocks noGrp="1"/>
          </p:cNvGraphicFramePr>
          <p:nvPr/>
        </p:nvGraphicFramePr>
        <p:xfrm>
          <a:off x="5392165" y="1966467"/>
          <a:ext cx="4232909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sz="2200" spc="-50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60325" marB="0">
                    <a:lnL w="19050">
                      <a:solidFill>
                        <a:srgbClr val="7E7E7E"/>
                      </a:solidFill>
                      <a:prstDash val="sysDash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9050">
                      <a:solidFill>
                        <a:srgbClr val="7E7E7E"/>
                      </a:solidFill>
                      <a:prstDash val="solid"/>
                    </a:lnT>
                    <a:lnB w="19050">
                      <a:solidFill>
                        <a:srgbClr val="7E7E7E"/>
                      </a:solidFill>
                      <a:prstDash val="sysDash"/>
                    </a:lnB>
                    <a:solidFill>
                      <a:srgbClr val="BEBEB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22" name="object 22"/>
          <p:cNvGrpSpPr/>
          <p:nvPr/>
        </p:nvGrpSpPr>
        <p:grpSpPr>
          <a:xfrm>
            <a:off x="5213603" y="1532382"/>
            <a:ext cx="4475480" cy="1648460"/>
            <a:chOff x="5213603" y="1532382"/>
            <a:chExt cx="4475480" cy="1648460"/>
          </a:xfrm>
        </p:grpSpPr>
        <p:sp>
          <p:nvSpPr>
            <p:cNvPr id="23" name="object 23"/>
            <p:cNvSpPr/>
            <p:nvPr/>
          </p:nvSpPr>
          <p:spPr>
            <a:xfrm>
              <a:off x="5232653" y="1551432"/>
              <a:ext cx="4437380" cy="1610360"/>
            </a:xfrm>
            <a:custGeom>
              <a:avLst/>
              <a:gdLst/>
              <a:ahLst/>
              <a:cxnLst/>
              <a:rect l="l" t="t" r="r" b="b"/>
              <a:pathLst>
                <a:path w="4437380" h="1610360">
                  <a:moveTo>
                    <a:pt x="0" y="139572"/>
                  </a:moveTo>
                  <a:lnTo>
                    <a:pt x="7115" y="95455"/>
                  </a:lnTo>
                  <a:lnTo>
                    <a:pt x="26928" y="57140"/>
                  </a:lnTo>
                  <a:lnTo>
                    <a:pt x="57140" y="26928"/>
                  </a:lnTo>
                  <a:lnTo>
                    <a:pt x="95455" y="7115"/>
                  </a:lnTo>
                  <a:lnTo>
                    <a:pt x="139573" y="0"/>
                  </a:lnTo>
                  <a:lnTo>
                    <a:pt x="4297553" y="0"/>
                  </a:lnTo>
                  <a:lnTo>
                    <a:pt x="4341670" y="7115"/>
                  </a:lnTo>
                  <a:lnTo>
                    <a:pt x="4379985" y="26928"/>
                  </a:lnTo>
                  <a:lnTo>
                    <a:pt x="4410197" y="57140"/>
                  </a:lnTo>
                  <a:lnTo>
                    <a:pt x="4430010" y="95455"/>
                  </a:lnTo>
                  <a:lnTo>
                    <a:pt x="4437126" y="139572"/>
                  </a:lnTo>
                  <a:lnTo>
                    <a:pt x="4437126" y="1470532"/>
                  </a:lnTo>
                  <a:lnTo>
                    <a:pt x="4430010" y="1514650"/>
                  </a:lnTo>
                  <a:lnTo>
                    <a:pt x="4410197" y="1552965"/>
                  </a:lnTo>
                  <a:lnTo>
                    <a:pt x="4379985" y="1583177"/>
                  </a:lnTo>
                  <a:lnTo>
                    <a:pt x="4341670" y="1602990"/>
                  </a:lnTo>
                  <a:lnTo>
                    <a:pt x="4297553" y="1610105"/>
                  </a:lnTo>
                  <a:lnTo>
                    <a:pt x="139573" y="1610105"/>
                  </a:lnTo>
                  <a:lnTo>
                    <a:pt x="95455" y="1602990"/>
                  </a:lnTo>
                  <a:lnTo>
                    <a:pt x="57140" y="1583177"/>
                  </a:lnTo>
                  <a:lnTo>
                    <a:pt x="26928" y="1552965"/>
                  </a:lnTo>
                  <a:lnTo>
                    <a:pt x="7115" y="1514650"/>
                  </a:lnTo>
                  <a:lnTo>
                    <a:pt x="0" y="1470532"/>
                  </a:lnTo>
                  <a:lnTo>
                    <a:pt x="0" y="139572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7184517" y="1645919"/>
              <a:ext cx="1431925" cy="236220"/>
            </a:xfrm>
            <a:custGeom>
              <a:avLst/>
              <a:gdLst/>
              <a:ahLst/>
              <a:cxnLst/>
              <a:rect l="l" t="t" r="r" b="b"/>
              <a:pathLst>
                <a:path w="1431925" h="236219">
                  <a:moveTo>
                    <a:pt x="55245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0" y="226060"/>
                  </a:lnTo>
                  <a:lnTo>
                    <a:pt x="0" y="236220"/>
                  </a:lnTo>
                  <a:lnTo>
                    <a:pt x="55245" y="236220"/>
                  </a:lnTo>
                  <a:lnTo>
                    <a:pt x="55245" y="226060"/>
                  </a:lnTo>
                  <a:lnTo>
                    <a:pt x="20574" y="226060"/>
                  </a:lnTo>
                  <a:lnTo>
                    <a:pt x="20574" y="8890"/>
                  </a:lnTo>
                  <a:lnTo>
                    <a:pt x="55245" y="8890"/>
                  </a:lnTo>
                  <a:lnTo>
                    <a:pt x="55245" y="0"/>
                  </a:lnTo>
                  <a:close/>
                </a:path>
                <a:path w="1431925" h="236219">
                  <a:moveTo>
                    <a:pt x="1431417" y="0"/>
                  </a:moveTo>
                  <a:lnTo>
                    <a:pt x="1376172" y="0"/>
                  </a:lnTo>
                  <a:lnTo>
                    <a:pt x="1376172" y="8890"/>
                  </a:lnTo>
                  <a:lnTo>
                    <a:pt x="1410843" y="8890"/>
                  </a:lnTo>
                  <a:lnTo>
                    <a:pt x="1410843" y="226060"/>
                  </a:lnTo>
                  <a:lnTo>
                    <a:pt x="1376172" y="226060"/>
                  </a:lnTo>
                  <a:lnTo>
                    <a:pt x="1376172" y="236220"/>
                  </a:lnTo>
                  <a:lnTo>
                    <a:pt x="1431417" y="236220"/>
                  </a:lnTo>
                  <a:lnTo>
                    <a:pt x="1431417" y="226060"/>
                  </a:lnTo>
                  <a:lnTo>
                    <a:pt x="1431417" y="8890"/>
                  </a:lnTo>
                  <a:lnTo>
                    <a:pt x="143141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" name="object 25"/>
          <p:cNvSpPr txBox="1"/>
          <p:nvPr/>
        </p:nvSpPr>
        <p:spPr>
          <a:xfrm>
            <a:off x="6984745" y="1314449"/>
            <a:ext cx="4312285" cy="5848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5080" algn="r">
              <a:lnSpc>
                <a:spcPts val="2080"/>
              </a:lnSpc>
              <a:spcBef>
                <a:spcPts val="100"/>
              </a:spcBef>
            </a:pPr>
            <a:r>
              <a:rPr sz="1800" spc="-20">
                <a:solidFill>
                  <a:srgbClr val="FFFFFF"/>
                </a:solidFill>
                <a:latin typeface="PMingLiU"/>
                <a:cs typeface="PMingLiU"/>
              </a:rPr>
              <a:t>问题结构分析</a:t>
            </a:r>
            <a:endParaRPr sz="1800">
              <a:latin typeface="PMingLiU"/>
              <a:cs typeface="PMingLiU"/>
            </a:endParaRPr>
          </a:p>
          <a:p>
            <a:pPr marL="12700">
              <a:lnSpc>
                <a:spcPts val="2320"/>
              </a:lnSpc>
              <a:tabLst>
                <a:tab pos="1717039" algn="l"/>
              </a:tabLst>
            </a:pPr>
            <a:r>
              <a:rPr sz="2000">
                <a:latin typeface="Cambria Math"/>
                <a:cs typeface="Cambria Math"/>
              </a:rPr>
              <a:t>𝑪</a:t>
            </a:r>
            <a:r>
              <a:rPr sz="2000" spc="260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𝟕 −</a:t>
            </a:r>
            <a:r>
              <a:rPr sz="2000" spc="15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𝟏,</a:t>
            </a:r>
            <a:r>
              <a:rPr sz="2000" spc="-110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𝟔</a:t>
            </a:r>
            <a:r>
              <a:rPr sz="2000" spc="5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−</a:t>
            </a:r>
            <a:r>
              <a:rPr sz="2000" spc="10">
                <a:latin typeface="Cambria Math"/>
                <a:cs typeface="Cambria Math"/>
              </a:rPr>
              <a:t> </a:t>
            </a:r>
            <a:r>
              <a:rPr sz="2000" spc="-50">
                <a:latin typeface="Cambria Math"/>
                <a:cs typeface="Cambria Math"/>
              </a:rPr>
              <a:t>𝟏</a:t>
            </a:r>
            <a:r>
              <a:rPr sz="2000">
                <a:latin typeface="Cambria Math"/>
                <a:cs typeface="Cambria Math"/>
              </a:rPr>
              <a:t>	+</a:t>
            </a:r>
            <a:r>
              <a:rPr sz="2000" spc="5">
                <a:latin typeface="Cambria Math"/>
                <a:cs typeface="Cambria Math"/>
              </a:rPr>
              <a:t> </a:t>
            </a:r>
            <a:r>
              <a:rPr sz="2000" spc="-50">
                <a:latin typeface="Cambria Math"/>
                <a:cs typeface="Cambria Math"/>
              </a:rPr>
              <a:t>𝟏</a:t>
            </a:r>
            <a:endParaRPr sz="2000">
              <a:latin typeface="Cambria Math"/>
              <a:cs typeface="Cambria Math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2266695" y="4798314"/>
            <a:ext cx="154940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spc="-10">
                <a:latin typeface="PMingLiU"/>
                <a:cs typeface="PMingLiU"/>
              </a:rPr>
              <a:t>可同时出现</a:t>
            </a:r>
            <a:endParaRPr sz="2400">
              <a:latin typeface="PMingLiU"/>
              <a:cs typeface="PMingLiU"/>
            </a:endParaRPr>
          </a:p>
        </p:txBody>
      </p:sp>
      <p:sp>
        <p:nvSpPr>
          <p:cNvPr id="29" name="object 5">
            <a:extLst>
              <a:ext uri="{FF2B5EF4-FFF2-40B4-BE49-F238E27FC236}">
                <a16:creationId xmlns:a16="http://schemas.microsoft.com/office/drawing/2014/main" id="{00E8315A-F283-E448-A044-44BF58FC2BB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89026" y="253163"/>
            <a:ext cx="9691371" cy="56618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6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递推关系建立：分析最优（子）结</a:t>
            </a:r>
            <a:r>
              <a:rPr sz="36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构</a:t>
            </a:r>
            <a:endParaRPr sz="36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50970" y="1072958"/>
            <a:ext cx="250380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>
                <a:latin typeface="PMingLiU"/>
                <a:cs typeface="PMingLiU"/>
              </a:rPr>
              <a:t>考察末尾字符</a:t>
            </a:r>
            <a:endParaRPr sz="2800">
              <a:latin typeface="PMingLiU"/>
              <a:cs typeface="PMingLiU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69993" y="2090227"/>
            <a:ext cx="255524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5445" indent="-347980">
              <a:lnSpc>
                <a:spcPct val="100000"/>
              </a:lnSpc>
              <a:spcBef>
                <a:spcPts val="100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385445" algn="l"/>
                <a:tab pos="386080" algn="l"/>
              </a:tabLst>
            </a:pPr>
            <a:r>
              <a:rPr sz="2400">
                <a:latin typeface="PMingLiU"/>
                <a:cs typeface="PMingLiU"/>
              </a:rPr>
              <a:t>情况</a:t>
            </a:r>
            <a:r>
              <a:rPr sz="2400">
                <a:latin typeface="Cambria Math"/>
                <a:cs typeface="Cambria Math"/>
              </a:rPr>
              <a:t>𝟐</a:t>
            </a:r>
            <a:r>
              <a:rPr sz="2400">
                <a:latin typeface="PMingLiU"/>
                <a:cs typeface="PMingLiU"/>
              </a:rPr>
              <a:t>：</a:t>
            </a:r>
            <a:r>
              <a:rPr sz="2400">
                <a:latin typeface="Cambria Math"/>
                <a:cs typeface="Cambria Math"/>
              </a:rPr>
              <a:t>𝒙</a:t>
            </a:r>
            <a:r>
              <a:rPr sz="2625" baseline="-15873">
                <a:latin typeface="Cambria Math"/>
                <a:cs typeface="Cambria Math"/>
              </a:rPr>
              <a:t>𝟕</a:t>
            </a:r>
            <a:r>
              <a:rPr sz="2625" spc="569" baseline="-15873">
                <a:latin typeface="Cambria Math"/>
                <a:cs typeface="Cambria Math"/>
              </a:rPr>
              <a:t> </a:t>
            </a:r>
            <a:r>
              <a:rPr sz="2400" spc="65">
                <a:latin typeface="Cambria Math"/>
                <a:cs typeface="Cambria Math"/>
              </a:rPr>
              <a:t>= </a:t>
            </a:r>
            <a:r>
              <a:rPr sz="2400" spc="-25">
                <a:latin typeface="Cambria Math"/>
                <a:cs typeface="Cambria Math"/>
              </a:rPr>
              <a:t>𝒚</a:t>
            </a:r>
            <a:r>
              <a:rPr sz="2625" spc="-37" baseline="-15873">
                <a:latin typeface="Cambria Math"/>
                <a:cs typeface="Cambria Math"/>
              </a:rPr>
              <a:t>𝟔</a:t>
            </a:r>
            <a:endParaRPr sz="2625" baseline="-15873">
              <a:latin typeface="Cambria Math"/>
              <a:cs typeface="Cambria Math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9670160" y="1018413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83C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0378440" y="2052827"/>
            <a:ext cx="439420" cy="367030"/>
          </a:xfrm>
          <a:custGeom>
            <a:avLst/>
            <a:gdLst/>
            <a:ahLst/>
            <a:cxnLst/>
            <a:rect l="l" t="t" r="r" b="b"/>
            <a:pathLst>
              <a:path w="439420" h="367030">
                <a:moveTo>
                  <a:pt x="351154" y="0"/>
                </a:moveTo>
                <a:lnTo>
                  <a:pt x="87756" y="0"/>
                </a:lnTo>
                <a:lnTo>
                  <a:pt x="87756" y="183261"/>
                </a:lnTo>
                <a:lnTo>
                  <a:pt x="0" y="183261"/>
                </a:lnTo>
                <a:lnTo>
                  <a:pt x="219455" y="366522"/>
                </a:lnTo>
                <a:lnTo>
                  <a:pt x="438911" y="183261"/>
                </a:lnTo>
                <a:lnTo>
                  <a:pt x="351154" y="183261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9670160" y="2480691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9899650" y="2776982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递推关系建立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10378440" y="3515105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9"/>
                </a:lnTo>
                <a:lnTo>
                  <a:pt x="0" y="182499"/>
                </a:lnTo>
                <a:lnTo>
                  <a:pt x="219455" y="364998"/>
                </a:lnTo>
                <a:lnTo>
                  <a:pt x="438911" y="182499"/>
                </a:lnTo>
                <a:lnTo>
                  <a:pt x="351154" y="182499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9670160" y="3941445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8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8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 txBox="1"/>
          <p:nvPr/>
        </p:nvSpPr>
        <p:spPr>
          <a:xfrm>
            <a:off x="9899650" y="4237735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自底向上计算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10378440" y="4975859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8"/>
                </a:lnTo>
                <a:lnTo>
                  <a:pt x="0" y="182498"/>
                </a:lnTo>
                <a:lnTo>
                  <a:pt x="219455" y="364997"/>
                </a:lnTo>
                <a:lnTo>
                  <a:pt x="438911" y="182498"/>
                </a:lnTo>
                <a:lnTo>
                  <a:pt x="351154" y="182498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670160" y="5402198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52"/>
                </a:lnTo>
                <a:lnTo>
                  <a:pt x="7647" y="914358"/>
                </a:lnTo>
                <a:lnTo>
                  <a:pt x="28511" y="945313"/>
                </a:lnTo>
                <a:lnTo>
                  <a:pt x="59471" y="966183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3"/>
                </a:lnTo>
                <a:lnTo>
                  <a:pt x="1827720" y="945313"/>
                </a:lnTo>
                <a:lnTo>
                  <a:pt x="1848584" y="914358"/>
                </a:lnTo>
                <a:lnTo>
                  <a:pt x="1856232" y="876452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4" name="object 14"/>
          <p:cNvGraphicFramePr>
            <a:graphicFrameLocks noGrp="1"/>
          </p:cNvGraphicFramePr>
          <p:nvPr/>
        </p:nvGraphicFramePr>
        <p:xfrm>
          <a:off x="647217" y="4070603"/>
          <a:ext cx="369760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874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5" name="object 15"/>
          <p:cNvGraphicFramePr>
            <a:graphicFrameLocks noGrp="1"/>
          </p:cNvGraphicFramePr>
          <p:nvPr/>
        </p:nvGraphicFramePr>
        <p:xfrm>
          <a:off x="111726" y="3344798"/>
          <a:ext cx="4232909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6" name="object 16"/>
          <p:cNvSpPr txBox="1"/>
          <p:nvPr/>
        </p:nvSpPr>
        <p:spPr>
          <a:xfrm>
            <a:off x="235711" y="2901442"/>
            <a:ext cx="762000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000" spc="-20">
                <a:latin typeface="Cambria Math"/>
                <a:cs typeface="Cambria Math"/>
              </a:rPr>
              <a:t>𝑪[𝟕,</a:t>
            </a:r>
            <a:r>
              <a:rPr sz="2000" spc="-70">
                <a:latin typeface="Cambria Math"/>
                <a:cs typeface="Cambria Math"/>
              </a:rPr>
              <a:t> </a:t>
            </a:r>
            <a:r>
              <a:rPr sz="2000" spc="-25">
                <a:latin typeface="Cambria Math"/>
                <a:cs typeface="Cambria Math"/>
              </a:rPr>
              <a:t>𝟔]</a:t>
            </a:r>
            <a:endParaRPr sz="2000">
              <a:latin typeface="Cambria Math"/>
              <a:cs typeface="Cambria Math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4495291" y="2669285"/>
            <a:ext cx="737870" cy="511175"/>
          </a:xfrm>
          <a:custGeom>
            <a:avLst/>
            <a:gdLst/>
            <a:ahLst/>
            <a:cxnLst/>
            <a:rect l="l" t="t" r="r" b="b"/>
            <a:pathLst>
              <a:path w="737870" h="511175">
                <a:moveTo>
                  <a:pt x="658873" y="36657"/>
                </a:moveTo>
                <a:lnTo>
                  <a:pt x="0" y="487425"/>
                </a:lnTo>
                <a:lnTo>
                  <a:pt x="16256" y="511048"/>
                </a:lnTo>
                <a:lnTo>
                  <a:pt x="675023" y="60266"/>
                </a:lnTo>
                <a:lnTo>
                  <a:pt x="658873" y="36657"/>
                </a:lnTo>
                <a:close/>
              </a:path>
              <a:path w="737870" h="511175">
                <a:moveTo>
                  <a:pt x="721769" y="28575"/>
                </a:moveTo>
                <a:lnTo>
                  <a:pt x="670687" y="28575"/>
                </a:lnTo>
                <a:lnTo>
                  <a:pt x="686816" y="52197"/>
                </a:lnTo>
                <a:lnTo>
                  <a:pt x="675023" y="60266"/>
                </a:lnTo>
                <a:lnTo>
                  <a:pt x="691134" y="83819"/>
                </a:lnTo>
                <a:lnTo>
                  <a:pt x="721769" y="28575"/>
                </a:lnTo>
                <a:close/>
              </a:path>
              <a:path w="737870" h="511175">
                <a:moveTo>
                  <a:pt x="670687" y="28575"/>
                </a:moveTo>
                <a:lnTo>
                  <a:pt x="658873" y="36657"/>
                </a:lnTo>
                <a:lnTo>
                  <a:pt x="675023" y="60266"/>
                </a:lnTo>
                <a:lnTo>
                  <a:pt x="686816" y="52197"/>
                </a:lnTo>
                <a:lnTo>
                  <a:pt x="670687" y="28575"/>
                </a:lnTo>
                <a:close/>
              </a:path>
              <a:path w="737870" h="511175">
                <a:moveTo>
                  <a:pt x="737616" y="0"/>
                </a:moveTo>
                <a:lnTo>
                  <a:pt x="642747" y="13080"/>
                </a:lnTo>
                <a:lnTo>
                  <a:pt x="658873" y="36657"/>
                </a:lnTo>
                <a:lnTo>
                  <a:pt x="670687" y="28575"/>
                </a:lnTo>
                <a:lnTo>
                  <a:pt x="721769" y="28575"/>
                </a:lnTo>
                <a:lnTo>
                  <a:pt x="73761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8" name="object 18"/>
          <p:cNvGraphicFramePr>
            <a:graphicFrameLocks noGrp="1"/>
          </p:cNvGraphicFramePr>
          <p:nvPr/>
        </p:nvGraphicFramePr>
        <p:xfrm>
          <a:off x="5395340" y="3868292"/>
          <a:ext cx="4232909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9" name="object 19"/>
          <p:cNvGraphicFramePr>
            <a:graphicFrameLocks noGrp="1"/>
          </p:cNvGraphicFramePr>
          <p:nvPr/>
        </p:nvGraphicFramePr>
        <p:xfrm>
          <a:off x="5392165" y="4418203"/>
          <a:ext cx="369760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93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sz="2200" spc="-50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60325" marB="0">
                    <a:lnL w="19050">
                      <a:solidFill>
                        <a:srgbClr val="7E7E7E"/>
                      </a:solidFill>
                      <a:prstDash val="sysDash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9050">
                      <a:solidFill>
                        <a:srgbClr val="7E7E7E"/>
                      </a:solidFill>
                      <a:prstDash val="solid"/>
                    </a:lnT>
                    <a:lnB w="19050">
                      <a:solidFill>
                        <a:srgbClr val="7E7E7E"/>
                      </a:solidFill>
                      <a:prstDash val="sysDash"/>
                    </a:lnB>
                    <a:solidFill>
                      <a:srgbClr val="BEBEB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0" name="object 20"/>
          <p:cNvGraphicFramePr>
            <a:graphicFrameLocks noGrp="1"/>
          </p:cNvGraphicFramePr>
          <p:nvPr/>
        </p:nvGraphicFramePr>
        <p:xfrm>
          <a:off x="5392165" y="5460872"/>
          <a:ext cx="4232909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sz="2200" spc="-50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60325" marB="0">
                    <a:lnL w="19050">
                      <a:solidFill>
                        <a:srgbClr val="7E7E7E"/>
                      </a:solidFill>
                      <a:prstDash val="sysDash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9050">
                      <a:solidFill>
                        <a:srgbClr val="7E7E7E"/>
                      </a:solidFill>
                      <a:prstDash val="solid"/>
                    </a:lnT>
                    <a:lnB w="19050">
                      <a:solidFill>
                        <a:srgbClr val="7E7E7E"/>
                      </a:solidFill>
                      <a:prstDash val="sysDash"/>
                    </a:lnB>
                    <a:solidFill>
                      <a:srgbClr val="BEBEB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1" name="object 21"/>
          <p:cNvGraphicFramePr>
            <a:graphicFrameLocks noGrp="1"/>
          </p:cNvGraphicFramePr>
          <p:nvPr/>
        </p:nvGraphicFramePr>
        <p:xfrm>
          <a:off x="5395340" y="6005868"/>
          <a:ext cx="369760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93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841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2" name="object 22"/>
          <p:cNvGraphicFramePr>
            <a:graphicFrameLocks noGrp="1"/>
          </p:cNvGraphicFramePr>
          <p:nvPr/>
        </p:nvGraphicFramePr>
        <p:xfrm>
          <a:off x="5392165" y="2528442"/>
          <a:ext cx="3697605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93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sz="2200" spc="-50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60325" marB="0">
                    <a:lnL w="19050">
                      <a:solidFill>
                        <a:srgbClr val="7E7E7E"/>
                      </a:solidFill>
                      <a:prstDash val="sysDash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9050">
                      <a:solidFill>
                        <a:srgbClr val="7E7E7E"/>
                      </a:solidFill>
                      <a:prstDash val="solid"/>
                    </a:lnT>
                    <a:lnB w="19050">
                      <a:solidFill>
                        <a:srgbClr val="7E7E7E"/>
                      </a:solidFill>
                      <a:prstDash val="sysDash"/>
                    </a:lnB>
                    <a:solidFill>
                      <a:srgbClr val="BEBEB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23" name="object 23"/>
          <p:cNvGrpSpPr/>
          <p:nvPr/>
        </p:nvGrpSpPr>
        <p:grpSpPr>
          <a:xfrm>
            <a:off x="4591684" y="3451859"/>
            <a:ext cx="5097145" cy="3268979"/>
            <a:chOff x="4591684" y="3451859"/>
            <a:chExt cx="5097145" cy="3268979"/>
          </a:xfrm>
        </p:grpSpPr>
        <p:sp>
          <p:nvSpPr>
            <p:cNvPr id="24" name="object 24"/>
            <p:cNvSpPr/>
            <p:nvPr/>
          </p:nvSpPr>
          <p:spPr>
            <a:xfrm>
              <a:off x="4591684" y="4663947"/>
              <a:ext cx="641985" cy="549910"/>
            </a:xfrm>
            <a:custGeom>
              <a:avLst/>
              <a:gdLst/>
              <a:ahLst/>
              <a:cxnLst/>
              <a:rect l="l" t="t" r="r" b="b"/>
              <a:pathLst>
                <a:path w="641985" h="549910">
                  <a:moveTo>
                    <a:pt x="567113" y="504968"/>
                  </a:moveTo>
                  <a:lnTo>
                    <a:pt x="548513" y="526795"/>
                  </a:lnTo>
                  <a:lnTo>
                    <a:pt x="641603" y="549782"/>
                  </a:lnTo>
                  <a:lnTo>
                    <a:pt x="626510" y="514222"/>
                  </a:lnTo>
                  <a:lnTo>
                    <a:pt x="577976" y="514222"/>
                  </a:lnTo>
                  <a:lnTo>
                    <a:pt x="567113" y="504968"/>
                  </a:lnTo>
                  <a:close/>
                </a:path>
                <a:path w="641985" h="549910">
                  <a:moveTo>
                    <a:pt x="585635" y="483232"/>
                  </a:moveTo>
                  <a:lnTo>
                    <a:pt x="567113" y="504968"/>
                  </a:lnTo>
                  <a:lnTo>
                    <a:pt x="577976" y="514222"/>
                  </a:lnTo>
                  <a:lnTo>
                    <a:pt x="596518" y="492506"/>
                  </a:lnTo>
                  <a:lnTo>
                    <a:pt x="585635" y="483232"/>
                  </a:lnTo>
                  <a:close/>
                </a:path>
                <a:path w="641985" h="549910">
                  <a:moveTo>
                    <a:pt x="604138" y="461518"/>
                  </a:moveTo>
                  <a:lnTo>
                    <a:pt x="585635" y="483232"/>
                  </a:lnTo>
                  <a:lnTo>
                    <a:pt x="596518" y="492506"/>
                  </a:lnTo>
                  <a:lnTo>
                    <a:pt x="577976" y="514222"/>
                  </a:lnTo>
                  <a:lnTo>
                    <a:pt x="626510" y="514222"/>
                  </a:lnTo>
                  <a:lnTo>
                    <a:pt x="604138" y="461518"/>
                  </a:lnTo>
                  <a:close/>
                </a:path>
                <a:path w="641985" h="549910">
                  <a:moveTo>
                    <a:pt x="18541" y="0"/>
                  </a:moveTo>
                  <a:lnTo>
                    <a:pt x="0" y="21843"/>
                  </a:lnTo>
                  <a:lnTo>
                    <a:pt x="567113" y="504968"/>
                  </a:lnTo>
                  <a:lnTo>
                    <a:pt x="585635" y="483232"/>
                  </a:lnTo>
                  <a:lnTo>
                    <a:pt x="185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232653" y="3470909"/>
              <a:ext cx="4437380" cy="3230880"/>
            </a:xfrm>
            <a:custGeom>
              <a:avLst/>
              <a:gdLst/>
              <a:ahLst/>
              <a:cxnLst/>
              <a:rect l="l" t="t" r="r" b="b"/>
              <a:pathLst>
                <a:path w="4437380" h="3230879">
                  <a:moveTo>
                    <a:pt x="0" y="280034"/>
                  </a:moveTo>
                  <a:lnTo>
                    <a:pt x="3664" y="234605"/>
                  </a:lnTo>
                  <a:lnTo>
                    <a:pt x="14273" y="191511"/>
                  </a:lnTo>
                  <a:lnTo>
                    <a:pt x="31251" y="151330"/>
                  </a:lnTo>
                  <a:lnTo>
                    <a:pt x="54022" y="114638"/>
                  </a:lnTo>
                  <a:lnTo>
                    <a:pt x="82010" y="82010"/>
                  </a:lnTo>
                  <a:lnTo>
                    <a:pt x="114638" y="54022"/>
                  </a:lnTo>
                  <a:lnTo>
                    <a:pt x="151330" y="31251"/>
                  </a:lnTo>
                  <a:lnTo>
                    <a:pt x="191511" y="14273"/>
                  </a:lnTo>
                  <a:lnTo>
                    <a:pt x="234605" y="3664"/>
                  </a:lnTo>
                  <a:lnTo>
                    <a:pt x="280035" y="0"/>
                  </a:lnTo>
                  <a:lnTo>
                    <a:pt x="4157091" y="0"/>
                  </a:lnTo>
                  <a:lnTo>
                    <a:pt x="4202520" y="3664"/>
                  </a:lnTo>
                  <a:lnTo>
                    <a:pt x="4245614" y="14273"/>
                  </a:lnTo>
                  <a:lnTo>
                    <a:pt x="4285795" y="31251"/>
                  </a:lnTo>
                  <a:lnTo>
                    <a:pt x="4322487" y="54022"/>
                  </a:lnTo>
                  <a:lnTo>
                    <a:pt x="4355115" y="82010"/>
                  </a:lnTo>
                  <a:lnTo>
                    <a:pt x="4383103" y="114638"/>
                  </a:lnTo>
                  <a:lnTo>
                    <a:pt x="4405874" y="151330"/>
                  </a:lnTo>
                  <a:lnTo>
                    <a:pt x="4422852" y="191511"/>
                  </a:lnTo>
                  <a:lnTo>
                    <a:pt x="4433461" y="234605"/>
                  </a:lnTo>
                  <a:lnTo>
                    <a:pt x="4437126" y="280034"/>
                  </a:lnTo>
                  <a:lnTo>
                    <a:pt x="4437126" y="2950895"/>
                  </a:lnTo>
                  <a:lnTo>
                    <a:pt x="4433461" y="2996308"/>
                  </a:lnTo>
                  <a:lnTo>
                    <a:pt x="4422852" y="3039389"/>
                  </a:lnTo>
                  <a:lnTo>
                    <a:pt x="4405874" y="3079560"/>
                  </a:lnTo>
                  <a:lnTo>
                    <a:pt x="4383103" y="3116247"/>
                  </a:lnTo>
                  <a:lnTo>
                    <a:pt x="4355115" y="3148871"/>
                  </a:lnTo>
                  <a:lnTo>
                    <a:pt x="4322487" y="3176856"/>
                  </a:lnTo>
                  <a:lnTo>
                    <a:pt x="4285795" y="3199627"/>
                  </a:lnTo>
                  <a:lnTo>
                    <a:pt x="4245614" y="3216605"/>
                  </a:lnTo>
                  <a:lnTo>
                    <a:pt x="4202520" y="3227215"/>
                  </a:lnTo>
                  <a:lnTo>
                    <a:pt x="4157091" y="3230879"/>
                  </a:lnTo>
                  <a:lnTo>
                    <a:pt x="280035" y="3230879"/>
                  </a:lnTo>
                  <a:lnTo>
                    <a:pt x="234605" y="3227215"/>
                  </a:lnTo>
                  <a:lnTo>
                    <a:pt x="191511" y="3216605"/>
                  </a:lnTo>
                  <a:lnTo>
                    <a:pt x="151330" y="3199627"/>
                  </a:lnTo>
                  <a:lnTo>
                    <a:pt x="114638" y="3176856"/>
                  </a:lnTo>
                  <a:lnTo>
                    <a:pt x="82010" y="3148871"/>
                  </a:lnTo>
                  <a:lnTo>
                    <a:pt x="54022" y="3116247"/>
                  </a:lnTo>
                  <a:lnTo>
                    <a:pt x="31251" y="3079560"/>
                  </a:lnTo>
                  <a:lnTo>
                    <a:pt x="14273" y="3039389"/>
                  </a:lnTo>
                  <a:lnTo>
                    <a:pt x="3664" y="2996308"/>
                  </a:lnTo>
                  <a:lnTo>
                    <a:pt x="0" y="2950895"/>
                  </a:lnTo>
                  <a:lnTo>
                    <a:pt x="0" y="280034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7182231" y="3552189"/>
              <a:ext cx="975994" cy="236220"/>
            </a:xfrm>
            <a:custGeom>
              <a:avLst/>
              <a:gdLst/>
              <a:ahLst/>
              <a:cxnLst/>
              <a:rect l="l" t="t" r="r" b="b"/>
              <a:pathLst>
                <a:path w="975994" h="236220">
                  <a:moveTo>
                    <a:pt x="55245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0" y="226060"/>
                  </a:lnTo>
                  <a:lnTo>
                    <a:pt x="0" y="236220"/>
                  </a:lnTo>
                  <a:lnTo>
                    <a:pt x="55245" y="236220"/>
                  </a:lnTo>
                  <a:lnTo>
                    <a:pt x="55245" y="226060"/>
                  </a:lnTo>
                  <a:lnTo>
                    <a:pt x="20574" y="226060"/>
                  </a:lnTo>
                  <a:lnTo>
                    <a:pt x="20574" y="8890"/>
                  </a:lnTo>
                  <a:lnTo>
                    <a:pt x="55245" y="8890"/>
                  </a:lnTo>
                  <a:lnTo>
                    <a:pt x="55245" y="0"/>
                  </a:lnTo>
                  <a:close/>
                </a:path>
                <a:path w="975994" h="236220">
                  <a:moveTo>
                    <a:pt x="975741" y="0"/>
                  </a:moveTo>
                  <a:lnTo>
                    <a:pt x="920496" y="0"/>
                  </a:lnTo>
                  <a:lnTo>
                    <a:pt x="920496" y="8890"/>
                  </a:lnTo>
                  <a:lnTo>
                    <a:pt x="955167" y="8890"/>
                  </a:lnTo>
                  <a:lnTo>
                    <a:pt x="955167" y="226060"/>
                  </a:lnTo>
                  <a:lnTo>
                    <a:pt x="920496" y="226060"/>
                  </a:lnTo>
                  <a:lnTo>
                    <a:pt x="920496" y="236220"/>
                  </a:lnTo>
                  <a:lnTo>
                    <a:pt x="975741" y="236220"/>
                  </a:lnTo>
                  <a:lnTo>
                    <a:pt x="975741" y="226060"/>
                  </a:lnTo>
                  <a:lnTo>
                    <a:pt x="975741" y="8890"/>
                  </a:lnTo>
                  <a:lnTo>
                    <a:pt x="9757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7" name="object 27"/>
          <p:cNvGraphicFramePr>
            <a:graphicFrameLocks noGrp="1"/>
          </p:cNvGraphicFramePr>
          <p:nvPr/>
        </p:nvGraphicFramePr>
        <p:xfrm>
          <a:off x="5392165" y="1966467"/>
          <a:ext cx="4232909" cy="469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5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3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530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69900"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𝑪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𝑫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2200" spc="-50">
                          <a:latin typeface="Cambria Math"/>
                          <a:cs typeface="Cambria Math"/>
                        </a:rPr>
                        <a:t>𝑨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sz="2200" spc="-50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𝑩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60325" marB="0">
                    <a:lnL w="19050">
                      <a:solidFill>
                        <a:srgbClr val="7E7E7E"/>
                      </a:solidFill>
                      <a:prstDash val="sysDash"/>
                    </a:lnL>
                    <a:lnR w="19050">
                      <a:solidFill>
                        <a:srgbClr val="7E7E7E"/>
                      </a:solidFill>
                      <a:prstDash val="sysDash"/>
                    </a:lnR>
                    <a:lnT w="19050">
                      <a:solidFill>
                        <a:srgbClr val="7E7E7E"/>
                      </a:solidFill>
                      <a:prstDash val="solid"/>
                    </a:lnT>
                    <a:lnB w="19050">
                      <a:solidFill>
                        <a:srgbClr val="7E7E7E"/>
                      </a:solidFill>
                      <a:prstDash val="sysDash"/>
                    </a:lnB>
                    <a:solidFill>
                      <a:srgbClr val="BEBEB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8" name="object 28"/>
          <p:cNvSpPr txBox="1"/>
          <p:nvPr/>
        </p:nvSpPr>
        <p:spPr>
          <a:xfrm>
            <a:off x="6982459" y="3475735"/>
            <a:ext cx="1673860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261110" algn="l"/>
              </a:tabLst>
            </a:pPr>
            <a:r>
              <a:rPr sz="2000">
                <a:latin typeface="Cambria Math"/>
                <a:cs typeface="Cambria Math"/>
              </a:rPr>
              <a:t>𝑪</a:t>
            </a:r>
            <a:r>
              <a:rPr sz="2000" spc="245">
                <a:latin typeface="Cambria Math"/>
                <a:cs typeface="Cambria Math"/>
              </a:rPr>
              <a:t> </a:t>
            </a:r>
            <a:r>
              <a:rPr sz="2000" spc="-20">
                <a:latin typeface="Cambria Math"/>
                <a:cs typeface="Cambria Math"/>
              </a:rPr>
              <a:t>𝟕,</a:t>
            </a:r>
            <a:r>
              <a:rPr sz="2000" spc="-105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𝟔 −</a:t>
            </a:r>
            <a:r>
              <a:rPr sz="2000" spc="5">
                <a:latin typeface="Cambria Math"/>
                <a:cs typeface="Cambria Math"/>
              </a:rPr>
              <a:t> </a:t>
            </a:r>
            <a:r>
              <a:rPr sz="2000" spc="-50">
                <a:latin typeface="Cambria Math"/>
                <a:cs typeface="Cambria Math"/>
              </a:rPr>
              <a:t>𝟏</a:t>
            </a:r>
            <a:r>
              <a:rPr sz="2000">
                <a:latin typeface="Cambria Math"/>
                <a:cs typeface="Cambria Math"/>
              </a:rPr>
              <a:t>	+</a:t>
            </a:r>
            <a:r>
              <a:rPr sz="2000" spc="-5">
                <a:latin typeface="Cambria Math"/>
                <a:cs typeface="Cambria Math"/>
              </a:rPr>
              <a:t> </a:t>
            </a:r>
            <a:r>
              <a:rPr sz="2000" spc="-60">
                <a:latin typeface="Cambria Math"/>
                <a:cs typeface="Cambria Math"/>
              </a:rPr>
              <a:t>𝟎</a:t>
            </a:r>
            <a:endParaRPr sz="2000">
              <a:latin typeface="Cambria Math"/>
              <a:cs typeface="Cambria Math"/>
            </a:endParaRPr>
          </a:p>
        </p:txBody>
      </p:sp>
      <p:sp>
        <p:nvSpPr>
          <p:cNvPr id="29" name="object 29"/>
          <p:cNvSpPr/>
          <p:nvPr/>
        </p:nvSpPr>
        <p:spPr>
          <a:xfrm>
            <a:off x="7182231" y="5154929"/>
            <a:ext cx="975994" cy="236220"/>
          </a:xfrm>
          <a:custGeom>
            <a:avLst/>
            <a:gdLst/>
            <a:ahLst/>
            <a:cxnLst/>
            <a:rect l="l" t="t" r="r" b="b"/>
            <a:pathLst>
              <a:path w="975994" h="236220">
                <a:moveTo>
                  <a:pt x="55245" y="0"/>
                </a:moveTo>
                <a:lnTo>
                  <a:pt x="0" y="0"/>
                </a:lnTo>
                <a:lnTo>
                  <a:pt x="0" y="10160"/>
                </a:lnTo>
                <a:lnTo>
                  <a:pt x="0" y="227330"/>
                </a:lnTo>
                <a:lnTo>
                  <a:pt x="0" y="236220"/>
                </a:lnTo>
                <a:lnTo>
                  <a:pt x="55245" y="236220"/>
                </a:lnTo>
                <a:lnTo>
                  <a:pt x="55245" y="227330"/>
                </a:lnTo>
                <a:lnTo>
                  <a:pt x="20574" y="227330"/>
                </a:lnTo>
                <a:lnTo>
                  <a:pt x="20574" y="10160"/>
                </a:lnTo>
                <a:lnTo>
                  <a:pt x="55245" y="10160"/>
                </a:lnTo>
                <a:lnTo>
                  <a:pt x="55245" y="0"/>
                </a:lnTo>
                <a:close/>
              </a:path>
              <a:path w="975994" h="236220">
                <a:moveTo>
                  <a:pt x="975741" y="0"/>
                </a:moveTo>
                <a:lnTo>
                  <a:pt x="920496" y="0"/>
                </a:lnTo>
                <a:lnTo>
                  <a:pt x="920496" y="10160"/>
                </a:lnTo>
                <a:lnTo>
                  <a:pt x="955167" y="10160"/>
                </a:lnTo>
                <a:lnTo>
                  <a:pt x="955167" y="227330"/>
                </a:lnTo>
                <a:lnTo>
                  <a:pt x="920496" y="227330"/>
                </a:lnTo>
                <a:lnTo>
                  <a:pt x="920496" y="236220"/>
                </a:lnTo>
                <a:lnTo>
                  <a:pt x="975741" y="236220"/>
                </a:lnTo>
                <a:lnTo>
                  <a:pt x="975741" y="227330"/>
                </a:lnTo>
                <a:lnTo>
                  <a:pt x="975741" y="10160"/>
                </a:lnTo>
                <a:lnTo>
                  <a:pt x="9757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 txBox="1"/>
          <p:nvPr/>
        </p:nvSpPr>
        <p:spPr>
          <a:xfrm>
            <a:off x="6982459" y="5079491"/>
            <a:ext cx="4314190" cy="9194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261110" algn="l"/>
              </a:tabLst>
            </a:pPr>
            <a:r>
              <a:rPr sz="2000">
                <a:latin typeface="Cambria Math"/>
                <a:cs typeface="Cambria Math"/>
              </a:rPr>
              <a:t>𝑪</a:t>
            </a:r>
            <a:r>
              <a:rPr sz="2000" spc="240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𝟕</a:t>
            </a:r>
            <a:r>
              <a:rPr sz="2000" spc="-10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−</a:t>
            </a:r>
            <a:r>
              <a:rPr sz="2000" spc="5">
                <a:latin typeface="Cambria Math"/>
                <a:cs typeface="Cambria Math"/>
              </a:rPr>
              <a:t> </a:t>
            </a:r>
            <a:r>
              <a:rPr sz="2000" spc="-10">
                <a:latin typeface="Cambria Math"/>
                <a:cs typeface="Cambria Math"/>
              </a:rPr>
              <a:t>𝟏,</a:t>
            </a:r>
            <a:r>
              <a:rPr sz="2000" spc="-110">
                <a:latin typeface="Cambria Math"/>
                <a:cs typeface="Cambria Math"/>
              </a:rPr>
              <a:t> </a:t>
            </a:r>
            <a:r>
              <a:rPr sz="2000" spc="-50">
                <a:latin typeface="Cambria Math"/>
                <a:cs typeface="Cambria Math"/>
              </a:rPr>
              <a:t>𝟔</a:t>
            </a:r>
            <a:r>
              <a:rPr sz="2000">
                <a:latin typeface="Cambria Math"/>
                <a:cs typeface="Cambria Math"/>
              </a:rPr>
              <a:t>	+</a:t>
            </a:r>
            <a:r>
              <a:rPr sz="2000" spc="-5">
                <a:latin typeface="Cambria Math"/>
                <a:cs typeface="Cambria Math"/>
              </a:rPr>
              <a:t> </a:t>
            </a:r>
            <a:r>
              <a:rPr sz="2000" spc="-60">
                <a:latin typeface="Cambria Math"/>
                <a:cs typeface="Cambria Math"/>
              </a:rPr>
              <a:t>𝟎</a:t>
            </a:r>
            <a:endParaRPr sz="2000">
              <a:latin typeface="Cambria Math"/>
              <a:cs typeface="Cambria Math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2100">
              <a:latin typeface="Cambria Math"/>
              <a:cs typeface="Cambria Math"/>
            </a:endParaRPr>
          </a:p>
          <a:p>
            <a:pPr marR="5080" algn="r">
              <a:lnSpc>
                <a:spcPct val="100000"/>
              </a:lnSpc>
              <a:spcBef>
                <a:spcPts val="5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最优方案追踪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31" name="object 31"/>
          <p:cNvSpPr/>
          <p:nvPr/>
        </p:nvSpPr>
        <p:spPr>
          <a:xfrm>
            <a:off x="8560689" y="1645919"/>
            <a:ext cx="55244" cy="236220"/>
          </a:xfrm>
          <a:custGeom>
            <a:avLst/>
            <a:gdLst/>
            <a:ahLst/>
            <a:cxnLst/>
            <a:rect l="l" t="t" r="r" b="b"/>
            <a:pathLst>
              <a:path w="55244" h="236219">
                <a:moveTo>
                  <a:pt x="55245" y="0"/>
                </a:moveTo>
                <a:lnTo>
                  <a:pt x="0" y="0"/>
                </a:lnTo>
                <a:lnTo>
                  <a:pt x="0" y="8890"/>
                </a:lnTo>
                <a:lnTo>
                  <a:pt x="34671" y="8890"/>
                </a:lnTo>
                <a:lnTo>
                  <a:pt x="34671" y="226060"/>
                </a:lnTo>
                <a:lnTo>
                  <a:pt x="0" y="226060"/>
                </a:lnTo>
                <a:lnTo>
                  <a:pt x="0" y="236220"/>
                </a:lnTo>
                <a:lnTo>
                  <a:pt x="55245" y="236220"/>
                </a:lnTo>
                <a:lnTo>
                  <a:pt x="55245" y="226060"/>
                </a:lnTo>
                <a:lnTo>
                  <a:pt x="55245" y="8890"/>
                </a:lnTo>
                <a:lnTo>
                  <a:pt x="552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7184517" y="1645919"/>
            <a:ext cx="55244" cy="236220"/>
          </a:xfrm>
          <a:custGeom>
            <a:avLst/>
            <a:gdLst/>
            <a:ahLst/>
            <a:cxnLst/>
            <a:rect l="l" t="t" r="r" b="b"/>
            <a:pathLst>
              <a:path w="55244" h="236219">
                <a:moveTo>
                  <a:pt x="55245" y="0"/>
                </a:moveTo>
                <a:lnTo>
                  <a:pt x="0" y="0"/>
                </a:lnTo>
                <a:lnTo>
                  <a:pt x="0" y="8890"/>
                </a:lnTo>
                <a:lnTo>
                  <a:pt x="0" y="226060"/>
                </a:lnTo>
                <a:lnTo>
                  <a:pt x="0" y="236220"/>
                </a:lnTo>
                <a:lnTo>
                  <a:pt x="55245" y="236220"/>
                </a:lnTo>
                <a:lnTo>
                  <a:pt x="55245" y="226060"/>
                </a:lnTo>
                <a:lnTo>
                  <a:pt x="20574" y="226060"/>
                </a:lnTo>
                <a:lnTo>
                  <a:pt x="20574" y="8890"/>
                </a:lnTo>
                <a:lnTo>
                  <a:pt x="55245" y="8890"/>
                </a:lnTo>
                <a:lnTo>
                  <a:pt x="552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 txBox="1"/>
          <p:nvPr/>
        </p:nvSpPr>
        <p:spPr>
          <a:xfrm>
            <a:off x="6984745" y="1314449"/>
            <a:ext cx="4312285" cy="5848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5080" algn="r">
              <a:lnSpc>
                <a:spcPts val="2080"/>
              </a:lnSpc>
              <a:spcBef>
                <a:spcPts val="100"/>
              </a:spcBef>
            </a:pPr>
            <a:r>
              <a:rPr sz="1800" spc="-20">
                <a:solidFill>
                  <a:srgbClr val="FFFFFF"/>
                </a:solidFill>
                <a:latin typeface="PMingLiU"/>
                <a:cs typeface="PMingLiU"/>
              </a:rPr>
              <a:t>问题结构分析</a:t>
            </a:r>
            <a:endParaRPr sz="1800">
              <a:latin typeface="PMingLiU"/>
              <a:cs typeface="PMingLiU"/>
            </a:endParaRPr>
          </a:p>
          <a:p>
            <a:pPr marL="12700">
              <a:lnSpc>
                <a:spcPts val="2320"/>
              </a:lnSpc>
              <a:tabLst>
                <a:tab pos="1717039" algn="l"/>
              </a:tabLst>
            </a:pPr>
            <a:r>
              <a:rPr sz="2000">
                <a:latin typeface="Cambria Math"/>
                <a:cs typeface="Cambria Math"/>
              </a:rPr>
              <a:t>𝑪</a:t>
            </a:r>
            <a:r>
              <a:rPr sz="2000" spc="260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𝟕 −</a:t>
            </a:r>
            <a:r>
              <a:rPr sz="2000" spc="15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𝟏,</a:t>
            </a:r>
            <a:r>
              <a:rPr sz="2000" spc="-110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𝟔</a:t>
            </a:r>
            <a:r>
              <a:rPr sz="2000" spc="5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−</a:t>
            </a:r>
            <a:r>
              <a:rPr sz="2000" spc="10">
                <a:latin typeface="Cambria Math"/>
                <a:cs typeface="Cambria Math"/>
              </a:rPr>
              <a:t> </a:t>
            </a:r>
            <a:r>
              <a:rPr sz="2000" spc="-50">
                <a:latin typeface="Cambria Math"/>
                <a:cs typeface="Cambria Math"/>
              </a:rPr>
              <a:t>𝟏</a:t>
            </a:r>
            <a:r>
              <a:rPr sz="2000">
                <a:latin typeface="Cambria Math"/>
                <a:cs typeface="Cambria Math"/>
              </a:rPr>
              <a:t>	+</a:t>
            </a:r>
            <a:r>
              <a:rPr sz="2000" spc="5">
                <a:latin typeface="Cambria Math"/>
                <a:cs typeface="Cambria Math"/>
              </a:rPr>
              <a:t> </a:t>
            </a:r>
            <a:r>
              <a:rPr sz="2000" spc="-50">
                <a:latin typeface="Cambria Math"/>
                <a:cs typeface="Cambria Math"/>
              </a:rPr>
              <a:t>𝟏</a:t>
            </a:r>
            <a:endParaRPr sz="2000">
              <a:latin typeface="Cambria Math"/>
              <a:cs typeface="Cambria Math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2266695" y="4798314"/>
            <a:ext cx="215900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spc="-10">
                <a:latin typeface="PMingLiU"/>
                <a:cs typeface="PMingLiU"/>
              </a:rPr>
              <a:t>也可不同时出现</a:t>
            </a:r>
            <a:endParaRPr sz="2400">
              <a:latin typeface="PMingLiU"/>
              <a:cs typeface="PMingLiU"/>
            </a:endParaRPr>
          </a:p>
        </p:txBody>
      </p:sp>
      <p:sp>
        <p:nvSpPr>
          <p:cNvPr id="37" name="object 5">
            <a:extLst>
              <a:ext uri="{FF2B5EF4-FFF2-40B4-BE49-F238E27FC236}">
                <a16:creationId xmlns:a16="http://schemas.microsoft.com/office/drawing/2014/main" id="{0CC77068-D867-5C48-A76D-7D45A4BCD01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89026" y="253163"/>
            <a:ext cx="9691371" cy="56618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6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递推关系建立：分析最优（子）结</a:t>
            </a:r>
            <a:r>
              <a:rPr sz="36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构</a:t>
            </a:r>
            <a:endParaRPr sz="36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50622" y="1105296"/>
            <a:ext cx="151193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80365" algn="l"/>
                <a:tab pos="381000" algn="l"/>
              </a:tabLst>
            </a:pPr>
            <a:r>
              <a:rPr sz="2800">
                <a:latin typeface="Cambria Math"/>
                <a:cs typeface="Cambria Math"/>
              </a:rPr>
              <a:t>𝒙</a:t>
            </a:r>
            <a:r>
              <a:rPr sz="3075" baseline="-14905">
                <a:latin typeface="Cambria Math"/>
                <a:cs typeface="Cambria Math"/>
              </a:rPr>
              <a:t>𝒊</a:t>
            </a:r>
            <a:r>
              <a:rPr sz="3075" spc="652" baseline="-14905">
                <a:latin typeface="Cambria Math"/>
                <a:cs typeface="Cambria Math"/>
              </a:rPr>
              <a:t> </a:t>
            </a:r>
            <a:r>
              <a:rPr sz="2800">
                <a:latin typeface="Cambria Math"/>
                <a:cs typeface="Cambria Math"/>
              </a:rPr>
              <a:t>=</a:t>
            </a:r>
            <a:r>
              <a:rPr sz="2800" spc="140">
                <a:latin typeface="Cambria Math"/>
                <a:cs typeface="Cambria Math"/>
              </a:rPr>
              <a:t> </a:t>
            </a:r>
            <a:r>
              <a:rPr sz="2800" spc="-25">
                <a:latin typeface="Cambria Math"/>
                <a:cs typeface="Cambria Math"/>
              </a:rPr>
              <a:t>𝒚</a:t>
            </a:r>
            <a:r>
              <a:rPr sz="3075" spc="-37" baseline="-14905">
                <a:latin typeface="Cambria Math"/>
                <a:cs typeface="Cambria Math"/>
              </a:rPr>
              <a:t>𝒋</a:t>
            </a:r>
            <a:endParaRPr sz="3075" baseline="-14905">
              <a:latin typeface="Cambria Math"/>
              <a:cs typeface="Cambria Math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9670160" y="1018413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9899650" y="1314449"/>
            <a:ext cx="1397000" cy="3003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20">
                <a:solidFill>
                  <a:srgbClr val="FFFFFF"/>
                </a:solidFill>
                <a:latin typeface="PMingLiU"/>
                <a:cs typeface="PMingLiU"/>
              </a:rPr>
              <a:t>问题结构分析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0378440" y="2052827"/>
            <a:ext cx="439420" cy="367030"/>
          </a:xfrm>
          <a:custGeom>
            <a:avLst/>
            <a:gdLst/>
            <a:ahLst/>
            <a:cxnLst/>
            <a:rect l="l" t="t" r="r" b="b"/>
            <a:pathLst>
              <a:path w="439420" h="367030">
                <a:moveTo>
                  <a:pt x="351154" y="0"/>
                </a:moveTo>
                <a:lnTo>
                  <a:pt x="87756" y="0"/>
                </a:lnTo>
                <a:lnTo>
                  <a:pt x="87756" y="183261"/>
                </a:lnTo>
                <a:lnTo>
                  <a:pt x="0" y="183261"/>
                </a:lnTo>
                <a:lnTo>
                  <a:pt x="219455" y="366522"/>
                </a:lnTo>
                <a:lnTo>
                  <a:pt x="438911" y="183261"/>
                </a:lnTo>
                <a:lnTo>
                  <a:pt x="351154" y="183261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9670160" y="2480691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83C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9899650" y="2776982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递推关系建立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10378440" y="3515105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9"/>
                </a:lnTo>
                <a:lnTo>
                  <a:pt x="0" y="182499"/>
                </a:lnTo>
                <a:lnTo>
                  <a:pt x="219455" y="364998"/>
                </a:lnTo>
                <a:lnTo>
                  <a:pt x="438911" y="182499"/>
                </a:lnTo>
                <a:lnTo>
                  <a:pt x="351154" y="182499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9670160" y="3941445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8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8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 txBox="1"/>
          <p:nvPr/>
        </p:nvSpPr>
        <p:spPr>
          <a:xfrm>
            <a:off x="9899650" y="4237735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自底向上计算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10378440" y="4975859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8"/>
                </a:lnTo>
                <a:lnTo>
                  <a:pt x="0" y="182498"/>
                </a:lnTo>
                <a:lnTo>
                  <a:pt x="219455" y="364997"/>
                </a:lnTo>
                <a:lnTo>
                  <a:pt x="438911" y="182498"/>
                </a:lnTo>
                <a:lnTo>
                  <a:pt x="351154" y="182498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670160" y="5402198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52"/>
                </a:lnTo>
                <a:lnTo>
                  <a:pt x="7647" y="914358"/>
                </a:lnTo>
                <a:lnTo>
                  <a:pt x="28511" y="945313"/>
                </a:lnTo>
                <a:lnTo>
                  <a:pt x="59471" y="966183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3"/>
                </a:lnTo>
                <a:lnTo>
                  <a:pt x="1827720" y="945313"/>
                </a:lnTo>
                <a:lnTo>
                  <a:pt x="1848584" y="914358"/>
                </a:lnTo>
                <a:lnTo>
                  <a:pt x="1856232" y="876452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9899650" y="5698744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最优方案追踪</a:t>
            </a:r>
            <a:endParaRPr sz="1800">
              <a:latin typeface="PMingLiU"/>
              <a:cs typeface="PMingLiU"/>
            </a:endParaRPr>
          </a:p>
        </p:txBody>
      </p:sp>
      <p:graphicFrame>
        <p:nvGraphicFramePr>
          <p:cNvPr id="15" name="object 15"/>
          <p:cNvGraphicFramePr>
            <a:graphicFrameLocks noGrp="1"/>
          </p:cNvGraphicFramePr>
          <p:nvPr/>
        </p:nvGraphicFramePr>
        <p:xfrm>
          <a:off x="5935471" y="2277364"/>
          <a:ext cx="3350259" cy="514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4984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18745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6520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  <a:spcBef>
                          <a:spcPts val="1035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𝒋−𝟏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3144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7E7E7E"/>
                      </a:solidFill>
                      <a:prstDash val="lgDash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2875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2000" spc="-25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80010" marB="0">
                    <a:lnL w="12700">
                      <a:solidFill>
                        <a:srgbClr val="7E7E7E"/>
                      </a:solidFill>
                      <a:prstDash val="lgDash"/>
                    </a:lnL>
                    <a:lnR w="12700">
                      <a:solidFill>
                        <a:srgbClr val="7E7E7E"/>
                      </a:solidFill>
                      <a:prstDash val="lgDash"/>
                    </a:lnR>
                    <a:lnT w="12700">
                      <a:solidFill>
                        <a:srgbClr val="7E7E7E"/>
                      </a:solidFill>
                      <a:prstDash val="solid"/>
                    </a:lnT>
                    <a:lnB w="12700">
                      <a:solidFill>
                        <a:srgbClr val="7E7E7E"/>
                      </a:solidFill>
                      <a:prstDash val="lgDash"/>
                    </a:lnB>
                    <a:solidFill>
                      <a:srgbClr val="BEBEB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6" name="object 16"/>
          <p:cNvGraphicFramePr>
            <a:graphicFrameLocks noGrp="1"/>
          </p:cNvGraphicFramePr>
          <p:nvPr/>
        </p:nvGraphicFramePr>
        <p:xfrm>
          <a:off x="5935471" y="5331205"/>
          <a:ext cx="3350259" cy="514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4984">
                <a:tc>
                  <a:txBody>
                    <a:bodyPr/>
                    <a:lstStyle/>
                    <a:p>
                      <a:pPr marL="14160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192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545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𝒊−𝟏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𝒊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7" name="object 17"/>
          <p:cNvSpPr/>
          <p:nvPr/>
        </p:nvSpPr>
        <p:spPr>
          <a:xfrm>
            <a:off x="5050535" y="1514094"/>
            <a:ext cx="626745" cy="5034915"/>
          </a:xfrm>
          <a:custGeom>
            <a:avLst/>
            <a:gdLst/>
            <a:ahLst/>
            <a:cxnLst/>
            <a:rect l="l" t="t" r="r" b="b"/>
            <a:pathLst>
              <a:path w="626745" h="5034915">
                <a:moveTo>
                  <a:pt x="626363" y="5034533"/>
                </a:moveTo>
                <a:lnTo>
                  <a:pt x="554551" y="5033155"/>
                </a:lnTo>
                <a:lnTo>
                  <a:pt x="488630" y="5029228"/>
                </a:lnTo>
                <a:lnTo>
                  <a:pt x="430481" y="5023067"/>
                </a:lnTo>
                <a:lnTo>
                  <a:pt x="381981" y="5014984"/>
                </a:lnTo>
                <a:lnTo>
                  <a:pt x="345012" y="5005292"/>
                </a:lnTo>
                <a:lnTo>
                  <a:pt x="313181" y="4982336"/>
                </a:lnTo>
                <a:lnTo>
                  <a:pt x="313181" y="2569463"/>
                </a:lnTo>
                <a:lnTo>
                  <a:pt x="304911" y="2557495"/>
                </a:lnTo>
                <a:lnTo>
                  <a:pt x="244382" y="2536816"/>
                </a:lnTo>
                <a:lnTo>
                  <a:pt x="195882" y="2528733"/>
                </a:lnTo>
                <a:lnTo>
                  <a:pt x="137733" y="2522572"/>
                </a:lnTo>
                <a:lnTo>
                  <a:pt x="71812" y="2518645"/>
                </a:lnTo>
                <a:lnTo>
                  <a:pt x="0" y="2517266"/>
                </a:lnTo>
                <a:lnTo>
                  <a:pt x="71812" y="2515888"/>
                </a:lnTo>
                <a:lnTo>
                  <a:pt x="137733" y="2511961"/>
                </a:lnTo>
                <a:lnTo>
                  <a:pt x="195882" y="2505800"/>
                </a:lnTo>
                <a:lnTo>
                  <a:pt x="244382" y="2497717"/>
                </a:lnTo>
                <a:lnTo>
                  <a:pt x="281351" y="2488025"/>
                </a:lnTo>
                <a:lnTo>
                  <a:pt x="313181" y="2465069"/>
                </a:lnTo>
                <a:lnTo>
                  <a:pt x="313181" y="52196"/>
                </a:lnTo>
                <a:lnTo>
                  <a:pt x="321452" y="40228"/>
                </a:lnTo>
                <a:lnTo>
                  <a:pt x="381981" y="19549"/>
                </a:lnTo>
                <a:lnTo>
                  <a:pt x="430481" y="11466"/>
                </a:lnTo>
                <a:lnTo>
                  <a:pt x="488630" y="5305"/>
                </a:lnTo>
                <a:lnTo>
                  <a:pt x="554551" y="1378"/>
                </a:lnTo>
                <a:lnTo>
                  <a:pt x="626363" y="0"/>
                </a:lnTo>
              </a:path>
            </a:pathLst>
          </a:custGeom>
          <a:ln w="285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 txBox="1"/>
          <p:nvPr/>
        </p:nvSpPr>
        <p:spPr>
          <a:xfrm>
            <a:off x="75438" y="5136641"/>
            <a:ext cx="5196840" cy="542455"/>
          </a:xfrm>
          <a:prstGeom prst="rect">
            <a:avLst/>
          </a:prstGeom>
          <a:ln w="38100">
            <a:solidFill>
              <a:srgbClr val="FF0000"/>
            </a:solidFill>
          </a:ln>
        </p:spPr>
        <p:txBody>
          <a:bodyPr vert="horz" wrap="square" lIns="0" tIns="110489" rIns="0" bIns="0" rtlCol="0">
            <a:spAutoFit/>
          </a:bodyPr>
          <a:lstStyle/>
          <a:p>
            <a:pPr marL="19050">
              <a:lnSpc>
                <a:spcPct val="100000"/>
              </a:lnSpc>
              <a:spcBef>
                <a:spcPts val="869"/>
              </a:spcBef>
            </a:pPr>
            <a:r>
              <a:rPr sz="2800" spc="-5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问题：</a:t>
            </a:r>
            <a:r>
              <a:rPr sz="2800" b="1" spc="-10" dirty="0">
                <a:latin typeface="SimSun" panose="02010600030101010101" pitchFamily="2" charset="-122"/>
                <a:ea typeface="SimSun" panose="02010600030101010101" pitchFamily="2" charset="-122"/>
                <a:cs typeface="Times New Roman"/>
              </a:rPr>
              <a:t>3</a:t>
            </a:r>
            <a:r>
              <a:rPr sz="2800" spc="-1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个问题是否都需要求解？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348479" y="3553205"/>
            <a:ext cx="730250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800" spc="-25">
                <a:latin typeface="Cambria Math"/>
                <a:cs typeface="Cambria Math"/>
              </a:rPr>
              <a:t>𝐦𝐚𝐱</a:t>
            </a:r>
            <a:endParaRPr sz="2800">
              <a:latin typeface="Cambria Math"/>
              <a:cs typeface="Cambria Math"/>
            </a:endParaRPr>
          </a:p>
        </p:txBody>
      </p:sp>
      <p:graphicFrame>
        <p:nvGraphicFramePr>
          <p:cNvPr id="20" name="object 20"/>
          <p:cNvGraphicFramePr>
            <a:graphicFrameLocks noGrp="1"/>
          </p:cNvGraphicFramePr>
          <p:nvPr/>
        </p:nvGraphicFramePr>
        <p:xfrm>
          <a:off x="5935471" y="1652777"/>
          <a:ext cx="3350259" cy="514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4984">
                <a:tc>
                  <a:txBody>
                    <a:bodyPr/>
                    <a:lstStyle/>
                    <a:p>
                      <a:pPr marL="141605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1920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545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𝒊−𝟏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7E7E7E"/>
                      </a:solidFill>
                      <a:prstDash val="lgDash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775"/>
                        </a:spcBef>
                      </a:pPr>
                      <a:r>
                        <a:rPr sz="2000" spc="-25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8425" marB="0">
                    <a:lnL w="12700">
                      <a:solidFill>
                        <a:srgbClr val="7E7E7E"/>
                      </a:solidFill>
                      <a:prstDash val="lgDash"/>
                    </a:lnL>
                    <a:lnR w="12700">
                      <a:solidFill>
                        <a:srgbClr val="7E7E7E"/>
                      </a:solidFill>
                      <a:prstDash val="lgDash"/>
                    </a:lnR>
                    <a:lnT w="12700">
                      <a:solidFill>
                        <a:srgbClr val="7E7E7E"/>
                      </a:solidFill>
                      <a:prstDash val="solid"/>
                    </a:lnT>
                    <a:lnB w="12700">
                      <a:solidFill>
                        <a:srgbClr val="7E7E7E"/>
                      </a:solidFill>
                      <a:prstDash val="lgDash"/>
                    </a:lnB>
                    <a:solidFill>
                      <a:srgbClr val="BEBEB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1" name="object 21"/>
          <p:cNvGraphicFramePr>
            <a:graphicFrameLocks noGrp="1"/>
          </p:cNvGraphicFramePr>
          <p:nvPr/>
        </p:nvGraphicFramePr>
        <p:xfrm>
          <a:off x="727646" y="3418585"/>
          <a:ext cx="3350259" cy="514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4984"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545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𝒊−𝟏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𝒊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2" name="object 22"/>
          <p:cNvGraphicFramePr>
            <a:graphicFrameLocks noGrp="1"/>
          </p:cNvGraphicFramePr>
          <p:nvPr/>
        </p:nvGraphicFramePr>
        <p:xfrm>
          <a:off x="727646" y="4015613"/>
          <a:ext cx="3350259" cy="514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4984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1874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652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">
                        <a:lnSpc>
                          <a:spcPct val="100000"/>
                        </a:lnSpc>
                        <a:spcBef>
                          <a:spcPts val="1035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𝒋−𝟏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3144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𝒋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7937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3" name="object 23"/>
          <p:cNvSpPr txBox="1"/>
          <p:nvPr/>
        </p:nvSpPr>
        <p:spPr>
          <a:xfrm>
            <a:off x="842263" y="2987040"/>
            <a:ext cx="7740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spc="-10">
                <a:latin typeface="Cambria Math"/>
                <a:cs typeface="Cambria Math"/>
              </a:rPr>
              <a:t>𝑪[𝒊,</a:t>
            </a:r>
            <a:r>
              <a:rPr sz="2400" spc="-11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𝒋]</a:t>
            </a:r>
            <a:endParaRPr sz="2400">
              <a:latin typeface="Cambria Math"/>
              <a:cs typeface="Cambria Math"/>
            </a:endParaRPr>
          </a:p>
        </p:txBody>
      </p:sp>
      <p:graphicFrame>
        <p:nvGraphicFramePr>
          <p:cNvPr id="24" name="object 24"/>
          <p:cNvGraphicFramePr>
            <a:graphicFrameLocks noGrp="1"/>
          </p:cNvGraphicFramePr>
          <p:nvPr/>
        </p:nvGraphicFramePr>
        <p:xfrm>
          <a:off x="5935471" y="3997959"/>
          <a:ext cx="3350259" cy="514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4984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1874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652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  <a:spcBef>
                          <a:spcPts val="1030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𝒋−𝟏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3081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9065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𝒋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7937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5" name="object 25"/>
          <p:cNvGraphicFramePr>
            <a:graphicFrameLocks noGrp="1"/>
          </p:cNvGraphicFramePr>
          <p:nvPr/>
        </p:nvGraphicFramePr>
        <p:xfrm>
          <a:off x="5935471" y="3393821"/>
          <a:ext cx="3350259" cy="514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4984">
                <a:tc>
                  <a:txBody>
                    <a:bodyPr/>
                    <a:lstStyle/>
                    <a:p>
                      <a:pPr marL="14160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192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545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𝒊−𝟏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7E7E7E"/>
                      </a:solidFill>
                      <a:prstDash val="lgDash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775"/>
                        </a:spcBef>
                      </a:pPr>
                      <a:r>
                        <a:rPr sz="2000" spc="-25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8425" marB="0">
                    <a:lnL w="12700">
                      <a:solidFill>
                        <a:srgbClr val="7E7E7E"/>
                      </a:solidFill>
                      <a:prstDash val="lgDash"/>
                    </a:lnL>
                    <a:lnR w="12700">
                      <a:solidFill>
                        <a:srgbClr val="7E7E7E"/>
                      </a:solidFill>
                      <a:prstDash val="lgDash"/>
                    </a:lnR>
                    <a:lnT w="12700">
                      <a:solidFill>
                        <a:srgbClr val="7E7E7E"/>
                      </a:solidFill>
                      <a:prstDash val="solid"/>
                    </a:lnT>
                    <a:lnB w="12700">
                      <a:solidFill>
                        <a:srgbClr val="7E7E7E"/>
                      </a:solidFill>
                      <a:prstDash val="lgDash"/>
                    </a:lnB>
                    <a:solidFill>
                      <a:srgbClr val="BEBEB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6" name="object 26"/>
          <p:cNvGraphicFramePr>
            <a:graphicFrameLocks noGrp="1"/>
          </p:cNvGraphicFramePr>
          <p:nvPr/>
        </p:nvGraphicFramePr>
        <p:xfrm>
          <a:off x="5935471" y="5943231"/>
          <a:ext cx="3350259" cy="514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4984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1874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652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  <a:spcBef>
                          <a:spcPts val="1035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𝒋−𝟏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3144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7E7E7E"/>
                      </a:solidFill>
                      <a:prstDash val="lgDash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2875">
                        <a:lnSpc>
                          <a:spcPct val="100000"/>
                        </a:lnSpc>
                        <a:spcBef>
                          <a:spcPts val="635"/>
                        </a:spcBef>
                      </a:pPr>
                      <a:r>
                        <a:rPr sz="2000" spc="-25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80645" marB="0">
                    <a:lnL w="12700">
                      <a:solidFill>
                        <a:srgbClr val="7E7E7E"/>
                      </a:solidFill>
                      <a:prstDash val="lgDash"/>
                    </a:lnL>
                    <a:lnR w="12700">
                      <a:solidFill>
                        <a:srgbClr val="7E7E7E"/>
                      </a:solidFill>
                      <a:prstDash val="lgDash"/>
                    </a:lnR>
                    <a:lnT w="12700">
                      <a:solidFill>
                        <a:srgbClr val="7E7E7E"/>
                      </a:solidFill>
                      <a:prstDash val="solid"/>
                    </a:lnT>
                    <a:lnB w="12700">
                      <a:solidFill>
                        <a:srgbClr val="7E7E7E"/>
                      </a:solidFill>
                      <a:prstDash val="lgDash"/>
                    </a:lnB>
                    <a:solidFill>
                      <a:srgbClr val="BEBEB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7" name="object 27"/>
          <p:cNvSpPr/>
          <p:nvPr/>
        </p:nvSpPr>
        <p:spPr>
          <a:xfrm>
            <a:off x="7662418" y="129793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09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656" y="11430"/>
                </a:lnTo>
                <a:lnTo>
                  <a:pt x="41656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6149975" y="129793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09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 txBox="1"/>
          <p:nvPr/>
        </p:nvSpPr>
        <p:spPr>
          <a:xfrm>
            <a:off x="5912358" y="1209040"/>
            <a:ext cx="240919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918970" algn="l"/>
              </a:tabLst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31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𝒊 − </a:t>
            </a:r>
            <a:r>
              <a:rPr sz="2400" spc="-10">
                <a:latin typeface="Cambria Math"/>
                <a:cs typeface="Cambria Math"/>
              </a:rPr>
              <a:t>𝟏,</a:t>
            </a:r>
            <a:r>
              <a:rPr sz="2400" spc="-13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𝒋</a:t>
            </a:r>
            <a:r>
              <a:rPr sz="2400" spc="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−</a:t>
            </a:r>
            <a:r>
              <a:rPr sz="2400" spc="5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𝟏</a:t>
            </a:r>
            <a:r>
              <a:rPr sz="2400">
                <a:latin typeface="Cambria Math"/>
                <a:cs typeface="Cambria Math"/>
              </a:rPr>
              <a:t>	+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𝟏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7114540" y="499617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656" y="11430"/>
                </a:lnTo>
                <a:lnTo>
                  <a:pt x="41656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6146927" y="499617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 txBox="1"/>
          <p:nvPr/>
        </p:nvSpPr>
        <p:spPr>
          <a:xfrm>
            <a:off x="5909309" y="4907279"/>
            <a:ext cx="186436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373505" algn="l"/>
              </a:tabLst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305">
                <a:latin typeface="Cambria Math"/>
                <a:cs typeface="Cambria Math"/>
              </a:rPr>
              <a:t> </a:t>
            </a:r>
            <a:r>
              <a:rPr sz="2400" spc="-10">
                <a:latin typeface="Cambria Math"/>
                <a:cs typeface="Cambria Math"/>
              </a:rPr>
              <a:t>𝒊,</a:t>
            </a:r>
            <a:r>
              <a:rPr sz="2400" spc="-14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𝒋</a:t>
            </a:r>
            <a:r>
              <a:rPr sz="2400" spc="1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−</a:t>
            </a:r>
            <a:r>
              <a:rPr sz="2400" spc="5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𝟏</a:t>
            </a:r>
            <a:r>
              <a:rPr sz="2400">
                <a:latin typeface="Cambria Math"/>
                <a:cs typeface="Cambria Math"/>
              </a:rPr>
              <a:t>	+ </a:t>
            </a:r>
            <a:r>
              <a:rPr sz="2400" spc="-50">
                <a:latin typeface="Cambria Math"/>
                <a:cs typeface="Cambria Math"/>
              </a:rPr>
              <a:t>𝟎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33" name="object 33"/>
          <p:cNvSpPr/>
          <p:nvPr/>
        </p:nvSpPr>
        <p:spPr>
          <a:xfrm>
            <a:off x="7114540" y="3073399"/>
            <a:ext cx="66675" cy="284480"/>
          </a:xfrm>
          <a:custGeom>
            <a:avLst/>
            <a:gdLst/>
            <a:ahLst/>
            <a:cxnLst/>
            <a:rect l="l" t="t" r="r" b="b"/>
            <a:pathLst>
              <a:path w="66675" h="284479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656" y="11430"/>
                </a:lnTo>
                <a:lnTo>
                  <a:pt x="41656" y="273050"/>
                </a:lnTo>
                <a:lnTo>
                  <a:pt x="0" y="273050"/>
                </a:lnTo>
                <a:lnTo>
                  <a:pt x="0" y="284480"/>
                </a:lnTo>
                <a:lnTo>
                  <a:pt x="66421" y="284480"/>
                </a:lnTo>
                <a:lnTo>
                  <a:pt x="66421" y="27305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6146927" y="3073399"/>
            <a:ext cx="66675" cy="284480"/>
          </a:xfrm>
          <a:custGeom>
            <a:avLst/>
            <a:gdLst/>
            <a:ahLst/>
            <a:cxnLst/>
            <a:rect l="l" t="t" r="r" b="b"/>
            <a:pathLst>
              <a:path w="66675" h="284479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3050"/>
                </a:lnTo>
                <a:lnTo>
                  <a:pt x="0" y="284480"/>
                </a:lnTo>
                <a:lnTo>
                  <a:pt x="66421" y="284480"/>
                </a:lnTo>
                <a:lnTo>
                  <a:pt x="66421" y="273050"/>
                </a:lnTo>
                <a:lnTo>
                  <a:pt x="24765" y="27305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 txBox="1"/>
          <p:nvPr/>
        </p:nvSpPr>
        <p:spPr>
          <a:xfrm>
            <a:off x="5909309" y="2985261"/>
            <a:ext cx="186436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373505" algn="l"/>
              </a:tabLst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31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𝒊</a:t>
            </a:r>
            <a:r>
              <a:rPr sz="2400" spc="-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−</a:t>
            </a:r>
            <a:r>
              <a:rPr sz="2400" spc="5">
                <a:latin typeface="Cambria Math"/>
                <a:cs typeface="Cambria Math"/>
              </a:rPr>
              <a:t> </a:t>
            </a:r>
            <a:r>
              <a:rPr sz="2400" spc="-10">
                <a:latin typeface="Cambria Math"/>
                <a:cs typeface="Cambria Math"/>
              </a:rPr>
              <a:t>𝟏,</a:t>
            </a:r>
            <a:r>
              <a:rPr sz="2400" spc="-13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𝒋</a:t>
            </a:r>
            <a:r>
              <a:rPr sz="2400">
                <a:latin typeface="Cambria Math"/>
                <a:cs typeface="Cambria Math"/>
              </a:rPr>
              <a:t>	+ </a:t>
            </a:r>
            <a:r>
              <a:rPr sz="2400" spc="-50">
                <a:latin typeface="Cambria Math"/>
                <a:cs typeface="Cambria Math"/>
              </a:rPr>
              <a:t>𝟎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38" name="object 5">
            <a:extLst>
              <a:ext uri="{FF2B5EF4-FFF2-40B4-BE49-F238E27FC236}">
                <a16:creationId xmlns:a16="http://schemas.microsoft.com/office/drawing/2014/main" id="{DC8B0066-4F1F-164B-83CB-6FFAAA05A5C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89026" y="253163"/>
            <a:ext cx="9691371" cy="56618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6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递推关系建立：分析最优（子）结</a:t>
            </a:r>
            <a:r>
              <a:rPr sz="36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构</a:t>
            </a:r>
            <a:endParaRPr sz="36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389632" y="1637533"/>
            <a:ext cx="55244" cy="236220"/>
          </a:xfrm>
          <a:custGeom>
            <a:avLst/>
            <a:gdLst/>
            <a:ahLst/>
            <a:cxnLst/>
            <a:rect l="l" t="t" r="r" b="b"/>
            <a:pathLst>
              <a:path w="55244" h="236219">
                <a:moveTo>
                  <a:pt x="55245" y="0"/>
                </a:moveTo>
                <a:lnTo>
                  <a:pt x="0" y="0"/>
                </a:lnTo>
                <a:lnTo>
                  <a:pt x="0" y="8890"/>
                </a:lnTo>
                <a:lnTo>
                  <a:pt x="34671" y="8890"/>
                </a:lnTo>
                <a:lnTo>
                  <a:pt x="34671" y="226060"/>
                </a:lnTo>
                <a:lnTo>
                  <a:pt x="0" y="226060"/>
                </a:lnTo>
                <a:lnTo>
                  <a:pt x="0" y="236220"/>
                </a:lnTo>
                <a:lnTo>
                  <a:pt x="55245" y="236220"/>
                </a:lnTo>
                <a:lnTo>
                  <a:pt x="55245" y="226060"/>
                </a:lnTo>
                <a:lnTo>
                  <a:pt x="55245" y="8890"/>
                </a:lnTo>
                <a:lnTo>
                  <a:pt x="552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580388" y="1637533"/>
            <a:ext cx="55880" cy="236220"/>
          </a:xfrm>
          <a:custGeom>
            <a:avLst/>
            <a:gdLst/>
            <a:ahLst/>
            <a:cxnLst/>
            <a:rect l="l" t="t" r="r" b="b"/>
            <a:pathLst>
              <a:path w="55880" h="236219">
                <a:moveTo>
                  <a:pt x="55372" y="0"/>
                </a:moveTo>
                <a:lnTo>
                  <a:pt x="0" y="0"/>
                </a:lnTo>
                <a:lnTo>
                  <a:pt x="0" y="8890"/>
                </a:lnTo>
                <a:lnTo>
                  <a:pt x="0" y="226060"/>
                </a:lnTo>
                <a:lnTo>
                  <a:pt x="0" y="236220"/>
                </a:lnTo>
                <a:lnTo>
                  <a:pt x="55372" y="236220"/>
                </a:lnTo>
                <a:lnTo>
                  <a:pt x="55372" y="226060"/>
                </a:lnTo>
                <a:lnTo>
                  <a:pt x="20574" y="226060"/>
                </a:lnTo>
                <a:lnTo>
                  <a:pt x="20574" y="8890"/>
                </a:lnTo>
                <a:lnTo>
                  <a:pt x="55372" y="8890"/>
                </a:lnTo>
                <a:lnTo>
                  <a:pt x="5537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4176522" y="1637533"/>
            <a:ext cx="55244" cy="236220"/>
          </a:xfrm>
          <a:custGeom>
            <a:avLst/>
            <a:gdLst/>
            <a:ahLst/>
            <a:cxnLst/>
            <a:rect l="l" t="t" r="r" b="b"/>
            <a:pathLst>
              <a:path w="55244" h="236219">
                <a:moveTo>
                  <a:pt x="55245" y="0"/>
                </a:moveTo>
                <a:lnTo>
                  <a:pt x="0" y="0"/>
                </a:lnTo>
                <a:lnTo>
                  <a:pt x="0" y="8890"/>
                </a:lnTo>
                <a:lnTo>
                  <a:pt x="34671" y="8890"/>
                </a:lnTo>
                <a:lnTo>
                  <a:pt x="34671" y="226060"/>
                </a:lnTo>
                <a:lnTo>
                  <a:pt x="0" y="226060"/>
                </a:lnTo>
                <a:lnTo>
                  <a:pt x="0" y="236220"/>
                </a:lnTo>
                <a:lnTo>
                  <a:pt x="55245" y="236220"/>
                </a:lnTo>
                <a:lnTo>
                  <a:pt x="55245" y="226060"/>
                </a:lnTo>
                <a:lnTo>
                  <a:pt x="55245" y="8890"/>
                </a:lnTo>
                <a:lnTo>
                  <a:pt x="552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913126" y="1637533"/>
            <a:ext cx="55880" cy="236220"/>
          </a:xfrm>
          <a:custGeom>
            <a:avLst/>
            <a:gdLst/>
            <a:ahLst/>
            <a:cxnLst/>
            <a:rect l="l" t="t" r="r" b="b"/>
            <a:pathLst>
              <a:path w="55880" h="236219">
                <a:moveTo>
                  <a:pt x="55372" y="0"/>
                </a:moveTo>
                <a:lnTo>
                  <a:pt x="0" y="0"/>
                </a:lnTo>
                <a:lnTo>
                  <a:pt x="0" y="8890"/>
                </a:lnTo>
                <a:lnTo>
                  <a:pt x="0" y="226060"/>
                </a:lnTo>
                <a:lnTo>
                  <a:pt x="0" y="236220"/>
                </a:lnTo>
                <a:lnTo>
                  <a:pt x="55372" y="236220"/>
                </a:lnTo>
                <a:lnTo>
                  <a:pt x="55372" y="226060"/>
                </a:lnTo>
                <a:lnTo>
                  <a:pt x="20574" y="226060"/>
                </a:lnTo>
                <a:lnTo>
                  <a:pt x="20574" y="8890"/>
                </a:lnTo>
                <a:lnTo>
                  <a:pt x="55372" y="8890"/>
                </a:lnTo>
                <a:lnTo>
                  <a:pt x="5537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388108" y="2003293"/>
            <a:ext cx="55244" cy="236220"/>
          </a:xfrm>
          <a:custGeom>
            <a:avLst/>
            <a:gdLst/>
            <a:ahLst/>
            <a:cxnLst/>
            <a:rect l="l" t="t" r="r" b="b"/>
            <a:pathLst>
              <a:path w="55244" h="236219">
                <a:moveTo>
                  <a:pt x="55245" y="0"/>
                </a:moveTo>
                <a:lnTo>
                  <a:pt x="0" y="0"/>
                </a:lnTo>
                <a:lnTo>
                  <a:pt x="0" y="10160"/>
                </a:lnTo>
                <a:lnTo>
                  <a:pt x="34671" y="10160"/>
                </a:lnTo>
                <a:lnTo>
                  <a:pt x="34671" y="227330"/>
                </a:lnTo>
                <a:lnTo>
                  <a:pt x="0" y="227330"/>
                </a:lnTo>
                <a:lnTo>
                  <a:pt x="0" y="236220"/>
                </a:lnTo>
                <a:lnTo>
                  <a:pt x="55245" y="236220"/>
                </a:lnTo>
                <a:lnTo>
                  <a:pt x="55245" y="227330"/>
                </a:lnTo>
                <a:lnTo>
                  <a:pt x="55245" y="10160"/>
                </a:lnTo>
                <a:lnTo>
                  <a:pt x="552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580388" y="2003293"/>
            <a:ext cx="55880" cy="236220"/>
          </a:xfrm>
          <a:custGeom>
            <a:avLst/>
            <a:gdLst/>
            <a:ahLst/>
            <a:cxnLst/>
            <a:rect l="l" t="t" r="r" b="b"/>
            <a:pathLst>
              <a:path w="55880" h="236219">
                <a:moveTo>
                  <a:pt x="55372" y="0"/>
                </a:moveTo>
                <a:lnTo>
                  <a:pt x="0" y="0"/>
                </a:lnTo>
                <a:lnTo>
                  <a:pt x="0" y="10160"/>
                </a:lnTo>
                <a:lnTo>
                  <a:pt x="0" y="227330"/>
                </a:lnTo>
                <a:lnTo>
                  <a:pt x="0" y="236220"/>
                </a:lnTo>
                <a:lnTo>
                  <a:pt x="55372" y="236220"/>
                </a:lnTo>
                <a:lnTo>
                  <a:pt x="55372" y="227330"/>
                </a:lnTo>
                <a:lnTo>
                  <a:pt x="20574" y="227330"/>
                </a:lnTo>
                <a:lnTo>
                  <a:pt x="20574" y="10160"/>
                </a:lnTo>
                <a:lnTo>
                  <a:pt x="55372" y="10160"/>
                </a:lnTo>
                <a:lnTo>
                  <a:pt x="5537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176522" y="2003293"/>
            <a:ext cx="55244" cy="236220"/>
          </a:xfrm>
          <a:custGeom>
            <a:avLst/>
            <a:gdLst/>
            <a:ahLst/>
            <a:cxnLst/>
            <a:rect l="l" t="t" r="r" b="b"/>
            <a:pathLst>
              <a:path w="55244" h="236219">
                <a:moveTo>
                  <a:pt x="55245" y="0"/>
                </a:moveTo>
                <a:lnTo>
                  <a:pt x="0" y="0"/>
                </a:lnTo>
                <a:lnTo>
                  <a:pt x="0" y="10160"/>
                </a:lnTo>
                <a:lnTo>
                  <a:pt x="34671" y="10160"/>
                </a:lnTo>
                <a:lnTo>
                  <a:pt x="34671" y="227330"/>
                </a:lnTo>
                <a:lnTo>
                  <a:pt x="0" y="227330"/>
                </a:lnTo>
                <a:lnTo>
                  <a:pt x="0" y="236220"/>
                </a:lnTo>
                <a:lnTo>
                  <a:pt x="55245" y="236220"/>
                </a:lnTo>
                <a:lnTo>
                  <a:pt x="55245" y="227330"/>
                </a:lnTo>
                <a:lnTo>
                  <a:pt x="55245" y="10160"/>
                </a:lnTo>
                <a:lnTo>
                  <a:pt x="552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913126" y="2003293"/>
            <a:ext cx="55880" cy="236220"/>
          </a:xfrm>
          <a:custGeom>
            <a:avLst/>
            <a:gdLst/>
            <a:ahLst/>
            <a:cxnLst/>
            <a:rect l="l" t="t" r="r" b="b"/>
            <a:pathLst>
              <a:path w="55880" h="236219">
                <a:moveTo>
                  <a:pt x="55372" y="0"/>
                </a:moveTo>
                <a:lnTo>
                  <a:pt x="0" y="0"/>
                </a:lnTo>
                <a:lnTo>
                  <a:pt x="0" y="10160"/>
                </a:lnTo>
                <a:lnTo>
                  <a:pt x="0" y="227330"/>
                </a:lnTo>
                <a:lnTo>
                  <a:pt x="0" y="236220"/>
                </a:lnTo>
                <a:lnTo>
                  <a:pt x="55372" y="236220"/>
                </a:lnTo>
                <a:lnTo>
                  <a:pt x="55372" y="227330"/>
                </a:lnTo>
                <a:lnTo>
                  <a:pt x="20574" y="227330"/>
                </a:lnTo>
                <a:lnTo>
                  <a:pt x="20574" y="10160"/>
                </a:lnTo>
                <a:lnTo>
                  <a:pt x="55372" y="10160"/>
                </a:lnTo>
                <a:lnTo>
                  <a:pt x="5537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662940" y="914857"/>
            <a:ext cx="4557395" cy="1342390"/>
          </a:xfrm>
          <a:prstGeom prst="rect">
            <a:avLst/>
          </a:prstGeom>
        </p:spPr>
        <p:txBody>
          <a:bodyPr vert="horz" wrap="square" lIns="0" tIns="140335" rIns="0" bIns="0" rtlCol="0">
            <a:spAutoFit/>
          </a:bodyPr>
          <a:lstStyle/>
          <a:p>
            <a:pPr marL="381000" indent="-342900">
              <a:lnSpc>
                <a:spcPct val="100000"/>
              </a:lnSpc>
              <a:spcBef>
                <a:spcPts val="1105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80365" algn="l"/>
                <a:tab pos="381000" algn="l"/>
              </a:tabLst>
            </a:pPr>
            <a:r>
              <a:rPr sz="2800">
                <a:latin typeface="Cambria Math"/>
                <a:cs typeface="Cambria Math"/>
              </a:rPr>
              <a:t>𝒙</a:t>
            </a:r>
            <a:r>
              <a:rPr sz="3075" baseline="-14905">
                <a:latin typeface="Cambria Math"/>
                <a:cs typeface="Cambria Math"/>
              </a:rPr>
              <a:t>𝒊</a:t>
            </a:r>
            <a:r>
              <a:rPr sz="3075" spc="652" baseline="-14905">
                <a:latin typeface="Cambria Math"/>
                <a:cs typeface="Cambria Math"/>
              </a:rPr>
              <a:t> </a:t>
            </a:r>
            <a:r>
              <a:rPr sz="2800">
                <a:latin typeface="Cambria Math"/>
                <a:cs typeface="Cambria Math"/>
              </a:rPr>
              <a:t>=</a:t>
            </a:r>
            <a:r>
              <a:rPr sz="2800" spc="140">
                <a:latin typeface="Cambria Math"/>
                <a:cs typeface="Cambria Math"/>
              </a:rPr>
              <a:t> </a:t>
            </a:r>
            <a:r>
              <a:rPr sz="2800" spc="-25">
                <a:latin typeface="Cambria Math"/>
                <a:cs typeface="Cambria Math"/>
              </a:rPr>
              <a:t>𝒚</a:t>
            </a:r>
            <a:r>
              <a:rPr sz="3075" spc="-37" baseline="-14905">
                <a:latin typeface="Cambria Math"/>
                <a:cs typeface="Cambria Math"/>
              </a:rPr>
              <a:t>𝒋</a:t>
            </a:r>
            <a:endParaRPr sz="3075" baseline="-14905">
              <a:latin typeface="Cambria Math"/>
              <a:cs typeface="Cambria Math"/>
            </a:endParaRPr>
          </a:p>
          <a:p>
            <a:pPr marL="729615" lvl="1" indent="-347980">
              <a:lnSpc>
                <a:spcPct val="100000"/>
              </a:lnSpc>
              <a:spcBef>
                <a:spcPts val="720"/>
              </a:spcBef>
              <a:buClr>
                <a:srgbClr val="DAB6FB"/>
              </a:buClr>
              <a:buSzPct val="70000"/>
              <a:buFont typeface="Wingdings"/>
              <a:buChar char=""/>
              <a:tabLst>
                <a:tab pos="729615" algn="l"/>
                <a:tab pos="730250" algn="l"/>
              </a:tabLst>
            </a:pPr>
            <a:r>
              <a:rPr sz="2000">
                <a:latin typeface="Cambria Math"/>
                <a:cs typeface="Cambria Math"/>
              </a:rPr>
              <a:t>𝑪</a:t>
            </a:r>
            <a:r>
              <a:rPr sz="2000" spc="245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𝒊</a:t>
            </a:r>
            <a:r>
              <a:rPr sz="2000" spc="-5">
                <a:latin typeface="Cambria Math"/>
                <a:cs typeface="Cambria Math"/>
              </a:rPr>
              <a:t> − </a:t>
            </a:r>
            <a:r>
              <a:rPr sz="2000" spc="-10">
                <a:latin typeface="Cambria Math"/>
                <a:cs typeface="Cambria Math"/>
              </a:rPr>
              <a:t>𝟏,</a:t>
            </a:r>
            <a:r>
              <a:rPr sz="2000" spc="-105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𝒋</a:t>
            </a:r>
            <a:r>
              <a:rPr sz="2000" spc="245">
                <a:latin typeface="Cambria Math"/>
                <a:cs typeface="Cambria Math"/>
              </a:rPr>
              <a:t> </a:t>
            </a:r>
            <a:r>
              <a:rPr sz="2000" spc="-20">
                <a:latin typeface="PMingLiU"/>
                <a:cs typeface="PMingLiU"/>
              </a:rPr>
              <a:t>比</a:t>
            </a:r>
            <a:r>
              <a:rPr sz="2000">
                <a:latin typeface="Cambria Math"/>
                <a:cs typeface="Cambria Math"/>
              </a:rPr>
              <a:t>𝑪</a:t>
            </a:r>
            <a:r>
              <a:rPr sz="2000" spc="250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𝒊</a:t>
            </a:r>
            <a:r>
              <a:rPr sz="2000" spc="-5">
                <a:latin typeface="Cambria Math"/>
                <a:cs typeface="Cambria Math"/>
              </a:rPr>
              <a:t> − </a:t>
            </a:r>
            <a:r>
              <a:rPr sz="2000" spc="-10">
                <a:latin typeface="Cambria Math"/>
                <a:cs typeface="Cambria Math"/>
              </a:rPr>
              <a:t>𝟏,</a:t>
            </a:r>
            <a:r>
              <a:rPr sz="2000" spc="-110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𝒋 − 𝟏</a:t>
            </a:r>
            <a:r>
              <a:rPr sz="2000" spc="254">
                <a:latin typeface="Cambria Math"/>
                <a:cs typeface="Cambria Math"/>
              </a:rPr>
              <a:t> </a:t>
            </a:r>
            <a:r>
              <a:rPr sz="2000" spc="-15">
                <a:latin typeface="PMingLiU"/>
                <a:cs typeface="PMingLiU"/>
              </a:rPr>
              <a:t>至多大</a:t>
            </a:r>
            <a:r>
              <a:rPr sz="2000" spc="-50">
                <a:latin typeface="Cambria Math"/>
                <a:cs typeface="Cambria Math"/>
              </a:rPr>
              <a:t>𝟏</a:t>
            </a:r>
            <a:endParaRPr sz="2000">
              <a:latin typeface="Cambria Math"/>
              <a:cs typeface="Cambria Math"/>
            </a:endParaRPr>
          </a:p>
          <a:p>
            <a:pPr marL="729615" lvl="1" indent="-347980">
              <a:lnSpc>
                <a:spcPct val="100000"/>
              </a:lnSpc>
              <a:spcBef>
                <a:spcPts val="484"/>
              </a:spcBef>
              <a:buClr>
                <a:srgbClr val="DAB6FB"/>
              </a:buClr>
              <a:buSzPct val="70000"/>
              <a:buFont typeface="Wingdings"/>
              <a:buChar char=""/>
              <a:tabLst>
                <a:tab pos="729615" algn="l"/>
                <a:tab pos="730250" algn="l"/>
              </a:tabLst>
            </a:pPr>
            <a:r>
              <a:rPr sz="2000">
                <a:latin typeface="Cambria Math"/>
                <a:cs typeface="Cambria Math"/>
              </a:rPr>
              <a:t>𝑪</a:t>
            </a:r>
            <a:r>
              <a:rPr sz="2000" spc="245">
                <a:latin typeface="Cambria Math"/>
                <a:cs typeface="Cambria Math"/>
              </a:rPr>
              <a:t> </a:t>
            </a:r>
            <a:r>
              <a:rPr sz="2000" spc="-10">
                <a:latin typeface="Cambria Math"/>
                <a:cs typeface="Cambria Math"/>
              </a:rPr>
              <a:t>𝒊</a:t>
            </a:r>
            <a:r>
              <a:rPr sz="2000" spc="-60">
                <a:latin typeface="Cambria Math"/>
                <a:cs typeface="Cambria Math"/>
              </a:rPr>
              <a:t>, </a:t>
            </a:r>
            <a:r>
              <a:rPr sz="2000">
                <a:latin typeface="Cambria Math"/>
                <a:cs typeface="Cambria Math"/>
              </a:rPr>
              <a:t>𝒋</a:t>
            </a:r>
            <a:r>
              <a:rPr sz="2000" spc="-5">
                <a:latin typeface="Cambria Math"/>
                <a:cs typeface="Cambria Math"/>
              </a:rPr>
              <a:t> − </a:t>
            </a:r>
            <a:r>
              <a:rPr sz="2000">
                <a:latin typeface="Cambria Math"/>
                <a:cs typeface="Cambria Math"/>
              </a:rPr>
              <a:t>𝟏</a:t>
            </a:r>
            <a:r>
              <a:rPr sz="2000" spc="250">
                <a:latin typeface="Cambria Math"/>
                <a:cs typeface="Cambria Math"/>
              </a:rPr>
              <a:t> </a:t>
            </a:r>
            <a:r>
              <a:rPr sz="2000" spc="-20">
                <a:latin typeface="PMingLiU"/>
                <a:cs typeface="PMingLiU"/>
              </a:rPr>
              <a:t>比</a:t>
            </a:r>
            <a:r>
              <a:rPr sz="2000">
                <a:latin typeface="Cambria Math"/>
                <a:cs typeface="Cambria Math"/>
              </a:rPr>
              <a:t>𝑪</a:t>
            </a:r>
            <a:r>
              <a:rPr sz="2000" spc="254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𝒊</a:t>
            </a:r>
            <a:r>
              <a:rPr sz="2000" spc="-5">
                <a:latin typeface="Cambria Math"/>
                <a:cs typeface="Cambria Math"/>
              </a:rPr>
              <a:t> − </a:t>
            </a:r>
            <a:r>
              <a:rPr sz="2000" spc="-10">
                <a:latin typeface="Cambria Math"/>
                <a:cs typeface="Cambria Math"/>
              </a:rPr>
              <a:t>𝟏,</a:t>
            </a:r>
            <a:r>
              <a:rPr sz="2000" spc="-110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𝒋 − 𝟏</a:t>
            </a:r>
            <a:r>
              <a:rPr sz="2000" spc="254">
                <a:latin typeface="Cambria Math"/>
                <a:cs typeface="Cambria Math"/>
              </a:rPr>
              <a:t> </a:t>
            </a:r>
            <a:r>
              <a:rPr sz="2000" spc="-15">
                <a:latin typeface="PMingLiU"/>
                <a:cs typeface="PMingLiU"/>
              </a:rPr>
              <a:t>至多大</a:t>
            </a:r>
            <a:r>
              <a:rPr sz="2000" spc="-50">
                <a:latin typeface="Cambria Math"/>
                <a:cs typeface="Cambria Math"/>
              </a:rPr>
              <a:t>𝟏</a:t>
            </a:r>
            <a:endParaRPr sz="2000">
              <a:latin typeface="Cambria Math"/>
              <a:cs typeface="Cambria Math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9670160" y="1018413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 txBox="1"/>
          <p:nvPr/>
        </p:nvSpPr>
        <p:spPr>
          <a:xfrm>
            <a:off x="9899650" y="1314449"/>
            <a:ext cx="1397000" cy="3003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20">
                <a:solidFill>
                  <a:srgbClr val="FFFFFF"/>
                </a:solidFill>
                <a:latin typeface="PMingLiU"/>
                <a:cs typeface="PMingLiU"/>
              </a:rPr>
              <a:t>问题结构分析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10378440" y="2052827"/>
            <a:ext cx="439420" cy="367030"/>
          </a:xfrm>
          <a:custGeom>
            <a:avLst/>
            <a:gdLst/>
            <a:ahLst/>
            <a:cxnLst/>
            <a:rect l="l" t="t" r="r" b="b"/>
            <a:pathLst>
              <a:path w="439420" h="367030">
                <a:moveTo>
                  <a:pt x="351154" y="0"/>
                </a:moveTo>
                <a:lnTo>
                  <a:pt x="87756" y="0"/>
                </a:lnTo>
                <a:lnTo>
                  <a:pt x="87756" y="183261"/>
                </a:lnTo>
                <a:lnTo>
                  <a:pt x="0" y="183261"/>
                </a:lnTo>
                <a:lnTo>
                  <a:pt x="219455" y="366522"/>
                </a:lnTo>
                <a:lnTo>
                  <a:pt x="438911" y="183261"/>
                </a:lnTo>
                <a:lnTo>
                  <a:pt x="351154" y="183261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9670160" y="2480691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83C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 txBox="1"/>
          <p:nvPr/>
        </p:nvSpPr>
        <p:spPr>
          <a:xfrm>
            <a:off x="9899650" y="2776982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递推关系建立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10378440" y="3515105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9"/>
                </a:lnTo>
                <a:lnTo>
                  <a:pt x="0" y="182499"/>
                </a:lnTo>
                <a:lnTo>
                  <a:pt x="219455" y="364998"/>
                </a:lnTo>
                <a:lnTo>
                  <a:pt x="438911" y="182499"/>
                </a:lnTo>
                <a:lnTo>
                  <a:pt x="351154" y="182499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670160" y="3941445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8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8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 txBox="1"/>
          <p:nvPr/>
        </p:nvSpPr>
        <p:spPr>
          <a:xfrm>
            <a:off x="9899650" y="4237735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自底向上计算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10378440" y="4975859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8"/>
                </a:lnTo>
                <a:lnTo>
                  <a:pt x="0" y="182498"/>
                </a:lnTo>
                <a:lnTo>
                  <a:pt x="219455" y="364997"/>
                </a:lnTo>
                <a:lnTo>
                  <a:pt x="438911" y="182498"/>
                </a:lnTo>
                <a:lnTo>
                  <a:pt x="351154" y="182498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9670160" y="5402198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52"/>
                </a:lnTo>
                <a:lnTo>
                  <a:pt x="7647" y="914358"/>
                </a:lnTo>
                <a:lnTo>
                  <a:pt x="28511" y="945313"/>
                </a:lnTo>
                <a:lnTo>
                  <a:pt x="59471" y="966183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3"/>
                </a:lnTo>
                <a:lnTo>
                  <a:pt x="1827720" y="945313"/>
                </a:lnTo>
                <a:lnTo>
                  <a:pt x="1848584" y="914358"/>
                </a:lnTo>
                <a:lnTo>
                  <a:pt x="1856232" y="876452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 txBox="1"/>
          <p:nvPr/>
        </p:nvSpPr>
        <p:spPr>
          <a:xfrm>
            <a:off x="9899650" y="5698744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最优方案追踪</a:t>
            </a:r>
            <a:endParaRPr sz="1800">
              <a:latin typeface="PMingLiU"/>
              <a:cs typeface="PMingLiU"/>
            </a:endParaRPr>
          </a:p>
        </p:txBody>
      </p:sp>
      <p:graphicFrame>
        <p:nvGraphicFramePr>
          <p:cNvPr id="23" name="object 23"/>
          <p:cNvGraphicFramePr>
            <a:graphicFrameLocks noGrp="1"/>
          </p:cNvGraphicFramePr>
          <p:nvPr/>
        </p:nvGraphicFramePr>
        <p:xfrm>
          <a:off x="5935471" y="2277364"/>
          <a:ext cx="3350259" cy="514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4984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18745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FF0000"/>
                      </a:solidFill>
                      <a:prstDash val="sysDash"/>
                    </a:lnB>
                  </a:tcPr>
                </a:tc>
                <a:tc>
                  <a:txBody>
                    <a:bodyPr/>
                    <a:lstStyle/>
                    <a:p>
                      <a:pPr marL="96520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FF0000"/>
                      </a:solidFill>
                      <a:prstDash val="sysDash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  <a:spcBef>
                          <a:spcPts val="1035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𝒋−𝟏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3144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7E7E7E"/>
                      </a:solidFill>
                      <a:prstDash val="lgDash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2875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2000" spc="-25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80010" marB="0">
                    <a:lnL w="12700">
                      <a:solidFill>
                        <a:srgbClr val="7E7E7E"/>
                      </a:solidFill>
                      <a:prstDash val="lgDash"/>
                    </a:lnL>
                    <a:lnR w="12700">
                      <a:solidFill>
                        <a:srgbClr val="7E7E7E"/>
                      </a:solidFill>
                      <a:prstDash val="lgDash"/>
                    </a:lnR>
                    <a:lnT w="12700">
                      <a:solidFill>
                        <a:srgbClr val="7E7E7E"/>
                      </a:solidFill>
                      <a:prstDash val="solid"/>
                    </a:lnT>
                    <a:lnB w="12700">
                      <a:solidFill>
                        <a:srgbClr val="7E7E7E"/>
                      </a:solidFill>
                      <a:prstDash val="lgDash"/>
                    </a:lnB>
                    <a:solidFill>
                      <a:srgbClr val="BEBEB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4" name="object 24"/>
          <p:cNvGraphicFramePr>
            <a:graphicFrameLocks noGrp="1"/>
          </p:cNvGraphicFramePr>
          <p:nvPr/>
        </p:nvGraphicFramePr>
        <p:xfrm>
          <a:off x="5935471" y="5317363"/>
          <a:ext cx="3350259" cy="514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4984">
                <a:tc>
                  <a:txBody>
                    <a:bodyPr/>
                    <a:lstStyle/>
                    <a:p>
                      <a:pPr marL="14160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192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545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𝒊−𝟏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𝒊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5" name="object 25"/>
          <p:cNvSpPr/>
          <p:nvPr/>
        </p:nvSpPr>
        <p:spPr>
          <a:xfrm>
            <a:off x="5050535" y="1514094"/>
            <a:ext cx="626745" cy="5034915"/>
          </a:xfrm>
          <a:custGeom>
            <a:avLst/>
            <a:gdLst/>
            <a:ahLst/>
            <a:cxnLst/>
            <a:rect l="l" t="t" r="r" b="b"/>
            <a:pathLst>
              <a:path w="626745" h="5034915">
                <a:moveTo>
                  <a:pt x="626363" y="5034533"/>
                </a:moveTo>
                <a:lnTo>
                  <a:pt x="554551" y="5033155"/>
                </a:lnTo>
                <a:lnTo>
                  <a:pt x="488630" y="5029228"/>
                </a:lnTo>
                <a:lnTo>
                  <a:pt x="430481" y="5023067"/>
                </a:lnTo>
                <a:lnTo>
                  <a:pt x="381981" y="5014984"/>
                </a:lnTo>
                <a:lnTo>
                  <a:pt x="345012" y="5005292"/>
                </a:lnTo>
                <a:lnTo>
                  <a:pt x="313181" y="4982336"/>
                </a:lnTo>
                <a:lnTo>
                  <a:pt x="313181" y="2569463"/>
                </a:lnTo>
                <a:lnTo>
                  <a:pt x="304911" y="2557495"/>
                </a:lnTo>
                <a:lnTo>
                  <a:pt x="244382" y="2536816"/>
                </a:lnTo>
                <a:lnTo>
                  <a:pt x="195882" y="2528733"/>
                </a:lnTo>
                <a:lnTo>
                  <a:pt x="137733" y="2522572"/>
                </a:lnTo>
                <a:lnTo>
                  <a:pt x="71812" y="2518645"/>
                </a:lnTo>
                <a:lnTo>
                  <a:pt x="0" y="2517266"/>
                </a:lnTo>
                <a:lnTo>
                  <a:pt x="71812" y="2515888"/>
                </a:lnTo>
                <a:lnTo>
                  <a:pt x="137733" y="2511961"/>
                </a:lnTo>
                <a:lnTo>
                  <a:pt x="195882" y="2505800"/>
                </a:lnTo>
                <a:lnTo>
                  <a:pt x="244382" y="2497717"/>
                </a:lnTo>
                <a:lnTo>
                  <a:pt x="281351" y="2488025"/>
                </a:lnTo>
                <a:lnTo>
                  <a:pt x="313181" y="2465069"/>
                </a:lnTo>
                <a:lnTo>
                  <a:pt x="313181" y="52196"/>
                </a:lnTo>
                <a:lnTo>
                  <a:pt x="321452" y="40228"/>
                </a:lnTo>
                <a:lnTo>
                  <a:pt x="381981" y="19549"/>
                </a:lnTo>
                <a:lnTo>
                  <a:pt x="430481" y="11466"/>
                </a:lnTo>
                <a:lnTo>
                  <a:pt x="488630" y="5305"/>
                </a:lnTo>
                <a:lnTo>
                  <a:pt x="554551" y="1378"/>
                </a:lnTo>
                <a:lnTo>
                  <a:pt x="626363" y="0"/>
                </a:lnTo>
              </a:path>
            </a:pathLst>
          </a:custGeom>
          <a:ln w="285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26" name="object 26"/>
          <p:cNvGraphicFramePr>
            <a:graphicFrameLocks noGrp="1"/>
          </p:cNvGraphicFramePr>
          <p:nvPr/>
        </p:nvGraphicFramePr>
        <p:xfrm>
          <a:off x="727646" y="3418585"/>
          <a:ext cx="3350259" cy="514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4984"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545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𝒊−𝟏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𝒊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7" name="object 27"/>
          <p:cNvGraphicFramePr>
            <a:graphicFrameLocks noGrp="1"/>
          </p:cNvGraphicFramePr>
          <p:nvPr/>
        </p:nvGraphicFramePr>
        <p:xfrm>
          <a:off x="727646" y="4015613"/>
          <a:ext cx="3350259" cy="514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4984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1874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652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">
                        <a:lnSpc>
                          <a:spcPct val="100000"/>
                        </a:lnSpc>
                        <a:spcBef>
                          <a:spcPts val="1035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𝒋−𝟏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3144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𝒋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7937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8" name="object 28"/>
          <p:cNvSpPr txBox="1"/>
          <p:nvPr/>
        </p:nvSpPr>
        <p:spPr>
          <a:xfrm>
            <a:off x="842263" y="2987040"/>
            <a:ext cx="7740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spc="-10">
                <a:latin typeface="Cambria Math"/>
                <a:cs typeface="Cambria Math"/>
              </a:rPr>
              <a:t>𝑪[𝒊,</a:t>
            </a:r>
            <a:r>
              <a:rPr sz="2400" spc="-11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𝒋]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4348479" y="3553205"/>
            <a:ext cx="730250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800" spc="-25">
                <a:latin typeface="Cambria Math"/>
                <a:cs typeface="Cambria Math"/>
              </a:rPr>
              <a:t>𝐦𝐚𝐱</a:t>
            </a:r>
            <a:endParaRPr sz="2800">
              <a:latin typeface="Cambria Math"/>
              <a:cs typeface="Cambria Math"/>
            </a:endParaRPr>
          </a:p>
        </p:txBody>
      </p:sp>
      <p:graphicFrame>
        <p:nvGraphicFramePr>
          <p:cNvPr id="30" name="object 30"/>
          <p:cNvGraphicFramePr>
            <a:graphicFrameLocks noGrp="1"/>
          </p:cNvGraphicFramePr>
          <p:nvPr/>
        </p:nvGraphicFramePr>
        <p:xfrm>
          <a:off x="5935471" y="3997959"/>
          <a:ext cx="3350259" cy="514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4984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1874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652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  <a:spcBef>
                          <a:spcPts val="1030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𝒋−𝟏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3081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9065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𝒋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7937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1" name="object 31"/>
          <p:cNvGraphicFramePr>
            <a:graphicFrameLocks noGrp="1"/>
          </p:cNvGraphicFramePr>
          <p:nvPr/>
        </p:nvGraphicFramePr>
        <p:xfrm>
          <a:off x="5935471" y="3381121"/>
          <a:ext cx="3350259" cy="514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4984">
                <a:tc>
                  <a:txBody>
                    <a:bodyPr/>
                    <a:lstStyle/>
                    <a:p>
                      <a:pPr marL="14160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3810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192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3810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3810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545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𝒊−𝟏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7E7E7E"/>
                      </a:solidFill>
                      <a:prstDash val="lgDash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775"/>
                        </a:spcBef>
                      </a:pPr>
                      <a:r>
                        <a:rPr sz="2000" spc="-25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8425" marB="0">
                    <a:lnL w="12700">
                      <a:solidFill>
                        <a:srgbClr val="7E7E7E"/>
                      </a:solidFill>
                      <a:prstDash val="lgDash"/>
                    </a:lnL>
                    <a:lnR w="12700">
                      <a:solidFill>
                        <a:srgbClr val="7E7E7E"/>
                      </a:solidFill>
                      <a:prstDash val="lgDash"/>
                    </a:lnR>
                    <a:lnT w="12700">
                      <a:solidFill>
                        <a:srgbClr val="7E7E7E"/>
                      </a:solidFill>
                      <a:prstDash val="solid"/>
                    </a:lnT>
                    <a:lnB w="12700">
                      <a:solidFill>
                        <a:srgbClr val="7E7E7E"/>
                      </a:solidFill>
                      <a:prstDash val="lgDash"/>
                    </a:lnB>
                    <a:solidFill>
                      <a:srgbClr val="BEBEB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2" name="object 32"/>
          <p:cNvGraphicFramePr>
            <a:graphicFrameLocks noGrp="1"/>
          </p:cNvGraphicFramePr>
          <p:nvPr/>
        </p:nvGraphicFramePr>
        <p:xfrm>
          <a:off x="5935471" y="5943231"/>
          <a:ext cx="3350259" cy="514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4984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1874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652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  <a:spcBef>
                          <a:spcPts val="1035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𝒋−𝟏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3144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7E7E7E"/>
                      </a:solidFill>
                      <a:prstDash val="lgDash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2875">
                        <a:lnSpc>
                          <a:spcPct val="100000"/>
                        </a:lnSpc>
                        <a:spcBef>
                          <a:spcPts val="635"/>
                        </a:spcBef>
                      </a:pPr>
                      <a:r>
                        <a:rPr sz="2000" spc="-25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80645" marB="0">
                    <a:lnL w="12700">
                      <a:solidFill>
                        <a:srgbClr val="7E7E7E"/>
                      </a:solidFill>
                      <a:prstDash val="lgDash"/>
                    </a:lnL>
                    <a:lnR w="12700">
                      <a:solidFill>
                        <a:srgbClr val="7E7E7E"/>
                      </a:solidFill>
                      <a:prstDash val="lgDash"/>
                    </a:lnR>
                    <a:lnT w="12700">
                      <a:solidFill>
                        <a:srgbClr val="7E7E7E"/>
                      </a:solidFill>
                      <a:prstDash val="solid"/>
                    </a:lnT>
                    <a:lnB w="12700">
                      <a:solidFill>
                        <a:srgbClr val="7E7E7E"/>
                      </a:solidFill>
                      <a:prstDash val="lgDash"/>
                    </a:lnB>
                    <a:solidFill>
                      <a:srgbClr val="BEBEB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3" name="object 33"/>
          <p:cNvSpPr/>
          <p:nvPr/>
        </p:nvSpPr>
        <p:spPr>
          <a:xfrm>
            <a:off x="6149975" y="129793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09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34" name="object 34"/>
          <p:cNvGraphicFramePr>
            <a:graphicFrameLocks noGrp="1"/>
          </p:cNvGraphicFramePr>
          <p:nvPr/>
        </p:nvGraphicFramePr>
        <p:xfrm>
          <a:off x="5852038" y="1110741"/>
          <a:ext cx="3406137" cy="105663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8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33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7467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647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6543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51180">
                <a:tc gridSpan="5">
                  <a:txBody>
                    <a:bodyPr/>
                    <a:lstStyle/>
                    <a:p>
                      <a:pPr marL="39370">
                        <a:lnSpc>
                          <a:spcPct val="100000"/>
                        </a:lnSpc>
                        <a:spcBef>
                          <a:spcPts val="825"/>
                        </a:spcBef>
                      </a:pPr>
                      <a:r>
                        <a:rPr sz="2400">
                          <a:latin typeface="Cambria Math"/>
                          <a:cs typeface="Cambria Math"/>
                        </a:rPr>
                        <a:t>𝑪</a:t>
                      </a:r>
                      <a:r>
                        <a:rPr sz="2400" spc="31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2400">
                          <a:latin typeface="Cambria Math"/>
                          <a:cs typeface="Cambria Math"/>
                        </a:rPr>
                        <a:t>𝒊 − </a:t>
                      </a:r>
                      <a:r>
                        <a:rPr sz="2400" spc="-10">
                          <a:latin typeface="Cambria Math"/>
                          <a:cs typeface="Cambria Math"/>
                        </a:rPr>
                        <a:t>𝟏,</a:t>
                      </a:r>
                      <a:r>
                        <a:rPr sz="2400" spc="-13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2400"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2400" spc="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2400">
                          <a:latin typeface="Cambria Math"/>
                          <a:cs typeface="Cambria Math"/>
                        </a:rPr>
                        <a:t>−</a:t>
                      </a:r>
                      <a:r>
                        <a:rPr sz="2400" spc="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2400" spc="-50">
                          <a:latin typeface="Cambria Math"/>
                          <a:cs typeface="Cambria Math"/>
                        </a:rPr>
                        <a:t>𝟏</a:t>
                      </a:r>
                      <a:endParaRPr sz="2400">
                        <a:latin typeface="Cambria Math"/>
                        <a:cs typeface="Cambria Math"/>
                      </a:endParaRPr>
                    </a:p>
                  </a:txBody>
                  <a:tcPr marL="0" marR="0" marT="104775" marB="0">
                    <a:lnL w="76200">
                      <a:solidFill>
                        <a:srgbClr val="FF0000"/>
                      </a:solidFill>
                      <a:prstDash val="sysDash"/>
                    </a:lnL>
                    <a:lnR w="76200">
                      <a:solidFill>
                        <a:srgbClr val="FF0000"/>
                      </a:solidFill>
                      <a:prstDash val="sysDash"/>
                    </a:lnR>
                    <a:lnB w="57150">
                      <a:solidFill>
                        <a:srgbClr val="FF0000"/>
                      </a:solidFill>
                      <a:prstDash val="sysDash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825"/>
                        </a:spcBef>
                      </a:pPr>
                      <a:r>
                        <a:rPr sz="2400">
                          <a:latin typeface="Cambria Math"/>
                          <a:cs typeface="Cambria Math"/>
                        </a:rPr>
                        <a:t>+</a:t>
                      </a:r>
                      <a:r>
                        <a:rPr sz="2400" spc="-1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2400" spc="-60">
                          <a:latin typeface="Cambria Math"/>
                          <a:cs typeface="Cambria Math"/>
                        </a:rPr>
                        <a:t>𝟏</a:t>
                      </a:r>
                      <a:endParaRPr sz="2400">
                        <a:latin typeface="Cambria Math"/>
                        <a:cs typeface="Cambria Math"/>
                      </a:endParaRPr>
                    </a:p>
                  </a:txBody>
                  <a:tcPr marL="0" marR="0" marT="104775" marB="0">
                    <a:lnL w="76200">
                      <a:solidFill>
                        <a:srgbClr val="FF0000"/>
                      </a:solidFill>
                      <a:prstDash val="sysDash"/>
                    </a:lnL>
                    <a:lnB w="12700">
                      <a:solidFill>
                        <a:srgbClr val="7E7E7E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545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12700">
                      <a:solidFill>
                        <a:srgbClr val="000000"/>
                      </a:solidFill>
                      <a:prstDash val="solid"/>
                    </a:lnR>
                    <a:lnT w="57150" cap="flat" cmpd="sng" algn="ctr">
                      <a:solidFill>
                        <a:srgbClr val="FF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41605">
                        <a:lnSpc>
                          <a:spcPct val="100000"/>
                        </a:lnSpc>
                        <a:spcBef>
                          <a:spcPts val="685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8699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1920">
                        <a:lnSpc>
                          <a:spcPct val="100000"/>
                        </a:lnSpc>
                        <a:spcBef>
                          <a:spcPts val="68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8699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68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8699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685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8699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2545">
                        <a:lnSpc>
                          <a:spcPct val="100000"/>
                        </a:lnSpc>
                        <a:spcBef>
                          <a:spcPts val="1090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𝒊−𝟏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3843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7E7E7E"/>
                      </a:solidFill>
                      <a:prstDash val="lgDash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695"/>
                        </a:spcBef>
                      </a:pPr>
                      <a:r>
                        <a:rPr sz="2000" spc="-25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88265" marB="0">
                    <a:lnL w="12700">
                      <a:solidFill>
                        <a:srgbClr val="7E7E7E"/>
                      </a:solidFill>
                      <a:prstDash val="lgDash"/>
                    </a:lnL>
                    <a:lnR w="12700">
                      <a:solidFill>
                        <a:srgbClr val="7E7E7E"/>
                      </a:solidFill>
                      <a:prstDash val="lgDash"/>
                    </a:lnR>
                    <a:lnT w="12700">
                      <a:solidFill>
                        <a:srgbClr val="7E7E7E"/>
                      </a:solidFill>
                      <a:prstDash val="solid"/>
                    </a:lnT>
                    <a:lnB w="12700">
                      <a:solidFill>
                        <a:srgbClr val="7E7E7E"/>
                      </a:solidFill>
                      <a:prstDash val="lgDash"/>
                    </a:lnB>
                    <a:solidFill>
                      <a:srgbClr val="BEBEB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35" name="object 35"/>
          <p:cNvSpPr/>
          <p:nvPr/>
        </p:nvSpPr>
        <p:spPr>
          <a:xfrm>
            <a:off x="7662418" y="129793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09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656" y="11430"/>
                </a:lnTo>
                <a:lnTo>
                  <a:pt x="41656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6146927" y="4996179"/>
            <a:ext cx="1034415" cy="283210"/>
          </a:xfrm>
          <a:custGeom>
            <a:avLst/>
            <a:gdLst/>
            <a:ahLst/>
            <a:cxnLst/>
            <a:rect l="l" t="t" r="r" b="b"/>
            <a:pathLst>
              <a:path w="103441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  <a:path w="1034415" h="283210">
                <a:moveTo>
                  <a:pt x="1034034" y="0"/>
                </a:moveTo>
                <a:lnTo>
                  <a:pt x="967613" y="0"/>
                </a:lnTo>
                <a:lnTo>
                  <a:pt x="967613" y="11430"/>
                </a:lnTo>
                <a:lnTo>
                  <a:pt x="1009269" y="11430"/>
                </a:lnTo>
                <a:lnTo>
                  <a:pt x="1009269" y="271780"/>
                </a:lnTo>
                <a:lnTo>
                  <a:pt x="967613" y="271780"/>
                </a:lnTo>
                <a:lnTo>
                  <a:pt x="967613" y="283210"/>
                </a:lnTo>
                <a:lnTo>
                  <a:pt x="1034034" y="283210"/>
                </a:lnTo>
                <a:lnTo>
                  <a:pt x="1034034" y="271780"/>
                </a:lnTo>
                <a:lnTo>
                  <a:pt x="1034034" y="11430"/>
                </a:lnTo>
                <a:lnTo>
                  <a:pt x="103403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 txBox="1"/>
          <p:nvPr/>
        </p:nvSpPr>
        <p:spPr>
          <a:xfrm>
            <a:off x="5909309" y="4907279"/>
            <a:ext cx="186436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373505" algn="l"/>
              </a:tabLst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305">
                <a:latin typeface="Cambria Math"/>
                <a:cs typeface="Cambria Math"/>
              </a:rPr>
              <a:t> </a:t>
            </a:r>
            <a:r>
              <a:rPr sz="2400" spc="-10">
                <a:latin typeface="Cambria Math"/>
                <a:cs typeface="Cambria Math"/>
              </a:rPr>
              <a:t>𝒊,</a:t>
            </a:r>
            <a:r>
              <a:rPr sz="2400" spc="-14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𝒋</a:t>
            </a:r>
            <a:r>
              <a:rPr sz="2400" spc="1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−</a:t>
            </a:r>
            <a:r>
              <a:rPr sz="2400" spc="5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𝟏</a:t>
            </a:r>
            <a:r>
              <a:rPr sz="2400">
                <a:latin typeface="Cambria Math"/>
                <a:cs typeface="Cambria Math"/>
              </a:rPr>
              <a:t>	+ </a:t>
            </a:r>
            <a:r>
              <a:rPr sz="2400" spc="-50">
                <a:latin typeface="Cambria Math"/>
                <a:cs typeface="Cambria Math"/>
              </a:rPr>
              <a:t>𝟎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38" name="object 38"/>
          <p:cNvSpPr/>
          <p:nvPr/>
        </p:nvSpPr>
        <p:spPr>
          <a:xfrm>
            <a:off x="6146927" y="3073399"/>
            <a:ext cx="1034415" cy="284480"/>
          </a:xfrm>
          <a:custGeom>
            <a:avLst/>
            <a:gdLst/>
            <a:ahLst/>
            <a:cxnLst/>
            <a:rect l="l" t="t" r="r" b="b"/>
            <a:pathLst>
              <a:path w="1034415" h="284479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3050"/>
                </a:lnTo>
                <a:lnTo>
                  <a:pt x="0" y="284480"/>
                </a:lnTo>
                <a:lnTo>
                  <a:pt x="66421" y="284480"/>
                </a:lnTo>
                <a:lnTo>
                  <a:pt x="66421" y="273050"/>
                </a:lnTo>
                <a:lnTo>
                  <a:pt x="24765" y="27305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  <a:path w="1034415" h="284479">
                <a:moveTo>
                  <a:pt x="1034034" y="0"/>
                </a:moveTo>
                <a:lnTo>
                  <a:pt x="967613" y="0"/>
                </a:lnTo>
                <a:lnTo>
                  <a:pt x="967613" y="11430"/>
                </a:lnTo>
                <a:lnTo>
                  <a:pt x="1009269" y="11430"/>
                </a:lnTo>
                <a:lnTo>
                  <a:pt x="1009269" y="273050"/>
                </a:lnTo>
                <a:lnTo>
                  <a:pt x="967613" y="273050"/>
                </a:lnTo>
                <a:lnTo>
                  <a:pt x="967613" y="284480"/>
                </a:lnTo>
                <a:lnTo>
                  <a:pt x="1034034" y="284480"/>
                </a:lnTo>
                <a:lnTo>
                  <a:pt x="1034034" y="273050"/>
                </a:lnTo>
                <a:lnTo>
                  <a:pt x="1034034" y="11430"/>
                </a:lnTo>
                <a:lnTo>
                  <a:pt x="103403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 txBox="1"/>
          <p:nvPr/>
        </p:nvSpPr>
        <p:spPr>
          <a:xfrm>
            <a:off x="5909309" y="2985261"/>
            <a:ext cx="186436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373505" algn="l"/>
              </a:tabLst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31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𝒊</a:t>
            </a:r>
            <a:r>
              <a:rPr sz="2400" spc="-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−</a:t>
            </a:r>
            <a:r>
              <a:rPr sz="2400" spc="5">
                <a:latin typeface="Cambria Math"/>
                <a:cs typeface="Cambria Math"/>
              </a:rPr>
              <a:t> </a:t>
            </a:r>
            <a:r>
              <a:rPr sz="2400" spc="-10">
                <a:latin typeface="Cambria Math"/>
                <a:cs typeface="Cambria Math"/>
              </a:rPr>
              <a:t>𝟏,</a:t>
            </a:r>
            <a:r>
              <a:rPr sz="2400" spc="-13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𝒋</a:t>
            </a:r>
            <a:r>
              <a:rPr sz="2400">
                <a:latin typeface="Cambria Math"/>
                <a:cs typeface="Cambria Math"/>
              </a:rPr>
              <a:t>	+ </a:t>
            </a:r>
            <a:r>
              <a:rPr sz="2400" spc="-50">
                <a:latin typeface="Cambria Math"/>
                <a:cs typeface="Cambria Math"/>
              </a:rPr>
              <a:t>𝟎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40" name="object 40"/>
          <p:cNvSpPr/>
          <p:nvPr/>
        </p:nvSpPr>
        <p:spPr>
          <a:xfrm>
            <a:off x="5885688" y="2843022"/>
            <a:ext cx="1367790" cy="551815"/>
          </a:xfrm>
          <a:custGeom>
            <a:avLst/>
            <a:gdLst/>
            <a:ahLst/>
            <a:cxnLst/>
            <a:rect l="l" t="t" r="r" b="b"/>
            <a:pathLst>
              <a:path w="1367790" h="551814">
                <a:moveTo>
                  <a:pt x="0" y="47751"/>
                </a:moveTo>
                <a:lnTo>
                  <a:pt x="3764" y="29200"/>
                </a:lnTo>
                <a:lnTo>
                  <a:pt x="14017" y="14017"/>
                </a:lnTo>
                <a:lnTo>
                  <a:pt x="29200" y="3764"/>
                </a:lnTo>
                <a:lnTo>
                  <a:pt x="47751" y="0"/>
                </a:lnTo>
                <a:lnTo>
                  <a:pt x="1320038" y="0"/>
                </a:lnTo>
                <a:lnTo>
                  <a:pt x="1338589" y="3764"/>
                </a:lnTo>
                <a:lnTo>
                  <a:pt x="1353772" y="14017"/>
                </a:lnTo>
                <a:lnTo>
                  <a:pt x="1364025" y="29200"/>
                </a:lnTo>
                <a:lnTo>
                  <a:pt x="1367789" y="47751"/>
                </a:lnTo>
                <a:lnTo>
                  <a:pt x="1367789" y="503936"/>
                </a:lnTo>
                <a:lnTo>
                  <a:pt x="1364025" y="522487"/>
                </a:lnTo>
                <a:lnTo>
                  <a:pt x="1353772" y="537670"/>
                </a:lnTo>
                <a:lnTo>
                  <a:pt x="1338589" y="547923"/>
                </a:lnTo>
                <a:lnTo>
                  <a:pt x="1320038" y="551688"/>
                </a:lnTo>
                <a:lnTo>
                  <a:pt x="47751" y="551688"/>
                </a:lnTo>
                <a:lnTo>
                  <a:pt x="29200" y="547923"/>
                </a:lnTo>
                <a:lnTo>
                  <a:pt x="14017" y="537670"/>
                </a:lnTo>
                <a:lnTo>
                  <a:pt x="3764" y="522487"/>
                </a:lnTo>
                <a:lnTo>
                  <a:pt x="0" y="503936"/>
                </a:lnTo>
                <a:lnTo>
                  <a:pt x="0" y="47751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885688" y="4771644"/>
            <a:ext cx="1367790" cy="551180"/>
          </a:xfrm>
          <a:custGeom>
            <a:avLst/>
            <a:gdLst/>
            <a:ahLst/>
            <a:cxnLst/>
            <a:rect l="l" t="t" r="r" b="b"/>
            <a:pathLst>
              <a:path w="1367790" h="551179">
                <a:moveTo>
                  <a:pt x="0" y="47751"/>
                </a:moveTo>
                <a:lnTo>
                  <a:pt x="3746" y="29146"/>
                </a:lnTo>
                <a:lnTo>
                  <a:pt x="13970" y="13969"/>
                </a:lnTo>
                <a:lnTo>
                  <a:pt x="29146" y="3746"/>
                </a:lnTo>
                <a:lnTo>
                  <a:pt x="47751" y="0"/>
                </a:lnTo>
                <a:lnTo>
                  <a:pt x="1320038" y="0"/>
                </a:lnTo>
                <a:lnTo>
                  <a:pt x="1338643" y="3746"/>
                </a:lnTo>
                <a:lnTo>
                  <a:pt x="1353820" y="13969"/>
                </a:lnTo>
                <a:lnTo>
                  <a:pt x="1364043" y="29146"/>
                </a:lnTo>
                <a:lnTo>
                  <a:pt x="1367789" y="47751"/>
                </a:lnTo>
                <a:lnTo>
                  <a:pt x="1367789" y="503173"/>
                </a:lnTo>
                <a:lnTo>
                  <a:pt x="1364043" y="521779"/>
                </a:lnTo>
                <a:lnTo>
                  <a:pt x="1353820" y="536955"/>
                </a:lnTo>
                <a:lnTo>
                  <a:pt x="1338643" y="547179"/>
                </a:lnTo>
                <a:lnTo>
                  <a:pt x="1320038" y="550925"/>
                </a:lnTo>
                <a:lnTo>
                  <a:pt x="47751" y="550925"/>
                </a:lnTo>
                <a:lnTo>
                  <a:pt x="29146" y="547179"/>
                </a:lnTo>
                <a:lnTo>
                  <a:pt x="13970" y="536955"/>
                </a:lnTo>
                <a:lnTo>
                  <a:pt x="3746" y="521779"/>
                </a:lnTo>
                <a:lnTo>
                  <a:pt x="0" y="503173"/>
                </a:lnTo>
                <a:lnTo>
                  <a:pt x="0" y="47751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5">
            <a:extLst>
              <a:ext uri="{FF2B5EF4-FFF2-40B4-BE49-F238E27FC236}">
                <a16:creationId xmlns:a16="http://schemas.microsoft.com/office/drawing/2014/main" id="{44C1D850-9A27-B446-ACD4-C827559A2C5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89026" y="253163"/>
            <a:ext cx="9691371" cy="56618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6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递推关系建立：分析最优（子）结</a:t>
            </a:r>
            <a:r>
              <a:rPr sz="36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构</a:t>
            </a:r>
            <a:endParaRPr sz="36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cxnSp>
        <p:nvCxnSpPr>
          <p:cNvPr id="46" name="直线连接符 45">
            <a:extLst>
              <a:ext uri="{FF2B5EF4-FFF2-40B4-BE49-F238E27FC236}">
                <a16:creationId xmlns:a16="http://schemas.microsoft.com/office/drawing/2014/main" id="{6DB1F2DB-78B6-D14A-9E1B-5BBB350D1D5C}"/>
              </a:ext>
            </a:extLst>
          </p:cNvPr>
          <p:cNvCxnSpPr/>
          <p:nvPr/>
        </p:nvCxnSpPr>
        <p:spPr>
          <a:xfrm>
            <a:off x="5885688" y="1110741"/>
            <a:ext cx="1887981" cy="0"/>
          </a:xfrm>
          <a:prstGeom prst="line">
            <a:avLst/>
          </a:prstGeom>
          <a:ln w="76200">
            <a:solidFill>
              <a:srgbClr val="FF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439736" y="1737741"/>
            <a:ext cx="55244" cy="236220"/>
          </a:xfrm>
          <a:custGeom>
            <a:avLst/>
            <a:gdLst/>
            <a:ahLst/>
            <a:cxnLst/>
            <a:rect l="l" t="t" r="r" b="b"/>
            <a:pathLst>
              <a:path w="55244" h="236219">
                <a:moveTo>
                  <a:pt x="55245" y="0"/>
                </a:moveTo>
                <a:lnTo>
                  <a:pt x="0" y="0"/>
                </a:lnTo>
                <a:lnTo>
                  <a:pt x="0" y="8890"/>
                </a:lnTo>
                <a:lnTo>
                  <a:pt x="34671" y="8890"/>
                </a:lnTo>
                <a:lnTo>
                  <a:pt x="34671" y="226060"/>
                </a:lnTo>
                <a:lnTo>
                  <a:pt x="0" y="226060"/>
                </a:lnTo>
                <a:lnTo>
                  <a:pt x="0" y="236220"/>
                </a:lnTo>
                <a:lnTo>
                  <a:pt x="55245" y="236220"/>
                </a:lnTo>
                <a:lnTo>
                  <a:pt x="55245" y="226060"/>
                </a:lnTo>
                <a:lnTo>
                  <a:pt x="55245" y="8890"/>
                </a:lnTo>
                <a:lnTo>
                  <a:pt x="552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630492" y="1737741"/>
            <a:ext cx="55880" cy="236220"/>
          </a:xfrm>
          <a:custGeom>
            <a:avLst/>
            <a:gdLst/>
            <a:ahLst/>
            <a:cxnLst/>
            <a:rect l="l" t="t" r="r" b="b"/>
            <a:pathLst>
              <a:path w="55880" h="236219">
                <a:moveTo>
                  <a:pt x="55372" y="0"/>
                </a:moveTo>
                <a:lnTo>
                  <a:pt x="0" y="0"/>
                </a:lnTo>
                <a:lnTo>
                  <a:pt x="0" y="8890"/>
                </a:lnTo>
                <a:lnTo>
                  <a:pt x="0" y="226060"/>
                </a:lnTo>
                <a:lnTo>
                  <a:pt x="0" y="236220"/>
                </a:lnTo>
                <a:lnTo>
                  <a:pt x="55372" y="236220"/>
                </a:lnTo>
                <a:lnTo>
                  <a:pt x="55372" y="226060"/>
                </a:lnTo>
                <a:lnTo>
                  <a:pt x="20574" y="226060"/>
                </a:lnTo>
                <a:lnTo>
                  <a:pt x="20574" y="8890"/>
                </a:lnTo>
                <a:lnTo>
                  <a:pt x="55372" y="8890"/>
                </a:lnTo>
                <a:lnTo>
                  <a:pt x="5537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4226626" y="1737741"/>
            <a:ext cx="55244" cy="236220"/>
          </a:xfrm>
          <a:custGeom>
            <a:avLst/>
            <a:gdLst/>
            <a:ahLst/>
            <a:cxnLst/>
            <a:rect l="l" t="t" r="r" b="b"/>
            <a:pathLst>
              <a:path w="55244" h="236219">
                <a:moveTo>
                  <a:pt x="55245" y="0"/>
                </a:moveTo>
                <a:lnTo>
                  <a:pt x="0" y="0"/>
                </a:lnTo>
                <a:lnTo>
                  <a:pt x="0" y="8890"/>
                </a:lnTo>
                <a:lnTo>
                  <a:pt x="34671" y="8890"/>
                </a:lnTo>
                <a:lnTo>
                  <a:pt x="34671" y="226060"/>
                </a:lnTo>
                <a:lnTo>
                  <a:pt x="0" y="226060"/>
                </a:lnTo>
                <a:lnTo>
                  <a:pt x="0" y="236220"/>
                </a:lnTo>
                <a:lnTo>
                  <a:pt x="55245" y="236220"/>
                </a:lnTo>
                <a:lnTo>
                  <a:pt x="55245" y="226060"/>
                </a:lnTo>
                <a:lnTo>
                  <a:pt x="55245" y="8890"/>
                </a:lnTo>
                <a:lnTo>
                  <a:pt x="552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963230" y="1737741"/>
            <a:ext cx="55880" cy="236220"/>
          </a:xfrm>
          <a:custGeom>
            <a:avLst/>
            <a:gdLst/>
            <a:ahLst/>
            <a:cxnLst/>
            <a:rect l="l" t="t" r="r" b="b"/>
            <a:pathLst>
              <a:path w="55880" h="236219">
                <a:moveTo>
                  <a:pt x="55372" y="0"/>
                </a:moveTo>
                <a:lnTo>
                  <a:pt x="0" y="0"/>
                </a:lnTo>
                <a:lnTo>
                  <a:pt x="0" y="8890"/>
                </a:lnTo>
                <a:lnTo>
                  <a:pt x="0" y="226060"/>
                </a:lnTo>
                <a:lnTo>
                  <a:pt x="0" y="236220"/>
                </a:lnTo>
                <a:lnTo>
                  <a:pt x="55372" y="236220"/>
                </a:lnTo>
                <a:lnTo>
                  <a:pt x="55372" y="226060"/>
                </a:lnTo>
                <a:lnTo>
                  <a:pt x="20574" y="226060"/>
                </a:lnTo>
                <a:lnTo>
                  <a:pt x="20574" y="8890"/>
                </a:lnTo>
                <a:lnTo>
                  <a:pt x="55372" y="8890"/>
                </a:lnTo>
                <a:lnTo>
                  <a:pt x="5537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438212" y="2103501"/>
            <a:ext cx="55244" cy="236220"/>
          </a:xfrm>
          <a:custGeom>
            <a:avLst/>
            <a:gdLst/>
            <a:ahLst/>
            <a:cxnLst/>
            <a:rect l="l" t="t" r="r" b="b"/>
            <a:pathLst>
              <a:path w="55244" h="236219">
                <a:moveTo>
                  <a:pt x="55245" y="0"/>
                </a:moveTo>
                <a:lnTo>
                  <a:pt x="0" y="0"/>
                </a:lnTo>
                <a:lnTo>
                  <a:pt x="0" y="10160"/>
                </a:lnTo>
                <a:lnTo>
                  <a:pt x="34671" y="10160"/>
                </a:lnTo>
                <a:lnTo>
                  <a:pt x="34671" y="227330"/>
                </a:lnTo>
                <a:lnTo>
                  <a:pt x="0" y="227330"/>
                </a:lnTo>
                <a:lnTo>
                  <a:pt x="0" y="236220"/>
                </a:lnTo>
                <a:lnTo>
                  <a:pt x="55245" y="236220"/>
                </a:lnTo>
                <a:lnTo>
                  <a:pt x="55245" y="227330"/>
                </a:lnTo>
                <a:lnTo>
                  <a:pt x="55245" y="10160"/>
                </a:lnTo>
                <a:lnTo>
                  <a:pt x="552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630492" y="2103501"/>
            <a:ext cx="55880" cy="236220"/>
          </a:xfrm>
          <a:custGeom>
            <a:avLst/>
            <a:gdLst/>
            <a:ahLst/>
            <a:cxnLst/>
            <a:rect l="l" t="t" r="r" b="b"/>
            <a:pathLst>
              <a:path w="55880" h="236219">
                <a:moveTo>
                  <a:pt x="55372" y="0"/>
                </a:moveTo>
                <a:lnTo>
                  <a:pt x="0" y="0"/>
                </a:lnTo>
                <a:lnTo>
                  <a:pt x="0" y="10160"/>
                </a:lnTo>
                <a:lnTo>
                  <a:pt x="0" y="227330"/>
                </a:lnTo>
                <a:lnTo>
                  <a:pt x="0" y="236220"/>
                </a:lnTo>
                <a:lnTo>
                  <a:pt x="55372" y="236220"/>
                </a:lnTo>
                <a:lnTo>
                  <a:pt x="55372" y="227330"/>
                </a:lnTo>
                <a:lnTo>
                  <a:pt x="20574" y="227330"/>
                </a:lnTo>
                <a:lnTo>
                  <a:pt x="20574" y="10160"/>
                </a:lnTo>
                <a:lnTo>
                  <a:pt x="55372" y="10160"/>
                </a:lnTo>
                <a:lnTo>
                  <a:pt x="5537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226626" y="2103501"/>
            <a:ext cx="55244" cy="236220"/>
          </a:xfrm>
          <a:custGeom>
            <a:avLst/>
            <a:gdLst/>
            <a:ahLst/>
            <a:cxnLst/>
            <a:rect l="l" t="t" r="r" b="b"/>
            <a:pathLst>
              <a:path w="55244" h="236219">
                <a:moveTo>
                  <a:pt x="55245" y="0"/>
                </a:moveTo>
                <a:lnTo>
                  <a:pt x="0" y="0"/>
                </a:lnTo>
                <a:lnTo>
                  <a:pt x="0" y="10160"/>
                </a:lnTo>
                <a:lnTo>
                  <a:pt x="34671" y="10160"/>
                </a:lnTo>
                <a:lnTo>
                  <a:pt x="34671" y="227330"/>
                </a:lnTo>
                <a:lnTo>
                  <a:pt x="0" y="227330"/>
                </a:lnTo>
                <a:lnTo>
                  <a:pt x="0" y="236220"/>
                </a:lnTo>
                <a:lnTo>
                  <a:pt x="55245" y="236220"/>
                </a:lnTo>
                <a:lnTo>
                  <a:pt x="55245" y="227330"/>
                </a:lnTo>
                <a:lnTo>
                  <a:pt x="55245" y="10160"/>
                </a:lnTo>
                <a:lnTo>
                  <a:pt x="552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963230" y="2103501"/>
            <a:ext cx="55880" cy="236220"/>
          </a:xfrm>
          <a:custGeom>
            <a:avLst/>
            <a:gdLst/>
            <a:ahLst/>
            <a:cxnLst/>
            <a:rect l="l" t="t" r="r" b="b"/>
            <a:pathLst>
              <a:path w="55880" h="236219">
                <a:moveTo>
                  <a:pt x="55372" y="0"/>
                </a:moveTo>
                <a:lnTo>
                  <a:pt x="0" y="0"/>
                </a:lnTo>
                <a:lnTo>
                  <a:pt x="0" y="10160"/>
                </a:lnTo>
                <a:lnTo>
                  <a:pt x="0" y="227330"/>
                </a:lnTo>
                <a:lnTo>
                  <a:pt x="0" y="236220"/>
                </a:lnTo>
                <a:lnTo>
                  <a:pt x="55372" y="236220"/>
                </a:lnTo>
                <a:lnTo>
                  <a:pt x="55372" y="227330"/>
                </a:lnTo>
                <a:lnTo>
                  <a:pt x="20574" y="227330"/>
                </a:lnTo>
                <a:lnTo>
                  <a:pt x="20574" y="10160"/>
                </a:lnTo>
                <a:lnTo>
                  <a:pt x="55372" y="10160"/>
                </a:lnTo>
                <a:lnTo>
                  <a:pt x="5537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893888" y="2469261"/>
            <a:ext cx="55244" cy="236220"/>
          </a:xfrm>
          <a:custGeom>
            <a:avLst/>
            <a:gdLst/>
            <a:ahLst/>
            <a:cxnLst/>
            <a:rect l="l" t="t" r="r" b="b"/>
            <a:pathLst>
              <a:path w="55244" h="236219">
                <a:moveTo>
                  <a:pt x="55245" y="0"/>
                </a:moveTo>
                <a:lnTo>
                  <a:pt x="0" y="0"/>
                </a:lnTo>
                <a:lnTo>
                  <a:pt x="0" y="8890"/>
                </a:lnTo>
                <a:lnTo>
                  <a:pt x="34671" y="8890"/>
                </a:lnTo>
                <a:lnTo>
                  <a:pt x="34671" y="226060"/>
                </a:lnTo>
                <a:lnTo>
                  <a:pt x="0" y="226060"/>
                </a:lnTo>
                <a:lnTo>
                  <a:pt x="0" y="236220"/>
                </a:lnTo>
                <a:lnTo>
                  <a:pt x="55245" y="236220"/>
                </a:lnTo>
                <a:lnTo>
                  <a:pt x="55245" y="226060"/>
                </a:lnTo>
                <a:lnTo>
                  <a:pt x="55245" y="8890"/>
                </a:lnTo>
                <a:lnTo>
                  <a:pt x="552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630492" y="2469261"/>
            <a:ext cx="55880" cy="236220"/>
          </a:xfrm>
          <a:custGeom>
            <a:avLst/>
            <a:gdLst/>
            <a:ahLst/>
            <a:cxnLst/>
            <a:rect l="l" t="t" r="r" b="b"/>
            <a:pathLst>
              <a:path w="55880" h="236219">
                <a:moveTo>
                  <a:pt x="55372" y="0"/>
                </a:moveTo>
                <a:lnTo>
                  <a:pt x="0" y="0"/>
                </a:lnTo>
                <a:lnTo>
                  <a:pt x="0" y="8890"/>
                </a:lnTo>
                <a:lnTo>
                  <a:pt x="0" y="226060"/>
                </a:lnTo>
                <a:lnTo>
                  <a:pt x="0" y="236220"/>
                </a:lnTo>
                <a:lnTo>
                  <a:pt x="55372" y="236220"/>
                </a:lnTo>
                <a:lnTo>
                  <a:pt x="55372" y="226060"/>
                </a:lnTo>
                <a:lnTo>
                  <a:pt x="20574" y="226060"/>
                </a:lnTo>
                <a:lnTo>
                  <a:pt x="20574" y="8890"/>
                </a:lnTo>
                <a:lnTo>
                  <a:pt x="55372" y="8890"/>
                </a:lnTo>
                <a:lnTo>
                  <a:pt x="5537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713044" y="1015065"/>
            <a:ext cx="4557395" cy="1707514"/>
          </a:xfrm>
          <a:prstGeom prst="rect">
            <a:avLst/>
          </a:prstGeom>
        </p:spPr>
        <p:txBody>
          <a:bodyPr vert="horz" wrap="square" lIns="0" tIns="140335" rIns="0" bIns="0" rtlCol="0">
            <a:spAutoFit/>
          </a:bodyPr>
          <a:lstStyle/>
          <a:p>
            <a:pPr marL="381000" indent="-342900">
              <a:lnSpc>
                <a:spcPct val="100000"/>
              </a:lnSpc>
              <a:spcBef>
                <a:spcPts val="1105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80365" algn="l"/>
                <a:tab pos="381000" algn="l"/>
              </a:tabLst>
            </a:pPr>
            <a:r>
              <a:rPr sz="2800">
                <a:latin typeface="Cambria Math"/>
                <a:cs typeface="Cambria Math"/>
              </a:rPr>
              <a:t>𝒙</a:t>
            </a:r>
            <a:r>
              <a:rPr sz="3075" baseline="-14905">
                <a:latin typeface="Cambria Math"/>
                <a:cs typeface="Cambria Math"/>
              </a:rPr>
              <a:t>𝒊</a:t>
            </a:r>
            <a:r>
              <a:rPr sz="3075" spc="652" baseline="-14905">
                <a:latin typeface="Cambria Math"/>
                <a:cs typeface="Cambria Math"/>
              </a:rPr>
              <a:t> </a:t>
            </a:r>
            <a:r>
              <a:rPr sz="2800">
                <a:latin typeface="Cambria Math"/>
                <a:cs typeface="Cambria Math"/>
              </a:rPr>
              <a:t>=</a:t>
            </a:r>
            <a:r>
              <a:rPr sz="2800" spc="140">
                <a:latin typeface="Cambria Math"/>
                <a:cs typeface="Cambria Math"/>
              </a:rPr>
              <a:t> </a:t>
            </a:r>
            <a:r>
              <a:rPr sz="2800" spc="-25">
                <a:latin typeface="Cambria Math"/>
                <a:cs typeface="Cambria Math"/>
              </a:rPr>
              <a:t>𝒚</a:t>
            </a:r>
            <a:r>
              <a:rPr sz="3075" spc="-37" baseline="-14905">
                <a:latin typeface="Cambria Math"/>
                <a:cs typeface="Cambria Math"/>
              </a:rPr>
              <a:t>𝒋</a:t>
            </a:r>
            <a:endParaRPr sz="3075" baseline="-14905">
              <a:latin typeface="Cambria Math"/>
              <a:cs typeface="Cambria Math"/>
            </a:endParaRPr>
          </a:p>
          <a:p>
            <a:pPr marL="729615" lvl="1" indent="-347980">
              <a:lnSpc>
                <a:spcPct val="100000"/>
              </a:lnSpc>
              <a:spcBef>
                <a:spcPts val="720"/>
              </a:spcBef>
              <a:buClr>
                <a:srgbClr val="DAB6FB"/>
              </a:buClr>
              <a:buSzPct val="70000"/>
              <a:buFont typeface="Wingdings"/>
              <a:buChar char=""/>
              <a:tabLst>
                <a:tab pos="729615" algn="l"/>
                <a:tab pos="730250" algn="l"/>
              </a:tabLst>
            </a:pPr>
            <a:r>
              <a:rPr sz="2000">
                <a:latin typeface="Cambria Math"/>
                <a:cs typeface="Cambria Math"/>
              </a:rPr>
              <a:t>𝑪</a:t>
            </a:r>
            <a:r>
              <a:rPr sz="2000" spc="245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𝒊</a:t>
            </a:r>
            <a:r>
              <a:rPr sz="2000" spc="-5">
                <a:latin typeface="Cambria Math"/>
                <a:cs typeface="Cambria Math"/>
              </a:rPr>
              <a:t> − </a:t>
            </a:r>
            <a:r>
              <a:rPr sz="2000" spc="-10">
                <a:latin typeface="Cambria Math"/>
                <a:cs typeface="Cambria Math"/>
              </a:rPr>
              <a:t>𝟏,</a:t>
            </a:r>
            <a:r>
              <a:rPr sz="2000" spc="-105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𝒋</a:t>
            </a:r>
            <a:r>
              <a:rPr sz="2000" spc="245">
                <a:latin typeface="Cambria Math"/>
                <a:cs typeface="Cambria Math"/>
              </a:rPr>
              <a:t> </a:t>
            </a:r>
            <a:r>
              <a:rPr sz="2000" spc="-20">
                <a:latin typeface="PMingLiU"/>
                <a:cs typeface="PMingLiU"/>
              </a:rPr>
              <a:t>比</a:t>
            </a:r>
            <a:r>
              <a:rPr sz="2000">
                <a:latin typeface="Cambria Math"/>
                <a:cs typeface="Cambria Math"/>
              </a:rPr>
              <a:t>𝑪</a:t>
            </a:r>
            <a:r>
              <a:rPr sz="2000" spc="250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𝒊</a:t>
            </a:r>
            <a:r>
              <a:rPr sz="2000" spc="-5">
                <a:latin typeface="Cambria Math"/>
                <a:cs typeface="Cambria Math"/>
              </a:rPr>
              <a:t> − </a:t>
            </a:r>
            <a:r>
              <a:rPr sz="2000" spc="-10">
                <a:latin typeface="Cambria Math"/>
                <a:cs typeface="Cambria Math"/>
              </a:rPr>
              <a:t>𝟏,</a:t>
            </a:r>
            <a:r>
              <a:rPr sz="2000" spc="-110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𝒋 − 𝟏</a:t>
            </a:r>
            <a:r>
              <a:rPr sz="2000" spc="254">
                <a:latin typeface="Cambria Math"/>
                <a:cs typeface="Cambria Math"/>
              </a:rPr>
              <a:t> </a:t>
            </a:r>
            <a:r>
              <a:rPr sz="2000" spc="-15">
                <a:latin typeface="PMingLiU"/>
                <a:cs typeface="PMingLiU"/>
              </a:rPr>
              <a:t>至多大</a:t>
            </a:r>
            <a:r>
              <a:rPr sz="2000" spc="-50">
                <a:latin typeface="Cambria Math"/>
                <a:cs typeface="Cambria Math"/>
              </a:rPr>
              <a:t>𝟏</a:t>
            </a:r>
            <a:endParaRPr sz="2000">
              <a:latin typeface="Cambria Math"/>
              <a:cs typeface="Cambria Math"/>
            </a:endParaRPr>
          </a:p>
          <a:p>
            <a:pPr marL="729615" lvl="1" indent="-347980">
              <a:lnSpc>
                <a:spcPct val="100000"/>
              </a:lnSpc>
              <a:spcBef>
                <a:spcPts val="484"/>
              </a:spcBef>
              <a:buClr>
                <a:srgbClr val="DAB6FB"/>
              </a:buClr>
              <a:buSzPct val="70000"/>
              <a:buFont typeface="Wingdings"/>
              <a:buChar char=""/>
              <a:tabLst>
                <a:tab pos="729615" algn="l"/>
                <a:tab pos="730250" algn="l"/>
              </a:tabLst>
            </a:pPr>
            <a:r>
              <a:rPr sz="2000">
                <a:latin typeface="Cambria Math"/>
                <a:cs typeface="Cambria Math"/>
              </a:rPr>
              <a:t>𝑪</a:t>
            </a:r>
            <a:r>
              <a:rPr sz="2000" spc="245">
                <a:latin typeface="Cambria Math"/>
                <a:cs typeface="Cambria Math"/>
              </a:rPr>
              <a:t> </a:t>
            </a:r>
            <a:r>
              <a:rPr sz="2000" spc="-10">
                <a:latin typeface="Cambria Math"/>
                <a:cs typeface="Cambria Math"/>
              </a:rPr>
              <a:t>𝒊</a:t>
            </a:r>
            <a:r>
              <a:rPr sz="2000" spc="-60">
                <a:latin typeface="Cambria Math"/>
                <a:cs typeface="Cambria Math"/>
              </a:rPr>
              <a:t>, </a:t>
            </a:r>
            <a:r>
              <a:rPr sz="2000">
                <a:latin typeface="Cambria Math"/>
                <a:cs typeface="Cambria Math"/>
              </a:rPr>
              <a:t>𝒋</a:t>
            </a:r>
            <a:r>
              <a:rPr sz="2000" spc="-5">
                <a:latin typeface="Cambria Math"/>
                <a:cs typeface="Cambria Math"/>
              </a:rPr>
              <a:t> − </a:t>
            </a:r>
            <a:r>
              <a:rPr sz="2000">
                <a:latin typeface="Cambria Math"/>
                <a:cs typeface="Cambria Math"/>
              </a:rPr>
              <a:t>𝟏</a:t>
            </a:r>
            <a:r>
              <a:rPr sz="2000" spc="250">
                <a:latin typeface="Cambria Math"/>
                <a:cs typeface="Cambria Math"/>
              </a:rPr>
              <a:t> </a:t>
            </a:r>
            <a:r>
              <a:rPr sz="2000" spc="-20">
                <a:latin typeface="PMingLiU"/>
                <a:cs typeface="PMingLiU"/>
              </a:rPr>
              <a:t>比</a:t>
            </a:r>
            <a:r>
              <a:rPr sz="2000">
                <a:latin typeface="Cambria Math"/>
                <a:cs typeface="Cambria Math"/>
              </a:rPr>
              <a:t>𝑪</a:t>
            </a:r>
            <a:r>
              <a:rPr sz="2000" spc="254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𝒊</a:t>
            </a:r>
            <a:r>
              <a:rPr sz="2000" spc="-5">
                <a:latin typeface="Cambria Math"/>
                <a:cs typeface="Cambria Math"/>
              </a:rPr>
              <a:t> − </a:t>
            </a:r>
            <a:r>
              <a:rPr sz="2000" spc="-10">
                <a:latin typeface="Cambria Math"/>
                <a:cs typeface="Cambria Math"/>
              </a:rPr>
              <a:t>𝟏,</a:t>
            </a:r>
            <a:r>
              <a:rPr sz="2000" spc="-110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𝒋 − 𝟏</a:t>
            </a:r>
            <a:r>
              <a:rPr sz="2000" spc="254">
                <a:latin typeface="Cambria Math"/>
                <a:cs typeface="Cambria Math"/>
              </a:rPr>
              <a:t> </a:t>
            </a:r>
            <a:r>
              <a:rPr sz="2000" spc="-15">
                <a:latin typeface="PMingLiU"/>
                <a:cs typeface="PMingLiU"/>
              </a:rPr>
              <a:t>至多大</a:t>
            </a:r>
            <a:r>
              <a:rPr sz="2000" spc="-50">
                <a:latin typeface="Cambria Math"/>
                <a:cs typeface="Cambria Math"/>
              </a:rPr>
              <a:t>𝟏</a:t>
            </a:r>
            <a:endParaRPr sz="2000">
              <a:latin typeface="Cambria Math"/>
              <a:cs typeface="Cambria Math"/>
            </a:endParaRPr>
          </a:p>
          <a:p>
            <a:pPr marL="729615" lvl="1" indent="-347980">
              <a:lnSpc>
                <a:spcPct val="100000"/>
              </a:lnSpc>
              <a:spcBef>
                <a:spcPts val="475"/>
              </a:spcBef>
              <a:buClr>
                <a:srgbClr val="DAB6FB"/>
              </a:buClr>
              <a:buSzPct val="70000"/>
              <a:buFont typeface="Wingdings"/>
              <a:buChar char=""/>
              <a:tabLst>
                <a:tab pos="729615" algn="l"/>
                <a:tab pos="730250" algn="l"/>
                <a:tab pos="2321560" algn="l"/>
              </a:tabLst>
            </a:pPr>
            <a:r>
              <a:rPr sz="2000">
                <a:latin typeface="Cambria Math"/>
                <a:cs typeface="Cambria Math"/>
              </a:rPr>
              <a:t>𝑪</a:t>
            </a:r>
            <a:r>
              <a:rPr sz="2000" spc="240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𝒊</a:t>
            </a:r>
            <a:r>
              <a:rPr sz="2000" spc="-10">
                <a:latin typeface="Cambria Math"/>
                <a:cs typeface="Cambria Math"/>
              </a:rPr>
              <a:t> − 𝟏,</a:t>
            </a:r>
            <a:r>
              <a:rPr sz="2000" spc="-105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𝒋</a:t>
            </a:r>
            <a:r>
              <a:rPr sz="2000" spc="-5">
                <a:latin typeface="Cambria Math"/>
                <a:cs typeface="Cambria Math"/>
              </a:rPr>
              <a:t> − </a:t>
            </a:r>
            <a:r>
              <a:rPr sz="2000" spc="-50">
                <a:latin typeface="Cambria Math"/>
                <a:cs typeface="Cambria Math"/>
              </a:rPr>
              <a:t>𝟏</a:t>
            </a:r>
            <a:r>
              <a:rPr sz="2000">
                <a:latin typeface="Cambria Math"/>
                <a:cs typeface="Cambria Math"/>
              </a:rPr>
              <a:t>	</a:t>
            </a:r>
            <a:r>
              <a:rPr sz="2000" spc="5">
                <a:latin typeface="Cambria Math"/>
                <a:cs typeface="Cambria Math"/>
              </a:rPr>
              <a:t>+ </a:t>
            </a:r>
            <a:r>
              <a:rPr sz="2000" spc="-25">
                <a:latin typeface="Cambria Math"/>
                <a:cs typeface="Cambria Math"/>
              </a:rPr>
              <a:t>𝟏</a:t>
            </a:r>
            <a:r>
              <a:rPr sz="2000" spc="-25">
                <a:latin typeface="PMingLiU"/>
                <a:cs typeface="PMingLiU"/>
              </a:rPr>
              <a:t>，</a:t>
            </a:r>
            <a:r>
              <a:rPr sz="2000" spc="-20">
                <a:latin typeface="PMingLiU"/>
                <a:cs typeface="PMingLiU"/>
              </a:rPr>
              <a:t>另外两个</a:t>
            </a:r>
            <a:r>
              <a:rPr sz="2000" spc="-25">
                <a:latin typeface="Cambria Math"/>
                <a:cs typeface="Cambria Math"/>
              </a:rPr>
              <a:t>+𝟎</a:t>
            </a:r>
            <a:endParaRPr sz="2000">
              <a:latin typeface="Cambria Math"/>
              <a:cs typeface="Cambria Math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9670160" y="1018413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9899650" y="1314449"/>
            <a:ext cx="1397000" cy="3003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20">
                <a:solidFill>
                  <a:srgbClr val="FFFFFF"/>
                </a:solidFill>
                <a:latin typeface="PMingLiU"/>
                <a:cs typeface="PMingLiU"/>
              </a:rPr>
              <a:t>问题结构分析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10378440" y="2052827"/>
            <a:ext cx="439420" cy="367030"/>
          </a:xfrm>
          <a:custGeom>
            <a:avLst/>
            <a:gdLst/>
            <a:ahLst/>
            <a:cxnLst/>
            <a:rect l="l" t="t" r="r" b="b"/>
            <a:pathLst>
              <a:path w="439420" h="367030">
                <a:moveTo>
                  <a:pt x="351154" y="0"/>
                </a:moveTo>
                <a:lnTo>
                  <a:pt x="87756" y="0"/>
                </a:lnTo>
                <a:lnTo>
                  <a:pt x="87756" y="183261"/>
                </a:lnTo>
                <a:lnTo>
                  <a:pt x="0" y="183261"/>
                </a:lnTo>
                <a:lnTo>
                  <a:pt x="219455" y="366522"/>
                </a:lnTo>
                <a:lnTo>
                  <a:pt x="438911" y="183261"/>
                </a:lnTo>
                <a:lnTo>
                  <a:pt x="351154" y="183261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9670160" y="2480691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83C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 txBox="1"/>
          <p:nvPr/>
        </p:nvSpPr>
        <p:spPr>
          <a:xfrm>
            <a:off x="9899650" y="2776982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递推关系建立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10378440" y="3515105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9"/>
                </a:lnTo>
                <a:lnTo>
                  <a:pt x="0" y="182499"/>
                </a:lnTo>
                <a:lnTo>
                  <a:pt x="219455" y="364998"/>
                </a:lnTo>
                <a:lnTo>
                  <a:pt x="438911" y="182499"/>
                </a:lnTo>
                <a:lnTo>
                  <a:pt x="351154" y="182499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9670160" y="3941445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8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8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9899650" y="4237735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自底向上计算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10378440" y="4975859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8"/>
                </a:lnTo>
                <a:lnTo>
                  <a:pt x="0" y="182498"/>
                </a:lnTo>
                <a:lnTo>
                  <a:pt x="219455" y="364997"/>
                </a:lnTo>
                <a:lnTo>
                  <a:pt x="438911" y="182498"/>
                </a:lnTo>
                <a:lnTo>
                  <a:pt x="351154" y="182498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9670160" y="5402198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52"/>
                </a:lnTo>
                <a:lnTo>
                  <a:pt x="7647" y="914358"/>
                </a:lnTo>
                <a:lnTo>
                  <a:pt x="28511" y="945313"/>
                </a:lnTo>
                <a:lnTo>
                  <a:pt x="59471" y="966183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3"/>
                </a:lnTo>
                <a:lnTo>
                  <a:pt x="1827720" y="945313"/>
                </a:lnTo>
                <a:lnTo>
                  <a:pt x="1848584" y="914358"/>
                </a:lnTo>
                <a:lnTo>
                  <a:pt x="1856232" y="876452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 txBox="1"/>
          <p:nvPr/>
        </p:nvSpPr>
        <p:spPr>
          <a:xfrm>
            <a:off x="9899650" y="5698744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最优方案追踪</a:t>
            </a:r>
            <a:endParaRPr sz="1800">
              <a:latin typeface="PMingLiU"/>
              <a:cs typeface="PMingLiU"/>
            </a:endParaRPr>
          </a:p>
        </p:txBody>
      </p:sp>
      <p:graphicFrame>
        <p:nvGraphicFramePr>
          <p:cNvPr id="25" name="object 25"/>
          <p:cNvGraphicFramePr>
            <a:graphicFrameLocks noGrp="1"/>
          </p:cNvGraphicFramePr>
          <p:nvPr/>
        </p:nvGraphicFramePr>
        <p:xfrm>
          <a:off x="5935471" y="2277364"/>
          <a:ext cx="3350259" cy="514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4984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18745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6520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  <a:spcBef>
                          <a:spcPts val="1035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𝒋−𝟏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3144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7E7E7E"/>
                      </a:solidFill>
                      <a:prstDash val="lgDash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2875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2000" spc="-25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80010" marB="0">
                    <a:lnL w="12700">
                      <a:solidFill>
                        <a:srgbClr val="7E7E7E"/>
                      </a:solidFill>
                      <a:prstDash val="lgDash"/>
                    </a:lnL>
                    <a:lnR w="12700">
                      <a:solidFill>
                        <a:srgbClr val="7E7E7E"/>
                      </a:solidFill>
                      <a:prstDash val="lgDash"/>
                    </a:lnR>
                    <a:lnT w="12700">
                      <a:solidFill>
                        <a:srgbClr val="7E7E7E"/>
                      </a:solidFill>
                      <a:prstDash val="solid"/>
                    </a:lnT>
                    <a:lnB w="12700">
                      <a:solidFill>
                        <a:srgbClr val="7E7E7E"/>
                      </a:solidFill>
                      <a:prstDash val="lgDash"/>
                    </a:lnB>
                    <a:solidFill>
                      <a:srgbClr val="BEBEB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6" name="object 26"/>
          <p:cNvGraphicFramePr>
            <a:graphicFrameLocks noGrp="1"/>
          </p:cNvGraphicFramePr>
          <p:nvPr/>
        </p:nvGraphicFramePr>
        <p:xfrm>
          <a:off x="5935471" y="5331205"/>
          <a:ext cx="3350259" cy="514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4984">
                <a:tc>
                  <a:txBody>
                    <a:bodyPr/>
                    <a:lstStyle/>
                    <a:p>
                      <a:pPr marL="14160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192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545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𝒊−𝟏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𝒊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7" name="object 27"/>
          <p:cNvSpPr/>
          <p:nvPr/>
        </p:nvSpPr>
        <p:spPr>
          <a:xfrm>
            <a:off x="5050535" y="1514094"/>
            <a:ext cx="626745" cy="5034915"/>
          </a:xfrm>
          <a:custGeom>
            <a:avLst/>
            <a:gdLst/>
            <a:ahLst/>
            <a:cxnLst/>
            <a:rect l="l" t="t" r="r" b="b"/>
            <a:pathLst>
              <a:path w="626745" h="5034915">
                <a:moveTo>
                  <a:pt x="626363" y="5034533"/>
                </a:moveTo>
                <a:lnTo>
                  <a:pt x="554551" y="5033155"/>
                </a:lnTo>
                <a:lnTo>
                  <a:pt x="488630" y="5029228"/>
                </a:lnTo>
                <a:lnTo>
                  <a:pt x="430481" y="5023067"/>
                </a:lnTo>
                <a:lnTo>
                  <a:pt x="381981" y="5014984"/>
                </a:lnTo>
                <a:lnTo>
                  <a:pt x="345012" y="5005292"/>
                </a:lnTo>
                <a:lnTo>
                  <a:pt x="313181" y="4982336"/>
                </a:lnTo>
                <a:lnTo>
                  <a:pt x="313181" y="2569463"/>
                </a:lnTo>
                <a:lnTo>
                  <a:pt x="304911" y="2557495"/>
                </a:lnTo>
                <a:lnTo>
                  <a:pt x="244382" y="2536816"/>
                </a:lnTo>
                <a:lnTo>
                  <a:pt x="195882" y="2528733"/>
                </a:lnTo>
                <a:lnTo>
                  <a:pt x="137733" y="2522572"/>
                </a:lnTo>
                <a:lnTo>
                  <a:pt x="71812" y="2518645"/>
                </a:lnTo>
                <a:lnTo>
                  <a:pt x="0" y="2517266"/>
                </a:lnTo>
                <a:lnTo>
                  <a:pt x="71812" y="2515888"/>
                </a:lnTo>
                <a:lnTo>
                  <a:pt x="137733" y="2511961"/>
                </a:lnTo>
                <a:lnTo>
                  <a:pt x="195882" y="2505800"/>
                </a:lnTo>
                <a:lnTo>
                  <a:pt x="244382" y="2497717"/>
                </a:lnTo>
                <a:lnTo>
                  <a:pt x="281351" y="2488025"/>
                </a:lnTo>
                <a:lnTo>
                  <a:pt x="313181" y="2465069"/>
                </a:lnTo>
                <a:lnTo>
                  <a:pt x="313181" y="52196"/>
                </a:lnTo>
                <a:lnTo>
                  <a:pt x="321452" y="40228"/>
                </a:lnTo>
                <a:lnTo>
                  <a:pt x="381981" y="19549"/>
                </a:lnTo>
                <a:lnTo>
                  <a:pt x="430481" y="11466"/>
                </a:lnTo>
                <a:lnTo>
                  <a:pt x="488630" y="5305"/>
                </a:lnTo>
                <a:lnTo>
                  <a:pt x="554551" y="1378"/>
                </a:lnTo>
                <a:lnTo>
                  <a:pt x="626363" y="0"/>
                </a:lnTo>
              </a:path>
            </a:pathLst>
          </a:custGeom>
          <a:ln w="285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28" name="object 28"/>
          <p:cNvGraphicFramePr>
            <a:graphicFrameLocks noGrp="1"/>
          </p:cNvGraphicFramePr>
          <p:nvPr/>
        </p:nvGraphicFramePr>
        <p:xfrm>
          <a:off x="727646" y="3418585"/>
          <a:ext cx="3350259" cy="514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4984"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545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𝒊−𝟏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𝒊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9" name="object 29"/>
          <p:cNvGraphicFramePr>
            <a:graphicFrameLocks noGrp="1"/>
          </p:cNvGraphicFramePr>
          <p:nvPr/>
        </p:nvGraphicFramePr>
        <p:xfrm>
          <a:off x="727646" y="4015613"/>
          <a:ext cx="3350259" cy="514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4984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1874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652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">
                        <a:lnSpc>
                          <a:spcPct val="100000"/>
                        </a:lnSpc>
                        <a:spcBef>
                          <a:spcPts val="1035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𝒋−𝟏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3144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𝒋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7937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0" name="object 30"/>
          <p:cNvSpPr txBox="1"/>
          <p:nvPr/>
        </p:nvSpPr>
        <p:spPr>
          <a:xfrm>
            <a:off x="842263" y="2987040"/>
            <a:ext cx="7740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spc="-10">
                <a:latin typeface="Cambria Math"/>
                <a:cs typeface="Cambria Math"/>
              </a:rPr>
              <a:t>𝑪[𝒊,</a:t>
            </a:r>
            <a:r>
              <a:rPr sz="2400" spc="-11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𝒋]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4348479" y="3553205"/>
            <a:ext cx="730250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800" spc="-25">
                <a:latin typeface="Cambria Math"/>
                <a:cs typeface="Cambria Math"/>
              </a:rPr>
              <a:t>𝐦𝐚𝐱</a:t>
            </a:r>
            <a:endParaRPr sz="2800">
              <a:latin typeface="Cambria Math"/>
              <a:cs typeface="Cambria Math"/>
            </a:endParaRPr>
          </a:p>
        </p:txBody>
      </p:sp>
      <p:graphicFrame>
        <p:nvGraphicFramePr>
          <p:cNvPr id="32" name="object 32"/>
          <p:cNvGraphicFramePr>
            <a:graphicFrameLocks noGrp="1"/>
          </p:cNvGraphicFramePr>
          <p:nvPr/>
        </p:nvGraphicFramePr>
        <p:xfrm>
          <a:off x="5935471" y="1652777"/>
          <a:ext cx="3350259" cy="514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4984">
                <a:tc>
                  <a:txBody>
                    <a:bodyPr/>
                    <a:lstStyle/>
                    <a:p>
                      <a:pPr marL="141605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1920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545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𝒊−𝟏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7E7E7E"/>
                      </a:solidFill>
                      <a:prstDash val="lgDash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775"/>
                        </a:spcBef>
                      </a:pPr>
                      <a:r>
                        <a:rPr sz="2000" spc="-25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8425" marB="0">
                    <a:lnL w="12700">
                      <a:solidFill>
                        <a:srgbClr val="7E7E7E"/>
                      </a:solidFill>
                      <a:prstDash val="lgDash"/>
                    </a:lnL>
                    <a:lnR w="12700">
                      <a:solidFill>
                        <a:srgbClr val="7E7E7E"/>
                      </a:solidFill>
                      <a:prstDash val="lgDash"/>
                    </a:lnR>
                    <a:lnT w="12700">
                      <a:solidFill>
                        <a:srgbClr val="7E7E7E"/>
                      </a:solidFill>
                      <a:prstDash val="solid"/>
                    </a:lnT>
                    <a:lnB w="12700">
                      <a:solidFill>
                        <a:srgbClr val="7E7E7E"/>
                      </a:solidFill>
                      <a:prstDash val="lgDash"/>
                    </a:lnB>
                    <a:solidFill>
                      <a:srgbClr val="BEBEB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3" name="object 33"/>
          <p:cNvGraphicFramePr>
            <a:graphicFrameLocks noGrp="1"/>
          </p:cNvGraphicFramePr>
          <p:nvPr/>
        </p:nvGraphicFramePr>
        <p:xfrm>
          <a:off x="5935471" y="3997959"/>
          <a:ext cx="3350259" cy="514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4984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1874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652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  <a:spcBef>
                          <a:spcPts val="1030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𝒋−𝟏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3081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9065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𝒋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7937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4" name="object 34"/>
          <p:cNvGraphicFramePr>
            <a:graphicFrameLocks noGrp="1"/>
          </p:cNvGraphicFramePr>
          <p:nvPr/>
        </p:nvGraphicFramePr>
        <p:xfrm>
          <a:off x="5935471" y="3393821"/>
          <a:ext cx="3350259" cy="514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4984">
                <a:tc>
                  <a:txBody>
                    <a:bodyPr/>
                    <a:lstStyle/>
                    <a:p>
                      <a:pPr marL="14160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192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545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𝒊−𝟏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7E7E7E"/>
                      </a:solidFill>
                      <a:prstDash val="lgDash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775"/>
                        </a:spcBef>
                      </a:pPr>
                      <a:r>
                        <a:rPr sz="2000" spc="-25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8425" marB="0">
                    <a:lnL w="12700">
                      <a:solidFill>
                        <a:srgbClr val="7E7E7E"/>
                      </a:solidFill>
                      <a:prstDash val="lgDash"/>
                    </a:lnL>
                    <a:lnR w="12700">
                      <a:solidFill>
                        <a:srgbClr val="7E7E7E"/>
                      </a:solidFill>
                      <a:prstDash val="lgDash"/>
                    </a:lnR>
                    <a:lnT w="12700">
                      <a:solidFill>
                        <a:srgbClr val="7E7E7E"/>
                      </a:solidFill>
                      <a:prstDash val="solid"/>
                    </a:lnT>
                    <a:lnB w="12700">
                      <a:solidFill>
                        <a:srgbClr val="7E7E7E"/>
                      </a:solidFill>
                      <a:prstDash val="lgDash"/>
                    </a:lnB>
                    <a:solidFill>
                      <a:srgbClr val="BEBEB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5" name="object 35"/>
          <p:cNvGraphicFramePr>
            <a:graphicFrameLocks noGrp="1"/>
          </p:cNvGraphicFramePr>
          <p:nvPr/>
        </p:nvGraphicFramePr>
        <p:xfrm>
          <a:off x="5935471" y="5943231"/>
          <a:ext cx="3350259" cy="514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4984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1874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652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  <a:spcBef>
                          <a:spcPts val="1035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𝒋−𝟏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3144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7E7E7E"/>
                      </a:solidFill>
                      <a:prstDash val="lgDash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2875">
                        <a:lnSpc>
                          <a:spcPct val="100000"/>
                        </a:lnSpc>
                        <a:spcBef>
                          <a:spcPts val="635"/>
                        </a:spcBef>
                      </a:pPr>
                      <a:r>
                        <a:rPr sz="2000" spc="-25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80645" marB="0">
                    <a:lnL w="12700">
                      <a:solidFill>
                        <a:srgbClr val="7E7E7E"/>
                      </a:solidFill>
                      <a:prstDash val="lgDash"/>
                    </a:lnL>
                    <a:lnR w="12700">
                      <a:solidFill>
                        <a:srgbClr val="7E7E7E"/>
                      </a:solidFill>
                      <a:prstDash val="lgDash"/>
                    </a:lnR>
                    <a:lnT w="12700">
                      <a:solidFill>
                        <a:srgbClr val="7E7E7E"/>
                      </a:solidFill>
                      <a:prstDash val="solid"/>
                    </a:lnT>
                    <a:lnB w="12700">
                      <a:solidFill>
                        <a:srgbClr val="7E7E7E"/>
                      </a:solidFill>
                      <a:prstDash val="lgDash"/>
                    </a:lnB>
                    <a:solidFill>
                      <a:srgbClr val="BEBEB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36" name="object 36"/>
          <p:cNvGrpSpPr/>
          <p:nvPr/>
        </p:nvGrpSpPr>
        <p:grpSpPr>
          <a:xfrm>
            <a:off x="7662418" y="1098041"/>
            <a:ext cx="803910" cy="589915"/>
            <a:chOff x="7662418" y="1098041"/>
            <a:chExt cx="803910" cy="589915"/>
          </a:xfrm>
        </p:grpSpPr>
        <p:sp>
          <p:nvSpPr>
            <p:cNvPr id="37" name="object 37"/>
            <p:cNvSpPr/>
            <p:nvPr/>
          </p:nvSpPr>
          <p:spPr>
            <a:xfrm>
              <a:off x="7780020" y="1117091"/>
              <a:ext cx="666750" cy="551815"/>
            </a:xfrm>
            <a:custGeom>
              <a:avLst/>
              <a:gdLst/>
              <a:ahLst/>
              <a:cxnLst/>
              <a:rect l="l" t="t" r="r" b="b"/>
              <a:pathLst>
                <a:path w="666750" h="551814">
                  <a:moveTo>
                    <a:pt x="0" y="47752"/>
                  </a:moveTo>
                  <a:lnTo>
                    <a:pt x="3764" y="29200"/>
                  </a:lnTo>
                  <a:lnTo>
                    <a:pt x="14017" y="14017"/>
                  </a:lnTo>
                  <a:lnTo>
                    <a:pt x="29200" y="3764"/>
                  </a:lnTo>
                  <a:lnTo>
                    <a:pt x="47751" y="0"/>
                  </a:lnTo>
                  <a:lnTo>
                    <a:pt x="618998" y="0"/>
                  </a:lnTo>
                  <a:lnTo>
                    <a:pt x="637549" y="3764"/>
                  </a:lnTo>
                  <a:lnTo>
                    <a:pt x="652732" y="14017"/>
                  </a:lnTo>
                  <a:lnTo>
                    <a:pt x="662985" y="29200"/>
                  </a:lnTo>
                  <a:lnTo>
                    <a:pt x="666750" y="47752"/>
                  </a:lnTo>
                  <a:lnTo>
                    <a:pt x="666750" y="503936"/>
                  </a:lnTo>
                  <a:lnTo>
                    <a:pt x="662985" y="522487"/>
                  </a:lnTo>
                  <a:lnTo>
                    <a:pt x="652732" y="537670"/>
                  </a:lnTo>
                  <a:lnTo>
                    <a:pt x="637549" y="547923"/>
                  </a:lnTo>
                  <a:lnTo>
                    <a:pt x="618998" y="551688"/>
                  </a:lnTo>
                  <a:lnTo>
                    <a:pt x="47751" y="551688"/>
                  </a:lnTo>
                  <a:lnTo>
                    <a:pt x="29200" y="547923"/>
                  </a:lnTo>
                  <a:lnTo>
                    <a:pt x="14017" y="537670"/>
                  </a:lnTo>
                  <a:lnTo>
                    <a:pt x="3764" y="522487"/>
                  </a:lnTo>
                  <a:lnTo>
                    <a:pt x="0" y="503936"/>
                  </a:lnTo>
                  <a:lnTo>
                    <a:pt x="0" y="47752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7662418" y="1297939"/>
              <a:ext cx="66675" cy="283210"/>
            </a:xfrm>
            <a:custGeom>
              <a:avLst/>
              <a:gdLst/>
              <a:ahLst/>
              <a:cxnLst/>
              <a:rect l="l" t="t" r="r" b="b"/>
              <a:pathLst>
                <a:path w="66675" h="283209">
                  <a:moveTo>
                    <a:pt x="66421" y="0"/>
                  </a:moveTo>
                  <a:lnTo>
                    <a:pt x="0" y="0"/>
                  </a:lnTo>
                  <a:lnTo>
                    <a:pt x="0" y="11430"/>
                  </a:lnTo>
                  <a:lnTo>
                    <a:pt x="41656" y="11430"/>
                  </a:lnTo>
                  <a:lnTo>
                    <a:pt x="41656" y="271780"/>
                  </a:lnTo>
                  <a:lnTo>
                    <a:pt x="0" y="271780"/>
                  </a:lnTo>
                  <a:lnTo>
                    <a:pt x="0" y="283210"/>
                  </a:lnTo>
                  <a:lnTo>
                    <a:pt x="66421" y="283210"/>
                  </a:lnTo>
                  <a:lnTo>
                    <a:pt x="66421" y="271780"/>
                  </a:lnTo>
                  <a:lnTo>
                    <a:pt x="66421" y="11430"/>
                  </a:lnTo>
                  <a:lnTo>
                    <a:pt x="6642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9" name="object 39"/>
          <p:cNvSpPr/>
          <p:nvPr/>
        </p:nvSpPr>
        <p:spPr>
          <a:xfrm>
            <a:off x="6149975" y="129793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09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 txBox="1"/>
          <p:nvPr/>
        </p:nvSpPr>
        <p:spPr>
          <a:xfrm>
            <a:off x="5912358" y="1209040"/>
            <a:ext cx="240919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918970" algn="l"/>
              </a:tabLst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31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𝒊 − </a:t>
            </a:r>
            <a:r>
              <a:rPr sz="2400" spc="-10">
                <a:latin typeface="Cambria Math"/>
                <a:cs typeface="Cambria Math"/>
              </a:rPr>
              <a:t>𝟏,</a:t>
            </a:r>
            <a:r>
              <a:rPr sz="2400" spc="-13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𝒋</a:t>
            </a:r>
            <a:r>
              <a:rPr sz="2400" spc="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−</a:t>
            </a:r>
            <a:r>
              <a:rPr sz="2400" spc="5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𝟏</a:t>
            </a:r>
            <a:r>
              <a:rPr sz="2400">
                <a:latin typeface="Cambria Math"/>
                <a:cs typeface="Cambria Math"/>
              </a:rPr>
              <a:t>	+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𝟏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41" name="object 41"/>
          <p:cNvSpPr/>
          <p:nvPr/>
        </p:nvSpPr>
        <p:spPr>
          <a:xfrm>
            <a:off x="7114540" y="499617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656" y="11430"/>
                </a:lnTo>
                <a:lnTo>
                  <a:pt x="41656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6146927" y="499617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 txBox="1"/>
          <p:nvPr/>
        </p:nvSpPr>
        <p:spPr>
          <a:xfrm>
            <a:off x="5909309" y="4907279"/>
            <a:ext cx="186436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373505" algn="l"/>
              </a:tabLst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305">
                <a:latin typeface="Cambria Math"/>
                <a:cs typeface="Cambria Math"/>
              </a:rPr>
              <a:t> </a:t>
            </a:r>
            <a:r>
              <a:rPr sz="2400" spc="-10">
                <a:latin typeface="Cambria Math"/>
                <a:cs typeface="Cambria Math"/>
              </a:rPr>
              <a:t>𝒊,</a:t>
            </a:r>
            <a:r>
              <a:rPr sz="2400" spc="-14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𝒋</a:t>
            </a:r>
            <a:r>
              <a:rPr sz="2400" spc="1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−</a:t>
            </a:r>
            <a:r>
              <a:rPr sz="2400" spc="5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𝟏</a:t>
            </a:r>
            <a:r>
              <a:rPr sz="2400">
                <a:latin typeface="Cambria Math"/>
                <a:cs typeface="Cambria Math"/>
              </a:rPr>
              <a:t>	+ </a:t>
            </a:r>
            <a:r>
              <a:rPr sz="2400" spc="-50">
                <a:latin typeface="Cambria Math"/>
                <a:cs typeface="Cambria Math"/>
              </a:rPr>
              <a:t>𝟎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44" name="object 44"/>
          <p:cNvSpPr/>
          <p:nvPr/>
        </p:nvSpPr>
        <p:spPr>
          <a:xfrm>
            <a:off x="7114540" y="3073399"/>
            <a:ext cx="66675" cy="284480"/>
          </a:xfrm>
          <a:custGeom>
            <a:avLst/>
            <a:gdLst/>
            <a:ahLst/>
            <a:cxnLst/>
            <a:rect l="l" t="t" r="r" b="b"/>
            <a:pathLst>
              <a:path w="66675" h="284479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656" y="11430"/>
                </a:lnTo>
                <a:lnTo>
                  <a:pt x="41656" y="273050"/>
                </a:lnTo>
                <a:lnTo>
                  <a:pt x="0" y="273050"/>
                </a:lnTo>
                <a:lnTo>
                  <a:pt x="0" y="284480"/>
                </a:lnTo>
                <a:lnTo>
                  <a:pt x="66421" y="284480"/>
                </a:lnTo>
                <a:lnTo>
                  <a:pt x="66421" y="27305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6146927" y="3073399"/>
            <a:ext cx="66675" cy="284480"/>
          </a:xfrm>
          <a:custGeom>
            <a:avLst/>
            <a:gdLst/>
            <a:ahLst/>
            <a:cxnLst/>
            <a:rect l="l" t="t" r="r" b="b"/>
            <a:pathLst>
              <a:path w="66675" h="284479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3050"/>
                </a:lnTo>
                <a:lnTo>
                  <a:pt x="0" y="284480"/>
                </a:lnTo>
                <a:lnTo>
                  <a:pt x="66421" y="284480"/>
                </a:lnTo>
                <a:lnTo>
                  <a:pt x="66421" y="273050"/>
                </a:lnTo>
                <a:lnTo>
                  <a:pt x="24765" y="27305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 txBox="1"/>
          <p:nvPr/>
        </p:nvSpPr>
        <p:spPr>
          <a:xfrm>
            <a:off x="5909309" y="2985261"/>
            <a:ext cx="186436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373505" algn="l"/>
              </a:tabLst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31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𝒊</a:t>
            </a:r>
            <a:r>
              <a:rPr sz="2400" spc="-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−</a:t>
            </a:r>
            <a:r>
              <a:rPr sz="2400" spc="5">
                <a:latin typeface="Cambria Math"/>
                <a:cs typeface="Cambria Math"/>
              </a:rPr>
              <a:t> </a:t>
            </a:r>
            <a:r>
              <a:rPr sz="2400" spc="-10">
                <a:latin typeface="Cambria Math"/>
                <a:cs typeface="Cambria Math"/>
              </a:rPr>
              <a:t>𝟏,</a:t>
            </a:r>
            <a:r>
              <a:rPr sz="2400" spc="-13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𝒋</a:t>
            </a:r>
            <a:r>
              <a:rPr sz="2400">
                <a:latin typeface="Cambria Math"/>
                <a:cs typeface="Cambria Math"/>
              </a:rPr>
              <a:t>	+ </a:t>
            </a:r>
            <a:r>
              <a:rPr sz="2400" spc="-50">
                <a:latin typeface="Cambria Math"/>
                <a:cs typeface="Cambria Math"/>
              </a:rPr>
              <a:t>𝟎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47" name="object 47"/>
          <p:cNvSpPr/>
          <p:nvPr/>
        </p:nvSpPr>
        <p:spPr>
          <a:xfrm>
            <a:off x="7253478" y="2843022"/>
            <a:ext cx="741045" cy="551815"/>
          </a:xfrm>
          <a:custGeom>
            <a:avLst/>
            <a:gdLst/>
            <a:ahLst/>
            <a:cxnLst/>
            <a:rect l="l" t="t" r="r" b="b"/>
            <a:pathLst>
              <a:path w="741045" h="551814">
                <a:moveTo>
                  <a:pt x="0" y="47751"/>
                </a:moveTo>
                <a:lnTo>
                  <a:pt x="3764" y="29200"/>
                </a:lnTo>
                <a:lnTo>
                  <a:pt x="14017" y="14017"/>
                </a:lnTo>
                <a:lnTo>
                  <a:pt x="29200" y="3764"/>
                </a:lnTo>
                <a:lnTo>
                  <a:pt x="47751" y="0"/>
                </a:lnTo>
                <a:lnTo>
                  <a:pt x="692912" y="0"/>
                </a:lnTo>
                <a:lnTo>
                  <a:pt x="711463" y="3764"/>
                </a:lnTo>
                <a:lnTo>
                  <a:pt x="726646" y="14017"/>
                </a:lnTo>
                <a:lnTo>
                  <a:pt x="736899" y="29200"/>
                </a:lnTo>
                <a:lnTo>
                  <a:pt x="740664" y="47751"/>
                </a:lnTo>
                <a:lnTo>
                  <a:pt x="740664" y="503936"/>
                </a:lnTo>
                <a:lnTo>
                  <a:pt x="736899" y="522487"/>
                </a:lnTo>
                <a:lnTo>
                  <a:pt x="726646" y="537670"/>
                </a:lnTo>
                <a:lnTo>
                  <a:pt x="711463" y="547923"/>
                </a:lnTo>
                <a:lnTo>
                  <a:pt x="692912" y="551688"/>
                </a:lnTo>
                <a:lnTo>
                  <a:pt x="47751" y="551688"/>
                </a:lnTo>
                <a:lnTo>
                  <a:pt x="29200" y="547923"/>
                </a:lnTo>
                <a:lnTo>
                  <a:pt x="14017" y="537670"/>
                </a:lnTo>
                <a:lnTo>
                  <a:pt x="3764" y="522487"/>
                </a:lnTo>
                <a:lnTo>
                  <a:pt x="0" y="503936"/>
                </a:lnTo>
                <a:lnTo>
                  <a:pt x="0" y="47751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235190" y="4771644"/>
            <a:ext cx="661035" cy="551180"/>
          </a:xfrm>
          <a:custGeom>
            <a:avLst/>
            <a:gdLst/>
            <a:ahLst/>
            <a:cxnLst/>
            <a:rect l="l" t="t" r="r" b="b"/>
            <a:pathLst>
              <a:path w="661034" h="551179">
                <a:moveTo>
                  <a:pt x="0" y="47751"/>
                </a:moveTo>
                <a:lnTo>
                  <a:pt x="3746" y="29146"/>
                </a:lnTo>
                <a:lnTo>
                  <a:pt x="13969" y="13969"/>
                </a:lnTo>
                <a:lnTo>
                  <a:pt x="29146" y="3746"/>
                </a:lnTo>
                <a:lnTo>
                  <a:pt x="47751" y="0"/>
                </a:lnTo>
                <a:lnTo>
                  <a:pt x="612901" y="0"/>
                </a:lnTo>
                <a:lnTo>
                  <a:pt x="631507" y="3746"/>
                </a:lnTo>
                <a:lnTo>
                  <a:pt x="646683" y="13969"/>
                </a:lnTo>
                <a:lnTo>
                  <a:pt x="656907" y="29146"/>
                </a:lnTo>
                <a:lnTo>
                  <a:pt x="660653" y="47751"/>
                </a:lnTo>
                <a:lnTo>
                  <a:pt x="660653" y="503173"/>
                </a:lnTo>
                <a:lnTo>
                  <a:pt x="656907" y="521779"/>
                </a:lnTo>
                <a:lnTo>
                  <a:pt x="646683" y="536955"/>
                </a:lnTo>
                <a:lnTo>
                  <a:pt x="631507" y="547179"/>
                </a:lnTo>
                <a:lnTo>
                  <a:pt x="612901" y="550925"/>
                </a:lnTo>
                <a:lnTo>
                  <a:pt x="47751" y="550925"/>
                </a:lnTo>
                <a:lnTo>
                  <a:pt x="29146" y="547179"/>
                </a:lnTo>
                <a:lnTo>
                  <a:pt x="13969" y="536955"/>
                </a:lnTo>
                <a:lnTo>
                  <a:pt x="3746" y="521779"/>
                </a:lnTo>
                <a:lnTo>
                  <a:pt x="0" y="503173"/>
                </a:lnTo>
                <a:lnTo>
                  <a:pt x="0" y="47751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">
            <a:extLst>
              <a:ext uri="{FF2B5EF4-FFF2-40B4-BE49-F238E27FC236}">
                <a16:creationId xmlns:a16="http://schemas.microsoft.com/office/drawing/2014/main" id="{65C7E2F8-413E-764E-AB2A-1CE640393C17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89026" y="253163"/>
            <a:ext cx="9691371" cy="56618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6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递推关系建立：分析最优（子）结</a:t>
            </a:r>
            <a:r>
              <a:rPr sz="36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构</a:t>
            </a:r>
            <a:endParaRPr sz="36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427210" y="1700163"/>
            <a:ext cx="55244" cy="236220"/>
          </a:xfrm>
          <a:custGeom>
            <a:avLst/>
            <a:gdLst/>
            <a:ahLst/>
            <a:cxnLst/>
            <a:rect l="l" t="t" r="r" b="b"/>
            <a:pathLst>
              <a:path w="55244" h="236219">
                <a:moveTo>
                  <a:pt x="55245" y="0"/>
                </a:moveTo>
                <a:lnTo>
                  <a:pt x="0" y="0"/>
                </a:lnTo>
                <a:lnTo>
                  <a:pt x="0" y="8890"/>
                </a:lnTo>
                <a:lnTo>
                  <a:pt x="34671" y="8890"/>
                </a:lnTo>
                <a:lnTo>
                  <a:pt x="34671" y="226060"/>
                </a:lnTo>
                <a:lnTo>
                  <a:pt x="0" y="226060"/>
                </a:lnTo>
                <a:lnTo>
                  <a:pt x="0" y="236220"/>
                </a:lnTo>
                <a:lnTo>
                  <a:pt x="55245" y="236220"/>
                </a:lnTo>
                <a:lnTo>
                  <a:pt x="55245" y="226060"/>
                </a:lnTo>
                <a:lnTo>
                  <a:pt x="55245" y="8890"/>
                </a:lnTo>
                <a:lnTo>
                  <a:pt x="552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617966" y="1700163"/>
            <a:ext cx="55880" cy="236220"/>
          </a:xfrm>
          <a:custGeom>
            <a:avLst/>
            <a:gdLst/>
            <a:ahLst/>
            <a:cxnLst/>
            <a:rect l="l" t="t" r="r" b="b"/>
            <a:pathLst>
              <a:path w="55880" h="236219">
                <a:moveTo>
                  <a:pt x="55372" y="0"/>
                </a:moveTo>
                <a:lnTo>
                  <a:pt x="0" y="0"/>
                </a:lnTo>
                <a:lnTo>
                  <a:pt x="0" y="8890"/>
                </a:lnTo>
                <a:lnTo>
                  <a:pt x="0" y="226060"/>
                </a:lnTo>
                <a:lnTo>
                  <a:pt x="0" y="236220"/>
                </a:lnTo>
                <a:lnTo>
                  <a:pt x="55372" y="236220"/>
                </a:lnTo>
                <a:lnTo>
                  <a:pt x="55372" y="226060"/>
                </a:lnTo>
                <a:lnTo>
                  <a:pt x="20574" y="226060"/>
                </a:lnTo>
                <a:lnTo>
                  <a:pt x="20574" y="8890"/>
                </a:lnTo>
                <a:lnTo>
                  <a:pt x="55372" y="8890"/>
                </a:lnTo>
                <a:lnTo>
                  <a:pt x="5537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4214100" y="1700163"/>
            <a:ext cx="55244" cy="236220"/>
          </a:xfrm>
          <a:custGeom>
            <a:avLst/>
            <a:gdLst/>
            <a:ahLst/>
            <a:cxnLst/>
            <a:rect l="l" t="t" r="r" b="b"/>
            <a:pathLst>
              <a:path w="55244" h="236219">
                <a:moveTo>
                  <a:pt x="55245" y="0"/>
                </a:moveTo>
                <a:lnTo>
                  <a:pt x="0" y="0"/>
                </a:lnTo>
                <a:lnTo>
                  <a:pt x="0" y="8890"/>
                </a:lnTo>
                <a:lnTo>
                  <a:pt x="34671" y="8890"/>
                </a:lnTo>
                <a:lnTo>
                  <a:pt x="34671" y="226060"/>
                </a:lnTo>
                <a:lnTo>
                  <a:pt x="0" y="226060"/>
                </a:lnTo>
                <a:lnTo>
                  <a:pt x="0" y="236220"/>
                </a:lnTo>
                <a:lnTo>
                  <a:pt x="55245" y="236220"/>
                </a:lnTo>
                <a:lnTo>
                  <a:pt x="55245" y="226060"/>
                </a:lnTo>
                <a:lnTo>
                  <a:pt x="55245" y="8890"/>
                </a:lnTo>
                <a:lnTo>
                  <a:pt x="552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950704" y="1700163"/>
            <a:ext cx="55880" cy="236220"/>
          </a:xfrm>
          <a:custGeom>
            <a:avLst/>
            <a:gdLst/>
            <a:ahLst/>
            <a:cxnLst/>
            <a:rect l="l" t="t" r="r" b="b"/>
            <a:pathLst>
              <a:path w="55880" h="236219">
                <a:moveTo>
                  <a:pt x="55372" y="0"/>
                </a:moveTo>
                <a:lnTo>
                  <a:pt x="0" y="0"/>
                </a:lnTo>
                <a:lnTo>
                  <a:pt x="0" y="8890"/>
                </a:lnTo>
                <a:lnTo>
                  <a:pt x="0" y="226060"/>
                </a:lnTo>
                <a:lnTo>
                  <a:pt x="0" y="236220"/>
                </a:lnTo>
                <a:lnTo>
                  <a:pt x="55372" y="236220"/>
                </a:lnTo>
                <a:lnTo>
                  <a:pt x="55372" y="226060"/>
                </a:lnTo>
                <a:lnTo>
                  <a:pt x="20574" y="226060"/>
                </a:lnTo>
                <a:lnTo>
                  <a:pt x="20574" y="8890"/>
                </a:lnTo>
                <a:lnTo>
                  <a:pt x="55372" y="8890"/>
                </a:lnTo>
                <a:lnTo>
                  <a:pt x="5537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425686" y="2065923"/>
            <a:ext cx="55244" cy="236220"/>
          </a:xfrm>
          <a:custGeom>
            <a:avLst/>
            <a:gdLst/>
            <a:ahLst/>
            <a:cxnLst/>
            <a:rect l="l" t="t" r="r" b="b"/>
            <a:pathLst>
              <a:path w="55244" h="236219">
                <a:moveTo>
                  <a:pt x="55245" y="0"/>
                </a:moveTo>
                <a:lnTo>
                  <a:pt x="0" y="0"/>
                </a:lnTo>
                <a:lnTo>
                  <a:pt x="0" y="10160"/>
                </a:lnTo>
                <a:lnTo>
                  <a:pt x="34671" y="10160"/>
                </a:lnTo>
                <a:lnTo>
                  <a:pt x="34671" y="227330"/>
                </a:lnTo>
                <a:lnTo>
                  <a:pt x="0" y="227330"/>
                </a:lnTo>
                <a:lnTo>
                  <a:pt x="0" y="236220"/>
                </a:lnTo>
                <a:lnTo>
                  <a:pt x="55245" y="236220"/>
                </a:lnTo>
                <a:lnTo>
                  <a:pt x="55245" y="227330"/>
                </a:lnTo>
                <a:lnTo>
                  <a:pt x="55245" y="10160"/>
                </a:lnTo>
                <a:lnTo>
                  <a:pt x="552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617966" y="2065923"/>
            <a:ext cx="55880" cy="236220"/>
          </a:xfrm>
          <a:custGeom>
            <a:avLst/>
            <a:gdLst/>
            <a:ahLst/>
            <a:cxnLst/>
            <a:rect l="l" t="t" r="r" b="b"/>
            <a:pathLst>
              <a:path w="55880" h="236219">
                <a:moveTo>
                  <a:pt x="55372" y="0"/>
                </a:moveTo>
                <a:lnTo>
                  <a:pt x="0" y="0"/>
                </a:lnTo>
                <a:lnTo>
                  <a:pt x="0" y="10160"/>
                </a:lnTo>
                <a:lnTo>
                  <a:pt x="0" y="227330"/>
                </a:lnTo>
                <a:lnTo>
                  <a:pt x="0" y="236220"/>
                </a:lnTo>
                <a:lnTo>
                  <a:pt x="55372" y="236220"/>
                </a:lnTo>
                <a:lnTo>
                  <a:pt x="55372" y="227330"/>
                </a:lnTo>
                <a:lnTo>
                  <a:pt x="20574" y="227330"/>
                </a:lnTo>
                <a:lnTo>
                  <a:pt x="20574" y="10160"/>
                </a:lnTo>
                <a:lnTo>
                  <a:pt x="55372" y="10160"/>
                </a:lnTo>
                <a:lnTo>
                  <a:pt x="5537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214100" y="2065923"/>
            <a:ext cx="55244" cy="236220"/>
          </a:xfrm>
          <a:custGeom>
            <a:avLst/>
            <a:gdLst/>
            <a:ahLst/>
            <a:cxnLst/>
            <a:rect l="l" t="t" r="r" b="b"/>
            <a:pathLst>
              <a:path w="55244" h="236219">
                <a:moveTo>
                  <a:pt x="55245" y="0"/>
                </a:moveTo>
                <a:lnTo>
                  <a:pt x="0" y="0"/>
                </a:lnTo>
                <a:lnTo>
                  <a:pt x="0" y="10160"/>
                </a:lnTo>
                <a:lnTo>
                  <a:pt x="34671" y="10160"/>
                </a:lnTo>
                <a:lnTo>
                  <a:pt x="34671" y="227330"/>
                </a:lnTo>
                <a:lnTo>
                  <a:pt x="0" y="227330"/>
                </a:lnTo>
                <a:lnTo>
                  <a:pt x="0" y="236220"/>
                </a:lnTo>
                <a:lnTo>
                  <a:pt x="55245" y="236220"/>
                </a:lnTo>
                <a:lnTo>
                  <a:pt x="55245" y="227330"/>
                </a:lnTo>
                <a:lnTo>
                  <a:pt x="55245" y="10160"/>
                </a:lnTo>
                <a:lnTo>
                  <a:pt x="552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950704" y="2065923"/>
            <a:ext cx="55880" cy="236220"/>
          </a:xfrm>
          <a:custGeom>
            <a:avLst/>
            <a:gdLst/>
            <a:ahLst/>
            <a:cxnLst/>
            <a:rect l="l" t="t" r="r" b="b"/>
            <a:pathLst>
              <a:path w="55880" h="236219">
                <a:moveTo>
                  <a:pt x="55372" y="0"/>
                </a:moveTo>
                <a:lnTo>
                  <a:pt x="0" y="0"/>
                </a:lnTo>
                <a:lnTo>
                  <a:pt x="0" y="10160"/>
                </a:lnTo>
                <a:lnTo>
                  <a:pt x="0" y="227330"/>
                </a:lnTo>
                <a:lnTo>
                  <a:pt x="0" y="236220"/>
                </a:lnTo>
                <a:lnTo>
                  <a:pt x="55372" y="236220"/>
                </a:lnTo>
                <a:lnTo>
                  <a:pt x="55372" y="227330"/>
                </a:lnTo>
                <a:lnTo>
                  <a:pt x="20574" y="227330"/>
                </a:lnTo>
                <a:lnTo>
                  <a:pt x="20574" y="10160"/>
                </a:lnTo>
                <a:lnTo>
                  <a:pt x="55372" y="10160"/>
                </a:lnTo>
                <a:lnTo>
                  <a:pt x="5537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881362" y="2431683"/>
            <a:ext cx="55244" cy="236220"/>
          </a:xfrm>
          <a:custGeom>
            <a:avLst/>
            <a:gdLst/>
            <a:ahLst/>
            <a:cxnLst/>
            <a:rect l="l" t="t" r="r" b="b"/>
            <a:pathLst>
              <a:path w="55244" h="236219">
                <a:moveTo>
                  <a:pt x="55245" y="0"/>
                </a:moveTo>
                <a:lnTo>
                  <a:pt x="0" y="0"/>
                </a:lnTo>
                <a:lnTo>
                  <a:pt x="0" y="8890"/>
                </a:lnTo>
                <a:lnTo>
                  <a:pt x="34671" y="8890"/>
                </a:lnTo>
                <a:lnTo>
                  <a:pt x="34671" y="226060"/>
                </a:lnTo>
                <a:lnTo>
                  <a:pt x="0" y="226060"/>
                </a:lnTo>
                <a:lnTo>
                  <a:pt x="0" y="236220"/>
                </a:lnTo>
                <a:lnTo>
                  <a:pt x="55245" y="236220"/>
                </a:lnTo>
                <a:lnTo>
                  <a:pt x="55245" y="226060"/>
                </a:lnTo>
                <a:lnTo>
                  <a:pt x="55245" y="8890"/>
                </a:lnTo>
                <a:lnTo>
                  <a:pt x="552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617966" y="2431683"/>
            <a:ext cx="55880" cy="236220"/>
          </a:xfrm>
          <a:custGeom>
            <a:avLst/>
            <a:gdLst/>
            <a:ahLst/>
            <a:cxnLst/>
            <a:rect l="l" t="t" r="r" b="b"/>
            <a:pathLst>
              <a:path w="55880" h="236219">
                <a:moveTo>
                  <a:pt x="55372" y="0"/>
                </a:moveTo>
                <a:lnTo>
                  <a:pt x="0" y="0"/>
                </a:lnTo>
                <a:lnTo>
                  <a:pt x="0" y="8890"/>
                </a:lnTo>
                <a:lnTo>
                  <a:pt x="0" y="226060"/>
                </a:lnTo>
                <a:lnTo>
                  <a:pt x="0" y="236220"/>
                </a:lnTo>
                <a:lnTo>
                  <a:pt x="55372" y="236220"/>
                </a:lnTo>
                <a:lnTo>
                  <a:pt x="55372" y="226060"/>
                </a:lnTo>
                <a:lnTo>
                  <a:pt x="20574" y="226060"/>
                </a:lnTo>
                <a:lnTo>
                  <a:pt x="20574" y="8890"/>
                </a:lnTo>
                <a:lnTo>
                  <a:pt x="55372" y="8890"/>
                </a:lnTo>
                <a:lnTo>
                  <a:pt x="5537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700518" y="977487"/>
            <a:ext cx="4557395" cy="1707514"/>
          </a:xfrm>
          <a:prstGeom prst="rect">
            <a:avLst/>
          </a:prstGeom>
        </p:spPr>
        <p:txBody>
          <a:bodyPr vert="horz" wrap="square" lIns="0" tIns="140335" rIns="0" bIns="0" rtlCol="0">
            <a:spAutoFit/>
          </a:bodyPr>
          <a:lstStyle/>
          <a:p>
            <a:pPr marL="381000" indent="-342900">
              <a:lnSpc>
                <a:spcPct val="100000"/>
              </a:lnSpc>
              <a:spcBef>
                <a:spcPts val="1105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80365" algn="l"/>
                <a:tab pos="381000" algn="l"/>
              </a:tabLst>
            </a:pPr>
            <a:r>
              <a:rPr sz="2800">
                <a:latin typeface="Cambria Math"/>
                <a:cs typeface="Cambria Math"/>
              </a:rPr>
              <a:t>𝒙</a:t>
            </a:r>
            <a:r>
              <a:rPr sz="3075" baseline="-14905">
                <a:latin typeface="Cambria Math"/>
                <a:cs typeface="Cambria Math"/>
              </a:rPr>
              <a:t>𝒊</a:t>
            </a:r>
            <a:r>
              <a:rPr sz="3075" spc="652" baseline="-14905">
                <a:latin typeface="Cambria Math"/>
                <a:cs typeface="Cambria Math"/>
              </a:rPr>
              <a:t> </a:t>
            </a:r>
            <a:r>
              <a:rPr sz="2800">
                <a:latin typeface="Cambria Math"/>
                <a:cs typeface="Cambria Math"/>
              </a:rPr>
              <a:t>=</a:t>
            </a:r>
            <a:r>
              <a:rPr sz="2800" spc="140">
                <a:latin typeface="Cambria Math"/>
                <a:cs typeface="Cambria Math"/>
              </a:rPr>
              <a:t> </a:t>
            </a:r>
            <a:r>
              <a:rPr sz="2800" spc="-25">
                <a:latin typeface="Cambria Math"/>
                <a:cs typeface="Cambria Math"/>
              </a:rPr>
              <a:t>𝒚</a:t>
            </a:r>
            <a:r>
              <a:rPr sz="3075" spc="-37" baseline="-14905">
                <a:latin typeface="Cambria Math"/>
                <a:cs typeface="Cambria Math"/>
              </a:rPr>
              <a:t>𝒋</a:t>
            </a:r>
            <a:endParaRPr sz="3075" baseline="-14905">
              <a:latin typeface="Cambria Math"/>
              <a:cs typeface="Cambria Math"/>
            </a:endParaRPr>
          </a:p>
          <a:p>
            <a:pPr marL="729615" lvl="1" indent="-347980">
              <a:lnSpc>
                <a:spcPct val="100000"/>
              </a:lnSpc>
              <a:spcBef>
                <a:spcPts val="720"/>
              </a:spcBef>
              <a:buClr>
                <a:srgbClr val="DAB6FB"/>
              </a:buClr>
              <a:buSzPct val="70000"/>
              <a:buFont typeface="Wingdings"/>
              <a:buChar char=""/>
              <a:tabLst>
                <a:tab pos="729615" algn="l"/>
                <a:tab pos="730250" algn="l"/>
              </a:tabLst>
            </a:pPr>
            <a:r>
              <a:rPr sz="2000">
                <a:latin typeface="Cambria Math"/>
                <a:cs typeface="Cambria Math"/>
              </a:rPr>
              <a:t>𝑪</a:t>
            </a:r>
            <a:r>
              <a:rPr sz="2000" spc="245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𝒊</a:t>
            </a:r>
            <a:r>
              <a:rPr sz="2000" spc="-5">
                <a:latin typeface="Cambria Math"/>
                <a:cs typeface="Cambria Math"/>
              </a:rPr>
              <a:t> − </a:t>
            </a:r>
            <a:r>
              <a:rPr sz="2000" spc="-10">
                <a:latin typeface="Cambria Math"/>
                <a:cs typeface="Cambria Math"/>
              </a:rPr>
              <a:t>𝟏,</a:t>
            </a:r>
            <a:r>
              <a:rPr sz="2000" spc="-105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𝒋</a:t>
            </a:r>
            <a:r>
              <a:rPr sz="2000" spc="245">
                <a:latin typeface="Cambria Math"/>
                <a:cs typeface="Cambria Math"/>
              </a:rPr>
              <a:t> </a:t>
            </a:r>
            <a:r>
              <a:rPr sz="2000" spc="-20">
                <a:latin typeface="PMingLiU"/>
                <a:cs typeface="PMingLiU"/>
              </a:rPr>
              <a:t>比</a:t>
            </a:r>
            <a:r>
              <a:rPr sz="2000">
                <a:latin typeface="Cambria Math"/>
                <a:cs typeface="Cambria Math"/>
              </a:rPr>
              <a:t>𝑪</a:t>
            </a:r>
            <a:r>
              <a:rPr sz="2000" spc="250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𝒊</a:t>
            </a:r>
            <a:r>
              <a:rPr sz="2000" spc="-5">
                <a:latin typeface="Cambria Math"/>
                <a:cs typeface="Cambria Math"/>
              </a:rPr>
              <a:t> − </a:t>
            </a:r>
            <a:r>
              <a:rPr sz="2000" spc="-10">
                <a:latin typeface="Cambria Math"/>
                <a:cs typeface="Cambria Math"/>
              </a:rPr>
              <a:t>𝟏,</a:t>
            </a:r>
            <a:r>
              <a:rPr sz="2000" spc="-110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𝒋 − 𝟏</a:t>
            </a:r>
            <a:r>
              <a:rPr sz="2000" spc="254">
                <a:latin typeface="Cambria Math"/>
                <a:cs typeface="Cambria Math"/>
              </a:rPr>
              <a:t> </a:t>
            </a:r>
            <a:r>
              <a:rPr sz="2000" spc="-15">
                <a:latin typeface="PMingLiU"/>
                <a:cs typeface="PMingLiU"/>
              </a:rPr>
              <a:t>至多大</a:t>
            </a:r>
            <a:r>
              <a:rPr sz="2000" spc="-50">
                <a:latin typeface="Cambria Math"/>
                <a:cs typeface="Cambria Math"/>
              </a:rPr>
              <a:t>𝟏</a:t>
            </a:r>
            <a:endParaRPr sz="2000">
              <a:latin typeface="Cambria Math"/>
              <a:cs typeface="Cambria Math"/>
            </a:endParaRPr>
          </a:p>
          <a:p>
            <a:pPr marL="729615" lvl="1" indent="-347980">
              <a:lnSpc>
                <a:spcPct val="100000"/>
              </a:lnSpc>
              <a:spcBef>
                <a:spcPts val="484"/>
              </a:spcBef>
              <a:buClr>
                <a:srgbClr val="DAB6FB"/>
              </a:buClr>
              <a:buSzPct val="70000"/>
              <a:buFont typeface="Wingdings"/>
              <a:buChar char=""/>
              <a:tabLst>
                <a:tab pos="729615" algn="l"/>
                <a:tab pos="730250" algn="l"/>
              </a:tabLst>
            </a:pPr>
            <a:r>
              <a:rPr sz="2000">
                <a:latin typeface="Cambria Math"/>
                <a:cs typeface="Cambria Math"/>
              </a:rPr>
              <a:t>𝑪</a:t>
            </a:r>
            <a:r>
              <a:rPr sz="2000" spc="245">
                <a:latin typeface="Cambria Math"/>
                <a:cs typeface="Cambria Math"/>
              </a:rPr>
              <a:t> </a:t>
            </a:r>
            <a:r>
              <a:rPr sz="2000" spc="-10">
                <a:latin typeface="Cambria Math"/>
                <a:cs typeface="Cambria Math"/>
              </a:rPr>
              <a:t>𝒊</a:t>
            </a:r>
            <a:r>
              <a:rPr sz="2000" spc="-60">
                <a:latin typeface="Cambria Math"/>
                <a:cs typeface="Cambria Math"/>
              </a:rPr>
              <a:t>, </a:t>
            </a:r>
            <a:r>
              <a:rPr sz="2000">
                <a:latin typeface="Cambria Math"/>
                <a:cs typeface="Cambria Math"/>
              </a:rPr>
              <a:t>𝒋</a:t>
            </a:r>
            <a:r>
              <a:rPr sz="2000" spc="-5">
                <a:latin typeface="Cambria Math"/>
                <a:cs typeface="Cambria Math"/>
              </a:rPr>
              <a:t> − </a:t>
            </a:r>
            <a:r>
              <a:rPr sz="2000">
                <a:latin typeface="Cambria Math"/>
                <a:cs typeface="Cambria Math"/>
              </a:rPr>
              <a:t>𝟏</a:t>
            </a:r>
            <a:r>
              <a:rPr sz="2000" spc="250">
                <a:latin typeface="Cambria Math"/>
                <a:cs typeface="Cambria Math"/>
              </a:rPr>
              <a:t> </a:t>
            </a:r>
            <a:r>
              <a:rPr sz="2000" spc="-20">
                <a:latin typeface="PMingLiU"/>
                <a:cs typeface="PMingLiU"/>
              </a:rPr>
              <a:t>比</a:t>
            </a:r>
            <a:r>
              <a:rPr sz="2000">
                <a:latin typeface="Cambria Math"/>
                <a:cs typeface="Cambria Math"/>
              </a:rPr>
              <a:t>𝑪</a:t>
            </a:r>
            <a:r>
              <a:rPr sz="2000" spc="254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𝒊</a:t>
            </a:r>
            <a:r>
              <a:rPr sz="2000" spc="-5">
                <a:latin typeface="Cambria Math"/>
                <a:cs typeface="Cambria Math"/>
              </a:rPr>
              <a:t> − </a:t>
            </a:r>
            <a:r>
              <a:rPr sz="2000" spc="-10">
                <a:latin typeface="Cambria Math"/>
                <a:cs typeface="Cambria Math"/>
              </a:rPr>
              <a:t>𝟏,</a:t>
            </a:r>
            <a:r>
              <a:rPr sz="2000" spc="-110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𝒋 − 𝟏</a:t>
            </a:r>
            <a:r>
              <a:rPr sz="2000" spc="254">
                <a:latin typeface="Cambria Math"/>
                <a:cs typeface="Cambria Math"/>
              </a:rPr>
              <a:t> </a:t>
            </a:r>
            <a:r>
              <a:rPr sz="2000" spc="-15">
                <a:latin typeface="PMingLiU"/>
                <a:cs typeface="PMingLiU"/>
              </a:rPr>
              <a:t>至多大</a:t>
            </a:r>
            <a:r>
              <a:rPr sz="2000" spc="-50">
                <a:latin typeface="Cambria Math"/>
                <a:cs typeface="Cambria Math"/>
              </a:rPr>
              <a:t>𝟏</a:t>
            </a:r>
            <a:endParaRPr sz="2000">
              <a:latin typeface="Cambria Math"/>
              <a:cs typeface="Cambria Math"/>
            </a:endParaRPr>
          </a:p>
          <a:p>
            <a:pPr marL="729615" lvl="1" indent="-347980">
              <a:lnSpc>
                <a:spcPct val="100000"/>
              </a:lnSpc>
              <a:spcBef>
                <a:spcPts val="475"/>
              </a:spcBef>
              <a:buClr>
                <a:srgbClr val="DAB6FB"/>
              </a:buClr>
              <a:buSzPct val="70000"/>
              <a:buFont typeface="Wingdings"/>
              <a:buChar char=""/>
              <a:tabLst>
                <a:tab pos="729615" algn="l"/>
                <a:tab pos="730250" algn="l"/>
                <a:tab pos="2321560" algn="l"/>
              </a:tabLst>
            </a:pPr>
            <a:r>
              <a:rPr sz="2000">
                <a:latin typeface="Cambria Math"/>
                <a:cs typeface="Cambria Math"/>
              </a:rPr>
              <a:t>𝑪</a:t>
            </a:r>
            <a:r>
              <a:rPr sz="2000" spc="240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𝒊</a:t>
            </a:r>
            <a:r>
              <a:rPr sz="2000" spc="-10">
                <a:latin typeface="Cambria Math"/>
                <a:cs typeface="Cambria Math"/>
              </a:rPr>
              <a:t> − 𝟏,</a:t>
            </a:r>
            <a:r>
              <a:rPr sz="2000" spc="-105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𝒋</a:t>
            </a:r>
            <a:r>
              <a:rPr sz="2000" spc="-5">
                <a:latin typeface="Cambria Math"/>
                <a:cs typeface="Cambria Math"/>
              </a:rPr>
              <a:t> − </a:t>
            </a:r>
            <a:r>
              <a:rPr sz="2000" spc="-50">
                <a:latin typeface="Cambria Math"/>
                <a:cs typeface="Cambria Math"/>
              </a:rPr>
              <a:t>𝟏</a:t>
            </a:r>
            <a:r>
              <a:rPr sz="2000">
                <a:latin typeface="Cambria Math"/>
                <a:cs typeface="Cambria Math"/>
              </a:rPr>
              <a:t>	</a:t>
            </a:r>
            <a:r>
              <a:rPr sz="2000" spc="5">
                <a:latin typeface="Cambria Math"/>
                <a:cs typeface="Cambria Math"/>
              </a:rPr>
              <a:t>+ </a:t>
            </a:r>
            <a:r>
              <a:rPr sz="2000" spc="-25">
                <a:latin typeface="Cambria Math"/>
                <a:cs typeface="Cambria Math"/>
              </a:rPr>
              <a:t>𝟏</a:t>
            </a:r>
            <a:r>
              <a:rPr sz="2000" spc="-25">
                <a:latin typeface="PMingLiU"/>
                <a:cs typeface="PMingLiU"/>
              </a:rPr>
              <a:t>，</a:t>
            </a:r>
            <a:r>
              <a:rPr sz="2000" spc="-20">
                <a:latin typeface="PMingLiU"/>
                <a:cs typeface="PMingLiU"/>
              </a:rPr>
              <a:t>另外两个</a:t>
            </a:r>
            <a:r>
              <a:rPr sz="2000" spc="-25">
                <a:latin typeface="Cambria Math"/>
                <a:cs typeface="Cambria Math"/>
              </a:rPr>
              <a:t>+𝟎</a:t>
            </a:r>
            <a:endParaRPr sz="2000">
              <a:latin typeface="Cambria Math"/>
              <a:cs typeface="Cambria Math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9670160" y="1018413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9899650" y="1314449"/>
            <a:ext cx="1397000" cy="3003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20">
                <a:solidFill>
                  <a:srgbClr val="FFFFFF"/>
                </a:solidFill>
                <a:latin typeface="PMingLiU"/>
                <a:cs typeface="PMingLiU"/>
              </a:rPr>
              <a:t>问题结构分析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10378440" y="2052827"/>
            <a:ext cx="439420" cy="367030"/>
          </a:xfrm>
          <a:custGeom>
            <a:avLst/>
            <a:gdLst/>
            <a:ahLst/>
            <a:cxnLst/>
            <a:rect l="l" t="t" r="r" b="b"/>
            <a:pathLst>
              <a:path w="439420" h="367030">
                <a:moveTo>
                  <a:pt x="351154" y="0"/>
                </a:moveTo>
                <a:lnTo>
                  <a:pt x="87756" y="0"/>
                </a:lnTo>
                <a:lnTo>
                  <a:pt x="87756" y="183261"/>
                </a:lnTo>
                <a:lnTo>
                  <a:pt x="0" y="183261"/>
                </a:lnTo>
                <a:lnTo>
                  <a:pt x="219455" y="366522"/>
                </a:lnTo>
                <a:lnTo>
                  <a:pt x="438911" y="183261"/>
                </a:lnTo>
                <a:lnTo>
                  <a:pt x="351154" y="183261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9670160" y="2480691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83C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 txBox="1"/>
          <p:nvPr/>
        </p:nvSpPr>
        <p:spPr>
          <a:xfrm>
            <a:off x="9899650" y="2776982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递推关系建立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10378440" y="3515105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9"/>
                </a:lnTo>
                <a:lnTo>
                  <a:pt x="0" y="182499"/>
                </a:lnTo>
                <a:lnTo>
                  <a:pt x="219455" y="364998"/>
                </a:lnTo>
                <a:lnTo>
                  <a:pt x="438911" y="182499"/>
                </a:lnTo>
                <a:lnTo>
                  <a:pt x="351154" y="182499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9670160" y="3941445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8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8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9899650" y="4237735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自底向上计算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10378440" y="4975859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8"/>
                </a:lnTo>
                <a:lnTo>
                  <a:pt x="0" y="182498"/>
                </a:lnTo>
                <a:lnTo>
                  <a:pt x="219455" y="364997"/>
                </a:lnTo>
                <a:lnTo>
                  <a:pt x="438911" y="182498"/>
                </a:lnTo>
                <a:lnTo>
                  <a:pt x="351154" y="182498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9670160" y="5402198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52"/>
                </a:lnTo>
                <a:lnTo>
                  <a:pt x="7647" y="914358"/>
                </a:lnTo>
                <a:lnTo>
                  <a:pt x="28511" y="945313"/>
                </a:lnTo>
                <a:lnTo>
                  <a:pt x="59471" y="966183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3"/>
                </a:lnTo>
                <a:lnTo>
                  <a:pt x="1827720" y="945313"/>
                </a:lnTo>
                <a:lnTo>
                  <a:pt x="1848584" y="914358"/>
                </a:lnTo>
                <a:lnTo>
                  <a:pt x="1856232" y="876452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 txBox="1"/>
          <p:nvPr/>
        </p:nvSpPr>
        <p:spPr>
          <a:xfrm>
            <a:off x="9899650" y="5698744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最优方案追踪</a:t>
            </a:r>
            <a:endParaRPr sz="1800">
              <a:latin typeface="PMingLiU"/>
              <a:cs typeface="PMingLiU"/>
            </a:endParaRPr>
          </a:p>
        </p:txBody>
      </p:sp>
      <p:graphicFrame>
        <p:nvGraphicFramePr>
          <p:cNvPr id="25" name="object 25"/>
          <p:cNvGraphicFramePr>
            <a:graphicFrameLocks noGrp="1"/>
          </p:cNvGraphicFramePr>
          <p:nvPr/>
        </p:nvGraphicFramePr>
        <p:xfrm>
          <a:off x="5935471" y="2277364"/>
          <a:ext cx="3350259" cy="514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4984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18745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6520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  <a:spcBef>
                          <a:spcPts val="1035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𝒋−𝟏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3144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7E7E7E"/>
                      </a:solidFill>
                      <a:prstDash val="lgDash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2875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2000" spc="-25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80010" marB="0">
                    <a:lnL w="12700">
                      <a:solidFill>
                        <a:srgbClr val="7E7E7E"/>
                      </a:solidFill>
                      <a:prstDash val="lgDash"/>
                    </a:lnL>
                    <a:lnR w="12700">
                      <a:solidFill>
                        <a:srgbClr val="7E7E7E"/>
                      </a:solidFill>
                      <a:prstDash val="lgDash"/>
                    </a:lnR>
                    <a:lnT w="12700">
                      <a:solidFill>
                        <a:srgbClr val="7E7E7E"/>
                      </a:solidFill>
                      <a:prstDash val="solid"/>
                    </a:lnT>
                    <a:lnB w="12700">
                      <a:solidFill>
                        <a:srgbClr val="7E7E7E"/>
                      </a:solidFill>
                      <a:prstDash val="lgDash"/>
                    </a:lnB>
                    <a:solidFill>
                      <a:srgbClr val="BEBEB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6" name="object 26"/>
          <p:cNvGraphicFramePr>
            <a:graphicFrameLocks noGrp="1"/>
          </p:cNvGraphicFramePr>
          <p:nvPr/>
        </p:nvGraphicFramePr>
        <p:xfrm>
          <a:off x="5935471" y="5331205"/>
          <a:ext cx="3350259" cy="514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4984">
                <a:tc>
                  <a:txBody>
                    <a:bodyPr/>
                    <a:lstStyle/>
                    <a:p>
                      <a:pPr marL="14160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192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545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𝒊−𝟏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𝒊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7" name="object 27"/>
          <p:cNvSpPr/>
          <p:nvPr/>
        </p:nvSpPr>
        <p:spPr>
          <a:xfrm>
            <a:off x="5050535" y="1514094"/>
            <a:ext cx="626745" cy="5034915"/>
          </a:xfrm>
          <a:custGeom>
            <a:avLst/>
            <a:gdLst/>
            <a:ahLst/>
            <a:cxnLst/>
            <a:rect l="l" t="t" r="r" b="b"/>
            <a:pathLst>
              <a:path w="626745" h="5034915">
                <a:moveTo>
                  <a:pt x="626363" y="5034533"/>
                </a:moveTo>
                <a:lnTo>
                  <a:pt x="554551" y="5033155"/>
                </a:lnTo>
                <a:lnTo>
                  <a:pt x="488630" y="5029228"/>
                </a:lnTo>
                <a:lnTo>
                  <a:pt x="430481" y="5023067"/>
                </a:lnTo>
                <a:lnTo>
                  <a:pt x="381981" y="5014984"/>
                </a:lnTo>
                <a:lnTo>
                  <a:pt x="345012" y="5005292"/>
                </a:lnTo>
                <a:lnTo>
                  <a:pt x="313181" y="4982336"/>
                </a:lnTo>
                <a:lnTo>
                  <a:pt x="313181" y="2569463"/>
                </a:lnTo>
                <a:lnTo>
                  <a:pt x="304911" y="2557495"/>
                </a:lnTo>
                <a:lnTo>
                  <a:pt x="244382" y="2536816"/>
                </a:lnTo>
                <a:lnTo>
                  <a:pt x="195882" y="2528733"/>
                </a:lnTo>
                <a:lnTo>
                  <a:pt x="137733" y="2522572"/>
                </a:lnTo>
                <a:lnTo>
                  <a:pt x="71812" y="2518645"/>
                </a:lnTo>
                <a:lnTo>
                  <a:pt x="0" y="2517266"/>
                </a:lnTo>
                <a:lnTo>
                  <a:pt x="71812" y="2515888"/>
                </a:lnTo>
                <a:lnTo>
                  <a:pt x="137733" y="2511961"/>
                </a:lnTo>
                <a:lnTo>
                  <a:pt x="195882" y="2505800"/>
                </a:lnTo>
                <a:lnTo>
                  <a:pt x="244382" y="2497717"/>
                </a:lnTo>
                <a:lnTo>
                  <a:pt x="281351" y="2488025"/>
                </a:lnTo>
                <a:lnTo>
                  <a:pt x="313181" y="2465069"/>
                </a:lnTo>
                <a:lnTo>
                  <a:pt x="313181" y="52196"/>
                </a:lnTo>
                <a:lnTo>
                  <a:pt x="321452" y="40228"/>
                </a:lnTo>
                <a:lnTo>
                  <a:pt x="381981" y="19549"/>
                </a:lnTo>
                <a:lnTo>
                  <a:pt x="430481" y="11466"/>
                </a:lnTo>
                <a:lnTo>
                  <a:pt x="488630" y="5305"/>
                </a:lnTo>
                <a:lnTo>
                  <a:pt x="554551" y="1378"/>
                </a:lnTo>
                <a:lnTo>
                  <a:pt x="626363" y="0"/>
                </a:lnTo>
              </a:path>
            </a:pathLst>
          </a:custGeom>
          <a:ln w="285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28" name="object 28"/>
          <p:cNvGraphicFramePr>
            <a:graphicFrameLocks noGrp="1"/>
          </p:cNvGraphicFramePr>
          <p:nvPr/>
        </p:nvGraphicFramePr>
        <p:xfrm>
          <a:off x="727646" y="3418585"/>
          <a:ext cx="3350259" cy="514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4984"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545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𝒊−𝟏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𝒊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9" name="object 29"/>
          <p:cNvGraphicFramePr>
            <a:graphicFrameLocks noGrp="1"/>
          </p:cNvGraphicFramePr>
          <p:nvPr/>
        </p:nvGraphicFramePr>
        <p:xfrm>
          <a:off x="727646" y="4015613"/>
          <a:ext cx="3350259" cy="514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4984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1874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652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">
                        <a:lnSpc>
                          <a:spcPct val="100000"/>
                        </a:lnSpc>
                        <a:spcBef>
                          <a:spcPts val="1035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𝒋−𝟏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3144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𝒋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7937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0" name="object 30"/>
          <p:cNvSpPr txBox="1"/>
          <p:nvPr/>
        </p:nvSpPr>
        <p:spPr>
          <a:xfrm>
            <a:off x="842263" y="2987040"/>
            <a:ext cx="7740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spc="-10">
                <a:latin typeface="Cambria Math"/>
                <a:cs typeface="Cambria Math"/>
              </a:rPr>
              <a:t>𝑪[𝒊,</a:t>
            </a:r>
            <a:r>
              <a:rPr sz="2400" spc="-11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𝒋]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4348479" y="3553205"/>
            <a:ext cx="730250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800" spc="-25">
                <a:latin typeface="Cambria Math"/>
                <a:cs typeface="Cambria Math"/>
              </a:rPr>
              <a:t>𝐦𝐚𝐱</a:t>
            </a:r>
            <a:endParaRPr sz="2800">
              <a:latin typeface="Cambria Math"/>
              <a:cs typeface="Cambria Math"/>
            </a:endParaRPr>
          </a:p>
        </p:txBody>
      </p:sp>
      <p:graphicFrame>
        <p:nvGraphicFramePr>
          <p:cNvPr id="32" name="object 32"/>
          <p:cNvGraphicFramePr>
            <a:graphicFrameLocks noGrp="1"/>
          </p:cNvGraphicFramePr>
          <p:nvPr/>
        </p:nvGraphicFramePr>
        <p:xfrm>
          <a:off x="5935471" y="1652777"/>
          <a:ext cx="3350259" cy="514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4984">
                <a:tc>
                  <a:txBody>
                    <a:bodyPr/>
                    <a:lstStyle/>
                    <a:p>
                      <a:pPr marL="141605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1920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545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𝒊−𝟏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7E7E7E"/>
                      </a:solidFill>
                      <a:prstDash val="lgDash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775"/>
                        </a:spcBef>
                      </a:pPr>
                      <a:r>
                        <a:rPr sz="2000" spc="-25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8425" marB="0">
                    <a:lnL w="12700">
                      <a:solidFill>
                        <a:srgbClr val="7E7E7E"/>
                      </a:solidFill>
                      <a:prstDash val="lgDash"/>
                    </a:lnL>
                    <a:lnR w="12700">
                      <a:solidFill>
                        <a:srgbClr val="7E7E7E"/>
                      </a:solidFill>
                      <a:prstDash val="lgDash"/>
                    </a:lnR>
                    <a:lnT w="12700">
                      <a:solidFill>
                        <a:srgbClr val="7E7E7E"/>
                      </a:solidFill>
                      <a:prstDash val="solid"/>
                    </a:lnT>
                    <a:lnB w="12700">
                      <a:solidFill>
                        <a:srgbClr val="7E7E7E"/>
                      </a:solidFill>
                      <a:prstDash val="lgDash"/>
                    </a:lnB>
                    <a:solidFill>
                      <a:srgbClr val="BEBEB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3" name="object 33"/>
          <p:cNvGraphicFramePr>
            <a:graphicFrameLocks noGrp="1"/>
          </p:cNvGraphicFramePr>
          <p:nvPr/>
        </p:nvGraphicFramePr>
        <p:xfrm>
          <a:off x="5935471" y="3997959"/>
          <a:ext cx="3350259" cy="514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4984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1874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652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  <a:spcBef>
                          <a:spcPts val="1030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𝒋−𝟏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3081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9065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𝒋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7937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4" name="object 34"/>
          <p:cNvGraphicFramePr>
            <a:graphicFrameLocks noGrp="1"/>
          </p:cNvGraphicFramePr>
          <p:nvPr/>
        </p:nvGraphicFramePr>
        <p:xfrm>
          <a:off x="5935471" y="3393821"/>
          <a:ext cx="3350259" cy="514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4984">
                <a:tc>
                  <a:txBody>
                    <a:bodyPr/>
                    <a:lstStyle/>
                    <a:p>
                      <a:pPr marL="14160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192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545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𝒊−𝟏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7E7E7E"/>
                      </a:solidFill>
                      <a:prstDash val="lgDash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775"/>
                        </a:spcBef>
                      </a:pPr>
                      <a:r>
                        <a:rPr sz="2000" spc="-25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8425" marB="0">
                    <a:lnL w="12700">
                      <a:solidFill>
                        <a:srgbClr val="7E7E7E"/>
                      </a:solidFill>
                      <a:prstDash val="lgDash"/>
                    </a:lnL>
                    <a:lnR w="12700">
                      <a:solidFill>
                        <a:srgbClr val="7E7E7E"/>
                      </a:solidFill>
                      <a:prstDash val="lgDash"/>
                    </a:lnR>
                    <a:lnT w="12700">
                      <a:solidFill>
                        <a:srgbClr val="7E7E7E"/>
                      </a:solidFill>
                      <a:prstDash val="solid"/>
                    </a:lnT>
                    <a:lnB w="12700">
                      <a:solidFill>
                        <a:srgbClr val="7E7E7E"/>
                      </a:solidFill>
                      <a:prstDash val="lgDash"/>
                    </a:lnB>
                    <a:solidFill>
                      <a:srgbClr val="BEBEB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5" name="object 35"/>
          <p:cNvGraphicFramePr>
            <a:graphicFrameLocks noGrp="1"/>
          </p:cNvGraphicFramePr>
          <p:nvPr/>
        </p:nvGraphicFramePr>
        <p:xfrm>
          <a:off x="5935471" y="5943231"/>
          <a:ext cx="3350259" cy="514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4984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1874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652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  <a:spcBef>
                          <a:spcPts val="1035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𝒋−𝟏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3144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7E7E7E"/>
                      </a:solidFill>
                      <a:prstDash val="lgDash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2875">
                        <a:lnSpc>
                          <a:spcPct val="100000"/>
                        </a:lnSpc>
                        <a:spcBef>
                          <a:spcPts val="635"/>
                        </a:spcBef>
                      </a:pPr>
                      <a:r>
                        <a:rPr sz="2000" spc="-25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80645" marB="0">
                    <a:lnL w="12700">
                      <a:solidFill>
                        <a:srgbClr val="7E7E7E"/>
                      </a:solidFill>
                      <a:prstDash val="lgDash"/>
                    </a:lnL>
                    <a:lnR w="12700">
                      <a:solidFill>
                        <a:srgbClr val="7E7E7E"/>
                      </a:solidFill>
                      <a:prstDash val="lgDash"/>
                    </a:lnR>
                    <a:lnT w="12700">
                      <a:solidFill>
                        <a:srgbClr val="7E7E7E"/>
                      </a:solidFill>
                      <a:prstDash val="solid"/>
                    </a:lnT>
                    <a:lnB w="12700">
                      <a:solidFill>
                        <a:srgbClr val="7E7E7E"/>
                      </a:solidFill>
                      <a:prstDash val="lgDash"/>
                    </a:lnB>
                    <a:solidFill>
                      <a:srgbClr val="BEBEB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36" name="object 36"/>
          <p:cNvGrpSpPr/>
          <p:nvPr/>
        </p:nvGrpSpPr>
        <p:grpSpPr>
          <a:xfrm>
            <a:off x="7662418" y="1098041"/>
            <a:ext cx="803910" cy="589915"/>
            <a:chOff x="7662418" y="1098041"/>
            <a:chExt cx="803910" cy="589915"/>
          </a:xfrm>
        </p:grpSpPr>
        <p:sp>
          <p:nvSpPr>
            <p:cNvPr id="37" name="object 37"/>
            <p:cNvSpPr/>
            <p:nvPr/>
          </p:nvSpPr>
          <p:spPr>
            <a:xfrm>
              <a:off x="7780020" y="1117091"/>
              <a:ext cx="666750" cy="551815"/>
            </a:xfrm>
            <a:custGeom>
              <a:avLst/>
              <a:gdLst/>
              <a:ahLst/>
              <a:cxnLst/>
              <a:rect l="l" t="t" r="r" b="b"/>
              <a:pathLst>
                <a:path w="666750" h="551814">
                  <a:moveTo>
                    <a:pt x="0" y="47752"/>
                  </a:moveTo>
                  <a:lnTo>
                    <a:pt x="3764" y="29200"/>
                  </a:lnTo>
                  <a:lnTo>
                    <a:pt x="14017" y="14017"/>
                  </a:lnTo>
                  <a:lnTo>
                    <a:pt x="29200" y="3764"/>
                  </a:lnTo>
                  <a:lnTo>
                    <a:pt x="47751" y="0"/>
                  </a:lnTo>
                  <a:lnTo>
                    <a:pt x="618998" y="0"/>
                  </a:lnTo>
                  <a:lnTo>
                    <a:pt x="637549" y="3764"/>
                  </a:lnTo>
                  <a:lnTo>
                    <a:pt x="652732" y="14017"/>
                  </a:lnTo>
                  <a:lnTo>
                    <a:pt x="662985" y="29200"/>
                  </a:lnTo>
                  <a:lnTo>
                    <a:pt x="666750" y="47752"/>
                  </a:lnTo>
                  <a:lnTo>
                    <a:pt x="666750" y="503936"/>
                  </a:lnTo>
                  <a:lnTo>
                    <a:pt x="662985" y="522487"/>
                  </a:lnTo>
                  <a:lnTo>
                    <a:pt x="652732" y="537670"/>
                  </a:lnTo>
                  <a:lnTo>
                    <a:pt x="637549" y="547923"/>
                  </a:lnTo>
                  <a:lnTo>
                    <a:pt x="618998" y="551688"/>
                  </a:lnTo>
                  <a:lnTo>
                    <a:pt x="47751" y="551688"/>
                  </a:lnTo>
                  <a:lnTo>
                    <a:pt x="29200" y="547923"/>
                  </a:lnTo>
                  <a:lnTo>
                    <a:pt x="14017" y="537670"/>
                  </a:lnTo>
                  <a:lnTo>
                    <a:pt x="3764" y="522487"/>
                  </a:lnTo>
                  <a:lnTo>
                    <a:pt x="0" y="503936"/>
                  </a:lnTo>
                  <a:lnTo>
                    <a:pt x="0" y="47752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7662418" y="1297939"/>
              <a:ext cx="66675" cy="283210"/>
            </a:xfrm>
            <a:custGeom>
              <a:avLst/>
              <a:gdLst/>
              <a:ahLst/>
              <a:cxnLst/>
              <a:rect l="l" t="t" r="r" b="b"/>
              <a:pathLst>
                <a:path w="66675" h="283209">
                  <a:moveTo>
                    <a:pt x="66421" y="0"/>
                  </a:moveTo>
                  <a:lnTo>
                    <a:pt x="0" y="0"/>
                  </a:lnTo>
                  <a:lnTo>
                    <a:pt x="0" y="11430"/>
                  </a:lnTo>
                  <a:lnTo>
                    <a:pt x="41656" y="11430"/>
                  </a:lnTo>
                  <a:lnTo>
                    <a:pt x="41656" y="271780"/>
                  </a:lnTo>
                  <a:lnTo>
                    <a:pt x="0" y="271780"/>
                  </a:lnTo>
                  <a:lnTo>
                    <a:pt x="0" y="283210"/>
                  </a:lnTo>
                  <a:lnTo>
                    <a:pt x="66421" y="283210"/>
                  </a:lnTo>
                  <a:lnTo>
                    <a:pt x="66421" y="271780"/>
                  </a:lnTo>
                  <a:lnTo>
                    <a:pt x="66421" y="11430"/>
                  </a:lnTo>
                  <a:lnTo>
                    <a:pt x="6642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9" name="object 39"/>
          <p:cNvSpPr/>
          <p:nvPr/>
        </p:nvSpPr>
        <p:spPr>
          <a:xfrm>
            <a:off x="6149975" y="129793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09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 txBox="1"/>
          <p:nvPr/>
        </p:nvSpPr>
        <p:spPr>
          <a:xfrm>
            <a:off x="5912358" y="1209040"/>
            <a:ext cx="240919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918970" algn="l"/>
              </a:tabLst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31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𝒊 − </a:t>
            </a:r>
            <a:r>
              <a:rPr sz="2400" spc="-10">
                <a:latin typeface="Cambria Math"/>
                <a:cs typeface="Cambria Math"/>
              </a:rPr>
              <a:t>𝟏,</a:t>
            </a:r>
            <a:r>
              <a:rPr sz="2400" spc="-13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𝒋</a:t>
            </a:r>
            <a:r>
              <a:rPr sz="2400" spc="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−</a:t>
            </a:r>
            <a:r>
              <a:rPr sz="2400" spc="5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𝟏</a:t>
            </a:r>
            <a:r>
              <a:rPr sz="2400">
                <a:latin typeface="Cambria Math"/>
                <a:cs typeface="Cambria Math"/>
              </a:rPr>
              <a:t>	+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𝟏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41" name="object 41"/>
          <p:cNvSpPr/>
          <p:nvPr/>
        </p:nvSpPr>
        <p:spPr>
          <a:xfrm>
            <a:off x="7114540" y="499617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656" y="11430"/>
                </a:lnTo>
                <a:lnTo>
                  <a:pt x="41656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6146927" y="499617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 txBox="1"/>
          <p:nvPr/>
        </p:nvSpPr>
        <p:spPr>
          <a:xfrm>
            <a:off x="5909309" y="4907279"/>
            <a:ext cx="186436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373505" algn="l"/>
              </a:tabLst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305">
                <a:latin typeface="Cambria Math"/>
                <a:cs typeface="Cambria Math"/>
              </a:rPr>
              <a:t> </a:t>
            </a:r>
            <a:r>
              <a:rPr sz="2400" spc="-10">
                <a:latin typeface="Cambria Math"/>
                <a:cs typeface="Cambria Math"/>
              </a:rPr>
              <a:t>𝒊,</a:t>
            </a:r>
            <a:r>
              <a:rPr sz="2400" spc="-14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𝒋</a:t>
            </a:r>
            <a:r>
              <a:rPr sz="2400" spc="1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−</a:t>
            </a:r>
            <a:r>
              <a:rPr sz="2400" spc="5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𝟏</a:t>
            </a:r>
            <a:r>
              <a:rPr sz="2400">
                <a:latin typeface="Cambria Math"/>
                <a:cs typeface="Cambria Math"/>
              </a:rPr>
              <a:t>	+ </a:t>
            </a:r>
            <a:r>
              <a:rPr sz="2400" spc="-50">
                <a:latin typeface="Cambria Math"/>
                <a:cs typeface="Cambria Math"/>
              </a:rPr>
              <a:t>𝟎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44" name="object 44"/>
          <p:cNvSpPr/>
          <p:nvPr/>
        </p:nvSpPr>
        <p:spPr>
          <a:xfrm>
            <a:off x="7114540" y="3073399"/>
            <a:ext cx="66675" cy="284480"/>
          </a:xfrm>
          <a:custGeom>
            <a:avLst/>
            <a:gdLst/>
            <a:ahLst/>
            <a:cxnLst/>
            <a:rect l="l" t="t" r="r" b="b"/>
            <a:pathLst>
              <a:path w="66675" h="284479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656" y="11430"/>
                </a:lnTo>
                <a:lnTo>
                  <a:pt x="41656" y="273050"/>
                </a:lnTo>
                <a:lnTo>
                  <a:pt x="0" y="273050"/>
                </a:lnTo>
                <a:lnTo>
                  <a:pt x="0" y="284480"/>
                </a:lnTo>
                <a:lnTo>
                  <a:pt x="66421" y="284480"/>
                </a:lnTo>
                <a:lnTo>
                  <a:pt x="66421" y="27305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6146927" y="3073399"/>
            <a:ext cx="66675" cy="284480"/>
          </a:xfrm>
          <a:custGeom>
            <a:avLst/>
            <a:gdLst/>
            <a:ahLst/>
            <a:cxnLst/>
            <a:rect l="l" t="t" r="r" b="b"/>
            <a:pathLst>
              <a:path w="66675" h="284479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3050"/>
                </a:lnTo>
                <a:lnTo>
                  <a:pt x="0" y="284480"/>
                </a:lnTo>
                <a:lnTo>
                  <a:pt x="66421" y="284480"/>
                </a:lnTo>
                <a:lnTo>
                  <a:pt x="66421" y="273050"/>
                </a:lnTo>
                <a:lnTo>
                  <a:pt x="24765" y="27305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 txBox="1"/>
          <p:nvPr/>
        </p:nvSpPr>
        <p:spPr>
          <a:xfrm>
            <a:off x="5909309" y="2985261"/>
            <a:ext cx="186436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373505" algn="l"/>
              </a:tabLst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31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𝒊</a:t>
            </a:r>
            <a:r>
              <a:rPr sz="2400" spc="-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−</a:t>
            </a:r>
            <a:r>
              <a:rPr sz="2400" spc="5">
                <a:latin typeface="Cambria Math"/>
                <a:cs typeface="Cambria Math"/>
              </a:rPr>
              <a:t> </a:t>
            </a:r>
            <a:r>
              <a:rPr sz="2400" spc="-10">
                <a:latin typeface="Cambria Math"/>
                <a:cs typeface="Cambria Math"/>
              </a:rPr>
              <a:t>𝟏,</a:t>
            </a:r>
            <a:r>
              <a:rPr sz="2400" spc="-13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𝒋</a:t>
            </a:r>
            <a:r>
              <a:rPr sz="2400">
                <a:latin typeface="Cambria Math"/>
                <a:cs typeface="Cambria Math"/>
              </a:rPr>
              <a:t>	+ </a:t>
            </a:r>
            <a:r>
              <a:rPr sz="2400" spc="-50">
                <a:latin typeface="Cambria Math"/>
                <a:cs typeface="Cambria Math"/>
              </a:rPr>
              <a:t>𝟎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47" name="object 47"/>
          <p:cNvSpPr/>
          <p:nvPr/>
        </p:nvSpPr>
        <p:spPr>
          <a:xfrm>
            <a:off x="7253478" y="2843022"/>
            <a:ext cx="741045" cy="551815"/>
          </a:xfrm>
          <a:custGeom>
            <a:avLst/>
            <a:gdLst/>
            <a:ahLst/>
            <a:cxnLst/>
            <a:rect l="l" t="t" r="r" b="b"/>
            <a:pathLst>
              <a:path w="741045" h="551814">
                <a:moveTo>
                  <a:pt x="0" y="47751"/>
                </a:moveTo>
                <a:lnTo>
                  <a:pt x="3764" y="29200"/>
                </a:lnTo>
                <a:lnTo>
                  <a:pt x="14017" y="14017"/>
                </a:lnTo>
                <a:lnTo>
                  <a:pt x="29200" y="3764"/>
                </a:lnTo>
                <a:lnTo>
                  <a:pt x="47751" y="0"/>
                </a:lnTo>
                <a:lnTo>
                  <a:pt x="692912" y="0"/>
                </a:lnTo>
                <a:lnTo>
                  <a:pt x="711463" y="3764"/>
                </a:lnTo>
                <a:lnTo>
                  <a:pt x="726646" y="14017"/>
                </a:lnTo>
                <a:lnTo>
                  <a:pt x="736899" y="29200"/>
                </a:lnTo>
                <a:lnTo>
                  <a:pt x="740664" y="47751"/>
                </a:lnTo>
                <a:lnTo>
                  <a:pt x="740664" y="503936"/>
                </a:lnTo>
                <a:lnTo>
                  <a:pt x="736899" y="522487"/>
                </a:lnTo>
                <a:lnTo>
                  <a:pt x="726646" y="537670"/>
                </a:lnTo>
                <a:lnTo>
                  <a:pt x="711463" y="547923"/>
                </a:lnTo>
                <a:lnTo>
                  <a:pt x="692912" y="551688"/>
                </a:lnTo>
                <a:lnTo>
                  <a:pt x="47751" y="551688"/>
                </a:lnTo>
                <a:lnTo>
                  <a:pt x="29200" y="547923"/>
                </a:lnTo>
                <a:lnTo>
                  <a:pt x="14017" y="537670"/>
                </a:lnTo>
                <a:lnTo>
                  <a:pt x="3764" y="522487"/>
                </a:lnTo>
                <a:lnTo>
                  <a:pt x="0" y="503936"/>
                </a:lnTo>
                <a:lnTo>
                  <a:pt x="0" y="47751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235190" y="4771644"/>
            <a:ext cx="661035" cy="551180"/>
          </a:xfrm>
          <a:custGeom>
            <a:avLst/>
            <a:gdLst/>
            <a:ahLst/>
            <a:cxnLst/>
            <a:rect l="l" t="t" r="r" b="b"/>
            <a:pathLst>
              <a:path w="661034" h="551179">
                <a:moveTo>
                  <a:pt x="0" y="47751"/>
                </a:moveTo>
                <a:lnTo>
                  <a:pt x="3746" y="29146"/>
                </a:lnTo>
                <a:lnTo>
                  <a:pt x="13969" y="13969"/>
                </a:lnTo>
                <a:lnTo>
                  <a:pt x="29146" y="3746"/>
                </a:lnTo>
                <a:lnTo>
                  <a:pt x="47751" y="0"/>
                </a:lnTo>
                <a:lnTo>
                  <a:pt x="612901" y="0"/>
                </a:lnTo>
                <a:lnTo>
                  <a:pt x="631507" y="3746"/>
                </a:lnTo>
                <a:lnTo>
                  <a:pt x="646683" y="13969"/>
                </a:lnTo>
                <a:lnTo>
                  <a:pt x="656907" y="29146"/>
                </a:lnTo>
                <a:lnTo>
                  <a:pt x="660653" y="47751"/>
                </a:lnTo>
                <a:lnTo>
                  <a:pt x="660653" y="503173"/>
                </a:lnTo>
                <a:lnTo>
                  <a:pt x="656907" y="521779"/>
                </a:lnTo>
                <a:lnTo>
                  <a:pt x="646683" y="536955"/>
                </a:lnTo>
                <a:lnTo>
                  <a:pt x="631507" y="547179"/>
                </a:lnTo>
                <a:lnTo>
                  <a:pt x="612901" y="550925"/>
                </a:lnTo>
                <a:lnTo>
                  <a:pt x="47751" y="550925"/>
                </a:lnTo>
                <a:lnTo>
                  <a:pt x="29146" y="547179"/>
                </a:lnTo>
                <a:lnTo>
                  <a:pt x="13969" y="536955"/>
                </a:lnTo>
                <a:lnTo>
                  <a:pt x="3746" y="521779"/>
                </a:lnTo>
                <a:lnTo>
                  <a:pt x="0" y="503173"/>
                </a:lnTo>
                <a:lnTo>
                  <a:pt x="0" y="47751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5626" y="4943855"/>
            <a:ext cx="5274945" cy="1303020"/>
          </a:xfrm>
          <a:custGeom>
            <a:avLst/>
            <a:gdLst/>
            <a:ahLst/>
            <a:cxnLst/>
            <a:rect l="l" t="t" r="r" b="b"/>
            <a:pathLst>
              <a:path w="5274945" h="1303020">
                <a:moveTo>
                  <a:pt x="5274564" y="0"/>
                </a:moveTo>
                <a:lnTo>
                  <a:pt x="0" y="0"/>
                </a:lnTo>
                <a:lnTo>
                  <a:pt x="0" y="1303020"/>
                </a:lnTo>
                <a:lnTo>
                  <a:pt x="5274564" y="1303020"/>
                </a:lnTo>
                <a:lnTo>
                  <a:pt x="5274564" y="0"/>
                </a:lnTo>
                <a:close/>
              </a:path>
            </a:pathLst>
          </a:custGeom>
          <a:solidFill>
            <a:srgbClr val="006F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 txBox="1"/>
          <p:nvPr/>
        </p:nvSpPr>
        <p:spPr>
          <a:xfrm>
            <a:off x="591566" y="5142738"/>
            <a:ext cx="4524375" cy="8502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3245"/>
              </a:lnSpc>
              <a:spcBef>
                <a:spcPts val="100"/>
              </a:spcBef>
            </a:pPr>
            <a:r>
              <a:rPr sz="2800">
                <a:solidFill>
                  <a:srgbClr val="FFFFFF"/>
                </a:solidFill>
                <a:latin typeface="Cambria Math"/>
                <a:cs typeface="Cambria Math"/>
              </a:rPr>
              <a:t>𝑪[𝒊</a:t>
            </a:r>
            <a:r>
              <a:rPr sz="2800" spc="-1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800">
                <a:solidFill>
                  <a:srgbClr val="FFFFFF"/>
                </a:solidFill>
                <a:latin typeface="Cambria Math"/>
                <a:cs typeface="Cambria Math"/>
              </a:rPr>
              <a:t>−</a:t>
            </a:r>
            <a:r>
              <a:rPr sz="2800" spc="-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800">
                <a:solidFill>
                  <a:srgbClr val="FFFFFF"/>
                </a:solidFill>
                <a:latin typeface="Cambria Math"/>
                <a:cs typeface="Cambria Math"/>
              </a:rPr>
              <a:t>𝟏,</a:t>
            </a:r>
            <a:r>
              <a:rPr sz="2800" spc="-15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800">
                <a:solidFill>
                  <a:srgbClr val="FFFFFF"/>
                </a:solidFill>
                <a:latin typeface="Cambria Math"/>
                <a:cs typeface="Cambria Math"/>
              </a:rPr>
              <a:t>𝒋 − 𝟏]</a:t>
            </a:r>
            <a:r>
              <a:rPr sz="2800" spc="-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800">
                <a:solidFill>
                  <a:srgbClr val="FFFFFF"/>
                </a:solidFill>
                <a:latin typeface="Cambria Math"/>
                <a:cs typeface="Cambria Math"/>
              </a:rPr>
              <a:t>+ </a:t>
            </a:r>
            <a:r>
              <a:rPr sz="2800" spc="-50">
                <a:solidFill>
                  <a:srgbClr val="FFFFFF"/>
                </a:solidFill>
                <a:latin typeface="Cambria Math"/>
                <a:cs typeface="Cambria Math"/>
              </a:rPr>
              <a:t>𝟏</a:t>
            </a:r>
            <a:endParaRPr sz="2800">
              <a:latin typeface="Cambria Math"/>
              <a:cs typeface="Cambria Math"/>
            </a:endParaRPr>
          </a:p>
          <a:p>
            <a:pPr marL="12700">
              <a:lnSpc>
                <a:spcPts val="3245"/>
              </a:lnSpc>
            </a:pPr>
            <a:r>
              <a:rPr sz="2800">
                <a:solidFill>
                  <a:srgbClr val="FFFFFF"/>
                </a:solidFill>
                <a:latin typeface="Cambria Math"/>
                <a:cs typeface="Cambria Math"/>
              </a:rPr>
              <a:t>≥</a:t>
            </a:r>
            <a:r>
              <a:rPr sz="2800" spc="17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800" spc="-10">
                <a:solidFill>
                  <a:srgbClr val="FFFFFF"/>
                </a:solidFill>
                <a:latin typeface="Cambria Math"/>
                <a:cs typeface="Cambria Math"/>
              </a:rPr>
              <a:t>𝐦𝐚𝐱{𝑪[𝒊,</a:t>
            </a:r>
            <a:r>
              <a:rPr sz="2800" spc="-14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800">
                <a:solidFill>
                  <a:srgbClr val="FFFFFF"/>
                </a:solidFill>
                <a:latin typeface="Cambria Math"/>
                <a:cs typeface="Cambria Math"/>
              </a:rPr>
              <a:t>𝒋</a:t>
            </a:r>
            <a:r>
              <a:rPr sz="2800" spc="1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800">
                <a:solidFill>
                  <a:srgbClr val="FFFFFF"/>
                </a:solidFill>
                <a:latin typeface="Cambria Math"/>
                <a:cs typeface="Cambria Math"/>
              </a:rPr>
              <a:t>−</a:t>
            </a:r>
            <a:r>
              <a:rPr sz="2800" spc="1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800" spc="-10">
                <a:solidFill>
                  <a:srgbClr val="FFFFFF"/>
                </a:solidFill>
                <a:latin typeface="Cambria Math"/>
                <a:cs typeface="Cambria Math"/>
              </a:rPr>
              <a:t>𝟏],</a:t>
            </a:r>
            <a:r>
              <a:rPr sz="2800" spc="-14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800">
                <a:solidFill>
                  <a:srgbClr val="FFFFFF"/>
                </a:solidFill>
                <a:latin typeface="Cambria Math"/>
                <a:cs typeface="Cambria Math"/>
              </a:rPr>
              <a:t>𝑪[𝒊</a:t>
            </a:r>
            <a:r>
              <a:rPr sz="2800" spc="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800">
                <a:solidFill>
                  <a:srgbClr val="FFFFFF"/>
                </a:solidFill>
                <a:latin typeface="Cambria Math"/>
                <a:cs typeface="Cambria Math"/>
              </a:rPr>
              <a:t>−</a:t>
            </a:r>
            <a:r>
              <a:rPr sz="2800" spc="1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800" spc="-10">
                <a:solidFill>
                  <a:srgbClr val="FFFFFF"/>
                </a:solidFill>
                <a:latin typeface="Cambria Math"/>
                <a:cs typeface="Cambria Math"/>
              </a:rPr>
              <a:t>𝟏,</a:t>
            </a:r>
            <a:r>
              <a:rPr sz="2800" spc="-13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800" spc="-25">
                <a:solidFill>
                  <a:srgbClr val="FFFFFF"/>
                </a:solidFill>
                <a:latin typeface="Cambria Math"/>
                <a:cs typeface="Cambria Math"/>
              </a:rPr>
              <a:t>𝒋]}</a:t>
            </a:r>
            <a:endParaRPr sz="2800">
              <a:latin typeface="Cambria Math"/>
              <a:cs typeface="Cambria Math"/>
            </a:endParaRPr>
          </a:p>
        </p:txBody>
      </p:sp>
      <p:sp>
        <p:nvSpPr>
          <p:cNvPr id="53" name="object 5">
            <a:extLst>
              <a:ext uri="{FF2B5EF4-FFF2-40B4-BE49-F238E27FC236}">
                <a16:creationId xmlns:a16="http://schemas.microsoft.com/office/drawing/2014/main" id="{0FB6B989-B805-F742-A16E-9B0C66879C43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89026" y="253163"/>
            <a:ext cx="9691371" cy="56618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6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递推关系建立：分析最优（子）结</a:t>
            </a:r>
            <a:r>
              <a:rPr sz="36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构</a:t>
            </a:r>
            <a:endParaRPr sz="36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439736" y="1712689"/>
            <a:ext cx="55244" cy="236220"/>
          </a:xfrm>
          <a:custGeom>
            <a:avLst/>
            <a:gdLst/>
            <a:ahLst/>
            <a:cxnLst/>
            <a:rect l="l" t="t" r="r" b="b"/>
            <a:pathLst>
              <a:path w="55244" h="236219">
                <a:moveTo>
                  <a:pt x="55245" y="0"/>
                </a:moveTo>
                <a:lnTo>
                  <a:pt x="0" y="0"/>
                </a:lnTo>
                <a:lnTo>
                  <a:pt x="0" y="8890"/>
                </a:lnTo>
                <a:lnTo>
                  <a:pt x="34671" y="8890"/>
                </a:lnTo>
                <a:lnTo>
                  <a:pt x="34671" y="226060"/>
                </a:lnTo>
                <a:lnTo>
                  <a:pt x="0" y="226060"/>
                </a:lnTo>
                <a:lnTo>
                  <a:pt x="0" y="236220"/>
                </a:lnTo>
                <a:lnTo>
                  <a:pt x="55245" y="236220"/>
                </a:lnTo>
                <a:lnTo>
                  <a:pt x="55245" y="226060"/>
                </a:lnTo>
                <a:lnTo>
                  <a:pt x="55245" y="8890"/>
                </a:lnTo>
                <a:lnTo>
                  <a:pt x="552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630492" y="1712689"/>
            <a:ext cx="55880" cy="236220"/>
          </a:xfrm>
          <a:custGeom>
            <a:avLst/>
            <a:gdLst/>
            <a:ahLst/>
            <a:cxnLst/>
            <a:rect l="l" t="t" r="r" b="b"/>
            <a:pathLst>
              <a:path w="55880" h="236219">
                <a:moveTo>
                  <a:pt x="55372" y="0"/>
                </a:moveTo>
                <a:lnTo>
                  <a:pt x="0" y="0"/>
                </a:lnTo>
                <a:lnTo>
                  <a:pt x="0" y="8890"/>
                </a:lnTo>
                <a:lnTo>
                  <a:pt x="0" y="226060"/>
                </a:lnTo>
                <a:lnTo>
                  <a:pt x="0" y="236220"/>
                </a:lnTo>
                <a:lnTo>
                  <a:pt x="55372" y="236220"/>
                </a:lnTo>
                <a:lnTo>
                  <a:pt x="55372" y="226060"/>
                </a:lnTo>
                <a:lnTo>
                  <a:pt x="20574" y="226060"/>
                </a:lnTo>
                <a:lnTo>
                  <a:pt x="20574" y="8890"/>
                </a:lnTo>
                <a:lnTo>
                  <a:pt x="55372" y="8890"/>
                </a:lnTo>
                <a:lnTo>
                  <a:pt x="5537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4226626" y="1712689"/>
            <a:ext cx="55244" cy="236220"/>
          </a:xfrm>
          <a:custGeom>
            <a:avLst/>
            <a:gdLst/>
            <a:ahLst/>
            <a:cxnLst/>
            <a:rect l="l" t="t" r="r" b="b"/>
            <a:pathLst>
              <a:path w="55244" h="236219">
                <a:moveTo>
                  <a:pt x="55245" y="0"/>
                </a:moveTo>
                <a:lnTo>
                  <a:pt x="0" y="0"/>
                </a:lnTo>
                <a:lnTo>
                  <a:pt x="0" y="8890"/>
                </a:lnTo>
                <a:lnTo>
                  <a:pt x="34671" y="8890"/>
                </a:lnTo>
                <a:lnTo>
                  <a:pt x="34671" y="226060"/>
                </a:lnTo>
                <a:lnTo>
                  <a:pt x="0" y="226060"/>
                </a:lnTo>
                <a:lnTo>
                  <a:pt x="0" y="236220"/>
                </a:lnTo>
                <a:lnTo>
                  <a:pt x="55245" y="236220"/>
                </a:lnTo>
                <a:lnTo>
                  <a:pt x="55245" y="226060"/>
                </a:lnTo>
                <a:lnTo>
                  <a:pt x="55245" y="8890"/>
                </a:lnTo>
                <a:lnTo>
                  <a:pt x="552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963230" y="1712689"/>
            <a:ext cx="55880" cy="236220"/>
          </a:xfrm>
          <a:custGeom>
            <a:avLst/>
            <a:gdLst/>
            <a:ahLst/>
            <a:cxnLst/>
            <a:rect l="l" t="t" r="r" b="b"/>
            <a:pathLst>
              <a:path w="55880" h="236219">
                <a:moveTo>
                  <a:pt x="55372" y="0"/>
                </a:moveTo>
                <a:lnTo>
                  <a:pt x="0" y="0"/>
                </a:lnTo>
                <a:lnTo>
                  <a:pt x="0" y="8890"/>
                </a:lnTo>
                <a:lnTo>
                  <a:pt x="0" y="226060"/>
                </a:lnTo>
                <a:lnTo>
                  <a:pt x="0" y="236220"/>
                </a:lnTo>
                <a:lnTo>
                  <a:pt x="55372" y="236220"/>
                </a:lnTo>
                <a:lnTo>
                  <a:pt x="55372" y="226060"/>
                </a:lnTo>
                <a:lnTo>
                  <a:pt x="20574" y="226060"/>
                </a:lnTo>
                <a:lnTo>
                  <a:pt x="20574" y="8890"/>
                </a:lnTo>
                <a:lnTo>
                  <a:pt x="55372" y="8890"/>
                </a:lnTo>
                <a:lnTo>
                  <a:pt x="5537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438212" y="2078449"/>
            <a:ext cx="55244" cy="236220"/>
          </a:xfrm>
          <a:custGeom>
            <a:avLst/>
            <a:gdLst/>
            <a:ahLst/>
            <a:cxnLst/>
            <a:rect l="l" t="t" r="r" b="b"/>
            <a:pathLst>
              <a:path w="55244" h="236219">
                <a:moveTo>
                  <a:pt x="55245" y="0"/>
                </a:moveTo>
                <a:lnTo>
                  <a:pt x="0" y="0"/>
                </a:lnTo>
                <a:lnTo>
                  <a:pt x="0" y="10160"/>
                </a:lnTo>
                <a:lnTo>
                  <a:pt x="34671" y="10160"/>
                </a:lnTo>
                <a:lnTo>
                  <a:pt x="34671" y="227330"/>
                </a:lnTo>
                <a:lnTo>
                  <a:pt x="0" y="227330"/>
                </a:lnTo>
                <a:lnTo>
                  <a:pt x="0" y="236220"/>
                </a:lnTo>
                <a:lnTo>
                  <a:pt x="55245" y="236220"/>
                </a:lnTo>
                <a:lnTo>
                  <a:pt x="55245" y="227330"/>
                </a:lnTo>
                <a:lnTo>
                  <a:pt x="55245" y="10160"/>
                </a:lnTo>
                <a:lnTo>
                  <a:pt x="552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630492" y="2078449"/>
            <a:ext cx="55880" cy="236220"/>
          </a:xfrm>
          <a:custGeom>
            <a:avLst/>
            <a:gdLst/>
            <a:ahLst/>
            <a:cxnLst/>
            <a:rect l="l" t="t" r="r" b="b"/>
            <a:pathLst>
              <a:path w="55880" h="236219">
                <a:moveTo>
                  <a:pt x="55372" y="0"/>
                </a:moveTo>
                <a:lnTo>
                  <a:pt x="0" y="0"/>
                </a:lnTo>
                <a:lnTo>
                  <a:pt x="0" y="10160"/>
                </a:lnTo>
                <a:lnTo>
                  <a:pt x="0" y="227330"/>
                </a:lnTo>
                <a:lnTo>
                  <a:pt x="0" y="236220"/>
                </a:lnTo>
                <a:lnTo>
                  <a:pt x="55372" y="236220"/>
                </a:lnTo>
                <a:lnTo>
                  <a:pt x="55372" y="227330"/>
                </a:lnTo>
                <a:lnTo>
                  <a:pt x="20574" y="227330"/>
                </a:lnTo>
                <a:lnTo>
                  <a:pt x="20574" y="10160"/>
                </a:lnTo>
                <a:lnTo>
                  <a:pt x="55372" y="10160"/>
                </a:lnTo>
                <a:lnTo>
                  <a:pt x="5537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226626" y="2078449"/>
            <a:ext cx="55244" cy="236220"/>
          </a:xfrm>
          <a:custGeom>
            <a:avLst/>
            <a:gdLst/>
            <a:ahLst/>
            <a:cxnLst/>
            <a:rect l="l" t="t" r="r" b="b"/>
            <a:pathLst>
              <a:path w="55244" h="236219">
                <a:moveTo>
                  <a:pt x="55245" y="0"/>
                </a:moveTo>
                <a:lnTo>
                  <a:pt x="0" y="0"/>
                </a:lnTo>
                <a:lnTo>
                  <a:pt x="0" y="10160"/>
                </a:lnTo>
                <a:lnTo>
                  <a:pt x="34671" y="10160"/>
                </a:lnTo>
                <a:lnTo>
                  <a:pt x="34671" y="227330"/>
                </a:lnTo>
                <a:lnTo>
                  <a:pt x="0" y="227330"/>
                </a:lnTo>
                <a:lnTo>
                  <a:pt x="0" y="236220"/>
                </a:lnTo>
                <a:lnTo>
                  <a:pt x="55245" y="236220"/>
                </a:lnTo>
                <a:lnTo>
                  <a:pt x="55245" y="227330"/>
                </a:lnTo>
                <a:lnTo>
                  <a:pt x="55245" y="10160"/>
                </a:lnTo>
                <a:lnTo>
                  <a:pt x="552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963230" y="2078449"/>
            <a:ext cx="55880" cy="236220"/>
          </a:xfrm>
          <a:custGeom>
            <a:avLst/>
            <a:gdLst/>
            <a:ahLst/>
            <a:cxnLst/>
            <a:rect l="l" t="t" r="r" b="b"/>
            <a:pathLst>
              <a:path w="55880" h="236219">
                <a:moveTo>
                  <a:pt x="55372" y="0"/>
                </a:moveTo>
                <a:lnTo>
                  <a:pt x="0" y="0"/>
                </a:lnTo>
                <a:lnTo>
                  <a:pt x="0" y="10160"/>
                </a:lnTo>
                <a:lnTo>
                  <a:pt x="0" y="227330"/>
                </a:lnTo>
                <a:lnTo>
                  <a:pt x="0" y="236220"/>
                </a:lnTo>
                <a:lnTo>
                  <a:pt x="55372" y="236220"/>
                </a:lnTo>
                <a:lnTo>
                  <a:pt x="55372" y="227330"/>
                </a:lnTo>
                <a:lnTo>
                  <a:pt x="20574" y="227330"/>
                </a:lnTo>
                <a:lnTo>
                  <a:pt x="20574" y="10160"/>
                </a:lnTo>
                <a:lnTo>
                  <a:pt x="55372" y="10160"/>
                </a:lnTo>
                <a:lnTo>
                  <a:pt x="5537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893888" y="2444209"/>
            <a:ext cx="55244" cy="236220"/>
          </a:xfrm>
          <a:custGeom>
            <a:avLst/>
            <a:gdLst/>
            <a:ahLst/>
            <a:cxnLst/>
            <a:rect l="l" t="t" r="r" b="b"/>
            <a:pathLst>
              <a:path w="55244" h="236219">
                <a:moveTo>
                  <a:pt x="55245" y="0"/>
                </a:moveTo>
                <a:lnTo>
                  <a:pt x="0" y="0"/>
                </a:lnTo>
                <a:lnTo>
                  <a:pt x="0" y="8890"/>
                </a:lnTo>
                <a:lnTo>
                  <a:pt x="34671" y="8890"/>
                </a:lnTo>
                <a:lnTo>
                  <a:pt x="34671" y="226060"/>
                </a:lnTo>
                <a:lnTo>
                  <a:pt x="0" y="226060"/>
                </a:lnTo>
                <a:lnTo>
                  <a:pt x="0" y="236220"/>
                </a:lnTo>
                <a:lnTo>
                  <a:pt x="55245" y="236220"/>
                </a:lnTo>
                <a:lnTo>
                  <a:pt x="55245" y="226060"/>
                </a:lnTo>
                <a:lnTo>
                  <a:pt x="55245" y="8890"/>
                </a:lnTo>
                <a:lnTo>
                  <a:pt x="552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630492" y="2444209"/>
            <a:ext cx="55880" cy="236220"/>
          </a:xfrm>
          <a:custGeom>
            <a:avLst/>
            <a:gdLst/>
            <a:ahLst/>
            <a:cxnLst/>
            <a:rect l="l" t="t" r="r" b="b"/>
            <a:pathLst>
              <a:path w="55880" h="236219">
                <a:moveTo>
                  <a:pt x="55372" y="0"/>
                </a:moveTo>
                <a:lnTo>
                  <a:pt x="0" y="0"/>
                </a:lnTo>
                <a:lnTo>
                  <a:pt x="0" y="8890"/>
                </a:lnTo>
                <a:lnTo>
                  <a:pt x="0" y="226060"/>
                </a:lnTo>
                <a:lnTo>
                  <a:pt x="0" y="236220"/>
                </a:lnTo>
                <a:lnTo>
                  <a:pt x="55372" y="236220"/>
                </a:lnTo>
                <a:lnTo>
                  <a:pt x="55372" y="226060"/>
                </a:lnTo>
                <a:lnTo>
                  <a:pt x="20574" y="226060"/>
                </a:lnTo>
                <a:lnTo>
                  <a:pt x="20574" y="8890"/>
                </a:lnTo>
                <a:lnTo>
                  <a:pt x="55372" y="8890"/>
                </a:lnTo>
                <a:lnTo>
                  <a:pt x="5537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713044" y="990013"/>
            <a:ext cx="4557395" cy="1707514"/>
          </a:xfrm>
          <a:prstGeom prst="rect">
            <a:avLst/>
          </a:prstGeom>
        </p:spPr>
        <p:txBody>
          <a:bodyPr vert="horz" wrap="square" lIns="0" tIns="140335" rIns="0" bIns="0" rtlCol="0">
            <a:spAutoFit/>
          </a:bodyPr>
          <a:lstStyle/>
          <a:p>
            <a:pPr marL="381000" indent="-342900">
              <a:lnSpc>
                <a:spcPct val="100000"/>
              </a:lnSpc>
              <a:spcBef>
                <a:spcPts val="1105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80365" algn="l"/>
                <a:tab pos="381000" algn="l"/>
              </a:tabLst>
            </a:pPr>
            <a:r>
              <a:rPr sz="2800">
                <a:latin typeface="Cambria Math"/>
                <a:cs typeface="Cambria Math"/>
              </a:rPr>
              <a:t>𝒙</a:t>
            </a:r>
            <a:r>
              <a:rPr sz="3075" baseline="-14905">
                <a:latin typeface="Cambria Math"/>
                <a:cs typeface="Cambria Math"/>
              </a:rPr>
              <a:t>𝒊</a:t>
            </a:r>
            <a:r>
              <a:rPr sz="3075" spc="652" baseline="-14905">
                <a:latin typeface="Cambria Math"/>
                <a:cs typeface="Cambria Math"/>
              </a:rPr>
              <a:t> </a:t>
            </a:r>
            <a:r>
              <a:rPr sz="2800">
                <a:latin typeface="Cambria Math"/>
                <a:cs typeface="Cambria Math"/>
              </a:rPr>
              <a:t>=</a:t>
            </a:r>
            <a:r>
              <a:rPr sz="2800" spc="140">
                <a:latin typeface="Cambria Math"/>
                <a:cs typeface="Cambria Math"/>
              </a:rPr>
              <a:t> </a:t>
            </a:r>
            <a:r>
              <a:rPr sz="2800" spc="-25">
                <a:latin typeface="Cambria Math"/>
                <a:cs typeface="Cambria Math"/>
              </a:rPr>
              <a:t>𝒚</a:t>
            </a:r>
            <a:r>
              <a:rPr sz="3075" spc="-37" baseline="-14905">
                <a:latin typeface="Cambria Math"/>
                <a:cs typeface="Cambria Math"/>
              </a:rPr>
              <a:t>𝒋</a:t>
            </a:r>
            <a:endParaRPr sz="3075" baseline="-14905">
              <a:latin typeface="Cambria Math"/>
              <a:cs typeface="Cambria Math"/>
            </a:endParaRPr>
          </a:p>
          <a:p>
            <a:pPr marL="729615" lvl="1" indent="-347980">
              <a:lnSpc>
                <a:spcPct val="100000"/>
              </a:lnSpc>
              <a:spcBef>
                <a:spcPts val="720"/>
              </a:spcBef>
              <a:buClr>
                <a:srgbClr val="DAB6FB"/>
              </a:buClr>
              <a:buSzPct val="70000"/>
              <a:buFont typeface="Wingdings"/>
              <a:buChar char=""/>
              <a:tabLst>
                <a:tab pos="729615" algn="l"/>
                <a:tab pos="730250" algn="l"/>
              </a:tabLst>
            </a:pPr>
            <a:r>
              <a:rPr sz="2000">
                <a:latin typeface="Cambria Math"/>
                <a:cs typeface="Cambria Math"/>
              </a:rPr>
              <a:t>𝑪</a:t>
            </a:r>
            <a:r>
              <a:rPr sz="2000" spc="245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𝒊</a:t>
            </a:r>
            <a:r>
              <a:rPr sz="2000" spc="-5">
                <a:latin typeface="Cambria Math"/>
                <a:cs typeface="Cambria Math"/>
              </a:rPr>
              <a:t> − </a:t>
            </a:r>
            <a:r>
              <a:rPr sz="2000" spc="-10">
                <a:latin typeface="Cambria Math"/>
                <a:cs typeface="Cambria Math"/>
              </a:rPr>
              <a:t>𝟏,</a:t>
            </a:r>
            <a:r>
              <a:rPr sz="2000" spc="-105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𝒋</a:t>
            </a:r>
            <a:r>
              <a:rPr sz="2000" spc="245">
                <a:latin typeface="Cambria Math"/>
                <a:cs typeface="Cambria Math"/>
              </a:rPr>
              <a:t> </a:t>
            </a:r>
            <a:r>
              <a:rPr sz="2000" spc="-20">
                <a:latin typeface="PMingLiU"/>
                <a:cs typeface="PMingLiU"/>
              </a:rPr>
              <a:t>比</a:t>
            </a:r>
            <a:r>
              <a:rPr sz="2000">
                <a:latin typeface="Cambria Math"/>
                <a:cs typeface="Cambria Math"/>
              </a:rPr>
              <a:t>𝑪</a:t>
            </a:r>
            <a:r>
              <a:rPr sz="2000" spc="250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𝒊</a:t>
            </a:r>
            <a:r>
              <a:rPr sz="2000" spc="-5">
                <a:latin typeface="Cambria Math"/>
                <a:cs typeface="Cambria Math"/>
              </a:rPr>
              <a:t> − </a:t>
            </a:r>
            <a:r>
              <a:rPr sz="2000" spc="-10">
                <a:latin typeface="Cambria Math"/>
                <a:cs typeface="Cambria Math"/>
              </a:rPr>
              <a:t>𝟏,</a:t>
            </a:r>
            <a:r>
              <a:rPr sz="2000" spc="-110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𝒋 − 𝟏</a:t>
            </a:r>
            <a:r>
              <a:rPr sz="2000" spc="254">
                <a:latin typeface="Cambria Math"/>
                <a:cs typeface="Cambria Math"/>
              </a:rPr>
              <a:t> </a:t>
            </a:r>
            <a:r>
              <a:rPr sz="2000" spc="-15">
                <a:latin typeface="PMingLiU"/>
                <a:cs typeface="PMingLiU"/>
              </a:rPr>
              <a:t>至多大</a:t>
            </a:r>
            <a:r>
              <a:rPr sz="2000" spc="-50">
                <a:latin typeface="Cambria Math"/>
                <a:cs typeface="Cambria Math"/>
              </a:rPr>
              <a:t>𝟏</a:t>
            </a:r>
            <a:endParaRPr sz="2000">
              <a:latin typeface="Cambria Math"/>
              <a:cs typeface="Cambria Math"/>
            </a:endParaRPr>
          </a:p>
          <a:p>
            <a:pPr marL="729615" lvl="1" indent="-347980">
              <a:lnSpc>
                <a:spcPct val="100000"/>
              </a:lnSpc>
              <a:spcBef>
                <a:spcPts val="484"/>
              </a:spcBef>
              <a:buClr>
                <a:srgbClr val="DAB6FB"/>
              </a:buClr>
              <a:buSzPct val="70000"/>
              <a:buFont typeface="Wingdings"/>
              <a:buChar char=""/>
              <a:tabLst>
                <a:tab pos="729615" algn="l"/>
                <a:tab pos="730250" algn="l"/>
              </a:tabLst>
            </a:pPr>
            <a:r>
              <a:rPr sz="2000">
                <a:latin typeface="Cambria Math"/>
                <a:cs typeface="Cambria Math"/>
              </a:rPr>
              <a:t>𝑪</a:t>
            </a:r>
            <a:r>
              <a:rPr sz="2000" spc="245">
                <a:latin typeface="Cambria Math"/>
                <a:cs typeface="Cambria Math"/>
              </a:rPr>
              <a:t> </a:t>
            </a:r>
            <a:r>
              <a:rPr sz="2000" spc="-10">
                <a:latin typeface="Cambria Math"/>
                <a:cs typeface="Cambria Math"/>
              </a:rPr>
              <a:t>𝒊</a:t>
            </a:r>
            <a:r>
              <a:rPr sz="2000" spc="-60">
                <a:latin typeface="Cambria Math"/>
                <a:cs typeface="Cambria Math"/>
              </a:rPr>
              <a:t>, </a:t>
            </a:r>
            <a:r>
              <a:rPr sz="2000">
                <a:latin typeface="Cambria Math"/>
                <a:cs typeface="Cambria Math"/>
              </a:rPr>
              <a:t>𝒋</a:t>
            </a:r>
            <a:r>
              <a:rPr sz="2000" spc="-5">
                <a:latin typeface="Cambria Math"/>
                <a:cs typeface="Cambria Math"/>
              </a:rPr>
              <a:t> − </a:t>
            </a:r>
            <a:r>
              <a:rPr sz="2000">
                <a:latin typeface="Cambria Math"/>
                <a:cs typeface="Cambria Math"/>
              </a:rPr>
              <a:t>𝟏</a:t>
            </a:r>
            <a:r>
              <a:rPr sz="2000" spc="250">
                <a:latin typeface="Cambria Math"/>
                <a:cs typeface="Cambria Math"/>
              </a:rPr>
              <a:t> </a:t>
            </a:r>
            <a:r>
              <a:rPr sz="2000" spc="-20">
                <a:latin typeface="PMingLiU"/>
                <a:cs typeface="PMingLiU"/>
              </a:rPr>
              <a:t>比</a:t>
            </a:r>
            <a:r>
              <a:rPr sz="2000">
                <a:latin typeface="Cambria Math"/>
                <a:cs typeface="Cambria Math"/>
              </a:rPr>
              <a:t>𝑪</a:t>
            </a:r>
            <a:r>
              <a:rPr sz="2000" spc="254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𝒊</a:t>
            </a:r>
            <a:r>
              <a:rPr sz="2000" spc="-5">
                <a:latin typeface="Cambria Math"/>
                <a:cs typeface="Cambria Math"/>
              </a:rPr>
              <a:t> − </a:t>
            </a:r>
            <a:r>
              <a:rPr sz="2000" spc="-10">
                <a:latin typeface="Cambria Math"/>
                <a:cs typeface="Cambria Math"/>
              </a:rPr>
              <a:t>𝟏,</a:t>
            </a:r>
            <a:r>
              <a:rPr sz="2000" spc="-110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𝒋 − 𝟏</a:t>
            </a:r>
            <a:r>
              <a:rPr sz="2000" spc="254">
                <a:latin typeface="Cambria Math"/>
                <a:cs typeface="Cambria Math"/>
              </a:rPr>
              <a:t> </a:t>
            </a:r>
            <a:r>
              <a:rPr sz="2000" spc="-15">
                <a:latin typeface="PMingLiU"/>
                <a:cs typeface="PMingLiU"/>
              </a:rPr>
              <a:t>至多大</a:t>
            </a:r>
            <a:r>
              <a:rPr sz="2000" spc="-50">
                <a:latin typeface="Cambria Math"/>
                <a:cs typeface="Cambria Math"/>
              </a:rPr>
              <a:t>𝟏</a:t>
            </a:r>
            <a:endParaRPr sz="2000">
              <a:latin typeface="Cambria Math"/>
              <a:cs typeface="Cambria Math"/>
            </a:endParaRPr>
          </a:p>
          <a:p>
            <a:pPr marL="729615" lvl="1" indent="-347980">
              <a:lnSpc>
                <a:spcPct val="100000"/>
              </a:lnSpc>
              <a:spcBef>
                <a:spcPts val="475"/>
              </a:spcBef>
              <a:buClr>
                <a:srgbClr val="DAB6FB"/>
              </a:buClr>
              <a:buSzPct val="70000"/>
              <a:buFont typeface="Wingdings"/>
              <a:buChar char=""/>
              <a:tabLst>
                <a:tab pos="729615" algn="l"/>
                <a:tab pos="730250" algn="l"/>
                <a:tab pos="2321560" algn="l"/>
              </a:tabLst>
            </a:pPr>
            <a:r>
              <a:rPr sz="2000">
                <a:latin typeface="Cambria Math"/>
                <a:cs typeface="Cambria Math"/>
              </a:rPr>
              <a:t>𝑪</a:t>
            </a:r>
            <a:r>
              <a:rPr sz="2000" spc="240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𝒊</a:t>
            </a:r>
            <a:r>
              <a:rPr sz="2000" spc="-10">
                <a:latin typeface="Cambria Math"/>
                <a:cs typeface="Cambria Math"/>
              </a:rPr>
              <a:t> − 𝟏,</a:t>
            </a:r>
            <a:r>
              <a:rPr sz="2000" spc="-105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𝒋</a:t>
            </a:r>
            <a:r>
              <a:rPr sz="2000" spc="-5">
                <a:latin typeface="Cambria Math"/>
                <a:cs typeface="Cambria Math"/>
              </a:rPr>
              <a:t> − </a:t>
            </a:r>
            <a:r>
              <a:rPr sz="2000" spc="-50">
                <a:latin typeface="Cambria Math"/>
                <a:cs typeface="Cambria Math"/>
              </a:rPr>
              <a:t>𝟏</a:t>
            </a:r>
            <a:r>
              <a:rPr sz="2000">
                <a:latin typeface="Cambria Math"/>
                <a:cs typeface="Cambria Math"/>
              </a:rPr>
              <a:t>	</a:t>
            </a:r>
            <a:r>
              <a:rPr sz="2000" spc="5">
                <a:latin typeface="Cambria Math"/>
                <a:cs typeface="Cambria Math"/>
              </a:rPr>
              <a:t>+ </a:t>
            </a:r>
            <a:r>
              <a:rPr sz="2000" spc="-25">
                <a:latin typeface="Cambria Math"/>
                <a:cs typeface="Cambria Math"/>
              </a:rPr>
              <a:t>𝟏</a:t>
            </a:r>
            <a:r>
              <a:rPr sz="2000" spc="-25">
                <a:latin typeface="PMingLiU"/>
                <a:cs typeface="PMingLiU"/>
              </a:rPr>
              <a:t>，</a:t>
            </a:r>
            <a:r>
              <a:rPr sz="2000" spc="-20">
                <a:latin typeface="PMingLiU"/>
                <a:cs typeface="PMingLiU"/>
              </a:rPr>
              <a:t>另外两个</a:t>
            </a:r>
            <a:r>
              <a:rPr sz="2000" spc="-25">
                <a:latin typeface="Cambria Math"/>
                <a:cs typeface="Cambria Math"/>
              </a:rPr>
              <a:t>+𝟎</a:t>
            </a:r>
            <a:endParaRPr sz="2000">
              <a:latin typeface="Cambria Math"/>
              <a:cs typeface="Cambria Math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9670160" y="1018413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9899650" y="1314449"/>
            <a:ext cx="1397000" cy="3003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20">
                <a:solidFill>
                  <a:srgbClr val="FFFFFF"/>
                </a:solidFill>
                <a:latin typeface="PMingLiU"/>
                <a:cs typeface="PMingLiU"/>
              </a:rPr>
              <a:t>问题结构分析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10378440" y="2052827"/>
            <a:ext cx="439420" cy="367030"/>
          </a:xfrm>
          <a:custGeom>
            <a:avLst/>
            <a:gdLst/>
            <a:ahLst/>
            <a:cxnLst/>
            <a:rect l="l" t="t" r="r" b="b"/>
            <a:pathLst>
              <a:path w="439420" h="367030">
                <a:moveTo>
                  <a:pt x="351154" y="0"/>
                </a:moveTo>
                <a:lnTo>
                  <a:pt x="87756" y="0"/>
                </a:lnTo>
                <a:lnTo>
                  <a:pt x="87756" y="183261"/>
                </a:lnTo>
                <a:lnTo>
                  <a:pt x="0" y="183261"/>
                </a:lnTo>
                <a:lnTo>
                  <a:pt x="219455" y="366522"/>
                </a:lnTo>
                <a:lnTo>
                  <a:pt x="438911" y="183261"/>
                </a:lnTo>
                <a:lnTo>
                  <a:pt x="351154" y="183261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9670160" y="2480691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83C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 txBox="1"/>
          <p:nvPr/>
        </p:nvSpPr>
        <p:spPr>
          <a:xfrm>
            <a:off x="9899650" y="2776982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递推关系建立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10378440" y="3515105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9"/>
                </a:lnTo>
                <a:lnTo>
                  <a:pt x="0" y="182499"/>
                </a:lnTo>
                <a:lnTo>
                  <a:pt x="219455" y="364998"/>
                </a:lnTo>
                <a:lnTo>
                  <a:pt x="438911" y="182499"/>
                </a:lnTo>
                <a:lnTo>
                  <a:pt x="351154" y="182499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9670160" y="3941445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8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8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9899650" y="4237735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自底向上计算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10378440" y="4975859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8"/>
                </a:lnTo>
                <a:lnTo>
                  <a:pt x="0" y="182498"/>
                </a:lnTo>
                <a:lnTo>
                  <a:pt x="219455" y="364997"/>
                </a:lnTo>
                <a:lnTo>
                  <a:pt x="438911" y="182498"/>
                </a:lnTo>
                <a:lnTo>
                  <a:pt x="351154" y="182498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9670160" y="5402198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52"/>
                </a:lnTo>
                <a:lnTo>
                  <a:pt x="7647" y="914358"/>
                </a:lnTo>
                <a:lnTo>
                  <a:pt x="28511" y="945313"/>
                </a:lnTo>
                <a:lnTo>
                  <a:pt x="59471" y="966183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3"/>
                </a:lnTo>
                <a:lnTo>
                  <a:pt x="1827720" y="945313"/>
                </a:lnTo>
                <a:lnTo>
                  <a:pt x="1848584" y="914358"/>
                </a:lnTo>
                <a:lnTo>
                  <a:pt x="1856232" y="876452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 txBox="1"/>
          <p:nvPr/>
        </p:nvSpPr>
        <p:spPr>
          <a:xfrm>
            <a:off x="9899650" y="5698744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最优方案追踪</a:t>
            </a:r>
            <a:endParaRPr sz="1800">
              <a:latin typeface="PMingLiU"/>
              <a:cs typeface="PMingLiU"/>
            </a:endParaRPr>
          </a:p>
        </p:txBody>
      </p:sp>
      <p:graphicFrame>
        <p:nvGraphicFramePr>
          <p:cNvPr id="25" name="object 25"/>
          <p:cNvGraphicFramePr>
            <a:graphicFrameLocks noGrp="1"/>
          </p:cNvGraphicFramePr>
          <p:nvPr/>
        </p:nvGraphicFramePr>
        <p:xfrm>
          <a:off x="5935471" y="2277364"/>
          <a:ext cx="3350259" cy="514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4984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18745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6520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  <a:spcBef>
                          <a:spcPts val="1035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𝒋−𝟏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3144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7E7E7E"/>
                      </a:solidFill>
                      <a:prstDash val="lgDash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2875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2000" spc="-25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80010" marB="0">
                    <a:lnL w="12700">
                      <a:solidFill>
                        <a:srgbClr val="7E7E7E"/>
                      </a:solidFill>
                      <a:prstDash val="lgDash"/>
                    </a:lnL>
                    <a:lnR w="12700">
                      <a:solidFill>
                        <a:srgbClr val="7E7E7E"/>
                      </a:solidFill>
                      <a:prstDash val="lgDash"/>
                    </a:lnR>
                    <a:lnT w="12700">
                      <a:solidFill>
                        <a:srgbClr val="7E7E7E"/>
                      </a:solidFill>
                      <a:prstDash val="solid"/>
                    </a:lnT>
                    <a:lnB w="12700">
                      <a:solidFill>
                        <a:srgbClr val="7E7E7E"/>
                      </a:solidFill>
                      <a:prstDash val="lgDash"/>
                    </a:lnB>
                    <a:solidFill>
                      <a:srgbClr val="BEBEB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6" name="object 26"/>
          <p:cNvGraphicFramePr>
            <a:graphicFrameLocks noGrp="1"/>
          </p:cNvGraphicFramePr>
          <p:nvPr/>
        </p:nvGraphicFramePr>
        <p:xfrm>
          <a:off x="5935471" y="5331205"/>
          <a:ext cx="3350259" cy="514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4984">
                <a:tc>
                  <a:txBody>
                    <a:bodyPr/>
                    <a:lstStyle/>
                    <a:p>
                      <a:pPr marL="14160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192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545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𝒊−𝟏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𝒊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7" name="object 27"/>
          <p:cNvSpPr/>
          <p:nvPr/>
        </p:nvSpPr>
        <p:spPr>
          <a:xfrm>
            <a:off x="5050535" y="1514094"/>
            <a:ext cx="626745" cy="5034915"/>
          </a:xfrm>
          <a:custGeom>
            <a:avLst/>
            <a:gdLst/>
            <a:ahLst/>
            <a:cxnLst/>
            <a:rect l="l" t="t" r="r" b="b"/>
            <a:pathLst>
              <a:path w="626745" h="5034915">
                <a:moveTo>
                  <a:pt x="626363" y="5034533"/>
                </a:moveTo>
                <a:lnTo>
                  <a:pt x="554551" y="5033155"/>
                </a:lnTo>
                <a:lnTo>
                  <a:pt x="488630" y="5029228"/>
                </a:lnTo>
                <a:lnTo>
                  <a:pt x="430481" y="5023067"/>
                </a:lnTo>
                <a:lnTo>
                  <a:pt x="381981" y="5014984"/>
                </a:lnTo>
                <a:lnTo>
                  <a:pt x="345012" y="5005292"/>
                </a:lnTo>
                <a:lnTo>
                  <a:pt x="313181" y="4982336"/>
                </a:lnTo>
                <a:lnTo>
                  <a:pt x="313181" y="2569463"/>
                </a:lnTo>
                <a:lnTo>
                  <a:pt x="304911" y="2557495"/>
                </a:lnTo>
                <a:lnTo>
                  <a:pt x="244382" y="2536816"/>
                </a:lnTo>
                <a:lnTo>
                  <a:pt x="195882" y="2528733"/>
                </a:lnTo>
                <a:lnTo>
                  <a:pt x="137733" y="2522572"/>
                </a:lnTo>
                <a:lnTo>
                  <a:pt x="71812" y="2518645"/>
                </a:lnTo>
                <a:lnTo>
                  <a:pt x="0" y="2517266"/>
                </a:lnTo>
                <a:lnTo>
                  <a:pt x="71812" y="2515888"/>
                </a:lnTo>
                <a:lnTo>
                  <a:pt x="137733" y="2511961"/>
                </a:lnTo>
                <a:lnTo>
                  <a:pt x="195882" y="2505800"/>
                </a:lnTo>
                <a:lnTo>
                  <a:pt x="244382" y="2497717"/>
                </a:lnTo>
                <a:lnTo>
                  <a:pt x="281351" y="2488025"/>
                </a:lnTo>
                <a:lnTo>
                  <a:pt x="313181" y="2465069"/>
                </a:lnTo>
                <a:lnTo>
                  <a:pt x="313181" y="52196"/>
                </a:lnTo>
                <a:lnTo>
                  <a:pt x="321452" y="40228"/>
                </a:lnTo>
                <a:lnTo>
                  <a:pt x="381981" y="19549"/>
                </a:lnTo>
                <a:lnTo>
                  <a:pt x="430481" y="11466"/>
                </a:lnTo>
                <a:lnTo>
                  <a:pt x="488630" y="5305"/>
                </a:lnTo>
                <a:lnTo>
                  <a:pt x="554551" y="1378"/>
                </a:lnTo>
                <a:lnTo>
                  <a:pt x="626363" y="0"/>
                </a:lnTo>
              </a:path>
            </a:pathLst>
          </a:custGeom>
          <a:ln w="285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28" name="object 28"/>
          <p:cNvGraphicFramePr>
            <a:graphicFrameLocks noGrp="1"/>
          </p:cNvGraphicFramePr>
          <p:nvPr/>
        </p:nvGraphicFramePr>
        <p:xfrm>
          <a:off x="727646" y="3418585"/>
          <a:ext cx="3350259" cy="514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4984"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545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𝒊−𝟏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𝒊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9" name="object 29"/>
          <p:cNvGraphicFramePr>
            <a:graphicFrameLocks noGrp="1"/>
          </p:cNvGraphicFramePr>
          <p:nvPr/>
        </p:nvGraphicFramePr>
        <p:xfrm>
          <a:off x="727646" y="4015613"/>
          <a:ext cx="3350259" cy="514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4984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1874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652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">
                        <a:lnSpc>
                          <a:spcPct val="100000"/>
                        </a:lnSpc>
                        <a:spcBef>
                          <a:spcPts val="1035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𝒋−𝟏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3144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𝒋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7937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0" name="object 30"/>
          <p:cNvSpPr txBox="1"/>
          <p:nvPr/>
        </p:nvSpPr>
        <p:spPr>
          <a:xfrm>
            <a:off x="842263" y="2987040"/>
            <a:ext cx="7740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spc="-10">
                <a:latin typeface="Cambria Math"/>
                <a:cs typeface="Cambria Math"/>
              </a:rPr>
              <a:t>𝑪[𝒊,</a:t>
            </a:r>
            <a:r>
              <a:rPr sz="2400" spc="-11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𝒋]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4348479" y="3553205"/>
            <a:ext cx="730250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800" spc="-25">
                <a:latin typeface="Cambria Math"/>
                <a:cs typeface="Cambria Math"/>
              </a:rPr>
              <a:t>𝐦𝐚𝐱</a:t>
            </a:r>
            <a:endParaRPr sz="2800">
              <a:latin typeface="Cambria Math"/>
              <a:cs typeface="Cambria Math"/>
            </a:endParaRPr>
          </a:p>
        </p:txBody>
      </p:sp>
      <p:graphicFrame>
        <p:nvGraphicFramePr>
          <p:cNvPr id="32" name="object 32"/>
          <p:cNvGraphicFramePr>
            <a:graphicFrameLocks noGrp="1"/>
          </p:cNvGraphicFramePr>
          <p:nvPr/>
        </p:nvGraphicFramePr>
        <p:xfrm>
          <a:off x="5935471" y="1652777"/>
          <a:ext cx="3588384" cy="514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381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514984">
                <a:tc>
                  <a:txBody>
                    <a:bodyPr/>
                    <a:lstStyle/>
                    <a:p>
                      <a:pPr marL="141605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1920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545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𝒊−𝟏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7E7E7E"/>
                      </a:solidFill>
                      <a:prstDash val="lgDash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775"/>
                        </a:spcBef>
                      </a:pPr>
                      <a:r>
                        <a:rPr sz="2000" spc="-25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8425" marB="0">
                    <a:lnL w="12700">
                      <a:solidFill>
                        <a:srgbClr val="7E7E7E"/>
                      </a:solidFill>
                      <a:prstDash val="lgDash"/>
                    </a:lnL>
                    <a:lnR w="12700">
                      <a:solidFill>
                        <a:srgbClr val="7E7E7E"/>
                      </a:solidFill>
                      <a:prstDash val="lgDash"/>
                    </a:lnR>
                    <a:lnB w="12700">
                      <a:solidFill>
                        <a:srgbClr val="7E7E7E"/>
                      </a:solidFill>
                      <a:prstDash val="solid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7E7E7E"/>
                      </a:solidFill>
                      <a:prstDash val="lgDash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3" name="object 33"/>
          <p:cNvGraphicFramePr>
            <a:graphicFrameLocks noGrp="1"/>
          </p:cNvGraphicFramePr>
          <p:nvPr/>
        </p:nvGraphicFramePr>
        <p:xfrm>
          <a:off x="5935471" y="3997959"/>
          <a:ext cx="3350259" cy="514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4984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1874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652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  <a:spcBef>
                          <a:spcPts val="1030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𝒋−𝟏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3081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9065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𝒋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7937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4" name="object 34"/>
          <p:cNvGraphicFramePr>
            <a:graphicFrameLocks noGrp="1"/>
          </p:cNvGraphicFramePr>
          <p:nvPr/>
        </p:nvGraphicFramePr>
        <p:xfrm>
          <a:off x="5935471" y="3391852"/>
          <a:ext cx="3588384" cy="5168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381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516890">
                <a:tc>
                  <a:txBody>
                    <a:bodyPr/>
                    <a:lstStyle/>
                    <a:p>
                      <a:pPr marL="141605">
                        <a:lnSpc>
                          <a:spcPct val="100000"/>
                        </a:lnSpc>
                        <a:spcBef>
                          <a:spcPts val="780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906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1920">
                        <a:lnSpc>
                          <a:spcPct val="100000"/>
                        </a:lnSpc>
                        <a:spcBef>
                          <a:spcPts val="780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906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780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906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80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906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545">
                        <a:lnSpc>
                          <a:spcPct val="100000"/>
                        </a:lnSpc>
                        <a:spcBef>
                          <a:spcPts val="1185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𝒊−𝟏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5049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7E7E7E"/>
                      </a:solidFill>
                      <a:prstDash val="lgDash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790"/>
                        </a:spcBef>
                      </a:pPr>
                      <a:r>
                        <a:rPr sz="2000" spc="-25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100330" marB="0">
                    <a:lnL w="12700">
                      <a:solidFill>
                        <a:srgbClr val="7E7E7E"/>
                      </a:solidFill>
                      <a:prstDash val="lgDash"/>
                    </a:lnL>
                    <a:lnR w="12700">
                      <a:solidFill>
                        <a:srgbClr val="7E7E7E"/>
                      </a:solidFill>
                      <a:prstDash val="lgDash"/>
                    </a:lnR>
                    <a:lnT w="12700">
                      <a:solidFill>
                        <a:srgbClr val="7E7E7E"/>
                      </a:solidFill>
                      <a:prstDash val="lgDash"/>
                    </a:lnT>
                    <a:lnB w="12700">
                      <a:solidFill>
                        <a:srgbClr val="7E7E7E"/>
                      </a:solidFill>
                      <a:prstDash val="lgDash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7E7E7E"/>
                      </a:solidFill>
                      <a:prstDash val="lgDash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5" name="object 35"/>
          <p:cNvGraphicFramePr>
            <a:graphicFrameLocks noGrp="1"/>
          </p:cNvGraphicFramePr>
          <p:nvPr/>
        </p:nvGraphicFramePr>
        <p:xfrm>
          <a:off x="5935471" y="5943231"/>
          <a:ext cx="3350259" cy="514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4984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1874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652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  <a:spcBef>
                          <a:spcPts val="1035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𝒋−𝟏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3144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7E7E7E"/>
                      </a:solidFill>
                      <a:prstDash val="lgDash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2875">
                        <a:lnSpc>
                          <a:spcPct val="100000"/>
                        </a:lnSpc>
                        <a:spcBef>
                          <a:spcPts val="635"/>
                        </a:spcBef>
                      </a:pPr>
                      <a:r>
                        <a:rPr sz="2000" spc="-25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80645" marB="0">
                    <a:lnL w="12700">
                      <a:solidFill>
                        <a:srgbClr val="7E7E7E"/>
                      </a:solidFill>
                      <a:prstDash val="lgDash"/>
                    </a:lnL>
                    <a:lnR w="12700">
                      <a:solidFill>
                        <a:srgbClr val="7E7E7E"/>
                      </a:solidFill>
                      <a:prstDash val="lgDash"/>
                    </a:lnR>
                    <a:lnT w="12700">
                      <a:solidFill>
                        <a:srgbClr val="7E7E7E"/>
                      </a:solidFill>
                      <a:prstDash val="solid"/>
                    </a:lnT>
                    <a:lnB w="12700">
                      <a:solidFill>
                        <a:srgbClr val="7E7E7E"/>
                      </a:solidFill>
                      <a:prstDash val="lgDash"/>
                    </a:lnB>
                    <a:solidFill>
                      <a:srgbClr val="BEBEB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6" name="object 36"/>
          <p:cNvSpPr txBox="1"/>
          <p:nvPr/>
        </p:nvSpPr>
        <p:spPr>
          <a:xfrm>
            <a:off x="8408669" y="2934461"/>
            <a:ext cx="1108075" cy="462280"/>
          </a:xfrm>
          <a:prstGeom prst="rect">
            <a:avLst/>
          </a:prstGeom>
          <a:solidFill>
            <a:srgbClr val="006FC0"/>
          </a:solidFill>
        </p:spPr>
        <p:txBody>
          <a:bodyPr vert="horz" wrap="square" lIns="0" tIns="7620" rIns="0" bIns="0" rtlCol="0">
            <a:spAutoFit/>
          </a:bodyPr>
          <a:lstStyle/>
          <a:p>
            <a:pPr marL="91440">
              <a:lnSpc>
                <a:spcPct val="100000"/>
              </a:lnSpc>
              <a:spcBef>
                <a:spcPts val="60"/>
              </a:spcBef>
            </a:pPr>
            <a:r>
              <a:rPr sz="2400" spc="-20">
                <a:solidFill>
                  <a:srgbClr val="FFFFFF"/>
                </a:solidFill>
                <a:latin typeface="PMingLiU"/>
                <a:cs typeface="PMingLiU"/>
              </a:rPr>
              <a:t>非必要</a:t>
            </a:r>
            <a:endParaRPr sz="2400">
              <a:latin typeface="PMingLiU"/>
              <a:cs typeface="PMingLiU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8408669" y="4863846"/>
            <a:ext cx="1108075" cy="462280"/>
          </a:xfrm>
          <a:prstGeom prst="rect">
            <a:avLst/>
          </a:prstGeom>
          <a:solidFill>
            <a:srgbClr val="006FC0"/>
          </a:solidFill>
        </p:spPr>
        <p:txBody>
          <a:bodyPr vert="horz" wrap="square" lIns="0" tIns="8255" rIns="0" bIns="0" rtlCol="0">
            <a:spAutoFit/>
          </a:bodyPr>
          <a:lstStyle/>
          <a:p>
            <a:pPr marL="91440">
              <a:lnSpc>
                <a:spcPct val="100000"/>
              </a:lnSpc>
              <a:spcBef>
                <a:spcPts val="65"/>
              </a:spcBef>
            </a:pPr>
            <a:r>
              <a:rPr sz="2400" spc="-20">
                <a:solidFill>
                  <a:srgbClr val="FFFFFF"/>
                </a:solidFill>
                <a:latin typeface="PMingLiU"/>
                <a:cs typeface="PMingLiU"/>
              </a:rPr>
              <a:t>非必要</a:t>
            </a:r>
            <a:endParaRPr sz="2400">
              <a:latin typeface="PMingLiU"/>
              <a:cs typeface="PMingLiU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8408669" y="1207769"/>
            <a:ext cx="1108075" cy="462280"/>
          </a:xfrm>
          <a:prstGeom prst="rect">
            <a:avLst/>
          </a:prstGeom>
          <a:solidFill>
            <a:srgbClr val="006FC0"/>
          </a:solidFill>
        </p:spPr>
        <p:txBody>
          <a:bodyPr vert="horz" wrap="square" lIns="0" tIns="7620" rIns="0" bIns="0" rtlCol="0">
            <a:spAutoFit/>
          </a:bodyPr>
          <a:lstStyle/>
          <a:p>
            <a:pPr marL="91440">
              <a:lnSpc>
                <a:spcPct val="100000"/>
              </a:lnSpc>
              <a:spcBef>
                <a:spcPts val="60"/>
              </a:spcBef>
            </a:pPr>
            <a:r>
              <a:rPr sz="2400" spc="-25">
                <a:solidFill>
                  <a:srgbClr val="FFFFFF"/>
                </a:solidFill>
                <a:latin typeface="PMingLiU"/>
                <a:cs typeface="PMingLiU"/>
              </a:rPr>
              <a:t>已充分</a:t>
            </a:r>
            <a:endParaRPr sz="2400">
              <a:latin typeface="PMingLiU"/>
              <a:cs typeface="PMingLiU"/>
            </a:endParaRPr>
          </a:p>
        </p:txBody>
      </p:sp>
      <p:sp>
        <p:nvSpPr>
          <p:cNvPr id="39" name="object 39"/>
          <p:cNvSpPr/>
          <p:nvPr/>
        </p:nvSpPr>
        <p:spPr>
          <a:xfrm>
            <a:off x="7662418" y="129793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09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656" y="11430"/>
                </a:lnTo>
                <a:lnTo>
                  <a:pt x="41656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6149975" y="129793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09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 txBox="1"/>
          <p:nvPr/>
        </p:nvSpPr>
        <p:spPr>
          <a:xfrm>
            <a:off x="5912358" y="1209040"/>
            <a:ext cx="240919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918970" algn="l"/>
              </a:tabLst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31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𝒊 − </a:t>
            </a:r>
            <a:r>
              <a:rPr sz="2400" spc="-10">
                <a:latin typeface="Cambria Math"/>
                <a:cs typeface="Cambria Math"/>
              </a:rPr>
              <a:t>𝟏,</a:t>
            </a:r>
            <a:r>
              <a:rPr sz="2400" spc="-13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𝒋</a:t>
            </a:r>
            <a:r>
              <a:rPr sz="2400" spc="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−</a:t>
            </a:r>
            <a:r>
              <a:rPr sz="2400" spc="5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𝟏</a:t>
            </a:r>
            <a:r>
              <a:rPr sz="2400">
                <a:latin typeface="Cambria Math"/>
                <a:cs typeface="Cambria Math"/>
              </a:rPr>
              <a:t>	+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𝟏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7114540" y="499617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656" y="11430"/>
                </a:lnTo>
                <a:lnTo>
                  <a:pt x="41656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6146927" y="499617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 txBox="1"/>
          <p:nvPr/>
        </p:nvSpPr>
        <p:spPr>
          <a:xfrm>
            <a:off x="5909309" y="4907279"/>
            <a:ext cx="186436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373505" algn="l"/>
              </a:tabLst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305">
                <a:latin typeface="Cambria Math"/>
                <a:cs typeface="Cambria Math"/>
              </a:rPr>
              <a:t> </a:t>
            </a:r>
            <a:r>
              <a:rPr sz="2400" spc="-10">
                <a:latin typeface="Cambria Math"/>
                <a:cs typeface="Cambria Math"/>
              </a:rPr>
              <a:t>𝒊,</a:t>
            </a:r>
            <a:r>
              <a:rPr sz="2400" spc="-14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𝒋</a:t>
            </a:r>
            <a:r>
              <a:rPr sz="2400" spc="1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−</a:t>
            </a:r>
            <a:r>
              <a:rPr sz="2400" spc="5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𝟏</a:t>
            </a:r>
            <a:r>
              <a:rPr sz="2400">
                <a:latin typeface="Cambria Math"/>
                <a:cs typeface="Cambria Math"/>
              </a:rPr>
              <a:t>	+ </a:t>
            </a:r>
            <a:r>
              <a:rPr sz="2400" spc="-50">
                <a:latin typeface="Cambria Math"/>
                <a:cs typeface="Cambria Math"/>
              </a:rPr>
              <a:t>𝟎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45" name="object 45"/>
          <p:cNvSpPr/>
          <p:nvPr/>
        </p:nvSpPr>
        <p:spPr>
          <a:xfrm>
            <a:off x="7114540" y="3073399"/>
            <a:ext cx="66675" cy="284480"/>
          </a:xfrm>
          <a:custGeom>
            <a:avLst/>
            <a:gdLst/>
            <a:ahLst/>
            <a:cxnLst/>
            <a:rect l="l" t="t" r="r" b="b"/>
            <a:pathLst>
              <a:path w="66675" h="284479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656" y="11430"/>
                </a:lnTo>
                <a:lnTo>
                  <a:pt x="41656" y="273050"/>
                </a:lnTo>
                <a:lnTo>
                  <a:pt x="0" y="273050"/>
                </a:lnTo>
                <a:lnTo>
                  <a:pt x="0" y="284480"/>
                </a:lnTo>
                <a:lnTo>
                  <a:pt x="66421" y="284480"/>
                </a:lnTo>
                <a:lnTo>
                  <a:pt x="66421" y="27305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146927" y="3073399"/>
            <a:ext cx="66675" cy="284480"/>
          </a:xfrm>
          <a:custGeom>
            <a:avLst/>
            <a:gdLst/>
            <a:ahLst/>
            <a:cxnLst/>
            <a:rect l="l" t="t" r="r" b="b"/>
            <a:pathLst>
              <a:path w="66675" h="284479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3050"/>
                </a:lnTo>
                <a:lnTo>
                  <a:pt x="0" y="284480"/>
                </a:lnTo>
                <a:lnTo>
                  <a:pt x="66421" y="284480"/>
                </a:lnTo>
                <a:lnTo>
                  <a:pt x="66421" y="273050"/>
                </a:lnTo>
                <a:lnTo>
                  <a:pt x="24765" y="27305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 txBox="1"/>
          <p:nvPr/>
        </p:nvSpPr>
        <p:spPr>
          <a:xfrm>
            <a:off x="5909309" y="2985261"/>
            <a:ext cx="186436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373505" algn="l"/>
              </a:tabLst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31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𝒊</a:t>
            </a:r>
            <a:r>
              <a:rPr sz="2400" spc="-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−</a:t>
            </a:r>
            <a:r>
              <a:rPr sz="2400" spc="5">
                <a:latin typeface="Cambria Math"/>
                <a:cs typeface="Cambria Math"/>
              </a:rPr>
              <a:t> </a:t>
            </a:r>
            <a:r>
              <a:rPr sz="2400" spc="-10">
                <a:latin typeface="Cambria Math"/>
                <a:cs typeface="Cambria Math"/>
              </a:rPr>
              <a:t>𝟏,</a:t>
            </a:r>
            <a:r>
              <a:rPr sz="2400" spc="-13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𝒋</a:t>
            </a:r>
            <a:r>
              <a:rPr sz="2400">
                <a:latin typeface="Cambria Math"/>
                <a:cs typeface="Cambria Math"/>
              </a:rPr>
              <a:t>	+ </a:t>
            </a:r>
            <a:r>
              <a:rPr sz="2400" spc="-50">
                <a:latin typeface="Cambria Math"/>
                <a:cs typeface="Cambria Math"/>
              </a:rPr>
              <a:t>𝟎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48" name="object 48"/>
          <p:cNvSpPr/>
          <p:nvPr/>
        </p:nvSpPr>
        <p:spPr>
          <a:xfrm>
            <a:off x="55626" y="4943855"/>
            <a:ext cx="5274945" cy="1303020"/>
          </a:xfrm>
          <a:custGeom>
            <a:avLst/>
            <a:gdLst/>
            <a:ahLst/>
            <a:cxnLst/>
            <a:rect l="l" t="t" r="r" b="b"/>
            <a:pathLst>
              <a:path w="5274945" h="1303020">
                <a:moveTo>
                  <a:pt x="5274564" y="0"/>
                </a:moveTo>
                <a:lnTo>
                  <a:pt x="0" y="0"/>
                </a:lnTo>
                <a:lnTo>
                  <a:pt x="0" y="1303020"/>
                </a:lnTo>
                <a:lnTo>
                  <a:pt x="5274564" y="1303020"/>
                </a:lnTo>
                <a:lnTo>
                  <a:pt x="5274564" y="0"/>
                </a:lnTo>
                <a:close/>
              </a:path>
            </a:pathLst>
          </a:custGeom>
          <a:solidFill>
            <a:srgbClr val="006F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 txBox="1"/>
          <p:nvPr/>
        </p:nvSpPr>
        <p:spPr>
          <a:xfrm>
            <a:off x="591566" y="5142738"/>
            <a:ext cx="4524375" cy="8502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3245"/>
              </a:lnSpc>
              <a:spcBef>
                <a:spcPts val="100"/>
              </a:spcBef>
            </a:pPr>
            <a:r>
              <a:rPr sz="2800">
                <a:solidFill>
                  <a:srgbClr val="FFFFFF"/>
                </a:solidFill>
                <a:latin typeface="Cambria Math"/>
                <a:cs typeface="Cambria Math"/>
              </a:rPr>
              <a:t>𝑪[𝒊</a:t>
            </a:r>
            <a:r>
              <a:rPr sz="2800" spc="-1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800">
                <a:solidFill>
                  <a:srgbClr val="FFFFFF"/>
                </a:solidFill>
                <a:latin typeface="Cambria Math"/>
                <a:cs typeface="Cambria Math"/>
              </a:rPr>
              <a:t>−</a:t>
            </a:r>
            <a:r>
              <a:rPr sz="2800" spc="-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800">
                <a:solidFill>
                  <a:srgbClr val="FFFFFF"/>
                </a:solidFill>
                <a:latin typeface="Cambria Math"/>
                <a:cs typeface="Cambria Math"/>
              </a:rPr>
              <a:t>𝟏,</a:t>
            </a:r>
            <a:r>
              <a:rPr sz="2800" spc="-15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800">
                <a:solidFill>
                  <a:srgbClr val="FFFFFF"/>
                </a:solidFill>
                <a:latin typeface="Cambria Math"/>
                <a:cs typeface="Cambria Math"/>
              </a:rPr>
              <a:t>𝒋 − 𝟏]</a:t>
            </a:r>
            <a:r>
              <a:rPr sz="2800" spc="-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800">
                <a:solidFill>
                  <a:srgbClr val="FFFFFF"/>
                </a:solidFill>
                <a:latin typeface="Cambria Math"/>
                <a:cs typeface="Cambria Math"/>
              </a:rPr>
              <a:t>+ </a:t>
            </a:r>
            <a:r>
              <a:rPr sz="2800" spc="-50">
                <a:solidFill>
                  <a:srgbClr val="FFFFFF"/>
                </a:solidFill>
                <a:latin typeface="Cambria Math"/>
                <a:cs typeface="Cambria Math"/>
              </a:rPr>
              <a:t>𝟏</a:t>
            </a:r>
            <a:endParaRPr sz="2800">
              <a:latin typeface="Cambria Math"/>
              <a:cs typeface="Cambria Math"/>
            </a:endParaRPr>
          </a:p>
          <a:p>
            <a:pPr marL="12700">
              <a:lnSpc>
                <a:spcPts val="3245"/>
              </a:lnSpc>
            </a:pPr>
            <a:r>
              <a:rPr sz="2800">
                <a:solidFill>
                  <a:srgbClr val="FFFFFF"/>
                </a:solidFill>
                <a:latin typeface="Cambria Math"/>
                <a:cs typeface="Cambria Math"/>
              </a:rPr>
              <a:t>≥</a:t>
            </a:r>
            <a:r>
              <a:rPr sz="2800" spc="17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800" spc="-10">
                <a:solidFill>
                  <a:srgbClr val="FFFFFF"/>
                </a:solidFill>
                <a:latin typeface="Cambria Math"/>
                <a:cs typeface="Cambria Math"/>
              </a:rPr>
              <a:t>𝐦𝐚𝐱{𝑪[𝒊,</a:t>
            </a:r>
            <a:r>
              <a:rPr sz="2800" spc="-14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800">
                <a:solidFill>
                  <a:srgbClr val="FFFFFF"/>
                </a:solidFill>
                <a:latin typeface="Cambria Math"/>
                <a:cs typeface="Cambria Math"/>
              </a:rPr>
              <a:t>𝒋</a:t>
            </a:r>
            <a:r>
              <a:rPr sz="2800" spc="1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800">
                <a:solidFill>
                  <a:srgbClr val="FFFFFF"/>
                </a:solidFill>
                <a:latin typeface="Cambria Math"/>
                <a:cs typeface="Cambria Math"/>
              </a:rPr>
              <a:t>−</a:t>
            </a:r>
            <a:r>
              <a:rPr sz="2800" spc="1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800" spc="-10">
                <a:solidFill>
                  <a:srgbClr val="FFFFFF"/>
                </a:solidFill>
                <a:latin typeface="Cambria Math"/>
                <a:cs typeface="Cambria Math"/>
              </a:rPr>
              <a:t>𝟏],</a:t>
            </a:r>
            <a:r>
              <a:rPr sz="2800" spc="-14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800">
                <a:solidFill>
                  <a:srgbClr val="FFFFFF"/>
                </a:solidFill>
                <a:latin typeface="Cambria Math"/>
                <a:cs typeface="Cambria Math"/>
              </a:rPr>
              <a:t>𝑪[𝒊</a:t>
            </a:r>
            <a:r>
              <a:rPr sz="2800" spc="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800">
                <a:solidFill>
                  <a:srgbClr val="FFFFFF"/>
                </a:solidFill>
                <a:latin typeface="Cambria Math"/>
                <a:cs typeface="Cambria Math"/>
              </a:rPr>
              <a:t>−</a:t>
            </a:r>
            <a:r>
              <a:rPr sz="2800" spc="1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800" spc="-10">
                <a:solidFill>
                  <a:srgbClr val="FFFFFF"/>
                </a:solidFill>
                <a:latin typeface="Cambria Math"/>
                <a:cs typeface="Cambria Math"/>
              </a:rPr>
              <a:t>𝟏,</a:t>
            </a:r>
            <a:r>
              <a:rPr sz="2800" spc="-13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800" spc="-25">
                <a:solidFill>
                  <a:srgbClr val="FFFFFF"/>
                </a:solidFill>
                <a:latin typeface="Cambria Math"/>
                <a:cs typeface="Cambria Math"/>
              </a:rPr>
              <a:t>𝒋]}</a:t>
            </a:r>
            <a:endParaRPr sz="2800">
              <a:latin typeface="Cambria Math"/>
              <a:cs typeface="Cambria Math"/>
            </a:endParaRPr>
          </a:p>
        </p:txBody>
      </p:sp>
      <p:sp>
        <p:nvSpPr>
          <p:cNvPr id="52" name="object 5">
            <a:extLst>
              <a:ext uri="{FF2B5EF4-FFF2-40B4-BE49-F238E27FC236}">
                <a16:creationId xmlns:a16="http://schemas.microsoft.com/office/drawing/2014/main" id="{BC1E765A-AA54-1142-86E6-A1068075E2D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89026" y="253163"/>
            <a:ext cx="9691371" cy="56618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6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递推关系建立：分析最优（子）结</a:t>
            </a:r>
            <a:r>
              <a:rPr sz="36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构</a:t>
            </a:r>
            <a:endParaRPr sz="36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38096" y="1142874"/>
            <a:ext cx="151193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80365" algn="l"/>
                <a:tab pos="381000" algn="l"/>
              </a:tabLst>
            </a:pPr>
            <a:r>
              <a:rPr sz="2800">
                <a:latin typeface="Cambria Math"/>
                <a:cs typeface="Cambria Math"/>
              </a:rPr>
              <a:t>𝒙</a:t>
            </a:r>
            <a:r>
              <a:rPr sz="3075" baseline="-14905">
                <a:latin typeface="Cambria Math"/>
                <a:cs typeface="Cambria Math"/>
              </a:rPr>
              <a:t>𝒊</a:t>
            </a:r>
            <a:r>
              <a:rPr sz="3075" spc="652" baseline="-14905">
                <a:latin typeface="Cambria Math"/>
                <a:cs typeface="Cambria Math"/>
              </a:rPr>
              <a:t> </a:t>
            </a:r>
            <a:r>
              <a:rPr sz="2800">
                <a:latin typeface="Cambria Math"/>
                <a:cs typeface="Cambria Math"/>
              </a:rPr>
              <a:t>=</a:t>
            </a:r>
            <a:r>
              <a:rPr sz="2800" spc="140">
                <a:latin typeface="Cambria Math"/>
                <a:cs typeface="Cambria Math"/>
              </a:rPr>
              <a:t> </a:t>
            </a:r>
            <a:r>
              <a:rPr sz="2800" spc="-25">
                <a:latin typeface="Cambria Math"/>
                <a:cs typeface="Cambria Math"/>
              </a:rPr>
              <a:t>𝒚</a:t>
            </a:r>
            <a:r>
              <a:rPr sz="3075" spc="-37" baseline="-14905">
                <a:latin typeface="Cambria Math"/>
                <a:cs typeface="Cambria Math"/>
              </a:rPr>
              <a:t>𝒋</a:t>
            </a:r>
            <a:endParaRPr sz="3075" baseline="-14905">
              <a:latin typeface="Cambria Math"/>
              <a:cs typeface="Cambria Math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32763" y="5120894"/>
            <a:ext cx="39001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60045" indent="-347980">
              <a:lnSpc>
                <a:spcPct val="100000"/>
              </a:lnSpc>
              <a:spcBef>
                <a:spcPts val="100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360045" algn="l"/>
                <a:tab pos="360680" algn="l"/>
              </a:tabLst>
            </a:pPr>
            <a:r>
              <a:rPr sz="2400" spc="-10">
                <a:latin typeface="Cambria Math"/>
                <a:cs typeface="Cambria Math"/>
              </a:rPr>
              <a:t>𝑪[𝒊,</a:t>
            </a:r>
            <a:r>
              <a:rPr sz="2400" spc="-15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𝒋]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𝑪[𝒊</a:t>
            </a:r>
            <a:r>
              <a:rPr sz="2400" spc="-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−</a:t>
            </a:r>
            <a:r>
              <a:rPr sz="2400" spc="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𝟏,</a:t>
            </a:r>
            <a:r>
              <a:rPr sz="2400" spc="-14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𝒋</a:t>
            </a:r>
            <a:r>
              <a:rPr sz="2400" spc="1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−</a:t>
            </a:r>
            <a:r>
              <a:rPr sz="2400" spc="-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𝟏]</a:t>
            </a:r>
            <a:r>
              <a:rPr sz="2400" spc="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+</a:t>
            </a:r>
            <a:r>
              <a:rPr sz="2400" spc="-5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𝟏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9670160" y="1018413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9899650" y="1314449"/>
            <a:ext cx="1397000" cy="3003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20">
                <a:solidFill>
                  <a:srgbClr val="FFFFFF"/>
                </a:solidFill>
                <a:latin typeface="PMingLiU"/>
                <a:cs typeface="PMingLiU"/>
              </a:rPr>
              <a:t>问题结构分析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0378440" y="2052827"/>
            <a:ext cx="439420" cy="367030"/>
          </a:xfrm>
          <a:custGeom>
            <a:avLst/>
            <a:gdLst/>
            <a:ahLst/>
            <a:cxnLst/>
            <a:rect l="l" t="t" r="r" b="b"/>
            <a:pathLst>
              <a:path w="439420" h="367030">
                <a:moveTo>
                  <a:pt x="351154" y="0"/>
                </a:moveTo>
                <a:lnTo>
                  <a:pt x="87756" y="0"/>
                </a:lnTo>
                <a:lnTo>
                  <a:pt x="87756" y="183261"/>
                </a:lnTo>
                <a:lnTo>
                  <a:pt x="0" y="183261"/>
                </a:lnTo>
                <a:lnTo>
                  <a:pt x="219455" y="366522"/>
                </a:lnTo>
                <a:lnTo>
                  <a:pt x="438911" y="183261"/>
                </a:lnTo>
                <a:lnTo>
                  <a:pt x="351154" y="183261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9670160" y="2480691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83C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9899650" y="2776982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递推关系建立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10378440" y="3515105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9"/>
                </a:lnTo>
                <a:lnTo>
                  <a:pt x="0" y="182499"/>
                </a:lnTo>
                <a:lnTo>
                  <a:pt x="219455" y="364998"/>
                </a:lnTo>
                <a:lnTo>
                  <a:pt x="438911" y="182499"/>
                </a:lnTo>
                <a:lnTo>
                  <a:pt x="351154" y="182499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9670160" y="3941445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8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8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9899650" y="4237735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自底向上计算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10378440" y="4975859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8"/>
                </a:lnTo>
                <a:lnTo>
                  <a:pt x="0" y="182498"/>
                </a:lnTo>
                <a:lnTo>
                  <a:pt x="219455" y="364997"/>
                </a:lnTo>
                <a:lnTo>
                  <a:pt x="438911" y="182498"/>
                </a:lnTo>
                <a:lnTo>
                  <a:pt x="351154" y="182498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670160" y="5402198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52"/>
                </a:lnTo>
                <a:lnTo>
                  <a:pt x="7647" y="914358"/>
                </a:lnTo>
                <a:lnTo>
                  <a:pt x="28511" y="945313"/>
                </a:lnTo>
                <a:lnTo>
                  <a:pt x="59471" y="966183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3"/>
                </a:lnTo>
                <a:lnTo>
                  <a:pt x="1827720" y="945313"/>
                </a:lnTo>
                <a:lnTo>
                  <a:pt x="1848584" y="914358"/>
                </a:lnTo>
                <a:lnTo>
                  <a:pt x="1856232" y="876452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9899650" y="5698744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最优方案追踪</a:t>
            </a:r>
            <a:endParaRPr sz="1800">
              <a:latin typeface="PMingLiU"/>
              <a:cs typeface="PMingLiU"/>
            </a:endParaRPr>
          </a:p>
        </p:txBody>
      </p:sp>
      <p:graphicFrame>
        <p:nvGraphicFramePr>
          <p:cNvPr id="16" name="object 16"/>
          <p:cNvGraphicFramePr>
            <a:graphicFrameLocks noGrp="1"/>
          </p:cNvGraphicFramePr>
          <p:nvPr/>
        </p:nvGraphicFramePr>
        <p:xfrm>
          <a:off x="5935471" y="4015613"/>
          <a:ext cx="3350259" cy="514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4984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1874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652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  <a:spcBef>
                          <a:spcPts val="1035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𝒋−𝟏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3144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7E7E7E"/>
                      </a:solidFill>
                      <a:prstDash val="lgDash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2875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2000" spc="-25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80010" marB="0">
                    <a:lnL w="12700">
                      <a:solidFill>
                        <a:srgbClr val="7E7E7E"/>
                      </a:solidFill>
                      <a:prstDash val="lgDash"/>
                    </a:lnL>
                    <a:lnR w="12700">
                      <a:solidFill>
                        <a:srgbClr val="7E7E7E"/>
                      </a:solidFill>
                      <a:prstDash val="lgDash"/>
                    </a:lnR>
                    <a:lnT w="12700">
                      <a:solidFill>
                        <a:srgbClr val="7E7E7E"/>
                      </a:solidFill>
                      <a:prstDash val="solid"/>
                    </a:lnT>
                    <a:lnB w="12700">
                      <a:solidFill>
                        <a:srgbClr val="7E7E7E"/>
                      </a:solidFill>
                      <a:prstDash val="lgDash"/>
                    </a:lnB>
                    <a:solidFill>
                      <a:srgbClr val="BEBEB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7" name="object 17"/>
          <p:cNvSpPr/>
          <p:nvPr/>
        </p:nvSpPr>
        <p:spPr>
          <a:xfrm>
            <a:off x="7662418" y="307593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656" y="11430"/>
                </a:lnTo>
                <a:lnTo>
                  <a:pt x="41656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6149975" y="307593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 txBox="1"/>
          <p:nvPr/>
        </p:nvSpPr>
        <p:spPr>
          <a:xfrm>
            <a:off x="5912358" y="2987040"/>
            <a:ext cx="240919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918970" algn="l"/>
              </a:tabLst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31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𝒊 − </a:t>
            </a:r>
            <a:r>
              <a:rPr sz="2400" spc="-10">
                <a:latin typeface="Cambria Math"/>
                <a:cs typeface="Cambria Math"/>
              </a:rPr>
              <a:t>𝟏,</a:t>
            </a:r>
            <a:r>
              <a:rPr sz="2400" spc="-13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𝒋</a:t>
            </a:r>
            <a:r>
              <a:rPr sz="2400" spc="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−</a:t>
            </a:r>
            <a:r>
              <a:rPr sz="2400" spc="5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𝟏</a:t>
            </a:r>
            <a:r>
              <a:rPr sz="2400">
                <a:latin typeface="Cambria Math"/>
                <a:cs typeface="Cambria Math"/>
              </a:rPr>
              <a:t>	+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𝟏</a:t>
            </a:r>
            <a:endParaRPr sz="2400">
              <a:latin typeface="Cambria Math"/>
              <a:cs typeface="Cambria Math"/>
            </a:endParaRPr>
          </a:p>
        </p:txBody>
      </p:sp>
      <p:graphicFrame>
        <p:nvGraphicFramePr>
          <p:cNvPr id="20" name="object 20"/>
          <p:cNvGraphicFramePr>
            <a:graphicFrameLocks noGrp="1"/>
          </p:cNvGraphicFramePr>
          <p:nvPr/>
        </p:nvGraphicFramePr>
        <p:xfrm>
          <a:off x="727646" y="3418585"/>
          <a:ext cx="3350259" cy="514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4984"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545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𝒊−𝟏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𝒊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1" name="object 21"/>
          <p:cNvGraphicFramePr>
            <a:graphicFrameLocks noGrp="1"/>
          </p:cNvGraphicFramePr>
          <p:nvPr/>
        </p:nvGraphicFramePr>
        <p:xfrm>
          <a:off x="727646" y="4015613"/>
          <a:ext cx="3350259" cy="514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4984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𝒀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1874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652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">
                        <a:lnSpc>
                          <a:spcPct val="100000"/>
                        </a:lnSpc>
                        <a:spcBef>
                          <a:spcPts val="1035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𝒋−𝟏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3144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𝒚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𝒋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7937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2" name="object 22"/>
          <p:cNvSpPr txBox="1"/>
          <p:nvPr/>
        </p:nvSpPr>
        <p:spPr>
          <a:xfrm>
            <a:off x="842263" y="2987040"/>
            <a:ext cx="7740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spc="-10">
                <a:latin typeface="Cambria Math"/>
                <a:cs typeface="Cambria Math"/>
              </a:rPr>
              <a:t>𝑪[𝒊,</a:t>
            </a:r>
            <a:r>
              <a:rPr sz="2400" spc="-11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𝒋]</a:t>
            </a:r>
            <a:endParaRPr sz="2400">
              <a:latin typeface="Cambria Math"/>
              <a:cs typeface="Cambria Math"/>
            </a:endParaRPr>
          </a:p>
        </p:txBody>
      </p:sp>
      <p:graphicFrame>
        <p:nvGraphicFramePr>
          <p:cNvPr id="23" name="object 23"/>
          <p:cNvGraphicFramePr>
            <a:graphicFrameLocks noGrp="1"/>
          </p:cNvGraphicFramePr>
          <p:nvPr/>
        </p:nvGraphicFramePr>
        <p:xfrm>
          <a:off x="5935471" y="3418585"/>
          <a:ext cx="3350259" cy="514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4984">
                <a:tc>
                  <a:txBody>
                    <a:bodyPr/>
                    <a:lstStyle/>
                    <a:p>
                      <a:pPr marL="14160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𝑿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192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𝟏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latin typeface="Cambria Math"/>
                          <a:cs typeface="Cambria Math"/>
                        </a:rPr>
                        <a:t>𝟐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9715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545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3000" spc="-30" baseline="11111"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1450" spc="-20">
                          <a:latin typeface="Cambria Math"/>
                          <a:cs typeface="Cambria Math"/>
                        </a:rPr>
                        <a:t>𝒊−𝟏</a:t>
                      </a:r>
                      <a:endParaRPr sz="1450">
                        <a:latin typeface="Cambria Math"/>
                        <a:cs typeface="Cambria Math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7E7E7E"/>
                      </a:solidFill>
                      <a:prstDash val="lgDash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775"/>
                        </a:spcBef>
                      </a:pPr>
                      <a:r>
                        <a:rPr sz="2000" spc="-25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𝒙</a:t>
                      </a:r>
                      <a:r>
                        <a:rPr sz="2175" spc="-37" baseline="-15325">
                          <a:solidFill>
                            <a:srgbClr val="AFAFA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2175" baseline="-15325">
                        <a:latin typeface="Cambria Math"/>
                        <a:cs typeface="Cambria Math"/>
                      </a:endParaRPr>
                    </a:p>
                  </a:txBody>
                  <a:tcPr marL="0" marR="0" marT="98425" marB="0">
                    <a:lnL w="12700">
                      <a:solidFill>
                        <a:srgbClr val="7E7E7E"/>
                      </a:solidFill>
                      <a:prstDash val="lgDash"/>
                    </a:lnL>
                    <a:lnR w="12700">
                      <a:solidFill>
                        <a:srgbClr val="7E7E7E"/>
                      </a:solidFill>
                      <a:prstDash val="lgDash"/>
                    </a:lnR>
                    <a:lnT w="12700">
                      <a:solidFill>
                        <a:srgbClr val="7E7E7E"/>
                      </a:solidFill>
                      <a:prstDash val="solid"/>
                    </a:lnT>
                    <a:lnB w="12700">
                      <a:solidFill>
                        <a:srgbClr val="7E7E7E"/>
                      </a:solidFill>
                      <a:prstDash val="lgDash"/>
                    </a:lnB>
                    <a:solidFill>
                      <a:srgbClr val="BEBEB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24" name="object 24"/>
          <p:cNvGrpSpPr/>
          <p:nvPr/>
        </p:nvGrpSpPr>
        <p:grpSpPr>
          <a:xfrm>
            <a:off x="2577845" y="5682234"/>
            <a:ext cx="1711960" cy="1074420"/>
            <a:chOff x="2577845" y="5682234"/>
            <a:chExt cx="1711960" cy="1074420"/>
          </a:xfrm>
        </p:grpSpPr>
        <p:sp>
          <p:nvSpPr>
            <p:cNvPr id="25" name="object 25"/>
            <p:cNvSpPr/>
            <p:nvPr/>
          </p:nvSpPr>
          <p:spPr>
            <a:xfrm>
              <a:off x="3376421" y="5682234"/>
              <a:ext cx="114300" cy="493395"/>
            </a:xfrm>
            <a:custGeom>
              <a:avLst/>
              <a:gdLst/>
              <a:ahLst/>
              <a:cxnLst/>
              <a:rect l="l" t="t" r="r" b="b"/>
              <a:pathLst>
                <a:path w="114300" h="493395">
                  <a:moveTo>
                    <a:pt x="76200" y="95249"/>
                  </a:moveTo>
                  <a:lnTo>
                    <a:pt x="38100" y="95249"/>
                  </a:lnTo>
                  <a:lnTo>
                    <a:pt x="38100" y="493293"/>
                  </a:lnTo>
                  <a:lnTo>
                    <a:pt x="76200" y="493293"/>
                  </a:lnTo>
                  <a:lnTo>
                    <a:pt x="76200" y="95249"/>
                  </a:lnTo>
                  <a:close/>
                </a:path>
                <a:path w="114300" h="493395">
                  <a:moveTo>
                    <a:pt x="57150" y="0"/>
                  </a:moveTo>
                  <a:lnTo>
                    <a:pt x="0" y="114299"/>
                  </a:lnTo>
                  <a:lnTo>
                    <a:pt x="38100" y="114299"/>
                  </a:lnTo>
                  <a:lnTo>
                    <a:pt x="38100" y="95249"/>
                  </a:lnTo>
                  <a:lnTo>
                    <a:pt x="104775" y="95249"/>
                  </a:lnTo>
                  <a:lnTo>
                    <a:pt x="57150" y="0"/>
                  </a:lnTo>
                  <a:close/>
                </a:path>
                <a:path w="114300" h="493395">
                  <a:moveTo>
                    <a:pt x="104775" y="95249"/>
                  </a:moveTo>
                  <a:lnTo>
                    <a:pt x="76200" y="95249"/>
                  </a:lnTo>
                  <a:lnTo>
                    <a:pt x="76200" y="114299"/>
                  </a:lnTo>
                  <a:lnTo>
                    <a:pt x="114300" y="114299"/>
                  </a:lnTo>
                  <a:lnTo>
                    <a:pt x="104775" y="9524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2577845" y="6176010"/>
              <a:ext cx="1711960" cy="581025"/>
            </a:xfrm>
            <a:custGeom>
              <a:avLst/>
              <a:gdLst/>
              <a:ahLst/>
              <a:cxnLst/>
              <a:rect l="l" t="t" r="r" b="b"/>
              <a:pathLst>
                <a:path w="1711960" h="581025">
                  <a:moveTo>
                    <a:pt x="1711452" y="0"/>
                  </a:moveTo>
                  <a:lnTo>
                    <a:pt x="0" y="0"/>
                  </a:lnTo>
                  <a:lnTo>
                    <a:pt x="0" y="580643"/>
                  </a:lnTo>
                  <a:lnTo>
                    <a:pt x="1711452" y="580643"/>
                  </a:lnTo>
                  <a:lnTo>
                    <a:pt x="1711452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2721355" y="6251194"/>
            <a:ext cx="1423670" cy="3613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200" spc="-10">
                <a:solidFill>
                  <a:srgbClr val="FFFFFF"/>
                </a:solidFill>
                <a:latin typeface="PMingLiU"/>
                <a:cs typeface="PMingLiU"/>
              </a:rPr>
              <a:t>最优子结构</a:t>
            </a:r>
            <a:endParaRPr sz="2200">
              <a:latin typeface="PMingLiU"/>
              <a:cs typeface="PMingLiU"/>
            </a:endParaRPr>
          </a:p>
        </p:txBody>
      </p:sp>
      <p:grpSp>
        <p:nvGrpSpPr>
          <p:cNvPr id="28" name="object 28"/>
          <p:cNvGrpSpPr/>
          <p:nvPr/>
        </p:nvGrpSpPr>
        <p:grpSpPr>
          <a:xfrm>
            <a:off x="1269278" y="4971495"/>
            <a:ext cx="3122930" cy="1216660"/>
            <a:chOff x="1295400" y="4977384"/>
            <a:chExt cx="3122930" cy="1216660"/>
          </a:xfrm>
        </p:grpSpPr>
        <p:sp>
          <p:nvSpPr>
            <p:cNvPr id="29" name="object 29"/>
            <p:cNvSpPr/>
            <p:nvPr/>
          </p:nvSpPr>
          <p:spPr>
            <a:xfrm>
              <a:off x="1314450" y="4996434"/>
              <a:ext cx="3084830" cy="685800"/>
            </a:xfrm>
            <a:custGeom>
              <a:avLst/>
              <a:gdLst/>
              <a:ahLst/>
              <a:cxnLst/>
              <a:rect l="l" t="t" r="r" b="b"/>
              <a:pathLst>
                <a:path w="3084829" h="685800">
                  <a:moveTo>
                    <a:pt x="1153668" y="32258"/>
                  </a:moveTo>
                  <a:lnTo>
                    <a:pt x="1156208" y="19716"/>
                  </a:lnTo>
                  <a:lnTo>
                    <a:pt x="1163129" y="9461"/>
                  </a:lnTo>
                  <a:lnTo>
                    <a:pt x="1173384" y="2540"/>
                  </a:lnTo>
                  <a:lnTo>
                    <a:pt x="1185926" y="0"/>
                  </a:lnTo>
                  <a:lnTo>
                    <a:pt x="3052317" y="0"/>
                  </a:lnTo>
                  <a:lnTo>
                    <a:pt x="3064859" y="2540"/>
                  </a:lnTo>
                  <a:lnTo>
                    <a:pt x="3075114" y="9461"/>
                  </a:lnTo>
                  <a:lnTo>
                    <a:pt x="3082036" y="19716"/>
                  </a:lnTo>
                  <a:lnTo>
                    <a:pt x="3084576" y="32258"/>
                  </a:lnTo>
                  <a:lnTo>
                    <a:pt x="3084576" y="653592"/>
                  </a:lnTo>
                  <a:lnTo>
                    <a:pt x="3082036" y="666131"/>
                  </a:lnTo>
                  <a:lnTo>
                    <a:pt x="3075114" y="676368"/>
                  </a:lnTo>
                  <a:lnTo>
                    <a:pt x="3064859" y="683269"/>
                  </a:lnTo>
                  <a:lnTo>
                    <a:pt x="3052317" y="685800"/>
                  </a:lnTo>
                  <a:lnTo>
                    <a:pt x="1185926" y="685800"/>
                  </a:lnTo>
                  <a:lnTo>
                    <a:pt x="1173384" y="683269"/>
                  </a:lnTo>
                  <a:lnTo>
                    <a:pt x="1163129" y="676368"/>
                  </a:lnTo>
                  <a:lnTo>
                    <a:pt x="1156208" y="666131"/>
                  </a:lnTo>
                  <a:lnTo>
                    <a:pt x="1153668" y="653592"/>
                  </a:lnTo>
                  <a:lnTo>
                    <a:pt x="1153668" y="32258"/>
                  </a:lnTo>
                  <a:close/>
                </a:path>
                <a:path w="3084829" h="685800">
                  <a:moveTo>
                    <a:pt x="0" y="32258"/>
                  </a:moveTo>
                  <a:lnTo>
                    <a:pt x="2540" y="19716"/>
                  </a:lnTo>
                  <a:lnTo>
                    <a:pt x="9461" y="9461"/>
                  </a:lnTo>
                  <a:lnTo>
                    <a:pt x="19716" y="2540"/>
                  </a:lnTo>
                  <a:lnTo>
                    <a:pt x="32258" y="0"/>
                  </a:lnTo>
                  <a:lnTo>
                    <a:pt x="927100" y="0"/>
                  </a:lnTo>
                  <a:lnTo>
                    <a:pt x="939641" y="2540"/>
                  </a:lnTo>
                  <a:lnTo>
                    <a:pt x="949896" y="9461"/>
                  </a:lnTo>
                  <a:lnTo>
                    <a:pt x="956818" y="19716"/>
                  </a:lnTo>
                  <a:lnTo>
                    <a:pt x="959357" y="32258"/>
                  </a:lnTo>
                  <a:lnTo>
                    <a:pt x="959357" y="653592"/>
                  </a:lnTo>
                  <a:lnTo>
                    <a:pt x="956818" y="666131"/>
                  </a:lnTo>
                  <a:lnTo>
                    <a:pt x="949896" y="676368"/>
                  </a:lnTo>
                  <a:lnTo>
                    <a:pt x="939641" y="683269"/>
                  </a:lnTo>
                  <a:lnTo>
                    <a:pt x="927100" y="685800"/>
                  </a:lnTo>
                  <a:lnTo>
                    <a:pt x="32258" y="685800"/>
                  </a:lnTo>
                  <a:lnTo>
                    <a:pt x="19716" y="683269"/>
                  </a:lnTo>
                  <a:lnTo>
                    <a:pt x="9461" y="676368"/>
                  </a:lnTo>
                  <a:lnTo>
                    <a:pt x="2540" y="666131"/>
                  </a:lnTo>
                  <a:lnTo>
                    <a:pt x="0" y="653592"/>
                  </a:lnTo>
                  <a:lnTo>
                    <a:pt x="0" y="32258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793748" y="5660440"/>
              <a:ext cx="1645285" cy="533400"/>
            </a:xfrm>
            <a:custGeom>
              <a:avLst/>
              <a:gdLst/>
              <a:ahLst/>
              <a:cxnLst/>
              <a:rect l="l" t="t" r="r" b="b"/>
              <a:pathLst>
                <a:path w="1645285" h="533400">
                  <a:moveTo>
                    <a:pt x="114890" y="36490"/>
                  </a:moveTo>
                  <a:lnTo>
                    <a:pt x="103931" y="72953"/>
                  </a:lnTo>
                  <a:lnTo>
                    <a:pt x="1633854" y="533336"/>
                  </a:lnTo>
                  <a:lnTo>
                    <a:pt x="1644777" y="496849"/>
                  </a:lnTo>
                  <a:lnTo>
                    <a:pt x="114890" y="36490"/>
                  </a:lnTo>
                  <a:close/>
                </a:path>
                <a:path w="1645285" h="533400">
                  <a:moveTo>
                    <a:pt x="125856" y="0"/>
                  </a:moveTo>
                  <a:lnTo>
                    <a:pt x="0" y="21793"/>
                  </a:lnTo>
                  <a:lnTo>
                    <a:pt x="92963" y="109448"/>
                  </a:lnTo>
                  <a:lnTo>
                    <a:pt x="103931" y="72953"/>
                  </a:lnTo>
                  <a:lnTo>
                    <a:pt x="85725" y="67475"/>
                  </a:lnTo>
                  <a:lnTo>
                    <a:pt x="96646" y="31000"/>
                  </a:lnTo>
                  <a:lnTo>
                    <a:pt x="116540" y="31000"/>
                  </a:lnTo>
                  <a:lnTo>
                    <a:pt x="125856" y="0"/>
                  </a:lnTo>
                  <a:close/>
                </a:path>
                <a:path w="1645285" h="533400">
                  <a:moveTo>
                    <a:pt x="96646" y="31000"/>
                  </a:moveTo>
                  <a:lnTo>
                    <a:pt x="85725" y="67475"/>
                  </a:lnTo>
                  <a:lnTo>
                    <a:pt x="103931" y="72953"/>
                  </a:lnTo>
                  <a:lnTo>
                    <a:pt x="114890" y="36490"/>
                  </a:lnTo>
                  <a:lnTo>
                    <a:pt x="96646" y="31000"/>
                  </a:lnTo>
                  <a:close/>
                </a:path>
                <a:path w="1645285" h="533400">
                  <a:moveTo>
                    <a:pt x="116540" y="31000"/>
                  </a:moveTo>
                  <a:lnTo>
                    <a:pt x="96646" y="31000"/>
                  </a:lnTo>
                  <a:lnTo>
                    <a:pt x="114890" y="36490"/>
                  </a:lnTo>
                  <a:lnTo>
                    <a:pt x="116540" y="310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1" name="object 31"/>
          <p:cNvSpPr/>
          <p:nvPr/>
        </p:nvSpPr>
        <p:spPr>
          <a:xfrm>
            <a:off x="4308347" y="3871721"/>
            <a:ext cx="1191895" cy="114300"/>
          </a:xfrm>
          <a:custGeom>
            <a:avLst/>
            <a:gdLst/>
            <a:ahLst/>
            <a:cxnLst/>
            <a:rect l="l" t="t" r="r" b="b"/>
            <a:pathLst>
              <a:path w="1191895" h="114300">
                <a:moveTo>
                  <a:pt x="1077594" y="0"/>
                </a:moveTo>
                <a:lnTo>
                  <a:pt x="1077594" y="114300"/>
                </a:lnTo>
                <a:lnTo>
                  <a:pt x="1153794" y="76200"/>
                </a:lnTo>
                <a:lnTo>
                  <a:pt x="1096644" y="76200"/>
                </a:lnTo>
                <a:lnTo>
                  <a:pt x="1096644" y="38100"/>
                </a:lnTo>
                <a:lnTo>
                  <a:pt x="1153794" y="38100"/>
                </a:lnTo>
                <a:lnTo>
                  <a:pt x="1077594" y="0"/>
                </a:lnTo>
                <a:close/>
              </a:path>
              <a:path w="1191895" h="114300">
                <a:moveTo>
                  <a:pt x="1077594" y="38100"/>
                </a:moveTo>
                <a:lnTo>
                  <a:pt x="0" y="38100"/>
                </a:lnTo>
                <a:lnTo>
                  <a:pt x="0" y="76200"/>
                </a:lnTo>
                <a:lnTo>
                  <a:pt x="1077594" y="76200"/>
                </a:lnTo>
                <a:lnTo>
                  <a:pt x="1077594" y="38100"/>
                </a:lnTo>
                <a:close/>
              </a:path>
              <a:path w="1191895" h="114300">
                <a:moveTo>
                  <a:pt x="1153794" y="38100"/>
                </a:moveTo>
                <a:lnTo>
                  <a:pt x="1096644" y="38100"/>
                </a:lnTo>
                <a:lnTo>
                  <a:pt x="1096644" y="76200"/>
                </a:lnTo>
                <a:lnTo>
                  <a:pt x="1153794" y="76200"/>
                </a:lnTo>
                <a:lnTo>
                  <a:pt x="1191894" y="57150"/>
                </a:lnTo>
                <a:lnTo>
                  <a:pt x="1153794" y="38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5">
            <a:extLst>
              <a:ext uri="{FF2B5EF4-FFF2-40B4-BE49-F238E27FC236}">
                <a16:creationId xmlns:a16="http://schemas.microsoft.com/office/drawing/2014/main" id="{4251E28C-8999-464E-BDF8-77C419C6CA6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89026" y="253163"/>
            <a:ext cx="9691371" cy="56618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6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递推关系建立：分析最优（子）结</a:t>
            </a:r>
            <a:r>
              <a:rPr sz="36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构</a:t>
            </a:r>
            <a:endParaRPr sz="36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标题 11"/>
          <p:cNvSpPr>
            <a:spLocks noGrp="1"/>
          </p:cNvSpPr>
          <p:nvPr>
            <p:ph type="title"/>
          </p:nvPr>
        </p:nvSpPr>
        <p:spPr>
          <a:xfrm>
            <a:off x="2719705" y="3857271"/>
            <a:ext cx="7350125" cy="652780"/>
          </a:xfrm>
        </p:spPr>
        <p:txBody>
          <a:bodyPr>
            <a:normAutofit/>
          </a:bodyPr>
          <a:lstStyle/>
          <a:p>
            <a:pPr algn="ctr"/>
            <a:r>
              <a:rPr lang="zh-CN" altLang="en-US" dirty="0"/>
              <a:t>算法设计与分析</a:t>
            </a:r>
            <a:endParaRPr lang="zh-CN" altLang="en-US" dirty="0">
              <a:solidFill>
                <a:srgbClr val="005D96"/>
              </a:solidFill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704260" y="5219564"/>
            <a:ext cx="6783480" cy="99986"/>
            <a:chOff x="628656" y="974915"/>
            <a:chExt cx="11038056" cy="24702"/>
          </a:xfrm>
        </p:grpSpPr>
        <p:cxnSp>
          <p:nvCxnSpPr>
            <p:cNvPr id="40" name="直接连接符 39"/>
            <p:cNvCxnSpPr/>
            <p:nvPr/>
          </p:nvCxnSpPr>
          <p:spPr>
            <a:xfrm>
              <a:off x="628656" y="975360"/>
              <a:ext cx="8627657" cy="0"/>
            </a:xfrm>
            <a:prstGeom prst="line">
              <a:avLst/>
            </a:prstGeom>
            <a:ln w="19050">
              <a:solidFill>
                <a:srgbClr val="005D96"/>
              </a:solidFill>
            </a:ln>
          </p:spPr>
          <p:style>
            <a:lnRef idx="3">
              <a:schemeClr val="accent1"/>
            </a:lnRef>
            <a:fillRef idx="0">
              <a:schemeClr val="accent1"/>
            </a:fillRef>
            <a:effectRef idx="2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接连接符 46"/>
            <p:cNvCxnSpPr/>
            <p:nvPr/>
          </p:nvCxnSpPr>
          <p:spPr>
            <a:xfrm flipH="1">
              <a:off x="9233073" y="974915"/>
              <a:ext cx="23240" cy="24702"/>
            </a:xfrm>
            <a:prstGeom prst="line">
              <a:avLst/>
            </a:prstGeom>
            <a:ln w="19050" cap="rnd">
              <a:solidFill>
                <a:srgbClr val="005D9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接连接符 50"/>
            <p:cNvCxnSpPr/>
            <p:nvPr/>
          </p:nvCxnSpPr>
          <p:spPr>
            <a:xfrm flipV="1">
              <a:off x="9233070" y="975360"/>
              <a:ext cx="189380" cy="24257"/>
            </a:xfrm>
            <a:prstGeom prst="line">
              <a:avLst/>
            </a:prstGeom>
            <a:ln w="19050" cap="rnd">
              <a:solidFill>
                <a:srgbClr val="005D96"/>
              </a:solidFill>
              <a:miter lim="800000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接连接符 51"/>
            <p:cNvCxnSpPr/>
            <p:nvPr/>
          </p:nvCxnSpPr>
          <p:spPr>
            <a:xfrm>
              <a:off x="9422450" y="975360"/>
              <a:ext cx="2244262" cy="0"/>
            </a:xfrm>
            <a:prstGeom prst="line">
              <a:avLst/>
            </a:prstGeom>
            <a:ln w="19050">
              <a:solidFill>
                <a:srgbClr val="005D9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5" name="直接连接符 94"/>
          <p:cNvCxnSpPr/>
          <p:nvPr/>
        </p:nvCxnSpPr>
        <p:spPr>
          <a:xfrm flipV="1">
            <a:off x="2784475" y="5848350"/>
            <a:ext cx="0" cy="265430"/>
          </a:xfrm>
          <a:prstGeom prst="line">
            <a:avLst/>
          </a:prstGeom>
          <a:ln w="28575" cap="rnd">
            <a:solidFill>
              <a:srgbClr val="005D9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直接连接符 95"/>
          <p:cNvCxnSpPr/>
          <p:nvPr/>
        </p:nvCxnSpPr>
        <p:spPr>
          <a:xfrm flipV="1">
            <a:off x="2861310" y="5895340"/>
            <a:ext cx="0" cy="170180"/>
          </a:xfrm>
          <a:prstGeom prst="line">
            <a:avLst/>
          </a:prstGeom>
          <a:ln w="28575" cap="rnd">
            <a:solidFill>
              <a:srgbClr val="005D96">
                <a:alpha val="60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直接连接符 96"/>
          <p:cNvCxnSpPr/>
          <p:nvPr/>
        </p:nvCxnSpPr>
        <p:spPr>
          <a:xfrm rot="16200000">
            <a:off x="2880995" y="5981065"/>
            <a:ext cx="113665" cy="0"/>
          </a:xfrm>
          <a:prstGeom prst="line">
            <a:avLst/>
          </a:prstGeom>
          <a:ln w="28575" cap="rnd">
            <a:solidFill>
              <a:srgbClr val="005D96">
                <a:alpha val="30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5" name="组合 34"/>
          <p:cNvGrpSpPr/>
          <p:nvPr/>
        </p:nvGrpSpPr>
        <p:grpSpPr>
          <a:xfrm>
            <a:off x="3161491" y="5800840"/>
            <a:ext cx="5933868" cy="367111"/>
            <a:chOff x="3517041" y="5800840"/>
            <a:chExt cx="5082917" cy="367111"/>
          </a:xfrm>
        </p:grpSpPr>
        <p:sp>
          <p:nvSpPr>
            <p:cNvPr id="36" name="文本框 35"/>
            <p:cNvSpPr txBox="1"/>
            <p:nvPr/>
          </p:nvSpPr>
          <p:spPr>
            <a:xfrm>
              <a:off x="3826448" y="5856877"/>
              <a:ext cx="2349253" cy="283476"/>
            </a:xfrm>
            <a:prstGeom prst="rect">
              <a:avLst/>
            </a:prstGeom>
            <a:noFill/>
          </p:spPr>
          <p:txBody>
            <a:bodyPr wrap="square" lIns="0" tIns="0" rIns="0" bIns="0" rtlCol="0" anchor="b">
              <a:spAutoFit/>
            </a:bodyPr>
            <a:lstStyle/>
            <a:p>
              <a:pPr lvl="0" algn="r">
                <a:lnSpc>
                  <a:spcPct val="110000"/>
                </a:lnSpc>
                <a:defRPr/>
              </a:pPr>
              <a:r>
                <a:rPr lang="zh-CN" altLang="en-US" dirty="0">
                  <a:solidFill>
                    <a:srgbClr val="005D96"/>
                  </a:solidFill>
                  <a:latin typeface="方正大标宋简体" panose="02010601030101010101" pitchFamily="2" charset="-122"/>
                  <a:ea typeface="方正大标宋简体" panose="02010601030101010101" pitchFamily="2" charset="-122"/>
                </a:rPr>
                <a:t>开课专业班级：软件</a:t>
              </a:r>
              <a:r>
                <a:rPr lang="en-US" altLang="zh-CN" dirty="0">
                  <a:solidFill>
                    <a:srgbClr val="005D96"/>
                  </a:solidFill>
                  <a:latin typeface="方正大标宋简体" panose="02010601030101010101" pitchFamily="2" charset="-122"/>
                  <a:ea typeface="方正大标宋简体" panose="02010601030101010101" pitchFamily="2" charset="-122"/>
                </a:rPr>
                <a:t>211-3</a:t>
              </a:r>
              <a:r>
                <a:rPr kumimoji="0" lang="zh-CN" altLang="en-US" b="0" i="0" u="none" strike="noStrike" kern="1200" cap="none" spc="0" normalizeH="0" baseline="0" noProof="0" dirty="0">
                  <a:ln>
                    <a:noFill/>
                  </a:ln>
                  <a:solidFill>
                    <a:srgbClr val="005D96"/>
                  </a:solidFill>
                  <a:effectLst/>
                  <a:uLnTx/>
                  <a:uFillTx/>
                  <a:latin typeface="方正大标宋简体" panose="02010601030101010101" pitchFamily="2" charset="-122"/>
                  <a:ea typeface="方正大标宋简体" panose="02010601030101010101" pitchFamily="2" charset="-122"/>
                </a:rPr>
                <a:t> </a:t>
              </a:r>
            </a:p>
          </p:txBody>
        </p:sp>
        <p:sp>
          <p:nvSpPr>
            <p:cNvPr id="38" name="文本框 37"/>
            <p:cNvSpPr txBox="1"/>
            <p:nvPr/>
          </p:nvSpPr>
          <p:spPr>
            <a:xfrm>
              <a:off x="6830089" y="5810965"/>
              <a:ext cx="1769869" cy="314894"/>
            </a:xfrm>
            <a:prstGeom prst="rect">
              <a:avLst/>
            </a:prstGeom>
            <a:noFill/>
          </p:spPr>
          <p:txBody>
            <a:bodyPr wrap="square" lIns="0" tIns="0" rIns="0" bIns="0" rtlCol="0" anchor="b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lang="zh-CN" altLang="en-US" dirty="0">
                  <a:solidFill>
                    <a:srgbClr val="005D96"/>
                  </a:solidFill>
                  <a:latin typeface="方正大标宋简体" panose="02010601030101010101" pitchFamily="2" charset="-122"/>
                  <a:ea typeface="方正大标宋简体" panose="02010601030101010101" pitchFamily="2" charset="-122"/>
                </a:rPr>
                <a:t>开课教师：</a:t>
              </a:r>
              <a:r>
                <a:rPr lang="zh-CN" altLang="en-US" sz="2000" dirty="0">
                  <a:solidFill>
                    <a:srgbClr val="005D96"/>
                  </a:solidFill>
                  <a:latin typeface="方正大标宋简体" panose="02010601030101010101" pitchFamily="2" charset="-122"/>
                  <a:ea typeface="方正大标宋简体" panose="02010601030101010101" pitchFamily="2" charset="-122"/>
                </a:rPr>
                <a:t>赵浩然</a:t>
              </a:r>
            </a:p>
          </p:txBody>
        </p:sp>
        <p:sp>
          <p:nvSpPr>
            <p:cNvPr id="39" name="graduate_57239"/>
            <p:cNvSpPr>
              <a:spLocks noChangeAspect="1"/>
            </p:cNvSpPr>
            <p:nvPr/>
          </p:nvSpPr>
          <p:spPr bwMode="auto">
            <a:xfrm>
              <a:off x="3517041" y="5800840"/>
              <a:ext cx="247420" cy="360000"/>
            </a:xfrm>
            <a:custGeom>
              <a:avLst/>
              <a:gdLst>
                <a:gd name="connsiteX0" fmla="*/ 142468 w 412043"/>
                <a:gd name="connsiteY0" fmla="*/ 396851 h 599527"/>
                <a:gd name="connsiteX1" fmla="*/ 153964 w 412043"/>
                <a:gd name="connsiteY1" fmla="*/ 405753 h 599527"/>
                <a:gd name="connsiteX2" fmla="*/ 144814 w 412043"/>
                <a:gd name="connsiteY2" fmla="*/ 585910 h 599527"/>
                <a:gd name="connsiteX3" fmla="*/ 135898 w 412043"/>
                <a:gd name="connsiteY3" fmla="*/ 595046 h 599527"/>
                <a:gd name="connsiteX4" fmla="*/ 15768 w 412043"/>
                <a:gd name="connsiteY4" fmla="*/ 599498 h 599527"/>
                <a:gd name="connsiteX5" fmla="*/ 6383 w 412043"/>
                <a:gd name="connsiteY5" fmla="*/ 590127 h 599527"/>
                <a:gd name="connsiteX6" fmla="*/ 142468 w 412043"/>
                <a:gd name="connsiteY6" fmla="*/ 396851 h 599527"/>
                <a:gd name="connsiteX7" fmla="*/ 275305 w 412043"/>
                <a:gd name="connsiteY7" fmla="*/ 271238 h 599527"/>
                <a:gd name="connsiteX8" fmla="*/ 222034 w 412043"/>
                <a:gd name="connsiteY8" fmla="*/ 284828 h 599527"/>
                <a:gd name="connsiteX9" fmla="*/ 158437 w 412043"/>
                <a:gd name="connsiteY9" fmla="*/ 287640 h 599527"/>
                <a:gd name="connsiteX10" fmla="*/ 99299 w 412043"/>
                <a:gd name="connsiteY10" fmla="*/ 277096 h 599527"/>
                <a:gd name="connsiteX11" fmla="*/ 205137 w 412043"/>
                <a:gd name="connsiteY11" fmla="*/ 392382 h 599527"/>
                <a:gd name="connsiteX12" fmla="*/ 312148 w 412043"/>
                <a:gd name="connsiteY12" fmla="*/ 309432 h 599527"/>
                <a:gd name="connsiteX13" fmla="*/ 305108 w 412043"/>
                <a:gd name="connsiteY13" fmla="*/ 310604 h 599527"/>
                <a:gd name="connsiteX14" fmla="*/ 275305 w 412043"/>
                <a:gd name="connsiteY14" fmla="*/ 271238 h 599527"/>
                <a:gd name="connsiteX15" fmla="*/ 93667 w 412043"/>
                <a:gd name="connsiteY15" fmla="*/ 210314 h 599527"/>
                <a:gd name="connsiteX16" fmla="*/ 93667 w 412043"/>
                <a:gd name="connsiteY16" fmla="*/ 212892 h 599527"/>
                <a:gd name="connsiteX17" fmla="*/ 100003 w 412043"/>
                <a:gd name="connsiteY17" fmla="*/ 213595 h 599527"/>
                <a:gd name="connsiteX18" fmla="*/ 93667 w 412043"/>
                <a:gd name="connsiteY18" fmla="*/ 210314 h 599527"/>
                <a:gd name="connsiteX19" fmla="*/ 80202 w 412043"/>
                <a:gd name="connsiteY19" fmla="*/ 186355 h 599527"/>
                <a:gd name="connsiteX20" fmla="*/ 89443 w 412043"/>
                <a:gd name="connsiteY20" fmla="*/ 186413 h 599527"/>
                <a:gd name="connsiteX21" fmla="*/ 269203 w 412043"/>
                <a:gd name="connsiteY21" fmla="*/ 193209 h 599527"/>
                <a:gd name="connsiteX22" fmla="*/ 279059 w 412043"/>
                <a:gd name="connsiteY22" fmla="*/ 193209 h 599527"/>
                <a:gd name="connsiteX23" fmla="*/ 284222 w 412043"/>
                <a:gd name="connsiteY23" fmla="*/ 197661 h 599527"/>
                <a:gd name="connsiteX24" fmla="*/ 288681 w 412043"/>
                <a:gd name="connsiteY24" fmla="*/ 255304 h 599527"/>
                <a:gd name="connsiteX25" fmla="*/ 312383 w 412043"/>
                <a:gd name="connsiteY25" fmla="*/ 289280 h 599527"/>
                <a:gd name="connsiteX26" fmla="*/ 314965 w 412043"/>
                <a:gd name="connsiteY26" fmla="*/ 201175 h 599527"/>
                <a:gd name="connsiteX27" fmla="*/ 330688 w 412043"/>
                <a:gd name="connsiteY27" fmla="*/ 199067 h 599527"/>
                <a:gd name="connsiteX28" fmla="*/ 260051 w 412043"/>
                <a:gd name="connsiteY28" fmla="*/ 401287 h 599527"/>
                <a:gd name="connsiteX29" fmla="*/ 263102 w 412043"/>
                <a:gd name="connsiteY29" fmla="*/ 401990 h 599527"/>
                <a:gd name="connsiteX30" fmla="*/ 401325 w 412043"/>
                <a:gd name="connsiteY30" fmla="*/ 590150 h 599527"/>
                <a:gd name="connsiteX31" fmla="*/ 389591 w 412043"/>
                <a:gd name="connsiteY31" fmla="*/ 599289 h 599527"/>
                <a:gd name="connsiteX32" fmla="*/ 262867 w 412043"/>
                <a:gd name="connsiteY32" fmla="*/ 595071 h 599527"/>
                <a:gd name="connsiteX33" fmla="*/ 253480 w 412043"/>
                <a:gd name="connsiteY33" fmla="*/ 585698 h 599527"/>
                <a:gd name="connsiteX34" fmla="*/ 247144 w 412043"/>
                <a:gd name="connsiteY34" fmla="*/ 414643 h 599527"/>
                <a:gd name="connsiteX35" fmla="*/ 248786 w 412043"/>
                <a:gd name="connsiteY35" fmla="*/ 410660 h 599527"/>
                <a:gd name="connsiteX36" fmla="*/ 251603 w 412043"/>
                <a:gd name="connsiteY36" fmla="*/ 404802 h 599527"/>
                <a:gd name="connsiteX37" fmla="*/ 205137 w 412043"/>
                <a:gd name="connsiteY37" fmla="*/ 410894 h 599527"/>
                <a:gd name="connsiteX38" fmla="*/ 75362 w 412043"/>
                <a:gd name="connsiteY38" fmla="*/ 194380 h 599527"/>
                <a:gd name="connsiteX39" fmla="*/ 80202 w 412043"/>
                <a:gd name="connsiteY39" fmla="*/ 186355 h 599527"/>
                <a:gd name="connsiteX40" fmla="*/ 204675 w 412043"/>
                <a:gd name="connsiteY40" fmla="*/ 1071 h 599527"/>
                <a:gd name="connsiteX41" fmla="*/ 297143 w 412043"/>
                <a:gd name="connsiteY41" fmla="*/ 36212 h 599527"/>
                <a:gd name="connsiteX42" fmla="*/ 407917 w 412043"/>
                <a:gd name="connsiteY42" fmla="*/ 88689 h 599527"/>
                <a:gd name="connsiteX43" fmla="*/ 405335 w 412043"/>
                <a:gd name="connsiteY43" fmla="*/ 105790 h 599527"/>
                <a:gd name="connsiteX44" fmla="*/ 367785 w 412043"/>
                <a:gd name="connsiteY44" fmla="*/ 126172 h 599527"/>
                <a:gd name="connsiteX45" fmla="*/ 313102 w 412043"/>
                <a:gd name="connsiteY45" fmla="*/ 136948 h 599527"/>
                <a:gd name="connsiteX46" fmla="*/ 200216 w 412043"/>
                <a:gd name="connsiteY46" fmla="*/ 93608 h 599527"/>
                <a:gd name="connsiteX47" fmla="*/ 282123 w 412043"/>
                <a:gd name="connsiteY47" fmla="*/ 147256 h 599527"/>
                <a:gd name="connsiteX48" fmla="*/ 285643 w 412043"/>
                <a:gd name="connsiteY48" fmla="*/ 153347 h 599527"/>
                <a:gd name="connsiteX49" fmla="*/ 285174 w 412043"/>
                <a:gd name="connsiteY49" fmla="*/ 165530 h 599527"/>
                <a:gd name="connsiteX50" fmla="*/ 172757 w 412043"/>
                <a:gd name="connsiteY50" fmla="*/ 198328 h 599527"/>
                <a:gd name="connsiteX51" fmla="*/ 8474 w 412043"/>
                <a:gd name="connsiteY51" fmla="*/ 110242 h 599527"/>
                <a:gd name="connsiteX52" fmla="*/ 3310 w 412043"/>
                <a:gd name="connsiteY52" fmla="*/ 97122 h 599527"/>
                <a:gd name="connsiteX53" fmla="*/ 113146 w 412043"/>
                <a:gd name="connsiteY53" fmla="*/ 45114 h 599527"/>
                <a:gd name="connsiteX54" fmla="*/ 204675 w 412043"/>
                <a:gd name="connsiteY54" fmla="*/ 1071 h 599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412043" h="599527">
                  <a:moveTo>
                    <a:pt x="142468" y="396851"/>
                  </a:moveTo>
                  <a:cubicBezTo>
                    <a:pt x="148333" y="395679"/>
                    <a:pt x="153730" y="399662"/>
                    <a:pt x="153964" y="405753"/>
                  </a:cubicBezTo>
                  <a:cubicBezTo>
                    <a:pt x="156545" y="464556"/>
                    <a:pt x="165461" y="529215"/>
                    <a:pt x="144814" y="585910"/>
                  </a:cubicBezTo>
                  <a:cubicBezTo>
                    <a:pt x="145048" y="590595"/>
                    <a:pt x="142233" y="595515"/>
                    <a:pt x="135898" y="595046"/>
                  </a:cubicBezTo>
                  <a:cubicBezTo>
                    <a:pt x="95776" y="591532"/>
                    <a:pt x="55889" y="595046"/>
                    <a:pt x="15768" y="599498"/>
                  </a:cubicBezTo>
                  <a:cubicBezTo>
                    <a:pt x="10606" y="599966"/>
                    <a:pt x="6383" y="594812"/>
                    <a:pt x="6383" y="590127"/>
                  </a:cubicBezTo>
                  <a:cubicBezTo>
                    <a:pt x="5913" y="512348"/>
                    <a:pt x="62224" y="414655"/>
                    <a:pt x="142468" y="396851"/>
                  </a:cubicBezTo>
                  <a:close/>
                  <a:moveTo>
                    <a:pt x="275305" y="271238"/>
                  </a:moveTo>
                  <a:cubicBezTo>
                    <a:pt x="260285" y="280845"/>
                    <a:pt x="239165" y="282251"/>
                    <a:pt x="222034" y="284828"/>
                  </a:cubicBezTo>
                  <a:cubicBezTo>
                    <a:pt x="201148" y="287875"/>
                    <a:pt x="179557" y="289280"/>
                    <a:pt x="158437" y="287640"/>
                  </a:cubicBezTo>
                  <a:cubicBezTo>
                    <a:pt x="143887" y="286469"/>
                    <a:pt x="116899" y="285531"/>
                    <a:pt x="99299" y="277096"/>
                  </a:cubicBezTo>
                  <a:cubicBezTo>
                    <a:pt x="110329" y="336145"/>
                    <a:pt x="139663" y="391679"/>
                    <a:pt x="205137" y="392382"/>
                  </a:cubicBezTo>
                  <a:cubicBezTo>
                    <a:pt x="262163" y="392851"/>
                    <a:pt x="296895" y="356062"/>
                    <a:pt x="312148" y="309432"/>
                  </a:cubicBezTo>
                  <a:cubicBezTo>
                    <a:pt x="310036" y="310135"/>
                    <a:pt x="307690" y="310604"/>
                    <a:pt x="305108" y="310604"/>
                  </a:cubicBezTo>
                  <a:cubicBezTo>
                    <a:pt x="287977" y="310604"/>
                    <a:pt x="279294" y="293030"/>
                    <a:pt x="275305" y="271238"/>
                  </a:cubicBezTo>
                  <a:close/>
                  <a:moveTo>
                    <a:pt x="93667" y="210314"/>
                  </a:moveTo>
                  <a:cubicBezTo>
                    <a:pt x="93667" y="211251"/>
                    <a:pt x="93667" y="212189"/>
                    <a:pt x="93667" y="212892"/>
                  </a:cubicBezTo>
                  <a:cubicBezTo>
                    <a:pt x="95779" y="213126"/>
                    <a:pt x="97891" y="213360"/>
                    <a:pt x="100003" y="213595"/>
                  </a:cubicBezTo>
                  <a:cubicBezTo>
                    <a:pt x="97891" y="212423"/>
                    <a:pt x="95779" y="211486"/>
                    <a:pt x="93667" y="210314"/>
                  </a:cubicBezTo>
                  <a:close/>
                  <a:moveTo>
                    <a:pt x="80202" y="186355"/>
                  </a:moveTo>
                  <a:cubicBezTo>
                    <a:pt x="82872" y="184714"/>
                    <a:pt x="86275" y="184422"/>
                    <a:pt x="89443" y="186413"/>
                  </a:cubicBezTo>
                  <a:cubicBezTo>
                    <a:pt x="144356" y="220156"/>
                    <a:pt x="213820" y="232340"/>
                    <a:pt x="269203" y="193209"/>
                  </a:cubicBezTo>
                  <a:cubicBezTo>
                    <a:pt x="272958" y="190397"/>
                    <a:pt x="276713" y="191100"/>
                    <a:pt x="279059" y="193209"/>
                  </a:cubicBezTo>
                  <a:cubicBezTo>
                    <a:pt x="281641" y="192271"/>
                    <a:pt x="284692" y="194380"/>
                    <a:pt x="284222" y="197661"/>
                  </a:cubicBezTo>
                  <a:cubicBezTo>
                    <a:pt x="281876" y="216172"/>
                    <a:pt x="285630" y="237261"/>
                    <a:pt x="288681" y="255304"/>
                  </a:cubicBezTo>
                  <a:cubicBezTo>
                    <a:pt x="289620" y="261162"/>
                    <a:pt x="304404" y="314587"/>
                    <a:pt x="312383" y="289280"/>
                  </a:cubicBezTo>
                  <a:cubicBezTo>
                    <a:pt x="321301" y="261162"/>
                    <a:pt x="315434" y="229997"/>
                    <a:pt x="314965" y="201175"/>
                  </a:cubicBezTo>
                  <a:cubicBezTo>
                    <a:pt x="314730" y="192037"/>
                    <a:pt x="328341" y="190397"/>
                    <a:pt x="330688" y="199067"/>
                  </a:cubicBezTo>
                  <a:cubicBezTo>
                    <a:pt x="349227" y="270300"/>
                    <a:pt x="328576" y="369887"/>
                    <a:pt x="260051" y="401287"/>
                  </a:cubicBezTo>
                  <a:cubicBezTo>
                    <a:pt x="261224" y="401287"/>
                    <a:pt x="262163" y="401521"/>
                    <a:pt x="263102" y="401990"/>
                  </a:cubicBezTo>
                  <a:cubicBezTo>
                    <a:pt x="332330" y="431983"/>
                    <a:pt x="406018" y="510481"/>
                    <a:pt x="401325" y="590150"/>
                  </a:cubicBezTo>
                  <a:cubicBezTo>
                    <a:pt x="401090" y="596711"/>
                    <a:pt x="395693" y="600226"/>
                    <a:pt x="389591" y="599289"/>
                  </a:cubicBezTo>
                  <a:cubicBezTo>
                    <a:pt x="347584" y="591790"/>
                    <a:pt x="305108" y="600460"/>
                    <a:pt x="262867" y="595071"/>
                  </a:cubicBezTo>
                  <a:cubicBezTo>
                    <a:pt x="257704" y="594368"/>
                    <a:pt x="253480" y="591322"/>
                    <a:pt x="253480" y="585698"/>
                  </a:cubicBezTo>
                  <a:cubicBezTo>
                    <a:pt x="252776" y="529226"/>
                    <a:pt x="239634" y="471115"/>
                    <a:pt x="247144" y="414643"/>
                  </a:cubicBezTo>
                  <a:cubicBezTo>
                    <a:pt x="247378" y="413003"/>
                    <a:pt x="248082" y="411831"/>
                    <a:pt x="248786" y="410660"/>
                  </a:cubicBezTo>
                  <a:cubicBezTo>
                    <a:pt x="249021" y="408551"/>
                    <a:pt x="249960" y="406442"/>
                    <a:pt x="251603" y="404802"/>
                  </a:cubicBezTo>
                  <a:cubicBezTo>
                    <a:pt x="237757" y="409722"/>
                    <a:pt x="222268" y="411831"/>
                    <a:pt x="205137" y="410894"/>
                  </a:cubicBezTo>
                  <a:cubicBezTo>
                    <a:pt x="96248" y="404802"/>
                    <a:pt x="70903" y="284360"/>
                    <a:pt x="75362" y="194380"/>
                  </a:cubicBezTo>
                  <a:cubicBezTo>
                    <a:pt x="75597" y="190983"/>
                    <a:pt x="77533" y="187995"/>
                    <a:pt x="80202" y="186355"/>
                  </a:cubicBezTo>
                  <a:close/>
                  <a:moveTo>
                    <a:pt x="204675" y="1071"/>
                  </a:moveTo>
                  <a:cubicBezTo>
                    <a:pt x="234481" y="-6191"/>
                    <a:pt x="272031" y="25435"/>
                    <a:pt x="297143" y="36212"/>
                  </a:cubicBezTo>
                  <a:cubicBezTo>
                    <a:pt x="334459" y="52142"/>
                    <a:pt x="374121" y="65730"/>
                    <a:pt x="407917" y="88689"/>
                  </a:cubicBezTo>
                  <a:cubicBezTo>
                    <a:pt x="415192" y="93843"/>
                    <a:pt x="411907" y="104150"/>
                    <a:pt x="405335" y="105790"/>
                  </a:cubicBezTo>
                  <a:cubicBezTo>
                    <a:pt x="398295" y="117035"/>
                    <a:pt x="379519" y="122189"/>
                    <a:pt x="367785" y="126172"/>
                  </a:cubicBezTo>
                  <a:cubicBezTo>
                    <a:pt x="351122" y="132029"/>
                    <a:pt x="331173" y="139291"/>
                    <a:pt x="313102" y="136948"/>
                  </a:cubicBezTo>
                  <a:cubicBezTo>
                    <a:pt x="271562" y="131092"/>
                    <a:pt x="243164" y="83769"/>
                    <a:pt x="200216" y="93608"/>
                  </a:cubicBezTo>
                  <a:cubicBezTo>
                    <a:pt x="211481" y="122658"/>
                    <a:pt x="255368" y="139760"/>
                    <a:pt x="282123" y="147256"/>
                  </a:cubicBezTo>
                  <a:cubicBezTo>
                    <a:pt x="285174" y="148193"/>
                    <a:pt x="286113" y="150770"/>
                    <a:pt x="285643" y="153347"/>
                  </a:cubicBezTo>
                  <a:cubicBezTo>
                    <a:pt x="288459" y="156627"/>
                    <a:pt x="289398" y="161547"/>
                    <a:pt x="285174" y="165530"/>
                  </a:cubicBezTo>
                  <a:cubicBezTo>
                    <a:pt x="254899" y="193408"/>
                    <a:pt x="213358" y="214961"/>
                    <a:pt x="172757" y="198328"/>
                  </a:cubicBezTo>
                  <a:cubicBezTo>
                    <a:pt x="115493" y="174666"/>
                    <a:pt x="65738" y="134840"/>
                    <a:pt x="8474" y="110242"/>
                  </a:cubicBezTo>
                  <a:cubicBezTo>
                    <a:pt x="728" y="112584"/>
                    <a:pt x="-3261" y="101339"/>
                    <a:pt x="3310" y="97122"/>
                  </a:cubicBezTo>
                  <a:cubicBezTo>
                    <a:pt x="37341" y="75569"/>
                    <a:pt x="76769" y="61982"/>
                    <a:pt x="113146" y="45114"/>
                  </a:cubicBezTo>
                  <a:cubicBezTo>
                    <a:pt x="142482" y="31526"/>
                    <a:pt x="173226" y="8568"/>
                    <a:pt x="204675" y="1071"/>
                  </a:cubicBezTo>
                  <a:close/>
                </a:path>
              </a:pathLst>
            </a:custGeom>
            <a:solidFill>
              <a:srgbClr val="005D96"/>
            </a:solidFill>
            <a:ln>
              <a:noFill/>
            </a:ln>
          </p:spPr>
          <p:txBody>
            <a:bodyPr/>
            <a:lstStyle/>
            <a:p>
              <a:endParaRPr lang="zh-CN" altLang="en-US" dirty="0">
                <a:solidFill>
                  <a:schemeClr val="accent4"/>
                </a:solidFill>
              </a:endParaRPr>
            </a:p>
          </p:txBody>
        </p:sp>
        <p:sp>
          <p:nvSpPr>
            <p:cNvPr id="45" name="professor_53644"/>
            <p:cNvSpPr>
              <a:spLocks noChangeAspect="1"/>
            </p:cNvSpPr>
            <p:nvPr/>
          </p:nvSpPr>
          <p:spPr bwMode="auto">
            <a:xfrm>
              <a:off x="6601606" y="5807951"/>
              <a:ext cx="254137" cy="360000"/>
            </a:xfrm>
            <a:custGeom>
              <a:avLst/>
              <a:gdLst>
                <a:gd name="connsiteX0" fmla="*/ 274879 w 424808"/>
                <a:gd name="connsiteY0" fmla="*/ 445205 h 601764"/>
                <a:gd name="connsiteX1" fmla="*/ 274879 w 424808"/>
                <a:gd name="connsiteY1" fmla="*/ 470531 h 601764"/>
                <a:gd name="connsiteX2" fmla="*/ 332512 w 424808"/>
                <a:gd name="connsiteY2" fmla="*/ 470531 h 601764"/>
                <a:gd name="connsiteX3" fmla="*/ 332512 w 424808"/>
                <a:gd name="connsiteY3" fmla="*/ 445205 h 601764"/>
                <a:gd name="connsiteX4" fmla="*/ 107051 w 424808"/>
                <a:gd name="connsiteY4" fmla="*/ 280818 h 601764"/>
                <a:gd name="connsiteX5" fmla="*/ 183588 w 424808"/>
                <a:gd name="connsiteY5" fmla="*/ 420340 h 601764"/>
                <a:gd name="connsiteX6" fmla="*/ 191426 w 424808"/>
                <a:gd name="connsiteY6" fmla="*/ 393633 h 601764"/>
                <a:gd name="connsiteX7" fmla="*/ 179899 w 424808"/>
                <a:gd name="connsiteY7" fmla="*/ 369228 h 601764"/>
                <a:gd name="connsiteX8" fmla="*/ 212174 w 424808"/>
                <a:gd name="connsiteY8" fmla="*/ 336074 h 601764"/>
                <a:gd name="connsiteX9" fmla="*/ 244910 w 424808"/>
                <a:gd name="connsiteY9" fmla="*/ 369228 h 601764"/>
                <a:gd name="connsiteX10" fmla="*/ 233383 w 424808"/>
                <a:gd name="connsiteY10" fmla="*/ 393633 h 601764"/>
                <a:gd name="connsiteX11" fmla="*/ 240760 w 424808"/>
                <a:gd name="connsiteY11" fmla="*/ 420340 h 601764"/>
                <a:gd name="connsiteX12" fmla="*/ 317758 w 424808"/>
                <a:gd name="connsiteY12" fmla="*/ 280818 h 601764"/>
                <a:gd name="connsiteX13" fmla="*/ 424726 w 424808"/>
                <a:gd name="connsiteY13" fmla="*/ 513815 h 601764"/>
                <a:gd name="connsiteX14" fmla="*/ 388763 w 424808"/>
                <a:gd name="connsiteY14" fmla="*/ 559861 h 601764"/>
                <a:gd name="connsiteX15" fmla="*/ 347267 w 424808"/>
                <a:gd name="connsiteY15" fmla="*/ 561703 h 601764"/>
                <a:gd name="connsiteX16" fmla="*/ 213557 w 424808"/>
                <a:gd name="connsiteY16" fmla="*/ 601764 h 601764"/>
                <a:gd name="connsiteX17" fmla="*/ 78003 w 424808"/>
                <a:gd name="connsiteY17" fmla="*/ 561703 h 601764"/>
                <a:gd name="connsiteX18" fmla="*/ 36507 w 424808"/>
                <a:gd name="connsiteY18" fmla="*/ 559861 h 601764"/>
                <a:gd name="connsiteX19" fmla="*/ 83 w 424808"/>
                <a:gd name="connsiteY19" fmla="*/ 513815 h 601764"/>
                <a:gd name="connsiteX20" fmla="*/ 107051 w 424808"/>
                <a:gd name="connsiteY20" fmla="*/ 280818 h 601764"/>
                <a:gd name="connsiteX21" fmla="*/ 184977 w 424808"/>
                <a:gd name="connsiteY21" fmla="*/ 152406 h 601764"/>
                <a:gd name="connsiteX22" fmla="*/ 153631 w 424808"/>
                <a:gd name="connsiteY22" fmla="*/ 166680 h 601764"/>
                <a:gd name="connsiteX23" fmla="*/ 153631 w 424808"/>
                <a:gd name="connsiteY23" fmla="*/ 167601 h 601764"/>
                <a:gd name="connsiteX24" fmla="*/ 170226 w 424808"/>
                <a:gd name="connsiteY24" fmla="*/ 184637 h 601764"/>
                <a:gd name="connsiteX25" fmla="*/ 178062 w 424808"/>
                <a:gd name="connsiteY25" fmla="*/ 184637 h 601764"/>
                <a:gd name="connsiteX26" fmla="*/ 195118 w 424808"/>
                <a:gd name="connsiteY26" fmla="*/ 167601 h 601764"/>
                <a:gd name="connsiteX27" fmla="*/ 184977 w 424808"/>
                <a:gd name="connsiteY27" fmla="*/ 152406 h 601764"/>
                <a:gd name="connsiteX28" fmla="*/ 247208 w 424808"/>
                <a:gd name="connsiteY28" fmla="*/ 150564 h 601764"/>
                <a:gd name="connsiteX29" fmla="*/ 230152 w 424808"/>
                <a:gd name="connsiteY29" fmla="*/ 167601 h 601764"/>
                <a:gd name="connsiteX30" fmla="*/ 247208 w 424808"/>
                <a:gd name="connsiteY30" fmla="*/ 184637 h 601764"/>
                <a:gd name="connsiteX31" fmla="*/ 254583 w 424808"/>
                <a:gd name="connsiteY31" fmla="*/ 184637 h 601764"/>
                <a:gd name="connsiteX32" fmla="*/ 271639 w 424808"/>
                <a:gd name="connsiteY32" fmla="*/ 167601 h 601764"/>
                <a:gd name="connsiteX33" fmla="*/ 254583 w 424808"/>
                <a:gd name="connsiteY33" fmla="*/ 150564 h 601764"/>
                <a:gd name="connsiteX34" fmla="*/ 236144 w 424808"/>
                <a:gd name="connsiteY34" fmla="*/ 107283 h 601764"/>
                <a:gd name="connsiteX35" fmla="*/ 196040 w 424808"/>
                <a:gd name="connsiteY35" fmla="*/ 145039 h 601764"/>
                <a:gd name="connsiteX36" fmla="*/ 201572 w 424808"/>
                <a:gd name="connsiteY36" fmla="*/ 150564 h 601764"/>
                <a:gd name="connsiteX37" fmla="*/ 223237 w 424808"/>
                <a:gd name="connsiteY37" fmla="*/ 150564 h 601764"/>
                <a:gd name="connsiteX38" fmla="*/ 247208 w 424808"/>
                <a:gd name="connsiteY38" fmla="*/ 138593 h 601764"/>
                <a:gd name="connsiteX39" fmla="*/ 254583 w 424808"/>
                <a:gd name="connsiteY39" fmla="*/ 138593 h 601764"/>
                <a:gd name="connsiteX40" fmla="*/ 284085 w 424808"/>
                <a:gd name="connsiteY40" fmla="*/ 167601 h 601764"/>
                <a:gd name="connsiteX41" fmla="*/ 254583 w 424808"/>
                <a:gd name="connsiteY41" fmla="*/ 197069 h 601764"/>
                <a:gd name="connsiteX42" fmla="*/ 247208 w 424808"/>
                <a:gd name="connsiteY42" fmla="*/ 197069 h 601764"/>
                <a:gd name="connsiteX43" fmla="*/ 217706 w 424808"/>
                <a:gd name="connsiteY43" fmla="*/ 167601 h 601764"/>
                <a:gd name="connsiteX44" fmla="*/ 218167 w 424808"/>
                <a:gd name="connsiteY44" fmla="*/ 162996 h 601764"/>
                <a:gd name="connsiteX45" fmla="*/ 206642 w 424808"/>
                <a:gd name="connsiteY45" fmla="*/ 162996 h 601764"/>
                <a:gd name="connsiteX46" fmla="*/ 207103 w 424808"/>
                <a:gd name="connsiteY46" fmla="*/ 167601 h 601764"/>
                <a:gd name="connsiteX47" fmla="*/ 178062 w 424808"/>
                <a:gd name="connsiteY47" fmla="*/ 197069 h 601764"/>
                <a:gd name="connsiteX48" fmla="*/ 170226 w 424808"/>
                <a:gd name="connsiteY48" fmla="*/ 197069 h 601764"/>
                <a:gd name="connsiteX49" fmla="*/ 141185 w 424808"/>
                <a:gd name="connsiteY49" fmla="*/ 170363 h 601764"/>
                <a:gd name="connsiteX50" fmla="*/ 119519 w 424808"/>
                <a:gd name="connsiteY50" fmla="*/ 173586 h 601764"/>
                <a:gd name="connsiteX51" fmla="*/ 212635 w 424808"/>
                <a:gd name="connsiteY51" fmla="*/ 280869 h 601764"/>
                <a:gd name="connsiteX52" fmla="*/ 307594 w 424808"/>
                <a:gd name="connsiteY52" fmla="*/ 155629 h 601764"/>
                <a:gd name="connsiteX53" fmla="*/ 236144 w 424808"/>
                <a:gd name="connsiteY53" fmla="*/ 107283 h 601764"/>
                <a:gd name="connsiteX54" fmla="*/ 212635 w 424808"/>
                <a:gd name="connsiteY54" fmla="*/ 0 h 601764"/>
                <a:gd name="connsiteX55" fmla="*/ 340323 w 424808"/>
                <a:gd name="connsiteY55" fmla="*/ 127082 h 601764"/>
                <a:gd name="connsiteX56" fmla="*/ 365215 w 424808"/>
                <a:gd name="connsiteY56" fmla="*/ 175889 h 601764"/>
                <a:gd name="connsiteX57" fmla="*/ 326955 w 424808"/>
                <a:gd name="connsiteY57" fmla="*/ 224695 h 601764"/>
                <a:gd name="connsiteX58" fmla="*/ 212635 w 424808"/>
                <a:gd name="connsiteY58" fmla="*/ 317244 h 601764"/>
                <a:gd name="connsiteX59" fmla="*/ 98315 w 424808"/>
                <a:gd name="connsiteY59" fmla="*/ 224695 h 601764"/>
                <a:gd name="connsiteX60" fmla="*/ 59594 w 424808"/>
                <a:gd name="connsiteY60" fmla="*/ 175889 h 601764"/>
                <a:gd name="connsiteX61" fmla="*/ 84947 w 424808"/>
                <a:gd name="connsiteY61" fmla="*/ 127082 h 601764"/>
                <a:gd name="connsiteX62" fmla="*/ 212635 w 424808"/>
                <a:gd name="connsiteY62" fmla="*/ 0 h 601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424808" h="601764">
                  <a:moveTo>
                    <a:pt x="274879" y="445205"/>
                  </a:moveTo>
                  <a:lnTo>
                    <a:pt x="274879" y="470531"/>
                  </a:lnTo>
                  <a:lnTo>
                    <a:pt x="332512" y="470531"/>
                  </a:lnTo>
                  <a:lnTo>
                    <a:pt x="332512" y="445205"/>
                  </a:lnTo>
                  <a:close/>
                  <a:moveTo>
                    <a:pt x="107051" y="280818"/>
                  </a:moveTo>
                  <a:lnTo>
                    <a:pt x="183588" y="420340"/>
                  </a:lnTo>
                  <a:lnTo>
                    <a:pt x="191426" y="393633"/>
                  </a:lnTo>
                  <a:cubicBezTo>
                    <a:pt x="184510" y="387647"/>
                    <a:pt x="179899" y="378898"/>
                    <a:pt x="179899" y="369228"/>
                  </a:cubicBezTo>
                  <a:cubicBezTo>
                    <a:pt x="179899" y="350809"/>
                    <a:pt x="193731" y="336074"/>
                    <a:pt x="212174" y="336074"/>
                  </a:cubicBezTo>
                  <a:cubicBezTo>
                    <a:pt x="230156" y="336074"/>
                    <a:pt x="244910" y="350809"/>
                    <a:pt x="244910" y="369228"/>
                  </a:cubicBezTo>
                  <a:cubicBezTo>
                    <a:pt x="244910" y="378898"/>
                    <a:pt x="240299" y="387647"/>
                    <a:pt x="233383" y="393633"/>
                  </a:cubicBezTo>
                  <a:lnTo>
                    <a:pt x="240760" y="420340"/>
                  </a:lnTo>
                  <a:lnTo>
                    <a:pt x="317758" y="280818"/>
                  </a:lnTo>
                  <a:cubicBezTo>
                    <a:pt x="367092" y="310288"/>
                    <a:pt x="417810" y="377977"/>
                    <a:pt x="424726" y="513815"/>
                  </a:cubicBezTo>
                  <a:cubicBezTo>
                    <a:pt x="426109" y="537759"/>
                    <a:pt x="409972" y="558480"/>
                    <a:pt x="388763" y="559861"/>
                  </a:cubicBezTo>
                  <a:cubicBezTo>
                    <a:pt x="387840" y="559861"/>
                    <a:pt x="347267" y="561703"/>
                    <a:pt x="347267" y="561703"/>
                  </a:cubicBezTo>
                  <a:cubicBezTo>
                    <a:pt x="322830" y="588410"/>
                    <a:pt x="274879" y="601764"/>
                    <a:pt x="213557" y="601764"/>
                  </a:cubicBezTo>
                  <a:cubicBezTo>
                    <a:pt x="155463" y="601764"/>
                    <a:pt x="103362" y="590713"/>
                    <a:pt x="78003" y="561703"/>
                  </a:cubicBezTo>
                  <a:cubicBezTo>
                    <a:pt x="78003" y="561703"/>
                    <a:pt x="36969" y="559861"/>
                    <a:pt x="36507" y="559861"/>
                  </a:cubicBezTo>
                  <a:cubicBezTo>
                    <a:pt x="14837" y="558480"/>
                    <a:pt x="-1300" y="537759"/>
                    <a:pt x="83" y="513815"/>
                  </a:cubicBezTo>
                  <a:cubicBezTo>
                    <a:pt x="6999" y="377056"/>
                    <a:pt x="57717" y="309827"/>
                    <a:pt x="107051" y="280818"/>
                  </a:cubicBezTo>
                  <a:close/>
                  <a:moveTo>
                    <a:pt x="184977" y="152406"/>
                  </a:moveTo>
                  <a:cubicBezTo>
                    <a:pt x="175758" y="157931"/>
                    <a:pt x="165155" y="162996"/>
                    <a:pt x="153631" y="166680"/>
                  </a:cubicBezTo>
                  <a:cubicBezTo>
                    <a:pt x="153631" y="167140"/>
                    <a:pt x="153631" y="167601"/>
                    <a:pt x="153631" y="167601"/>
                  </a:cubicBezTo>
                  <a:cubicBezTo>
                    <a:pt x="153631" y="176809"/>
                    <a:pt x="161007" y="184637"/>
                    <a:pt x="170226" y="184637"/>
                  </a:cubicBezTo>
                  <a:lnTo>
                    <a:pt x="178062" y="184637"/>
                  </a:lnTo>
                  <a:cubicBezTo>
                    <a:pt x="187282" y="184637"/>
                    <a:pt x="195118" y="176809"/>
                    <a:pt x="195118" y="167601"/>
                  </a:cubicBezTo>
                  <a:cubicBezTo>
                    <a:pt x="195118" y="160694"/>
                    <a:pt x="190969" y="155169"/>
                    <a:pt x="184977" y="152406"/>
                  </a:cubicBezTo>
                  <a:close/>
                  <a:moveTo>
                    <a:pt x="247208" y="150564"/>
                  </a:moveTo>
                  <a:cubicBezTo>
                    <a:pt x="237527" y="150564"/>
                    <a:pt x="230152" y="158392"/>
                    <a:pt x="230152" y="167601"/>
                  </a:cubicBezTo>
                  <a:cubicBezTo>
                    <a:pt x="230152" y="176809"/>
                    <a:pt x="237527" y="184637"/>
                    <a:pt x="247208" y="184637"/>
                  </a:cubicBezTo>
                  <a:lnTo>
                    <a:pt x="254583" y="184637"/>
                  </a:lnTo>
                  <a:cubicBezTo>
                    <a:pt x="263802" y="184637"/>
                    <a:pt x="271639" y="176809"/>
                    <a:pt x="271639" y="167601"/>
                  </a:cubicBezTo>
                  <a:cubicBezTo>
                    <a:pt x="271639" y="158392"/>
                    <a:pt x="263802" y="150564"/>
                    <a:pt x="254583" y="150564"/>
                  </a:cubicBezTo>
                  <a:close/>
                  <a:moveTo>
                    <a:pt x="236144" y="107283"/>
                  </a:moveTo>
                  <a:cubicBezTo>
                    <a:pt x="232457" y="111887"/>
                    <a:pt x="218628" y="129384"/>
                    <a:pt x="196040" y="145039"/>
                  </a:cubicBezTo>
                  <a:cubicBezTo>
                    <a:pt x="198345" y="146420"/>
                    <a:pt x="200189" y="148723"/>
                    <a:pt x="201572" y="150564"/>
                  </a:cubicBezTo>
                  <a:lnTo>
                    <a:pt x="223237" y="150564"/>
                  </a:lnTo>
                  <a:cubicBezTo>
                    <a:pt x="228769" y="143197"/>
                    <a:pt x="237066" y="138593"/>
                    <a:pt x="247208" y="138593"/>
                  </a:cubicBezTo>
                  <a:lnTo>
                    <a:pt x="254583" y="138593"/>
                  </a:lnTo>
                  <a:cubicBezTo>
                    <a:pt x="270717" y="138593"/>
                    <a:pt x="284085" y="151485"/>
                    <a:pt x="284085" y="167601"/>
                  </a:cubicBezTo>
                  <a:cubicBezTo>
                    <a:pt x="284085" y="183716"/>
                    <a:pt x="270717" y="197069"/>
                    <a:pt x="254583" y="197069"/>
                  </a:cubicBezTo>
                  <a:lnTo>
                    <a:pt x="247208" y="197069"/>
                  </a:lnTo>
                  <a:cubicBezTo>
                    <a:pt x="231074" y="197069"/>
                    <a:pt x="217706" y="183716"/>
                    <a:pt x="217706" y="167601"/>
                  </a:cubicBezTo>
                  <a:cubicBezTo>
                    <a:pt x="217706" y="166219"/>
                    <a:pt x="218167" y="164378"/>
                    <a:pt x="218167" y="162996"/>
                  </a:cubicBezTo>
                  <a:lnTo>
                    <a:pt x="206642" y="162996"/>
                  </a:lnTo>
                  <a:cubicBezTo>
                    <a:pt x="207103" y="164378"/>
                    <a:pt x="207103" y="166219"/>
                    <a:pt x="207103" y="167601"/>
                  </a:cubicBezTo>
                  <a:cubicBezTo>
                    <a:pt x="207103" y="183716"/>
                    <a:pt x="194196" y="197069"/>
                    <a:pt x="178062" y="197069"/>
                  </a:cubicBezTo>
                  <a:lnTo>
                    <a:pt x="170226" y="197069"/>
                  </a:lnTo>
                  <a:cubicBezTo>
                    <a:pt x="155014" y="197069"/>
                    <a:pt x="142568" y="185097"/>
                    <a:pt x="141185" y="170363"/>
                  </a:cubicBezTo>
                  <a:cubicBezTo>
                    <a:pt x="134270" y="171745"/>
                    <a:pt x="126895" y="173126"/>
                    <a:pt x="119519" y="173586"/>
                  </a:cubicBezTo>
                  <a:cubicBezTo>
                    <a:pt x="129200" y="235746"/>
                    <a:pt x="163311" y="280869"/>
                    <a:pt x="212635" y="280869"/>
                  </a:cubicBezTo>
                  <a:cubicBezTo>
                    <a:pt x="264724" y="280869"/>
                    <a:pt x="302985" y="228839"/>
                    <a:pt x="307594" y="155629"/>
                  </a:cubicBezTo>
                  <a:cubicBezTo>
                    <a:pt x="260576" y="144579"/>
                    <a:pt x="242598" y="119715"/>
                    <a:pt x="236144" y="107283"/>
                  </a:cubicBezTo>
                  <a:close/>
                  <a:moveTo>
                    <a:pt x="212635" y="0"/>
                  </a:moveTo>
                  <a:cubicBezTo>
                    <a:pt x="313126" y="0"/>
                    <a:pt x="333870" y="55713"/>
                    <a:pt x="340323" y="127082"/>
                  </a:cubicBezTo>
                  <a:cubicBezTo>
                    <a:pt x="359684" y="130305"/>
                    <a:pt x="370286" y="145499"/>
                    <a:pt x="365215" y="175889"/>
                  </a:cubicBezTo>
                  <a:cubicBezTo>
                    <a:pt x="361067" y="201213"/>
                    <a:pt x="349081" y="222854"/>
                    <a:pt x="326955" y="224695"/>
                  </a:cubicBezTo>
                  <a:cubicBezTo>
                    <a:pt x="305290" y="281790"/>
                    <a:pt x="262420" y="317244"/>
                    <a:pt x="212635" y="317244"/>
                  </a:cubicBezTo>
                  <a:cubicBezTo>
                    <a:pt x="160546" y="317244"/>
                    <a:pt x="119980" y="280409"/>
                    <a:pt x="98315" y="224695"/>
                  </a:cubicBezTo>
                  <a:cubicBezTo>
                    <a:pt x="76188" y="222854"/>
                    <a:pt x="64203" y="201213"/>
                    <a:pt x="59594" y="175889"/>
                  </a:cubicBezTo>
                  <a:cubicBezTo>
                    <a:pt x="54523" y="145499"/>
                    <a:pt x="65586" y="130305"/>
                    <a:pt x="84947" y="127082"/>
                  </a:cubicBezTo>
                  <a:cubicBezTo>
                    <a:pt x="91400" y="55713"/>
                    <a:pt x="111222" y="0"/>
                    <a:pt x="212635" y="0"/>
                  </a:cubicBezTo>
                  <a:close/>
                </a:path>
              </a:pathLst>
            </a:custGeom>
            <a:solidFill>
              <a:srgbClr val="005D96"/>
            </a:solidFill>
            <a:ln>
              <a:noFill/>
            </a:ln>
          </p:spPr>
          <p:txBody>
            <a:bodyPr/>
            <a:lstStyle/>
            <a:p>
              <a:endParaRPr lang="zh-CN" altLang="en-US" dirty="0">
                <a:solidFill>
                  <a:schemeClr val="accent4"/>
                </a:solidFill>
              </a:endParaRPr>
            </a:p>
          </p:txBody>
        </p:sp>
      </p:grpSp>
      <p:sp>
        <p:nvSpPr>
          <p:cNvPr id="3" name="文本框 2"/>
          <p:cNvSpPr txBox="1"/>
          <p:nvPr/>
        </p:nvSpPr>
        <p:spPr>
          <a:xfrm>
            <a:off x="-114300" y="4502150"/>
            <a:ext cx="309880" cy="36830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zh-CN" altLang="en-US"/>
          </a:p>
        </p:txBody>
      </p:sp>
      <p:sp>
        <p:nvSpPr>
          <p:cNvPr id="4" name="文本占位符 3">
            <a:extLst>
              <a:ext uri="{FF2B5EF4-FFF2-40B4-BE49-F238E27FC236}">
                <a16:creationId xmlns:a16="http://schemas.microsoft.com/office/drawing/2014/main" id="{4ADE574F-A14B-EE44-B58F-28595D784A72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4908922" y="4734940"/>
            <a:ext cx="5881922" cy="337185"/>
          </a:xfrm>
        </p:spPr>
        <p:txBody>
          <a:bodyPr/>
          <a:lstStyle/>
          <a:p>
            <a:r>
              <a:rPr lang="en-US" altLang="zh-CN" b="1" dirty="0">
                <a:solidFill>
                  <a:schemeClr val="tx1"/>
                </a:solidFill>
              </a:rPr>
              <a:t>----</a:t>
            </a:r>
            <a:r>
              <a:rPr lang="zh-CN" altLang="en-US" b="1" dirty="0">
                <a:solidFill>
                  <a:schemeClr val="tx1"/>
                </a:solidFill>
              </a:rPr>
              <a:t> 课程编号：</a:t>
            </a:r>
            <a:r>
              <a:rPr lang="en-US" altLang="zh-CN" b="1" dirty="0">
                <a:solidFill>
                  <a:schemeClr val="tx1"/>
                </a:solidFill>
              </a:rPr>
              <a:t>BK10504150-01</a:t>
            </a:r>
            <a:endParaRPr lang="zh-CN" altLang="en-US" b="1" dirty="0">
              <a:solidFill>
                <a:schemeClr val="tx1"/>
              </a:solidFill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95761535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文本框 4">
            <a:extLst>
              <a:ext uri="{FF2B5EF4-FFF2-40B4-BE49-F238E27FC236}">
                <a16:creationId xmlns:a16="http://schemas.microsoft.com/office/drawing/2014/main" id="{B89F25AF-86B9-C443-AC0F-408445C8B7A5}"/>
              </a:ext>
            </a:extLst>
          </p:cNvPr>
          <p:cNvSpPr txBox="1"/>
          <p:nvPr/>
        </p:nvSpPr>
        <p:spPr>
          <a:xfrm>
            <a:off x="1268729" y="232528"/>
            <a:ext cx="4541055" cy="76944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4400" dirty="0">
                <a:latin typeface="SimSun" panose="02010600030101010101" pitchFamily="2" charset="-122"/>
                <a:ea typeface="SimSun" panose="02010600030101010101" pitchFamily="2" charset="-122"/>
              </a:rPr>
              <a:t>动态规划</a:t>
            </a: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26871972-7126-AE40-8810-E975CFED95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2873" y="1434464"/>
            <a:ext cx="7488237" cy="4714875"/>
          </a:xfrm>
          <a:prstGeom prst="rect">
            <a:avLst/>
          </a:prstGeom>
          <a:noFill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just">
              <a:lnSpc>
                <a:spcPct val="150000"/>
              </a:lnSpc>
            </a:pPr>
            <a:r>
              <a:rPr lang="en-US" altLang="zh-CN" b="1" dirty="0">
                <a:solidFill>
                  <a:srgbClr val="808080"/>
                </a:solidFill>
                <a:latin typeface="SimSun" panose="02010600030101010101" pitchFamily="2" charset="-122"/>
                <a:ea typeface="SimSun" panose="02010600030101010101" pitchFamily="2" charset="-122"/>
              </a:rPr>
              <a:t>4.1 </a:t>
            </a:r>
            <a:r>
              <a:rPr lang="zh-CN" altLang="en-US" b="1" dirty="0">
                <a:solidFill>
                  <a:srgbClr val="808080"/>
                </a:solidFill>
                <a:latin typeface="SimSun" panose="02010600030101010101" pitchFamily="2" charset="-122"/>
                <a:ea typeface="SimSun" panose="02010600030101010101" pitchFamily="2" charset="-122"/>
              </a:rPr>
              <a:t>迭代算法</a:t>
            </a:r>
          </a:p>
          <a:p>
            <a:pPr algn="just">
              <a:lnSpc>
                <a:spcPct val="150000"/>
              </a:lnSpc>
            </a:pPr>
            <a:r>
              <a:rPr lang="en-US" altLang="zh-CN" b="1" dirty="0">
                <a:solidFill>
                  <a:srgbClr val="808080"/>
                </a:solidFill>
                <a:latin typeface="SimSun" panose="02010600030101010101" pitchFamily="2" charset="-122"/>
                <a:ea typeface="SimSun" panose="02010600030101010101" pitchFamily="2" charset="-122"/>
              </a:rPr>
              <a:t>4.2 </a:t>
            </a:r>
            <a:r>
              <a:rPr lang="zh-CN" altLang="en-US" b="1" dirty="0">
                <a:solidFill>
                  <a:srgbClr val="808080"/>
                </a:solidFill>
                <a:latin typeface="SimSun" panose="02010600030101010101" pitchFamily="2" charset="-122"/>
                <a:ea typeface="SimSun" panose="02010600030101010101" pitchFamily="2" charset="-122"/>
              </a:rPr>
              <a:t>蛮力法</a:t>
            </a:r>
          </a:p>
          <a:p>
            <a:pPr algn="just">
              <a:lnSpc>
                <a:spcPct val="150000"/>
              </a:lnSpc>
            </a:pPr>
            <a:r>
              <a:rPr lang="en-US" altLang="zh-CN" b="1" dirty="0">
                <a:solidFill>
                  <a:srgbClr val="808080"/>
                </a:solidFill>
                <a:latin typeface="SimSun" panose="02010600030101010101" pitchFamily="2" charset="-122"/>
                <a:ea typeface="SimSun" panose="02010600030101010101" pitchFamily="2" charset="-122"/>
              </a:rPr>
              <a:t>4.3 </a:t>
            </a:r>
            <a:r>
              <a:rPr lang="zh-CN" altLang="en-US" b="1" dirty="0">
                <a:solidFill>
                  <a:srgbClr val="808080"/>
                </a:solidFill>
                <a:latin typeface="SimSun" panose="02010600030101010101" pitchFamily="2" charset="-122"/>
                <a:ea typeface="SimSun" panose="02010600030101010101" pitchFamily="2" charset="-122"/>
              </a:rPr>
              <a:t>分治算法</a:t>
            </a:r>
          </a:p>
          <a:p>
            <a:pPr algn="just">
              <a:lnSpc>
                <a:spcPct val="150000"/>
              </a:lnSpc>
            </a:pPr>
            <a:r>
              <a:rPr lang="en-US" altLang="zh-CN" b="1" dirty="0">
                <a:solidFill>
                  <a:srgbClr val="808080"/>
                </a:solidFill>
                <a:latin typeface="SimSun" panose="02010600030101010101" pitchFamily="2" charset="-122"/>
                <a:ea typeface="SimSun" panose="02010600030101010101" pitchFamily="2" charset="-122"/>
              </a:rPr>
              <a:t>4.4 </a:t>
            </a:r>
            <a:r>
              <a:rPr lang="zh-CN" altLang="en-US" b="1" dirty="0">
                <a:solidFill>
                  <a:srgbClr val="808080"/>
                </a:solidFill>
                <a:latin typeface="SimSun" panose="02010600030101010101" pitchFamily="2" charset="-122"/>
                <a:ea typeface="SimSun" panose="02010600030101010101" pitchFamily="2" charset="-122"/>
              </a:rPr>
              <a:t>贪婪算法</a:t>
            </a:r>
          </a:p>
          <a:p>
            <a:pPr algn="just">
              <a:lnSpc>
                <a:spcPct val="150000"/>
              </a:lnSpc>
            </a:pPr>
            <a:r>
              <a:rPr lang="en-US" altLang="zh-CN" b="1" dirty="0">
                <a:latin typeface="SimSun" panose="02010600030101010101" pitchFamily="2" charset="-122"/>
                <a:ea typeface="SimSun" panose="02010600030101010101" pitchFamily="2" charset="-122"/>
              </a:rPr>
              <a:t>4.5 </a:t>
            </a:r>
            <a:r>
              <a:rPr lang="zh-CN" altLang="en-US" b="1" dirty="0">
                <a:latin typeface="SimSun" panose="02010600030101010101" pitchFamily="2" charset="-122"/>
                <a:ea typeface="SimSun" panose="02010600030101010101" pitchFamily="2" charset="-122"/>
              </a:rPr>
              <a:t>动态规划</a:t>
            </a:r>
          </a:p>
          <a:p>
            <a:pPr algn="just">
              <a:lnSpc>
                <a:spcPct val="150000"/>
              </a:lnSpc>
            </a:pPr>
            <a:r>
              <a:rPr lang="en-US" altLang="zh-CN" b="1" dirty="0">
                <a:solidFill>
                  <a:srgbClr val="808080"/>
                </a:solidFill>
                <a:latin typeface="SimSun" panose="02010600030101010101" pitchFamily="2" charset="-122"/>
                <a:ea typeface="SimSun" panose="02010600030101010101" pitchFamily="2" charset="-122"/>
              </a:rPr>
              <a:t>4.6 </a:t>
            </a:r>
            <a:r>
              <a:rPr lang="zh-CN" altLang="en-US" b="1" dirty="0">
                <a:solidFill>
                  <a:srgbClr val="808080"/>
                </a:solidFill>
                <a:latin typeface="SimSun" panose="02010600030101010101" pitchFamily="2" charset="-122"/>
                <a:ea typeface="SimSun" panose="02010600030101010101" pitchFamily="2" charset="-122"/>
              </a:rPr>
              <a:t>算法策略间的比较</a:t>
            </a:r>
          </a:p>
        </p:txBody>
      </p:sp>
    </p:spTree>
    <p:extLst>
      <p:ext uri="{BB962C8B-B14F-4D97-AF65-F5344CB8AC3E}">
        <p14:creationId xmlns:p14="http://schemas.microsoft.com/office/powerpoint/2010/main" val="1937020167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242817" y="2129789"/>
            <a:ext cx="3394710" cy="331470"/>
          </a:xfrm>
          <a:custGeom>
            <a:avLst/>
            <a:gdLst/>
            <a:ahLst/>
            <a:cxnLst/>
            <a:rect l="l" t="t" r="r" b="b"/>
            <a:pathLst>
              <a:path w="3394709" h="331469">
                <a:moveTo>
                  <a:pt x="3288029" y="0"/>
                </a:moveTo>
                <a:lnTo>
                  <a:pt x="3283457" y="0"/>
                </a:lnTo>
                <a:lnTo>
                  <a:pt x="3283457" y="13208"/>
                </a:lnTo>
                <a:lnTo>
                  <a:pt x="3286125" y="13208"/>
                </a:lnTo>
                <a:lnTo>
                  <a:pt x="3298009" y="14039"/>
                </a:lnTo>
                <a:lnTo>
                  <a:pt x="3331735" y="34039"/>
                </a:lnTo>
                <a:lnTo>
                  <a:pt x="3339718" y="69723"/>
                </a:lnTo>
                <a:lnTo>
                  <a:pt x="3339504" y="76176"/>
                </a:lnTo>
                <a:lnTo>
                  <a:pt x="3338861" y="83343"/>
                </a:lnTo>
                <a:lnTo>
                  <a:pt x="3337790" y="91225"/>
                </a:lnTo>
                <a:lnTo>
                  <a:pt x="3336289" y="99822"/>
                </a:lnTo>
                <a:lnTo>
                  <a:pt x="3334789" y="108132"/>
                </a:lnTo>
                <a:lnTo>
                  <a:pt x="3333718" y="115157"/>
                </a:lnTo>
                <a:lnTo>
                  <a:pt x="3333075" y="120896"/>
                </a:lnTo>
                <a:lnTo>
                  <a:pt x="3332860" y="125349"/>
                </a:lnTo>
                <a:lnTo>
                  <a:pt x="3333388" y="132371"/>
                </a:lnTo>
                <a:lnTo>
                  <a:pt x="3362198" y="163575"/>
                </a:lnTo>
                <a:lnTo>
                  <a:pt x="3362198" y="166750"/>
                </a:lnTo>
                <a:lnTo>
                  <a:pt x="3333388" y="197883"/>
                </a:lnTo>
                <a:lnTo>
                  <a:pt x="3332860" y="204977"/>
                </a:lnTo>
                <a:lnTo>
                  <a:pt x="3333075" y="209430"/>
                </a:lnTo>
                <a:lnTo>
                  <a:pt x="3333718" y="215169"/>
                </a:lnTo>
                <a:lnTo>
                  <a:pt x="3334789" y="222194"/>
                </a:lnTo>
                <a:lnTo>
                  <a:pt x="3336289" y="230505"/>
                </a:lnTo>
                <a:lnTo>
                  <a:pt x="3337790" y="239081"/>
                </a:lnTo>
                <a:lnTo>
                  <a:pt x="3338861" y="246919"/>
                </a:lnTo>
                <a:lnTo>
                  <a:pt x="3339504" y="254043"/>
                </a:lnTo>
                <a:lnTo>
                  <a:pt x="3339718" y="260476"/>
                </a:lnTo>
                <a:lnTo>
                  <a:pt x="3338835" y="275050"/>
                </a:lnTo>
                <a:lnTo>
                  <a:pt x="3317682" y="310814"/>
                </a:lnTo>
                <a:lnTo>
                  <a:pt x="3286125" y="318262"/>
                </a:lnTo>
                <a:lnTo>
                  <a:pt x="3283457" y="318262"/>
                </a:lnTo>
                <a:lnTo>
                  <a:pt x="3283457" y="331470"/>
                </a:lnTo>
                <a:lnTo>
                  <a:pt x="3288029" y="331470"/>
                </a:lnTo>
                <a:lnTo>
                  <a:pt x="3307129" y="330015"/>
                </a:lnTo>
                <a:lnTo>
                  <a:pt x="3349116" y="312674"/>
                </a:lnTo>
                <a:lnTo>
                  <a:pt x="3368047" y="274883"/>
                </a:lnTo>
                <a:lnTo>
                  <a:pt x="3369309" y="257429"/>
                </a:lnTo>
                <a:lnTo>
                  <a:pt x="3369050" y="249949"/>
                </a:lnTo>
                <a:lnTo>
                  <a:pt x="3368278" y="241982"/>
                </a:lnTo>
                <a:lnTo>
                  <a:pt x="3367006" y="233515"/>
                </a:lnTo>
                <a:lnTo>
                  <a:pt x="3365246" y="224536"/>
                </a:lnTo>
                <a:lnTo>
                  <a:pt x="3362452" y="212217"/>
                </a:lnTo>
                <a:lnTo>
                  <a:pt x="3361181" y="204088"/>
                </a:lnTo>
                <a:lnTo>
                  <a:pt x="3361181" y="191897"/>
                </a:lnTo>
                <a:lnTo>
                  <a:pt x="3363849" y="185420"/>
                </a:lnTo>
                <a:lnTo>
                  <a:pt x="3394329" y="172212"/>
                </a:lnTo>
                <a:lnTo>
                  <a:pt x="3394329" y="157987"/>
                </a:lnTo>
                <a:lnTo>
                  <a:pt x="3361181" y="138430"/>
                </a:lnTo>
                <a:lnTo>
                  <a:pt x="3361181" y="126237"/>
                </a:lnTo>
                <a:lnTo>
                  <a:pt x="3362452" y="117983"/>
                </a:lnTo>
                <a:lnTo>
                  <a:pt x="3365246" y="105663"/>
                </a:lnTo>
                <a:lnTo>
                  <a:pt x="3367006" y="96740"/>
                </a:lnTo>
                <a:lnTo>
                  <a:pt x="3368278" y="88280"/>
                </a:lnTo>
                <a:lnTo>
                  <a:pt x="3369050" y="80321"/>
                </a:lnTo>
                <a:lnTo>
                  <a:pt x="3369309" y="72898"/>
                </a:lnTo>
                <a:lnTo>
                  <a:pt x="3368047" y="55943"/>
                </a:lnTo>
                <a:lnTo>
                  <a:pt x="3349116" y="18796"/>
                </a:lnTo>
                <a:lnTo>
                  <a:pt x="3307129" y="1454"/>
                </a:lnTo>
                <a:lnTo>
                  <a:pt x="3288029" y="0"/>
                </a:lnTo>
                <a:close/>
              </a:path>
              <a:path w="3394709" h="331469">
                <a:moveTo>
                  <a:pt x="110870" y="0"/>
                </a:moveTo>
                <a:lnTo>
                  <a:pt x="106298" y="0"/>
                </a:lnTo>
                <a:lnTo>
                  <a:pt x="87199" y="1454"/>
                </a:lnTo>
                <a:lnTo>
                  <a:pt x="45211" y="18796"/>
                </a:lnTo>
                <a:lnTo>
                  <a:pt x="26281" y="55836"/>
                </a:lnTo>
                <a:lnTo>
                  <a:pt x="25136" y="76029"/>
                </a:lnTo>
                <a:lnTo>
                  <a:pt x="25278" y="80123"/>
                </a:lnTo>
                <a:lnTo>
                  <a:pt x="26050" y="88090"/>
                </a:lnTo>
                <a:lnTo>
                  <a:pt x="27322" y="96557"/>
                </a:lnTo>
                <a:lnTo>
                  <a:pt x="29082" y="105537"/>
                </a:lnTo>
                <a:lnTo>
                  <a:pt x="31877" y="117856"/>
                </a:lnTo>
                <a:lnTo>
                  <a:pt x="33027" y="125222"/>
                </a:lnTo>
                <a:lnTo>
                  <a:pt x="7836" y="157144"/>
                </a:lnTo>
                <a:lnTo>
                  <a:pt x="0" y="157861"/>
                </a:lnTo>
                <a:lnTo>
                  <a:pt x="0" y="172085"/>
                </a:lnTo>
                <a:lnTo>
                  <a:pt x="33146" y="191770"/>
                </a:lnTo>
                <a:lnTo>
                  <a:pt x="33146" y="203835"/>
                </a:lnTo>
                <a:lnTo>
                  <a:pt x="31877" y="212089"/>
                </a:lnTo>
                <a:lnTo>
                  <a:pt x="29082" y="224409"/>
                </a:lnTo>
                <a:lnTo>
                  <a:pt x="27322" y="233332"/>
                </a:lnTo>
                <a:lnTo>
                  <a:pt x="26050" y="241792"/>
                </a:lnTo>
                <a:lnTo>
                  <a:pt x="25278" y="249751"/>
                </a:lnTo>
                <a:lnTo>
                  <a:pt x="25018" y="257175"/>
                </a:lnTo>
                <a:lnTo>
                  <a:pt x="26281" y="274722"/>
                </a:lnTo>
                <a:lnTo>
                  <a:pt x="45211" y="312674"/>
                </a:lnTo>
                <a:lnTo>
                  <a:pt x="87199" y="330015"/>
                </a:lnTo>
                <a:lnTo>
                  <a:pt x="106298" y="331470"/>
                </a:lnTo>
                <a:lnTo>
                  <a:pt x="110870" y="331470"/>
                </a:lnTo>
                <a:lnTo>
                  <a:pt x="110870" y="318262"/>
                </a:lnTo>
                <a:lnTo>
                  <a:pt x="108204" y="318262"/>
                </a:lnTo>
                <a:lnTo>
                  <a:pt x="96319" y="317430"/>
                </a:lnTo>
                <a:lnTo>
                  <a:pt x="62593" y="297336"/>
                </a:lnTo>
                <a:lnTo>
                  <a:pt x="54609" y="260350"/>
                </a:lnTo>
                <a:lnTo>
                  <a:pt x="54824" y="253896"/>
                </a:lnTo>
                <a:lnTo>
                  <a:pt x="55467" y="246729"/>
                </a:lnTo>
                <a:lnTo>
                  <a:pt x="56538" y="238847"/>
                </a:lnTo>
                <a:lnTo>
                  <a:pt x="58039" y="230250"/>
                </a:lnTo>
                <a:lnTo>
                  <a:pt x="59539" y="221940"/>
                </a:lnTo>
                <a:lnTo>
                  <a:pt x="60610" y="214915"/>
                </a:lnTo>
                <a:lnTo>
                  <a:pt x="61253" y="209176"/>
                </a:lnTo>
                <a:lnTo>
                  <a:pt x="61468" y="204724"/>
                </a:lnTo>
                <a:lnTo>
                  <a:pt x="60940" y="197701"/>
                </a:lnTo>
                <a:lnTo>
                  <a:pt x="32131" y="166497"/>
                </a:lnTo>
                <a:lnTo>
                  <a:pt x="32131" y="163449"/>
                </a:lnTo>
                <a:lnTo>
                  <a:pt x="60940" y="132242"/>
                </a:lnTo>
                <a:lnTo>
                  <a:pt x="61468" y="125222"/>
                </a:lnTo>
                <a:lnTo>
                  <a:pt x="61253" y="120695"/>
                </a:lnTo>
                <a:lnTo>
                  <a:pt x="60610" y="114919"/>
                </a:lnTo>
                <a:lnTo>
                  <a:pt x="59539" y="107880"/>
                </a:lnTo>
                <a:lnTo>
                  <a:pt x="58039" y="99568"/>
                </a:lnTo>
                <a:lnTo>
                  <a:pt x="56538" y="90991"/>
                </a:lnTo>
                <a:lnTo>
                  <a:pt x="55467" y="83153"/>
                </a:lnTo>
                <a:lnTo>
                  <a:pt x="54824" y="76029"/>
                </a:lnTo>
                <a:lnTo>
                  <a:pt x="54609" y="69596"/>
                </a:lnTo>
                <a:lnTo>
                  <a:pt x="55493" y="55616"/>
                </a:lnTo>
                <a:lnTo>
                  <a:pt x="76646" y="20655"/>
                </a:lnTo>
                <a:lnTo>
                  <a:pt x="108204" y="13208"/>
                </a:lnTo>
                <a:lnTo>
                  <a:pt x="110870" y="13208"/>
                </a:lnTo>
                <a:lnTo>
                  <a:pt x="1108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2483611" y="2028443"/>
            <a:ext cx="543369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880744" algn="l"/>
                <a:tab pos="4170045" algn="l"/>
              </a:tabLst>
            </a:pPr>
            <a:r>
              <a:rPr sz="2800" spc="-25">
                <a:latin typeface="Cambria Math"/>
                <a:cs typeface="Cambria Math"/>
              </a:rPr>
              <a:t>𝐦𝐚𝐱</a:t>
            </a:r>
            <a:r>
              <a:rPr sz="2800">
                <a:latin typeface="Cambria Math"/>
                <a:cs typeface="Cambria Math"/>
              </a:rPr>
              <a:t>	𝑪[𝒊 −</a:t>
            </a:r>
            <a:r>
              <a:rPr sz="2800" spc="10">
                <a:latin typeface="Cambria Math"/>
                <a:cs typeface="Cambria Math"/>
              </a:rPr>
              <a:t> </a:t>
            </a:r>
            <a:r>
              <a:rPr sz="2800" spc="-10">
                <a:latin typeface="Cambria Math"/>
                <a:cs typeface="Cambria Math"/>
              </a:rPr>
              <a:t>𝟏,</a:t>
            </a:r>
            <a:r>
              <a:rPr sz="2800" spc="-145">
                <a:latin typeface="Cambria Math"/>
                <a:cs typeface="Cambria Math"/>
              </a:rPr>
              <a:t> </a:t>
            </a:r>
            <a:r>
              <a:rPr sz="2800" spc="-10">
                <a:latin typeface="Cambria Math"/>
                <a:cs typeface="Cambria Math"/>
              </a:rPr>
              <a:t>𝒋],</a:t>
            </a:r>
            <a:r>
              <a:rPr sz="2800" spc="-145">
                <a:latin typeface="Cambria Math"/>
                <a:cs typeface="Cambria Math"/>
              </a:rPr>
              <a:t> </a:t>
            </a:r>
            <a:r>
              <a:rPr sz="2800" spc="-10">
                <a:latin typeface="Cambria Math"/>
                <a:cs typeface="Cambria Math"/>
              </a:rPr>
              <a:t>𝑪[𝒊,</a:t>
            </a:r>
            <a:r>
              <a:rPr sz="2800" spc="-150">
                <a:latin typeface="Cambria Math"/>
                <a:cs typeface="Cambria Math"/>
              </a:rPr>
              <a:t> </a:t>
            </a:r>
            <a:r>
              <a:rPr sz="2800">
                <a:latin typeface="Cambria Math"/>
                <a:cs typeface="Cambria Math"/>
              </a:rPr>
              <a:t>𝒋</a:t>
            </a:r>
            <a:r>
              <a:rPr sz="2800" spc="15">
                <a:latin typeface="Cambria Math"/>
                <a:cs typeface="Cambria Math"/>
              </a:rPr>
              <a:t> </a:t>
            </a:r>
            <a:r>
              <a:rPr sz="2800">
                <a:latin typeface="Cambria Math"/>
                <a:cs typeface="Cambria Math"/>
              </a:rPr>
              <a:t>−</a:t>
            </a:r>
            <a:r>
              <a:rPr sz="2800" spc="10">
                <a:latin typeface="Cambria Math"/>
                <a:cs typeface="Cambria Math"/>
              </a:rPr>
              <a:t> </a:t>
            </a:r>
            <a:r>
              <a:rPr sz="2800" spc="-25">
                <a:latin typeface="Cambria Math"/>
                <a:cs typeface="Cambria Math"/>
              </a:rPr>
              <a:t>𝟏]</a:t>
            </a:r>
            <a:r>
              <a:rPr sz="2800">
                <a:latin typeface="Cambria Math"/>
                <a:cs typeface="Cambria Math"/>
              </a:rPr>
              <a:t>	,</a:t>
            </a:r>
            <a:r>
              <a:rPr sz="2800" spc="-160">
                <a:latin typeface="Cambria Math"/>
                <a:cs typeface="Cambria Math"/>
              </a:rPr>
              <a:t> </a:t>
            </a:r>
            <a:r>
              <a:rPr sz="2800">
                <a:latin typeface="Cambria Math"/>
                <a:cs typeface="Cambria Math"/>
              </a:rPr>
              <a:t>𝒙</a:t>
            </a:r>
            <a:r>
              <a:rPr sz="3075" baseline="-14905">
                <a:latin typeface="Cambria Math"/>
                <a:cs typeface="Cambria Math"/>
              </a:rPr>
              <a:t>𝒊</a:t>
            </a:r>
            <a:r>
              <a:rPr sz="3075" spc="644" baseline="-14905">
                <a:latin typeface="Cambria Math"/>
                <a:cs typeface="Cambria Math"/>
              </a:rPr>
              <a:t> </a:t>
            </a:r>
            <a:r>
              <a:rPr sz="2800">
                <a:latin typeface="Cambria Math"/>
                <a:cs typeface="Cambria Math"/>
              </a:rPr>
              <a:t>≠</a:t>
            </a:r>
            <a:r>
              <a:rPr sz="2800" spc="150">
                <a:latin typeface="Cambria Math"/>
                <a:cs typeface="Cambria Math"/>
              </a:rPr>
              <a:t> </a:t>
            </a:r>
            <a:r>
              <a:rPr sz="2800" spc="-25">
                <a:latin typeface="Cambria Math"/>
                <a:cs typeface="Cambria Math"/>
              </a:rPr>
              <a:t>𝒚</a:t>
            </a:r>
            <a:r>
              <a:rPr sz="3075" spc="-37" baseline="-14905">
                <a:latin typeface="Cambria Math"/>
                <a:cs typeface="Cambria Math"/>
              </a:rPr>
              <a:t>𝒋</a:t>
            </a:r>
            <a:endParaRPr sz="3075" baseline="-14905">
              <a:latin typeface="Cambria Math"/>
              <a:cs typeface="Cambria Math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983730" y="2690875"/>
            <a:ext cx="121920" cy="3378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050" spc="-50">
                <a:latin typeface="Cambria Math"/>
                <a:cs typeface="Cambria Math"/>
              </a:rPr>
              <a:t>𝒊</a:t>
            </a:r>
            <a:endParaRPr sz="2050">
              <a:latin typeface="Cambria Math"/>
              <a:cs typeface="Cambria Math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50240" y="2522474"/>
            <a:ext cx="7101840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937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93065" algn="l"/>
                <a:tab pos="393700" algn="l"/>
                <a:tab pos="5960745" algn="l"/>
                <a:tab pos="6486525" algn="l"/>
              </a:tabLst>
            </a:pPr>
            <a:r>
              <a:rPr sz="4200" spc="-15" baseline="33730" dirty="0">
                <a:latin typeface="Cambria Math"/>
                <a:cs typeface="Cambria Math"/>
              </a:rPr>
              <a:t>𝑪[𝒊,</a:t>
            </a:r>
            <a:r>
              <a:rPr sz="4200" spc="-247" baseline="33730" dirty="0">
                <a:latin typeface="Cambria Math"/>
                <a:cs typeface="Cambria Math"/>
              </a:rPr>
              <a:t> </a:t>
            </a:r>
            <a:r>
              <a:rPr sz="4200" baseline="33730" dirty="0">
                <a:latin typeface="Cambria Math"/>
                <a:cs typeface="Cambria Math"/>
              </a:rPr>
              <a:t>𝒋]</a:t>
            </a:r>
            <a:r>
              <a:rPr sz="4200" spc="232" baseline="33730" dirty="0">
                <a:latin typeface="Cambria Math"/>
                <a:cs typeface="Cambria Math"/>
              </a:rPr>
              <a:t> </a:t>
            </a:r>
            <a:r>
              <a:rPr sz="4200" baseline="33730" dirty="0">
                <a:latin typeface="Cambria Math"/>
                <a:cs typeface="Cambria Math"/>
              </a:rPr>
              <a:t>=</a:t>
            </a:r>
            <a:r>
              <a:rPr sz="4200" spc="240" baseline="33730" dirty="0">
                <a:latin typeface="Cambria Math"/>
                <a:cs typeface="Cambria Math"/>
              </a:rPr>
              <a:t> </a:t>
            </a:r>
            <a:r>
              <a:rPr lang="zh-CN" altLang="en-US" sz="4200" spc="240" baseline="33730" dirty="0">
                <a:latin typeface="Cambria Math"/>
                <a:cs typeface="Cambria Math"/>
              </a:rPr>
              <a:t>  </a:t>
            </a:r>
            <a:r>
              <a:rPr sz="2800" dirty="0">
                <a:latin typeface="Cambria Math"/>
                <a:cs typeface="Cambria Math"/>
              </a:rPr>
              <a:t>𝑪[𝒊 − </a:t>
            </a:r>
            <a:r>
              <a:rPr sz="2800" spc="-10" dirty="0">
                <a:latin typeface="Cambria Math"/>
                <a:cs typeface="Cambria Math"/>
              </a:rPr>
              <a:t>𝟏,</a:t>
            </a:r>
            <a:r>
              <a:rPr sz="2800" spc="-150" dirty="0">
                <a:latin typeface="Cambria Math"/>
                <a:cs typeface="Cambria Math"/>
              </a:rPr>
              <a:t> </a:t>
            </a:r>
            <a:r>
              <a:rPr sz="2800" dirty="0">
                <a:latin typeface="Cambria Math"/>
                <a:cs typeface="Cambria Math"/>
              </a:rPr>
              <a:t>𝒋</a:t>
            </a:r>
            <a:r>
              <a:rPr sz="2800" spc="5" dirty="0">
                <a:latin typeface="Cambria Math"/>
                <a:cs typeface="Cambria Math"/>
              </a:rPr>
              <a:t> </a:t>
            </a:r>
            <a:r>
              <a:rPr sz="2800" dirty="0">
                <a:latin typeface="Cambria Math"/>
                <a:cs typeface="Cambria Math"/>
              </a:rPr>
              <a:t>−</a:t>
            </a:r>
            <a:r>
              <a:rPr sz="2800" spc="5" dirty="0">
                <a:latin typeface="Cambria Math"/>
                <a:cs typeface="Cambria Math"/>
              </a:rPr>
              <a:t> </a:t>
            </a:r>
            <a:r>
              <a:rPr sz="2800" dirty="0">
                <a:latin typeface="Cambria Math"/>
                <a:cs typeface="Cambria Math"/>
              </a:rPr>
              <a:t>𝟏] + </a:t>
            </a:r>
            <a:r>
              <a:rPr sz="2800" spc="-50" dirty="0">
                <a:latin typeface="Cambria Math"/>
                <a:cs typeface="Cambria Math"/>
              </a:rPr>
              <a:t>𝟏</a:t>
            </a:r>
            <a:r>
              <a:rPr sz="2800" dirty="0">
                <a:latin typeface="Cambria Math"/>
                <a:cs typeface="Cambria Math"/>
              </a:rPr>
              <a:t>	,</a:t>
            </a:r>
            <a:r>
              <a:rPr sz="2800" spc="229" dirty="0">
                <a:latin typeface="Cambria Math"/>
                <a:cs typeface="Cambria Math"/>
              </a:rPr>
              <a:t> </a:t>
            </a:r>
            <a:r>
              <a:rPr sz="2800" spc="-50" dirty="0">
                <a:latin typeface="Cambria Math"/>
                <a:cs typeface="Cambria Math"/>
              </a:rPr>
              <a:t>𝒙</a:t>
            </a:r>
            <a:r>
              <a:rPr sz="2800" dirty="0">
                <a:latin typeface="Cambria Math"/>
                <a:cs typeface="Cambria Math"/>
              </a:rPr>
              <a:t>	=</a:t>
            </a:r>
            <a:r>
              <a:rPr sz="2800" spc="140" dirty="0">
                <a:latin typeface="Cambria Math"/>
                <a:cs typeface="Cambria Math"/>
              </a:rPr>
              <a:t> </a:t>
            </a:r>
            <a:r>
              <a:rPr sz="2800" spc="-50" dirty="0">
                <a:latin typeface="Cambria Math"/>
                <a:cs typeface="Cambria Math"/>
              </a:rPr>
              <a:t>𝒚</a:t>
            </a:r>
            <a:endParaRPr sz="2800" dirty="0">
              <a:latin typeface="Cambria Math"/>
              <a:cs typeface="Cambria Math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700771" y="2690875"/>
            <a:ext cx="127000" cy="3378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050" spc="-50">
                <a:latin typeface="Cambria Math"/>
                <a:cs typeface="Cambria Math"/>
              </a:rPr>
              <a:t>𝒋</a:t>
            </a:r>
            <a:endParaRPr sz="2050">
              <a:latin typeface="Cambria Math"/>
              <a:cs typeface="Cambria Math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1919097" y="4043553"/>
            <a:ext cx="1598930" cy="504825"/>
          </a:xfrm>
          <a:custGeom>
            <a:avLst/>
            <a:gdLst/>
            <a:ahLst/>
            <a:cxnLst/>
            <a:rect l="l" t="t" r="r" b="b"/>
            <a:pathLst>
              <a:path w="1598929" h="504825">
                <a:moveTo>
                  <a:pt x="0" y="84074"/>
                </a:moveTo>
                <a:lnTo>
                  <a:pt x="6600" y="51327"/>
                </a:lnTo>
                <a:lnTo>
                  <a:pt x="24606" y="24606"/>
                </a:lnTo>
                <a:lnTo>
                  <a:pt x="51327" y="6600"/>
                </a:lnTo>
                <a:lnTo>
                  <a:pt x="84073" y="0"/>
                </a:lnTo>
                <a:lnTo>
                  <a:pt x="1514602" y="0"/>
                </a:lnTo>
                <a:lnTo>
                  <a:pt x="1547348" y="6600"/>
                </a:lnTo>
                <a:lnTo>
                  <a:pt x="1574069" y="24606"/>
                </a:lnTo>
                <a:lnTo>
                  <a:pt x="1592075" y="51327"/>
                </a:lnTo>
                <a:lnTo>
                  <a:pt x="1598676" y="84074"/>
                </a:lnTo>
                <a:lnTo>
                  <a:pt x="1598676" y="420370"/>
                </a:lnTo>
                <a:lnTo>
                  <a:pt x="1592075" y="453116"/>
                </a:lnTo>
                <a:lnTo>
                  <a:pt x="1574069" y="479837"/>
                </a:lnTo>
                <a:lnTo>
                  <a:pt x="1547348" y="497843"/>
                </a:lnTo>
                <a:lnTo>
                  <a:pt x="1514602" y="504444"/>
                </a:lnTo>
                <a:lnTo>
                  <a:pt x="84073" y="504444"/>
                </a:lnTo>
                <a:lnTo>
                  <a:pt x="51327" y="497843"/>
                </a:lnTo>
                <a:lnTo>
                  <a:pt x="24606" y="479837"/>
                </a:lnTo>
                <a:lnTo>
                  <a:pt x="6600" y="453116"/>
                </a:lnTo>
                <a:lnTo>
                  <a:pt x="0" y="420370"/>
                </a:lnTo>
                <a:lnTo>
                  <a:pt x="0" y="84074"/>
                </a:lnTo>
                <a:close/>
              </a:path>
            </a:pathLst>
          </a:custGeom>
          <a:ln w="190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2366264" y="4123435"/>
            <a:ext cx="64960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000" spc="-10">
                <a:latin typeface="Cambria Math"/>
                <a:cs typeface="Cambria Math"/>
              </a:rPr>
              <a:t>𝑪[𝒊,</a:t>
            </a:r>
            <a:r>
              <a:rPr sz="2000" spc="-85">
                <a:latin typeface="Cambria Math"/>
                <a:cs typeface="Cambria Math"/>
              </a:rPr>
              <a:t> </a:t>
            </a:r>
            <a:r>
              <a:rPr sz="2000" spc="-25">
                <a:latin typeface="Cambria Math"/>
                <a:cs typeface="Cambria Math"/>
              </a:rPr>
              <a:t>𝒋]</a:t>
            </a:r>
            <a:endParaRPr sz="2000">
              <a:latin typeface="Cambria Math"/>
              <a:cs typeface="Cambria Math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712851" y="5456301"/>
            <a:ext cx="1613535" cy="504190"/>
          </a:xfrm>
          <a:custGeom>
            <a:avLst/>
            <a:gdLst/>
            <a:ahLst/>
            <a:cxnLst/>
            <a:rect l="l" t="t" r="r" b="b"/>
            <a:pathLst>
              <a:path w="1613535" h="504189">
                <a:moveTo>
                  <a:pt x="0" y="83947"/>
                </a:moveTo>
                <a:lnTo>
                  <a:pt x="6596" y="51274"/>
                </a:lnTo>
                <a:lnTo>
                  <a:pt x="24585" y="24590"/>
                </a:lnTo>
                <a:lnTo>
                  <a:pt x="51268" y="6598"/>
                </a:lnTo>
                <a:lnTo>
                  <a:pt x="83947" y="0"/>
                </a:lnTo>
                <a:lnTo>
                  <a:pt x="1529207" y="0"/>
                </a:lnTo>
                <a:lnTo>
                  <a:pt x="1561879" y="6598"/>
                </a:lnTo>
                <a:lnTo>
                  <a:pt x="1588563" y="24590"/>
                </a:lnTo>
                <a:lnTo>
                  <a:pt x="1606555" y="51274"/>
                </a:lnTo>
                <a:lnTo>
                  <a:pt x="1613154" y="83947"/>
                </a:lnTo>
                <a:lnTo>
                  <a:pt x="1613154" y="419735"/>
                </a:lnTo>
                <a:lnTo>
                  <a:pt x="1606555" y="452413"/>
                </a:lnTo>
                <a:lnTo>
                  <a:pt x="1588563" y="479096"/>
                </a:lnTo>
                <a:lnTo>
                  <a:pt x="1561879" y="497085"/>
                </a:lnTo>
                <a:lnTo>
                  <a:pt x="1529207" y="503682"/>
                </a:lnTo>
                <a:lnTo>
                  <a:pt x="83947" y="503682"/>
                </a:lnTo>
                <a:lnTo>
                  <a:pt x="51268" y="497085"/>
                </a:lnTo>
                <a:lnTo>
                  <a:pt x="24585" y="479096"/>
                </a:lnTo>
                <a:lnTo>
                  <a:pt x="6596" y="452413"/>
                </a:lnTo>
                <a:lnTo>
                  <a:pt x="0" y="419735"/>
                </a:lnTo>
                <a:lnTo>
                  <a:pt x="0" y="83947"/>
                </a:lnTo>
                <a:close/>
              </a:path>
            </a:pathLst>
          </a:custGeom>
          <a:ln w="190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 txBox="1"/>
          <p:nvPr/>
        </p:nvSpPr>
        <p:spPr>
          <a:xfrm>
            <a:off x="939038" y="5536438"/>
            <a:ext cx="1105535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000" spc="-10">
                <a:latin typeface="Cambria Math"/>
                <a:cs typeface="Cambria Math"/>
              </a:rPr>
              <a:t>𝑪[𝒊,</a:t>
            </a:r>
            <a:r>
              <a:rPr sz="2000" spc="-114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𝒋</a:t>
            </a:r>
            <a:r>
              <a:rPr sz="2000" spc="-10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−</a:t>
            </a:r>
            <a:r>
              <a:rPr sz="2000" spc="5">
                <a:latin typeface="Cambria Math"/>
                <a:cs typeface="Cambria Math"/>
              </a:rPr>
              <a:t> </a:t>
            </a:r>
            <a:r>
              <a:rPr sz="2000" spc="-25">
                <a:latin typeface="Cambria Math"/>
                <a:cs typeface="Cambria Math"/>
              </a:rPr>
              <a:t>𝟏]</a:t>
            </a:r>
            <a:endParaRPr sz="2000">
              <a:latin typeface="Cambria Math"/>
              <a:cs typeface="Cambria Math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3251834" y="5456301"/>
            <a:ext cx="1613535" cy="504190"/>
          </a:xfrm>
          <a:custGeom>
            <a:avLst/>
            <a:gdLst/>
            <a:ahLst/>
            <a:cxnLst/>
            <a:rect l="l" t="t" r="r" b="b"/>
            <a:pathLst>
              <a:path w="1613535" h="504189">
                <a:moveTo>
                  <a:pt x="0" y="83947"/>
                </a:moveTo>
                <a:lnTo>
                  <a:pt x="6598" y="51274"/>
                </a:lnTo>
                <a:lnTo>
                  <a:pt x="24590" y="24590"/>
                </a:lnTo>
                <a:lnTo>
                  <a:pt x="51274" y="6598"/>
                </a:lnTo>
                <a:lnTo>
                  <a:pt x="83947" y="0"/>
                </a:lnTo>
                <a:lnTo>
                  <a:pt x="1529206" y="0"/>
                </a:lnTo>
                <a:lnTo>
                  <a:pt x="1561879" y="6598"/>
                </a:lnTo>
                <a:lnTo>
                  <a:pt x="1588563" y="24590"/>
                </a:lnTo>
                <a:lnTo>
                  <a:pt x="1606555" y="51274"/>
                </a:lnTo>
                <a:lnTo>
                  <a:pt x="1613153" y="83947"/>
                </a:lnTo>
                <a:lnTo>
                  <a:pt x="1613153" y="419735"/>
                </a:lnTo>
                <a:lnTo>
                  <a:pt x="1606555" y="452413"/>
                </a:lnTo>
                <a:lnTo>
                  <a:pt x="1588563" y="479096"/>
                </a:lnTo>
                <a:lnTo>
                  <a:pt x="1561879" y="497085"/>
                </a:lnTo>
                <a:lnTo>
                  <a:pt x="1529206" y="503682"/>
                </a:lnTo>
                <a:lnTo>
                  <a:pt x="83947" y="503682"/>
                </a:lnTo>
                <a:lnTo>
                  <a:pt x="51274" y="497085"/>
                </a:lnTo>
                <a:lnTo>
                  <a:pt x="24590" y="479096"/>
                </a:lnTo>
                <a:lnTo>
                  <a:pt x="6598" y="452413"/>
                </a:lnTo>
                <a:lnTo>
                  <a:pt x="0" y="419735"/>
                </a:lnTo>
                <a:lnTo>
                  <a:pt x="0" y="83947"/>
                </a:lnTo>
                <a:close/>
              </a:path>
            </a:pathLst>
          </a:custGeom>
          <a:ln w="190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 txBox="1"/>
          <p:nvPr/>
        </p:nvSpPr>
        <p:spPr>
          <a:xfrm>
            <a:off x="3478021" y="5536438"/>
            <a:ext cx="1106170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000">
                <a:latin typeface="Cambria Math"/>
                <a:cs typeface="Cambria Math"/>
              </a:rPr>
              <a:t>𝑪[𝒊</a:t>
            </a:r>
            <a:r>
              <a:rPr sz="2000" spc="-35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−</a:t>
            </a:r>
            <a:r>
              <a:rPr sz="2000" spc="-5">
                <a:latin typeface="Cambria Math"/>
                <a:cs typeface="Cambria Math"/>
              </a:rPr>
              <a:t> </a:t>
            </a:r>
            <a:r>
              <a:rPr sz="2000" spc="-10">
                <a:latin typeface="Cambria Math"/>
                <a:cs typeface="Cambria Math"/>
              </a:rPr>
              <a:t>𝟏,</a:t>
            </a:r>
            <a:r>
              <a:rPr sz="2000" spc="-105">
                <a:latin typeface="Cambria Math"/>
                <a:cs typeface="Cambria Math"/>
              </a:rPr>
              <a:t> </a:t>
            </a:r>
            <a:r>
              <a:rPr sz="2000" spc="-25">
                <a:latin typeface="Cambria Math"/>
                <a:cs typeface="Cambria Math"/>
              </a:rPr>
              <a:t>𝒋]</a:t>
            </a:r>
            <a:endParaRPr sz="2000">
              <a:latin typeface="Cambria Math"/>
              <a:cs typeface="Cambria Math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1507871" y="4547615"/>
            <a:ext cx="2560955" cy="924560"/>
          </a:xfrm>
          <a:custGeom>
            <a:avLst/>
            <a:gdLst/>
            <a:ahLst/>
            <a:cxnLst/>
            <a:rect l="l" t="t" r="r" b="b"/>
            <a:pathLst>
              <a:path w="2560954" h="924560">
                <a:moveTo>
                  <a:pt x="2560574" y="892683"/>
                </a:moveTo>
                <a:lnTo>
                  <a:pt x="1315440" y="48399"/>
                </a:lnTo>
                <a:lnTo>
                  <a:pt x="1322679" y="37719"/>
                </a:lnTo>
                <a:lnTo>
                  <a:pt x="1336802" y="16891"/>
                </a:lnTo>
                <a:lnTo>
                  <a:pt x="1210538" y="50"/>
                </a:lnTo>
                <a:lnTo>
                  <a:pt x="1210398" y="38"/>
                </a:lnTo>
                <a:lnTo>
                  <a:pt x="1210183" y="0"/>
                </a:lnTo>
                <a:lnTo>
                  <a:pt x="1084961" y="23495"/>
                </a:lnTo>
                <a:lnTo>
                  <a:pt x="1107884" y="53784"/>
                </a:lnTo>
                <a:lnTo>
                  <a:pt x="0" y="893191"/>
                </a:lnTo>
                <a:lnTo>
                  <a:pt x="23114" y="923544"/>
                </a:lnTo>
                <a:lnTo>
                  <a:pt x="1130884" y="84137"/>
                </a:lnTo>
                <a:lnTo>
                  <a:pt x="1153922" y="114554"/>
                </a:lnTo>
                <a:lnTo>
                  <a:pt x="1189647" y="42291"/>
                </a:lnTo>
                <a:lnTo>
                  <a:pt x="1210373" y="368"/>
                </a:lnTo>
                <a:lnTo>
                  <a:pt x="1272667" y="111506"/>
                </a:lnTo>
                <a:lnTo>
                  <a:pt x="1294104" y="79883"/>
                </a:lnTo>
                <a:lnTo>
                  <a:pt x="2539238" y="924179"/>
                </a:lnTo>
                <a:lnTo>
                  <a:pt x="2560574" y="89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6068948" y="4043553"/>
            <a:ext cx="1924050" cy="607695"/>
          </a:xfrm>
          <a:custGeom>
            <a:avLst/>
            <a:gdLst/>
            <a:ahLst/>
            <a:cxnLst/>
            <a:rect l="l" t="t" r="r" b="b"/>
            <a:pathLst>
              <a:path w="1924050" h="607695">
                <a:moveTo>
                  <a:pt x="0" y="101219"/>
                </a:moveTo>
                <a:lnTo>
                  <a:pt x="7957" y="61829"/>
                </a:lnTo>
                <a:lnTo>
                  <a:pt x="29654" y="29654"/>
                </a:lnTo>
                <a:lnTo>
                  <a:pt x="61829" y="7957"/>
                </a:lnTo>
                <a:lnTo>
                  <a:pt x="101218" y="0"/>
                </a:lnTo>
                <a:lnTo>
                  <a:pt x="1822830" y="0"/>
                </a:lnTo>
                <a:lnTo>
                  <a:pt x="1862220" y="7957"/>
                </a:lnTo>
                <a:lnTo>
                  <a:pt x="1894395" y="29654"/>
                </a:lnTo>
                <a:lnTo>
                  <a:pt x="1916092" y="61829"/>
                </a:lnTo>
                <a:lnTo>
                  <a:pt x="1924050" y="101219"/>
                </a:lnTo>
                <a:lnTo>
                  <a:pt x="1924050" y="506095"/>
                </a:lnTo>
                <a:lnTo>
                  <a:pt x="1916092" y="545484"/>
                </a:lnTo>
                <a:lnTo>
                  <a:pt x="1894395" y="577659"/>
                </a:lnTo>
                <a:lnTo>
                  <a:pt x="1862220" y="599356"/>
                </a:lnTo>
                <a:lnTo>
                  <a:pt x="1822830" y="607314"/>
                </a:lnTo>
                <a:lnTo>
                  <a:pt x="101218" y="607314"/>
                </a:lnTo>
                <a:lnTo>
                  <a:pt x="61829" y="599356"/>
                </a:lnTo>
                <a:lnTo>
                  <a:pt x="29654" y="577659"/>
                </a:lnTo>
                <a:lnTo>
                  <a:pt x="7957" y="545484"/>
                </a:lnTo>
                <a:lnTo>
                  <a:pt x="0" y="506095"/>
                </a:lnTo>
                <a:lnTo>
                  <a:pt x="0" y="101219"/>
                </a:lnTo>
                <a:close/>
              </a:path>
            </a:pathLst>
          </a:custGeom>
          <a:ln w="190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 txBox="1"/>
          <p:nvPr/>
        </p:nvSpPr>
        <p:spPr>
          <a:xfrm>
            <a:off x="6678930" y="4175252"/>
            <a:ext cx="649605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000" spc="-10">
                <a:latin typeface="Cambria Math"/>
                <a:cs typeface="Cambria Math"/>
              </a:rPr>
              <a:t>𝑪[𝒊,</a:t>
            </a:r>
            <a:r>
              <a:rPr sz="2000" spc="-114">
                <a:latin typeface="Cambria Math"/>
                <a:cs typeface="Cambria Math"/>
              </a:rPr>
              <a:t> </a:t>
            </a:r>
            <a:r>
              <a:rPr sz="2000" spc="-25">
                <a:latin typeface="Cambria Math"/>
                <a:cs typeface="Cambria Math"/>
              </a:rPr>
              <a:t>𝒋]</a:t>
            </a:r>
            <a:endParaRPr sz="2000">
              <a:latin typeface="Cambria Math"/>
              <a:cs typeface="Cambria Math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6044946" y="4650485"/>
            <a:ext cx="1960880" cy="1422400"/>
            <a:chOff x="6044946" y="4650485"/>
            <a:chExt cx="1960880" cy="1422400"/>
          </a:xfrm>
        </p:grpSpPr>
        <p:sp>
          <p:nvSpPr>
            <p:cNvPr id="18" name="object 18"/>
            <p:cNvSpPr/>
            <p:nvPr/>
          </p:nvSpPr>
          <p:spPr>
            <a:xfrm>
              <a:off x="6972681" y="4650485"/>
              <a:ext cx="114300" cy="805815"/>
            </a:xfrm>
            <a:custGeom>
              <a:avLst/>
              <a:gdLst/>
              <a:ahLst/>
              <a:cxnLst/>
              <a:rect l="l" t="t" r="r" b="b"/>
              <a:pathLst>
                <a:path w="114300" h="805814">
                  <a:moveTo>
                    <a:pt x="38090" y="114172"/>
                  </a:moveTo>
                  <a:lnTo>
                    <a:pt x="33147" y="805560"/>
                  </a:lnTo>
                  <a:lnTo>
                    <a:pt x="71247" y="805814"/>
                  </a:lnTo>
                  <a:lnTo>
                    <a:pt x="76190" y="114426"/>
                  </a:lnTo>
                  <a:lnTo>
                    <a:pt x="38090" y="114172"/>
                  </a:lnTo>
                  <a:close/>
                </a:path>
                <a:path w="114300" h="805814">
                  <a:moveTo>
                    <a:pt x="104683" y="95122"/>
                  </a:moveTo>
                  <a:lnTo>
                    <a:pt x="38226" y="95122"/>
                  </a:lnTo>
                  <a:lnTo>
                    <a:pt x="76326" y="95376"/>
                  </a:lnTo>
                  <a:lnTo>
                    <a:pt x="76190" y="114426"/>
                  </a:lnTo>
                  <a:lnTo>
                    <a:pt x="114300" y="114681"/>
                  </a:lnTo>
                  <a:lnTo>
                    <a:pt x="104683" y="95122"/>
                  </a:lnTo>
                  <a:close/>
                </a:path>
                <a:path w="114300" h="805814">
                  <a:moveTo>
                    <a:pt x="38226" y="95122"/>
                  </a:moveTo>
                  <a:lnTo>
                    <a:pt x="38090" y="114172"/>
                  </a:lnTo>
                  <a:lnTo>
                    <a:pt x="76190" y="114426"/>
                  </a:lnTo>
                  <a:lnTo>
                    <a:pt x="76326" y="95376"/>
                  </a:lnTo>
                  <a:lnTo>
                    <a:pt x="38226" y="95122"/>
                  </a:lnTo>
                  <a:close/>
                </a:path>
                <a:path w="114300" h="805814">
                  <a:moveTo>
                    <a:pt x="57912" y="0"/>
                  </a:moveTo>
                  <a:lnTo>
                    <a:pt x="0" y="113918"/>
                  </a:lnTo>
                  <a:lnTo>
                    <a:pt x="38090" y="114172"/>
                  </a:lnTo>
                  <a:lnTo>
                    <a:pt x="38226" y="95122"/>
                  </a:lnTo>
                  <a:lnTo>
                    <a:pt x="104683" y="95122"/>
                  </a:lnTo>
                  <a:lnTo>
                    <a:pt x="5791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6054471" y="5456300"/>
              <a:ext cx="1941830" cy="607060"/>
            </a:xfrm>
            <a:custGeom>
              <a:avLst/>
              <a:gdLst/>
              <a:ahLst/>
              <a:cxnLst/>
              <a:rect l="l" t="t" r="r" b="b"/>
              <a:pathLst>
                <a:path w="1941829" h="607060">
                  <a:moveTo>
                    <a:pt x="0" y="101092"/>
                  </a:moveTo>
                  <a:lnTo>
                    <a:pt x="7937" y="61721"/>
                  </a:lnTo>
                  <a:lnTo>
                    <a:pt x="29590" y="29590"/>
                  </a:lnTo>
                  <a:lnTo>
                    <a:pt x="61721" y="7937"/>
                  </a:lnTo>
                  <a:lnTo>
                    <a:pt x="101091" y="0"/>
                  </a:lnTo>
                  <a:lnTo>
                    <a:pt x="1840483" y="0"/>
                  </a:lnTo>
                  <a:lnTo>
                    <a:pt x="1879853" y="7937"/>
                  </a:lnTo>
                  <a:lnTo>
                    <a:pt x="1911984" y="29590"/>
                  </a:lnTo>
                  <a:lnTo>
                    <a:pt x="1933638" y="61721"/>
                  </a:lnTo>
                  <a:lnTo>
                    <a:pt x="1941576" y="101092"/>
                  </a:lnTo>
                  <a:lnTo>
                    <a:pt x="1941576" y="505460"/>
                  </a:lnTo>
                  <a:lnTo>
                    <a:pt x="1933638" y="544808"/>
                  </a:lnTo>
                  <a:lnTo>
                    <a:pt x="1911984" y="576941"/>
                  </a:lnTo>
                  <a:lnTo>
                    <a:pt x="1879853" y="598607"/>
                  </a:lnTo>
                  <a:lnTo>
                    <a:pt x="1840483" y="606552"/>
                  </a:lnTo>
                  <a:lnTo>
                    <a:pt x="101091" y="606552"/>
                  </a:lnTo>
                  <a:lnTo>
                    <a:pt x="61722" y="598607"/>
                  </a:lnTo>
                  <a:lnTo>
                    <a:pt x="29591" y="576941"/>
                  </a:lnTo>
                  <a:lnTo>
                    <a:pt x="7937" y="544808"/>
                  </a:lnTo>
                  <a:lnTo>
                    <a:pt x="0" y="505460"/>
                  </a:lnTo>
                  <a:lnTo>
                    <a:pt x="0" y="101092"/>
                  </a:lnTo>
                  <a:close/>
                </a:path>
              </a:pathLst>
            </a:custGeom>
            <a:ln w="190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" name="object 20"/>
          <p:cNvSpPr txBox="1"/>
          <p:nvPr/>
        </p:nvSpPr>
        <p:spPr>
          <a:xfrm>
            <a:off x="6217158" y="5587746"/>
            <a:ext cx="1560830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000">
                <a:latin typeface="Cambria Math"/>
                <a:cs typeface="Cambria Math"/>
              </a:rPr>
              <a:t>𝑪[𝒊</a:t>
            </a:r>
            <a:r>
              <a:rPr sz="2000" spc="-35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− </a:t>
            </a:r>
            <a:r>
              <a:rPr sz="2000" spc="-10">
                <a:latin typeface="Cambria Math"/>
                <a:cs typeface="Cambria Math"/>
              </a:rPr>
              <a:t>𝟏,</a:t>
            </a:r>
            <a:r>
              <a:rPr sz="2000" spc="-105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𝒋</a:t>
            </a:r>
            <a:r>
              <a:rPr sz="2000" spc="-15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−</a:t>
            </a:r>
            <a:r>
              <a:rPr sz="2000" spc="-5">
                <a:latin typeface="Cambria Math"/>
                <a:cs typeface="Cambria Math"/>
              </a:rPr>
              <a:t> </a:t>
            </a:r>
            <a:r>
              <a:rPr sz="2000" spc="-25">
                <a:latin typeface="Cambria Math"/>
                <a:cs typeface="Cambria Math"/>
              </a:rPr>
              <a:t>𝟏]</a:t>
            </a:r>
            <a:endParaRPr sz="2000">
              <a:latin typeface="Cambria Math"/>
              <a:cs typeface="Cambria Math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7260335" y="4874514"/>
            <a:ext cx="504190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800" spc="-25">
                <a:latin typeface="Cambria Math"/>
                <a:cs typeface="Cambria Math"/>
              </a:rPr>
              <a:t>+𝟏</a:t>
            </a:r>
            <a:endParaRPr sz="2800">
              <a:latin typeface="Cambria Math"/>
              <a:cs typeface="Cambria Math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9670160" y="1018413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 txBox="1"/>
          <p:nvPr/>
        </p:nvSpPr>
        <p:spPr>
          <a:xfrm>
            <a:off x="9899650" y="1314449"/>
            <a:ext cx="1397000" cy="3003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20">
                <a:solidFill>
                  <a:srgbClr val="FFFFFF"/>
                </a:solidFill>
                <a:latin typeface="PMingLiU"/>
                <a:cs typeface="PMingLiU"/>
              </a:rPr>
              <a:t>问题结构分析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10378440" y="2052827"/>
            <a:ext cx="439420" cy="367030"/>
          </a:xfrm>
          <a:custGeom>
            <a:avLst/>
            <a:gdLst/>
            <a:ahLst/>
            <a:cxnLst/>
            <a:rect l="l" t="t" r="r" b="b"/>
            <a:pathLst>
              <a:path w="439420" h="367030">
                <a:moveTo>
                  <a:pt x="351154" y="0"/>
                </a:moveTo>
                <a:lnTo>
                  <a:pt x="87756" y="0"/>
                </a:lnTo>
                <a:lnTo>
                  <a:pt x="87756" y="183261"/>
                </a:lnTo>
                <a:lnTo>
                  <a:pt x="0" y="183261"/>
                </a:lnTo>
                <a:lnTo>
                  <a:pt x="219455" y="366522"/>
                </a:lnTo>
                <a:lnTo>
                  <a:pt x="438911" y="183261"/>
                </a:lnTo>
                <a:lnTo>
                  <a:pt x="351154" y="183261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9670160" y="2480691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83C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 txBox="1"/>
          <p:nvPr/>
        </p:nvSpPr>
        <p:spPr>
          <a:xfrm>
            <a:off x="9899650" y="2776982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递推关系建立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10378440" y="3515105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9"/>
                </a:lnTo>
                <a:lnTo>
                  <a:pt x="0" y="182499"/>
                </a:lnTo>
                <a:lnTo>
                  <a:pt x="219455" y="364998"/>
                </a:lnTo>
                <a:lnTo>
                  <a:pt x="438911" y="182499"/>
                </a:lnTo>
                <a:lnTo>
                  <a:pt x="351154" y="182499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9670160" y="3941445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8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8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 txBox="1"/>
          <p:nvPr/>
        </p:nvSpPr>
        <p:spPr>
          <a:xfrm>
            <a:off x="9899650" y="4237735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自底向上计算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10378440" y="4975859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8"/>
                </a:lnTo>
                <a:lnTo>
                  <a:pt x="0" y="182498"/>
                </a:lnTo>
                <a:lnTo>
                  <a:pt x="219455" y="364997"/>
                </a:lnTo>
                <a:lnTo>
                  <a:pt x="438911" y="182498"/>
                </a:lnTo>
                <a:lnTo>
                  <a:pt x="351154" y="182498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9670160" y="5402198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52"/>
                </a:lnTo>
                <a:lnTo>
                  <a:pt x="7647" y="914358"/>
                </a:lnTo>
                <a:lnTo>
                  <a:pt x="28511" y="945313"/>
                </a:lnTo>
                <a:lnTo>
                  <a:pt x="59471" y="966183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3"/>
                </a:lnTo>
                <a:lnTo>
                  <a:pt x="1827720" y="945313"/>
                </a:lnTo>
                <a:lnTo>
                  <a:pt x="1848584" y="914358"/>
                </a:lnTo>
                <a:lnTo>
                  <a:pt x="1856232" y="876452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 txBox="1"/>
          <p:nvPr/>
        </p:nvSpPr>
        <p:spPr>
          <a:xfrm>
            <a:off x="9899650" y="5698744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最优方案追踪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35" name="object 5">
            <a:extLst>
              <a:ext uri="{FF2B5EF4-FFF2-40B4-BE49-F238E27FC236}">
                <a16:creationId xmlns:a16="http://schemas.microsoft.com/office/drawing/2014/main" id="{174B7F94-273B-3348-96AB-4F0DFDC8ED83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89026" y="253163"/>
            <a:ext cx="9691371" cy="56618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6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递推关系建立：分析最优（子）结</a:t>
            </a:r>
            <a:r>
              <a:rPr sz="36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构</a:t>
            </a:r>
            <a:endParaRPr sz="36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36" name="左大括号 35">
            <a:extLst>
              <a:ext uri="{FF2B5EF4-FFF2-40B4-BE49-F238E27FC236}">
                <a16:creationId xmlns:a16="http://schemas.microsoft.com/office/drawing/2014/main" id="{450633C0-D812-D44C-9DE3-44EF82019ABE}"/>
              </a:ext>
            </a:extLst>
          </p:cNvPr>
          <p:cNvSpPr/>
          <p:nvPr/>
        </p:nvSpPr>
        <p:spPr>
          <a:xfrm>
            <a:off x="2313860" y="2155341"/>
            <a:ext cx="157225" cy="784479"/>
          </a:xfrm>
          <a:prstGeom prst="leftBrac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154668" y="1737741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667877" y="1737741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725918" y="1007765"/>
            <a:ext cx="6324600" cy="1416685"/>
          </a:xfrm>
          <a:prstGeom prst="rect">
            <a:avLst/>
          </a:prstGeom>
        </p:spPr>
        <p:txBody>
          <a:bodyPr vert="horz" wrap="square" lIns="0" tIns="12827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1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2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初始化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04215" lvl="1" indent="-347980">
              <a:lnSpc>
                <a:spcPct val="100000"/>
              </a:lnSpc>
              <a:spcBef>
                <a:spcPts val="77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  <a:tab pos="1614170" algn="l"/>
              </a:tabLst>
            </a:pPr>
            <a:r>
              <a:rPr sz="2400" b="1" i="1" dirty="0">
                <a:latin typeface="Times New Roman"/>
                <a:cs typeface="Times New Roman"/>
              </a:rPr>
              <a:t>C</a:t>
            </a:r>
            <a:r>
              <a:rPr sz="2400" b="1" i="1" spc="240" dirty="0">
                <a:latin typeface="Times New Roman"/>
                <a:cs typeface="Times New Roman"/>
              </a:rPr>
              <a:t> </a:t>
            </a:r>
            <a:r>
              <a:rPr sz="2400" spc="-10" dirty="0">
                <a:latin typeface="Cambria Math"/>
                <a:cs typeface="Cambria Math"/>
              </a:rPr>
              <a:t>𝒊,</a:t>
            </a:r>
            <a:r>
              <a:rPr sz="2400" spc="-130" dirty="0">
                <a:latin typeface="Cambria Math"/>
                <a:cs typeface="Cambria Math"/>
              </a:rPr>
              <a:t> </a:t>
            </a:r>
            <a:r>
              <a:rPr sz="2400" spc="-50" dirty="0">
                <a:latin typeface="Cambria Math"/>
                <a:cs typeface="Cambria Math"/>
              </a:rPr>
              <a:t>𝟎</a:t>
            </a:r>
            <a:r>
              <a:rPr sz="2400" dirty="0">
                <a:latin typeface="Cambria Math"/>
                <a:cs typeface="Cambria Math"/>
              </a:rPr>
              <a:t>	=</a:t>
            </a:r>
            <a:r>
              <a:rPr sz="2400" spc="125" dirty="0">
                <a:latin typeface="Cambria Math"/>
                <a:cs typeface="Cambria Math"/>
              </a:rPr>
              <a:t> </a:t>
            </a:r>
            <a:r>
              <a:rPr sz="2400" spc="-10" dirty="0">
                <a:latin typeface="Cambria Math"/>
                <a:cs typeface="Cambria Math"/>
              </a:rPr>
              <a:t>𝑪[𝟎,</a:t>
            </a:r>
            <a:r>
              <a:rPr sz="2400" spc="-13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𝒋]</a:t>
            </a:r>
            <a:r>
              <a:rPr sz="2400" spc="14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=</a:t>
            </a:r>
            <a:r>
              <a:rPr sz="2400" spc="140" dirty="0">
                <a:latin typeface="Cambria Math"/>
                <a:cs typeface="Cambria Math"/>
              </a:rPr>
              <a:t> </a:t>
            </a:r>
            <a:r>
              <a:rPr sz="2400" spc="-50" dirty="0">
                <a:latin typeface="Cambria Math"/>
                <a:cs typeface="Cambria Math"/>
              </a:rPr>
              <a:t>𝟎</a:t>
            </a:r>
            <a:endParaRPr sz="2400" dirty="0">
              <a:latin typeface="Cambria Math"/>
              <a:cs typeface="Cambria Math"/>
            </a:endParaRPr>
          </a:p>
          <a:p>
            <a:pPr marL="705485">
              <a:lnSpc>
                <a:spcPct val="100000"/>
              </a:lnSpc>
              <a:spcBef>
                <a:spcPts val="385"/>
              </a:spcBef>
              <a:tabLst>
                <a:tab pos="1000125" algn="l"/>
              </a:tabLst>
            </a:pPr>
            <a:r>
              <a:rPr sz="1550" spc="-50" dirty="0">
                <a:solidFill>
                  <a:srgbClr val="EB91D7"/>
                </a:solidFill>
                <a:latin typeface="Times New Roman"/>
                <a:cs typeface="Times New Roman"/>
              </a:rPr>
              <a:t>o</a:t>
            </a:r>
            <a:r>
              <a:rPr sz="1550" dirty="0">
                <a:solidFill>
                  <a:srgbClr val="EB91D7"/>
                </a:solidFill>
                <a:latin typeface="Times New Roman"/>
                <a:cs typeface="Times New Roman"/>
              </a:rPr>
              <a:t>	</a:t>
            </a:r>
            <a:r>
              <a:rPr sz="2200" spc="-5" dirty="0">
                <a:latin typeface="PMingLiU"/>
                <a:cs typeface="PMingLiU"/>
              </a:rPr>
              <a:t>某序列长度为</a:t>
            </a:r>
            <a:r>
              <a:rPr sz="2200" b="1" dirty="0">
                <a:latin typeface="Times New Roman"/>
                <a:cs typeface="Times New Roman"/>
              </a:rPr>
              <a:t>0</a:t>
            </a:r>
            <a:r>
              <a:rPr sz="2200" spc="-10" dirty="0">
                <a:latin typeface="PMingLiU"/>
                <a:cs typeface="PMingLiU"/>
              </a:rPr>
              <a:t>时，最长公共子序列长度为</a:t>
            </a:r>
            <a:r>
              <a:rPr sz="2200" b="1" spc="-50" dirty="0">
                <a:latin typeface="Times New Roman"/>
                <a:cs typeface="Times New Roman"/>
              </a:rPr>
              <a:t>0</a:t>
            </a:r>
            <a:endParaRPr sz="2200" dirty="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>
            <a:spLocks noGrp="1"/>
          </p:cNvSpPr>
          <p:nvPr>
            <p:ph type="title"/>
          </p:nvPr>
        </p:nvSpPr>
        <p:spPr>
          <a:xfrm>
            <a:off x="1225688" y="265681"/>
            <a:ext cx="7955890" cy="56618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6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自底向上计算：确定计算顺</a:t>
            </a:r>
            <a:r>
              <a:rPr sz="36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序</a:t>
            </a:r>
            <a:endParaRPr sz="36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686051" y="3802995"/>
            <a:ext cx="5316855" cy="24244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875"/>
              </a:lnSpc>
              <a:tabLst>
                <a:tab pos="998855" algn="l"/>
                <a:tab pos="1950085" algn="l"/>
                <a:tab pos="2897505" algn="l"/>
                <a:tab pos="4004945" algn="l"/>
                <a:tab pos="4750435" algn="l"/>
              </a:tabLst>
            </a:pPr>
            <a:r>
              <a:rPr sz="1700" spc="-10">
                <a:solidFill>
                  <a:srgbClr val="FFFFFF"/>
                </a:solidFill>
                <a:latin typeface="Cambria Math"/>
                <a:cs typeface="Cambria Math"/>
              </a:rPr>
              <a:t>𝑫[𝒊,</a:t>
            </a:r>
            <a:r>
              <a:rPr sz="1700" spc="-9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 spc="-25">
                <a:solidFill>
                  <a:srgbClr val="FFFFFF"/>
                </a:solidFill>
                <a:latin typeface="Cambria Math"/>
                <a:cs typeface="Cambria Math"/>
              </a:rPr>
              <a:t>𝒋]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	𝒋</a:t>
            </a:r>
            <a:r>
              <a:rPr sz="1700" spc="8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=</a:t>
            </a:r>
            <a:r>
              <a:rPr sz="1700" spc="9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 spc="-50">
                <a:solidFill>
                  <a:srgbClr val="FFFFFF"/>
                </a:solidFill>
                <a:latin typeface="Cambria Math"/>
                <a:cs typeface="Cambria Math"/>
              </a:rPr>
              <a:t>𝟎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	𝒋</a:t>
            </a:r>
            <a:r>
              <a:rPr sz="1700" spc="8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=</a:t>
            </a:r>
            <a:r>
              <a:rPr sz="1700" spc="9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 spc="-50">
                <a:solidFill>
                  <a:srgbClr val="FFFFFF"/>
                </a:solidFill>
                <a:latin typeface="Cambria Math"/>
                <a:cs typeface="Cambria Math"/>
              </a:rPr>
              <a:t>1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	𝒋</a:t>
            </a:r>
            <a:r>
              <a:rPr sz="1700" spc="8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=</a:t>
            </a:r>
            <a:r>
              <a:rPr sz="1700" spc="9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 spc="-50">
                <a:solidFill>
                  <a:srgbClr val="FFFFFF"/>
                </a:solidFill>
                <a:latin typeface="Cambria Math"/>
                <a:cs typeface="Cambria Math"/>
              </a:rPr>
              <a:t>2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	</a:t>
            </a:r>
            <a:r>
              <a:rPr sz="1700" b="1" spc="-50">
                <a:solidFill>
                  <a:srgbClr val="FFFFFF"/>
                </a:solidFill>
                <a:latin typeface="Arial"/>
                <a:cs typeface="Arial"/>
              </a:rPr>
              <a:t>…</a:t>
            </a:r>
            <a:r>
              <a:rPr sz="1700" b="1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𝒋</a:t>
            </a:r>
            <a:r>
              <a:rPr sz="1700" spc="8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=</a:t>
            </a:r>
            <a:r>
              <a:rPr sz="1700" spc="9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 spc="-50">
                <a:solidFill>
                  <a:srgbClr val="FFFFFF"/>
                </a:solidFill>
                <a:latin typeface="Cambria Math"/>
                <a:cs typeface="Cambria Math"/>
              </a:rPr>
              <a:t>𝒎</a:t>
            </a:r>
            <a:endParaRPr sz="1700">
              <a:latin typeface="Cambria Math"/>
              <a:cs typeface="Cambria Math"/>
            </a:endParaRPr>
          </a:p>
          <a:p>
            <a:pPr marL="40640">
              <a:lnSpc>
                <a:spcPct val="100000"/>
              </a:lnSpc>
              <a:spcBef>
                <a:spcPts val="1390"/>
              </a:spcBef>
              <a:tabLst>
                <a:tab pos="1218565" algn="l"/>
                <a:tab pos="2165985" algn="l"/>
                <a:tab pos="3112135" algn="l"/>
                <a:tab pos="4058920" algn="l"/>
                <a:tab pos="5005705" algn="l"/>
              </a:tabLst>
            </a:pPr>
            <a:r>
              <a:rPr sz="1700">
                <a:latin typeface="Cambria Math"/>
                <a:cs typeface="Cambria Math"/>
              </a:rPr>
              <a:t>𝑖</a:t>
            </a:r>
            <a:r>
              <a:rPr sz="1700" spc="145">
                <a:latin typeface="Cambria Math"/>
                <a:cs typeface="Cambria Math"/>
              </a:rPr>
              <a:t> </a:t>
            </a:r>
            <a:r>
              <a:rPr sz="1700">
                <a:latin typeface="Cambria Math"/>
                <a:cs typeface="Cambria Math"/>
              </a:rPr>
              <a:t>=</a:t>
            </a:r>
            <a:r>
              <a:rPr sz="1700" spc="100">
                <a:latin typeface="Cambria Math"/>
                <a:cs typeface="Cambria Math"/>
              </a:rPr>
              <a:t> </a:t>
            </a:r>
            <a:r>
              <a:rPr sz="1700" spc="-50">
                <a:latin typeface="Cambria Math"/>
                <a:cs typeface="Cambria Math"/>
              </a:rPr>
              <a:t>0</a:t>
            </a:r>
            <a:r>
              <a:rPr sz="1700">
                <a:latin typeface="Cambria Math"/>
                <a:cs typeface="Cambria Math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r>
              <a:rPr sz="1700">
                <a:latin typeface="Times New Roman"/>
                <a:cs typeface="Times New Roman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r>
              <a:rPr sz="1700">
                <a:latin typeface="Times New Roman"/>
                <a:cs typeface="Times New Roman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r>
              <a:rPr sz="1700">
                <a:latin typeface="Times New Roman"/>
                <a:cs typeface="Times New Roman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r>
              <a:rPr sz="1700">
                <a:latin typeface="Times New Roman"/>
                <a:cs typeface="Times New Roman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endParaRPr sz="1700">
              <a:latin typeface="Times New Roman"/>
              <a:cs typeface="Times New Roman"/>
            </a:endParaRPr>
          </a:p>
          <a:p>
            <a:pPr marR="3981450" algn="r">
              <a:lnSpc>
                <a:spcPct val="100000"/>
              </a:lnSpc>
              <a:spcBef>
                <a:spcPts val="1400"/>
              </a:spcBef>
              <a:tabLst>
                <a:tab pos="1177925" algn="l"/>
              </a:tabLst>
            </a:pPr>
            <a:r>
              <a:rPr sz="1700">
                <a:latin typeface="Cambria Math"/>
                <a:cs typeface="Cambria Math"/>
              </a:rPr>
              <a:t>𝑖</a:t>
            </a:r>
            <a:r>
              <a:rPr sz="1700" spc="135">
                <a:latin typeface="Cambria Math"/>
                <a:cs typeface="Cambria Math"/>
              </a:rPr>
              <a:t> </a:t>
            </a:r>
            <a:r>
              <a:rPr sz="1700">
                <a:latin typeface="Cambria Math"/>
                <a:cs typeface="Cambria Math"/>
              </a:rPr>
              <a:t>=</a:t>
            </a:r>
            <a:r>
              <a:rPr sz="1700" spc="90">
                <a:latin typeface="Cambria Math"/>
                <a:cs typeface="Cambria Math"/>
              </a:rPr>
              <a:t> </a:t>
            </a:r>
            <a:r>
              <a:rPr sz="1700" spc="-50">
                <a:latin typeface="Cambria Math"/>
                <a:cs typeface="Cambria Math"/>
              </a:rPr>
              <a:t>1</a:t>
            </a:r>
            <a:r>
              <a:rPr sz="1700">
                <a:latin typeface="Cambria Math"/>
                <a:cs typeface="Cambria Math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endParaRPr sz="1700">
              <a:latin typeface="Times New Roman"/>
              <a:cs typeface="Times New Roman"/>
            </a:endParaRPr>
          </a:p>
          <a:p>
            <a:pPr marR="3981450" algn="r">
              <a:lnSpc>
                <a:spcPct val="100000"/>
              </a:lnSpc>
              <a:spcBef>
                <a:spcPts val="1390"/>
              </a:spcBef>
              <a:tabLst>
                <a:tab pos="1177925" algn="l"/>
              </a:tabLst>
            </a:pPr>
            <a:r>
              <a:rPr sz="1700">
                <a:latin typeface="Cambria Math"/>
                <a:cs typeface="Cambria Math"/>
              </a:rPr>
              <a:t>𝑖</a:t>
            </a:r>
            <a:r>
              <a:rPr sz="1700" spc="135">
                <a:latin typeface="Cambria Math"/>
                <a:cs typeface="Cambria Math"/>
              </a:rPr>
              <a:t> </a:t>
            </a:r>
            <a:r>
              <a:rPr sz="1700">
                <a:latin typeface="Cambria Math"/>
                <a:cs typeface="Cambria Math"/>
              </a:rPr>
              <a:t>=</a:t>
            </a:r>
            <a:r>
              <a:rPr sz="1700" spc="90">
                <a:latin typeface="Cambria Math"/>
                <a:cs typeface="Cambria Math"/>
              </a:rPr>
              <a:t> </a:t>
            </a:r>
            <a:r>
              <a:rPr sz="1700" spc="-50">
                <a:latin typeface="Cambria Math"/>
                <a:cs typeface="Cambria Math"/>
              </a:rPr>
              <a:t>2</a:t>
            </a:r>
            <a:r>
              <a:rPr sz="1700">
                <a:latin typeface="Cambria Math"/>
                <a:cs typeface="Cambria Math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endParaRPr sz="1700">
              <a:latin typeface="Times New Roman"/>
              <a:cs typeface="Times New Roman"/>
            </a:endParaRPr>
          </a:p>
          <a:p>
            <a:pPr marR="3981450" algn="r">
              <a:lnSpc>
                <a:spcPct val="100000"/>
              </a:lnSpc>
              <a:spcBef>
                <a:spcPts val="1395"/>
              </a:spcBef>
              <a:tabLst>
                <a:tab pos="1020444" algn="l"/>
              </a:tabLst>
            </a:pPr>
            <a:r>
              <a:rPr sz="1700" spc="-50">
                <a:latin typeface="Cambria Math"/>
                <a:cs typeface="Cambria Math"/>
              </a:rPr>
              <a:t>…</a:t>
            </a:r>
            <a:r>
              <a:rPr sz="1700">
                <a:latin typeface="Cambria Math"/>
                <a:cs typeface="Cambria Math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endParaRPr sz="1700">
              <a:latin typeface="Times New Roman"/>
              <a:cs typeface="Times New Roman"/>
            </a:endParaRPr>
          </a:p>
          <a:p>
            <a:pPr marR="3981450" algn="r">
              <a:lnSpc>
                <a:spcPct val="100000"/>
              </a:lnSpc>
              <a:spcBef>
                <a:spcPts val="1395"/>
              </a:spcBef>
              <a:tabLst>
                <a:tab pos="1182370" algn="l"/>
              </a:tabLst>
            </a:pPr>
            <a:r>
              <a:rPr sz="1700">
                <a:latin typeface="Cambria Math"/>
                <a:cs typeface="Cambria Math"/>
              </a:rPr>
              <a:t>𝑖</a:t>
            </a:r>
            <a:r>
              <a:rPr sz="1700" spc="145">
                <a:latin typeface="Cambria Math"/>
                <a:cs typeface="Cambria Math"/>
              </a:rPr>
              <a:t> </a:t>
            </a:r>
            <a:r>
              <a:rPr sz="1700">
                <a:latin typeface="Cambria Math"/>
                <a:cs typeface="Cambria Math"/>
              </a:rPr>
              <a:t>=</a:t>
            </a:r>
            <a:r>
              <a:rPr sz="1700" spc="90">
                <a:latin typeface="Cambria Math"/>
                <a:cs typeface="Cambria Math"/>
              </a:rPr>
              <a:t> </a:t>
            </a:r>
            <a:r>
              <a:rPr sz="1700" spc="-50">
                <a:latin typeface="Cambria Math"/>
                <a:cs typeface="Cambria Math"/>
              </a:rPr>
              <a:t>𝑛</a:t>
            </a:r>
            <a:r>
              <a:rPr sz="1700">
                <a:latin typeface="Cambria Math"/>
                <a:cs typeface="Cambria Math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endParaRPr sz="1700">
              <a:latin typeface="Times New Roman"/>
              <a:cs typeface="Times New Roman"/>
            </a:endParaRPr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1491488" y="3694303"/>
          <a:ext cx="5721984" cy="26149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880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467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36880">
                <a:tc>
                  <a:txBody>
                    <a:bodyPr/>
                    <a:lstStyle/>
                    <a:p>
                      <a:pPr marR="45720"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sz="17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𝑪[𝒊,</a:t>
                      </a:r>
                      <a:r>
                        <a:rPr sz="1700" spc="-9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𝒋]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25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99390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25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99390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𝟏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25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99390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𝟐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25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sz="1700" b="1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…</a:t>
                      </a:r>
                      <a:endParaRPr sz="1700">
                        <a:latin typeface="Arial"/>
                        <a:cs typeface="Arial"/>
                      </a:endParaRPr>
                    </a:p>
                  </a:txBody>
                  <a:tcPr marL="0" marR="0" marT="825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63195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𝒎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25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latin typeface="Cambria Math"/>
                          <a:cs typeface="Cambria Math"/>
                        </a:rPr>
                        <a:t>𝟎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latin typeface="Cambria Math"/>
                          <a:cs typeface="Cambria Math"/>
                        </a:rPr>
                        <a:t>𝟏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latin typeface="Cambria Math"/>
                          <a:cs typeface="Cambria Math"/>
                        </a:rPr>
                        <a:t>𝟐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72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7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60">
                          <a:latin typeface="Cambria Math"/>
                          <a:cs typeface="Cambria Math"/>
                        </a:rPr>
                        <a:t>𝒏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8" name="object 8"/>
          <p:cNvSpPr/>
          <p:nvPr/>
        </p:nvSpPr>
        <p:spPr>
          <a:xfrm>
            <a:off x="9670160" y="1018413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9899650" y="1314449"/>
            <a:ext cx="1397000" cy="3003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20">
                <a:solidFill>
                  <a:srgbClr val="FFFFFF"/>
                </a:solidFill>
                <a:latin typeface="PMingLiU"/>
                <a:cs typeface="PMingLiU"/>
              </a:rPr>
              <a:t>问题结构分析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10378440" y="2052827"/>
            <a:ext cx="439420" cy="367030"/>
          </a:xfrm>
          <a:custGeom>
            <a:avLst/>
            <a:gdLst/>
            <a:ahLst/>
            <a:cxnLst/>
            <a:rect l="l" t="t" r="r" b="b"/>
            <a:pathLst>
              <a:path w="439420" h="367030">
                <a:moveTo>
                  <a:pt x="351154" y="0"/>
                </a:moveTo>
                <a:lnTo>
                  <a:pt x="87756" y="0"/>
                </a:lnTo>
                <a:lnTo>
                  <a:pt x="87756" y="183261"/>
                </a:lnTo>
                <a:lnTo>
                  <a:pt x="0" y="183261"/>
                </a:lnTo>
                <a:lnTo>
                  <a:pt x="219455" y="366522"/>
                </a:lnTo>
                <a:lnTo>
                  <a:pt x="438911" y="183261"/>
                </a:lnTo>
                <a:lnTo>
                  <a:pt x="351154" y="183261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9670160" y="2480691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9899650" y="2776982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递推关系建立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10378440" y="3515105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9"/>
                </a:lnTo>
                <a:lnTo>
                  <a:pt x="0" y="182499"/>
                </a:lnTo>
                <a:lnTo>
                  <a:pt x="219455" y="364998"/>
                </a:lnTo>
                <a:lnTo>
                  <a:pt x="438911" y="182499"/>
                </a:lnTo>
                <a:lnTo>
                  <a:pt x="351154" y="182499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670160" y="3941445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8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8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83C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9899650" y="4237735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自底向上计算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10378440" y="4975859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8"/>
                </a:lnTo>
                <a:lnTo>
                  <a:pt x="0" y="182498"/>
                </a:lnTo>
                <a:lnTo>
                  <a:pt x="219455" y="364997"/>
                </a:lnTo>
                <a:lnTo>
                  <a:pt x="438911" y="182498"/>
                </a:lnTo>
                <a:lnTo>
                  <a:pt x="351154" y="182498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9670160" y="5402198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52"/>
                </a:lnTo>
                <a:lnTo>
                  <a:pt x="7647" y="914358"/>
                </a:lnTo>
                <a:lnTo>
                  <a:pt x="28511" y="945313"/>
                </a:lnTo>
                <a:lnTo>
                  <a:pt x="59471" y="966183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3"/>
                </a:lnTo>
                <a:lnTo>
                  <a:pt x="1827720" y="945313"/>
                </a:lnTo>
                <a:lnTo>
                  <a:pt x="1848584" y="914358"/>
                </a:lnTo>
                <a:lnTo>
                  <a:pt x="1856232" y="876452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 txBox="1"/>
          <p:nvPr/>
        </p:nvSpPr>
        <p:spPr>
          <a:xfrm>
            <a:off x="9899650" y="5698744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最优方案追踪</a:t>
            </a:r>
            <a:endParaRPr sz="1800">
              <a:latin typeface="PMingLiU"/>
              <a:cs typeface="PMingLiU"/>
            </a:endParaRP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154668" y="1737741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667877" y="1737741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725918" y="1007765"/>
            <a:ext cx="6324600" cy="1416685"/>
          </a:xfrm>
          <a:prstGeom prst="rect">
            <a:avLst/>
          </a:prstGeom>
        </p:spPr>
        <p:txBody>
          <a:bodyPr vert="horz" wrap="square" lIns="0" tIns="12827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1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2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初始化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04215" lvl="1" indent="-347980">
              <a:lnSpc>
                <a:spcPct val="100000"/>
              </a:lnSpc>
              <a:spcBef>
                <a:spcPts val="77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  <a:tab pos="1614170" algn="l"/>
              </a:tabLst>
            </a:pPr>
            <a:r>
              <a:rPr sz="2400" b="1" i="1" dirty="0">
                <a:latin typeface="Times New Roman"/>
                <a:cs typeface="Times New Roman"/>
              </a:rPr>
              <a:t>C</a:t>
            </a:r>
            <a:r>
              <a:rPr sz="2400" b="1" i="1" spc="240" dirty="0">
                <a:latin typeface="Times New Roman"/>
                <a:cs typeface="Times New Roman"/>
              </a:rPr>
              <a:t> </a:t>
            </a:r>
            <a:r>
              <a:rPr sz="2400" spc="-10" dirty="0">
                <a:latin typeface="Cambria Math"/>
                <a:cs typeface="Cambria Math"/>
              </a:rPr>
              <a:t>𝒊,</a:t>
            </a:r>
            <a:r>
              <a:rPr sz="2400" spc="-130" dirty="0">
                <a:latin typeface="Cambria Math"/>
                <a:cs typeface="Cambria Math"/>
              </a:rPr>
              <a:t> </a:t>
            </a:r>
            <a:r>
              <a:rPr sz="2400" spc="-50" dirty="0">
                <a:latin typeface="Cambria Math"/>
                <a:cs typeface="Cambria Math"/>
              </a:rPr>
              <a:t>𝟎</a:t>
            </a:r>
            <a:r>
              <a:rPr sz="2400" dirty="0">
                <a:latin typeface="Cambria Math"/>
                <a:cs typeface="Cambria Math"/>
              </a:rPr>
              <a:t>	=</a:t>
            </a:r>
            <a:r>
              <a:rPr sz="2400" spc="125" dirty="0">
                <a:latin typeface="Cambria Math"/>
                <a:cs typeface="Cambria Math"/>
              </a:rPr>
              <a:t> </a:t>
            </a:r>
            <a:r>
              <a:rPr sz="2400" spc="-10" dirty="0">
                <a:latin typeface="Cambria Math"/>
                <a:cs typeface="Cambria Math"/>
              </a:rPr>
              <a:t>𝑪[𝟎,</a:t>
            </a:r>
            <a:r>
              <a:rPr sz="2400" spc="-13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𝒋]</a:t>
            </a:r>
            <a:r>
              <a:rPr sz="2400" spc="14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=</a:t>
            </a:r>
            <a:r>
              <a:rPr sz="2400" spc="140" dirty="0">
                <a:latin typeface="Cambria Math"/>
                <a:cs typeface="Cambria Math"/>
              </a:rPr>
              <a:t> </a:t>
            </a:r>
            <a:r>
              <a:rPr sz="2400" spc="-50" dirty="0">
                <a:latin typeface="Cambria Math"/>
                <a:cs typeface="Cambria Math"/>
              </a:rPr>
              <a:t>𝟎</a:t>
            </a:r>
            <a:endParaRPr sz="2400" dirty="0">
              <a:latin typeface="Cambria Math"/>
              <a:cs typeface="Cambria Math"/>
            </a:endParaRPr>
          </a:p>
          <a:p>
            <a:pPr marL="705485">
              <a:lnSpc>
                <a:spcPct val="100000"/>
              </a:lnSpc>
              <a:spcBef>
                <a:spcPts val="385"/>
              </a:spcBef>
              <a:tabLst>
                <a:tab pos="1000125" algn="l"/>
              </a:tabLst>
            </a:pPr>
            <a:r>
              <a:rPr sz="1550" spc="-50" dirty="0">
                <a:solidFill>
                  <a:srgbClr val="EB91D7"/>
                </a:solidFill>
                <a:latin typeface="Times New Roman"/>
                <a:cs typeface="Times New Roman"/>
              </a:rPr>
              <a:t>o</a:t>
            </a:r>
            <a:r>
              <a:rPr sz="1550" dirty="0">
                <a:solidFill>
                  <a:srgbClr val="EB91D7"/>
                </a:solidFill>
                <a:latin typeface="Times New Roman"/>
                <a:cs typeface="Times New Roman"/>
              </a:rPr>
              <a:t>	</a:t>
            </a:r>
            <a:r>
              <a:rPr sz="2200" spc="-5" dirty="0">
                <a:latin typeface="PMingLiU"/>
                <a:cs typeface="PMingLiU"/>
              </a:rPr>
              <a:t>某序列长度为</a:t>
            </a:r>
            <a:r>
              <a:rPr sz="2200" b="1" dirty="0">
                <a:latin typeface="Times New Roman"/>
                <a:cs typeface="Times New Roman"/>
              </a:rPr>
              <a:t>0</a:t>
            </a:r>
            <a:r>
              <a:rPr sz="2200" spc="-10" dirty="0">
                <a:latin typeface="PMingLiU"/>
                <a:cs typeface="PMingLiU"/>
              </a:rPr>
              <a:t>时，最长公共子序列长度为</a:t>
            </a:r>
            <a:r>
              <a:rPr sz="2200" b="1" spc="-50" dirty="0">
                <a:latin typeface="Times New Roman"/>
                <a:cs typeface="Times New Roman"/>
              </a:rPr>
              <a:t>0</a:t>
            </a:r>
            <a:endParaRPr sz="2200" dirty="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>
            <a:spLocks noGrp="1"/>
          </p:cNvSpPr>
          <p:nvPr>
            <p:ph type="title"/>
          </p:nvPr>
        </p:nvSpPr>
        <p:spPr>
          <a:xfrm>
            <a:off x="1225688" y="265681"/>
            <a:ext cx="7955890" cy="56618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6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自底向上计算：确定计算顺</a:t>
            </a:r>
            <a:r>
              <a:rPr sz="36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序</a:t>
            </a:r>
            <a:endParaRPr sz="36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686051" y="3802995"/>
            <a:ext cx="5316855" cy="24244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875"/>
              </a:lnSpc>
              <a:tabLst>
                <a:tab pos="998855" algn="l"/>
                <a:tab pos="1950085" algn="l"/>
                <a:tab pos="2897505" algn="l"/>
                <a:tab pos="4004945" algn="l"/>
                <a:tab pos="4750435" algn="l"/>
              </a:tabLst>
            </a:pPr>
            <a:r>
              <a:rPr sz="1700" spc="-10">
                <a:solidFill>
                  <a:srgbClr val="FFFFFF"/>
                </a:solidFill>
                <a:latin typeface="Cambria Math"/>
                <a:cs typeface="Cambria Math"/>
              </a:rPr>
              <a:t>𝑫[𝒊,</a:t>
            </a:r>
            <a:r>
              <a:rPr sz="1700" spc="-9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 spc="-25">
                <a:solidFill>
                  <a:srgbClr val="FFFFFF"/>
                </a:solidFill>
                <a:latin typeface="Cambria Math"/>
                <a:cs typeface="Cambria Math"/>
              </a:rPr>
              <a:t>𝒋]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	𝒋</a:t>
            </a:r>
            <a:r>
              <a:rPr sz="1700" spc="8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=</a:t>
            </a:r>
            <a:r>
              <a:rPr sz="1700" spc="9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 spc="-50">
                <a:solidFill>
                  <a:srgbClr val="FFFFFF"/>
                </a:solidFill>
                <a:latin typeface="Cambria Math"/>
                <a:cs typeface="Cambria Math"/>
              </a:rPr>
              <a:t>𝟎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	𝒋</a:t>
            </a:r>
            <a:r>
              <a:rPr sz="1700" spc="8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=</a:t>
            </a:r>
            <a:r>
              <a:rPr sz="1700" spc="9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 spc="-50">
                <a:solidFill>
                  <a:srgbClr val="FFFFFF"/>
                </a:solidFill>
                <a:latin typeface="Cambria Math"/>
                <a:cs typeface="Cambria Math"/>
              </a:rPr>
              <a:t>1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	𝒋</a:t>
            </a:r>
            <a:r>
              <a:rPr sz="1700" spc="8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=</a:t>
            </a:r>
            <a:r>
              <a:rPr sz="1700" spc="9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 spc="-50">
                <a:solidFill>
                  <a:srgbClr val="FFFFFF"/>
                </a:solidFill>
                <a:latin typeface="Cambria Math"/>
                <a:cs typeface="Cambria Math"/>
              </a:rPr>
              <a:t>2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	</a:t>
            </a:r>
            <a:r>
              <a:rPr sz="1700" b="1" spc="-50">
                <a:solidFill>
                  <a:srgbClr val="FFFFFF"/>
                </a:solidFill>
                <a:latin typeface="Arial"/>
                <a:cs typeface="Arial"/>
              </a:rPr>
              <a:t>…</a:t>
            </a:r>
            <a:r>
              <a:rPr sz="1700" b="1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𝒋</a:t>
            </a:r>
            <a:r>
              <a:rPr sz="1700" spc="8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=</a:t>
            </a:r>
            <a:r>
              <a:rPr sz="1700" spc="9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 spc="-50">
                <a:solidFill>
                  <a:srgbClr val="FFFFFF"/>
                </a:solidFill>
                <a:latin typeface="Cambria Math"/>
                <a:cs typeface="Cambria Math"/>
              </a:rPr>
              <a:t>𝒎</a:t>
            </a:r>
            <a:endParaRPr sz="1700">
              <a:latin typeface="Cambria Math"/>
              <a:cs typeface="Cambria Math"/>
            </a:endParaRPr>
          </a:p>
          <a:p>
            <a:pPr marL="40640">
              <a:lnSpc>
                <a:spcPct val="100000"/>
              </a:lnSpc>
              <a:spcBef>
                <a:spcPts val="1390"/>
              </a:spcBef>
              <a:tabLst>
                <a:tab pos="1218565" algn="l"/>
                <a:tab pos="2165985" algn="l"/>
                <a:tab pos="3112135" algn="l"/>
                <a:tab pos="4058920" algn="l"/>
                <a:tab pos="5005705" algn="l"/>
              </a:tabLst>
            </a:pPr>
            <a:r>
              <a:rPr sz="1700">
                <a:latin typeface="Cambria Math"/>
                <a:cs typeface="Cambria Math"/>
              </a:rPr>
              <a:t>𝑖</a:t>
            </a:r>
            <a:r>
              <a:rPr sz="1700" spc="145">
                <a:latin typeface="Cambria Math"/>
                <a:cs typeface="Cambria Math"/>
              </a:rPr>
              <a:t> </a:t>
            </a:r>
            <a:r>
              <a:rPr sz="1700">
                <a:latin typeface="Cambria Math"/>
                <a:cs typeface="Cambria Math"/>
              </a:rPr>
              <a:t>=</a:t>
            </a:r>
            <a:r>
              <a:rPr sz="1700" spc="100">
                <a:latin typeface="Cambria Math"/>
                <a:cs typeface="Cambria Math"/>
              </a:rPr>
              <a:t> </a:t>
            </a:r>
            <a:r>
              <a:rPr sz="1700" spc="-50">
                <a:latin typeface="Cambria Math"/>
                <a:cs typeface="Cambria Math"/>
              </a:rPr>
              <a:t>0</a:t>
            </a:r>
            <a:r>
              <a:rPr sz="1700">
                <a:latin typeface="Cambria Math"/>
                <a:cs typeface="Cambria Math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r>
              <a:rPr sz="1700">
                <a:latin typeface="Times New Roman"/>
                <a:cs typeface="Times New Roman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r>
              <a:rPr sz="1700">
                <a:latin typeface="Times New Roman"/>
                <a:cs typeface="Times New Roman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r>
              <a:rPr sz="1700">
                <a:latin typeface="Times New Roman"/>
                <a:cs typeface="Times New Roman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r>
              <a:rPr sz="1700">
                <a:latin typeface="Times New Roman"/>
                <a:cs typeface="Times New Roman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endParaRPr sz="1700">
              <a:latin typeface="Times New Roman"/>
              <a:cs typeface="Times New Roman"/>
            </a:endParaRPr>
          </a:p>
          <a:p>
            <a:pPr marR="3981450" algn="r">
              <a:lnSpc>
                <a:spcPct val="100000"/>
              </a:lnSpc>
              <a:spcBef>
                <a:spcPts val="1400"/>
              </a:spcBef>
              <a:tabLst>
                <a:tab pos="1177925" algn="l"/>
              </a:tabLst>
            </a:pPr>
            <a:r>
              <a:rPr sz="1700">
                <a:latin typeface="Cambria Math"/>
                <a:cs typeface="Cambria Math"/>
              </a:rPr>
              <a:t>𝑖</a:t>
            </a:r>
            <a:r>
              <a:rPr sz="1700" spc="135">
                <a:latin typeface="Cambria Math"/>
                <a:cs typeface="Cambria Math"/>
              </a:rPr>
              <a:t> </a:t>
            </a:r>
            <a:r>
              <a:rPr sz="1700">
                <a:latin typeface="Cambria Math"/>
                <a:cs typeface="Cambria Math"/>
              </a:rPr>
              <a:t>=</a:t>
            </a:r>
            <a:r>
              <a:rPr sz="1700" spc="90">
                <a:latin typeface="Cambria Math"/>
                <a:cs typeface="Cambria Math"/>
              </a:rPr>
              <a:t> </a:t>
            </a:r>
            <a:r>
              <a:rPr sz="1700" spc="-50">
                <a:latin typeface="Cambria Math"/>
                <a:cs typeface="Cambria Math"/>
              </a:rPr>
              <a:t>1</a:t>
            </a:r>
            <a:r>
              <a:rPr sz="1700">
                <a:latin typeface="Cambria Math"/>
                <a:cs typeface="Cambria Math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endParaRPr sz="1700">
              <a:latin typeface="Times New Roman"/>
              <a:cs typeface="Times New Roman"/>
            </a:endParaRPr>
          </a:p>
          <a:p>
            <a:pPr marR="3981450" algn="r">
              <a:lnSpc>
                <a:spcPct val="100000"/>
              </a:lnSpc>
              <a:spcBef>
                <a:spcPts val="1390"/>
              </a:spcBef>
              <a:tabLst>
                <a:tab pos="1177925" algn="l"/>
              </a:tabLst>
            </a:pPr>
            <a:r>
              <a:rPr sz="1700">
                <a:latin typeface="Cambria Math"/>
                <a:cs typeface="Cambria Math"/>
              </a:rPr>
              <a:t>𝑖</a:t>
            </a:r>
            <a:r>
              <a:rPr sz="1700" spc="135">
                <a:latin typeface="Cambria Math"/>
                <a:cs typeface="Cambria Math"/>
              </a:rPr>
              <a:t> </a:t>
            </a:r>
            <a:r>
              <a:rPr sz="1700">
                <a:latin typeface="Cambria Math"/>
                <a:cs typeface="Cambria Math"/>
              </a:rPr>
              <a:t>=</a:t>
            </a:r>
            <a:r>
              <a:rPr sz="1700" spc="90">
                <a:latin typeface="Cambria Math"/>
                <a:cs typeface="Cambria Math"/>
              </a:rPr>
              <a:t> </a:t>
            </a:r>
            <a:r>
              <a:rPr sz="1700" spc="-50">
                <a:latin typeface="Cambria Math"/>
                <a:cs typeface="Cambria Math"/>
              </a:rPr>
              <a:t>2</a:t>
            </a:r>
            <a:r>
              <a:rPr sz="1700">
                <a:latin typeface="Cambria Math"/>
                <a:cs typeface="Cambria Math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endParaRPr sz="1700">
              <a:latin typeface="Times New Roman"/>
              <a:cs typeface="Times New Roman"/>
            </a:endParaRPr>
          </a:p>
          <a:p>
            <a:pPr marR="3981450" algn="r">
              <a:lnSpc>
                <a:spcPct val="100000"/>
              </a:lnSpc>
              <a:spcBef>
                <a:spcPts val="1395"/>
              </a:spcBef>
              <a:tabLst>
                <a:tab pos="1020444" algn="l"/>
              </a:tabLst>
            </a:pPr>
            <a:r>
              <a:rPr sz="1700" spc="-50">
                <a:latin typeface="Cambria Math"/>
                <a:cs typeface="Cambria Math"/>
              </a:rPr>
              <a:t>…</a:t>
            </a:r>
            <a:r>
              <a:rPr sz="1700">
                <a:latin typeface="Cambria Math"/>
                <a:cs typeface="Cambria Math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endParaRPr sz="1700">
              <a:latin typeface="Times New Roman"/>
              <a:cs typeface="Times New Roman"/>
            </a:endParaRPr>
          </a:p>
          <a:p>
            <a:pPr marR="3981450" algn="r">
              <a:lnSpc>
                <a:spcPct val="100000"/>
              </a:lnSpc>
              <a:spcBef>
                <a:spcPts val="1395"/>
              </a:spcBef>
              <a:tabLst>
                <a:tab pos="1182370" algn="l"/>
              </a:tabLst>
            </a:pPr>
            <a:r>
              <a:rPr sz="1700">
                <a:latin typeface="Cambria Math"/>
                <a:cs typeface="Cambria Math"/>
              </a:rPr>
              <a:t>𝑖</a:t>
            </a:r>
            <a:r>
              <a:rPr sz="1700" spc="145">
                <a:latin typeface="Cambria Math"/>
                <a:cs typeface="Cambria Math"/>
              </a:rPr>
              <a:t> </a:t>
            </a:r>
            <a:r>
              <a:rPr sz="1700">
                <a:latin typeface="Cambria Math"/>
                <a:cs typeface="Cambria Math"/>
              </a:rPr>
              <a:t>=</a:t>
            </a:r>
            <a:r>
              <a:rPr sz="1700" spc="90">
                <a:latin typeface="Cambria Math"/>
                <a:cs typeface="Cambria Math"/>
              </a:rPr>
              <a:t> </a:t>
            </a:r>
            <a:r>
              <a:rPr sz="1700" spc="-50">
                <a:latin typeface="Cambria Math"/>
                <a:cs typeface="Cambria Math"/>
              </a:rPr>
              <a:t>𝑛</a:t>
            </a:r>
            <a:r>
              <a:rPr sz="1700">
                <a:latin typeface="Cambria Math"/>
                <a:cs typeface="Cambria Math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endParaRPr sz="1700">
              <a:latin typeface="Times New Roman"/>
              <a:cs typeface="Times New Roman"/>
            </a:endParaRPr>
          </a:p>
        </p:txBody>
      </p:sp>
      <p:graphicFrame>
        <p:nvGraphicFramePr>
          <p:cNvPr id="7" name="object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57079971"/>
              </p:ext>
            </p:extLst>
          </p:nvPr>
        </p:nvGraphicFramePr>
        <p:xfrm>
          <a:off x="1491488" y="3694303"/>
          <a:ext cx="5721984" cy="26149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880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467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36880">
                <a:tc>
                  <a:txBody>
                    <a:bodyPr/>
                    <a:lstStyle/>
                    <a:p>
                      <a:pPr marR="45720"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sz="17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𝑪[𝒊,</a:t>
                      </a:r>
                      <a:r>
                        <a:rPr sz="1700" spc="-9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𝒋]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25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99390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25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99390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𝟏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25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99390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𝟐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25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sz="1700" b="1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…</a:t>
                      </a:r>
                      <a:endParaRPr sz="1700">
                        <a:latin typeface="Arial"/>
                        <a:cs typeface="Arial"/>
                      </a:endParaRPr>
                    </a:p>
                  </a:txBody>
                  <a:tcPr marL="0" marR="0" marT="825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63195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𝒎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25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latin typeface="Cambria Math"/>
                          <a:cs typeface="Cambria Math"/>
                        </a:rPr>
                        <a:t>𝟎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2400" b="1" dirty="0">
                          <a:latin typeface="Times New Roman"/>
                          <a:cs typeface="Times New Roman"/>
                        </a:rPr>
                        <a:t>0</a:t>
                      </a:r>
                      <a:endParaRPr lang="zh-CN" altLang="en-US" sz="24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CN" sz="2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Times New Roman"/>
                          <a:ea typeface="+mn-ea"/>
                          <a:cs typeface="Times New Roman"/>
                        </a:rPr>
                        <a:t>0</a:t>
                      </a:r>
                      <a:endParaRPr kumimoji="0" lang="zh-CN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Times New Roman"/>
                        <a:ea typeface="+mn-ea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CN" sz="2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Times New Roman"/>
                          <a:ea typeface="+mn-ea"/>
                          <a:cs typeface="Times New Roman"/>
                        </a:rPr>
                        <a:t>0</a:t>
                      </a:r>
                      <a:endParaRPr kumimoji="0" lang="zh-CN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Times New Roman"/>
                        <a:ea typeface="+mn-ea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CN" sz="2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Times New Roman"/>
                          <a:ea typeface="+mn-ea"/>
                          <a:cs typeface="Times New Roman"/>
                        </a:rPr>
                        <a:t>0</a:t>
                      </a:r>
                      <a:endParaRPr kumimoji="0" lang="zh-CN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Times New Roman"/>
                        <a:ea typeface="+mn-ea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CN" sz="2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Times New Roman"/>
                          <a:ea typeface="+mn-ea"/>
                          <a:cs typeface="Times New Roman"/>
                        </a:rPr>
                        <a:t>0</a:t>
                      </a:r>
                      <a:endParaRPr kumimoji="0" lang="zh-CN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Times New Roman"/>
                        <a:ea typeface="+mn-ea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latin typeface="Cambria Math"/>
                          <a:cs typeface="Cambria Math"/>
                        </a:rPr>
                        <a:t>𝟏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CN" sz="2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Times New Roman"/>
                          <a:ea typeface="+mn-ea"/>
                          <a:cs typeface="Times New Roman"/>
                        </a:rPr>
                        <a:t>0</a:t>
                      </a:r>
                      <a:endParaRPr kumimoji="0" lang="zh-CN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Times New Roman"/>
                        <a:ea typeface="+mn-ea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latin typeface="Cambria Math"/>
                          <a:cs typeface="Cambria Math"/>
                        </a:rPr>
                        <a:t>𝟐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CN" sz="2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Times New Roman"/>
                          <a:ea typeface="+mn-ea"/>
                          <a:cs typeface="Times New Roman"/>
                        </a:rPr>
                        <a:t>0</a:t>
                      </a:r>
                      <a:endParaRPr kumimoji="0" lang="zh-CN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Times New Roman"/>
                        <a:ea typeface="+mn-ea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72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CN" sz="2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Times New Roman"/>
                          <a:ea typeface="+mn-ea"/>
                          <a:cs typeface="Times New Roman"/>
                        </a:rPr>
                        <a:t>0</a:t>
                      </a:r>
                      <a:endParaRPr kumimoji="0" lang="zh-CN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Times New Roman"/>
                        <a:ea typeface="+mn-ea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7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60">
                          <a:latin typeface="Cambria Math"/>
                          <a:cs typeface="Cambria Math"/>
                        </a:rPr>
                        <a:t>𝒏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CN" sz="2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Times New Roman"/>
                          <a:ea typeface="+mn-ea"/>
                          <a:cs typeface="Times New Roman"/>
                        </a:rPr>
                        <a:t>0</a:t>
                      </a:r>
                      <a:endParaRPr kumimoji="0" lang="zh-CN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Times New Roman"/>
                        <a:ea typeface="+mn-ea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8" name="object 8"/>
          <p:cNvSpPr/>
          <p:nvPr/>
        </p:nvSpPr>
        <p:spPr>
          <a:xfrm>
            <a:off x="9670160" y="1018413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9899650" y="1314449"/>
            <a:ext cx="1397000" cy="3003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20">
                <a:solidFill>
                  <a:srgbClr val="FFFFFF"/>
                </a:solidFill>
                <a:latin typeface="PMingLiU"/>
                <a:cs typeface="PMingLiU"/>
              </a:rPr>
              <a:t>问题结构分析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10378440" y="2052827"/>
            <a:ext cx="439420" cy="367030"/>
          </a:xfrm>
          <a:custGeom>
            <a:avLst/>
            <a:gdLst/>
            <a:ahLst/>
            <a:cxnLst/>
            <a:rect l="l" t="t" r="r" b="b"/>
            <a:pathLst>
              <a:path w="439420" h="367030">
                <a:moveTo>
                  <a:pt x="351154" y="0"/>
                </a:moveTo>
                <a:lnTo>
                  <a:pt x="87756" y="0"/>
                </a:lnTo>
                <a:lnTo>
                  <a:pt x="87756" y="183261"/>
                </a:lnTo>
                <a:lnTo>
                  <a:pt x="0" y="183261"/>
                </a:lnTo>
                <a:lnTo>
                  <a:pt x="219455" y="366522"/>
                </a:lnTo>
                <a:lnTo>
                  <a:pt x="438911" y="183261"/>
                </a:lnTo>
                <a:lnTo>
                  <a:pt x="351154" y="183261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9670160" y="2480691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9899650" y="2776982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递推关系建立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10378440" y="3515105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9"/>
                </a:lnTo>
                <a:lnTo>
                  <a:pt x="0" y="182499"/>
                </a:lnTo>
                <a:lnTo>
                  <a:pt x="219455" y="364998"/>
                </a:lnTo>
                <a:lnTo>
                  <a:pt x="438911" y="182499"/>
                </a:lnTo>
                <a:lnTo>
                  <a:pt x="351154" y="182499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670160" y="3941445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8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8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83C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9899650" y="4237735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自底向上计算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10378440" y="4975859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8"/>
                </a:lnTo>
                <a:lnTo>
                  <a:pt x="0" y="182498"/>
                </a:lnTo>
                <a:lnTo>
                  <a:pt x="219455" y="364997"/>
                </a:lnTo>
                <a:lnTo>
                  <a:pt x="438911" y="182498"/>
                </a:lnTo>
                <a:lnTo>
                  <a:pt x="351154" y="182498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9670160" y="5402198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52"/>
                </a:lnTo>
                <a:lnTo>
                  <a:pt x="7647" y="914358"/>
                </a:lnTo>
                <a:lnTo>
                  <a:pt x="28511" y="945313"/>
                </a:lnTo>
                <a:lnTo>
                  <a:pt x="59471" y="966183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3"/>
                </a:lnTo>
                <a:lnTo>
                  <a:pt x="1827720" y="945313"/>
                </a:lnTo>
                <a:lnTo>
                  <a:pt x="1848584" y="914358"/>
                </a:lnTo>
                <a:lnTo>
                  <a:pt x="1856232" y="876452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 txBox="1"/>
          <p:nvPr/>
        </p:nvSpPr>
        <p:spPr>
          <a:xfrm>
            <a:off x="9899650" y="5698744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最优方案追踪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19" name="圆角矩形 18">
            <a:extLst>
              <a:ext uri="{FF2B5EF4-FFF2-40B4-BE49-F238E27FC236}">
                <a16:creationId xmlns:a16="http://schemas.microsoft.com/office/drawing/2014/main" id="{B1E3E53E-F302-4F40-AF82-FE76D9EA236D}"/>
              </a:ext>
            </a:extLst>
          </p:cNvPr>
          <p:cNvSpPr/>
          <p:nvPr/>
        </p:nvSpPr>
        <p:spPr>
          <a:xfrm>
            <a:off x="2630466" y="4146115"/>
            <a:ext cx="4372440" cy="391340"/>
          </a:xfrm>
          <a:prstGeom prst="roundRect">
            <a:avLst/>
          </a:prstGeom>
          <a:noFill/>
          <a:ln w="38100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  <p:sp>
        <p:nvSpPr>
          <p:cNvPr id="20" name="圆角矩形 19">
            <a:extLst>
              <a:ext uri="{FF2B5EF4-FFF2-40B4-BE49-F238E27FC236}">
                <a16:creationId xmlns:a16="http://schemas.microsoft.com/office/drawing/2014/main" id="{0BC14CC5-478E-8348-AEAC-500C94638236}"/>
              </a:ext>
            </a:extLst>
          </p:cNvPr>
          <p:cNvSpPr/>
          <p:nvPr/>
        </p:nvSpPr>
        <p:spPr>
          <a:xfrm>
            <a:off x="2630466" y="4146115"/>
            <a:ext cx="663879" cy="2163113"/>
          </a:xfrm>
          <a:prstGeom prst="roundRect">
            <a:avLst/>
          </a:prstGeom>
          <a:noFill/>
          <a:ln w="38100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813230657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142142" y="1612481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655351" y="1612481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713392" y="882505"/>
            <a:ext cx="6324600" cy="1921510"/>
          </a:xfrm>
          <a:prstGeom prst="rect">
            <a:avLst/>
          </a:prstGeom>
        </p:spPr>
        <p:txBody>
          <a:bodyPr vert="horz" wrap="square" lIns="0" tIns="12827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1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20" dirty="0" err="1">
                <a:latin typeface="PMingLiU"/>
                <a:cs typeface="PMingLiU"/>
              </a:rPr>
              <a:t>初始化</a:t>
            </a:r>
            <a:endParaRPr sz="2800" dirty="0">
              <a:latin typeface="PMingLiU"/>
              <a:cs typeface="PMingLiU"/>
            </a:endParaRPr>
          </a:p>
          <a:p>
            <a:pPr marL="704215" lvl="1" indent="-347980">
              <a:lnSpc>
                <a:spcPct val="100000"/>
              </a:lnSpc>
              <a:spcBef>
                <a:spcPts val="77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  <a:tab pos="1614170" algn="l"/>
              </a:tabLst>
            </a:pPr>
            <a:r>
              <a:rPr sz="2400" b="1" i="1" dirty="0">
                <a:latin typeface="Times New Roman"/>
                <a:cs typeface="Times New Roman"/>
              </a:rPr>
              <a:t>C</a:t>
            </a:r>
            <a:r>
              <a:rPr sz="2400" b="1" i="1" spc="240" dirty="0">
                <a:latin typeface="Times New Roman"/>
                <a:cs typeface="Times New Roman"/>
              </a:rPr>
              <a:t> </a:t>
            </a:r>
            <a:r>
              <a:rPr sz="2400" spc="-10" dirty="0">
                <a:latin typeface="Cambria Math"/>
                <a:cs typeface="Cambria Math"/>
              </a:rPr>
              <a:t>𝒊,</a:t>
            </a:r>
            <a:r>
              <a:rPr sz="2400" spc="-130" dirty="0">
                <a:latin typeface="Cambria Math"/>
                <a:cs typeface="Cambria Math"/>
              </a:rPr>
              <a:t> </a:t>
            </a:r>
            <a:r>
              <a:rPr sz="2400" spc="-50" dirty="0">
                <a:latin typeface="Cambria Math"/>
                <a:cs typeface="Cambria Math"/>
              </a:rPr>
              <a:t>𝟎</a:t>
            </a:r>
            <a:r>
              <a:rPr sz="2400" dirty="0">
                <a:latin typeface="Cambria Math"/>
                <a:cs typeface="Cambria Math"/>
              </a:rPr>
              <a:t>	=</a:t>
            </a:r>
            <a:r>
              <a:rPr sz="2400" spc="125" dirty="0">
                <a:latin typeface="Cambria Math"/>
                <a:cs typeface="Cambria Math"/>
              </a:rPr>
              <a:t> </a:t>
            </a:r>
            <a:r>
              <a:rPr sz="2400" spc="-10" dirty="0">
                <a:latin typeface="Cambria Math"/>
                <a:cs typeface="Cambria Math"/>
              </a:rPr>
              <a:t>𝑪[𝟎,</a:t>
            </a:r>
            <a:r>
              <a:rPr sz="2400" spc="-13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𝒋]</a:t>
            </a:r>
            <a:r>
              <a:rPr sz="2400" spc="14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=</a:t>
            </a:r>
            <a:r>
              <a:rPr sz="2400" spc="140" dirty="0">
                <a:latin typeface="Cambria Math"/>
                <a:cs typeface="Cambria Math"/>
              </a:rPr>
              <a:t> </a:t>
            </a:r>
            <a:r>
              <a:rPr sz="2400" spc="-50" dirty="0">
                <a:latin typeface="Cambria Math"/>
                <a:cs typeface="Cambria Math"/>
              </a:rPr>
              <a:t>𝟎</a:t>
            </a:r>
            <a:endParaRPr sz="2400" dirty="0">
              <a:latin typeface="Cambria Math"/>
              <a:cs typeface="Cambria Math"/>
            </a:endParaRPr>
          </a:p>
          <a:p>
            <a:pPr marL="705485">
              <a:lnSpc>
                <a:spcPct val="100000"/>
              </a:lnSpc>
              <a:spcBef>
                <a:spcPts val="385"/>
              </a:spcBef>
              <a:tabLst>
                <a:tab pos="1000125" algn="l"/>
              </a:tabLst>
            </a:pPr>
            <a:r>
              <a:rPr sz="1550" spc="-50" dirty="0">
                <a:solidFill>
                  <a:srgbClr val="EB91D7"/>
                </a:solidFill>
                <a:latin typeface="Times New Roman"/>
                <a:cs typeface="Times New Roman"/>
              </a:rPr>
              <a:t>o</a:t>
            </a:r>
            <a:r>
              <a:rPr sz="1550" dirty="0">
                <a:solidFill>
                  <a:srgbClr val="EB91D7"/>
                </a:solidFill>
                <a:latin typeface="Times New Roman"/>
                <a:cs typeface="Times New Roman"/>
              </a:rPr>
              <a:t>	</a:t>
            </a:r>
            <a:r>
              <a:rPr sz="2200" spc="-5" dirty="0">
                <a:latin typeface="PMingLiU"/>
                <a:cs typeface="PMingLiU"/>
              </a:rPr>
              <a:t>某序列长度为</a:t>
            </a:r>
            <a:r>
              <a:rPr sz="2200" b="1" dirty="0">
                <a:latin typeface="Times New Roman"/>
                <a:cs typeface="Times New Roman"/>
              </a:rPr>
              <a:t>0</a:t>
            </a:r>
            <a:r>
              <a:rPr sz="2200" spc="-10" dirty="0">
                <a:latin typeface="PMingLiU"/>
                <a:cs typeface="PMingLiU"/>
              </a:rPr>
              <a:t>时，最长公共子序列长度为</a:t>
            </a:r>
            <a:r>
              <a:rPr sz="2200" b="1" spc="-50" dirty="0">
                <a:latin typeface="Times New Roman"/>
                <a:cs typeface="Times New Roman"/>
              </a:rPr>
              <a:t>0</a:t>
            </a:r>
            <a:endParaRPr sz="2200" dirty="0">
              <a:latin typeface="Times New Roman"/>
              <a:cs typeface="Times New Roman"/>
            </a:endParaRPr>
          </a:p>
          <a:p>
            <a:pPr marL="355600" indent="-342900">
              <a:lnSpc>
                <a:spcPct val="100000"/>
              </a:lnSpc>
              <a:spcBef>
                <a:spcPts val="615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5" dirty="0" err="1">
                <a:latin typeface="PMingLiU"/>
                <a:cs typeface="PMingLiU"/>
              </a:rPr>
              <a:t>递推公式</a:t>
            </a:r>
            <a:endParaRPr sz="2800" dirty="0">
              <a:latin typeface="PMingLiU"/>
              <a:cs typeface="PMingLiU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32763" y="3162554"/>
            <a:ext cx="184785" cy="28194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1650" spc="20">
                <a:solidFill>
                  <a:srgbClr val="DAB6FB"/>
                </a:solidFill>
                <a:latin typeface="Wingdings"/>
                <a:cs typeface="Wingdings"/>
              </a:rPr>
              <a:t></a:t>
            </a:r>
            <a:endParaRPr sz="1650">
              <a:latin typeface="Wingdings"/>
              <a:cs typeface="Wingding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329436" y="3254755"/>
            <a:ext cx="582422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3500">
              <a:lnSpc>
                <a:spcPct val="100000"/>
              </a:lnSpc>
              <a:spcBef>
                <a:spcPts val="100"/>
              </a:spcBef>
              <a:tabLst>
                <a:tab pos="4824095" algn="l"/>
                <a:tab pos="5291455" algn="l"/>
              </a:tabLst>
            </a:pPr>
            <a:r>
              <a:rPr sz="3600" spc="-15" baseline="33564" dirty="0">
                <a:latin typeface="Cambria Math"/>
                <a:cs typeface="Cambria Math"/>
              </a:rPr>
              <a:t>𝑪[𝒊,</a:t>
            </a:r>
            <a:r>
              <a:rPr sz="3600" spc="-225" baseline="33564" dirty="0">
                <a:latin typeface="Cambria Math"/>
                <a:cs typeface="Cambria Math"/>
              </a:rPr>
              <a:t> </a:t>
            </a:r>
            <a:r>
              <a:rPr sz="3600" baseline="33564" dirty="0">
                <a:latin typeface="Cambria Math"/>
                <a:cs typeface="Cambria Math"/>
              </a:rPr>
              <a:t>𝒋]</a:t>
            </a:r>
            <a:r>
              <a:rPr sz="3600" spc="202" baseline="33564" dirty="0">
                <a:latin typeface="Cambria Math"/>
                <a:cs typeface="Cambria Math"/>
              </a:rPr>
              <a:t> </a:t>
            </a:r>
            <a:r>
              <a:rPr sz="3600" baseline="33564" dirty="0">
                <a:latin typeface="Cambria Math"/>
                <a:cs typeface="Cambria Math"/>
              </a:rPr>
              <a:t>=</a:t>
            </a:r>
            <a:r>
              <a:rPr sz="3600" spc="202" baseline="33564" dirty="0">
                <a:latin typeface="Cambria Math"/>
                <a:cs typeface="Cambria Math"/>
              </a:rPr>
              <a:t> </a:t>
            </a:r>
            <a:r>
              <a:rPr lang="zh-CN" altLang="en-US" sz="3600" spc="202" baseline="33564" dirty="0">
                <a:latin typeface="Cambria Math"/>
                <a:cs typeface="Cambria Math"/>
              </a:rPr>
              <a:t>  </a:t>
            </a:r>
            <a:r>
              <a:rPr sz="2400" dirty="0">
                <a:latin typeface="Cambria Math"/>
                <a:cs typeface="Cambria Math"/>
              </a:rPr>
              <a:t>𝑪[𝒊</a:t>
            </a:r>
            <a:r>
              <a:rPr sz="2400" spc="-1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−</a:t>
            </a:r>
            <a:r>
              <a:rPr sz="2400" spc="5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𝟏,</a:t>
            </a:r>
            <a:r>
              <a:rPr sz="2400" spc="-135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𝒋</a:t>
            </a:r>
            <a:r>
              <a:rPr sz="2400" spc="5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−</a:t>
            </a:r>
            <a:r>
              <a:rPr sz="2400" spc="5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𝟏]</a:t>
            </a:r>
            <a:r>
              <a:rPr sz="2400" spc="5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+</a:t>
            </a:r>
            <a:r>
              <a:rPr sz="2400" spc="5" dirty="0">
                <a:latin typeface="Cambria Math"/>
                <a:cs typeface="Cambria Math"/>
              </a:rPr>
              <a:t> </a:t>
            </a:r>
            <a:r>
              <a:rPr sz="2400" spc="-50" dirty="0">
                <a:latin typeface="Cambria Math"/>
                <a:cs typeface="Cambria Math"/>
              </a:rPr>
              <a:t>𝟏</a:t>
            </a:r>
            <a:r>
              <a:rPr sz="2400" dirty="0">
                <a:latin typeface="Cambria Math"/>
                <a:cs typeface="Cambria Math"/>
              </a:rPr>
              <a:t>	,</a:t>
            </a:r>
            <a:r>
              <a:rPr sz="2400" spc="-140" dirty="0">
                <a:latin typeface="Cambria Math"/>
                <a:cs typeface="Cambria Math"/>
              </a:rPr>
              <a:t> </a:t>
            </a:r>
            <a:r>
              <a:rPr sz="2400" spc="-50" dirty="0">
                <a:latin typeface="Cambria Math"/>
                <a:cs typeface="Cambria Math"/>
              </a:rPr>
              <a:t>𝒙</a:t>
            </a:r>
            <a:r>
              <a:rPr sz="2400" dirty="0">
                <a:latin typeface="Cambria Math"/>
                <a:cs typeface="Cambria Math"/>
              </a:rPr>
              <a:t>	=</a:t>
            </a:r>
            <a:r>
              <a:rPr sz="2400" spc="130" dirty="0">
                <a:latin typeface="Cambria Math"/>
                <a:cs typeface="Cambria Math"/>
              </a:rPr>
              <a:t> </a:t>
            </a:r>
            <a:r>
              <a:rPr sz="2400" spc="-50" dirty="0">
                <a:latin typeface="Cambria Math"/>
                <a:cs typeface="Cambria Math"/>
              </a:rPr>
              <a:t>𝒚</a:t>
            </a:r>
            <a:endParaRPr sz="2400" dirty="0">
              <a:latin typeface="Cambria Math"/>
              <a:cs typeface="Cambria Math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3276980" y="2919602"/>
            <a:ext cx="2906395" cy="283845"/>
          </a:xfrm>
          <a:custGeom>
            <a:avLst/>
            <a:gdLst/>
            <a:ahLst/>
            <a:cxnLst/>
            <a:rect l="l" t="t" r="r" b="b"/>
            <a:pathLst>
              <a:path w="2906395" h="283844">
                <a:moveTo>
                  <a:pt x="2815082" y="0"/>
                </a:moveTo>
                <a:lnTo>
                  <a:pt x="2811145" y="0"/>
                </a:lnTo>
                <a:lnTo>
                  <a:pt x="2811145" y="11302"/>
                </a:lnTo>
                <a:lnTo>
                  <a:pt x="2813431" y="11302"/>
                </a:lnTo>
                <a:lnTo>
                  <a:pt x="2823620" y="11995"/>
                </a:lnTo>
                <a:lnTo>
                  <a:pt x="2856357" y="37417"/>
                </a:lnTo>
                <a:lnTo>
                  <a:pt x="2859405" y="59689"/>
                </a:lnTo>
                <a:lnTo>
                  <a:pt x="2859216" y="65164"/>
                </a:lnTo>
                <a:lnTo>
                  <a:pt x="2858658" y="71294"/>
                </a:lnTo>
                <a:lnTo>
                  <a:pt x="2857744" y="78067"/>
                </a:lnTo>
                <a:lnTo>
                  <a:pt x="2856484" y="85471"/>
                </a:lnTo>
                <a:lnTo>
                  <a:pt x="2854452" y="95631"/>
                </a:lnTo>
                <a:lnTo>
                  <a:pt x="2853436" y="102870"/>
                </a:lnTo>
                <a:lnTo>
                  <a:pt x="2853436" y="115697"/>
                </a:lnTo>
                <a:lnTo>
                  <a:pt x="2855976" y="122682"/>
                </a:lnTo>
                <a:lnTo>
                  <a:pt x="2860929" y="128016"/>
                </a:lnTo>
                <a:lnTo>
                  <a:pt x="2865882" y="133476"/>
                </a:lnTo>
                <a:lnTo>
                  <a:pt x="2871724" y="137413"/>
                </a:lnTo>
                <a:lnTo>
                  <a:pt x="2878582" y="140081"/>
                </a:lnTo>
                <a:lnTo>
                  <a:pt x="2878582" y="142748"/>
                </a:lnTo>
                <a:lnTo>
                  <a:pt x="2871724" y="145287"/>
                </a:lnTo>
                <a:lnTo>
                  <a:pt x="2865882" y="149225"/>
                </a:lnTo>
                <a:lnTo>
                  <a:pt x="2855976" y="160147"/>
                </a:lnTo>
                <a:lnTo>
                  <a:pt x="2853436" y="167005"/>
                </a:lnTo>
                <a:lnTo>
                  <a:pt x="2853436" y="179832"/>
                </a:lnTo>
                <a:lnTo>
                  <a:pt x="2854452" y="187071"/>
                </a:lnTo>
                <a:lnTo>
                  <a:pt x="2856484" y="197358"/>
                </a:lnTo>
                <a:lnTo>
                  <a:pt x="2857744" y="204690"/>
                </a:lnTo>
                <a:lnTo>
                  <a:pt x="2858658" y="211439"/>
                </a:lnTo>
                <a:lnTo>
                  <a:pt x="2859216" y="217592"/>
                </a:lnTo>
                <a:lnTo>
                  <a:pt x="2859405" y="223138"/>
                </a:lnTo>
                <a:lnTo>
                  <a:pt x="2858643" y="235592"/>
                </a:lnTo>
                <a:lnTo>
                  <a:pt x="2832655" y="269700"/>
                </a:lnTo>
                <a:lnTo>
                  <a:pt x="2813431" y="272542"/>
                </a:lnTo>
                <a:lnTo>
                  <a:pt x="2811145" y="272542"/>
                </a:lnTo>
                <a:lnTo>
                  <a:pt x="2811145" y="283845"/>
                </a:lnTo>
                <a:lnTo>
                  <a:pt x="2815082" y="283845"/>
                </a:lnTo>
                <a:lnTo>
                  <a:pt x="2831437" y="282630"/>
                </a:lnTo>
                <a:lnTo>
                  <a:pt x="2867406" y="267843"/>
                </a:lnTo>
                <a:lnTo>
                  <a:pt x="2884678" y="220345"/>
                </a:lnTo>
                <a:lnTo>
                  <a:pt x="2884463" y="214012"/>
                </a:lnTo>
                <a:lnTo>
                  <a:pt x="2883820" y="207216"/>
                </a:lnTo>
                <a:lnTo>
                  <a:pt x="2882749" y="199967"/>
                </a:lnTo>
                <a:lnTo>
                  <a:pt x="2881249" y="192277"/>
                </a:lnTo>
                <a:lnTo>
                  <a:pt x="2878836" y="181737"/>
                </a:lnTo>
                <a:lnTo>
                  <a:pt x="2877693" y="174751"/>
                </a:lnTo>
                <a:lnTo>
                  <a:pt x="2877693" y="164337"/>
                </a:lnTo>
                <a:lnTo>
                  <a:pt x="2880106" y="158750"/>
                </a:lnTo>
                <a:lnTo>
                  <a:pt x="2889504" y="150113"/>
                </a:lnTo>
                <a:lnTo>
                  <a:pt x="2896616" y="147827"/>
                </a:lnTo>
                <a:lnTo>
                  <a:pt x="2906141" y="147447"/>
                </a:lnTo>
                <a:lnTo>
                  <a:pt x="2906141" y="135255"/>
                </a:lnTo>
                <a:lnTo>
                  <a:pt x="2896616" y="135000"/>
                </a:lnTo>
                <a:lnTo>
                  <a:pt x="2889504" y="132714"/>
                </a:lnTo>
                <a:lnTo>
                  <a:pt x="2880106" y="124079"/>
                </a:lnTo>
                <a:lnTo>
                  <a:pt x="2877693" y="118491"/>
                </a:lnTo>
                <a:lnTo>
                  <a:pt x="2877693" y="108076"/>
                </a:lnTo>
                <a:lnTo>
                  <a:pt x="2878836" y="100964"/>
                </a:lnTo>
                <a:lnTo>
                  <a:pt x="2881249" y="90424"/>
                </a:lnTo>
                <a:lnTo>
                  <a:pt x="2882749" y="82805"/>
                </a:lnTo>
                <a:lnTo>
                  <a:pt x="2883820" y="75580"/>
                </a:lnTo>
                <a:lnTo>
                  <a:pt x="2884463" y="68760"/>
                </a:lnTo>
                <a:lnTo>
                  <a:pt x="2884678" y="62357"/>
                </a:lnTo>
                <a:lnTo>
                  <a:pt x="2883604" y="47827"/>
                </a:lnTo>
                <a:lnTo>
                  <a:pt x="2857623" y="9215"/>
                </a:lnTo>
                <a:lnTo>
                  <a:pt x="2831437" y="1214"/>
                </a:lnTo>
                <a:lnTo>
                  <a:pt x="2815082" y="0"/>
                </a:lnTo>
                <a:close/>
              </a:path>
              <a:path w="2906395" h="283844">
                <a:moveTo>
                  <a:pt x="94996" y="0"/>
                </a:moveTo>
                <a:lnTo>
                  <a:pt x="91186" y="0"/>
                </a:lnTo>
                <a:lnTo>
                  <a:pt x="74777" y="1214"/>
                </a:lnTo>
                <a:lnTo>
                  <a:pt x="38862" y="16001"/>
                </a:lnTo>
                <a:lnTo>
                  <a:pt x="21664" y="59562"/>
                </a:lnTo>
                <a:lnTo>
                  <a:pt x="21558" y="65035"/>
                </a:lnTo>
                <a:lnTo>
                  <a:pt x="21679" y="68615"/>
                </a:lnTo>
                <a:lnTo>
                  <a:pt x="22336" y="75406"/>
                </a:lnTo>
                <a:lnTo>
                  <a:pt x="23445" y="82625"/>
                </a:lnTo>
                <a:lnTo>
                  <a:pt x="25019" y="90297"/>
                </a:lnTo>
                <a:lnTo>
                  <a:pt x="27305" y="100837"/>
                </a:lnTo>
                <a:lnTo>
                  <a:pt x="28448" y="107823"/>
                </a:lnTo>
                <a:lnTo>
                  <a:pt x="28448" y="118363"/>
                </a:lnTo>
                <a:lnTo>
                  <a:pt x="26162" y="123825"/>
                </a:lnTo>
                <a:lnTo>
                  <a:pt x="21336" y="128143"/>
                </a:lnTo>
                <a:lnTo>
                  <a:pt x="16637" y="132461"/>
                </a:lnTo>
                <a:lnTo>
                  <a:pt x="9525" y="134874"/>
                </a:lnTo>
                <a:lnTo>
                  <a:pt x="0" y="135127"/>
                </a:lnTo>
                <a:lnTo>
                  <a:pt x="0" y="147320"/>
                </a:lnTo>
                <a:lnTo>
                  <a:pt x="9525" y="147574"/>
                </a:lnTo>
                <a:lnTo>
                  <a:pt x="16637" y="149987"/>
                </a:lnTo>
                <a:lnTo>
                  <a:pt x="21336" y="154305"/>
                </a:lnTo>
                <a:lnTo>
                  <a:pt x="26162" y="158623"/>
                </a:lnTo>
                <a:lnTo>
                  <a:pt x="28448" y="164084"/>
                </a:lnTo>
                <a:lnTo>
                  <a:pt x="28448" y="174498"/>
                </a:lnTo>
                <a:lnTo>
                  <a:pt x="27305" y="181610"/>
                </a:lnTo>
                <a:lnTo>
                  <a:pt x="25019" y="192150"/>
                </a:lnTo>
                <a:lnTo>
                  <a:pt x="23445" y="199822"/>
                </a:lnTo>
                <a:lnTo>
                  <a:pt x="22336" y="207041"/>
                </a:lnTo>
                <a:lnTo>
                  <a:pt x="21679" y="213832"/>
                </a:lnTo>
                <a:lnTo>
                  <a:pt x="21463" y="220218"/>
                </a:lnTo>
                <a:lnTo>
                  <a:pt x="22556" y="235267"/>
                </a:lnTo>
                <a:lnTo>
                  <a:pt x="48627" y="274629"/>
                </a:lnTo>
                <a:lnTo>
                  <a:pt x="91186" y="283845"/>
                </a:lnTo>
                <a:lnTo>
                  <a:pt x="94996" y="283845"/>
                </a:lnTo>
                <a:lnTo>
                  <a:pt x="94996" y="272542"/>
                </a:lnTo>
                <a:lnTo>
                  <a:pt x="92710" y="272542"/>
                </a:lnTo>
                <a:lnTo>
                  <a:pt x="82520" y="271829"/>
                </a:lnTo>
                <a:lnTo>
                  <a:pt x="49784" y="246062"/>
                </a:lnTo>
                <a:lnTo>
                  <a:pt x="46736" y="222885"/>
                </a:lnTo>
                <a:lnTo>
                  <a:pt x="46926" y="217412"/>
                </a:lnTo>
                <a:lnTo>
                  <a:pt x="47498" y="211296"/>
                </a:lnTo>
                <a:lnTo>
                  <a:pt x="48450" y="204561"/>
                </a:lnTo>
                <a:lnTo>
                  <a:pt x="49784" y="197231"/>
                </a:lnTo>
                <a:lnTo>
                  <a:pt x="51689" y="186944"/>
                </a:lnTo>
                <a:lnTo>
                  <a:pt x="52705" y="179705"/>
                </a:lnTo>
                <a:lnTo>
                  <a:pt x="52705" y="166877"/>
                </a:lnTo>
                <a:lnTo>
                  <a:pt x="50292" y="159893"/>
                </a:lnTo>
                <a:lnTo>
                  <a:pt x="45339" y="154559"/>
                </a:lnTo>
                <a:lnTo>
                  <a:pt x="40386" y="149098"/>
                </a:lnTo>
                <a:lnTo>
                  <a:pt x="34417" y="145161"/>
                </a:lnTo>
                <a:lnTo>
                  <a:pt x="27559" y="142621"/>
                </a:lnTo>
                <a:lnTo>
                  <a:pt x="27559" y="139826"/>
                </a:lnTo>
                <a:lnTo>
                  <a:pt x="34417" y="137287"/>
                </a:lnTo>
                <a:lnTo>
                  <a:pt x="40386" y="133350"/>
                </a:lnTo>
                <a:lnTo>
                  <a:pt x="45339" y="127888"/>
                </a:lnTo>
                <a:lnTo>
                  <a:pt x="50292" y="122555"/>
                </a:lnTo>
                <a:lnTo>
                  <a:pt x="52705" y="115570"/>
                </a:lnTo>
                <a:lnTo>
                  <a:pt x="52705" y="102743"/>
                </a:lnTo>
                <a:lnTo>
                  <a:pt x="51689" y="95504"/>
                </a:lnTo>
                <a:lnTo>
                  <a:pt x="49784" y="85217"/>
                </a:lnTo>
                <a:lnTo>
                  <a:pt x="48450" y="77886"/>
                </a:lnTo>
                <a:lnTo>
                  <a:pt x="47498" y="71151"/>
                </a:lnTo>
                <a:lnTo>
                  <a:pt x="46926" y="65035"/>
                </a:lnTo>
                <a:lnTo>
                  <a:pt x="46736" y="59562"/>
                </a:lnTo>
                <a:lnTo>
                  <a:pt x="47498" y="47535"/>
                </a:lnTo>
                <a:lnTo>
                  <a:pt x="73485" y="14081"/>
                </a:lnTo>
                <a:lnTo>
                  <a:pt x="92710" y="11302"/>
                </a:lnTo>
                <a:lnTo>
                  <a:pt x="94996" y="11302"/>
                </a:lnTo>
                <a:lnTo>
                  <a:pt x="9499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2620010" y="2831084"/>
            <a:ext cx="466534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𝐦𝐚𝐱</a:t>
            </a:r>
            <a:r>
              <a:rPr sz="2400" spc="409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𝑪[𝒊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−</a:t>
            </a:r>
            <a:r>
              <a:rPr sz="2400" spc="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𝟏,</a:t>
            </a:r>
            <a:r>
              <a:rPr sz="2400" spc="-130">
                <a:latin typeface="Cambria Math"/>
                <a:cs typeface="Cambria Math"/>
              </a:rPr>
              <a:t> </a:t>
            </a:r>
            <a:r>
              <a:rPr sz="2400" spc="-10">
                <a:latin typeface="Cambria Math"/>
                <a:cs typeface="Cambria Math"/>
              </a:rPr>
              <a:t>𝒋],</a:t>
            </a:r>
            <a:r>
              <a:rPr sz="2400" spc="-140">
                <a:latin typeface="Cambria Math"/>
                <a:cs typeface="Cambria Math"/>
              </a:rPr>
              <a:t> </a:t>
            </a:r>
            <a:r>
              <a:rPr sz="2400" spc="-10">
                <a:latin typeface="Cambria Math"/>
                <a:cs typeface="Cambria Math"/>
              </a:rPr>
              <a:t>𝑪[𝒊,</a:t>
            </a:r>
            <a:r>
              <a:rPr sz="2400" spc="-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𝒋</a:t>
            </a:r>
            <a:r>
              <a:rPr sz="2400" spc="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−</a:t>
            </a:r>
            <a:r>
              <a:rPr sz="2400" spc="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𝟏]</a:t>
            </a:r>
            <a:r>
              <a:rPr sz="2400" spc="40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,</a:t>
            </a:r>
            <a:r>
              <a:rPr sz="2400" spc="-13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𝒙</a:t>
            </a:r>
            <a:r>
              <a:rPr sz="2625" baseline="-15873">
                <a:latin typeface="Cambria Math"/>
                <a:cs typeface="Cambria Math"/>
              </a:rPr>
              <a:t>𝒊</a:t>
            </a:r>
            <a:r>
              <a:rPr sz="2625" spc="577" baseline="-15873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≠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𝒚</a:t>
            </a:r>
            <a:r>
              <a:rPr sz="2625" spc="-37" baseline="-15873">
                <a:latin typeface="Cambria Math"/>
                <a:cs typeface="Cambria Math"/>
              </a:rPr>
              <a:t>𝒋</a:t>
            </a:r>
            <a:endParaRPr sz="2625" baseline="-15873">
              <a:latin typeface="Cambria Math"/>
              <a:cs typeface="Cambria Math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428994" y="3399535"/>
            <a:ext cx="786130" cy="2927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685800" algn="l"/>
              </a:tabLst>
            </a:pPr>
            <a:r>
              <a:rPr sz="1750" spc="-50">
                <a:latin typeface="Cambria Math"/>
                <a:cs typeface="Cambria Math"/>
              </a:rPr>
              <a:t>𝒊</a:t>
            </a:r>
            <a:r>
              <a:rPr sz="1750">
                <a:latin typeface="Cambria Math"/>
                <a:cs typeface="Cambria Math"/>
              </a:rPr>
              <a:t>	</a:t>
            </a:r>
            <a:r>
              <a:rPr sz="1750" spc="-50">
                <a:latin typeface="Cambria Math"/>
                <a:cs typeface="Cambria Math"/>
              </a:rPr>
              <a:t>𝒋</a:t>
            </a:r>
            <a:endParaRPr sz="1750">
              <a:latin typeface="Cambria Math"/>
              <a:cs typeface="Cambria Math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686051" y="3802995"/>
            <a:ext cx="5316855" cy="24244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875"/>
              </a:lnSpc>
              <a:tabLst>
                <a:tab pos="998855" algn="l"/>
                <a:tab pos="1950085" algn="l"/>
                <a:tab pos="2897505" algn="l"/>
                <a:tab pos="4004945" algn="l"/>
                <a:tab pos="4750435" algn="l"/>
              </a:tabLst>
            </a:pPr>
            <a:r>
              <a:rPr sz="1700" spc="-10">
                <a:solidFill>
                  <a:srgbClr val="FFFFFF"/>
                </a:solidFill>
                <a:latin typeface="Cambria Math"/>
                <a:cs typeface="Cambria Math"/>
              </a:rPr>
              <a:t>𝑫[𝒊,</a:t>
            </a:r>
            <a:r>
              <a:rPr sz="1700" spc="-9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 spc="-25">
                <a:solidFill>
                  <a:srgbClr val="FFFFFF"/>
                </a:solidFill>
                <a:latin typeface="Cambria Math"/>
                <a:cs typeface="Cambria Math"/>
              </a:rPr>
              <a:t>𝒋]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	𝒋</a:t>
            </a:r>
            <a:r>
              <a:rPr sz="1700" spc="8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=</a:t>
            </a:r>
            <a:r>
              <a:rPr sz="1700" spc="9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 spc="-50">
                <a:solidFill>
                  <a:srgbClr val="FFFFFF"/>
                </a:solidFill>
                <a:latin typeface="Cambria Math"/>
                <a:cs typeface="Cambria Math"/>
              </a:rPr>
              <a:t>𝟎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	𝒋</a:t>
            </a:r>
            <a:r>
              <a:rPr sz="1700" spc="8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=</a:t>
            </a:r>
            <a:r>
              <a:rPr sz="1700" spc="9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 spc="-50">
                <a:solidFill>
                  <a:srgbClr val="FFFFFF"/>
                </a:solidFill>
                <a:latin typeface="Cambria Math"/>
                <a:cs typeface="Cambria Math"/>
              </a:rPr>
              <a:t>1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	𝒋</a:t>
            </a:r>
            <a:r>
              <a:rPr sz="1700" spc="8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=</a:t>
            </a:r>
            <a:r>
              <a:rPr sz="1700" spc="9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 spc="-50">
                <a:solidFill>
                  <a:srgbClr val="FFFFFF"/>
                </a:solidFill>
                <a:latin typeface="Cambria Math"/>
                <a:cs typeface="Cambria Math"/>
              </a:rPr>
              <a:t>2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	</a:t>
            </a:r>
            <a:r>
              <a:rPr sz="1700" b="1" spc="-50">
                <a:solidFill>
                  <a:srgbClr val="FFFFFF"/>
                </a:solidFill>
                <a:latin typeface="Arial"/>
                <a:cs typeface="Arial"/>
              </a:rPr>
              <a:t>…</a:t>
            </a:r>
            <a:r>
              <a:rPr sz="1700" b="1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𝒋</a:t>
            </a:r>
            <a:r>
              <a:rPr sz="1700" spc="8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=</a:t>
            </a:r>
            <a:r>
              <a:rPr sz="1700" spc="9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 spc="-50">
                <a:solidFill>
                  <a:srgbClr val="FFFFFF"/>
                </a:solidFill>
                <a:latin typeface="Cambria Math"/>
                <a:cs typeface="Cambria Math"/>
              </a:rPr>
              <a:t>𝒎</a:t>
            </a:r>
            <a:endParaRPr sz="1700">
              <a:latin typeface="Cambria Math"/>
              <a:cs typeface="Cambria Math"/>
            </a:endParaRPr>
          </a:p>
          <a:p>
            <a:pPr marL="40640">
              <a:lnSpc>
                <a:spcPct val="100000"/>
              </a:lnSpc>
              <a:spcBef>
                <a:spcPts val="1390"/>
              </a:spcBef>
              <a:tabLst>
                <a:tab pos="1218565" algn="l"/>
                <a:tab pos="2165985" algn="l"/>
                <a:tab pos="3112135" algn="l"/>
                <a:tab pos="4058920" algn="l"/>
                <a:tab pos="5005705" algn="l"/>
              </a:tabLst>
            </a:pPr>
            <a:r>
              <a:rPr sz="1700">
                <a:latin typeface="Cambria Math"/>
                <a:cs typeface="Cambria Math"/>
              </a:rPr>
              <a:t>𝑖</a:t>
            </a:r>
            <a:r>
              <a:rPr sz="1700" spc="145">
                <a:latin typeface="Cambria Math"/>
                <a:cs typeface="Cambria Math"/>
              </a:rPr>
              <a:t> </a:t>
            </a:r>
            <a:r>
              <a:rPr sz="1700">
                <a:latin typeface="Cambria Math"/>
                <a:cs typeface="Cambria Math"/>
              </a:rPr>
              <a:t>=</a:t>
            </a:r>
            <a:r>
              <a:rPr sz="1700" spc="100">
                <a:latin typeface="Cambria Math"/>
                <a:cs typeface="Cambria Math"/>
              </a:rPr>
              <a:t> </a:t>
            </a:r>
            <a:r>
              <a:rPr sz="1700" spc="-50">
                <a:latin typeface="Cambria Math"/>
                <a:cs typeface="Cambria Math"/>
              </a:rPr>
              <a:t>0</a:t>
            </a:r>
            <a:r>
              <a:rPr sz="1700">
                <a:latin typeface="Cambria Math"/>
                <a:cs typeface="Cambria Math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r>
              <a:rPr sz="1700">
                <a:latin typeface="Times New Roman"/>
                <a:cs typeface="Times New Roman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r>
              <a:rPr sz="1700">
                <a:latin typeface="Times New Roman"/>
                <a:cs typeface="Times New Roman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r>
              <a:rPr sz="1700">
                <a:latin typeface="Times New Roman"/>
                <a:cs typeface="Times New Roman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r>
              <a:rPr sz="1700">
                <a:latin typeface="Times New Roman"/>
                <a:cs typeface="Times New Roman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endParaRPr sz="1700">
              <a:latin typeface="Times New Roman"/>
              <a:cs typeface="Times New Roman"/>
            </a:endParaRPr>
          </a:p>
          <a:p>
            <a:pPr marR="3981450" algn="r">
              <a:lnSpc>
                <a:spcPct val="100000"/>
              </a:lnSpc>
              <a:spcBef>
                <a:spcPts val="1400"/>
              </a:spcBef>
              <a:tabLst>
                <a:tab pos="1177925" algn="l"/>
              </a:tabLst>
            </a:pPr>
            <a:r>
              <a:rPr sz="1700">
                <a:latin typeface="Cambria Math"/>
                <a:cs typeface="Cambria Math"/>
              </a:rPr>
              <a:t>𝑖</a:t>
            </a:r>
            <a:r>
              <a:rPr sz="1700" spc="135">
                <a:latin typeface="Cambria Math"/>
                <a:cs typeface="Cambria Math"/>
              </a:rPr>
              <a:t> </a:t>
            </a:r>
            <a:r>
              <a:rPr sz="1700">
                <a:latin typeface="Cambria Math"/>
                <a:cs typeface="Cambria Math"/>
              </a:rPr>
              <a:t>=</a:t>
            </a:r>
            <a:r>
              <a:rPr sz="1700" spc="90">
                <a:latin typeface="Cambria Math"/>
                <a:cs typeface="Cambria Math"/>
              </a:rPr>
              <a:t> </a:t>
            </a:r>
            <a:r>
              <a:rPr sz="1700" spc="-50">
                <a:latin typeface="Cambria Math"/>
                <a:cs typeface="Cambria Math"/>
              </a:rPr>
              <a:t>1</a:t>
            </a:r>
            <a:r>
              <a:rPr sz="1700">
                <a:latin typeface="Cambria Math"/>
                <a:cs typeface="Cambria Math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endParaRPr sz="1700">
              <a:latin typeface="Times New Roman"/>
              <a:cs typeface="Times New Roman"/>
            </a:endParaRPr>
          </a:p>
          <a:p>
            <a:pPr marR="3981450" algn="r">
              <a:lnSpc>
                <a:spcPct val="100000"/>
              </a:lnSpc>
              <a:spcBef>
                <a:spcPts val="1390"/>
              </a:spcBef>
              <a:tabLst>
                <a:tab pos="1177925" algn="l"/>
              </a:tabLst>
            </a:pPr>
            <a:r>
              <a:rPr sz="1700">
                <a:latin typeface="Cambria Math"/>
                <a:cs typeface="Cambria Math"/>
              </a:rPr>
              <a:t>𝑖</a:t>
            </a:r>
            <a:r>
              <a:rPr sz="1700" spc="135">
                <a:latin typeface="Cambria Math"/>
                <a:cs typeface="Cambria Math"/>
              </a:rPr>
              <a:t> </a:t>
            </a:r>
            <a:r>
              <a:rPr sz="1700">
                <a:latin typeface="Cambria Math"/>
                <a:cs typeface="Cambria Math"/>
              </a:rPr>
              <a:t>=</a:t>
            </a:r>
            <a:r>
              <a:rPr sz="1700" spc="90">
                <a:latin typeface="Cambria Math"/>
                <a:cs typeface="Cambria Math"/>
              </a:rPr>
              <a:t> </a:t>
            </a:r>
            <a:r>
              <a:rPr sz="1700" spc="-50">
                <a:latin typeface="Cambria Math"/>
                <a:cs typeface="Cambria Math"/>
              </a:rPr>
              <a:t>2</a:t>
            </a:r>
            <a:r>
              <a:rPr sz="1700">
                <a:latin typeface="Cambria Math"/>
                <a:cs typeface="Cambria Math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endParaRPr sz="1700">
              <a:latin typeface="Times New Roman"/>
              <a:cs typeface="Times New Roman"/>
            </a:endParaRPr>
          </a:p>
          <a:p>
            <a:pPr marR="3981450" algn="r">
              <a:lnSpc>
                <a:spcPct val="100000"/>
              </a:lnSpc>
              <a:spcBef>
                <a:spcPts val="1395"/>
              </a:spcBef>
              <a:tabLst>
                <a:tab pos="1020444" algn="l"/>
              </a:tabLst>
            </a:pPr>
            <a:r>
              <a:rPr sz="1700" spc="-50">
                <a:latin typeface="Cambria Math"/>
                <a:cs typeface="Cambria Math"/>
              </a:rPr>
              <a:t>…</a:t>
            </a:r>
            <a:r>
              <a:rPr sz="1700">
                <a:latin typeface="Cambria Math"/>
                <a:cs typeface="Cambria Math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endParaRPr sz="1700">
              <a:latin typeface="Times New Roman"/>
              <a:cs typeface="Times New Roman"/>
            </a:endParaRPr>
          </a:p>
          <a:p>
            <a:pPr marR="3981450" algn="r">
              <a:lnSpc>
                <a:spcPct val="100000"/>
              </a:lnSpc>
              <a:spcBef>
                <a:spcPts val="1395"/>
              </a:spcBef>
              <a:tabLst>
                <a:tab pos="1182370" algn="l"/>
              </a:tabLst>
            </a:pPr>
            <a:r>
              <a:rPr sz="1700">
                <a:latin typeface="Cambria Math"/>
                <a:cs typeface="Cambria Math"/>
              </a:rPr>
              <a:t>𝑖</a:t>
            </a:r>
            <a:r>
              <a:rPr sz="1700" spc="145">
                <a:latin typeface="Cambria Math"/>
                <a:cs typeface="Cambria Math"/>
              </a:rPr>
              <a:t> </a:t>
            </a:r>
            <a:r>
              <a:rPr sz="1700">
                <a:latin typeface="Cambria Math"/>
                <a:cs typeface="Cambria Math"/>
              </a:rPr>
              <a:t>=</a:t>
            </a:r>
            <a:r>
              <a:rPr sz="1700" spc="90">
                <a:latin typeface="Cambria Math"/>
                <a:cs typeface="Cambria Math"/>
              </a:rPr>
              <a:t> </a:t>
            </a:r>
            <a:r>
              <a:rPr sz="1700" spc="-50">
                <a:latin typeface="Cambria Math"/>
                <a:cs typeface="Cambria Math"/>
              </a:rPr>
              <a:t>𝑛</a:t>
            </a:r>
            <a:r>
              <a:rPr sz="1700">
                <a:latin typeface="Cambria Math"/>
                <a:cs typeface="Cambria Math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endParaRPr sz="1700">
              <a:latin typeface="Times New Roman"/>
              <a:cs typeface="Times New Roman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1497838" y="3702786"/>
            <a:ext cx="5721985" cy="2616835"/>
            <a:chOff x="1497838" y="3702786"/>
            <a:chExt cx="5721985" cy="2616835"/>
          </a:xfrm>
        </p:grpSpPr>
        <p:sp>
          <p:nvSpPr>
            <p:cNvPr id="13" name="object 13"/>
            <p:cNvSpPr/>
            <p:nvPr/>
          </p:nvSpPr>
          <p:spPr>
            <a:xfrm>
              <a:off x="1497838" y="3702786"/>
              <a:ext cx="5721985" cy="2616835"/>
            </a:xfrm>
            <a:custGeom>
              <a:avLst/>
              <a:gdLst/>
              <a:ahLst/>
              <a:cxnLst/>
              <a:rect l="l" t="t" r="r" b="b"/>
              <a:pathLst>
                <a:path w="5721984" h="2616835">
                  <a:moveTo>
                    <a:pt x="5721477" y="0"/>
                  </a:moveTo>
                  <a:lnTo>
                    <a:pt x="0" y="0"/>
                  </a:lnTo>
                  <a:lnTo>
                    <a:pt x="0" y="2616581"/>
                  </a:lnTo>
                  <a:lnTo>
                    <a:pt x="5721477" y="2616581"/>
                  </a:lnTo>
                  <a:lnTo>
                    <a:pt x="5721477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379341" y="5011051"/>
              <a:ext cx="1893570" cy="436245"/>
            </a:xfrm>
            <a:custGeom>
              <a:avLst/>
              <a:gdLst/>
              <a:ahLst/>
              <a:cxnLst/>
              <a:rect l="l" t="t" r="r" b="b"/>
              <a:pathLst>
                <a:path w="1893570" h="436245">
                  <a:moveTo>
                    <a:pt x="946670" y="0"/>
                  </a:moveTo>
                  <a:lnTo>
                    <a:pt x="0" y="0"/>
                  </a:lnTo>
                  <a:lnTo>
                    <a:pt x="0" y="436105"/>
                  </a:lnTo>
                  <a:lnTo>
                    <a:pt x="946670" y="436105"/>
                  </a:lnTo>
                  <a:lnTo>
                    <a:pt x="946670" y="0"/>
                  </a:lnTo>
                  <a:close/>
                </a:path>
                <a:path w="1893570" h="436245">
                  <a:moveTo>
                    <a:pt x="1893455" y="0"/>
                  </a:moveTo>
                  <a:lnTo>
                    <a:pt x="946785" y="0"/>
                  </a:lnTo>
                  <a:lnTo>
                    <a:pt x="946785" y="436105"/>
                  </a:lnTo>
                  <a:lnTo>
                    <a:pt x="1893455" y="436105"/>
                  </a:lnTo>
                  <a:lnTo>
                    <a:pt x="1893455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379341" y="5447157"/>
              <a:ext cx="1893570" cy="436245"/>
            </a:xfrm>
            <a:custGeom>
              <a:avLst/>
              <a:gdLst/>
              <a:ahLst/>
              <a:cxnLst/>
              <a:rect l="l" t="t" r="r" b="b"/>
              <a:pathLst>
                <a:path w="1893570" h="436245">
                  <a:moveTo>
                    <a:pt x="946670" y="0"/>
                  </a:moveTo>
                  <a:lnTo>
                    <a:pt x="0" y="0"/>
                  </a:lnTo>
                  <a:lnTo>
                    <a:pt x="0" y="436105"/>
                  </a:lnTo>
                  <a:lnTo>
                    <a:pt x="946670" y="436105"/>
                  </a:lnTo>
                  <a:lnTo>
                    <a:pt x="946670" y="0"/>
                  </a:lnTo>
                  <a:close/>
                </a:path>
                <a:path w="1893570" h="436245">
                  <a:moveTo>
                    <a:pt x="1893455" y="0"/>
                  </a:moveTo>
                  <a:lnTo>
                    <a:pt x="946785" y="0"/>
                  </a:lnTo>
                  <a:lnTo>
                    <a:pt x="946785" y="436105"/>
                  </a:lnTo>
                  <a:lnTo>
                    <a:pt x="1893455" y="436105"/>
                  </a:lnTo>
                  <a:lnTo>
                    <a:pt x="1893455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6" name="object 16"/>
          <p:cNvGraphicFramePr>
            <a:graphicFrameLocks noGrp="1"/>
          </p:cNvGraphicFramePr>
          <p:nvPr/>
        </p:nvGraphicFramePr>
        <p:xfrm>
          <a:off x="1491488" y="3694303"/>
          <a:ext cx="5721984" cy="26149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880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467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36880">
                <a:tc>
                  <a:txBody>
                    <a:bodyPr/>
                    <a:lstStyle/>
                    <a:p>
                      <a:pPr marR="45720"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sz="17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𝑪[𝒊,</a:t>
                      </a:r>
                      <a:r>
                        <a:rPr sz="1700" spc="-9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𝒋]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25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25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4450"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𝟏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25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4450"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𝟐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25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sz="1700" b="1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…</a:t>
                      </a:r>
                      <a:endParaRPr sz="1700">
                        <a:latin typeface="Arial"/>
                        <a:cs typeface="Arial"/>
                      </a:endParaRPr>
                    </a:p>
                  </a:txBody>
                  <a:tcPr marL="0" marR="0" marT="825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𝒎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25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latin typeface="Cambria Math"/>
                          <a:cs typeface="Cambria Math"/>
                        </a:rPr>
                        <a:t>𝟎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latin typeface="Cambria Math"/>
                          <a:cs typeface="Cambria Math"/>
                        </a:rPr>
                        <a:t>𝟏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latin typeface="Cambria Math"/>
                          <a:cs typeface="Cambria Math"/>
                        </a:rPr>
                        <a:t>𝟐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72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572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spc="-10">
                          <a:latin typeface="Cambria Math"/>
                          <a:cs typeface="Cambria Math"/>
                        </a:rPr>
                        <a:t>𝑪[𝒊,</a:t>
                      </a:r>
                      <a:r>
                        <a:rPr sz="1700" spc="-10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25">
                          <a:latin typeface="Cambria Math"/>
                          <a:cs typeface="Cambria Math"/>
                        </a:rPr>
                        <a:t>𝒋]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7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60">
                          <a:latin typeface="Cambria Math"/>
                          <a:cs typeface="Cambria Math"/>
                        </a:rPr>
                        <a:t>𝒏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7" name="object 17"/>
          <p:cNvSpPr/>
          <p:nvPr/>
        </p:nvSpPr>
        <p:spPr>
          <a:xfrm>
            <a:off x="4920107" y="5136641"/>
            <a:ext cx="1043305" cy="624205"/>
          </a:xfrm>
          <a:custGeom>
            <a:avLst/>
            <a:gdLst/>
            <a:ahLst/>
            <a:cxnLst/>
            <a:rect l="l" t="t" r="r" b="b"/>
            <a:pathLst>
              <a:path w="1043303" h="624204">
                <a:moveTo>
                  <a:pt x="561467" y="566928"/>
                </a:moveTo>
                <a:lnTo>
                  <a:pt x="523367" y="547878"/>
                </a:lnTo>
                <a:lnTo>
                  <a:pt x="447167" y="509778"/>
                </a:lnTo>
                <a:lnTo>
                  <a:pt x="447167" y="547878"/>
                </a:lnTo>
                <a:lnTo>
                  <a:pt x="8509" y="547878"/>
                </a:lnTo>
                <a:lnTo>
                  <a:pt x="8509" y="585978"/>
                </a:lnTo>
                <a:lnTo>
                  <a:pt x="447167" y="585978"/>
                </a:lnTo>
                <a:lnTo>
                  <a:pt x="447167" y="624078"/>
                </a:lnTo>
                <a:lnTo>
                  <a:pt x="523367" y="585978"/>
                </a:lnTo>
                <a:lnTo>
                  <a:pt x="561467" y="566928"/>
                </a:lnTo>
                <a:close/>
              </a:path>
              <a:path w="1043303" h="624204">
                <a:moveTo>
                  <a:pt x="615950" y="390906"/>
                </a:moveTo>
                <a:lnTo>
                  <a:pt x="596874" y="365633"/>
                </a:lnTo>
                <a:lnTo>
                  <a:pt x="538988" y="288925"/>
                </a:lnTo>
                <a:lnTo>
                  <a:pt x="522071" y="323011"/>
                </a:lnTo>
                <a:lnTo>
                  <a:pt x="17018" y="72136"/>
                </a:lnTo>
                <a:lnTo>
                  <a:pt x="0" y="106172"/>
                </a:lnTo>
                <a:lnTo>
                  <a:pt x="505104" y="357200"/>
                </a:lnTo>
                <a:lnTo>
                  <a:pt x="488188" y="391287"/>
                </a:lnTo>
                <a:lnTo>
                  <a:pt x="615950" y="390906"/>
                </a:lnTo>
                <a:close/>
              </a:path>
              <a:path w="1043303" h="624204">
                <a:moveTo>
                  <a:pt x="1043305" y="275971"/>
                </a:moveTo>
                <a:lnTo>
                  <a:pt x="1005205" y="275971"/>
                </a:lnTo>
                <a:lnTo>
                  <a:pt x="1005205" y="0"/>
                </a:lnTo>
                <a:lnTo>
                  <a:pt x="967105" y="0"/>
                </a:lnTo>
                <a:lnTo>
                  <a:pt x="967105" y="275971"/>
                </a:lnTo>
                <a:lnTo>
                  <a:pt x="929005" y="275971"/>
                </a:lnTo>
                <a:lnTo>
                  <a:pt x="986155" y="390271"/>
                </a:lnTo>
                <a:lnTo>
                  <a:pt x="1033780" y="295021"/>
                </a:lnTo>
                <a:lnTo>
                  <a:pt x="1043305" y="2759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670160" y="1018413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 txBox="1"/>
          <p:nvPr/>
        </p:nvSpPr>
        <p:spPr>
          <a:xfrm>
            <a:off x="9899650" y="1314449"/>
            <a:ext cx="1397000" cy="3003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20">
                <a:solidFill>
                  <a:srgbClr val="FFFFFF"/>
                </a:solidFill>
                <a:latin typeface="PMingLiU"/>
                <a:cs typeface="PMingLiU"/>
              </a:rPr>
              <a:t>问题结构分析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10378440" y="2052827"/>
            <a:ext cx="439420" cy="367030"/>
          </a:xfrm>
          <a:custGeom>
            <a:avLst/>
            <a:gdLst/>
            <a:ahLst/>
            <a:cxnLst/>
            <a:rect l="l" t="t" r="r" b="b"/>
            <a:pathLst>
              <a:path w="439420" h="367030">
                <a:moveTo>
                  <a:pt x="351154" y="0"/>
                </a:moveTo>
                <a:lnTo>
                  <a:pt x="87756" y="0"/>
                </a:lnTo>
                <a:lnTo>
                  <a:pt x="87756" y="183261"/>
                </a:lnTo>
                <a:lnTo>
                  <a:pt x="0" y="183261"/>
                </a:lnTo>
                <a:lnTo>
                  <a:pt x="219455" y="366522"/>
                </a:lnTo>
                <a:lnTo>
                  <a:pt x="438911" y="183261"/>
                </a:lnTo>
                <a:lnTo>
                  <a:pt x="351154" y="183261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9670160" y="2480691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 txBox="1"/>
          <p:nvPr/>
        </p:nvSpPr>
        <p:spPr>
          <a:xfrm>
            <a:off x="9899650" y="2776982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递推关系建立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10378440" y="3515105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9"/>
                </a:lnTo>
                <a:lnTo>
                  <a:pt x="0" y="182499"/>
                </a:lnTo>
                <a:lnTo>
                  <a:pt x="219455" y="364998"/>
                </a:lnTo>
                <a:lnTo>
                  <a:pt x="438911" y="182499"/>
                </a:lnTo>
                <a:lnTo>
                  <a:pt x="351154" y="182499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9670160" y="3941445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8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8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83C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9899650" y="4237735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自底向上计算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10378440" y="4975859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8"/>
                </a:lnTo>
                <a:lnTo>
                  <a:pt x="0" y="182498"/>
                </a:lnTo>
                <a:lnTo>
                  <a:pt x="219455" y="364997"/>
                </a:lnTo>
                <a:lnTo>
                  <a:pt x="438911" y="182498"/>
                </a:lnTo>
                <a:lnTo>
                  <a:pt x="351154" y="182498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670160" y="5402198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52"/>
                </a:lnTo>
                <a:lnTo>
                  <a:pt x="7647" y="914358"/>
                </a:lnTo>
                <a:lnTo>
                  <a:pt x="28511" y="945313"/>
                </a:lnTo>
                <a:lnTo>
                  <a:pt x="59471" y="966183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3"/>
                </a:lnTo>
                <a:lnTo>
                  <a:pt x="1827720" y="945313"/>
                </a:lnTo>
                <a:lnTo>
                  <a:pt x="1848584" y="914358"/>
                </a:lnTo>
                <a:lnTo>
                  <a:pt x="1856232" y="876452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 txBox="1"/>
          <p:nvPr/>
        </p:nvSpPr>
        <p:spPr>
          <a:xfrm>
            <a:off x="9899650" y="5698744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最优方案追踪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31" name="左大括号 30">
            <a:extLst>
              <a:ext uri="{FF2B5EF4-FFF2-40B4-BE49-F238E27FC236}">
                <a16:creationId xmlns:a16="http://schemas.microsoft.com/office/drawing/2014/main" id="{D74212CE-D78E-E94F-9701-39E43F332D84}"/>
              </a:ext>
            </a:extLst>
          </p:cNvPr>
          <p:cNvSpPr/>
          <p:nvPr/>
        </p:nvSpPr>
        <p:spPr>
          <a:xfrm>
            <a:off x="2407067" y="2995622"/>
            <a:ext cx="212943" cy="598570"/>
          </a:xfrm>
          <a:prstGeom prst="leftBrac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  <p:sp>
        <p:nvSpPr>
          <p:cNvPr id="32" name="object 5">
            <a:extLst>
              <a:ext uri="{FF2B5EF4-FFF2-40B4-BE49-F238E27FC236}">
                <a16:creationId xmlns:a16="http://schemas.microsoft.com/office/drawing/2014/main" id="{9ECA9D12-EBB9-7F43-A5B5-330993E505F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25688" y="265681"/>
            <a:ext cx="7955890" cy="56618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6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自底向上计算：确定计算顺</a:t>
            </a:r>
            <a:r>
              <a:rPr sz="36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序</a:t>
            </a:r>
            <a:endParaRPr sz="36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154668" y="1574903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667877" y="1574903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725918" y="844927"/>
            <a:ext cx="6324600" cy="1921510"/>
          </a:xfrm>
          <a:prstGeom prst="rect">
            <a:avLst/>
          </a:prstGeom>
        </p:spPr>
        <p:txBody>
          <a:bodyPr vert="horz" wrap="square" lIns="0" tIns="12827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1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20">
                <a:latin typeface="PMingLiU"/>
                <a:cs typeface="PMingLiU"/>
              </a:rPr>
              <a:t>初始化</a:t>
            </a:r>
            <a:endParaRPr sz="2800">
              <a:latin typeface="PMingLiU"/>
              <a:cs typeface="PMingLiU"/>
            </a:endParaRPr>
          </a:p>
          <a:p>
            <a:pPr marL="704215" lvl="1" indent="-347980">
              <a:lnSpc>
                <a:spcPct val="100000"/>
              </a:lnSpc>
              <a:spcBef>
                <a:spcPts val="77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  <a:tab pos="1614170" algn="l"/>
              </a:tabLst>
            </a:pPr>
            <a:r>
              <a:rPr sz="2400" b="1" i="1">
                <a:latin typeface="Times New Roman"/>
                <a:cs typeface="Times New Roman"/>
              </a:rPr>
              <a:t>C</a:t>
            </a:r>
            <a:r>
              <a:rPr sz="2400" b="1" i="1" spc="240">
                <a:latin typeface="Times New Roman"/>
                <a:cs typeface="Times New Roman"/>
              </a:rPr>
              <a:t> </a:t>
            </a:r>
            <a:r>
              <a:rPr sz="2400" spc="-10">
                <a:latin typeface="Cambria Math"/>
                <a:cs typeface="Cambria Math"/>
              </a:rPr>
              <a:t>𝒊,</a:t>
            </a:r>
            <a:r>
              <a:rPr sz="2400" spc="-13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𝟎</a:t>
            </a:r>
            <a:r>
              <a:rPr sz="2400">
                <a:latin typeface="Cambria Math"/>
                <a:cs typeface="Cambria Math"/>
              </a:rPr>
              <a:t>	=</a:t>
            </a:r>
            <a:r>
              <a:rPr sz="2400" spc="125">
                <a:latin typeface="Cambria Math"/>
                <a:cs typeface="Cambria Math"/>
              </a:rPr>
              <a:t> </a:t>
            </a:r>
            <a:r>
              <a:rPr sz="2400" spc="-10">
                <a:latin typeface="Cambria Math"/>
                <a:cs typeface="Cambria Math"/>
              </a:rPr>
              <a:t>𝑪[𝟎,</a:t>
            </a:r>
            <a:r>
              <a:rPr sz="2400" spc="-13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𝒋]</a:t>
            </a:r>
            <a:r>
              <a:rPr sz="2400" spc="14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4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𝟎</a:t>
            </a:r>
            <a:endParaRPr sz="2400">
              <a:latin typeface="Cambria Math"/>
              <a:cs typeface="Cambria Math"/>
            </a:endParaRPr>
          </a:p>
          <a:p>
            <a:pPr marL="705485">
              <a:lnSpc>
                <a:spcPct val="100000"/>
              </a:lnSpc>
              <a:spcBef>
                <a:spcPts val="385"/>
              </a:spcBef>
              <a:tabLst>
                <a:tab pos="1000125" algn="l"/>
              </a:tabLst>
            </a:pPr>
            <a:r>
              <a:rPr sz="1550" spc="-50">
                <a:solidFill>
                  <a:srgbClr val="EB91D7"/>
                </a:solidFill>
                <a:latin typeface="Times New Roman"/>
                <a:cs typeface="Times New Roman"/>
              </a:rPr>
              <a:t>o</a:t>
            </a:r>
            <a:r>
              <a:rPr sz="1550">
                <a:solidFill>
                  <a:srgbClr val="EB91D7"/>
                </a:solidFill>
                <a:latin typeface="Times New Roman"/>
                <a:cs typeface="Times New Roman"/>
              </a:rPr>
              <a:t>	</a:t>
            </a:r>
            <a:r>
              <a:rPr sz="2200" spc="-5">
                <a:latin typeface="PMingLiU"/>
                <a:cs typeface="PMingLiU"/>
              </a:rPr>
              <a:t>某序列长度为</a:t>
            </a:r>
            <a:r>
              <a:rPr sz="2200" b="1">
                <a:latin typeface="Times New Roman"/>
                <a:cs typeface="Times New Roman"/>
              </a:rPr>
              <a:t>0</a:t>
            </a:r>
            <a:r>
              <a:rPr sz="2200" spc="-10">
                <a:latin typeface="PMingLiU"/>
                <a:cs typeface="PMingLiU"/>
              </a:rPr>
              <a:t>时，最长公共子序列长度为</a:t>
            </a:r>
            <a:r>
              <a:rPr sz="2200" b="1" spc="-50">
                <a:latin typeface="Times New Roman"/>
                <a:cs typeface="Times New Roman"/>
              </a:rPr>
              <a:t>0</a:t>
            </a:r>
            <a:endParaRPr sz="2200">
              <a:latin typeface="Times New Roman"/>
              <a:cs typeface="Times New Roman"/>
            </a:endParaRPr>
          </a:p>
          <a:p>
            <a:pPr marL="355600" indent="-342900">
              <a:lnSpc>
                <a:spcPct val="100000"/>
              </a:lnSpc>
              <a:spcBef>
                <a:spcPts val="615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5">
                <a:latin typeface="PMingLiU"/>
                <a:cs typeface="PMingLiU"/>
              </a:rPr>
              <a:t>递推公式</a:t>
            </a:r>
            <a:endParaRPr sz="2800">
              <a:latin typeface="PMingLiU"/>
              <a:cs typeface="PMingLiU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32763" y="3162554"/>
            <a:ext cx="184785" cy="28194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1650" spc="20">
                <a:solidFill>
                  <a:srgbClr val="DAB6FB"/>
                </a:solidFill>
                <a:latin typeface="Wingdings"/>
                <a:cs typeface="Wingdings"/>
              </a:rPr>
              <a:t></a:t>
            </a:r>
            <a:endParaRPr sz="1650">
              <a:latin typeface="Wingdings"/>
              <a:cs typeface="Wingding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329436" y="3254755"/>
            <a:ext cx="582422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3500">
              <a:lnSpc>
                <a:spcPct val="100000"/>
              </a:lnSpc>
              <a:spcBef>
                <a:spcPts val="100"/>
              </a:spcBef>
              <a:tabLst>
                <a:tab pos="4824095" algn="l"/>
                <a:tab pos="5291455" algn="l"/>
              </a:tabLst>
            </a:pPr>
            <a:r>
              <a:rPr sz="3600" spc="-15" baseline="33564" dirty="0">
                <a:latin typeface="Cambria Math"/>
                <a:cs typeface="Cambria Math"/>
              </a:rPr>
              <a:t>𝑪[𝒊,</a:t>
            </a:r>
            <a:r>
              <a:rPr sz="3600" spc="-225" baseline="33564" dirty="0">
                <a:latin typeface="Cambria Math"/>
                <a:cs typeface="Cambria Math"/>
              </a:rPr>
              <a:t> </a:t>
            </a:r>
            <a:r>
              <a:rPr sz="3600" baseline="33564" dirty="0">
                <a:latin typeface="Cambria Math"/>
                <a:cs typeface="Cambria Math"/>
              </a:rPr>
              <a:t>𝒋]</a:t>
            </a:r>
            <a:r>
              <a:rPr sz="3600" spc="202" baseline="33564" dirty="0">
                <a:latin typeface="Cambria Math"/>
                <a:cs typeface="Cambria Math"/>
              </a:rPr>
              <a:t> </a:t>
            </a:r>
            <a:r>
              <a:rPr sz="3600" baseline="33564" dirty="0">
                <a:latin typeface="Cambria Math"/>
                <a:cs typeface="Cambria Math"/>
              </a:rPr>
              <a:t>=</a:t>
            </a:r>
            <a:r>
              <a:rPr sz="3600" spc="202" baseline="33564" dirty="0">
                <a:latin typeface="Cambria Math"/>
                <a:cs typeface="Cambria Math"/>
              </a:rPr>
              <a:t> </a:t>
            </a:r>
            <a:r>
              <a:rPr lang="zh-CN" altLang="en-US" sz="3600" spc="202" baseline="33564" dirty="0">
                <a:latin typeface="Cambria Math"/>
                <a:cs typeface="Cambria Math"/>
              </a:rPr>
              <a:t>  </a:t>
            </a:r>
            <a:r>
              <a:rPr sz="2400" dirty="0">
                <a:latin typeface="Cambria Math"/>
                <a:cs typeface="Cambria Math"/>
              </a:rPr>
              <a:t>𝑪[𝒊</a:t>
            </a:r>
            <a:r>
              <a:rPr sz="2400" spc="-1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−</a:t>
            </a:r>
            <a:r>
              <a:rPr sz="2400" spc="5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𝟏,</a:t>
            </a:r>
            <a:r>
              <a:rPr sz="2400" spc="-135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𝒋</a:t>
            </a:r>
            <a:r>
              <a:rPr sz="2400" spc="5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−</a:t>
            </a:r>
            <a:r>
              <a:rPr sz="2400" spc="5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𝟏]</a:t>
            </a:r>
            <a:r>
              <a:rPr sz="2400" spc="5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+</a:t>
            </a:r>
            <a:r>
              <a:rPr sz="2400" spc="5" dirty="0">
                <a:latin typeface="Cambria Math"/>
                <a:cs typeface="Cambria Math"/>
              </a:rPr>
              <a:t> </a:t>
            </a:r>
            <a:r>
              <a:rPr sz="2400" spc="-50" dirty="0">
                <a:latin typeface="Cambria Math"/>
                <a:cs typeface="Cambria Math"/>
              </a:rPr>
              <a:t>𝟏</a:t>
            </a:r>
            <a:r>
              <a:rPr sz="2400" dirty="0">
                <a:latin typeface="Cambria Math"/>
                <a:cs typeface="Cambria Math"/>
              </a:rPr>
              <a:t>	,</a:t>
            </a:r>
            <a:r>
              <a:rPr sz="2400" spc="-140" dirty="0">
                <a:latin typeface="Cambria Math"/>
                <a:cs typeface="Cambria Math"/>
              </a:rPr>
              <a:t> </a:t>
            </a:r>
            <a:r>
              <a:rPr sz="2400" spc="-50" dirty="0">
                <a:latin typeface="Cambria Math"/>
                <a:cs typeface="Cambria Math"/>
              </a:rPr>
              <a:t>𝒙</a:t>
            </a:r>
            <a:r>
              <a:rPr sz="2400" dirty="0">
                <a:latin typeface="Cambria Math"/>
                <a:cs typeface="Cambria Math"/>
              </a:rPr>
              <a:t>	=</a:t>
            </a:r>
            <a:r>
              <a:rPr sz="2400" spc="130" dirty="0">
                <a:latin typeface="Cambria Math"/>
                <a:cs typeface="Cambria Math"/>
              </a:rPr>
              <a:t> </a:t>
            </a:r>
            <a:r>
              <a:rPr sz="2400" spc="-50" dirty="0">
                <a:latin typeface="Cambria Math"/>
                <a:cs typeface="Cambria Math"/>
              </a:rPr>
              <a:t>𝒚</a:t>
            </a:r>
            <a:endParaRPr sz="2400" dirty="0">
              <a:latin typeface="Cambria Math"/>
              <a:cs typeface="Cambria Math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3276980" y="2919602"/>
            <a:ext cx="2906395" cy="283845"/>
          </a:xfrm>
          <a:custGeom>
            <a:avLst/>
            <a:gdLst/>
            <a:ahLst/>
            <a:cxnLst/>
            <a:rect l="l" t="t" r="r" b="b"/>
            <a:pathLst>
              <a:path w="2906395" h="283844">
                <a:moveTo>
                  <a:pt x="2815082" y="0"/>
                </a:moveTo>
                <a:lnTo>
                  <a:pt x="2811145" y="0"/>
                </a:lnTo>
                <a:lnTo>
                  <a:pt x="2811145" y="11302"/>
                </a:lnTo>
                <a:lnTo>
                  <a:pt x="2813431" y="11302"/>
                </a:lnTo>
                <a:lnTo>
                  <a:pt x="2823620" y="11995"/>
                </a:lnTo>
                <a:lnTo>
                  <a:pt x="2856357" y="37417"/>
                </a:lnTo>
                <a:lnTo>
                  <a:pt x="2859405" y="59689"/>
                </a:lnTo>
                <a:lnTo>
                  <a:pt x="2859216" y="65164"/>
                </a:lnTo>
                <a:lnTo>
                  <a:pt x="2858658" y="71294"/>
                </a:lnTo>
                <a:lnTo>
                  <a:pt x="2857744" y="78067"/>
                </a:lnTo>
                <a:lnTo>
                  <a:pt x="2856484" y="85471"/>
                </a:lnTo>
                <a:lnTo>
                  <a:pt x="2854452" y="95631"/>
                </a:lnTo>
                <a:lnTo>
                  <a:pt x="2853436" y="102870"/>
                </a:lnTo>
                <a:lnTo>
                  <a:pt x="2853436" y="115697"/>
                </a:lnTo>
                <a:lnTo>
                  <a:pt x="2855976" y="122682"/>
                </a:lnTo>
                <a:lnTo>
                  <a:pt x="2860929" y="128016"/>
                </a:lnTo>
                <a:lnTo>
                  <a:pt x="2865882" y="133476"/>
                </a:lnTo>
                <a:lnTo>
                  <a:pt x="2871724" y="137413"/>
                </a:lnTo>
                <a:lnTo>
                  <a:pt x="2878582" y="140081"/>
                </a:lnTo>
                <a:lnTo>
                  <a:pt x="2878582" y="142748"/>
                </a:lnTo>
                <a:lnTo>
                  <a:pt x="2871724" y="145287"/>
                </a:lnTo>
                <a:lnTo>
                  <a:pt x="2865882" y="149225"/>
                </a:lnTo>
                <a:lnTo>
                  <a:pt x="2855976" y="160147"/>
                </a:lnTo>
                <a:lnTo>
                  <a:pt x="2853436" y="167005"/>
                </a:lnTo>
                <a:lnTo>
                  <a:pt x="2853436" y="179832"/>
                </a:lnTo>
                <a:lnTo>
                  <a:pt x="2854452" y="187071"/>
                </a:lnTo>
                <a:lnTo>
                  <a:pt x="2856484" y="197358"/>
                </a:lnTo>
                <a:lnTo>
                  <a:pt x="2857744" y="204690"/>
                </a:lnTo>
                <a:lnTo>
                  <a:pt x="2858658" y="211439"/>
                </a:lnTo>
                <a:lnTo>
                  <a:pt x="2859216" y="217592"/>
                </a:lnTo>
                <a:lnTo>
                  <a:pt x="2859405" y="223138"/>
                </a:lnTo>
                <a:lnTo>
                  <a:pt x="2858643" y="235592"/>
                </a:lnTo>
                <a:lnTo>
                  <a:pt x="2832655" y="269700"/>
                </a:lnTo>
                <a:lnTo>
                  <a:pt x="2813431" y="272542"/>
                </a:lnTo>
                <a:lnTo>
                  <a:pt x="2811145" y="272542"/>
                </a:lnTo>
                <a:lnTo>
                  <a:pt x="2811145" y="283845"/>
                </a:lnTo>
                <a:lnTo>
                  <a:pt x="2815082" y="283845"/>
                </a:lnTo>
                <a:lnTo>
                  <a:pt x="2831437" y="282630"/>
                </a:lnTo>
                <a:lnTo>
                  <a:pt x="2867406" y="267843"/>
                </a:lnTo>
                <a:lnTo>
                  <a:pt x="2884678" y="220345"/>
                </a:lnTo>
                <a:lnTo>
                  <a:pt x="2884463" y="214012"/>
                </a:lnTo>
                <a:lnTo>
                  <a:pt x="2883820" y="207216"/>
                </a:lnTo>
                <a:lnTo>
                  <a:pt x="2882749" y="199967"/>
                </a:lnTo>
                <a:lnTo>
                  <a:pt x="2881249" y="192277"/>
                </a:lnTo>
                <a:lnTo>
                  <a:pt x="2878836" y="181737"/>
                </a:lnTo>
                <a:lnTo>
                  <a:pt x="2877693" y="174751"/>
                </a:lnTo>
                <a:lnTo>
                  <a:pt x="2877693" y="164337"/>
                </a:lnTo>
                <a:lnTo>
                  <a:pt x="2880106" y="158750"/>
                </a:lnTo>
                <a:lnTo>
                  <a:pt x="2889504" y="150113"/>
                </a:lnTo>
                <a:lnTo>
                  <a:pt x="2896616" y="147827"/>
                </a:lnTo>
                <a:lnTo>
                  <a:pt x="2906141" y="147447"/>
                </a:lnTo>
                <a:lnTo>
                  <a:pt x="2906141" y="135255"/>
                </a:lnTo>
                <a:lnTo>
                  <a:pt x="2896616" y="135000"/>
                </a:lnTo>
                <a:lnTo>
                  <a:pt x="2889504" y="132714"/>
                </a:lnTo>
                <a:lnTo>
                  <a:pt x="2880106" y="124079"/>
                </a:lnTo>
                <a:lnTo>
                  <a:pt x="2877693" y="118491"/>
                </a:lnTo>
                <a:lnTo>
                  <a:pt x="2877693" y="108076"/>
                </a:lnTo>
                <a:lnTo>
                  <a:pt x="2878836" y="100964"/>
                </a:lnTo>
                <a:lnTo>
                  <a:pt x="2881249" y="90424"/>
                </a:lnTo>
                <a:lnTo>
                  <a:pt x="2882749" y="82805"/>
                </a:lnTo>
                <a:lnTo>
                  <a:pt x="2883820" y="75580"/>
                </a:lnTo>
                <a:lnTo>
                  <a:pt x="2884463" y="68760"/>
                </a:lnTo>
                <a:lnTo>
                  <a:pt x="2884678" y="62357"/>
                </a:lnTo>
                <a:lnTo>
                  <a:pt x="2883604" y="47827"/>
                </a:lnTo>
                <a:lnTo>
                  <a:pt x="2857623" y="9215"/>
                </a:lnTo>
                <a:lnTo>
                  <a:pt x="2831437" y="1214"/>
                </a:lnTo>
                <a:lnTo>
                  <a:pt x="2815082" y="0"/>
                </a:lnTo>
                <a:close/>
              </a:path>
              <a:path w="2906395" h="283844">
                <a:moveTo>
                  <a:pt x="94996" y="0"/>
                </a:moveTo>
                <a:lnTo>
                  <a:pt x="91186" y="0"/>
                </a:lnTo>
                <a:lnTo>
                  <a:pt x="74777" y="1214"/>
                </a:lnTo>
                <a:lnTo>
                  <a:pt x="38862" y="16001"/>
                </a:lnTo>
                <a:lnTo>
                  <a:pt x="21664" y="59562"/>
                </a:lnTo>
                <a:lnTo>
                  <a:pt x="21558" y="65035"/>
                </a:lnTo>
                <a:lnTo>
                  <a:pt x="21679" y="68615"/>
                </a:lnTo>
                <a:lnTo>
                  <a:pt x="22336" y="75406"/>
                </a:lnTo>
                <a:lnTo>
                  <a:pt x="23445" y="82625"/>
                </a:lnTo>
                <a:lnTo>
                  <a:pt x="25019" y="90297"/>
                </a:lnTo>
                <a:lnTo>
                  <a:pt x="27305" y="100837"/>
                </a:lnTo>
                <a:lnTo>
                  <a:pt x="28448" y="107823"/>
                </a:lnTo>
                <a:lnTo>
                  <a:pt x="28448" y="118363"/>
                </a:lnTo>
                <a:lnTo>
                  <a:pt x="26162" y="123825"/>
                </a:lnTo>
                <a:lnTo>
                  <a:pt x="21336" y="128143"/>
                </a:lnTo>
                <a:lnTo>
                  <a:pt x="16637" y="132461"/>
                </a:lnTo>
                <a:lnTo>
                  <a:pt x="9525" y="134874"/>
                </a:lnTo>
                <a:lnTo>
                  <a:pt x="0" y="135127"/>
                </a:lnTo>
                <a:lnTo>
                  <a:pt x="0" y="147320"/>
                </a:lnTo>
                <a:lnTo>
                  <a:pt x="9525" y="147574"/>
                </a:lnTo>
                <a:lnTo>
                  <a:pt x="16637" y="149987"/>
                </a:lnTo>
                <a:lnTo>
                  <a:pt x="21336" y="154305"/>
                </a:lnTo>
                <a:lnTo>
                  <a:pt x="26162" y="158623"/>
                </a:lnTo>
                <a:lnTo>
                  <a:pt x="28448" y="164084"/>
                </a:lnTo>
                <a:lnTo>
                  <a:pt x="28448" y="174498"/>
                </a:lnTo>
                <a:lnTo>
                  <a:pt x="27305" y="181610"/>
                </a:lnTo>
                <a:lnTo>
                  <a:pt x="25019" y="192150"/>
                </a:lnTo>
                <a:lnTo>
                  <a:pt x="23445" y="199822"/>
                </a:lnTo>
                <a:lnTo>
                  <a:pt x="22336" y="207041"/>
                </a:lnTo>
                <a:lnTo>
                  <a:pt x="21679" y="213832"/>
                </a:lnTo>
                <a:lnTo>
                  <a:pt x="21463" y="220218"/>
                </a:lnTo>
                <a:lnTo>
                  <a:pt x="22556" y="235267"/>
                </a:lnTo>
                <a:lnTo>
                  <a:pt x="48627" y="274629"/>
                </a:lnTo>
                <a:lnTo>
                  <a:pt x="91186" y="283845"/>
                </a:lnTo>
                <a:lnTo>
                  <a:pt x="94996" y="283845"/>
                </a:lnTo>
                <a:lnTo>
                  <a:pt x="94996" y="272542"/>
                </a:lnTo>
                <a:lnTo>
                  <a:pt x="92710" y="272542"/>
                </a:lnTo>
                <a:lnTo>
                  <a:pt x="82520" y="271829"/>
                </a:lnTo>
                <a:lnTo>
                  <a:pt x="49784" y="246062"/>
                </a:lnTo>
                <a:lnTo>
                  <a:pt x="46736" y="222885"/>
                </a:lnTo>
                <a:lnTo>
                  <a:pt x="46926" y="217412"/>
                </a:lnTo>
                <a:lnTo>
                  <a:pt x="47498" y="211296"/>
                </a:lnTo>
                <a:lnTo>
                  <a:pt x="48450" y="204561"/>
                </a:lnTo>
                <a:lnTo>
                  <a:pt x="49784" y="197231"/>
                </a:lnTo>
                <a:lnTo>
                  <a:pt x="51689" y="186944"/>
                </a:lnTo>
                <a:lnTo>
                  <a:pt x="52705" y="179705"/>
                </a:lnTo>
                <a:lnTo>
                  <a:pt x="52705" y="166877"/>
                </a:lnTo>
                <a:lnTo>
                  <a:pt x="50292" y="159893"/>
                </a:lnTo>
                <a:lnTo>
                  <a:pt x="45339" y="154559"/>
                </a:lnTo>
                <a:lnTo>
                  <a:pt x="40386" y="149098"/>
                </a:lnTo>
                <a:lnTo>
                  <a:pt x="34417" y="145161"/>
                </a:lnTo>
                <a:lnTo>
                  <a:pt x="27559" y="142621"/>
                </a:lnTo>
                <a:lnTo>
                  <a:pt x="27559" y="139826"/>
                </a:lnTo>
                <a:lnTo>
                  <a:pt x="34417" y="137287"/>
                </a:lnTo>
                <a:lnTo>
                  <a:pt x="40386" y="133350"/>
                </a:lnTo>
                <a:lnTo>
                  <a:pt x="45339" y="127888"/>
                </a:lnTo>
                <a:lnTo>
                  <a:pt x="50292" y="122555"/>
                </a:lnTo>
                <a:lnTo>
                  <a:pt x="52705" y="115570"/>
                </a:lnTo>
                <a:lnTo>
                  <a:pt x="52705" y="102743"/>
                </a:lnTo>
                <a:lnTo>
                  <a:pt x="51689" y="95504"/>
                </a:lnTo>
                <a:lnTo>
                  <a:pt x="49784" y="85217"/>
                </a:lnTo>
                <a:lnTo>
                  <a:pt x="48450" y="77886"/>
                </a:lnTo>
                <a:lnTo>
                  <a:pt x="47498" y="71151"/>
                </a:lnTo>
                <a:lnTo>
                  <a:pt x="46926" y="65035"/>
                </a:lnTo>
                <a:lnTo>
                  <a:pt x="46736" y="59562"/>
                </a:lnTo>
                <a:lnTo>
                  <a:pt x="47498" y="47535"/>
                </a:lnTo>
                <a:lnTo>
                  <a:pt x="73485" y="14081"/>
                </a:lnTo>
                <a:lnTo>
                  <a:pt x="92710" y="11302"/>
                </a:lnTo>
                <a:lnTo>
                  <a:pt x="94996" y="11302"/>
                </a:lnTo>
                <a:lnTo>
                  <a:pt x="9499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2620010" y="2831084"/>
            <a:ext cx="466534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𝐦𝐚𝐱</a:t>
            </a:r>
            <a:r>
              <a:rPr sz="2400" spc="409">
                <a:latin typeface="Cambria Math"/>
                <a:cs typeface="Cambria Math"/>
              </a:rPr>
              <a:t> </a:t>
            </a:r>
            <a:r>
              <a:rPr sz="2400">
                <a:solidFill>
                  <a:srgbClr val="FF0000"/>
                </a:solidFill>
                <a:latin typeface="Cambria Math"/>
                <a:cs typeface="Cambria Math"/>
              </a:rPr>
              <a:t>𝑪[𝒊</a:t>
            </a:r>
            <a:r>
              <a:rPr sz="2400" spc="-10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400">
                <a:solidFill>
                  <a:srgbClr val="FF0000"/>
                </a:solidFill>
                <a:latin typeface="Cambria Math"/>
                <a:cs typeface="Cambria Math"/>
              </a:rPr>
              <a:t>−</a:t>
            </a:r>
            <a:r>
              <a:rPr sz="2400" spc="5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400">
                <a:solidFill>
                  <a:srgbClr val="FF0000"/>
                </a:solidFill>
                <a:latin typeface="Cambria Math"/>
                <a:cs typeface="Cambria Math"/>
              </a:rPr>
              <a:t>𝟏,</a:t>
            </a:r>
            <a:r>
              <a:rPr sz="2400" spc="-130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400" spc="-10">
                <a:solidFill>
                  <a:srgbClr val="FF0000"/>
                </a:solidFill>
                <a:latin typeface="Cambria Math"/>
                <a:cs typeface="Cambria Math"/>
              </a:rPr>
              <a:t>𝒋],</a:t>
            </a:r>
            <a:r>
              <a:rPr sz="2400" spc="-140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400" spc="-10">
                <a:latin typeface="Cambria Math"/>
                <a:cs typeface="Cambria Math"/>
              </a:rPr>
              <a:t>𝑪[𝒊,</a:t>
            </a:r>
            <a:r>
              <a:rPr sz="2400" spc="-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𝒋</a:t>
            </a:r>
            <a:r>
              <a:rPr sz="2400" spc="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−</a:t>
            </a:r>
            <a:r>
              <a:rPr sz="2400" spc="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𝟏]</a:t>
            </a:r>
            <a:r>
              <a:rPr sz="2400" spc="40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,</a:t>
            </a:r>
            <a:r>
              <a:rPr sz="2400" spc="-13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𝒙</a:t>
            </a:r>
            <a:r>
              <a:rPr sz="2625" baseline="-15873">
                <a:latin typeface="Cambria Math"/>
                <a:cs typeface="Cambria Math"/>
              </a:rPr>
              <a:t>𝒊</a:t>
            </a:r>
            <a:r>
              <a:rPr sz="2625" spc="577" baseline="-15873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≠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𝒚</a:t>
            </a:r>
            <a:r>
              <a:rPr sz="2625" spc="-37" baseline="-15873">
                <a:latin typeface="Cambria Math"/>
                <a:cs typeface="Cambria Math"/>
              </a:rPr>
              <a:t>𝒋</a:t>
            </a:r>
            <a:endParaRPr sz="2625" baseline="-15873">
              <a:latin typeface="Cambria Math"/>
              <a:cs typeface="Cambria Math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428994" y="3399535"/>
            <a:ext cx="786130" cy="2927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685800" algn="l"/>
              </a:tabLst>
            </a:pPr>
            <a:r>
              <a:rPr sz="1750" spc="-50">
                <a:latin typeface="Cambria Math"/>
                <a:cs typeface="Cambria Math"/>
              </a:rPr>
              <a:t>𝒊</a:t>
            </a:r>
            <a:r>
              <a:rPr sz="1750">
                <a:latin typeface="Cambria Math"/>
                <a:cs typeface="Cambria Math"/>
              </a:rPr>
              <a:t>	</a:t>
            </a:r>
            <a:r>
              <a:rPr sz="1750" spc="-50">
                <a:latin typeface="Cambria Math"/>
                <a:cs typeface="Cambria Math"/>
              </a:rPr>
              <a:t>𝒋</a:t>
            </a:r>
            <a:endParaRPr sz="1750">
              <a:latin typeface="Cambria Math"/>
              <a:cs typeface="Cambria Math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686051" y="3802995"/>
            <a:ext cx="5316855" cy="24244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875"/>
              </a:lnSpc>
              <a:tabLst>
                <a:tab pos="998855" algn="l"/>
                <a:tab pos="1950085" algn="l"/>
                <a:tab pos="2897505" algn="l"/>
                <a:tab pos="4004945" algn="l"/>
                <a:tab pos="4750435" algn="l"/>
              </a:tabLst>
            </a:pPr>
            <a:r>
              <a:rPr sz="1700" spc="-10">
                <a:solidFill>
                  <a:srgbClr val="FFFFFF"/>
                </a:solidFill>
                <a:latin typeface="Cambria Math"/>
                <a:cs typeface="Cambria Math"/>
              </a:rPr>
              <a:t>𝑫[𝒊,</a:t>
            </a:r>
            <a:r>
              <a:rPr sz="1700" spc="-9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 spc="-25">
                <a:solidFill>
                  <a:srgbClr val="FFFFFF"/>
                </a:solidFill>
                <a:latin typeface="Cambria Math"/>
                <a:cs typeface="Cambria Math"/>
              </a:rPr>
              <a:t>𝒋]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	𝒋</a:t>
            </a:r>
            <a:r>
              <a:rPr sz="1700" spc="8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=</a:t>
            </a:r>
            <a:r>
              <a:rPr sz="1700" spc="9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 spc="-50">
                <a:solidFill>
                  <a:srgbClr val="FFFFFF"/>
                </a:solidFill>
                <a:latin typeface="Cambria Math"/>
                <a:cs typeface="Cambria Math"/>
              </a:rPr>
              <a:t>𝟎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	𝒋</a:t>
            </a:r>
            <a:r>
              <a:rPr sz="1700" spc="8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=</a:t>
            </a:r>
            <a:r>
              <a:rPr sz="1700" spc="9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 spc="-50">
                <a:solidFill>
                  <a:srgbClr val="FFFFFF"/>
                </a:solidFill>
                <a:latin typeface="Cambria Math"/>
                <a:cs typeface="Cambria Math"/>
              </a:rPr>
              <a:t>1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	𝒋</a:t>
            </a:r>
            <a:r>
              <a:rPr sz="1700" spc="8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=</a:t>
            </a:r>
            <a:r>
              <a:rPr sz="1700" spc="9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 spc="-50">
                <a:solidFill>
                  <a:srgbClr val="FFFFFF"/>
                </a:solidFill>
                <a:latin typeface="Cambria Math"/>
                <a:cs typeface="Cambria Math"/>
              </a:rPr>
              <a:t>2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	</a:t>
            </a:r>
            <a:r>
              <a:rPr sz="1700" b="1" spc="-50">
                <a:solidFill>
                  <a:srgbClr val="FFFFFF"/>
                </a:solidFill>
                <a:latin typeface="Arial"/>
                <a:cs typeface="Arial"/>
              </a:rPr>
              <a:t>…</a:t>
            </a:r>
            <a:r>
              <a:rPr sz="1700" b="1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𝒋</a:t>
            </a:r>
            <a:r>
              <a:rPr sz="1700" spc="8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=</a:t>
            </a:r>
            <a:r>
              <a:rPr sz="1700" spc="9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 spc="-50">
                <a:solidFill>
                  <a:srgbClr val="FFFFFF"/>
                </a:solidFill>
                <a:latin typeface="Cambria Math"/>
                <a:cs typeface="Cambria Math"/>
              </a:rPr>
              <a:t>𝒎</a:t>
            </a:r>
            <a:endParaRPr sz="1700">
              <a:latin typeface="Cambria Math"/>
              <a:cs typeface="Cambria Math"/>
            </a:endParaRPr>
          </a:p>
          <a:p>
            <a:pPr marL="40640">
              <a:lnSpc>
                <a:spcPct val="100000"/>
              </a:lnSpc>
              <a:spcBef>
                <a:spcPts val="1390"/>
              </a:spcBef>
              <a:tabLst>
                <a:tab pos="1218565" algn="l"/>
                <a:tab pos="2165985" algn="l"/>
                <a:tab pos="3112135" algn="l"/>
                <a:tab pos="4058920" algn="l"/>
                <a:tab pos="5005705" algn="l"/>
              </a:tabLst>
            </a:pPr>
            <a:r>
              <a:rPr sz="1700">
                <a:latin typeface="Cambria Math"/>
                <a:cs typeface="Cambria Math"/>
              </a:rPr>
              <a:t>𝑖</a:t>
            </a:r>
            <a:r>
              <a:rPr sz="1700" spc="145">
                <a:latin typeface="Cambria Math"/>
                <a:cs typeface="Cambria Math"/>
              </a:rPr>
              <a:t> </a:t>
            </a:r>
            <a:r>
              <a:rPr sz="1700">
                <a:latin typeface="Cambria Math"/>
                <a:cs typeface="Cambria Math"/>
              </a:rPr>
              <a:t>=</a:t>
            </a:r>
            <a:r>
              <a:rPr sz="1700" spc="100">
                <a:latin typeface="Cambria Math"/>
                <a:cs typeface="Cambria Math"/>
              </a:rPr>
              <a:t> </a:t>
            </a:r>
            <a:r>
              <a:rPr sz="1700" spc="-50">
                <a:latin typeface="Cambria Math"/>
                <a:cs typeface="Cambria Math"/>
              </a:rPr>
              <a:t>0</a:t>
            </a:r>
            <a:r>
              <a:rPr sz="1700">
                <a:latin typeface="Cambria Math"/>
                <a:cs typeface="Cambria Math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r>
              <a:rPr sz="1700">
                <a:latin typeface="Times New Roman"/>
                <a:cs typeface="Times New Roman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r>
              <a:rPr sz="1700">
                <a:latin typeface="Times New Roman"/>
                <a:cs typeface="Times New Roman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r>
              <a:rPr sz="1700">
                <a:latin typeface="Times New Roman"/>
                <a:cs typeface="Times New Roman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r>
              <a:rPr sz="1700">
                <a:latin typeface="Times New Roman"/>
                <a:cs typeface="Times New Roman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endParaRPr sz="1700">
              <a:latin typeface="Times New Roman"/>
              <a:cs typeface="Times New Roman"/>
            </a:endParaRPr>
          </a:p>
          <a:p>
            <a:pPr marR="3981450" algn="r">
              <a:lnSpc>
                <a:spcPct val="100000"/>
              </a:lnSpc>
              <a:spcBef>
                <a:spcPts val="1400"/>
              </a:spcBef>
              <a:tabLst>
                <a:tab pos="1177925" algn="l"/>
              </a:tabLst>
            </a:pPr>
            <a:r>
              <a:rPr sz="1700">
                <a:latin typeface="Cambria Math"/>
                <a:cs typeface="Cambria Math"/>
              </a:rPr>
              <a:t>𝑖</a:t>
            </a:r>
            <a:r>
              <a:rPr sz="1700" spc="135">
                <a:latin typeface="Cambria Math"/>
                <a:cs typeface="Cambria Math"/>
              </a:rPr>
              <a:t> </a:t>
            </a:r>
            <a:r>
              <a:rPr sz="1700">
                <a:latin typeface="Cambria Math"/>
                <a:cs typeface="Cambria Math"/>
              </a:rPr>
              <a:t>=</a:t>
            </a:r>
            <a:r>
              <a:rPr sz="1700" spc="90">
                <a:latin typeface="Cambria Math"/>
                <a:cs typeface="Cambria Math"/>
              </a:rPr>
              <a:t> </a:t>
            </a:r>
            <a:r>
              <a:rPr sz="1700" spc="-50">
                <a:latin typeface="Cambria Math"/>
                <a:cs typeface="Cambria Math"/>
              </a:rPr>
              <a:t>1</a:t>
            </a:r>
            <a:r>
              <a:rPr sz="1700">
                <a:latin typeface="Cambria Math"/>
                <a:cs typeface="Cambria Math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endParaRPr sz="1700">
              <a:latin typeface="Times New Roman"/>
              <a:cs typeface="Times New Roman"/>
            </a:endParaRPr>
          </a:p>
          <a:p>
            <a:pPr marR="3981450" algn="r">
              <a:lnSpc>
                <a:spcPct val="100000"/>
              </a:lnSpc>
              <a:spcBef>
                <a:spcPts val="1390"/>
              </a:spcBef>
              <a:tabLst>
                <a:tab pos="1177925" algn="l"/>
              </a:tabLst>
            </a:pPr>
            <a:r>
              <a:rPr sz="1700">
                <a:latin typeface="Cambria Math"/>
                <a:cs typeface="Cambria Math"/>
              </a:rPr>
              <a:t>𝑖</a:t>
            </a:r>
            <a:r>
              <a:rPr sz="1700" spc="135">
                <a:latin typeface="Cambria Math"/>
                <a:cs typeface="Cambria Math"/>
              </a:rPr>
              <a:t> </a:t>
            </a:r>
            <a:r>
              <a:rPr sz="1700">
                <a:latin typeface="Cambria Math"/>
                <a:cs typeface="Cambria Math"/>
              </a:rPr>
              <a:t>=</a:t>
            </a:r>
            <a:r>
              <a:rPr sz="1700" spc="90">
                <a:latin typeface="Cambria Math"/>
                <a:cs typeface="Cambria Math"/>
              </a:rPr>
              <a:t> </a:t>
            </a:r>
            <a:r>
              <a:rPr sz="1700" spc="-50">
                <a:latin typeface="Cambria Math"/>
                <a:cs typeface="Cambria Math"/>
              </a:rPr>
              <a:t>2</a:t>
            </a:r>
            <a:r>
              <a:rPr sz="1700">
                <a:latin typeface="Cambria Math"/>
                <a:cs typeface="Cambria Math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endParaRPr sz="1700">
              <a:latin typeface="Times New Roman"/>
              <a:cs typeface="Times New Roman"/>
            </a:endParaRPr>
          </a:p>
          <a:p>
            <a:pPr marR="3981450" algn="r">
              <a:lnSpc>
                <a:spcPct val="100000"/>
              </a:lnSpc>
              <a:spcBef>
                <a:spcPts val="1395"/>
              </a:spcBef>
              <a:tabLst>
                <a:tab pos="1020444" algn="l"/>
              </a:tabLst>
            </a:pPr>
            <a:r>
              <a:rPr sz="1700" spc="-50">
                <a:latin typeface="Cambria Math"/>
                <a:cs typeface="Cambria Math"/>
              </a:rPr>
              <a:t>…</a:t>
            </a:r>
            <a:r>
              <a:rPr sz="1700">
                <a:latin typeface="Cambria Math"/>
                <a:cs typeface="Cambria Math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endParaRPr sz="1700">
              <a:latin typeface="Times New Roman"/>
              <a:cs typeface="Times New Roman"/>
            </a:endParaRPr>
          </a:p>
          <a:p>
            <a:pPr marR="3981450" algn="r">
              <a:lnSpc>
                <a:spcPct val="100000"/>
              </a:lnSpc>
              <a:spcBef>
                <a:spcPts val="1395"/>
              </a:spcBef>
              <a:tabLst>
                <a:tab pos="1182370" algn="l"/>
              </a:tabLst>
            </a:pPr>
            <a:r>
              <a:rPr sz="1700">
                <a:latin typeface="Cambria Math"/>
                <a:cs typeface="Cambria Math"/>
              </a:rPr>
              <a:t>𝑖</a:t>
            </a:r>
            <a:r>
              <a:rPr sz="1700" spc="145">
                <a:latin typeface="Cambria Math"/>
                <a:cs typeface="Cambria Math"/>
              </a:rPr>
              <a:t> </a:t>
            </a:r>
            <a:r>
              <a:rPr sz="1700">
                <a:latin typeface="Cambria Math"/>
                <a:cs typeface="Cambria Math"/>
              </a:rPr>
              <a:t>=</a:t>
            </a:r>
            <a:r>
              <a:rPr sz="1700" spc="90">
                <a:latin typeface="Cambria Math"/>
                <a:cs typeface="Cambria Math"/>
              </a:rPr>
              <a:t> </a:t>
            </a:r>
            <a:r>
              <a:rPr sz="1700" spc="-50">
                <a:latin typeface="Cambria Math"/>
                <a:cs typeface="Cambria Math"/>
              </a:rPr>
              <a:t>𝑛</a:t>
            </a:r>
            <a:r>
              <a:rPr sz="1700">
                <a:latin typeface="Cambria Math"/>
                <a:cs typeface="Cambria Math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endParaRPr sz="1700">
              <a:latin typeface="Times New Roman"/>
              <a:cs typeface="Times New Roman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1497838" y="3702786"/>
            <a:ext cx="5721985" cy="2616835"/>
            <a:chOff x="1497838" y="3702786"/>
            <a:chExt cx="5721985" cy="2616835"/>
          </a:xfrm>
        </p:grpSpPr>
        <p:sp>
          <p:nvSpPr>
            <p:cNvPr id="13" name="object 13"/>
            <p:cNvSpPr/>
            <p:nvPr/>
          </p:nvSpPr>
          <p:spPr>
            <a:xfrm>
              <a:off x="1497838" y="3702786"/>
              <a:ext cx="5721985" cy="2616835"/>
            </a:xfrm>
            <a:custGeom>
              <a:avLst/>
              <a:gdLst/>
              <a:ahLst/>
              <a:cxnLst/>
              <a:rect l="l" t="t" r="r" b="b"/>
              <a:pathLst>
                <a:path w="5721984" h="2616835">
                  <a:moveTo>
                    <a:pt x="5721477" y="0"/>
                  </a:moveTo>
                  <a:lnTo>
                    <a:pt x="0" y="0"/>
                  </a:lnTo>
                  <a:lnTo>
                    <a:pt x="0" y="2616581"/>
                  </a:lnTo>
                  <a:lnTo>
                    <a:pt x="5721477" y="2616581"/>
                  </a:lnTo>
                  <a:lnTo>
                    <a:pt x="5721477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379341" y="5011051"/>
              <a:ext cx="1893570" cy="436245"/>
            </a:xfrm>
            <a:custGeom>
              <a:avLst/>
              <a:gdLst/>
              <a:ahLst/>
              <a:cxnLst/>
              <a:rect l="l" t="t" r="r" b="b"/>
              <a:pathLst>
                <a:path w="1893570" h="436245">
                  <a:moveTo>
                    <a:pt x="946670" y="0"/>
                  </a:moveTo>
                  <a:lnTo>
                    <a:pt x="0" y="0"/>
                  </a:lnTo>
                  <a:lnTo>
                    <a:pt x="0" y="436105"/>
                  </a:lnTo>
                  <a:lnTo>
                    <a:pt x="946670" y="436105"/>
                  </a:lnTo>
                  <a:lnTo>
                    <a:pt x="946670" y="0"/>
                  </a:lnTo>
                  <a:close/>
                </a:path>
                <a:path w="1893570" h="436245">
                  <a:moveTo>
                    <a:pt x="1893455" y="0"/>
                  </a:moveTo>
                  <a:lnTo>
                    <a:pt x="946785" y="0"/>
                  </a:lnTo>
                  <a:lnTo>
                    <a:pt x="946785" y="436105"/>
                  </a:lnTo>
                  <a:lnTo>
                    <a:pt x="1893455" y="436105"/>
                  </a:lnTo>
                  <a:lnTo>
                    <a:pt x="1893455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379341" y="5447157"/>
              <a:ext cx="1893570" cy="436245"/>
            </a:xfrm>
            <a:custGeom>
              <a:avLst/>
              <a:gdLst/>
              <a:ahLst/>
              <a:cxnLst/>
              <a:rect l="l" t="t" r="r" b="b"/>
              <a:pathLst>
                <a:path w="1893570" h="436245">
                  <a:moveTo>
                    <a:pt x="946670" y="0"/>
                  </a:moveTo>
                  <a:lnTo>
                    <a:pt x="0" y="0"/>
                  </a:lnTo>
                  <a:lnTo>
                    <a:pt x="0" y="436105"/>
                  </a:lnTo>
                  <a:lnTo>
                    <a:pt x="946670" y="436105"/>
                  </a:lnTo>
                  <a:lnTo>
                    <a:pt x="946670" y="0"/>
                  </a:lnTo>
                  <a:close/>
                </a:path>
                <a:path w="1893570" h="436245">
                  <a:moveTo>
                    <a:pt x="1893455" y="0"/>
                  </a:moveTo>
                  <a:lnTo>
                    <a:pt x="946785" y="0"/>
                  </a:lnTo>
                  <a:lnTo>
                    <a:pt x="946785" y="436105"/>
                  </a:lnTo>
                  <a:lnTo>
                    <a:pt x="1893455" y="436105"/>
                  </a:lnTo>
                  <a:lnTo>
                    <a:pt x="1893455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6" name="object 16"/>
          <p:cNvGraphicFramePr>
            <a:graphicFrameLocks noGrp="1"/>
          </p:cNvGraphicFramePr>
          <p:nvPr/>
        </p:nvGraphicFramePr>
        <p:xfrm>
          <a:off x="1491488" y="3694303"/>
          <a:ext cx="5721984" cy="26149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880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467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36880">
                <a:tc>
                  <a:txBody>
                    <a:bodyPr/>
                    <a:lstStyle/>
                    <a:p>
                      <a:pPr marR="45720"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sz="17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𝑪[𝒊,</a:t>
                      </a:r>
                      <a:r>
                        <a:rPr sz="1700" spc="-9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𝒋]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25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25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4450"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𝟏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25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4450"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𝟐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25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sz="1700" b="1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…</a:t>
                      </a:r>
                      <a:endParaRPr sz="1700">
                        <a:latin typeface="Arial"/>
                        <a:cs typeface="Arial"/>
                      </a:endParaRPr>
                    </a:p>
                  </a:txBody>
                  <a:tcPr marL="0" marR="0" marT="825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𝒎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25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latin typeface="Cambria Math"/>
                          <a:cs typeface="Cambria Math"/>
                        </a:rPr>
                        <a:t>𝟎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latin typeface="Cambria Math"/>
                          <a:cs typeface="Cambria Math"/>
                        </a:rPr>
                        <a:t>𝟏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latin typeface="Cambria Math"/>
                          <a:cs typeface="Cambria Math"/>
                        </a:rPr>
                        <a:t>𝟐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72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572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spc="-10">
                          <a:latin typeface="Cambria Math"/>
                          <a:cs typeface="Cambria Math"/>
                        </a:rPr>
                        <a:t>𝑪[𝒊,</a:t>
                      </a:r>
                      <a:r>
                        <a:rPr sz="1700" spc="-10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25">
                          <a:latin typeface="Cambria Math"/>
                          <a:cs typeface="Cambria Math"/>
                        </a:rPr>
                        <a:t>𝒋]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7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60">
                          <a:latin typeface="Cambria Math"/>
                          <a:cs typeface="Cambria Math"/>
                        </a:rPr>
                        <a:t>𝒏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pSp>
        <p:nvGrpSpPr>
          <p:cNvPr id="17" name="object 17"/>
          <p:cNvGrpSpPr/>
          <p:nvPr/>
        </p:nvGrpSpPr>
        <p:grpSpPr>
          <a:xfrm>
            <a:off x="4920107" y="5136641"/>
            <a:ext cx="1043305" cy="624205"/>
            <a:chOff x="4920107" y="5136641"/>
            <a:chExt cx="1043305" cy="624205"/>
          </a:xfrm>
        </p:grpSpPr>
        <p:sp>
          <p:nvSpPr>
            <p:cNvPr id="18" name="object 18"/>
            <p:cNvSpPr/>
            <p:nvPr/>
          </p:nvSpPr>
          <p:spPr>
            <a:xfrm>
              <a:off x="5849112" y="5136641"/>
              <a:ext cx="114300" cy="390525"/>
            </a:xfrm>
            <a:custGeom>
              <a:avLst/>
              <a:gdLst/>
              <a:ahLst/>
              <a:cxnLst/>
              <a:rect l="l" t="t" r="r" b="b"/>
              <a:pathLst>
                <a:path w="114300" h="390525">
                  <a:moveTo>
                    <a:pt x="38100" y="275970"/>
                  </a:moveTo>
                  <a:lnTo>
                    <a:pt x="0" y="275970"/>
                  </a:lnTo>
                  <a:lnTo>
                    <a:pt x="57150" y="390270"/>
                  </a:lnTo>
                  <a:lnTo>
                    <a:pt x="104775" y="295020"/>
                  </a:lnTo>
                  <a:lnTo>
                    <a:pt x="38100" y="295020"/>
                  </a:lnTo>
                  <a:lnTo>
                    <a:pt x="38100" y="275970"/>
                  </a:lnTo>
                  <a:close/>
                </a:path>
                <a:path w="114300" h="390525">
                  <a:moveTo>
                    <a:pt x="76200" y="0"/>
                  </a:moveTo>
                  <a:lnTo>
                    <a:pt x="38100" y="0"/>
                  </a:lnTo>
                  <a:lnTo>
                    <a:pt x="38100" y="295020"/>
                  </a:lnTo>
                  <a:lnTo>
                    <a:pt x="76200" y="295020"/>
                  </a:lnTo>
                  <a:lnTo>
                    <a:pt x="76200" y="0"/>
                  </a:lnTo>
                  <a:close/>
                </a:path>
                <a:path w="114300" h="390525">
                  <a:moveTo>
                    <a:pt x="114300" y="275970"/>
                  </a:moveTo>
                  <a:lnTo>
                    <a:pt x="76200" y="275970"/>
                  </a:lnTo>
                  <a:lnTo>
                    <a:pt x="76200" y="295020"/>
                  </a:lnTo>
                  <a:lnTo>
                    <a:pt x="104775" y="295020"/>
                  </a:lnTo>
                  <a:lnTo>
                    <a:pt x="114300" y="27597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920107" y="5208777"/>
              <a:ext cx="615950" cy="552450"/>
            </a:xfrm>
            <a:custGeom>
              <a:avLst/>
              <a:gdLst/>
              <a:ahLst/>
              <a:cxnLst/>
              <a:rect l="l" t="t" r="r" b="b"/>
              <a:pathLst>
                <a:path w="615950" h="552450">
                  <a:moveTo>
                    <a:pt x="561467" y="494792"/>
                  </a:moveTo>
                  <a:lnTo>
                    <a:pt x="523367" y="475742"/>
                  </a:lnTo>
                  <a:lnTo>
                    <a:pt x="447167" y="437642"/>
                  </a:lnTo>
                  <a:lnTo>
                    <a:pt x="447167" y="475742"/>
                  </a:lnTo>
                  <a:lnTo>
                    <a:pt x="8509" y="475742"/>
                  </a:lnTo>
                  <a:lnTo>
                    <a:pt x="8509" y="513842"/>
                  </a:lnTo>
                  <a:lnTo>
                    <a:pt x="447167" y="513842"/>
                  </a:lnTo>
                  <a:lnTo>
                    <a:pt x="447167" y="551942"/>
                  </a:lnTo>
                  <a:lnTo>
                    <a:pt x="523367" y="513842"/>
                  </a:lnTo>
                  <a:lnTo>
                    <a:pt x="561467" y="494792"/>
                  </a:lnTo>
                  <a:close/>
                </a:path>
                <a:path w="615950" h="552450">
                  <a:moveTo>
                    <a:pt x="615950" y="318770"/>
                  </a:moveTo>
                  <a:lnTo>
                    <a:pt x="596874" y="293497"/>
                  </a:lnTo>
                  <a:lnTo>
                    <a:pt x="538988" y="216789"/>
                  </a:lnTo>
                  <a:lnTo>
                    <a:pt x="522071" y="250875"/>
                  </a:lnTo>
                  <a:lnTo>
                    <a:pt x="17018" y="0"/>
                  </a:lnTo>
                  <a:lnTo>
                    <a:pt x="0" y="34036"/>
                  </a:lnTo>
                  <a:lnTo>
                    <a:pt x="505104" y="285064"/>
                  </a:lnTo>
                  <a:lnTo>
                    <a:pt x="488188" y="319151"/>
                  </a:lnTo>
                  <a:lnTo>
                    <a:pt x="615950" y="31877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" name="object 20"/>
          <p:cNvSpPr/>
          <p:nvPr/>
        </p:nvSpPr>
        <p:spPr>
          <a:xfrm>
            <a:off x="9670160" y="1018413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9899650" y="1314449"/>
            <a:ext cx="1397000" cy="3003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20">
                <a:solidFill>
                  <a:srgbClr val="FFFFFF"/>
                </a:solidFill>
                <a:latin typeface="PMingLiU"/>
                <a:cs typeface="PMingLiU"/>
              </a:rPr>
              <a:t>问题结构分析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10378440" y="2052827"/>
            <a:ext cx="439420" cy="367030"/>
          </a:xfrm>
          <a:custGeom>
            <a:avLst/>
            <a:gdLst/>
            <a:ahLst/>
            <a:cxnLst/>
            <a:rect l="l" t="t" r="r" b="b"/>
            <a:pathLst>
              <a:path w="439420" h="367030">
                <a:moveTo>
                  <a:pt x="351154" y="0"/>
                </a:moveTo>
                <a:lnTo>
                  <a:pt x="87756" y="0"/>
                </a:lnTo>
                <a:lnTo>
                  <a:pt x="87756" y="183261"/>
                </a:lnTo>
                <a:lnTo>
                  <a:pt x="0" y="183261"/>
                </a:lnTo>
                <a:lnTo>
                  <a:pt x="219455" y="366522"/>
                </a:lnTo>
                <a:lnTo>
                  <a:pt x="438911" y="183261"/>
                </a:lnTo>
                <a:lnTo>
                  <a:pt x="351154" y="183261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9670160" y="2480691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 txBox="1"/>
          <p:nvPr/>
        </p:nvSpPr>
        <p:spPr>
          <a:xfrm>
            <a:off x="9899650" y="2776982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递推关系建立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10378440" y="3515105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9"/>
                </a:lnTo>
                <a:lnTo>
                  <a:pt x="0" y="182499"/>
                </a:lnTo>
                <a:lnTo>
                  <a:pt x="219455" y="364998"/>
                </a:lnTo>
                <a:lnTo>
                  <a:pt x="438911" y="182499"/>
                </a:lnTo>
                <a:lnTo>
                  <a:pt x="351154" y="182499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9670160" y="3941445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8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8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83C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 txBox="1"/>
          <p:nvPr/>
        </p:nvSpPr>
        <p:spPr>
          <a:xfrm>
            <a:off x="9899650" y="4237735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自底向上计算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10378440" y="4975859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8"/>
                </a:lnTo>
                <a:lnTo>
                  <a:pt x="0" y="182498"/>
                </a:lnTo>
                <a:lnTo>
                  <a:pt x="219455" y="364997"/>
                </a:lnTo>
                <a:lnTo>
                  <a:pt x="438911" y="182498"/>
                </a:lnTo>
                <a:lnTo>
                  <a:pt x="351154" y="182498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9670160" y="5402198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52"/>
                </a:lnTo>
                <a:lnTo>
                  <a:pt x="7647" y="914358"/>
                </a:lnTo>
                <a:lnTo>
                  <a:pt x="28511" y="945313"/>
                </a:lnTo>
                <a:lnTo>
                  <a:pt x="59471" y="966183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3"/>
                </a:lnTo>
                <a:lnTo>
                  <a:pt x="1827720" y="945313"/>
                </a:lnTo>
                <a:lnTo>
                  <a:pt x="1848584" y="914358"/>
                </a:lnTo>
                <a:lnTo>
                  <a:pt x="1856232" y="876452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 txBox="1"/>
          <p:nvPr/>
        </p:nvSpPr>
        <p:spPr>
          <a:xfrm>
            <a:off x="9899650" y="5698744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最优方案追踪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33" name="object 5">
            <a:extLst>
              <a:ext uri="{FF2B5EF4-FFF2-40B4-BE49-F238E27FC236}">
                <a16:creationId xmlns:a16="http://schemas.microsoft.com/office/drawing/2014/main" id="{0461EAC6-EA34-0B46-9CB6-7A81FD5C3BB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25688" y="265681"/>
            <a:ext cx="7955890" cy="56618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6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自底向上计算：确定计算顺</a:t>
            </a:r>
            <a:r>
              <a:rPr sz="36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序</a:t>
            </a:r>
            <a:endParaRPr sz="36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34" name="左大括号 33">
            <a:extLst>
              <a:ext uri="{FF2B5EF4-FFF2-40B4-BE49-F238E27FC236}">
                <a16:creationId xmlns:a16="http://schemas.microsoft.com/office/drawing/2014/main" id="{A4707AF5-9238-1B47-96AE-3B63F6C63A92}"/>
              </a:ext>
            </a:extLst>
          </p:cNvPr>
          <p:cNvSpPr/>
          <p:nvPr/>
        </p:nvSpPr>
        <p:spPr>
          <a:xfrm>
            <a:off x="2407067" y="2995622"/>
            <a:ext cx="212943" cy="598570"/>
          </a:xfrm>
          <a:prstGeom prst="leftBrac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167194" y="1625007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680403" y="1625007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738444" y="895031"/>
            <a:ext cx="6324600" cy="1921510"/>
          </a:xfrm>
          <a:prstGeom prst="rect">
            <a:avLst/>
          </a:prstGeom>
        </p:spPr>
        <p:txBody>
          <a:bodyPr vert="horz" wrap="square" lIns="0" tIns="12827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1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20" dirty="0" err="1">
                <a:latin typeface="PMingLiU"/>
                <a:cs typeface="PMingLiU"/>
              </a:rPr>
              <a:t>初始化</a:t>
            </a:r>
            <a:endParaRPr sz="2800" dirty="0">
              <a:latin typeface="PMingLiU"/>
              <a:cs typeface="PMingLiU"/>
            </a:endParaRPr>
          </a:p>
          <a:p>
            <a:pPr marL="704215" lvl="1" indent="-347980">
              <a:lnSpc>
                <a:spcPct val="100000"/>
              </a:lnSpc>
              <a:spcBef>
                <a:spcPts val="77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  <a:tab pos="1614170" algn="l"/>
              </a:tabLst>
            </a:pPr>
            <a:r>
              <a:rPr sz="2400" b="1" i="1" dirty="0">
                <a:latin typeface="Times New Roman"/>
                <a:cs typeface="Times New Roman"/>
              </a:rPr>
              <a:t>C</a:t>
            </a:r>
            <a:r>
              <a:rPr sz="2400" b="1" i="1" spc="240" dirty="0">
                <a:latin typeface="Times New Roman"/>
                <a:cs typeface="Times New Roman"/>
              </a:rPr>
              <a:t> </a:t>
            </a:r>
            <a:r>
              <a:rPr sz="2400" spc="-10" dirty="0">
                <a:latin typeface="Cambria Math"/>
                <a:cs typeface="Cambria Math"/>
              </a:rPr>
              <a:t>𝒊,</a:t>
            </a:r>
            <a:r>
              <a:rPr sz="2400" spc="-130" dirty="0">
                <a:latin typeface="Cambria Math"/>
                <a:cs typeface="Cambria Math"/>
              </a:rPr>
              <a:t> </a:t>
            </a:r>
            <a:r>
              <a:rPr sz="2400" spc="-50" dirty="0">
                <a:latin typeface="Cambria Math"/>
                <a:cs typeface="Cambria Math"/>
              </a:rPr>
              <a:t>𝟎</a:t>
            </a:r>
            <a:r>
              <a:rPr sz="2400" dirty="0">
                <a:latin typeface="Cambria Math"/>
                <a:cs typeface="Cambria Math"/>
              </a:rPr>
              <a:t>	=</a:t>
            </a:r>
            <a:r>
              <a:rPr sz="2400" spc="125" dirty="0">
                <a:latin typeface="Cambria Math"/>
                <a:cs typeface="Cambria Math"/>
              </a:rPr>
              <a:t> </a:t>
            </a:r>
            <a:r>
              <a:rPr sz="2400" spc="-10" dirty="0">
                <a:latin typeface="Cambria Math"/>
                <a:cs typeface="Cambria Math"/>
              </a:rPr>
              <a:t>𝑪[𝟎,</a:t>
            </a:r>
            <a:r>
              <a:rPr sz="2400" spc="-13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𝒋]</a:t>
            </a:r>
            <a:r>
              <a:rPr sz="2400" spc="14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=</a:t>
            </a:r>
            <a:r>
              <a:rPr sz="2400" spc="140" dirty="0">
                <a:latin typeface="Cambria Math"/>
                <a:cs typeface="Cambria Math"/>
              </a:rPr>
              <a:t> </a:t>
            </a:r>
            <a:r>
              <a:rPr sz="2400" spc="-50" dirty="0">
                <a:latin typeface="Cambria Math"/>
                <a:cs typeface="Cambria Math"/>
              </a:rPr>
              <a:t>𝟎</a:t>
            </a:r>
            <a:endParaRPr sz="2400" dirty="0">
              <a:latin typeface="Cambria Math"/>
              <a:cs typeface="Cambria Math"/>
            </a:endParaRPr>
          </a:p>
          <a:p>
            <a:pPr marL="705485">
              <a:lnSpc>
                <a:spcPct val="100000"/>
              </a:lnSpc>
              <a:spcBef>
                <a:spcPts val="385"/>
              </a:spcBef>
              <a:tabLst>
                <a:tab pos="1000125" algn="l"/>
              </a:tabLst>
            </a:pPr>
            <a:r>
              <a:rPr sz="1550" spc="-50" dirty="0">
                <a:solidFill>
                  <a:srgbClr val="EB91D7"/>
                </a:solidFill>
                <a:latin typeface="Times New Roman"/>
                <a:cs typeface="Times New Roman"/>
              </a:rPr>
              <a:t>o</a:t>
            </a:r>
            <a:r>
              <a:rPr sz="1550" dirty="0">
                <a:solidFill>
                  <a:srgbClr val="EB91D7"/>
                </a:solidFill>
                <a:latin typeface="Times New Roman"/>
                <a:cs typeface="Times New Roman"/>
              </a:rPr>
              <a:t>	</a:t>
            </a:r>
            <a:r>
              <a:rPr sz="2200" spc="-5" dirty="0">
                <a:latin typeface="PMingLiU"/>
                <a:cs typeface="PMingLiU"/>
              </a:rPr>
              <a:t>某序列长度为</a:t>
            </a:r>
            <a:r>
              <a:rPr sz="2200" b="1" dirty="0">
                <a:latin typeface="Times New Roman"/>
                <a:cs typeface="Times New Roman"/>
              </a:rPr>
              <a:t>0</a:t>
            </a:r>
            <a:r>
              <a:rPr sz="2200" spc="-10" dirty="0">
                <a:latin typeface="PMingLiU"/>
                <a:cs typeface="PMingLiU"/>
              </a:rPr>
              <a:t>时，最长公共子序列长度为</a:t>
            </a:r>
            <a:r>
              <a:rPr sz="2200" b="1" spc="-50" dirty="0">
                <a:latin typeface="Times New Roman"/>
                <a:cs typeface="Times New Roman"/>
              </a:rPr>
              <a:t>0</a:t>
            </a:r>
            <a:endParaRPr sz="2200" dirty="0">
              <a:latin typeface="Times New Roman"/>
              <a:cs typeface="Times New Roman"/>
            </a:endParaRPr>
          </a:p>
          <a:p>
            <a:pPr marL="355600" indent="-342900">
              <a:lnSpc>
                <a:spcPct val="100000"/>
              </a:lnSpc>
              <a:spcBef>
                <a:spcPts val="615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5" dirty="0" err="1">
                <a:latin typeface="PMingLiU"/>
                <a:cs typeface="PMingLiU"/>
              </a:rPr>
              <a:t>递推公式</a:t>
            </a:r>
            <a:endParaRPr sz="2800" dirty="0">
              <a:latin typeface="PMingLiU"/>
              <a:cs typeface="PMingLiU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32763" y="3162554"/>
            <a:ext cx="184785" cy="28194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1650" spc="20">
                <a:solidFill>
                  <a:srgbClr val="DAB6FB"/>
                </a:solidFill>
                <a:latin typeface="Wingdings"/>
                <a:cs typeface="Wingdings"/>
              </a:rPr>
              <a:t></a:t>
            </a:r>
            <a:endParaRPr sz="1650">
              <a:latin typeface="Wingdings"/>
              <a:cs typeface="Wingding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329436" y="3254755"/>
            <a:ext cx="582422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3500">
              <a:lnSpc>
                <a:spcPct val="100000"/>
              </a:lnSpc>
              <a:spcBef>
                <a:spcPts val="100"/>
              </a:spcBef>
              <a:tabLst>
                <a:tab pos="4824095" algn="l"/>
                <a:tab pos="5291455" algn="l"/>
              </a:tabLst>
            </a:pPr>
            <a:r>
              <a:rPr sz="3600" spc="-15" baseline="33564" dirty="0">
                <a:latin typeface="Cambria Math"/>
                <a:cs typeface="Cambria Math"/>
              </a:rPr>
              <a:t>𝑪[𝒊,</a:t>
            </a:r>
            <a:r>
              <a:rPr sz="3600" spc="-225" baseline="33564" dirty="0">
                <a:latin typeface="Cambria Math"/>
                <a:cs typeface="Cambria Math"/>
              </a:rPr>
              <a:t> </a:t>
            </a:r>
            <a:r>
              <a:rPr sz="3600" baseline="33564" dirty="0">
                <a:latin typeface="Cambria Math"/>
                <a:cs typeface="Cambria Math"/>
              </a:rPr>
              <a:t>𝒋]</a:t>
            </a:r>
            <a:r>
              <a:rPr sz="3600" spc="202" baseline="33564" dirty="0">
                <a:latin typeface="Cambria Math"/>
                <a:cs typeface="Cambria Math"/>
              </a:rPr>
              <a:t> </a:t>
            </a:r>
            <a:r>
              <a:rPr sz="3600" baseline="33564" dirty="0">
                <a:latin typeface="Cambria Math"/>
                <a:cs typeface="Cambria Math"/>
              </a:rPr>
              <a:t>=</a:t>
            </a:r>
            <a:r>
              <a:rPr sz="3600" spc="202" baseline="33564" dirty="0">
                <a:latin typeface="Cambria Math"/>
                <a:cs typeface="Cambria Math"/>
              </a:rPr>
              <a:t> </a:t>
            </a:r>
            <a:r>
              <a:rPr lang="zh-CN" altLang="en-US" sz="3600" spc="202" baseline="33564" dirty="0">
                <a:latin typeface="Cambria Math"/>
                <a:cs typeface="Cambria Math"/>
              </a:rPr>
              <a:t>  </a:t>
            </a:r>
            <a:r>
              <a:rPr lang="ml-IN" sz="2400" dirty="0">
                <a:latin typeface="Cambria Math"/>
                <a:cs typeface="Cambria Math"/>
              </a:rPr>
              <a:t>𝑪</a:t>
            </a:r>
            <a:r>
              <a:rPr sz="2400" dirty="0">
                <a:latin typeface="Cambria Math"/>
                <a:cs typeface="Cambria Math"/>
              </a:rPr>
              <a:t>[𝒊</a:t>
            </a:r>
            <a:r>
              <a:rPr sz="2400" spc="-1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−</a:t>
            </a:r>
            <a:r>
              <a:rPr sz="2400" spc="5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𝟏,</a:t>
            </a:r>
            <a:r>
              <a:rPr sz="2400" spc="-135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𝒋</a:t>
            </a:r>
            <a:r>
              <a:rPr sz="2400" spc="5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−</a:t>
            </a:r>
            <a:r>
              <a:rPr sz="2400" spc="5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𝟏]</a:t>
            </a:r>
            <a:r>
              <a:rPr sz="2400" spc="5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+</a:t>
            </a:r>
            <a:r>
              <a:rPr sz="2400" spc="5" dirty="0">
                <a:latin typeface="Cambria Math"/>
                <a:cs typeface="Cambria Math"/>
              </a:rPr>
              <a:t> </a:t>
            </a:r>
            <a:r>
              <a:rPr sz="2400" spc="-50" dirty="0">
                <a:latin typeface="Cambria Math"/>
                <a:cs typeface="Cambria Math"/>
              </a:rPr>
              <a:t>𝟏</a:t>
            </a:r>
            <a:r>
              <a:rPr sz="2400" dirty="0">
                <a:latin typeface="Cambria Math"/>
                <a:cs typeface="Cambria Math"/>
              </a:rPr>
              <a:t>	,</a:t>
            </a:r>
            <a:r>
              <a:rPr sz="2400" spc="-140" dirty="0">
                <a:latin typeface="Cambria Math"/>
                <a:cs typeface="Cambria Math"/>
              </a:rPr>
              <a:t> </a:t>
            </a:r>
            <a:r>
              <a:rPr sz="2400" spc="-50" dirty="0">
                <a:latin typeface="Cambria Math"/>
                <a:cs typeface="Cambria Math"/>
              </a:rPr>
              <a:t>𝒙</a:t>
            </a:r>
            <a:r>
              <a:rPr sz="2400" dirty="0">
                <a:latin typeface="Cambria Math"/>
                <a:cs typeface="Cambria Math"/>
              </a:rPr>
              <a:t>	=</a:t>
            </a:r>
            <a:r>
              <a:rPr sz="2400" spc="130" dirty="0">
                <a:latin typeface="Cambria Math"/>
                <a:cs typeface="Cambria Math"/>
              </a:rPr>
              <a:t> </a:t>
            </a:r>
            <a:r>
              <a:rPr sz="2400" spc="-50" dirty="0">
                <a:latin typeface="Cambria Math"/>
                <a:cs typeface="Cambria Math"/>
              </a:rPr>
              <a:t>𝒚</a:t>
            </a:r>
            <a:endParaRPr sz="2400" dirty="0">
              <a:latin typeface="Cambria Math"/>
              <a:cs typeface="Cambria Math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3276980" y="2919602"/>
            <a:ext cx="2906395" cy="283845"/>
          </a:xfrm>
          <a:custGeom>
            <a:avLst/>
            <a:gdLst/>
            <a:ahLst/>
            <a:cxnLst/>
            <a:rect l="l" t="t" r="r" b="b"/>
            <a:pathLst>
              <a:path w="2906395" h="283844">
                <a:moveTo>
                  <a:pt x="2815082" y="0"/>
                </a:moveTo>
                <a:lnTo>
                  <a:pt x="2811145" y="0"/>
                </a:lnTo>
                <a:lnTo>
                  <a:pt x="2811145" y="11302"/>
                </a:lnTo>
                <a:lnTo>
                  <a:pt x="2813431" y="11302"/>
                </a:lnTo>
                <a:lnTo>
                  <a:pt x="2823620" y="11995"/>
                </a:lnTo>
                <a:lnTo>
                  <a:pt x="2856357" y="37417"/>
                </a:lnTo>
                <a:lnTo>
                  <a:pt x="2859405" y="59689"/>
                </a:lnTo>
                <a:lnTo>
                  <a:pt x="2859216" y="65164"/>
                </a:lnTo>
                <a:lnTo>
                  <a:pt x="2858658" y="71294"/>
                </a:lnTo>
                <a:lnTo>
                  <a:pt x="2857744" y="78067"/>
                </a:lnTo>
                <a:lnTo>
                  <a:pt x="2856484" y="85471"/>
                </a:lnTo>
                <a:lnTo>
                  <a:pt x="2854452" y="95631"/>
                </a:lnTo>
                <a:lnTo>
                  <a:pt x="2853436" y="102870"/>
                </a:lnTo>
                <a:lnTo>
                  <a:pt x="2853436" y="115697"/>
                </a:lnTo>
                <a:lnTo>
                  <a:pt x="2855976" y="122682"/>
                </a:lnTo>
                <a:lnTo>
                  <a:pt x="2860929" y="128016"/>
                </a:lnTo>
                <a:lnTo>
                  <a:pt x="2865882" y="133476"/>
                </a:lnTo>
                <a:lnTo>
                  <a:pt x="2871724" y="137413"/>
                </a:lnTo>
                <a:lnTo>
                  <a:pt x="2878582" y="140081"/>
                </a:lnTo>
                <a:lnTo>
                  <a:pt x="2878582" y="142748"/>
                </a:lnTo>
                <a:lnTo>
                  <a:pt x="2871724" y="145287"/>
                </a:lnTo>
                <a:lnTo>
                  <a:pt x="2865882" y="149225"/>
                </a:lnTo>
                <a:lnTo>
                  <a:pt x="2855976" y="160147"/>
                </a:lnTo>
                <a:lnTo>
                  <a:pt x="2853436" y="167005"/>
                </a:lnTo>
                <a:lnTo>
                  <a:pt x="2853436" y="179832"/>
                </a:lnTo>
                <a:lnTo>
                  <a:pt x="2854452" y="187071"/>
                </a:lnTo>
                <a:lnTo>
                  <a:pt x="2856484" y="197358"/>
                </a:lnTo>
                <a:lnTo>
                  <a:pt x="2857744" y="204690"/>
                </a:lnTo>
                <a:lnTo>
                  <a:pt x="2858658" y="211439"/>
                </a:lnTo>
                <a:lnTo>
                  <a:pt x="2859216" y="217592"/>
                </a:lnTo>
                <a:lnTo>
                  <a:pt x="2859405" y="223138"/>
                </a:lnTo>
                <a:lnTo>
                  <a:pt x="2858643" y="235592"/>
                </a:lnTo>
                <a:lnTo>
                  <a:pt x="2832655" y="269700"/>
                </a:lnTo>
                <a:lnTo>
                  <a:pt x="2813431" y="272542"/>
                </a:lnTo>
                <a:lnTo>
                  <a:pt x="2811145" y="272542"/>
                </a:lnTo>
                <a:lnTo>
                  <a:pt x="2811145" y="283845"/>
                </a:lnTo>
                <a:lnTo>
                  <a:pt x="2815082" y="283845"/>
                </a:lnTo>
                <a:lnTo>
                  <a:pt x="2831437" y="282630"/>
                </a:lnTo>
                <a:lnTo>
                  <a:pt x="2867406" y="267843"/>
                </a:lnTo>
                <a:lnTo>
                  <a:pt x="2884678" y="220345"/>
                </a:lnTo>
                <a:lnTo>
                  <a:pt x="2884463" y="214012"/>
                </a:lnTo>
                <a:lnTo>
                  <a:pt x="2883820" y="207216"/>
                </a:lnTo>
                <a:lnTo>
                  <a:pt x="2882749" y="199967"/>
                </a:lnTo>
                <a:lnTo>
                  <a:pt x="2881249" y="192277"/>
                </a:lnTo>
                <a:lnTo>
                  <a:pt x="2878836" y="181737"/>
                </a:lnTo>
                <a:lnTo>
                  <a:pt x="2877693" y="174751"/>
                </a:lnTo>
                <a:lnTo>
                  <a:pt x="2877693" y="164337"/>
                </a:lnTo>
                <a:lnTo>
                  <a:pt x="2880106" y="158750"/>
                </a:lnTo>
                <a:lnTo>
                  <a:pt x="2889504" y="150113"/>
                </a:lnTo>
                <a:lnTo>
                  <a:pt x="2896616" y="147827"/>
                </a:lnTo>
                <a:lnTo>
                  <a:pt x="2906141" y="147447"/>
                </a:lnTo>
                <a:lnTo>
                  <a:pt x="2906141" y="135255"/>
                </a:lnTo>
                <a:lnTo>
                  <a:pt x="2896616" y="135000"/>
                </a:lnTo>
                <a:lnTo>
                  <a:pt x="2889504" y="132714"/>
                </a:lnTo>
                <a:lnTo>
                  <a:pt x="2880106" y="124079"/>
                </a:lnTo>
                <a:lnTo>
                  <a:pt x="2877693" y="118491"/>
                </a:lnTo>
                <a:lnTo>
                  <a:pt x="2877693" y="108076"/>
                </a:lnTo>
                <a:lnTo>
                  <a:pt x="2878836" y="100964"/>
                </a:lnTo>
                <a:lnTo>
                  <a:pt x="2881249" y="90424"/>
                </a:lnTo>
                <a:lnTo>
                  <a:pt x="2882749" y="82805"/>
                </a:lnTo>
                <a:lnTo>
                  <a:pt x="2883820" y="75580"/>
                </a:lnTo>
                <a:lnTo>
                  <a:pt x="2884463" y="68760"/>
                </a:lnTo>
                <a:lnTo>
                  <a:pt x="2884678" y="62357"/>
                </a:lnTo>
                <a:lnTo>
                  <a:pt x="2883604" y="47827"/>
                </a:lnTo>
                <a:lnTo>
                  <a:pt x="2857623" y="9215"/>
                </a:lnTo>
                <a:lnTo>
                  <a:pt x="2831437" y="1214"/>
                </a:lnTo>
                <a:lnTo>
                  <a:pt x="2815082" y="0"/>
                </a:lnTo>
                <a:close/>
              </a:path>
              <a:path w="2906395" h="283844">
                <a:moveTo>
                  <a:pt x="94996" y="0"/>
                </a:moveTo>
                <a:lnTo>
                  <a:pt x="91186" y="0"/>
                </a:lnTo>
                <a:lnTo>
                  <a:pt x="74777" y="1214"/>
                </a:lnTo>
                <a:lnTo>
                  <a:pt x="38862" y="16001"/>
                </a:lnTo>
                <a:lnTo>
                  <a:pt x="21664" y="59562"/>
                </a:lnTo>
                <a:lnTo>
                  <a:pt x="21558" y="65035"/>
                </a:lnTo>
                <a:lnTo>
                  <a:pt x="21679" y="68615"/>
                </a:lnTo>
                <a:lnTo>
                  <a:pt x="22336" y="75406"/>
                </a:lnTo>
                <a:lnTo>
                  <a:pt x="23445" y="82625"/>
                </a:lnTo>
                <a:lnTo>
                  <a:pt x="25019" y="90297"/>
                </a:lnTo>
                <a:lnTo>
                  <a:pt x="27305" y="100837"/>
                </a:lnTo>
                <a:lnTo>
                  <a:pt x="28448" y="107823"/>
                </a:lnTo>
                <a:lnTo>
                  <a:pt x="28448" y="118363"/>
                </a:lnTo>
                <a:lnTo>
                  <a:pt x="26162" y="123825"/>
                </a:lnTo>
                <a:lnTo>
                  <a:pt x="21336" y="128143"/>
                </a:lnTo>
                <a:lnTo>
                  <a:pt x="16637" y="132461"/>
                </a:lnTo>
                <a:lnTo>
                  <a:pt x="9525" y="134874"/>
                </a:lnTo>
                <a:lnTo>
                  <a:pt x="0" y="135127"/>
                </a:lnTo>
                <a:lnTo>
                  <a:pt x="0" y="147320"/>
                </a:lnTo>
                <a:lnTo>
                  <a:pt x="9525" y="147574"/>
                </a:lnTo>
                <a:lnTo>
                  <a:pt x="16637" y="149987"/>
                </a:lnTo>
                <a:lnTo>
                  <a:pt x="21336" y="154305"/>
                </a:lnTo>
                <a:lnTo>
                  <a:pt x="26162" y="158623"/>
                </a:lnTo>
                <a:lnTo>
                  <a:pt x="28448" y="164084"/>
                </a:lnTo>
                <a:lnTo>
                  <a:pt x="28448" y="174498"/>
                </a:lnTo>
                <a:lnTo>
                  <a:pt x="27305" y="181610"/>
                </a:lnTo>
                <a:lnTo>
                  <a:pt x="25019" y="192150"/>
                </a:lnTo>
                <a:lnTo>
                  <a:pt x="23445" y="199822"/>
                </a:lnTo>
                <a:lnTo>
                  <a:pt x="22336" y="207041"/>
                </a:lnTo>
                <a:lnTo>
                  <a:pt x="21679" y="213832"/>
                </a:lnTo>
                <a:lnTo>
                  <a:pt x="21463" y="220218"/>
                </a:lnTo>
                <a:lnTo>
                  <a:pt x="22556" y="235267"/>
                </a:lnTo>
                <a:lnTo>
                  <a:pt x="48627" y="274629"/>
                </a:lnTo>
                <a:lnTo>
                  <a:pt x="91186" y="283845"/>
                </a:lnTo>
                <a:lnTo>
                  <a:pt x="94996" y="283845"/>
                </a:lnTo>
                <a:lnTo>
                  <a:pt x="94996" y="272542"/>
                </a:lnTo>
                <a:lnTo>
                  <a:pt x="92710" y="272542"/>
                </a:lnTo>
                <a:lnTo>
                  <a:pt x="82520" y="271829"/>
                </a:lnTo>
                <a:lnTo>
                  <a:pt x="49784" y="246062"/>
                </a:lnTo>
                <a:lnTo>
                  <a:pt x="46736" y="222885"/>
                </a:lnTo>
                <a:lnTo>
                  <a:pt x="46926" y="217412"/>
                </a:lnTo>
                <a:lnTo>
                  <a:pt x="47498" y="211296"/>
                </a:lnTo>
                <a:lnTo>
                  <a:pt x="48450" y="204561"/>
                </a:lnTo>
                <a:lnTo>
                  <a:pt x="49784" y="197231"/>
                </a:lnTo>
                <a:lnTo>
                  <a:pt x="51689" y="186944"/>
                </a:lnTo>
                <a:lnTo>
                  <a:pt x="52705" y="179705"/>
                </a:lnTo>
                <a:lnTo>
                  <a:pt x="52705" y="166877"/>
                </a:lnTo>
                <a:lnTo>
                  <a:pt x="50292" y="159893"/>
                </a:lnTo>
                <a:lnTo>
                  <a:pt x="45339" y="154559"/>
                </a:lnTo>
                <a:lnTo>
                  <a:pt x="40386" y="149098"/>
                </a:lnTo>
                <a:lnTo>
                  <a:pt x="34417" y="145161"/>
                </a:lnTo>
                <a:lnTo>
                  <a:pt x="27559" y="142621"/>
                </a:lnTo>
                <a:lnTo>
                  <a:pt x="27559" y="139826"/>
                </a:lnTo>
                <a:lnTo>
                  <a:pt x="34417" y="137287"/>
                </a:lnTo>
                <a:lnTo>
                  <a:pt x="40386" y="133350"/>
                </a:lnTo>
                <a:lnTo>
                  <a:pt x="45339" y="127888"/>
                </a:lnTo>
                <a:lnTo>
                  <a:pt x="50292" y="122555"/>
                </a:lnTo>
                <a:lnTo>
                  <a:pt x="52705" y="115570"/>
                </a:lnTo>
                <a:lnTo>
                  <a:pt x="52705" y="102743"/>
                </a:lnTo>
                <a:lnTo>
                  <a:pt x="51689" y="95504"/>
                </a:lnTo>
                <a:lnTo>
                  <a:pt x="49784" y="85217"/>
                </a:lnTo>
                <a:lnTo>
                  <a:pt x="48450" y="77886"/>
                </a:lnTo>
                <a:lnTo>
                  <a:pt x="47498" y="71151"/>
                </a:lnTo>
                <a:lnTo>
                  <a:pt x="46926" y="65035"/>
                </a:lnTo>
                <a:lnTo>
                  <a:pt x="46736" y="59562"/>
                </a:lnTo>
                <a:lnTo>
                  <a:pt x="47498" y="47535"/>
                </a:lnTo>
                <a:lnTo>
                  <a:pt x="73485" y="14081"/>
                </a:lnTo>
                <a:lnTo>
                  <a:pt x="92710" y="11302"/>
                </a:lnTo>
                <a:lnTo>
                  <a:pt x="94996" y="11302"/>
                </a:lnTo>
                <a:lnTo>
                  <a:pt x="9499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2620010" y="2831084"/>
            <a:ext cx="466534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𝐦𝐚𝐱</a:t>
            </a:r>
            <a:r>
              <a:rPr sz="2400" spc="409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𝑪[𝒊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−</a:t>
            </a:r>
            <a:r>
              <a:rPr sz="2400" spc="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𝟏,</a:t>
            </a:r>
            <a:r>
              <a:rPr sz="2400" spc="-130">
                <a:latin typeface="Cambria Math"/>
                <a:cs typeface="Cambria Math"/>
              </a:rPr>
              <a:t> </a:t>
            </a:r>
            <a:r>
              <a:rPr sz="2400" spc="-10">
                <a:latin typeface="Cambria Math"/>
                <a:cs typeface="Cambria Math"/>
              </a:rPr>
              <a:t>𝒋],</a:t>
            </a:r>
            <a:r>
              <a:rPr sz="2400" spc="-140">
                <a:latin typeface="Cambria Math"/>
                <a:cs typeface="Cambria Math"/>
              </a:rPr>
              <a:t> </a:t>
            </a:r>
            <a:r>
              <a:rPr sz="2400" spc="-10">
                <a:solidFill>
                  <a:srgbClr val="FF0000"/>
                </a:solidFill>
                <a:latin typeface="Cambria Math"/>
                <a:cs typeface="Cambria Math"/>
              </a:rPr>
              <a:t>𝑪[𝒊,</a:t>
            </a:r>
            <a:r>
              <a:rPr sz="2400" spc="-135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400">
                <a:solidFill>
                  <a:srgbClr val="FF0000"/>
                </a:solidFill>
                <a:latin typeface="Cambria Math"/>
                <a:cs typeface="Cambria Math"/>
              </a:rPr>
              <a:t>𝒋</a:t>
            </a:r>
            <a:r>
              <a:rPr sz="2400" spc="5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400">
                <a:solidFill>
                  <a:srgbClr val="FF0000"/>
                </a:solidFill>
                <a:latin typeface="Cambria Math"/>
                <a:cs typeface="Cambria Math"/>
              </a:rPr>
              <a:t>−</a:t>
            </a:r>
            <a:r>
              <a:rPr sz="2400" spc="5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400">
                <a:solidFill>
                  <a:srgbClr val="FF0000"/>
                </a:solidFill>
                <a:latin typeface="Cambria Math"/>
                <a:cs typeface="Cambria Math"/>
              </a:rPr>
              <a:t>𝟏]</a:t>
            </a:r>
            <a:r>
              <a:rPr sz="2400" spc="400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,</a:t>
            </a:r>
            <a:r>
              <a:rPr sz="2400" spc="-13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𝒙</a:t>
            </a:r>
            <a:r>
              <a:rPr sz="2625" baseline="-15873">
                <a:latin typeface="Cambria Math"/>
                <a:cs typeface="Cambria Math"/>
              </a:rPr>
              <a:t>𝒊</a:t>
            </a:r>
            <a:r>
              <a:rPr sz="2625" spc="577" baseline="-15873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≠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𝒚</a:t>
            </a:r>
            <a:r>
              <a:rPr sz="2625" spc="-37" baseline="-15873">
                <a:latin typeface="Cambria Math"/>
                <a:cs typeface="Cambria Math"/>
              </a:rPr>
              <a:t>𝒋</a:t>
            </a:r>
            <a:endParaRPr sz="2625" baseline="-15873">
              <a:latin typeface="Cambria Math"/>
              <a:cs typeface="Cambria Math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428994" y="3399535"/>
            <a:ext cx="786130" cy="2927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685800" algn="l"/>
              </a:tabLst>
            </a:pPr>
            <a:r>
              <a:rPr sz="1750" spc="-50">
                <a:latin typeface="Cambria Math"/>
                <a:cs typeface="Cambria Math"/>
              </a:rPr>
              <a:t>𝒊</a:t>
            </a:r>
            <a:r>
              <a:rPr sz="1750">
                <a:latin typeface="Cambria Math"/>
                <a:cs typeface="Cambria Math"/>
              </a:rPr>
              <a:t>	</a:t>
            </a:r>
            <a:r>
              <a:rPr sz="1750" spc="-50">
                <a:latin typeface="Cambria Math"/>
                <a:cs typeface="Cambria Math"/>
              </a:rPr>
              <a:t>𝒋</a:t>
            </a:r>
            <a:endParaRPr sz="1750">
              <a:latin typeface="Cambria Math"/>
              <a:cs typeface="Cambria Math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686051" y="3802995"/>
            <a:ext cx="5316855" cy="24244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875"/>
              </a:lnSpc>
              <a:tabLst>
                <a:tab pos="998855" algn="l"/>
                <a:tab pos="1950085" algn="l"/>
                <a:tab pos="2897505" algn="l"/>
                <a:tab pos="4004945" algn="l"/>
                <a:tab pos="4750435" algn="l"/>
              </a:tabLst>
            </a:pPr>
            <a:r>
              <a:rPr sz="1700" spc="-10">
                <a:solidFill>
                  <a:srgbClr val="FFFFFF"/>
                </a:solidFill>
                <a:latin typeface="Cambria Math"/>
                <a:cs typeface="Cambria Math"/>
              </a:rPr>
              <a:t>𝑫[𝒊,</a:t>
            </a:r>
            <a:r>
              <a:rPr sz="1700" spc="-9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 spc="-25">
                <a:solidFill>
                  <a:srgbClr val="FFFFFF"/>
                </a:solidFill>
                <a:latin typeface="Cambria Math"/>
                <a:cs typeface="Cambria Math"/>
              </a:rPr>
              <a:t>𝒋]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	𝒋</a:t>
            </a:r>
            <a:r>
              <a:rPr sz="1700" spc="8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=</a:t>
            </a:r>
            <a:r>
              <a:rPr sz="1700" spc="9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 spc="-50">
                <a:solidFill>
                  <a:srgbClr val="FFFFFF"/>
                </a:solidFill>
                <a:latin typeface="Cambria Math"/>
                <a:cs typeface="Cambria Math"/>
              </a:rPr>
              <a:t>𝟎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	𝒋</a:t>
            </a:r>
            <a:r>
              <a:rPr sz="1700" spc="8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=</a:t>
            </a:r>
            <a:r>
              <a:rPr sz="1700" spc="9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 spc="-50">
                <a:solidFill>
                  <a:srgbClr val="FFFFFF"/>
                </a:solidFill>
                <a:latin typeface="Cambria Math"/>
                <a:cs typeface="Cambria Math"/>
              </a:rPr>
              <a:t>1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	𝒋</a:t>
            </a:r>
            <a:r>
              <a:rPr sz="1700" spc="8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=</a:t>
            </a:r>
            <a:r>
              <a:rPr sz="1700" spc="9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 spc="-50">
                <a:solidFill>
                  <a:srgbClr val="FFFFFF"/>
                </a:solidFill>
                <a:latin typeface="Cambria Math"/>
                <a:cs typeface="Cambria Math"/>
              </a:rPr>
              <a:t>2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	</a:t>
            </a:r>
            <a:r>
              <a:rPr sz="1700" b="1" spc="-50">
                <a:solidFill>
                  <a:srgbClr val="FFFFFF"/>
                </a:solidFill>
                <a:latin typeface="Arial"/>
                <a:cs typeface="Arial"/>
              </a:rPr>
              <a:t>…</a:t>
            </a:r>
            <a:r>
              <a:rPr sz="1700" b="1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𝒋</a:t>
            </a:r>
            <a:r>
              <a:rPr sz="1700" spc="8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=</a:t>
            </a:r>
            <a:r>
              <a:rPr sz="1700" spc="9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 spc="-50">
                <a:solidFill>
                  <a:srgbClr val="FFFFFF"/>
                </a:solidFill>
                <a:latin typeface="Cambria Math"/>
                <a:cs typeface="Cambria Math"/>
              </a:rPr>
              <a:t>𝒎</a:t>
            </a:r>
            <a:endParaRPr sz="1700">
              <a:latin typeface="Cambria Math"/>
              <a:cs typeface="Cambria Math"/>
            </a:endParaRPr>
          </a:p>
          <a:p>
            <a:pPr marL="40640">
              <a:lnSpc>
                <a:spcPct val="100000"/>
              </a:lnSpc>
              <a:spcBef>
                <a:spcPts val="1390"/>
              </a:spcBef>
              <a:tabLst>
                <a:tab pos="1218565" algn="l"/>
                <a:tab pos="2165985" algn="l"/>
                <a:tab pos="3112135" algn="l"/>
                <a:tab pos="4058920" algn="l"/>
                <a:tab pos="5005705" algn="l"/>
              </a:tabLst>
            </a:pPr>
            <a:r>
              <a:rPr sz="1700">
                <a:latin typeface="Cambria Math"/>
                <a:cs typeface="Cambria Math"/>
              </a:rPr>
              <a:t>𝑖</a:t>
            </a:r>
            <a:r>
              <a:rPr sz="1700" spc="145">
                <a:latin typeface="Cambria Math"/>
                <a:cs typeface="Cambria Math"/>
              </a:rPr>
              <a:t> </a:t>
            </a:r>
            <a:r>
              <a:rPr sz="1700">
                <a:latin typeface="Cambria Math"/>
                <a:cs typeface="Cambria Math"/>
              </a:rPr>
              <a:t>=</a:t>
            </a:r>
            <a:r>
              <a:rPr sz="1700" spc="100">
                <a:latin typeface="Cambria Math"/>
                <a:cs typeface="Cambria Math"/>
              </a:rPr>
              <a:t> </a:t>
            </a:r>
            <a:r>
              <a:rPr sz="1700" spc="-50">
                <a:latin typeface="Cambria Math"/>
                <a:cs typeface="Cambria Math"/>
              </a:rPr>
              <a:t>0</a:t>
            </a:r>
            <a:r>
              <a:rPr sz="1700">
                <a:latin typeface="Cambria Math"/>
                <a:cs typeface="Cambria Math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r>
              <a:rPr sz="1700">
                <a:latin typeface="Times New Roman"/>
                <a:cs typeface="Times New Roman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r>
              <a:rPr sz="1700">
                <a:latin typeface="Times New Roman"/>
                <a:cs typeface="Times New Roman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r>
              <a:rPr sz="1700">
                <a:latin typeface="Times New Roman"/>
                <a:cs typeface="Times New Roman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r>
              <a:rPr sz="1700">
                <a:latin typeface="Times New Roman"/>
                <a:cs typeface="Times New Roman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endParaRPr sz="1700">
              <a:latin typeface="Times New Roman"/>
              <a:cs typeface="Times New Roman"/>
            </a:endParaRPr>
          </a:p>
          <a:p>
            <a:pPr marR="3981450" algn="r">
              <a:lnSpc>
                <a:spcPct val="100000"/>
              </a:lnSpc>
              <a:spcBef>
                <a:spcPts val="1400"/>
              </a:spcBef>
              <a:tabLst>
                <a:tab pos="1177925" algn="l"/>
              </a:tabLst>
            </a:pPr>
            <a:r>
              <a:rPr sz="1700">
                <a:latin typeface="Cambria Math"/>
                <a:cs typeface="Cambria Math"/>
              </a:rPr>
              <a:t>𝑖</a:t>
            </a:r>
            <a:r>
              <a:rPr sz="1700" spc="135">
                <a:latin typeface="Cambria Math"/>
                <a:cs typeface="Cambria Math"/>
              </a:rPr>
              <a:t> </a:t>
            </a:r>
            <a:r>
              <a:rPr sz="1700">
                <a:latin typeface="Cambria Math"/>
                <a:cs typeface="Cambria Math"/>
              </a:rPr>
              <a:t>=</a:t>
            </a:r>
            <a:r>
              <a:rPr sz="1700" spc="90">
                <a:latin typeface="Cambria Math"/>
                <a:cs typeface="Cambria Math"/>
              </a:rPr>
              <a:t> </a:t>
            </a:r>
            <a:r>
              <a:rPr sz="1700" spc="-50">
                <a:latin typeface="Cambria Math"/>
                <a:cs typeface="Cambria Math"/>
              </a:rPr>
              <a:t>1</a:t>
            </a:r>
            <a:r>
              <a:rPr sz="1700">
                <a:latin typeface="Cambria Math"/>
                <a:cs typeface="Cambria Math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endParaRPr sz="1700">
              <a:latin typeface="Times New Roman"/>
              <a:cs typeface="Times New Roman"/>
            </a:endParaRPr>
          </a:p>
          <a:p>
            <a:pPr marR="3981450" algn="r">
              <a:lnSpc>
                <a:spcPct val="100000"/>
              </a:lnSpc>
              <a:spcBef>
                <a:spcPts val="1390"/>
              </a:spcBef>
              <a:tabLst>
                <a:tab pos="1177925" algn="l"/>
              </a:tabLst>
            </a:pPr>
            <a:r>
              <a:rPr sz="1700">
                <a:latin typeface="Cambria Math"/>
                <a:cs typeface="Cambria Math"/>
              </a:rPr>
              <a:t>𝑖</a:t>
            </a:r>
            <a:r>
              <a:rPr sz="1700" spc="135">
                <a:latin typeface="Cambria Math"/>
                <a:cs typeface="Cambria Math"/>
              </a:rPr>
              <a:t> </a:t>
            </a:r>
            <a:r>
              <a:rPr sz="1700">
                <a:latin typeface="Cambria Math"/>
                <a:cs typeface="Cambria Math"/>
              </a:rPr>
              <a:t>=</a:t>
            </a:r>
            <a:r>
              <a:rPr sz="1700" spc="90">
                <a:latin typeface="Cambria Math"/>
                <a:cs typeface="Cambria Math"/>
              </a:rPr>
              <a:t> </a:t>
            </a:r>
            <a:r>
              <a:rPr sz="1700" spc="-50">
                <a:latin typeface="Cambria Math"/>
                <a:cs typeface="Cambria Math"/>
              </a:rPr>
              <a:t>2</a:t>
            </a:r>
            <a:r>
              <a:rPr sz="1700">
                <a:latin typeface="Cambria Math"/>
                <a:cs typeface="Cambria Math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endParaRPr sz="1700">
              <a:latin typeface="Times New Roman"/>
              <a:cs typeface="Times New Roman"/>
            </a:endParaRPr>
          </a:p>
          <a:p>
            <a:pPr marR="3981450" algn="r">
              <a:lnSpc>
                <a:spcPct val="100000"/>
              </a:lnSpc>
              <a:spcBef>
                <a:spcPts val="1395"/>
              </a:spcBef>
              <a:tabLst>
                <a:tab pos="1020444" algn="l"/>
              </a:tabLst>
            </a:pPr>
            <a:r>
              <a:rPr sz="1700" spc="-50">
                <a:latin typeface="Cambria Math"/>
                <a:cs typeface="Cambria Math"/>
              </a:rPr>
              <a:t>…</a:t>
            </a:r>
            <a:r>
              <a:rPr sz="1700">
                <a:latin typeface="Cambria Math"/>
                <a:cs typeface="Cambria Math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endParaRPr sz="1700">
              <a:latin typeface="Times New Roman"/>
              <a:cs typeface="Times New Roman"/>
            </a:endParaRPr>
          </a:p>
          <a:p>
            <a:pPr marR="3981450" algn="r">
              <a:lnSpc>
                <a:spcPct val="100000"/>
              </a:lnSpc>
              <a:spcBef>
                <a:spcPts val="1395"/>
              </a:spcBef>
              <a:tabLst>
                <a:tab pos="1182370" algn="l"/>
              </a:tabLst>
            </a:pPr>
            <a:r>
              <a:rPr sz="1700">
                <a:latin typeface="Cambria Math"/>
                <a:cs typeface="Cambria Math"/>
              </a:rPr>
              <a:t>𝑖</a:t>
            </a:r>
            <a:r>
              <a:rPr sz="1700" spc="145">
                <a:latin typeface="Cambria Math"/>
                <a:cs typeface="Cambria Math"/>
              </a:rPr>
              <a:t> </a:t>
            </a:r>
            <a:r>
              <a:rPr sz="1700">
                <a:latin typeface="Cambria Math"/>
                <a:cs typeface="Cambria Math"/>
              </a:rPr>
              <a:t>=</a:t>
            </a:r>
            <a:r>
              <a:rPr sz="1700" spc="90">
                <a:latin typeface="Cambria Math"/>
                <a:cs typeface="Cambria Math"/>
              </a:rPr>
              <a:t> </a:t>
            </a:r>
            <a:r>
              <a:rPr sz="1700" spc="-50">
                <a:latin typeface="Cambria Math"/>
                <a:cs typeface="Cambria Math"/>
              </a:rPr>
              <a:t>𝑛</a:t>
            </a:r>
            <a:r>
              <a:rPr sz="1700">
                <a:latin typeface="Cambria Math"/>
                <a:cs typeface="Cambria Math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endParaRPr sz="1700">
              <a:latin typeface="Times New Roman"/>
              <a:cs typeface="Times New Roman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1497838" y="3702786"/>
            <a:ext cx="5721985" cy="2616835"/>
            <a:chOff x="1497838" y="3702786"/>
            <a:chExt cx="5721985" cy="2616835"/>
          </a:xfrm>
        </p:grpSpPr>
        <p:sp>
          <p:nvSpPr>
            <p:cNvPr id="13" name="object 13"/>
            <p:cNvSpPr/>
            <p:nvPr/>
          </p:nvSpPr>
          <p:spPr>
            <a:xfrm>
              <a:off x="1497838" y="3702786"/>
              <a:ext cx="5721985" cy="2616835"/>
            </a:xfrm>
            <a:custGeom>
              <a:avLst/>
              <a:gdLst/>
              <a:ahLst/>
              <a:cxnLst/>
              <a:rect l="l" t="t" r="r" b="b"/>
              <a:pathLst>
                <a:path w="5721984" h="2616835">
                  <a:moveTo>
                    <a:pt x="5721477" y="0"/>
                  </a:moveTo>
                  <a:lnTo>
                    <a:pt x="0" y="0"/>
                  </a:lnTo>
                  <a:lnTo>
                    <a:pt x="0" y="2616581"/>
                  </a:lnTo>
                  <a:lnTo>
                    <a:pt x="5721477" y="2616581"/>
                  </a:lnTo>
                  <a:lnTo>
                    <a:pt x="5721477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379341" y="5011051"/>
              <a:ext cx="1893570" cy="436245"/>
            </a:xfrm>
            <a:custGeom>
              <a:avLst/>
              <a:gdLst/>
              <a:ahLst/>
              <a:cxnLst/>
              <a:rect l="l" t="t" r="r" b="b"/>
              <a:pathLst>
                <a:path w="1893570" h="436245">
                  <a:moveTo>
                    <a:pt x="946670" y="0"/>
                  </a:moveTo>
                  <a:lnTo>
                    <a:pt x="0" y="0"/>
                  </a:lnTo>
                  <a:lnTo>
                    <a:pt x="0" y="436105"/>
                  </a:lnTo>
                  <a:lnTo>
                    <a:pt x="946670" y="436105"/>
                  </a:lnTo>
                  <a:lnTo>
                    <a:pt x="946670" y="0"/>
                  </a:lnTo>
                  <a:close/>
                </a:path>
                <a:path w="1893570" h="436245">
                  <a:moveTo>
                    <a:pt x="1893455" y="0"/>
                  </a:moveTo>
                  <a:lnTo>
                    <a:pt x="946785" y="0"/>
                  </a:lnTo>
                  <a:lnTo>
                    <a:pt x="946785" y="436105"/>
                  </a:lnTo>
                  <a:lnTo>
                    <a:pt x="1893455" y="436105"/>
                  </a:lnTo>
                  <a:lnTo>
                    <a:pt x="1893455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379341" y="5447157"/>
              <a:ext cx="1893570" cy="436245"/>
            </a:xfrm>
            <a:custGeom>
              <a:avLst/>
              <a:gdLst/>
              <a:ahLst/>
              <a:cxnLst/>
              <a:rect l="l" t="t" r="r" b="b"/>
              <a:pathLst>
                <a:path w="1893570" h="436245">
                  <a:moveTo>
                    <a:pt x="946670" y="0"/>
                  </a:moveTo>
                  <a:lnTo>
                    <a:pt x="0" y="0"/>
                  </a:lnTo>
                  <a:lnTo>
                    <a:pt x="0" y="436105"/>
                  </a:lnTo>
                  <a:lnTo>
                    <a:pt x="946670" y="436105"/>
                  </a:lnTo>
                  <a:lnTo>
                    <a:pt x="946670" y="0"/>
                  </a:lnTo>
                  <a:close/>
                </a:path>
                <a:path w="1893570" h="436245">
                  <a:moveTo>
                    <a:pt x="1893455" y="0"/>
                  </a:moveTo>
                  <a:lnTo>
                    <a:pt x="946785" y="0"/>
                  </a:lnTo>
                  <a:lnTo>
                    <a:pt x="946785" y="436105"/>
                  </a:lnTo>
                  <a:lnTo>
                    <a:pt x="1893455" y="436105"/>
                  </a:lnTo>
                  <a:lnTo>
                    <a:pt x="1893455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6" name="object 16"/>
          <p:cNvGraphicFramePr>
            <a:graphicFrameLocks noGrp="1"/>
          </p:cNvGraphicFramePr>
          <p:nvPr/>
        </p:nvGraphicFramePr>
        <p:xfrm>
          <a:off x="1491488" y="3694303"/>
          <a:ext cx="5721984" cy="26149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880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467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36880">
                <a:tc>
                  <a:txBody>
                    <a:bodyPr/>
                    <a:lstStyle/>
                    <a:p>
                      <a:pPr marR="45720"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sz="17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𝑪[𝒊,</a:t>
                      </a:r>
                      <a:r>
                        <a:rPr sz="1700" spc="-9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𝒋]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25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25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4450"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𝟏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25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4450"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𝟐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25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sz="1700" b="1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…</a:t>
                      </a:r>
                      <a:endParaRPr sz="1700">
                        <a:latin typeface="Arial"/>
                        <a:cs typeface="Arial"/>
                      </a:endParaRPr>
                    </a:p>
                  </a:txBody>
                  <a:tcPr marL="0" marR="0" marT="825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𝒎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25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latin typeface="Cambria Math"/>
                          <a:cs typeface="Cambria Math"/>
                        </a:rPr>
                        <a:t>𝟎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latin typeface="Cambria Math"/>
                          <a:cs typeface="Cambria Math"/>
                        </a:rPr>
                        <a:t>𝟏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latin typeface="Cambria Math"/>
                          <a:cs typeface="Cambria Math"/>
                        </a:rPr>
                        <a:t>𝟐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72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572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spc="-10">
                          <a:latin typeface="Cambria Math"/>
                          <a:cs typeface="Cambria Math"/>
                        </a:rPr>
                        <a:t>𝑪[𝒊,</a:t>
                      </a:r>
                      <a:r>
                        <a:rPr sz="1700" spc="-10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25">
                          <a:latin typeface="Cambria Math"/>
                          <a:cs typeface="Cambria Math"/>
                        </a:rPr>
                        <a:t>𝒋]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7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60">
                          <a:latin typeface="Cambria Math"/>
                          <a:cs typeface="Cambria Math"/>
                        </a:rPr>
                        <a:t>𝒏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pSp>
        <p:nvGrpSpPr>
          <p:cNvPr id="17" name="object 17"/>
          <p:cNvGrpSpPr/>
          <p:nvPr/>
        </p:nvGrpSpPr>
        <p:grpSpPr>
          <a:xfrm>
            <a:off x="4920107" y="5136641"/>
            <a:ext cx="1043305" cy="624205"/>
            <a:chOff x="4920107" y="5136641"/>
            <a:chExt cx="1043305" cy="624205"/>
          </a:xfrm>
        </p:grpSpPr>
        <p:sp>
          <p:nvSpPr>
            <p:cNvPr id="18" name="object 18"/>
            <p:cNvSpPr/>
            <p:nvPr/>
          </p:nvSpPr>
          <p:spPr>
            <a:xfrm>
              <a:off x="4920107" y="5136641"/>
              <a:ext cx="1043305" cy="391795"/>
            </a:xfrm>
            <a:custGeom>
              <a:avLst/>
              <a:gdLst/>
              <a:ahLst/>
              <a:cxnLst/>
              <a:rect l="l" t="t" r="r" b="b"/>
              <a:pathLst>
                <a:path w="1043303" h="391795">
                  <a:moveTo>
                    <a:pt x="615950" y="390906"/>
                  </a:moveTo>
                  <a:lnTo>
                    <a:pt x="596874" y="365633"/>
                  </a:lnTo>
                  <a:lnTo>
                    <a:pt x="538988" y="288925"/>
                  </a:lnTo>
                  <a:lnTo>
                    <a:pt x="522071" y="323011"/>
                  </a:lnTo>
                  <a:lnTo>
                    <a:pt x="17018" y="72136"/>
                  </a:lnTo>
                  <a:lnTo>
                    <a:pt x="0" y="106172"/>
                  </a:lnTo>
                  <a:lnTo>
                    <a:pt x="505104" y="357200"/>
                  </a:lnTo>
                  <a:lnTo>
                    <a:pt x="488188" y="391287"/>
                  </a:lnTo>
                  <a:lnTo>
                    <a:pt x="615950" y="390906"/>
                  </a:lnTo>
                  <a:close/>
                </a:path>
                <a:path w="1043303" h="391795">
                  <a:moveTo>
                    <a:pt x="1043305" y="275971"/>
                  </a:moveTo>
                  <a:lnTo>
                    <a:pt x="1005205" y="275971"/>
                  </a:lnTo>
                  <a:lnTo>
                    <a:pt x="1005205" y="0"/>
                  </a:lnTo>
                  <a:lnTo>
                    <a:pt x="967105" y="0"/>
                  </a:lnTo>
                  <a:lnTo>
                    <a:pt x="967105" y="275971"/>
                  </a:lnTo>
                  <a:lnTo>
                    <a:pt x="929005" y="275971"/>
                  </a:lnTo>
                  <a:lnTo>
                    <a:pt x="986155" y="390271"/>
                  </a:lnTo>
                  <a:lnTo>
                    <a:pt x="1033780" y="295021"/>
                  </a:lnTo>
                  <a:lnTo>
                    <a:pt x="1043305" y="27597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928616" y="5646419"/>
              <a:ext cx="553085" cy="114300"/>
            </a:xfrm>
            <a:custGeom>
              <a:avLst/>
              <a:gdLst/>
              <a:ahLst/>
              <a:cxnLst/>
              <a:rect l="l" t="t" r="r" b="b"/>
              <a:pathLst>
                <a:path w="553085" h="114300">
                  <a:moveTo>
                    <a:pt x="438658" y="0"/>
                  </a:moveTo>
                  <a:lnTo>
                    <a:pt x="438658" y="114299"/>
                  </a:lnTo>
                  <a:lnTo>
                    <a:pt x="514858" y="76199"/>
                  </a:lnTo>
                  <a:lnTo>
                    <a:pt x="457708" y="76199"/>
                  </a:lnTo>
                  <a:lnTo>
                    <a:pt x="457708" y="38099"/>
                  </a:lnTo>
                  <a:lnTo>
                    <a:pt x="514858" y="38099"/>
                  </a:lnTo>
                  <a:lnTo>
                    <a:pt x="438658" y="0"/>
                  </a:lnTo>
                  <a:close/>
                </a:path>
                <a:path w="553085" h="114300">
                  <a:moveTo>
                    <a:pt x="438658" y="38099"/>
                  </a:moveTo>
                  <a:lnTo>
                    <a:pt x="0" y="38099"/>
                  </a:lnTo>
                  <a:lnTo>
                    <a:pt x="0" y="76199"/>
                  </a:lnTo>
                  <a:lnTo>
                    <a:pt x="438658" y="76199"/>
                  </a:lnTo>
                  <a:lnTo>
                    <a:pt x="438658" y="38099"/>
                  </a:lnTo>
                  <a:close/>
                </a:path>
                <a:path w="553085" h="114300">
                  <a:moveTo>
                    <a:pt x="514858" y="38099"/>
                  </a:moveTo>
                  <a:lnTo>
                    <a:pt x="457708" y="38099"/>
                  </a:lnTo>
                  <a:lnTo>
                    <a:pt x="457708" y="76199"/>
                  </a:lnTo>
                  <a:lnTo>
                    <a:pt x="514858" y="76199"/>
                  </a:lnTo>
                  <a:lnTo>
                    <a:pt x="552958" y="57149"/>
                  </a:lnTo>
                  <a:lnTo>
                    <a:pt x="514858" y="3809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" name="object 20"/>
          <p:cNvSpPr/>
          <p:nvPr/>
        </p:nvSpPr>
        <p:spPr>
          <a:xfrm>
            <a:off x="9670160" y="1018413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9899650" y="1314449"/>
            <a:ext cx="1397000" cy="3003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20">
                <a:solidFill>
                  <a:srgbClr val="FFFFFF"/>
                </a:solidFill>
                <a:latin typeface="PMingLiU"/>
                <a:cs typeface="PMingLiU"/>
              </a:rPr>
              <a:t>问题结构分析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10378440" y="2052827"/>
            <a:ext cx="439420" cy="367030"/>
          </a:xfrm>
          <a:custGeom>
            <a:avLst/>
            <a:gdLst/>
            <a:ahLst/>
            <a:cxnLst/>
            <a:rect l="l" t="t" r="r" b="b"/>
            <a:pathLst>
              <a:path w="439420" h="367030">
                <a:moveTo>
                  <a:pt x="351154" y="0"/>
                </a:moveTo>
                <a:lnTo>
                  <a:pt x="87756" y="0"/>
                </a:lnTo>
                <a:lnTo>
                  <a:pt x="87756" y="183261"/>
                </a:lnTo>
                <a:lnTo>
                  <a:pt x="0" y="183261"/>
                </a:lnTo>
                <a:lnTo>
                  <a:pt x="219455" y="366522"/>
                </a:lnTo>
                <a:lnTo>
                  <a:pt x="438911" y="183261"/>
                </a:lnTo>
                <a:lnTo>
                  <a:pt x="351154" y="183261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9670160" y="2480691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 txBox="1"/>
          <p:nvPr/>
        </p:nvSpPr>
        <p:spPr>
          <a:xfrm>
            <a:off x="9899650" y="2776982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递推关系建立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10378440" y="3515105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9"/>
                </a:lnTo>
                <a:lnTo>
                  <a:pt x="0" y="182499"/>
                </a:lnTo>
                <a:lnTo>
                  <a:pt x="219455" y="364998"/>
                </a:lnTo>
                <a:lnTo>
                  <a:pt x="438911" y="182499"/>
                </a:lnTo>
                <a:lnTo>
                  <a:pt x="351154" y="182499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9670160" y="3941445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8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8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83C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 txBox="1"/>
          <p:nvPr/>
        </p:nvSpPr>
        <p:spPr>
          <a:xfrm>
            <a:off x="9899650" y="4237735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自底向上计算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10378440" y="4975859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8"/>
                </a:lnTo>
                <a:lnTo>
                  <a:pt x="0" y="182498"/>
                </a:lnTo>
                <a:lnTo>
                  <a:pt x="219455" y="364997"/>
                </a:lnTo>
                <a:lnTo>
                  <a:pt x="438911" y="182498"/>
                </a:lnTo>
                <a:lnTo>
                  <a:pt x="351154" y="182498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9670160" y="5402198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52"/>
                </a:lnTo>
                <a:lnTo>
                  <a:pt x="7647" y="914358"/>
                </a:lnTo>
                <a:lnTo>
                  <a:pt x="28511" y="945313"/>
                </a:lnTo>
                <a:lnTo>
                  <a:pt x="59471" y="966183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3"/>
                </a:lnTo>
                <a:lnTo>
                  <a:pt x="1827720" y="945313"/>
                </a:lnTo>
                <a:lnTo>
                  <a:pt x="1848584" y="914358"/>
                </a:lnTo>
                <a:lnTo>
                  <a:pt x="1856232" y="876452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 txBox="1"/>
          <p:nvPr/>
        </p:nvSpPr>
        <p:spPr>
          <a:xfrm>
            <a:off x="9899650" y="5698744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最优方案追踪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33" name="左大括号 32">
            <a:extLst>
              <a:ext uri="{FF2B5EF4-FFF2-40B4-BE49-F238E27FC236}">
                <a16:creationId xmlns:a16="http://schemas.microsoft.com/office/drawing/2014/main" id="{6F4A5275-2BC3-BA4E-B8C1-F0BF5F4B9A65}"/>
              </a:ext>
            </a:extLst>
          </p:cNvPr>
          <p:cNvSpPr/>
          <p:nvPr/>
        </p:nvSpPr>
        <p:spPr>
          <a:xfrm>
            <a:off x="2444645" y="2995622"/>
            <a:ext cx="212943" cy="598570"/>
          </a:xfrm>
          <a:prstGeom prst="leftBrac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  <p:sp>
        <p:nvSpPr>
          <p:cNvPr id="34" name="object 5">
            <a:extLst>
              <a:ext uri="{FF2B5EF4-FFF2-40B4-BE49-F238E27FC236}">
                <a16:creationId xmlns:a16="http://schemas.microsoft.com/office/drawing/2014/main" id="{3D520DAE-1B68-0D44-8516-40E8F73C58C7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25688" y="265681"/>
            <a:ext cx="7955890" cy="56618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6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自底向上计算：确定计算顺</a:t>
            </a:r>
            <a:r>
              <a:rPr sz="36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序</a:t>
            </a:r>
            <a:endParaRPr sz="36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167194" y="1599955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680403" y="1599955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738444" y="869979"/>
            <a:ext cx="6324600" cy="1921510"/>
          </a:xfrm>
          <a:prstGeom prst="rect">
            <a:avLst/>
          </a:prstGeom>
        </p:spPr>
        <p:txBody>
          <a:bodyPr vert="horz" wrap="square" lIns="0" tIns="12827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1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20">
                <a:latin typeface="PMingLiU"/>
                <a:cs typeface="PMingLiU"/>
              </a:rPr>
              <a:t>初始化</a:t>
            </a:r>
            <a:endParaRPr sz="2800">
              <a:latin typeface="PMingLiU"/>
              <a:cs typeface="PMingLiU"/>
            </a:endParaRPr>
          </a:p>
          <a:p>
            <a:pPr marL="704215" lvl="1" indent="-347980">
              <a:lnSpc>
                <a:spcPct val="100000"/>
              </a:lnSpc>
              <a:spcBef>
                <a:spcPts val="77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  <a:tab pos="1614170" algn="l"/>
              </a:tabLst>
            </a:pPr>
            <a:r>
              <a:rPr sz="2400" b="1" i="1">
                <a:latin typeface="Times New Roman"/>
                <a:cs typeface="Times New Roman"/>
              </a:rPr>
              <a:t>C</a:t>
            </a:r>
            <a:r>
              <a:rPr sz="2400" b="1" i="1" spc="240">
                <a:latin typeface="Times New Roman"/>
                <a:cs typeface="Times New Roman"/>
              </a:rPr>
              <a:t> </a:t>
            </a:r>
            <a:r>
              <a:rPr sz="2400" spc="-10">
                <a:latin typeface="Cambria Math"/>
                <a:cs typeface="Cambria Math"/>
              </a:rPr>
              <a:t>𝒊,</a:t>
            </a:r>
            <a:r>
              <a:rPr sz="2400" spc="-13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𝟎</a:t>
            </a:r>
            <a:r>
              <a:rPr sz="2400">
                <a:latin typeface="Cambria Math"/>
                <a:cs typeface="Cambria Math"/>
              </a:rPr>
              <a:t>	=</a:t>
            </a:r>
            <a:r>
              <a:rPr sz="2400" spc="125">
                <a:latin typeface="Cambria Math"/>
                <a:cs typeface="Cambria Math"/>
              </a:rPr>
              <a:t> </a:t>
            </a:r>
            <a:r>
              <a:rPr sz="2400" spc="-10">
                <a:latin typeface="Cambria Math"/>
                <a:cs typeface="Cambria Math"/>
              </a:rPr>
              <a:t>𝑪[𝟎,</a:t>
            </a:r>
            <a:r>
              <a:rPr sz="2400" spc="-13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𝒋]</a:t>
            </a:r>
            <a:r>
              <a:rPr sz="2400" spc="14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4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𝟎</a:t>
            </a:r>
            <a:endParaRPr sz="2400">
              <a:latin typeface="Cambria Math"/>
              <a:cs typeface="Cambria Math"/>
            </a:endParaRPr>
          </a:p>
          <a:p>
            <a:pPr marL="705485">
              <a:lnSpc>
                <a:spcPct val="100000"/>
              </a:lnSpc>
              <a:spcBef>
                <a:spcPts val="385"/>
              </a:spcBef>
              <a:tabLst>
                <a:tab pos="1000125" algn="l"/>
              </a:tabLst>
            </a:pPr>
            <a:r>
              <a:rPr sz="1550" spc="-50">
                <a:solidFill>
                  <a:srgbClr val="EB91D7"/>
                </a:solidFill>
                <a:latin typeface="Times New Roman"/>
                <a:cs typeface="Times New Roman"/>
              </a:rPr>
              <a:t>o</a:t>
            </a:r>
            <a:r>
              <a:rPr sz="1550">
                <a:solidFill>
                  <a:srgbClr val="EB91D7"/>
                </a:solidFill>
                <a:latin typeface="Times New Roman"/>
                <a:cs typeface="Times New Roman"/>
              </a:rPr>
              <a:t>	</a:t>
            </a:r>
            <a:r>
              <a:rPr sz="2200" spc="-5">
                <a:latin typeface="PMingLiU"/>
                <a:cs typeface="PMingLiU"/>
              </a:rPr>
              <a:t>某序列长度为</a:t>
            </a:r>
            <a:r>
              <a:rPr sz="2200" b="1">
                <a:latin typeface="Times New Roman"/>
                <a:cs typeface="Times New Roman"/>
              </a:rPr>
              <a:t>0</a:t>
            </a:r>
            <a:r>
              <a:rPr sz="2200" spc="-10">
                <a:latin typeface="PMingLiU"/>
                <a:cs typeface="PMingLiU"/>
              </a:rPr>
              <a:t>时，最长公共子序列长度为</a:t>
            </a:r>
            <a:r>
              <a:rPr sz="2200" b="1" spc="-50">
                <a:latin typeface="Times New Roman"/>
                <a:cs typeface="Times New Roman"/>
              </a:rPr>
              <a:t>0</a:t>
            </a:r>
            <a:endParaRPr sz="2200">
              <a:latin typeface="Times New Roman"/>
              <a:cs typeface="Times New Roman"/>
            </a:endParaRPr>
          </a:p>
          <a:p>
            <a:pPr marL="355600" indent="-342900">
              <a:lnSpc>
                <a:spcPct val="100000"/>
              </a:lnSpc>
              <a:spcBef>
                <a:spcPts val="615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5">
                <a:latin typeface="PMingLiU"/>
                <a:cs typeface="PMingLiU"/>
              </a:rPr>
              <a:t>递推公式</a:t>
            </a:r>
            <a:endParaRPr sz="2800">
              <a:latin typeface="PMingLiU"/>
              <a:cs typeface="PMingLiU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32763" y="3162554"/>
            <a:ext cx="184785" cy="28194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1650" spc="20">
                <a:solidFill>
                  <a:srgbClr val="DAB6FB"/>
                </a:solidFill>
                <a:latin typeface="Wingdings"/>
                <a:cs typeface="Wingdings"/>
              </a:rPr>
              <a:t></a:t>
            </a:r>
            <a:endParaRPr sz="1650">
              <a:latin typeface="Wingdings"/>
              <a:cs typeface="Wingding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329436" y="3254755"/>
            <a:ext cx="582422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3500">
              <a:lnSpc>
                <a:spcPct val="100000"/>
              </a:lnSpc>
              <a:spcBef>
                <a:spcPts val="100"/>
              </a:spcBef>
              <a:tabLst>
                <a:tab pos="4824095" algn="l"/>
                <a:tab pos="5291455" algn="l"/>
              </a:tabLst>
            </a:pPr>
            <a:r>
              <a:rPr sz="3600" spc="-15" baseline="33564" dirty="0">
                <a:latin typeface="Cambria Math"/>
                <a:cs typeface="Cambria Math"/>
              </a:rPr>
              <a:t>𝑪[𝒊,</a:t>
            </a:r>
            <a:r>
              <a:rPr sz="3600" spc="-225" baseline="33564" dirty="0">
                <a:latin typeface="Cambria Math"/>
                <a:cs typeface="Cambria Math"/>
              </a:rPr>
              <a:t> </a:t>
            </a:r>
            <a:r>
              <a:rPr sz="3600" baseline="33564" dirty="0">
                <a:latin typeface="Cambria Math"/>
                <a:cs typeface="Cambria Math"/>
              </a:rPr>
              <a:t>𝒋]</a:t>
            </a:r>
            <a:r>
              <a:rPr sz="3600" spc="202" baseline="33564" dirty="0">
                <a:latin typeface="Cambria Math"/>
                <a:cs typeface="Cambria Math"/>
              </a:rPr>
              <a:t> </a:t>
            </a:r>
            <a:r>
              <a:rPr sz="3600" baseline="33564" dirty="0">
                <a:latin typeface="Cambria Math"/>
                <a:cs typeface="Cambria Math"/>
              </a:rPr>
              <a:t>=</a:t>
            </a:r>
            <a:r>
              <a:rPr sz="3600" spc="202" baseline="33564" dirty="0">
                <a:latin typeface="Cambria Math"/>
                <a:cs typeface="Cambria Math"/>
              </a:rPr>
              <a:t> </a:t>
            </a:r>
            <a:r>
              <a:rPr lang="zh-CN" altLang="en-US" sz="3600" spc="202" baseline="33564" dirty="0">
                <a:latin typeface="Cambria Math"/>
                <a:cs typeface="Cambria Math"/>
              </a:rPr>
              <a:t>  </a:t>
            </a:r>
            <a:r>
              <a:rPr sz="2400" dirty="0">
                <a:solidFill>
                  <a:srgbClr val="FF0000"/>
                </a:solidFill>
                <a:latin typeface="Cambria Math"/>
                <a:cs typeface="Cambria Math"/>
              </a:rPr>
              <a:t>𝑪[𝒊</a:t>
            </a:r>
            <a:r>
              <a:rPr sz="2400" spc="-10" dirty="0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400" dirty="0">
                <a:solidFill>
                  <a:srgbClr val="FF0000"/>
                </a:solidFill>
                <a:latin typeface="Cambria Math"/>
                <a:cs typeface="Cambria Math"/>
              </a:rPr>
              <a:t>−</a:t>
            </a:r>
            <a:r>
              <a:rPr sz="2400" spc="5" dirty="0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400" dirty="0">
                <a:solidFill>
                  <a:srgbClr val="FF0000"/>
                </a:solidFill>
                <a:latin typeface="Cambria Math"/>
                <a:cs typeface="Cambria Math"/>
              </a:rPr>
              <a:t>𝟏,</a:t>
            </a:r>
            <a:r>
              <a:rPr sz="2400" spc="-135" dirty="0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400" dirty="0">
                <a:solidFill>
                  <a:srgbClr val="FF0000"/>
                </a:solidFill>
                <a:latin typeface="Cambria Math"/>
                <a:cs typeface="Cambria Math"/>
              </a:rPr>
              <a:t>𝒋</a:t>
            </a:r>
            <a:r>
              <a:rPr sz="2400" spc="5" dirty="0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400" dirty="0">
                <a:solidFill>
                  <a:srgbClr val="FF0000"/>
                </a:solidFill>
                <a:latin typeface="Cambria Math"/>
                <a:cs typeface="Cambria Math"/>
              </a:rPr>
              <a:t>−</a:t>
            </a:r>
            <a:r>
              <a:rPr sz="2400" spc="5" dirty="0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400" dirty="0">
                <a:solidFill>
                  <a:srgbClr val="FF0000"/>
                </a:solidFill>
                <a:latin typeface="Cambria Math"/>
                <a:cs typeface="Cambria Math"/>
              </a:rPr>
              <a:t>𝟏]</a:t>
            </a:r>
            <a:r>
              <a:rPr sz="2400" spc="5" dirty="0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400" dirty="0">
                <a:solidFill>
                  <a:srgbClr val="FF0000"/>
                </a:solidFill>
                <a:latin typeface="Cambria Math"/>
                <a:cs typeface="Cambria Math"/>
              </a:rPr>
              <a:t>+</a:t>
            </a:r>
            <a:r>
              <a:rPr sz="2400" spc="5" dirty="0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400" spc="-50" dirty="0">
                <a:latin typeface="Cambria Math"/>
                <a:cs typeface="Cambria Math"/>
              </a:rPr>
              <a:t>𝟏</a:t>
            </a:r>
            <a:r>
              <a:rPr sz="2400" dirty="0">
                <a:latin typeface="Cambria Math"/>
                <a:cs typeface="Cambria Math"/>
              </a:rPr>
              <a:t>	,</a:t>
            </a:r>
            <a:r>
              <a:rPr sz="2400" spc="-140" dirty="0">
                <a:latin typeface="Cambria Math"/>
                <a:cs typeface="Cambria Math"/>
              </a:rPr>
              <a:t> </a:t>
            </a:r>
            <a:r>
              <a:rPr sz="2400" spc="-50" dirty="0">
                <a:latin typeface="Cambria Math"/>
                <a:cs typeface="Cambria Math"/>
              </a:rPr>
              <a:t>𝒙</a:t>
            </a:r>
            <a:r>
              <a:rPr sz="2400" dirty="0">
                <a:latin typeface="Cambria Math"/>
                <a:cs typeface="Cambria Math"/>
              </a:rPr>
              <a:t>	=</a:t>
            </a:r>
            <a:r>
              <a:rPr sz="2400" spc="130" dirty="0">
                <a:latin typeface="Cambria Math"/>
                <a:cs typeface="Cambria Math"/>
              </a:rPr>
              <a:t> </a:t>
            </a:r>
            <a:r>
              <a:rPr sz="2400" spc="-50" dirty="0">
                <a:latin typeface="Cambria Math"/>
                <a:cs typeface="Cambria Math"/>
              </a:rPr>
              <a:t>𝒚</a:t>
            </a:r>
            <a:endParaRPr sz="2400" dirty="0">
              <a:latin typeface="Cambria Math"/>
              <a:cs typeface="Cambria Math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3276980" y="2919602"/>
            <a:ext cx="2906395" cy="283845"/>
          </a:xfrm>
          <a:custGeom>
            <a:avLst/>
            <a:gdLst/>
            <a:ahLst/>
            <a:cxnLst/>
            <a:rect l="l" t="t" r="r" b="b"/>
            <a:pathLst>
              <a:path w="2906395" h="283844">
                <a:moveTo>
                  <a:pt x="2815082" y="0"/>
                </a:moveTo>
                <a:lnTo>
                  <a:pt x="2811145" y="0"/>
                </a:lnTo>
                <a:lnTo>
                  <a:pt x="2811145" y="11302"/>
                </a:lnTo>
                <a:lnTo>
                  <a:pt x="2813431" y="11302"/>
                </a:lnTo>
                <a:lnTo>
                  <a:pt x="2823620" y="11995"/>
                </a:lnTo>
                <a:lnTo>
                  <a:pt x="2856357" y="37417"/>
                </a:lnTo>
                <a:lnTo>
                  <a:pt x="2859405" y="59689"/>
                </a:lnTo>
                <a:lnTo>
                  <a:pt x="2859216" y="65164"/>
                </a:lnTo>
                <a:lnTo>
                  <a:pt x="2858658" y="71294"/>
                </a:lnTo>
                <a:lnTo>
                  <a:pt x="2857744" y="78067"/>
                </a:lnTo>
                <a:lnTo>
                  <a:pt x="2856484" y="85471"/>
                </a:lnTo>
                <a:lnTo>
                  <a:pt x="2854452" y="95631"/>
                </a:lnTo>
                <a:lnTo>
                  <a:pt x="2853436" y="102870"/>
                </a:lnTo>
                <a:lnTo>
                  <a:pt x="2853436" y="115697"/>
                </a:lnTo>
                <a:lnTo>
                  <a:pt x="2855976" y="122682"/>
                </a:lnTo>
                <a:lnTo>
                  <a:pt x="2860929" y="128016"/>
                </a:lnTo>
                <a:lnTo>
                  <a:pt x="2865882" y="133476"/>
                </a:lnTo>
                <a:lnTo>
                  <a:pt x="2871724" y="137413"/>
                </a:lnTo>
                <a:lnTo>
                  <a:pt x="2878582" y="140081"/>
                </a:lnTo>
                <a:lnTo>
                  <a:pt x="2878582" y="142748"/>
                </a:lnTo>
                <a:lnTo>
                  <a:pt x="2871724" y="145287"/>
                </a:lnTo>
                <a:lnTo>
                  <a:pt x="2865882" y="149225"/>
                </a:lnTo>
                <a:lnTo>
                  <a:pt x="2855976" y="160147"/>
                </a:lnTo>
                <a:lnTo>
                  <a:pt x="2853436" y="167005"/>
                </a:lnTo>
                <a:lnTo>
                  <a:pt x="2853436" y="179832"/>
                </a:lnTo>
                <a:lnTo>
                  <a:pt x="2854452" y="187071"/>
                </a:lnTo>
                <a:lnTo>
                  <a:pt x="2856484" y="197358"/>
                </a:lnTo>
                <a:lnTo>
                  <a:pt x="2857744" y="204690"/>
                </a:lnTo>
                <a:lnTo>
                  <a:pt x="2858658" y="211439"/>
                </a:lnTo>
                <a:lnTo>
                  <a:pt x="2859216" y="217592"/>
                </a:lnTo>
                <a:lnTo>
                  <a:pt x="2859405" y="223138"/>
                </a:lnTo>
                <a:lnTo>
                  <a:pt x="2858643" y="235592"/>
                </a:lnTo>
                <a:lnTo>
                  <a:pt x="2832655" y="269700"/>
                </a:lnTo>
                <a:lnTo>
                  <a:pt x="2813431" y="272542"/>
                </a:lnTo>
                <a:lnTo>
                  <a:pt x="2811145" y="272542"/>
                </a:lnTo>
                <a:lnTo>
                  <a:pt x="2811145" y="283845"/>
                </a:lnTo>
                <a:lnTo>
                  <a:pt x="2815082" y="283845"/>
                </a:lnTo>
                <a:lnTo>
                  <a:pt x="2831437" y="282630"/>
                </a:lnTo>
                <a:lnTo>
                  <a:pt x="2867406" y="267843"/>
                </a:lnTo>
                <a:lnTo>
                  <a:pt x="2884678" y="220345"/>
                </a:lnTo>
                <a:lnTo>
                  <a:pt x="2884463" y="214012"/>
                </a:lnTo>
                <a:lnTo>
                  <a:pt x="2883820" y="207216"/>
                </a:lnTo>
                <a:lnTo>
                  <a:pt x="2882749" y="199967"/>
                </a:lnTo>
                <a:lnTo>
                  <a:pt x="2881249" y="192277"/>
                </a:lnTo>
                <a:lnTo>
                  <a:pt x="2878836" y="181737"/>
                </a:lnTo>
                <a:lnTo>
                  <a:pt x="2877693" y="174751"/>
                </a:lnTo>
                <a:lnTo>
                  <a:pt x="2877693" y="164337"/>
                </a:lnTo>
                <a:lnTo>
                  <a:pt x="2880106" y="158750"/>
                </a:lnTo>
                <a:lnTo>
                  <a:pt x="2889504" y="150113"/>
                </a:lnTo>
                <a:lnTo>
                  <a:pt x="2896616" y="147827"/>
                </a:lnTo>
                <a:lnTo>
                  <a:pt x="2906141" y="147447"/>
                </a:lnTo>
                <a:lnTo>
                  <a:pt x="2906141" y="135255"/>
                </a:lnTo>
                <a:lnTo>
                  <a:pt x="2896616" y="135000"/>
                </a:lnTo>
                <a:lnTo>
                  <a:pt x="2889504" y="132714"/>
                </a:lnTo>
                <a:lnTo>
                  <a:pt x="2880106" y="124079"/>
                </a:lnTo>
                <a:lnTo>
                  <a:pt x="2877693" y="118491"/>
                </a:lnTo>
                <a:lnTo>
                  <a:pt x="2877693" y="108076"/>
                </a:lnTo>
                <a:lnTo>
                  <a:pt x="2878836" y="100964"/>
                </a:lnTo>
                <a:lnTo>
                  <a:pt x="2881249" y="90424"/>
                </a:lnTo>
                <a:lnTo>
                  <a:pt x="2882749" y="82805"/>
                </a:lnTo>
                <a:lnTo>
                  <a:pt x="2883820" y="75580"/>
                </a:lnTo>
                <a:lnTo>
                  <a:pt x="2884463" y="68760"/>
                </a:lnTo>
                <a:lnTo>
                  <a:pt x="2884678" y="62357"/>
                </a:lnTo>
                <a:lnTo>
                  <a:pt x="2883604" y="47827"/>
                </a:lnTo>
                <a:lnTo>
                  <a:pt x="2857623" y="9215"/>
                </a:lnTo>
                <a:lnTo>
                  <a:pt x="2831437" y="1214"/>
                </a:lnTo>
                <a:lnTo>
                  <a:pt x="2815082" y="0"/>
                </a:lnTo>
                <a:close/>
              </a:path>
              <a:path w="2906395" h="283844">
                <a:moveTo>
                  <a:pt x="94996" y="0"/>
                </a:moveTo>
                <a:lnTo>
                  <a:pt x="91186" y="0"/>
                </a:lnTo>
                <a:lnTo>
                  <a:pt x="74777" y="1214"/>
                </a:lnTo>
                <a:lnTo>
                  <a:pt x="38862" y="16001"/>
                </a:lnTo>
                <a:lnTo>
                  <a:pt x="21664" y="59562"/>
                </a:lnTo>
                <a:lnTo>
                  <a:pt x="21558" y="65035"/>
                </a:lnTo>
                <a:lnTo>
                  <a:pt x="21679" y="68615"/>
                </a:lnTo>
                <a:lnTo>
                  <a:pt x="22336" y="75406"/>
                </a:lnTo>
                <a:lnTo>
                  <a:pt x="23445" y="82625"/>
                </a:lnTo>
                <a:lnTo>
                  <a:pt x="25019" y="90297"/>
                </a:lnTo>
                <a:lnTo>
                  <a:pt x="27305" y="100837"/>
                </a:lnTo>
                <a:lnTo>
                  <a:pt x="28448" y="107823"/>
                </a:lnTo>
                <a:lnTo>
                  <a:pt x="28448" y="118363"/>
                </a:lnTo>
                <a:lnTo>
                  <a:pt x="26162" y="123825"/>
                </a:lnTo>
                <a:lnTo>
                  <a:pt x="21336" y="128143"/>
                </a:lnTo>
                <a:lnTo>
                  <a:pt x="16637" y="132461"/>
                </a:lnTo>
                <a:lnTo>
                  <a:pt x="9525" y="134874"/>
                </a:lnTo>
                <a:lnTo>
                  <a:pt x="0" y="135127"/>
                </a:lnTo>
                <a:lnTo>
                  <a:pt x="0" y="147320"/>
                </a:lnTo>
                <a:lnTo>
                  <a:pt x="9525" y="147574"/>
                </a:lnTo>
                <a:lnTo>
                  <a:pt x="16637" y="149987"/>
                </a:lnTo>
                <a:lnTo>
                  <a:pt x="21336" y="154305"/>
                </a:lnTo>
                <a:lnTo>
                  <a:pt x="26162" y="158623"/>
                </a:lnTo>
                <a:lnTo>
                  <a:pt x="28448" y="164084"/>
                </a:lnTo>
                <a:lnTo>
                  <a:pt x="28448" y="174498"/>
                </a:lnTo>
                <a:lnTo>
                  <a:pt x="27305" y="181610"/>
                </a:lnTo>
                <a:lnTo>
                  <a:pt x="25019" y="192150"/>
                </a:lnTo>
                <a:lnTo>
                  <a:pt x="23445" y="199822"/>
                </a:lnTo>
                <a:lnTo>
                  <a:pt x="22336" y="207041"/>
                </a:lnTo>
                <a:lnTo>
                  <a:pt x="21679" y="213832"/>
                </a:lnTo>
                <a:lnTo>
                  <a:pt x="21463" y="220218"/>
                </a:lnTo>
                <a:lnTo>
                  <a:pt x="22556" y="235267"/>
                </a:lnTo>
                <a:lnTo>
                  <a:pt x="48627" y="274629"/>
                </a:lnTo>
                <a:lnTo>
                  <a:pt x="91186" y="283845"/>
                </a:lnTo>
                <a:lnTo>
                  <a:pt x="94996" y="283845"/>
                </a:lnTo>
                <a:lnTo>
                  <a:pt x="94996" y="272542"/>
                </a:lnTo>
                <a:lnTo>
                  <a:pt x="92710" y="272542"/>
                </a:lnTo>
                <a:lnTo>
                  <a:pt x="82520" y="271829"/>
                </a:lnTo>
                <a:lnTo>
                  <a:pt x="49784" y="246062"/>
                </a:lnTo>
                <a:lnTo>
                  <a:pt x="46736" y="222885"/>
                </a:lnTo>
                <a:lnTo>
                  <a:pt x="46926" y="217412"/>
                </a:lnTo>
                <a:lnTo>
                  <a:pt x="47498" y="211296"/>
                </a:lnTo>
                <a:lnTo>
                  <a:pt x="48450" y="204561"/>
                </a:lnTo>
                <a:lnTo>
                  <a:pt x="49784" y="197231"/>
                </a:lnTo>
                <a:lnTo>
                  <a:pt x="51689" y="186944"/>
                </a:lnTo>
                <a:lnTo>
                  <a:pt x="52705" y="179705"/>
                </a:lnTo>
                <a:lnTo>
                  <a:pt x="52705" y="166877"/>
                </a:lnTo>
                <a:lnTo>
                  <a:pt x="50292" y="159893"/>
                </a:lnTo>
                <a:lnTo>
                  <a:pt x="45339" y="154559"/>
                </a:lnTo>
                <a:lnTo>
                  <a:pt x="40386" y="149098"/>
                </a:lnTo>
                <a:lnTo>
                  <a:pt x="34417" y="145161"/>
                </a:lnTo>
                <a:lnTo>
                  <a:pt x="27559" y="142621"/>
                </a:lnTo>
                <a:lnTo>
                  <a:pt x="27559" y="139826"/>
                </a:lnTo>
                <a:lnTo>
                  <a:pt x="34417" y="137287"/>
                </a:lnTo>
                <a:lnTo>
                  <a:pt x="40386" y="133350"/>
                </a:lnTo>
                <a:lnTo>
                  <a:pt x="45339" y="127888"/>
                </a:lnTo>
                <a:lnTo>
                  <a:pt x="50292" y="122555"/>
                </a:lnTo>
                <a:lnTo>
                  <a:pt x="52705" y="115570"/>
                </a:lnTo>
                <a:lnTo>
                  <a:pt x="52705" y="102743"/>
                </a:lnTo>
                <a:lnTo>
                  <a:pt x="51689" y="95504"/>
                </a:lnTo>
                <a:lnTo>
                  <a:pt x="49784" y="85217"/>
                </a:lnTo>
                <a:lnTo>
                  <a:pt x="48450" y="77886"/>
                </a:lnTo>
                <a:lnTo>
                  <a:pt x="47498" y="71151"/>
                </a:lnTo>
                <a:lnTo>
                  <a:pt x="46926" y="65035"/>
                </a:lnTo>
                <a:lnTo>
                  <a:pt x="46736" y="59562"/>
                </a:lnTo>
                <a:lnTo>
                  <a:pt x="47498" y="47535"/>
                </a:lnTo>
                <a:lnTo>
                  <a:pt x="73485" y="14081"/>
                </a:lnTo>
                <a:lnTo>
                  <a:pt x="92710" y="11302"/>
                </a:lnTo>
                <a:lnTo>
                  <a:pt x="94996" y="11302"/>
                </a:lnTo>
                <a:lnTo>
                  <a:pt x="9499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2620010" y="2831084"/>
            <a:ext cx="466534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𝐦𝐚𝐱</a:t>
            </a:r>
            <a:r>
              <a:rPr sz="2400" spc="409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𝑪[𝒊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−</a:t>
            </a:r>
            <a:r>
              <a:rPr sz="2400" spc="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𝟏,</a:t>
            </a:r>
            <a:r>
              <a:rPr sz="2400" spc="-130">
                <a:latin typeface="Cambria Math"/>
                <a:cs typeface="Cambria Math"/>
              </a:rPr>
              <a:t> </a:t>
            </a:r>
            <a:r>
              <a:rPr sz="2400" spc="-10">
                <a:latin typeface="Cambria Math"/>
                <a:cs typeface="Cambria Math"/>
              </a:rPr>
              <a:t>𝒋],</a:t>
            </a:r>
            <a:r>
              <a:rPr sz="2400" spc="-140">
                <a:latin typeface="Cambria Math"/>
                <a:cs typeface="Cambria Math"/>
              </a:rPr>
              <a:t> </a:t>
            </a:r>
            <a:r>
              <a:rPr sz="2400" spc="-10">
                <a:latin typeface="Cambria Math"/>
                <a:cs typeface="Cambria Math"/>
              </a:rPr>
              <a:t>𝑪[𝒊,</a:t>
            </a:r>
            <a:r>
              <a:rPr sz="2400" spc="-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𝒋</a:t>
            </a:r>
            <a:r>
              <a:rPr sz="2400" spc="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−</a:t>
            </a:r>
            <a:r>
              <a:rPr sz="2400" spc="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𝟏]</a:t>
            </a:r>
            <a:r>
              <a:rPr sz="2400" spc="40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,</a:t>
            </a:r>
            <a:r>
              <a:rPr sz="2400" spc="-13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𝒙</a:t>
            </a:r>
            <a:r>
              <a:rPr sz="2625" baseline="-15873">
                <a:latin typeface="Cambria Math"/>
                <a:cs typeface="Cambria Math"/>
              </a:rPr>
              <a:t>𝒊</a:t>
            </a:r>
            <a:r>
              <a:rPr sz="2625" spc="577" baseline="-15873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≠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𝒚</a:t>
            </a:r>
            <a:r>
              <a:rPr sz="2625" spc="-37" baseline="-15873">
                <a:latin typeface="Cambria Math"/>
                <a:cs typeface="Cambria Math"/>
              </a:rPr>
              <a:t>𝒋</a:t>
            </a:r>
            <a:endParaRPr sz="2625" baseline="-15873">
              <a:latin typeface="Cambria Math"/>
              <a:cs typeface="Cambria Math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428994" y="3399535"/>
            <a:ext cx="786130" cy="2927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685800" algn="l"/>
              </a:tabLst>
            </a:pPr>
            <a:r>
              <a:rPr sz="1750" spc="-50">
                <a:latin typeface="Cambria Math"/>
                <a:cs typeface="Cambria Math"/>
              </a:rPr>
              <a:t>𝒊</a:t>
            </a:r>
            <a:r>
              <a:rPr sz="1750">
                <a:latin typeface="Cambria Math"/>
                <a:cs typeface="Cambria Math"/>
              </a:rPr>
              <a:t>	</a:t>
            </a:r>
            <a:r>
              <a:rPr sz="1750" spc="-50">
                <a:latin typeface="Cambria Math"/>
                <a:cs typeface="Cambria Math"/>
              </a:rPr>
              <a:t>𝒋</a:t>
            </a:r>
            <a:endParaRPr sz="1750">
              <a:latin typeface="Cambria Math"/>
              <a:cs typeface="Cambria Math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686051" y="3802995"/>
            <a:ext cx="5316855" cy="24244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875"/>
              </a:lnSpc>
              <a:tabLst>
                <a:tab pos="998855" algn="l"/>
                <a:tab pos="1950085" algn="l"/>
                <a:tab pos="2897505" algn="l"/>
                <a:tab pos="4004945" algn="l"/>
                <a:tab pos="4750435" algn="l"/>
              </a:tabLst>
            </a:pPr>
            <a:r>
              <a:rPr sz="1700" spc="-10">
                <a:solidFill>
                  <a:srgbClr val="FFFFFF"/>
                </a:solidFill>
                <a:latin typeface="Cambria Math"/>
                <a:cs typeface="Cambria Math"/>
              </a:rPr>
              <a:t>𝑫[𝒊,</a:t>
            </a:r>
            <a:r>
              <a:rPr sz="1700" spc="-9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 spc="-25">
                <a:solidFill>
                  <a:srgbClr val="FFFFFF"/>
                </a:solidFill>
                <a:latin typeface="Cambria Math"/>
                <a:cs typeface="Cambria Math"/>
              </a:rPr>
              <a:t>𝒋]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	𝒋</a:t>
            </a:r>
            <a:r>
              <a:rPr sz="1700" spc="8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=</a:t>
            </a:r>
            <a:r>
              <a:rPr sz="1700" spc="9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 spc="-50">
                <a:solidFill>
                  <a:srgbClr val="FFFFFF"/>
                </a:solidFill>
                <a:latin typeface="Cambria Math"/>
                <a:cs typeface="Cambria Math"/>
              </a:rPr>
              <a:t>𝟎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	𝒋</a:t>
            </a:r>
            <a:r>
              <a:rPr sz="1700" spc="8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=</a:t>
            </a:r>
            <a:r>
              <a:rPr sz="1700" spc="9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 spc="-50">
                <a:solidFill>
                  <a:srgbClr val="FFFFFF"/>
                </a:solidFill>
                <a:latin typeface="Cambria Math"/>
                <a:cs typeface="Cambria Math"/>
              </a:rPr>
              <a:t>1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	𝒋</a:t>
            </a:r>
            <a:r>
              <a:rPr sz="1700" spc="8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=</a:t>
            </a:r>
            <a:r>
              <a:rPr sz="1700" spc="9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 spc="-50">
                <a:solidFill>
                  <a:srgbClr val="FFFFFF"/>
                </a:solidFill>
                <a:latin typeface="Cambria Math"/>
                <a:cs typeface="Cambria Math"/>
              </a:rPr>
              <a:t>2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	</a:t>
            </a:r>
            <a:r>
              <a:rPr sz="1700" b="1" spc="-50">
                <a:solidFill>
                  <a:srgbClr val="FFFFFF"/>
                </a:solidFill>
                <a:latin typeface="Arial"/>
                <a:cs typeface="Arial"/>
              </a:rPr>
              <a:t>…</a:t>
            </a:r>
            <a:r>
              <a:rPr sz="1700" b="1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𝒋</a:t>
            </a:r>
            <a:r>
              <a:rPr sz="1700" spc="8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=</a:t>
            </a:r>
            <a:r>
              <a:rPr sz="1700" spc="9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 spc="-50">
                <a:solidFill>
                  <a:srgbClr val="FFFFFF"/>
                </a:solidFill>
                <a:latin typeface="Cambria Math"/>
                <a:cs typeface="Cambria Math"/>
              </a:rPr>
              <a:t>𝒎</a:t>
            </a:r>
            <a:endParaRPr sz="1700">
              <a:latin typeface="Cambria Math"/>
              <a:cs typeface="Cambria Math"/>
            </a:endParaRPr>
          </a:p>
          <a:p>
            <a:pPr marL="40640">
              <a:lnSpc>
                <a:spcPct val="100000"/>
              </a:lnSpc>
              <a:spcBef>
                <a:spcPts val="1390"/>
              </a:spcBef>
              <a:tabLst>
                <a:tab pos="1218565" algn="l"/>
                <a:tab pos="2165985" algn="l"/>
                <a:tab pos="3112135" algn="l"/>
                <a:tab pos="4058920" algn="l"/>
                <a:tab pos="5005705" algn="l"/>
              </a:tabLst>
            </a:pPr>
            <a:r>
              <a:rPr sz="1700">
                <a:latin typeface="Cambria Math"/>
                <a:cs typeface="Cambria Math"/>
              </a:rPr>
              <a:t>𝑖</a:t>
            </a:r>
            <a:r>
              <a:rPr sz="1700" spc="145">
                <a:latin typeface="Cambria Math"/>
                <a:cs typeface="Cambria Math"/>
              </a:rPr>
              <a:t> </a:t>
            </a:r>
            <a:r>
              <a:rPr sz="1700">
                <a:latin typeface="Cambria Math"/>
                <a:cs typeface="Cambria Math"/>
              </a:rPr>
              <a:t>=</a:t>
            </a:r>
            <a:r>
              <a:rPr sz="1700" spc="100">
                <a:latin typeface="Cambria Math"/>
                <a:cs typeface="Cambria Math"/>
              </a:rPr>
              <a:t> </a:t>
            </a:r>
            <a:r>
              <a:rPr sz="1700" spc="-50">
                <a:latin typeface="Cambria Math"/>
                <a:cs typeface="Cambria Math"/>
              </a:rPr>
              <a:t>0</a:t>
            </a:r>
            <a:r>
              <a:rPr sz="1700">
                <a:latin typeface="Cambria Math"/>
                <a:cs typeface="Cambria Math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r>
              <a:rPr sz="1700">
                <a:latin typeface="Times New Roman"/>
                <a:cs typeface="Times New Roman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r>
              <a:rPr sz="1700">
                <a:latin typeface="Times New Roman"/>
                <a:cs typeface="Times New Roman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r>
              <a:rPr sz="1700">
                <a:latin typeface="Times New Roman"/>
                <a:cs typeface="Times New Roman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r>
              <a:rPr sz="1700">
                <a:latin typeface="Times New Roman"/>
                <a:cs typeface="Times New Roman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endParaRPr sz="1700">
              <a:latin typeface="Times New Roman"/>
              <a:cs typeface="Times New Roman"/>
            </a:endParaRPr>
          </a:p>
          <a:p>
            <a:pPr marR="3981450" algn="r">
              <a:lnSpc>
                <a:spcPct val="100000"/>
              </a:lnSpc>
              <a:spcBef>
                <a:spcPts val="1400"/>
              </a:spcBef>
              <a:tabLst>
                <a:tab pos="1177925" algn="l"/>
              </a:tabLst>
            </a:pPr>
            <a:r>
              <a:rPr sz="1700">
                <a:latin typeface="Cambria Math"/>
                <a:cs typeface="Cambria Math"/>
              </a:rPr>
              <a:t>𝑖</a:t>
            </a:r>
            <a:r>
              <a:rPr sz="1700" spc="135">
                <a:latin typeface="Cambria Math"/>
                <a:cs typeface="Cambria Math"/>
              </a:rPr>
              <a:t> </a:t>
            </a:r>
            <a:r>
              <a:rPr sz="1700">
                <a:latin typeface="Cambria Math"/>
                <a:cs typeface="Cambria Math"/>
              </a:rPr>
              <a:t>=</a:t>
            </a:r>
            <a:r>
              <a:rPr sz="1700" spc="90">
                <a:latin typeface="Cambria Math"/>
                <a:cs typeface="Cambria Math"/>
              </a:rPr>
              <a:t> </a:t>
            </a:r>
            <a:r>
              <a:rPr sz="1700" spc="-50">
                <a:latin typeface="Cambria Math"/>
                <a:cs typeface="Cambria Math"/>
              </a:rPr>
              <a:t>1</a:t>
            </a:r>
            <a:r>
              <a:rPr sz="1700">
                <a:latin typeface="Cambria Math"/>
                <a:cs typeface="Cambria Math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endParaRPr sz="1700">
              <a:latin typeface="Times New Roman"/>
              <a:cs typeface="Times New Roman"/>
            </a:endParaRPr>
          </a:p>
          <a:p>
            <a:pPr marR="3981450" algn="r">
              <a:lnSpc>
                <a:spcPct val="100000"/>
              </a:lnSpc>
              <a:spcBef>
                <a:spcPts val="1390"/>
              </a:spcBef>
              <a:tabLst>
                <a:tab pos="1177925" algn="l"/>
              </a:tabLst>
            </a:pPr>
            <a:r>
              <a:rPr sz="1700">
                <a:latin typeface="Cambria Math"/>
                <a:cs typeface="Cambria Math"/>
              </a:rPr>
              <a:t>𝑖</a:t>
            </a:r>
            <a:r>
              <a:rPr sz="1700" spc="135">
                <a:latin typeface="Cambria Math"/>
                <a:cs typeface="Cambria Math"/>
              </a:rPr>
              <a:t> </a:t>
            </a:r>
            <a:r>
              <a:rPr sz="1700">
                <a:latin typeface="Cambria Math"/>
                <a:cs typeface="Cambria Math"/>
              </a:rPr>
              <a:t>=</a:t>
            </a:r>
            <a:r>
              <a:rPr sz="1700" spc="90">
                <a:latin typeface="Cambria Math"/>
                <a:cs typeface="Cambria Math"/>
              </a:rPr>
              <a:t> </a:t>
            </a:r>
            <a:r>
              <a:rPr sz="1700" spc="-50">
                <a:latin typeface="Cambria Math"/>
                <a:cs typeface="Cambria Math"/>
              </a:rPr>
              <a:t>2</a:t>
            </a:r>
            <a:r>
              <a:rPr sz="1700">
                <a:latin typeface="Cambria Math"/>
                <a:cs typeface="Cambria Math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endParaRPr sz="1700">
              <a:latin typeface="Times New Roman"/>
              <a:cs typeface="Times New Roman"/>
            </a:endParaRPr>
          </a:p>
          <a:p>
            <a:pPr marR="3981450" algn="r">
              <a:lnSpc>
                <a:spcPct val="100000"/>
              </a:lnSpc>
              <a:spcBef>
                <a:spcPts val="1395"/>
              </a:spcBef>
              <a:tabLst>
                <a:tab pos="1020444" algn="l"/>
              </a:tabLst>
            </a:pPr>
            <a:r>
              <a:rPr sz="1700" spc="-50">
                <a:latin typeface="Cambria Math"/>
                <a:cs typeface="Cambria Math"/>
              </a:rPr>
              <a:t>…</a:t>
            </a:r>
            <a:r>
              <a:rPr sz="1700">
                <a:latin typeface="Cambria Math"/>
                <a:cs typeface="Cambria Math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endParaRPr sz="1700">
              <a:latin typeface="Times New Roman"/>
              <a:cs typeface="Times New Roman"/>
            </a:endParaRPr>
          </a:p>
          <a:p>
            <a:pPr marR="3981450" algn="r">
              <a:lnSpc>
                <a:spcPct val="100000"/>
              </a:lnSpc>
              <a:spcBef>
                <a:spcPts val="1395"/>
              </a:spcBef>
              <a:tabLst>
                <a:tab pos="1182370" algn="l"/>
              </a:tabLst>
            </a:pPr>
            <a:r>
              <a:rPr sz="1700">
                <a:latin typeface="Cambria Math"/>
                <a:cs typeface="Cambria Math"/>
              </a:rPr>
              <a:t>𝑖</a:t>
            </a:r>
            <a:r>
              <a:rPr sz="1700" spc="145">
                <a:latin typeface="Cambria Math"/>
                <a:cs typeface="Cambria Math"/>
              </a:rPr>
              <a:t> </a:t>
            </a:r>
            <a:r>
              <a:rPr sz="1700">
                <a:latin typeface="Cambria Math"/>
                <a:cs typeface="Cambria Math"/>
              </a:rPr>
              <a:t>=</a:t>
            </a:r>
            <a:r>
              <a:rPr sz="1700" spc="90">
                <a:latin typeface="Cambria Math"/>
                <a:cs typeface="Cambria Math"/>
              </a:rPr>
              <a:t> </a:t>
            </a:r>
            <a:r>
              <a:rPr sz="1700" spc="-50">
                <a:latin typeface="Cambria Math"/>
                <a:cs typeface="Cambria Math"/>
              </a:rPr>
              <a:t>𝑛</a:t>
            </a:r>
            <a:r>
              <a:rPr sz="1700">
                <a:latin typeface="Cambria Math"/>
                <a:cs typeface="Cambria Math"/>
              </a:rPr>
              <a:t>	</a:t>
            </a:r>
            <a:r>
              <a:rPr sz="1700" spc="-50">
                <a:latin typeface="Times New Roman"/>
                <a:cs typeface="Times New Roman"/>
              </a:rPr>
              <a:t>0</a:t>
            </a:r>
            <a:endParaRPr sz="1700">
              <a:latin typeface="Times New Roman"/>
              <a:cs typeface="Times New Roman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1497838" y="3702786"/>
            <a:ext cx="5721985" cy="2616835"/>
            <a:chOff x="1497838" y="3702786"/>
            <a:chExt cx="5721985" cy="2616835"/>
          </a:xfrm>
        </p:grpSpPr>
        <p:sp>
          <p:nvSpPr>
            <p:cNvPr id="13" name="object 13"/>
            <p:cNvSpPr/>
            <p:nvPr/>
          </p:nvSpPr>
          <p:spPr>
            <a:xfrm>
              <a:off x="1497838" y="3702786"/>
              <a:ext cx="5721985" cy="2616835"/>
            </a:xfrm>
            <a:custGeom>
              <a:avLst/>
              <a:gdLst/>
              <a:ahLst/>
              <a:cxnLst/>
              <a:rect l="l" t="t" r="r" b="b"/>
              <a:pathLst>
                <a:path w="5721984" h="2616835">
                  <a:moveTo>
                    <a:pt x="5721477" y="0"/>
                  </a:moveTo>
                  <a:lnTo>
                    <a:pt x="0" y="0"/>
                  </a:lnTo>
                  <a:lnTo>
                    <a:pt x="0" y="2616581"/>
                  </a:lnTo>
                  <a:lnTo>
                    <a:pt x="5721477" y="2616581"/>
                  </a:lnTo>
                  <a:lnTo>
                    <a:pt x="5721477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379341" y="5011051"/>
              <a:ext cx="1893570" cy="436245"/>
            </a:xfrm>
            <a:custGeom>
              <a:avLst/>
              <a:gdLst/>
              <a:ahLst/>
              <a:cxnLst/>
              <a:rect l="l" t="t" r="r" b="b"/>
              <a:pathLst>
                <a:path w="1893570" h="436245">
                  <a:moveTo>
                    <a:pt x="946670" y="0"/>
                  </a:moveTo>
                  <a:lnTo>
                    <a:pt x="0" y="0"/>
                  </a:lnTo>
                  <a:lnTo>
                    <a:pt x="0" y="436105"/>
                  </a:lnTo>
                  <a:lnTo>
                    <a:pt x="946670" y="436105"/>
                  </a:lnTo>
                  <a:lnTo>
                    <a:pt x="946670" y="0"/>
                  </a:lnTo>
                  <a:close/>
                </a:path>
                <a:path w="1893570" h="436245">
                  <a:moveTo>
                    <a:pt x="1893455" y="0"/>
                  </a:moveTo>
                  <a:lnTo>
                    <a:pt x="946785" y="0"/>
                  </a:lnTo>
                  <a:lnTo>
                    <a:pt x="946785" y="436105"/>
                  </a:lnTo>
                  <a:lnTo>
                    <a:pt x="1893455" y="436105"/>
                  </a:lnTo>
                  <a:lnTo>
                    <a:pt x="1893455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379341" y="5447157"/>
              <a:ext cx="1893570" cy="436245"/>
            </a:xfrm>
            <a:custGeom>
              <a:avLst/>
              <a:gdLst/>
              <a:ahLst/>
              <a:cxnLst/>
              <a:rect l="l" t="t" r="r" b="b"/>
              <a:pathLst>
                <a:path w="1893570" h="436245">
                  <a:moveTo>
                    <a:pt x="946670" y="0"/>
                  </a:moveTo>
                  <a:lnTo>
                    <a:pt x="0" y="0"/>
                  </a:lnTo>
                  <a:lnTo>
                    <a:pt x="0" y="436105"/>
                  </a:lnTo>
                  <a:lnTo>
                    <a:pt x="946670" y="436105"/>
                  </a:lnTo>
                  <a:lnTo>
                    <a:pt x="946670" y="0"/>
                  </a:lnTo>
                  <a:close/>
                </a:path>
                <a:path w="1893570" h="436245">
                  <a:moveTo>
                    <a:pt x="1893455" y="0"/>
                  </a:moveTo>
                  <a:lnTo>
                    <a:pt x="946785" y="0"/>
                  </a:lnTo>
                  <a:lnTo>
                    <a:pt x="946785" y="436105"/>
                  </a:lnTo>
                  <a:lnTo>
                    <a:pt x="1893455" y="436105"/>
                  </a:lnTo>
                  <a:lnTo>
                    <a:pt x="1893455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6" name="object 16"/>
          <p:cNvGraphicFramePr>
            <a:graphicFrameLocks noGrp="1"/>
          </p:cNvGraphicFramePr>
          <p:nvPr/>
        </p:nvGraphicFramePr>
        <p:xfrm>
          <a:off x="1491488" y="3694303"/>
          <a:ext cx="5721984" cy="26149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880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467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36880">
                <a:tc>
                  <a:txBody>
                    <a:bodyPr/>
                    <a:lstStyle/>
                    <a:p>
                      <a:pPr marR="45720"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sz="17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𝑪[𝒊,</a:t>
                      </a:r>
                      <a:r>
                        <a:rPr sz="1700" spc="-9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𝒋]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25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25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4450"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𝟏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25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4450"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𝟐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25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sz="1700" b="1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…</a:t>
                      </a:r>
                      <a:endParaRPr sz="1700">
                        <a:latin typeface="Arial"/>
                        <a:cs typeface="Arial"/>
                      </a:endParaRPr>
                    </a:p>
                  </a:txBody>
                  <a:tcPr marL="0" marR="0" marT="825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𝒎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25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latin typeface="Cambria Math"/>
                          <a:cs typeface="Cambria Math"/>
                        </a:rPr>
                        <a:t>𝟎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latin typeface="Cambria Math"/>
                          <a:cs typeface="Cambria Math"/>
                        </a:rPr>
                        <a:t>𝟏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latin typeface="Cambria Math"/>
                          <a:cs typeface="Cambria Math"/>
                        </a:rPr>
                        <a:t>𝟐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72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572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spc="-10">
                          <a:latin typeface="Cambria Math"/>
                          <a:cs typeface="Cambria Math"/>
                        </a:rPr>
                        <a:t>𝑪[𝒊,</a:t>
                      </a:r>
                      <a:r>
                        <a:rPr sz="1700" spc="-10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25">
                          <a:latin typeface="Cambria Math"/>
                          <a:cs typeface="Cambria Math"/>
                        </a:rPr>
                        <a:t>𝒋]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7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60">
                          <a:latin typeface="Cambria Math"/>
                          <a:cs typeface="Cambria Math"/>
                        </a:rPr>
                        <a:t>𝒏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pSp>
        <p:nvGrpSpPr>
          <p:cNvPr id="17" name="object 17"/>
          <p:cNvGrpSpPr/>
          <p:nvPr/>
        </p:nvGrpSpPr>
        <p:grpSpPr>
          <a:xfrm>
            <a:off x="4920107" y="5136641"/>
            <a:ext cx="1043305" cy="624205"/>
            <a:chOff x="4920107" y="5136641"/>
            <a:chExt cx="1043305" cy="624205"/>
          </a:xfrm>
        </p:grpSpPr>
        <p:sp>
          <p:nvSpPr>
            <p:cNvPr id="18" name="object 18"/>
            <p:cNvSpPr/>
            <p:nvPr/>
          </p:nvSpPr>
          <p:spPr>
            <a:xfrm>
              <a:off x="5849112" y="5136641"/>
              <a:ext cx="114300" cy="390525"/>
            </a:xfrm>
            <a:custGeom>
              <a:avLst/>
              <a:gdLst/>
              <a:ahLst/>
              <a:cxnLst/>
              <a:rect l="l" t="t" r="r" b="b"/>
              <a:pathLst>
                <a:path w="114300" h="390525">
                  <a:moveTo>
                    <a:pt x="38100" y="275970"/>
                  </a:moveTo>
                  <a:lnTo>
                    <a:pt x="0" y="275970"/>
                  </a:lnTo>
                  <a:lnTo>
                    <a:pt x="57150" y="390270"/>
                  </a:lnTo>
                  <a:lnTo>
                    <a:pt x="104775" y="295020"/>
                  </a:lnTo>
                  <a:lnTo>
                    <a:pt x="38100" y="295020"/>
                  </a:lnTo>
                  <a:lnTo>
                    <a:pt x="38100" y="275970"/>
                  </a:lnTo>
                  <a:close/>
                </a:path>
                <a:path w="114300" h="390525">
                  <a:moveTo>
                    <a:pt x="76200" y="0"/>
                  </a:moveTo>
                  <a:lnTo>
                    <a:pt x="38100" y="0"/>
                  </a:lnTo>
                  <a:lnTo>
                    <a:pt x="38100" y="295020"/>
                  </a:lnTo>
                  <a:lnTo>
                    <a:pt x="76200" y="295020"/>
                  </a:lnTo>
                  <a:lnTo>
                    <a:pt x="76200" y="0"/>
                  </a:lnTo>
                  <a:close/>
                </a:path>
                <a:path w="114300" h="390525">
                  <a:moveTo>
                    <a:pt x="114300" y="275970"/>
                  </a:moveTo>
                  <a:lnTo>
                    <a:pt x="76200" y="275970"/>
                  </a:lnTo>
                  <a:lnTo>
                    <a:pt x="76200" y="295020"/>
                  </a:lnTo>
                  <a:lnTo>
                    <a:pt x="104775" y="295020"/>
                  </a:lnTo>
                  <a:lnTo>
                    <a:pt x="114300" y="27597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920107" y="5208777"/>
              <a:ext cx="615950" cy="319405"/>
            </a:xfrm>
            <a:custGeom>
              <a:avLst/>
              <a:gdLst/>
              <a:ahLst/>
              <a:cxnLst/>
              <a:rect l="l" t="t" r="r" b="b"/>
              <a:pathLst>
                <a:path w="615950" h="319404">
                  <a:moveTo>
                    <a:pt x="505109" y="285054"/>
                  </a:moveTo>
                  <a:lnTo>
                    <a:pt x="488188" y="319151"/>
                  </a:lnTo>
                  <a:lnTo>
                    <a:pt x="615950" y="318770"/>
                  </a:lnTo>
                  <a:lnTo>
                    <a:pt x="596877" y="293497"/>
                  </a:lnTo>
                  <a:lnTo>
                    <a:pt x="522096" y="293497"/>
                  </a:lnTo>
                  <a:lnTo>
                    <a:pt x="505109" y="285054"/>
                  </a:lnTo>
                  <a:close/>
                </a:path>
                <a:path w="615950" h="319404">
                  <a:moveTo>
                    <a:pt x="522074" y="250869"/>
                  </a:moveTo>
                  <a:lnTo>
                    <a:pt x="505109" y="285054"/>
                  </a:lnTo>
                  <a:lnTo>
                    <a:pt x="522096" y="293497"/>
                  </a:lnTo>
                  <a:lnTo>
                    <a:pt x="539114" y="259334"/>
                  </a:lnTo>
                  <a:lnTo>
                    <a:pt x="522074" y="250869"/>
                  </a:lnTo>
                  <a:close/>
                </a:path>
                <a:path w="615950" h="319404">
                  <a:moveTo>
                    <a:pt x="538988" y="216789"/>
                  </a:moveTo>
                  <a:lnTo>
                    <a:pt x="522074" y="250869"/>
                  </a:lnTo>
                  <a:lnTo>
                    <a:pt x="539114" y="259334"/>
                  </a:lnTo>
                  <a:lnTo>
                    <a:pt x="522096" y="293497"/>
                  </a:lnTo>
                  <a:lnTo>
                    <a:pt x="596877" y="293497"/>
                  </a:lnTo>
                  <a:lnTo>
                    <a:pt x="538988" y="216789"/>
                  </a:lnTo>
                  <a:close/>
                </a:path>
                <a:path w="615950" h="319404">
                  <a:moveTo>
                    <a:pt x="17017" y="0"/>
                  </a:moveTo>
                  <a:lnTo>
                    <a:pt x="0" y="34036"/>
                  </a:lnTo>
                  <a:lnTo>
                    <a:pt x="505109" y="285054"/>
                  </a:lnTo>
                  <a:lnTo>
                    <a:pt x="522074" y="250869"/>
                  </a:lnTo>
                  <a:lnTo>
                    <a:pt x="17017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928616" y="5646419"/>
              <a:ext cx="553085" cy="114300"/>
            </a:xfrm>
            <a:custGeom>
              <a:avLst/>
              <a:gdLst/>
              <a:ahLst/>
              <a:cxnLst/>
              <a:rect l="l" t="t" r="r" b="b"/>
              <a:pathLst>
                <a:path w="553085" h="114300">
                  <a:moveTo>
                    <a:pt x="438658" y="0"/>
                  </a:moveTo>
                  <a:lnTo>
                    <a:pt x="438658" y="114299"/>
                  </a:lnTo>
                  <a:lnTo>
                    <a:pt x="514858" y="76199"/>
                  </a:lnTo>
                  <a:lnTo>
                    <a:pt x="457708" y="76199"/>
                  </a:lnTo>
                  <a:lnTo>
                    <a:pt x="457708" y="38099"/>
                  </a:lnTo>
                  <a:lnTo>
                    <a:pt x="514858" y="38099"/>
                  </a:lnTo>
                  <a:lnTo>
                    <a:pt x="438658" y="0"/>
                  </a:lnTo>
                  <a:close/>
                </a:path>
                <a:path w="553085" h="114300">
                  <a:moveTo>
                    <a:pt x="438658" y="38099"/>
                  </a:moveTo>
                  <a:lnTo>
                    <a:pt x="0" y="38099"/>
                  </a:lnTo>
                  <a:lnTo>
                    <a:pt x="0" y="76199"/>
                  </a:lnTo>
                  <a:lnTo>
                    <a:pt x="438658" y="76199"/>
                  </a:lnTo>
                  <a:lnTo>
                    <a:pt x="438658" y="38099"/>
                  </a:lnTo>
                  <a:close/>
                </a:path>
                <a:path w="553085" h="114300">
                  <a:moveTo>
                    <a:pt x="514858" y="38099"/>
                  </a:moveTo>
                  <a:lnTo>
                    <a:pt x="457708" y="38099"/>
                  </a:lnTo>
                  <a:lnTo>
                    <a:pt x="457708" y="76199"/>
                  </a:lnTo>
                  <a:lnTo>
                    <a:pt x="514858" y="76199"/>
                  </a:lnTo>
                  <a:lnTo>
                    <a:pt x="552958" y="57149"/>
                  </a:lnTo>
                  <a:lnTo>
                    <a:pt x="51485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" name="object 21"/>
          <p:cNvSpPr/>
          <p:nvPr/>
        </p:nvSpPr>
        <p:spPr>
          <a:xfrm>
            <a:off x="9670160" y="1018413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 txBox="1"/>
          <p:nvPr/>
        </p:nvSpPr>
        <p:spPr>
          <a:xfrm>
            <a:off x="9899650" y="1314449"/>
            <a:ext cx="1397000" cy="3003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20">
                <a:solidFill>
                  <a:srgbClr val="FFFFFF"/>
                </a:solidFill>
                <a:latin typeface="PMingLiU"/>
                <a:cs typeface="PMingLiU"/>
              </a:rPr>
              <a:t>问题结构分析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10378440" y="2052827"/>
            <a:ext cx="439420" cy="367030"/>
          </a:xfrm>
          <a:custGeom>
            <a:avLst/>
            <a:gdLst/>
            <a:ahLst/>
            <a:cxnLst/>
            <a:rect l="l" t="t" r="r" b="b"/>
            <a:pathLst>
              <a:path w="439420" h="367030">
                <a:moveTo>
                  <a:pt x="351154" y="0"/>
                </a:moveTo>
                <a:lnTo>
                  <a:pt x="87756" y="0"/>
                </a:lnTo>
                <a:lnTo>
                  <a:pt x="87756" y="183261"/>
                </a:lnTo>
                <a:lnTo>
                  <a:pt x="0" y="183261"/>
                </a:lnTo>
                <a:lnTo>
                  <a:pt x="219455" y="366522"/>
                </a:lnTo>
                <a:lnTo>
                  <a:pt x="438911" y="183261"/>
                </a:lnTo>
                <a:lnTo>
                  <a:pt x="351154" y="183261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9670160" y="2480691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9899650" y="2776982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递推关系建立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10378440" y="3515105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9"/>
                </a:lnTo>
                <a:lnTo>
                  <a:pt x="0" y="182499"/>
                </a:lnTo>
                <a:lnTo>
                  <a:pt x="219455" y="364998"/>
                </a:lnTo>
                <a:lnTo>
                  <a:pt x="438911" y="182499"/>
                </a:lnTo>
                <a:lnTo>
                  <a:pt x="351154" y="182499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670160" y="3941445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8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8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83C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 txBox="1"/>
          <p:nvPr/>
        </p:nvSpPr>
        <p:spPr>
          <a:xfrm>
            <a:off x="9899650" y="4237735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自底向上计算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29" name="object 29"/>
          <p:cNvSpPr/>
          <p:nvPr/>
        </p:nvSpPr>
        <p:spPr>
          <a:xfrm>
            <a:off x="10378440" y="4975859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8"/>
                </a:lnTo>
                <a:lnTo>
                  <a:pt x="0" y="182498"/>
                </a:lnTo>
                <a:lnTo>
                  <a:pt x="219455" y="364997"/>
                </a:lnTo>
                <a:lnTo>
                  <a:pt x="438911" y="182498"/>
                </a:lnTo>
                <a:lnTo>
                  <a:pt x="351154" y="182498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9670160" y="5402198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52"/>
                </a:lnTo>
                <a:lnTo>
                  <a:pt x="7647" y="914358"/>
                </a:lnTo>
                <a:lnTo>
                  <a:pt x="28511" y="945313"/>
                </a:lnTo>
                <a:lnTo>
                  <a:pt x="59471" y="966183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3"/>
                </a:lnTo>
                <a:lnTo>
                  <a:pt x="1827720" y="945313"/>
                </a:lnTo>
                <a:lnTo>
                  <a:pt x="1848584" y="914358"/>
                </a:lnTo>
                <a:lnTo>
                  <a:pt x="1856232" y="876452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 txBox="1"/>
          <p:nvPr/>
        </p:nvSpPr>
        <p:spPr>
          <a:xfrm>
            <a:off x="9899650" y="5698744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最优方案追踪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34" name="object 5">
            <a:extLst>
              <a:ext uri="{FF2B5EF4-FFF2-40B4-BE49-F238E27FC236}">
                <a16:creationId xmlns:a16="http://schemas.microsoft.com/office/drawing/2014/main" id="{B3BCE106-F389-814B-B27C-C90B22911DF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25688" y="265681"/>
            <a:ext cx="7955890" cy="56618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6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自底向上计算：确定计算顺</a:t>
            </a:r>
            <a:r>
              <a:rPr sz="36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序</a:t>
            </a:r>
            <a:endParaRPr sz="36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35" name="左大括号 34">
            <a:extLst>
              <a:ext uri="{FF2B5EF4-FFF2-40B4-BE49-F238E27FC236}">
                <a16:creationId xmlns:a16="http://schemas.microsoft.com/office/drawing/2014/main" id="{59A4626D-7501-C54F-9154-6A49DF09CCC6}"/>
              </a:ext>
            </a:extLst>
          </p:cNvPr>
          <p:cNvSpPr/>
          <p:nvPr/>
        </p:nvSpPr>
        <p:spPr>
          <a:xfrm>
            <a:off x="2444645" y="2995622"/>
            <a:ext cx="212943" cy="598570"/>
          </a:xfrm>
          <a:prstGeom prst="leftBrac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179720" y="158742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692929" y="158742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750970" y="857453"/>
            <a:ext cx="6324600" cy="1921510"/>
          </a:xfrm>
          <a:prstGeom prst="rect">
            <a:avLst/>
          </a:prstGeom>
        </p:spPr>
        <p:txBody>
          <a:bodyPr vert="horz" wrap="square" lIns="0" tIns="12827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1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20" dirty="0" err="1">
                <a:latin typeface="PMingLiU"/>
                <a:cs typeface="PMingLiU"/>
              </a:rPr>
              <a:t>初始化</a:t>
            </a:r>
            <a:endParaRPr sz="2800" dirty="0">
              <a:latin typeface="PMingLiU"/>
              <a:cs typeface="PMingLiU"/>
            </a:endParaRPr>
          </a:p>
          <a:p>
            <a:pPr marL="704215" lvl="1" indent="-347980">
              <a:lnSpc>
                <a:spcPct val="100000"/>
              </a:lnSpc>
              <a:spcBef>
                <a:spcPts val="77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  <a:tab pos="1614170" algn="l"/>
              </a:tabLst>
            </a:pPr>
            <a:r>
              <a:rPr sz="2400" b="1" i="1" dirty="0">
                <a:latin typeface="Times New Roman"/>
                <a:cs typeface="Times New Roman"/>
              </a:rPr>
              <a:t>C</a:t>
            </a:r>
            <a:r>
              <a:rPr sz="2400" b="1" i="1" spc="240" dirty="0">
                <a:latin typeface="Times New Roman"/>
                <a:cs typeface="Times New Roman"/>
              </a:rPr>
              <a:t> </a:t>
            </a:r>
            <a:r>
              <a:rPr sz="2400" spc="-10" dirty="0">
                <a:latin typeface="Cambria Math"/>
                <a:cs typeface="Cambria Math"/>
              </a:rPr>
              <a:t>𝒊,</a:t>
            </a:r>
            <a:r>
              <a:rPr sz="2400" spc="-130" dirty="0">
                <a:latin typeface="Cambria Math"/>
                <a:cs typeface="Cambria Math"/>
              </a:rPr>
              <a:t> </a:t>
            </a:r>
            <a:r>
              <a:rPr sz="2400" spc="-50" dirty="0">
                <a:latin typeface="Cambria Math"/>
                <a:cs typeface="Cambria Math"/>
              </a:rPr>
              <a:t>𝟎</a:t>
            </a:r>
            <a:r>
              <a:rPr sz="2400" dirty="0">
                <a:latin typeface="Cambria Math"/>
                <a:cs typeface="Cambria Math"/>
              </a:rPr>
              <a:t>	=</a:t>
            </a:r>
            <a:r>
              <a:rPr sz="2400" spc="125" dirty="0">
                <a:latin typeface="Cambria Math"/>
                <a:cs typeface="Cambria Math"/>
              </a:rPr>
              <a:t> </a:t>
            </a:r>
            <a:r>
              <a:rPr sz="2400" spc="-10" dirty="0">
                <a:latin typeface="Cambria Math"/>
                <a:cs typeface="Cambria Math"/>
              </a:rPr>
              <a:t>𝑪[𝟎,</a:t>
            </a:r>
            <a:r>
              <a:rPr sz="2400" spc="-13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𝒋]</a:t>
            </a:r>
            <a:r>
              <a:rPr sz="2400" spc="14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=</a:t>
            </a:r>
            <a:r>
              <a:rPr sz="2400" spc="140" dirty="0">
                <a:latin typeface="Cambria Math"/>
                <a:cs typeface="Cambria Math"/>
              </a:rPr>
              <a:t> </a:t>
            </a:r>
            <a:r>
              <a:rPr sz="2400" spc="-50" dirty="0">
                <a:latin typeface="Cambria Math"/>
                <a:cs typeface="Cambria Math"/>
              </a:rPr>
              <a:t>𝟎</a:t>
            </a:r>
            <a:endParaRPr sz="2400" dirty="0">
              <a:latin typeface="Cambria Math"/>
              <a:cs typeface="Cambria Math"/>
            </a:endParaRPr>
          </a:p>
          <a:p>
            <a:pPr marL="705485">
              <a:lnSpc>
                <a:spcPct val="100000"/>
              </a:lnSpc>
              <a:spcBef>
                <a:spcPts val="385"/>
              </a:spcBef>
              <a:tabLst>
                <a:tab pos="1000125" algn="l"/>
              </a:tabLst>
            </a:pPr>
            <a:r>
              <a:rPr sz="1550" spc="-50" dirty="0">
                <a:solidFill>
                  <a:srgbClr val="EB91D7"/>
                </a:solidFill>
                <a:latin typeface="Times New Roman"/>
                <a:cs typeface="Times New Roman"/>
              </a:rPr>
              <a:t>o</a:t>
            </a:r>
            <a:r>
              <a:rPr sz="1550" dirty="0">
                <a:solidFill>
                  <a:srgbClr val="EB91D7"/>
                </a:solidFill>
                <a:latin typeface="Times New Roman"/>
                <a:cs typeface="Times New Roman"/>
              </a:rPr>
              <a:t>	</a:t>
            </a:r>
            <a:r>
              <a:rPr sz="2200" spc="-5" dirty="0">
                <a:latin typeface="PMingLiU"/>
                <a:cs typeface="PMingLiU"/>
              </a:rPr>
              <a:t>某序列长度为</a:t>
            </a:r>
            <a:r>
              <a:rPr sz="2200" b="1" dirty="0">
                <a:latin typeface="Times New Roman"/>
                <a:cs typeface="Times New Roman"/>
              </a:rPr>
              <a:t>0</a:t>
            </a:r>
            <a:r>
              <a:rPr sz="2200" spc="-10" dirty="0">
                <a:latin typeface="PMingLiU"/>
                <a:cs typeface="PMingLiU"/>
              </a:rPr>
              <a:t>时，最长公共子序列长度为</a:t>
            </a:r>
            <a:r>
              <a:rPr sz="2200" b="1" spc="-50" dirty="0">
                <a:latin typeface="Times New Roman"/>
                <a:cs typeface="Times New Roman"/>
              </a:rPr>
              <a:t>0</a:t>
            </a:r>
            <a:endParaRPr sz="2200" dirty="0">
              <a:latin typeface="Times New Roman"/>
              <a:cs typeface="Times New Roman"/>
            </a:endParaRPr>
          </a:p>
          <a:p>
            <a:pPr marL="355600" indent="-342900">
              <a:lnSpc>
                <a:spcPct val="100000"/>
              </a:lnSpc>
              <a:spcBef>
                <a:spcPts val="615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5" dirty="0" err="1">
                <a:latin typeface="PMingLiU"/>
                <a:cs typeface="PMingLiU"/>
              </a:rPr>
              <a:t>递推公式</a:t>
            </a:r>
            <a:endParaRPr sz="2800" dirty="0">
              <a:latin typeface="PMingLiU"/>
              <a:cs typeface="PMingLiU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32763" y="3162554"/>
            <a:ext cx="184785" cy="28194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1650" spc="20">
                <a:solidFill>
                  <a:srgbClr val="DAB6FB"/>
                </a:solidFill>
                <a:latin typeface="Wingdings"/>
                <a:cs typeface="Wingdings"/>
              </a:rPr>
              <a:t></a:t>
            </a:r>
            <a:endParaRPr sz="1650">
              <a:latin typeface="Wingdings"/>
              <a:cs typeface="Wingding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329436" y="3254755"/>
            <a:ext cx="582422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3500">
              <a:lnSpc>
                <a:spcPct val="100000"/>
              </a:lnSpc>
              <a:spcBef>
                <a:spcPts val="100"/>
              </a:spcBef>
              <a:tabLst>
                <a:tab pos="4824095" algn="l"/>
                <a:tab pos="5291455" algn="l"/>
              </a:tabLst>
            </a:pPr>
            <a:r>
              <a:rPr sz="3600" spc="-15" baseline="33564" dirty="0">
                <a:latin typeface="Cambria Math"/>
                <a:cs typeface="Cambria Math"/>
              </a:rPr>
              <a:t>𝑪[𝒊,</a:t>
            </a:r>
            <a:r>
              <a:rPr sz="3600" spc="-225" baseline="33564" dirty="0">
                <a:latin typeface="Cambria Math"/>
                <a:cs typeface="Cambria Math"/>
              </a:rPr>
              <a:t> </a:t>
            </a:r>
            <a:r>
              <a:rPr sz="3600" baseline="33564" dirty="0">
                <a:latin typeface="Cambria Math"/>
                <a:cs typeface="Cambria Math"/>
              </a:rPr>
              <a:t>𝒋]</a:t>
            </a:r>
            <a:r>
              <a:rPr sz="3600" spc="202" baseline="33564" dirty="0">
                <a:latin typeface="Cambria Math"/>
                <a:cs typeface="Cambria Math"/>
              </a:rPr>
              <a:t> </a:t>
            </a:r>
            <a:r>
              <a:rPr sz="3600" baseline="33564" dirty="0">
                <a:latin typeface="Cambria Math"/>
                <a:cs typeface="Cambria Math"/>
              </a:rPr>
              <a:t>=</a:t>
            </a:r>
            <a:r>
              <a:rPr sz="3600" spc="202" baseline="33564" dirty="0">
                <a:latin typeface="Cambria Math"/>
                <a:cs typeface="Cambria Math"/>
              </a:rPr>
              <a:t> </a:t>
            </a:r>
            <a:r>
              <a:rPr lang="zh-CN" altLang="en-US" sz="3600" spc="202" baseline="33564" dirty="0">
                <a:latin typeface="Cambria Math"/>
                <a:cs typeface="Cambria Math"/>
              </a:rPr>
              <a:t>  </a:t>
            </a:r>
            <a:r>
              <a:rPr sz="2400" dirty="0">
                <a:latin typeface="Cambria Math"/>
                <a:cs typeface="Cambria Math"/>
              </a:rPr>
              <a:t>𝑪[𝒊</a:t>
            </a:r>
            <a:r>
              <a:rPr sz="2400" spc="-1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−</a:t>
            </a:r>
            <a:r>
              <a:rPr sz="2400" spc="5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𝟏,</a:t>
            </a:r>
            <a:r>
              <a:rPr sz="2400" spc="-135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𝒋</a:t>
            </a:r>
            <a:r>
              <a:rPr sz="2400" spc="5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−</a:t>
            </a:r>
            <a:r>
              <a:rPr sz="2400" spc="5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𝟏]</a:t>
            </a:r>
            <a:r>
              <a:rPr sz="2400" spc="5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+</a:t>
            </a:r>
            <a:r>
              <a:rPr sz="2400" spc="5" dirty="0">
                <a:latin typeface="Cambria Math"/>
                <a:cs typeface="Cambria Math"/>
              </a:rPr>
              <a:t> </a:t>
            </a:r>
            <a:r>
              <a:rPr sz="2400" spc="-50" dirty="0">
                <a:latin typeface="Cambria Math"/>
                <a:cs typeface="Cambria Math"/>
              </a:rPr>
              <a:t>𝟏</a:t>
            </a:r>
            <a:r>
              <a:rPr sz="2400" dirty="0">
                <a:latin typeface="Cambria Math"/>
                <a:cs typeface="Cambria Math"/>
              </a:rPr>
              <a:t>	,</a:t>
            </a:r>
            <a:r>
              <a:rPr sz="2400" spc="-140" dirty="0">
                <a:latin typeface="Cambria Math"/>
                <a:cs typeface="Cambria Math"/>
              </a:rPr>
              <a:t> </a:t>
            </a:r>
            <a:r>
              <a:rPr sz="2400" spc="-50" dirty="0">
                <a:latin typeface="Cambria Math"/>
                <a:cs typeface="Cambria Math"/>
              </a:rPr>
              <a:t>𝒙</a:t>
            </a:r>
            <a:r>
              <a:rPr sz="2400" dirty="0">
                <a:latin typeface="Cambria Math"/>
                <a:cs typeface="Cambria Math"/>
              </a:rPr>
              <a:t>	=</a:t>
            </a:r>
            <a:r>
              <a:rPr sz="2400" spc="130" dirty="0">
                <a:latin typeface="Cambria Math"/>
                <a:cs typeface="Cambria Math"/>
              </a:rPr>
              <a:t> </a:t>
            </a:r>
            <a:r>
              <a:rPr sz="2400" spc="-50" dirty="0">
                <a:latin typeface="Cambria Math"/>
                <a:cs typeface="Cambria Math"/>
              </a:rPr>
              <a:t>𝒚</a:t>
            </a:r>
            <a:endParaRPr sz="2400" dirty="0">
              <a:latin typeface="Cambria Math"/>
              <a:cs typeface="Cambria Math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3276980" y="2919602"/>
            <a:ext cx="2906395" cy="283845"/>
          </a:xfrm>
          <a:custGeom>
            <a:avLst/>
            <a:gdLst/>
            <a:ahLst/>
            <a:cxnLst/>
            <a:rect l="l" t="t" r="r" b="b"/>
            <a:pathLst>
              <a:path w="2906395" h="283844">
                <a:moveTo>
                  <a:pt x="2815082" y="0"/>
                </a:moveTo>
                <a:lnTo>
                  <a:pt x="2811145" y="0"/>
                </a:lnTo>
                <a:lnTo>
                  <a:pt x="2811145" y="11302"/>
                </a:lnTo>
                <a:lnTo>
                  <a:pt x="2813431" y="11302"/>
                </a:lnTo>
                <a:lnTo>
                  <a:pt x="2823620" y="11995"/>
                </a:lnTo>
                <a:lnTo>
                  <a:pt x="2856357" y="37417"/>
                </a:lnTo>
                <a:lnTo>
                  <a:pt x="2859405" y="59689"/>
                </a:lnTo>
                <a:lnTo>
                  <a:pt x="2859216" y="65164"/>
                </a:lnTo>
                <a:lnTo>
                  <a:pt x="2858658" y="71294"/>
                </a:lnTo>
                <a:lnTo>
                  <a:pt x="2857744" y="78067"/>
                </a:lnTo>
                <a:lnTo>
                  <a:pt x="2856484" y="85471"/>
                </a:lnTo>
                <a:lnTo>
                  <a:pt x="2854452" y="95631"/>
                </a:lnTo>
                <a:lnTo>
                  <a:pt x="2853436" y="102870"/>
                </a:lnTo>
                <a:lnTo>
                  <a:pt x="2853436" y="115697"/>
                </a:lnTo>
                <a:lnTo>
                  <a:pt x="2855976" y="122682"/>
                </a:lnTo>
                <a:lnTo>
                  <a:pt x="2860929" y="128016"/>
                </a:lnTo>
                <a:lnTo>
                  <a:pt x="2865882" y="133476"/>
                </a:lnTo>
                <a:lnTo>
                  <a:pt x="2871724" y="137413"/>
                </a:lnTo>
                <a:lnTo>
                  <a:pt x="2878582" y="140081"/>
                </a:lnTo>
                <a:lnTo>
                  <a:pt x="2878582" y="142748"/>
                </a:lnTo>
                <a:lnTo>
                  <a:pt x="2871724" y="145287"/>
                </a:lnTo>
                <a:lnTo>
                  <a:pt x="2865882" y="149225"/>
                </a:lnTo>
                <a:lnTo>
                  <a:pt x="2855976" y="160147"/>
                </a:lnTo>
                <a:lnTo>
                  <a:pt x="2853436" y="167005"/>
                </a:lnTo>
                <a:lnTo>
                  <a:pt x="2853436" y="179832"/>
                </a:lnTo>
                <a:lnTo>
                  <a:pt x="2854452" y="187071"/>
                </a:lnTo>
                <a:lnTo>
                  <a:pt x="2856484" y="197358"/>
                </a:lnTo>
                <a:lnTo>
                  <a:pt x="2857744" y="204690"/>
                </a:lnTo>
                <a:lnTo>
                  <a:pt x="2858658" y="211439"/>
                </a:lnTo>
                <a:lnTo>
                  <a:pt x="2859216" y="217592"/>
                </a:lnTo>
                <a:lnTo>
                  <a:pt x="2859405" y="223138"/>
                </a:lnTo>
                <a:lnTo>
                  <a:pt x="2858643" y="235592"/>
                </a:lnTo>
                <a:lnTo>
                  <a:pt x="2832655" y="269700"/>
                </a:lnTo>
                <a:lnTo>
                  <a:pt x="2813431" y="272542"/>
                </a:lnTo>
                <a:lnTo>
                  <a:pt x="2811145" y="272542"/>
                </a:lnTo>
                <a:lnTo>
                  <a:pt x="2811145" y="283845"/>
                </a:lnTo>
                <a:lnTo>
                  <a:pt x="2815082" y="283845"/>
                </a:lnTo>
                <a:lnTo>
                  <a:pt x="2831437" y="282630"/>
                </a:lnTo>
                <a:lnTo>
                  <a:pt x="2867406" y="267843"/>
                </a:lnTo>
                <a:lnTo>
                  <a:pt x="2884678" y="220345"/>
                </a:lnTo>
                <a:lnTo>
                  <a:pt x="2884463" y="214012"/>
                </a:lnTo>
                <a:lnTo>
                  <a:pt x="2883820" y="207216"/>
                </a:lnTo>
                <a:lnTo>
                  <a:pt x="2882749" y="199967"/>
                </a:lnTo>
                <a:lnTo>
                  <a:pt x="2881249" y="192277"/>
                </a:lnTo>
                <a:lnTo>
                  <a:pt x="2878836" y="181737"/>
                </a:lnTo>
                <a:lnTo>
                  <a:pt x="2877693" y="174751"/>
                </a:lnTo>
                <a:lnTo>
                  <a:pt x="2877693" y="164337"/>
                </a:lnTo>
                <a:lnTo>
                  <a:pt x="2880106" y="158750"/>
                </a:lnTo>
                <a:lnTo>
                  <a:pt x="2889504" y="150113"/>
                </a:lnTo>
                <a:lnTo>
                  <a:pt x="2896616" y="147827"/>
                </a:lnTo>
                <a:lnTo>
                  <a:pt x="2906141" y="147447"/>
                </a:lnTo>
                <a:lnTo>
                  <a:pt x="2906141" y="135255"/>
                </a:lnTo>
                <a:lnTo>
                  <a:pt x="2896616" y="135000"/>
                </a:lnTo>
                <a:lnTo>
                  <a:pt x="2889504" y="132714"/>
                </a:lnTo>
                <a:lnTo>
                  <a:pt x="2880106" y="124079"/>
                </a:lnTo>
                <a:lnTo>
                  <a:pt x="2877693" y="118491"/>
                </a:lnTo>
                <a:lnTo>
                  <a:pt x="2877693" y="108076"/>
                </a:lnTo>
                <a:lnTo>
                  <a:pt x="2878836" y="100964"/>
                </a:lnTo>
                <a:lnTo>
                  <a:pt x="2881249" y="90424"/>
                </a:lnTo>
                <a:lnTo>
                  <a:pt x="2882749" y="82805"/>
                </a:lnTo>
                <a:lnTo>
                  <a:pt x="2883820" y="75580"/>
                </a:lnTo>
                <a:lnTo>
                  <a:pt x="2884463" y="68760"/>
                </a:lnTo>
                <a:lnTo>
                  <a:pt x="2884678" y="62357"/>
                </a:lnTo>
                <a:lnTo>
                  <a:pt x="2883604" y="47827"/>
                </a:lnTo>
                <a:lnTo>
                  <a:pt x="2857623" y="9215"/>
                </a:lnTo>
                <a:lnTo>
                  <a:pt x="2831437" y="1214"/>
                </a:lnTo>
                <a:lnTo>
                  <a:pt x="2815082" y="0"/>
                </a:lnTo>
                <a:close/>
              </a:path>
              <a:path w="2906395" h="283844">
                <a:moveTo>
                  <a:pt x="94996" y="0"/>
                </a:moveTo>
                <a:lnTo>
                  <a:pt x="91186" y="0"/>
                </a:lnTo>
                <a:lnTo>
                  <a:pt x="74777" y="1214"/>
                </a:lnTo>
                <a:lnTo>
                  <a:pt x="38862" y="16001"/>
                </a:lnTo>
                <a:lnTo>
                  <a:pt x="21664" y="59562"/>
                </a:lnTo>
                <a:lnTo>
                  <a:pt x="21558" y="65035"/>
                </a:lnTo>
                <a:lnTo>
                  <a:pt x="21679" y="68615"/>
                </a:lnTo>
                <a:lnTo>
                  <a:pt x="22336" y="75406"/>
                </a:lnTo>
                <a:lnTo>
                  <a:pt x="23445" y="82625"/>
                </a:lnTo>
                <a:lnTo>
                  <a:pt x="25019" y="90297"/>
                </a:lnTo>
                <a:lnTo>
                  <a:pt x="27305" y="100837"/>
                </a:lnTo>
                <a:lnTo>
                  <a:pt x="28448" y="107823"/>
                </a:lnTo>
                <a:lnTo>
                  <a:pt x="28448" y="118363"/>
                </a:lnTo>
                <a:lnTo>
                  <a:pt x="26162" y="123825"/>
                </a:lnTo>
                <a:lnTo>
                  <a:pt x="21336" y="128143"/>
                </a:lnTo>
                <a:lnTo>
                  <a:pt x="16637" y="132461"/>
                </a:lnTo>
                <a:lnTo>
                  <a:pt x="9525" y="134874"/>
                </a:lnTo>
                <a:lnTo>
                  <a:pt x="0" y="135127"/>
                </a:lnTo>
                <a:lnTo>
                  <a:pt x="0" y="147320"/>
                </a:lnTo>
                <a:lnTo>
                  <a:pt x="9525" y="147574"/>
                </a:lnTo>
                <a:lnTo>
                  <a:pt x="16637" y="149987"/>
                </a:lnTo>
                <a:lnTo>
                  <a:pt x="21336" y="154305"/>
                </a:lnTo>
                <a:lnTo>
                  <a:pt x="26162" y="158623"/>
                </a:lnTo>
                <a:lnTo>
                  <a:pt x="28448" y="164084"/>
                </a:lnTo>
                <a:lnTo>
                  <a:pt x="28448" y="174498"/>
                </a:lnTo>
                <a:lnTo>
                  <a:pt x="27305" y="181610"/>
                </a:lnTo>
                <a:lnTo>
                  <a:pt x="25019" y="192150"/>
                </a:lnTo>
                <a:lnTo>
                  <a:pt x="23445" y="199822"/>
                </a:lnTo>
                <a:lnTo>
                  <a:pt x="22336" y="207041"/>
                </a:lnTo>
                <a:lnTo>
                  <a:pt x="21679" y="213832"/>
                </a:lnTo>
                <a:lnTo>
                  <a:pt x="21463" y="220218"/>
                </a:lnTo>
                <a:lnTo>
                  <a:pt x="22556" y="235267"/>
                </a:lnTo>
                <a:lnTo>
                  <a:pt x="48627" y="274629"/>
                </a:lnTo>
                <a:lnTo>
                  <a:pt x="91186" y="283845"/>
                </a:lnTo>
                <a:lnTo>
                  <a:pt x="94996" y="283845"/>
                </a:lnTo>
                <a:lnTo>
                  <a:pt x="94996" y="272542"/>
                </a:lnTo>
                <a:lnTo>
                  <a:pt x="92710" y="272542"/>
                </a:lnTo>
                <a:lnTo>
                  <a:pt x="82520" y="271829"/>
                </a:lnTo>
                <a:lnTo>
                  <a:pt x="49784" y="246062"/>
                </a:lnTo>
                <a:lnTo>
                  <a:pt x="46736" y="222885"/>
                </a:lnTo>
                <a:lnTo>
                  <a:pt x="46926" y="217412"/>
                </a:lnTo>
                <a:lnTo>
                  <a:pt x="47498" y="211296"/>
                </a:lnTo>
                <a:lnTo>
                  <a:pt x="48450" y="204561"/>
                </a:lnTo>
                <a:lnTo>
                  <a:pt x="49784" y="197231"/>
                </a:lnTo>
                <a:lnTo>
                  <a:pt x="51689" y="186944"/>
                </a:lnTo>
                <a:lnTo>
                  <a:pt x="52705" y="179705"/>
                </a:lnTo>
                <a:lnTo>
                  <a:pt x="52705" y="166877"/>
                </a:lnTo>
                <a:lnTo>
                  <a:pt x="50292" y="159893"/>
                </a:lnTo>
                <a:lnTo>
                  <a:pt x="45339" y="154559"/>
                </a:lnTo>
                <a:lnTo>
                  <a:pt x="40386" y="149098"/>
                </a:lnTo>
                <a:lnTo>
                  <a:pt x="34417" y="145161"/>
                </a:lnTo>
                <a:lnTo>
                  <a:pt x="27559" y="142621"/>
                </a:lnTo>
                <a:lnTo>
                  <a:pt x="27559" y="139826"/>
                </a:lnTo>
                <a:lnTo>
                  <a:pt x="34417" y="137287"/>
                </a:lnTo>
                <a:lnTo>
                  <a:pt x="40386" y="133350"/>
                </a:lnTo>
                <a:lnTo>
                  <a:pt x="45339" y="127888"/>
                </a:lnTo>
                <a:lnTo>
                  <a:pt x="50292" y="122555"/>
                </a:lnTo>
                <a:lnTo>
                  <a:pt x="52705" y="115570"/>
                </a:lnTo>
                <a:lnTo>
                  <a:pt x="52705" y="102743"/>
                </a:lnTo>
                <a:lnTo>
                  <a:pt x="51689" y="95504"/>
                </a:lnTo>
                <a:lnTo>
                  <a:pt x="49784" y="85217"/>
                </a:lnTo>
                <a:lnTo>
                  <a:pt x="48450" y="77886"/>
                </a:lnTo>
                <a:lnTo>
                  <a:pt x="47498" y="71151"/>
                </a:lnTo>
                <a:lnTo>
                  <a:pt x="46926" y="65035"/>
                </a:lnTo>
                <a:lnTo>
                  <a:pt x="46736" y="59562"/>
                </a:lnTo>
                <a:lnTo>
                  <a:pt x="47498" y="47535"/>
                </a:lnTo>
                <a:lnTo>
                  <a:pt x="73485" y="14081"/>
                </a:lnTo>
                <a:lnTo>
                  <a:pt x="92710" y="11302"/>
                </a:lnTo>
                <a:lnTo>
                  <a:pt x="94996" y="11302"/>
                </a:lnTo>
                <a:lnTo>
                  <a:pt x="9499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2620010" y="2831084"/>
            <a:ext cx="466534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𝐦𝐚𝐱</a:t>
            </a:r>
            <a:r>
              <a:rPr sz="2400" spc="409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𝑪[𝒊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−</a:t>
            </a:r>
            <a:r>
              <a:rPr sz="2400" spc="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𝟏,</a:t>
            </a:r>
            <a:r>
              <a:rPr sz="2400" spc="-130">
                <a:latin typeface="Cambria Math"/>
                <a:cs typeface="Cambria Math"/>
              </a:rPr>
              <a:t> </a:t>
            </a:r>
            <a:r>
              <a:rPr sz="2400" spc="-10">
                <a:latin typeface="Cambria Math"/>
                <a:cs typeface="Cambria Math"/>
              </a:rPr>
              <a:t>𝒋],</a:t>
            </a:r>
            <a:r>
              <a:rPr sz="2400" spc="-140">
                <a:latin typeface="Cambria Math"/>
                <a:cs typeface="Cambria Math"/>
              </a:rPr>
              <a:t> </a:t>
            </a:r>
            <a:r>
              <a:rPr sz="2400" spc="-10">
                <a:latin typeface="Cambria Math"/>
                <a:cs typeface="Cambria Math"/>
              </a:rPr>
              <a:t>𝑪[𝒊,</a:t>
            </a:r>
            <a:r>
              <a:rPr sz="2400" spc="-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𝒋</a:t>
            </a:r>
            <a:r>
              <a:rPr sz="2400" spc="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−</a:t>
            </a:r>
            <a:r>
              <a:rPr sz="2400" spc="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𝟏]</a:t>
            </a:r>
            <a:r>
              <a:rPr sz="2400" spc="40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,</a:t>
            </a:r>
            <a:r>
              <a:rPr sz="2400" spc="-13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𝒙</a:t>
            </a:r>
            <a:r>
              <a:rPr sz="2625" baseline="-15873">
                <a:latin typeface="Cambria Math"/>
                <a:cs typeface="Cambria Math"/>
              </a:rPr>
              <a:t>𝒊</a:t>
            </a:r>
            <a:r>
              <a:rPr sz="2625" spc="577" baseline="-15873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≠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𝒚</a:t>
            </a:r>
            <a:r>
              <a:rPr sz="2625" spc="-37" baseline="-15873">
                <a:latin typeface="Cambria Math"/>
                <a:cs typeface="Cambria Math"/>
              </a:rPr>
              <a:t>𝒋</a:t>
            </a:r>
            <a:endParaRPr sz="2625" baseline="-15873">
              <a:latin typeface="Cambria Math"/>
              <a:cs typeface="Cambria Math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428994" y="3399535"/>
            <a:ext cx="786130" cy="2927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685800" algn="l"/>
              </a:tabLst>
            </a:pPr>
            <a:r>
              <a:rPr sz="1750" spc="-50">
                <a:latin typeface="Cambria Math"/>
                <a:cs typeface="Cambria Math"/>
              </a:rPr>
              <a:t>𝒊</a:t>
            </a:r>
            <a:r>
              <a:rPr sz="1750">
                <a:latin typeface="Cambria Math"/>
                <a:cs typeface="Cambria Math"/>
              </a:rPr>
              <a:t>	</a:t>
            </a:r>
            <a:r>
              <a:rPr sz="1750" spc="-50">
                <a:latin typeface="Cambria Math"/>
                <a:cs typeface="Cambria Math"/>
              </a:rPr>
              <a:t>𝒋</a:t>
            </a:r>
            <a:endParaRPr sz="1750">
              <a:latin typeface="Cambria Math"/>
              <a:cs typeface="Cambria Math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1491488" y="3687953"/>
            <a:ext cx="5728335" cy="2642235"/>
            <a:chOff x="1491488" y="3687953"/>
            <a:chExt cx="5728335" cy="2642235"/>
          </a:xfrm>
        </p:grpSpPr>
        <p:sp>
          <p:nvSpPr>
            <p:cNvPr id="12" name="object 12"/>
            <p:cNvSpPr/>
            <p:nvPr/>
          </p:nvSpPr>
          <p:spPr>
            <a:xfrm>
              <a:off x="1497838" y="3700691"/>
              <a:ext cx="5721985" cy="2616835"/>
            </a:xfrm>
            <a:custGeom>
              <a:avLst/>
              <a:gdLst/>
              <a:ahLst/>
              <a:cxnLst/>
              <a:rect l="l" t="t" r="r" b="b"/>
              <a:pathLst>
                <a:path w="5721984" h="2616835">
                  <a:moveTo>
                    <a:pt x="5721477" y="0"/>
                  </a:moveTo>
                  <a:lnTo>
                    <a:pt x="0" y="0"/>
                  </a:lnTo>
                  <a:lnTo>
                    <a:pt x="0" y="2616580"/>
                  </a:lnTo>
                  <a:lnTo>
                    <a:pt x="5721477" y="2616580"/>
                  </a:lnTo>
                  <a:lnTo>
                    <a:pt x="5721477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432683" y="4572901"/>
              <a:ext cx="3787140" cy="436245"/>
            </a:xfrm>
            <a:custGeom>
              <a:avLst/>
              <a:gdLst/>
              <a:ahLst/>
              <a:cxnLst/>
              <a:rect l="l" t="t" r="r" b="b"/>
              <a:pathLst>
                <a:path w="3787140" h="436245">
                  <a:moveTo>
                    <a:pt x="1893328" y="0"/>
                  </a:moveTo>
                  <a:lnTo>
                    <a:pt x="946670" y="0"/>
                  </a:lnTo>
                  <a:lnTo>
                    <a:pt x="0" y="0"/>
                  </a:lnTo>
                  <a:lnTo>
                    <a:pt x="0" y="436105"/>
                  </a:lnTo>
                  <a:lnTo>
                    <a:pt x="946658" y="436105"/>
                  </a:lnTo>
                  <a:lnTo>
                    <a:pt x="1893328" y="436105"/>
                  </a:lnTo>
                  <a:lnTo>
                    <a:pt x="1893328" y="0"/>
                  </a:lnTo>
                  <a:close/>
                </a:path>
                <a:path w="3787140" h="436245">
                  <a:moveTo>
                    <a:pt x="3786771" y="0"/>
                  </a:moveTo>
                  <a:lnTo>
                    <a:pt x="2840113" y="0"/>
                  </a:lnTo>
                  <a:lnTo>
                    <a:pt x="1893443" y="0"/>
                  </a:lnTo>
                  <a:lnTo>
                    <a:pt x="1893443" y="436105"/>
                  </a:lnTo>
                  <a:lnTo>
                    <a:pt x="2840101" y="436105"/>
                  </a:lnTo>
                  <a:lnTo>
                    <a:pt x="3786771" y="436105"/>
                  </a:lnTo>
                  <a:lnTo>
                    <a:pt x="3786771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3432683" y="5009019"/>
              <a:ext cx="3787140" cy="436245"/>
            </a:xfrm>
            <a:custGeom>
              <a:avLst/>
              <a:gdLst/>
              <a:ahLst/>
              <a:cxnLst/>
              <a:rect l="l" t="t" r="r" b="b"/>
              <a:pathLst>
                <a:path w="3787140" h="436245">
                  <a:moveTo>
                    <a:pt x="1893328" y="0"/>
                  </a:moveTo>
                  <a:lnTo>
                    <a:pt x="946670" y="0"/>
                  </a:lnTo>
                  <a:lnTo>
                    <a:pt x="0" y="0"/>
                  </a:lnTo>
                  <a:lnTo>
                    <a:pt x="0" y="436105"/>
                  </a:lnTo>
                  <a:lnTo>
                    <a:pt x="946658" y="436105"/>
                  </a:lnTo>
                  <a:lnTo>
                    <a:pt x="1893328" y="436105"/>
                  </a:lnTo>
                  <a:lnTo>
                    <a:pt x="1893328" y="0"/>
                  </a:lnTo>
                  <a:close/>
                </a:path>
                <a:path w="3787140" h="436245">
                  <a:moveTo>
                    <a:pt x="3786771" y="0"/>
                  </a:moveTo>
                  <a:lnTo>
                    <a:pt x="2840113" y="0"/>
                  </a:lnTo>
                  <a:lnTo>
                    <a:pt x="1893443" y="0"/>
                  </a:lnTo>
                  <a:lnTo>
                    <a:pt x="1893443" y="436105"/>
                  </a:lnTo>
                  <a:lnTo>
                    <a:pt x="2840101" y="436105"/>
                  </a:lnTo>
                  <a:lnTo>
                    <a:pt x="3786771" y="436105"/>
                  </a:lnTo>
                  <a:lnTo>
                    <a:pt x="3786771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432683" y="5445061"/>
              <a:ext cx="3787140" cy="436245"/>
            </a:xfrm>
            <a:custGeom>
              <a:avLst/>
              <a:gdLst/>
              <a:ahLst/>
              <a:cxnLst/>
              <a:rect l="l" t="t" r="r" b="b"/>
              <a:pathLst>
                <a:path w="3787140" h="436245">
                  <a:moveTo>
                    <a:pt x="1893328" y="0"/>
                  </a:moveTo>
                  <a:lnTo>
                    <a:pt x="946670" y="0"/>
                  </a:lnTo>
                  <a:lnTo>
                    <a:pt x="0" y="0"/>
                  </a:lnTo>
                  <a:lnTo>
                    <a:pt x="0" y="436105"/>
                  </a:lnTo>
                  <a:lnTo>
                    <a:pt x="946658" y="436105"/>
                  </a:lnTo>
                  <a:lnTo>
                    <a:pt x="1893328" y="436105"/>
                  </a:lnTo>
                  <a:lnTo>
                    <a:pt x="1893328" y="0"/>
                  </a:lnTo>
                  <a:close/>
                </a:path>
                <a:path w="3787140" h="436245">
                  <a:moveTo>
                    <a:pt x="3786771" y="0"/>
                  </a:moveTo>
                  <a:lnTo>
                    <a:pt x="2840113" y="0"/>
                  </a:lnTo>
                  <a:lnTo>
                    <a:pt x="1893443" y="0"/>
                  </a:lnTo>
                  <a:lnTo>
                    <a:pt x="1893443" y="436105"/>
                  </a:lnTo>
                  <a:lnTo>
                    <a:pt x="2840101" y="436105"/>
                  </a:lnTo>
                  <a:lnTo>
                    <a:pt x="3786771" y="436105"/>
                  </a:lnTo>
                  <a:lnTo>
                    <a:pt x="3786771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432683" y="5881166"/>
              <a:ext cx="3787140" cy="436245"/>
            </a:xfrm>
            <a:custGeom>
              <a:avLst/>
              <a:gdLst/>
              <a:ahLst/>
              <a:cxnLst/>
              <a:rect l="l" t="t" r="r" b="b"/>
              <a:pathLst>
                <a:path w="3787140" h="436245">
                  <a:moveTo>
                    <a:pt x="1893328" y="0"/>
                  </a:moveTo>
                  <a:lnTo>
                    <a:pt x="946670" y="0"/>
                  </a:lnTo>
                  <a:lnTo>
                    <a:pt x="0" y="0"/>
                  </a:lnTo>
                  <a:lnTo>
                    <a:pt x="0" y="436105"/>
                  </a:lnTo>
                  <a:lnTo>
                    <a:pt x="946658" y="436105"/>
                  </a:lnTo>
                  <a:lnTo>
                    <a:pt x="1893328" y="436105"/>
                  </a:lnTo>
                  <a:lnTo>
                    <a:pt x="1893328" y="0"/>
                  </a:lnTo>
                  <a:close/>
                </a:path>
                <a:path w="3787140" h="436245">
                  <a:moveTo>
                    <a:pt x="3786771" y="0"/>
                  </a:moveTo>
                  <a:lnTo>
                    <a:pt x="2840113" y="0"/>
                  </a:lnTo>
                  <a:lnTo>
                    <a:pt x="1893443" y="0"/>
                  </a:lnTo>
                  <a:lnTo>
                    <a:pt x="1893443" y="436105"/>
                  </a:lnTo>
                  <a:lnTo>
                    <a:pt x="2840101" y="436105"/>
                  </a:lnTo>
                  <a:lnTo>
                    <a:pt x="3786771" y="436105"/>
                  </a:lnTo>
                  <a:lnTo>
                    <a:pt x="3786771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497838" y="3694303"/>
              <a:ext cx="4775200" cy="2629535"/>
            </a:xfrm>
            <a:custGeom>
              <a:avLst/>
              <a:gdLst/>
              <a:ahLst/>
              <a:cxnLst/>
              <a:rect l="l" t="t" r="r" b="b"/>
              <a:pathLst>
                <a:path w="4775200" h="2629535">
                  <a:moveTo>
                    <a:pt x="988187" y="0"/>
                  </a:moveTo>
                  <a:lnTo>
                    <a:pt x="988187" y="2629319"/>
                  </a:lnTo>
                </a:path>
                <a:path w="4775200" h="2629535">
                  <a:moveTo>
                    <a:pt x="2881503" y="0"/>
                  </a:moveTo>
                  <a:lnTo>
                    <a:pt x="2881503" y="2629319"/>
                  </a:lnTo>
                </a:path>
                <a:path w="4775200" h="2629535">
                  <a:moveTo>
                    <a:pt x="3828288" y="0"/>
                  </a:moveTo>
                  <a:lnTo>
                    <a:pt x="3828288" y="2629319"/>
                  </a:lnTo>
                </a:path>
                <a:path w="4775200" h="2629535">
                  <a:moveTo>
                    <a:pt x="4774946" y="0"/>
                  </a:moveTo>
                  <a:lnTo>
                    <a:pt x="4774946" y="2629319"/>
                  </a:lnTo>
                </a:path>
                <a:path w="4775200" h="2629535">
                  <a:moveTo>
                    <a:pt x="0" y="0"/>
                  </a:moveTo>
                  <a:lnTo>
                    <a:pt x="0" y="2629319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8" name="object 18"/>
          <p:cNvGraphicFramePr>
            <a:graphicFrameLocks noGrp="1"/>
          </p:cNvGraphicFramePr>
          <p:nvPr/>
        </p:nvGraphicFramePr>
        <p:xfrm>
          <a:off x="1491488" y="3694303"/>
          <a:ext cx="5721348" cy="261365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601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747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2011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2933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930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0477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35609">
                <a:tc>
                  <a:txBody>
                    <a:bodyPr/>
                    <a:lstStyle/>
                    <a:p>
                      <a:pPr marR="17780" algn="ctr">
                        <a:lnSpc>
                          <a:spcPct val="100000"/>
                        </a:lnSpc>
                        <a:spcBef>
                          <a:spcPts val="640"/>
                        </a:spcBef>
                      </a:pPr>
                      <a:r>
                        <a:rPr sz="17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𝑪[𝒊,</a:t>
                      </a:r>
                      <a:r>
                        <a:rPr sz="1700" spc="-9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𝒋]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28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16510" algn="ctr">
                        <a:lnSpc>
                          <a:spcPct val="100000"/>
                        </a:lnSpc>
                        <a:spcBef>
                          <a:spcPts val="640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28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18415" algn="ctr">
                        <a:lnSpc>
                          <a:spcPct val="100000"/>
                        </a:lnSpc>
                        <a:spcBef>
                          <a:spcPts val="640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𝟏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28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74930" algn="ctr">
                        <a:lnSpc>
                          <a:spcPct val="100000"/>
                        </a:lnSpc>
                        <a:spcBef>
                          <a:spcPts val="640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𝟐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28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43815" algn="ctr">
                        <a:lnSpc>
                          <a:spcPct val="100000"/>
                        </a:lnSpc>
                        <a:spcBef>
                          <a:spcPts val="640"/>
                        </a:spcBef>
                      </a:pPr>
                      <a:r>
                        <a:rPr sz="17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…</a:t>
                      </a:r>
                      <a:endParaRPr sz="1700">
                        <a:latin typeface="Arial"/>
                        <a:cs typeface="Arial"/>
                      </a:endParaRPr>
                    </a:p>
                  </a:txBody>
                  <a:tcPr marL="0" marR="0" marT="8128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47625" algn="ctr">
                        <a:lnSpc>
                          <a:spcPct val="100000"/>
                        </a:lnSpc>
                        <a:spcBef>
                          <a:spcPts val="640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𝒎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28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16510" algn="ctr">
                        <a:lnSpc>
                          <a:spcPct val="100000"/>
                        </a:lnSpc>
                        <a:spcBef>
                          <a:spcPts val="640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9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10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60">
                          <a:latin typeface="Cambria Math"/>
                          <a:cs typeface="Cambria Math"/>
                        </a:rPr>
                        <a:t>𝟎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280" marB="0"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7305" algn="ctr">
                        <a:lnSpc>
                          <a:spcPct val="100000"/>
                        </a:lnSpc>
                        <a:spcBef>
                          <a:spcPts val="640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8128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6034" algn="ctr">
                        <a:lnSpc>
                          <a:spcPct val="100000"/>
                        </a:lnSpc>
                        <a:spcBef>
                          <a:spcPts val="640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8128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2225" algn="ctr">
                        <a:lnSpc>
                          <a:spcPct val="100000"/>
                        </a:lnSpc>
                        <a:spcBef>
                          <a:spcPts val="640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81280" marB="0"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44450" algn="ctr">
                        <a:lnSpc>
                          <a:spcPct val="100000"/>
                        </a:lnSpc>
                        <a:spcBef>
                          <a:spcPts val="640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81280" marB="0"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00965" algn="ctr">
                        <a:lnSpc>
                          <a:spcPct val="100000"/>
                        </a:lnSpc>
                        <a:spcBef>
                          <a:spcPts val="640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8128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1714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latin typeface="Cambria Math"/>
                          <a:cs typeface="Cambria Math"/>
                        </a:rPr>
                        <a:t>𝟏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730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1714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latin typeface="Cambria Math"/>
                          <a:cs typeface="Cambria Math"/>
                        </a:rPr>
                        <a:t>𝟐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730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1714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81915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730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1714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7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60">
                          <a:latin typeface="Cambria Math"/>
                          <a:cs typeface="Cambria Math"/>
                        </a:rPr>
                        <a:t>𝒏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730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9" name="object 19"/>
          <p:cNvSpPr/>
          <p:nvPr/>
        </p:nvSpPr>
        <p:spPr>
          <a:xfrm>
            <a:off x="3736085" y="4720971"/>
            <a:ext cx="3310254" cy="95250"/>
          </a:xfrm>
          <a:custGeom>
            <a:avLst/>
            <a:gdLst/>
            <a:ahLst/>
            <a:cxnLst/>
            <a:rect l="l" t="t" r="r" b="b"/>
            <a:pathLst>
              <a:path w="3310254" h="95250">
                <a:moveTo>
                  <a:pt x="3214623" y="0"/>
                </a:moveTo>
                <a:lnTo>
                  <a:pt x="3214623" y="95249"/>
                </a:lnTo>
                <a:lnTo>
                  <a:pt x="3278123" y="63499"/>
                </a:lnTo>
                <a:lnTo>
                  <a:pt x="3230498" y="63499"/>
                </a:lnTo>
                <a:lnTo>
                  <a:pt x="3230498" y="31749"/>
                </a:lnTo>
                <a:lnTo>
                  <a:pt x="3278123" y="31749"/>
                </a:lnTo>
                <a:lnTo>
                  <a:pt x="3214623" y="0"/>
                </a:lnTo>
                <a:close/>
              </a:path>
              <a:path w="3310254" h="95250">
                <a:moveTo>
                  <a:pt x="3214623" y="31749"/>
                </a:moveTo>
                <a:lnTo>
                  <a:pt x="0" y="31749"/>
                </a:lnTo>
                <a:lnTo>
                  <a:pt x="0" y="63499"/>
                </a:lnTo>
                <a:lnTo>
                  <a:pt x="3214623" y="63499"/>
                </a:lnTo>
                <a:lnTo>
                  <a:pt x="3214623" y="31749"/>
                </a:lnTo>
                <a:close/>
              </a:path>
              <a:path w="3310254" h="95250">
                <a:moveTo>
                  <a:pt x="3278123" y="31749"/>
                </a:moveTo>
                <a:lnTo>
                  <a:pt x="3230498" y="31749"/>
                </a:lnTo>
                <a:lnTo>
                  <a:pt x="3230498" y="63499"/>
                </a:lnTo>
                <a:lnTo>
                  <a:pt x="3278123" y="63499"/>
                </a:lnTo>
                <a:lnTo>
                  <a:pt x="3309873" y="47624"/>
                </a:lnTo>
                <a:lnTo>
                  <a:pt x="3278123" y="317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3736085" y="5160645"/>
            <a:ext cx="3310254" cy="95250"/>
          </a:xfrm>
          <a:custGeom>
            <a:avLst/>
            <a:gdLst/>
            <a:ahLst/>
            <a:cxnLst/>
            <a:rect l="l" t="t" r="r" b="b"/>
            <a:pathLst>
              <a:path w="3310254" h="95250">
                <a:moveTo>
                  <a:pt x="3214623" y="0"/>
                </a:moveTo>
                <a:lnTo>
                  <a:pt x="3214623" y="95249"/>
                </a:lnTo>
                <a:lnTo>
                  <a:pt x="3278123" y="63499"/>
                </a:lnTo>
                <a:lnTo>
                  <a:pt x="3230498" y="63499"/>
                </a:lnTo>
                <a:lnTo>
                  <a:pt x="3230498" y="31749"/>
                </a:lnTo>
                <a:lnTo>
                  <a:pt x="3278123" y="31749"/>
                </a:lnTo>
                <a:lnTo>
                  <a:pt x="3214623" y="0"/>
                </a:lnTo>
                <a:close/>
              </a:path>
              <a:path w="3310254" h="95250">
                <a:moveTo>
                  <a:pt x="3214623" y="31749"/>
                </a:moveTo>
                <a:lnTo>
                  <a:pt x="0" y="31749"/>
                </a:lnTo>
                <a:lnTo>
                  <a:pt x="0" y="63499"/>
                </a:lnTo>
                <a:lnTo>
                  <a:pt x="3214623" y="63499"/>
                </a:lnTo>
                <a:lnTo>
                  <a:pt x="3214623" y="31749"/>
                </a:lnTo>
                <a:close/>
              </a:path>
              <a:path w="3310254" h="95250">
                <a:moveTo>
                  <a:pt x="3278123" y="31749"/>
                </a:moveTo>
                <a:lnTo>
                  <a:pt x="3230498" y="31749"/>
                </a:lnTo>
                <a:lnTo>
                  <a:pt x="3230498" y="63499"/>
                </a:lnTo>
                <a:lnTo>
                  <a:pt x="3278123" y="63499"/>
                </a:lnTo>
                <a:lnTo>
                  <a:pt x="3309873" y="47624"/>
                </a:lnTo>
                <a:lnTo>
                  <a:pt x="3278123" y="317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3736085" y="5600319"/>
            <a:ext cx="3310254" cy="95250"/>
          </a:xfrm>
          <a:custGeom>
            <a:avLst/>
            <a:gdLst/>
            <a:ahLst/>
            <a:cxnLst/>
            <a:rect l="l" t="t" r="r" b="b"/>
            <a:pathLst>
              <a:path w="3310254" h="95250">
                <a:moveTo>
                  <a:pt x="3214623" y="0"/>
                </a:moveTo>
                <a:lnTo>
                  <a:pt x="3214623" y="95249"/>
                </a:lnTo>
                <a:lnTo>
                  <a:pt x="3278123" y="63499"/>
                </a:lnTo>
                <a:lnTo>
                  <a:pt x="3230498" y="63499"/>
                </a:lnTo>
                <a:lnTo>
                  <a:pt x="3230498" y="31749"/>
                </a:lnTo>
                <a:lnTo>
                  <a:pt x="3278123" y="31749"/>
                </a:lnTo>
                <a:lnTo>
                  <a:pt x="3214623" y="0"/>
                </a:lnTo>
                <a:close/>
              </a:path>
              <a:path w="3310254" h="95250">
                <a:moveTo>
                  <a:pt x="3214623" y="31749"/>
                </a:moveTo>
                <a:lnTo>
                  <a:pt x="0" y="31749"/>
                </a:lnTo>
                <a:lnTo>
                  <a:pt x="0" y="63499"/>
                </a:lnTo>
                <a:lnTo>
                  <a:pt x="3214623" y="63499"/>
                </a:lnTo>
                <a:lnTo>
                  <a:pt x="3214623" y="31749"/>
                </a:lnTo>
                <a:close/>
              </a:path>
              <a:path w="3310254" h="95250">
                <a:moveTo>
                  <a:pt x="3278123" y="31749"/>
                </a:moveTo>
                <a:lnTo>
                  <a:pt x="3230498" y="31749"/>
                </a:lnTo>
                <a:lnTo>
                  <a:pt x="3230498" y="63499"/>
                </a:lnTo>
                <a:lnTo>
                  <a:pt x="3278123" y="63499"/>
                </a:lnTo>
                <a:lnTo>
                  <a:pt x="3309873" y="47624"/>
                </a:lnTo>
                <a:lnTo>
                  <a:pt x="3278123" y="317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736085" y="6039992"/>
            <a:ext cx="2780665" cy="95250"/>
          </a:xfrm>
          <a:custGeom>
            <a:avLst/>
            <a:gdLst/>
            <a:ahLst/>
            <a:cxnLst/>
            <a:rect l="l" t="t" r="r" b="b"/>
            <a:pathLst>
              <a:path w="2780665" h="95250">
                <a:moveTo>
                  <a:pt x="2684906" y="0"/>
                </a:moveTo>
                <a:lnTo>
                  <a:pt x="2684906" y="95249"/>
                </a:lnTo>
                <a:lnTo>
                  <a:pt x="2748407" y="63499"/>
                </a:lnTo>
                <a:lnTo>
                  <a:pt x="2700781" y="63499"/>
                </a:lnTo>
                <a:lnTo>
                  <a:pt x="2700781" y="31749"/>
                </a:lnTo>
                <a:lnTo>
                  <a:pt x="2748407" y="31749"/>
                </a:lnTo>
                <a:lnTo>
                  <a:pt x="2684906" y="0"/>
                </a:lnTo>
                <a:close/>
              </a:path>
              <a:path w="2780665" h="95250">
                <a:moveTo>
                  <a:pt x="2684906" y="31749"/>
                </a:moveTo>
                <a:lnTo>
                  <a:pt x="0" y="31749"/>
                </a:lnTo>
                <a:lnTo>
                  <a:pt x="0" y="63499"/>
                </a:lnTo>
                <a:lnTo>
                  <a:pt x="2684906" y="63499"/>
                </a:lnTo>
                <a:lnTo>
                  <a:pt x="2684906" y="31749"/>
                </a:lnTo>
                <a:close/>
              </a:path>
              <a:path w="2780665" h="95250">
                <a:moveTo>
                  <a:pt x="2748407" y="31749"/>
                </a:moveTo>
                <a:lnTo>
                  <a:pt x="2700781" y="31749"/>
                </a:lnTo>
                <a:lnTo>
                  <a:pt x="2700781" y="63499"/>
                </a:lnTo>
                <a:lnTo>
                  <a:pt x="2748407" y="63499"/>
                </a:lnTo>
                <a:lnTo>
                  <a:pt x="2780157" y="47624"/>
                </a:lnTo>
                <a:lnTo>
                  <a:pt x="2748407" y="317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736086" y="4839589"/>
            <a:ext cx="3058160" cy="1193165"/>
          </a:xfrm>
          <a:custGeom>
            <a:avLst/>
            <a:gdLst/>
            <a:ahLst/>
            <a:cxnLst/>
            <a:rect l="l" t="t" r="r" b="b"/>
            <a:pathLst>
              <a:path w="3058159" h="1193164">
                <a:moveTo>
                  <a:pt x="180086" y="1153795"/>
                </a:moveTo>
                <a:lnTo>
                  <a:pt x="177292" y="1122159"/>
                </a:lnTo>
                <a:lnTo>
                  <a:pt x="93472" y="1129576"/>
                </a:lnTo>
                <a:lnTo>
                  <a:pt x="90678" y="1097940"/>
                </a:lnTo>
                <a:lnTo>
                  <a:pt x="0" y="1153756"/>
                </a:lnTo>
                <a:lnTo>
                  <a:pt x="99060" y="1192822"/>
                </a:lnTo>
                <a:lnTo>
                  <a:pt x="96380" y="1162583"/>
                </a:lnTo>
                <a:lnTo>
                  <a:pt x="96253" y="1161186"/>
                </a:lnTo>
                <a:lnTo>
                  <a:pt x="180086" y="1153795"/>
                </a:lnTo>
                <a:close/>
              </a:path>
              <a:path w="3058159" h="1193164">
                <a:moveTo>
                  <a:pt x="180086" y="720217"/>
                </a:moveTo>
                <a:lnTo>
                  <a:pt x="177292" y="688594"/>
                </a:lnTo>
                <a:lnTo>
                  <a:pt x="93459" y="695972"/>
                </a:lnTo>
                <a:lnTo>
                  <a:pt x="90678" y="664337"/>
                </a:lnTo>
                <a:lnTo>
                  <a:pt x="0" y="720217"/>
                </a:lnTo>
                <a:lnTo>
                  <a:pt x="99060" y="759244"/>
                </a:lnTo>
                <a:lnTo>
                  <a:pt x="96380" y="728980"/>
                </a:lnTo>
                <a:lnTo>
                  <a:pt x="96253" y="727595"/>
                </a:lnTo>
                <a:lnTo>
                  <a:pt x="180086" y="720217"/>
                </a:lnTo>
                <a:close/>
              </a:path>
              <a:path w="3058159" h="1193164">
                <a:moveTo>
                  <a:pt x="180086" y="285877"/>
                </a:moveTo>
                <a:lnTo>
                  <a:pt x="177292" y="254254"/>
                </a:lnTo>
                <a:lnTo>
                  <a:pt x="93472" y="261632"/>
                </a:lnTo>
                <a:lnTo>
                  <a:pt x="90678" y="229997"/>
                </a:lnTo>
                <a:lnTo>
                  <a:pt x="0" y="285877"/>
                </a:lnTo>
                <a:lnTo>
                  <a:pt x="99060" y="324866"/>
                </a:lnTo>
                <a:lnTo>
                  <a:pt x="96380" y="294640"/>
                </a:lnTo>
                <a:lnTo>
                  <a:pt x="96266" y="293255"/>
                </a:lnTo>
                <a:lnTo>
                  <a:pt x="180086" y="285877"/>
                </a:lnTo>
                <a:close/>
              </a:path>
              <a:path w="3058159" h="1193164">
                <a:moveTo>
                  <a:pt x="401447" y="1134237"/>
                </a:moveTo>
                <a:lnTo>
                  <a:pt x="398653" y="1102614"/>
                </a:lnTo>
                <a:lnTo>
                  <a:pt x="272161" y="1113790"/>
                </a:lnTo>
                <a:lnTo>
                  <a:pt x="274955" y="1145413"/>
                </a:lnTo>
                <a:lnTo>
                  <a:pt x="401447" y="1134237"/>
                </a:lnTo>
                <a:close/>
              </a:path>
              <a:path w="3058159" h="1193164">
                <a:moveTo>
                  <a:pt x="401447" y="700659"/>
                </a:moveTo>
                <a:lnTo>
                  <a:pt x="398653" y="669036"/>
                </a:lnTo>
                <a:lnTo>
                  <a:pt x="272161" y="680212"/>
                </a:lnTo>
                <a:lnTo>
                  <a:pt x="274955" y="711835"/>
                </a:lnTo>
                <a:lnTo>
                  <a:pt x="401447" y="700659"/>
                </a:lnTo>
                <a:close/>
              </a:path>
              <a:path w="3058159" h="1193164">
                <a:moveTo>
                  <a:pt x="401447" y="266319"/>
                </a:moveTo>
                <a:lnTo>
                  <a:pt x="398653" y="234696"/>
                </a:lnTo>
                <a:lnTo>
                  <a:pt x="272161" y="245872"/>
                </a:lnTo>
                <a:lnTo>
                  <a:pt x="274955" y="277495"/>
                </a:lnTo>
                <a:lnTo>
                  <a:pt x="401447" y="266319"/>
                </a:lnTo>
                <a:close/>
              </a:path>
              <a:path w="3058159" h="1193164">
                <a:moveTo>
                  <a:pt x="622808" y="1114691"/>
                </a:moveTo>
                <a:lnTo>
                  <a:pt x="620014" y="1083056"/>
                </a:lnTo>
                <a:lnTo>
                  <a:pt x="493522" y="1094232"/>
                </a:lnTo>
                <a:lnTo>
                  <a:pt x="496316" y="1125855"/>
                </a:lnTo>
                <a:lnTo>
                  <a:pt x="622808" y="1114691"/>
                </a:lnTo>
                <a:close/>
              </a:path>
              <a:path w="3058159" h="1193164">
                <a:moveTo>
                  <a:pt x="622808" y="681101"/>
                </a:moveTo>
                <a:lnTo>
                  <a:pt x="620014" y="649478"/>
                </a:lnTo>
                <a:lnTo>
                  <a:pt x="493522" y="660654"/>
                </a:lnTo>
                <a:lnTo>
                  <a:pt x="496316" y="692277"/>
                </a:lnTo>
                <a:lnTo>
                  <a:pt x="622808" y="681101"/>
                </a:lnTo>
                <a:close/>
              </a:path>
              <a:path w="3058159" h="1193164">
                <a:moveTo>
                  <a:pt x="622808" y="246761"/>
                </a:moveTo>
                <a:lnTo>
                  <a:pt x="620014" y="215138"/>
                </a:lnTo>
                <a:lnTo>
                  <a:pt x="493522" y="226314"/>
                </a:lnTo>
                <a:lnTo>
                  <a:pt x="496316" y="257937"/>
                </a:lnTo>
                <a:lnTo>
                  <a:pt x="622808" y="246761"/>
                </a:lnTo>
                <a:close/>
              </a:path>
              <a:path w="3058159" h="1193164">
                <a:moveTo>
                  <a:pt x="844169" y="1095133"/>
                </a:moveTo>
                <a:lnTo>
                  <a:pt x="841375" y="1063510"/>
                </a:lnTo>
                <a:lnTo>
                  <a:pt x="714883" y="1074674"/>
                </a:lnTo>
                <a:lnTo>
                  <a:pt x="717677" y="1106309"/>
                </a:lnTo>
                <a:lnTo>
                  <a:pt x="844169" y="1095133"/>
                </a:lnTo>
                <a:close/>
              </a:path>
              <a:path w="3058159" h="1193164">
                <a:moveTo>
                  <a:pt x="844169" y="661543"/>
                </a:moveTo>
                <a:lnTo>
                  <a:pt x="841375" y="629920"/>
                </a:lnTo>
                <a:lnTo>
                  <a:pt x="714883" y="641096"/>
                </a:lnTo>
                <a:lnTo>
                  <a:pt x="717677" y="672719"/>
                </a:lnTo>
                <a:lnTo>
                  <a:pt x="844169" y="661543"/>
                </a:lnTo>
                <a:close/>
              </a:path>
              <a:path w="3058159" h="1193164">
                <a:moveTo>
                  <a:pt x="844169" y="227203"/>
                </a:moveTo>
                <a:lnTo>
                  <a:pt x="841375" y="195580"/>
                </a:lnTo>
                <a:lnTo>
                  <a:pt x="714883" y="206756"/>
                </a:lnTo>
                <a:lnTo>
                  <a:pt x="717677" y="238379"/>
                </a:lnTo>
                <a:lnTo>
                  <a:pt x="844169" y="227203"/>
                </a:lnTo>
                <a:close/>
              </a:path>
              <a:path w="3058159" h="1193164">
                <a:moveTo>
                  <a:pt x="1065657" y="1075575"/>
                </a:moveTo>
                <a:lnTo>
                  <a:pt x="1062863" y="1043952"/>
                </a:lnTo>
                <a:lnTo>
                  <a:pt x="936371" y="1055128"/>
                </a:lnTo>
                <a:lnTo>
                  <a:pt x="939165" y="1086751"/>
                </a:lnTo>
                <a:lnTo>
                  <a:pt x="1065657" y="1075575"/>
                </a:lnTo>
                <a:close/>
              </a:path>
              <a:path w="3058159" h="1193164">
                <a:moveTo>
                  <a:pt x="1065657" y="641985"/>
                </a:moveTo>
                <a:lnTo>
                  <a:pt x="1062863" y="610362"/>
                </a:lnTo>
                <a:lnTo>
                  <a:pt x="936371" y="621538"/>
                </a:lnTo>
                <a:lnTo>
                  <a:pt x="939165" y="653161"/>
                </a:lnTo>
                <a:lnTo>
                  <a:pt x="1065657" y="641985"/>
                </a:lnTo>
                <a:close/>
              </a:path>
              <a:path w="3058159" h="1193164">
                <a:moveTo>
                  <a:pt x="1065657" y="207645"/>
                </a:moveTo>
                <a:lnTo>
                  <a:pt x="1062863" y="176022"/>
                </a:lnTo>
                <a:lnTo>
                  <a:pt x="936371" y="187198"/>
                </a:lnTo>
                <a:lnTo>
                  <a:pt x="939165" y="218821"/>
                </a:lnTo>
                <a:lnTo>
                  <a:pt x="1065657" y="207645"/>
                </a:lnTo>
                <a:close/>
              </a:path>
              <a:path w="3058159" h="1193164">
                <a:moveTo>
                  <a:pt x="1287018" y="1056030"/>
                </a:moveTo>
                <a:lnTo>
                  <a:pt x="1284224" y="1024394"/>
                </a:lnTo>
                <a:lnTo>
                  <a:pt x="1157732" y="1035570"/>
                </a:lnTo>
                <a:lnTo>
                  <a:pt x="1160526" y="1067193"/>
                </a:lnTo>
                <a:lnTo>
                  <a:pt x="1287018" y="1056030"/>
                </a:lnTo>
                <a:close/>
              </a:path>
              <a:path w="3058159" h="1193164">
                <a:moveTo>
                  <a:pt x="1287018" y="622427"/>
                </a:moveTo>
                <a:lnTo>
                  <a:pt x="1284224" y="590804"/>
                </a:lnTo>
                <a:lnTo>
                  <a:pt x="1157732" y="601980"/>
                </a:lnTo>
                <a:lnTo>
                  <a:pt x="1160526" y="633603"/>
                </a:lnTo>
                <a:lnTo>
                  <a:pt x="1287018" y="622427"/>
                </a:lnTo>
                <a:close/>
              </a:path>
              <a:path w="3058159" h="1193164">
                <a:moveTo>
                  <a:pt x="1287018" y="188087"/>
                </a:moveTo>
                <a:lnTo>
                  <a:pt x="1284224" y="156464"/>
                </a:lnTo>
                <a:lnTo>
                  <a:pt x="1157732" y="167640"/>
                </a:lnTo>
                <a:lnTo>
                  <a:pt x="1160526" y="199263"/>
                </a:lnTo>
                <a:lnTo>
                  <a:pt x="1287018" y="188087"/>
                </a:lnTo>
                <a:close/>
              </a:path>
              <a:path w="3058159" h="1193164">
                <a:moveTo>
                  <a:pt x="1508379" y="1036472"/>
                </a:moveTo>
                <a:lnTo>
                  <a:pt x="1505585" y="1004849"/>
                </a:lnTo>
                <a:lnTo>
                  <a:pt x="1379093" y="1016025"/>
                </a:lnTo>
                <a:lnTo>
                  <a:pt x="1381887" y="1047648"/>
                </a:lnTo>
                <a:lnTo>
                  <a:pt x="1508379" y="1036472"/>
                </a:lnTo>
                <a:close/>
              </a:path>
              <a:path w="3058159" h="1193164">
                <a:moveTo>
                  <a:pt x="1508379" y="602869"/>
                </a:moveTo>
                <a:lnTo>
                  <a:pt x="1505585" y="571246"/>
                </a:lnTo>
                <a:lnTo>
                  <a:pt x="1379093" y="582422"/>
                </a:lnTo>
                <a:lnTo>
                  <a:pt x="1381887" y="614045"/>
                </a:lnTo>
                <a:lnTo>
                  <a:pt x="1508379" y="602869"/>
                </a:lnTo>
                <a:close/>
              </a:path>
              <a:path w="3058159" h="1193164">
                <a:moveTo>
                  <a:pt x="1508379" y="168529"/>
                </a:moveTo>
                <a:lnTo>
                  <a:pt x="1505585" y="136906"/>
                </a:lnTo>
                <a:lnTo>
                  <a:pt x="1379093" y="148082"/>
                </a:lnTo>
                <a:lnTo>
                  <a:pt x="1381887" y="179705"/>
                </a:lnTo>
                <a:lnTo>
                  <a:pt x="1508379" y="168529"/>
                </a:lnTo>
                <a:close/>
              </a:path>
              <a:path w="3058159" h="1193164">
                <a:moveTo>
                  <a:pt x="1729740" y="1016927"/>
                </a:moveTo>
                <a:lnTo>
                  <a:pt x="1726946" y="985291"/>
                </a:lnTo>
                <a:lnTo>
                  <a:pt x="1600454" y="996467"/>
                </a:lnTo>
                <a:lnTo>
                  <a:pt x="1603248" y="1028090"/>
                </a:lnTo>
                <a:lnTo>
                  <a:pt x="1729740" y="1016927"/>
                </a:lnTo>
                <a:close/>
              </a:path>
              <a:path w="3058159" h="1193164">
                <a:moveTo>
                  <a:pt x="1729740" y="583311"/>
                </a:moveTo>
                <a:lnTo>
                  <a:pt x="1726946" y="551688"/>
                </a:lnTo>
                <a:lnTo>
                  <a:pt x="1600454" y="562864"/>
                </a:lnTo>
                <a:lnTo>
                  <a:pt x="1603248" y="594487"/>
                </a:lnTo>
                <a:lnTo>
                  <a:pt x="1729740" y="583311"/>
                </a:lnTo>
                <a:close/>
              </a:path>
              <a:path w="3058159" h="1193164">
                <a:moveTo>
                  <a:pt x="1729740" y="148971"/>
                </a:moveTo>
                <a:lnTo>
                  <a:pt x="1726946" y="117348"/>
                </a:lnTo>
                <a:lnTo>
                  <a:pt x="1600454" y="128524"/>
                </a:lnTo>
                <a:lnTo>
                  <a:pt x="1603248" y="160147"/>
                </a:lnTo>
                <a:lnTo>
                  <a:pt x="1729740" y="148971"/>
                </a:lnTo>
                <a:close/>
              </a:path>
              <a:path w="3058159" h="1193164">
                <a:moveTo>
                  <a:pt x="1951228" y="997369"/>
                </a:moveTo>
                <a:lnTo>
                  <a:pt x="1948434" y="965746"/>
                </a:lnTo>
                <a:lnTo>
                  <a:pt x="1821815" y="976909"/>
                </a:lnTo>
                <a:lnTo>
                  <a:pt x="1824609" y="1008545"/>
                </a:lnTo>
                <a:lnTo>
                  <a:pt x="1951228" y="997369"/>
                </a:lnTo>
                <a:close/>
              </a:path>
              <a:path w="3058159" h="1193164">
                <a:moveTo>
                  <a:pt x="1951228" y="563753"/>
                </a:moveTo>
                <a:lnTo>
                  <a:pt x="1948434" y="532130"/>
                </a:lnTo>
                <a:lnTo>
                  <a:pt x="1821815" y="543306"/>
                </a:lnTo>
                <a:lnTo>
                  <a:pt x="1824609" y="574929"/>
                </a:lnTo>
                <a:lnTo>
                  <a:pt x="1951228" y="563753"/>
                </a:lnTo>
                <a:close/>
              </a:path>
              <a:path w="3058159" h="1193164">
                <a:moveTo>
                  <a:pt x="1951228" y="129413"/>
                </a:moveTo>
                <a:lnTo>
                  <a:pt x="1948434" y="97790"/>
                </a:lnTo>
                <a:lnTo>
                  <a:pt x="1821815" y="108966"/>
                </a:lnTo>
                <a:lnTo>
                  <a:pt x="1824609" y="140589"/>
                </a:lnTo>
                <a:lnTo>
                  <a:pt x="1951228" y="129413"/>
                </a:lnTo>
                <a:close/>
              </a:path>
              <a:path w="3058159" h="1193164">
                <a:moveTo>
                  <a:pt x="2172589" y="977811"/>
                </a:moveTo>
                <a:lnTo>
                  <a:pt x="2169795" y="946188"/>
                </a:lnTo>
                <a:lnTo>
                  <a:pt x="2043303" y="957364"/>
                </a:lnTo>
                <a:lnTo>
                  <a:pt x="2046097" y="988987"/>
                </a:lnTo>
                <a:lnTo>
                  <a:pt x="2172589" y="977811"/>
                </a:lnTo>
                <a:close/>
              </a:path>
              <a:path w="3058159" h="1193164">
                <a:moveTo>
                  <a:pt x="2172589" y="544195"/>
                </a:moveTo>
                <a:lnTo>
                  <a:pt x="2169795" y="512572"/>
                </a:lnTo>
                <a:lnTo>
                  <a:pt x="2043303" y="523748"/>
                </a:lnTo>
                <a:lnTo>
                  <a:pt x="2046097" y="555371"/>
                </a:lnTo>
                <a:lnTo>
                  <a:pt x="2172589" y="544195"/>
                </a:lnTo>
                <a:close/>
              </a:path>
              <a:path w="3058159" h="1193164">
                <a:moveTo>
                  <a:pt x="2172589" y="109855"/>
                </a:moveTo>
                <a:lnTo>
                  <a:pt x="2169795" y="78232"/>
                </a:lnTo>
                <a:lnTo>
                  <a:pt x="2043303" y="89408"/>
                </a:lnTo>
                <a:lnTo>
                  <a:pt x="2046097" y="121031"/>
                </a:lnTo>
                <a:lnTo>
                  <a:pt x="2172589" y="109855"/>
                </a:lnTo>
                <a:close/>
              </a:path>
              <a:path w="3058159" h="1193164">
                <a:moveTo>
                  <a:pt x="2393950" y="958265"/>
                </a:moveTo>
                <a:lnTo>
                  <a:pt x="2391156" y="926642"/>
                </a:lnTo>
                <a:lnTo>
                  <a:pt x="2264664" y="937806"/>
                </a:lnTo>
                <a:lnTo>
                  <a:pt x="2267458" y="969441"/>
                </a:lnTo>
                <a:lnTo>
                  <a:pt x="2393950" y="958265"/>
                </a:lnTo>
                <a:close/>
              </a:path>
              <a:path w="3058159" h="1193164">
                <a:moveTo>
                  <a:pt x="2393950" y="524637"/>
                </a:moveTo>
                <a:lnTo>
                  <a:pt x="2391156" y="493014"/>
                </a:lnTo>
                <a:lnTo>
                  <a:pt x="2264664" y="504190"/>
                </a:lnTo>
                <a:lnTo>
                  <a:pt x="2267458" y="535813"/>
                </a:lnTo>
                <a:lnTo>
                  <a:pt x="2393950" y="524637"/>
                </a:lnTo>
                <a:close/>
              </a:path>
              <a:path w="3058159" h="1193164">
                <a:moveTo>
                  <a:pt x="2393950" y="90297"/>
                </a:moveTo>
                <a:lnTo>
                  <a:pt x="2391156" y="58674"/>
                </a:lnTo>
                <a:lnTo>
                  <a:pt x="2264664" y="69850"/>
                </a:lnTo>
                <a:lnTo>
                  <a:pt x="2267458" y="101473"/>
                </a:lnTo>
                <a:lnTo>
                  <a:pt x="2393950" y="90297"/>
                </a:lnTo>
                <a:close/>
              </a:path>
              <a:path w="3058159" h="1193164">
                <a:moveTo>
                  <a:pt x="2615311" y="938707"/>
                </a:moveTo>
                <a:lnTo>
                  <a:pt x="2612517" y="907084"/>
                </a:lnTo>
                <a:lnTo>
                  <a:pt x="2486025" y="918260"/>
                </a:lnTo>
                <a:lnTo>
                  <a:pt x="2488819" y="949883"/>
                </a:lnTo>
                <a:lnTo>
                  <a:pt x="2615311" y="938707"/>
                </a:lnTo>
                <a:close/>
              </a:path>
              <a:path w="3058159" h="1193164">
                <a:moveTo>
                  <a:pt x="2615311" y="505079"/>
                </a:moveTo>
                <a:lnTo>
                  <a:pt x="2612517" y="473456"/>
                </a:lnTo>
                <a:lnTo>
                  <a:pt x="2486025" y="484632"/>
                </a:lnTo>
                <a:lnTo>
                  <a:pt x="2488819" y="516255"/>
                </a:lnTo>
                <a:lnTo>
                  <a:pt x="2615311" y="505079"/>
                </a:lnTo>
                <a:close/>
              </a:path>
              <a:path w="3058159" h="1193164">
                <a:moveTo>
                  <a:pt x="2615311" y="70739"/>
                </a:moveTo>
                <a:lnTo>
                  <a:pt x="2612517" y="39116"/>
                </a:lnTo>
                <a:lnTo>
                  <a:pt x="2486025" y="50292"/>
                </a:lnTo>
                <a:lnTo>
                  <a:pt x="2488819" y="81915"/>
                </a:lnTo>
                <a:lnTo>
                  <a:pt x="2615311" y="70739"/>
                </a:lnTo>
                <a:close/>
              </a:path>
              <a:path w="3058159" h="1193164">
                <a:moveTo>
                  <a:pt x="2836659" y="919162"/>
                </a:moveTo>
                <a:lnTo>
                  <a:pt x="2833878" y="887526"/>
                </a:lnTo>
                <a:lnTo>
                  <a:pt x="2707386" y="898702"/>
                </a:lnTo>
                <a:lnTo>
                  <a:pt x="2710180" y="930325"/>
                </a:lnTo>
                <a:lnTo>
                  <a:pt x="2836659" y="919162"/>
                </a:lnTo>
                <a:close/>
              </a:path>
              <a:path w="3058159" h="1193164">
                <a:moveTo>
                  <a:pt x="2836659" y="485521"/>
                </a:moveTo>
                <a:lnTo>
                  <a:pt x="2833878" y="453898"/>
                </a:lnTo>
                <a:lnTo>
                  <a:pt x="2707386" y="465074"/>
                </a:lnTo>
                <a:lnTo>
                  <a:pt x="2710180" y="496697"/>
                </a:lnTo>
                <a:lnTo>
                  <a:pt x="2836659" y="485521"/>
                </a:lnTo>
                <a:close/>
              </a:path>
              <a:path w="3058159" h="1193164">
                <a:moveTo>
                  <a:pt x="2836659" y="51181"/>
                </a:moveTo>
                <a:lnTo>
                  <a:pt x="2833878" y="19558"/>
                </a:lnTo>
                <a:lnTo>
                  <a:pt x="2707386" y="30734"/>
                </a:lnTo>
                <a:lnTo>
                  <a:pt x="2710180" y="62357"/>
                </a:lnTo>
                <a:lnTo>
                  <a:pt x="2836659" y="51181"/>
                </a:lnTo>
                <a:close/>
              </a:path>
              <a:path w="3058159" h="1193164">
                <a:moveTo>
                  <a:pt x="3058160" y="899604"/>
                </a:moveTo>
                <a:lnTo>
                  <a:pt x="3055366" y="867981"/>
                </a:lnTo>
                <a:lnTo>
                  <a:pt x="2928747" y="879157"/>
                </a:lnTo>
                <a:lnTo>
                  <a:pt x="2931541" y="910780"/>
                </a:lnTo>
                <a:lnTo>
                  <a:pt x="3058160" y="899604"/>
                </a:lnTo>
                <a:close/>
              </a:path>
              <a:path w="3058159" h="1193164">
                <a:moveTo>
                  <a:pt x="3058160" y="466090"/>
                </a:moveTo>
                <a:lnTo>
                  <a:pt x="3055366" y="434340"/>
                </a:lnTo>
                <a:lnTo>
                  <a:pt x="2928747" y="445516"/>
                </a:lnTo>
                <a:lnTo>
                  <a:pt x="2931541" y="477139"/>
                </a:lnTo>
                <a:lnTo>
                  <a:pt x="3058160" y="466090"/>
                </a:lnTo>
                <a:close/>
              </a:path>
              <a:path w="3058159" h="1193164">
                <a:moveTo>
                  <a:pt x="3058160" y="31623"/>
                </a:moveTo>
                <a:lnTo>
                  <a:pt x="3055366" y="0"/>
                </a:lnTo>
                <a:lnTo>
                  <a:pt x="2928747" y="11176"/>
                </a:lnTo>
                <a:lnTo>
                  <a:pt x="2931541" y="42799"/>
                </a:lnTo>
                <a:lnTo>
                  <a:pt x="3058160" y="316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9670160" y="1018413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9899650" y="1314449"/>
            <a:ext cx="1397000" cy="3003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20">
                <a:solidFill>
                  <a:srgbClr val="FFFFFF"/>
                </a:solidFill>
                <a:latin typeface="PMingLiU"/>
                <a:cs typeface="PMingLiU"/>
              </a:rPr>
              <a:t>问题结构分析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10378440" y="2052827"/>
            <a:ext cx="439420" cy="367030"/>
          </a:xfrm>
          <a:custGeom>
            <a:avLst/>
            <a:gdLst/>
            <a:ahLst/>
            <a:cxnLst/>
            <a:rect l="l" t="t" r="r" b="b"/>
            <a:pathLst>
              <a:path w="439420" h="367030">
                <a:moveTo>
                  <a:pt x="351154" y="0"/>
                </a:moveTo>
                <a:lnTo>
                  <a:pt x="87756" y="0"/>
                </a:lnTo>
                <a:lnTo>
                  <a:pt x="87756" y="183261"/>
                </a:lnTo>
                <a:lnTo>
                  <a:pt x="0" y="183261"/>
                </a:lnTo>
                <a:lnTo>
                  <a:pt x="219455" y="366522"/>
                </a:lnTo>
                <a:lnTo>
                  <a:pt x="438911" y="183261"/>
                </a:lnTo>
                <a:lnTo>
                  <a:pt x="351154" y="183261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670160" y="2480691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 txBox="1"/>
          <p:nvPr/>
        </p:nvSpPr>
        <p:spPr>
          <a:xfrm>
            <a:off x="9899650" y="2776982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递推关系建立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29" name="object 29"/>
          <p:cNvSpPr/>
          <p:nvPr/>
        </p:nvSpPr>
        <p:spPr>
          <a:xfrm>
            <a:off x="10378440" y="3515105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9"/>
                </a:lnTo>
                <a:lnTo>
                  <a:pt x="0" y="182499"/>
                </a:lnTo>
                <a:lnTo>
                  <a:pt x="219455" y="364998"/>
                </a:lnTo>
                <a:lnTo>
                  <a:pt x="438911" y="182499"/>
                </a:lnTo>
                <a:lnTo>
                  <a:pt x="351154" y="182499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9670160" y="3941445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8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8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83C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 txBox="1"/>
          <p:nvPr/>
        </p:nvSpPr>
        <p:spPr>
          <a:xfrm>
            <a:off x="9899650" y="4237735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自底向上计算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32" name="object 32"/>
          <p:cNvSpPr/>
          <p:nvPr/>
        </p:nvSpPr>
        <p:spPr>
          <a:xfrm>
            <a:off x="10378440" y="4975859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8"/>
                </a:lnTo>
                <a:lnTo>
                  <a:pt x="0" y="182498"/>
                </a:lnTo>
                <a:lnTo>
                  <a:pt x="219455" y="364997"/>
                </a:lnTo>
                <a:lnTo>
                  <a:pt x="438911" y="182498"/>
                </a:lnTo>
                <a:lnTo>
                  <a:pt x="351154" y="182498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9670160" y="5402198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52"/>
                </a:lnTo>
                <a:lnTo>
                  <a:pt x="7647" y="914358"/>
                </a:lnTo>
                <a:lnTo>
                  <a:pt x="28511" y="945313"/>
                </a:lnTo>
                <a:lnTo>
                  <a:pt x="59471" y="966183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3"/>
                </a:lnTo>
                <a:lnTo>
                  <a:pt x="1827720" y="945313"/>
                </a:lnTo>
                <a:lnTo>
                  <a:pt x="1848584" y="914358"/>
                </a:lnTo>
                <a:lnTo>
                  <a:pt x="1856232" y="876452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 txBox="1"/>
          <p:nvPr/>
        </p:nvSpPr>
        <p:spPr>
          <a:xfrm>
            <a:off x="9899650" y="5698744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最优方案追踪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35" name="object 35"/>
          <p:cNvSpPr/>
          <p:nvPr/>
        </p:nvSpPr>
        <p:spPr>
          <a:xfrm>
            <a:off x="1065275" y="6032855"/>
            <a:ext cx="2588895" cy="812800"/>
          </a:xfrm>
          <a:custGeom>
            <a:avLst/>
            <a:gdLst/>
            <a:ahLst/>
            <a:cxnLst/>
            <a:rect l="l" t="t" r="r" b="b"/>
            <a:pathLst>
              <a:path w="2588895" h="812800">
                <a:moveTo>
                  <a:pt x="2588641" y="0"/>
                </a:moveTo>
                <a:lnTo>
                  <a:pt x="1476121" y="280314"/>
                </a:lnTo>
                <a:lnTo>
                  <a:pt x="0" y="280314"/>
                </a:lnTo>
                <a:lnTo>
                  <a:pt x="0" y="812190"/>
                </a:lnTo>
                <a:lnTo>
                  <a:pt x="2530602" y="812190"/>
                </a:lnTo>
                <a:lnTo>
                  <a:pt x="2530602" y="280314"/>
                </a:lnTo>
                <a:lnTo>
                  <a:pt x="2108835" y="280314"/>
                </a:lnTo>
                <a:lnTo>
                  <a:pt x="2588641" y="0"/>
                </a:lnTo>
                <a:close/>
              </a:path>
            </a:pathLst>
          </a:custGeom>
          <a:solidFill>
            <a:srgbClr val="083C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 txBox="1"/>
          <p:nvPr/>
        </p:nvSpPr>
        <p:spPr>
          <a:xfrm>
            <a:off x="1403350" y="6345935"/>
            <a:ext cx="185420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spc="-10">
                <a:solidFill>
                  <a:srgbClr val="FFFFFF"/>
                </a:solidFill>
                <a:latin typeface="PMingLiU"/>
                <a:cs typeface="PMingLiU"/>
              </a:rPr>
              <a:t>自底向上计算</a:t>
            </a:r>
            <a:endParaRPr sz="2400">
              <a:latin typeface="PMingLiU"/>
              <a:cs typeface="PMingLiU"/>
            </a:endParaRPr>
          </a:p>
        </p:txBody>
      </p:sp>
      <p:sp>
        <p:nvSpPr>
          <p:cNvPr id="37" name="object 37"/>
          <p:cNvSpPr/>
          <p:nvPr/>
        </p:nvSpPr>
        <p:spPr>
          <a:xfrm>
            <a:off x="6628638" y="5923788"/>
            <a:ext cx="327660" cy="327660"/>
          </a:xfrm>
          <a:custGeom>
            <a:avLst/>
            <a:gdLst/>
            <a:ahLst/>
            <a:cxnLst/>
            <a:rect l="l" t="t" r="r" b="b"/>
            <a:pathLst>
              <a:path w="327659" h="327660">
                <a:moveTo>
                  <a:pt x="163829" y="0"/>
                </a:moveTo>
                <a:lnTo>
                  <a:pt x="125094" y="125158"/>
                </a:lnTo>
                <a:lnTo>
                  <a:pt x="0" y="125158"/>
                </a:lnTo>
                <a:lnTo>
                  <a:pt x="101218" y="202501"/>
                </a:lnTo>
                <a:lnTo>
                  <a:pt x="62610" y="327660"/>
                </a:lnTo>
                <a:lnTo>
                  <a:pt x="163829" y="250304"/>
                </a:lnTo>
                <a:lnTo>
                  <a:pt x="265048" y="327660"/>
                </a:lnTo>
                <a:lnTo>
                  <a:pt x="226440" y="202501"/>
                </a:lnTo>
                <a:lnTo>
                  <a:pt x="327659" y="125158"/>
                </a:lnTo>
                <a:lnTo>
                  <a:pt x="202564" y="125158"/>
                </a:lnTo>
                <a:lnTo>
                  <a:pt x="163829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左大括号 39">
            <a:extLst>
              <a:ext uri="{FF2B5EF4-FFF2-40B4-BE49-F238E27FC236}">
                <a16:creationId xmlns:a16="http://schemas.microsoft.com/office/drawing/2014/main" id="{974EE867-96D6-A54B-AE46-0E30DEDA0398}"/>
              </a:ext>
            </a:extLst>
          </p:cNvPr>
          <p:cNvSpPr/>
          <p:nvPr/>
        </p:nvSpPr>
        <p:spPr>
          <a:xfrm>
            <a:off x="2444645" y="2995622"/>
            <a:ext cx="212943" cy="598570"/>
          </a:xfrm>
          <a:prstGeom prst="leftBrac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  <p:sp>
        <p:nvSpPr>
          <p:cNvPr id="41" name="object 5">
            <a:extLst>
              <a:ext uri="{FF2B5EF4-FFF2-40B4-BE49-F238E27FC236}">
                <a16:creationId xmlns:a16="http://schemas.microsoft.com/office/drawing/2014/main" id="{7A807743-FCE4-8C42-9D50-17CAE53BF9CF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25688" y="265681"/>
            <a:ext cx="7955890" cy="56618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6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自底向上计算：确定计算顺</a:t>
            </a:r>
            <a:r>
              <a:rPr sz="36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序</a:t>
            </a:r>
            <a:endParaRPr sz="36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4630803" y="1313970"/>
            <a:ext cx="77470" cy="331470"/>
          </a:xfrm>
          <a:custGeom>
            <a:avLst/>
            <a:gdLst/>
            <a:ahLst/>
            <a:cxnLst/>
            <a:rect l="l" t="t" r="r" b="b"/>
            <a:pathLst>
              <a:path w="77470" h="331469">
                <a:moveTo>
                  <a:pt x="77470" y="0"/>
                </a:moveTo>
                <a:lnTo>
                  <a:pt x="0" y="0"/>
                </a:lnTo>
                <a:lnTo>
                  <a:pt x="0" y="13970"/>
                </a:lnTo>
                <a:lnTo>
                  <a:pt x="48641" y="13970"/>
                </a:lnTo>
                <a:lnTo>
                  <a:pt x="48641" y="318770"/>
                </a:lnTo>
                <a:lnTo>
                  <a:pt x="0" y="318770"/>
                </a:lnTo>
                <a:lnTo>
                  <a:pt x="0" y="331470"/>
                </a:lnTo>
                <a:lnTo>
                  <a:pt x="77470" y="331470"/>
                </a:lnTo>
                <a:lnTo>
                  <a:pt x="77470" y="318770"/>
                </a:lnTo>
                <a:lnTo>
                  <a:pt x="77470" y="13970"/>
                </a:lnTo>
                <a:lnTo>
                  <a:pt x="774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832354" y="1313970"/>
            <a:ext cx="77470" cy="331470"/>
          </a:xfrm>
          <a:custGeom>
            <a:avLst/>
            <a:gdLst/>
            <a:ahLst/>
            <a:cxnLst/>
            <a:rect l="l" t="t" r="r" b="b"/>
            <a:pathLst>
              <a:path w="77470" h="331469">
                <a:moveTo>
                  <a:pt x="77470" y="0"/>
                </a:moveTo>
                <a:lnTo>
                  <a:pt x="0" y="0"/>
                </a:lnTo>
                <a:lnTo>
                  <a:pt x="0" y="13970"/>
                </a:lnTo>
                <a:lnTo>
                  <a:pt x="0" y="318770"/>
                </a:lnTo>
                <a:lnTo>
                  <a:pt x="0" y="331470"/>
                </a:lnTo>
                <a:lnTo>
                  <a:pt x="77470" y="331470"/>
                </a:lnTo>
                <a:lnTo>
                  <a:pt x="77470" y="318770"/>
                </a:lnTo>
                <a:lnTo>
                  <a:pt x="28829" y="318770"/>
                </a:lnTo>
                <a:lnTo>
                  <a:pt x="28829" y="13970"/>
                </a:lnTo>
                <a:lnTo>
                  <a:pt x="77470" y="13970"/>
                </a:lnTo>
                <a:lnTo>
                  <a:pt x="774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735840" y="1213133"/>
            <a:ext cx="687260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构造追踪数组</a:t>
            </a:r>
            <a:r>
              <a:rPr sz="2800" dirty="0">
                <a:latin typeface="Cambria Math"/>
                <a:cs typeface="Cambria Math"/>
              </a:rPr>
              <a:t>𝒓𝒆𝒄</a:t>
            </a:r>
            <a:r>
              <a:rPr sz="2800" spc="360" dirty="0">
                <a:latin typeface="Cambria Math"/>
                <a:cs typeface="Cambria Math"/>
              </a:rPr>
              <a:t> </a:t>
            </a:r>
            <a:r>
              <a:rPr sz="2800" spc="-10" dirty="0">
                <a:latin typeface="Cambria Math"/>
                <a:cs typeface="Cambria Math"/>
              </a:rPr>
              <a:t>𝟏</a:t>
            </a:r>
            <a:r>
              <a:rPr sz="2800" spc="-80" dirty="0">
                <a:latin typeface="Cambria Math"/>
                <a:cs typeface="Cambria Math"/>
              </a:rPr>
              <a:t>. . </a:t>
            </a:r>
            <a:r>
              <a:rPr sz="2800" dirty="0">
                <a:latin typeface="Cambria Math"/>
                <a:cs typeface="Cambria Math"/>
              </a:rPr>
              <a:t>𝒏</a:t>
            </a:r>
            <a:r>
              <a:rPr sz="2800" spc="370" dirty="0">
                <a:latin typeface="Cambria Math"/>
                <a:cs typeface="Cambria Math"/>
              </a:rPr>
              <a:t> </a:t>
            </a:r>
            <a:r>
              <a:rPr sz="2800" spc="-1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，</a:t>
            </a:r>
            <a:r>
              <a:rPr sz="28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记录子问题来源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2382522" y="2517930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959739" y="2517930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1080263" y="2428522"/>
            <a:ext cx="130873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60045" indent="-347980">
              <a:lnSpc>
                <a:spcPct val="100000"/>
              </a:lnSpc>
              <a:spcBef>
                <a:spcPts val="100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360045" algn="l"/>
                <a:tab pos="360680" algn="l"/>
              </a:tabLst>
            </a:pPr>
            <a:r>
              <a:rPr sz="2400">
                <a:latin typeface="Cambria Math"/>
                <a:cs typeface="Cambria Math"/>
              </a:rPr>
              <a:t>𝒓𝒆𝒄</a:t>
            </a:r>
            <a:r>
              <a:rPr sz="2400" spc="310">
                <a:latin typeface="Cambria Math"/>
                <a:cs typeface="Cambria Math"/>
              </a:rPr>
              <a:t> </a:t>
            </a:r>
            <a:r>
              <a:rPr sz="2400" spc="-10">
                <a:latin typeface="Cambria Math"/>
                <a:cs typeface="Cambria Math"/>
              </a:rPr>
              <a:t>𝒊,</a:t>
            </a:r>
            <a:r>
              <a:rPr sz="2400" spc="-135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𝒋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4696716" y="2119150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4273933" y="2119150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6931661" y="2119150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418457" y="2119150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3063242" y="2029996"/>
            <a:ext cx="452755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621665" algn="l"/>
                <a:tab pos="1818005" algn="l"/>
                <a:tab pos="4036695" algn="l"/>
              </a:tabLst>
            </a:pPr>
            <a:r>
              <a:rPr sz="2400" spc="-25">
                <a:latin typeface="Cambria Math"/>
                <a:cs typeface="Cambria Math"/>
              </a:rPr>
              <a:t>𝑳𝑼,</a:t>
            </a:r>
            <a:r>
              <a:rPr sz="2400">
                <a:latin typeface="Cambria Math"/>
                <a:cs typeface="Cambria Math"/>
              </a:rPr>
              <a:t>	𝒊𝒇</a:t>
            </a:r>
            <a:r>
              <a:rPr sz="2400" spc="-5">
                <a:latin typeface="Cambria Math"/>
                <a:cs typeface="Cambria Math"/>
              </a:rPr>
              <a:t> </a:t>
            </a:r>
            <a:r>
              <a:rPr sz="2400" b="1" i="1">
                <a:latin typeface="Times New Roman"/>
                <a:cs typeface="Times New Roman"/>
              </a:rPr>
              <a:t>C</a:t>
            </a:r>
            <a:r>
              <a:rPr sz="2400" b="1" i="1" spc="245">
                <a:latin typeface="Times New Roman"/>
                <a:cs typeface="Times New Roman"/>
              </a:rPr>
              <a:t> </a:t>
            </a:r>
            <a:r>
              <a:rPr sz="2400" spc="-10">
                <a:latin typeface="Cambria Math"/>
                <a:cs typeface="Cambria Math"/>
              </a:rPr>
              <a:t>𝒊,</a:t>
            </a:r>
            <a:r>
              <a:rPr sz="2400" spc="-135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𝒋</a:t>
            </a:r>
            <a:r>
              <a:rPr sz="2400">
                <a:latin typeface="Cambria Math"/>
                <a:cs typeface="Cambria Math"/>
              </a:rPr>
              <a:t>	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𝑪</a:t>
            </a:r>
            <a:r>
              <a:rPr sz="2400" spc="30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𝒊</a:t>
            </a:r>
            <a:r>
              <a:rPr sz="2400" spc="-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− 𝟏,</a:t>
            </a:r>
            <a:r>
              <a:rPr sz="2400" spc="-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𝒋</a:t>
            </a:r>
            <a:r>
              <a:rPr sz="2400" spc="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− </a:t>
            </a:r>
            <a:r>
              <a:rPr sz="2400" spc="-50">
                <a:latin typeface="Cambria Math"/>
                <a:cs typeface="Cambria Math"/>
              </a:rPr>
              <a:t>𝟏</a:t>
            </a:r>
            <a:r>
              <a:rPr sz="2400">
                <a:latin typeface="Cambria Math"/>
                <a:cs typeface="Cambria Math"/>
              </a:rPr>
              <a:t>	+ </a:t>
            </a:r>
            <a:r>
              <a:rPr sz="2400" spc="-50">
                <a:latin typeface="Cambria Math"/>
                <a:cs typeface="Cambria Math"/>
              </a:rPr>
              <a:t>𝟏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4888740" y="2511580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465957" y="2511580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6578094" y="2511580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610481" y="2511580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4891026" y="2904010"/>
            <a:ext cx="66675" cy="284480"/>
          </a:xfrm>
          <a:custGeom>
            <a:avLst/>
            <a:gdLst/>
            <a:ahLst/>
            <a:cxnLst/>
            <a:rect l="l" t="t" r="r" b="b"/>
            <a:pathLst>
              <a:path w="66675" h="28448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3050"/>
                </a:lnTo>
                <a:lnTo>
                  <a:pt x="0" y="273050"/>
                </a:lnTo>
                <a:lnTo>
                  <a:pt x="0" y="284480"/>
                </a:lnTo>
                <a:lnTo>
                  <a:pt x="66421" y="284480"/>
                </a:lnTo>
                <a:lnTo>
                  <a:pt x="66421" y="27305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4468243" y="2904010"/>
            <a:ext cx="66675" cy="284480"/>
          </a:xfrm>
          <a:custGeom>
            <a:avLst/>
            <a:gdLst/>
            <a:ahLst/>
            <a:cxnLst/>
            <a:rect l="l" t="t" r="r" b="b"/>
            <a:pathLst>
              <a:path w="66675" h="28448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3050"/>
                </a:lnTo>
                <a:lnTo>
                  <a:pt x="0" y="284480"/>
                </a:lnTo>
                <a:lnTo>
                  <a:pt x="66421" y="284480"/>
                </a:lnTo>
                <a:lnTo>
                  <a:pt x="66421" y="273050"/>
                </a:lnTo>
                <a:lnTo>
                  <a:pt x="24765" y="27305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6580380" y="2904010"/>
            <a:ext cx="66675" cy="284480"/>
          </a:xfrm>
          <a:custGeom>
            <a:avLst/>
            <a:gdLst/>
            <a:ahLst/>
            <a:cxnLst/>
            <a:rect l="l" t="t" r="r" b="b"/>
            <a:pathLst>
              <a:path w="66675" h="28448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3050"/>
                </a:lnTo>
                <a:lnTo>
                  <a:pt x="0" y="273050"/>
                </a:lnTo>
                <a:lnTo>
                  <a:pt x="0" y="284480"/>
                </a:lnTo>
                <a:lnTo>
                  <a:pt x="66421" y="284480"/>
                </a:lnTo>
                <a:lnTo>
                  <a:pt x="66421" y="27305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612767" y="2904010"/>
            <a:ext cx="66675" cy="284480"/>
          </a:xfrm>
          <a:custGeom>
            <a:avLst/>
            <a:gdLst/>
            <a:ahLst/>
            <a:cxnLst/>
            <a:rect l="l" t="t" r="r" b="b"/>
            <a:pathLst>
              <a:path w="66675" h="28448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3050"/>
                </a:lnTo>
                <a:lnTo>
                  <a:pt x="0" y="284480"/>
                </a:lnTo>
                <a:lnTo>
                  <a:pt x="66421" y="284480"/>
                </a:lnTo>
                <a:lnTo>
                  <a:pt x="66421" y="273050"/>
                </a:lnTo>
                <a:lnTo>
                  <a:pt x="24765" y="27305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2554988" y="2408710"/>
            <a:ext cx="4032885" cy="798195"/>
          </a:xfrm>
          <a:prstGeom prst="rect">
            <a:avLst/>
          </a:prstGeom>
        </p:spPr>
        <p:txBody>
          <a:bodyPr vert="horz" wrap="square" lIns="0" tIns="33020" rIns="0" bIns="0" rtlCol="0">
            <a:spAutoFit/>
          </a:bodyPr>
          <a:lstStyle/>
          <a:p>
            <a:pPr marR="7620" algn="r">
              <a:lnSpc>
                <a:spcPct val="100000"/>
              </a:lnSpc>
              <a:spcBef>
                <a:spcPts val="260"/>
              </a:spcBef>
              <a:tabLst>
                <a:tab pos="739775" algn="l"/>
                <a:tab pos="1310005" algn="l"/>
                <a:tab pos="2505710" algn="l"/>
              </a:tabLst>
            </a:pPr>
            <a:r>
              <a:rPr sz="2400" dirty="0">
                <a:latin typeface="Cambria Math"/>
                <a:cs typeface="Cambria Math"/>
              </a:rPr>
              <a:t>=</a:t>
            </a:r>
            <a:r>
              <a:rPr sz="2400" spc="13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	</a:t>
            </a:r>
            <a:r>
              <a:rPr sz="3600" spc="-37" baseline="1157" dirty="0">
                <a:latin typeface="Cambria Math"/>
                <a:cs typeface="Cambria Math"/>
              </a:rPr>
              <a:t>𝑼,</a:t>
            </a:r>
            <a:r>
              <a:rPr sz="3600" baseline="1157" dirty="0">
                <a:latin typeface="Cambria Math"/>
                <a:cs typeface="Cambria Math"/>
              </a:rPr>
              <a:t>	𝒊𝒇</a:t>
            </a:r>
            <a:r>
              <a:rPr sz="3600" spc="-30" baseline="1157" dirty="0">
                <a:latin typeface="Cambria Math"/>
                <a:cs typeface="Cambria Math"/>
              </a:rPr>
              <a:t> </a:t>
            </a:r>
            <a:r>
              <a:rPr sz="3600" b="1" i="1" baseline="1157" dirty="0">
                <a:latin typeface="Times New Roman"/>
                <a:cs typeface="Times New Roman"/>
              </a:rPr>
              <a:t>C</a:t>
            </a:r>
            <a:r>
              <a:rPr sz="3600" b="1" i="1" spc="367" baseline="1157" dirty="0">
                <a:latin typeface="Times New Roman"/>
                <a:cs typeface="Times New Roman"/>
              </a:rPr>
              <a:t> </a:t>
            </a:r>
            <a:r>
              <a:rPr sz="3600" spc="-15" baseline="1157" dirty="0">
                <a:latin typeface="Cambria Math"/>
                <a:cs typeface="Cambria Math"/>
              </a:rPr>
              <a:t>𝒊,</a:t>
            </a:r>
            <a:r>
              <a:rPr sz="3600" spc="-202" baseline="1157" dirty="0">
                <a:latin typeface="Cambria Math"/>
                <a:cs typeface="Cambria Math"/>
              </a:rPr>
              <a:t> </a:t>
            </a:r>
            <a:r>
              <a:rPr sz="3600" spc="-75" baseline="1157" dirty="0">
                <a:latin typeface="Cambria Math"/>
                <a:cs typeface="Cambria Math"/>
              </a:rPr>
              <a:t>𝒋</a:t>
            </a:r>
            <a:r>
              <a:rPr sz="3600" baseline="1157" dirty="0">
                <a:latin typeface="Cambria Math"/>
                <a:cs typeface="Cambria Math"/>
              </a:rPr>
              <a:t>	=</a:t>
            </a:r>
            <a:r>
              <a:rPr sz="3600" spc="179" baseline="1157" dirty="0">
                <a:latin typeface="Cambria Math"/>
                <a:cs typeface="Cambria Math"/>
              </a:rPr>
              <a:t> </a:t>
            </a:r>
            <a:r>
              <a:rPr sz="3600" baseline="1157" dirty="0">
                <a:latin typeface="Cambria Math"/>
                <a:cs typeface="Cambria Math"/>
              </a:rPr>
              <a:t>𝑪</a:t>
            </a:r>
            <a:r>
              <a:rPr sz="3600" spc="465" baseline="1157" dirty="0">
                <a:latin typeface="Cambria Math"/>
                <a:cs typeface="Cambria Math"/>
              </a:rPr>
              <a:t> </a:t>
            </a:r>
            <a:r>
              <a:rPr sz="3600" baseline="1157" dirty="0">
                <a:latin typeface="Cambria Math"/>
                <a:cs typeface="Cambria Math"/>
              </a:rPr>
              <a:t>𝒊 − </a:t>
            </a:r>
            <a:r>
              <a:rPr sz="3600" spc="-15" baseline="1157" dirty="0">
                <a:latin typeface="Cambria Math"/>
                <a:cs typeface="Cambria Math"/>
              </a:rPr>
              <a:t>𝟏,</a:t>
            </a:r>
            <a:r>
              <a:rPr sz="3600" spc="-195" baseline="1157" dirty="0">
                <a:latin typeface="Cambria Math"/>
                <a:cs typeface="Cambria Math"/>
              </a:rPr>
              <a:t> </a:t>
            </a:r>
            <a:r>
              <a:rPr sz="3600" spc="-75" baseline="1157" dirty="0">
                <a:latin typeface="Cambria Math"/>
                <a:cs typeface="Cambria Math"/>
              </a:rPr>
              <a:t>𝒋</a:t>
            </a:r>
            <a:endParaRPr sz="3600" baseline="1157" dirty="0">
              <a:latin typeface="Cambria Math"/>
              <a:cs typeface="Cambria Math"/>
            </a:endParaRPr>
          </a:p>
          <a:p>
            <a:pPr marR="5080" algn="r">
              <a:lnSpc>
                <a:spcPct val="100000"/>
              </a:lnSpc>
              <a:spcBef>
                <a:spcPts val="165"/>
              </a:spcBef>
              <a:tabLst>
                <a:tab pos="588010" algn="l"/>
                <a:tab pos="1770380" algn="l"/>
              </a:tabLst>
            </a:pPr>
            <a:r>
              <a:rPr sz="2400" spc="-25" dirty="0">
                <a:latin typeface="Cambria Math"/>
                <a:cs typeface="Cambria Math"/>
              </a:rPr>
              <a:t>𝑳,</a:t>
            </a:r>
            <a:r>
              <a:rPr sz="2400" dirty="0">
                <a:latin typeface="Cambria Math"/>
                <a:cs typeface="Cambria Math"/>
              </a:rPr>
              <a:t>	𝒊𝒇</a:t>
            </a:r>
            <a:r>
              <a:rPr sz="2400" spc="-1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𝑪</a:t>
            </a:r>
            <a:r>
              <a:rPr sz="2400" spc="305" dirty="0">
                <a:latin typeface="Cambria Math"/>
                <a:cs typeface="Cambria Math"/>
              </a:rPr>
              <a:t> </a:t>
            </a:r>
            <a:r>
              <a:rPr sz="2400" spc="-10" dirty="0">
                <a:latin typeface="Cambria Math"/>
                <a:cs typeface="Cambria Math"/>
              </a:rPr>
              <a:t>𝒊,</a:t>
            </a:r>
            <a:r>
              <a:rPr sz="2400" spc="-135" dirty="0">
                <a:latin typeface="Cambria Math"/>
                <a:cs typeface="Cambria Math"/>
              </a:rPr>
              <a:t> </a:t>
            </a:r>
            <a:r>
              <a:rPr sz="2400" spc="-50" dirty="0">
                <a:latin typeface="Cambria Math"/>
                <a:cs typeface="Cambria Math"/>
              </a:rPr>
              <a:t>𝒋</a:t>
            </a:r>
            <a:r>
              <a:rPr sz="2400" dirty="0">
                <a:latin typeface="Cambria Math"/>
                <a:cs typeface="Cambria Math"/>
              </a:rPr>
              <a:t>	=</a:t>
            </a:r>
            <a:r>
              <a:rPr sz="2400" spc="13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𝑪</a:t>
            </a:r>
            <a:r>
              <a:rPr sz="2400" spc="310" dirty="0">
                <a:latin typeface="Cambria Math"/>
                <a:cs typeface="Cambria Math"/>
              </a:rPr>
              <a:t> </a:t>
            </a:r>
            <a:r>
              <a:rPr sz="2400" spc="-10" dirty="0">
                <a:latin typeface="Cambria Math"/>
                <a:cs typeface="Cambria Math"/>
              </a:rPr>
              <a:t>𝒊,</a:t>
            </a:r>
            <a:r>
              <a:rPr sz="2400" spc="-14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𝒋</a:t>
            </a:r>
            <a:r>
              <a:rPr sz="2400" spc="1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−</a:t>
            </a:r>
            <a:r>
              <a:rPr sz="2400" spc="5" dirty="0">
                <a:latin typeface="Cambria Math"/>
                <a:cs typeface="Cambria Math"/>
              </a:rPr>
              <a:t> </a:t>
            </a:r>
            <a:r>
              <a:rPr sz="2400" spc="-50" dirty="0">
                <a:latin typeface="Cambria Math"/>
                <a:cs typeface="Cambria Math"/>
              </a:rPr>
              <a:t>𝟏</a:t>
            </a:r>
            <a:endParaRPr sz="2400" dirty="0">
              <a:latin typeface="Cambria Math"/>
              <a:cs typeface="Cambria Math"/>
            </a:endParaRPr>
          </a:p>
        </p:txBody>
      </p:sp>
      <p:sp>
        <p:nvSpPr>
          <p:cNvPr id="22" name="object 22"/>
          <p:cNvSpPr txBox="1">
            <a:spLocks noGrp="1"/>
          </p:cNvSpPr>
          <p:nvPr>
            <p:ph type="title"/>
          </p:nvPr>
        </p:nvSpPr>
        <p:spPr>
          <a:xfrm>
            <a:off x="1272541" y="287301"/>
            <a:ext cx="6263767" cy="56618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6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最优方案追踪：记录决策过</a:t>
            </a:r>
            <a:r>
              <a:rPr sz="36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程</a:t>
            </a:r>
            <a:endParaRPr sz="36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1549783" y="3513356"/>
            <a:ext cx="5721985" cy="2616835"/>
            <a:chOff x="1502283" y="3085845"/>
            <a:chExt cx="5721985" cy="2616835"/>
          </a:xfrm>
        </p:grpSpPr>
        <p:sp>
          <p:nvSpPr>
            <p:cNvPr id="24" name="object 24"/>
            <p:cNvSpPr/>
            <p:nvPr/>
          </p:nvSpPr>
          <p:spPr>
            <a:xfrm>
              <a:off x="1502283" y="3085845"/>
              <a:ext cx="5721985" cy="2616835"/>
            </a:xfrm>
            <a:custGeom>
              <a:avLst/>
              <a:gdLst/>
              <a:ahLst/>
              <a:cxnLst/>
              <a:rect l="l" t="t" r="r" b="b"/>
              <a:pathLst>
                <a:path w="5721984" h="2616835">
                  <a:moveTo>
                    <a:pt x="5721476" y="0"/>
                  </a:moveTo>
                  <a:lnTo>
                    <a:pt x="0" y="0"/>
                  </a:lnTo>
                  <a:lnTo>
                    <a:pt x="0" y="2616580"/>
                  </a:lnTo>
                  <a:lnTo>
                    <a:pt x="5721476" y="2616580"/>
                  </a:lnTo>
                  <a:lnTo>
                    <a:pt x="572147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4383786" y="4394085"/>
              <a:ext cx="1893570" cy="436245"/>
            </a:xfrm>
            <a:custGeom>
              <a:avLst/>
              <a:gdLst/>
              <a:ahLst/>
              <a:cxnLst/>
              <a:rect l="l" t="t" r="r" b="b"/>
              <a:pathLst>
                <a:path w="1893570" h="436245">
                  <a:moveTo>
                    <a:pt x="1893328" y="0"/>
                  </a:moveTo>
                  <a:lnTo>
                    <a:pt x="946670" y="0"/>
                  </a:lnTo>
                  <a:lnTo>
                    <a:pt x="0" y="0"/>
                  </a:lnTo>
                  <a:lnTo>
                    <a:pt x="0" y="436105"/>
                  </a:lnTo>
                  <a:lnTo>
                    <a:pt x="946658" y="436105"/>
                  </a:lnTo>
                  <a:lnTo>
                    <a:pt x="1893328" y="436105"/>
                  </a:lnTo>
                  <a:lnTo>
                    <a:pt x="1893328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383786" y="4830216"/>
              <a:ext cx="1893570" cy="436245"/>
            </a:xfrm>
            <a:custGeom>
              <a:avLst/>
              <a:gdLst/>
              <a:ahLst/>
              <a:cxnLst/>
              <a:rect l="l" t="t" r="r" b="b"/>
              <a:pathLst>
                <a:path w="1893570" h="436245">
                  <a:moveTo>
                    <a:pt x="1893328" y="0"/>
                  </a:moveTo>
                  <a:lnTo>
                    <a:pt x="946670" y="0"/>
                  </a:lnTo>
                  <a:lnTo>
                    <a:pt x="0" y="0"/>
                  </a:lnTo>
                  <a:lnTo>
                    <a:pt x="0" y="436092"/>
                  </a:lnTo>
                  <a:lnTo>
                    <a:pt x="946658" y="436092"/>
                  </a:lnTo>
                  <a:lnTo>
                    <a:pt x="1893328" y="436092"/>
                  </a:lnTo>
                  <a:lnTo>
                    <a:pt x="1893328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7" name="object 2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327685"/>
              </p:ext>
            </p:extLst>
          </p:nvPr>
        </p:nvGraphicFramePr>
        <p:xfrm>
          <a:off x="1543433" y="3507006"/>
          <a:ext cx="5721984" cy="261365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880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467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35609">
                <a:tc>
                  <a:txBody>
                    <a:bodyPr/>
                    <a:lstStyle/>
                    <a:p>
                      <a:pPr marR="4635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𝑪[𝒊,</a:t>
                      </a:r>
                      <a:r>
                        <a:rPr sz="1700" spc="-9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𝒋]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9939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9939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𝟏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9939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𝟐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b="1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…</a:t>
                      </a:r>
                      <a:endParaRPr sz="1700">
                        <a:latin typeface="Arial"/>
                        <a:cs typeface="Arial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6383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𝒎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0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latin typeface="Cambria Math"/>
                          <a:cs typeface="Cambria Math"/>
                        </a:rPr>
                        <a:t>𝟎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2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latin typeface="Cambria Math"/>
                          <a:cs typeface="Cambria Math"/>
                        </a:rPr>
                        <a:t>𝟏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latin typeface="Cambria Math"/>
                          <a:cs typeface="Cambria Math"/>
                        </a:rPr>
                        <a:t>𝟐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72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572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spc="-10">
                          <a:latin typeface="Cambria Math"/>
                          <a:cs typeface="Cambria Math"/>
                        </a:rPr>
                        <a:t>𝑪[𝒊,</a:t>
                      </a:r>
                      <a:r>
                        <a:rPr sz="1700" spc="-10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25">
                          <a:latin typeface="Cambria Math"/>
                          <a:cs typeface="Cambria Math"/>
                        </a:rPr>
                        <a:t>𝒋]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7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60">
                          <a:latin typeface="Cambria Math"/>
                          <a:cs typeface="Cambria Math"/>
                        </a:rPr>
                        <a:t>𝒏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8" name="object 28"/>
          <p:cNvSpPr/>
          <p:nvPr/>
        </p:nvSpPr>
        <p:spPr>
          <a:xfrm>
            <a:off x="4829685" y="4926358"/>
            <a:ext cx="1042669" cy="391795"/>
          </a:xfrm>
          <a:custGeom>
            <a:avLst/>
            <a:gdLst/>
            <a:ahLst/>
            <a:cxnLst/>
            <a:rect l="l" t="t" r="r" b="b"/>
            <a:pathLst>
              <a:path w="1042669" h="391795">
                <a:moveTo>
                  <a:pt x="615950" y="390906"/>
                </a:moveTo>
                <a:lnTo>
                  <a:pt x="596874" y="365633"/>
                </a:lnTo>
                <a:lnTo>
                  <a:pt x="538988" y="288925"/>
                </a:lnTo>
                <a:lnTo>
                  <a:pt x="522071" y="323011"/>
                </a:lnTo>
                <a:lnTo>
                  <a:pt x="17018" y="72136"/>
                </a:lnTo>
                <a:lnTo>
                  <a:pt x="0" y="106172"/>
                </a:lnTo>
                <a:lnTo>
                  <a:pt x="505104" y="357200"/>
                </a:lnTo>
                <a:lnTo>
                  <a:pt x="488188" y="391287"/>
                </a:lnTo>
                <a:lnTo>
                  <a:pt x="615950" y="390906"/>
                </a:lnTo>
                <a:close/>
              </a:path>
              <a:path w="1042669" h="391795">
                <a:moveTo>
                  <a:pt x="1042543" y="275971"/>
                </a:moveTo>
                <a:lnTo>
                  <a:pt x="1004443" y="275971"/>
                </a:lnTo>
                <a:lnTo>
                  <a:pt x="1004443" y="0"/>
                </a:lnTo>
                <a:lnTo>
                  <a:pt x="966343" y="0"/>
                </a:lnTo>
                <a:lnTo>
                  <a:pt x="966343" y="275971"/>
                </a:lnTo>
                <a:lnTo>
                  <a:pt x="928243" y="275971"/>
                </a:lnTo>
                <a:lnTo>
                  <a:pt x="985393" y="390271"/>
                </a:lnTo>
                <a:lnTo>
                  <a:pt x="1033018" y="295021"/>
                </a:lnTo>
                <a:lnTo>
                  <a:pt x="1042543" y="2759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4838194" y="5436137"/>
            <a:ext cx="553085" cy="114300"/>
          </a:xfrm>
          <a:custGeom>
            <a:avLst/>
            <a:gdLst/>
            <a:ahLst/>
            <a:cxnLst/>
            <a:rect l="l" t="t" r="r" b="b"/>
            <a:pathLst>
              <a:path w="553085" h="114300">
                <a:moveTo>
                  <a:pt x="438657" y="0"/>
                </a:moveTo>
                <a:lnTo>
                  <a:pt x="438657" y="114300"/>
                </a:lnTo>
                <a:lnTo>
                  <a:pt x="514857" y="76200"/>
                </a:lnTo>
                <a:lnTo>
                  <a:pt x="457707" y="76200"/>
                </a:lnTo>
                <a:lnTo>
                  <a:pt x="457707" y="38100"/>
                </a:lnTo>
                <a:lnTo>
                  <a:pt x="514857" y="38100"/>
                </a:lnTo>
                <a:lnTo>
                  <a:pt x="438657" y="0"/>
                </a:lnTo>
                <a:close/>
              </a:path>
              <a:path w="553085" h="114300">
                <a:moveTo>
                  <a:pt x="438657" y="38100"/>
                </a:moveTo>
                <a:lnTo>
                  <a:pt x="0" y="38100"/>
                </a:lnTo>
                <a:lnTo>
                  <a:pt x="0" y="76200"/>
                </a:lnTo>
                <a:lnTo>
                  <a:pt x="438657" y="76200"/>
                </a:lnTo>
                <a:lnTo>
                  <a:pt x="438657" y="38100"/>
                </a:lnTo>
                <a:close/>
              </a:path>
              <a:path w="553085" h="114300">
                <a:moveTo>
                  <a:pt x="514857" y="38100"/>
                </a:moveTo>
                <a:lnTo>
                  <a:pt x="457707" y="38100"/>
                </a:lnTo>
                <a:lnTo>
                  <a:pt x="457707" y="76200"/>
                </a:lnTo>
                <a:lnTo>
                  <a:pt x="514857" y="76200"/>
                </a:lnTo>
                <a:lnTo>
                  <a:pt x="552957" y="57150"/>
                </a:lnTo>
                <a:lnTo>
                  <a:pt x="514857" y="38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9670160" y="1018413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 txBox="1"/>
          <p:nvPr/>
        </p:nvSpPr>
        <p:spPr>
          <a:xfrm>
            <a:off x="9899650" y="1314449"/>
            <a:ext cx="1397000" cy="3003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20">
                <a:solidFill>
                  <a:srgbClr val="FFFFFF"/>
                </a:solidFill>
                <a:latin typeface="PMingLiU"/>
                <a:cs typeface="PMingLiU"/>
              </a:rPr>
              <a:t>问题结构分析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32" name="object 32"/>
          <p:cNvSpPr/>
          <p:nvPr/>
        </p:nvSpPr>
        <p:spPr>
          <a:xfrm>
            <a:off x="10378440" y="2052827"/>
            <a:ext cx="439420" cy="367030"/>
          </a:xfrm>
          <a:custGeom>
            <a:avLst/>
            <a:gdLst/>
            <a:ahLst/>
            <a:cxnLst/>
            <a:rect l="l" t="t" r="r" b="b"/>
            <a:pathLst>
              <a:path w="439420" h="367030">
                <a:moveTo>
                  <a:pt x="351154" y="0"/>
                </a:moveTo>
                <a:lnTo>
                  <a:pt x="87756" y="0"/>
                </a:lnTo>
                <a:lnTo>
                  <a:pt x="87756" y="183261"/>
                </a:lnTo>
                <a:lnTo>
                  <a:pt x="0" y="183261"/>
                </a:lnTo>
                <a:lnTo>
                  <a:pt x="219455" y="366522"/>
                </a:lnTo>
                <a:lnTo>
                  <a:pt x="438911" y="183261"/>
                </a:lnTo>
                <a:lnTo>
                  <a:pt x="351154" y="183261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9670160" y="2480691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 txBox="1"/>
          <p:nvPr/>
        </p:nvSpPr>
        <p:spPr>
          <a:xfrm>
            <a:off x="9899650" y="2776982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递推关系建立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35" name="object 35"/>
          <p:cNvSpPr/>
          <p:nvPr/>
        </p:nvSpPr>
        <p:spPr>
          <a:xfrm>
            <a:off x="10378440" y="3515105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9"/>
                </a:lnTo>
                <a:lnTo>
                  <a:pt x="0" y="182499"/>
                </a:lnTo>
                <a:lnTo>
                  <a:pt x="219455" y="364998"/>
                </a:lnTo>
                <a:lnTo>
                  <a:pt x="438911" y="182499"/>
                </a:lnTo>
                <a:lnTo>
                  <a:pt x="351154" y="182499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9670160" y="3941445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8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8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 txBox="1"/>
          <p:nvPr/>
        </p:nvSpPr>
        <p:spPr>
          <a:xfrm>
            <a:off x="9899650" y="4237735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自底向上计算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38" name="object 38"/>
          <p:cNvSpPr/>
          <p:nvPr/>
        </p:nvSpPr>
        <p:spPr>
          <a:xfrm>
            <a:off x="10378440" y="4975859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8"/>
                </a:lnTo>
                <a:lnTo>
                  <a:pt x="0" y="182498"/>
                </a:lnTo>
                <a:lnTo>
                  <a:pt x="219455" y="364997"/>
                </a:lnTo>
                <a:lnTo>
                  <a:pt x="438911" y="182498"/>
                </a:lnTo>
                <a:lnTo>
                  <a:pt x="351154" y="182498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670160" y="5402198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52"/>
                </a:lnTo>
                <a:lnTo>
                  <a:pt x="7647" y="914358"/>
                </a:lnTo>
                <a:lnTo>
                  <a:pt x="28511" y="945313"/>
                </a:lnTo>
                <a:lnTo>
                  <a:pt x="59471" y="966183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3"/>
                </a:lnTo>
                <a:lnTo>
                  <a:pt x="1827720" y="945313"/>
                </a:lnTo>
                <a:lnTo>
                  <a:pt x="1848584" y="914358"/>
                </a:lnTo>
                <a:lnTo>
                  <a:pt x="1856232" y="876452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83C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 txBox="1"/>
          <p:nvPr/>
        </p:nvSpPr>
        <p:spPr>
          <a:xfrm>
            <a:off x="9899650" y="5698744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最优方案追踪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41" name="左大括号 40">
            <a:extLst>
              <a:ext uri="{FF2B5EF4-FFF2-40B4-BE49-F238E27FC236}">
                <a16:creationId xmlns:a16="http://schemas.microsoft.com/office/drawing/2014/main" id="{7181DE93-61E5-A640-929C-4B146173E380}"/>
              </a:ext>
            </a:extLst>
          </p:cNvPr>
          <p:cNvSpPr/>
          <p:nvPr/>
        </p:nvSpPr>
        <p:spPr>
          <a:xfrm>
            <a:off x="2844224" y="2152490"/>
            <a:ext cx="190005" cy="962914"/>
          </a:xfrm>
          <a:prstGeom prst="leftBrac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1502283" y="3085845"/>
            <a:ext cx="5721985" cy="2616835"/>
            <a:chOff x="1502283" y="3085845"/>
            <a:chExt cx="5721985" cy="2616835"/>
          </a:xfrm>
        </p:grpSpPr>
        <p:sp>
          <p:nvSpPr>
            <p:cNvPr id="4" name="object 4"/>
            <p:cNvSpPr/>
            <p:nvPr/>
          </p:nvSpPr>
          <p:spPr>
            <a:xfrm>
              <a:off x="1502283" y="3085845"/>
              <a:ext cx="5721985" cy="2616835"/>
            </a:xfrm>
            <a:custGeom>
              <a:avLst/>
              <a:gdLst/>
              <a:ahLst/>
              <a:cxnLst/>
              <a:rect l="l" t="t" r="r" b="b"/>
              <a:pathLst>
                <a:path w="5721984" h="2616835">
                  <a:moveTo>
                    <a:pt x="5721476" y="0"/>
                  </a:moveTo>
                  <a:lnTo>
                    <a:pt x="0" y="0"/>
                  </a:lnTo>
                  <a:lnTo>
                    <a:pt x="0" y="2616580"/>
                  </a:lnTo>
                  <a:lnTo>
                    <a:pt x="5721476" y="2616580"/>
                  </a:lnTo>
                  <a:lnTo>
                    <a:pt x="572147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383786" y="4394085"/>
              <a:ext cx="1893570" cy="436245"/>
            </a:xfrm>
            <a:custGeom>
              <a:avLst/>
              <a:gdLst/>
              <a:ahLst/>
              <a:cxnLst/>
              <a:rect l="l" t="t" r="r" b="b"/>
              <a:pathLst>
                <a:path w="1893570" h="436245">
                  <a:moveTo>
                    <a:pt x="1893328" y="0"/>
                  </a:moveTo>
                  <a:lnTo>
                    <a:pt x="946670" y="0"/>
                  </a:lnTo>
                  <a:lnTo>
                    <a:pt x="0" y="0"/>
                  </a:lnTo>
                  <a:lnTo>
                    <a:pt x="0" y="436105"/>
                  </a:lnTo>
                  <a:lnTo>
                    <a:pt x="946658" y="436105"/>
                  </a:lnTo>
                  <a:lnTo>
                    <a:pt x="1893328" y="436105"/>
                  </a:lnTo>
                  <a:lnTo>
                    <a:pt x="1893328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383786" y="4830216"/>
              <a:ext cx="1893570" cy="436245"/>
            </a:xfrm>
            <a:custGeom>
              <a:avLst/>
              <a:gdLst/>
              <a:ahLst/>
              <a:cxnLst/>
              <a:rect l="l" t="t" r="r" b="b"/>
              <a:pathLst>
                <a:path w="1893570" h="436245">
                  <a:moveTo>
                    <a:pt x="1893328" y="0"/>
                  </a:moveTo>
                  <a:lnTo>
                    <a:pt x="946670" y="0"/>
                  </a:lnTo>
                  <a:lnTo>
                    <a:pt x="0" y="0"/>
                  </a:lnTo>
                  <a:lnTo>
                    <a:pt x="0" y="436092"/>
                  </a:lnTo>
                  <a:lnTo>
                    <a:pt x="946658" y="436092"/>
                  </a:lnTo>
                  <a:lnTo>
                    <a:pt x="1893328" y="436092"/>
                  </a:lnTo>
                  <a:lnTo>
                    <a:pt x="1893328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1495933" y="3079495"/>
          <a:ext cx="5721984" cy="261365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880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467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35609">
                <a:tc>
                  <a:txBody>
                    <a:bodyPr/>
                    <a:lstStyle/>
                    <a:p>
                      <a:pPr marR="4635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𝑪[𝒊,</a:t>
                      </a:r>
                      <a:r>
                        <a:rPr sz="1700" spc="-9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𝒋]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9939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9939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𝟏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9939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𝟐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b="1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…</a:t>
                      </a:r>
                      <a:endParaRPr sz="1700">
                        <a:latin typeface="Arial"/>
                        <a:cs typeface="Arial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6383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𝒎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0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latin typeface="Cambria Math"/>
                          <a:cs typeface="Cambria Math"/>
                        </a:rPr>
                        <a:t>𝟎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2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latin typeface="Cambria Math"/>
                          <a:cs typeface="Cambria Math"/>
                        </a:rPr>
                        <a:t>𝟏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latin typeface="Cambria Math"/>
                          <a:cs typeface="Cambria Math"/>
                        </a:rPr>
                        <a:t>𝟐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72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572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spc="-10">
                          <a:latin typeface="Cambria Math"/>
                          <a:cs typeface="Cambria Math"/>
                        </a:rPr>
                        <a:t>𝑪[𝒊,</a:t>
                      </a:r>
                      <a:r>
                        <a:rPr sz="1700" spc="-10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25">
                          <a:latin typeface="Cambria Math"/>
                          <a:cs typeface="Cambria Math"/>
                        </a:rPr>
                        <a:t>𝒋]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7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60">
                          <a:latin typeface="Cambria Math"/>
                          <a:cs typeface="Cambria Math"/>
                        </a:rPr>
                        <a:t>𝒏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pSp>
        <p:nvGrpSpPr>
          <p:cNvPr id="8" name="object 8"/>
          <p:cNvGrpSpPr/>
          <p:nvPr/>
        </p:nvGrpSpPr>
        <p:grpSpPr>
          <a:xfrm>
            <a:off x="4782184" y="4498847"/>
            <a:ext cx="1042669" cy="391795"/>
            <a:chOff x="4782184" y="4498847"/>
            <a:chExt cx="1042669" cy="391795"/>
          </a:xfrm>
        </p:grpSpPr>
        <p:sp>
          <p:nvSpPr>
            <p:cNvPr id="9" name="object 9"/>
            <p:cNvSpPr/>
            <p:nvPr/>
          </p:nvSpPr>
          <p:spPr>
            <a:xfrm>
              <a:off x="5710427" y="4498847"/>
              <a:ext cx="114300" cy="390525"/>
            </a:xfrm>
            <a:custGeom>
              <a:avLst/>
              <a:gdLst/>
              <a:ahLst/>
              <a:cxnLst/>
              <a:rect l="l" t="t" r="r" b="b"/>
              <a:pathLst>
                <a:path w="114300" h="390525">
                  <a:moveTo>
                    <a:pt x="38100" y="275970"/>
                  </a:moveTo>
                  <a:lnTo>
                    <a:pt x="0" y="275970"/>
                  </a:lnTo>
                  <a:lnTo>
                    <a:pt x="57150" y="390270"/>
                  </a:lnTo>
                  <a:lnTo>
                    <a:pt x="104775" y="295020"/>
                  </a:lnTo>
                  <a:lnTo>
                    <a:pt x="38100" y="295020"/>
                  </a:lnTo>
                  <a:lnTo>
                    <a:pt x="38100" y="275970"/>
                  </a:lnTo>
                  <a:close/>
                </a:path>
                <a:path w="114300" h="390525">
                  <a:moveTo>
                    <a:pt x="76200" y="0"/>
                  </a:moveTo>
                  <a:lnTo>
                    <a:pt x="38100" y="0"/>
                  </a:lnTo>
                  <a:lnTo>
                    <a:pt x="38100" y="295020"/>
                  </a:lnTo>
                  <a:lnTo>
                    <a:pt x="76200" y="295020"/>
                  </a:lnTo>
                  <a:lnTo>
                    <a:pt x="76200" y="0"/>
                  </a:lnTo>
                  <a:close/>
                </a:path>
                <a:path w="114300" h="390525">
                  <a:moveTo>
                    <a:pt x="114300" y="275970"/>
                  </a:moveTo>
                  <a:lnTo>
                    <a:pt x="76200" y="275970"/>
                  </a:lnTo>
                  <a:lnTo>
                    <a:pt x="76200" y="295020"/>
                  </a:lnTo>
                  <a:lnTo>
                    <a:pt x="104775" y="295020"/>
                  </a:lnTo>
                  <a:lnTo>
                    <a:pt x="114300" y="27597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782184" y="4570983"/>
              <a:ext cx="615950" cy="319405"/>
            </a:xfrm>
            <a:custGeom>
              <a:avLst/>
              <a:gdLst/>
              <a:ahLst/>
              <a:cxnLst/>
              <a:rect l="l" t="t" r="r" b="b"/>
              <a:pathLst>
                <a:path w="615950" h="319404">
                  <a:moveTo>
                    <a:pt x="505109" y="285054"/>
                  </a:moveTo>
                  <a:lnTo>
                    <a:pt x="488188" y="319151"/>
                  </a:lnTo>
                  <a:lnTo>
                    <a:pt x="615950" y="318770"/>
                  </a:lnTo>
                  <a:lnTo>
                    <a:pt x="596877" y="293497"/>
                  </a:lnTo>
                  <a:lnTo>
                    <a:pt x="522097" y="293497"/>
                  </a:lnTo>
                  <a:lnTo>
                    <a:pt x="505109" y="285054"/>
                  </a:lnTo>
                  <a:close/>
                </a:path>
                <a:path w="615950" h="319404">
                  <a:moveTo>
                    <a:pt x="522074" y="250869"/>
                  </a:moveTo>
                  <a:lnTo>
                    <a:pt x="505109" y="285054"/>
                  </a:lnTo>
                  <a:lnTo>
                    <a:pt x="522097" y="293497"/>
                  </a:lnTo>
                  <a:lnTo>
                    <a:pt x="539114" y="259334"/>
                  </a:lnTo>
                  <a:lnTo>
                    <a:pt x="522074" y="250869"/>
                  </a:lnTo>
                  <a:close/>
                </a:path>
                <a:path w="615950" h="319404">
                  <a:moveTo>
                    <a:pt x="538988" y="216789"/>
                  </a:moveTo>
                  <a:lnTo>
                    <a:pt x="522074" y="250869"/>
                  </a:lnTo>
                  <a:lnTo>
                    <a:pt x="539114" y="259334"/>
                  </a:lnTo>
                  <a:lnTo>
                    <a:pt x="522097" y="293497"/>
                  </a:lnTo>
                  <a:lnTo>
                    <a:pt x="596877" y="293497"/>
                  </a:lnTo>
                  <a:lnTo>
                    <a:pt x="538988" y="216789"/>
                  </a:lnTo>
                  <a:close/>
                </a:path>
                <a:path w="615950" h="319404">
                  <a:moveTo>
                    <a:pt x="17017" y="0"/>
                  </a:moveTo>
                  <a:lnTo>
                    <a:pt x="0" y="34036"/>
                  </a:lnTo>
                  <a:lnTo>
                    <a:pt x="505109" y="285054"/>
                  </a:lnTo>
                  <a:lnTo>
                    <a:pt x="522074" y="250869"/>
                  </a:lnTo>
                  <a:lnTo>
                    <a:pt x="17017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" name="object 11"/>
          <p:cNvSpPr/>
          <p:nvPr/>
        </p:nvSpPr>
        <p:spPr>
          <a:xfrm>
            <a:off x="4790694" y="5008626"/>
            <a:ext cx="553085" cy="114300"/>
          </a:xfrm>
          <a:custGeom>
            <a:avLst/>
            <a:gdLst/>
            <a:ahLst/>
            <a:cxnLst/>
            <a:rect l="l" t="t" r="r" b="b"/>
            <a:pathLst>
              <a:path w="553085" h="114300">
                <a:moveTo>
                  <a:pt x="438657" y="0"/>
                </a:moveTo>
                <a:lnTo>
                  <a:pt x="438657" y="114300"/>
                </a:lnTo>
                <a:lnTo>
                  <a:pt x="514857" y="76200"/>
                </a:lnTo>
                <a:lnTo>
                  <a:pt x="457707" y="76200"/>
                </a:lnTo>
                <a:lnTo>
                  <a:pt x="457707" y="38100"/>
                </a:lnTo>
                <a:lnTo>
                  <a:pt x="514857" y="38100"/>
                </a:lnTo>
                <a:lnTo>
                  <a:pt x="438657" y="0"/>
                </a:lnTo>
                <a:close/>
              </a:path>
              <a:path w="553085" h="114300">
                <a:moveTo>
                  <a:pt x="438657" y="38100"/>
                </a:moveTo>
                <a:lnTo>
                  <a:pt x="0" y="38100"/>
                </a:lnTo>
                <a:lnTo>
                  <a:pt x="0" y="76200"/>
                </a:lnTo>
                <a:lnTo>
                  <a:pt x="438657" y="76200"/>
                </a:lnTo>
                <a:lnTo>
                  <a:pt x="438657" y="38100"/>
                </a:lnTo>
                <a:close/>
              </a:path>
              <a:path w="553085" h="114300">
                <a:moveTo>
                  <a:pt x="514857" y="38100"/>
                </a:moveTo>
                <a:lnTo>
                  <a:pt x="457707" y="38100"/>
                </a:lnTo>
                <a:lnTo>
                  <a:pt x="457707" y="76200"/>
                </a:lnTo>
                <a:lnTo>
                  <a:pt x="514857" y="76200"/>
                </a:lnTo>
                <a:lnTo>
                  <a:pt x="552957" y="57150"/>
                </a:lnTo>
                <a:lnTo>
                  <a:pt x="514857" y="38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666430" y="1100214"/>
            <a:ext cx="77470" cy="331470"/>
          </a:xfrm>
          <a:custGeom>
            <a:avLst/>
            <a:gdLst/>
            <a:ahLst/>
            <a:cxnLst/>
            <a:rect l="l" t="t" r="r" b="b"/>
            <a:pathLst>
              <a:path w="77470" h="331469">
                <a:moveTo>
                  <a:pt x="77470" y="0"/>
                </a:moveTo>
                <a:lnTo>
                  <a:pt x="0" y="0"/>
                </a:lnTo>
                <a:lnTo>
                  <a:pt x="0" y="13970"/>
                </a:lnTo>
                <a:lnTo>
                  <a:pt x="48641" y="13970"/>
                </a:lnTo>
                <a:lnTo>
                  <a:pt x="48641" y="318770"/>
                </a:lnTo>
                <a:lnTo>
                  <a:pt x="0" y="318770"/>
                </a:lnTo>
                <a:lnTo>
                  <a:pt x="0" y="331470"/>
                </a:lnTo>
                <a:lnTo>
                  <a:pt x="77470" y="331470"/>
                </a:lnTo>
                <a:lnTo>
                  <a:pt x="77470" y="318770"/>
                </a:lnTo>
                <a:lnTo>
                  <a:pt x="77470" y="13970"/>
                </a:lnTo>
                <a:lnTo>
                  <a:pt x="774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3867981" y="1100214"/>
            <a:ext cx="77470" cy="331470"/>
          </a:xfrm>
          <a:custGeom>
            <a:avLst/>
            <a:gdLst/>
            <a:ahLst/>
            <a:cxnLst/>
            <a:rect l="l" t="t" r="r" b="b"/>
            <a:pathLst>
              <a:path w="77470" h="331469">
                <a:moveTo>
                  <a:pt x="77470" y="0"/>
                </a:moveTo>
                <a:lnTo>
                  <a:pt x="0" y="0"/>
                </a:lnTo>
                <a:lnTo>
                  <a:pt x="0" y="13970"/>
                </a:lnTo>
                <a:lnTo>
                  <a:pt x="0" y="318770"/>
                </a:lnTo>
                <a:lnTo>
                  <a:pt x="0" y="331470"/>
                </a:lnTo>
                <a:lnTo>
                  <a:pt x="77470" y="331470"/>
                </a:lnTo>
                <a:lnTo>
                  <a:pt x="77470" y="318770"/>
                </a:lnTo>
                <a:lnTo>
                  <a:pt x="28829" y="318770"/>
                </a:lnTo>
                <a:lnTo>
                  <a:pt x="28829" y="13970"/>
                </a:lnTo>
                <a:lnTo>
                  <a:pt x="77470" y="13970"/>
                </a:lnTo>
                <a:lnTo>
                  <a:pt x="774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747715" y="1046876"/>
            <a:ext cx="687260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构造追踪数组</a:t>
            </a:r>
            <a:r>
              <a:rPr sz="2800" dirty="0">
                <a:latin typeface="Cambria Math"/>
                <a:cs typeface="Cambria Math"/>
              </a:rPr>
              <a:t>𝒓𝒆𝒄</a:t>
            </a:r>
            <a:r>
              <a:rPr sz="2800" spc="360" dirty="0">
                <a:latin typeface="Cambria Math"/>
                <a:cs typeface="Cambria Math"/>
              </a:rPr>
              <a:t> </a:t>
            </a:r>
            <a:r>
              <a:rPr sz="2800" spc="-10" dirty="0">
                <a:latin typeface="Cambria Math"/>
                <a:cs typeface="Cambria Math"/>
              </a:rPr>
              <a:t>𝟏</a:t>
            </a:r>
            <a:r>
              <a:rPr sz="2800" spc="-80" dirty="0">
                <a:latin typeface="Cambria Math"/>
                <a:cs typeface="Cambria Math"/>
              </a:rPr>
              <a:t>. . </a:t>
            </a:r>
            <a:r>
              <a:rPr sz="2800" dirty="0">
                <a:latin typeface="Cambria Math"/>
                <a:cs typeface="Cambria Math"/>
              </a:rPr>
              <a:t>𝒏</a:t>
            </a:r>
            <a:r>
              <a:rPr sz="2800" spc="370" dirty="0">
                <a:latin typeface="Cambria Math"/>
                <a:cs typeface="Cambria Math"/>
              </a:rPr>
              <a:t> </a:t>
            </a:r>
            <a:r>
              <a:rPr sz="2800" spc="-1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，</a:t>
            </a:r>
            <a:r>
              <a:rPr sz="28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记录子问题来源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2335022" y="209041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912239" y="209041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 txBox="1"/>
          <p:nvPr/>
        </p:nvSpPr>
        <p:spPr>
          <a:xfrm>
            <a:off x="1032763" y="2001011"/>
            <a:ext cx="130873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60045" indent="-347980">
              <a:lnSpc>
                <a:spcPct val="100000"/>
              </a:lnSpc>
              <a:spcBef>
                <a:spcPts val="100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360045" algn="l"/>
                <a:tab pos="360680" algn="l"/>
              </a:tabLst>
            </a:pPr>
            <a:r>
              <a:rPr sz="2400">
                <a:latin typeface="Cambria Math"/>
                <a:cs typeface="Cambria Math"/>
              </a:rPr>
              <a:t>𝒓𝒆𝒄</a:t>
            </a:r>
            <a:r>
              <a:rPr sz="2400" spc="310">
                <a:latin typeface="Cambria Math"/>
                <a:cs typeface="Cambria Math"/>
              </a:rPr>
              <a:t> </a:t>
            </a:r>
            <a:r>
              <a:rPr sz="2400" spc="-10">
                <a:latin typeface="Cambria Math"/>
                <a:cs typeface="Cambria Math"/>
              </a:rPr>
              <a:t>𝒊,</a:t>
            </a:r>
            <a:r>
              <a:rPr sz="2400" spc="-135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𝒋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4649216" y="169163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4226433" y="169163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6884161" y="169163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370957" y="169163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 txBox="1"/>
          <p:nvPr/>
        </p:nvSpPr>
        <p:spPr>
          <a:xfrm>
            <a:off x="3015742" y="1602485"/>
            <a:ext cx="452755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621665" algn="l"/>
                <a:tab pos="1818005" algn="l"/>
                <a:tab pos="4036695" algn="l"/>
              </a:tabLst>
            </a:pPr>
            <a:r>
              <a:rPr sz="2400" spc="-25">
                <a:solidFill>
                  <a:srgbClr val="FF0000"/>
                </a:solidFill>
                <a:latin typeface="Cambria Math"/>
                <a:cs typeface="Cambria Math"/>
              </a:rPr>
              <a:t>𝑳𝑼,</a:t>
            </a:r>
            <a:r>
              <a:rPr sz="2400">
                <a:solidFill>
                  <a:srgbClr val="FF0000"/>
                </a:solidFill>
                <a:latin typeface="Cambria Math"/>
                <a:cs typeface="Cambria Math"/>
              </a:rPr>
              <a:t>	𝒊𝒇</a:t>
            </a:r>
            <a:r>
              <a:rPr sz="2400" spc="-5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400" b="1" i="1">
                <a:solidFill>
                  <a:srgbClr val="FF0000"/>
                </a:solidFill>
                <a:latin typeface="Times New Roman"/>
                <a:cs typeface="Times New Roman"/>
              </a:rPr>
              <a:t>C</a:t>
            </a:r>
            <a:r>
              <a:rPr sz="2400" b="1" i="1" spc="245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2400" spc="-10">
                <a:solidFill>
                  <a:srgbClr val="FF0000"/>
                </a:solidFill>
                <a:latin typeface="Cambria Math"/>
                <a:cs typeface="Cambria Math"/>
              </a:rPr>
              <a:t>𝒊,</a:t>
            </a:r>
            <a:r>
              <a:rPr sz="2400" spc="-135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400" spc="-50">
                <a:solidFill>
                  <a:srgbClr val="FF0000"/>
                </a:solidFill>
                <a:latin typeface="Cambria Math"/>
                <a:cs typeface="Cambria Math"/>
              </a:rPr>
              <a:t>𝒋</a:t>
            </a:r>
            <a:r>
              <a:rPr sz="2400">
                <a:solidFill>
                  <a:srgbClr val="FF0000"/>
                </a:solidFill>
                <a:latin typeface="Cambria Math"/>
                <a:cs typeface="Cambria Math"/>
              </a:rPr>
              <a:t>	=</a:t>
            </a:r>
            <a:r>
              <a:rPr sz="2400" spc="130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400">
                <a:solidFill>
                  <a:srgbClr val="FF0000"/>
                </a:solidFill>
                <a:latin typeface="Cambria Math"/>
                <a:cs typeface="Cambria Math"/>
              </a:rPr>
              <a:t>𝑪</a:t>
            </a:r>
            <a:r>
              <a:rPr sz="2400" spc="305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400">
                <a:solidFill>
                  <a:srgbClr val="FF0000"/>
                </a:solidFill>
                <a:latin typeface="Cambria Math"/>
                <a:cs typeface="Cambria Math"/>
              </a:rPr>
              <a:t>𝒊</a:t>
            </a:r>
            <a:r>
              <a:rPr sz="2400" spc="-5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400">
                <a:solidFill>
                  <a:srgbClr val="FF0000"/>
                </a:solidFill>
                <a:latin typeface="Cambria Math"/>
                <a:cs typeface="Cambria Math"/>
              </a:rPr>
              <a:t>− 𝟏,</a:t>
            </a:r>
            <a:r>
              <a:rPr sz="2400" spc="-135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400">
                <a:solidFill>
                  <a:srgbClr val="FF0000"/>
                </a:solidFill>
                <a:latin typeface="Cambria Math"/>
                <a:cs typeface="Cambria Math"/>
              </a:rPr>
              <a:t>𝒋</a:t>
            </a:r>
            <a:r>
              <a:rPr sz="2400" spc="5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400">
                <a:solidFill>
                  <a:srgbClr val="FF0000"/>
                </a:solidFill>
                <a:latin typeface="Cambria Math"/>
                <a:cs typeface="Cambria Math"/>
              </a:rPr>
              <a:t>− </a:t>
            </a:r>
            <a:r>
              <a:rPr sz="2400" spc="-50">
                <a:solidFill>
                  <a:srgbClr val="FF0000"/>
                </a:solidFill>
                <a:latin typeface="Cambria Math"/>
                <a:cs typeface="Cambria Math"/>
              </a:rPr>
              <a:t>𝟏</a:t>
            </a:r>
            <a:r>
              <a:rPr sz="2400">
                <a:solidFill>
                  <a:srgbClr val="FF0000"/>
                </a:solidFill>
                <a:latin typeface="Cambria Math"/>
                <a:cs typeface="Cambria Math"/>
              </a:rPr>
              <a:t>	+ </a:t>
            </a:r>
            <a:r>
              <a:rPr sz="2400" spc="-50">
                <a:solidFill>
                  <a:srgbClr val="FF0000"/>
                </a:solidFill>
                <a:latin typeface="Cambria Math"/>
                <a:cs typeface="Cambria Math"/>
              </a:rPr>
              <a:t>𝟏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4841240" y="208406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4418457" y="208406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30594" y="208406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562981" y="208406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4843526" y="2476499"/>
            <a:ext cx="66675" cy="284480"/>
          </a:xfrm>
          <a:custGeom>
            <a:avLst/>
            <a:gdLst/>
            <a:ahLst/>
            <a:cxnLst/>
            <a:rect l="l" t="t" r="r" b="b"/>
            <a:pathLst>
              <a:path w="66675" h="28448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3050"/>
                </a:lnTo>
                <a:lnTo>
                  <a:pt x="0" y="273050"/>
                </a:lnTo>
                <a:lnTo>
                  <a:pt x="0" y="284480"/>
                </a:lnTo>
                <a:lnTo>
                  <a:pt x="66421" y="284480"/>
                </a:lnTo>
                <a:lnTo>
                  <a:pt x="66421" y="27305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4420743" y="2476499"/>
            <a:ext cx="66675" cy="284480"/>
          </a:xfrm>
          <a:custGeom>
            <a:avLst/>
            <a:gdLst/>
            <a:ahLst/>
            <a:cxnLst/>
            <a:rect l="l" t="t" r="r" b="b"/>
            <a:pathLst>
              <a:path w="66675" h="28448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3050"/>
                </a:lnTo>
                <a:lnTo>
                  <a:pt x="0" y="284480"/>
                </a:lnTo>
                <a:lnTo>
                  <a:pt x="66421" y="284480"/>
                </a:lnTo>
                <a:lnTo>
                  <a:pt x="66421" y="273050"/>
                </a:lnTo>
                <a:lnTo>
                  <a:pt x="24765" y="27305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6532880" y="2476499"/>
            <a:ext cx="66675" cy="284480"/>
          </a:xfrm>
          <a:custGeom>
            <a:avLst/>
            <a:gdLst/>
            <a:ahLst/>
            <a:cxnLst/>
            <a:rect l="l" t="t" r="r" b="b"/>
            <a:pathLst>
              <a:path w="66675" h="28448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3050"/>
                </a:lnTo>
                <a:lnTo>
                  <a:pt x="0" y="273050"/>
                </a:lnTo>
                <a:lnTo>
                  <a:pt x="0" y="284480"/>
                </a:lnTo>
                <a:lnTo>
                  <a:pt x="66421" y="284480"/>
                </a:lnTo>
                <a:lnTo>
                  <a:pt x="66421" y="27305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565267" y="2476499"/>
            <a:ext cx="66675" cy="284480"/>
          </a:xfrm>
          <a:custGeom>
            <a:avLst/>
            <a:gdLst/>
            <a:ahLst/>
            <a:cxnLst/>
            <a:rect l="l" t="t" r="r" b="b"/>
            <a:pathLst>
              <a:path w="66675" h="28448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3050"/>
                </a:lnTo>
                <a:lnTo>
                  <a:pt x="0" y="284480"/>
                </a:lnTo>
                <a:lnTo>
                  <a:pt x="66421" y="284480"/>
                </a:lnTo>
                <a:lnTo>
                  <a:pt x="66421" y="273050"/>
                </a:lnTo>
                <a:lnTo>
                  <a:pt x="24765" y="27305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 txBox="1"/>
          <p:nvPr/>
        </p:nvSpPr>
        <p:spPr>
          <a:xfrm>
            <a:off x="2507488" y="1981199"/>
            <a:ext cx="4032885" cy="798195"/>
          </a:xfrm>
          <a:prstGeom prst="rect">
            <a:avLst/>
          </a:prstGeom>
        </p:spPr>
        <p:txBody>
          <a:bodyPr vert="horz" wrap="square" lIns="0" tIns="33020" rIns="0" bIns="0" rtlCol="0">
            <a:spAutoFit/>
          </a:bodyPr>
          <a:lstStyle/>
          <a:p>
            <a:pPr marR="7620" algn="r">
              <a:lnSpc>
                <a:spcPct val="100000"/>
              </a:lnSpc>
              <a:spcBef>
                <a:spcPts val="260"/>
              </a:spcBef>
              <a:tabLst>
                <a:tab pos="739775" algn="l"/>
                <a:tab pos="1310005" algn="l"/>
                <a:tab pos="2505710" algn="l"/>
              </a:tabLst>
            </a:pPr>
            <a:r>
              <a:rPr sz="2400" dirty="0">
                <a:latin typeface="Cambria Math"/>
                <a:cs typeface="Cambria Math"/>
              </a:rPr>
              <a:t>=</a:t>
            </a:r>
            <a:r>
              <a:rPr sz="2400" spc="13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	</a:t>
            </a:r>
            <a:r>
              <a:rPr sz="3600" spc="-37" baseline="1157" dirty="0">
                <a:latin typeface="Cambria Math"/>
                <a:cs typeface="Cambria Math"/>
              </a:rPr>
              <a:t>𝑼,</a:t>
            </a:r>
            <a:r>
              <a:rPr sz="3600" baseline="1157" dirty="0">
                <a:latin typeface="Cambria Math"/>
                <a:cs typeface="Cambria Math"/>
              </a:rPr>
              <a:t>	𝒊𝒇</a:t>
            </a:r>
            <a:r>
              <a:rPr sz="3600" spc="-30" baseline="1157" dirty="0">
                <a:latin typeface="Cambria Math"/>
                <a:cs typeface="Cambria Math"/>
              </a:rPr>
              <a:t> </a:t>
            </a:r>
            <a:r>
              <a:rPr sz="3600" b="1" i="1" baseline="1157" dirty="0">
                <a:latin typeface="Times New Roman"/>
                <a:cs typeface="Times New Roman"/>
              </a:rPr>
              <a:t>C</a:t>
            </a:r>
            <a:r>
              <a:rPr sz="3600" b="1" i="1" spc="367" baseline="1157" dirty="0">
                <a:latin typeface="Times New Roman"/>
                <a:cs typeface="Times New Roman"/>
              </a:rPr>
              <a:t> </a:t>
            </a:r>
            <a:r>
              <a:rPr sz="3600" spc="-15" baseline="1157" dirty="0">
                <a:latin typeface="Cambria Math"/>
                <a:cs typeface="Cambria Math"/>
              </a:rPr>
              <a:t>𝒊,</a:t>
            </a:r>
            <a:r>
              <a:rPr sz="3600" spc="-202" baseline="1157" dirty="0">
                <a:latin typeface="Cambria Math"/>
                <a:cs typeface="Cambria Math"/>
              </a:rPr>
              <a:t> </a:t>
            </a:r>
            <a:r>
              <a:rPr sz="3600" spc="-75" baseline="1157" dirty="0">
                <a:latin typeface="Cambria Math"/>
                <a:cs typeface="Cambria Math"/>
              </a:rPr>
              <a:t>𝒋</a:t>
            </a:r>
            <a:r>
              <a:rPr sz="3600" baseline="1157" dirty="0">
                <a:latin typeface="Cambria Math"/>
                <a:cs typeface="Cambria Math"/>
              </a:rPr>
              <a:t>	=</a:t>
            </a:r>
            <a:r>
              <a:rPr sz="3600" spc="179" baseline="1157" dirty="0">
                <a:latin typeface="Cambria Math"/>
                <a:cs typeface="Cambria Math"/>
              </a:rPr>
              <a:t> </a:t>
            </a:r>
            <a:r>
              <a:rPr sz="3600" baseline="1157" dirty="0">
                <a:latin typeface="Cambria Math"/>
                <a:cs typeface="Cambria Math"/>
              </a:rPr>
              <a:t>𝑪</a:t>
            </a:r>
            <a:r>
              <a:rPr sz="3600" spc="465" baseline="1157" dirty="0">
                <a:latin typeface="Cambria Math"/>
                <a:cs typeface="Cambria Math"/>
              </a:rPr>
              <a:t> </a:t>
            </a:r>
            <a:r>
              <a:rPr sz="3600" baseline="1157" dirty="0">
                <a:latin typeface="Cambria Math"/>
                <a:cs typeface="Cambria Math"/>
              </a:rPr>
              <a:t>𝒊 − </a:t>
            </a:r>
            <a:r>
              <a:rPr sz="3600" spc="-15" baseline="1157" dirty="0">
                <a:latin typeface="Cambria Math"/>
                <a:cs typeface="Cambria Math"/>
              </a:rPr>
              <a:t>𝟏,</a:t>
            </a:r>
            <a:r>
              <a:rPr sz="3600" spc="-195" baseline="1157" dirty="0">
                <a:latin typeface="Cambria Math"/>
                <a:cs typeface="Cambria Math"/>
              </a:rPr>
              <a:t> </a:t>
            </a:r>
            <a:r>
              <a:rPr sz="3600" spc="-75" baseline="1157" dirty="0">
                <a:latin typeface="Cambria Math"/>
                <a:cs typeface="Cambria Math"/>
              </a:rPr>
              <a:t>𝒋</a:t>
            </a:r>
            <a:endParaRPr sz="3600" baseline="1157" dirty="0">
              <a:latin typeface="Cambria Math"/>
              <a:cs typeface="Cambria Math"/>
            </a:endParaRPr>
          </a:p>
          <a:p>
            <a:pPr marR="5080" algn="r">
              <a:lnSpc>
                <a:spcPct val="100000"/>
              </a:lnSpc>
              <a:spcBef>
                <a:spcPts val="165"/>
              </a:spcBef>
              <a:tabLst>
                <a:tab pos="588010" algn="l"/>
                <a:tab pos="1770380" algn="l"/>
              </a:tabLst>
            </a:pPr>
            <a:r>
              <a:rPr sz="2400" spc="-25" dirty="0">
                <a:latin typeface="Cambria Math"/>
                <a:cs typeface="Cambria Math"/>
              </a:rPr>
              <a:t>𝑳,</a:t>
            </a:r>
            <a:r>
              <a:rPr sz="2400" dirty="0">
                <a:latin typeface="Cambria Math"/>
                <a:cs typeface="Cambria Math"/>
              </a:rPr>
              <a:t>	𝒊𝒇</a:t>
            </a:r>
            <a:r>
              <a:rPr sz="2400" spc="-1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𝑪</a:t>
            </a:r>
            <a:r>
              <a:rPr sz="2400" spc="305" dirty="0">
                <a:latin typeface="Cambria Math"/>
                <a:cs typeface="Cambria Math"/>
              </a:rPr>
              <a:t> </a:t>
            </a:r>
            <a:r>
              <a:rPr sz="2400" spc="-10" dirty="0">
                <a:latin typeface="Cambria Math"/>
                <a:cs typeface="Cambria Math"/>
              </a:rPr>
              <a:t>𝒊,</a:t>
            </a:r>
            <a:r>
              <a:rPr sz="2400" spc="-135" dirty="0">
                <a:latin typeface="Cambria Math"/>
                <a:cs typeface="Cambria Math"/>
              </a:rPr>
              <a:t> </a:t>
            </a:r>
            <a:r>
              <a:rPr sz="2400" spc="-50" dirty="0">
                <a:latin typeface="Cambria Math"/>
                <a:cs typeface="Cambria Math"/>
              </a:rPr>
              <a:t>𝒋</a:t>
            </a:r>
            <a:r>
              <a:rPr sz="2400" dirty="0">
                <a:latin typeface="Cambria Math"/>
                <a:cs typeface="Cambria Math"/>
              </a:rPr>
              <a:t>	=</a:t>
            </a:r>
            <a:r>
              <a:rPr sz="2400" spc="13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𝑪</a:t>
            </a:r>
            <a:r>
              <a:rPr sz="2400" spc="310" dirty="0">
                <a:latin typeface="Cambria Math"/>
                <a:cs typeface="Cambria Math"/>
              </a:rPr>
              <a:t> </a:t>
            </a:r>
            <a:r>
              <a:rPr sz="2400" spc="-10" dirty="0">
                <a:latin typeface="Cambria Math"/>
                <a:cs typeface="Cambria Math"/>
              </a:rPr>
              <a:t>𝒊,</a:t>
            </a:r>
            <a:r>
              <a:rPr sz="2400" spc="-14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𝒋</a:t>
            </a:r>
            <a:r>
              <a:rPr sz="2400" spc="1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−</a:t>
            </a:r>
            <a:r>
              <a:rPr sz="2400" spc="5" dirty="0">
                <a:latin typeface="Cambria Math"/>
                <a:cs typeface="Cambria Math"/>
              </a:rPr>
              <a:t> </a:t>
            </a:r>
            <a:r>
              <a:rPr sz="2400" spc="-50" dirty="0">
                <a:latin typeface="Cambria Math"/>
                <a:cs typeface="Cambria Math"/>
              </a:rPr>
              <a:t>𝟏</a:t>
            </a:r>
            <a:endParaRPr sz="2400" dirty="0">
              <a:latin typeface="Cambria Math"/>
              <a:cs typeface="Cambria Math"/>
            </a:endParaRPr>
          </a:p>
        </p:txBody>
      </p:sp>
      <p:sp>
        <p:nvSpPr>
          <p:cNvPr id="32" name="object 32"/>
          <p:cNvSpPr/>
          <p:nvPr/>
        </p:nvSpPr>
        <p:spPr>
          <a:xfrm>
            <a:off x="4877816" y="6076950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4685919" y="6076950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 txBox="1"/>
          <p:nvPr/>
        </p:nvSpPr>
        <p:spPr>
          <a:xfrm>
            <a:off x="1032763" y="5988303"/>
            <a:ext cx="385254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60045" indent="-347980">
              <a:lnSpc>
                <a:spcPct val="100000"/>
              </a:lnSpc>
              <a:spcBef>
                <a:spcPts val="100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360045" algn="l"/>
                <a:tab pos="360680" algn="l"/>
              </a:tabLst>
            </a:pPr>
            <a:r>
              <a:rPr sz="2400">
                <a:latin typeface="PMingLiU"/>
                <a:cs typeface="PMingLiU"/>
              </a:rPr>
              <a:t>最长公共子序列末尾为</a:t>
            </a:r>
            <a:r>
              <a:rPr sz="2400">
                <a:latin typeface="Cambria Math"/>
                <a:cs typeface="Cambria Math"/>
              </a:rPr>
              <a:t>𝑿</a:t>
            </a:r>
            <a:r>
              <a:rPr sz="2400" spc="305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𝒊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5050282" y="5988303"/>
            <a:ext cx="86423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0">
                <a:latin typeface="Cambria Math"/>
                <a:cs typeface="Cambria Math"/>
              </a:rPr>
              <a:t>𝒀[𝒋]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36" name="object 36"/>
          <p:cNvSpPr/>
          <p:nvPr/>
        </p:nvSpPr>
        <p:spPr>
          <a:xfrm>
            <a:off x="9670160" y="1018413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 txBox="1"/>
          <p:nvPr/>
        </p:nvSpPr>
        <p:spPr>
          <a:xfrm>
            <a:off x="9899650" y="1314449"/>
            <a:ext cx="1397000" cy="3003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20">
                <a:solidFill>
                  <a:srgbClr val="FFFFFF"/>
                </a:solidFill>
                <a:latin typeface="PMingLiU"/>
                <a:cs typeface="PMingLiU"/>
              </a:rPr>
              <a:t>问题结构分析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38" name="object 38"/>
          <p:cNvSpPr/>
          <p:nvPr/>
        </p:nvSpPr>
        <p:spPr>
          <a:xfrm>
            <a:off x="10378440" y="2052827"/>
            <a:ext cx="439420" cy="367030"/>
          </a:xfrm>
          <a:custGeom>
            <a:avLst/>
            <a:gdLst/>
            <a:ahLst/>
            <a:cxnLst/>
            <a:rect l="l" t="t" r="r" b="b"/>
            <a:pathLst>
              <a:path w="439420" h="367030">
                <a:moveTo>
                  <a:pt x="351154" y="0"/>
                </a:moveTo>
                <a:lnTo>
                  <a:pt x="87756" y="0"/>
                </a:lnTo>
                <a:lnTo>
                  <a:pt x="87756" y="183261"/>
                </a:lnTo>
                <a:lnTo>
                  <a:pt x="0" y="183261"/>
                </a:lnTo>
                <a:lnTo>
                  <a:pt x="219455" y="366522"/>
                </a:lnTo>
                <a:lnTo>
                  <a:pt x="438911" y="183261"/>
                </a:lnTo>
                <a:lnTo>
                  <a:pt x="351154" y="183261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670160" y="2480691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 txBox="1"/>
          <p:nvPr/>
        </p:nvSpPr>
        <p:spPr>
          <a:xfrm>
            <a:off x="9899650" y="2776982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递推关系建立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41" name="object 41"/>
          <p:cNvSpPr/>
          <p:nvPr/>
        </p:nvSpPr>
        <p:spPr>
          <a:xfrm>
            <a:off x="10378440" y="3515105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9"/>
                </a:lnTo>
                <a:lnTo>
                  <a:pt x="0" y="182499"/>
                </a:lnTo>
                <a:lnTo>
                  <a:pt x="219455" y="364998"/>
                </a:lnTo>
                <a:lnTo>
                  <a:pt x="438911" y="182499"/>
                </a:lnTo>
                <a:lnTo>
                  <a:pt x="351154" y="182499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9670160" y="3941445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8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8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 txBox="1"/>
          <p:nvPr/>
        </p:nvSpPr>
        <p:spPr>
          <a:xfrm>
            <a:off x="9899650" y="4237735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自底向上计算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44" name="object 44"/>
          <p:cNvSpPr/>
          <p:nvPr/>
        </p:nvSpPr>
        <p:spPr>
          <a:xfrm>
            <a:off x="10378440" y="4975859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8"/>
                </a:lnTo>
                <a:lnTo>
                  <a:pt x="0" y="182498"/>
                </a:lnTo>
                <a:lnTo>
                  <a:pt x="219455" y="364997"/>
                </a:lnTo>
                <a:lnTo>
                  <a:pt x="438911" y="182498"/>
                </a:lnTo>
                <a:lnTo>
                  <a:pt x="351154" y="182498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9670160" y="5402198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52"/>
                </a:lnTo>
                <a:lnTo>
                  <a:pt x="7647" y="914358"/>
                </a:lnTo>
                <a:lnTo>
                  <a:pt x="28511" y="945313"/>
                </a:lnTo>
                <a:lnTo>
                  <a:pt x="59471" y="966183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3"/>
                </a:lnTo>
                <a:lnTo>
                  <a:pt x="1827720" y="945313"/>
                </a:lnTo>
                <a:lnTo>
                  <a:pt x="1848584" y="914358"/>
                </a:lnTo>
                <a:lnTo>
                  <a:pt x="1856232" y="876452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83C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 txBox="1"/>
          <p:nvPr/>
        </p:nvSpPr>
        <p:spPr>
          <a:xfrm>
            <a:off x="9899650" y="5698744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最优方案追踪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49" name="左大括号 48">
            <a:extLst>
              <a:ext uri="{FF2B5EF4-FFF2-40B4-BE49-F238E27FC236}">
                <a16:creationId xmlns:a16="http://schemas.microsoft.com/office/drawing/2014/main" id="{9D464F8C-7ADB-C849-8302-42DB3CEAAE70}"/>
              </a:ext>
            </a:extLst>
          </p:cNvPr>
          <p:cNvSpPr/>
          <p:nvPr/>
        </p:nvSpPr>
        <p:spPr>
          <a:xfrm>
            <a:off x="2808154" y="1715134"/>
            <a:ext cx="190005" cy="962914"/>
          </a:xfrm>
          <a:prstGeom prst="leftBrac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  <p:sp>
        <p:nvSpPr>
          <p:cNvPr id="50" name="object 22">
            <a:extLst>
              <a:ext uri="{FF2B5EF4-FFF2-40B4-BE49-F238E27FC236}">
                <a16:creationId xmlns:a16="http://schemas.microsoft.com/office/drawing/2014/main" id="{018C94EE-373F-8D42-BD83-5B50133C83CA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72541" y="287301"/>
            <a:ext cx="6263767" cy="56618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6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最优方案追踪：记录决策过</a:t>
            </a:r>
            <a:r>
              <a:rPr sz="36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程</a:t>
            </a:r>
            <a:endParaRPr sz="36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object 5"/>
          <p:cNvSpPr/>
          <p:nvPr/>
        </p:nvSpPr>
        <p:spPr>
          <a:xfrm>
            <a:off x="2335022" y="209041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912239" y="209041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1032763" y="2001011"/>
            <a:ext cx="130873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60045" indent="-347980">
              <a:lnSpc>
                <a:spcPct val="100000"/>
              </a:lnSpc>
              <a:spcBef>
                <a:spcPts val="100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360045" algn="l"/>
                <a:tab pos="360680" algn="l"/>
              </a:tabLst>
            </a:pPr>
            <a:r>
              <a:rPr sz="2400">
                <a:latin typeface="Cambria Math"/>
                <a:cs typeface="Cambria Math"/>
              </a:rPr>
              <a:t>𝒓𝒆𝒄</a:t>
            </a:r>
            <a:r>
              <a:rPr sz="2400" spc="310">
                <a:latin typeface="Cambria Math"/>
                <a:cs typeface="Cambria Math"/>
              </a:rPr>
              <a:t> </a:t>
            </a:r>
            <a:r>
              <a:rPr sz="2400" spc="-10">
                <a:latin typeface="Cambria Math"/>
                <a:cs typeface="Cambria Math"/>
              </a:rPr>
              <a:t>𝒊,</a:t>
            </a:r>
            <a:r>
              <a:rPr sz="2400" spc="-135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𝒋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4649216" y="169163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4226433" y="169163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6884161" y="169163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370957" y="169163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3015742" y="1602485"/>
            <a:ext cx="452755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621665" algn="l"/>
                <a:tab pos="1818005" algn="l"/>
                <a:tab pos="4036695" algn="l"/>
              </a:tabLst>
            </a:pPr>
            <a:r>
              <a:rPr sz="2400" spc="-25">
                <a:latin typeface="Cambria Math"/>
                <a:cs typeface="Cambria Math"/>
              </a:rPr>
              <a:t>𝑳𝑼,</a:t>
            </a:r>
            <a:r>
              <a:rPr sz="2400">
                <a:latin typeface="Cambria Math"/>
                <a:cs typeface="Cambria Math"/>
              </a:rPr>
              <a:t>	𝒊𝒇</a:t>
            </a:r>
            <a:r>
              <a:rPr sz="2400" spc="-5">
                <a:latin typeface="Cambria Math"/>
                <a:cs typeface="Cambria Math"/>
              </a:rPr>
              <a:t> </a:t>
            </a:r>
            <a:r>
              <a:rPr sz="2400" b="1" i="1">
                <a:latin typeface="Times New Roman"/>
                <a:cs typeface="Times New Roman"/>
              </a:rPr>
              <a:t>C</a:t>
            </a:r>
            <a:r>
              <a:rPr sz="2400" b="1" i="1" spc="245">
                <a:latin typeface="Times New Roman"/>
                <a:cs typeface="Times New Roman"/>
              </a:rPr>
              <a:t> </a:t>
            </a:r>
            <a:r>
              <a:rPr sz="2400" spc="-10">
                <a:latin typeface="Cambria Math"/>
                <a:cs typeface="Cambria Math"/>
              </a:rPr>
              <a:t>𝒊,</a:t>
            </a:r>
            <a:r>
              <a:rPr sz="2400" spc="-135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𝒋</a:t>
            </a:r>
            <a:r>
              <a:rPr sz="2400">
                <a:latin typeface="Cambria Math"/>
                <a:cs typeface="Cambria Math"/>
              </a:rPr>
              <a:t>	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𝑪</a:t>
            </a:r>
            <a:r>
              <a:rPr sz="2400" spc="30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𝒊</a:t>
            </a:r>
            <a:r>
              <a:rPr sz="2400" spc="-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− 𝟏,</a:t>
            </a:r>
            <a:r>
              <a:rPr sz="2400" spc="-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𝒋</a:t>
            </a:r>
            <a:r>
              <a:rPr sz="2400" spc="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− </a:t>
            </a:r>
            <a:r>
              <a:rPr sz="2400" spc="-50">
                <a:latin typeface="Cambria Math"/>
                <a:cs typeface="Cambria Math"/>
              </a:rPr>
              <a:t>𝟏</a:t>
            </a:r>
            <a:r>
              <a:rPr sz="2400">
                <a:latin typeface="Cambria Math"/>
                <a:cs typeface="Cambria Math"/>
              </a:rPr>
              <a:t>	+ </a:t>
            </a:r>
            <a:r>
              <a:rPr sz="2400" spc="-50">
                <a:latin typeface="Cambria Math"/>
                <a:cs typeface="Cambria Math"/>
              </a:rPr>
              <a:t>𝟏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4841240" y="208406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418457" y="208406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6530594" y="208406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562981" y="208406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4843526" y="2476499"/>
            <a:ext cx="66675" cy="284480"/>
          </a:xfrm>
          <a:custGeom>
            <a:avLst/>
            <a:gdLst/>
            <a:ahLst/>
            <a:cxnLst/>
            <a:rect l="l" t="t" r="r" b="b"/>
            <a:pathLst>
              <a:path w="66675" h="28448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3050"/>
                </a:lnTo>
                <a:lnTo>
                  <a:pt x="0" y="273050"/>
                </a:lnTo>
                <a:lnTo>
                  <a:pt x="0" y="284480"/>
                </a:lnTo>
                <a:lnTo>
                  <a:pt x="66421" y="284480"/>
                </a:lnTo>
                <a:lnTo>
                  <a:pt x="66421" y="27305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4420743" y="2476499"/>
            <a:ext cx="66675" cy="284480"/>
          </a:xfrm>
          <a:custGeom>
            <a:avLst/>
            <a:gdLst/>
            <a:ahLst/>
            <a:cxnLst/>
            <a:rect l="l" t="t" r="r" b="b"/>
            <a:pathLst>
              <a:path w="66675" h="28448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3050"/>
                </a:lnTo>
                <a:lnTo>
                  <a:pt x="0" y="284480"/>
                </a:lnTo>
                <a:lnTo>
                  <a:pt x="66421" y="284480"/>
                </a:lnTo>
                <a:lnTo>
                  <a:pt x="66421" y="273050"/>
                </a:lnTo>
                <a:lnTo>
                  <a:pt x="24765" y="27305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6532880" y="2476499"/>
            <a:ext cx="66675" cy="284480"/>
          </a:xfrm>
          <a:custGeom>
            <a:avLst/>
            <a:gdLst/>
            <a:ahLst/>
            <a:cxnLst/>
            <a:rect l="l" t="t" r="r" b="b"/>
            <a:pathLst>
              <a:path w="66675" h="28448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3050"/>
                </a:lnTo>
                <a:lnTo>
                  <a:pt x="0" y="273050"/>
                </a:lnTo>
                <a:lnTo>
                  <a:pt x="0" y="284480"/>
                </a:lnTo>
                <a:lnTo>
                  <a:pt x="66421" y="284480"/>
                </a:lnTo>
                <a:lnTo>
                  <a:pt x="66421" y="27305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565267" y="2476499"/>
            <a:ext cx="66675" cy="284480"/>
          </a:xfrm>
          <a:custGeom>
            <a:avLst/>
            <a:gdLst/>
            <a:ahLst/>
            <a:cxnLst/>
            <a:rect l="l" t="t" r="r" b="b"/>
            <a:pathLst>
              <a:path w="66675" h="28448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3050"/>
                </a:lnTo>
                <a:lnTo>
                  <a:pt x="0" y="284480"/>
                </a:lnTo>
                <a:lnTo>
                  <a:pt x="66421" y="284480"/>
                </a:lnTo>
                <a:lnTo>
                  <a:pt x="66421" y="273050"/>
                </a:lnTo>
                <a:lnTo>
                  <a:pt x="24765" y="27305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2507488" y="1981199"/>
            <a:ext cx="4032885" cy="798195"/>
          </a:xfrm>
          <a:prstGeom prst="rect">
            <a:avLst/>
          </a:prstGeom>
        </p:spPr>
        <p:txBody>
          <a:bodyPr vert="horz" wrap="square" lIns="0" tIns="33020" rIns="0" bIns="0" rtlCol="0">
            <a:spAutoFit/>
          </a:bodyPr>
          <a:lstStyle/>
          <a:p>
            <a:pPr marR="7620" algn="r">
              <a:lnSpc>
                <a:spcPct val="100000"/>
              </a:lnSpc>
              <a:spcBef>
                <a:spcPts val="260"/>
              </a:spcBef>
              <a:tabLst>
                <a:tab pos="739775" algn="l"/>
                <a:tab pos="1310005" algn="l"/>
                <a:tab pos="2505710" algn="l"/>
              </a:tabLst>
            </a:pPr>
            <a:r>
              <a:rPr sz="2400" dirty="0">
                <a:latin typeface="Cambria Math"/>
                <a:cs typeface="Cambria Math"/>
              </a:rPr>
              <a:t>=</a:t>
            </a:r>
            <a:r>
              <a:rPr sz="2400" spc="13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	</a:t>
            </a:r>
            <a:r>
              <a:rPr sz="3600" spc="-37" baseline="1157" dirty="0">
                <a:solidFill>
                  <a:srgbClr val="FF0000"/>
                </a:solidFill>
                <a:latin typeface="Cambria Math"/>
                <a:cs typeface="Cambria Math"/>
              </a:rPr>
              <a:t>𝑼,</a:t>
            </a:r>
            <a:r>
              <a:rPr sz="3600" baseline="1157" dirty="0">
                <a:solidFill>
                  <a:srgbClr val="FF0000"/>
                </a:solidFill>
                <a:latin typeface="Cambria Math"/>
                <a:cs typeface="Cambria Math"/>
              </a:rPr>
              <a:t>	𝒊𝒇</a:t>
            </a:r>
            <a:r>
              <a:rPr sz="3600" spc="-30" baseline="1157" dirty="0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3600" b="1" i="1" baseline="1157" dirty="0">
                <a:solidFill>
                  <a:srgbClr val="FF0000"/>
                </a:solidFill>
                <a:latin typeface="Times New Roman"/>
                <a:cs typeface="Times New Roman"/>
              </a:rPr>
              <a:t>C</a:t>
            </a:r>
            <a:r>
              <a:rPr sz="3600" b="1" i="1" spc="367" baseline="1157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3600" spc="-15" baseline="1157" dirty="0">
                <a:solidFill>
                  <a:srgbClr val="FF0000"/>
                </a:solidFill>
                <a:latin typeface="Cambria Math"/>
                <a:cs typeface="Cambria Math"/>
              </a:rPr>
              <a:t>𝒊,</a:t>
            </a:r>
            <a:r>
              <a:rPr sz="3600" spc="-202" baseline="1157" dirty="0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3600" spc="-75" baseline="1157" dirty="0">
                <a:solidFill>
                  <a:srgbClr val="FF0000"/>
                </a:solidFill>
                <a:latin typeface="Cambria Math"/>
                <a:cs typeface="Cambria Math"/>
              </a:rPr>
              <a:t>𝒋</a:t>
            </a:r>
            <a:r>
              <a:rPr sz="3600" baseline="1157" dirty="0">
                <a:solidFill>
                  <a:srgbClr val="FF0000"/>
                </a:solidFill>
                <a:latin typeface="Cambria Math"/>
                <a:cs typeface="Cambria Math"/>
              </a:rPr>
              <a:t>	=</a:t>
            </a:r>
            <a:r>
              <a:rPr sz="3600" spc="179" baseline="1157" dirty="0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3600" baseline="1157" dirty="0">
                <a:solidFill>
                  <a:srgbClr val="FF0000"/>
                </a:solidFill>
                <a:latin typeface="Cambria Math"/>
                <a:cs typeface="Cambria Math"/>
              </a:rPr>
              <a:t>𝑪</a:t>
            </a:r>
            <a:r>
              <a:rPr sz="3600" spc="465" baseline="1157" dirty="0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3600" baseline="1157" dirty="0">
                <a:solidFill>
                  <a:srgbClr val="FF0000"/>
                </a:solidFill>
                <a:latin typeface="Cambria Math"/>
                <a:cs typeface="Cambria Math"/>
              </a:rPr>
              <a:t>𝒊 − </a:t>
            </a:r>
            <a:r>
              <a:rPr sz="3600" spc="-15" baseline="1157" dirty="0">
                <a:solidFill>
                  <a:srgbClr val="FF0000"/>
                </a:solidFill>
                <a:latin typeface="Cambria Math"/>
                <a:cs typeface="Cambria Math"/>
              </a:rPr>
              <a:t>𝟏,</a:t>
            </a:r>
            <a:r>
              <a:rPr sz="3600" spc="-195" baseline="1157" dirty="0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3600" spc="-75" baseline="1157" dirty="0">
                <a:solidFill>
                  <a:srgbClr val="FF0000"/>
                </a:solidFill>
                <a:latin typeface="Cambria Math"/>
                <a:cs typeface="Cambria Math"/>
              </a:rPr>
              <a:t>𝒋</a:t>
            </a:r>
            <a:endParaRPr sz="3600" baseline="1157" dirty="0">
              <a:latin typeface="Cambria Math"/>
              <a:cs typeface="Cambria Math"/>
            </a:endParaRPr>
          </a:p>
          <a:p>
            <a:pPr marR="5080" algn="r">
              <a:lnSpc>
                <a:spcPct val="100000"/>
              </a:lnSpc>
              <a:spcBef>
                <a:spcPts val="165"/>
              </a:spcBef>
              <a:tabLst>
                <a:tab pos="588010" algn="l"/>
                <a:tab pos="1770380" algn="l"/>
              </a:tabLst>
            </a:pPr>
            <a:r>
              <a:rPr sz="2400" spc="-25" dirty="0">
                <a:latin typeface="Cambria Math"/>
                <a:cs typeface="Cambria Math"/>
              </a:rPr>
              <a:t>𝑳,</a:t>
            </a:r>
            <a:r>
              <a:rPr sz="2400" dirty="0">
                <a:latin typeface="Cambria Math"/>
                <a:cs typeface="Cambria Math"/>
              </a:rPr>
              <a:t>	𝒊𝒇</a:t>
            </a:r>
            <a:r>
              <a:rPr sz="2400" spc="-1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𝑪</a:t>
            </a:r>
            <a:r>
              <a:rPr sz="2400" spc="305" dirty="0">
                <a:latin typeface="Cambria Math"/>
                <a:cs typeface="Cambria Math"/>
              </a:rPr>
              <a:t> </a:t>
            </a:r>
            <a:r>
              <a:rPr sz="2400" spc="-10" dirty="0">
                <a:latin typeface="Cambria Math"/>
                <a:cs typeface="Cambria Math"/>
              </a:rPr>
              <a:t>𝒊,</a:t>
            </a:r>
            <a:r>
              <a:rPr sz="2400" spc="-135" dirty="0">
                <a:latin typeface="Cambria Math"/>
                <a:cs typeface="Cambria Math"/>
              </a:rPr>
              <a:t> </a:t>
            </a:r>
            <a:r>
              <a:rPr sz="2400" spc="-50" dirty="0">
                <a:latin typeface="Cambria Math"/>
                <a:cs typeface="Cambria Math"/>
              </a:rPr>
              <a:t>𝒋</a:t>
            </a:r>
            <a:r>
              <a:rPr sz="2400" dirty="0">
                <a:latin typeface="Cambria Math"/>
                <a:cs typeface="Cambria Math"/>
              </a:rPr>
              <a:t>	=</a:t>
            </a:r>
            <a:r>
              <a:rPr sz="2400" spc="13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𝑪</a:t>
            </a:r>
            <a:r>
              <a:rPr sz="2400" spc="310" dirty="0">
                <a:latin typeface="Cambria Math"/>
                <a:cs typeface="Cambria Math"/>
              </a:rPr>
              <a:t> </a:t>
            </a:r>
            <a:r>
              <a:rPr sz="2400" spc="-10" dirty="0">
                <a:latin typeface="Cambria Math"/>
                <a:cs typeface="Cambria Math"/>
              </a:rPr>
              <a:t>𝒊,</a:t>
            </a:r>
            <a:r>
              <a:rPr sz="2400" spc="-14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𝒋</a:t>
            </a:r>
            <a:r>
              <a:rPr sz="2400" spc="1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−</a:t>
            </a:r>
            <a:r>
              <a:rPr sz="2400" spc="5" dirty="0">
                <a:latin typeface="Cambria Math"/>
                <a:cs typeface="Cambria Math"/>
              </a:rPr>
              <a:t> </a:t>
            </a:r>
            <a:r>
              <a:rPr sz="2400" spc="-50" dirty="0">
                <a:latin typeface="Cambria Math"/>
                <a:cs typeface="Cambria Math"/>
              </a:rPr>
              <a:t>𝟏</a:t>
            </a:r>
            <a:endParaRPr sz="2400" dirty="0">
              <a:latin typeface="Cambria Math"/>
              <a:cs typeface="Cambria Math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032763" y="5988303"/>
            <a:ext cx="584454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60045" indent="-347980">
              <a:lnSpc>
                <a:spcPct val="100000"/>
              </a:lnSpc>
              <a:spcBef>
                <a:spcPts val="100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360045" algn="l"/>
                <a:tab pos="360680" algn="l"/>
              </a:tabLst>
            </a:pPr>
            <a:r>
              <a:rPr sz="2400">
                <a:latin typeface="PMingLiU"/>
                <a:cs typeface="PMingLiU"/>
              </a:rPr>
              <a:t>最长公共子序列在</a:t>
            </a:r>
            <a:r>
              <a:rPr sz="2400" spc="-10">
                <a:latin typeface="Cambria Math"/>
                <a:cs typeface="Cambria Math"/>
              </a:rPr>
              <a:t>𝑿[𝟏.</a:t>
            </a:r>
            <a:r>
              <a:rPr sz="2400" spc="-90">
                <a:latin typeface="Cambria Math"/>
                <a:cs typeface="Cambria Math"/>
              </a:rPr>
              <a:t> . </a:t>
            </a:r>
            <a:r>
              <a:rPr sz="2400">
                <a:latin typeface="Cambria Math"/>
                <a:cs typeface="Cambria Math"/>
              </a:rPr>
              <a:t>𝒊</a:t>
            </a:r>
            <a:r>
              <a:rPr sz="2400" spc="10">
                <a:latin typeface="Cambria Math"/>
                <a:cs typeface="Cambria Math"/>
              </a:rPr>
              <a:t> − </a:t>
            </a:r>
            <a:r>
              <a:rPr sz="2400" spc="-10">
                <a:latin typeface="Cambria Math"/>
                <a:cs typeface="Cambria Math"/>
              </a:rPr>
              <a:t>𝟏]</a:t>
            </a:r>
            <a:r>
              <a:rPr sz="2400">
                <a:latin typeface="PMingLiU"/>
                <a:cs typeface="PMingLiU"/>
              </a:rPr>
              <a:t>和</a:t>
            </a:r>
            <a:r>
              <a:rPr sz="2400" spc="-10">
                <a:latin typeface="Cambria Math"/>
                <a:cs typeface="Cambria Math"/>
              </a:rPr>
              <a:t>𝒀[𝟏.</a:t>
            </a:r>
            <a:r>
              <a:rPr sz="2400" spc="-85">
                <a:latin typeface="Cambria Math"/>
                <a:cs typeface="Cambria Math"/>
              </a:rPr>
              <a:t> . </a:t>
            </a:r>
            <a:r>
              <a:rPr sz="2400" spc="-10">
                <a:latin typeface="Cambria Math"/>
                <a:cs typeface="Cambria Math"/>
              </a:rPr>
              <a:t>𝒋]</a:t>
            </a:r>
            <a:r>
              <a:rPr sz="2400" spc="-50">
                <a:latin typeface="PMingLiU"/>
                <a:cs typeface="PMingLiU"/>
              </a:rPr>
              <a:t>中</a:t>
            </a:r>
            <a:endParaRPr sz="2400">
              <a:latin typeface="PMingLiU"/>
              <a:cs typeface="PMingLiU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1502283" y="3085845"/>
            <a:ext cx="5721985" cy="2616835"/>
            <a:chOff x="1502283" y="3085845"/>
            <a:chExt cx="5721985" cy="2616835"/>
          </a:xfrm>
        </p:grpSpPr>
        <p:sp>
          <p:nvSpPr>
            <p:cNvPr id="25" name="object 25"/>
            <p:cNvSpPr/>
            <p:nvPr/>
          </p:nvSpPr>
          <p:spPr>
            <a:xfrm>
              <a:off x="1502283" y="3085845"/>
              <a:ext cx="5721985" cy="2616835"/>
            </a:xfrm>
            <a:custGeom>
              <a:avLst/>
              <a:gdLst/>
              <a:ahLst/>
              <a:cxnLst/>
              <a:rect l="l" t="t" r="r" b="b"/>
              <a:pathLst>
                <a:path w="5721984" h="2616835">
                  <a:moveTo>
                    <a:pt x="5721476" y="0"/>
                  </a:moveTo>
                  <a:lnTo>
                    <a:pt x="0" y="0"/>
                  </a:lnTo>
                  <a:lnTo>
                    <a:pt x="0" y="2616580"/>
                  </a:lnTo>
                  <a:lnTo>
                    <a:pt x="5721476" y="2616580"/>
                  </a:lnTo>
                  <a:lnTo>
                    <a:pt x="572147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383786" y="4394085"/>
              <a:ext cx="1893570" cy="436245"/>
            </a:xfrm>
            <a:custGeom>
              <a:avLst/>
              <a:gdLst/>
              <a:ahLst/>
              <a:cxnLst/>
              <a:rect l="l" t="t" r="r" b="b"/>
              <a:pathLst>
                <a:path w="1893570" h="436245">
                  <a:moveTo>
                    <a:pt x="1893328" y="0"/>
                  </a:moveTo>
                  <a:lnTo>
                    <a:pt x="946670" y="0"/>
                  </a:lnTo>
                  <a:lnTo>
                    <a:pt x="0" y="0"/>
                  </a:lnTo>
                  <a:lnTo>
                    <a:pt x="0" y="436105"/>
                  </a:lnTo>
                  <a:lnTo>
                    <a:pt x="946658" y="436105"/>
                  </a:lnTo>
                  <a:lnTo>
                    <a:pt x="1893328" y="436105"/>
                  </a:lnTo>
                  <a:lnTo>
                    <a:pt x="1893328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4383786" y="4830216"/>
              <a:ext cx="1893570" cy="436245"/>
            </a:xfrm>
            <a:custGeom>
              <a:avLst/>
              <a:gdLst/>
              <a:ahLst/>
              <a:cxnLst/>
              <a:rect l="l" t="t" r="r" b="b"/>
              <a:pathLst>
                <a:path w="1893570" h="436245">
                  <a:moveTo>
                    <a:pt x="1893328" y="0"/>
                  </a:moveTo>
                  <a:lnTo>
                    <a:pt x="946670" y="0"/>
                  </a:lnTo>
                  <a:lnTo>
                    <a:pt x="0" y="0"/>
                  </a:lnTo>
                  <a:lnTo>
                    <a:pt x="0" y="436092"/>
                  </a:lnTo>
                  <a:lnTo>
                    <a:pt x="946658" y="436092"/>
                  </a:lnTo>
                  <a:lnTo>
                    <a:pt x="1893328" y="436092"/>
                  </a:lnTo>
                  <a:lnTo>
                    <a:pt x="1893328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8" name="object 28"/>
          <p:cNvGraphicFramePr>
            <a:graphicFrameLocks noGrp="1"/>
          </p:cNvGraphicFramePr>
          <p:nvPr/>
        </p:nvGraphicFramePr>
        <p:xfrm>
          <a:off x="1495933" y="3079495"/>
          <a:ext cx="5721984" cy="261365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880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467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35609">
                <a:tc>
                  <a:txBody>
                    <a:bodyPr/>
                    <a:lstStyle/>
                    <a:p>
                      <a:pPr marR="4635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𝑪[𝒊,</a:t>
                      </a:r>
                      <a:r>
                        <a:rPr sz="1700" spc="-9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𝒋]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9939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9939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𝟏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9939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𝟐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b="1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…</a:t>
                      </a:r>
                      <a:endParaRPr sz="1700">
                        <a:latin typeface="Arial"/>
                        <a:cs typeface="Arial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6383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𝒎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0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latin typeface="Cambria Math"/>
                          <a:cs typeface="Cambria Math"/>
                        </a:rPr>
                        <a:t>𝟎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2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latin typeface="Cambria Math"/>
                          <a:cs typeface="Cambria Math"/>
                        </a:rPr>
                        <a:t>𝟏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latin typeface="Cambria Math"/>
                          <a:cs typeface="Cambria Math"/>
                        </a:rPr>
                        <a:t>𝟐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72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572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spc="-10">
                          <a:latin typeface="Cambria Math"/>
                          <a:cs typeface="Cambria Math"/>
                        </a:rPr>
                        <a:t>𝑪[𝒊,</a:t>
                      </a:r>
                      <a:r>
                        <a:rPr sz="1700" spc="-10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25">
                          <a:latin typeface="Cambria Math"/>
                          <a:cs typeface="Cambria Math"/>
                        </a:rPr>
                        <a:t>𝒋]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7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60">
                          <a:latin typeface="Cambria Math"/>
                          <a:cs typeface="Cambria Math"/>
                        </a:rPr>
                        <a:t>𝒏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pSp>
        <p:nvGrpSpPr>
          <p:cNvPr id="29" name="object 29"/>
          <p:cNvGrpSpPr/>
          <p:nvPr/>
        </p:nvGrpSpPr>
        <p:grpSpPr>
          <a:xfrm>
            <a:off x="4782184" y="4498847"/>
            <a:ext cx="1042669" cy="391795"/>
            <a:chOff x="4782184" y="4498847"/>
            <a:chExt cx="1042669" cy="391795"/>
          </a:xfrm>
        </p:grpSpPr>
        <p:sp>
          <p:nvSpPr>
            <p:cNvPr id="30" name="object 30"/>
            <p:cNvSpPr/>
            <p:nvPr/>
          </p:nvSpPr>
          <p:spPr>
            <a:xfrm>
              <a:off x="5710427" y="4498847"/>
              <a:ext cx="114300" cy="390525"/>
            </a:xfrm>
            <a:custGeom>
              <a:avLst/>
              <a:gdLst/>
              <a:ahLst/>
              <a:cxnLst/>
              <a:rect l="l" t="t" r="r" b="b"/>
              <a:pathLst>
                <a:path w="114300" h="390525">
                  <a:moveTo>
                    <a:pt x="38100" y="275970"/>
                  </a:moveTo>
                  <a:lnTo>
                    <a:pt x="0" y="275970"/>
                  </a:lnTo>
                  <a:lnTo>
                    <a:pt x="57150" y="390270"/>
                  </a:lnTo>
                  <a:lnTo>
                    <a:pt x="104775" y="295020"/>
                  </a:lnTo>
                  <a:lnTo>
                    <a:pt x="38100" y="295020"/>
                  </a:lnTo>
                  <a:lnTo>
                    <a:pt x="38100" y="275970"/>
                  </a:lnTo>
                  <a:close/>
                </a:path>
                <a:path w="114300" h="390525">
                  <a:moveTo>
                    <a:pt x="76200" y="0"/>
                  </a:moveTo>
                  <a:lnTo>
                    <a:pt x="38100" y="0"/>
                  </a:lnTo>
                  <a:lnTo>
                    <a:pt x="38100" y="295020"/>
                  </a:lnTo>
                  <a:lnTo>
                    <a:pt x="76200" y="295020"/>
                  </a:lnTo>
                  <a:lnTo>
                    <a:pt x="76200" y="0"/>
                  </a:lnTo>
                  <a:close/>
                </a:path>
                <a:path w="114300" h="390525">
                  <a:moveTo>
                    <a:pt x="114300" y="275970"/>
                  </a:moveTo>
                  <a:lnTo>
                    <a:pt x="76200" y="275970"/>
                  </a:lnTo>
                  <a:lnTo>
                    <a:pt x="76200" y="295020"/>
                  </a:lnTo>
                  <a:lnTo>
                    <a:pt x="104775" y="295020"/>
                  </a:lnTo>
                  <a:lnTo>
                    <a:pt x="114300" y="27597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4782184" y="4570983"/>
              <a:ext cx="615950" cy="319405"/>
            </a:xfrm>
            <a:custGeom>
              <a:avLst/>
              <a:gdLst/>
              <a:ahLst/>
              <a:cxnLst/>
              <a:rect l="l" t="t" r="r" b="b"/>
              <a:pathLst>
                <a:path w="615950" h="319404">
                  <a:moveTo>
                    <a:pt x="505109" y="285054"/>
                  </a:moveTo>
                  <a:lnTo>
                    <a:pt x="488188" y="319151"/>
                  </a:lnTo>
                  <a:lnTo>
                    <a:pt x="615950" y="318770"/>
                  </a:lnTo>
                  <a:lnTo>
                    <a:pt x="596877" y="293497"/>
                  </a:lnTo>
                  <a:lnTo>
                    <a:pt x="522097" y="293497"/>
                  </a:lnTo>
                  <a:lnTo>
                    <a:pt x="505109" y="285054"/>
                  </a:lnTo>
                  <a:close/>
                </a:path>
                <a:path w="615950" h="319404">
                  <a:moveTo>
                    <a:pt x="522074" y="250869"/>
                  </a:moveTo>
                  <a:lnTo>
                    <a:pt x="505109" y="285054"/>
                  </a:lnTo>
                  <a:lnTo>
                    <a:pt x="522097" y="293497"/>
                  </a:lnTo>
                  <a:lnTo>
                    <a:pt x="539114" y="259334"/>
                  </a:lnTo>
                  <a:lnTo>
                    <a:pt x="522074" y="250869"/>
                  </a:lnTo>
                  <a:close/>
                </a:path>
                <a:path w="615950" h="319404">
                  <a:moveTo>
                    <a:pt x="538988" y="216789"/>
                  </a:moveTo>
                  <a:lnTo>
                    <a:pt x="522074" y="250869"/>
                  </a:lnTo>
                  <a:lnTo>
                    <a:pt x="539114" y="259334"/>
                  </a:lnTo>
                  <a:lnTo>
                    <a:pt x="522097" y="293497"/>
                  </a:lnTo>
                  <a:lnTo>
                    <a:pt x="596877" y="293497"/>
                  </a:lnTo>
                  <a:lnTo>
                    <a:pt x="538988" y="216789"/>
                  </a:lnTo>
                  <a:close/>
                </a:path>
                <a:path w="615950" h="319404">
                  <a:moveTo>
                    <a:pt x="17017" y="0"/>
                  </a:moveTo>
                  <a:lnTo>
                    <a:pt x="0" y="34036"/>
                  </a:lnTo>
                  <a:lnTo>
                    <a:pt x="505109" y="285054"/>
                  </a:lnTo>
                  <a:lnTo>
                    <a:pt x="522074" y="250869"/>
                  </a:lnTo>
                  <a:lnTo>
                    <a:pt x="1701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2" name="object 32"/>
          <p:cNvSpPr/>
          <p:nvPr/>
        </p:nvSpPr>
        <p:spPr>
          <a:xfrm>
            <a:off x="4790694" y="5008626"/>
            <a:ext cx="553085" cy="114300"/>
          </a:xfrm>
          <a:custGeom>
            <a:avLst/>
            <a:gdLst/>
            <a:ahLst/>
            <a:cxnLst/>
            <a:rect l="l" t="t" r="r" b="b"/>
            <a:pathLst>
              <a:path w="553085" h="114300">
                <a:moveTo>
                  <a:pt x="438657" y="0"/>
                </a:moveTo>
                <a:lnTo>
                  <a:pt x="438657" y="114300"/>
                </a:lnTo>
                <a:lnTo>
                  <a:pt x="514857" y="76200"/>
                </a:lnTo>
                <a:lnTo>
                  <a:pt x="457707" y="76200"/>
                </a:lnTo>
                <a:lnTo>
                  <a:pt x="457707" y="38100"/>
                </a:lnTo>
                <a:lnTo>
                  <a:pt x="514857" y="38100"/>
                </a:lnTo>
                <a:lnTo>
                  <a:pt x="438657" y="0"/>
                </a:lnTo>
                <a:close/>
              </a:path>
              <a:path w="553085" h="114300">
                <a:moveTo>
                  <a:pt x="438657" y="38100"/>
                </a:moveTo>
                <a:lnTo>
                  <a:pt x="0" y="38100"/>
                </a:lnTo>
                <a:lnTo>
                  <a:pt x="0" y="76200"/>
                </a:lnTo>
                <a:lnTo>
                  <a:pt x="438657" y="76200"/>
                </a:lnTo>
                <a:lnTo>
                  <a:pt x="438657" y="38100"/>
                </a:lnTo>
                <a:close/>
              </a:path>
              <a:path w="553085" h="114300">
                <a:moveTo>
                  <a:pt x="514857" y="38100"/>
                </a:moveTo>
                <a:lnTo>
                  <a:pt x="457707" y="38100"/>
                </a:lnTo>
                <a:lnTo>
                  <a:pt x="457707" y="76200"/>
                </a:lnTo>
                <a:lnTo>
                  <a:pt x="514857" y="76200"/>
                </a:lnTo>
                <a:lnTo>
                  <a:pt x="552957" y="57150"/>
                </a:lnTo>
                <a:lnTo>
                  <a:pt x="514857" y="38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9670160" y="1018413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 txBox="1"/>
          <p:nvPr/>
        </p:nvSpPr>
        <p:spPr>
          <a:xfrm>
            <a:off x="9899650" y="1314449"/>
            <a:ext cx="1397000" cy="3003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20">
                <a:solidFill>
                  <a:srgbClr val="FFFFFF"/>
                </a:solidFill>
                <a:latin typeface="PMingLiU"/>
                <a:cs typeface="PMingLiU"/>
              </a:rPr>
              <a:t>问题结构分析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35" name="object 35"/>
          <p:cNvSpPr/>
          <p:nvPr/>
        </p:nvSpPr>
        <p:spPr>
          <a:xfrm>
            <a:off x="10378440" y="2052827"/>
            <a:ext cx="439420" cy="367030"/>
          </a:xfrm>
          <a:custGeom>
            <a:avLst/>
            <a:gdLst/>
            <a:ahLst/>
            <a:cxnLst/>
            <a:rect l="l" t="t" r="r" b="b"/>
            <a:pathLst>
              <a:path w="439420" h="367030">
                <a:moveTo>
                  <a:pt x="351154" y="0"/>
                </a:moveTo>
                <a:lnTo>
                  <a:pt x="87756" y="0"/>
                </a:lnTo>
                <a:lnTo>
                  <a:pt x="87756" y="183261"/>
                </a:lnTo>
                <a:lnTo>
                  <a:pt x="0" y="183261"/>
                </a:lnTo>
                <a:lnTo>
                  <a:pt x="219455" y="366522"/>
                </a:lnTo>
                <a:lnTo>
                  <a:pt x="438911" y="183261"/>
                </a:lnTo>
                <a:lnTo>
                  <a:pt x="351154" y="183261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9670160" y="2480691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 txBox="1"/>
          <p:nvPr/>
        </p:nvSpPr>
        <p:spPr>
          <a:xfrm>
            <a:off x="9899650" y="2776982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递推关系建立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38" name="object 38"/>
          <p:cNvSpPr/>
          <p:nvPr/>
        </p:nvSpPr>
        <p:spPr>
          <a:xfrm>
            <a:off x="10378440" y="3515105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9"/>
                </a:lnTo>
                <a:lnTo>
                  <a:pt x="0" y="182499"/>
                </a:lnTo>
                <a:lnTo>
                  <a:pt x="219455" y="364998"/>
                </a:lnTo>
                <a:lnTo>
                  <a:pt x="438911" y="182499"/>
                </a:lnTo>
                <a:lnTo>
                  <a:pt x="351154" y="182499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670160" y="3941445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8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8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 txBox="1"/>
          <p:nvPr/>
        </p:nvSpPr>
        <p:spPr>
          <a:xfrm>
            <a:off x="9899650" y="4237735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自底向上计算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41" name="object 41"/>
          <p:cNvSpPr/>
          <p:nvPr/>
        </p:nvSpPr>
        <p:spPr>
          <a:xfrm>
            <a:off x="10378440" y="4975859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8"/>
                </a:lnTo>
                <a:lnTo>
                  <a:pt x="0" y="182498"/>
                </a:lnTo>
                <a:lnTo>
                  <a:pt x="219455" y="364997"/>
                </a:lnTo>
                <a:lnTo>
                  <a:pt x="438911" y="182498"/>
                </a:lnTo>
                <a:lnTo>
                  <a:pt x="351154" y="182498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9670160" y="5402198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52"/>
                </a:lnTo>
                <a:lnTo>
                  <a:pt x="7647" y="914358"/>
                </a:lnTo>
                <a:lnTo>
                  <a:pt x="28511" y="945313"/>
                </a:lnTo>
                <a:lnTo>
                  <a:pt x="59471" y="966183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3"/>
                </a:lnTo>
                <a:lnTo>
                  <a:pt x="1827720" y="945313"/>
                </a:lnTo>
                <a:lnTo>
                  <a:pt x="1848584" y="914358"/>
                </a:lnTo>
                <a:lnTo>
                  <a:pt x="1856232" y="876452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83C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 txBox="1"/>
          <p:nvPr/>
        </p:nvSpPr>
        <p:spPr>
          <a:xfrm>
            <a:off x="9899650" y="5698744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最优方案追踪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46" name="object 12">
            <a:extLst>
              <a:ext uri="{FF2B5EF4-FFF2-40B4-BE49-F238E27FC236}">
                <a16:creationId xmlns:a16="http://schemas.microsoft.com/office/drawing/2014/main" id="{FBA0BD5A-BB50-724D-98A3-638FFF0FF8A7}"/>
              </a:ext>
            </a:extLst>
          </p:cNvPr>
          <p:cNvSpPr/>
          <p:nvPr/>
        </p:nvSpPr>
        <p:spPr>
          <a:xfrm>
            <a:off x="4666430" y="1100214"/>
            <a:ext cx="77470" cy="331470"/>
          </a:xfrm>
          <a:custGeom>
            <a:avLst/>
            <a:gdLst/>
            <a:ahLst/>
            <a:cxnLst/>
            <a:rect l="l" t="t" r="r" b="b"/>
            <a:pathLst>
              <a:path w="77470" h="331469">
                <a:moveTo>
                  <a:pt x="77470" y="0"/>
                </a:moveTo>
                <a:lnTo>
                  <a:pt x="0" y="0"/>
                </a:lnTo>
                <a:lnTo>
                  <a:pt x="0" y="13970"/>
                </a:lnTo>
                <a:lnTo>
                  <a:pt x="48641" y="13970"/>
                </a:lnTo>
                <a:lnTo>
                  <a:pt x="48641" y="318770"/>
                </a:lnTo>
                <a:lnTo>
                  <a:pt x="0" y="318770"/>
                </a:lnTo>
                <a:lnTo>
                  <a:pt x="0" y="331470"/>
                </a:lnTo>
                <a:lnTo>
                  <a:pt x="77470" y="331470"/>
                </a:lnTo>
                <a:lnTo>
                  <a:pt x="77470" y="318770"/>
                </a:lnTo>
                <a:lnTo>
                  <a:pt x="77470" y="13970"/>
                </a:lnTo>
                <a:lnTo>
                  <a:pt x="774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13">
            <a:extLst>
              <a:ext uri="{FF2B5EF4-FFF2-40B4-BE49-F238E27FC236}">
                <a16:creationId xmlns:a16="http://schemas.microsoft.com/office/drawing/2014/main" id="{ED9FCB80-85C9-7A4B-B35D-31EEE52348FA}"/>
              </a:ext>
            </a:extLst>
          </p:cNvPr>
          <p:cNvSpPr/>
          <p:nvPr/>
        </p:nvSpPr>
        <p:spPr>
          <a:xfrm>
            <a:off x="3867981" y="1100214"/>
            <a:ext cx="77470" cy="331470"/>
          </a:xfrm>
          <a:custGeom>
            <a:avLst/>
            <a:gdLst/>
            <a:ahLst/>
            <a:cxnLst/>
            <a:rect l="l" t="t" r="r" b="b"/>
            <a:pathLst>
              <a:path w="77470" h="331469">
                <a:moveTo>
                  <a:pt x="77470" y="0"/>
                </a:moveTo>
                <a:lnTo>
                  <a:pt x="0" y="0"/>
                </a:lnTo>
                <a:lnTo>
                  <a:pt x="0" y="13970"/>
                </a:lnTo>
                <a:lnTo>
                  <a:pt x="0" y="318770"/>
                </a:lnTo>
                <a:lnTo>
                  <a:pt x="0" y="331470"/>
                </a:lnTo>
                <a:lnTo>
                  <a:pt x="77470" y="331470"/>
                </a:lnTo>
                <a:lnTo>
                  <a:pt x="77470" y="318770"/>
                </a:lnTo>
                <a:lnTo>
                  <a:pt x="28829" y="318770"/>
                </a:lnTo>
                <a:lnTo>
                  <a:pt x="28829" y="13970"/>
                </a:lnTo>
                <a:lnTo>
                  <a:pt x="77470" y="13970"/>
                </a:lnTo>
                <a:lnTo>
                  <a:pt x="774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14">
            <a:extLst>
              <a:ext uri="{FF2B5EF4-FFF2-40B4-BE49-F238E27FC236}">
                <a16:creationId xmlns:a16="http://schemas.microsoft.com/office/drawing/2014/main" id="{47F968AA-5F36-AC4D-A79C-A3F2E2BFFCA3}"/>
              </a:ext>
            </a:extLst>
          </p:cNvPr>
          <p:cNvSpPr txBox="1"/>
          <p:nvPr/>
        </p:nvSpPr>
        <p:spPr>
          <a:xfrm>
            <a:off x="747715" y="1046876"/>
            <a:ext cx="687260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构造追踪数组</a:t>
            </a:r>
            <a:r>
              <a:rPr sz="2800" dirty="0">
                <a:latin typeface="Cambria Math"/>
                <a:cs typeface="Cambria Math"/>
              </a:rPr>
              <a:t>𝒓𝒆𝒄</a:t>
            </a:r>
            <a:r>
              <a:rPr sz="2800" spc="360" dirty="0">
                <a:latin typeface="Cambria Math"/>
                <a:cs typeface="Cambria Math"/>
              </a:rPr>
              <a:t> </a:t>
            </a:r>
            <a:r>
              <a:rPr sz="2800" spc="-10" dirty="0">
                <a:latin typeface="Cambria Math"/>
                <a:cs typeface="Cambria Math"/>
              </a:rPr>
              <a:t>𝟏</a:t>
            </a:r>
            <a:r>
              <a:rPr sz="2800" spc="-80" dirty="0">
                <a:latin typeface="Cambria Math"/>
                <a:cs typeface="Cambria Math"/>
              </a:rPr>
              <a:t>. . </a:t>
            </a:r>
            <a:r>
              <a:rPr sz="2800" dirty="0">
                <a:latin typeface="Cambria Math"/>
                <a:cs typeface="Cambria Math"/>
              </a:rPr>
              <a:t>𝒏</a:t>
            </a:r>
            <a:r>
              <a:rPr sz="2800" spc="370" dirty="0">
                <a:latin typeface="Cambria Math"/>
                <a:cs typeface="Cambria Math"/>
              </a:rPr>
              <a:t> </a:t>
            </a:r>
            <a:r>
              <a:rPr sz="2800" spc="-1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，</a:t>
            </a:r>
            <a:r>
              <a:rPr sz="28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记录子问题来源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sp>
        <p:nvSpPr>
          <p:cNvPr id="49" name="左大括号 48">
            <a:extLst>
              <a:ext uri="{FF2B5EF4-FFF2-40B4-BE49-F238E27FC236}">
                <a16:creationId xmlns:a16="http://schemas.microsoft.com/office/drawing/2014/main" id="{83DDB129-31FA-564A-8652-A1B7DF6548BF}"/>
              </a:ext>
            </a:extLst>
          </p:cNvPr>
          <p:cNvSpPr/>
          <p:nvPr/>
        </p:nvSpPr>
        <p:spPr>
          <a:xfrm>
            <a:off x="2808154" y="1715134"/>
            <a:ext cx="190005" cy="962914"/>
          </a:xfrm>
          <a:prstGeom prst="leftBrac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  <p:sp>
        <p:nvSpPr>
          <p:cNvPr id="50" name="object 22">
            <a:extLst>
              <a:ext uri="{FF2B5EF4-FFF2-40B4-BE49-F238E27FC236}">
                <a16:creationId xmlns:a16="http://schemas.microsoft.com/office/drawing/2014/main" id="{17CB588E-52A3-2F40-A5B6-1C888223895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72541" y="287301"/>
            <a:ext cx="6263767" cy="56618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6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最优方案追踪：记录决策过</a:t>
            </a:r>
            <a:r>
              <a:rPr sz="36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程</a:t>
            </a:r>
            <a:endParaRPr sz="36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object 5"/>
          <p:cNvSpPr/>
          <p:nvPr/>
        </p:nvSpPr>
        <p:spPr>
          <a:xfrm>
            <a:off x="2335022" y="209041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912239" y="209041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1032763" y="2001011"/>
            <a:ext cx="130873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60045" indent="-347980">
              <a:lnSpc>
                <a:spcPct val="100000"/>
              </a:lnSpc>
              <a:spcBef>
                <a:spcPts val="100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360045" algn="l"/>
                <a:tab pos="360680" algn="l"/>
              </a:tabLst>
            </a:pPr>
            <a:r>
              <a:rPr sz="2400">
                <a:latin typeface="Cambria Math"/>
                <a:cs typeface="Cambria Math"/>
              </a:rPr>
              <a:t>𝒓𝒆𝒄</a:t>
            </a:r>
            <a:r>
              <a:rPr sz="2400" spc="310">
                <a:latin typeface="Cambria Math"/>
                <a:cs typeface="Cambria Math"/>
              </a:rPr>
              <a:t> </a:t>
            </a:r>
            <a:r>
              <a:rPr sz="2400" spc="-10">
                <a:latin typeface="Cambria Math"/>
                <a:cs typeface="Cambria Math"/>
              </a:rPr>
              <a:t>𝒊,</a:t>
            </a:r>
            <a:r>
              <a:rPr sz="2400" spc="-135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𝒋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4649216" y="169163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4226433" y="169163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6884161" y="169163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370957" y="169163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3015742" y="1602485"/>
            <a:ext cx="452755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621665" algn="l"/>
                <a:tab pos="1818005" algn="l"/>
                <a:tab pos="4036695" algn="l"/>
              </a:tabLst>
            </a:pPr>
            <a:r>
              <a:rPr sz="2400" spc="-25">
                <a:latin typeface="Cambria Math"/>
                <a:cs typeface="Cambria Math"/>
              </a:rPr>
              <a:t>𝑳𝑼,</a:t>
            </a:r>
            <a:r>
              <a:rPr sz="2400">
                <a:latin typeface="Cambria Math"/>
                <a:cs typeface="Cambria Math"/>
              </a:rPr>
              <a:t>	𝒊𝒇</a:t>
            </a:r>
            <a:r>
              <a:rPr sz="2400" spc="-5">
                <a:latin typeface="Cambria Math"/>
                <a:cs typeface="Cambria Math"/>
              </a:rPr>
              <a:t> </a:t>
            </a:r>
            <a:r>
              <a:rPr sz="2400" b="1" i="1">
                <a:latin typeface="Times New Roman"/>
                <a:cs typeface="Times New Roman"/>
              </a:rPr>
              <a:t>C</a:t>
            </a:r>
            <a:r>
              <a:rPr sz="2400" b="1" i="1" spc="245">
                <a:latin typeface="Times New Roman"/>
                <a:cs typeface="Times New Roman"/>
              </a:rPr>
              <a:t> </a:t>
            </a:r>
            <a:r>
              <a:rPr sz="2400" spc="-10">
                <a:latin typeface="Cambria Math"/>
                <a:cs typeface="Cambria Math"/>
              </a:rPr>
              <a:t>𝒊,</a:t>
            </a:r>
            <a:r>
              <a:rPr sz="2400" spc="-135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𝒋</a:t>
            </a:r>
            <a:r>
              <a:rPr sz="2400">
                <a:latin typeface="Cambria Math"/>
                <a:cs typeface="Cambria Math"/>
              </a:rPr>
              <a:t>	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𝑪</a:t>
            </a:r>
            <a:r>
              <a:rPr sz="2400" spc="30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𝒊</a:t>
            </a:r>
            <a:r>
              <a:rPr sz="2400" spc="-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− 𝟏,</a:t>
            </a:r>
            <a:r>
              <a:rPr sz="2400" spc="-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𝒋</a:t>
            </a:r>
            <a:r>
              <a:rPr sz="2400" spc="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− </a:t>
            </a:r>
            <a:r>
              <a:rPr sz="2400" spc="-50">
                <a:latin typeface="Cambria Math"/>
                <a:cs typeface="Cambria Math"/>
              </a:rPr>
              <a:t>𝟏</a:t>
            </a:r>
            <a:r>
              <a:rPr sz="2400">
                <a:latin typeface="Cambria Math"/>
                <a:cs typeface="Cambria Math"/>
              </a:rPr>
              <a:t>	+ </a:t>
            </a:r>
            <a:r>
              <a:rPr sz="2400" spc="-50">
                <a:latin typeface="Cambria Math"/>
                <a:cs typeface="Cambria Math"/>
              </a:rPr>
              <a:t>𝟏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4841240" y="208406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418457" y="208406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6530594" y="208406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562981" y="208406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4843526" y="2476499"/>
            <a:ext cx="66675" cy="284480"/>
          </a:xfrm>
          <a:custGeom>
            <a:avLst/>
            <a:gdLst/>
            <a:ahLst/>
            <a:cxnLst/>
            <a:rect l="l" t="t" r="r" b="b"/>
            <a:pathLst>
              <a:path w="66675" h="28448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3050"/>
                </a:lnTo>
                <a:lnTo>
                  <a:pt x="0" y="273050"/>
                </a:lnTo>
                <a:lnTo>
                  <a:pt x="0" y="284480"/>
                </a:lnTo>
                <a:lnTo>
                  <a:pt x="66421" y="284480"/>
                </a:lnTo>
                <a:lnTo>
                  <a:pt x="66421" y="27305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4420743" y="2476499"/>
            <a:ext cx="66675" cy="284480"/>
          </a:xfrm>
          <a:custGeom>
            <a:avLst/>
            <a:gdLst/>
            <a:ahLst/>
            <a:cxnLst/>
            <a:rect l="l" t="t" r="r" b="b"/>
            <a:pathLst>
              <a:path w="66675" h="28448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3050"/>
                </a:lnTo>
                <a:lnTo>
                  <a:pt x="0" y="284480"/>
                </a:lnTo>
                <a:lnTo>
                  <a:pt x="66421" y="284480"/>
                </a:lnTo>
                <a:lnTo>
                  <a:pt x="66421" y="273050"/>
                </a:lnTo>
                <a:lnTo>
                  <a:pt x="24765" y="27305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6532880" y="2476499"/>
            <a:ext cx="66675" cy="284480"/>
          </a:xfrm>
          <a:custGeom>
            <a:avLst/>
            <a:gdLst/>
            <a:ahLst/>
            <a:cxnLst/>
            <a:rect l="l" t="t" r="r" b="b"/>
            <a:pathLst>
              <a:path w="66675" h="28448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3050"/>
                </a:lnTo>
                <a:lnTo>
                  <a:pt x="0" y="273050"/>
                </a:lnTo>
                <a:lnTo>
                  <a:pt x="0" y="284480"/>
                </a:lnTo>
                <a:lnTo>
                  <a:pt x="66421" y="284480"/>
                </a:lnTo>
                <a:lnTo>
                  <a:pt x="66421" y="27305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565267" y="2476499"/>
            <a:ext cx="66675" cy="284480"/>
          </a:xfrm>
          <a:custGeom>
            <a:avLst/>
            <a:gdLst/>
            <a:ahLst/>
            <a:cxnLst/>
            <a:rect l="l" t="t" r="r" b="b"/>
            <a:pathLst>
              <a:path w="66675" h="28448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3050"/>
                </a:lnTo>
                <a:lnTo>
                  <a:pt x="0" y="284480"/>
                </a:lnTo>
                <a:lnTo>
                  <a:pt x="66421" y="284480"/>
                </a:lnTo>
                <a:lnTo>
                  <a:pt x="66421" y="273050"/>
                </a:lnTo>
                <a:lnTo>
                  <a:pt x="24765" y="27305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2507488" y="1981199"/>
            <a:ext cx="4032885" cy="798195"/>
          </a:xfrm>
          <a:prstGeom prst="rect">
            <a:avLst/>
          </a:prstGeom>
        </p:spPr>
        <p:txBody>
          <a:bodyPr vert="horz" wrap="square" lIns="0" tIns="33020" rIns="0" bIns="0" rtlCol="0">
            <a:spAutoFit/>
          </a:bodyPr>
          <a:lstStyle/>
          <a:p>
            <a:pPr marR="7620" algn="r">
              <a:lnSpc>
                <a:spcPct val="100000"/>
              </a:lnSpc>
              <a:spcBef>
                <a:spcPts val="260"/>
              </a:spcBef>
              <a:tabLst>
                <a:tab pos="739775" algn="l"/>
                <a:tab pos="1310005" algn="l"/>
                <a:tab pos="2505710" algn="l"/>
              </a:tabLst>
            </a:pPr>
            <a:r>
              <a:rPr sz="2400" dirty="0">
                <a:latin typeface="Cambria Math"/>
                <a:cs typeface="Cambria Math"/>
              </a:rPr>
              <a:t>=</a:t>
            </a:r>
            <a:r>
              <a:rPr sz="2400" spc="13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	</a:t>
            </a:r>
            <a:r>
              <a:rPr sz="3600" spc="-37" baseline="1157" dirty="0">
                <a:latin typeface="Cambria Math"/>
                <a:cs typeface="Cambria Math"/>
              </a:rPr>
              <a:t>𝑼,</a:t>
            </a:r>
            <a:r>
              <a:rPr sz="3600" baseline="1157" dirty="0">
                <a:latin typeface="Cambria Math"/>
                <a:cs typeface="Cambria Math"/>
              </a:rPr>
              <a:t>	𝒊𝒇</a:t>
            </a:r>
            <a:r>
              <a:rPr sz="3600" spc="-30" baseline="1157" dirty="0">
                <a:latin typeface="Cambria Math"/>
                <a:cs typeface="Cambria Math"/>
              </a:rPr>
              <a:t> </a:t>
            </a:r>
            <a:r>
              <a:rPr sz="3600" b="1" i="1" baseline="1157" dirty="0">
                <a:latin typeface="Times New Roman"/>
                <a:cs typeface="Times New Roman"/>
              </a:rPr>
              <a:t>C</a:t>
            </a:r>
            <a:r>
              <a:rPr sz="3600" b="1" i="1" spc="367" baseline="1157" dirty="0">
                <a:latin typeface="Times New Roman"/>
                <a:cs typeface="Times New Roman"/>
              </a:rPr>
              <a:t> </a:t>
            </a:r>
            <a:r>
              <a:rPr sz="3600" spc="-15" baseline="1157" dirty="0">
                <a:latin typeface="Cambria Math"/>
                <a:cs typeface="Cambria Math"/>
              </a:rPr>
              <a:t>𝒊,</a:t>
            </a:r>
            <a:r>
              <a:rPr sz="3600" spc="-202" baseline="1157" dirty="0">
                <a:latin typeface="Cambria Math"/>
                <a:cs typeface="Cambria Math"/>
              </a:rPr>
              <a:t> </a:t>
            </a:r>
            <a:r>
              <a:rPr sz="3600" spc="-75" baseline="1157" dirty="0">
                <a:latin typeface="Cambria Math"/>
                <a:cs typeface="Cambria Math"/>
              </a:rPr>
              <a:t>𝒋</a:t>
            </a:r>
            <a:r>
              <a:rPr sz="3600" baseline="1157" dirty="0">
                <a:latin typeface="Cambria Math"/>
                <a:cs typeface="Cambria Math"/>
              </a:rPr>
              <a:t>	=</a:t>
            </a:r>
            <a:r>
              <a:rPr sz="3600" spc="179" baseline="1157" dirty="0">
                <a:latin typeface="Cambria Math"/>
                <a:cs typeface="Cambria Math"/>
              </a:rPr>
              <a:t> </a:t>
            </a:r>
            <a:r>
              <a:rPr sz="3600" baseline="1157" dirty="0">
                <a:latin typeface="Cambria Math"/>
                <a:cs typeface="Cambria Math"/>
              </a:rPr>
              <a:t>𝑪</a:t>
            </a:r>
            <a:r>
              <a:rPr sz="3600" spc="465" baseline="1157" dirty="0">
                <a:latin typeface="Cambria Math"/>
                <a:cs typeface="Cambria Math"/>
              </a:rPr>
              <a:t> </a:t>
            </a:r>
            <a:r>
              <a:rPr sz="3600" baseline="1157" dirty="0">
                <a:latin typeface="Cambria Math"/>
                <a:cs typeface="Cambria Math"/>
              </a:rPr>
              <a:t>𝒊 − </a:t>
            </a:r>
            <a:r>
              <a:rPr sz="3600" spc="-15" baseline="1157" dirty="0">
                <a:latin typeface="Cambria Math"/>
                <a:cs typeface="Cambria Math"/>
              </a:rPr>
              <a:t>𝟏,</a:t>
            </a:r>
            <a:r>
              <a:rPr sz="3600" spc="-195" baseline="1157" dirty="0">
                <a:latin typeface="Cambria Math"/>
                <a:cs typeface="Cambria Math"/>
              </a:rPr>
              <a:t> </a:t>
            </a:r>
            <a:r>
              <a:rPr sz="3600" spc="-75" baseline="1157" dirty="0">
                <a:latin typeface="Cambria Math"/>
                <a:cs typeface="Cambria Math"/>
              </a:rPr>
              <a:t>𝒋</a:t>
            </a:r>
            <a:endParaRPr sz="3600" baseline="1157" dirty="0">
              <a:latin typeface="Cambria Math"/>
              <a:cs typeface="Cambria Math"/>
            </a:endParaRPr>
          </a:p>
          <a:p>
            <a:pPr marR="5080" algn="r">
              <a:lnSpc>
                <a:spcPct val="100000"/>
              </a:lnSpc>
              <a:spcBef>
                <a:spcPts val="165"/>
              </a:spcBef>
              <a:tabLst>
                <a:tab pos="588010" algn="l"/>
                <a:tab pos="1770380" algn="l"/>
              </a:tabLst>
            </a:pPr>
            <a:r>
              <a:rPr sz="2400" spc="-25" dirty="0">
                <a:solidFill>
                  <a:srgbClr val="FF0000"/>
                </a:solidFill>
                <a:latin typeface="Cambria Math"/>
                <a:cs typeface="Cambria Math"/>
              </a:rPr>
              <a:t>𝑳,</a:t>
            </a:r>
            <a:r>
              <a:rPr sz="2400" dirty="0">
                <a:solidFill>
                  <a:srgbClr val="FF0000"/>
                </a:solidFill>
                <a:latin typeface="Cambria Math"/>
                <a:cs typeface="Cambria Math"/>
              </a:rPr>
              <a:t>	𝒊𝒇</a:t>
            </a:r>
            <a:r>
              <a:rPr sz="2400" spc="-10" dirty="0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400" dirty="0">
                <a:solidFill>
                  <a:srgbClr val="FF0000"/>
                </a:solidFill>
                <a:latin typeface="Cambria Math"/>
                <a:cs typeface="Cambria Math"/>
              </a:rPr>
              <a:t>𝑪</a:t>
            </a:r>
            <a:r>
              <a:rPr sz="2400" spc="305" dirty="0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400" spc="-10" dirty="0">
                <a:solidFill>
                  <a:srgbClr val="FF0000"/>
                </a:solidFill>
                <a:latin typeface="Cambria Math"/>
                <a:cs typeface="Cambria Math"/>
              </a:rPr>
              <a:t>𝒊,</a:t>
            </a:r>
            <a:r>
              <a:rPr sz="2400" spc="-135" dirty="0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400" spc="-50" dirty="0">
                <a:solidFill>
                  <a:srgbClr val="FF0000"/>
                </a:solidFill>
                <a:latin typeface="Cambria Math"/>
                <a:cs typeface="Cambria Math"/>
              </a:rPr>
              <a:t>𝒋</a:t>
            </a:r>
            <a:r>
              <a:rPr sz="2400" dirty="0">
                <a:solidFill>
                  <a:srgbClr val="FF0000"/>
                </a:solidFill>
                <a:latin typeface="Cambria Math"/>
                <a:cs typeface="Cambria Math"/>
              </a:rPr>
              <a:t>	=</a:t>
            </a:r>
            <a:r>
              <a:rPr sz="2400" spc="130" dirty="0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400" dirty="0">
                <a:solidFill>
                  <a:srgbClr val="FF0000"/>
                </a:solidFill>
                <a:latin typeface="Cambria Math"/>
                <a:cs typeface="Cambria Math"/>
              </a:rPr>
              <a:t>𝑪</a:t>
            </a:r>
            <a:r>
              <a:rPr sz="2400" spc="310" dirty="0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400" spc="-10" dirty="0">
                <a:solidFill>
                  <a:srgbClr val="FF0000"/>
                </a:solidFill>
                <a:latin typeface="Cambria Math"/>
                <a:cs typeface="Cambria Math"/>
              </a:rPr>
              <a:t>𝒊,</a:t>
            </a:r>
            <a:r>
              <a:rPr sz="2400" spc="-140" dirty="0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400" dirty="0">
                <a:solidFill>
                  <a:srgbClr val="FF0000"/>
                </a:solidFill>
                <a:latin typeface="Cambria Math"/>
                <a:cs typeface="Cambria Math"/>
              </a:rPr>
              <a:t>𝒋</a:t>
            </a:r>
            <a:r>
              <a:rPr sz="2400" spc="10" dirty="0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400" dirty="0">
                <a:solidFill>
                  <a:srgbClr val="FF0000"/>
                </a:solidFill>
                <a:latin typeface="Cambria Math"/>
                <a:cs typeface="Cambria Math"/>
              </a:rPr>
              <a:t>−</a:t>
            </a:r>
            <a:r>
              <a:rPr sz="2400" spc="5" dirty="0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400" spc="-50" dirty="0">
                <a:solidFill>
                  <a:srgbClr val="FF0000"/>
                </a:solidFill>
                <a:latin typeface="Cambria Math"/>
                <a:cs typeface="Cambria Math"/>
              </a:rPr>
              <a:t>𝟏</a:t>
            </a:r>
            <a:endParaRPr sz="2400" dirty="0">
              <a:latin typeface="Cambria Math"/>
              <a:cs typeface="Cambria Math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032763" y="5988303"/>
            <a:ext cx="584454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60045" indent="-347980">
              <a:lnSpc>
                <a:spcPct val="100000"/>
              </a:lnSpc>
              <a:spcBef>
                <a:spcPts val="100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360045" algn="l"/>
                <a:tab pos="360680" algn="l"/>
              </a:tabLst>
            </a:pPr>
            <a:r>
              <a:rPr sz="2400">
                <a:latin typeface="PMingLiU"/>
                <a:cs typeface="PMingLiU"/>
              </a:rPr>
              <a:t>最长公共子序列在</a:t>
            </a:r>
            <a:r>
              <a:rPr sz="2400" spc="-10">
                <a:latin typeface="Cambria Math"/>
                <a:cs typeface="Cambria Math"/>
              </a:rPr>
              <a:t>𝑿[𝟏.</a:t>
            </a:r>
            <a:r>
              <a:rPr sz="2400" spc="-90">
                <a:latin typeface="Cambria Math"/>
                <a:cs typeface="Cambria Math"/>
              </a:rPr>
              <a:t> . </a:t>
            </a:r>
            <a:r>
              <a:rPr sz="2400" spc="-10">
                <a:latin typeface="Cambria Math"/>
                <a:cs typeface="Cambria Math"/>
              </a:rPr>
              <a:t>𝒊]</a:t>
            </a:r>
            <a:r>
              <a:rPr sz="2400">
                <a:latin typeface="PMingLiU"/>
                <a:cs typeface="PMingLiU"/>
              </a:rPr>
              <a:t>和</a:t>
            </a:r>
            <a:r>
              <a:rPr sz="2400" spc="-10">
                <a:latin typeface="Cambria Math"/>
                <a:cs typeface="Cambria Math"/>
              </a:rPr>
              <a:t>𝒀[𝟏</a:t>
            </a:r>
            <a:r>
              <a:rPr sz="2400" spc="-70">
                <a:latin typeface="Cambria Math"/>
                <a:cs typeface="Cambria Math"/>
              </a:rPr>
              <a:t>. . </a:t>
            </a:r>
            <a:r>
              <a:rPr sz="2400">
                <a:latin typeface="Cambria Math"/>
                <a:cs typeface="Cambria Math"/>
              </a:rPr>
              <a:t>𝒋</a:t>
            </a:r>
            <a:r>
              <a:rPr sz="2400" spc="10">
                <a:latin typeface="Cambria Math"/>
                <a:cs typeface="Cambria Math"/>
              </a:rPr>
              <a:t> − </a:t>
            </a:r>
            <a:r>
              <a:rPr sz="2400" spc="-10">
                <a:latin typeface="Cambria Math"/>
                <a:cs typeface="Cambria Math"/>
              </a:rPr>
              <a:t>𝟏]</a:t>
            </a:r>
            <a:r>
              <a:rPr sz="2400" spc="-50">
                <a:latin typeface="PMingLiU"/>
                <a:cs typeface="PMingLiU"/>
              </a:rPr>
              <a:t>中</a:t>
            </a:r>
            <a:endParaRPr sz="2400">
              <a:latin typeface="PMingLiU"/>
              <a:cs typeface="PMingLiU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1502283" y="3085845"/>
            <a:ext cx="5721985" cy="2616835"/>
            <a:chOff x="1502283" y="3085845"/>
            <a:chExt cx="5721985" cy="2616835"/>
          </a:xfrm>
        </p:grpSpPr>
        <p:sp>
          <p:nvSpPr>
            <p:cNvPr id="25" name="object 25"/>
            <p:cNvSpPr/>
            <p:nvPr/>
          </p:nvSpPr>
          <p:spPr>
            <a:xfrm>
              <a:off x="1502283" y="3085845"/>
              <a:ext cx="5721985" cy="2616835"/>
            </a:xfrm>
            <a:custGeom>
              <a:avLst/>
              <a:gdLst/>
              <a:ahLst/>
              <a:cxnLst/>
              <a:rect l="l" t="t" r="r" b="b"/>
              <a:pathLst>
                <a:path w="5721984" h="2616835">
                  <a:moveTo>
                    <a:pt x="5721476" y="0"/>
                  </a:moveTo>
                  <a:lnTo>
                    <a:pt x="0" y="0"/>
                  </a:lnTo>
                  <a:lnTo>
                    <a:pt x="0" y="2616580"/>
                  </a:lnTo>
                  <a:lnTo>
                    <a:pt x="5721476" y="2616580"/>
                  </a:lnTo>
                  <a:lnTo>
                    <a:pt x="572147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383786" y="4394085"/>
              <a:ext cx="1893570" cy="436245"/>
            </a:xfrm>
            <a:custGeom>
              <a:avLst/>
              <a:gdLst/>
              <a:ahLst/>
              <a:cxnLst/>
              <a:rect l="l" t="t" r="r" b="b"/>
              <a:pathLst>
                <a:path w="1893570" h="436245">
                  <a:moveTo>
                    <a:pt x="1893328" y="0"/>
                  </a:moveTo>
                  <a:lnTo>
                    <a:pt x="946670" y="0"/>
                  </a:lnTo>
                  <a:lnTo>
                    <a:pt x="0" y="0"/>
                  </a:lnTo>
                  <a:lnTo>
                    <a:pt x="0" y="436105"/>
                  </a:lnTo>
                  <a:lnTo>
                    <a:pt x="946658" y="436105"/>
                  </a:lnTo>
                  <a:lnTo>
                    <a:pt x="1893328" y="436105"/>
                  </a:lnTo>
                  <a:lnTo>
                    <a:pt x="1893328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4383786" y="4830216"/>
              <a:ext cx="1893570" cy="436245"/>
            </a:xfrm>
            <a:custGeom>
              <a:avLst/>
              <a:gdLst/>
              <a:ahLst/>
              <a:cxnLst/>
              <a:rect l="l" t="t" r="r" b="b"/>
              <a:pathLst>
                <a:path w="1893570" h="436245">
                  <a:moveTo>
                    <a:pt x="1893328" y="0"/>
                  </a:moveTo>
                  <a:lnTo>
                    <a:pt x="946670" y="0"/>
                  </a:lnTo>
                  <a:lnTo>
                    <a:pt x="0" y="0"/>
                  </a:lnTo>
                  <a:lnTo>
                    <a:pt x="0" y="436092"/>
                  </a:lnTo>
                  <a:lnTo>
                    <a:pt x="946658" y="436092"/>
                  </a:lnTo>
                  <a:lnTo>
                    <a:pt x="1893328" y="436092"/>
                  </a:lnTo>
                  <a:lnTo>
                    <a:pt x="1893328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8" name="object 28"/>
          <p:cNvGraphicFramePr>
            <a:graphicFrameLocks noGrp="1"/>
          </p:cNvGraphicFramePr>
          <p:nvPr/>
        </p:nvGraphicFramePr>
        <p:xfrm>
          <a:off x="1495933" y="3079495"/>
          <a:ext cx="5721984" cy="261365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880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467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35609">
                <a:tc>
                  <a:txBody>
                    <a:bodyPr/>
                    <a:lstStyle/>
                    <a:p>
                      <a:pPr marR="4635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𝑪[𝒊,</a:t>
                      </a:r>
                      <a:r>
                        <a:rPr sz="1700" spc="-9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𝒋]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9939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9939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𝟏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9939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𝟐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b="1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…</a:t>
                      </a:r>
                      <a:endParaRPr sz="1700">
                        <a:latin typeface="Arial"/>
                        <a:cs typeface="Arial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6383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𝒎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0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latin typeface="Cambria Math"/>
                          <a:cs typeface="Cambria Math"/>
                        </a:rPr>
                        <a:t>𝟎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2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latin typeface="Cambria Math"/>
                          <a:cs typeface="Cambria Math"/>
                        </a:rPr>
                        <a:t>𝟏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latin typeface="Cambria Math"/>
                          <a:cs typeface="Cambria Math"/>
                        </a:rPr>
                        <a:t>𝟐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72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572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spc="-10">
                          <a:latin typeface="Cambria Math"/>
                          <a:cs typeface="Cambria Math"/>
                        </a:rPr>
                        <a:t>𝑪[𝒊,</a:t>
                      </a:r>
                      <a:r>
                        <a:rPr sz="1700" spc="-10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25">
                          <a:latin typeface="Cambria Math"/>
                          <a:cs typeface="Cambria Math"/>
                        </a:rPr>
                        <a:t>𝒋]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7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60">
                          <a:latin typeface="Cambria Math"/>
                          <a:cs typeface="Cambria Math"/>
                        </a:rPr>
                        <a:t>𝒏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9" name="object 29"/>
          <p:cNvSpPr/>
          <p:nvPr/>
        </p:nvSpPr>
        <p:spPr>
          <a:xfrm>
            <a:off x="4782185" y="4498847"/>
            <a:ext cx="1042669" cy="391795"/>
          </a:xfrm>
          <a:custGeom>
            <a:avLst/>
            <a:gdLst/>
            <a:ahLst/>
            <a:cxnLst/>
            <a:rect l="l" t="t" r="r" b="b"/>
            <a:pathLst>
              <a:path w="1042669" h="391795">
                <a:moveTo>
                  <a:pt x="615950" y="390906"/>
                </a:moveTo>
                <a:lnTo>
                  <a:pt x="596874" y="365633"/>
                </a:lnTo>
                <a:lnTo>
                  <a:pt x="538988" y="288925"/>
                </a:lnTo>
                <a:lnTo>
                  <a:pt x="522071" y="323011"/>
                </a:lnTo>
                <a:lnTo>
                  <a:pt x="17018" y="72136"/>
                </a:lnTo>
                <a:lnTo>
                  <a:pt x="0" y="106172"/>
                </a:lnTo>
                <a:lnTo>
                  <a:pt x="505104" y="357200"/>
                </a:lnTo>
                <a:lnTo>
                  <a:pt x="488188" y="391287"/>
                </a:lnTo>
                <a:lnTo>
                  <a:pt x="615950" y="390906"/>
                </a:lnTo>
                <a:close/>
              </a:path>
              <a:path w="1042669" h="391795">
                <a:moveTo>
                  <a:pt x="1042543" y="275971"/>
                </a:moveTo>
                <a:lnTo>
                  <a:pt x="1004443" y="275971"/>
                </a:lnTo>
                <a:lnTo>
                  <a:pt x="1004443" y="0"/>
                </a:lnTo>
                <a:lnTo>
                  <a:pt x="966343" y="0"/>
                </a:lnTo>
                <a:lnTo>
                  <a:pt x="966343" y="275971"/>
                </a:lnTo>
                <a:lnTo>
                  <a:pt x="928243" y="275971"/>
                </a:lnTo>
                <a:lnTo>
                  <a:pt x="985393" y="390271"/>
                </a:lnTo>
                <a:lnTo>
                  <a:pt x="1033018" y="295021"/>
                </a:lnTo>
                <a:lnTo>
                  <a:pt x="1042543" y="2759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4790694" y="5008626"/>
            <a:ext cx="553085" cy="114300"/>
          </a:xfrm>
          <a:custGeom>
            <a:avLst/>
            <a:gdLst/>
            <a:ahLst/>
            <a:cxnLst/>
            <a:rect l="l" t="t" r="r" b="b"/>
            <a:pathLst>
              <a:path w="553085" h="114300">
                <a:moveTo>
                  <a:pt x="438657" y="0"/>
                </a:moveTo>
                <a:lnTo>
                  <a:pt x="438657" y="114300"/>
                </a:lnTo>
                <a:lnTo>
                  <a:pt x="514857" y="76200"/>
                </a:lnTo>
                <a:lnTo>
                  <a:pt x="457707" y="76200"/>
                </a:lnTo>
                <a:lnTo>
                  <a:pt x="457707" y="38100"/>
                </a:lnTo>
                <a:lnTo>
                  <a:pt x="514857" y="38100"/>
                </a:lnTo>
                <a:lnTo>
                  <a:pt x="438657" y="0"/>
                </a:lnTo>
                <a:close/>
              </a:path>
              <a:path w="553085" h="114300">
                <a:moveTo>
                  <a:pt x="438657" y="38100"/>
                </a:moveTo>
                <a:lnTo>
                  <a:pt x="0" y="38100"/>
                </a:lnTo>
                <a:lnTo>
                  <a:pt x="0" y="76200"/>
                </a:lnTo>
                <a:lnTo>
                  <a:pt x="438657" y="76200"/>
                </a:lnTo>
                <a:lnTo>
                  <a:pt x="438657" y="38100"/>
                </a:lnTo>
                <a:close/>
              </a:path>
              <a:path w="553085" h="114300">
                <a:moveTo>
                  <a:pt x="514857" y="38100"/>
                </a:moveTo>
                <a:lnTo>
                  <a:pt x="457707" y="38100"/>
                </a:lnTo>
                <a:lnTo>
                  <a:pt x="457707" y="76200"/>
                </a:lnTo>
                <a:lnTo>
                  <a:pt x="514857" y="76200"/>
                </a:lnTo>
                <a:lnTo>
                  <a:pt x="552957" y="57150"/>
                </a:lnTo>
                <a:lnTo>
                  <a:pt x="514857" y="381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9670160" y="1018413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 txBox="1"/>
          <p:nvPr/>
        </p:nvSpPr>
        <p:spPr>
          <a:xfrm>
            <a:off x="9899650" y="1314449"/>
            <a:ext cx="1397000" cy="3003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20">
                <a:solidFill>
                  <a:srgbClr val="FFFFFF"/>
                </a:solidFill>
                <a:latin typeface="PMingLiU"/>
                <a:cs typeface="PMingLiU"/>
              </a:rPr>
              <a:t>问题结构分析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33" name="object 33"/>
          <p:cNvSpPr/>
          <p:nvPr/>
        </p:nvSpPr>
        <p:spPr>
          <a:xfrm>
            <a:off x="10378440" y="2052827"/>
            <a:ext cx="439420" cy="367030"/>
          </a:xfrm>
          <a:custGeom>
            <a:avLst/>
            <a:gdLst/>
            <a:ahLst/>
            <a:cxnLst/>
            <a:rect l="l" t="t" r="r" b="b"/>
            <a:pathLst>
              <a:path w="439420" h="367030">
                <a:moveTo>
                  <a:pt x="351154" y="0"/>
                </a:moveTo>
                <a:lnTo>
                  <a:pt x="87756" y="0"/>
                </a:lnTo>
                <a:lnTo>
                  <a:pt x="87756" y="183261"/>
                </a:lnTo>
                <a:lnTo>
                  <a:pt x="0" y="183261"/>
                </a:lnTo>
                <a:lnTo>
                  <a:pt x="219455" y="366522"/>
                </a:lnTo>
                <a:lnTo>
                  <a:pt x="438911" y="183261"/>
                </a:lnTo>
                <a:lnTo>
                  <a:pt x="351154" y="183261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9670160" y="2480691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 txBox="1"/>
          <p:nvPr/>
        </p:nvSpPr>
        <p:spPr>
          <a:xfrm>
            <a:off x="9899650" y="2776982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递推关系建立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36" name="object 36"/>
          <p:cNvSpPr/>
          <p:nvPr/>
        </p:nvSpPr>
        <p:spPr>
          <a:xfrm>
            <a:off x="10378440" y="3515105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9"/>
                </a:lnTo>
                <a:lnTo>
                  <a:pt x="0" y="182499"/>
                </a:lnTo>
                <a:lnTo>
                  <a:pt x="219455" y="364998"/>
                </a:lnTo>
                <a:lnTo>
                  <a:pt x="438911" y="182499"/>
                </a:lnTo>
                <a:lnTo>
                  <a:pt x="351154" y="182499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9670160" y="3941445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8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8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 txBox="1"/>
          <p:nvPr/>
        </p:nvSpPr>
        <p:spPr>
          <a:xfrm>
            <a:off x="9899650" y="4237735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自底向上计算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39" name="object 39"/>
          <p:cNvSpPr/>
          <p:nvPr/>
        </p:nvSpPr>
        <p:spPr>
          <a:xfrm>
            <a:off x="10378440" y="4975859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8"/>
                </a:lnTo>
                <a:lnTo>
                  <a:pt x="0" y="182498"/>
                </a:lnTo>
                <a:lnTo>
                  <a:pt x="219455" y="364997"/>
                </a:lnTo>
                <a:lnTo>
                  <a:pt x="438911" y="182498"/>
                </a:lnTo>
                <a:lnTo>
                  <a:pt x="351154" y="182498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9670160" y="5402198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52"/>
                </a:lnTo>
                <a:lnTo>
                  <a:pt x="7647" y="914358"/>
                </a:lnTo>
                <a:lnTo>
                  <a:pt x="28511" y="945313"/>
                </a:lnTo>
                <a:lnTo>
                  <a:pt x="59471" y="966183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3"/>
                </a:lnTo>
                <a:lnTo>
                  <a:pt x="1827720" y="945313"/>
                </a:lnTo>
                <a:lnTo>
                  <a:pt x="1848584" y="914358"/>
                </a:lnTo>
                <a:lnTo>
                  <a:pt x="1856232" y="876452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83C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 txBox="1"/>
          <p:nvPr/>
        </p:nvSpPr>
        <p:spPr>
          <a:xfrm>
            <a:off x="9899650" y="5698744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最优方案追踪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44" name="object 14">
            <a:extLst>
              <a:ext uri="{FF2B5EF4-FFF2-40B4-BE49-F238E27FC236}">
                <a16:creationId xmlns:a16="http://schemas.microsoft.com/office/drawing/2014/main" id="{1974416D-DE38-6E4B-90EA-9860639B421A}"/>
              </a:ext>
            </a:extLst>
          </p:cNvPr>
          <p:cNvSpPr txBox="1"/>
          <p:nvPr/>
        </p:nvSpPr>
        <p:spPr>
          <a:xfrm>
            <a:off x="747715" y="1046876"/>
            <a:ext cx="687260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构造追踪数组</a:t>
            </a:r>
            <a:r>
              <a:rPr sz="2800" dirty="0">
                <a:latin typeface="Cambria Math"/>
                <a:cs typeface="Cambria Math"/>
              </a:rPr>
              <a:t>𝒓𝒆𝒄</a:t>
            </a:r>
            <a:r>
              <a:rPr sz="2800" spc="360" dirty="0">
                <a:latin typeface="Cambria Math"/>
                <a:cs typeface="Cambria Math"/>
              </a:rPr>
              <a:t> </a:t>
            </a:r>
            <a:r>
              <a:rPr sz="2800" spc="-10" dirty="0">
                <a:latin typeface="Cambria Math"/>
                <a:cs typeface="Cambria Math"/>
              </a:rPr>
              <a:t>𝟏</a:t>
            </a:r>
            <a:r>
              <a:rPr sz="2800" spc="-80" dirty="0">
                <a:latin typeface="Cambria Math"/>
                <a:cs typeface="Cambria Math"/>
              </a:rPr>
              <a:t>. . </a:t>
            </a:r>
            <a:r>
              <a:rPr sz="2800" dirty="0">
                <a:latin typeface="Cambria Math"/>
                <a:cs typeface="Cambria Math"/>
              </a:rPr>
              <a:t>𝒏</a:t>
            </a:r>
            <a:r>
              <a:rPr sz="2800" spc="370" dirty="0">
                <a:latin typeface="Cambria Math"/>
                <a:cs typeface="Cambria Math"/>
              </a:rPr>
              <a:t> </a:t>
            </a:r>
            <a:r>
              <a:rPr sz="2800" spc="-1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，</a:t>
            </a:r>
            <a:r>
              <a:rPr sz="28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记录子问题来源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sp>
        <p:nvSpPr>
          <p:cNvPr id="45" name="左大括号 44">
            <a:extLst>
              <a:ext uri="{FF2B5EF4-FFF2-40B4-BE49-F238E27FC236}">
                <a16:creationId xmlns:a16="http://schemas.microsoft.com/office/drawing/2014/main" id="{CC9D917B-2C34-4643-9EE3-624BE382D007}"/>
              </a:ext>
            </a:extLst>
          </p:cNvPr>
          <p:cNvSpPr/>
          <p:nvPr/>
        </p:nvSpPr>
        <p:spPr>
          <a:xfrm>
            <a:off x="2808154" y="1715134"/>
            <a:ext cx="190005" cy="962914"/>
          </a:xfrm>
          <a:prstGeom prst="leftBrac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  <p:sp>
        <p:nvSpPr>
          <p:cNvPr id="46" name="object 22">
            <a:extLst>
              <a:ext uri="{FF2B5EF4-FFF2-40B4-BE49-F238E27FC236}">
                <a16:creationId xmlns:a16="http://schemas.microsoft.com/office/drawing/2014/main" id="{28A1FC44-07FF-4C4B-BD45-67E40E4CD5B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72541" y="287301"/>
            <a:ext cx="6263767" cy="56618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6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最优方案追踪：记录决策过</a:t>
            </a:r>
            <a:r>
              <a:rPr sz="36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程</a:t>
            </a:r>
            <a:endParaRPr sz="36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21868" y="1032446"/>
            <a:ext cx="3571240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输出最长公共子序列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2335022" y="209041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912239" y="209041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1032763" y="2001011"/>
            <a:ext cx="130873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60045" indent="-347980">
              <a:lnSpc>
                <a:spcPct val="100000"/>
              </a:lnSpc>
              <a:spcBef>
                <a:spcPts val="100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360045" algn="l"/>
                <a:tab pos="360680" algn="l"/>
              </a:tabLst>
            </a:pPr>
            <a:r>
              <a:rPr sz="2400">
                <a:latin typeface="Cambria Math"/>
                <a:cs typeface="Cambria Math"/>
              </a:rPr>
              <a:t>𝒓𝒆𝒄</a:t>
            </a:r>
            <a:r>
              <a:rPr sz="2400" spc="310">
                <a:latin typeface="Cambria Math"/>
                <a:cs typeface="Cambria Math"/>
              </a:rPr>
              <a:t> </a:t>
            </a:r>
            <a:r>
              <a:rPr sz="2400" spc="-10">
                <a:latin typeface="Cambria Math"/>
                <a:cs typeface="Cambria Math"/>
              </a:rPr>
              <a:t>𝒊,</a:t>
            </a:r>
            <a:r>
              <a:rPr sz="2400" spc="-135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𝒋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4649216" y="169163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4226433" y="169163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6884161" y="169163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370957" y="169163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3015742" y="1602485"/>
            <a:ext cx="452755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621665" algn="l"/>
                <a:tab pos="1818005" algn="l"/>
                <a:tab pos="4036695" algn="l"/>
              </a:tabLst>
            </a:pPr>
            <a:r>
              <a:rPr sz="2400" spc="-25">
                <a:latin typeface="Cambria Math"/>
                <a:cs typeface="Cambria Math"/>
              </a:rPr>
              <a:t>𝑳𝑼,</a:t>
            </a:r>
            <a:r>
              <a:rPr sz="2400">
                <a:latin typeface="Cambria Math"/>
                <a:cs typeface="Cambria Math"/>
              </a:rPr>
              <a:t>	𝒊𝒇</a:t>
            </a:r>
            <a:r>
              <a:rPr sz="2400" spc="-5">
                <a:latin typeface="Cambria Math"/>
                <a:cs typeface="Cambria Math"/>
              </a:rPr>
              <a:t> </a:t>
            </a:r>
            <a:r>
              <a:rPr sz="2400" b="1" i="1">
                <a:latin typeface="Times New Roman"/>
                <a:cs typeface="Times New Roman"/>
              </a:rPr>
              <a:t>C</a:t>
            </a:r>
            <a:r>
              <a:rPr sz="2400" b="1" i="1" spc="245">
                <a:latin typeface="Times New Roman"/>
                <a:cs typeface="Times New Roman"/>
              </a:rPr>
              <a:t> </a:t>
            </a:r>
            <a:r>
              <a:rPr sz="2400" spc="-10">
                <a:latin typeface="Cambria Math"/>
                <a:cs typeface="Cambria Math"/>
              </a:rPr>
              <a:t>𝒊,</a:t>
            </a:r>
            <a:r>
              <a:rPr sz="2400" spc="-135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𝒋</a:t>
            </a:r>
            <a:r>
              <a:rPr sz="2400">
                <a:latin typeface="Cambria Math"/>
                <a:cs typeface="Cambria Math"/>
              </a:rPr>
              <a:t>	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𝑪</a:t>
            </a:r>
            <a:r>
              <a:rPr sz="2400" spc="30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𝒊</a:t>
            </a:r>
            <a:r>
              <a:rPr sz="2400" spc="-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− 𝟏,</a:t>
            </a:r>
            <a:r>
              <a:rPr sz="2400" spc="-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𝒋</a:t>
            </a:r>
            <a:r>
              <a:rPr sz="2400" spc="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− </a:t>
            </a:r>
            <a:r>
              <a:rPr sz="2400" spc="-50">
                <a:latin typeface="Cambria Math"/>
                <a:cs typeface="Cambria Math"/>
              </a:rPr>
              <a:t>𝟏</a:t>
            </a:r>
            <a:r>
              <a:rPr sz="2400">
                <a:latin typeface="Cambria Math"/>
                <a:cs typeface="Cambria Math"/>
              </a:rPr>
              <a:t>	+ </a:t>
            </a:r>
            <a:r>
              <a:rPr sz="2400" spc="-50">
                <a:latin typeface="Cambria Math"/>
                <a:cs typeface="Cambria Math"/>
              </a:rPr>
              <a:t>𝟏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4841240" y="208406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418457" y="208406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6530594" y="208406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562981" y="208406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4843526" y="2476499"/>
            <a:ext cx="66675" cy="284480"/>
          </a:xfrm>
          <a:custGeom>
            <a:avLst/>
            <a:gdLst/>
            <a:ahLst/>
            <a:cxnLst/>
            <a:rect l="l" t="t" r="r" b="b"/>
            <a:pathLst>
              <a:path w="66675" h="28448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3050"/>
                </a:lnTo>
                <a:lnTo>
                  <a:pt x="0" y="273050"/>
                </a:lnTo>
                <a:lnTo>
                  <a:pt x="0" y="284480"/>
                </a:lnTo>
                <a:lnTo>
                  <a:pt x="66421" y="284480"/>
                </a:lnTo>
                <a:lnTo>
                  <a:pt x="66421" y="27305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4420743" y="2476499"/>
            <a:ext cx="66675" cy="284480"/>
          </a:xfrm>
          <a:custGeom>
            <a:avLst/>
            <a:gdLst/>
            <a:ahLst/>
            <a:cxnLst/>
            <a:rect l="l" t="t" r="r" b="b"/>
            <a:pathLst>
              <a:path w="66675" h="28448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3050"/>
                </a:lnTo>
                <a:lnTo>
                  <a:pt x="0" y="284480"/>
                </a:lnTo>
                <a:lnTo>
                  <a:pt x="66421" y="284480"/>
                </a:lnTo>
                <a:lnTo>
                  <a:pt x="66421" y="273050"/>
                </a:lnTo>
                <a:lnTo>
                  <a:pt x="24765" y="27305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6532880" y="2476499"/>
            <a:ext cx="66675" cy="284480"/>
          </a:xfrm>
          <a:custGeom>
            <a:avLst/>
            <a:gdLst/>
            <a:ahLst/>
            <a:cxnLst/>
            <a:rect l="l" t="t" r="r" b="b"/>
            <a:pathLst>
              <a:path w="66675" h="28448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3050"/>
                </a:lnTo>
                <a:lnTo>
                  <a:pt x="0" y="273050"/>
                </a:lnTo>
                <a:lnTo>
                  <a:pt x="0" y="284480"/>
                </a:lnTo>
                <a:lnTo>
                  <a:pt x="66421" y="284480"/>
                </a:lnTo>
                <a:lnTo>
                  <a:pt x="66421" y="27305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565267" y="2476499"/>
            <a:ext cx="66675" cy="284480"/>
          </a:xfrm>
          <a:custGeom>
            <a:avLst/>
            <a:gdLst/>
            <a:ahLst/>
            <a:cxnLst/>
            <a:rect l="l" t="t" r="r" b="b"/>
            <a:pathLst>
              <a:path w="66675" h="28448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3050"/>
                </a:lnTo>
                <a:lnTo>
                  <a:pt x="0" y="284480"/>
                </a:lnTo>
                <a:lnTo>
                  <a:pt x="66421" y="284480"/>
                </a:lnTo>
                <a:lnTo>
                  <a:pt x="66421" y="273050"/>
                </a:lnTo>
                <a:lnTo>
                  <a:pt x="24765" y="27305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 txBox="1"/>
          <p:nvPr/>
        </p:nvSpPr>
        <p:spPr>
          <a:xfrm>
            <a:off x="2507488" y="1981199"/>
            <a:ext cx="4032885" cy="798195"/>
          </a:xfrm>
          <a:prstGeom prst="rect">
            <a:avLst/>
          </a:prstGeom>
        </p:spPr>
        <p:txBody>
          <a:bodyPr vert="horz" wrap="square" lIns="0" tIns="33020" rIns="0" bIns="0" rtlCol="0">
            <a:spAutoFit/>
          </a:bodyPr>
          <a:lstStyle/>
          <a:p>
            <a:pPr marR="7620" algn="r">
              <a:lnSpc>
                <a:spcPct val="100000"/>
              </a:lnSpc>
              <a:spcBef>
                <a:spcPts val="260"/>
              </a:spcBef>
              <a:tabLst>
                <a:tab pos="739775" algn="l"/>
                <a:tab pos="1310005" algn="l"/>
                <a:tab pos="2505710" algn="l"/>
              </a:tabLst>
            </a:pPr>
            <a:r>
              <a:rPr sz="2400" dirty="0">
                <a:latin typeface="Cambria Math"/>
                <a:cs typeface="Cambria Math"/>
              </a:rPr>
              <a:t>=</a:t>
            </a:r>
            <a:r>
              <a:rPr sz="2400" spc="13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	</a:t>
            </a:r>
            <a:r>
              <a:rPr sz="3600" spc="-37" baseline="1157" dirty="0">
                <a:latin typeface="Cambria Math"/>
                <a:cs typeface="Cambria Math"/>
              </a:rPr>
              <a:t>𝑼,</a:t>
            </a:r>
            <a:r>
              <a:rPr sz="3600" baseline="1157" dirty="0">
                <a:latin typeface="Cambria Math"/>
                <a:cs typeface="Cambria Math"/>
              </a:rPr>
              <a:t>	𝒊𝒇</a:t>
            </a:r>
            <a:r>
              <a:rPr sz="3600" spc="-30" baseline="1157" dirty="0">
                <a:latin typeface="Cambria Math"/>
                <a:cs typeface="Cambria Math"/>
              </a:rPr>
              <a:t> </a:t>
            </a:r>
            <a:r>
              <a:rPr sz="3600" b="1" i="1" baseline="1157" dirty="0">
                <a:latin typeface="Times New Roman"/>
                <a:cs typeface="Times New Roman"/>
              </a:rPr>
              <a:t>C</a:t>
            </a:r>
            <a:r>
              <a:rPr sz="3600" b="1" i="1" spc="367" baseline="1157" dirty="0">
                <a:latin typeface="Times New Roman"/>
                <a:cs typeface="Times New Roman"/>
              </a:rPr>
              <a:t> </a:t>
            </a:r>
            <a:r>
              <a:rPr sz="3600" spc="-15" baseline="1157" dirty="0">
                <a:latin typeface="Cambria Math"/>
                <a:cs typeface="Cambria Math"/>
              </a:rPr>
              <a:t>𝒊,</a:t>
            </a:r>
            <a:r>
              <a:rPr sz="3600" spc="-202" baseline="1157" dirty="0">
                <a:latin typeface="Cambria Math"/>
                <a:cs typeface="Cambria Math"/>
              </a:rPr>
              <a:t> </a:t>
            </a:r>
            <a:r>
              <a:rPr sz="3600" spc="-75" baseline="1157" dirty="0">
                <a:latin typeface="Cambria Math"/>
                <a:cs typeface="Cambria Math"/>
              </a:rPr>
              <a:t>𝒋</a:t>
            </a:r>
            <a:r>
              <a:rPr sz="3600" baseline="1157" dirty="0">
                <a:latin typeface="Cambria Math"/>
                <a:cs typeface="Cambria Math"/>
              </a:rPr>
              <a:t>	=</a:t>
            </a:r>
            <a:r>
              <a:rPr sz="3600" spc="179" baseline="1157" dirty="0">
                <a:latin typeface="Cambria Math"/>
                <a:cs typeface="Cambria Math"/>
              </a:rPr>
              <a:t> </a:t>
            </a:r>
            <a:r>
              <a:rPr sz="3600" baseline="1157" dirty="0">
                <a:latin typeface="Cambria Math"/>
                <a:cs typeface="Cambria Math"/>
              </a:rPr>
              <a:t>𝑪</a:t>
            </a:r>
            <a:r>
              <a:rPr sz="3600" spc="465" baseline="1157" dirty="0">
                <a:latin typeface="Cambria Math"/>
                <a:cs typeface="Cambria Math"/>
              </a:rPr>
              <a:t> </a:t>
            </a:r>
            <a:r>
              <a:rPr sz="3600" baseline="1157" dirty="0">
                <a:latin typeface="Cambria Math"/>
                <a:cs typeface="Cambria Math"/>
              </a:rPr>
              <a:t>𝒊 − </a:t>
            </a:r>
            <a:r>
              <a:rPr sz="3600" spc="-15" baseline="1157" dirty="0">
                <a:latin typeface="Cambria Math"/>
                <a:cs typeface="Cambria Math"/>
              </a:rPr>
              <a:t>𝟏,</a:t>
            </a:r>
            <a:r>
              <a:rPr sz="3600" spc="-195" baseline="1157" dirty="0">
                <a:latin typeface="Cambria Math"/>
                <a:cs typeface="Cambria Math"/>
              </a:rPr>
              <a:t> </a:t>
            </a:r>
            <a:r>
              <a:rPr sz="3600" spc="-75" baseline="1157" dirty="0">
                <a:latin typeface="Cambria Math"/>
                <a:cs typeface="Cambria Math"/>
              </a:rPr>
              <a:t>𝒋</a:t>
            </a:r>
            <a:endParaRPr sz="3600" baseline="1157" dirty="0">
              <a:latin typeface="Cambria Math"/>
              <a:cs typeface="Cambria Math"/>
            </a:endParaRPr>
          </a:p>
          <a:p>
            <a:pPr marR="5080" algn="r">
              <a:lnSpc>
                <a:spcPct val="100000"/>
              </a:lnSpc>
              <a:spcBef>
                <a:spcPts val="165"/>
              </a:spcBef>
              <a:tabLst>
                <a:tab pos="588010" algn="l"/>
                <a:tab pos="1770380" algn="l"/>
              </a:tabLst>
            </a:pPr>
            <a:r>
              <a:rPr sz="2400" spc="-25" dirty="0">
                <a:solidFill>
                  <a:srgbClr val="FF0000"/>
                </a:solidFill>
                <a:latin typeface="Cambria Math"/>
                <a:cs typeface="Cambria Math"/>
              </a:rPr>
              <a:t>𝑳,</a:t>
            </a:r>
            <a:r>
              <a:rPr sz="2400" dirty="0">
                <a:solidFill>
                  <a:srgbClr val="FF0000"/>
                </a:solidFill>
                <a:latin typeface="Cambria Math"/>
                <a:cs typeface="Cambria Math"/>
              </a:rPr>
              <a:t>	𝒊𝒇</a:t>
            </a:r>
            <a:r>
              <a:rPr sz="2400" spc="-10" dirty="0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400" dirty="0">
                <a:solidFill>
                  <a:srgbClr val="FF0000"/>
                </a:solidFill>
                <a:latin typeface="Cambria Math"/>
                <a:cs typeface="Cambria Math"/>
              </a:rPr>
              <a:t>𝑪</a:t>
            </a:r>
            <a:r>
              <a:rPr sz="2400" spc="305" dirty="0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400" spc="-10" dirty="0">
                <a:solidFill>
                  <a:srgbClr val="FF0000"/>
                </a:solidFill>
                <a:latin typeface="Cambria Math"/>
                <a:cs typeface="Cambria Math"/>
              </a:rPr>
              <a:t>𝒊,</a:t>
            </a:r>
            <a:r>
              <a:rPr sz="2400" spc="-135" dirty="0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400" spc="-50" dirty="0">
                <a:solidFill>
                  <a:srgbClr val="FF0000"/>
                </a:solidFill>
                <a:latin typeface="Cambria Math"/>
                <a:cs typeface="Cambria Math"/>
              </a:rPr>
              <a:t>𝒋</a:t>
            </a:r>
            <a:r>
              <a:rPr sz="2400" dirty="0">
                <a:solidFill>
                  <a:srgbClr val="FF0000"/>
                </a:solidFill>
                <a:latin typeface="Cambria Math"/>
                <a:cs typeface="Cambria Math"/>
              </a:rPr>
              <a:t>	=</a:t>
            </a:r>
            <a:r>
              <a:rPr sz="2400" spc="130" dirty="0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400" dirty="0">
                <a:solidFill>
                  <a:srgbClr val="FF0000"/>
                </a:solidFill>
                <a:latin typeface="Cambria Math"/>
                <a:cs typeface="Cambria Math"/>
              </a:rPr>
              <a:t>𝑪</a:t>
            </a:r>
            <a:r>
              <a:rPr sz="2400" spc="310" dirty="0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400" spc="-10" dirty="0">
                <a:solidFill>
                  <a:srgbClr val="FF0000"/>
                </a:solidFill>
                <a:latin typeface="Cambria Math"/>
                <a:cs typeface="Cambria Math"/>
              </a:rPr>
              <a:t>𝒊,</a:t>
            </a:r>
            <a:r>
              <a:rPr sz="2400" spc="-140" dirty="0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400" dirty="0">
                <a:solidFill>
                  <a:srgbClr val="FF0000"/>
                </a:solidFill>
                <a:latin typeface="Cambria Math"/>
                <a:cs typeface="Cambria Math"/>
              </a:rPr>
              <a:t>𝒋</a:t>
            </a:r>
            <a:r>
              <a:rPr sz="2400" spc="10" dirty="0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400" dirty="0">
                <a:solidFill>
                  <a:srgbClr val="FF0000"/>
                </a:solidFill>
                <a:latin typeface="Cambria Math"/>
                <a:cs typeface="Cambria Math"/>
              </a:rPr>
              <a:t>−</a:t>
            </a:r>
            <a:r>
              <a:rPr sz="2400" spc="5" dirty="0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400" spc="-50" dirty="0">
                <a:solidFill>
                  <a:srgbClr val="FF0000"/>
                </a:solidFill>
                <a:latin typeface="Cambria Math"/>
                <a:cs typeface="Cambria Math"/>
              </a:rPr>
              <a:t>𝟏</a:t>
            </a:r>
            <a:endParaRPr sz="2400" dirty="0">
              <a:latin typeface="Cambria Math"/>
              <a:cs typeface="Cambria Math"/>
            </a:endParaRPr>
          </a:p>
        </p:txBody>
      </p:sp>
      <p:graphicFrame>
        <p:nvGraphicFramePr>
          <p:cNvPr id="21" name="object 21"/>
          <p:cNvGraphicFramePr>
            <a:graphicFrameLocks noGrp="1"/>
          </p:cNvGraphicFramePr>
          <p:nvPr/>
        </p:nvGraphicFramePr>
        <p:xfrm>
          <a:off x="1495933" y="3079495"/>
          <a:ext cx="5721984" cy="261365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880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467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35609">
                <a:tc>
                  <a:txBody>
                    <a:bodyPr/>
                    <a:lstStyle/>
                    <a:p>
                      <a:pPr marR="4635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𝑪[𝒊,</a:t>
                      </a:r>
                      <a:r>
                        <a:rPr sz="1700" spc="-9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𝒋]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9939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9939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𝟏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9939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𝟐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b="1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…</a:t>
                      </a:r>
                      <a:endParaRPr sz="1700">
                        <a:latin typeface="Arial"/>
                        <a:cs typeface="Arial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6383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𝒎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0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latin typeface="Cambria Math"/>
                          <a:cs typeface="Cambria Math"/>
                        </a:rPr>
                        <a:t>𝟎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2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latin typeface="Cambria Math"/>
                          <a:cs typeface="Cambria Math"/>
                        </a:rPr>
                        <a:t>𝟏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latin typeface="Cambria Math"/>
                          <a:cs typeface="Cambria Math"/>
                        </a:rPr>
                        <a:t>𝟐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72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7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60">
                          <a:latin typeface="Cambria Math"/>
                          <a:cs typeface="Cambria Math"/>
                        </a:rPr>
                        <a:t>𝒏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pSp>
        <p:nvGrpSpPr>
          <p:cNvPr id="22" name="object 22"/>
          <p:cNvGrpSpPr/>
          <p:nvPr/>
        </p:nvGrpSpPr>
        <p:grpSpPr>
          <a:xfrm>
            <a:off x="6148578" y="5312790"/>
            <a:ext cx="1057275" cy="330200"/>
            <a:chOff x="6148578" y="5312790"/>
            <a:chExt cx="1057275" cy="330200"/>
          </a:xfrm>
        </p:grpSpPr>
        <p:sp>
          <p:nvSpPr>
            <p:cNvPr id="23" name="object 23"/>
            <p:cNvSpPr/>
            <p:nvPr/>
          </p:nvSpPr>
          <p:spPr>
            <a:xfrm>
              <a:off x="6379464" y="5328665"/>
              <a:ext cx="810260" cy="298450"/>
            </a:xfrm>
            <a:custGeom>
              <a:avLst/>
              <a:gdLst/>
              <a:ahLst/>
              <a:cxnLst/>
              <a:rect l="l" t="t" r="r" b="b"/>
              <a:pathLst>
                <a:path w="810259" h="298450">
                  <a:moveTo>
                    <a:pt x="0" y="49657"/>
                  </a:moveTo>
                  <a:lnTo>
                    <a:pt x="3901" y="30325"/>
                  </a:lnTo>
                  <a:lnTo>
                    <a:pt x="14541" y="14541"/>
                  </a:lnTo>
                  <a:lnTo>
                    <a:pt x="30325" y="3901"/>
                  </a:lnTo>
                  <a:lnTo>
                    <a:pt x="49657" y="0"/>
                  </a:lnTo>
                  <a:lnTo>
                    <a:pt x="760349" y="0"/>
                  </a:lnTo>
                  <a:lnTo>
                    <a:pt x="779680" y="3901"/>
                  </a:lnTo>
                  <a:lnTo>
                    <a:pt x="795464" y="14541"/>
                  </a:lnTo>
                  <a:lnTo>
                    <a:pt x="806104" y="30325"/>
                  </a:lnTo>
                  <a:lnTo>
                    <a:pt x="810006" y="49657"/>
                  </a:lnTo>
                  <a:lnTo>
                    <a:pt x="810006" y="248285"/>
                  </a:lnTo>
                  <a:lnTo>
                    <a:pt x="806104" y="267611"/>
                  </a:lnTo>
                  <a:lnTo>
                    <a:pt x="795464" y="283395"/>
                  </a:lnTo>
                  <a:lnTo>
                    <a:pt x="779680" y="294038"/>
                  </a:lnTo>
                  <a:lnTo>
                    <a:pt x="760349" y="297942"/>
                  </a:lnTo>
                  <a:lnTo>
                    <a:pt x="49657" y="297942"/>
                  </a:lnTo>
                  <a:lnTo>
                    <a:pt x="30325" y="294038"/>
                  </a:lnTo>
                  <a:lnTo>
                    <a:pt x="14541" y="283395"/>
                  </a:lnTo>
                  <a:lnTo>
                    <a:pt x="3901" y="267611"/>
                  </a:lnTo>
                  <a:lnTo>
                    <a:pt x="0" y="248285"/>
                  </a:lnTo>
                  <a:lnTo>
                    <a:pt x="0" y="49657"/>
                  </a:lnTo>
                  <a:close/>
                </a:path>
              </a:pathLst>
            </a:custGeom>
            <a:ln w="31750">
              <a:solidFill>
                <a:srgbClr val="FF000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" name="object 24"/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6148578" y="5455157"/>
              <a:ext cx="203835" cy="114300"/>
            </a:xfrm>
            <a:prstGeom prst="rect">
              <a:avLst/>
            </a:prstGeom>
          </p:spPr>
        </p:pic>
      </p:grpSp>
      <p:sp>
        <p:nvSpPr>
          <p:cNvPr id="25" name="object 25"/>
          <p:cNvSpPr txBox="1"/>
          <p:nvPr/>
        </p:nvSpPr>
        <p:spPr>
          <a:xfrm>
            <a:off x="1032763" y="5655955"/>
            <a:ext cx="5844540" cy="723900"/>
          </a:xfrm>
          <a:prstGeom prst="rect">
            <a:avLst/>
          </a:prstGeom>
        </p:spPr>
        <p:txBody>
          <a:bodyPr vert="horz" wrap="square" lIns="0" tIns="37465" rIns="0" bIns="0" rtlCol="0">
            <a:spAutoFit/>
          </a:bodyPr>
          <a:lstStyle/>
          <a:p>
            <a:pPr marR="161290" algn="r">
              <a:lnSpc>
                <a:spcPct val="100000"/>
              </a:lnSpc>
              <a:spcBef>
                <a:spcPts val="295"/>
              </a:spcBef>
            </a:pPr>
            <a:r>
              <a:rPr sz="1800">
                <a:latin typeface="Cambria Math"/>
                <a:cs typeface="Cambria Math"/>
              </a:rPr>
              <a:t>𝒓𝒆𝒄[</a:t>
            </a:r>
            <a:r>
              <a:rPr sz="1800" spc="-15">
                <a:latin typeface="Cambria Math"/>
                <a:cs typeface="Cambria Math"/>
              </a:rPr>
              <a:t> </a:t>
            </a:r>
            <a:r>
              <a:rPr sz="1800">
                <a:latin typeface="Cambria Math"/>
                <a:cs typeface="Cambria Math"/>
              </a:rPr>
              <a:t>]</a:t>
            </a:r>
            <a:r>
              <a:rPr sz="1800" spc="85">
                <a:latin typeface="Cambria Math"/>
                <a:cs typeface="Cambria Math"/>
              </a:rPr>
              <a:t> </a:t>
            </a:r>
            <a:r>
              <a:rPr sz="1800">
                <a:latin typeface="Cambria Math"/>
                <a:cs typeface="Cambria Math"/>
              </a:rPr>
              <a:t>=</a:t>
            </a:r>
            <a:r>
              <a:rPr sz="1800" spc="110">
                <a:latin typeface="Cambria Math"/>
                <a:cs typeface="Cambria Math"/>
              </a:rPr>
              <a:t> </a:t>
            </a:r>
            <a:r>
              <a:rPr sz="1800" spc="-50">
                <a:latin typeface="Cambria Math"/>
                <a:cs typeface="Cambria Math"/>
              </a:rPr>
              <a:t>𝑳</a:t>
            </a:r>
            <a:endParaRPr sz="1800">
              <a:latin typeface="Cambria Math"/>
              <a:cs typeface="Cambria Math"/>
            </a:endParaRPr>
          </a:p>
          <a:p>
            <a:pPr marL="360045" indent="-347980">
              <a:lnSpc>
                <a:spcPct val="100000"/>
              </a:lnSpc>
              <a:spcBef>
                <a:spcPts val="260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360045" algn="l"/>
                <a:tab pos="360680" algn="l"/>
              </a:tabLst>
            </a:pPr>
            <a:r>
              <a:rPr sz="2400">
                <a:latin typeface="PMingLiU"/>
                <a:cs typeface="PMingLiU"/>
              </a:rPr>
              <a:t>最长公共子序列在</a:t>
            </a:r>
            <a:r>
              <a:rPr sz="2400" spc="-10">
                <a:latin typeface="Cambria Math"/>
                <a:cs typeface="Cambria Math"/>
              </a:rPr>
              <a:t>𝑿[𝟏.</a:t>
            </a:r>
            <a:r>
              <a:rPr sz="2400" spc="-90">
                <a:latin typeface="Cambria Math"/>
                <a:cs typeface="Cambria Math"/>
              </a:rPr>
              <a:t> . </a:t>
            </a:r>
            <a:r>
              <a:rPr sz="2400" spc="-10">
                <a:latin typeface="Cambria Math"/>
                <a:cs typeface="Cambria Math"/>
              </a:rPr>
              <a:t>𝒊]</a:t>
            </a:r>
            <a:r>
              <a:rPr sz="2400">
                <a:latin typeface="PMingLiU"/>
                <a:cs typeface="PMingLiU"/>
              </a:rPr>
              <a:t>和</a:t>
            </a:r>
            <a:r>
              <a:rPr sz="2400" spc="-10">
                <a:latin typeface="Cambria Math"/>
                <a:cs typeface="Cambria Math"/>
              </a:rPr>
              <a:t>𝒀[𝟏</a:t>
            </a:r>
            <a:r>
              <a:rPr sz="2400" spc="-70">
                <a:latin typeface="Cambria Math"/>
                <a:cs typeface="Cambria Math"/>
              </a:rPr>
              <a:t>. . </a:t>
            </a:r>
            <a:r>
              <a:rPr sz="2400">
                <a:latin typeface="Cambria Math"/>
                <a:cs typeface="Cambria Math"/>
              </a:rPr>
              <a:t>𝒋</a:t>
            </a:r>
            <a:r>
              <a:rPr sz="2400" spc="10">
                <a:latin typeface="Cambria Math"/>
                <a:cs typeface="Cambria Math"/>
              </a:rPr>
              <a:t> − </a:t>
            </a:r>
            <a:r>
              <a:rPr sz="2400" spc="-10">
                <a:latin typeface="Cambria Math"/>
                <a:cs typeface="Cambria Math"/>
              </a:rPr>
              <a:t>𝟏]</a:t>
            </a:r>
            <a:r>
              <a:rPr sz="2400" spc="-50">
                <a:latin typeface="PMingLiU"/>
                <a:cs typeface="PMingLiU"/>
              </a:rPr>
              <a:t>中</a:t>
            </a:r>
            <a:endParaRPr sz="2400">
              <a:latin typeface="PMingLiU"/>
              <a:cs typeface="PMingLiU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9670160" y="1018413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 txBox="1"/>
          <p:nvPr/>
        </p:nvSpPr>
        <p:spPr>
          <a:xfrm>
            <a:off x="9899650" y="1314449"/>
            <a:ext cx="1397000" cy="3003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20">
                <a:solidFill>
                  <a:srgbClr val="FFFFFF"/>
                </a:solidFill>
                <a:latin typeface="PMingLiU"/>
                <a:cs typeface="PMingLiU"/>
              </a:rPr>
              <a:t>问题结构分析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10378440" y="2052827"/>
            <a:ext cx="439420" cy="367030"/>
          </a:xfrm>
          <a:custGeom>
            <a:avLst/>
            <a:gdLst/>
            <a:ahLst/>
            <a:cxnLst/>
            <a:rect l="l" t="t" r="r" b="b"/>
            <a:pathLst>
              <a:path w="439420" h="367030">
                <a:moveTo>
                  <a:pt x="351154" y="0"/>
                </a:moveTo>
                <a:lnTo>
                  <a:pt x="87756" y="0"/>
                </a:lnTo>
                <a:lnTo>
                  <a:pt x="87756" y="183261"/>
                </a:lnTo>
                <a:lnTo>
                  <a:pt x="0" y="183261"/>
                </a:lnTo>
                <a:lnTo>
                  <a:pt x="219455" y="366522"/>
                </a:lnTo>
                <a:lnTo>
                  <a:pt x="438911" y="183261"/>
                </a:lnTo>
                <a:lnTo>
                  <a:pt x="351154" y="183261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9670160" y="2480691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 txBox="1"/>
          <p:nvPr/>
        </p:nvSpPr>
        <p:spPr>
          <a:xfrm>
            <a:off x="9899650" y="2776982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递推关系建立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31" name="object 31"/>
          <p:cNvSpPr/>
          <p:nvPr/>
        </p:nvSpPr>
        <p:spPr>
          <a:xfrm>
            <a:off x="10378440" y="3515105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9"/>
                </a:lnTo>
                <a:lnTo>
                  <a:pt x="0" y="182499"/>
                </a:lnTo>
                <a:lnTo>
                  <a:pt x="219455" y="364998"/>
                </a:lnTo>
                <a:lnTo>
                  <a:pt x="438911" y="182499"/>
                </a:lnTo>
                <a:lnTo>
                  <a:pt x="351154" y="182499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9670160" y="3941445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8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8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 txBox="1"/>
          <p:nvPr/>
        </p:nvSpPr>
        <p:spPr>
          <a:xfrm>
            <a:off x="9899650" y="4237735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自底向上计算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34" name="object 34"/>
          <p:cNvSpPr/>
          <p:nvPr/>
        </p:nvSpPr>
        <p:spPr>
          <a:xfrm>
            <a:off x="10378440" y="4975859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8"/>
                </a:lnTo>
                <a:lnTo>
                  <a:pt x="0" y="182498"/>
                </a:lnTo>
                <a:lnTo>
                  <a:pt x="219455" y="364997"/>
                </a:lnTo>
                <a:lnTo>
                  <a:pt x="438911" y="182498"/>
                </a:lnTo>
                <a:lnTo>
                  <a:pt x="351154" y="182498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9670160" y="5402198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52"/>
                </a:lnTo>
                <a:lnTo>
                  <a:pt x="7647" y="914358"/>
                </a:lnTo>
                <a:lnTo>
                  <a:pt x="28511" y="945313"/>
                </a:lnTo>
                <a:lnTo>
                  <a:pt x="59471" y="966183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3"/>
                </a:lnTo>
                <a:lnTo>
                  <a:pt x="1827720" y="945313"/>
                </a:lnTo>
                <a:lnTo>
                  <a:pt x="1848584" y="914358"/>
                </a:lnTo>
                <a:lnTo>
                  <a:pt x="1856232" y="876452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83C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 txBox="1"/>
          <p:nvPr/>
        </p:nvSpPr>
        <p:spPr>
          <a:xfrm>
            <a:off x="9899650" y="5698744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最优方案追踪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39" name="object 22">
            <a:extLst>
              <a:ext uri="{FF2B5EF4-FFF2-40B4-BE49-F238E27FC236}">
                <a16:creationId xmlns:a16="http://schemas.microsoft.com/office/drawing/2014/main" id="{F2F8BED1-911B-974A-BCB2-8BE71FA163CC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72541" y="287301"/>
            <a:ext cx="6263767" cy="56618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6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最优方案追踪：记录决策过</a:t>
            </a:r>
            <a:r>
              <a:rPr sz="36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程</a:t>
            </a:r>
            <a:endParaRPr sz="36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40" name="左大括号 39">
            <a:extLst>
              <a:ext uri="{FF2B5EF4-FFF2-40B4-BE49-F238E27FC236}">
                <a16:creationId xmlns:a16="http://schemas.microsoft.com/office/drawing/2014/main" id="{1F0B1876-0C3D-A943-A2F1-76A45D41A0BA}"/>
              </a:ext>
            </a:extLst>
          </p:cNvPr>
          <p:cNvSpPr/>
          <p:nvPr/>
        </p:nvSpPr>
        <p:spPr>
          <a:xfrm>
            <a:off x="2808154" y="1715134"/>
            <a:ext cx="190005" cy="962914"/>
          </a:xfrm>
          <a:prstGeom prst="leftBrac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57493" y="1032827"/>
            <a:ext cx="3571240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 dirty="0" err="1">
                <a:latin typeface="PMingLiU"/>
                <a:cs typeface="PMingLiU"/>
              </a:rPr>
              <a:t>输出最长公共子序列</a:t>
            </a:r>
            <a:endParaRPr sz="2800" dirty="0">
              <a:latin typeface="PMingLiU"/>
              <a:cs typeface="PMingLiU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2335022" y="209041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912239" y="209041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1032763" y="2001011"/>
            <a:ext cx="130873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60045" indent="-347980">
              <a:lnSpc>
                <a:spcPct val="100000"/>
              </a:lnSpc>
              <a:spcBef>
                <a:spcPts val="100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360045" algn="l"/>
                <a:tab pos="360680" algn="l"/>
              </a:tabLst>
            </a:pPr>
            <a:r>
              <a:rPr sz="2400">
                <a:latin typeface="Cambria Math"/>
                <a:cs typeface="Cambria Math"/>
              </a:rPr>
              <a:t>𝒓𝒆𝒄</a:t>
            </a:r>
            <a:r>
              <a:rPr sz="2400" spc="310">
                <a:latin typeface="Cambria Math"/>
                <a:cs typeface="Cambria Math"/>
              </a:rPr>
              <a:t> </a:t>
            </a:r>
            <a:r>
              <a:rPr sz="2400" spc="-10">
                <a:latin typeface="Cambria Math"/>
                <a:cs typeface="Cambria Math"/>
              </a:rPr>
              <a:t>𝒊,</a:t>
            </a:r>
            <a:r>
              <a:rPr sz="2400" spc="-135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𝒋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4649216" y="169163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4226433" y="169163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6884161" y="169163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370957" y="169163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3015742" y="1602485"/>
            <a:ext cx="452755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621665" algn="l"/>
                <a:tab pos="1818005" algn="l"/>
                <a:tab pos="4036695" algn="l"/>
              </a:tabLst>
            </a:pPr>
            <a:r>
              <a:rPr sz="2400" spc="-25">
                <a:latin typeface="Cambria Math"/>
                <a:cs typeface="Cambria Math"/>
              </a:rPr>
              <a:t>𝑳𝑼,</a:t>
            </a:r>
            <a:r>
              <a:rPr sz="2400">
                <a:latin typeface="Cambria Math"/>
                <a:cs typeface="Cambria Math"/>
              </a:rPr>
              <a:t>	𝒊𝒇</a:t>
            </a:r>
            <a:r>
              <a:rPr sz="2400" spc="-5">
                <a:latin typeface="Cambria Math"/>
                <a:cs typeface="Cambria Math"/>
              </a:rPr>
              <a:t> </a:t>
            </a:r>
            <a:r>
              <a:rPr sz="2400" b="1" i="1">
                <a:latin typeface="Times New Roman"/>
                <a:cs typeface="Times New Roman"/>
              </a:rPr>
              <a:t>C</a:t>
            </a:r>
            <a:r>
              <a:rPr sz="2400" b="1" i="1" spc="245">
                <a:latin typeface="Times New Roman"/>
                <a:cs typeface="Times New Roman"/>
              </a:rPr>
              <a:t> </a:t>
            </a:r>
            <a:r>
              <a:rPr sz="2400" spc="-10">
                <a:latin typeface="Cambria Math"/>
                <a:cs typeface="Cambria Math"/>
              </a:rPr>
              <a:t>𝒊,</a:t>
            </a:r>
            <a:r>
              <a:rPr sz="2400" spc="-135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𝒋</a:t>
            </a:r>
            <a:r>
              <a:rPr sz="2400">
                <a:latin typeface="Cambria Math"/>
                <a:cs typeface="Cambria Math"/>
              </a:rPr>
              <a:t>	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𝑪</a:t>
            </a:r>
            <a:r>
              <a:rPr sz="2400" spc="30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𝒊</a:t>
            </a:r>
            <a:r>
              <a:rPr sz="2400" spc="-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− 𝟏,</a:t>
            </a:r>
            <a:r>
              <a:rPr sz="2400" spc="-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𝒋</a:t>
            </a:r>
            <a:r>
              <a:rPr sz="2400" spc="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− </a:t>
            </a:r>
            <a:r>
              <a:rPr sz="2400" spc="-50">
                <a:latin typeface="Cambria Math"/>
                <a:cs typeface="Cambria Math"/>
              </a:rPr>
              <a:t>𝟏</a:t>
            </a:r>
            <a:r>
              <a:rPr sz="2400">
                <a:latin typeface="Cambria Math"/>
                <a:cs typeface="Cambria Math"/>
              </a:rPr>
              <a:t>	+ </a:t>
            </a:r>
            <a:r>
              <a:rPr sz="2400" spc="-50">
                <a:latin typeface="Cambria Math"/>
                <a:cs typeface="Cambria Math"/>
              </a:rPr>
              <a:t>𝟏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4841240" y="208406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418457" y="208406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6530594" y="208406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562981" y="208406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4843526" y="2476499"/>
            <a:ext cx="66675" cy="284480"/>
          </a:xfrm>
          <a:custGeom>
            <a:avLst/>
            <a:gdLst/>
            <a:ahLst/>
            <a:cxnLst/>
            <a:rect l="l" t="t" r="r" b="b"/>
            <a:pathLst>
              <a:path w="66675" h="28448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3050"/>
                </a:lnTo>
                <a:lnTo>
                  <a:pt x="0" y="273050"/>
                </a:lnTo>
                <a:lnTo>
                  <a:pt x="0" y="284480"/>
                </a:lnTo>
                <a:lnTo>
                  <a:pt x="66421" y="284480"/>
                </a:lnTo>
                <a:lnTo>
                  <a:pt x="66421" y="27305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4420743" y="2476499"/>
            <a:ext cx="66675" cy="284480"/>
          </a:xfrm>
          <a:custGeom>
            <a:avLst/>
            <a:gdLst/>
            <a:ahLst/>
            <a:cxnLst/>
            <a:rect l="l" t="t" r="r" b="b"/>
            <a:pathLst>
              <a:path w="66675" h="28448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3050"/>
                </a:lnTo>
                <a:lnTo>
                  <a:pt x="0" y="284480"/>
                </a:lnTo>
                <a:lnTo>
                  <a:pt x="66421" y="284480"/>
                </a:lnTo>
                <a:lnTo>
                  <a:pt x="66421" y="273050"/>
                </a:lnTo>
                <a:lnTo>
                  <a:pt x="24765" y="27305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6532880" y="2476499"/>
            <a:ext cx="66675" cy="284480"/>
          </a:xfrm>
          <a:custGeom>
            <a:avLst/>
            <a:gdLst/>
            <a:ahLst/>
            <a:cxnLst/>
            <a:rect l="l" t="t" r="r" b="b"/>
            <a:pathLst>
              <a:path w="66675" h="28448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3050"/>
                </a:lnTo>
                <a:lnTo>
                  <a:pt x="0" y="273050"/>
                </a:lnTo>
                <a:lnTo>
                  <a:pt x="0" y="284480"/>
                </a:lnTo>
                <a:lnTo>
                  <a:pt x="66421" y="284480"/>
                </a:lnTo>
                <a:lnTo>
                  <a:pt x="66421" y="27305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565267" y="2476499"/>
            <a:ext cx="66675" cy="284480"/>
          </a:xfrm>
          <a:custGeom>
            <a:avLst/>
            <a:gdLst/>
            <a:ahLst/>
            <a:cxnLst/>
            <a:rect l="l" t="t" r="r" b="b"/>
            <a:pathLst>
              <a:path w="66675" h="28448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3050"/>
                </a:lnTo>
                <a:lnTo>
                  <a:pt x="0" y="284480"/>
                </a:lnTo>
                <a:lnTo>
                  <a:pt x="66421" y="284480"/>
                </a:lnTo>
                <a:lnTo>
                  <a:pt x="66421" y="273050"/>
                </a:lnTo>
                <a:lnTo>
                  <a:pt x="24765" y="27305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 txBox="1"/>
          <p:nvPr/>
        </p:nvSpPr>
        <p:spPr>
          <a:xfrm>
            <a:off x="2507488" y="1981199"/>
            <a:ext cx="4032885" cy="798195"/>
          </a:xfrm>
          <a:prstGeom prst="rect">
            <a:avLst/>
          </a:prstGeom>
        </p:spPr>
        <p:txBody>
          <a:bodyPr vert="horz" wrap="square" lIns="0" tIns="33020" rIns="0" bIns="0" rtlCol="0">
            <a:spAutoFit/>
          </a:bodyPr>
          <a:lstStyle/>
          <a:p>
            <a:pPr marR="7620" algn="r">
              <a:lnSpc>
                <a:spcPct val="100000"/>
              </a:lnSpc>
              <a:spcBef>
                <a:spcPts val="260"/>
              </a:spcBef>
              <a:tabLst>
                <a:tab pos="739775" algn="l"/>
                <a:tab pos="1310005" algn="l"/>
                <a:tab pos="2505710" algn="l"/>
              </a:tabLst>
            </a:pPr>
            <a:r>
              <a:rPr sz="2400" dirty="0">
                <a:latin typeface="Cambria Math"/>
                <a:cs typeface="Cambria Math"/>
              </a:rPr>
              <a:t>=</a:t>
            </a:r>
            <a:r>
              <a:rPr sz="2400" spc="13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	</a:t>
            </a:r>
            <a:r>
              <a:rPr sz="3600" spc="-37" baseline="1157" dirty="0">
                <a:solidFill>
                  <a:srgbClr val="FF0000"/>
                </a:solidFill>
                <a:latin typeface="Cambria Math"/>
                <a:cs typeface="Cambria Math"/>
              </a:rPr>
              <a:t>𝑼,</a:t>
            </a:r>
            <a:r>
              <a:rPr sz="3600" baseline="1157" dirty="0">
                <a:solidFill>
                  <a:srgbClr val="FF0000"/>
                </a:solidFill>
                <a:latin typeface="Cambria Math"/>
                <a:cs typeface="Cambria Math"/>
              </a:rPr>
              <a:t>	𝒊𝒇</a:t>
            </a:r>
            <a:r>
              <a:rPr sz="3600" spc="-30" baseline="1157" dirty="0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3600" b="1" i="1" baseline="1157" dirty="0">
                <a:solidFill>
                  <a:srgbClr val="FF0000"/>
                </a:solidFill>
                <a:latin typeface="Times New Roman"/>
                <a:cs typeface="Times New Roman"/>
              </a:rPr>
              <a:t>C</a:t>
            </a:r>
            <a:r>
              <a:rPr sz="3600" b="1" i="1" spc="367" baseline="1157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3600" spc="-15" baseline="1157" dirty="0">
                <a:solidFill>
                  <a:srgbClr val="FF0000"/>
                </a:solidFill>
                <a:latin typeface="Cambria Math"/>
                <a:cs typeface="Cambria Math"/>
              </a:rPr>
              <a:t>𝒊,</a:t>
            </a:r>
            <a:r>
              <a:rPr sz="3600" spc="-202" baseline="1157" dirty="0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3600" spc="-75" baseline="1157" dirty="0">
                <a:solidFill>
                  <a:srgbClr val="FF0000"/>
                </a:solidFill>
                <a:latin typeface="Cambria Math"/>
                <a:cs typeface="Cambria Math"/>
              </a:rPr>
              <a:t>𝒋</a:t>
            </a:r>
            <a:r>
              <a:rPr sz="3600" baseline="1157" dirty="0">
                <a:solidFill>
                  <a:srgbClr val="FF0000"/>
                </a:solidFill>
                <a:latin typeface="Cambria Math"/>
                <a:cs typeface="Cambria Math"/>
              </a:rPr>
              <a:t>	=</a:t>
            </a:r>
            <a:r>
              <a:rPr sz="3600" spc="179" baseline="1157" dirty="0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3600" baseline="1157" dirty="0">
                <a:solidFill>
                  <a:srgbClr val="FF0000"/>
                </a:solidFill>
                <a:latin typeface="Cambria Math"/>
                <a:cs typeface="Cambria Math"/>
              </a:rPr>
              <a:t>𝑪</a:t>
            </a:r>
            <a:r>
              <a:rPr sz="3600" spc="465" baseline="1157" dirty="0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3600" baseline="1157" dirty="0">
                <a:solidFill>
                  <a:srgbClr val="FF0000"/>
                </a:solidFill>
                <a:latin typeface="Cambria Math"/>
                <a:cs typeface="Cambria Math"/>
              </a:rPr>
              <a:t>𝒊 − </a:t>
            </a:r>
            <a:r>
              <a:rPr sz="3600" spc="-15" baseline="1157" dirty="0">
                <a:solidFill>
                  <a:srgbClr val="FF0000"/>
                </a:solidFill>
                <a:latin typeface="Cambria Math"/>
                <a:cs typeface="Cambria Math"/>
              </a:rPr>
              <a:t>𝟏,</a:t>
            </a:r>
            <a:r>
              <a:rPr sz="3600" spc="-195" baseline="1157" dirty="0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3600" spc="-75" baseline="1157" dirty="0">
                <a:solidFill>
                  <a:srgbClr val="FF0000"/>
                </a:solidFill>
                <a:latin typeface="Cambria Math"/>
                <a:cs typeface="Cambria Math"/>
              </a:rPr>
              <a:t>𝒋</a:t>
            </a:r>
            <a:endParaRPr sz="3600" baseline="1157" dirty="0">
              <a:latin typeface="Cambria Math"/>
              <a:cs typeface="Cambria Math"/>
            </a:endParaRPr>
          </a:p>
          <a:p>
            <a:pPr marR="5080" algn="r">
              <a:lnSpc>
                <a:spcPct val="100000"/>
              </a:lnSpc>
              <a:spcBef>
                <a:spcPts val="165"/>
              </a:spcBef>
              <a:tabLst>
                <a:tab pos="588010" algn="l"/>
                <a:tab pos="1770380" algn="l"/>
              </a:tabLst>
            </a:pPr>
            <a:r>
              <a:rPr sz="2400" spc="-25" dirty="0">
                <a:latin typeface="Cambria Math"/>
                <a:cs typeface="Cambria Math"/>
              </a:rPr>
              <a:t>𝑳,</a:t>
            </a:r>
            <a:r>
              <a:rPr sz="2400" dirty="0">
                <a:latin typeface="Cambria Math"/>
                <a:cs typeface="Cambria Math"/>
              </a:rPr>
              <a:t>	𝒊𝒇</a:t>
            </a:r>
            <a:r>
              <a:rPr sz="2400" spc="-1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𝑪</a:t>
            </a:r>
            <a:r>
              <a:rPr sz="2400" spc="305" dirty="0">
                <a:latin typeface="Cambria Math"/>
                <a:cs typeface="Cambria Math"/>
              </a:rPr>
              <a:t> </a:t>
            </a:r>
            <a:r>
              <a:rPr sz="2400" spc="-10" dirty="0">
                <a:latin typeface="Cambria Math"/>
                <a:cs typeface="Cambria Math"/>
              </a:rPr>
              <a:t>𝒊,</a:t>
            </a:r>
            <a:r>
              <a:rPr sz="2400" spc="-135" dirty="0">
                <a:latin typeface="Cambria Math"/>
                <a:cs typeface="Cambria Math"/>
              </a:rPr>
              <a:t> </a:t>
            </a:r>
            <a:r>
              <a:rPr sz="2400" spc="-50" dirty="0">
                <a:latin typeface="Cambria Math"/>
                <a:cs typeface="Cambria Math"/>
              </a:rPr>
              <a:t>𝒋</a:t>
            </a:r>
            <a:r>
              <a:rPr sz="2400" dirty="0">
                <a:latin typeface="Cambria Math"/>
                <a:cs typeface="Cambria Math"/>
              </a:rPr>
              <a:t>	=</a:t>
            </a:r>
            <a:r>
              <a:rPr sz="2400" spc="13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𝑪</a:t>
            </a:r>
            <a:r>
              <a:rPr sz="2400" spc="310" dirty="0">
                <a:latin typeface="Cambria Math"/>
                <a:cs typeface="Cambria Math"/>
              </a:rPr>
              <a:t> </a:t>
            </a:r>
            <a:r>
              <a:rPr sz="2400" spc="-10" dirty="0">
                <a:latin typeface="Cambria Math"/>
                <a:cs typeface="Cambria Math"/>
              </a:rPr>
              <a:t>𝒊,</a:t>
            </a:r>
            <a:r>
              <a:rPr sz="2400" spc="-14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𝒋</a:t>
            </a:r>
            <a:r>
              <a:rPr sz="2400" spc="1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−</a:t>
            </a:r>
            <a:r>
              <a:rPr sz="2400" spc="5" dirty="0">
                <a:latin typeface="Cambria Math"/>
                <a:cs typeface="Cambria Math"/>
              </a:rPr>
              <a:t> </a:t>
            </a:r>
            <a:r>
              <a:rPr sz="2400" spc="-50" dirty="0">
                <a:latin typeface="Cambria Math"/>
                <a:cs typeface="Cambria Math"/>
              </a:rPr>
              <a:t>𝟏</a:t>
            </a:r>
            <a:endParaRPr sz="2400" dirty="0">
              <a:latin typeface="Cambria Math"/>
              <a:cs typeface="Cambria Math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032763" y="5655955"/>
            <a:ext cx="5844540" cy="723900"/>
          </a:xfrm>
          <a:prstGeom prst="rect">
            <a:avLst/>
          </a:prstGeom>
        </p:spPr>
        <p:txBody>
          <a:bodyPr vert="horz" wrap="square" lIns="0" tIns="37465" rIns="0" bIns="0" rtlCol="0">
            <a:spAutoFit/>
          </a:bodyPr>
          <a:lstStyle/>
          <a:p>
            <a:pPr marR="161290" algn="r">
              <a:lnSpc>
                <a:spcPct val="100000"/>
              </a:lnSpc>
              <a:spcBef>
                <a:spcPts val="295"/>
              </a:spcBef>
            </a:pPr>
            <a:r>
              <a:rPr sz="1800">
                <a:latin typeface="Cambria Math"/>
                <a:cs typeface="Cambria Math"/>
              </a:rPr>
              <a:t>𝒓𝒆𝒄[</a:t>
            </a:r>
            <a:r>
              <a:rPr sz="1800" spc="-15">
                <a:latin typeface="Cambria Math"/>
                <a:cs typeface="Cambria Math"/>
              </a:rPr>
              <a:t> </a:t>
            </a:r>
            <a:r>
              <a:rPr sz="1800">
                <a:latin typeface="Cambria Math"/>
                <a:cs typeface="Cambria Math"/>
              </a:rPr>
              <a:t>]</a:t>
            </a:r>
            <a:r>
              <a:rPr sz="1800" spc="85">
                <a:latin typeface="Cambria Math"/>
                <a:cs typeface="Cambria Math"/>
              </a:rPr>
              <a:t> </a:t>
            </a:r>
            <a:r>
              <a:rPr sz="1800">
                <a:latin typeface="Cambria Math"/>
                <a:cs typeface="Cambria Math"/>
              </a:rPr>
              <a:t>=</a:t>
            </a:r>
            <a:r>
              <a:rPr sz="1800" spc="110">
                <a:latin typeface="Cambria Math"/>
                <a:cs typeface="Cambria Math"/>
              </a:rPr>
              <a:t> </a:t>
            </a:r>
            <a:r>
              <a:rPr sz="1800" spc="-50">
                <a:latin typeface="Cambria Math"/>
                <a:cs typeface="Cambria Math"/>
              </a:rPr>
              <a:t>𝑳</a:t>
            </a:r>
            <a:endParaRPr sz="1800">
              <a:latin typeface="Cambria Math"/>
              <a:cs typeface="Cambria Math"/>
            </a:endParaRPr>
          </a:p>
          <a:p>
            <a:pPr marL="360045" indent="-347980">
              <a:lnSpc>
                <a:spcPct val="100000"/>
              </a:lnSpc>
              <a:spcBef>
                <a:spcPts val="260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360045" algn="l"/>
                <a:tab pos="360680" algn="l"/>
              </a:tabLst>
            </a:pPr>
            <a:r>
              <a:rPr sz="2400">
                <a:latin typeface="PMingLiU"/>
                <a:cs typeface="PMingLiU"/>
              </a:rPr>
              <a:t>最长公共子序列在</a:t>
            </a:r>
            <a:r>
              <a:rPr sz="2400" spc="-10">
                <a:latin typeface="Cambria Math"/>
                <a:cs typeface="Cambria Math"/>
              </a:rPr>
              <a:t>𝑿[𝟏.</a:t>
            </a:r>
            <a:r>
              <a:rPr sz="2400" spc="-90">
                <a:latin typeface="Cambria Math"/>
                <a:cs typeface="Cambria Math"/>
              </a:rPr>
              <a:t> . </a:t>
            </a:r>
            <a:r>
              <a:rPr sz="2400">
                <a:latin typeface="Cambria Math"/>
                <a:cs typeface="Cambria Math"/>
              </a:rPr>
              <a:t>𝒊</a:t>
            </a:r>
            <a:r>
              <a:rPr sz="2400" spc="10">
                <a:latin typeface="Cambria Math"/>
                <a:cs typeface="Cambria Math"/>
              </a:rPr>
              <a:t> − </a:t>
            </a:r>
            <a:r>
              <a:rPr sz="2400" spc="-10">
                <a:latin typeface="Cambria Math"/>
                <a:cs typeface="Cambria Math"/>
              </a:rPr>
              <a:t>𝟏]</a:t>
            </a:r>
            <a:r>
              <a:rPr sz="2400">
                <a:latin typeface="PMingLiU"/>
                <a:cs typeface="PMingLiU"/>
              </a:rPr>
              <a:t>和</a:t>
            </a:r>
            <a:r>
              <a:rPr sz="2400" spc="-10">
                <a:latin typeface="Cambria Math"/>
                <a:cs typeface="Cambria Math"/>
              </a:rPr>
              <a:t>𝒀[𝟏.</a:t>
            </a:r>
            <a:r>
              <a:rPr sz="2400" spc="-85">
                <a:latin typeface="Cambria Math"/>
                <a:cs typeface="Cambria Math"/>
              </a:rPr>
              <a:t> . </a:t>
            </a:r>
            <a:r>
              <a:rPr sz="2400" spc="-10">
                <a:latin typeface="Cambria Math"/>
                <a:cs typeface="Cambria Math"/>
              </a:rPr>
              <a:t>𝒋]</a:t>
            </a:r>
            <a:r>
              <a:rPr sz="2400" spc="-50">
                <a:latin typeface="PMingLiU"/>
                <a:cs typeface="PMingLiU"/>
              </a:rPr>
              <a:t>中</a:t>
            </a:r>
            <a:endParaRPr sz="2400">
              <a:latin typeface="PMingLiU"/>
              <a:cs typeface="PMingLiU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9670160" y="1018413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 txBox="1"/>
          <p:nvPr/>
        </p:nvSpPr>
        <p:spPr>
          <a:xfrm>
            <a:off x="9899650" y="1314449"/>
            <a:ext cx="1397000" cy="3003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20">
                <a:solidFill>
                  <a:srgbClr val="FFFFFF"/>
                </a:solidFill>
                <a:latin typeface="PMingLiU"/>
                <a:cs typeface="PMingLiU"/>
              </a:rPr>
              <a:t>问题结构分析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29" name="object 29"/>
          <p:cNvSpPr/>
          <p:nvPr/>
        </p:nvSpPr>
        <p:spPr>
          <a:xfrm>
            <a:off x="10378440" y="2052827"/>
            <a:ext cx="439420" cy="367030"/>
          </a:xfrm>
          <a:custGeom>
            <a:avLst/>
            <a:gdLst/>
            <a:ahLst/>
            <a:cxnLst/>
            <a:rect l="l" t="t" r="r" b="b"/>
            <a:pathLst>
              <a:path w="439420" h="367030">
                <a:moveTo>
                  <a:pt x="351154" y="0"/>
                </a:moveTo>
                <a:lnTo>
                  <a:pt x="87756" y="0"/>
                </a:lnTo>
                <a:lnTo>
                  <a:pt x="87756" y="183261"/>
                </a:lnTo>
                <a:lnTo>
                  <a:pt x="0" y="183261"/>
                </a:lnTo>
                <a:lnTo>
                  <a:pt x="219455" y="366522"/>
                </a:lnTo>
                <a:lnTo>
                  <a:pt x="438911" y="183261"/>
                </a:lnTo>
                <a:lnTo>
                  <a:pt x="351154" y="183261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9670160" y="2480691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 txBox="1"/>
          <p:nvPr/>
        </p:nvSpPr>
        <p:spPr>
          <a:xfrm>
            <a:off x="9899650" y="2776982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递推关系建立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32" name="object 32"/>
          <p:cNvSpPr/>
          <p:nvPr/>
        </p:nvSpPr>
        <p:spPr>
          <a:xfrm>
            <a:off x="10378440" y="3515105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9"/>
                </a:lnTo>
                <a:lnTo>
                  <a:pt x="0" y="182499"/>
                </a:lnTo>
                <a:lnTo>
                  <a:pt x="219455" y="364998"/>
                </a:lnTo>
                <a:lnTo>
                  <a:pt x="438911" y="182499"/>
                </a:lnTo>
                <a:lnTo>
                  <a:pt x="351154" y="182499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9670160" y="3941445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8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8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 txBox="1"/>
          <p:nvPr/>
        </p:nvSpPr>
        <p:spPr>
          <a:xfrm>
            <a:off x="9899650" y="4237735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自底向上计算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35" name="object 35"/>
          <p:cNvSpPr/>
          <p:nvPr/>
        </p:nvSpPr>
        <p:spPr>
          <a:xfrm>
            <a:off x="10378440" y="4975859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8"/>
                </a:lnTo>
                <a:lnTo>
                  <a:pt x="0" y="182498"/>
                </a:lnTo>
                <a:lnTo>
                  <a:pt x="219455" y="364997"/>
                </a:lnTo>
                <a:lnTo>
                  <a:pt x="438911" y="182498"/>
                </a:lnTo>
                <a:lnTo>
                  <a:pt x="351154" y="182498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9670160" y="5402198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52"/>
                </a:lnTo>
                <a:lnTo>
                  <a:pt x="7647" y="914358"/>
                </a:lnTo>
                <a:lnTo>
                  <a:pt x="28511" y="945313"/>
                </a:lnTo>
                <a:lnTo>
                  <a:pt x="59471" y="966183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3"/>
                </a:lnTo>
                <a:lnTo>
                  <a:pt x="1827720" y="945313"/>
                </a:lnTo>
                <a:lnTo>
                  <a:pt x="1848584" y="914358"/>
                </a:lnTo>
                <a:lnTo>
                  <a:pt x="1856232" y="876452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83C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 txBox="1"/>
          <p:nvPr/>
        </p:nvSpPr>
        <p:spPr>
          <a:xfrm>
            <a:off x="9899650" y="5698744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最优方案追踪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40" name="左大括号 39">
            <a:extLst>
              <a:ext uri="{FF2B5EF4-FFF2-40B4-BE49-F238E27FC236}">
                <a16:creationId xmlns:a16="http://schemas.microsoft.com/office/drawing/2014/main" id="{FD5E29C4-2F12-B94A-8A5F-B89B0BF10752}"/>
              </a:ext>
            </a:extLst>
          </p:cNvPr>
          <p:cNvSpPr/>
          <p:nvPr/>
        </p:nvSpPr>
        <p:spPr>
          <a:xfrm>
            <a:off x="2808154" y="1715134"/>
            <a:ext cx="190005" cy="962914"/>
          </a:xfrm>
          <a:prstGeom prst="leftBrac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  <p:sp>
        <p:nvSpPr>
          <p:cNvPr id="41" name="object 22">
            <a:extLst>
              <a:ext uri="{FF2B5EF4-FFF2-40B4-BE49-F238E27FC236}">
                <a16:creationId xmlns:a16="http://schemas.microsoft.com/office/drawing/2014/main" id="{7D6314BD-BBF7-5045-B54C-3790B4326D3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72541" y="287301"/>
            <a:ext cx="6263767" cy="56618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6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最优方案追踪：记录决策过</a:t>
            </a:r>
            <a:r>
              <a:rPr sz="36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程</a:t>
            </a:r>
            <a:endParaRPr sz="36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graphicFrame>
        <p:nvGraphicFramePr>
          <p:cNvPr id="42" name="object 21">
            <a:extLst>
              <a:ext uri="{FF2B5EF4-FFF2-40B4-BE49-F238E27FC236}">
                <a16:creationId xmlns:a16="http://schemas.microsoft.com/office/drawing/2014/main" id="{39E8333E-2CC8-264F-A4C4-35626090BCD5}"/>
              </a:ext>
            </a:extLst>
          </p:cNvPr>
          <p:cNvGraphicFramePr>
            <a:graphicFrameLocks noGrp="1"/>
          </p:cNvGraphicFramePr>
          <p:nvPr/>
        </p:nvGraphicFramePr>
        <p:xfrm>
          <a:off x="1495933" y="3079495"/>
          <a:ext cx="5721984" cy="261365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880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467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35609">
                <a:tc>
                  <a:txBody>
                    <a:bodyPr/>
                    <a:lstStyle/>
                    <a:p>
                      <a:pPr marR="4635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𝑪[𝒊,</a:t>
                      </a:r>
                      <a:r>
                        <a:rPr sz="1700" spc="-9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𝒋]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9939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9939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𝟏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9939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𝟐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b="1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…</a:t>
                      </a:r>
                      <a:endParaRPr sz="1700">
                        <a:latin typeface="Arial"/>
                        <a:cs typeface="Arial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6383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𝒎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0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latin typeface="Cambria Math"/>
                          <a:cs typeface="Cambria Math"/>
                        </a:rPr>
                        <a:t>𝟎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2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latin typeface="Cambria Math"/>
                          <a:cs typeface="Cambria Math"/>
                        </a:rPr>
                        <a:t>𝟏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latin typeface="Cambria Math"/>
                          <a:cs typeface="Cambria Math"/>
                        </a:rPr>
                        <a:t>𝟐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72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7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60">
                          <a:latin typeface="Cambria Math"/>
                          <a:cs typeface="Cambria Math"/>
                        </a:rPr>
                        <a:t>𝒏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pSp>
        <p:nvGrpSpPr>
          <p:cNvPr id="21" name="object 21"/>
          <p:cNvGrpSpPr/>
          <p:nvPr/>
        </p:nvGrpSpPr>
        <p:grpSpPr>
          <a:xfrm>
            <a:off x="5363717" y="5109093"/>
            <a:ext cx="1854200" cy="521970"/>
            <a:chOff x="5351653" y="5120640"/>
            <a:chExt cx="1854200" cy="521970"/>
          </a:xfrm>
        </p:grpSpPr>
        <p:sp>
          <p:nvSpPr>
            <p:cNvPr id="22" name="object 22"/>
            <p:cNvSpPr/>
            <p:nvPr/>
          </p:nvSpPr>
          <p:spPr>
            <a:xfrm>
              <a:off x="5367528" y="5328666"/>
              <a:ext cx="1822450" cy="298450"/>
            </a:xfrm>
            <a:custGeom>
              <a:avLst/>
              <a:gdLst/>
              <a:ahLst/>
              <a:cxnLst/>
              <a:rect l="l" t="t" r="r" b="b"/>
              <a:pathLst>
                <a:path w="1822450" h="298450">
                  <a:moveTo>
                    <a:pt x="1011936" y="49657"/>
                  </a:moveTo>
                  <a:lnTo>
                    <a:pt x="1015837" y="30325"/>
                  </a:lnTo>
                  <a:lnTo>
                    <a:pt x="1026477" y="14541"/>
                  </a:lnTo>
                  <a:lnTo>
                    <a:pt x="1042261" y="3901"/>
                  </a:lnTo>
                  <a:lnTo>
                    <a:pt x="1061593" y="0"/>
                  </a:lnTo>
                  <a:lnTo>
                    <a:pt x="1772285" y="0"/>
                  </a:lnTo>
                  <a:lnTo>
                    <a:pt x="1791616" y="3901"/>
                  </a:lnTo>
                  <a:lnTo>
                    <a:pt x="1807400" y="14541"/>
                  </a:lnTo>
                  <a:lnTo>
                    <a:pt x="1818040" y="30325"/>
                  </a:lnTo>
                  <a:lnTo>
                    <a:pt x="1821942" y="49657"/>
                  </a:lnTo>
                  <a:lnTo>
                    <a:pt x="1821942" y="248285"/>
                  </a:lnTo>
                  <a:lnTo>
                    <a:pt x="1818040" y="267611"/>
                  </a:lnTo>
                  <a:lnTo>
                    <a:pt x="1807400" y="283395"/>
                  </a:lnTo>
                  <a:lnTo>
                    <a:pt x="1791616" y="294038"/>
                  </a:lnTo>
                  <a:lnTo>
                    <a:pt x="1772285" y="297942"/>
                  </a:lnTo>
                  <a:lnTo>
                    <a:pt x="1061593" y="297942"/>
                  </a:lnTo>
                  <a:lnTo>
                    <a:pt x="1042261" y="294038"/>
                  </a:lnTo>
                  <a:lnTo>
                    <a:pt x="1026477" y="283395"/>
                  </a:lnTo>
                  <a:lnTo>
                    <a:pt x="1015837" y="267611"/>
                  </a:lnTo>
                  <a:lnTo>
                    <a:pt x="1011936" y="248285"/>
                  </a:lnTo>
                  <a:lnTo>
                    <a:pt x="1011936" y="49657"/>
                  </a:lnTo>
                  <a:close/>
                </a:path>
                <a:path w="1822450" h="298450">
                  <a:moveTo>
                    <a:pt x="0" y="90932"/>
                  </a:moveTo>
                  <a:lnTo>
                    <a:pt x="3254" y="74818"/>
                  </a:lnTo>
                  <a:lnTo>
                    <a:pt x="12128" y="61658"/>
                  </a:lnTo>
                  <a:lnTo>
                    <a:pt x="25288" y="52784"/>
                  </a:lnTo>
                  <a:lnTo>
                    <a:pt x="41401" y="49530"/>
                  </a:lnTo>
                  <a:lnTo>
                    <a:pt x="730504" y="49530"/>
                  </a:lnTo>
                  <a:lnTo>
                    <a:pt x="746617" y="52784"/>
                  </a:lnTo>
                  <a:lnTo>
                    <a:pt x="759777" y="61658"/>
                  </a:lnTo>
                  <a:lnTo>
                    <a:pt x="768651" y="74818"/>
                  </a:lnTo>
                  <a:lnTo>
                    <a:pt x="771906" y="90932"/>
                  </a:lnTo>
                  <a:lnTo>
                    <a:pt x="771906" y="256540"/>
                  </a:lnTo>
                  <a:lnTo>
                    <a:pt x="768651" y="272653"/>
                  </a:lnTo>
                  <a:lnTo>
                    <a:pt x="759777" y="285813"/>
                  </a:lnTo>
                  <a:lnTo>
                    <a:pt x="746617" y="294687"/>
                  </a:lnTo>
                  <a:lnTo>
                    <a:pt x="730504" y="297942"/>
                  </a:lnTo>
                  <a:lnTo>
                    <a:pt x="41401" y="297942"/>
                  </a:lnTo>
                  <a:lnTo>
                    <a:pt x="25288" y="294687"/>
                  </a:lnTo>
                  <a:lnTo>
                    <a:pt x="12128" y="285813"/>
                  </a:lnTo>
                  <a:lnTo>
                    <a:pt x="3254" y="272653"/>
                  </a:lnTo>
                  <a:lnTo>
                    <a:pt x="0" y="256540"/>
                  </a:lnTo>
                  <a:lnTo>
                    <a:pt x="0" y="90932"/>
                  </a:lnTo>
                  <a:close/>
                </a:path>
              </a:pathLst>
            </a:custGeom>
            <a:ln w="31750">
              <a:solidFill>
                <a:srgbClr val="FF000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6148578" y="5455158"/>
              <a:ext cx="203835" cy="114300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5755386" y="5120640"/>
              <a:ext cx="114300" cy="230759"/>
            </a:xfrm>
            <a:prstGeom prst="rect">
              <a:avLst/>
            </a:prstGeom>
          </p:spPr>
        </p:pic>
      </p:grpSp>
      <p:sp>
        <p:nvSpPr>
          <p:cNvPr id="43" name="object 30">
            <a:extLst>
              <a:ext uri="{FF2B5EF4-FFF2-40B4-BE49-F238E27FC236}">
                <a16:creationId xmlns:a16="http://schemas.microsoft.com/office/drawing/2014/main" id="{8B762FB6-60FF-8A47-895D-1B6C0716F8DF}"/>
              </a:ext>
            </a:extLst>
          </p:cNvPr>
          <p:cNvSpPr txBox="1"/>
          <p:nvPr/>
        </p:nvSpPr>
        <p:spPr>
          <a:xfrm>
            <a:off x="3608832" y="5002289"/>
            <a:ext cx="1670685" cy="314830"/>
          </a:xfrm>
          <a:prstGeom prst="rect">
            <a:avLst/>
          </a:prstGeom>
        </p:spPr>
        <p:txBody>
          <a:bodyPr vert="horz" wrap="square" lIns="0" tIns="37465" rIns="0" bIns="0" rtlCol="0">
            <a:spAutoFit/>
          </a:bodyPr>
          <a:lstStyle/>
          <a:p>
            <a:pPr marL="655955">
              <a:lnSpc>
                <a:spcPct val="100000"/>
              </a:lnSpc>
              <a:spcBef>
                <a:spcPts val="295"/>
              </a:spcBef>
            </a:pPr>
            <a:r>
              <a:rPr sz="1800" dirty="0">
                <a:latin typeface="Cambria Math"/>
                <a:cs typeface="Cambria Math"/>
              </a:rPr>
              <a:t>𝒓𝒆𝒄[</a:t>
            </a:r>
            <a:r>
              <a:rPr sz="1800" spc="-15" dirty="0">
                <a:latin typeface="Cambria Math"/>
                <a:cs typeface="Cambria Math"/>
              </a:rPr>
              <a:t> </a:t>
            </a:r>
            <a:r>
              <a:rPr sz="1800" dirty="0">
                <a:latin typeface="Cambria Math"/>
                <a:cs typeface="Cambria Math"/>
              </a:rPr>
              <a:t>]</a:t>
            </a:r>
            <a:r>
              <a:rPr sz="1800" spc="85" dirty="0">
                <a:latin typeface="Cambria Math"/>
                <a:cs typeface="Cambria Math"/>
              </a:rPr>
              <a:t> </a:t>
            </a:r>
            <a:r>
              <a:rPr sz="1800" dirty="0">
                <a:latin typeface="Cambria Math"/>
                <a:cs typeface="Cambria Math"/>
              </a:rPr>
              <a:t>=</a:t>
            </a:r>
            <a:r>
              <a:rPr sz="1800" spc="110" dirty="0">
                <a:latin typeface="Cambria Math"/>
                <a:cs typeface="Cambria Math"/>
              </a:rPr>
              <a:t> </a:t>
            </a:r>
            <a:r>
              <a:rPr lang="en-US" altLang="zh-CN" sz="1800" spc="-50" dirty="0">
                <a:latin typeface="Cambria Math"/>
                <a:cs typeface="Cambria Math"/>
              </a:rPr>
              <a:t>U</a:t>
            </a:r>
            <a:endParaRPr sz="1800" dirty="0">
              <a:latin typeface="Cambria Math"/>
              <a:cs typeface="Cambria Math"/>
            </a:endParaRP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33743" y="1023429"/>
            <a:ext cx="3571240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 dirty="0" err="1">
                <a:latin typeface="PMingLiU"/>
                <a:cs typeface="PMingLiU"/>
              </a:rPr>
              <a:t>输出最长公共子序列</a:t>
            </a:r>
            <a:endParaRPr sz="2800" dirty="0">
              <a:latin typeface="PMingLiU"/>
              <a:cs typeface="PMingLiU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2335022" y="209041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912239" y="209041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1032763" y="2001011"/>
            <a:ext cx="130873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60045" indent="-347980">
              <a:lnSpc>
                <a:spcPct val="100000"/>
              </a:lnSpc>
              <a:spcBef>
                <a:spcPts val="100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360045" algn="l"/>
                <a:tab pos="360680" algn="l"/>
              </a:tabLst>
            </a:pPr>
            <a:r>
              <a:rPr sz="2400">
                <a:latin typeface="Cambria Math"/>
                <a:cs typeface="Cambria Math"/>
              </a:rPr>
              <a:t>𝒓𝒆𝒄</a:t>
            </a:r>
            <a:r>
              <a:rPr sz="2400" spc="310">
                <a:latin typeface="Cambria Math"/>
                <a:cs typeface="Cambria Math"/>
              </a:rPr>
              <a:t> </a:t>
            </a:r>
            <a:r>
              <a:rPr sz="2400" spc="-10">
                <a:latin typeface="Cambria Math"/>
                <a:cs typeface="Cambria Math"/>
              </a:rPr>
              <a:t>𝒊,</a:t>
            </a:r>
            <a:r>
              <a:rPr sz="2400" spc="-135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𝒋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4649216" y="169163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4226433" y="169163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6884161" y="169163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370957" y="169163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3015742" y="1602485"/>
            <a:ext cx="452755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621665" algn="l"/>
                <a:tab pos="1818005" algn="l"/>
                <a:tab pos="4036695" algn="l"/>
              </a:tabLst>
            </a:pPr>
            <a:r>
              <a:rPr sz="2400" spc="-25">
                <a:solidFill>
                  <a:srgbClr val="FF0000"/>
                </a:solidFill>
                <a:latin typeface="Cambria Math"/>
                <a:cs typeface="Cambria Math"/>
              </a:rPr>
              <a:t>𝑳𝑼,</a:t>
            </a:r>
            <a:r>
              <a:rPr sz="2400">
                <a:solidFill>
                  <a:srgbClr val="FF0000"/>
                </a:solidFill>
                <a:latin typeface="Cambria Math"/>
                <a:cs typeface="Cambria Math"/>
              </a:rPr>
              <a:t>	𝒊𝒇</a:t>
            </a:r>
            <a:r>
              <a:rPr sz="2400" spc="-5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400" b="1" i="1">
                <a:solidFill>
                  <a:srgbClr val="FF0000"/>
                </a:solidFill>
                <a:latin typeface="Times New Roman"/>
                <a:cs typeface="Times New Roman"/>
              </a:rPr>
              <a:t>C</a:t>
            </a:r>
            <a:r>
              <a:rPr sz="2400" b="1" i="1" spc="245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2400" spc="-10">
                <a:solidFill>
                  <a:srgbClr val="FF0000"/>
                </a:solidFill>
                <a:latin typeface="Cambria Math"/>
                <a:cs typeface="Cambria Math"/>
              </a:rPr>
              <a:t>𝒊,</a:t>
            </a:r>
            <a:r>
              <a:rPr sz="2400" spc="-135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400" spc="-50">
                <a:solidFill>
                  <a:srgbClr val="FF0000"/>
                </a:solidFill>
                <a:latin typeface="Cambria Math"/>
                <a:cs typeface="Cambria Math"/>
              </a:rPr>
              <a:t>𝒋</a:t>
            </a:r>
            <a:r>
              <a:rPr sz="2400">
                <a:solidFill>
                  <a:srgbClr val="FF0000"/>
                </a:solidFill>
                <a:latin typeface="Cambria Math"/>
                <a:cs typeface="Cambria Math"/>
              </a:rPr>
              <a:t>	=</a:t>
            </a:r>
            <a:r>
              <a:rPr sz="2400" spc="130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400">
                <a:solidFill>
                  <a:srgbClr val="FF0000"/>
                </a:solidFill>
                <a:latin typeface="Cambria Math"/>
                <a:cs typeface="Cambria Math"/>
              </a:rPr>
              <a:t>𝑪</a:t>
            </a:r>
            <a:r>
              <a:rPr sz="2400" spc="305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400">
                <a:solidFill>
                  <a:srgbClr val="FF0000"/>
                </a:solidFill>
                <a:latin typeface="Cambria Math"/>
                <a:cs typeface="Cambria Math"/>
              </a:rPr>
              <a:t>𝒊</a:t>
            </a:r>
            <a:r>
              <a:rPr sz="2400" spc="-5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400">
                <a:solidFill>
                  <a:srgbClr val="FF0000"/>
                </a:solidFill>
                <a:latin typeface="Cambria Math"/>
                <a:cs typeface="Cambria Math"/>
              </a:rPr>
              <a:t>− 𝟏,</a:t>
            </a:r>
            <a:r>
              <a:rPr sz="2400" spc="-135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400">
                <a:solidFill>
                  <a:srgbClr val="FF0000"/>
                </a:solidFill>
                <a:latin typeface="Cambria Math"/>
                <a:cs typeface="Cambria Math"/>
              </a:rPr>
              <a:t>𝒋</a:t>
            </a:r>
            <a:r>
              <a:rPr sz="2400" spc="5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400">
                <a:solidFill>
                  <a:srgbClr val="FF0000"/>
                </a:solidFill>
                <a:latin typeface="Cambria Math"/>
                <a:cs typeface="Cambria Math"/>
              </a:rPr>
              <a:t>− </a:t>
            </a:r>
            <a:r>
              <a:rPr sz="2400" spc="-50">
                <a:solidFill>
                  <a:srgbClr val="FF0000"/>
                </a:solidFill>
                <a:latin typeface="Cambria Math"/>
                <a:cs typeface="Cambria Math"/>
              </a:rPr>
              <a:t>𝟏</a:t>
            </a:r>
            <a:r>
              <a:rPr sz="2400">
                <a:solidFill>
                  <a:srgbClr val="FF0000"/>
                </a:solidFill>
                <a:latin typeface="Cambria Math"/>
                <a:cs typeface="Cambria Math"/>
              </a:rPr>
              <a:t>	+ </a:t>
            </a:r>
            <a:r>
              <a:rPr sz="2400" spc="-50">
                <a:solidFill>
                  <a:srgbClr val="FF0000"/>
                </a:solidFill>
                <a:latin typeface="Cambria Math"/>
                <a:cs typeface="Cambria Math"/>
              </a:rPr>
              <a:t>𝟏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4841240" y="208406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418457" y="208406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6530594" y="208406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562981" y="208406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4843526" y="2476499"/>
            <a:ext cx="66675" cy="284480"/>
          </a:xfrm>
          <a:custGeom>
            <a:avLst/>
            <a:gdLst/>
            <a:ahLst/>
            <a:cxnLst/>
            <a:rect l="l" t="t" r="r" b="b"/>
            <a:pathLst>
              <a:path w="66675" h="28448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3050"/>
                </a:lnTo>
                <a:lnTo>
                  <a:pt x="0" y="273050"/>
                </a:lnTo>
                <a:lnTo>
                  <a:pt x="0" y="284480"/>
                </a:lnTo>
                <a:lnTo>
                  <a:pt x="66421" y="284480"/>
                </a:lnTo>
                <a:lnTo>
                  <a:pt x="66421" y="27305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4420743" y="2476499"/>
            <a:ext cx="66675" cy="284480"/>
          </a:xfrm>
          <a:custGeom>
            <a:avLst/>
            <a:gdLst/>
            <a:ahLst/>
            <a:cxnLst/>
            <a:rect l="l" t="t" r="r" b="b"/>
            <a:pathLst>
              <a:path w="66675" h="28448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3050"/>
                </a:lnTo>
                <a:lnTo>
                  <a:pt x="0" y="284480"/>
                </a:lnTo>
                <a:lnTo>
                  <a:pt x="66421" y="284480"/>
                </a:lnTo>
                <a:lnTo>
                  <a:pt x="66421" y="273050"/>
                </a:lnTo>
                <a:lnTo>
                  <a:pt x="24765" y="27305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6532880" y="2476499"/>
            <a:ext cx="66675" cy="284480"/>
          </a:xfrm>
          <a:custGeom>
            <a:avLst/>
            <a:gdLst/>
            <a:ahLst/>
            <a:cxnLst/>
            <a:rect l="l" t="t" r="r" b="b"/>
            <a:pathLst>
              <a:path w="66675" h="28448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3050"/>
                </a:lnTo>
                <a:lnTo>
                  <a:pt x="0" y="273050"/>
                </a:lnTo>
                <a:lnTo>
                  <a:pt x="0" y="284480"/>
                </a:lnTo>
                <a:lnTo>
                  <a:pt x="66421" y="284480"/>
                </a:lnTo>
                <a:lnTo>
                  <a:pt x="66421" y="27305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565267" y="2476499"/>
            <a:ext cx="66675" cy="284480"/>
          </a:xfrm>
          <a:custGeom>
            <a:avLst/>
            <a:gdLst/>
            <a:ahLst/>
            <a:cxnLst/>
            <a:rect l="l" t="t" r="r" b="b"/>
            <a:pathLst>
              <a:path w="66675" h="28448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3050"/>
                </a:lnTo>
                <a:lnTo>
                  <a:pt x="0" y="284480"/>
                </a:lnTo>
                <a:lnTo>
                  <a:pt x="66421" y="284480"/>
                </a:lnTo>
                <a:lnTo>
                  <a:pt x="66421" y="273050"/>
                </a:lnTo>
                <a:lnTo>
                  <a:pt x="24765" y="27305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 txBox="1"/>
          <p:nvPr/>
        </p:nvSpPr>
        <p:spPr>
          <a:xfrm>
            <a:off x="2507488" y="1981199"/>
            <a:ext cx="4032885" cy="798195"/>
          </a:xfrm>
          <a:prstGeom prst="rect">
            <a:avLst/>
          </a:prstGeom>
        </p:spPr>
        <p:txBody>
          <a:bodyPr vert="horz" wrap="square" lIns="0" tIns="33020" rIns="0" bIns="0" rtlCol="0">
            <a:spAutoFit/>
          </a:bodyPr>
          <a:lstStyle/>
          <a:p>
            <a:pPr marR="7620" algn="r">
              <a:lnSpc>
                <a:spcPct val="100000"/>
              </a:lnSpc>
              <a:spcBef>
                <a:spcPts val="260"/>
              </a:spcBef>
              <a:tabLst>
                <a:tab pos="739775" algn="l"/>
                <a:tab pos="1310005" algn="l"/>
                <a:tab pos="2505710" algn="l"/>
              </a:tabLst>
            </a:pPr>
            <a:r>
              <a:rPr sz="2400" dirty="0">
                <a:latin typeface="Cambria Math"/>
                <a:cs typeface="Cambria Math"/>
              </a:rPr>
              <a:t>=	</a:t>
            </a:r>
            <a:r>
              <a:rPr sz="3600" spc="-37" baseline="1157" dirty="0">
                <a:latin typeface="Cambria Math"/>
                <a:cs typeface="Cambria Math"/>
              </a:rPr>
              <a:t>𝑼,</a:t>
            </a:r>
            <a:r>
              <a:rPr sz="3600" baseline="1157" dirty="0">
                <a:latin typeface="Cambria Math"/>
                <a:cs typeface="Cambria Math"/>
              </a:rPr>
              <a:t>	𝒊𝒇</a:t>
            </a:r>
            <a:r>
              <a:rPr sz="3600" spc="-30" baseline="1157" dirty="0">
                <a:latin typeface="Cambria Math"/>
                <a:cs typeface="Cambria Math"/>
              </a:rPr>
              <a:t> </a:t>
            </a:r>
            <a:r>
              <a:rPr sz="3600" b="1" i="1" baseline="1157" dirty="0">
                <a:latin typeface="Times New Roman"/>
                <a:cs typeface="Times New Roman"/>
              </a:rPr>
              <a:t>C</a:t>
            </a:r>
            <a:r>
              <a:rPr sz="3600" b="1" i="1" spc="367" baseline="1157" dirty="0">
                <a:latin typeface="Times New Roman"/>
                <a:cs typeface="Times New Roman"/>
              </a:rPr>
              <a:t> </a:t>
            </a:r>
            <a:r>
              <a:rPr sz="3600" spc="-15" baseline="1157" dirty="0">
                <a:latin typeface="Cambria Math"/>
                <a:cs typeface="Cambria Math"/>
              </a:rPr>
              <a:t>𝒊,</a:t>
            </a:r>
            <a:r>
              <a:rPr sz="3600" spc="-202" baseline="1157" dirty="0">
                <a:latin typeface="Cambria Math"/>
                <a:cs typeface="Cambria Math"/>
              </a:rPr>
              <a:t> </a:t>
            </a:r>
            <a:r>
              <a:rPr sz="3600" spc="-75" baseline="1157" dirty="0">
                <a:latin typeface="Cambria Math"/>
                <a:cs typeface="Cambria Math"/>
              </a:rPr>
              <a:t>𝒋</a:t>
            </a:r>
            <a:r>
              <a:rPr sz="3600" baseline="1157" dirty="0">
                <a:latin typeface="Cambria Math"/>
                <a:cs typeface="Cambria Math"/>
              </a:rPr>
              <a:t>	=</a:t>
            </a:r>
            <a:r>
              <a:rPr sz="3600" spc="179" baseline="1157" dirty="0">
                <a:latin typeface="Cambria Math"/>
                <a:cs typeface="Cambria Math"/>
              </a:rPr>
              <a:t> </a:t>
            </a:r>
            <a:r>
              <a:rPr sz="3600" baseline="1157" dirty="0">
                <a:latin typeface="Cambria Math"/>
                <a:cs typeface="Cambria Math"/>
              </a:rPr>
              <a:t>𝑪</a:t>
            </a:r>
            <a:r>
              <a:rPr sz="3600" spc="465" baseline="1157" dirty="0">
                <a:latin typeface="Cambria Math"/>
                <a:cs typeface="Cambria Math"/>
              </a:rPr>
              <a:t> </a:t>
            </a:r>
            <a:r>
              <a:rPr sz="3600" baseline="1157" dirty="0">
                <a:latin typeface="Cambria Math"/>
                <a:cs typeface="Cambria Math"/>
              </a:rPr>
              <a:t>𝒊 − </a:t>
            </a:r>
            <a:r>
              <a:rPr sz="3600" spc="-15" baseline="1157" dirty="0">
                <a:latin typeface="Cambria Math"/>
                <a:cs typeface="Cambria Math"/>
              </a:rPr>
              <a:t>𝟏,</a:t>
            </a:r>
            <a:r>
              <a:rPr sz="3600" spc="-195" baseline="1157" dirty="0">
                <a:latin typeface="Cambria Math"/>
                <a:cs typeface="Cambria Math"/>
              </a:rPr>
              <a:t> </a:t>
            </a:r>
            <a:r>
              <a:rPr sz="3600" spc="-75" baseline="1157" dirty="0">
                <a:latin typeface="Cambria Math"/>
                <a:cs typeface="Cambria Math"/>
              </a:rPr>
              <a:t>𝒋</a:t>
            </a:r>
            <a:endParaRPr sz="3600" baseline="1157" dirty="0">
              <a:latin typeface="Cambria Math"/>
              <a:cs typeface="Cambria Math"/>
            </a:endParaRPr>
          </a:p>
          <a:p>
            <a:pPr marR="5080" algn="r">
              <a:lnSpc>
                <a:spcPct val="100000"/>
              </a:lnSpc>
              <a:spcBef>
                <a:spcPts val="165"/>
              </a:spcBef>
              <a:tabLst>
                <a:tab pos="588010" algn="l"/>
                <a:tab pos="1770380" algn="l"/>
              </a:tabLst>
            </a:pPr>
            <a:r>
              <a:rPr sz="2400" spc="-25" dirty="0">
                <a:latin typeface="Cambria Math"/>
                <a:cs typeface="Cambria Math"/>
              </a:rPr>
              <a:t>𝑳,</a:t>
            </a:r>
            <a:r>
              <a:rPr sz="2400" dirty="0">
                <a:latin typeface="Cambria Math"/>
                <a:cs typeface="Cambria Math"/>
              </a:rPr>
              <a:t>	𝒊𝒇</a:t>
            </a:r>
            <a:r>
              <a:rPr sz="2400" spc="-1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𝑪</a:t>
            </a:r>
            <a:r>
              <a:rPr sz="2400" spc="305" dirty="0">
                <a:latin typeface="Cambria Math"/>
                <a:cs typeface="Cambria Math"/>
              </a:rPr>
              <a:t> </a:t>
            </a:r>
            <a:r>
              <a:rPr sz="2400" spc="-10" dirty="0">
                <a:latin typeface="Cambria Math"/>
                <a:cs typeface="Cambria Math"/>
              </a:rPr>
              <a:t>𝒊,</a:t>
            </a:r>
            <a:r>
              <a:rPr sz="2400" spc="-135" dirty="0">
                <a:latin typeface="Cambria Math"/>
                <a:cs typeface="Cambria Math"/>
              </a:rPr>
              <a:t> </a:t>
            </a:r>
            <a:r>
              <a:rPr sz="2400" spc="-50" dirty="0">
                <a:latin typeface="Cambria Math"/>
                <a:cs typeface="Cambria Math"/>
              </a:rPr>
              <a:t>𝒋</a:t>
            </a:r>
            <a:r>
              <a:rPr sz="2400" dirty="0">
                <a:latin typeface="Cambria Math"/>
                <a:cs typeface="Cambria Math"/>
              </a:rPr>
              <a:t>	=</a:t>
            </a:r>
            <a:r>
              <a:rPr sz="2400" spc="13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𝑪</a:t>
            </a:r>
            <a:r>
              <a:rPr sz="2400" spc="310" dirty="0">
                <a:latin typeface="Cambria Math"/>
                <a:cs typeface="Cambria Math"/>
              </a:rPr>
              <a:t> </a:t>
            </a:r>
            <a:r>
              <a:rPr sz="2400" spc="-10" dirty="0">
                <a:latin typeface="Cambria Math"/>
                <a:cs typeface="Cambria Math"/>
              </a:rPr>
              <a:t>𝒊,</a:t>
            </a:r>
            <a:r>
              <a:rPr sz="2400" spc="-14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𝒋</a:t>
            </a:r>
            <a:r>
              <a:rPr sz="2400" spc="1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−</a:t>
            </a:r>
            <a:r>
              <a:rPr sz="2400" spc="5" dirty="0">
                <a:latin typeface="Cambria Math"/>
                <a:cs typeface="Cambria Math"/>
              </a:rPr>
              <a:t> </a:t>
            </a:r>
            <a:r>
              <a:rPr sz="2400" spc="-50" dirty="0">
                <a:latin typeface="Cambria Math"/>
                <a:cs typeface="Cambria Math"/>
              </a:rPr>
              <a:t>𝟏</a:t>
            </a:r>
            <a:endParaRPr sz="2400" dirty="0">
              <a:latin typeface="Cambria Math"/>
              <a:cs typeface="Cambria Math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4877816" y="6076950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4685919" y="6076950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 txBox="1"/>
          <p:nvPr/>
        </p:nvSpPr>
        <p:spPr>
          <a:xfrm>
            <a:off x="1032763" y="5988303"/>
            <a:ext cx="385254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60045" indent="-347980">
              <a:lnSpc>
                <a:spcPct val="100000"/>
              </a:lnSpc>
              <a:spcBef>
                <a:spcPts val="100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360045" algn="l"/>
                <a:tab pos="360680" algn="l"/>
              </a:tabLst>
            </a:pPr>
            <a:r>
              <a:rPr sz="2400">
                <a:latin typeface="PMingLiU"/>
                <a:cs typeface="PMingLiU"/>
              </a:rPr>
              <a:t>最长公共子序列末尾为</a:t>
            </a:r>
            <a:r>
              <a:rPr sz="2400">
                <a:latin typeface="Cambria Math"/>
                <a:cs typeface="Cambria Math"/>
              </a:rPr>
              <a:t>𝑿</a:t>
            </a:r>
            <a:r>
              <a:rPr sz="2400" spc="305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𝒊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5050282" y="5655955"/>
            <a:ext cx="1670685" cy="723900"/>
          </a:xfrm>
          <a:prstGeom prst="rect">
            <a:avLst/>
          </a:prstGeom>
        </p:spPr>
        <p:txBody>
          <a:bodyPr vert="horz" wrap="square" lIns="0" tIns="37465" rIns="0" bIns="0" rtlCol="0">
            <a:spAutoFit/>
          </a:bodyPr>
          <a:lstStyle/>
          <a:p>
            <a:pPr marL="655955">
              <a:lnSpc>
                <a:spcPct val="100000"/>
              </a:lnSpc>
              <a:spcBef>
                <a:spcPts val="295"/>
              </a:spcBef>
            </a:pPr>
            <a:r>
              <a:rPr sz="1800" dirty="0">
                <a:latin typeface="Cambria Math"/>
                <a:cs typeface="Cambria Math"/>
              </a:rPr>
              <a:t>𝒓𝒆𝒄[</a:t>
            </a:r>
            <a:r>
              <a:rPr sz="1800" spc="-15" dirty="0">
                <a:latin typeface="Cambria Math"/>
                <a:cs typeface="Cambria Math"/>
              </a:rPr>
              <a:t> </a:t>
            </a:r>
            <a:r>
              <a:rPr sz="1800" dirty="0">
                <a:latin typeface="Cambria Math"/>
                <a:cs typeface="Cambria Math"/>
              </a:rPr>
              <a:t>]</a:t>
            </a:r>
            <a:r>
              <a:rPr sz="1800" spc="85" dirty="0">
                <a:latin typeface="Cambria Math"/>
                <a:cs typeface="Cambria Math"/>
              </a:rPr>
              <a:t> </a:t>
            </a:r>
            <a:r>
              <a:rPr sz="1800" dirty="0">
                <a:latin typeface="Cambria Math"/>
                <a:cs typeface="Cambria Math"/>
              </a:rPr>
              <a:t>=</a:t>
            </a:r>
            <a:r>
              <a:rPr sz="1800" spc="110" dirty="0">
                <a:latin typeface="Cambria Math"/>
                <a:cs typeface="Cambria Math"/>
              </a:rPr>
              <a:t> </a:t>
            </a:r>
            <a:r>
              <a:rPr sz="1800" spc="-50" dirty="0">
                <a:latin typeface="Cambria Math"/>
                <a:cs typeface="Cambria Math"/>
              </a:rPr>
              <a:t>𝑳</a:t>
            </a:r>
            <a:endParaRPr sz="1800" dirty="0">
              <a:latin typeface="Cambria Math"/>
              <a:cs typeface="Cambria Math"/>
            </a:endParaRPr>
          </a:p>
          <a:p>
            <a:pPr marL="12700">
              <a:lnSpc>
                <a:spcPct val="100000"/>
              </a:lnSpc>
              <a:spcBef>
                <a:spcPts val="260"/>
              </a:spcBef>
            </a:pPr>
            <a:r>
              <a:rPr sz="2400" dirty="0">
                <a:latin typeface="Cambria Math"/>
                <a:cs typeface="Cambria Math"/>
              </a:rPr>
              <a:t>=</a:t>
            </a:r>
            <a:r>
              <a:rPr sz="2400" spc="130" dirty="0">
                <a:latin typeface="Cambria Math"/>
                <a:cs typeface="Cambria Math"/>
              </a:rPr>
              <a:t> </a:t>
            </a:r>
            <a:r>
              <a:rPr sz="2400" spc="-20" dirty="0">
                <a:latin typeface="Cambria Math"/>
                <a:cs typeface="Cambria Math"/>
              </a:rPr>
              <a:t>𝒀[𝒋]</a:t>
            </a:r>
            <a:endParaRPr sz="2400" dirty="0">
              <a:latin typeface="Cambria Math"/>
              <a:cs typeface="Cambria Math"/>
            </a:endParaRPr>
          </a:p>
        </p:txBody>
      </p:sp>
      <p:graphicFrame>
        <p:nvGraphicFramePr>
          <p:cNvPr id="31" name="object 3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6452312"/>
              </p:ext>
            </p:extLst>
          </p:nvPr>
        </p:nvGraphicFramePr>
        <p:xfrm>
          <a:off x="1285591" y="2957327"/>
          <a:ext cx="5923279" cy="261365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880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2966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65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35609">
                <a:tc>
                  <a:txBody>
                    <a:bodyPr/>
                    <a:lstStyle/>
                    <a:p>
                      <a:pPr marR="4635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𝑪[𝒊,</a:t>
                      </a:r>
                      <a:r>
                        <a:rPr sz="1700" spc="-9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𝒋]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9939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99390" marR="17653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𝟏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99390" marR="1206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𝟐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b="1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…</a:t>
                      </a:r>
                      <a:endParaRPr sz="1700">
                        <a:latin typeface="Arial"/>
                        <a:cs typeface="Arial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6383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𝒎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0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latin typeface="Cambria Math"/>
                          <a:cs typeface="Cambria Math"/>
                        </a:rPr>
                        <a:t>𝟎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2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76530"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latin typeface="Cambria Math"/>
                          <a:cs typeface="Cambria Math"/>
                        </a:rPr>
                        <a:t>𝟏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76530"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latin typeface="Cambria Math"/>
                          <a:cs typeface="Cambria Math"/>
                        </a:rPr>
                        <a:t>𝟐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76530"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sz="1800" dirty="0">
                          <a:latin typeface="Cambria Math"/>
                          <a:cs typeface="Cambria Math"/>
                        </a:rPr>
                        <a:t>𝒓𝒆𝒄[</a:t>
                      </a:r>
                      <a:r>
                        <a:rPr sz="1800" spc="-10" dirty="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dirty="0">
                          <a:latin typeface="Cambria Math"/>
                          <a:cs typeface="Cambria Math"/>
                        </a:rPr>
                        <a:t>]</a:t>
                      </a:r>
                      <a:r>
                        <a:rPr sz="1800" spc="95" dirty="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 dirty="0">
                          <a:latin typeface="Cambria Math"/>
                          <a:cs typeface="Cambria Math"/>
                        </a:rPr>
                        <a:t>=</a:t>
                      </a:r>
                      <a:endParaRPr sz="1800" dirty="0">
                        <a:latin typeface="Cambria Math"/>
                        <a:cs typeface="Cambria Math"/>
                      </a:endParaRPr>
                    </a:p>
                  </a:txBody>
                  <a:tcPr marL="0" marR="0" marT="7112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𝑳𝑼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7112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72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76530"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7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60">
                          <a:latin typeface="Cambria Math"/>
                          <a:cs typeface="Cambria Math"/>
                        </a:rPr>
                        <a:t>𝒏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1325"/>
                        </a:lnSpc>
                      </a:pPr>
                      <a:endParaRPr sz="1800" dirty="0">
                        <a:latin typeface="Cambria Math"/>
                        <a:cs typeface="Cambria Math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73990">
                        <a:lnSpc>
                          <a:spcPts val="1325"/>
                        </a:lnSpc>
                      </a:pPr>
                      <a:endParaRPr sz="1800" dirty="0">
                        <a:latin typeface="Cambria Math"/>
                        <a:cs typeface="Cambria Math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32" name="object 32"/>
          <p:cNvSpPr/>
          <p:nvPr/>
        </p:nvSpPr>
        <p:spPr>
          <a:xfrm>
            <a:off x="9670160" y="1018413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 txBox="1"/>
          <p:nvPr/>
        </p:nvSpPr>
        <p:spPr>
          <a:xfrm>
            <a:off x="9899650" y="1314449"/>
            <a:ext cx="1397000" cy="3003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20">
                <a:solidFill>
                  <a:srgbClr val="FFFFFF"/>
                </a:solidFill>
                <a:latin typeface="PMingLiU"/>
                <a:cs typeface="PMingLiU"/>
              </a:rPr>
              <a:t>问题结构分析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34" name="object 34"/>
          <p:cNvSpPr/>
          <p:nvPr/>
        </p:nvSpPr>
        <p:spPr>
          <a:xfrm>
            <a:off x="10378440" y="2052827"/>
            <a:ext cx="439420" cy="367030"/>
          </a:xfrm>
          <a:custGeom>
            <a:avLst/>
            <a:gdLst/>
            <a:ahLst/>
            <a:cxnLst/>
            <a:rect l="l" t="t" r="r" b="b"/>
            <a:pathLst>
              <a:path w="439420" h="367030">
                <a:moveTo>
                  <a:pt x="351154" y="0"/>
                </a:moveTo>
                <a:lnTo>
                  <a:pt x="87756" y="0"/>
                </a:lnTo>
                <a:lnTo>
                  <a:pt x="87756" y="183261"/>
                </a:lnTo>
                <a:lnTo>
                  <a:pt x="0" y="183261"/>
                </a:lnTo>
                <a:lnTo>
                  <a:pt x="219455" y="366522"/>
                </a:lnTo>
                <a:lnTo>
                  <a:pt x="438911" y="183261"/>
                </a:lnTo>
                <a:lnTo>
                  <a:pt x="351154" y="183261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9670160" y="2480691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 txBox="1"/>
          <p:nvPr/>
        </p:nvSpPr>
        <p:spPr>
          <a:xfrm>
            <a:off x="9899650" y="2776982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递推关系建立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37" name="object 37"/>
          <p:cNvSpPr/>
          <p:nvPr/>
        </p:nvSpPr>
        <p:spPr>
          <a:xfrm>
            <a:off x="10378440" y="3515105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9"/>
                </a:lnTo>
                <a:lnTo>
                  <a:pt x="0" y="182499"/>
                </a:lnTo>
                <a:lnTo>
                  <a:pt x="219455" y="364998"/>
                </a:lnTo>
                <a:lnTo>
                  <a:pt x="438911" y="182499"/>
                </a:lnTo>
                <a:lnTo>
                  <a:pt x="351154" y="182499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9670160" y="3941445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8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8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 txBox="1"/>
          <p:nvPr/>
        </p:nvSpPr>
        <p:spPr>
          <a:xfrm>
            <a:off x="9899650" y="4237735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自底向上计算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40" name="object 40"/>
          <p:cNvSpPr/>
          <p:nvPr/>
        </p:nvSpPr>
        <p:spPr>
          <a:xfrm>
            <a:off x="10378440" y="4975859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8"/>
                </a:lnTo>
                <a:lnTo>
                  <a:pt x="0" y="182498"/>
                </a:lnTo>
                <a:lnTo>
                  <a:pt x="219455" y="364997"/>
                </a:lnTo>
                <a:lnTo>
                  <a:pt x="438911" y="182498"/>
                </a:lnTo>
                <a:lnTo>
                  <a:pt x="351154" y="182498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9670160" y="5402198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52"/>
                </a:lnTo>
                <a:lnTo>
                  <a:pt x="7647" y="914358"/>
                </a:lnTo>
                <a:lnTo>
                  <a:pt x="28511" y="945313"/>
                </a:lnTo>
                <a:lnTo>
                  <a:pt x="59471" y="966183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3"/>
                </a:lnTo>
                <a:lnTo>
                  <a:pt x="1827720" y="945313"/>
                </a:lnTo>
                <a:lnTo>
                  <a:pt x="1848584" y="914358"/>
                </a:lnTo>
                <a:lnTo>
                  <a:pt x="1856232" y="876452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83C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 txBox="1"/>
          <p:nvPr/>
        </p:nvSpPr>
        <p:spPr>
          <a:xfrm>
            <a:off x="9899650" y="5698744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最优方案追踪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46" name="左大括号 45">
            <a:extLst>
              <a:ext uri="{FF2B5EF4-FFF2-40B4-BE49-F238E27FC236}">
                <a16:creationId xmlns:a16="http://schemas.microsoft.com/office/drawing/2014/main" id="{2D55054A-D378-074F-815E-3B988A23FEB1}"/>
              </a:ext>
            </a:extLst>
          </p:cNvPr>
          <p:cNvSpPr/>
          <p:nvPr/>
        </p:nvSpPr>
        <p:spPr>
          <a:xfrm>
            <a:off x="2808154" y="1715134"/>
            <a:ext cx="190005" cy="962914"/>
          </a:xfrm>
          <a:prstGeom prst="leftBrac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  <p:grpSp>
        <p:nvGrpSpPr>
          <p:cNvPr id="24" name="object 24"/>
          <p:cNvGrpSpPr/>
          <p:nvPr/>
        </p:nvGrpSpPr>
        <p:grpSpPr>
          <a:xfrm>
            <a:off x="5386724" y="4782501"/>
            <a:ext cx="1854200" cy="751840"/>
            <a:chOff x="5351653" y="4890642"/>
            <a:chExt cx="1854200" cy="751840"/>
          </a:xfrm>
        </p:grpSpPr>
        <p:sp>
          <p:nvSpPr>
            <p:cNvPr id="25" name="object 25"/>
            <p:cNvSpPr/>
            <p:nvPr/>
          </p:nvSpPr>
          <p:spPr>
            <a:xfrm>
              <a:off x="5367528" y="5328665"/>
              <a:ext cx="1822450" cy="298450"/>
            </a:xfrm>
            <a:custGeom>
              <a:avLst/>
              <a:gdLst/>
              <a:ahLst/>
              <a:cxnLst/>
              <a:rect l="l" t="t" r="r" b="b"/>
              <a:pathLst>
                <a:path w="1822450" h="298450">
                  <a:moveTo>
                    <a:pt x="1011936" y="49657"/>
                  </a:moveTo>
                  <a:lnTo>
                    <a:pt x="1015837" y="30325"/>
                  </a:lnTo>
                  <a:lnTo>
                    <a:pt x="1026477" y="14541"/>
                  </a:lnTo>
                  <a:lnTo>
                    <a:pt x="1042261" y="3901"/>
                  </a:lnTo>
                  <a:lnTo>
                    <a:pt x="1061593" y="0"/>
                  </a:lnTo>
                  <a:lnTo>
                    <a:pt x="1772285" y="0"/>
                  </a:lnTo>
                  <a:lnTo>
                    <a:pt x="1791616" y="3901"/>
                  </a:lnTo>
                  <a:lnTo>
                    <a:pt x="1807400" y="14541"/>
                  </a:lnTo>
                  <a:lnTo>
                    <a:pt x="1818040" y="30325"/>
                  </a:lnTo>
                  <a:lnTo>
                    <a:pt x="1821942" y="49657"/>
                  </a:lnTo>
                  <a:lnTo>
                    <a:pt x="1821942" y="248285"/>
                  </a:lnTo>
                  <a:lnTo>
                    <a:pt x="1818040" y="267611"/>
                  </a:lnTo>
                  <a:lnTo>
                    <a:pt x="1807400" y="283395"/>
                  </a:lnTo>
                  <a:lnTo>
                    <a:pt x="1791616" y="294038"/>
                  </a:lnTo>
                  <a:lnTo>
                    <a:pt x="1772285" y="297942"/>
                  </a:lnTo>
                  <a:lnTo>
                    <a:pt x="1061593" y="297942"/>
                  </a:lnTo>
                  <a:lnTo>
                    <a:pt x="1042261" y="294038"/>
                  </a:lnTo>
                  <a:lnTo>
                    <a:pt x="1026477" y="283395"/>
                  </a:lnTo>
                  <a:lnTo>
                    <a:pt x="1015837" y="267611"/>
                  </a:lnTo>
                  <a:lnTo>
                    <a:pt x="1011936" y="248285"/>
                  </a:lnTo>
                  <a:lnTo>
                    <a:pt x="1011936" y="49657"/>
                  </a:lnTo>
                  <a:close/>
                </a:path>
                <a:path w="1822450" h="298450">
                  <a:moveTo>
                    <a:pt x="0" y="90932"/>
                  </a:moveTo>
                  <a:lnTo>
                    <a:pt x="3254" y="74818"/>
                  </a:lnTo>
                  <a:lnTo>
                    <a:pt x="12128" y="61658"/>
                  </a:lnTo>
                  <a:lnTo>
                    <a:pt x="25288" y="52784"/>
                  </a:lnTo>
                  <a:lnTo>
                    <a:pt x="41401" y="49530"/>
                  </a:lnTo>
                  <a:lnTo>
                    <a:pt x="730504" y="49530"/>
                  </a:lnTo>
                  <a:lnTo>
                    <a:pt x="746617" y="52784"/>
                  </a:lnTo>
                  <a:lnTo>
                    <a:pt x="759777" y="61658"/>
                  </a:lnTo>
                  <a:lnTo>
                    <a:pt x="768651" y="74818"/>
                  </a:lnTo>
                  <a:lnTo>
                    <a:pt x="771906" y="90932"/>
                  </a:lnTo>
                  <a:lnTo>
                    <a:pt x="771906" y="256540"/>
                  </a:lnTo>
                  <a:lnTo>
                    <a:pt x="768651" y="272653"/>
                  </a:lnTo>
                  <a:lnTo>
                    <a:pt x="759777" y="285813"/>
                  </a:lnTo>
                  <a:lnTo>
                    <a:pt x="746617" y="294687"/>
                  </a:lnTo>
                  <a:lnTo>
                    <a:pt x="730504" y="297942"/>
                  </a:lnTo>
                  <a:lnTo>
                    <a:pt x="41401" y="297942"/>
                  </a:lnTo>
                  <a:lnTo>
                    <a:pt x="25288" y="294687"/>
                  </a:lnTo>
                  <a:lnTo>
                    <a:pt x="12128" y="285813"/>
                  </a:lnTo>
                  <a:lnTo>
                    <a:pt x="3254" y="272653"/>
                  </a:lnTo>
                  <a:lnTo>
                    <a:pt x="0" y="256540"/>
                  </a:lnTo>
                  <a:lnTo>
                    <a:pt x="0" y="90932"/>
                  </a:lnTo>
                  <a:close/>
                </a:path>
              </a:pathLst>
            </a:custGeom>
            <a:ln w="31750">
              <a:solidFill>
                <a:srgbClr val="FF000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" name="object 26"/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6148578" y="5455157"/>
              <a:ext cx="203835" cy="114300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5755386" y="5120639"/>
              <a:ext cx="114300" cy="230759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5367528" y="4906517"/>
              <a:ext cx="772160" cy="248920"/>
            </a:xfrm>
            <a:custGeom>
              <a:avLst/>
              <a:gdLst/>
              <a:ahLst/>
              <a:cxnLst/>
              <a:rect l="l" t="t" r="r" b="b"/>
              <a:pathLst>
                <a:path w="772160" h="248920">
                  <a:moveTo>
                    <a:pt x="0" y="41401"/>
                  </a:moveTo>
                  <a:lnTo>
                    <a:pt x="3254" y="25288"/>
                  </a:lnTo>
                  <a:lnTo>
                    <a:pt x="12128" y="12128"/>
                  </a:lnTo>
                  <a:lnTo>
                    <a:pt x="25288" y="3254"/>
                  </a:lnTo>
                  <a:lnTo>
                    <a:pt x="41401" y="0"/>
                  </a:lnTo>
                  <a:lnTo>
                    <a:pt x="730504" y="0"/>
                  </a:lnTo>
                  <a:lnTo>
                    <a:pt x="746617" y="3254"/>
                  </a:lnTo>
                  <a:lnTo>
                    <a:pt x="759777" y="12128"/>
                  </a:lnTo>
                  <a:lnTo>
                    <a:pt x="768651" y="25288"/>
                  </a:lnTo>
                  <a:lnTo>
                    <a:pt x="771906" y="41401"/>
                  </a:lnTo>
                  <a:lnTo>
                    <a:pt x="771906" y="207009"/>
                  </a:lnTo>
                  <a:lnTo>
                    <a:pt x="768651" y="223123"/>
                  </a:lnTo>
                  <a:lnTo>
                    <a:pt x="759777" y="236283"/>
                  </a:lnTo>
                  <a:lnTo>
                    <a:pt x="746617" y="245157"/>
                  </a:lnTo>
                  <a:lnTo>
                    <a:pt x="730504" y="248411"/>
                  </a:lnTo>
                  <a:lnTo>
                    <a:pt x="41401" y="248411"/>
                  </a:lnTo>
                  <a:lnTo>
                    <a:pt x="25288" y="245157"/>
                  </a:lnTo>
                  <a:lnTo>
                    <a:pt x="12128" y="236283"/>
                  </a:lnTo>
                  <a:lnTo>
                    <a:pt x="3254" y="223123"/>
                  </a:lnTo>
                  <a:lnTo>
                    <a:pt x="0" y="207009"/>
                  </a:lnTo>
                  <a:lnTo>
                    <a:pt x="0" y="41401"/>
                  </a:lnTo>
                  <a:close/>
                </a:path>
              </a:pathLst>
            </a:custGeom>
            <a:ln w="31750">
              <a:solidFill>
                <a:srgbClr val="FF000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9" name="object 29"/>
          <p:cNvPicPr/>
          <p:nvPr/>
        </p:nvPicPr>
        <p:blipFill>
          <a:blip r:embed="rId4"/>
          <a:stretch>
            <a:fillRect/>
          </a:stretch>
        </p:blipFill>
        <p:spPr>
          <a:xfrm>
            <a:off x="5180838" y="4656643"/>
            <a:ext cx="190119" cy="166115"/>
          </a:xfrm>
          <a:prstGeom prst="rect">
            <a:avLst/>
          </a:prstGeom>
        </p:spPr>
      </p:pic>
      <p:pic>
        <p:nvPicPr>
          <p:cNvPr id="43" name="object 43"/>
          <p:cNvPicPr/>
          <p:nvPr/>
        </p:nvPicPr>
        <p:blipFill>
          <a:blip r:embed="rId4"/>
          <a:stretch>
            <a:fillRect/>
          </a:stretch>
        </p:blipFill>
        <p:spPr>
          <a:xfrm>
            <a:off x="5180838" y="4632260"/>
            <a:ext cx="190119" cy="166116"/>
          </a:xfrm>
          <a:prstGeom prst="rect">
            <a:avLst/>
          </a:prstGeom>
        </p:spPr>
      </p:pic>
      <p:sp>
        <p:nvSpPr>
          <p:cNvPr id="47" name="object 30">
            <a:extLst>
              <a:ext uri="{FF2B5EF4-FFF2-40B4-BE49-F238E27FC236}">
                <a16:creationId xmlns:a16="http://schemas.microsoft.com/office/drawing/2014/main" id="{D497EBC1-1E17-014B-A125-2C990F2EBD89}"/>
              </a:ext>
            </a:extLst>
          </p:cNvPr>
          <p:cNvSpPr txBox="1"/>
          <p:nvPr/>
        </p:nvSpPr>
        <p:spPr>
          <a:xfrm>
            <a:off x="3608832" y="5002289"/>
            <a:ext cx="1670685" cy="314830"/>
          </a:xfrm>
          <a:prstGeom prst="rect">
            <a:avLst/>
          </a:prstGeom>
        </p:spPr>
        <p:txBody>
          <a:bodyPr vert="horz" wrap="square" lIns="0" tIns="37465" rIns="0" bIns="0" rtlCol="0">
            <a:spAutoFit/>
          </a:bodyPr>
          <a:lstStyle/>
          <a:p>
            <a:pPr marL="655955">
              <a:lnSpc>
                <a:spcPct val="100000"/>
              </a:lnSpc>
              <a:spcBef>
                <a:spcPts val="295"/>
              </a:spcBef>
            </a:pPr>
            <a:r>
              <a:rPr sz="1800" dirty="0">
                <a:latin typeface="Cambria Math"/>
                <a:cs typeface="Cambria Math"/>
              </a:rPr>
              <a:t>𝒓𝒆𝒄[</a:t>
            </a:r>
            <a:r>
              <a:rPr sz="1800" spc="-15" dirty="0">
                <a:latin typeface="Cambria Math"/>
                <a:cs typeface="Cambria Math"/>
              </a:rPr>
              <a:t> </a:t>
            </a:r>
            <a:r>
              <a:rPr sz="1800" dirty="0">
                <a:latin typeface="Cambria Math"/>
                <a:cs typeface="Cambria Math"/>
              </a:rPr>
              <a:t>]</a:t>
            </a:r>
            <a:r>
              <a:rPr sz="1800" spc="85" dirty="0">
                <a:latin typeface="Cambria Math"/>
                <a:cs typeface="Cambria Math"/>
              </a:rPr>
              <a:t> </a:t>
            </a:r>
            <a:r>
              <a:rPr sz="1800" dirty="0">
                <a:latin typeface="Cambria Math"/>
                <a:cs typeface="Cambria Math"/>
              </a:rPr>
              <a:t>=</a:t>
            </a:r>
            <a:r>
              <a:rPr sz="1800" spc="110" dirty="0">
                <a:latin typeface="Cambria Math"/>
                <a:cs typeface="Cambria Math"/>
              </a:rPr>
              <a:t> </a:t>
            </a:r>
            <a:r>
              <a:rPr lang="en-US" altLang="zh-CN" sz="1800" spc="-50" dirty="0">
                <a:latin typeface="Cambria Math"/>
                <a:cs typeface="Cambria Math"/>
              </a:rPr>
              <a:t>U</a:t>
            </a:r>
            <a:endParaRPr sz="1800" dirty="0">
              <a:latin typeface="Cambria Math"/>
              <a:cs typeface="Cambria Math"/>
            </a:endParaRPr>
          </a:p>
        </p:txBody>
      </p:sp>
      <p:sp>
        <p:nvSpPr>
          <p:cNvPr id="48" name="object 22">
            <a:extLst>
              <a:ext uri="{FF2B5EF4-FFF2-40B4-BE49-F238E27FC236}">
                <a16:creationId xmlns:a16="http://schemas.microsoft.com/office/drawing/2014/main" id="{6777F6FD-EFBE-664D-9ADE-E0EB032FBB8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72541" y="287301"/>
            <a:ext cx="6263767" cy="56618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6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最优方案追踪：记录决策过</a:t>
            </a:r>
            <a:r>
              <a:rPr sz="36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程</a:t>
            </a:r>
            <a:endParaRPr sz="36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21868" y="1048955"/>
            <a:ext cx="3571240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>
                <a:latin typeface="PMingLiU"/>
                <a:cs typeface="PMingLiU"/>
              </a:rPr>
              <a:t>输出最长公共子序列</a:t>
            </a:r>
            <a:endParaRPr sz="2800">
              <a:latin typeface="PMingLiU"/>
              <a:cs typeface="PMingLiU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2335022" y="209041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912239" y="209041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1032763" y="2001011"/>
            <a:ext cx="130873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60045" indent="-347980">
              <a:lnSpc>
                <a:spcPct val="100000"/>
              </a:lnSpc>
              <a:spcBef>
                <a:spcPts val="100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360045" algn="l"/>
                <a:tab pos="360680" algn="l"/>
              </a:tabLst>
            </a:pPr>
            <a:r>
              <a:rPr sz="2400">
                <a:latin typeface="Cambria Math"/>
                <a:cs typeface="Cambria Math"/>
              </a:rPr>
              <a:t>𝒓𝒆𝒄</a:t>
            </a:r>
            <a:r>
              <a:rPr sz="2400" spc="310">
                <a:latin typeface="Cambria Math"/>
                <a:cs typeface="Cambria Math"/>
              </a:rPr>
              <a:t> </a:t>
            </a:r>
            <a:r>
              <a:rPr sz="2400" spc="-10">
                <a:latin typeface="Cambria Math"/>
                <a:cs typeface="Cambria Math"/>
              </a:rPr>
              <a:t>𝒊,</a:t>
            </a:r>
            <a:r>
              <a:rPr sz="2400" spc="-135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𝒋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4649216" y="169163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4226433" y="169163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6884161" y="169163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370957" y="169163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3015742" y="1602485"/>
            <a:ext cx="452755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621665" algn="l"/>
                <a:tab pos="1818005" algn="l"/>
                <a:tab pos="4036695" algn="l"/>
              </a:tabLst>
            </a:pPr>
            <a:r>
              <a:rPr sz="2400" spc="-25">
                <a:latin typeface="Cambria Math"/>
                <a:cs typeface="Cambria Math"/>
              </a:rPr>
              <a:t>𝑳𝑼,</a:t>
            </a:r>
            <a:r>
              <a:rPr sz="2400">
                <a:latin typeface="Cambria Math"/>
                <a:cs typeface="Cambria Math"/>
              </a:rPr>
              <a:t>	𝒊𝒇</a:t>
            </a:r>
            <a:r>
              <a:rPr sz="2400" spc="-5">
                <a:latin typeface="Cambria Math"/>
                <a:cs typeface="Cambria Math"/>
              </a:rPr>
              <a:t> </a:t>
            </a:r>
            <a:r>
              <a:rPr sz="2400" b="1" i="1">
                <a:latin typeface="Times New Roman"/>
                <a:cs typeface="Times New Roman"/>
              </a:rPr>
              <a:t>C</a:t>
            </a:r>
            <a:r>
              <a:rPr sz="2400" b="1" i="1" spc="245">
                <a:latin typeface="Times New Roman"/>
                <a:cs typeface="Times New Roman"/>
              </a:rPr>
              <a:t> </a:t>
            </a:r>
            <a:r>
              <a:rPr sz="2400" spc="-10">
                <a:latin typeface="Cambria Math"/>
                <a:cs typeface="Cambria Math"/>
              </a:rPr>
              <a:t>𝒊,</a:t>
            </a:r>
            <a:r>
              <a:rPr sz="2400" spc="-135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𝒋</a:t>
            </a:r>
            <a:r>
              <a:rPr sz="2400">
                <a:latin typeface="Cambria Math"/>
                <a:cs typeface="Cambria Math"/>
              </a:rPr>
              <a:t>	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𝑪</a:t>
            </a:r>
            <a:r>
              <a:rPr sz="2400" spc="30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𝒊</a:t>
            </a:r>
            <a:r>
              <a:rPr sz="2400" spc="-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− 𝟏,</a:t>
            </a:r>
            <a:r>
              <a:rPr sz="2400" spc="-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𝒋</a:t>
            </a:r>
            <a:r>
              <a:rPr sz="2400" spc="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− </a:t>
            </a:r>
            <a:r>
              <a:rPr sz="2400" spc="-50">
                <a:latin typeface="Cambria Math"/>
                <a:cs typeface="Cambria Math"/>
              </a:rPr>
              <a:t>𝟏</a:t>
            </a:r>
            <a:r>
              <a:rPr sz="2400">
                <a:latin typeface="Cambria Math"/>
                <a:cs typeface="Cambria Math"/>
              </a:rPr>
              <a:t>	+ </a:t>
            </a:r>
            <a:r>
              <a:rPr sz="2400" spc="-50">
                <a:latin typeface="Cambria Math"/>
                <a:cs typeface="Cambria Math"/>
              </a:rPr>
              <a:t>𝟏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4841240" y="208406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418457" y="208406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6530594" y="208406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562981" y="208406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4843526" y="2476499"/>
            <a:ext cx="66675" cy="284480"/>
          </a:xfrm>
          <a:custGeom>
            <a:avLst/>
            <a:gdLst/>
            <a:ahLst/>
            <a:cxnLst/>
            <a:rect l="l" t="t" r="r" b="b"/>
            <a:pathLst>
              <a:path w="66675" h="28448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3050"/>
                </a:lnTo>
                <a:lnTo>
                  <a:pt x="0" y="273050"/>
                </a:lnTo>
                <a:lnTo>
                  <a:pt x="0" y="284480"/>
                </a:lnTo>
                <a:lnTo>
                  <a:pt x="66421" y="284480"/>
                </a:lnTo>
                <a:lnTo>
                  <a:pt x="66421" y="27305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4420743" y="2476499"/>
            <a:ext cx="66675" cy="284480"/>
          </a:xfrm>
          <a:custGeom>
            <a:avLst/>
            <a:gdLst/>
            <a:ahLst/>
            <a:cxnLst/>
            <a:rect l="l" t="t" r="r" b="b"/>
            <a:pathLst>
              <a:path w="66675" h="28448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3050"/>
                </a:lnTo>
                <a:lnTo>
                  <a:pt x="0" y="284480"/>
                </a:lnTo>
                <a:lnTo>
                  <a:pt x="66421" y="284480"/>
                </a:lnTo>
                <a:lnTo>
                  <a:pt x="66421" y="273050"/>
                </a:lnTo>
                <a:lnTo>
                  <a:pt x="24765" y="27305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6532880" y="2476499"/>
            <a:ext cx="66675" cy="284480"/>
          </a:xfrm>
          <a:custGeom>
            <a:avLst/>
            <a:gdLst/>
            <a:ahLst/>
            <a:cxnLst/>
            <a:rect l="l" t="t" r="r" b="b"/>
            <a:pathLst>
              <a:path w="66675" h="28448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3050"/>
                </a:lnTo>
                <a:lnTo>
                  <a:pt x="0" y="273050"/>
                </a:lnTo>
                <a:lnTo>
                  <a:pt x="0" y="284480"/>
                </a:lnTo>
                <a:lnTo>
                  <a:pt x="66421" y="284480"/>
                </a:lnTo>
                <a:lnTo>
                  <a:pt x="66421" y="27305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565267" y="2476499"/>
            <a:ext cx="66675" cy="284480"/>
          </a:xfrm>
          <a:custGeom>
            <a:avLst/>
            <a:gdLst/>
            <a:ahLst/>
            <a:cxnLst/>
            <a:rect l="l" t="t" r="r" b="b"/>
            <a:pathLst>
              <a:path w="66675" h="28448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3050"/>
                </a:lnTo>
                <a:lnTo>
                  <a:pt x="0" y="284480"/>
                </a:lnTo>
                <a:lnTo>
                  <a:pt x="66421" y="284480"/>
                </a:lnTo>
                <a:lnTo>
                  <a:pt x="66421" y="273050"/>
                </a:lnTo>
                <a:lnTo>
                  <a:pt x="24765" y="27305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 txBox="1"/>
          <p:nvPr/>
        </p:nvSpPr>
        <p:spPr>
          <a:xfrm>
            <a:off x="2507488" y="1981199"/>
            <a:ext cx="4032885" cy="798195"/>
          </a:xfrm>
          <a:prstGeom prst="rect">
            <a:avLst/>
          </a:prstGeom>
        </p:spPr>
        <p:txBody>
          <a:bodyPr vert="horz" wrap="square" lIns="0" tIns="33020" rIns="0" bIns="0" rtlCol="0">
            <a:spAutoFit/>
          </a:bodyPr>
          <a:lstStyle/>
          <a:p>
            <a:pPr marR="7620" algn="r">
              <a:lnSpc>
                <a:spcPct val="100000"/>
              </a:lnSpc>
              <a:spcBef>
                <a:spcPts val="260"/>
              </a:spcBef>
              <a:tabLst>
                <a:tab pos="739775" algn="l"/>
                <a:tab pos="1310005" algn="l"/>
                <a:tab pos="2505710" algn="l"/>
              </a:tabLst>
            </a:pPr>
            <a:r>
              <a:rPr sz="2400" dirty="0">
                <a:latin typeface="Cambria Math"/>
                <a:cs typeface="Cambria Math"/>
              </a:rPr>
              <a:t>=</a:t>
            </a:r>
            <a:r>
              <a:rPr sz="2400" spc="13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	</a:t>
            </a:r>
            <a:r>
              <a:rPr sz="3600" spc="-37" baseline="1157" dirty="0">
                <a:latin typeface="Cambria Math"/>
                <a:cs typeface="Cambria Math"/>
              </a:rPr>
              <a:t>𝑼,</a:t>
            </a:r>
            <a:r>
              <a:rPr sz="3600" baseline="1157" dirty="0">
                <a:latin typeface="Cambria Math"/>
                <a:cs typeface="Cambria Math"/>
              </a:rPr>
              <a:t>	𝒊𝒇</a:t>
            </a:r>
            <a:r>
              <a:rPr sz="3600" spc="-30" baseline="1157" dirty="0">
                <a:latin typeface="Cambria Math"/>
                <a:cs typeface="Cambria Math"/>
              </a:rPr>
              <a:t> </a:t>
            </a:r>
            <a:r>
              <a:rPr sz="3600" b="1" i="1" baseline="1157" dirty="0">
                <a:latin typeface="Times New Roman"/>
                <a:cs typeface="Times New Roman"/>
              </a:rPr>
              <a:t>C</a:t>
            </a:r>
            <a:r>
              <a:rPr sz="3600" b="1" i="1" spc="367" baseline="1157" dirty="0">
                <a:latin typeface="Times New Roman"/>
                <a:cs typeface="Times New Roman"/>
              </a:rPr>
              <a:t> </a:t>
            </a:r>
            <a:r>
              <a:rPr sz="3600" spc="-15" baseline="1157" dirty="0">
                <a:latin typeface="Cambria Math"/>
                <a:cs typeface="Cambria Math"/>
              </a:rPr>
              <a:t>𝒊,</a:t>
            </a:r>
            <a:r>
              <a:rPr sz="3600" spc="-202" baseline="1157" dirty="0">
                <a:latin typeface="Cambria Math"/>
                <a:cs typeface="Cambria Math"/>
              </a:rPr>
              <a:t> </a:t>
            </a:r>
            <a:r>
              <a:rPr sz="3600" spc="-75" baseline="1157" dirty="0">
                <a:latin typeface="Cambria Math"/>
                <a:cs typeface="Cambria Math"/>
              </a:rPr>
              <a:t>𝒋</a:t>
            </a:r>
            <a:r>
              <a:rPr sz="3600" baseline="1157" dirty="0">
                <a:latin typeface="Cambria Math"/>
                <a:cs typeface="Cambria Math"/>
              </a:rPr>
              <a:t>	=</a:t>
            </a:r>
            <a:r>
              <a:rPr sz="3600" spc="179" baseline="1157" dirty="0">
                <a:latin typeface="Cambria Math"/>
                <a:cs typeface="Cambria Math"/>
              </a:rPr>
              <a:t> </a:t>
            </a:r>
            <a:r>
              <a:rPr sz="3600" baseline="1157" dirty="0">
                <a:latin typeface="Cambria Math"/>
                <a:cs typeface="Cambria Math"/>
              </a:rPr>
              <a:t>𝑪</a:t>
            </a:r>
            <a:r>
              <a:rPr sz="3600" spc="465" baseline="1157" dirty="0">
                <a:latin typeface="Cambria Math"/>
                <a:cs typeface="Cambria Math"/>
              </a:rPr>
              <a:t> </a:t>
            </a:r>
            <a:r>
              <a:rPr sz="3600" baseline="1157" dirty="0">
                <a:latin typeface="Cambria Math"/>
                <a:cs typeface="Cambria Math"/>
              </a:rPr>
              <a:t>𝒊 − </a:t>
            </a:r>
            <a:r>
              <a:rPr sz="3600" spc="-15" baseline="1157" dirty="0">
                <a:latin typeface="Cambria Math"/>
                <a:cs typeface="Cambria Math"/>
              </a:rPr>
              <a:t>𝟏,</a:t>
            </a:r>
            <a:r>
              <a:rPr sz="3600" spc="-195" baseline="1157" dirty="0">
                <a:latin typeface="Cambria Math"/>
                <a:cs typeface="Cambria Math"/>
              </a:rPr>
              <a:t> </a:t>
            </a:r>
            <a:r>
              <a:rPr sz="3600" spc="-75" baseline="1157" dirty="0">
                <a:latin typeface="Cambria Math"/>
                <a:cs typeface="Cambria Math"/>
              </a:rPr>
              <a:t>𝒋</a:t>
            </a:r>
            <a:endParaRPr sz="3600" baseline="1157" dirty="0">
              <a:latin typeface="Cambria Math"/>
              <a:cs typeface="Cambria Math"/>
            </a:endParaRPr>
          </a:p>
          <a:p>
            <a:pPr marR="5080" algn="r">
              <a:lnSpc>
                <a:spcPct val="100000"/>
              </a:lnSpc>
              <a:spcBef>
                <a:spcPts val="165"/>
              </a:spcBef>
              <a:tabLst>
                <a:tab pos="588010" algn="l"/>
                <a:tab pos="1770380" algn="l"/>
              </a:tabLst>
            </a:pPr>
            <a:r>
              <a:rPr sz="2400" spc="-25" dirty="0">
                <a:latin typeface="Cambria Math"/>
                <a:cs typeface="Cambria Math"/>
              </a:rPr>
              <a:t>𝑳,</a:t>
            </a:r>
            <a:r>
              <a:rPr sz="2400" dirty="0">
                <a:latin typeface="Cambria Math"/>
                <a:cs typeface="Cambria Math"/>
              </a:rPr>
              <a:t>	𝒊𝒇</a:t>
            </a:r>
            <a:r>
              <a:rPr sz="2400" spc="-1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𝑪</a:t>
            </a:r>
            <a:r>
              <a:rPr sz="2400" spc="305" dirty="0">
                <a:latin typeface="Cambria Math"/>
                <a:cs typeface="Cambria Math"/>
              </a:rPr>
              <a:t> </a:t>
            </a:r>
            <a:r>
              <a:rPr sz="2400" spc="-10" dirty="0">
                <a:latin typeface="Cambria Math"/>
                <a:cs typeface="Cambria Math"/>
              </a:rPr>
              <a:t>𝒊,</a:t>
            </a:r>
            <a:r>
              <a:rPr sz="2400" spc="-135" dirty="0">
                <a:latin typeface="Cambria Math"/>
                <a:cs typeface="Cambria Math"/>
              </a:rPr>
              <a:t> </a:t>
            </a:r>
            <a:r>
              <a:rPr sz="2400" spc="-50" dirty="0">
                <a:latin typeface="Cambria Math"/>
                <a:cs typeface="Cambria Math"/>
              </a:rPr>
              <a:t>𝒋</a:t>
            </a:r>
            <a:r>
              <a:rPr sz="2400" dirty="0">
                <a:latin typeface="Cambria Math"/>
                <a:cs typeface="Cambria Math"/>
              </a:rPr>
              <a:t>	=</a:t>
            </a:r>
            <a:r>
              <a:rPr sz="2400" spc="13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𝑪</a:t>
            </a:r>
            <a:r>
              <a:rPr sz="2400" spc="310" dirty="0">
                <a:latin typeface="Cambria Math"/>
                <a:cs typeface="Cambria Math"/>
              </a:rPr>
              <a:t> </a:t>
            </a:r>
            <a:r>
              <a:rPr sz="2400" spc="-10" dirty="0">
                <a:latin typeface="Cambria Math"/>
                <a:cs typeface="Cambria Math"/>
              </a:rPr>
              <a:t>𝒊,</a:t>
            </a:r>
            <a:r>
              <a:rPr sz="2400" spc="-14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𝒋</a:t>
            </a:r>
            <a:r>
              <a:rPr sz="2400" spc="1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−</a:t>
            </a:r>
            <a:r>
              <a:rPr sz="2400" spc="5" dirty="0">
                <a:latin typeface="Cambria Math"/>
                <a:cs typeface="Cambria Math"/>
              </a:rPr>
              <a:t> </a:t>
            </a:r>
            <a:r>
              <a:rPr sz="2400" spc="-50" dirty="0">
                <a:latin typeface="Cambria Math"/>
                <a:cs typeface="Cambria Math"/>
              </a:rPr>
              <a:t>𝟏</a:t>
            </a:r>
            <a:endParaRPr sz="2400" dirty="0">
              <a:latin typeface="Cambria Math"/>
              <a:cs typeface="Cambria Math"/>
            </a:endParaRPr>
          </a:p>
        </p:txBody>
      </p:sp>
      <p:graphicFrame>
        <p:nvGraphicFramePr>
          <p:cNvPr id="28" name="object 2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9450438"/>
              </p:ext>
            </p:extLst>
          </p:nvPr>
        </p:nvGraphicFramePr>
        <p:xfrm>
          <a:off x="1374140" y="3095651"/>
          <a:ext cx="5923279" cy="261365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880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2966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65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4678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35609">
                <a:tc>
                  <a:txBody>
                    <a:bodyPr/>
                    <a:lstStyle/>
                    <a:p>
                      <a:pPr marR="4635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𝑪[𝒊,</a:t>
                      </a:r>
                      <a:r>
                        <a:rPr sz="1700" spc="-9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𝒋]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9939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99390" marR="17653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𝟏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99390" marR="1206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𝟐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 b="1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…</a:t>
                      </a:r>
                      <a:endParaRPr sz="1700">
                        <a:latin typeface="Arial"/>
                        <a:cs typeface="Arial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6383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r>
                        <a:rPr sz="1700" spc="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𝒎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0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latin typeface="Cambria Math"/>
                          <a:cs typeface="Cambria Math"/>
                        </a:rPr>
                        <a:t>𝟎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2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76530"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2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latin typeface="Cambria Math"/>
                          <a:cs typeface="Cambria Math"/>
                        </a:rPr>
                        <a:t>𝟏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76530"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50">
                          <a:latin typeface="Cambria Math"/>
                          <a:cs typeface="Cambria Math"/>
                        </a:rPr>
                        <a:t>𝟐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76530"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𝒓𝒆𝒄[</a:t>
                      </a:r>
                      <a:r>
                        <a:rPr sz="1800" spc="-1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]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=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7112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𝑳𝑼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7112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72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…</a:t>
                      </a: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76530"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35609"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7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700" spc="7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7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700" spc="-60">
                          <a:latin typeface="Cambria Math"/>
                          <a:cs typeface="Cambria Math"/>
                        </a:rPr>
                        <a:t>𝒏</a:t>
                      </a:r>
                      <a:endParaRPr sz="17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1325"/>
                        </a:lnSpc>
                      </a:pPr>
                      <a:endParaRPr sz="1800" dirty="0">
                        <a:latin typeface="Cambria Math"/>
                        <a:cs typeface="Cambria Math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73990">
                        <a:lnSpc>
                          <a:spcPts val="1325"/>
                        </a:lnSpc>
                      </a:pPr>
                      <a:endParaRPr sz="1800" dirty="0">
                        <a:latin typeface="Cambria Math"/>
                        <a:cs typeface="Cambria Math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9" name="object 29"/>
          <p:cNvSpPr/>
          <p:nvPr/>
        </p:nvSpPr>
        <p:spPr>
          <a:xfrm>
            <a:off x="9670160" y="1018413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 txBox="1"/>
          <p:nvPr/>
        </p:nvSpPr>
        <p:spPr>
          <a:xfrm>
            <a:off x="9899650" y="1314449"/>
            <a:ext cx="1397000" cy="3003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20">
                <a:solidFill>
                  <a:srgbClr val="FFFFFF"/>
                </a:solidFill>
                <a:latin typeface="PMingLiU"/>
                <a:cs typeface="PMingLiU"/>
              </a:rPr>
              <a:t>问题结构分析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31" name="object 31"/>
          <p:cNvSpPr/>
          <p:nvPr/>
        </p:nvSpPr>
        <p:spPr>
          <a:xfrm>
            <a:off x="10378440" y="2052827"/>
            <a:ext cx="439420" cy="367030"/>
          </a:xfrm>
          <a:custGeom>
            <a:avLst/>
            <a:gdLst/>
            <a:ahLst/>
            <a:cxnLst/>
            <a:rect l="l" t="t" r="r" b="b"/>
            <a:pathLst>
              <a:path w="439420" h="367030">
                <a:moveTo>
                  <a:pt x="351154" y="0"/>
                </a:moveTo>
                <a:lnTo>
                  <a:pt x="87756" y="0"/>
                </a:lnTo>
                <a:lnTo>
                  <a:pt x="87756" y="183261"/>
                </a:lnTo>
                <a:lnTo>
                  <a:pt x="0" y="183261"/>
                </a:lnTo>
                <a:lnTo>
                  <a:pt x="219455" y="366522"/>
                </a:lnTo>
                <a:lnTo>
                  <a:pt x="438911" y="183261"/>
                </a:lnTo>
                <a:lnTo>
                  <a:pt x="351154" y="183261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9670160" y="2480691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 txBox="1"/>
          <p:nvPr/>
        </p:nvSpPr>
        <p:spPr>
          <a:xfrm>
            <a:off x="9899650" y="2776982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递推关系建立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34" name="object 34"/>
          <p:cNvSpPr/>
          <p:nvPr/>
        </p:nvSpPr>
        <p:spPr>
          <a:xfrm>
            <a:off x="10378440" y="3515105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9"/>
                </a:lnTo>
                <a:lnTo>
                  <a:pt x="0" y="182499"/>
                </a:lnTo>
                <a:lnTo>
                  <a:pt x="219455" y="364998"/>
                </a:lnTo>
                <a:lnTo>
                  <a:pt x="438911" y="182499"/>
                </a:lnTo>
                <a:lnTo>
                  <a:pt x="351154" y="182499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9670160" y="3941445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8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8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 txBox="1"/>
          <p:nvPr/>
        </p:nvSpPr>
        <p:spPr>
          <a:xfrm>
            <a:off x="9899650" y="4237735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自底向上计算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37" name="object 37"/>
          <p:cNvSpPr/>
          <p:nvPr/>
        </p:nvSpPr>
        <p:spPr>
          <a:xfrm>
            <a:off x="10378440" y="4975859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8"/>
                </a:lnTo>
                <a:lnTo>
                  <a:pt x="0" y="182498"/>
                </a:lnTo>
                <a:lnTo>
                  <a:pt x="219455" y="364997"/>
                </a:lnTo>
                <a:lnTo>
                  <a:pt x="438911" y="182498"/>
                </a:lnTo>
                <a:lnTo>
                  <a:pt x="351154" y="182498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9670160" y="5402198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52"/>
                </a:lnTo>
                <a:lnTo>
                  <a:pt x="7647" y="914358"/>
                </a:lnTo>
                <a:lnTo>
                  <a:pt x="28511" y="945313"/>
                </a:lnTo>
                <a:lnTo>
                  <a:pt x="59471" y="966183"/>
                </a:lnTo>
                <a:lnTo>
                  <a:pt x="97409" y="973835"/>
                </a:lnTo>
                <a:lnTo>
                  <a:pt x="1758823" y="973835"/>
                </a:lnTo>
                <a:lnTo>
                  <a:pt x="1796760" y="966183"/>
                </a:lnTo>
                <a:lnTo>
                  <a:pt x="1827720" y="945313"/>
                </a:lnTo>
                <a:lnTo>
                  <a:pt x="1848584" y="914358"/>
                </a:lnTo>
                <a:lnTo>
                  <a:pt x="1856232" y="876452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83C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 txBox="1"/>
          <p:nvPr/>
        </p:nvSpPr>
        <p:spPr>
          <a:xfrm>
            <a:off x="9899650" y="5698744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最优方案追踪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45" name="左大括号 44">
            <a:extLst>
              <a:ext uri="{FF2B5EF4-FFF2-40B4-BE49-F238E27FC236}">
                <a16:creationId xmlns:a16="http://schemas.microsoft.com/office/drawing/2014/main" id="{007F935B-7BAC-0E4E-90BD-7360143EF91B}"/>
              </a:ext>
            </a:extLst>
          </p:cNvPr>
          <p:cNvSpPr/>
          <p:nvPr/>
        </p:nvSpPr>
        <p:spPr>
          <a:xfrm>
            <a:off x="2808154" y="1715134"/>
            <a:ext cx="190005" cy="962914"/>
          </a:xfrm>
          <a:prstGeom prst="leftBrac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  <p:grpSp>
        <p:nvGrpSpPr>
          <p:cNvPr id="46" name="组合 45">
            <a:extLst>
              <a:ext uri="{FF2B5EF4-FFF2-40B4-BE49-F238E27FC236}">
                <a16:creationId xmlns:a16="http://schemas.microsoft.com/office/drawing/2014/main" id="{AE6F5DD6-4C9B-164F-A6E8-2D4A07D1FC62}"/>
              </a:ext>
            </a:extLst>
          </p:cNvPr>
          <p:cNvGrpSpPr/>
          <p:nvPr/>
        </p:nvGrpSpPr>
        <p:grpSpPr>
          <a:xfrm>
            <a:off x="4499294" y="4464115"/>
            <a:ext cx="2783078" cy="1521713"/>
            <a:chOff x="4422775" y="4459351"/>
            <a:chExt cx="2783078" cy="1521713"/>
          </a:xfrm>
        </p:grpSpPr>
        <p:grpSp>
          <p:nvGrpSpPr>
            <p:cNvPr id="21" name="object 21"/>
            <p:cNvGrpSpPr/>
            <p:nvPr/>
          </p:nvGrpSpPr>
          <p:grpSpPr>
            <a:xfrm>
              <a:off x="5351653" y="4890642"/>
              <a:ext cx="1854200" cy="751840"/>
              <a:chOff x="5351653" y="4890642"/>
              <a:chExt cx="1854200" cy="751840"/>
            </a:xfrm>
          </p:grpSpPr>
          <p:sp>
            <p:nvSpPr>
              <p:cNvPr id="22" name="object 22"/>
              <p:cNvSpPr/>
              <p:nvPr/>
            </p:nvSpPr>
            <p:spPr>
              <a:xfrm>
                <a:off x="5367528" y="5328665"/>
                <a:ext cx="1822450" cy="298450"/>
              </a:xfrm>
              <a:custGeom>
                <a:avLst/>
                <a:gdLst/>
                <a:ahLst/>
                <a:cxnLst/>
                <a:rect l="l" t="t" r="r" b="b"/>
                <a:pathLst>
                  <a:path w="1822450" h="298450">
                    <a:moveTo>
                      <a:pt x="1011936" y="49657"/>
                    </a:moveTo>
                    <a:lnTo>
                      <a:pt x="1015837" y="30325"/>
                    </a:lnTo>
                    <a:lnTo>
                      <a:pt x="1026477" y="14541"/>
                    </a:lnTo>
                    <a:lnTo>
                      <a:pt x="1042261" y="3901"/>
                    </a:lnTo>
                    <a:lnTo>
                      <a:pt x="1061593" y="0"/>
                    </a:lnTo>
                    <a:lnTo>
                      <a:pt x="1772285" y="0"/>
                    </a:lnTo>
                    <a:lnTo>
                      <a:pt x="1791616" y="3901"/>
                    </a:lnTo>
                    <a:lnTo>
                      <a:pt x="1807400" y="14541"/>
                    </a:lnTo>
                    <a:lnTo>
                      <a:pt x="1818040" y="30325"/>
                    </a:lnTo>
                    <a:lnTo>
                      <a:pt x="1821942" y="49657"/>
                    </a:lnTo>
                    <a:lnTo>
                      <a:pt x="1821942" y="248285"/>
                    </a:lnTo>
                    <a:lnTo>
                      <a:pt x="1818040" y="267611"/>
                    </a:lnTo>
                    <a:lnTo>
                      <a:pt x="1807400" y="283395"/>
                    </a:lnTo>
                    <a:lnTo>
                      <a:pt x="1791616" y="294038"/>
                    </a:lnTo>
                    <a:lnTo>
                      <a:pt x="1772285" y="297942"/>
                    </a:lnTo>
                    <a:lnTo>
                      <a:pt x="1061593" y="297942"/>
                    </a:lnTo>
                    <a:lnTo>
                      <a:pt x="1042261" y="294038"/>
                    </a:lnTo>
                    <a:lnTo>
                      <a:pt x="1026477" y="283395"/>
                    </a:lnTo>
                    <a:lnTo>
                      <a:pt x="1015837" y="267611"/>
                    </a:lnTo>
                    <a:lnTo>
                      <a:pt x="1011936" y="248285"/>
                    </a:lnTo>
                    <a:lnTo>
                      <a:pt x="1011936" y="49657"/>
                    </a:lnTo>
                    <a:close/>
                  </a:path>
                  <a:path w="1822450" h="298450">
                    <a:moveTo>
                      <a:pt x="0" y="90932"/>
                    </a:moveTo>
                    <a:lnTo>
                      <a:pt x="3254" y="74818"/>
                    </a:lnTo>
                    <a:lnTo>
                      <a:pt x="12128" y="61658"/>
                    </a:lnTo>
                    <a:lnTo>
                      <a:pt x="25288" y="52784"/>
                    </a:lnTo>
                    <a:lnTo>
                      <a:pt x="41401" y="49530"/>
                    </a:lnTo>
                    <a:lnTo>
                      <a:pt x="730504" y="49530"/>
                    </a:lnTo>
                    <a:lnTo>
                      <a:pt x="746617" y="52784"/>
                    </a:lnTo>
                    <a:lnTo>
                      <a:pt x="759777" y="61658"/>
                    </a:lnTo>
                    <a:lnTo>
                      <a:pt x="768651" y="74818"/>
                    </a:lnTo>
                    <a:lnTo>
                      <a:pt x="771906" y="90932"/>
                    </a:lnTo>
                    <a:lnTo>
                      <a:pt x="771906" y="256540"/>
                    </a:lnTo>
                    <a:lnTo>
                      <a:pt x="768651" y="272653"/>
                    </a:lnTo>
                    <a:lnTo>
                      <a:pt x="759777" y="285813"/>
                    </a:lnTo>
                    <a:lnTo>
                      <a:pt x="746617" y="294687"/>
                    </a:lnTo>
                    <a:lnTo>
                      <a:pt x="730504" y="297942"/>
                    </a:lnTo>
                    <a:lnTo>
                      <a:pt x="41401" y="297942"/>
                    </a:lnTo>
                    <a:lnTo>
                      <a:pt x="25288" y="294687"/>
                    </a:lnTo>
                    <a:lnTo>
                      <a:pt x="12128" y="285813"/>
                    </a:lnTo>
                    <a:lnTo>
                      <a:pt x="3254" y="272653"/>
                    </a:lnTo>
                    <a:lnTo>
                      <a:pt x="0" y="256540"/>
                    </a:lnTo>
                    <a:lnTo>
                      <a:pt x="0" y="90932"/>
                    </a:lnTo>
                    <a:close/>
                  </a:path>
                </a:pathLst>
              </a:custGeom>
              <a:ln w="31750">
                <a:solidFill>
                  <a:srgbClr val="FF0000"/>
                </a:solidFill>
                <a:prstDash val="sysDash"/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3" name="object 23"/>
              <p:cNvPicPr/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148578" y="5455157"/>
                <a:ext cx="203835" cy="114300"/>
              </a:xfrm>
              <a:prstGeom prst="rect">
                <a:avLst/>
              </a:prstGeom>
            </p:spPr>
          </p:pic>
          <p:sp>
            <p:nvSpPr>
              <p:cNvPr id="24" name="object 24"/>
              <p:cNvSpPr/>
              <p:nvPr/>
            </p:nvSpPr>
            <p:spPr>
              <a:xfrm>
                <a:off x="5367528" y="4906517"/>
                <a:ext cx="772160" cy="248920"/>
              </a:xfrm>
              <a:custGeom>
                <a:avLst/>
                <a:gdLst/>
                <a:ahLst/>
                <a:cxnLst/>
                <a:rect l="l" t="t" r="r" b="b"/>
                <a:pathLst>
                  <a:path w="772160" h="248920">
                    <a:moveTo>
                      <a:pt x="0" y="41401"/>
                    </a:moveTo>
                    <a:lnTo>
                      <a:pt x="3254" y="25288"/>
                    </a:lnTo>
                    <a:lnTo>
                      <a:pt x="12128" y="12128"/>
                    </a:lnTo>
                    <a:lnTo>
                      <a:pt x="25288" y="3254"/>
                    </a:lnTo>
                    <a:lnTo>
                      <a:pt x="41401" y="0"/>
                    </a:lnTo>
                    <a:lnTo>
                      <a:pt x="730504" y="0"/>
                    </a:lnTo>
                    <a:lnTo>
                      <a:pt x="746617" y="3254"/>
                    </a:lnTo>
                    <a:lnTo>
                      <a:pt x="759777" y="12128"/>
                    </a:lnTo>
                    <a:lnTo>
                      <a:pt x="768651" y="25288"/>
                    </a:lnTo>
                    <a:lnTo>
                      <a:pt x="771906" y="41401"/>
                    </a:lnTo>
                    <a:lnTo>
                      <a:pt x="771906" y="207009"/>
                    </a:lnTo>
                    <a:lnTo>
                      <a:pt x="768651" y="223123"/>
                    </a:lnTo>
                    <a:lnTo>
                      <a:pt x="759777" y="236283"/>
                    </a:lnTo>
                    <a:lnTo>
                      <a:pt x="746617" y="245157"/>
                    </a:lnTo>
                    <a:lnTo>
                      <a:pt x="730504" y="248411"/>
                    </a:lnTo>
                    <a:lnTo>
                      <a:pt x="41401" y="248411"/>
                    </a:lnTo>
                    <a:lnTo>
                      <a:pt x="25288" y="245157"/>
                    </a:lnTo>
                    <a:lnTo>
                      <a:pt x="12128" y="236283"/>
                    </a:lnTo>
                    <a:lnTo>
                      <a:pt x="3254" y="223123"/>
                    </a:lnTo>
                    <a:lnTo>
                      <a:pt x="0" y="207009"/>
                    </a:lnTo>
                    <a:lnTo>
                      <a:pt x="0" y="41401"/>
                    </a:lnTo>
                    <a:close/>
                  </a:path>
                </a:pathLst>
              </a:custGeom>
              <a:ln w="31750">
                <a:solidFill>
                  <a:srgbClr val="FF0000"/>
                </a:solidFill>
                <a:prstDash val="sysDash"/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5" name="object 25"/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755386" y="5120639"/>
                <a:ext cx="114300" cy="230759"/>
              </a:xfrm>
              <a:prstGeom prst="rect">
                <a:avLst/>
              </a:prstGeom>
            </p:spPr>
          </p:pic>
        </p:grpSp>
        <p:pic>
          <p:nvPicPr>
            <p:cNvPr id="26" name="object 26"/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5216652" y="4735829"/>
              <a:ext cx="190119" cy="166115"/>
            </a:xfrm>
            <a:prstGeom prst="rect">
              <a:avLst/>
            </a:prstGeom>
          </p:spPr>
        </p:pic>
        <p:sp>
          <p:nvSpPr>
            <p:cNvPr id="27" name="object 27"/>
            <p:cNvSpPr txBox="1"/>
            <p:nvPr/>
          </p:nvSpPr>
          <p:spPr>
            <a:xfrm>
              <a:off x="5693917" y="5680709"/>
              <a:ext cx="1027430" cy="300355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1800">
                  <a:latin typeface="Cambria Math"/>
                  <a:cs typeface="Cambria Math"/>
                </a:rPr>
                <a:t>𝒓𝒆𝒄[</a:t>
              </a:r>
              <a:r>
                <a:rPr sz="1800" spc="-15">
                  <a:latin typeface="Cambria Math"/>
                  <a:cs typeface="Cambria Math"/>
                </a:rPr>
                <a:t> </a:t>
              </a:r>
              <a:r>
                <a:rPr sz="1800">
                  <a:latin typeface="Cambria Math"/>
                  <a:cs typeface="Cambria Math"/>
                </a:rPr>
                <a:t>]</a:t>
              </a:r>
              <a:r>
                <a:rPr sz="1800" spc="85">
                  <a:latin typeface="Cambria Math"/>
                  <a:cs typeface="Cambria Math"/>
                </a:rPr>
                <a:t> </a:t>
              </a:r>
              <a:r>
                <a:rPr sz="1800">
                  <a:latin typeface="Cambria Math"/>
                  <a:cs typeface="Cambria Math"/>
                </a:rPr>
                <a:t>=</a:t>
              </a:r>
              <a:r>
                <a:rPr sz="1800" spc="110">
                  <a:latin typeface="Cambria Math"/>
                  <a:cs typeface="Cambria Math"/>
                </a:rPr>
                <a:t> </a:t>
              </a:r>
              <a:r>
                <a:rPr sz="1800" spc="-50">
                  <a:latin typeface="Cambria Math"/>
                  <a:cs typeface="Cambria Math"/>
                </a:rPr>
                <a:t>𝑳</a:t>
              </a:r>
              <a:endParaRPr sz="1800">
                <a:latin typeface="Cambria Math"/>
                <a:cs typeface="Cambria Math"/>
              </a:endParaRPr>
            </a:p>
          </p:txBody>
        </p:sp>
        <p:grpSp>
          <p:nvGrpSpPr>
            <p:cNvPr id="40" name="object 40"/>
            <p:cNvGrpSpPr/>
            <p:nvPr/>
          </p:nvGrpSpPr>
          <p:grpSpPr>
            <a:xfrm>
              <a:off x="4422775" y="4459351"/>
              <a:ext cx="984250" cy="418465"/>
              <a:chOff x="4422775" y="4459351"/>
              <a:chExt cx="984250" cy="418465"/>
            </a:xfrm>
          </p:grpSpPr>
          <p:pic>
            <p:nvPicPr>
              <p:cNvPr id="41" name="object 41"/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5216651" y="4711446"/>
                <a:ext cx="190119" cy="166116"/>
              </a:xfrm>
              <a:prstGeom prst="rect">
                <a:avLst/>
              </a:prstGeom>
            </p:spPr>
          </p:pic>
          <p:sp>
            <p:nvSpPr>
              <p:cNvPr id="42" name="object 42"/>
              <p:cNvSpPr/>
              <p:nvPr/>
            </p:nvSpPr>
            <p:spPr>
              <a:xfrm>
                <a:off x="4438650" y="4475226"/>
                <a:ext cx="772795" cy="249554"/>
              </a:xfrm>
              <a:custGeom>
                <a:avLst/>
                <a:gdLst/>
                <a:ahLst/>
                <a:cxnLst/>
                <a:rect l="l" t="t" r="r" b="b"/>
                <a:pathLst>
                  <a:path w="772795" h="249553">
                    <a:moveTo>
                      <a:pt x="0" y="41529"/>
                    </a:moveTo>
                    <a:lnTo>
                      <a:pt x="3256" y="25342"/>
                    </a:lnTo>
                    <a:lnTo>
                      <a:pt x="12144" y="12144"/>
                    </a:lnTo>
                    <a:lnTo>
                      <a:pt x="25342" y="3256"/>
                    </a:lnTo>
                    <a:lnTo>
                      <a:pt x="41528" y="0"/>
                    </a:lnTo>
                    <a:lnTo>
                      <a:pt x="731138" y="0"/>
                    </a:lnTo>
                    <a:lnTo>
                      <a:pt x="747325" y="3256"/>
                    </a:lnTo>
                    <a:lnTo>
                      <a:pt x="760523" y="12144"/>
                    </a:lnTo>
                    <a:lnTo>
                      <a:pt x="769411" y="25342"/>
                    </a:lnTo>
                    <a:lnTo>
                      <a:pt x="772667" y="41529"/>
                    </a:lnTo>
                    <a:lnTo>
                      <a:pt x="772667" y="207644"/>
                    </a:lnTo>
                    <a:lnTo>
                      <a:pt x="769411" y="223831"/>
                    </a:lnTo>
                    <a:lnTo>
                      <a:pt x="760523" y="237029"/>
                    </a:lnTo>
                    <a:lnTo>
                      <a:pt x="747325" y="245917"/>
                    </a:lnTo>
                    <a:lnTo>
                      <a:pt x="731138" y="249174"/>
                    </a:lnTo>
                    <a:lnTo>
                      <a:pt x="41528" y="249174"/>
                    </a:lnTo>
                    <a:lnTo>
                      <a:pt x="25342" y="245917"/>
                    </a:lnTo>
                    <a:lnTo>
                      <a:pt x="12144" y="237029"/>
                    </a:lnTo>
                    <a:lnTo>
                      <a:pt x="3256" y="223831"/>
                    </a:lnTo>
                    <a:lnTo>
                      <a:pt x="0" y="207644"/>
                    </a:lnTo>
                    <a:lnTo>
                      <a:pt x="0" y="41529"/>
                    </a:lnTo>
                    <a:close/>
                  </a:path>
                </a:pathLst>
              </a:custGeom>
              <a:ln w="31750">
                <a:solidFill>
                  <a:srgbClr val="FF0000"/>
                </a:solidFill>
                <a:prstDash val="sysDash"/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</p:grpSp>
      </p:grpSp>
      <p:sp>
        <p:nvSpPr>
          <p:cNvPr id="47" name="object 30">
            <a:extLst>
              <a:ext uri="{FF2B5EF4-FFF2-40B4-BE49-F238E27FC236}">
                <a16:creationId xmlns:a16="http://schemas.microsoft.com/office/drawing/2014/main" id="{5C677D29-6B45-CE46-B43E-0400F35C4E36}"/>
              </a:ext>
            </a:extLst>
          </p:cNvPr>
          <p:cNvSpPr txBox="1"/>
          <p:nvPr/>
        </p:nvSpPr>
        <p:spPr>
          <a:xfrm>
            <a:off x="3608832" y="5002289"/>
            <a:ext cx="1670685" cy="314830"/>
          </a:xfrm>
          <a:prstGeom prst="rect">
            <a:avLst/>
          </a:prstGeom>
        </p:spPr>
        <p:txBody>
          <a:bodyPr vert="horz" wrap="square" lIns="0" tIns="37465" rIns="0" bIns="0" rtlCol="0">
            <a:spAutoFit/>
          </a:bodyPr>
          <a:lstStyle/>
          <a:p>
            <a:pPr marL="655955">
              <a:lnSpc>
                <a:spcPct val="100000"/>
              </a:lnSpc>
              <a:spcBef>
                <a:spcPts val="295"/>
              </a:spcBef>
            </a:pPr>
            <a:r>
              <a:rPr sz="1800" dirty="0">
                <a:latin typeface="Cambria Math"/>
                <a:cs typeface="Cambria Math"/>
              </a:rPr>
              <a:t>𝒓𝒆𝒄[</a:t>
            </a:r>
            <a:r>
              <a:rPr sz="1800" spc="-15" dirty="0">
                <a:latin typeface="Cambria Math"/>
                <a:cs typeface="Cambria Math"/>
              </a:rPr>
              <a:t> </a:t>
            </a:r>
            <a:r>
              <a:rPr sz="1800" dirty="0">
                <a:latin typeface="Cambria Math"/>
                <a:cs typeface="Cambria Math"/>
              </a:rPr>
              <a:t>]</a:t>
            </a:r>
            <a:r>
              <a:rPr sz="1800" spc="85" dirty="0">
                <a:latin typeface="Cambria Math"/>
                <a:cs typeface="Cambria Math"/>
              </a:rPr>
              <a:t> </a:t>
            </a:r>
            <a:r>
              <a:rPr sz="1800" dirty="0">
                <a:latin typeface="Cambria Math"/>
                <a:cs typeface="Cambria Math"/>
              </a:rPr>
              <a:t>=</a:t>
            </a:r>
            <a:r>
              <a:rPr sz="1800" spc="110" dirty="0">
                <a:latin typeface="Cambria Math"/>
                <a:cs typeface="Cambria Math"/>
              </a:rPr>
              <a:t> </a:t>
            </a:r>
            <a:r>
              <a:rPr lang="en-US" altLang="zh-CN" sz="1800" spc="-50" dirty="0">
                <a:latin typeface="Cambria Math"/>
                <a:cs typeface="Cambria Math"/>
              </a:rPr>
              <a:t>U</a:t>
            </a:r>
            <a:endParaRPr sz="1800" dirty="0">
              <a:latin typeface="Cambria Math"/>
              <a:cs typeface="Cambria Math"/>
            </a:endParaRPr>
          </a:p>
        </p:txBody>
      </p:sp>
      <p:sp>
        <p:nvSpPr>
          <p:cNvPr id="48" name="object 22">
            <a:extLst>
              <a:ext uri="{FF2B5EF4-FFF2-40B4-BE49-F238E27FC236}">
                <a16:creationId xmlns:a16="http://schemas.microsoft.com/office/drawing/2014/main" id="{B1C9711F-C07B-A54C-89A0-F72493BE10A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72541" y="287301"/>
            <a:ext cx="6263767" cy="56618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6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最优方案追踪：记录决策过</a:t>
            </a:r>
            <a:r>
              <a:rPr sz="36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程</a:t>
            </a:r>
            <a:endParaRPr sz="36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235582" y="133478"/>
            <a:ext cx="2160761" cy="627736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95"/>
              </a:spcBef>
            </a:pPr>
            <a:r>
              <a:rPr sz="40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算法实</a:t>
            </a:r>
            <a:r>
              <a:rPr sz="40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例</a:t>
            </a:r>
            <a:endParaRPr sz="40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pSp>
        <p:nvGrpSpPr>
          <p:cNvPr id="7" name="object 7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8" name="object 8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2" name="object 12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 txBox="1"/>
          <p:nvPr/>
        </p:nvSpPr>
        <p:spPr>
          <a:xfrm>
            <a:off x="916047" y="2005013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877493" y="201688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851687" y="2449152"/>
          <a:ext cx="4250053" cy="42614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213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845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492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26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33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640715">
                <a:tc>
                  <a:txBody>
                    <a:bodyPr/>
                    <a:lstStyle/>
                    <a:p>
                      <a:pPr marL="18605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6286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69545" algn="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67359"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63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06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81787">
                      <a:solidFill>
                        <a:srgbClr val="FF0000"/>
                      </a:solidFill>
                      <a:prstDash val="sysDash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69545" algn="r">
                        <a:lnSpc>
                          <a:spcPct val="100000"/>
                        </a:lnSpc>
                        <a:spcBef>
                          <a:spcPts val="63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0645" marB="0">
                    <a:lnL w="81787">
                      <a:solidFill>
                        <a:srgbClr val="FF0000"/>
                      </a:solidFill>
                      <a:prstDash val="sysDash"/>
                    </a:lnL>
                    <a:lnR w="76200">
                      <a:solidFill>
                        <a:srgbClr val="FF0000"/>
                      </a:solidFill>
                      <a:prstDash val="sysDash"/>
                    </a:lnR>
                    <a:lnT w="76200">
                      <a:solidFill>
                        <a:srgbClr val="FF0000"/>
                      </a:solidFill>
                      <a:prstDash val="sysDash"/>
                    </a:lnT>
                    <a:lnB w="3810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3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0645" marB="0">
                    <a:lnL w="76200">
                      <a:solidFill>
                        <a:srgbClr val="FF0000"/>
                      </a:solidFill>
                      <a:prstDash val="sysDash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3810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3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06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3810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3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0645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57150">
                      <a:solidFill>
                        <a:srgbClr val="FF0000"/>
                      </a:solidFill>
                      <a:prstDash val="sysDash"/>
                    </a:lnT>
                    <a:lnB w="3810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3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0645" marB="0">
                    <a:lnT w="57150">
                      <a:solidFill>
                        <a:srgbClr val="FF0000"/>
                      </a:solidFill>
                      <a:prstDash val="sysDash"/>
                    </a:lnT>
                    <a:lnB w="3810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3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0645" marB="0">
                    <a:lnT w="57150">
                      <a:solidFill>
                        <a:srgbClr val="FF0000"/>
                      </a:solidFill>
                      <a:prstDash val="sysDash"/>
                    </a:lnT>
                    <a:lnB w="3810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3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0645" marB="0">
                    <a:lnT w="57150">
                      <a:solidFill>
                        <a:srgbClr val="FF0000"/>
                      </a:solidFill>
                      <a:prstDash val="sysDash"/>
                    </a:lnT>
                    <a:lnB w="3810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76200">
                      <a:solidFill>
                        <a:srgbClr val="FF0000"/>
                      </a:solidFill>
                      <a:prstDash val="sysDash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36880"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FF0000"/>
                      </a:solidFill>
                      <a:prstDash val="sysDash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69545" algn="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76200">
                      <a:solidFill>
                        <a:srgbClr val="FF0000"/>
                      </a:solidFill>
                      <a:prstDash val="sysDash"/>
                    </a:lnL>
                    <a:lnR w="76200">
                      <a:solidFill>
                        <a:srgbClr val="FF0000"/>
                      </a:solidFill>
                      <a:prstDash val="sysDash"/>
                    </a:lnR>
                    <a:lnT w="3810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76200">
                      <a:solidFill>
                        <a:srgbClr val="FF0000"/>
                      </a:solidFill>
                      <a:prstDash val="sysDash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993775">
                        <a:lnSpc>
                          <a:spcPts val="2850"/>
                        </a:lnSpc>
                        <a:spcBef>
                          <a:spcPts val="490"/>
                        </a:spcBef>
                      </a:pPr>
                      <a:r>
                        <a:rPr sz="2400" b="1" spc="-20">
                          <a:solidFill>
                            <a:srgbClr val="FFFFFF"/>
                          </a:solidFill>
                          <a:latin typeface="微软雅黑"/>
                          <a:cs typeface="微软雅黑"/>
                        </a:rPr>
                        <a:t>初始化</a:t>
                      </a:r>
                      <a:endParaRPr sz="2400">
                        <a:latin typeface="微软雅黑"/>
                        <a:cs typeface="微软雅黑"/>
                      </a:endParaRPr>
                    </a:p>
                  </a:txBody>
                  <a:tcPr marL="0" marR="0" marT="6223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3810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FF0000"/>
                      </a:solidFill>
                      <a:prstDash val="sysDash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69545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76200">
                      <a:solidFill>
                        <a:srgbClr val="FF0000"/>
                      </a:solidFill>
                      <a:prstDash val="sysDash"/>
                    </a:lnL>
                    <a:lnR w="76200">
                      <a:solidFill>
                        <a:srgbClr val="FF0000"/>
                      </a:solidFill>
                      <a:prstDash val="sysDash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76200">
                      <a:solidFill>
                        <a:srgbClr val="FF0000"/>
                      </a:solidFill>
                      <a:prstDash val="sysDash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FF0000"/>
                      </a:solidFill>
                      <a:prstDash val="sysDash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69545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76200">
                      <a:solidFill>
                        <a:srgbClr val="FF0000"/>
                      </a:solidFill>
                      <a:prstDash val="sysDash"/>
                    </a:lnL>
                    <a:lnR w="76200">
                      <a:solidFill>
                        <a:srgbClr val="FF0000"/>
                      </a:solidFill>
                      <a:prstDash val="sysDash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76200">
                      <a:solidFill>
                        <a:srgbClr val="FF0000"/>
                      </a:solidFill>
                      <a:prstDash val="sysDash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FF0000"/>
                      </a:solidFill>
                      <a:prstDash val="sysDash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69545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76200">
                      <a:solidFill>
                        <a:srgbClr val="FF0000"/>
                      </a:solidFill>
                      <a:prstDash val="sysDash"/>
                    </a:lnL>
                    <a:lnR w="76200">
                      <a:solidFill>
                        <a:srgbClr val="FF0000"/>
                      </a:solidFill>
                      <a:prstDash val="sysDash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76200">
                      <a:solidFill>
                        <a:srgbClr val="FF0000"/>
                      </a:solidFill>
                      <a:prstDash val="sysDash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FF0000"/>
                      </a:solidFill>
                      <a:prstDash val="sysDash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69545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76200">
                      <a:solidFill>
                        <a:srgbClr val="FF0000"/>
                      </a:solidFill>
                      <a:prstDash val="sysDash"/>
                    </a:lnL>
                    <a:lnR w="76200">
                      <a:solidFill>
                        <a:srgbClr val="FF0000"/>
                      </a:solidFill>
                      <a:prstDash val="sysDash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76200">
                      <a:solidFill>
                        <a:srgbClr val="FF0000"/>
                      </a:solidFill>
                      <a:prstDash val="sysDash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FF0000"/>
                      </a:solidFill>
                      <a:prstDash val="sysDash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69545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76200">
                      <a:solidFill>
                        <a:srgbClr val="FF0000"/>
                      </a:solidFill>
                      <a:prstDash val="sysDash"/>
                    </a:lnL>
                    <a:lnR w="76200">
                      <a:solidFill>
                        <a:srgbClr val="FF0000"/>
                      </a:solidFill>
                      <a:prstDash val="sysDash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76200">
                      <a:solidFill>
                        <a:srgbClr val="FF0000"/>
                      </a:solidFill>
                      <a:prstDash val="sysDash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FF0000"/>
                      </a:solidFill>
                      <a:prstDash val="sysDash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69545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76200">
                      <a:solidFill>
                        <a:srgbClr val="FF0000"/>
                      </a:solidFill>
                      <a:prstDash val="sysDash"/>
                    </a:lnL>
                    <a:lnR w="76200">
                      <a:solidFill>
                        <a:srgbClr val="FF0000"/>
                      </a:solidFill>
                      <a:prstDash val="sysDash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76200">
                      <a:solidFill>
                        <a:srgbClr val="FF0000"/>
                      </a:solidFill>
                      <a:prstDash val="sysDash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1" name="object 11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892297" y="201688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901243" y="2028763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15" name="object 15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7" name="object 17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6" name="object 6"/>
          <p:cNvGrpSpPr/>
          <p:nvPr/>
        </p:nvGrpSpPr>
        <p:grpSpPr>
          <a:xfrm>
            <a:off x="2729138" y="2468752"/>
            <a:ext cx="3130550" cy="4277360"/>
            <a:chOff x="2765298" y="2462402"/>
            <a:chExt cx="3130550" cy="4277360"/>
          </a:xfrm>
        </p:grpSpPr>
        <p:sp>
          <p:nvSpPr>
            <p:cNvPr id="7" name="object 7"/>
            <p:cNvSpPr/>
            <p:nvPr/>
          </p:nvSpPr>
          <p:spPr>
            <a:xfrm>
              <a:off x="3497580" y="2462402"/>
              <a:ext cx="1566545" cy="4277360"/>
            </a:xfrm>
            <a:custGeom>
              <a:avLst/>
              <a:gdLst/>
              <a:ahLst/>
              <a:cxnLst/>
              <a:rect l="l" t="t" r="r" b="b"/>
              <a:pathLst>
                <a:path w="1566545" h="4277359">
                  <a:moveTo>
                    <a:pt x="0" y="0"/>
                  </a:moveTo>
                  <a:lnTo>
                    <a:pt x="0" y="4277323"/>
                  </a:lnTo>
                </a:path>
                <a:path w="1566545" h="4277359">
                  <a:moveTo>
                    <a:pt x="521970" y="0"/>
                  </a:moveTo>
                  <a:lnTo>
                    <a:pt x="521970" y="4277323"/>
                  </a:lnTo>
                </a:path>
                <a:path w="1566545" h="4277359">
                  <a:moveTo>
                    <a:pt x="1044067" y="0"/>
                  </a:moveTo>
                  <a:lnTo>
                    <a:pt x="1044067" y="4277323"/>
                  </a:lnTo>
                </a:path>
                <a:path w="1566545" h="4277359">
                  <a:moveTo>
                    <a:pt x="1566164" y="0"/>
                  </a:moveTo>
                  <a:lnTo>
                    <a:pt x="1566164" y="4277323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2765298" y="3581400"/>
              <a:ext cx="3130550" cy="559435"/>
            </a:xfrm>
            <a:custGeom>
              <a:avLst/>
              <a:gdLst/>
              <a:ahLst/>
              <a:cxnLst/>
              <a:rect l="l" t="t" r="r" b="b"/>
              <a:pathLst>
                <a:path w="3130550" h="559435">
                  <a:moveTo>
                    <a:pt x="3130296" y="0"/>
                  </a:moveTo>
                  <a:lnTo>
                    <a:pt x="195071" y="0"/>
                  </a:lnTo>
                  <a:lnTo>
                    <a:pt x="195071" y="93218"/>
                  </a:lnTo>
                  <a:lnTo>
                    <a:pt x="0" y="39116"/>
                  </a:lnTo>
                  <a:lnTo>
                    <a:pt x="195071" y="233044"/>
                  </a:lnTo>
                  <a:lnTo>
                    <a:pt x="195071" y="559307"/>
                  </a:lnTo>
                  <a:lnTo>
                    <a:pt x="3130296" y="559307"/>
                  </a:lnTo>
                  <a:lnTo>
                    <a:pt x="3130296" y="0"/>
                  </a:lnTo>
                  <a:close/>
                </a:path>
              </a:pathLst>
            </a:custGeom>
            <a:solidFill>
              <a:srgbClr val="00519A"/>
            </a:solidFill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sp>
        <p:nvSpPr>
          <p:cNvPr id="20" name="文本框 19">
            <a:extLst>
              <a:ext uri="{FF2B5EF4-FFF2-40B4-BE49-F238E27FC236}">
                <a16:creationId xmlns:a16="http://schemas.microsoft.com/office/drawing/2014/main" id="{82CE4B47-EE66-6C4D-9415-CFAD2E5666C2}"/>
              </a:ext>
            </a:extLst>
          </p:cNvPr>
          <p:cNvSpPr txBox="1"/>
          <p:nvPr/>
        </p:nvSpPr>
        <p:spPr>
          <a:xfrm>
            <a:off x="3461420" y="3693226"/>
            <a:ext cx="189435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zh-CN" altLang="en-US" dirty="0">
                <a:solidFill>
                  <a:schemeClr val="bg1"/>
                </a:solidFill>
              </a:rPr>
              <a:t>初始化</a:t>
            </a:r>
          </a:p>
        </p:txBody>
      </p:sp>
      <p:sp>
        <p:nvSpPr>
          <p:cNvPr id="21" name="object 2">
            <a:extLst>
              <a:ext uri="{FF2B5EF4-FFF2-40B4-BE49-F238E27FC236}">
                <a16:creationId xmlns:a16="http://schemas.microsoft.com/office/drawing/2014/main" id="{467A1307-E467-7946-A3FE-B04423749D99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35582" y="133478"/>
            <a:ext cx="2160761" cy="627736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0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算法实</a:t>
            </a:r>
            <a:r>
              <a:rPr sz="40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例</a:t>
            </a:r>
            <a:endParaRPr sz="40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/>
          <p:nvPr/>
        </p:nvSpPr>
        <p:spPr>
          <a:xfrm>
            <a:off x="1931416" y="3561905"/>
            <a:ext cx="522605" cy="453390"/>
          </a:xfrm>
          <a:custGeom>
            <a:avLst/>
            <a:gdLst/>
            <a:ahLst/>
            <a:cxnLst/>
            <a:rect l="l" t="t" r="r" b="b"/>
            <a:pathLst>
              <a:path w="522605" h="453389">
                <a:moveTo>
                  <a:pt x="522058" y="0"/>
                </a:moveTo>
                <a:lnTo>
                  <a:pt x="0" y="0"/>
                </a:lnTo>
                <a:lnTo>
                  <a:pt x="0" y="453072"/>
                </a:lnTo>
                <a:lnTo>
                  <a:pt x="522058" y="453072"/>
                </a:lnTo>
                <a:lnTo>
                  <a:pt x="522058" y="0"/>
                </a:lnTo>
                <a:close/>
              </a:path>
            </a:pathLst>
          </a:custGeom>
          <a:solidFill>
            <a:srgbClr val="E7E7E7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pSp>
        <p:nvGrpSpPr>
          <p:cNvPr id="8" name="object 8"/>
          <p:cNvGrpSpPr/>
          <p:nvPr/>
        </p:nvGrpSpPr>
        <p:grpSpPr>
          <a:xfrm>
            <a:off x="2286000" y="1277238"/>
            <a:ext cx="762000" cy="762635"/>
            <a:chOff x="2286000" y="1277238"/>
            <a:chExt cx="762000" cy="762635"/>
          </a:xfrm>
        </p:grpSpPr>
        <p:sp>
          <p:nvSpPr>
            <p:cNvPr id="9" name="object 9"/>
            <p:cNvSpPr/>
            <p:nvPr/>
          </p:nvSpPr>
          <p:spPr>
            <a:xfrm>
              <a:off x="2286000" y="1277238"/>
              <a:ext cx="762000" cy="370840"/>
            </a:xfrm>
            <a:custGeom>
              <a:avLst/>
              <a:gdLst/>
              <a:ahLst/>
              <a:cxnLst/>
              <a:rect l="l" t="t" r="r" b="b"/>
              <a:pathLst>
                <a:path w="762000" h="370839">
                  <a:moveTo>
                    <a:pt x="762000" y="0"/>
                  </a:moveTo>
                  <a:lnTo>
                    <a:pt x="0" y="0"/>
                  </a:lnTo>
                  <a:lnTo>
                    <a:pt x="0" y="370839"/>
                  </a:lnTo>
                  <a:lnTo>
                    <a:pt x="762000" y="370839"/>
                  </a:lnTo>
                  <a:lnTo>
                    <a:pt x="762000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2286000" y="1648079"/>
              <a:ext cx="762000" cy="391795"/>
            </a:xfrm>
            <a:custGeom>
              <a:avLst/>
              <a:gdLst/>
              <a:ahLst/>
              <a:cxnLst/>
              <a:rect l="l" t="t" r="r" b="b"/>
              <a:pathLst>
                <a:path w="762000" h="391794">
                  <a:moveTo>
                    <a:pt x="762000" y="0"/>
                  </a:moveTo>
                  <a:lnTo>
                    <a:pt x="0" y="0"/>
                  </a:lnTo>
                  <a:lnTo>
                    <a:pt x="0" y="391795"/>
                  </a:lnTo>
                  <a:lnTo>
                    <a:pt x="762000" y="391795"/>
                  </a:lnTo>
                  <a:lnTo>
                    <a:pt x="762000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2" name="object 12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292857" y="1272539"/>
            <a:ext cx="720090" cy="774700"/>
          </a:xfrm>
          <a:custGeom>
            <a:avLst/>
            <a:gdLst/>
            <a:ahLst/>
            <a:cxnLst/>
            <a:rect l="l" t="t" r="r" b="b"/>
            <a:pathLst>
              <a:path w="720089" h="774700">
                <a:moveTo>
                  <a:pt x="0" y="120014"/>
                </a:moveTo>
                <a:lnTo>
                  <a:pt x="9429" y="73294"/>
                </a:lnTo>
                <a:lnTo>
                  <a:pt x="35147" y="35147"/>
                </a:lnTo>
                <a:lnTo>
                  <a:pt x="73294" y="9429"/>
                </a:lnTo>
                <a:lnTo>
                  <a:pt x="120015" y="0"/>
                </a:lnTo>
                <a:lnTo>
                  <a:pt x="600075" y="0"/>
                </a:lnTo>
                <a:lnTo>
                  <a:pt x="646795" y="9429"/>
                </a:lnTo>
                <a:lnTo>
                  <a:pt x="684942" y="35147"/>
                </a:lnTo>
                <a:lnTo>
                  <a:pt x="710660" y="73294"/>
                </a:lnTo>
                <a:lnTo>
                  <a:pt x="720090" y="120014"/>
                </a:lnTo>
                <a:lnTo>
                  <a:pt x="720090" y="654176"/>
                </a:lnTo>
                <a:lnTo>
                  <a:pt x="710660" y="700897"/>
                </a:lnTo>
                <a:lnTo>
                  <a:pt x="684942" y="739044"/>
                </a:lnTo>
                <a:lnTo>
                  <a:pt x="646795" y="764762"/>
                </a:lnTo>
                <a:lnTo>
                  <a:pt x="600075" y="774192"/>
                </a:lnTo>
                <a:lnTo>
                  <a:pt x="120015" y="774192"/>
                </a:lnTo>
                <a:lnTo>
                  <a:pt x="73294" y="764762"/>
                </a:lnTo>
                <a:lnTo>
                  <a:pt x="35147" y="739044"/>
                </a:lnTo>
                <a:lnTo>
                  <a:pt x="9429" y="700897"/>
                </a:lnTo>
                <a:lnTo>
                  <a:pt x="0" y="654176"/>
                </a:lnTo>
                <a:lnTo>
                  <a:pt x="0" y="120014"/>
                </a:lnTo>
                <a:close/>
              </a:path>
            </a:pathLst>
          </a:custGeom>
          <a:ln w="38099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988820" y="3571494"/>
            <a:ext cx="462280" cy="464820"/>
          </a:xfrm>
          <a:custGeom>
            <a:avLst/>
            <a:gdLst/>
            <a:ahLst/>
            <a:cxnLst/>
            <a:rect l="l" t="t" r="r" b="b"/>
            <a:pathLst>
              <a:path w="462280" h="464820">
                <a:moveTo>
                  <a:pt x="0" y="76961"/>
                </a:moveTo>
                <a:lnTo>
                  <a:pt x="6042" y="46988"/>
                </a:lnTo>
                <a:lnTo>
                  <a:pt x="22526" y="22526"/>
                </a:lnTo>
                <a:lnTo>
                  <a:pt x="46988" y="6042"/>
                </a:lnTo>
                <a:lnTo>
                  <a:pt x="76962" y="0"/>
                </a:lnTo>
                <a:lnTo>
                  <a:pt x="384810" y="0"/>
                </a:lnTo>
                <a:lnTo>
                  <a:pt x="414783" y="6042"/>
                </a:lnTo>
                <a:lnTo>
                  <a:pt x="439245" y="22526"/>
                </a:lnTo>
                <a:lnTo>
                  <a:pt x="455729" y="46988"/>
                </a:lnTo>
                <a:lnTo>
                  <a:pt x="461772" y="76961"/>
                </a:lnTo>
                <a:lnTo>
                  <a:pt x="461772" y="387857"/>
                </a:lnTo>
                <a:lnTo>
                  <a:pt x="455729" y="417831"/>
                </a:lnTo>
                <a:lnTo>
                  <a:pt x="439245" y="442293"/>
                </a:lnTo>
                <a:lnTo>
                  <a:pt x="414783" y="458777"/>
                </a:lnTo>
                <a:lnTo>
                  <a:pt x="384810" y="464819"/>
                </a:lnTo>
                <a:lnTo>
                  <a:pt x="76962" y="464819"/>
                </a:lnTo>
                <a:lnTo>
                  <a:pt x="46988" y="458777"/>
                </a:lnTo>
                <a:lnTo>
                  <a:pt x="22526" y="442293"/>
                </a:lnTo>
                <a:lnTo>
                  <a:pt x="6042" y="417831"/>
                </a:lnTo>
                <a:lnTo>
                  <a:pt x="0" y="387857"/>
                </a:lnTo>
                <a:lnTo>
                  <a:pt x="0" y="76961"/>
                </a:lnTo>
                <a:close/>
              </a:path>
            </a:pathLst>
          </a:custGeom>
          <a:ln w="38100">
            <a:solidFill>
              <a:srgbClr val="006FC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970402" y="1829561"/>
            <a:ext cx="1934210" cy="560070"/>
          </a:xfrm>
          <a:custGeom>
            <a:avLst/>
            <a:gdLst/>
            <a:ahLst/>
            <a:cxnLst/>
            <a:rect l="l" t="t" r="r" b="b"/>
            <a:pathLst>
              <a:path w="1934210" h="560069">
                <a:moveTo>
                  <a:pt x="1933829" y="0"/>
                </a:moveTo>
                <a:lnTo>
                  <a:pt x="447167" y="0"/>
                </a:lnTo>
                <a:lnTo>
                  <a:pt x="447167" y="93345"/>
                </a:lnTo>
                <a:lnTo>
                  <a:pt x="0" y="12953"/>
                </a:lnTo>
                <a:lnTo>
                  <a:pt x="447167" y="233299"/>
                </a:lnTo>
                <a:lnTo>
                  <a:pt x="447167" y="560070"/>
                </a:lnTo>
                <a:lnTo>
                  <a:pt x="1933829" y="560070"/>
                </a:lnTo>
                <a:lnTo>
                  <a:pt x="1933829" y="0"/>
                </a:lnTo>
                <a:close/>
              </a:path>
            </a:pathLst>
          </a:custGeom>
          <a:solidFill>
            <a:srgbClr val="0051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 txBox="1"/>
          <p:nvPr/>
        </p:nvSpPr>
        <p:spPr>
          <a:xfrm>
            <a:off x="3591052" y="1881632"/>
            <a:ext cx="105918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2400">
                <a:solidFill>
                  <a:srgbClr val="FFFFFF"/>
                </a:solidFill>
                <a:latin typeface="Cambria Math"/>
                <a:cs typeface="Cambria Math"/>
              </a:rPr>
              <a:t>𝑿</a:t>
            </a:r>
            <a:r>
              <a:rPr sz="2625" baseline="-15873">
                <a:solidFill>
                  <a:srgbClr val="FFFFFF"/>
                </a:solidFill>
                <a:latin typeface="Cambria Math"/>
                <a:cs typeface="Cambria Math"/>
              </a:rPr>
              <a:t>𝒊</a:t>
            </a:r>
            <a:r>
              <a:rPr sz="2625" spc="569" baseline="-15873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400">
                <a:solidFill>
                  <a:srgbClr val="FFFFFF"/>
                </a:solidFill>
                <a:latin typeface="Cambria Math"/>
                <a:cs typeface="Cambria Math"/>
              </a:rPr>
              <a:t>≠</a:t>
            </a:r>
            <a:r>
              <a:rPr sz="2400" spc="13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400" spc="-25">
                <a:solidFill>
                  <a:srgbClr val="FFFFFF"/>
                </a:solidFill>
                <a:latin typeface="Cambria Math"/>
                <a:cs typeface="Cambria Math"/>
              </a:rPr>
              <a:t>𝒀</a:t>
            </a:r>
            <a:r>
              <a:rPr sz="2625" spc="-37" baseline="-15873">
                <a:solidFill>
                  <a:srgbClr val="FFFFFF"/>
                </a:solidFill>
                <a:latin typeface="Cambria Math"/>
                <a:cs typeface="Cambria Math"/>
              </a:rPr>
              <a:t>𝒋</a:t>
            </a:r>
            <a:endParaRPr sz="2625" baseline="-15873">
              <a:latin typeface="Cambria Math"/>
              <a:cs typeface="Cambria Math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20" name="object 20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2" name="object 22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25" name="object 2">
            <a:extLst>
              <a:ext uri="{FF2B5EF4-FFF2-40B4-BE49-F238E27FC236}">
                <a16:creationId xmlns:a16="http://schemas.microsoft.com/office/drawing/2014/main" id="{8D1CBDF3-949C-BB49-B833-564C2BC6603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35582" y="133478"/>
            <a:ext cx="2160761" cy="627736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0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算法实</a:t>
            </a:r>
            <a:r>
              <a:rPr sz="4000"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例</a:t>
            </a:r>
            <a:endParaRPr sz="4000"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/>
          <p:nvPr/>
        </p:nvSpPr>
        <p:spPr>
          <a:xfrm>
            <a:off x="1409319" y="3561905"/>
            <a:ext cx="1044575" cy="453390"/>
          </a:xfrm>
          <a:custGeom>
            <a:avLst/>
            <a:gdLst/>
            <a:ahLst/>
            <a:cxnLst/>
            <a:rect l="l" t="t" r="r" b="b"/>
            <a:pathLst>
              <a:path w="1044575" h="453389">
                <a:moveTo>
                  <a:pt x="522058" y="0"/>
                </a:moveTo>
                <a:lnTo>
                  <a:pt x="0" y="0"/>
                </a:lnTo>
                <a:lnTo>
                  <a:pt x="0" y="453072"/>
                </a:lnTo>
                <a:lnTo>
                  <a:pt x="522058" y="453072"/>
                </a:lnTo>
                <a:lnTo>
                  <a:pt x="522058" y="0"/>
                </a:lnTo>
                <a:close/>
              </a:path>
              <a:path w="1044575" h="453389">
                <a:moveTo>
                  <a:pt x="1044155" y="0"/>
                </a:moveTo>
                <a:lnTo>
                  <a:pt x="522097" y="0"/>
                </a:lnTo>
                <a:lnTo>
                  <a:pt x="522097" y="453072"/>
                </a:lnTo>
                <a:lnTo>
                  <a:pt x="1044155" y="453072"/>
                </a:lnTo>
                <a:lnTo>
                  <a:pt x="1044155" y="0"/>
                </a:lnTo>
                <a:close/>
              </a:path>
            </a:pathLst>
          </a:custGeom>
          <a:solidFill>
            <a:srgbClr val="E7E7E7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pSp>
        <p:nvGrpSpPr>
          <p:cNvPr id="8" name="object 8"/>
          <p:cNvGrpSpPr/>
          <p:nvPr/>
        </p:nvGrpSpPr>
        <p:grpSpPr>
          <a:xfrm>
            <a:off x="2286000" y="1277238"/>
            <a:ext cx="762000" cy="762635"/>
            <a:chOff x="2286000" y="1277238"/>
            <a:chExt cx="762000" cy="762635"/>
          </a:xfrm>
        </p:grpSpPr>
        <p:sp>
          <p:nvSpPr>
            <p:cNvPr id="9" name="object 9"/>
            <p:cNvSpPr/>
            <p:nvPr/>
          </p:nvSpPr>
          <p:spPr>
            <a:xfrm>
              <a:off x="2286000" y="1277238"/>
              <a:ext cx="762000" cy="370840"/>
            </a:xfrm>
            <a:custGeom>
              <a:avLst/>
              <a:gdLst/>
              <a:ahLst/>
              <a:cxnLst/>
              <a:rect l="l" t="t" r="r" b="b"/>
              <a:pathLst>
                <a:path w="762000" h="370839">
                  <a:moveTo>
                    <a:pt x="762000" y="0"/>
                  </a:moveTo>
                  <a:lnTo>
                    <a:pt x="0" y="0"/>
                  </a:lnTo>
                  <a:lnTo>
                    <a:pt x="0" y="370839"/>
                  </a:lnTo>
                  <a:lnTo>
                    <a:pt x="762000" y="370839"/>
                  </a:lnTo>
                  <a:lnTo>
                    <a:pt x="762000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2286000" y="1648079"/>
              <a:ext cx="762000" cy="391795"/>
            </a:xfrm>
            <a:custGeom>
              <a:avLst/>
              <a:gdLst/>
              <a:ahLst/>
              <a:cxnLst/>
              <a:rect l="l" t="t" r="r" b="b"/>
              <a:pathLst>
                <a:path w="762000" h="391794">
                  <a:moveTo>
                    <a:pt x="762000" y="0"/>
                  </a:moveTo>
                  <a:lnTo>
                    <a:pt x="0" y="0"/>
                  </a:lnTo>
                  <a:lnTo>
                    <a:pt x="0" y="391795"/>
                  </a:lnTo>
                  <a:lnTo>
                    <a:pt x="762000" y="391795"/>
                  </a:lnTo>
                  <a:lnTo>
                    <a:pt x="762000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2" name="object 12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292857" y="1272539"/>
            <a:ext cx="720090" cy="774700"/>
          </a:xfrm>
          <a:custGeom>
            <a:avLst/>
            <a:gdLst/>
            <a:ahLst/>
            <a:cxnLst/>
            <a:rect l="l" t="t" r="r" b="b"/>
            <a:pathLst>
              <a:path w="720089" h="774700">
                <a:moveTo>
                  <a:pt x="0" y="120014"/>
                </a:moveTo>
                <a:lnTo>
                  <a:pt x="9429" y="73294"/>
                </a:lnTo>
                <a:lnTo>
                  <a:pt x="35147" y="35147"/>
                </a:lnTo>
                <a:lnTo>
                  <a:pt x="73294" y="9429"/>
                </a:lnTo>
                <a:lnTo>
                  <a:pt x="120015" y="0"/>
                </a:lnTo>
                <a:lnTo>
                  <a:pt x="600075" y="0"/>
                </a:lnTo>
                <a:lnTo>
                  <a:pt x="646795" y="9429"/>
                </a:lnTo>
                <a:lnTo>
                  <a:pt x="684942" y="35147"/>
                </a:lnTo>
                <a:lnTo>
                  <a:pt x="710660" y="73294"/>
                </a:lnTo>
                <a:lnTo>
                  <a:pt x="720090" y="120014"/>
                </a:lnTo>
                <a:lnTo>
                  <a:pt x="720090" y="654176"/>
                </a:lnTo>
                <a:lnTo>
                  <a:pt x="710660" y="700897"/>
                </a:lnTo>
                <a:lnTo>
                  <a:pt x="684942" y="739044"/>
                </a:lnTo>
                <a:lnTo>
                  <a:pt x="646795" y="764762"/>
                </a:lnTo>
                <a:lnTo>
                  <a:pt x="600075" y="774192"/>
                </a:lnTo>
                <a:lnTo>
                  <a:pt x="120015" y="774192"/>
                </a:lnTo>
                <a:lnTo>
                  <a:pt x="73294" y="764762"/>
                </a:lnTo>
                <a:lnTo>
                  <a:pt x="35147" y="739044"/>
                </a:lnTo>
                <a:lnTo>
                  <a:pt x="9429" y="700897"/>
                </a:lnTo>
                <a:lnTo>
                  <a:pt x="0" y="654176"/>
                </a:lnTo>
                <a:lnTo>
                  <a:pt x="0" y="120014"/>
                </a:lnTo>
                <a:close/>
              </a:path>
            </a:pathLst>
          </a:custGeom>
          <a:ln w="38099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" name="object 14"/>
          <p:cNvGrpSpPr/>
          <p:nvPr/>
        </p:nvGrpSpPr>
        <p:grpSpPr>
          <a:xfrm>
            <a:off x="1423416" y="3547871"/>
            <a:ext cx="1046480" cy="508000"/>
            <a:chOff x="1423416" y="3547871"/>
            <a:chExt cx="1046480" cy="508000"/>
          </a:xfrm>
        </p:grpSpPr>
        <p:sp>
          <p:nvSpPr>
            <p:cNvPr id="15" name="object 15"/>
            <p:cNvSpPr/>
            <p:nvPr/>
          </p:nvSpPr>
          <p:spPr>
            <a:xfrm>
              <a:off x="1988820" y="3571493"/>
              <a:ext cx="462280" cy="464820"/>
            </a:xfrm>
            <a:custGeom>
              <a:avLst/>
              <a:gdLst/>
              <a:ahLst/>
              <a:cxnLst/>
              <a:rect l="l" t="t" r="r" b="b"/>
              <a:pathLst>
                <a:path w="462280" h="464820">
                  <a:moveTo>
                    <a:pt x="0" y="76961"/>
                  </a:moveTo>
                  <a:lnTo>
                    <a:pt x="6042" y="46988"/>
                  </a:lnTo>
                  <a:lnTo>
                    <a:pt x="22526" y="22526"/>
                  </a:lnTo>
                  <a:lnTo>
                    <a:pt x="46988" y="6042"/>
                  </a:lnTo>
                  <a:lnTo>
                    <a:pt x="76962" y="0"/>
                  </a:lnTo>
                  <a:lnTo>
                    <a:pt x="384810" y="0"/>
                  </a:lnTo>
                  <a:lnTo>
                    <a:pt x="414783" y="6042"/>
                  </a:lnTo>
                  <a:lnTo>
                    <a:pt x="439245" y="22526"/>
                  </a:lnTo>
                  <a:lnTo>
                    <a:pt x="455729" y="46988"/>
                  </a:lnTo>
                  <a:lnTo>
                    <a:pt x="461772" y="76961"/>
                  </a:lnTo>
                  <a:lnTo>
                    <a:pt x="461772" y="387857"/>
                  </a:lnTo>
                  <a:lnTo>
                    <a:pt x="455729" y="417831"/>
                  </a:lnTo>
                  <a:lnTo>
                    <a:pt x="439245" y="442293"/>
                  </a:lnTo>
                  <a:lnTo>
                    <a:pt x="414783" y="458777"/>
                  </a:lnTo>
                  <a:lnTo>
                    <a:pt x="384810" y="464819"/>
                  </a:lnTo>
                  <a:lnTo>
                    <a:pt x="76962" y="464819"/>
                  </a:lnTo>
                  <a:lnTo>
                    <a:pt x="46988" y="458777"/>
                  </a:lnTo>
                  <a:lnTo>
                    <a:pt x="22526" y="442293"/>
                  </a:lnTo>
                  <a:lnTo>
                    <a:pt x="6042" y="417831"/>
                  </a:lnTo>
                  <a:lnTo>
                    <a:pt x="0" y="387857"/>
                  </a:lnTo>
                  <a:lnTo>
                    <a:pt x="0" y="76961"/>
                  </a:lnTo>
                  <a:close/>
                </a:path>
              </a:pathLst>
            </a:custGeom>
            <a:ln w="38100">
              <a:solidFill>
                <a:srgbClr val="006FC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442466" y="3566921"/>
              <a:ext cx="462280" cy="464184"/>
            </a:xfrm>
            <a:custGeom>
              <a:avLst/>
              <a:gdLst/>
              <a:ahLst/>
              <a:cxnLst/>
              <a:rect l="l" t="t" r="r" b="b"/>
              <a:pathLst>
                <a:path w="462280" h="464184">
                  <a:moveTo>
                    <a:pt x="0" y="76961"/>
                  </a:moveTo>
                  <a:lnTo>
                    <a:pt x="6042" y="46988"/>
                  </a:lnTo>
                  <a:lnTo>
                    <a:pt x="22526" y="22526"/>
                  </a:lnTo>
                  <a:lnTo>
                    <a:pt x="46988" y="6042"/>
                  </a:lnTo>
                  <a:lnTo>
                    <a:pt x="76962" y="0"/>
                  </a:lnTo>
                  <a:lnTo>
                    <a:pt x="384809" y="0"/>
                  </a:lnTo>
                  <a:lnTo>
                    <a:pt x="414783" y="6042"/>
                  </a:lnTo>
                  <a:lnTo>
                    <a:pt x="439245" y="22526"/>
                  </a:lnTo>
                  <a:lnTo>
                    <a:pt x="455729" y="46988"/>
                  </a:lnTo>
                  <a:lnTo>
                    <a:pt x="461772" y="76961"/>
                  </a:lnTo>
                  <a:lnTo>
                    <a:pt x="461772" y="387095"/>
                  </a:lnTo>
                  <a:lnTo>
                    <a:pt x="455729" y="417069"/>
                  </a:lnTo>
                  <a:lnTo>
                    <a:pt x="439245" y="441531"/>
                  </a:lnTo>
                  <a:lnTo>
                    <a:pt x="414783" y="458015"/>
                  </a:lnTo>
                  <a:lnTo>
                    <a:pt x="384809" y="464057"/>
                  </a:lnTo>
                  <a:lnTo>
                    <a:pt x="76962" y="464057"/>
                  </a:lnTo>
                  <a:lnTo>
                    <a:pt x="46988" y="458015"/>
                  </a:lnTo>
                  <a:lnTo>
                    <a:pt x="22526" y="441531"/>
                  </a:lnTo>
                  <a:lnTo>
                    <a:pt x="6042" y="417069"/>
                  </a:lnTo>
                  <a:lnTo>
                    <a:pt x="0" y="387095"/>
                  </a:lnTo>
                  <a:lnTo>
                    <a:pt x="0" y="76961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" name="object 17"/>
          <p:cNvSpPr/>
          <p:nvPr/>
        </p:nvSpPr>
        <p:spPr>
          <a:xfrm>
            <a:off x="2970402" y="1829561"/>
            <a:ext cx="1934210" cy="560070"/>
          </a:xfrm>
          <a:custGeom>
            <a:avLst/>
            <a:gdLst/>
            <a:ahLst/>
            <a:cxnLst/>
            <a:rect l="l" t="t" r="r" b="b"/>
            <a:pathLst>
              <a:path w="1934210" h="560069">
                <a:moveTo>
                  <a:pt x="1933829" y="0"/>
                </a:moveTo>
                <a:lnTo>
                  <a:pt x="447167" y="0"/>
                </a:lnTo>
                <a:lnTo>
                  <a:pt x="447167" y="93345"/>
                </a:lnTo>
                <a:lnTo>
                  <a:pt x="0" y="12953"/>
                </a:lnTo>
                <a:lnTo>
                  <a:pt x="447167" y="233299"/>
                </a:lnTo>
                <a:lnTo>
                  <a:pt x="447167" y="560070"/>
                </a:lnTo>
                <a:lnTo>
                  <a:pt x="1933829" y="560070"/>
                </a:lnTo>
                <a:lnTo>
                  <a:pt x="1933829" y="0"/>
                </a:lnTo>
                <a:close/>
              </a:path>
            </a:pathLst>
          </a:custGeom>
          <a:solidFill>
            <a:srgbClr val="0051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 txBox="1"/>
          <p:nvPr/>
        </p:nvSpPr>
        <p:spPr>
          <a:xfrm>
            <a:off x="3591052" y="1881632"/>
            <a:ext cx="105918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2400">
                <a:solidFill>
                  <a:srgbClr val="FFFFFF"/>
                </a:solidFill>
                <a:latin typeface="Cambria Math"/>
                <a:cs typeface="Cambria Math"/>
              </a:rPr>
              <a:t>𝑿</a:t>
            </a:r>
            <a:r>
              <a:rPr sz="2625" baseline="-15873">
                <a:solidFill>
                  <a:srgbClr val="FFFFFF"/>
                </a:solidFill>
                <a:latin typeface="Cambria Math"/>
                <a:cs typeface="Cambria Math"/>
              </a:rPr>
              <a:t>𝒊</a:t>
            </a:r>
            <a:r>
              <a:rPr sz="2625" spc="569" baseline="-15873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400">
                <a:solidFill>
                  <a:srgbClr val="FFFFFF"/>
                </a:solidFill>
                <a:latin typeface="Cambria Math"/>
                <a:cs typeface="Cambria Math"/>
              </a:rPr>
              <a:t>≠</a:t>
            </a:r>
            <a:r>
              <a:rPr sz="2400" spc="13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400" spc="-25">
                <a:solidFill>
                  <a:srgbClr val="FFFFFF"/>
                </a:solidFill>
                <a:latin typeface="Cambria Math"/>
                <a:cs typeface="Cambria Math"/>
              </a:rPr>
              <a:t>𝒀</a:t>
            </a:r>
            <a:r>
              <a:rPr sz="2625" spc="-37" baseline="-15873">
                <a:solidFill>
                  <a:srgbClr val="FFFFFF"/>
                </a:solidFill>
                <a:latin typeface="Cambria Math"/>
                <a:cs typeface="Cambria Math"/>
              </a:rPr>
              <a:t>𝒋</a:t>
            </a:r>
            <a:endParaRPr sz="2625" baseline="-15873">
              <a:latin typeface="Cambria Math"/>
              <a:cs typeface="Cambria Math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1986533" y="3102101"/>
            <a:ext cx="462280" cy="464820"/>
          </a:xfrm>
          <a:custGeom>
            <a:avLst/>
            <a:gdLst/>
            <a:ahLst/>
            <a:cxnLst/>
            <a:rect l="l" t="t" r="r" b="b"/>
            <a:pathLst>
              <a:path w="462280" h="464820">
                <a:moveTo>
                  <a:pt x="0" y="76962"/>
                </a:moveTo>
                <a:lnTo>
                  <a:pt x="6042" y="46988"/>
                </a:lnTo>
                <a:lnTo>
                  <a:pt x="22526" y="22526"/>
                </a:lnTo>
                <a:lnTo>
                  <a:pt x="46988" y="6042"/>
                </a:lnTo>
                <a:lnTo>
                  <a:pt x="76962" y="0"/>
                </a:lnTo>
                <a:lnTo>
                  <a:pt x="384810" y="0"/>
                </a:lnTo>
                <a:lnTo>
                  <a:pt x="414783" y="6042"/>
                </a:lnTo>
                <a:lnTo>
                  <a:pt x="439245" y="22526"/>
                </a:lnTo>
                <a:lnTo>
                  <a:pt x="455729" y="46988"/>
                </a:lnTo>
                <a:lnTo>
                  <a:pt x="461772" y="76962"/>
                </a:lnTo>
                <a:lnTo>
                  <a:pt x="461772" y="387858"/>
                </a:lnTo>
                <a:lnTo>
                  <a:pt x="455729" y="417831"/>
                </a:lnTo>
                <a:lnTo>
                  <a:pt x="439245" y="442293"/>
                </a:lnTo>
                <a:lnTo>
                  <a:pt x="414783" y="458777"/>
                </a:lnTo>
                <a:lnTo>
                  <a:pt x="384810" y="464820"/>
                </a:lnTo>
                <a:lnTo>
                  <a:pt x="76962" y="464820"/>
                </a:lnTo>
                <a:lnTo>
                  <a:pt x="46988" y="458777"/>
                </a:lnTo>
                <a:lnTo>
                  <a:pt x="22526" y="442293"/>
                </a:lnTo>
                <a:lnTo>
                  <a:pt x="6042" y="417831"/>
                </a:lnTo>
                <a:lnTo>
                  <a:pt x="0" y="387858"/>
                </a:lnTo>
                <a:lnTo>
                  <a:pt x="0" y="76962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23" name="object 23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5" name="object 25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56052"/>
            <a:ext cx="4189095" cy="4290060"/>
            <a:chOff x="881278" y="2456052"/>
            <a:chExt cx="4189095" cy="429006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409319" y="3561905"/>
              <a:ext cx="1044575" cy="453390"/>
            </a:xfrm>
            <a:custGeom>
              <a:avLst/>
              <a:gdLst/>
              <a:ahLst/>
              <a:cxnLst/>
              <a:rect l="l" t="t" r="r" b="b"/>
              <a:pathLst>
                <a:path w="1044575" h="453389">
                  <a:moveTo>
                    <a:pt x="522058" y="0"/>
                  </a:moveTo>
                  <a:lnTo>
                    <a:pt x="0" y="0"/>
                  </a:lnTo>
                  <a:lnTo>
                    <a:pt x="0" y="453072"/>
                  </a:lnTo>
                  <a:lnTo>
                    <a:pt x="522058" y="453072"/>
                  </a:lnTo>
                  <a:lnTo>
                    <a:pt x="522058" y="0"/>
                  </a:lnTo>
                  <a:close/>
                </a:path>
                <a:path w="1044575" h="453389">
                  <a:moveTo>
                    <a:pt x="1044155" y="0"/>
                  </a:moveTo>
                  <a:lnTo>
                    <a:pt x="522097" y="0"/>
                  </a:lnTo>
                  <a:lnTo>
                    <a:pt x="522097" y="453072"/>
                  </a:lnTo>
                  <a:lnTo>
                    <a:pt x="1044155" y="453072"/>
                  </a:lnTo>
                  <a:lnTo>
                    <a:pt x="1044155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 flipH="1">
              <a:off x="2453386" y="2462402"/>
              <a:ext cx="0" cy="4277360"/>
            </a:xfrm>
            <a:custGeom>
              <a:avLst/>
              <a:gdLst/>
              <a:ahLst/>
              <a:cxnLst/>
              <a:rect l="l" t="t" r="r" b="b"/>
              <a:pathLst>
                <a:path h="4277359">
                  <a:moveTo>
                    <a:pt x="0" y="0"/>
                  </a:moveTo>
                  <a:lnTo>
                    <a:pt x="0" y="4277323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2975482" y="2462402"/>
              <a:ext cx="2088514" cy="4277360"/>
            </a:xfrm>
            <a:custGeom>
              <a:avLst/>
              <a:gdLst/>
              <a:ahLst/>
              <a:cxnLst/>
              <a:rect l="l" t="t" r="r" b="b"/>
              <a:pathLst>
                <a:path w="2088514" h="4277359">
                  <a:moveTo>
                    <a:pt x="0" y="0"/>
                  </a:moveTo>
                  <a:lnTo>
                    <a:pt x="0" y="4277323"/>
                  </a:lnTo>
                </a:path>
                <a:path w="2088514" h="4277359">
                  <a:moveTo>
                    <a:pt x="522096" y="0"/>
                  </a:moveTo>
                  <a:lnTo>
                    <a:pt x="522096" y="4277323"/>
                  </a:lnTo>
                </a:path>
                <a:path w="2088514" h="4277359">
                  <a:moveTo>
                    <a:pt x="1044067" y="0"/>
                  </a:moveTo>
                  <a:lnTo>
                    <a:pt x="1044067" y="4277323"/>
                  </a:lnTo>
                </a:path>
                <a:path w="2088514" h="4277359">
                  <a:moveTo>
                    <a:pt x="1566164" y="0"/>
                  </a:moveTo>
                  <a:lnTo>
                    <a:pt x="1566164" y="4277323"/>
                  </a:lnTo>
                </a:path>
                <a:path w="2088514" h="4277359">
                  <a:moveTo>
                    <a:pt x="2088261" y="0"/>
                  </a:moveTo>
                  <a:lnTo>
                    <a:pt x="2088261" y="4277323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" name="object 9"/>
          <p:cNvGrpSpPr/>
          <p:nvPr/>
        </p:nvGrpSpPr>
        <p:grpSpPr>
          <a:xfrm>
            <a:off x="6843776" y="2454020"/>
            <a:ext cx="534670" cy="652780"/>
            <a:chOff x="6861047" y="2462783"/>
            <a:chExt cx="534670" cy="652780"/>
          </a:xfrm>
        </p:grpSpPr>
        <p:sp>
          <p:nvSpPr>
            <p:cNvPr id="10" name="object 10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13" name="object 13"/>
          <p:cNvGrpSpPr/>
          <p:nvPr/>
        </p:nvGrpSpPr>
        <p:grpSpPr>
          <a:xfrm>
            <a:off x="2286000" y="1277238"/>
            <a:ext cx="762000" cy="762635"/>
            <a:chOff x="2286000" y="1277238"/>
            <a:chExt cx="762000" cy="762635"/>
          </a:xfrm>
        </p:grpSpPr>
        <p:sp>
          <p:nvSpPr>
            <p:cNvPr id="14" name="object 14"/>
            <p:cNvSpPr/>
            <p:nvPr/>
          </p:nvSpPr>
          <p:spPr>
            <a:xfrm>
              <a:off x="2286000" y="1277238"/>
              <a:ext cx="762000" cy="370840"/>
            </a:xfrm>
            <a:custGeom>
              <a:avLst/>
              <a:gdLst/>
              <a:ahLst/>
              <a:cxnLst/>
              <a:rect l="l" t="t" r="r" b="b"/>
              <a:pathLst>
                <a:path w="762000" h="370839">
                  <a:moveTo>
                    <a:pt x="762000" y="0"/>
                  </a:moveTo>
                  <a:lnTo>
                    <a:pt x="0" y="0"/>
                  </a:lnTo>
                  <a:lnTo>
                    <a:pt x="0" y="370839"/>
                  </a:lnTo>
                  <a:lnTo>
                    <a:pt x="762000" y="370839"/>
                  </a:lnTo>
                  <a:lnTo>
                    <a:pt x="762000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2286000" y="1648079"/>
              <a:ext cx="762000" cy="391795"/>
            </a:xfrm>
            <a:custGeom>
              <a:avLst/>
              <a:gdLst/>
              <a:ahLst/>
              <a:cxnLst/>
              <a:rect l="l" t="t" r="r" b="b"/>
              <a:pathLst>
                <a:path w="762000" h="391794">
                  <a:moveTo>
                    <a:pt x="762000" y="0"/>
                  </a:moveTo>
                  <a:lnTo>
                    <a:pt x="0" y="0"/>
                  </a:lnTo>
                  <a:lnTo>
                    <a:pt x="0" y="391795"/>
                  </a:lnTo>
                  <a:lnTo>
                    <a:pt x="762000" y="391795"/>
                  </a:lnTo>
                  <a:lnTo>
                    <a:pt x="762000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6" name="object 16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7" name="object 17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292857" y="1272539"/>
            <a:ext cx="720090" cy="774700"/>
          </a:xfrm>
          <a:custGeom>
            <a:avLst/>
            <a:gdLst/>
            <a:ahLst/>
            <a:cxnLst/>
            <a:rect l="l" t="t" r="r" b="b"/>
            <a:pathLst>
              <a:path w="720089" h="774700">
                <a:moveTo>
                  <a:pt x="0" y="120014"/>
                </a:moveTo>
                <a:lnTo>
                  <a:pt x="9429" y="73294"/>
                </a:lnTo>
                <a:lnTo>
                  <a:pt x="35147" y="35147"/>
                </a:lnTo>
                <a:lnTo>
                  <a:pt x="73294" y="9429"/>
                </a:lnTo>
                <a:lnTo>
                  <a:pt x="120015" y="0"/>
                </a:lnTo>
                <a:lnTo>
                  <a:pt x="600075" y="0"/>
                </a:lnTo>
                <a:lnTo>
                  <a:pt x="646795" y="9429"/>
                </a:lnTo>
                <a:lnTo>
                  <a:pt x="684942" y="35147"/>
                </a:lnTo>
                <a:lnTo>
                  <a:pt x="710660" y="73294"/>
                </a:lnTo>
                <a:lnTo>
                  <a:pt x="720090" y="120014"/>
                </a:lnTo>
                <a:lnTo>
                  <a:pt x="720090" y="654176"/>
                </a:lnTo>
                <a:lnTo>
                  <a:pt x="710660" y="700897"/>
                </a:lnTo>
                <a:lnTo>
                  <a:pt x="684942" y="739044"/>
                </a:lnTo>
                <a:lnTo>
                  <a:pt x="646795" y="764762"/>
                </a:lnTo>
                <a:lnTo>
                  <a:pt x="600075" y="774192"/>
                </a:lnTo>
                <a:lnTo>
                  <a:pt x="120015" y="774192"/>
                </a:lnTo>
                <a:lnTo>
                  <a:pt x="73294" y="764762"/>
                </a:lnTo>
                <a:lnTo>
                  <a:pt x="35147" y="739044"/>
                </a:lnTo>
                <a:lnTo>
                  <a:pt x="9429" y="700897"/>
                </a:lnTo>
                <a:lnTo>
                  <a:pt x="0" y="654176"/>
                </a:lnTo>
                <a:lnTo>
                  <a:pt x="0" y="120014"/>
                </a:lnTo>
                <a:close/>
              </a:path>
            </a:pathLst>
          </a:custGeom>
          <a:ln w="38099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970402" y="1829561"/>
            <a:ext cx="1934210" cy="560070"/>
          </a:xfrm>
          <a:custGeom>
            <a:avLst/>
            <a:gdLst/>
            <a:ahLst/>
            <a:cxnLst/>
            <a:rect l="l" t="t" r="r" b="b"/>
            <a:pathLst>
              <a:path w="1934210" h="560069">
                <a:moveTo>
                  <a:pt x="1933829" y="0"/>
                </a:moveTo>
                <a:lnTo>
                  <a:pt x="447167" y="0"/>
                </a:lnTo>
                <a:lnTo>
                  <a:pt x="447167" y="93345"/>
                </a:lnTo>
                <a:lnTo>
                  <a:pt x="0" y="12953"/>
                </a:lnTo>
                <a:lnTo>
                  <a:pt x="447167" y="233299"/>
                </a:lnTo>
                <a:lnTo>
                  <a:pt x="447167" y="560070"/>
                </a:lnTo>
                <a:lnTo>
                  <a:pt x="1933829" y="560070"/>
                </a:lnTo>
                <a:lnTo>
                  <a:pt x="1933829" y="0"/>
                </a:lnTo>
                <a:close/>
              </a:path>
            </a:pathLst>
          </a:custGeom>
          <a:solidFill>
            <a:srgbClr val="0051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 txBox="1"/>
          <p:nvPr/>
        </p:nvSpPr>
        <p:spPr>
          <a:xfrm>
            <a:off x="3591052" y="1881632"/>
            <a:ext cx="105918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2400">
                <a:solidFill>
                  <a:srgbClr val="FFFFFF"/>
                </a:solidFill>
                <a:latin typeface="Cambria Math"/>
                <a:cs typeface="Cambria Math"/>
              </a:rPr>
              <a:t>𝑿</a:t>
            </a:r>
            <a:r>
              <a:rPr sz="2625" baseline="-15873">
                <a:solidFill>
                  <a:srgbClr val="FFFFFF"/>
                </a:solidFill>
                <a:latin typeface="Cambria Math"/>
                <a:cs typeface="Cambria Math"/>
              </a:rPr>
              <a:t>𝒊</a:t>
            </a:r>
            <a:r>
              <a:rPr sz="2625" spc="569" baseline="-15873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400">
                <a:solidFill>
                  <a:srgbClr val="FFFFFF"/>
                </a:solidFill>
                <a:latin typeface="Cambria Math"/>
                <a:cs typeface="Cambria Math"/>
              </a:rPr>
              <a:t>≠</a:t>
            </a:r>
            <a:r>
              <a:rPr sz="2400" spc="13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400" spc="-25">
                <a:solidFill>
                  <a:srgbClr val="FFFFFF"/>
                </a:solidFill>
                <a:latin typeface="Cambria Math"/>
                <a:cs typeface="Cambria Math"/>
              </a:rPr>
              <a:t>𝒀</a:t>
            </a:r>
            <a:r>
              <a:rPr sz="2625" spc="-37" baseline="-15873">
                <a:solidFill>
                  <a:srgbClr val="FFFFFF"/>
                </a:solidFill>
                <a:latin typeface="Cambria Math"/>
                <a:cs typeface="Cambria Math"/>
              </a:rPr>
              <a:t>𝒋</a:t>
            </a:r>
            <a:endParaRPr sz="2625" baseline="-15873">
              <a:latin typeface="Cambria Math"/>
              <a:cs typeface="Cambria Math"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7400671" y="7493379"/>
            <a:ext cx="66675" cy="11430"/>
          </a:xfrm>
          <a:custGeom>
            <a:avLst/>
            <a:gdLst/>
            <a:ahLst/>
            <a:cxnLst/>
            <a:rect l="l" t="t" r="r" b="b"/>
            <a:pathLst>
              <a:path w="66675" h="11429">
                <a:moveTo>
                  <a:pt x="0" y="11430"/>
                </a:moveTo>
                <a:lnTo>
                  <a:pt x="66421" y="11430"/>
                </a:lnTo>
                <a:lnTo>
                  <a:pt x="66421" y="0"/>
                </a:lnTo>
                <a:lnTo>
                  <a:pt x="0" y="0"/>
                </a:lnTo>
                <a:lnTo>
                  <a:pt x="0" y="1143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6843776" y="7493379"/>
            <a:ext cx="66675" cy="11430"/>
          </a:xfrm>
          <a:custGeom>
            <a:avLst/>
            <a:gdLst/>
            <a:ahLst/>
            <a:cxnLst/>
            <a:rect l="l" t="t" r="r" b="b"/>
            <a:pathLst>
              <a:path w="66675" h="11429">
                <a:moveTo>
                  <a:pt x="0" y="11430"/>
                </a:moveTo>
                <a:lnTo>
                  <a:pt x="66421" y="11430"/>
                </a:lnTo>
                <a:lnTo>
                  <a:pt x="66421" y="0"/>
                </a:lnTo>
                <a:lnTo>
                  <a:pt x="0" y="0"/>
                </a:lnTo>
                <a:lnTo>
                  <a:pt x="0" y="1143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27" name="object 2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655180"/>
              </p:ext>
            </p:extLst>
          </p:nvPr>
        </p:nvGraphicFramePr>
        <p:xfrm>
          <a:off x="898553" y="2477387"/>
          <a:ext cx="4593588" cy="42614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9403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981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9344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33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3200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133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54940" marR="414655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0320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33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54940" marR="41465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414655"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524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28575">
                      <a:solidFill>
                        <a:srgbClr val="FFFFFF"/>
                      </a:solidFill>
                      <a:prstDash val="solid"/>
                    </a:lnR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414655"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28575">
                      <a:solidFill>
                        <a:srgbClr val="FFFFFF"/>
                      </a:solidFill>
                      <a:prstDash val="solid"/>
                    </a:lnL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69240">
                        <a:lnSpc>
                          <a:spcPts val="1800"/>
                        </a:lnSpc>
                      </a:pPr>
                      <a:endParaRPr sz="2400" dirty="0">
                        <a:latin typeface="Cambria Math"/>
                        <a:cs typeface="Cambria Math"/>
                      </a:endParaRPr>
                    </a:p>
                  </a:txBody>
                  <a:tcPr marL="0" marR="0" marT="0" marB="0"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ts val="1800"/>
                        </a:lnSpc>
                      </a:pPr>
                      <a:endParaRPr sz="2400" dirty="0">
                        <a:latin typeface="Cambria Math"/>
                        <a:cs typeface="Cambria Math"/>
                      </a:endParaRPr>
                    </a:p>
                  </a:txBody>
                  <a:tcPr marL="0" marR="0" marT="0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30810">
                        <a:lnSpc>
                          <a:spcPts val="1800"/>
                        </a:lnSpc>
                      </a:pPr>
                      <a:r>
                        <a:rPr sz="2400" spc="130" dirty="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endParaRPr sz="2400" dirty="0">
                        <a:latin typeface="Cambria Math"/>
                        <a:cs typeface="Cambria Math"/>
                      </a:endParaRPr>
                    </a:p>
                  </a:txBody>
                  <a:tcPr marL="0" marR="0" marT="0" marB="0">
                    <a:lnL w="28575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00"/>
                        </a:lnSpc>
                      </a:pPr>
                      <a:endParaRPr sz="2400" dirty="0">
                        <a:latin typeface="Cambria Math"/>
                        <a:cs typeface="Cambria Math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dirty="0">
                          <a:latin typeface="Times New Roman"/>
                          <a:cs typeface="Times New Roman"/>
                        </a:rPr>
                        <a:t>3</a:t>
                      </a:r>
                      <a:endParaRPr sz="18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414655"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414655"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414655"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414655"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414655"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29" name="object 29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409319" y="3090354"/>
            <a:ext cx="5443855" cy="1275715"/>
            <a:chOff x="1423416" y="3083051"/>
            <a:chExt cx="5443855" cy="1275715"/>
          </a:xfrm>
        </p:grpSpPr>
        <p:sp>
          <p:nvSpPr>
            <p:cNvPr id="20" name="object 20"/>
            <p:cNvSpPr/>
            <p:nvPr/>
          </p:nvSpPr>
          <p:spPr>
            <a:xfrm>
              <a:off x="1988820" y="3571493"/>
              <a:ext cx="462280" cy="464820"/>
            </a:xfrm>
            <a:custGeom>
              <a:avLst/>
              <a:gdLst/>
              <a:ahLst/>
              <a:cxnLst/>
              <a:rect l="l" t="t" r="r" b="b"/>
              <a:pathLst>
                <a:path w="462280" h="464820">
                  <a:moveTo>
                    <a:pt x="0" y="76961"/>
                  </a:moveTo>
                  <a:lnTo>
                    <a:pt x="6042" y="46988"/>
                  </a:lnTo>
                  <a:lnTo>
                    <a:pt x="22526" y="22526"/>
                  </a:lnTo>
                  <a:lnTo>
                    <a:pt x="46988" y="6042"/>
                  </a:lnTo>
                  <a:lnTo>
                    <a:pt x="76962" y="0"/>
                  </a:lnTo>
                  <a:lnTo>
                    <a:pt x="384810" y="0"/>
                  </a:lnTo>
                  <a:lnTo>
                    <a:pt x="414783" y="6042"/>
                  </a:lnTo>
                  <a:lnTo>
                    <a:pt x="439245" y="22526"/>
                  </a:lnTo>
                  <a:lnTo>
                    <a:pt x="455729" y="46988"/>
                  </a:lnTo>
                  <a:lnTo>
                    <a:pt x="461772" y="76961"/>
                  </a:lnTo>
                  <a:lnTo>
                    <a:pt x="461772" y="387857"/>
                  </a:lnTo>
                  <a:lnTo>
                    <a:pt x="455729" y="417831"/>
                  </a:lnTo>
                  <a:lnTo>
                    <a:pt x="439245" y="442293"/>
                  </a:lnTo>
                  <a:lnTo>
                    <a:pt x="414783" y="458777"/>
                  </a:lnTo>
                  <a:lnTo>
                    <a:pt x="384810" y="464819"/>
                  </a:lnTo>
                  <a:lnTo>
                    <a:pt x="76962" y="464819"/>
                  </a:lnTo>
                  <a:lnTo>
                    <a:pt x="46988" y="458777"/>
                  </a:lnTo>
                  <a:lnTo>
                    <a:pt x="22526" y="442293"/>
                  </a:lnTo>
                  <a:lnTo>
                    <a:pt x="6042" y="417831"/>
                  </a:lnTo>
                  <a:lnTo>
                    <a:pt x="0" y="387857"/>
                  </a:lnTo>
                  <a:lnTo>
                    <a:pt x="0" y="76961"/>
                  </a:lnTo>
                  <a:close/>
                </a:path>
              </a:pathLst>
            </a:custGeom>
            <a:ln w="38100">
              <a:solidFill>
                <a:srgbClr val="006FC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442466" y="3102101"/>
              <a:ext cx="1005840" cy="929005"/>
            </a:xfrm>
            <a:custGeom>
              <a:avLst/>
              <a:gdLst/>
              <a:ahLst/>
              <a:cxnLst/>
              <a:rect l="l" t="t" r="r" b="b"/>
              <a:pathLst>
                <a:path w="1005839" h="929003">
                  <a:moveTo>
                    <a:pt x="0" y="541782"/>
                  </a:moveTo>
                  <a:lnTo>
                    <a:pt x="6042" y="511808"/>
                  </a:lnTo>
                  <a:lnTo>
                    <a:pt x="22526" y="487346"/>
                  </a:lnTo>
                  <a:lnTo>
                    <a:pt x="46988" y="470862"/>
                  </a:lnTo>
                  <a:lnTo>
                    <a:pt x="76962" y="464820"/>
                  </a:lnTo>
                  <a:lnTo>
                    <a:pt x="384809" y="464820"/>
                  </a:lnTo>
                  <a:lnTo>
                    <a:pt x="414783" y="470862"/>
                  </a:lnTo>
                  <a:lnTo>
                    <a:pt x="439245" y="487346"/>
                  </a:lnTo>
                  <a:lnTo>
                    <a:pt x="455729" y="511808"/>
                  </a:lnTo>
                  <a:lnTo>
                    <a:pt x="461772" y="541782"/>
                  </a:lnTo>
                  <a:lnTo>
                    <a:pt x="461772" y="851916"/>
                  </a:lnTo>
                  <a:lnTo>
                    <a:pt x="455729" y="881889"/>
                  </a:lnTo>
                  <a:lnTo>
                    <a:pt x="439245" y="906351"/>
                  </a:lnTo>
                  <a:lnTo>
                    <a:pt x="414783" y="922835"/>
                  </a:lnTo>
                  <a:lnTo>
                    <a:pt x="384809" y="928878"/>
                  </a:lnTo>
                  <a:lnTo>
                    <a:pt x="76962" y="928878"/>
                  </a:lnTo>
                  <a:lnTo>
                    <a:pt x="46988" y="922835"/>
                  </a:lnTo>
                  <a:lnTo>
                    <a:pt x="22526" y="906351"/>
                  </a:lnTo>
                  <a:lnTo>
                    <a:pt x="6042" y="881889"/>
                  </a:lnTo>
                  <a:lnTo>
                    <a:pt x="0" y="851916"/>
                  </a:lnTo>
                  <a:lnTo>
                    <a:pt x="0" y="541782"/>
                  </a:lnTo>
                  <a:close/>
                </a:path>
                <a:path w="1005839" h="929003">
                  <a:moveTo>
                    <a:pt x="544067" y="76962"/>
                  </a:moveTo>
                  <a:lnTo>
                    <a:pt x="550110" y="46988"/>
                  </a:lnTo>
                  <a:lnTo>
                    <a:pt x="566594" y="22526"/>
                  </a:lnTo>
                  <a:lnTo>
                    <a:pt x="591056" y="6042"/>
                  </a:lnTo>
                  <a:lnTo>
                    <a:pt x="621029" y="0"/>
                  </a:lnTo>
                  <a:lnTo>
                    <a:pt x="928878" y="0"/>
                  </a:lnTo>
                  <a:lnTo>
                    <a:pt x="958851" y="6042"/>
                  </a:lnTo>
                  <a:lnTo>
                    <a:pt x="983313" y="22526"/>
                  </a:lnTo>
                  <a:lnTo>
                    <a:pt x="999797" y="46988"/>
                  </a:lnTo>
                  <a:lnTo>
                    <a:pt x="1005840" y="76962"/>
                  </a:lnTo>
                  <a:lnTo>
                    <a:pt x="1005840" y="387858"/>
                  </a:lnTo>
                  <a:lnTo>
                    <a:pt x="999797" y="417831"/>
                  </a:lnTo>
                  <a:lnTo>
                    <a:pt x="983313" y="442293"/>
                  </a:lnTo>
                  <a:lnTo>
                    <a:pt x="958851" y="458777"/>
                  </a:lnTo>
                  <a:lnTo>
                    <a:pt x="928878" y="464820"/>
                  </a:lnTo>
                  <a:lnTo>
                    <a:pt x="621029" y="464820"/>
                  </a:lnTo>
                  <a:lnTo>
                    <a:pt x="591056" y="458777"/>
                  </a:lnTo>
                  <a:lnTo>
                    <a:pt x="566594" y="442293"/>
                  </a:lnTo>
                  <a:lnTo>
                    <a:pt x="550110" y="417831"/>
                  </a:lnTo>
                  <a:lnTo>
                    <a:pt x="544067" y="387858"/>
                  </a:lnTo>
                  <a:lnTo>
                    <a:pt x="544067" y="76962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2197100" y="3799331"/>
              <a:ext cx="4670425" cy="559435"/>
            </a:xfrm>
            <a:custGeom>
              <a:avLst/>
              <a:gdLst/>
              <a:ahLst/>
              <a:cxnLst/>
              <a:rect l="l" t="t" r="r" b="b"/>
              <a:pathLst>
                <a:path w="4670425" h="559435">
                  <a:moveTo>
                    <a:pt x="4670044" y="0"/>
                  </a:moveTo>
                  <a:lnTo>
                    <a:pt x="431038" y="0"/>
                  </a:lnTo>
                  <a:lnTo>
                    <a:pt x="431038" y="93218"/>
                  </a:lnTo>
                  <a:lnTo>
                    <a:pt x="0" y="21717"/>
                  </a:lnTo>
                  <a:lnTo>
                    <a:pt x="431038" y="233045"/>
                  </a:lnTo>
                  <a:lnTo>
                    <a:pt x="431038" y="559308"/>
                  </a:lnTo>
                  <a:lnTo>
                    <a:pt x="4670044" y="559308"/>
                  </a:lnTo>
                  <a:lnTo>
                    <a:pt x="4670044" y="0"/>
                  </a:lnTo>
                  <a:close/>
                </a:path>
              </a:pathLst>
            </a:custGeom>
            <a:solidFill>
              <a:srgbClr val="0051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33" name="文本框 32">
            <a:extLst>
              <a:ext uri="{FF2B5EF4-FFF2-40B4-BE49-F238E27FC236}">
                <a16:creationId xmlns:a16="http://schemas.microsoft.com/office/drawing/2014/main" id="{28F5F7BE-8775-064F-AF35-B573A2D64282}"/>
              </a:ext>
            </a:extLst>
          </p:cNvPr>
          <p:cNvSpPr txBox="1"/>
          <p:nvPr/>
        </p:nvSpPr>
        <p:spPr>
          <a:xfrm>
            <a:off x="3136340" y="3877935"/>
            <a:ext cx="322091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zh-CN" sz="20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C[1,1]=max{C[1,0],C[0,1]}</a:t>
            </a:r>
            <a:endParaRPr kumimoji="1" lang="zh-CN" altLang="en-US" sz="2000" b="1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/>
          <p:nvPr/>
        </p:nvSpPr>
        <p:spPr>
          <a:xfrm>
            <a:off x="1931416" y="3561905"/>
            <a:ext cx="522605" cy="453390"/>
          </a:xfrm>
          <a:custGeom>
            <a:avLst/>
            <a:gdLst/>
            <a:ahLst/>
            <a:cxnLst/>
            <a:rect l="l" t="t" r="r" b="b"/>
            <a:pathLst>
              <a:path w="522605" h="453389">
                <a:moveTo>
                  <a:pt x="522058" y="0"/>
                </a:moveTo>
                <a:lnTo>
                  <a:pt x="0" y="0"/>
                </a:lnTo>
                <a:lnTo>
                  <a:pt x="0" y="453072"/>
                </a:lnTo>
                <a:lnTo>
                  <a:pt x="522058" y="453072"/>
                </a:lnTo>
                <a:lnTo>
                  <a:pt x="522058" y="0"/>
                </a:lnTo>
                <a:close/>
              </a:path>
            </a:pathLst>
          </a:custGeom>
          <a:solidFill>
            <a:srgbClr val="E7E7E7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pSp>
        <p:nvGrpSpPr>
          <p:cNvPr id="8" name="object 8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9" name="object 9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2" name="object 12"/>
          <p:cNvSpPr/>
          <p:nvPr/>
        </p:nvSpPr>
        <p:spPr>
          <a:xfrm>
            <a:off x="2286000" y="1277238"/>
            <a:ext cx="762000" cy="370840"/>
          </a:xfrm>
          <a:custGeom>
            <a:avLst/>
            <a:gdLst/>
            <a:ahLst/>
            <a:cxnLst/>
            <a:rect l="l" t="t" r="r" b="b"/>
            <a:pathLst>
              <a:path w="762000" h="370839">
                <a:moveTo>
                  <a:pt x="762000" y="0"/>
                </a:moveTo>
                <a:lnTo>
                  <a:pt x="0" y="0"/>
                </a:lnTo>
                <a:lnTo>
                  <a:pt x="0" y="370839"/>
                </a:lnTo>
                <a:lnTo>
                  <a:pt x="762000" y="370839"/>
                </a:lnTo>
                <a:lnTo>
                  <a:pt x="762000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3" name="object 13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 dirty="0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 dirty="0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 dirty="0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4" name="object 14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292857" y="1272539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9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90" y="65150"/>
                </a:lnTo>
                <a:lnTo>
                  <a:pt x="720090" y="325755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9" y="390906"/>
                </a:lnTo>
                <a:lnTo>
                  <a:pt x="65150" y="390906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5"/>
                </a:lnTo>
                <a:lnTo>
                  <a:pt x="0" y="65150"/>
                </a:lnTo>
                <a:close/>
              </a:path>
            </a:pathLst>
          </a:custGeom>
          <a:ln w="38099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956816" y="3566921"/>
            <a:ext cx="462280" cy="464184"/>
          </a:xfrm>
          <a:custGeom>
            <a:avLst/>
            <a:gdLst/>
            <a:ahLst/>
            <a:cxnLst/>
            <a:rect l="l" t="t" r="r" b="b"/>
            <a:pathLst>
              <a:path w="462280" h="464184">
                <a:moveTo>
                  <a:pt x="0" y="76961"/>
                </a:moveTo>
                <a:lnTo>
                  <a:pt x="6042" y="46988"/>
                </a:lnTo>
                <a:lnTo>
                  <a:pt x="22526" y="22526"/>
                </a:lnTo>
                <a:lnTo>
                  <a:pt x="46988" y="6042"/>
                </a:lnTo>
                <a:lnTo>
                  <a:pt x="76961" y="0"/>
                </a:lnTo>
                <a:lnTo>
                  <a:pt x="384809" y="0"/>
                </a:lnTo>
                <a:lnTo>
                  <a:pt x="414783" y="6042"/>
                </a:lnTo>
                <a:lnTo>
                  <a:pt x="439245" y="22526"/>
                </a:lnTo>
                <a:lnTo>
                  <a:pt x="455729" y="46988"/>
                </a:lnTo>
                <a:lnTo>
                  <a:pt x="461771" y="76961"/>
                </a:lnTo>
                <a:lnTo>
                  <a:pt x="461771" y="387095"/>
                </a:lnTo>
                <a:lnTo>
                  <a:pt x="455729" y="417069"/>
                </a:lnTo>
                <a:lnTo>
                  <a:pt x="439245" y="441531"/>
                </a:lnTo>
                <a:lnTo>
                  <a:pt x="414783" y="458015"/>
                </a:lnTo>
                <a:lnTo>
                  <a:pt x="384809" y="464057"/>
                </a:lnTo>
                <a:lnTo>
                  <a:pt x="76961" y="464057"/>
                </a:lnTo>
                <a:lnTo>
                  <a:pt x="46988" y="458015"/>
                </a:lnTo>
                <a:lnTo>
                  <a:pt x="22526" y="441531"/>
                </a:lnTo>
                <a:lnTo>
                  <a:pt x="6042" y="417069"/>
                </a:lnTo>
                <a:lnTo>
                  <a:pt x="0" y="387095"/>
                </a:lnTo>
                <a:lnTo>
                  <a:pt x="0" y="76961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491739" y="3102101"/>
            <a:ext cx="462280" cy="464820"/>
          </a:xfrm>
          <a:custGeom>
            <a:avLst/>
            <a:gdLst/>
            <a:ahLst/>
            <a:cxnLst/>
            <a:rect l="l" t="t" r="r" b="b"/>
            <a:pathLst>
              <a:path w="462280" h="464820">
                <a:moveTo>
                  <a:pt x="0" y="76962"/>
                </a:moveTo>
                <a:lnTo>
                  <a:pt x="6042" y="46988"/>
                </a:lnTo>
                <a:lnTo>
                  <a:pt x="22526" y="22526"/>
                </a:lnTo>
                <a:lnTo>
                  <a:pt x="46988" y="6042"/>
                </a:lnTo>
                <a:lnTo>
                  <a:pt x="76962" y="0"/>
                </a:lnTo>
                <a:lnTo>
                  <a:pt x="384810" y="0"/>
                </a:lnTo>
                <a:lnTo>
                  <a:pt x="414783" y="6042"/>
                </a:lnTo>
                <a:lnTo>
                  <a:pt x="439245" y="22526"/>
                </a:lnTo>
                <a:lnTo>
                  <a:pt x="455729" y="46988"/>
                </a:lnTo>
                <a:lnTo>
                  <a:pt x="461772" y="76962"/>
                </a:lnTo>
                <a:lnTo>
                  <a:pt x="461772" y="387858"/>
                </a:lnTo>
                <a:lnTo>
                  <a:pt x="455729" y="417831"/>
                </a:lnTo>
                <a:lnTo>
                  <a:pt x="439245" y="442293"/>
                </a:lnTo>
                <a:lnTo>
                  <a:pt x="414783" y="458777"/>
                </a:lnTo>
                <a:lnTo>
                  <a:pt x="384810" y="464820"/>
                </a:lnTo>
                <a:lnTo>
                  <a:pt x="76962" y="464820"/>
                </a:lnTo>
                <a:lnTo>
                  <a:pt x="46988" y="458777"/>
                </a:lnTo>
                <a:lnTo>
                  <a:pt x="22526" y="442293"/>
                </a:lnTo>
                <a:lnTo>
                  <a:pt x="6042" y="417831"/>
                </a:lnTo>
                <a:lnTo>
                  <a:pt x="0" y="387858"/>
                </a:lnTo>
                <a:lnTo>
                  <a:pt x="0" y="76962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079242" y="1660398"/>
            <a:ext cx="720090" cy="390525"/>
          </a:xfrm>
          <a:custGeom>
            <a:avLst/>
            <a:gdLst/>
            <a:ahLst/>
            <a:cxnLst/>
            <a:rect l="l" t="t" r="r" b="b"/>
            <a:pathLst>
              <a:path w="720089" h="390525">
                <a:moveTo>
                  <a:pt x="0" y="65024"/>
                </a:moveTo>
                <a:lnTo>
                  <a:pt x="5105" y="39701"/>
                </a:lnTo>
                <a:lnTo>
                  <a:pt x="19034" y="19034"/>
                </a:lnTo>
                <a:lnTo>
                  <a:pt x="39701" y="5105"/>
                </a:lnTo>
                <a:lnTo>
                  <a:pt x="65024" y="0"/>
                </a:lnTo>
                <a:lnTo>
                  <a:pt x="655066" y="0"/>
                </a:lnTo>
                <a:lnTo>
                  <a:pt x="680388" y="5105"/>
                </a:lnTo>
                <a:lnTo>
                  <a:pt x="701055" y="19034"/>
                </a:lnTo>
                <a:lnTo>
                  <a:pt x="714984" y="39701"/>
                </a:lnTo>
                <a:lnTo>
                  <a:pt x="720090" y="65024"/>
                </a:lnTo>
                <a:lnTo>
                  <a:pt x="720090" y="325119"/>
                </a:lnTo>
                <a:lnTo>
                  <a:pt x="714984" y="350442"/>
                </a:lnTo>
                <a:lnTo>
                  <a:pt x="701055" y="371109"/>
                </a:lnTo>
                <a:lnTo>
                  <a:pt x="680388" y="385038"/>
                </a:lnTo>
                <a:lnTo>
                  <a:pt x="655066" y="390143"/>
                </a:lnTo>
                <a:lnTo>
                  <a:pt x="65024" y="390143"/>
                </a:lnTo>
                <a:lnTo>
                  <a:pt x="39701" y="385038"/>
                </a:lnTo>
                <a:lnTo>
                  <a:pt x="19034" y="371109"/>
                </a:lnTo>
                <a:lnTo>
                  <a:pt x="5105" y="350442"/>
                </a:lnTo>
                <a:lnTo>
                  <a:pt x="0" y="325119"/>
                </a:lnTo>
                <a:lnTo>
                  <a:pt x="0" y="65024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/>
          <p:nvPr/>
        </p:nvSpPr>
        <p:spPr>
          <a:xfrm>
            <a:off x="2453385" y="3561905"/>
            <a:ext cx="522605" cy="453390"/>
          </a:xfrm>
          <a:custGeom>
            <a:avLst/>
            <a:gdLst/>
            <a:ahLst/>
            <a:cxnLst/>
            <a:rect l="l" t="t" r="r" b="b"/>
            <a:pathLst>
              <a:path w="522605" h="453389">
                <a:moveTo>
                  <a:pt x="522058" y="0"/>
                </a:moveTo>
                <a:lnTo>
                  <a:pt x="0" y="0"/>
                </a:lnTo>
                <a:lnTo>
                  <a:pt x="0" y="453072"/>
                </a:lnTo>
                <a:lnTo>
                  <a:pt x="522058" y="453072"/>
                </a:lnTo>
                <a:lnTo>
                  <a:pt x="522058" y="0"/>
                </a:lnTo>
                <a:close/>
              </a:path>
            </a:pathLst>
          </a:custGeom>
          <a:solidFill>
            <a:srgbClr val="E7E7E7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pSp>
        <p:nvGrpSpPr>
          <p:cNvPr id="8" name="object 8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9" name="object 9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2" name="object 12"/>
          <p:cNvSpPr/>
          <p:nvPr/>
        </p:nvSpPr>
        <p:spPr>
          <a:xfrm>
            <a:off x="2286000" y="1277238"/>
            <a:ext cx="762000" cy="370840"/>
          </a:xfrm>
          <a:custGeom>
            <a:avLst/>
            <a:gdLst/>
            <a:ahLst/>
            <a:cxnLst/>
            <a:rect l="l" t="t" r="r" b="b"/>
            <a:pathLst>
              <a:path w="762000" h="370839">
                <a:moveTo>
                  <a:pt x="762000" y="0"/>
                </a:moveTo>
                <a:lnTo>
                  <a:pt x="0" y="0"/>
                </a:lnTo>
                <a:lnTo>
                  <a:pt x="0" y="370839"/>
                </a:lnTo>
                <a:lnTo>
                  <a:pt x="762000" y="370839"/>
                </a:lnTo>
                <a:lnTo>
                  <a:pt x="762000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3" name="object 13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4" name="object 14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292857" y="1272539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9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90" y="65150"/>
                </a:lnTo>
                <a:lnTo>
                  <a:pt x="720090" y="325755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9" y="390906"/>
                </a:lnTo>
                <a:lnTo>
                  <a:pt x="65150" y="390906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5"/>
                </a:lnTo>
                <a:lnTo>
                  <a:pt x="0" y="65150"/>
                </a:lnTo>
                <a:close/>
              </a:path>
            </a:pathLst>
          </a:custGeom>
          <a:ln w="38099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478785" y="3566921"/>
            <a:ext cx="462280" cy="464184"/>
          </a:xfrm>
          <a:custGeom>
            <a:avLst/>
            <a:gdLst/>
            <a:ahLst/>
            <a:cxnLst/>
            <a:rect l="l" t="t" r="r" b="b"/>
            <a:pathLst>
              <a:path w="462280" h="464184">
                <a:moveTo>
                  <a:pt x="0" y="76961"/>
                </a:moveTo>
                <a:lnTo>
                  <a:pt x="6042" y="46988"/>
                </a:lnTo>
                <a:lnTo>
                  <a:pt x="22526" y="22526"/>
                </a:lnTo>
                <a:lnTo>
                  <a:pt x="46988" y="6042"/>
                </a:lnTo>
                <a:lnTo>
                  <a:pt x="76962" y="0"/>
                </a:lnTo>
                <a:lnTo>
                  <a:pt x="384809" y="0"/>
                </a:lnTo>
                <a:lnTo>
                  <a:pt x="414783" y="6042"/>
                </a:lnTo>
                <a:lnTo>
                  <a:pt x="439245" y="22526"/>
                </a:lnTo>
                <a:lnTo>
                  <a:pt x="455729" y="46988"/>
                </a:lnTo>
                <a:lnTo>
                  <a:pt x="461771" y="76961"/>
                </a:lnTo>
                <a:lnTo>
                  <a:pt x="461771" y="387095"/>
                </a:lnTo>
                <a:lnTo>
                  <a:pt x="455729" y="417069"/>
                </a:lnTo>
                <a:lnTo>
                  <a:pt x="439245" y="441531"/>
                </a:lnTo>
                <a:lnTo>
                  <a:pt x="414783" y="458015"/>
                </a:lnTo>
                <a:lnTo>
                  <a:pt x="384809" y="464057"/>
                </a:lnTo>
                <a:lnTo>
                  <a:pt x="76962" y="464057"/>
                </a:lnTo>
                <a:lnTo>
                  <a:pt x="46988" y="458015"/>
                </a:lnTo>
                <a:lnTo>
                  <a:pt x="22526" y="441531"/>
                </a:lnTo>
                <a:lnTo>
                  <a:pt x="6042" y="417069"/>
                </a:lnTo>
                <a:lnTo>
                  <a:pt x="0" y="387095"/>
                </a:lnTo>
                <a:lnTo>
                  <a:pt x="0" y="76961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014472" y="3102101"/>
            <a:ext cx="461009" cy="464820"/>
          </a:xfrm>
          <a:custGeom>
            <a:avLst/>
            <a:gdLst/>
            <a:ahLst/>
            <a:cxnLst/>
            <a:rect l="l" t="t" r="r" b="b"/>
            <a:pathLst>
              <a:path w="461009" h="464820">
                <a:moveTo>
                  <a:pt x="0" y="76835"/>
                </a:moveTo>
                <a:lnTo>
                  <a:pt x="6040" y="46934"/>
                </a:lnTo>
                <a:lnTo>
                  <a:pt x="22510" y="22510"/>
                </a:lnTo>
                <a:lnTo>
                  <a:pt x="46934" y="6040"/>
                </a:lnTo>
                <a:lnTo>
                  <a:pt x="76834" y="0"/>
                </a:lnTo>
                <a:lnTo>
                  <a:pt x="384175" y="0"/>
                </a:lnTo>
                <a:lnTo>
                  <a:pt x="414075" y="6040"/>
                </a:lnTo>
                <a:lnTo>
                  <a:pt x="438499" y="22510"/>
                </a:lnTo>
                <a:lnTo>
                  <a:pt x="454969" y="46934"/>
                </a:lnTo>
                <a:lnTo>
                  <a:pt x="461010" y="76835"/>
                </a:lnTo>
                <a:lnTo>
                  <a:pt x="461010" y="387985"/>
                </a:lnTo>
                <a:lnTo>
                  <a:pt x="454969" y="417885"/>
                </a:lnTo>
                <a:lnTo>
                  <a:pt x="438499" y="442309"/>
                </a:lnTo>
                <a:lnTo>
                  <a:pt x="414075" y="458779"/>
                </a:lnTo>
                <a:lnTo>
                  <a:pt x="384175" y="464820"/>
                </a:lnTo>
                <a:lnTo>
                  <a:pt x="76834" y="464820"/>
                </a:lnTo>
                <a:lnTo>
                  <a:pt x="46934" y="458779"/>
                </a:lnTo>
                <a:lnTo>
                  <a:pt x="22510" y="442309"/>
                </a:lnTo>
                <a:lnTo>
                  <a:pt x="6040" y="417885"/>
                </a:lnTo>
                <a:lnTo>
                  <a:pt x="0" y="387985"/>
                </a:lnTo>
                <a:lnTo>
                  <a:pt x="0" y="76835"/>
                </a:lnTo>
                <a:close/>
              </a:path>
            </a:pathLst>
          </a:custGeom>
          <a:ln w="38099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802379" y="1660398"/>
            <a:ext cx="720090" cy="390525"/>
          </a:xfrm>
          <a:custGeom>
            <a:avLst/>
            <a:gdLst/>
            <a:ahLst/>
            <a:cxnLst/>
            <a:rect l="l" t="t" r="r" b="b"/>
            <a:pathLst>
              <a:path w="720089" h="390525">
                <a:moveTo>
                  <a:pt x="0" y="65024"/>
                </a:moveTo>
                <a:lnTo>
                  <a:pt x="5105" y="39701"/>
                </a:lnTo>
                <a:lnTo>
                  <a:pt x="19034" y="19034"/>
                </a:lnTo>
                <a:lnTo>
                  <a:pt x="39701" y="5105"/>
                </a:lnTo>
                <a:lnTo>
                  <a:pt x="65024" y="0"/>
                </a:lnTo>
                <a:lnTo>
                  <a:pt x="655066" y="0"/>
                </a:lnTo>
                <a:lnTo>
                  <a:pt x="680388" y="5105"/>
                </a:lnTo>
                <a:lnTo>
                  <a:pt x="701055" y="19034"/>
                </a:lnTo>
                <a:lnTo>
                  <a:pt x="714984" y="39701"/>
                </a:lnTo>
                <a:lnTo>
                  <a:pt x="720090" y="65024"/>
                </a:lnTo>
                <a:lnTo>
                  <a:pt x="720090" y="325119"/>
                </a:lnTo>
                <a:lnTo>
                  <a:pt x="714984" y="350442"/>
                </a:lnTo>
                <a:lnTo>
                  <a:pt x="701055" y="371109"/>
                </a:lnTo>
                <a:lnTo>
                  <a:pt x="680388" y="385038"/>
                </a:lnTo>
                <a:lnTo>
                  <a:pt x="655066" y="390143"/>
                </a:lnTo>
                <a:lnTo>
                  <a:pt x="65024" y="390143"/>
                </a:lnTo>
                <a:lnTo>
                  <a:pt x="39701" y="385038"/>
                </a:lnTo>
                <a:lnTo>
                  <a:pt x="19034" y="371109"/>
                </a:lnTo>
                <a:lnTo>
                  <a:pt x="5105" y="350442"/>
                </a:lnTo>
                <a:lnTo>
                  <a:pt x="0" y="325119"/>
                </a:lnTo>
                <a:lnTo>
                  <a:pt x="0" y="65024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9" name="object 9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/>
          <p:nvPr/>
        </p:nvSpPr>
        <p:spPr>
          <a:xfrm>
            <a:off x="2286000" y="1277238"/>
            <a:ext cx="762000" cy="370840"/>
          </a:xfrm>
          <a:custGeom>
            <a:avLst/>
            <a:gdLst/>
            <a:ahLst/>
            <a:cxnLst/>
            <a:rect l="l" t="t" r="r" b="b"/>
            <a:pathLst>
              <a:path w="762000" h="370839">
                <a:moveTo>
                  <a:pt x="762000" y="0"/>
                </a:moveTo>
                <a:lnTo>
                  <a:pt x="0" y="0"/>
                </a:lnTo>
                <a:lnTo>
                  <a:pt x="0" y="370839"/>
                </a:lnTo>
                <a:lnTo>
                  <a:pt x="762000" y="370839"/>
                </a:lnTo>
                <a:lnTo>
                  <a:pt x="762000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4" name="object 14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5" name="object 15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292857" y="1272539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9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90" y="65150"/>
                </a:lnTo>
                <a:lnTo>
                  <a:pt x="720090" y="325755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9" y="390906"/>
                </a:lnTo>
                <a:lnTo>
                  <a:pt x="65150" y="390906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5"/>
                </a:lnTo>
                <a:lnTo>
                  <a:pt x="0" y="65150"/>
                </a:lnTo>
                <a:close/>
              </a:path>
            </a:pathLst>
          </a:custGeom>
          <a:ln w="38099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4577334" y="1660398"/>
            <a:ext cx="720090" cy="390525"/>
          </a:xfrm>
          <a:custGeom>
            <a:avLst/>
            <a:gdLst/>
            <a:ahLst/>
            <a:cxnLst/>
            <a:rect l="l" t="t" r="r" b="b"/>
            <a:pathLst>
              <a:path w="720089" h="390525">
                <a:moveTo>
                  <a:pt x="0" y="65024"/>
                </a:moveTo>
                <a:lnTo>
                  <a:pt x="5105" y="39701"/>
                </a:lnTo>
                <a:lnTo>
                  <a:pt x="19034" y="19034"/>
                </a:lnTo>
                <a:lnTo>
                  <a:pt x="39701" y="5105"/>
                </a:lnTo>
                <a:lnTo>
                  <a:pt x="65024" y="0"/>
                </a:lnTo>
                <a:lnTo>
                  <a:pt x="655065" y="0"/>
                </a:lnTo>
                <a:lnTo>
                  <a:pt x="680388" y="5105"/>
                </a:lnTo>
                <a:lnTo>
                  <a:pt x="701055" y="19034"/>
                </a:lnTo>
                <a:lnTo>
                  <a:pt x="714984" y="39701"/>
                </a:lnTo>
                <a:lnTo>
                  <a:pt x="720089" y="65024"/>
                </a:lnTo>
                <a:lnTo>
                  <a:pt x="720089" y="325119"/>
                </a:lnTo>
                <a:lnTo>
                  <a:pt x="714984" y="350442"/>
                </a:lnTo>
                <a:lnTo>
                  <a:pt x="701055" y="371109"/>
                </a:lnTo>
                <a:lnTo>
                  <a:pt x="680388" y="385038"/>
                </a:lnTo>
                <a:lnTo>
                  <a:pt x="655065" y="390143"/>
                </a:lnTo>
                <a:lnTo>
                  <a:pt x="65024" y="390143"/>
                </a:lnTo>
                <a:lnTo>
                  <a:pt x="39701" y="385038"/>
                </a:lnTo>
                <a:lnTo>
                  <a:pt x="19034" y="371109"/>
                </a:lnTo>
                <a:lnTo>
                  <a:pt x="5105" y="350442"/>
                </a:lnTo>
                <a:lnTo>
                  <a:pt x="0" y="325119"/>
                </a:lnTo>
                <a:lnTo>
                  <a:pt x="0" y="65024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316728" y="1998726"/>
            <a:ext cx="1585595" cy="560070"/>
          </a:xfrm>
          <a:custGeom>
            <a:avLst/>
            <a:gdLst/>
            <a:ahLst/>
            <a:cxnLst/>
            <a:rect l="l" t="t" r="r" b="b"/>
            <a:pathLst>
              <a:path w="1585595" h="560069">
                <a:moveTo>
                  <a:pt x="1585468" y="0"/>
                </a:moveTo>
                <a:lnTo>
                  <a:pt x="98806" y="0"/>
                </a:lnTo>
                <a:lnTo>
                  <a:pt x="98806" y="93345"/>
                </a:lnTo>
                <a:lnTo>
                  <a:pt x="0" y="39115"/>
                </a:lnTo>
                <a:lnTo>
                  <a:pt x="98806" y="233299"/>
                </a:lnTo>
                <a:lnTo>
                  <a:pt x="98806" y="560070"/>
                </a:lnTo>
                <a:lnTo>
                  <a:pt x="1585468" y="560070"/>
                </a:lnTo>
                <a:lnTo>
                  <a:pt x="1585468" y="0"/>
                </a:lnTo>
                <a:close/>
              </a:path>
            </a:pathLst>
          </a:custGeom>
          <a:solidFill>
            <a:srgbClr val="0051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 txBox="1"/>
          <p:nvPr/>
        </p:nvSpPr>
        <p:spPr>
          <a:xfrm>
            <a:off x="5589523" y="2050542"/>
            <a:ext cx="1059180" cy="3917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2400">
                <a:solidFill>
                  <a:srgbClr val="FFFFFF"/>
                </a:solidFill>
                <a:latin typeface="Cambria Math"/>
                <a:cs typeface="Cambria Math"/>
              </a:rPr>
              <a:t>𝑿</a:t>
            </a:r>
            <a:r>
              <a:rPr sz="2625" baseline="-15873">
                <a:solidFill>
                  <a:srgbClr val="FFFFFF"/>
                </a:solidFill>
                <a:latin typeface="Cambria Math"/>
                <a:cs typeface="Cambria Math"/>
              </a:rPr>
              <a:t>𝒊</a:t>
            </a:r>
            <a:r>
              <a:rPr sz="2625" spc="555" baseline="-15873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400">
                <a:solidFill>
                  <a:srgbClr val="FFFFFF"/>
                </a:solidFill>
                <a:latin typeface="Cambria Math"/>
                <a:cs typeface="Cambria Math"/>
              </a:rPr>
              <a:t>=</a:t>
            </a:r>
            <a:r>
              <a:rPr sz="2400" spc="13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400" spc="-25">
                <a:solidFill>
                  <a:srgbClr val="FFFFFF"/>
                </a:solidFill>
                <a:latin typeface="Cambria Math"/>
                <a:cs typeface="Cambria Math"/>
              </a:rPr>
              <a:t>𝒀</a:t>
            </a:r>
            <a:r>
              <a:rPr sz="2625" spc="-37" baseline="-15873">
                <a:solidFill>
                  <a:srgbClr val="FFFFFF"/>
                </a:solidFill>
                <a:latin typeface="Cambria Math"/>
                <a:cs typeface="Cambria Math"/>
              </a:rPr>
              <a:t>𝒋</a:t>
            </a:r>
            <a:endParaRPr sz="2625" baseline="-15873">
              <a:latin typeface="Cambria Math"/>
              <a:cs typeface="Cambria Math"/>
            </a:endParaRPr>
          </a:p>
        </p:txBody>
      </p:sp>
      <p:graphicFrame>
        <p:nvGraphicFramePr>
          <p:cNvPr id="27" name="object 2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64609479"/>
              </p:ext>
            </p:extLst>
          </p:nvPr>
        </p:nvGraphicFramePr>
        <p:xfrm>
          <a:off x="899122" y="2456877"/>
          <a:ext cx="4175756" cy="41916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910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12700">
                      <a:solidFill>
                        <a:srgbClr val="E7E7E7"/>
                      </a:solidFill>
                      <a:prstDash val="solid"/>
                    </a:lnB>
                    <a:solidFill>
                      <a:srgbClr val="00519A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rowSpan="2" gridSpan="2">
                  <a:txBody>
                    <a:bodyPr/>
                    <a:lstStyle/>
                    <a:p>
                      <a:pPr marL="382270">
                        <a:lnSpc>
                          <a:spcPts val="2810"/>
                        </a:lnSpc>
                      </a:pPr>
                      <a:endParaRPr sz="2400" dirty="0">
                        <a:latin typeface="Cambria Math"/>
                        <a:cs typeface="Cambria Math"/>
                      </a:endParaRPr>
                    </a:p>
                  </a:txBody>
                  <a:tcPr marL="0" marR="0" marT="0" marB="0">
                    <a:lnT w="12700">
                      <a:solidFill>
                        <a:srgbClr val="E7E7E7"/>
                      </a:solidFill>
                      <a:prstDash val="solid"/>
                    </a:lnT>
                    <a:lnB w="12700">
                      <a:solidFill>
                        <a:srgbClr val="CACACA"/>
                      </a:solidFill>
                      <a:prstDash val="solid"/>
                    </a:lnB>
                    <a:solidFill>
                      <a:srgbClr val="00519A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gridSpan="2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T w="12700">
                      <a:solidFill>
                        <a:srgbClr val="E7E7E7"/>
                      </a:solidFill>
                      <a:prstDash val="solid"/>
                    </a:lnT>
                    <a:lnB w="12700">
                      <a:solidFill>
                        <a:srgbClr val="CACACA"/>
                      </a:solidFill>
                      <a:prstDash val="solid"/>
                    </a:lnB>
                    <a:solidFill>
                      <a:srgbClr val="00519A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CACACA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CACACA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graphicFrame>
        <p:nvGraphicFramePr>
          <p:cNvPr id="31" name="object 3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41304843"/>
              </p:ext>
            </p:extLst>
          </p:nvPr>
        </p:nvGraphicFramePr>
        <p:xfrm>
          <a:off x="6867016" y="2456877"/>
          <a:ext cx="3653786" cy="38087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dirty="0">
                          <a:latin typeface="Times New Roman"/>
                          <a:cs typeface="Times New Roman"/>
                        </a:rPr>
                        <a:t>U</a:t>
                      </a:r>
                      <a:endParaRPr sz="18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910">
                <a:tc>
                  <a:txBody>
                    <a:bodyPr/>
                    <a:lstStyle/>
                    <a:p>
                      <a:pPr marL="1270" algn="ctr">
                        <a:lnSpc>
                          <a:spcPts val="159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E7E7E7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6210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solidFill>
                      <a:srgbClr val="E7E7E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 gridSpan="2">
                  <a:txBody>
                    <a:bodyPr/>
                    <a:lstStyle/>
                    <a:p>
                      <a:pPr marL="56515">
                        <a:lnSpc>
                          <a:spcPts val="2270"/>
                        </a:lnSpc>
                      </a:pPr>
                      <a:endParaRPr sz="2400" dirty="0">
                        <a:latin typeface="Cambria Math"/>
                        <a:cs typeface="Cambria Math"/>
                      </a:endParaRPr>
                    </a:p>
                  </a:txBody>
                  <a:tcPr marL="0" marR="0" marT="0" marB="0"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32" name="object 32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7061518" y="4107877"/>
            <a:ext cx="114300" cy="2533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964"/>
              </a:lnSpc>
            </a:pPr>
            <a:r>
              <a:rPr sz="1800" b="1" dirty="0">
                <a:latin typeface="Times New Roman"/>
                <a:cs typeface="Times New Roman"/>
              </a:rPr>
              <a:t>3</a:t>
            </a:r>
            <a:endParaRPr sz="1800" dirty="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3011733" y="3108832"/>
            <a:ext cx="461009" cy="464820"/>
          </a:xfrm>
          <a:custGeom>
            <a:avLst/>
            <a:gdLst/>
            <a:ahLst/>
            <a:cxnLst/>
            <a:rect l="l" t="t" r="r" b="b"/>
            <a:pathLst>
              <a:path w="461009" h="464820">
                <a:moveTo>
                  <a:pt x="0" y="76835"/>
                </a:moveTo>
                <a:lnTo>
                  <a:pt x="6040" y="46934"/>
                </a:lnTo>
                <a:lnTo>
                  <a:pt x="22510" y="22510"/>
                </a:lnTo>
                <a:lnTo>
                  <a:pt x="46934" y="6040"/>
                </a:lnTo>
                <a:lnTo>
                  <a:pt x="76834" y="0"/>
                </a:lnTo>
                <a:lnTo>
                  <a:pt x="384175" y="0"/>
                </a:lnTo>
                <a:lnTo>
                  <a:pt x="414075" y="6040"/>
                </a:lnTo>
                <a:lnTo>
                  <a:pt x="438499" y="22510"/>
                </a:lnTo>
                <a:lnTo>
                  <a:pt x="454969" y="46934"/>
                </a:lnTo>
                <a:lnTo>
                  <a:pt x="461010" y="76835"/>
                </a:lnTo>
                <a:lnTo>
                  <a:pt x="461010" y="387985"/>
                </a:lnTo>
                <a:lnTo>
                  <a:pt x="454969" y="417885"/>
                </a:lnTo>
                <a:lnTo>
                  <a:pt x="438499" y="442309"/>
                </a:lnTo>
                <a:lnTo>
                  <a:pt x="414075" y="458779"/>
                </a:lnTo>
                <a:lnTo>
                  <a:pt x="384175" y="464820"/>
                </a:lnTo>
                <a:lnTo>
                  <a:pt x="76834" y="464820"/>
                </a:lnTo>
                <a:lnTo>
                  <a:pt x="46934" y="458779"/>
                </a:lnTo>
                <a:lnTo>
                  <a:pt x="22510" y="442309"/>
                </a:lnTo>
                <a:lnTo>
                  <a:pt x="6040" y="417885"/>
                </a:lnTo>
                <a:lnTo>
                  <a:pt x="0" y="387985"/>
                </a:lnTo>
                <a:lnTo>
                  <a:pt x="0" y="76835"/>
                </a:lnTo>
                <a:close/>
              </a:path>
            </a:pathLst>
          </a:custGeom>
          <a:ln w="38099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矩形标注 35">
            <a:extLst>
              <a:ext uri="{FF2B5EF4-FFF2-40B4-BE49-F238E27FC236}">
                <a16:creationId xmlns:a16="http://schemas.microsoft.com/office/drawing/2014/main" id="{EFD3B0DD-67A6-E848-86EF-CB6FA5714A27}"/>
              </a:ext>
            </a:extLst>
          </p:cNvPr>
          <p:cNvSpPr/>
          <p:nvPr/>
        </p:nvSpPr>
        <p:spPr>
          <a:xfrm>
            <a:off x="4040284" y="3772901"/>
            <a:ext cx="2529444" cy="693701"/>
          </a:xfrm>
          <a:prstGeom prst="wedgeRectCallout">
            <a:avLst>
              <a:gd name="adj1" fmla="val -55106"/>
              <a:gd name="adj2" fmla="val -43637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zh-C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C[1,4]=C[0,3]+1</a:t>
            </a:r>
            <a:endParaRPr kumimoji="1" lang="zh-CN" altLang="en-US" sz="24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/>
          <p:nvPr/>
        </p:nvSpPr>
        <p:spPr>
          <a:xfrm>
            <a:off x="3497579" y="3561905"/>
            <a:ext cx="522605" cy="453390"/>
          </a:xfrm>
          <a:custGeom>
            <a:avLst/>
            <a:gdLst/>
            <a:ahLst/>
            <a:cxnLst/>
            <a:rect l="l" t="t" r="r" b="b"/>
            <a:pathLst>
              <a:path w="522604" h="453389">
                <a:moveTo>
                  <a:pt x="522058" y="0"/>
                </a:moveTo>
                <a:lnTo>
                  <a:pt x="0" y="0"/>
                </a:lnTo>
                <a:lnTo>
                  <a:pt x="0" y="453072"/>
                </a:lnTo>
                <a:lnTo>
                  <a:pt x="522058" y="453072"/>
                </a:lnTo>
                <a:lnTo>
                  <a:pt x="522058" y="0"/>
                </a:lnTo>
                <a:close/>
              </a:path>
            </a:pathLst>
          </a:custGeom>
          <a:solidFill>
            <a:srgbClr val="E7E7E7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pSp>
        <p:nvGrpSpPr>
          <p:cNvPr id="8" name="object 8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9" name="object 9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8542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2" name="object 12"/>
          <p:cNvSpPr/>
          <p:nvPr/>
        </p:nvSpPr>
        <p:spPr>
          <a:xfrm>
            <a:off x="2286000" y="1277238"/>
            <a:ext cx="762000" cy="370840"/>
          </a:xfrm>
          <a:custGeom>
            <a:avLst/>
            <a:gdLst/>
            <a:ahLst/>
            <a:cxnLst/>
            <a:rect l="l" t="t" r="r" b="b"/>
            <a:pathLst>
              <a:path w="762000" h="370839">
                <a:moveTo>
                  <a:pt x="762000" y="0"/>
                </a:moveTo>
                <a:lnTo>
                  <a:pt x="0" y="0"/>
                </a:lnTo>
                <a:lnTo>
                  <a:pt x="0" y="370839"/>
                </a:lnTo>
                <a:lnTo>
                  <a:pt x="762000" y="370839"/>
                </a:lnTo>
                <a:lnTo>
                  <a:pt x="762000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3" name="object 13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 dirty="0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 dirty="0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 dirty="0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4" name="object 14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292857" y="1272539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9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90" y="65150"/>
                </a:lnTo>
                <a:lnTo>
                  <a:pt x="720090" y="325755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9" y="390906"/>
                </a:lnTo>
                <a:lnTo>
                  <a:pt x="65150" y="390906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5"/>
                </a:lnTo>
                <a:lnTo>
                  <a:pt x="0" y="65150"/>
                </a:lnTo>
                <a:close/>
              </a:path>
            </a:pathLst>
          </a:custGeom>
          <a:ln w="38099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4024121" y="3102101"/>
            <a:ext cx="462280" cy="464820"/>
          </a:xfrm>
          <a:custGeom>
            <a:avLst/>
            <a:gdLst/>
            <a:ahLst/>
            <a:cxnLst/>
            <a:rect l="l" t="t" r="r" b="b"/>
            <a:pathLst>
              <a:path w="462279" h="464820">
                <a:moveTo>
                  <a:pt x="0" y="76962"/>
                </a:moveTo>
                <a:lnTo>
                  <a:pt x="6042" y="46988"/>
                </a:lnTo>
                <a:lnTo>
                  <a:pt x="22526" y="22526"/>
                </a:lnTo>
                <a:lnTo>
                  <a:pt x="46988" y="6042"/>
                </a:lnTo>
                <a:lnTo>
                  <a:pt x="76962" y="0"/>
                </a:lnTo>
                <a:lnTo>
                  <a:pt x="384810" y="0"/>
                </a:lnTo>
                <a:lnTo>
                  <a:pt x="414783" y="6042"/>
                </a:lnTo>
                <a:lnTo>
                  <a:pt x="439245" y="22526"/>
                </a:lnTo>
                <a:lnTo>
                  <a:pt x="455729" y="46988"/>
                </a:lnTo>
                <a:lnTo>
                  <a:pt x="461772" y="76962"/>
                </a:lnTo>
                <a:lnTo>
                  <a:pt x="461772" y="387858"/>
                </a:lnTo>
                <a:lnTo>
                  <a:pt x="455729" y="417831"/>
                </a:lnTo>
                <a:lnTo>
                  <a:pt x="439245" y="442293"/>
                </a:lnTo>
                <a:lnTo>
                  <a:pt x="414783" y="458777"/>
                </a:lnTo>
                <a:lnTo>
                  <a:pt x="384810" y="464820"/>
                </a:lnTo>
                <a:lnTo>
                  <a:pt x="76962" y="464820"/>
                </a:lnTo>
                <a:lnTo>
                  <a:pt x="46988" y="458777"/>
                </a:lnTo>
                <a:lnTo>
                  <a:pt x="22526" y="442293"/>
                </a:lnTo>
                <a:lnTo>
                  <a:pt x="6042" y="417831"/>
                </a:lnTo>
                <a:lnTo>
                  <a:pt x="0" y="387858"/>
                </a:lnTo>
                <a:lnTo>
                  <a:pt x="0" y="76962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343905" y="1660398"/>
            <a:ext cx="720090" cy="390525"/>
          </a:xfrm>
          <a:custGeom>
            <a:avLst/>
            <a:gdLst/>
            <a:ahLst/>
            <a:cxnLst/>
            <a:rect l="l" t="t" r="r" b="b"/>
            <a:pathLst>
              <a:path w="720089" h="390525">
                <a:moveTo>
                  <a:pt x="0" y="65024"/>
                </a:moveTo>
                <a:lnTo>
                  <a:pt x="5105" y="39701"/>
                </a:lnTo>
                <a:lnTo>
                  <a:pt x="19034" y="19034"/>
                </a:lnTo>
                <a:lnTo>
                  <a:pt x="39701" y="5105"/>
                </a:lnTo>
                <a:lnTo>
                  <a:pt x="65024" y="0"/>
                </a:lnTo>
                <a:lnTo>
                  <a:pt x="655066" y="0"/>
                </a:lnTo>
                <a:lnTo>
                  <a:pt x="680388" y="5105"/>
                </a:lnTo>
                <a:lnTo>
                  <a:pt x="701055" y="19034"/>
                </a:lnTo>
                <a:lnTo>
                  <a:pt x="714984" y="39701"/>
                </a:lnTo>
                <a:lnTo>
                  <a:pt x="720090" y="65024"/>
                </a:lnTo>
                <a:lnTo>
                  <a:pt x="720090" y="325119"/>
                </a:lnTo>
                <a:lnTo>
                  <a:pt x="714984" y="350442"/>
                </a:lnTo>
                <a:lnTo>
                  <a:pt x="701055" y="371109"/>
                </a:lnTo>
                <a:lnTo>
                  <a:pt x="680388" y="385038"/>
                </a:lnTo>
                <a:lnTo>
                  <a:pt x="655066" y="390143"/>
                </a:lnTo>
                <a:lnTo>
                  <a:pt x="65024" y="390143"/>
                </a:lnTo>
                <a:lnTo>
                  <a:pt x="39701" y="385038"/>
                </a:lnTo>
                <a:lnTo>
                  <a:pt x="19034" y="371109"/>
                </a:lnTo>
                <a:lnTo>
                  <a:pt x="5105" y="350442"/>
                </a:lnTo>
                <a:lnTo>
                  <a:pt x="0" y="325119"/>
                </a:lnTo>
                <a:lnTo>
                  <a:pt x="0" y="65024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515867" y="3538728"/>
            <a:ext cx="462280" cy="464184"/>
          </a:xfrm>
          <a:custGeom>
            <a:avLst/>
            <a:gdLst/>
            <a:ahLst/>
            <a:cxnLst/>
            <a:rect l="l" t="t" r="r" b="b"/>
            <a:pathLst>
              <a:path w="462279" h="464184">
                <a:moveTo>
                  <a:pt x="0" y="76962"/>
                </a:moveTo>
                <a:lnTo>
                  <a:pt x="6042" y="46988"/>
                </a:lnTo>
                <a:lnTo>
                  <a:pt x="22526" y="22526"/>
                </a:lnTo>
                <a:lnTo>
                  <a:pt x="46988" y="6042"/>
                </a:lnTo>
                <a:lnTo>
                  <a:pt x="76962" y="0"/>
                </a:lnTo>
                <a:lnTo>
                  <a:pt x="384810" y="0"/>
                </a:lnTo>
                <a:lnTo>
                  <a:pt x="414783" y="6042"/>
                </a:lnTo>
                <a:lnTo>
                  <a:pt x="439245" y="22526"/>
                </a:lnTo>
                <a:lnTo>
                  <a:pt x="455729" y="46988"/>
                </a:lnTo>
                <a:lnTo>
                  <a:pt x="461772" y="76962"/>
                </a:lnTo>
                <a:lnTo>
                  <a:pt x="461772" y="387096"/>
                </a:lnTo>
                <a:lnTo>
                  <a:pt x="455729" y="417069"/>
                </a:lnTo>
                <a:lnTo>
                  <a:pt x="439245" y="441531"/>
                </a:lnTo>
                <a:lnTo>
                  <a:pt x="414783" y="458015"/>
                </a:lnTo>
                <a:lnTo>
                  <a:pt x="384810" y="464058"/>
                </a:lnTo>
                <a:lnTo>
                  <a:pt x="76962" y="464058"/>
                </a:lnTo>
                <a:lnTo>
                  <a:pt x="46988" y="458015"/>
                </a:lnTo>
                <a:lnTo>
                  <a:pt x="22526" y="441531"/>
                </a:lnTo>
                <a:lnTo>
                  <a:pt x="6042" y="417069"/>
                </a:lnTo>
                <a:lnTo>
                  <a:pt x="0" y="387096"/>
                </a:lnTo>
                <a:lnTo>
                  <a:pt x="0" y="76962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pSp>
        <p:nvGrpSpPr>
          <p:cNvPr id="7" name="object 7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8" name="object 8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8542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1" name="object 11"/>
          <p:cNvSpPr/>
          <p:nvPr/>
        </p:nvSpPr>
        <p:spPr>
          <a:xfrm>
            <a:off x="2286000" y="1277238"/>
            <a:ext cx="762000" cy="370840"/>
          </a:xfrm>
          <a:custGeom>
            <a:avLst/>
            <a:gdLst/>
            <a:ahLst/>
            <a:cxnLst/>
            <a:rect l="l" t="t" r="r" b="b"/>
            <a:pathLst>
              <a:path w="762000" h="370839">
                <a:moveTo>
                  <a:pt x="762000" y="0"/>
                </a:moveTo>
                <a:lnTo>
                  <a:pt x="0" y="0"/>
                </a:lnTo>
                <a:lnTo>
                  <a:pt x="0" y="370839"/>
                </a:lnTo>
                <a:lnTo>
                  <a:pt x="762000" y="370839"/>
                </a:lnTo>
                <a:lnTo>
                  <a:pt x="762000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3" name="object 13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024121" y="3102101"/>
            <a:ext cx="462280" cy="464820"/>
          </a:xfrm>
          <a:custGeom>
            <a:avLst/>
            <a:gdLst/>
            <a:ahLst/>
            <a:cxnLst/>
            <a:rect l="l" t="t" r="r" b="b"/>
            <a:pathLst>
              <a:path w="462279" h="464820">
                <a:moveTo>
                  <a:pt x="0" y="76962"/>
                </a:moveTo>
                <a:lnTo>
                  <a:pt x="6042" y="46988"/>
                </a:lnTo>
                <a:lnTo>
                  <a:pt x="22526" y="22526"/>
                </a:lnTo>
                <a:lnTo>
                  <a:pt x="46988" y="6042"/>
                </a:lnTo>
                <a:lnTo>
                  <a:pt x="76962" y="0"/>
                </a:lnTo>
                <a:lnTo>
                  <a:pt x="384810" y="0"/>
                </a:lnTo>
                <a:lnTo>
                  <a:pt x="414783" y="6042"/>
                </a:lnTo>
                <a:lnTo>
                  <a:pt x="439245" y="22526"/>
                </a:lnTo>
                <a:lnTo>
                  <a:pt x="455729" y="46988"/>
                </a:lnTo>
                <a:lnTo>
                  <a:pt x="461772" y="76962"/>
                </a:lnTo>
                <a:lnTo>
                  <a:pt x="461772" y="387858"/>
                </a:lnTo>
                <a:lnTo>
                  <a:pt x="455729" y="417831"/>
                </a:lnTo>
                <a:lnTo>
                  <a:pt x="439245" y="442293"/>
                </a:lnTo>
                <a:lnTo>
                  <a:pt x="414783" y="458777"/>
                </a:lnTo>
                <a:lnTo>
                  <a:pt x="384810" y="464820"/>
                </a:lnTo>
                <a:lnTo>
                  <a:pt x="76962" y="464820"/>
                </a:lnTo>
                <a:lnTo>
                  <a:pt x="46988" y="458777"/>
                </a:lnTo>
                <a:lnTo>
                  <a:pt x="22526" y="442293"/>
                </a:lnTo>
                <a:lnTo>
                  <a:pt x="6042" y="417831"/>
                </a:lnTo>
                <a:lnTo>
                  <a:pt x="0" y="387858"/>
                </a:lnTo>
                <a:lnTo>
                  <a:pt x="0" y="76962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6109715" y="1660398"/>
            <a:ext cx="720090" cy="390525"/>
          </a:xfrm>
          <a:custGeom>
            <a:avLst/>
            <a:gdLst/>
            <a:ahLst/>
            <a:cxnLst/>
            <a:rect l="l" t="t" r="r" b="b"/>
            <a:pathLst>
              <a:path w="720090" h="390525">
                <a:moveTo>
                  <a:pt x="0" y="65024"/>
                </a:moveTo>
                <a:lnTo>
                  <a:pt x="5105" y="39701"/>
                </a:lnTo>
                <a:lnTo>
                  <a:pt x="19034" y="19034"/>
                </a:lnTo>
                <a:lnTo>
                  <a:pt x="39701" y="5105"/>
                </a:lnTo>
                <a:lnTo>
                  <a:pt x="65024" y="0"/>
                </a:lnTo>
                <a:lnTo>
                  <a:pt x="655065" y="0"/>
                </a:lnTo>
                <a:lnTo>
                  <a:pt x="680388" y="5105"/>
                </a:lnTo>
                <a:lnTo>
                  <a:pt x="701055" y="19034"/>
                </a:lnTo>
                <a:lnTo>
                  <a:pt x="714984" y="39701"/>
                </a:lnTo>
                <a:lnTo>
                  <a:pt x="720089" y="65024"/>
                </a:lnTo>
                <a:lnTo>
                  <a:pt x="720089" y="325119"/>
                </a:lnTo>
                <a:lnTo>
                  <a:pt x="714984" y="350442"/>
                </a:lnTo>
                <a:lnTo>
                  <a:pt x="701055" y="371109"/>
                </a:lnTo>
                <a:lnTo>
                  <a:pt x="680388" y="385038"/>
                </a:lnTo>
                <a:lnTo>
                  <a:pt x="655065" y="390143"/>
                </a:lnTo>
                <a:lnTo>
                  <a:pt x="65024" y="390143"/>
                </a:lnTo>
                <a:lnTo>
                  <a:pt x="39701" y="385038"/>
                </a:lnTo>
                <a:lnTo>
                  <a:pt x="19034" y="371109"/>
                </a:lnTo>
                <a:lnTo>
                  <a:pt x="5105" y="350442"/>
                </a:lnTo>
                <a:lnTo>
                  <a:pt x="0" y="325119"/>
                </a:lnTo>
                <a:lnTo>
                  <a:pt x="0" y="65024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2292857" y="1272539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9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90" y="65150"/>
                </a:lnTo>
                <a:lnTo>
                  <a:pt x="720090" y="325755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9" y="390906"/>
                </a:lnTo>
                <a:lnTo>
                  <a:pt x="65150" y="390906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5"/>
                </a:lnTo>
                <a:lnTo>
                  <a:pt x="0" y="65150"/>
                </a:lnTo>
                <a:close/>
              </a:path>
            </a:pathLst>
          </a:custGeom>
          <a:ln w="38099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/>
          <p:nvPr/>
        </p:nvSpPr>
        <p:spPr>
          <a:xfrm>
            <a:off x="1409319" y="3561905"/>
            <a:ext cx="522605" cy="453390"/>
          </a:xfrm>
          <a:custGeom>
            <a:avLst/>
            <a:gdLst/>
            <a:ahLst/>
            <a:cxnLst/>
            <a:rect l="l" t="t" r="r" b="b"/>
            <a:pathLst>
              <a:path w="522605" h="453389">
                <a:moveTo>
                  <a:pt x="522058" y="0"/>
                </a:moveTo>
                <a:lnTo>
                  <a:pt x="0" y="0"/>
                </a:lnTo>
                <a:lnTo>
                  <a:pt x="0" y="453072"/>
                </a:lnTo>
                <a:lnTo>
                  <a:pt x="522058" y="453072"/>
                </a:lnTo>
                <a:lnTo>
                  <a:pt x="522058" y="0"/>
                </a:lnTo>
                <a:close/>
              </a:path>
            </a:pathLst>
          </a:custGeom>
          <a:solidFill>
            <a:srgbClr val="E7E7E7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pSp>
        <p:nvGrpSpPr>
          <p:cNvPr id="8" name="object 8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9" name="object 9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8542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2" name="object 12"/>
          <p:cNvSpPr/>
          <p:nvPr/>
        </p:nvSpPr>
        <p:spPr>
          <a:xfrm>
            <a:off x="3048000" y="1277238"/>
            <a:ext cx="762000" cy="370840"/>
          </a:xfrm>
          <a:custGeom>
            <a:avLst/>
            <a:gdLst/>
            <a:ahLst/>
            <a:cxnLst/>
            <a:rect l="l" t="t" r="r" b="b"/>
            <a:pathLst>
              <a:path w="762000" h="370839">
                <a:moveTo>
                  <a:pt x="762000" y="0"/>
                </a:moveTo>
                <a:lnTo>
                  <a:pt x="0" y="0"/>
                </a:lnTo>
                <a:lnTo>
                  <a:pt x="0" y="370839"/>
                </a:lnTo>
                <a:lnTo>
                  <a:pt x="762000" y="370839"/>
                </a:lnTo>
                <a:lnTo>
                  <a:pt x="762000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3" name="object 13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4" name="object 14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059429" y="1272539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9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90" y="65150"/>
                </a:lnTo>
                <a:lnTo>
                  <a:pt x="720090" y="325755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9" y="390906"/>
                </a:lnTo>
                <a:lnTo>
                  <a:pt x="65150" y="390906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5"/>
                </a:lnTo>
                <a:lnTo>
                  <a:pt x="0" y="65150"/>
                </a:lnTo>
                <a:close/>
              </a:path>
            </a:pathLst>
          </a:custGeom>
          <a:ln w="38099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446275" y="3566921"/>
            <a:ext cx="462280" cy="464184"/>
          </a:xfrm>
          <a:custGeom>
            <a:avLst/>
            <a:gdLst/>
            <a:ahLst/>
            <a:cxnLst/>
            <a:rect l="l" t="t" r="r" b="b"/>
            <a:pathLst>
              <a:path w="462280" h="464184">
                <a:moveTo>
                  <a:pt x="0" y="76961"/>
                </a:moveTo>
                <a:lnTo>
                  <a:pt x="6042" y="46988"/>
                </a:lnTo>
                <a:lnTo>
                  <a:pt x="22526" y="22526"/>
                </a:lnTo>
                <a:lnTo>
                  <a:pt x="46988" y="6042"/>
                </a:lnTo>
                <a:lnTo>
                  <a:pt x="76962" y="0"/>
                </a:lnTo>
                <a:lnTo>
                  <a:pt x="384810" y="0"/>
                </a:lnTo>
                <a:lnTo>
                  <a:pt x="414783" y="6042"/>
                </a:lnTo>
                <a:lnTo>
                  <a:pt x="439245" y="22526"/>
                </a:lnTo>
                <a:lnTo>
                  <a:pt x="455729" y="46988"/>
                </a:lnTo>
                <a:lnTo>
                  <a:pt x="461772" y="76961"/>
                </a:lnTo>
                <a:lnTo>
                  <a:pt x="461772" y="387095"/>
                </a:lnTo>
                <a:lnTo>
                  <a:pt x="455729" y="417069"/>
                </a:lnTo>
                <a:lnTo>
                  <a:pt x="439245" y="441531"/>
                </a:lnTo>
                <a:lnTo>
                  <a:pt x="414783" y="458015"/>
                </a:lnTo>
                <a:lnTo>
                  <a:pt x="384810" y="464057"/>
                </a:lnTo>
                <a:lnTo>
                  <a:pt x="76962" y="464057"/>
                </a:lnTo>
                <a:lnTo>
                  <a:pt x="46988" y="458015"/>
                </a:lnTo>
                <a:lnTo>
                  <a:pt x="22526" y="441531"/>
                </a:lnTo>
                <a:lnTo>
                  <a:pt x="6042" y="417069"/>
                </a:lnTo>
                <a:lnTo>
                  <a:pt x="0" y="387095"/>
                </a:lnTo>
                <a:lnTo>
                  <a:pt x="0" y="76961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304288" y="1660398"/>
            <a:ext cx="720090" cy="390525"/>
          </a:xfrm>
          <a:custGeom>
            <a:avLst/>
            <a:gdLst/>
            <a:ahLst/>
            <a:cxnLst/>
            <a:rect l="l" t="t" r="r" b="b"/>
            <a:pathLst>
              <a:path w="720089" h="390525">
                <a:moveTo>
                  <a:pt x="0" y="65024"/>
                </a:moveTo>
                <a:lnTo>
                  <a:pt x="5105" y="39701"/>
                </a:lnTo>
                <a:lnTo>
                  <a:pt x="19034" y="19034"/>
                </a:lnTo>
                <a:lnTo>
                  <a:pt x="39701" y="5105"/>
                </a:lnTo>
                <a:lnTo>
                  <a:pt x="65024" y="0"/>
                </a:lnTo>
                <a:lnTo>
                  <a:pt x="655066" y="0"/>
                </a:lnTo>
                <a:lnTo>
                  <a:pt x="680388" y="5105"/>
                </a:lnTo>
                <a:lnTo>
                  <a:pt x="701055" y="19034"/>
                </a:lnTo>
                <a:lnTo>
                  <a:pt x="714984" y="39701"/>
                </a:lnTo>
                <a:lnTo>
                  <a:pt x="720089" y="65024"/>
                </a:lnTo>
                <a:lnTo>
                  <a:pt x="720089" y="325119"/>
                </a:lnTo>
                <a:lnTo>
                  <a:pt x="714984" y="350442"/>
                </a:lnTo>
                <a:lnTo>
                  <a:pt x="701055" y="371109"/>
                </a:lnTo>
                <a:lnTo>
                  <a:pt x="680388" y="385038"/>
                </a:lnTo>
                <a:lnTo>
                  <a:pt x="655066" y="390143"/>
                </a:lnTo>
                <a:lnTo>
                  <a:pt x="65024" y="390143"/>
                </a:lnTo>
                <a:lnTo>
                  <a:pt x="39701" y="385038"/>
                </a:lnTo>
                <a:lnTo>
                  <a:pt x="19034" y="371109"/>
                </a:lnTo>
                <a:lnTo>
                  <a:pt x="5105" y="350442"/>
                </a:lnTo>
                <a:lnTo>
                  <a:pt x="0" y="325119"/>
                </a:lnTo>
                <a:lnTo>
                  <a:pt x="0" y="65024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/>
          <p:nvPr/>
        </p:nvSpPr>
        <p:spPr>
          <a:xfrm>
            <a:off x="1931416" y="4014914"/>
            <a:ext cx="522605" cy="453390"/>
          </a:xfrm>
          <a:custGeom>
            <a:avLst/>
            <a:gdLst/>
            <a:ahLst/>
            <a:cxnLst/>
            <a:rect l="l" t="t" r="r" b="b"/>
            <a:pathLst>
              <a:path w="522605" h="453389">
                <a:moveTo>
                  <a:pt x="522058" y="0"/>
                </a:moveTo>
                <a:lnTo>
                  <a:pt x="0" y="0"/>
                </a:lnTo>
                <a:lnTo>
                  <a:pt x="0" y="453072"/>
                </a:lnTo>
                <a:lnTo>
                  <a:pt x="522058" y="453072"/>
                </a:lnTo>
                <a:lnTo>
                  <a:pt x="522058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pSp>
        <p:nvGrpSpPr>
          <p:cNvPr id="8" name="object 8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9" name="object 9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8542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8542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2" name="object 12"/>
          <p:cNvSpPr/>
          <p:nvPr/>
        </p:nvSpPr>
        <p:spPr>
          <a:xfrm>
            <a:off x="3048000" y="1277238"/>
            <a:ext cx="762000" cy="370840"/>
          </a:xfrm>
          <a:custGeom>
            <a:avLst/>
            <a:gdLst/>
            <a:ahLst/>
            <a:cxnLst/>
            <a:rect l="l" t="t" r="r" b="b"/>
            <a:pathLst>
              <a:path w="762000" h="370839">
                <a:moveTo>
                  <a:pt x="762000" y="0"/>
                </a:moveTo>
                <a:lnTo>
                  <a:pt x="0" y="0"/>
                </a:lnTo>
                <a:lnTo>
                  <a:pt x="0" y="370839"/>
                </a:lnTo>
                <a:lnTo>
                  <a:pt x="762000" y="370839"/>
                </a:lnTo>
                <a:lnTo>
                  <a:pt x="762000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3" name="object 13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4" name="object 14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059429" y="1272539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9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90" y="65150"/>
                </a:lnTo>
                <a:lnTo>
                  <a:pt x="720090" y="325755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9" y="390906"/>
                </a:lnTo>
                <a:lnTo>
                  <a:pt x="65150" y="390906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5"/>
                </a:lnTo>
                <a:lnTo>
                  <a:pt x="0" y="65150"/>
                </a:lnTo>
                <a:close/>
              </a:path>
            </a:pathLst>
          </a:custGeom>
          <a:ln w="38099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477261" y="3549396"/>
            <a:ext cx="462280" cy="464820"/>
          </a:xfrm>
          <a:custGeom>
            <a:avLst/>
            <a:gdLst/>
            <a:ahLst/>
            <a:cxnLst/>
            <a:rect l="l" t="t" r="r" b="b"/>
            <a:pathLst>
              <a:path w="462280" h="464820">
                <a:moveTo>
                  <a:pt x="0" y="76961"/>
                </a:moveTo>
                <a:lnTo>
                  <a:pt x="6042" y="46988"/>
                </a:lnTo>
                <a:lnTo>
                  <a:pt x="22526" y="22526"/>
                </a:lnTo>
                <a:lnTo>
                  <a:pt x="46988" y="6042"/>
                </a:lnTo>
                <a:lnTo>
                  <a:pt x="76962" y="0"/>
                </a:lnTo>
                <a:lnTo>
                  <a:pt x="384810" y="0"/>
                </a:lnTo>
                <a:lnTo>
                  <a:pt x="414783" y="6042"/>
                </a:lnTo>
                <a:lnTo>
                  <a:pt x="439245" y="22526"/>
                </a:lnTo>
                <a:lnTo>
                  <a:pt x="455729" y="46988"/>
                </a:lnTo>
                <a:lnTo>
                  <a:pt x="461771" y="76961"/>
                </a:lnTo>
                <a:lnTo>
                  <a:pt x="461771" y="387857"/>
                </a:lnTo>
                <a:lnTo>
                  <a:pt x="455729" y="417831"/>
                </a:lnTo>
                <a:lnTo>
                  <a:pt x="439245" y="442293"/>
                </a:lnTo>
                <a:lnTo>
                  <a:pt x="414783" y="458777"/>
                </a:lnTo>
                <a:lnTo>
                  <a:pt x="384810" y="464819"/>
                </a:lnTo>
                <a:lnTo>
                  <a:pt x="76962" y="464819"/>
                </a:lnTo>
                <a:lnTo>
                  <a:pt x="46988" y="458777"/>
                </a:lnTo>
                <a:lnTo>
                  <a:pt x="22526" y="442293"/>
                </a:lnTo>
                <a:lnTo>
                  <a:pt x="6042" y="417831"/>
                </a:lnTo>
                <a:lnTo>
                  <a:pt x="0" y="387857"/>
                </a:lnTo>
                <a:lnTo>
                  <a:pt x="0" y="76961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061716" y="1660398"/>
            <a:ext cx="720090" cy="390525"/>
          </a:xfrm>
          <a:custGeom>
            <a:avLst/>
            <a:gdLst/>
            <a:ahLst/>
            <a:cxnLst/>
            <a:rect l="l" t="t" r="r" b="b"/>
            <a:pathLst>
              <a:path w="720089" h="390525">
                <a:moveTo>
                  <a:pt x="0" y="65024"/>
                </a:moveTo>
                <a:lnTo>
                  <a:pt x="5105" y="39701"/>
                </a:lnTo>
                <a:lnTo>
                  <a:pt x="19034" y="19034"/>
                </a:lnTo>
                <a:lnTo>
                  <a:pt x="39701" y="5105"/>
                </a:lnTo>
                <a:lnTo>
                  <a:pt x="65023" y="0"/>
                </a:lnTo>
                <a:lnTo>
                  <a:pt x="655066" y="0"/>
                </a:lnTo>
                <a:lnTo>
                  <a:pt x="680388" y="5105"/>
                </a:lnTo>
                <a:lnTo>
                  <a:pt x="701055" y="19034"/>
                </a:lnTo>
                <a:lnTo>
                  <a:pt x="714984" y="39701"/>
                </a:lnTo>
                <a:lnTo>
                  <a:pt x="720089" y="65024"/>
                </a:lnTo>
                <a:lnTo>
                  <a:pt x="720089" y="325119"/>
                </a:lnTo>
                <a:lnTo>
                  <a:pt x="714984" y="350442"/>
                </a:lnTo>
                <a:lnTo>
                  <a:pt x="701055" y="371109"/>
                </a:lnTo>
                <a:lnTo>
                  <a:pt x="680388" y="385038"/>
                </a:lnTo>
                <a:lnTo>
                  <a:pt x="655066" y="390143"/>
                </a:lnTo>
                <a:lnTo>
                  <a:pt x="65023" y="390143"/>
                </a:lnTo>
                <a:lnTo>
                  <a:pt x="39701" y="385038"/>
                </a:lnTo>
                <a:lnTo>
                  <a:pt x="19034" y="371109"/>
                </a:lnTo>
                <a:lnTo>
                  <a:pt x="5105" y="350442"/>
                </a:lnTo>
                <a:lnTo>
                  <a:pt x="0" y="325119"/>
                </a:lnTo>
                <a:lnTo>
                  <a:pt x="0" y="65024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976627" y="3989070"/>
            <a:ext cx="461009" cy="464820"/>
          </a:xfrm>
          <a:custGeom>
            <a:avLst/>
            <a:gdLst/>
            <a:ahLst/>
            <a:cxnLst/>
            <a:rect l="l" t="t" r="r" b="b"/>
            <a:pathLst>
              <a:path w="461009" h="464820">
                <a:moveTo>
                  <a:pt x="0" y="76834"/>
                </a:moveTo>
                <a:lnTo>
                  <a:pt x="6040" y="46934"/>
                </a:lnTo>
                <a:lnTo>
                  <a:pt x="22510" y="22510"/>
                </a:lnTo>
                <a:lnTo>
                  <a:pt x="46934" y="6040"/>
                </a:lnTo>
                <a:lnTo>
                  <a:pt x="76835" y="0"/>
                </a:lnTo>
                <a:lnTo>
                  <a:pt x="384175" y="0"/>
                </a:lnTo>
                <a:lnTo>
                  <a:pt x="414075" y="6040"/>
                </a:lnTo>
                <a:lnTo>
                  <a:pt x="438499" y="22510"/>
                </a:lnTo>
                <a:lnTo>
                  <a:pt x="454969" y="46934"/>
                </a:lnTo>
                <a:lnTo>
                  <a:pt x="461010" y="76834"/>
                </a:lnTo>
                <a:lnTo>
                  <a:pt x="461010" y="387984"/>
                </a:lnTo>
                <a:lnTo>
                  <a:pt x="454969" y="417885"/>
                </a:lnTo>
                <a:lnTo>
                  <a:pt x="438499" y="442309"/>
                </a:lnTo>
                <a:lnTo>
                  <a:pt x="414075" y="458779"/>
                </a:lnTo>
                <a:lnTo>
                  <a:pt x="384175" y="464819"/>
                </a:lnTo>
                <a:lnTo>
                  <a:pt x="76835" y="464819"/>
                </a:lnTo>
                <a:lnTo>
                  <a:pt x="46934" y="458779"/>
                </a:lnTo>
                <a:lnTo>
                  <a:pt x="22510" y="442309"/>
                </a:lnTo>
                <a:lnTo>
                  <a:pt x="6040" y="417885"/>
                </a:lnTo>
                <a:lnTo>
                  <a:pt x="0" y="387984"/>
                </a:lnTo>
                <a:lnTo>
                  <a:pt x="0" y="76834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/>
          <p:nvPr/>
        </p:nvSpPr>
        <p:spPr>
          <a:xfrm>
            <a:off x="2453385" y="4014914"/>
            <a:ext cx="522605" cy="453390"/>
          </a:xfrm>
          <a:custGeom>
            <a:avLst/>
            <a:gdLst/>
            <a:ahLst/>
            <a:cxnLst/>
            <a:rect l="l" t="t" r="r" b="b"/>
            <a:pathLst>
              <a:path w="522605" h="453389">
                <a:moveTo>
                  <a:pt x="522058" y="0"/>
                </a:moveTo>
                <a:lnTo>
                  <a:pt x="0" y="0"/>
                </a:lnTo>
                <a:lnTo>
                  <a:pt x="0" y="453072"/>
                </a:lnTo>
                <a:lnTo>
                  <a:pt x="522058" y="453072"/>
                </a:lnTo>
                <a:lnTo>
                  <a:pt x="522058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1336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spc="-50">
                          <a:solidFill>
                            <a:srgbClr val="00AF50"/>
                          </a:solidFill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pSp>
        <p:nvGrpSpPr>
          <p:cNvPr id="8" name="object 8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9" name="object 9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8542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8542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12" name="object 12"/>
          <p:cNvGrpSpPr/>
          <p:nvPr/>
        </p:nvGrpSpPr>
        <p:grpSpPr>
          <a:xfrm>
            <a:off x="3048000" y="1277238"/>
            <a:ext cx="1524000" cy="762635"/>
            <a:chOff x="3048000" y="1277238"/>
            <a:chExt cx="1524000" cy="762635"/>
          </a:xfrm>
        </p:grpSpPr>
        <p:sp>
          <p:nvSpPr>
            <p:cNvPr id="13" name="object 13"/>
            <p:cNvSpPr/>
            <p:nvPr/>
          </p:nvSpPr>
          <p:spPr>
            <a:xfrm>
              <a:off x="3048000" y="1277238"/>
              <a:ext cx="762000" cy="370840"/>
            </a:xfrm>
            <a:custGeom>
              <a:avLst/>
              <a:gdLst/>
              <a:ahLst/>
              <a:cxnLst/>
              <a:rect l="l" t="t" r="r" b="b"/>
              <a:pathLst>
                <a:path w="762000" h="370839">
                  <a:moveTo>
                    <a:pt x="762000" y="0"/>
                  </a:moveTo>
                  <a:lnTo>
                    <a:pt x="0" y="0"/>
                  </a:lnTo>
                  <a:lnTo>
                    <a:pt x="0" y="370839"/>
                  </a:lnTo>
                  <a:lnTo>
                    <a:pt x="762000" y="370839"/>
                  </a:lnTo>
                  <a:lnTo>
                    <a:pt x="762000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3810000" y="1648079"/>
              <a:ext cx="762000" cy="391795"/>
            </a:xfrm>
            <a:custGeom>
              <a:avLst/>
              <a:gdLst/>
              <a:ahLst/>
              <a:cxnLst/>
              <a:rect l="l" t="t" r="r" b="b"/>
              <a:pathLst>
                <a:path w="762000" h="391794">
                  <a:moveTo>
                    <a:pt x="762000" y="0"/>
                  </a:moveTo>
                  <a:lnTo>
                    <a:pt x="0" y="0"/>
                  </a:lnTo>
                  <a:lnTo>
                    <a:pt x="0" y="391795"/>
                  </a:lnTo>
                  <a:lnTo>
                    <a:pt x="762000" y="391795"/>
                  </a:lnTo>
                  <a:lnTo>
                    <a:pt x="762000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5" name="object 15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6" name="object 16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059429" y="1272539"/>
            <a:ext cx="1526540" cy="759460"/>
          </a:xfrm>
          <a:custGeom>
            <a:avLst/>
            <a:gdLst/>
            <a:ahLst/>
            <a:cxnLst/>
            <a:rect l="l" t="t" r="r" b="b"/>
            <a:pathLst>
              <a:path w="1526539" h="7594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9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90" y="65150"/>
                </a:lnTo>
                <a:lnTo>
                  <a:pt x="720090" y="325755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9" y="390906"/>
                </a:lnTo>
                <a:lnTo>
                  <a:pt x="65150" y="390906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5"/>
                </a:lnTo>
                <a:lnTo>
                  <a:pt x="0" y="65150"/>
                </a:lnTo>
                <a:close/>
              </a:path>
              <a:path w="1526539" h="759460">
                <a:moveTo>
                  <a:pt x="806195" y="433832"/>
                </a:moveTo>
                <a:lnTo>
                  <a:pt x="811301" y="408509"/>
                </a:lnTo>
                <a:lnTo>
                  <a:pt x="825230" y="387842"/>
                </a:lnTo>
                <a:lnTo>
                  <a:pt x="845897" y="373913"/>
                </a:lnTo>
                <a:lnTo>
                  <a:pt x="871219" y="368808"/>
                </a:lnTo>
                <a:lnTo>
                  <a:pt x="1461261" y="368808"/>
                </a:lnTo>
                <a:lnTo>
                  <a:pt x="1486584" y="373913"/>
                </a:lnTo>
                <a:lnTo>
                  <a:pt x="1507251" y="387842"/>
                </a:lnTo>
                <a:lnTo>
                  <a:pt x="1521180" y="408509"/>
                </a:lnTo>
                <a:lnTo>
                  <a:pt x="1526285" y="433832"/>
                </a:lnTo>
                <a:lnTo>
                  <a:pt x="1526285" y="693927"/>
                </a:lnTo>
                <a:lnTo>
                  <a:pt x="1521180" y="719250"/>
                </a:lnTo>
                <a:lnTo>
                  <a:pt x="1507251" y="739917"/>
                </a:lnTo>
                <a:lnTo>
                  <a:pt x="1486584" y="753846"/>
                </a:lnTo>
                <a:lnTo>
                  <a:pt x="1461261" y="758951"/>
                </a:lnTo>
                <a:lnTo>
                  <a:pt x="871219" y="758951"/>
                </a:lnTo>
                <a:lnTo>
                  <a:pt x="845897" y="753846"/>
                </a:lnTo>
                <a:lnTo>
                  <a:pt x="825230" y="739917"/>
                </a:lnTo>
                <a:lnTo>
                  <a:pt x="811301" y="719250"/>
                </a:lnTo>
                <a:lnTo>
                  <a:pt x="806195" y="693927"/>
                </a:lnTo>
                <a:lnTo>
                  <a:pt x="806195" y="433832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016757" y="3549396"/>
            <a:ext cx="462280" cy="464820"/>
          </a:xfrm>
          <a:custGeom>
            <a:avLst/>
            <a:gdLst/>
            <a:ahLst/>
            <a:cxnLst/>
            <a:rect l="l" t="t" r="r" b="b"/>
            <a:pathLst>
              <a:path w="462279" h="464820">
                <a:moveTo>
                  <a:pt x="0" y="76961"/>
                </a:moveTo>
                <a:lnTo>
                  <a:pt x="6042" y="46988"/>
                </a:lnTo>
                <a:lnTo>
                  <a:pt x="22526" y="22526"/>
                </a:lnTo>
                <a:lnTo>
                  <a:pt x="46988" y="6042"/>
                </a:lnTo>
                <a:lnTo>
                  <a:pt x="76962" y="0"/>
                </a:lnTo>
                <a:lnTo>
                  <a:pt x="384809" y="0"/>
                </a:lnTo>
                <a:lnTo>
                  <a:pt x="414783" y="6042"/>
                </a:lnTo>
                <a:lnTo>
                  <a:pt x="439245" y="22526"/>
                </a:lnTo>
                <a:lnTo>
                  <a:pt x="455729" y="46988"/>
                </a:lnTo>
                <a:lnTo>
                  <a:pt x="461771" y="76961"/>
                </a:lnTo>
                <a:lnTo>
                  <a:pt x="461771" y="387857"/>
                </a:lnTo>
                <a:lnTo>
                  <a:pt x="455729" y="417831"/>
                </a:lnTo>
                <a:lnTo>
                  <a:pt x="439245" y="442293"/>
                </a:lnTo>
                <a:lnTo>
                  <a:pt x="414783" y="458777"/>
                </a:lnTo>
                <a:lnTo>
                  <a:pt x="384809" y="464819"/>
                </a:lnTo>
                <a:lnTo>
                  <a:pt x="76962" y="464819"/>
                </a:lnTo>
                <a:lnTo>
                  <a:pt x="46988" y="458777"/>
                </a:lnTo>
                <a:lnTo>
                  <a:pt x="22526" y="442293"/>
                </a:lnTo>
                <a:lnTo>
                  <a:pt x="6042" y="417831"/>
                </a:lnTo>
                <a:lnTo>
                  <a:pt x="0" y="387857"/>
                </a:lnTo>
                <a:lnTo>
                  <a:pt x="0" y="76961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516123" y="3989070"/>
            <a:ext cx="462280" cy="464820"/>
          </a:xfrm>
          <a:custGeom>
            <a:avLst/>
            <a:gdLst/>
            <a:ahLst/>
            <a:cxnLst/>
            <a:rect l="l" t="t" r="r" b="b"/>
            <a:pathLst>
              <a:path w="462280" h="464820">
                <a:moveTo>
                  <a:pt x="0" y="76961"/>
                </a:moveTo>
                <a:lnTo>
                  <a:pt x="6042" y="46988"/>
                </a:lnTo>
                <a:lnTo>
                  <a:pt x="22526" y="22526"/>
                </a:lnTo>
                <a:lnTo>
                  <a:pt x="46988" y="6042"/>
                </a:lnTo>
                <a:lnTo>
                  <a:pt x="76962" y="0"/>
                </a:lnTo>
                <a:lnTo>
                  <a:pt x="384809" y="0"/>
                </a:lnTo>
                <a:lnTo>
                  <a:pt x="414783" y="6042"/>
                </a:lnTo>
                <a:lnTo>
                  <a:pt x="439245" y="22526"/>
                </a:lnTo>
                <a:lnTo>
                  <a:pt x="455729" y="46988"/>
                </a:lnTo>
                <a:lnTo>
                  <a:pt x="461771" y="76961"/>
                </a:lnTo>
                <a:lnTo>
                  <a:pt x="461771" y="387857"/>
                </a:lnTo>
                <a:lnTo>
                  <a:pt x="455729" y="417831"/>
                </a:lnTo>
                <a:lnTo>
                  <a:pt x="439245" y="442293"/>
                </a:lnTo>
                <a:lnTo>
                  <a:pt x="414783" y="458777"/>
                </a:lnTo>
                <a:lnTo>
                  <a:pt x="384809" y="464819"/>
                </a:lnTo>
                <a:lnTo>
                  <a:pt x="76962" y="464819"/>
                </a:lnTo>
                <a:lnTo>
                  <a:pt x="46988" y="458777"/>
                </a:lnTo>
                <a:lnTo>
                  <a:pt x="22526" y="442293"/>
                </a:lnTo>
                <a:lnTo>
                  <a:pt x="6042" y="417831"/>
                </a:lnTo>
                <a:lnTo>
                  <a:pt x="0" y="387857"/>
                </a:lnTo>
                <a:lnTo>
                  <a:pt x="0" y="76961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/>
          <p:nvPr/>
        </p:nvSpPr>
        <p:spPr>
          <a:xfrm>
            <a:off x="2975482" y="4014914"/>
            <a:ext cx="522605" cy="453390"/>
          </a:xfrm>
          <a:custGeom>
            <a:avLst/>
            <a:gdLst/>
            <a:ahLst/>
            <a:cxnLst/>
            <a:rect l="l" t="t" r="r" b="b"/>
            <a:pathLst>
              <a:path w="522604" h="453389">
                <a:moveTo>
                  <a:pt x="522058" y="0"/>
                </a:moveTo>
                <a:lnTo>
                  <a:pt x="0" y="0"/>
                </a:lnTo>
                <a:lnTo>
                  <a:pt x="0" y="453072"/>
                </a:lnTo>
                <a:lnTo>
                  <a:pt x="522058" y="453072"/>
                </a:lnTo>
                <a:lnTo>
                  <a:pt x="522058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1336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pSp>
        <p:nvGrpSpPr>
          <p:cNvPr id="8" name="object 8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9" name="object 9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8542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8542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2" name="object 12"/>
          <p:cNvSpPr/>
          <p:nvPr/>
        </p:nvSpPr>
        <p:spPr>
          <a:xfrm>
            <a:off x="3048000" y="1277238"/>
            <a:ext cx="762000" cy="370840"/>
          </a:xfrm>
          <a:custGeom>
            <a:avLst/>
            <a:gdLst/>
            <a:ahLst/>
            <a:cxnLst/>
            <a:rect l="l" t="t" r="r" b="b"/>
            <a:pathLst>
              <a:path w="762000" h="370839">
                <a:moveTo>
                  <a:pt x="762000" y="0"/>
                </a:moveTo>
                <a:lnTo>
                  <a:pt x="0" y="0"/>
                </a:lnTo>
                <a:lnTo>
                  <a:pt x="0" y="370839"/>
                </a:lnTo>
                <a:lnTo>
                  <a:pt x="762000" y="370839"/>
                </a:lnTo>
                <a:lnTo>
                  <a:pt x="762000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3" name="object 13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4" name="object 14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059429" y="1272539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9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90" y="65150"/>
                </a:lnTo>
                <a:lnTo>
                  <a:pt x="720090" y="325755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9" y="390906"/>
                </a:lnTo>
                <a:lnTo>
                  <a:pt x="65150" y="390906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5"/>
                </a:lnTo>
                <a:lnTo>
                  <a:pt x="0" y="65150"/>
                </a:lnTo>
                <a:close/>
              </a:path>
            </a:pathLst>
          </a:custGeom>
          <a:ln w="38099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3539490" y="3549396"/>
            <a:ext cx="462280" cy="464820"/>
          </a:xfrm>
          <a:custGeom>
            <a:avLst/>
            <a:gdLst/>
            <a:ahLst/>
            <a:cxnLst/>
            <a:rect l="l" t="t" r="r" b="b"/>
            <a:pathLst>
              <a:path w="462279" h="464820">
                <a:moveTo>
                  <a:pt x="0" y="76961"/>
                </a:moveTo>
                <a:lnTo>
                  <a:pt x="6042" y="46988"/>
                </a:lnTo>
                <a:lnTo>
                  <a:pt x="22526" y="22526"/>
                </a:lnTo>
                <a:lnTo>
                  <a:pt x="46988" y="6042"/>
                </a:lnTo>
                <a:lnTo>
                  <a:pt x="76962" y="0"/>
                </a:lnTo>
                <a:lnTo>
                  <a:pt x="384810" y="0"/>
                </a:lnTo>
                <a:lnTo>
                  <a:pt x="414783" y="6042"/>
                </a:lnTo>
                <a:lnTo>
                  <a:pt x="439245" y="22526"/>
                </a:lnTo>
                <a:lnTo>
                  <a:pt x="455729" y="46988"/>
                </a:lnTo>
                <a:lnTo>
                  <a:pt x="461772" y="76961"/>
                </a:lnTo>
                <a:lnTo>
                  <a:pt x="461772" y="387857"/>
                </a:lnTo>
                <a:lnTo>
                  <a:pt x="455729" y="417831"/>
                </a:lnTo>
                <a:lnTo>
                  <a:pt x="439245" y="442293"/>
                </a:lnTo>
                <a:lnTo>
                  <a:pt x="414783" y="458777"/>
                </a:lnTo>
                <a:lnTo>
                  <a:pt x="384810" y="464819"/>
                </a:lnTo>
                <a:lnTo>
                  <a:pt x="76962" y="464819"/>
                </a:lnTo>
                <a:lnTo>
                  <a:pt x="46988" y="458777"/>
                </a:lnTo>
                <a:lnTo>
                  <a:pt x="22526" y="442293"/>
                </a:lnTo>
                <a:lnTo>
                  <a:pt x="6042" y="417831"/>
                </a:lnTo>
                <a:lnTo>
                  <a:pt x="0" y="387857"/>
                </a:lnTo>
                <a:lnTo>
                  <a:pt x="0" y="76961"/>
                </a:lnTo>
                <a:close/>
              </a:path>
            </a:pathLst>
          </a:custGeom>
          <a:ln w="38099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4597146" y="1641348"/>
            <a:ext cx="720090" cy="390525"/>
          </a:xfrm>
          <a:custGeom>
            <a:avLst/>
            <a:gdLst/>
            <a:ahLst/>
            <a:cxnLst/>
            <a:rect l="l" t="t" r="r" b="b"/>
            <a:pathLst>
              <a:path w="720089" h="390525">
                <a:moveTo>
                  <a:pt x="0" y="65024"/>
                </a:moveTo>
                <a:lnTo>
                  <a:pt x="5105" y="39701"/>
                </a:lnTo>
                <a:lnTo>
                  <a:pt x="19034" y="19034"/>
                </a:lnTo>
                <a:lnTo>
                  <a:pt x="39701" y="5105"/>
                </a:lnTo>
                <a:lnTo>
                  <a:pt x="65024" y="0"/>
                </a:lnTo>
                <a:lnTo>
                  <a:pt x="655065" y="0"/>
                </a:lnTo>
                <a:lnTo>
                  <a:pt x="680388" y="5105"/>
                </a:lnTo>
                <a:lnTo>
                  <a:pt x="701055" y="19034"/>
                </a:lnTo>
                <a:lnTo>
                  <a:pt x="714984" y="39701"/>
                </a:lnTo>
                <a:lnTo>
                  <a:pt x="720089" y="65024"/>
                </a:lnTo>
                <a:lnTo>
                  <a:pt x="720089" y="325119"/>
                </a:lnTo>
                <a:lnTo>
                  <a:pt x="714984" y="350442"/>
                </a:lnTo>
                <a:lnTo>
                  <a:pt x="701055" y="371109"/>
                </a:lnTo>
                <a:lnTo>
                  <a:pt x="680388" y="385038"/>
                </a:lnTo>
                <a:lnTo>
                  <a:pt x="655065" y="390143"/>
                </a:lnTo>
                <a:lnTo>
                  <a:pt x="65024" y="390143"/>
                </a:lnTo>
                <a:lnTo>
                  <a:pt x="39701" y="385038"/>
                </a:lnTo>
                <a:lnTo>
                  <a:pt x="19034" y="371109"/>
                </a:lnTo>
                <a:lnTo>
                  <a:pt x="5105" y="350442"/>
                </a:lnTo>
                <a:lnTo>
                  <a:pt x="0" y="325119"/>
                </a:lnTo>
                <a:lnTo>
                  <a:pt x="0" y="65024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038855" y="3989070"/>
            <a:ext cx="462280" cy="464820"/>
          </a:xfrm>
          <a:custGeom>
            <a:avLst/>
            <a:gdLst/>
            <a:ahLst/>
            <a:cxnLst/>
            <a:rect l="l" t="t" r="r" b="b"/>
            <a:pathLst>
              <a:path w="462279" h="464820">
                <a:moveTo>
                  <a:pt x="0" y="76961"/>
                </a:moveTo>
                <a:lnTo>
                  <a:pt x="6042" y="46988"/>
                </a:lnTo>
                <a:lnTo>
                  <a:pt x="22526" y="22526"/>
                </a:lnTo>
                <a:lnTo>
                  <a:pt x="46988" y="6042"/>
                </a:lnTo>
                <a:lnTo>
                  <a:pt x="76962" y="0"/>
                </a:lnTo>
                <a:lnTo>
                  <a:pt x="384809" y="0"/>
                </a:lnTo>
                <a:lnTo>
                  <a:pt x="414783" y="6042"/>
                </a:lnTo>
                <a:lnTo>
                  <a:pt x="439245" y="22526"/>
                </a:lnTo>
                <a:lnTo>
                  <a:pt x="455729" y="46988"/>
                </a:lnTo>
                <a:lnTo>
                  <a:pt x="461771" y="76961"/>
                </a:lnTo>
                <a:lnTo>
                  <a:pt x="461771" y="387857"/>
                </a:lnTo>
                <a:lnTo>
                  <a:pt x="455729" y="417831"/>
                </a:lnTo>
                <a:lnTo>
                  <a:pt x="439245" y="442293"/>
                </a:lnTo>
                <a:lnTo>
                  <a:pt x="414783" y="458777"/>
                </a:lnTo>
                <a:lnTo>
                  <a:pt x="384809" y="464819"/>
                </a:lnTo>
                <a:lnTo>
                  <a:pt x="76962" y="464819"/>
                </a:lnTo>
                <a:lnTo>
                  <a:pt x="46988" y="458777"/>
                </a:lnTo>
                <a:lnTo>
                  <a:pt x="22526" y="442293"/>
                </a:lnTo>
                <a:lnTo>
                  <a:pt x="6042" y="417831"/>
                </a:lnTo>
                <a:lnTo>
                  <a:pt x="0" y="387857"/>
                </a:lnTo>
                <a:lnTo>
                  <a:pt x="0" y="76961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1336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7" name="object 7"/>
          <p:cNvSpPr/>
          <p:nvPr/>
        </p:nvSpPr>
        <p:spPr>
          <a:xfrm>
            <a:off x="3048000" y="1277238"/>
            <a:ext cx="762000" cy="370840"/>
          </a:xfrm>
          <a:custGeom>
            <a:avLst/>
            <a:gdLst/>
            <a:ahLst/>
            <a:cxnLst/>
            <a:rect l="l" t="t" r="r" b="b"/>
            <a:pathLst>
              <a:path w="762000" h="370839">
                <a:moveTo>
                  <a:pt x="762000" y="0"/>
                </a:moveTo>
                <a:lnTo>
                  <a:pt x="0" y="0"/>
                </a:lnTo>
                <a:lnTo>
                  <a:pt x="0" y="370839"/>
                </a:lnTo>
                <a:lnTo>
                  <a:pt x="762000" y="370839"/>
                </a:lnTo>
                <a:lnTo>
                  <a:pt x="762000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334000" y="1648079"/>
            <a:ext cx="762000" cy="391795"/>
          </a:xfrm>
          <a:custGeom>
            <a:avLst/>
            <a:gdLst/>
            <a:ahLst/>
            <a:cxnLst/>
            <a:rect l="l" t="t" r="r" b="b"/>
            <a:pathLst>
              <a:path w="762000" h="391794">
                <a:moveTo>
                  <a:pt x="762000" y="0"/>
                </a:moveTo>
                <a:lnTo>
                  <a:pt x="0" y="0"/>
                </a:lnTo>
                <a:lnTo>
                  <a:pt x="0" y="391795"/>
                </a:lnTo>
                <a:lnTo>
                  <a:pt x="762000" y="391795"/>
                </a:lnTo>
                <a:lnTo>
                  <a:pt x="762000" y="0"/>
                </a:lnTo>
                <a:close/>
              </a:path>
            </a:pathLst>
          </a:custGeom>
          <a:solidFill>
            <a:srgbClr val="E7E7E7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0" name="object 10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059429" y="1272539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9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90" y="65150"/>
                </a:lnTo>
                <a:lnTo>
                  <a:pt x="720090" y="325755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9" y="390906"/>
                </a:lnTo>
                <a:lnTo>
                  <a:pt x="65150" y="390906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5"/>
                </a:lnTo>
                <a:lnTo>
                  <a:pt x="0" y="65150"/>
                </a:lnTo>
                <a:close/>
              </a:path>
            </a:pathLst>
          </a:custGeom>
          <a:ln w="38099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320284" y="1641348"/>
            <a:ext cx="720090" cy="390525"/>
          </a:xfrm>
          <a:custGeom>
            <a:avLst/>
            <a:gdLst/>
            <a:ahLst/>
            <a:cxnLst/>
            <a:rect l="l" t="t" r="r" b="b"/>
            <a:pathLst>
              <a:path w="720089" h="390525">
                <a:moveTo>
                  <a:pt x="0" y="65024"/>
                </a:moveTo>
                <a:lnTo>
                  <a:pt x="5105" y="39701"/>
                </a:lnTo>
                <a:lnTo>
                  <a:pt x="19034" y="19034"/>
                </a:lnTo>
                <a:lnTo>
                  <a:pt x="39701" y="5105"/>
                </a:lnTo>
                <a:lnTo>
                  <a:pt x="65024" y="0"/>
                </a:lnTo>
                <a:lnTo>
                  <a:pt x="655065" y="0"/>
                </a:lnTo>
                <a:lnTo>
                  <a:pt x="680388" y="5105"/>
                </a:lnTo>
                <a:lnTo>
                  <a:pt x="701055" y="19034"/>
                </a:lnTo>
                <a:lnTo>
                  <a:pt x="714984" y="39701"/>
                </a:lnTo>
                <a:lnTo>
                  <a:pt x="720089" y="65024"/>
                </a:lnTo>
                <a:lnTo>
                  <a:pt x="720089" y="325119"/>
                </a:lnTo>
                <a:lnTo>
                  <a:pt x="714984" y="350442"/>
                </a:lnTo>
                <a:lnTo>
                  <a:pt x="701055" y="371109"/>
                </a:lnTo>
                <a:lnTo>
                  <a:pt x="680388" y="385038"/>
                </a:lnTo>
                <a:lnTo>
                  <a:pt x="655065" y="390143"/>
                </a:lnTo>
                <a:lnTo>
                  <a:pt x="65024" y="390143"/>
                </a:lnTo>
                <a:lnTo>
                  <a:pt x="39701" y="385038"/>
                </a:lnTo>
                <a:lnTo>
                  <a:pt x="19034" y="371109"/>
                </a:lnTo>
                <a:lnTo>
                  <a:pt x="5105" y="350442"/>
                </a:lnTo>
                <a:lnTo>
                  <a:pt x="0" y="325119"/>
                </a:lnTo>
                <a:lnTo>
                  <a:pt x="0" y="65024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3539490" y="3549396"/>
            <a:ext cx="462280" cy="464820"/>
          </a:xfrm>
          <a:custGeom>
            <a:avLst/>
            <a:gdLst/>
            <a:ahLst/>
            <a:cxnLst/>
            <a:rect l="l" t="t" r="r" b="b"/>
            <a:pathLst>
              <a:path w="462279" h="464820">
                <a:moveTo>
                  <a:pt x="0" y="76961"/>
                </a:moveTo>
                <a:lnTo>
                  <a:pt x="6042" y="46988"/>
                </a:lnTo>
                <a:lnTo>
                  <a:pt x="22526" y="22526"/>
                </a:lnTo>
                <a:lnTo>
                  <a:pt x="46988" y="6042"/>
                </a:lnTo>
                <a:lnTo>
                  <a:pt x="76962" y="0"/>
                </a:lnTo>
                <a:lnTo>
                  <a:pt x="384810" y="0"/>
                </a:lnTo>
                <a:lnTo>
                  <a:pt x="414783" y="6042"/>
                </a:lnTo>
                <a:lnTo>
                  <a:pt x="439245" y="22526"/>
                </a:lnTo>
                <a:lnTo>
                  <a:pt x="455729" y="46988"/>
                </a:lnTo>
                <a:lnTo>
                  <a:pt x="461772" y="76961"/>
                </a:lnTo>
                <a:lnTo>
                  <a:pt x="461772" y="387857"/>
                </a:lnTo>
                <a:lnTo>
                  <a:pt x="455729" y="417831"/>
                </a:lnTo>
                <a:lnTo>
                  <a:pt x="439245" y="442293"/>
                </a:lnTo>
                <a:lnTo>
                  <a:pt x="414783" y="458777"/>
                </a:lnTo>
                <a:lnTo>
                  <a:pt x="384810" y="464819"/>
                </a:lnTo>
                <a:lnTo>
                  <a:pt x="76962" y="464819"/>
                </a:lnTo>
                <a:lnTo>
                  <a:pt x="46988" y="458777"/>
                </a:lnTo>
                <a:lnTo>
                  <a:pt x="22526" y="442293"/>
                </a:lnTo>
                <a:lnTo>
                  <a:pt x="6042" y="417831"/>
                </a:lnTo>
                <a:lnTo>
                  <a:pt x="0" y="387857"/>
                </a:lnTo>
                <a:lnTo>
                  <a:pt x="0" y="76961"/>
                </a:lnTo>
                <a:close/>
              </a:path>
            </a:pathLst>
          </a:custGeom>
          <a:ln w="38099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17" name="object 17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9" name="object 19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8542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1336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7" name="object 7"/>
          <p:cNvSpPr/>
          <p:nvPr/>
        </p:nvSpPr>
        <p:spPr>
          <a:xfrm>
            <a:off x="3048000" y="1277238"/>
            <a:ext cx="762000" cy="370840"/>
          </a:xfrm>
          <a:custGeom>
            <a:avLst/>
            <a:gdLst/>
            <a:ahLst/>
            <a:cxnLst/>
            <a:rect l="l" t="t" r="r" b="b"/>
            <a:pathLst>
              <a:path w="762000" h="370839">
                <a:moveTo>
                  <a:pt x="762000" y="0"/>
                </a:moveTo>
                <a:lnTo>
                  <a:pt x="0" y="0"/>
                </a:lnTo>
                <a:lnTo>
                  <a:pt x="0" y="370839"/>
                </a:lnTo>
                <a:lnTo>
                  <a:pt x="762000" y="370839"/>
                </a:lnTo>
                <a:lnTo>
                  <a:pt x="762000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3059429" y="1272539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9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90" y="65150"/>
                </a:lnTo>
                <a:lnTo>
                  <a:pt x="720090" y="325755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9" y="390906"/>
                </a:lnTo>
                <a:lnTo>
                  <a:pt x="65150" y="390906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5"/>
                </a:lnTo>
                <a:lnTo>
                  <a:pt x="0" y="65150"/>
                </a:lnTo>
                <a:close/>
              </a:path>
            </a:pathLst>
          </a:custGeom>
          <a:ln w="38099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027170" y="3549396"/>
            <a:ext cx="993140" cy="929005"/>
          </a:xfrm>
          <a:custGeom>
            <a:avLst/>
            <a:gdLst/>
            <a:ahLst/>
            <a:cxnLst/>
            <a:rect l="l" t="t" r="r" b="b"/>
            <a:pathLst>
              <a:path w="993139" h="929003">
                <a:moveTo>
                  <a:pt x="531113" y="76961"/>
                </a:moveTo>
                <a:lnTo>
                  <a:pt x="537156" y="46988"/>
                </a:lnTo>
                <a:lnTo>
                  <a:pt x="553640" y="22526"/>
                </a:lnTo>
                <a:lnTo>
                  <a:pt x="578102" y="6042"/>
                </a:lnTo>
                <a:lnTo>
                  <a:pt x="608076" y="0"/>
                </a:lnTo>
                <a:lnTo>
                  <a:pt x="915924" y="0"/>
                </a:lnTo>
                <a:lnTo>
                  <a:pt x="945897" y="6042"/>
                </a:lnTo>
                <a:lnTo>
                  <a:pt x="970359" y="22526"/>
                </a:lnTo>
                <a:lnTo>
                  <a:pt x="986843" y="46988"/>
                </a:lnTo>
                <a:lnTo>
                  <a:pt x="992885" y="76961"/>
                </a:lnTo>
                <a:lnTo>
                  <a:pt x="992885" y="387857"/>
                </a:lnTo>
                <a:lnTo>
                  <a:pt x="986843" y="417831"/>
                </a:lnTo>
                <a:lnTo>
                  <a:pt x="970359" y="442293"/>
                </a:lnTo>
                <a:lnTo>
                  <a:pt x="945897" y="458777"/>
                </a:lnTo>
                <a:lnTo>
                  <a:pt x="915924" y="464819"/>
                </a:lnTo>
                <a:lnTo>
                  <a:pt x="608076" y="464819"/>
                </a:lnTo>
                <a:lnTo>
                  <a:pt x="578102" y="458777"/>
                </a:lnTo>
                <a:lnTo>
                  <a:pt x="553640" y="442293"/>
                </a:lnTo>
                <a:lnTo>
                  <a:pt x="537156" y="417831"/>
                </a:lnTo>
                <a:lnTo>
                  <a:pt x="531113" y="387857"/>
                </a:lnTo>
                <a:lnTo>
                  <a:pt x="531113" y="76961"/>
                </a:lnTo>
                <a:close/>
              </a:path>
              <a:path w="993139" h="929003">
                <a:moveTo>
                  <a:pt x="0" y="541781"/>
                </a:moveTo>
                <a:lnTo>
                  <a:pt x="6042" y="511808"/>
                </a:lnTo>
                <a:lnTo>
                  <a:pt x="22526" y="487346"/>
                </a:lnTo>
                <a:lnTo>
                  <a:pt x="46988" y="470862"/>
                </a:lnTo>
                <a:lnTo>
                  <a:pt x="76962" y="464819"/>
                </a:lnTo>
                <a:lnTo>
                  <a:pt x="384809" y="464819"/>
                </a:lnTo>
                <a:lnTo>
                  <a:pt x="414783" y="470862"/>
                </a:lnTo>
                <a:lnTo>
                  <a:pt x="439245" y="487346"/>
                </a:lnTo>
                <a:lnTo>
                  <a:pt x="455729" y="511808"/>
                </a:lnTo>
                <a:lnTo>
                  <a:pt x="461771" y="541781"/>
                </a:lnTo>
                <a:lnTo>
                  <a:pt x="461771" y="851915"/>
                </a:lnTo>
                <a:lnTo>
                  <a:pt x="455729" y="881889"/>
                </a:lnTo>
                <a:lnTo>
                  <a:pt x="439245" y="906351"/>
                </a:lnTo>
                <a:lnTo>
                  <a:pt x="414783" y="922835"/>
                </a:lnTo>
                <a:lnTo>
                  <a:pt x="384809" y="928877"/>
                </a:lnTo>
                <a:lnTo>
                  <a:pt x="76962" y="928877"/>
                </a:lnTo>
                <a:lnTo>
                  <a:pt x="46988" y="922835"/>
                </a:lnTo>
                <a:lnTo>
                  <a:pt x="22526" y="906351"/>
                </a:lnTo>
                <a:lnTo>
                  <a:pt x="6042" y="881889"/>
                </a:lnTo>
                <a:lnTo>
                  <a:pt x="0" y="851915"/>
                </a:lnTo>
                <a:lnTo>
                  <a:pt x="0" y="541781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6086855" y="1641348"/>
            <a:ext cx="720090" cy="390525"/>
          </a:xfrm>
          <a:custGeom>
            <a:avLst/>
            <a:gdLst/>
            <a:ahLst/>
            <a:cxnLst/>
            <a:rect l="l" t="t" r="r" b="b"/>
            <a:pathLst>
              <a:path w="720090" h="390525">
                <a:moveTo>
                  <a:pt x="0" y="65024"/>
                </a:moveTo>
                <a:lnTo>
                  <a:pt x="5105" y="39701"/>
                </a:lnTo>
                <a:lnTo>
                  <a:pt x="19034" y="19034"/>
                </a:lnTo>
                <a:lnTo>
                  <a:pt x="39701" y="5105"/>
                </a:lnTo>
                <a:lnTo>
                  <a:pt x="65024" y="0"/>
                </a:lnTo>
                <a:lnTo>
                  <a:pt x="655066" y="0"/>
                </a:lnTo>
                <a:lnTo>
                  <a:pt x="680388" y="5105"/>
                </a:lnTo>
                <a:lnTo>
                  <a:pt x="701055" y="19034"/>
                </a:lnTo>
                <a:lnTo>
                  <a:pt x="714984" y="39701"/>
                </a:lnTo>
                <a:lnTo>
                  <a:pt x="720090" y="65024"/>
                </a:lnTo>
                <a:lnTo>
                  <a:pt x="720090" y="325119"/>
                </a:lnTo>
                <a:lnTo>
                  <a:pt x="714984" y="350442"/>
                </a:lnTo>
                <a:lnTo>
                  <a:pt x="701055" y="371109"/>
                </a:lnTo>
                <a:lnTo>
                  <a:pt x="680388" y="385038"/>
                </a:lnTo>
                <a:lnTo>
                  <a:pt x="655066" y="390143"/>
                </a:lnTo>
                <a:lnTo>
                  <a:pt x="65024" y="390143"/>
                </a:lnTo>
                <a:lnTo>
                  <a:pt x="39701" y="385038"/>
                </a:lnTo>
                <a:lnTo>
                  <a:pt x="19034" y="371109"/>
                </a:lnTo>
                <a:lnTo>
                  <a:pt x="5105" y="350442"/>
                </a:lnTo>
                <a:lnTo>
                  <a:pt x="0" y="325119"/>
                </a:lnTo>
                <a:lnTo>
                  <a:pt x="0" y="65024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16" name="object 16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8" name="object 18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8542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409319" y="4014914"/>
            <a:ext cx="1044575" cy="906780"/>
            <a:chOff x="1409319" y="4014914"/>
            <a:chExt cx="1044575" cy="906780"/>
          </a:xfrm>
        </p:grpSpPr>
        <p:sp>
          <p:nvSpPr>
            <p:cNvPr id="7" name="object 7"/>
            <p:cNvSpPr/>
            <p:nvPr/>
          </p:nvSpPr>
          <p:spPr>
            <a:xfrm>
              <a:off x="1931416" y="4014914"/>
              <a:ext cx="522605" cy="453390"/>
            </a:xfrm>
            <a:custGeom>
              <a:avLst/>
              <a:gdLst/>
              <a:ahLst/>
              <a:cxnLst/>
              <a:rect l="l" t="t" r="r" b="b"/>
              <a:pathLst>
                <a:path w="522605" h="453389">
                  <a:moveTo>
                    <a:pt x="522058" y="0"/>
                  </a:moveTo>
                  <a:lnTo>
                    <a:pt x="0" y="0"/>
                  </a:lnTo>
                  <a:lnTo>
                    <a:pt x="0" y="453072"/>
                  </a:lnTo>
                  <a:lnTo>
                    <a:pt x="522058" y="453072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409319" y="4468050"/>
              <a:ext cx="522605" cy="453390"/>
            </a:xfrm>
            <a:custGeom>
              <a:avLst/>
              <a:gdLst/>
              <a:ahLst/>
              <a:cxnLst/>
              <a:rect l="l" t="t" r="r" b="b"/>
              <a:pathLst>
                <a:path w="522605" h="453389">
                  <a:moveTo>
                    <a:pt x="522058" y="0"/>
                  </a:moveTo>
                  <a:lnTo>
                    <a:pt x="0" y="0"/>
                  </a:lnTo>
                  <a:lnTo>
                    <a:pt x="0" y="453072"/>
                  </a:lnTo>
                  <a:lnTo>
                    <a:pt x="522058" y="453072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1336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0" name="object 10"/>
          <p:cNvSpPr/>
          <p:nvPr/>
        </p:nvSpPr>
        <p:spPr>
          <a:xfrm>
            <a:off x="3810000" y="1277238"/>
            <a:ext cx="762000" cy="370840"/>
          </a:xfrm>
          <a:custGeom>
            <a:avLst/>
            <a:gdLst/>
            <a:ahLst/>
            <a:cxnLst/>
            <a:rect l="l" t="t" r="r" b="b"/>
            <a:pathLst>
              <a:path w="762000" h="370839">
                <a:moveTo>
                  <a:pt x="762000" y="0"/>
                </a:moveTo>
                <a:lnTo>
                  <a:pt x="0" y="0"/>
                </a:lnTo>
                <a:lnTo>
                  <a:pt x="0" y="370839"/>
                </a:lnTo>
                <a:lnTo>
                  <a:pt x="762000" y="370839"/>
                </a:lnTo>
                <a:lnTo>
                  <a:pt x="762000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2" name="object 12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3851909" y="126415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8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89" y="65150"/>
                </a:lnTo>
                <a:lnTo>
                  <a:pt x="720089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8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440941" y="4019550"/>
            <a:ext cx="993140" cy="929005"/>
          </a:xfrm>
          <a:custGeom>
            <a:avLst/>
            <a:gdLst/>
            <a:ahLst/>
            <a:cxnLst/>
            <a:rect l="l" t="t" r="r" b="b"/>
            <a:pathLst>
              <a:path w="993139" h="929003">
                <a:moveTo>
                  <a:pt x="531114" y="76962"/>
                </a:moveTo>
                <a:lnTo>
                  <a:pt x="537156" y="46988"/>
                </a:lnTo>
                <a:lnTo>
                  <a:pt x="553640" y="22526"/>
                </a:lnTo>
                <a:lnTo>
                  <a:pt x="578102" y="6042"/>
                </a:lnTo>
                <a:lnTo>
                  <a:pt x="608076" y="0"/>
                </a:lnTo>
                <a:lnTo>
                  <a:pt x="915924" y="0"/>
                </a:lnTo>
                <a:lnTo>
                  <a:pt x="945897" y="6042"/>
                </a:lnTo>
                <a:lnTo>
                  <a:pt x="970359" y="22526"/>
                </a:lnTo>
                <a:lnTo>
                  <a:pt x="986843" y="46988"/>
                </a:lnTo>
                <a:lnTo>
                  <a:pt x="992885" y="76962"/>
                </a:lnTo>
                <a:lnTo>
                  <a:pt x="992885" y="387857"/>
                </a:lnTo>
                <a:lnTo>
                  <a:pt x="986843" y="417831"/>
                </a:lnTo>
                <a:lnTo>
                  <a:pt x="970359" y="442293"/>
                </a:lnTo>
                <a:lnTo>
                  <a:pt x="945897" y="458777"/>
                </a:lnTo>
                <a:lnTo>
                  <a:pt x="915924" y="464819"/>
                </a:lnTo>
                <a:lnTo>
                  <a:pt x="608076" y="464819"/>
                </a:lnTo>
                <a:lnTo>
                  <a:pt x="578102" y="458777"/>
                </a:lnTo>
                <a:lnTo>
                  <a:pt x="553640" y="442293"/>
                </a:lnTo>
                <a:lnTo>
                  <a:pt x="537156" y="417831"/>
                </a:lnTo>
                <a:lnTo>
                  <a:pt x="531114" y="387857"/>
                </a:lnTo>
                <a:lnTo>
                  <a:pt x="531114" y="76962"/>
                </a:lnTo>
                <a:close/>
              </a:path>
              <a:path w="993139" h="929003">
                <a:moveTo>
                  <a:pt x="0" y="541782"/>
                </a:moveTo>
                <a:lnTo>
                  <a:pt x="6042" y="511808"/>
                </a:lnTo>
                <a:lnTo>
                  <a:pt x="22526" y="487346"/>
                </a:lnTo>
                <a:lnTo>
                  <a:pt x="46988" y="470862"/>
                </a:lnTo>
                <a:lnTo>
                  <a:pt x="76962" y="464819"/>
                </a:lnTo>
                <a:lnTo>
                  <a:pt x="384809" y="464819"/>
                </a:lnTo>
                <a:lnTo>
                  <a:pt x="414783" y="470862"/>
                </a:lnTo>
                <a:lnTo>
                  <a:pt x="439245" y="487346"/>
                </a:lnTo>
                <a:lnTo>
                  <a:pt x="455729" y="511808"/>
                </a:lnTo>
                <a:lnTo>
                  <a:pt x="461772" y="541782"/>
                </a:lnTo>
                <a:lnTo>
                  <a:pt x="461772" y="851916"/>
                </a:lnTo>
                <a:lnTo>
                  <a:pt x="455729" y="881889"/>
                </a:lnTo>
                <a:lnTo>
                  <a:pt x="439245" y="906351"/>
                </a:lnTo>
                <a:lnTo>
                  <a:pt x="414783" y="922835"/>
                </a:lnTo>
                <a:lnTo>
                  <a:pt x="384809" y="928877"/>
                </a:lnTo>
                <a:lnTo>
                  <a:pt x="76962" y="928877"/>
                </a:lnTo>
                <a:lnTo>
                  <a:pt x="46988" y="922835"/>
                </a:lnTo>
                <a:lnTo>
                  <a:pt x="22526" y="906351"/>
                </a:lnTo>
                <a:lnTo>
                  <a:pt x="6042" y="881889"/>
                </a:lnTo>
                <a:lnTo>
                  <a:pt x="0" y="851916"/>
                </a:lnTo>
                <a:lnTo>
                  <a:pt x="0" y="541782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339339" y="166039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1" y="0"/>
                </a:lnTo>
                <a:lnTo>
                  <a:pt x="654939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90" y="65150"/>
                </a:lnTo>
                <a:lnTo>
                  <a:pt x="720090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9" y="390905"/>
                </a:lnTo>
                <a:lnTo>
                  <a:pt x="65151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099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19" name="object 19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1" name="object 21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8542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931416" y="4014914"/>
            <a:ext cx="1044575" cy="906780"/>
            <a:chOff x="1931416" y="4014914"/>
            <a:chExt cx="1044575" cy="906780"/>
          </a:xfrm>
        </p:grpSpPr>
        <p:sp>
          <p:nvSpPr>
            <p:cNvPr id="7" name="object 7"/>
            <p:cNvSpPr/>
            <p:nvPr/>
          </p:nvSpPr>
          <p:spPr>
            <a:xfrm>
              <a:off x="2453386" y="4014914"/>
              <a:ext cx="522605" cy="453390"/>
            </a:xfrm>
            <a:custGeom>
              <a:avLst/>
              <a:gdLst/>
              <a:ahLst/>
              <a:cxnLst/>
              <a:rect l="l" t="t" r="r" b="b"/>
              <a:pathLst>
                <a:path w="522605" h="453389">
                  <a:moveTo>
                    <a:pt x="522058" y="0"/>
                  </a:moveTo>
                  <a:lnTo>
                    <a:pt x="0" y="0"/>
                  </a:lnTo>
                  <a:lnTo>
                    <a:pt x="0" y="453072"/>
                  </a:lnTo>
                  <a:lnTo>
                    <a:pt x="522058" y="453072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931416" y="4468050"/>
              <a:ext cx="522605" cy="453390"/>
            </a:xfrm>
            <a:custGeom>
              <a:avLst/>
              <a:gdLst/>
              <a:ahLst/>
              <a:cxnLst/>
              <a:rect l="l" t="t" r="r" b="b"/>
              <a:pathLst>
                <a:path w="522605" h="453389">
                  <a:moveTo>
                    <a:pt x="522058" y="0"/>
                  </a:moveTo>
                  <a:lnTo>
                    <a:pt x="0" y="0"/>
                  </a:lnTo>
                  <a:lnTo>
                    <a:pt x="0" y="453072"/>
                  </a:lnTo>
                  <a:lnTo>
                    <a:pt x="522058" y="453072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1336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0" name="object 10"/>
          <p:cNvSpPr/>
          <p:nvPr/>
        </p:nvSpPr>
        <p:spPr>
          <a:xfrm>
            <a:off x="3810000" y="1277238"/>
            <a:ext cx="762000" cy="370840"/>
          </a:xfrm>
          <a:custGeom>
            <a:avLst/>
            <a:gdLst/>
            <a:ahLst/>
            <a:cxnLst/>
            <a:rect l="l" t="t" r="r" b="b"/>
            <a:pathLst>
              <a:path w="762000" h="370839">
                <a:moveTo>
                  <a:pt x="762000" y="0"/>
                </a:moveTo>
                <a:lnTo>
                  <a:pt x="0" y="0"/>
                </a:lnTo>
                <a:lnTo>
                  <a:pt x="0" y="370839"/>
                </a:lnTo>
                <a:lnTo>
                  <a:pt x="762000" y="370839"/>
                </a:lnTo>
                <a:lnTo>
                  <a:pt x="762000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2" name="object 12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3851909" y="126415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8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89" y="65150"/>
                </a:lnTo>
                <a:lnTo>
                  <a:pt x="720089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8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997964" y="4019550"/>
            <a:ext cx="993140" cy="929005"/>
          </a:xfrm>
          <a:custGeom>
            <a:avLst/>
            <a:gdLst/>
            <a:ahLst/>
            <a:cxnLst/>
            <a:rect l="l" t="t" r="r" b="b"/>
            <a:pathLst>
              <a:path w="993139" h="929003">
                <a:moveTo>
                  <a:pt x="531113" y="76962"/>
                </a:moveTo>
                <a:lnTo>
                  <a:pt x="537156" y="46988"/>
                </a:lnTo>
                <a:lnTo>
                  <a:pt x="553640" y="22526"/>
                </a:lnTo>
                <a:lnTo>
                  <a:pt x="578102" y="6042"/>
                </a:lnTo>
                <a:lnTo>
                  <a:pt x="608076" y="0"/>
                </a:lnTo>
                <a:lnTo>
                  <a:pt x="915924" y="0"/>
                </a:lnTo>
                <a:lnTo>
                  <a:pt x="945897" y="6042"/>
                </a:lnTo>
                <a:lnTo>
                  <a:pt x="970359" y="22526"/>
                </a:lnTo>
                <a:lnTo>
                  <a:pt x="986843" y="46988"/>
                </a:lnTo>
                <a:lnTo>
                  <a:pt x="992886" y="76962"/>
                </a:lnTo>
                <a:lnTo>
                  <a:pt x="992886" y="387857"/>
                </a:lnTo>
                <a:lnTo>
                  <a:pt x="986843" y="417831"/>
                </a:lnTo>
                <a:lnTo>
                  <a:pt x="970359" y="442293"/>
                </a:lnTo>
                <a:lnTo>
                  <a:pt x="945897" y="458777"/>
                </a:lnTo>
                <a:lnTo>
                  <a:pt x="915924" y="464819"/>
                </a:lnTo>
                <a:lnTo>
                  <a:pt x="608076" y="464819"/>
                </a:lnTo>
                <a:lnTo>
                  <a:pt x="578102" y="458777"/>
                </a:lnTo>
                <a:lnTo>
                  <a:pt x="553640" y="442293"/>
                </a:lnTo>
                <a:lnTo>
                  <a:pt x="537156" y="417831"/>
                </a:lnTo>
                <a:lnTo>
                  <a:pt x="531113" y="387857"/>
                </a:lnTo>
                <a:lnTo>
                  <a:pt x="531113" y="76962"/>
                </a:lnTo>
                <a:close/>
              </a:path>
              <a:path w="993139" h="929003">
                <a:moveTo>
                  <a:pt x="0" y="541782"/>
                </a:moveTo>
                <a:lnTo>
                  <a:pt x="6042" y="511808"/>
                </a:lnTo>
                <a:lnTo>
                  <a:pt x="22526" y="487346"/>
                </a:lnTo>
                <a:lnTo>
                  <a:pt x="46988" y="470862"/>
                </a:lnTo>
                <a:lnTo>
                  <a:pt x="76962" y="464819"/>
                </a:lnTo>
                <a:lnTo>
                  <a:pt x="384810" y="464819"/>
                </a:lnTo>
                <a:lnTo>
                  <a:pt x="414783" y="470862"/>
                </a:lnTo>
                <a:lnTo>
                  <a:pt x="439245" y="487346"/>
                </a:lnTo>
                <a:lnTo>
                  <a:pt x="455729" y="511808"/>
                </a:lnTo>
                <a:lnTo>
                  <a:pt x="461772" y="541782"/>
                </a:lnTo>
                <a:lnTo>
                  <a:pt x="461772" y="851916"/>
                </a:lnTo>
                <a:lnTo>
                  <a:pt x="455729" y="881889"/>
                </a:lnTo>
                <a:lnTo>
                  <a:pt x="439245" y="906351"/>
                </a:lnTo>
                <a:lnTo>
                  <a:pt x="414783" y="922835"/>
                </a:lnTo>
                <a:lnTo>
                  <a:pt x="384810" y="928877"/>
                </a:lnTo>
                <a:lnTo>
                  <a:pt x="76962" y="928877"/>
                </a:lnTo>
                <a:lnTo>
                  <a:pt x="46988" y="922835"/>
                </a:lnTo>
                <a:lnTo>
                  <a:pt x="22526" y="906351"/>
                </a:lnTo>
                <a:lnTo>
                  <a:pt x="6042" y="881889"/>
                </a:lnTo>
                <a:lnTo>
                  <a:pt x="0" y="851916"/>
                </a:lnTo>
                <a:lnTo>
                  <a:pt x="0" y="541782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070860" y="166039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8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89" y="65150"/>
                </a:lnTo>
                <a:lnTo>
                  <a:pt x="720089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8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19" name="object 19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1" name="object 21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8542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/>
          <p:nvPr/>
        </p:nvSpPr>
        <p:spPr>
          <a:xfrm>
            <a:off x="2453385" y="4014914"/>
            <a:ext cx="522605" cy="453390"/>
          </a:xfrm>
          <a:custGeom>
            <a:avLst/>
            <a:gdLst/>
            <a:ahLst/>
            <a:cxnLst/>
            <a:rect l="l" t="t" r="r" b="b"/>
            <a:pathLst>
              <a:path w="522605" h="453389">
                <a:moveTo>
                  <a:pt x="522058" y="0"/>
                </a:moveTo>
                <a:lnTo>
                  <a:pt x="0" y="0"/>
                </a:lnTo>
                <a:lnTo>
                  <a:pt x="0" y="453072"/>
                </a:lnTo>
                <a:lnTo>
                  <a:pt x="522058" y="453072"/>
                </a:lnTo>
                <a:lnTo>
                  <a:pt x="522058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1336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8" name="object 8"/>
          <p:cNvSpPr/>
          <p:nvPr/>
        </p:nvSpPr>
        <p:spPr>
          <a:xfrm>
            <a:off x="3810000" y="1277238"/>
            <a:ext cx="762000" cy="370840"/>
          </a:xfrm>
          <a:custGeom>
            <a:avLst/>
            <a:gdLst/>
            <a:ahLst/>
            <a:cxnLst/>
            <a:rect l="l" t="t" r="r" b="b"/>
            <a:pathLst>
              <a:path w="762000" h="370839">
                <a:moveTo>
                  <a:pt x="762000" y="0"/>
                </a:moveTo>
                <a:lnTo>
                  <a:pt x="0" y="0"/>
                </a:lnTo>
                <a:lnTo>
                  <a:pt x="0" y="370839"/>
                </a:lnTo>
                <a:lnTo>
                  <a:pt x="762000" y="370839"/>
                </a:lnTo>
                <a:lnTo>
                  <a:pt x="762000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0" name="object 10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851909" y="126415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8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89" y="65150"/>
                </a:lnTo>
                <a:lnTo>
                  <a:pt x="720089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8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529077" y="4019550"/>
            <a:ext cx="462280" cy="464820"/>
          </a:xfrm>
          <a:custGeom>
            <a:avLst/>
            <a:gdLst/>
            <a:ahLst/>
            <a:cxnLst/>
            <a:rect l="l" t="t" r="r" b="b"/>
            <a:pathLst>
              <a:path w="462280" h="464820">
                <a:moveTo>
                  <a:pt x="0" y="76962"/>
                </a:moveTo>
                <a:lnTo>
                  <a:pt x="6042" y="46988"/>
                </a:lnTo>
                <a:lnTo>
                  <a:pt x="22526" y="22526"/>
                </a:lnTo>
                <a:lnTo>
                  <a:pt x="46988" y="6042"/>
                </a:lnTo>
                <a:lnTo>
                  <a:pt x="76962" y="0"/>
                </a:lnTo>
                <a:lnTo>
                  <a:pt x="384810" y="0"/>
                </a:lnTo>
                <a:lnTo>
                  <a:pt x="414783" y="6042"/>
                </a:lnTo>
                <a:lnTo>
                  <a:pt x="439245" y="22526"/>
                </a:lnTo>
                <a:lnTo>
                  <a:pt x="455729" y="46988"/>
                </a:lnTo>
                <a:lnTo>
                  <a:pt x="461772" y="76962"/>
                </a:lnTo>
                <a:lnTo>
                  <a:pt x="461772" y="387857"/>
                </a:lnTo>
                <a:lnTo>
                  <a:pt x="455729" y="417831"/>
                </a:lnTo>
                <a:lnTo>
                  <a:pt x="439245" y="442293"/>
                </a:lnTo>
                <a:lnTo>
                  <a:pt x="414783" y="458777"/>
                </a:lnTo>
                <a:lnTo>
                  <a:pt x="384810" y="464819"/>
                </a:lnTo>
                <a:lnTo>
                  <a:pt x="76962" y="464819"/>
                </a:lnTo>
                <a:lnTo>
                  <a:pt x="46988" y="458777"/>
                </a:lnTo>
                <a:lnTo>
                  <a:pt x="22526" y="442293"/>
                </a:lnTo>
                <a:lnTo>
                  <a:pt x="6042" y="417831"/>
                </a:lnTo>
                <a:lnTo>
                  <a:pt x="0" y="387857"/>
                </a:lnTo>
                <a:lnTo>
                  <a:pt x="0" y="76962"/>
                </a:lnTo>
                <a:close/>
              </a:path>
            </a:pathLst>
          </a:custGeom>
          <a:ln w="38099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3845814" y="166039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8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89" y="65150"/>
                </a:lnTo>
                <a:lnTo>
                  <a:pt x="720089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8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17" name="object 17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9" name="object 19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8542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2975482" y="4014914"/>
            <a:ext cx="1044575" cy="906780"/>
            <a:chOff x="2975482" y="4014914"/>
            <a:chExt cx="1044575" cy="906780"/>
          </a:xfrm>
        </p:grpSpPr>
        <p:sp>
          <p:nvSpPr>
            <p:cNvPr id="7" name="object 7"/>
            <p:cNvSpPr/>
            <p:nvPr/>
          </p:nvSpPr>
          <p:spPr>
            <a:xfrm>
              <a:off x="3497579" y="4014914"/>
              <a:ext cx="522605" cy="453390"/>
            </a:xfrm>
            <a:custGeom>
              <a:avLst/>
              <a:gdLst/>
              <a:ahLst/>
              <a:cxnLst/>
              <a:rect l="l" t="t" r="r" b="b"/>
              <a:pathLst>
                <a:path w="522604" h="453389">
                  <a:moveTo>
                    <a:pt x="522058" y="0"/>
                  </a:moveTo>
                  <a:lnTo>
                    <a:pt x="0" y="0"/>
                  </a:lnTo>
                  <a:lnTo>
                    <a:pt x="0" y="453072"/>
                  </a:lnTo>
                  <a:lnTo>
                    <a:pt x="522058" y="453072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2975482" y="4468050"/>
              <a:ext cx="522605" cy="453390"/>
            </a:xfrm>
            <a:custGeom>
              <a:avLst/>
              <a:gdLst/>
              <a:ahLst/>
              <a:cxnLst/>
              <a:rect l="l" t="t" r="r" b="b"/>
              <a:pathLst>
                <a:path w="522604" h="453389">
                  <a:moveTo>
                    <a:pt x="522058" y="0"/>
                  </a:moveTo>
                  <a:lnTo>
                    <a:pt x="0" y="0"/>
                  </a:lnTo>
                  <a:lnTo>
                    <a:pt x="0" y="453072"/>
                  </a:lnTo>
                  <a:lnTo>
                    <a:pt x="522058" y="453072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1336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0" name="object 10"/>
          <p:cNvSpPr/>
          <p:nvPr/>
        </p:nvSpPr>
        <p:spPr>
          <a:xfrm>
            <a:off x="3810000" y="1277238"/>
            <a:ext cx="762000" cy="370840"/>
          </a:xfrm>
          <a:custGeom>
            <a:avLst/>
            <a:gdLst/>
            <a:ahLst/>
            <a:cxnLst/>
            <a:rect l="l" t="t" r="r" b="b"/>
            <a:pathLst>
              <a:path w="762000" h="370839">
                <a:moveTo>
                  <a:pt x="762000" y="0"/>
                </a:moveTo>
                <a:lnTo>
                  <a:pt x="0" y="0"/>
                </a:lnTo>
                <a:lnTo>
                  <a:pt x="0" y="370839"/>
                </a:lnTo>
                <a:lnTo>
                  <a:pt x="762000" y="370839"/>
                </a:lnTo>
                <a:lnTo>
                  <a:pt x="762000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2" name="object 12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3851909" y="126415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8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89" y="65150"/>
                </a:lnTo>
                <a:lnTo>
                  <a:pt x="720089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8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004566" y="4019550"/>
            <a:ext cx="1005205" cy="929005"/>
          </a:xfrm>
          <a:custGeom>
            <a:avLst/>
            <a:gdLst/>
            <a:ahLst/>
            <a:cxnLst/>
            <a:rect l="l" t="t" r="r" b="b"/>
            <a:pathLst>
              <a:path w="1005203" h="929003">
                <a:moveTo>
                  <a:pt x="543306" y="76962"/>
                </a:moveTo>
                <a:lnTo>
                  <a:pt x="549348" y="46988"/>
                </a:lnTo>
                <a:lnTo>
                  <a:pt x="565832" y="22526"/>
                </a:lnTo>
                <a:lnTo>
                  <a:pt x="590294" y="6042"/>
                </a:lnTo>
                <a:lnTo>
                  <a:pt x="620268" y="0"/>
                </a:lnTo>
                <a:lnTo>
                  <a:pt x="928116" y="0"/>
                </a:lnTo>
                <a:lnTo>
                  <a:pt x="958089" y="6042"/>
                </a:lnTo>
                <a:lnTo>
                  <a:pt x="982551" y="22526"/>
                </a:lnTo>
                <a:lnTo>
                  <a:pt x="999035" y="46988"/>
                </a:lnTo>
                <a:lnTo>
                  <a:pt x="1005078" y="76962"/>
                </a:lnTo>
                <a:lnTo>
                  <a:pt x="1005078" y="387857"/>
                </a:lnTo>
                <a:lnTo>
                  <a:pt x="999035" y="417831"/>
                </a:lnTo>
                <a:lnTo>
                  <a:pt x="982551" y="442293"/>
                </a:lnTo>
                <a:lnTo>
                  <a:pt x="958089" y="458777"/>
                </a:lnTo>
                <a:lnTo>
                  <a:pt x="928116" y="464819"/>
                </a:lnTo>
                <a:lnTo>
                  <a:pt x="620268" y="464819"/>
                </a:lnTo>
                <a:lnTo>
                  <a:pt x="590294" y="458777"/>
                </a:lnTo>
                <a:lnTo>
                  <a:pt x="565832" y="442293"/>
                </a:lnTo>
                <a:lnTo>
                  <a:pt x="549348" y="417831"/>
                </a:lnTo>
                <a:lnTo>
                  <a:pt x="543306" y="387857"/>
                </a:lnTo>
                <a:lnTo>
                  <a:pt x="543306" y="76962"/>
                </a:lnTo>
                <a:close/>
              </a:path>
              <a:path w="1005203" h="929003">
                <a:moveTo>
                  <a:pt x="0" y="541782"/>
                </a:moveTo>
                <a:lnTo>
                  <a:pt x="6042" y="511808"/>
                </a:lnTo>
                <a:lnTo>
                  <a:pt x="22526" y="487346"/>
                </a:lnTo>
                <a:lnTo>
                  <a:pt x="46988" y="470862"/>
                </a:lnTo>
                <a:lnTo>
                  <a:pt x="76961" y="464819"/>
                </a:lnTo>
                <a:lnTo>
                  <a:pt x="384809" y="464819"/>
                </a:lnTo>
                <a:lnTo>
                  <a:pt x="414783" y="470862"/>
                </a:lnTo>
                <a:lnTo>
                  <a:pt x="439245" y="487346"/>
                </a:lnTo>
                <a:lnTo>
                  <a:pt x="455729" y="511808"/>
                </a:lnTo>
                <a:lnTo>
                  <a:pt x="461771" y="541782"/>
                </a:lnTo>
                <a:lnTo>
                  <a:pt x="461771" y="851916"/>
                </a:lnTo>
                <a:lnTo>
                  <a:pt x="455729" y="881889"/>
                </a:lnTo>
                <a:lnTo>
                  <a:pt x="439245" y="906351"/>
                </a:lnTo>
                <a:lnTo>
                  <a:pt x="414783" y="922835"/>
                </a:lnTo>
                <a:lnTo>
                  <a:pt x="384809" y="928877"/>
                </a:lnTo>
                <a:lnTo>
                  <a:pt x="76961" y="928877"/>
                </a:lnTo>
                <a:lnTo>
                  <a:pt x="46988" y="922835"/>
                </a:lnTo>
                <a:lnTo>
                  <a:pt x="22526" y="906351"/>
                </a:lnTo>
                <a:lnTo>
                  <a:pt x="6042" y="881889"/>
                </a:lnTo>
                <a:lnTo>
                  <a:pt x="0" y="851916"/>
                </a:lnTo>
                <a:lnTo>
                  <a:pt x="0" y="541782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4586478" y="166039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8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89" y="65150"/>
                </a:lnTo>
                <a:lnTo>
                  <a:pt x="720089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8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19" name="object 19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1" name="object 21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8542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3497579" y="4014914"/>
            <a:ext cx="1044575" cy="906780"/>
            <a:chOff x="3497579" y="4014914"/>
            <a:chExt cx="1044575" cy="906780"/>
          </a:xfrm>
        </p:grpSpPr>
        <p:sp>
          <p:nvSpPr>
            <p:cNvPr id="7" name="object 7"/>
            <p:cNvSpPr/>
            <p:nvPr/>
          </p:nvSpPr>
          <p:spPr>
            <a:xfrm>
              <a:off x="4019549" y="4014914"/>
              <a:ext cx="522605" cy="453390"/>
            </a:xfrm>
            <a:custGeom>
              <a:avLst/>
              <a:gdLst/>
              <a:ahLst/>
              <a:cxnLst/>
              <a:rect l="l" t="t" r="r" b="b"/>
              <a:pathLst>
                <a:path w="522604" h="453389">
                  <a:moveTo>
                    <a:pt x="522058" y="0"/>
                  </a:moveTo>
                  <a:lnTo>
                    <a:pt x="0" y="0"/>
                  </a:lnTo>
                  <a:lnTo>
                    <a:pt x="0" y="453072"/>
                  </a:lnTo>
                  <a:lnTo>
                    <a:pt x="522058" y="453072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497579" y="4468050"/>
              <a:ext cx="522605" cy="453390"/>
            </a:xfrm>
            <a:custGeom>
              <a:avLst/>
              <a:gdLst/>
              <a:ahLst/>
              <a:cxnLst/>
              <a:rect l="l" t="t" r="r" b="b"/>
              <a:pathLst>
                <a:path w="522604" h="453389">
                  <a:moveTo>
                    <a:pt x="522058" y="0"/>
                  </a:moveTo>
                  <a:lnTo>
                    <a:pt x="0" y="0"/>
                  </a:lnTo>
                  <a:lnTo>
                    <a:pt x="0" y="453072"/>
                  </a:lnTo>
                  <a:lnTo>
                    <a:pt x="522058" y="453072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1336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0" name="object 10"/>
          <p:cNvSpPr/>
          <p:nvPr/>
        </p:nvSpPr>
        <p:spPr>
          <a:xfrm>
            <a:off x="3810000" y="1277238"/>
            <a:ext cx="762000" cy="370840"/>
          </a:xfrm>
          <a:custGeom>
            <a:avLst/>
            <a:gdLst/>
            <a:ahLst/>
            <a:cxnLst/>
            <a:rect l="l" t="t" r="r" b="b"/>
            <a:pathLst>
              <a:path w="762000" h="370839">
                <a:moveTo>
                  <a:pt x="762000" y="0"/>
                </a:moveTo>
                <a:lnTo>
                  <a:pt x="0" y="0"/>
                </a:lnTo>
                <a:lnTo>
                  <a:pt x="0" y="370839"/>
                </a:lnTo>
                <a:lnTo>
                  <a:pt x="762000" y="370839"/>
                </a:lnTo>
                <a:lnTo>
                  <a:pt x="762000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2" name="object 12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3851909" y="126415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8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89" y="65150"/>
                </a:lnTo>
                <a:lnTo>
                  <a:pt x="720089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8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509771" y="4019550"/>
            <a:ext cx="1005205" cy="929005"/>
          </a:xfrm>
          <a:custGeom>
            <a:avLst/>
            <a:gdLst/>
            <a:ahLst/>
            <a:cxnLst/>
            <a:rect l="l" t="t" r="r" b="b"/>
            <a:pathLst>
              <a:path w="1005203" h="929003">
                <a:moveTo>
                  <a:pt x="543305" y="76962"/>
                </a:moveTo>
                <a:lnTo>
                  <a:pt x="549348" y="46988"/>
                </a:lnTo>
                <a:lnTo>
                  <a:pt x="565832" y="22526"/>
                </a:lnTo>
                <a:lnTo>
                  <a:pt x="590294" y="6042"/>
                </a:lnTo>
                <a:lnTo>
                  <a:pt x="620267" y="0"/>
                </a:lnTo>
                <a:lnTo>
                  <a:pt x="928115" y="0"/>
                </a:lnTo>
                <a:lnTo>
                  <a:pt x="958089" y="6042"/>
                </a:lnTo>
                <a:lnTo>
                  <a:pt x="982551" y="22526"/>
                </a:lnTo>
                <a:lnTo>
                  <a:pt x="999035" y="46988"/>
                </a:lnTo>
                <a:lnTo>
                  <a:pt x="1005077" y="76962"/>
                </a:lnTo>
                <a:lnTo>
                  <a:pt x="1005077" y="387857"/>
                </a:lnTo>
                <a:lnTo>
                  <a:pt x="999035" y="417831"/>
                </a:lnTo>
                <a:lnTo>
                  <a:pt x="982551" y="442293"/>
                </a:lnTo>
                <a:lnTo>
                  <a:pt x="958089" y="458777"/>
                </a:lnTo>
                <a:lnTo>
                  <a:pt x="928115" y="464819"/>
                </a:lnTo>
                <a:lnTo>
                  <a:pt x="620267" y="464819"/>
                </a:lnTo>
                <a:lnTo>
                  <a:pt x="590294" y="458777"/>
                </a:lnTo>
                <a:lnTo>
                  <a:pt x="565832" y="442293"/>
                </a:lnTo>
                <a:lnTo>
                  <a:pt x="549348" y="417831"/>
                </a:lnTo>
                <a:lnTo>
                  <a:pt x="543305" y="387857"/>
                </a:lnTo>
                <a:lnTo>
                  <a:pt x="543305" y="76962"/>
                </a:lnTo>
                <a:close/>
              </a:path>
              <a:path w="1005203" h="929003">
                <a:moveTo>
                  <a:pt x="0" y="541655"/>
                </a:moveTo>
                <a:lnTo>
                  <a:pt x="6040" y="511754"/>
                </a:lnTo>
                <a:lnTo>
                  <a:pt x="22510" y="487330"/>
                </a:lnTo>
                <a:lnTo>
                  <a:pt x="46934" y="470860"/>
                </a:lnTo>
                <a:lnTo>
                  <a:pt x="76835" y="464819"/>
                </a:lnTo>
                <a:lnTo>
                  <a:pt x="384175" y="464819"/>
                </a:lnTo>
                <a:lnTo>
                  <a:pt x="414075" y="470860"/>
                </a:lnTo>
                <a:lnTo>
                  <a:pt x="438499" y="487330"/>
                </a:lnTo>
                <a:lnTo>
                  <a:pt x="454969" y="511754"/>
                </a:lnTo>
                <a:lnTo>
                  <a:pt x="461010" y="541655"/>
                </a:lnTo>
                <a:lnTo>
                  <a:pt x="461010" y="852043"/>
                </a:lnTo>
                <a:lnTo>
                  <a:pt x="454969" y="881943"/>
                </a:lnTo>
                <a:lnTo>
                  <a:pt x="438499" y="906367"/>
                </a:lnTo>
                <a:lnTo>
                  <a:pt x="414075" y="922837"/>
                </a:lnTo>
                <a:lnTo>
                  <a:pt x="384175" y="928877"/>
                </a:lnTo>
                <a:lnTo>
                  <a:pt x="76835" y="928877"/>
                </a:lnTo>
                <a:lnTo>
                  <a:pt x="46934" y="922837"/>
                </a:lnTo>
                <a:lnTo>
                  <a:pt x="22510" y="906367"/>
                </a:lnTo>
                <a:lnTo>
                  <a:pt x="6040" y="881943"/>
                </a:lnTo>
                <a:lnTo>
                  <a:pt x="0" y="852043"/>
                </a:lnTo>
                <a:lnTo>
                  <a:pt x="0" y="541655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343905" y="166039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1" y="0"/>
                </a:lnTo>
                <a:lnTo>
                  <a:pt x="654939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90" y="65150"/>
                </a:lnTo>
                <a:lnTo>
                  <a:pt x="720090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9" y="390905"/>
                </a:lnTo>
                <a:lnTo>
                  <a:pt x="65151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19" name="object 19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1" name="object 21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8542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4019550" y="4014914"/>
            <a:ext cx="1044575" cy="906780"/>
            <a:chOff x="4019550" y="4014914"/>
            <a:chExt cx="1044575" cy="906780"/>
          </a:xfrm>
        </p:grpSpPr>
        <p:sp>
          <p:nvSpPr>
            <p:cNvPr id="7" name="object 7"/>
            <p:cNvSpPr/>
            <p:nvPr/>
          </p:nvSpPr>
          <p:spPr>
            <a:xfrm>
              <a:off x="4541647" y="4014914"/>
              <a:ext cx="522605" cy="453390"/>
            </a:xfrm>
            <a:custGeom>
              <a:avLst/>
              <a:gdLst/>
              <a:ahLst/>
              <a:cxnLst/>
              <a:rect l="l" t="t" r="r" b="b"/>
              <a:pathLst>
                <a:path w="522604" h="453389">
                  <a:moveTo>
                    <a:pt x="522058" y="0"/>
                  </a:moveTo>
                  <a:lnTo>
                    <a:pt x="0" y="0"/>
                  </a:lnTo>
                  <a:lnTo>
                    <a:pt x="0" y="453072"/>
                  </a:lnTo>
                  <a:lnTo>
                    <a:pt x="522058" y="453072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019550" y="4468050"/>
              <a:ext cx="522605" cy="453390"/>
            </a:xfrm>
            <a:custGeom>
              <a:avLst/>
              <a:gdLst/>
              <a:ahLst/>
              <a:cxnLst/>
              <a:rect l="l" t="t" r="r" b="b"/>
              <a:pathLst>
                <a:path w="522604" h="453389">
                  <a:moveTo>
                    <a:pt x="522058" y="0"/>
                  </a:moveTo>
                  <a:lnTo>
                    <a:pt x="0" y="0"/>
                  </a:lnTo>
                  <a:lnTo>
                    <a:pt x="0" y="453072"/>
                  </a:lnTo>
                  <a:lnTo>
                    <a:pt x="522058" y="453072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1336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0" name="object 10"/>
          <p:cNvSpPr/>
          <p:nvPr/>
        </p:nvSpPr>
        <p:spPr>
          <a:xfrm>
            <a:off x="3810000" y="1277238"/>
            <a:ext cx="762000" cy="370840"/>
          </a:xfrm>
          <a:custGeom>
            <a:avLst/>
            <a:gdLst/>
            <a:ahLst/>
            <a:cxnLst/>
            <a:rect l="l" t="t" r="r" b="b"/>
            <a:pathLst>
              <a:path w="762000" h="370839">
                <a:moveTo>
                  <a:pt x="762000" y="0"/>
                </a:moveTo>
                <a:lnTo>
                  <a:pt x="0" y="0"/>
                </a:lnTo>
                <a:lnTo>
                  <a:pt x="0" y="370839"/>
                </a:lnTo>
                <a:lnTo>
                  <a:pt x="762000" y="370839"/>
                </a:lnTo>
                <a:lnTo>
                  <a:pt x="762000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2" name="object 12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3851909" y="126415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8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89" y="65150"/>
                </a:lnTo>
                <a:lnTo>
                  <a:pt x="720089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8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058411" y="4019550"/>
            <a:ext cx="1005205" cy="929005"/>
          </a:xfrm>
          <a:custGeom>
            <a:avLst/>
            <a:gdLst/>
            <a:ahLst/>
            <a:cxnLst/>
            <a:rect l="l" t="t" r="r" b="b"/>
            <a:pathLst>
              <a:path w="1005203" h="929003">
                <a:moveTo>
                  <a:pt x="543305" y="76962"/>
                </a:moveTo>
                <a:lnTo>
                  <a:pt x="549348" y="46988"/>
                </a:lnTo>
                <a:lnTo>
                  <a:pt x="565832" y="22526"/>
                </a:lnTo>
                <a:lnTo>
                  <a:pt x="590294" y="6042"/>
                </a:lnTo>
                <a:lnTo>
                  <a:pt x="620267" y="0"/>
                </a:lnTo>
                <a:lnTo>
                  <a:pt x="928115" y="0"/>
                </a:lnTo>
                <a:lnTo>
                  <a:pt x="958089" y="6042"/>
                </a:lnTo>
                <a:lnTo>
                  <a:pt x="982551" y="22526"/>
                </a:lnTo>
                <a:lnTo>
                  <a:pt x="999035" y="46988"/>
                </a:lnTo>
                <a:lnTo>
                  <a:pt x="1005077" y="76962"/>
                </a:lnTo>
                <a:lnTo>
                  <a:pt x="1005077" y="387857"/>
                </a:lnTo>
                <a:lnTo>
                  <a:pt x="999035" y="417831"/>
                </a:lnTo>
                <a:lnTo>
                  <a:pt x="982551" y="442293"/>
                </a:lnTo>
                <a:lnTo>
                  <a:pt x="958089" y="458777"/>
                </a:lnTo>
                <a:lnTo>
                  <a:pt x="928115" y="464819"/>
                </a:lnTo>
                <a:lnTo>
                  <a:pt x="620267" y="464819"/>
                </a:lnTo>
                <a:lnTo>
                  <a:pt x="590294" y="458777"/>
                </a:lnTo>
                <a:lnTo>
                  <a:pt x="565832" y="442293"/>
                </a:lnTo>
                <a:lnTo>
                  <a:pt x="549348" y="417831"/>
                </a:lnTo>
                <a:lnTo>
                  <a:pt x="543305" y="387857"/>
                </a:lnTo>
                <a:lnTo>
                  <a:pt x="543305" y="76962"/>
                </a:lnTo>
                <a:close/>
              </a:path>
              <a:path w="1005203" h="929003">
                <a:moveTo>
                  <a:pt x="0" y="541655"/>
                </a:moveTo>
                <a:lnTo>
                  <a:pt x="6040" y="511754"/>
                </a:lnTo>
                <a:lnTo>
                  <a:pt x="22510" y="487330"/>
                </a:lnTo>
                <a:lnTo>
                  <a:pt x="46934" y="470860"/>
                </a:lnTo>
                <a:lnTo>
                  <a:pt x="76835" y="464819"/>
                </a:lnTo>
                <a:lnTo>
                  <a:pt x="384175" y="464819"/>
                </a:lnTo>
                <a:lnTo>
                  <a:pt x="414075" y="470860"/>
                </a:lnTo>
                <a:lnTo>
                  <a:pt x="438499" y="487330"/>
                </a:lnTo>
                <a:lnTo>
                  <a:pt x="454969" y="511754"/>
                </a:lnTo>
                <a:lnTo>
                  <a:pt x="461010" y="541655"/>
                </a:lnTo>
                <a:lnTo>
                  <a:pt x="461010" y="852043"/>
                </a:lnTo>
                <a:lnTo>
                  <a:pt x="454969" y="881943"/>
                </a:lnTo>
                <a:lnTo>
                  <a:pt x="438499" y="906367"/>
                </a:lnTo>
                <a:lnTo>
                  <a:pt x="414075" y="922837"/>
                </a:lnTo>
                <a:lnTo>
                  <a:pt x="384175" y="928877"/>
                </a:lnTo>
                <a:lnTo>
                  <a:pt x="76835" y="928877"/>
                </a:lnTo>
                <a:lnTo>
                  <a:pt x="46934" y="922837"/>
                </a:lnTo>
                <a:lnTo>
                  <a:pt x="22510" y="906367"/>
                </a:lnTo>
                <a:lnTo>
                  <a:pt x="6040" y="881943"/>
                </a:lnTo>
                <a:lnTo>
                  <a:pt x="0" y="852043"/>
                </a:lnTo>
                <a:lnTo>
                  <a:pt x="0" y="541655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6128003" y="166039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90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9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90" y="65150"/>
                </a:lnTo>
                <a:lnTo>
                  <a:pt x="720090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9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19" name="object 19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1" name="object 21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8542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/>
          <p:nvPr/>
        </p:nvSpPr>
        <p:spPr>
          <a:xfrm>
            <a:off x="1409319" y="4468050"/>
            <a:ext cx="522605" cy="453390"/>
          </a:xfrm>
          <a:custGeom>
            <a:avLst/>
            <a:gdLst/>
            <a:ahLst/>
            <a:cxnLst/>
            <a:rect l="l" t="t" r="r" b="b"/>
            <a:pathLst>
              <a:path w="522605" h="453389">
                <a:moveTo>
                  <a:pt x="522058" y="0"/>
                </a:moveTo>
                <a:lnTo>
                  <a:pt x="0" y="0"/>
                </a:lnTo>
                <a:lnTo>
                  <a:pt x="0" y="453072"/>
                </a:lnTo>
                <a:lnTo>
                  <a:pt x="522058" y="453072"/>
                </a:lnTo>
                <a:lnTo>
                  <a:pt x="522058" y="0"/>
                </a:lnTo>
                <a:close/>
              </a:path>
            </a:pathLst>
          </a:custGeom>
          <a:solidFill>
            <a:srgbClr val="E7E7E7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1336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8" name="object 8"/>
          <p:cNvSpPr/>
          <p:nvPr/>
        </p:nvSpPr>
        <p:spPr>
          <a:xfrm>
            <a:off x="4572000" y="1277238"/>
            <a:ext cx="762000" cy="370840"/>
          </a:xfrm>
          <a:custGeom>
            <a:avLst/>
            <a:gdLst/>
            <a:ahLst/>
            <a:cxnLst/>
            <a:rect l="l" t="t" r="r" b="b"/>
            <a:pathLst>
              <a:path w="762000" h="370839">
                <a:moveTo>
                  <a:pt x="762000" y="0"/>
                </a:moveTo>
                <a:lnTo>
                  <a:pt x="0" y="0"/>
                </a:lnTo>
                <a:lnTo>
                  <a:pt x="0" y="370839"/>
                </a:lnTo>
                <a:lnTo>
                  <a:pt x="762000" y="370839"/>
                </a:lnTo>
                <a:lnTo>
                  <a:pt x="762000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0" name="object 10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583429" y="126415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9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90" y="65150"/>
                </a:lnTo>
                <a:lnTo>
                  <a:pt x="720090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9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304288" y="166039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8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89" y="65150"/>
                </a:lnTo>
                <a:lnTo>
                  <a:pt x="720089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8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445513" y="4484370"/>
            <a:ext cx="462280" cy="464184"/>
          </a:xfrm>
          <a:custGeom>
            <a:avLst/>
            <a:gdLst/>
            <a:ahLst/>
            <a:cxnLst/>
            <a:rect l="l" t="t" r="r" b="b"/>
            <a:pathLst>
              <a:path w="462280" h="464184">
                <a:moveTo>
                  <a:pt x="0" y="76961"/>
                </a:moveTo>
                <a:lnTo>
                  <a:pt x="6042" y="46988"/>
                </a:lnTo>
                <a:lnTo>
                  <a:pt x="22526" y="22526"/>
                </a:lnTo>
                <a:lnTo>
                  <a:pt x="46988" y="6042"/>
                </a:lnTo>
                <a:lnTo>
                  <a:pt x="76962" y="0"/>
                </a:lnTo>
                <a:lnTo>
                  <a:pt x="384810" y="0"/>
                </a:lnTo>
                <a:lnTo>
                  <a:pt x="414783" y="6042"/>
                </a:lnTo>
                <a:lnTo>
                  <a:pt x="439245" y="22526"/>
                </a:lnTo>
                <a:lnTo>
                  <a:pt x="455729" y="46988"/>
                </a:lnTo>
                <a:lnTo>
                  <a:pt x="461772" y="76961"/>
                </a:lnTo>
                <a:lnTo>
                  <a:pt x="461772" y="387095"/>
                </a:lnTo>
                <a:lnTo>
                  <a:pt x="455729" y="417069"/>
                </a:lnTo>
                <a:lnTo>
                  <a:pt x="439245" y="441531"/>
                </a:lnTo>
                <a:lnTo>
                  <a:pt x="414783" y="458015"/>
                </a:lnTo>
                <a:lnTo>
                  <a:pt x="384810" y="464057"/>
                </a:lnTo>
                <a:lnTo>
                  <a:pt x="76962" y="464057"/>
                </a:lnTo>
                <a:lnTo>
                  <a:pt x="46988" y="458015"/>
                </a:lnTo>
                <a:lnTo>
                  <a:pt x="22526" y="441531"/>
                </a:lnTo>
                <a:lnTo>
                  <a:pt x="6042" y="417069"/>
                </a:lnTo>
                <a:lnTo>
                  <a:pt x="0" y="387095"/>
                </a:lnTo>
                <a:lnTo>
                  <a:pt x="0" y="76961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17" name="object 17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9" name="object 19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8542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/>
          <p:nvPr/>
        </p:nvSpPr>
        <p:spPr>
          <a:xfrm>
            <a:off x="1931416" y="4921059"/>
            <a:ext cx="522605" cy="453390"/>
          </a:xfrm>
          <a:custGeom>
            <a:avLst/>
            <a:gdLst/>
            <a:ahLst/>
            <a:cxnLst/>
            <a:rect l="l" t="t" r="r" b="b"/>
            <a:pathLst>
              <a:path w="522605" h="453389">
                <a:moveTo>
                  <a:pt x="522058" y="0"/>
                </a:moveTo>
                <a:lnTo>
                  <a:pt x="0" y="0"/>
                </a:lnTo>
                <a:lnTo>
                  <a:pt x="0" y="453072"/>
                </a:lnTo>
                <a:lnTo>
                  <a:pt x="522058" y="453072"/>
                </a:lnTo>
                <a:lnTo>
                  <a:pt x="522058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1336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8" name="object 8"/>
          <p:cNvSpPr/>
          <p:nvPr/>
        </p:nvSpPr>
        <p:spPr>
          <a:xfrm>
            <a:off x="4572000" y="1277238"/>
            <a:ext cx="762000" cy="370840"/>
          </a:xfrm>
          <a:custGeom>
            <a:avLst/>
            <a:gdLst/>
            <a:ahLst/>
            <a:cxnLst/>
            <a:rect l="l" t="t" r="r" b="b"/>
            <a:pathLst>
              <a:path w="762000" h="370839">
                <a:moveTo>
                  <a:pt x="762000" y="0"/>
                </a:moveTo>
                <a:lnTo>
                  <a:pt x="0" y="0"/>
                </a:lnTo>
                <a:lnTo>
                  <a:pt x="0" y="370839"/>
                </a:lnTo>
                <a:lnTo>
                  <a:pt x="762000" y="370839"/>
                </a:lnTo>
                <a:lnTo>
                  <a:pt x="762000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0" name="object 10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583429" y="126415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9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90" y="65150"/>
                </a:lnTo>
                <a:lnTo>
                  <a:pt x="720090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9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3035807" y="166039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9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90" y="65150"/>
                </a:lnTo>
                <a:lnTo>
                  <a:pt x="720090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9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099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499360" y="4466844"/>
            <a:ext cx="462280" cy="464820"/>
          </a:xfrm>
          <a:custGeom>
            <a:avLst/>
            <a:gdLst/>
            <a:ahLst/>
            <a:cxnLst/>
            <a:rect l="l" t="t" r="r" b="b"/>
            <a:pathLst>
              <a:path w="462280" h="464820">
                <a:moveTo>
                  <a:pt x="0" y="76961"/>
                </a:moveTo>
                <a:lnTo>
                  <a:pt x="6042" y="46988"/>
                </a:lnTo>
                <a:lnTo>
                  <a:pt x="22526" y="22526"/>
                </a:lnTo>
                <a:lnTo>
                  <a:pt x="46988" y="6042"/>
                </a:lnTo>
                <a:lnTo>
                  <a:pt x="76962" y="0"/>
                </a:lnTo>
                <a:lnTo>
                  <a:pt x="384809" y="0"/>
                </a:lnTo>
                <a:lnTo>
                  <a:pt x="414783" y="6042"/>
                </a:lnTo>
                <a:lnTo>
                  <a:pt x="439245" y="22526"/>
                </a:lnTo>
                <a:lnTo>
                  <a:pt x="455729" y="46988"/>
                </a:lnTo>
                <a:lnTo>
                  <a:pt x="461771" y="76961"/>
                </a:lnTo>
                <a:lnTo>
                  <a:pt x="461771" y="387857"/>
                </a:lnTo>
                <a:lnTo>
                  <a:pt x="455729" y="417831"/>
                </a:lnTo>
                <a:lnTo>
                  <a:pt x="439245" y="442293"/>
                </a:lnTo>
                <a:lnTo>
                  <a:pt x="414783" y="458777"/>
                </a:lnTo>
                <a:lnTo>
                  <a:pt x="384809" y="464819"/>
                </a:lnTo>
                <a:lnTo>
                  <a:pt x="76962" y="464819"/>
                </a:lnTo>
                <a:lnTo>
                  <a:pt x="46988" y="458777"/>
                </a:lnTo>
                <a:lnTo>
                  <a:pt x="22526" y="442293"/>
                </a:lnTo>
                <a:lnTo>
                  <a:pt x="6042" y="417831"/>
                </a:lnTo>
                <a:lnTo>
                  <a:pt x="0" y="387857"/>
                </a:lnTo>
                <a:lnTo>
                  <a:pt x="0" y="76961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963673" y="4906517"/>
            <a:ext cx="462280" cy="464820"/>
          </a:xfrm>
          <a:custGeom>
            <a:avLst/>
            <a:gdLst/>
            <a:ahLst/>
            <a:cxnLst/>
            <a:rect l="l" t="t" r="r" b="b"/>
            <a:pathLst>
              <a:path w="462280" h="464820">
                <a:moveTo>
                  <a:pt x="0" y="76961"/>
                </a:moveTo>
                <a:lnTo>
                  <a:pt x="6042" y="46988"/>
                </a:lnTo>
                <a:lnTo>
                  <a:pt x="22526" y="22526"/>
                </a:lnTo>
                <a:lnTo>
                  <a:pt x="46988" y="6042"/>
                </a:lnTo>
                <a:lnTo>
                  <a:pt x="76962" y="0"/>
                </a:lnTo>
                <a:lnTo>
                  <a:pt x="384809" y="0"/>
                </a:lnTo>
                <a:lnTo>
                  <a:pt x="414783" y="6042"/>
                </a:lnTo>
                <a:lnTo>
                  <a:pt x="439245" y="22526"/>
                </a:lnTo>
                <a:lnTo>
                  <a:pt x="455729" y="46988"/>
                </a:lnTo>
                <a:lnTo>
                  <a:pt x="461771" y="76961"/>
                </a:lnTo>
                <a:lnTo>
                  <a:pt x="461771" y="387857"/>
                </a:lnTo>
                <a:lnTo>
                  <a:pt x="455729" y="417831"/>
                </a:lnTo>
                <a:lnTo>
                  <a:pt x="439245" y="442293"/>
                </a:lnTo>
                <a:lnTo>
                  <a:pt x="414783" y="458777"/>
                </a:lnTo>
                <a:lnTo>
                  <a:pt x="384809" y="464819"/>
                </a:lnTo>
                <a:lnTo>
                  <a:pt x="76962" y="464819"/>
                </a:lnTo>
                <a:lnTo>
                  <a:pt x="46988" y="458777"/>
                </a:lnTo>
                <a:lnTo>
                  <a:pt x="22526" y="442293"/>
                </a:lnTo>
                <a:lnTo>
                  <a:pt x="6042" y="417831"/>
                </a:lnTo>
                <a:lnTo>
                  <a:pt x="0" y="387857"/>
                </a:lnTo>
                <a:lnTo>
                  <a:pt x="0" y="76961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18" name="object 18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0" name="object 20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8542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/>
          <p:nvPr/>
        </p:nvSpPr>
        <p:spPr>
          <a:xfrm>
            <a:off x="2453385" y="4921059"/>
            <a:ext cx="522605" cy="453390"/>
          </a:xfrm>
          <a:custGeom>
            <a:avLst/>
            <a:gdLst/>
            <a:ahLst/>
            <a:cxnLst/>
            <a:rect l="l" t="t" r="r" b="b"/>
            <a:pathLst>
              <a:path w="522605" h="453389">
                <a:moveTo>
                  <a:pt x="522058" y="0"/>
                </a:moveTo>
                <a:lnTo>
                  <a:pt x="0" y="0"/>
                </a:lnTo>
                <a:lnTo>
                  <a:pt x="0" y="453072"/>
                </a:lnTo>
                <a:lnTo>
                  <a:pt x="522058" y="453072"/>
                </a:lnTo>
                <a:lnTo>
                  <a:pt x="522058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1336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8" name="object 8"/>
          <p:cNvSpPr/>
          <p:nvPr/>
        </p:nvSpPr>
        <p:spPr>
          <a:xfrm>
            <a:off x="4572000" y="1277238"/>
            <a:ext cx="762000" cy="370840"/>
          </a:xfrm>
          <a:custGeom>
            <a:avLst/>
            <a:gdLst/>
            <a:ahLst/>
            <a:cxnLst/>
            <a:rect l="l" t="t" r="r" b="b"/>
            <a:pathLst>
              <a:path w="762000" h="370839">
                <a:moveTo>
                  <a:pt x="762000" y="0"/>
                </a:moveTo>
                <a:lnTo>
                  <a:pt x="0" y="0"/>
                </a:lnTo>
                <a:lnTo>
                  <a:pt x="0" y="370839"/>
                </a:lnTo>
                <a:lnTo>
                  <a:pt x="762000" y="370839"/>
                </a:lnTo>
                <a:lnTo>
                  <a:pt x="762000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0" name="object 10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583429" y="126415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9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90" y="65150"/>
                </a:lnTo>
                <a:lnTo>
                  <a:pt x="720090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9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3837432" y="166039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8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89" y="65150"/>
                </a:lnTo>
                <a:lnTo>
                  <a:pt x="720089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8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3038855" y="4466844"/>
            <a:ext cx="462280" cy="464820"/>
          </a:xfrm>
          <a:custGeom>
            <a:avLst/>
            <a:gdLst/>
            <a:ahLst/>
            <a:cxnLst/>
            <a:rect l="l" t="t" r="r" b="b"/>
            <a:pathLst>
              <a:path w="462279" h="464820">
                <a:moveTo>
                  <a:pt x="0" y="76961"/>
                </a:moveTo>
                <a:lnTo>
                  <a:pt x="6042" y="46988"/>
                </a:lnTo>
                <a:lnTo>
                  <a:pt x="22526" y="22526"/>
                </a:lnTo>
                <a:lnTo>
                  <a:pt x="46988" y="6042"/>
                </a:lnTo>
                <a:lnTo>
                  <a:pt x="76962" y="0"/>
                </a:lnTo>
                <a:lnTo>
                  <a:pt x="384809" y="0"/>
                </a:lnTo>
                <a:lnTo>
                  <a:pt x="414783" y="6042"/>
                </a:lnTo>
                <a:lnTo>
                  <a:pt x="439245" y="22526"/>
                </a:lnTo>
                <a:lnTo>
                  <a:pt x="455729" y="46988"/>
                </a:lnTo>
                <a:lnTo>
                  <a:pt x="461771" y="76961"/>
                </a:lnTo>
                <a:lnTo>
                  <a:pt x="461771" y="387857"/>
                </a:lnTo>
                <a:lnTo>
                  <a:pt x="455729" y="417831"/>
                </a:lnTo>
                <a:lnTo>
                  <a:pt x="439245" y="442293"/>
                </a:lnTo>
                <a:lnTo>
                  <a:pt x="414783" y="458777"/>
                </a:lnTo>
                <a:lnTo>
                  <a:pt x="384809" y="464819"/>
                </a:lnTo>
                <a:lnTo>
                  <a:pt x="76962" y="464819"/>
                </a:lnTo>
                <a:lnTo>
                  <a:pt x="46988" y="458777"/>
                </a:lnTo>
                <a:lnTo>
                  <a:pt x="22526" y="442293"/>
                </a:lnTo>
                <a:lnTo>
                  <a:pt x="6042" y="417831"/>
                </a:lnTo>
                <a:lnTo>
                  <a:pt x="0" y="387857"/>
                </a:lnTo>
                <a:lnTo>
                  <a:pt x="0" y="76961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503932" y="4906517"/>
            <a:ext cx="461009" cy="464820"/>
          </a:xfrm>
          <a:custGeom>
            <a:avLst/>
            <a:gdLst/>
            <a:ahLst/>
            <a:cxnLst/>
            <a:rect l="l" t="t" r="r" b="b"/>
            <a:pathLst>
              <a:path w="461009" h="464820">
                <a:moveTo>
                  <a:pt x="0" y="76834"/>
                </a:moveTo>
                <a:lnTo>
                  <a:pt x="6040" y="46934"/>
                </a:lnTo>
                <a:lnTo>
                  <a:pt x="22510" y="22510"/>
                </a:lnTo>
                <a:lnTo>
                  <a:pt x="46934" y="6040"/>
                </a:lnTo>
                <a:lnTo>
                  <a:pt x="76835" y="0"/>
                </a:lnTo>
                <a:lnTo>
                  <a:pt x="384175" y="0"/>
                </a:lnTo>
                <a:lnTo>
                  <a:pt x="414075" y="6040"/>
                </a:lnTo>
                <a:lnTo>
                  <a:pt x="438499" y="22510"/>
                </a:lnTo>
                <a:lnTo>
                  <a:pt x="454969" y="46934"/>
                </a:lnTo>
                <a:lnTo>
                  <a:pt x="461010" y="76834"/>
                </a:lnTo>
                <a:lnTo>
                  <a:pt x="461010" y="387984"/>
                </a:lnTo>
                <a:lnTo>
                  <a:pt x="454969" y="417885"/>
                </a:lnTo>
                <a:lnTo>
                  <a:pt x="438499" y="442309"/>
                </a:lnTo>
                <a:lnTo>
                  <a:pt x="414075" y="458779"/>
                </a:lnTo>
                <a:lnTo>
                  <a:pt x="384175" y="464819"/>
                </a:lnTo>
                <a:lnTo>
                  <a:pt x="76835" y="464819"/>
                </a:lnTo>
                <a:lnTo>
                  <a:pt x="46934" y="458779"/>
                </a:lnTo>
                <a:lnTo>
                  <a:pt x="22510" y="442309"/>
                </a:lnTo>
                <a:lnTo>
                  <a:pt x="6040" y="417885"/>
                </a:lnTo>
                <a:lnTo>
                  <a:pt x="0" y="387984"/>
                </a:lnTo>
                <a:lnTo>
                  <a:pt x="0" y="76834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18" name="object 18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0" name="object 20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8542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/>
          <p:nvPr/>
        </p:nvSpPr>
        <p:spPr>
          <a:xfrm>
            <a:off x="2975482" y="4921059"/>
            <a:ext cx="522605" cy="453390"/>
          </a:xfrm>
          <a:custGeom>
            <a:avLst/>
            <a:gdLst/>
            <a:ahLst/>
            <a:cxnLst/>
            <a:rect l="l" t="t" r="r" b="b"/>
            <a:pathLst>
              <a:path w="522604" h="453389">
                <a:moveTo>
                  <a:pt x="522058" y="0"/>
                </a:moveTo>
                <a:lnTo>
                  <a:pt x="0" y="0"/>
                </a:lnTo>
                <a:lnTo>
                  <a:pt x="0" y="453072"/>
                </a:lnTo>
                <a:lnTo>
                  <a:pt x="522058" y="453072"/>
                </a:lnTo>
                <a:lnTo>
                  <a:pt x="522058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1336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8" name="object 8"/>
          <p:cNvSpPr/>
          <p:nvPr/>
        </p:nvSpPr>
        <p:spPr>
          <a:xfrm>
            <a:off x="4572000" y="1277238"/>
            <a:ext cx="762000" cy="370840"/>
          </a:xfrm>
          <a:custGeom>
            <a:avLst/>
            <a:gdLst/>
            <a:ahLst/>
            <a:cxnLst/>
            <a:rect l="l" t="t" r="r" b="b"/>
            <a:pathLst>
              <a:path w="762000" h="370839">
                <a:moveTo>
                  <a:pt x="762000" y="0"/>
                </a:moveTo>
                <a:lnTo>
                  <a:pt x="0" y="0"/>
                </a:lnTo>
                <a:lnTo>
                  <a:pt x="0" y="370839"/>
                </a:lnTo>
                <a:lnTo>
                  <a:pt x="762000" y="370839"/>
                </a:lnTo>
                <a:lnTo>
                  <a:pt x="762000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0" name="object 10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583429" y="126415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9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90" y="65150"/>
                </a:lnTo>
                <a:lnTo>
                  <a:pt x="720090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9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568952" y="166039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8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89" y="65150"/>
                </a:lnTo>
                <a:lnTo>
                  <a:pt x="720089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8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3561588" y="4466844"/>
            <a:ext cx="462280" cy="464820"/>
          </a:xfrm>
          <a:custGeom>
            <a:avLst/>
            <a:gdLst/>
            <a:ahLst/>
            <a:cxnLst/>
            <a:rect l="l" t="t" r="r" b="b"/>
            <a:pathLst>
              <a:path w="462279" h="464820">
                <a:moveTo>
                  <a:pt x="0" y="76961"/>
                </a:moveTo>
                <a:lnTo>
                  <a:pt x="6042" y="46988"/>
                </a:lnTo>
                <a:lnTo>
                  <a:pt x="22526" y="22526"/>
                </a:lnTo>
                <a:lnTo>
                  <a:pt x="46988" y="6042"/>
                </a:lnTo>
                <a:lnTo>
                  <a:pt x="76962" y="0"/>
                </a:lnTo>
                <a:lnTo>
                  <a:pt x="384810" y="0"/>
                </a:lnTo>
                <a:lnTo>
                  <a:pt x="414783" y="6042"/>
                </a:lnTo>
                <a:lnTo>
                  <a:pt x="439245" y="22526"/>
                </a:lnTo>
                <a:lnTo>
                  <a:pt x="455729" y="46988"/>
                </a:lnTo>
                <a:lnTo>
                  <a:pt x="461772" y="76961"/>
                </a:lnTo>
                <a:lnTo>
                  <a:pt x="461772" y="387857"/>
                </a:lnTo>
                <a:lnTo>
                  <a:pt x="455729" y="417831"/>
                </a:lnTo>
                <a:lnTo>
                  <a:pt x="439245" y="442293"/>
                </a:lnTo>
                <a:lnTo>
                  <a:pt x="414783" y="458777"/>
                </a:lnTo>
                <a:lnTo>
                  <a:pt x="384810" y="464819"/>
                </a:lnTo>
                <a:lnTo>
                  <a:pt x="76962" y="464819"/>
                </a:lnTo>
                <a:lnTo>
                  <a:pt x="46988" y="458777"/>
                </a:lnTo>
                <a:lnTo>
                  <a:pt x="22526" y="442293"/>
                </a:lnTo>
                <a:lnTo>
                  <a:pt x="6042" y="417831"/>
                </a:lnTo>
                <a:lnTo>
                  <a:pt x="0" y="387857"/>
                </a:lnTo>
                <a:lnTo>
                  <a:pt x="0" y="76961"/>
                </a:lnTo>
                <a:close/>
              </a:path>
            </a:pathLst>
          </a:custGeom>
          <a:ln w="38099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025901" y="4906517"/>
            <a:ext cx="462280" cy="464820"/>
          </a:xfrm>
          <a:custGeom>
            <a:avLst/>
            <a:gdLst/>
            <a:ahLst/>
            <a:cxnLst/>
            <a:rect l="l" t="t" r="r" b="b"/>
            <a:pathLst>
              <a:path w="462279" h="464820">
                <a:moveTo>
                  <a:pt x="0" y="76961"/>
                </a:moveTo>
                <a:lnTo>
                  <a:pt x="6042" y="46988"/>
                </a:lnTo>
                <a:lnTo>
                  <a:pt x="22526" y="22526"/>
                </a:lnTo>
                <a:lnTo>
                  <a:pt x="46988" y="6042"/>
                </a:lnTo>
                <a:lnTo>
                  <a:pt x="76962" y="0"/>
                </a:lnTo>
                <a:lnTo>
                  <a:pt x="384810" y="0"/>
                </a:lnTo>
                <a:lnTo>
                  <a:pt x="414783" y="6042"/>
                </a:lnTo>
                <a:lnTo>
                  <a:pt x="439245" y="22526"/>
                </a:lnTo>
                <a:lnTo>
                  <a:pt x="455729" y="46988"/>
                </a:lnTo>
                <a:lnTo>
                  <a:pt x="461772" y="76961"/>
                </a:lnTo>
                <a:lnTo>
                  <a:pt x="461772" y="387857"/>
                </a:lnTo>
                <a:lnTo>
                  <a:pt x="455729" y="417831"/>
                </a:lnTo>
                <a:lnTo>
                  <a:pt x="439245" y="442293"/>
                </a:lnTo>
                <a:lnTo>
                  <a:pt x="414783" y="458777"/>
                </a:lnTo>
                <a:lnTo>
                  <a:pt x="384810" y="464819"/>
                </a:lnTo>
                <a:lnTo>
                  <a:pt x="76962" y="464819"/>
                </a:lnTo>
                <a:lnTo>
                  <a:pt x="46988" y="458777"/>
                </a:lnTo>
                <a:lnTo>
                  <a:pt x="22526" y="442293"/>
                </a:lnTo>
                <a:lnTo>
                  <a:pt x="6042" y="417831"/>
                </a:lnTo>
                <a:lnTo>
                  <a:pt x="0" y="387857"/>
                </a:lnTo>
                <a:lnTo>
                  <a:pt x="0" y="76961"/>
                </a:lnTo>
                <a:close/>
              </a:path>
            </a:pathLst>
          </a:custGeom>
          <a:ln w="38099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18" name="object 18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0" name="object 20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8542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/>
          <p:nvPr/>
        </p:nvSpPr>
        <p:spPr>
          <a:xfrm>
            <a:off x="3497579" y="4468050"/>
            <a:ext cx="522605" cy="453390"/>
          </a:xfrm>
          <a:custGeom>
            <a:avLst/>
            <a:gdLst/>
            <a:ahLst/>
            <a:cxnLst/>
            <a:rect l="l" t="t" r="r" b="b"/>
            <a:pathLst>
              <a:path w="522604" h="453389">
                <a:moveTo>
                  <a:pt x="522058" y="0"/>
                </a:moveTo>
                <a:lnTo>
                  <a:pt x="0" y="0"/>
                </a:lnTo>
                <a:lnTo>
                  <a:pt x="0" y="453072"/>
                </a:lnTo>
                <a:lnTo>
                  <a:pt x="522058" y="453072"/>
                </a:lnTo>
                <a:lnTo>
                  <a:pt x="522058" y="0"/>
                </a:lnTo>
                <a:close/>
              </a:path>
            </a:pathLst>
          </a:custGeom>
          <a:solidFill>
            <a:srgbClr val="E7E7E7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1336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8" name="object 8"/>
          <p:cNvSpPr/>
          <p:nvPr/>
        </p:nvSpPr>
        <p:spPr>
          <a:xfrm>
            <a:off x="4572000" y="1277238"/>
            <a:ext cx="762000" cy="370840"/>
          </a:xfrm>
          <a:custGeom>
            <a:avLst/>
            <a:gdLst/>
            <a:ahLst/>
            <a:cxnLst/>
            <a:rect l="l" t="t" r="r" b="b"/>
            <a:pathLst>
              <a:path w="762000" h="370839">
                <a:moveTo>
                  <a:pt x="762000" y="0"/>
                </a:moveTo>
                <a:lnTo>
                  <a:pt x="0" y="0"/>
                </a:lnTo>
                <a:lnTo>
                  <a:pt x="0" y="370839"/>
                </a:lnTo>
                <a:lnTo>
                  <a:pt x="762000" y="370839"/>
                </a:lnTo>
                <a:lnTo>
                  <a:pt x="762000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0" name="object 10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583429" y="126415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9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90" y="65150"/>
                </a:lnTo>
                <a:lnTo>
                  <a:pt x="720090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9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343905" y="166039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1" y="0"/>
                </a:lnTo>
                <a:lnTo>
                  <a:pt x="654939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90" y="65150"/>
                </a:lnTo>
                <a:lnTo>
                  <a:pt x="720090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9" y="390905"/>
                </a:lnTo>
                <a:lnTo>
                  <a:pt x="65151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3531108" y="4479797"/>
            <a:ext cx="462280" cy="464820"/>
          </a:xfrm>
          <a:custGeom>
            <a:avLst/>
            <a:gdLst/>
            <a:ahLst/>
            <a:cxnLst/>
            <a:rect l="l" t="t" r="r" b="b"/>
            <a:pathLst>
              <a:path w="462279" h="464820">
                <a:moveTo>
                  <a:pt x="0" y="76962"/>
                </a:moveTo>
                <a:lnTo>
                  <a:pt x="6042" y="46988"/>
                </a:lnTo>
                <a:lnTo>
                  <a:pt x="22526" y="22526"/>
                </a:lnTo>
                <a:lnTo>
                  <a:pt x="46988" y="6042"/>
                </a:lnTo>
                <a:lnTo>
                  <a:pt x="76962" y="0"/>
                </a:lnTo>
                <a:lnTo>
                  <a:pt x="384809" y="0"/>
                </a:lnTo>
                <a:lnTo>
                  <a:pt x="414783" y="6042"/>
                </a:lnTo>
                <a:lnTo>
                  <a:pt x="439245" y="22526"/>
                </a:lnTo>
                <a:lnTo>
                  <a:pt x="455729" y="46988"/>
                </a:lnTo>
                <a:lnTo>
                  <a:pt x="461771" y="76962"/>
                </a:lnTo>
                <a:lnTo>
                  <a:pt x="461771" y="387857"/>
                </a:lnTo>
                <a:lnTo>
                  <a:pt x="455729" y="417831"/>
                </a:lnTo>
                <a:lnTo>
                  <a:pt x="439245" y="442293"/>
                </a:lnTo>
                <a:lnTo>
                  <a:pt x="414783" y="458777"/>
                </a:lnTo>
                <a:lnTo>
                  <a:pt x="384809" y="464819"/>
                </a:lnTo>
                <a:lnTo>
                  <a:pt x="76962" y="464819"/>
                </a:lnTo>
                <a:lnTo>
                  <a:pt x="46988" y="458777"/>
                </a:lnTo>
                <a:lnTo>
                  <a:pt x="22526" y="442293"/>
                </a:lnTo>
                <a:lnTo>
                  <a:pt x="6042" y="417831"/>
                </a:lnTo>
                <a:lnTo>
                  <a:pt x="0" y="387857"/>
                </a:lnTo>
                <a:lnTo>
                  <a:pt x="0" y="76962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17" name="object 17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9" name="object 19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8542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/>
          <p:nvPr/>
        </p:nvSpPr>
        <p:spPr>
          <a:xfrm>
            <a:off x="4019550" y="4921059"/>
            <a:ext cx="522605" cy="453390"/>
          </a:xfrm>
          <a:custGeom>
            <a:avLst/>
            <a:gdLst/>
            <a:ahLst/>
            <a:cxnLst/>
            <a:rect l="l" t="t" r="r" b="b"/>
            <a:pathLst>
              <a:path w="522604" h="453389">
                <a:moveTo>
                  <a:pt x="522058" y="0"/>
                </a:moveTo>
                <a:lnTo>
                  <a:pt x="0" y="0"/>
                </a:lnTo>
                <a:lnTo>
                  <a:pt x="0" y="453072"/>
                </a:lnTo>
                <a:lnTo>
                  <a:pt x="522058" y="453072"/>
                </a:lnTo>
                <a:lnTo>
                  <a:pt x="522058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1336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8" name="object 8"/>
          <p:cNvSpPr/>
          <p:nvPr/>
        </p:nvSpPr>
        <p:spPr>
          <a:xfrm>
            <a:off x="4572000" y="1277238"/>
            <a:ext cx="762000" cy="370840"/>
          </a:xfrm>
          <a:custGeom>
            <a:avLst/>
            <a:gdLst/>
            <a:ahLst/>
            <a:cxnLst/>
            <a:rect l="l" t="t" r="r" b="b"/>
            <a:pathLst>
              <a:path w="762000" h="370839">
                <a:moveTo>
                  <a:pt x="762000" y="0"/>
                </a:moveTo>
                <a:lnTo>
                  <a:pt x="0" y="0"/>
                </a:lnTo>
                <a:lnTo>
                  <a:pt x="0" y="370839"/>
                </a:lnTo>
                <a:lnTo>
                  <a:pt x="762000" y="370839"/>
                </a:lnTo>
                <a:lnTo>
                  <a:pt x="762000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0" name="object 10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583429" y="126415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9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90" y="65150"/>
                </a:lnTo>
                <a:lnTo>
                  <a:pt x="720090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9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6128003" y="166039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90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9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90" y="65150"/>
                </a:lnTo>
                <a:lnTo>
                  <a:pt x="720090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9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562855" y="4466844"/>
            <a:ext cx="462280" cy="464820"/>
          </a:xfrm>
          <a:custGeom>
            <a:avLst/>
            <a:gdLst/>
            <a:ahLst/>
            <a:cxnLst/>
            <a:rect l="l" t="t" r="r" b="b"/>
            <a:pathLst>
              <a:path w="462279" h="464820">
                <a:moveTo>
                  <a:pt x="0" y="76961"/>
                </a:moveTo>
                <a:lnTo>
                  <a:pt x="6042" y="46988"/>
                </a:lnTo>
                <a:lnTo>
                  <a:pt x="22526" y="22526"/>
                </a:lnTo>
                <a:lnTo>
                  <a:pt x="46988" y="6042"/>
                </a:lnTo>
                <a:lnTo>
                  <a:pt x="76962" y="0"/>
                </a:lnTo>
                <a:lnTo>
                  <a:pt x="384810" y="0"/>
                </a:lnTo>
                <a:lnTo>
                  <a:pt x="414783" y="6042"/>
                </a:lnTo>
                <a:lnTo>
                  <a:pt x="439245" y="22526"/>
                </a:lnTo>
                <a:lnTo>
                  <a:pt x="455729" y="46988"/>
                </a:lnTo>
                <a:lnTo>
                  <a:pt x="461772" y="76961"/>
                </a:lnTo>
                <a:lnTo>
                  <a:pt x="461772" y="387857"/>
                </a:lnTo>
                <a:lnTo>
                  <a:pt x="455729" y="417831"/>
                </a:lnTo>
                <a:lnTo>
                  <a:pt x="439245" y="442293"/>
                </a:lnTo>
                <a:lnTo>
                  <a:pt x="414783" y="458777"/>
                </a:lnTo>
                <a:lnTo>
                  <a:pt x="384810" y="464819"/>
                </a:lnTo>
                <a:lnTo>
                  <a:pt x="76962" y="464819"/>
                </a:lnTo>
                <a:lnTo>
                  <a:pt x="46988" y="458777"/>
                </a:lnTo>
                <a:lnTo>
                  <a:pt x="22526" y="442293"/>
                </a:lnTo>
                <a:lnTo>
                  <a:pt x="6042" y="417831"/>
                </a:lnTo>
                <a:lnTo>
                  <a:pt x="0" y="387857"/>
                </a:lnTo>
                <a:lnTo>
                  <a:pt x="0" y="76961"/>
                </a:lnTo>
                <a:close/>
              </a:path>
            </a:pathLst>
          </a:custGeom>
          <a:ln w="38099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027932" y="4906517"/>
            <a:ext cx="461009" cy="464820"/>
          </a:xfrm>
          <a:custGeom>
            <a:avLst/>
            <a:gdLst/>
            <a:ahLst/>
            <a:cxnLst/>
            <a:rect l="l" t="t" r="r" b="b"/>
            <a:pathLst>
              <a:path w="461009" h="464820">
                <a:moveTo>
                  <a:pt x="0" y="76834"/>
                </a:moveTo>
                <a:lnTo>
                  <a:pt x="6040" y="46934"/>
                </a:lnTo>
                <a:lnTo>
                  <a:pt x="22510" y="22510"/>
                </a:lnTo>
                <a:lnTo>
                  <a:pt x="46934" y="6040"/>
                </a:lnTo>
                <a:lnTo>
                  <a:pt x="76834" y="0"/>
                </a:lnTo>
                <a:lnTo>
                  <a:pt x="384175" y="0"/>
                </a:lnTo>
                <a:lnTo>
                  <a:pt x="414075" y="6040"/>
                </a:lnTo>
                <a:lnTo>
                  <a:pt x="438499" y="22510"/>
                </a:lnTo>
                <a:lnTo>
                  <a:pt x="454969" y="46934"/>
                </a:lnTo>
                <a:lnTo>
                  <a:pt x="461009" y="76834"/>
                </a:lnTo>
                <a:lnTo>
                  <a:pt x="461009" y="387984"/>
                </a:lnTo>
                <a:lnTo>
                  <a:pt x="454969" y="417885"/>
                </a:lnTo>
                <a:lnTo>
                  <a:pt x="438499" y="442309"/>
                </a:lnTo>
                <a:lnTo>
                  <a:pt x="414075" y="458779"/>
                </a:lnTo>
                <a:lnTo>
                  <a:pt x="384175" y="464819"/>
                </a:lnTo>
                <a:lnTo>
                  <a:pt x="76834" y="464819"/>
                </a:lnTo>
                <a:lnTo>
                  <a:pt x="46934" y="458779"/>
                </a:lnTo>
                <a:lnTo>
                  <a:pt x="22510" y="442309"/>
                </a:lnTo>
                <a:lnTo>
                  <a:pt x="6040" y="417885"/>
                </a:lnTo>
                <a:lnTo>
                  <a:pt x="0" y="387984"/>
                </a:lnTo>
                <a:lnTo>
                  <a:pt x="0" y="76834"/>
                </a:lnTo>
                <a:close/>
              </a:path>
            </a:pathLst>
          </a:custGeom>
          <a:ln w="38099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18" name="object 18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0" name="object 20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8542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/>
          <p:nvPr/>
        </p:nvSpPr>
        <p:spPr>
          <a:xfrm>
            <a:off x="1409319" y="5374157"/>
            <a:ext cx="522605" cy="453390"/>
          </a:xfrm>
          <a:custGeom>
            <a:avLst/>
            <a:gdLst/>
            <a:ahLst/>
            <a:cxnLst/>
            <a:rect l="l" t="t" r="r" b="b"/>
            <a:pathLst>
              <a:path w="522605" h="453389">
                <a:moveTo>
                  <a:pt x="522058" y="0"/>
                </a:moveTo>
                <a:lnTo>
                  <a:pt x="0" y="0"/>
                </a:lnTo>
                <a:lnTo>
                  <a:pt x="0" y="453072"/>
                </a:lnTo>
                <a:lnTo>
                  <a:pt x="522058" y="453072"/>
                </a:lnTo>
                <a:lnTo>
                  <a:pt x="522058" y="0"/>
                </a:lnTo>
                <a:close/>
              </a:path>
            </a:pathLst>
          </a:custGeom>
          <a:solidFill>
            <a:srgbClr val="E7E7E7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1336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8" name="object 8"/>
          <p:cNvSpPr/>
          <p:nvPr/>
        </p:nvSpPr>
        <p:spPr>
          <a:xfrm>
            <a:off x="5334000" y="1277238"/>
            <a:ext cx="762000" cy="370840"/>
          </a:xfrm>
          <a:custGeom>
            <a:avLst/>
            <a:gdLst/>
            <a:ahLst/>
            <a:cxnLst/>
            <a:rect l="l" t="t" r="r" b="b"/>
            <a:pathLst>
              <a:path w="762000" h="370839">
                <a:moveTo>
                  <a:pt x="762000" y="0"/>
                </a:moveTo>
                <a:lnTo>
                  <a:pt x="0" y="0"/>
                </a:lnTo>
                <a:lnTo>
                  <a:pt x="0" y="370839"/>
                </a:lnTo>
                <a:lnTo>
                  <a:pt x="762000" y="370839"/>
                </a:lnTo>
                <a:lnTo>
                  <a:pt x="762000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0" name="object 10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332476" y="126415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8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89" y="65150"/>
                </a:lnTo>
                <a:lnTo>
                  <a:pt x="720089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8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295905" y="166039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8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89" y="65150"/>
                </a:lnTo>
                <a:lnTo>
                  <a:pt x="720089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8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994154" y="4919471"/>
            <a:ext cx="462280" cy="464820"/>
          </a:xfrm>
          <a:custGeom>
            <a:avLst/>
            <a:gdLst/>
            <a:ahLst/>
            <a:cxnLst/>
            <a:rect l="l" t="t" r="r" b="b"/>
            <a:pathLst>
              <a:path w="462280" h="464820">
                <a:moveTo>
                  <a:pt x="0" y="76961"/>
                </a:moveTo>
                <a:lnTo>
                  <a:pt x="6042" y="46988"/>
                </a:lnTo>
                <a:lnTo>
                  <a:pt x="22526" y="22526"/>
                </a:lnTo>
                <a:lnTo>
                  <a:pt x="46988" y="6042"/>
                </a:lnTo>
                <a:lnTo>
                  <a:pt x="76962" y="0"/>
                </a:lnTo>
                <a:lnTo>
                  <a:pt x="384809" y="0"/>
                </a:lnTo>
                <a:lnTo>
                  <a:pt x="414783" y="6042"/>
                </a:lnTo>
                <a:lnTo>
                  <a:pt x="439245" y="22526"/>
                </a:lnTo>
                <a:lnTo>
                  <a:pt x="455729" y="46988"/>
                </a:lnTo>
                <a:lnTo>
                  <a:pt x="461771" y="76961"/>
                </a:lnTo>
                <a:lnTo>
                  <a:pt x="461771" y="387857"/>
                </a:lnTo>
                <a:lnTo>
                  <a:pt x="455729" y="417831"/>
                </a:lnTo>
                <a:lnTo>
                  <a:pt x="439245" y="442293"/>
                </a:lnTo>
                <a:lnTo>
                  <a:pt x="414783" y="458777"/>
                </a:lnTo>
                <a:lnTo>
                  <a:pt x="384809" y="464819"/>
                </a:lnTo>
                <a:lnTo>
                  <a:pt x="76962" y="464819"/>
                </a:lnTo>
                <a:lnTo>
                  <a:pt x="46988" y="458777"/>
                </a:lnTo>
                <a:lnTo>
                  <a:pt x="22526" y="442293"/>
                </a:lnTo>
                <a:lnTo>
                  <a:pt x="6042" y="417831"/>
                </a:lnTo>
                <a:lnTo>
                  <a:pt x="0" y="387857"/>
                </a:lnTo>
                <a:lnTo>
                  <a:pt x="0" y="76961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458467" y="5359146"/>
            <a:ext cx="462280" cy="464820"/>
          </a:xfrm>
          <a:custGeom>
            <a:avLst/>
            <a:gdLst/>
            <a:ahLst/>
            <a:cxnLst/>
            <a:rect l="l" t="t" r="r" b="b"/>
            <a:pathLst>
              <a:path w="462280" h="464820">
                <a:moveTo>
                  <a:pt x="0" y="76961"/>
                </a:moveTo>
                <a:lnTo>
                  <a:pt x="6042" y="46988"/>
                </a:lnTo>
                <a:lnTo>
                  <a:pt x="22526" y="22526"/>
                </a:lnTo>
                <a:lnTo>
                  <a:pt x="46988" y="6042"/>
                </a:lnTo>
                <a:lnTo>
                  <a:pt x="76962" y="0"/>
                </a:lnTo>
                <a:lnTo>
                  <a:pt x="384809" y="0"/>
                </a:lnTo>
                <a:lnTo>
                  <a:pt x="414783" y="6042"/>
                </a:lnTo>
                <a:lnTo>
                  <a:pt x="439245" y="22526"/>
                </a:lnTo>
                <a:lnTo>
                  <a:pt x="455729" y="46988"/>
                </a:lnTo>
                <a:lnTo>
                  <a:pt x="461771" y="76961"/>
                </a:lnTo>
                <a:lnTo>
                  <a:pt x="461771" y="387857"/>
                </a:lnTo>
                <a:lnTo>
                  <a:pt x="455729" y="417815"/>
                </a:lnTo>
                <a:lnTo>
                  <a:pt x="439245" y="442279"/>
                </a:lnTo>
                <a:lnTo>
                  <a:pt x="414783" y="458772"/>
                </a:lnTo>
                <a:lnTo>
                  <a:pt x="384809" y="464819"/>
                </a:lnTo>
                <a:lnTo>
                  <a:pt x="76962" y="464819"/>
                </a:lnTo>
                <a:lnTo>
                  <a:pt x="46988" y="458772"/>
                </a:lnTo>
                <a:lnTo>
                  <a:pt x="22526" y="442279"/>
                </a:lnTo>
                <a:lnTo>
                  <a:pt x="6042" y="417815"/>
                </a:lnTo>
                <a:lnTo>
                  <a:pt x="0" y="387857"/>
                </a:lnTo>
                <a:lnTo>
                  <a:pt x="0" y="76961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18" name="object 18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0" name="object 20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8542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1336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7" name="object 7"/>
          <p:cNvSpPr/>
          <p:nvPr/>
        </p:nvSpPr>
        <p:spPr>
          <a:xfrm>
            <a:off x="5334000" y="1277238"/>
            <a:ext cx="762000" cy="370840"/>
          </a:xfrm>
          <a:custGeom>
            <a:avLst/>
            <a:gdLst/>
            <a:ahLst/>
            <a:cxnLst/>
            <a:rect l="l" t="t" r="r" b="b"/>
            <a:pathLst>
              <a:path w="762000" h="370839">
                <a:moveTo>
                  <a:pt x="762000" y="0"/>
                </a:moveTo>
                <a:lnTo>
                  <a:pt x="0" y="0"/>
                </a:lnTo>
                <a:lnTo>
                  <a:pt x="0" y="370839"/>
                </a:lnTo>
                <a:lnTo>
                  <a:pt x="762000" y="370839"/>
                </a:lnTo>
                <a:lnTo>
                  <a:pt x="762000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332476" y="126415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8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89" y="65150"/>
                </a:lnTo>
                <a:lnTo>
                  <a:pt x="720089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8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036570" y="1660398"/>
            <a:ext cx="719455" cy="391160"/>
          </a:xfrm>
          <a:custGeom>
            <a:avLst/>
            <a:gdLst/>
            <a:ahLst/>
            <a:cxnLst/>
            <a:rect l="l" t="t" r="r" b="b"/>
            <a:pathLst>
              <a:path w="719454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177" y="0"/>
                </a:lnTo>
                <a:lnTo>
                  <a:pt x="679519" y="5125"/>
                </a:lnTo>
                <a:lnTo>
                  <a:pt x="700230" y="19097"/>
                </a:lnTo>
                <a:lnTo>
                  <a:pt x="714202" y="39808"/>
                </a:lnTo>
                <a:lnTo>
                  <a:pt x="719328" y="65150"/>
                </a:lnTo>
                <a:lnTo>
                  <a:pt x="719328" y="325754"/>
                </a:lnTo>
                <a:lnTo>
                  <a:pt x="714202" y="351097"/>
                </a:lnTo>
                <a:lnTo>
                  <a:pt x="700230" y="371808"/>
                </a:lnTo>
                <a:lnTo>
                  <a:pt x="679519" y="385780"/>
                </a:lnTo>
                <a:lnTo>
                  <a:pt x="654177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994154" y="4919471"/>
            <a:ext cx="462280" cy="464820"/>
          </a:xfrm>
          <a:custGeom>
            <a:avLst/>
            <a:gdLst/>
            <a:ahLst/>
            <a:cxnLst/>
            <a:rect l="l" t="t" r="r" b="b"/>
            <a:pathLst>
              <a:path w="462280" h="464820">
                <a:moveTo>
                  <a:pt x="0" y="76961"/>
                </a:moveTo>
                <a:lnTo>
                  <a:pt x="6042" y="46988"/>
                </a:lnTo>
                <a:lnTo>
                  <a:pt x="22526" y="22526"/>
                </a:lnTo>
                <a:lnTo>
                  <a:pt x="46988" y="6042"/>
                </a:lnTo>
                <a:lnTo>
                  <a:pt x="76962" y="0"/>
                </a:lnTo>
                <a:lnTo>
                  <a:pt x="384809" y="0"/>
                </a:lnTo>
                <a:lnTo>
                  <a:pt x="414783" y="6042"/>
                </a:lnTo>
                <a:lnTo>
                  <a:pt x="439245" y="22526"/>
                </a:lnTo>
                <a:lnTo>
                  <a:pt x="455729" y="46988"/>
                </a:lnTo>
                <a:lnTo>
                  <a:pt x="461771" y="76961"/>
                </a:lnTo>
                <a:lnTo>
                  <a:pt x="461771" y="387857"/>
                </a:lnTo>
                <a:lnTo>
                  <a:pt x="455729" y="417831"/>
                </a:lnTo>
                <a:lnTo>
                  <a:pt x="439245" y="442293"/>
                </a:lnTo>
                <a:lnTo>
                  <a:pt x="414783" y="458777"/>
                </a:lnTo>
                <a:lnTo>
                  <a:pt x="384809" y="464819"/>
                </a:lnTo>
                <a:lnTo>
                  <a:pt x="76962" y="464819"/>
                </a:lnTo>
                <a:lnTo>
                  <a:pt x="46988" y="458777"/>
                </a:lnTo>
                <a:lnTo>
                  <a:pt x="22526" y="442293"/>
                </a:lnTo>
                <a:lnTo>
                  <a:pt x="6042" y="417831"/>
                </a:lnTo>
                <a:lnTo>
                  <a:pt x="0" y="387857"/>
                </a:lnTo>
                <a:lnTo>
                  <a:pt x="0" y="76961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16" name="object 16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8" name="object 18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/>
          <p:nvPr/>
        </p:nvSpPr>
        <p:spPr>
          <a:xfrm>
            <a:off x="2453385" y="5374157"/>
            <a:ext cx="522605" cy="453390"/>
          </a:xfrm>
          <a:custGeom>
            <a:avLst/>
            <a:gdLst/>
            <a:ahLst/>
            <a:cxnLst/>
            <a:rect l="l" t="t" r="r" b="b"/>
            <a:pathLst>
              <a:path w="522605" h="453389">
                <a:moveTo>
                  <a:pt x="522058" y="0"/>
                </a:moveTo>
                <a:lnTo>
                  <a:pt x="0" y="0"/>
                </a:lnTo>
                <a:lnTo>
                  <a:pt x="0" y="453072"/>
                </a:lnTo>
                <a:lnTo>
                  <a:pt x="522058" y="453072"/>
                </a:lnTo>
                <a:lnTo>
                  <a:pt x="522058" y="0"/>
                </a:lnTo>
                <a:close/>
              </a:path>
            </a:pathLst>
          </a:custGeom>
          <a:solidFill>
            <a:srgbClr val="E7E7E7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1336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8" name="object 8"/>
          <p:cNvSpPr/>
          <p:nvPr/>
        </p:nvSpPr>
        <p:spPr>
          <a:xfrm>
            <a:off x="5334000" y="1277238"/>
            <a:ext cx="762000" cy="370840"/>
          </a:xfrm>
          <a:custGeom>
            <a:avLst/>
            <a:gdLst/>
            <a:ahLst/>
            <a:cxnLst/>
            <a:rect l="l" t="t" r="r" b="b"/>
            <a:pathLst>
              <a:path w="762000" h="370839">
                <a:moveTo>
                  <a:pt x="762000" y="0"/>
                </a:moveTo>
                <a:lnTo>
                  <a:pt x="0" y="0"/>
                </a:lnTo>
                <a:lnTo>
                  <a:pt x="0" y="370839"/>
                </a:lnTo>
                <a:lnTo>
                  <a:pt x="762000" y="370839"/>
                </a:lnTo>
                <a:lnTo>
                  <a:pt x="762000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0" name="object 10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332476" y="126415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8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89" y="65150"/>
                </a:lnTo>
                <a:lnTo>
                  <a:pt x="720089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8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3863340" y="166039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8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89" y="65150"/>
                </a:lnTo>
                <a:lnTo>
                  <a:pt x="720089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8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995422" y="4919471"/>
            <a:ext cx="462280" cy="464820"/>
          </a:xfrm>
          <a:custGeom>
            <a:avLst/>
            <a:gdLst/>
            <a:ahLst/>
            <a:cxnLst/>
            <a:rect l="l" t="t" r="r" b="b"/>
            <a:pathLst>
              <a:path w="462279" h="464820">
                <a:moveTo>
                  <a:pt x="0" y="76961"/>
                </a:moveTo>
                <a:lnTo>
                  <a:pt x="6042" y="46988"/>
                </a:lnTo>
                <a:lnTo>
                  <a:pt x="22526" y="22526"/>
                </a:lnTo>
                <a:lnTo>
                  <a:pt x="46988" y="6042"/>
                </a:lnTo>
                <a:lnTo>
                  <a:pt x="76961" y="0"/>
                </a:lnTo>
                <a:lnTo>
                  <a:pt x="384810" y="0"/>
                </a:lnTo>
                <a:lnTo>
                  <a:pt x="414783" y="6042"/>
                </a:lnTo>
                <a:lnTo>
                  <a:pt x="439245" y="22526"/>
                </a:lnTo>
                <a:lnTo>
                  <a:pt x="455729" y="46988"/>
                </a:lnTo>
                <a:lnTo>
                  <a:pt x="461772" y="76961"/>
                </a:lnTo>
                <a:lnTo>
                  <a:pt x="461772" y="387857"/>
                </a:lnTo>
                <a:lnTo>
                  <a:pt x="455729" y="417831"/>
                </a:lnTo>
                <a:lnTo>
                  <a:pt x="439245" y="442293"/>
                </a:lnTo>
                <a:lnTo>
                  <a:pt x="414783" y="458777"/>
                </a:lnTo>
                <a:lnTo>
                  <a:pt x="384810" y="464819"/>
                </a:lnTo>
                <a:lnTo>
                  <a:pt x="76961" y="464819"/>
                </a:lnTo>
                <a:lnTo>
                  <a:pt x="46988" y="458777"/>
                </a:lnTo>
                <a:lnTo>
                  <a:pt x="22526" y="442293"/>
                </a:lnTo>
                <a:lnTo>
                  <a:pt x="6042" y="417831"/>
                </a:lnTo>
                <a:lnTo>
                  <a:pt x="0" y="387857"/>
                </a:lnTo>
                <a:lnTo>
                  <a:pt x="0" y="76961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459735" y="5359146"/>
            <a:ext cx="462280" cy="464820"/>
          </a:xfrm>
          <a:custGeom>
            <a:avLst/>
            <a:gdLst/>
            <a:ahLst/>
            <a:cxnLst/>
            <a:rect l="l" t="t" r="r" b="b"/>
            <a:pathLst>
              <a:path w="462280" h="464820">
                <a:moveTo>
                  <a:pt x="0" y="76961"/>
                </a:moveTo>
                <a:lnTo>
                  <a:pt x="6042" y="46988"/>
                </a:lnTo>
                <a:lnTo>
                  <a:pt x="22526" y="22526"/>
                </a:lnTo>
                <a:lnTo>
                  <a:pt x="46988" y="6042"/>
                </a:lnTo>
                <a:lnTo>
                  <a:pt x="76962" y="0"/>
                </a:lnTo>
                <a:lnTo>
                  <a:pt x="384809" y="0"/>
                </a:lnTo>
                <a:lnTo>
                  <a:pt x="414783" y="6042"/>
                </a:lnTo>
                <a:lnTo>
                  <a:pt x="439245" y="22526"/>
                </a:lnTo>
                <a:lnTo>
                  <a:pt x="455729" y="46988"/>
                </a:lnTo>
                <a:lnTo>
                  <a:pt x="461771" y="76961"/>
                </a:lnTo>
                <a:lnTo>
                  <a:pt x="461771" y="387857"/>
                </a:lnTo>
                <a:lnTo>
                  <a:pt x="455729" y="417815"/>
                </a:lnTo>
                <a:lnTo>
                  <a:pt x="439245" y="442279"/>
                </a:lnTo>
                <a:lnTo>
                  <a:pt x="414783" y="458772"/>
                </a:lnTo>
                <a:lnTo>
                  <a:pt x="384809" y="464819"/>
                </a:lnTo>
                <a:lnTo>
                  <a:pt x="76962" y="464819"/>
                </a:lnTo>
                <a:lnTo>
                  <a:pt x="46988" y="458772"/>
                </a:lnTo>
                <a:lnTo>
                  <a:pt x="22526" y="442279"/>
                </a:lnTo>
                <a:lnTo>
                  <a:pt x="6042" y="417815"/>
                </a:lnTo>
                <a:lnTo>
                  <a:pt x="0" y="387857"/>
                </a:lnTo>
                <a:lnTo>
                  <a:pt x="0" y="76961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18" name="object 18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0" name="object 20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/>
          <p:nvPr/>
        </p:nvSpPr>
        <p:spPr>
          <a:xfrm>
            <a:off x="2975482" y="5374157"/>
            <a:ext cx="522605" cy="453390"/>
          </a:xfrm>
          <a:custGeom>
            <a:avLst/>
            <a:gdLst/>
            <a:ahLst/>
            <a:cxnLst/>
            <a:rect l="l" t="t" r="r" b="b"/>
            <a:pathLst>
              <a:path w="522604" h="453389">
                <a:moveTo>
                  <a:pt x="522058" y="0"/>
                </a:moveTo>
                <a:lnTo>
                  <a:pt x="0" y="0"/>
                </a:lnTo>
                <a:lnTo>
                  <a:pt x="0" y="453072"/>
                </a:lnTo>
                <a:lnTo>
                  <a:pt x="522058" y="453072"/>
                </a:lnTo>
                <a:lnTo>
                  <a:pt x="522058" y="0"/>
                </a:lnTo>
                <a:close/>
              </a:path>
            </a:pathLst>
          </a:custGeom>
          <a:solidFill>
            <a:srgbClr val="E7E7E7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1336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8" name="object 8"/>
          <p:cNvSpPr/>
          <p:nvPr/>
        </p:nvSpPr>
        <p:spPr>
          <a:xfrm>
            <a:off x="5334000" y="1277238"/>
            <a:ext cx="762000" cy="370840"/>
          </a:xfrm>
          <a:custGeom>
            <a:avLst/>
            <a:gdLst/>
            <a:ahLst/>
            <a:cxnLst/>
            <a:rect l="l" t="t" r="r" b="b"/>
            <a:pathLst>
              <a:path w="762000" h="370839">
                <a:moveTo>
                  <a:pt x="762000" y="0"/>
                </a:moveTo>
                <a:lnTo>
                  <a:pt x="0" y="0"/>
                </a:lnTo>
                <a:lnTo>
                  <a:pt x="0" y="370839"/>
                </a:lnTo>
                <a:lnTo>
                  <a:pt x="762000" y="370839"/>
                </a:lnTo>
                <a:lnTo>
                  <a:pt x="762000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0" name="object 10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332476" y="126415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8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89" y="65150"/>
                </a:lnTo>
                <a:lnTo>
                  <a:pt x="720089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8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594859" y="166039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8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89" y="65150"/>
                </a:lnTo>
                <a:lnTo>
                  <a:pt x="720089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8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3509771" y="4919471"/>
            <a:ext cx="461009" cy="464820"/>
          </a:xfrm>
          <a:custGeom>
            <a:avLst/>
            <a:gdLst/>
            <a:ahLst/>
            <a:cxnLst/>
            <a:rect l="l" t="t" r="r" b="b"/>
            <a:pathLst>
              <a:path w="461009" h="464820">
                <a:moveTo>
                  <a:pt x="0" y="76834"/>
                </a:moveTo>
                <a:lnTo>
                  <a:pt x="6040" y="46934"/>
                </a:lnTo>
                <a:lnTo>
                  <a:pt x="22510" y="22510"/>
                </a:lnTo>
                <a:lnTo>
                  <a:pt x="46934" y="6040"/>
                </a:lnTo>
                <a:lnTo>
                  <a:pt x="76835" y="0"/>
                </a:lnTo>
                <a:lnTo>
                  <a:pt x="384175" y="0"/>
                </a:lnTo>
                <a:lnTo>
                  <a:pt x="414075" y="6040"/>
                </a:lnTo>
                <a:lnTo>
                  <a:pt x="438499" y="22510"/>
                </a:lnTo>
                <a:lnTo>
                  <a:pt x="454969" y="46934"/>
                </a:lnTo>
                <a:lnTo>
                  <a:pt x="461010" y="76834"/>
                </a:lnTo>
                <a:lnTo>
                  <a:pt x="461010" y="387984"/>
                </a:lnTo>
                <a:lnTo>
                  <a:pt x="454969" y="417885"/>
                </a:lnTo>
                <a:lnTo>
                  <a:pt x="438499" y="442309"/>
                </a:lnTo>
                <a:lnTo>
                  <a:pt x="414075" y="458779"/>
                </a:lnTo>
                <a:lnTo>
                  <a:pt x="384175" y="464819"/>
                </a:lnTo>
                <a:lnTo>
                  <a:pt x="76835" y="464819"/>
                </a:lnTo>
                <a:lnTo>
                  <a:pt x="46934" y="458779"/>
                </a:lnTo>
                <a:lnTo>
                  <a:pt x="22510" y="442309"/>
                </a:lnTo>
                <a:lnTo>
                  <a:pt x="6040" y="417885"/>
                </a:lnTo>
                <a:lnTo>
                  <a:pt x="0" y="387984"/>
                </a:lnTo>
                <a:lnTo>
                  <a:pt x="0" y="76834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974085" y="5359146"/>
            <a:ext cx="462280" cy="464820"/>
          </a:xfrm>
          <a:custGeom>
            <a:avLst/>
            <a:gdLst/>
            <a:ahLst/>
            <a:cxnLst/>
            <a:rect l="l" t="t" r="r" b="b"/>
            <a:pathLst>
              <a:path w="462279" h="464820">
                <a:moveTo>
                  <a:pt x="0" y="76961"/>
                </a:moveTo>
                <a:lnTo>
                  <a:pt x="6042" y="46988"/>
                </a:lnTo>
                <a:lnTo>
                  <a:pt x="22526" y="22526"/>
                </a:lnTo>
                <a:lnTo>
                  <a:pt x="46988" y="6042"/>
                </a:lnTo>
                <a:lnTo>
                  <a:pt x="76962" y="0"/>
                </a:lnTo>
                <a:lnTo>
                  <a:pt x="384810" y="0"/>
                </a:lnTo>
                <a:lnTo>
                  <a:pt x="414783" y="6042"/>
                </a:lnTo>
                <a:lnTo>
                  <a:pt x="439245" y="22526"/>
                </a:lnTo>
                <a:lnTo>
                  <a:pt x="455729" y="46988"/>
                </a:lnTo>
                <a:lnTo>
                  <a:pt x="461772" y="76961"/>
                </a:lnTo>
                <a:lnTo>
                  <a:pt x="461772" y="387857"/>
                </a:lnTo>
                <a:lnTo>
                  <a:pt x="455729" y="417815"/>
                </a:lnTo>
                <a:lnTo>
                  <a:pt x="439245" y="442279"/>
                </a:lnTo>
                <a:lnTo>
                  <a:pt x="414783" y="458772"/>
                </a:lnTo>
                <a:lnTo>
                  <a:pt x="384810" y="464819"/>
                </a:lnTo>
                <a:lnTo>
                  <a:pt x="76962" y="464819"/>
                </a:lnTo>
                <a:lnTo>
                  <a:pt x="46988" y="458772"/>
                </a:lnTo>
                <a:lnTo>
                  <a:pt x="22526" y="442279"/>
                </a:lnTo>
                <a:lnTo>
                  <a:pt x="6042" y="417815"/>
                </a:lnTo>
                <a:lnTo>
                  <a:pt x="0" y="387857"/>
                </a:lnTo>
                <a:lnTo>
                  <a:pt x="0" y="76961"/>
                </a:lnTo>
                <a:close/>
              </a:path>
            </a:pathLst>
          </a:custGeom>
          <a:ln w="38099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18" name="object 18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0" name="object 20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/>
          <p:nvPr/>
        </p:nvSpPr>
        <p:spPr>
          <a:xfrm>
            <a:off x="3497579" y="5374157"/>
            <a:ext cx="522605" cy="453390"/>
          </a:xfrm>
          <a:custGeom>
            <a:avLst/>
            <a:gdLst/>
            <a:ahLst/>
            <a:cxnLst/>
            <a:rect l="l" t="t" r="r" b="b"/>
            <a:pathLst>
              <a:path w="522604" h="453389">
                <a:moveTo>
                  <a:pt x="522058" y="0"/>
                </a:moveTo>
                <a:lnTo>
                  <a:pt x="0" y="0"/>
                </a:lnTo>
                <a:lnTo>
                  <a:pt x="0" y="453072"/>
                </a:lnTo>
                <a:lnTo>
                  <a:pt x="522058" y="453072"/>
                </a:lnTo>
                <a:lnTo>
                  <a:pt x="522058" y="0"/>
                </a:lnTo>
                <a:close/>
              </a:path>
            </a:pathLst>
          </a:custGeom>
          <a:solidFill>
            <a:srgbClr val="E7E7E7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1336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8" name="object 8"/>
          <p:cNvSpPr/>
          <p:nvPr/>
        </p:nvSpPr>
        <p:spPr>
          <a:xfrm>
            <a:off x="5334000" y="1277238"/>
            <a:ext cx="762000" cy="370840"/>
          </a:xfrm>
          <a:custGeom>
            <a:avLst/>
            <a:gdLst/>
            <a:ahLst/>
            <a:cxnLst/>
            <a:rect l="l" t="t" r="r" b="b"/>
            <a:pathLst>
              <a:path w="762000" h="370839">
                <a:moveTo>
                  <a:pt x="762000" y="0"/>
                </a:moveTo>
                <a:lnTo>
                  <a:pt x="0" y="0"/>
                </a:lnTo>
                <a:lnTo>
                  <a:pt x="0" y="370839"/>
                </a:lnTo>
                <a:lnTo>
                  <a:pt x="762000" y="370839"/>
                </a:lnTo>
                <a:lnTo>
                  <a:pt x="762000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0" name="object 10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332476" y="126415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8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89" y="65150"/>
                </a:lnTo>
                <a:lnTo>
                  <a:pt x="720089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8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353050" y="166039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8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89" y="65150"/>
                </a:lnTo>
                <a:lnTo>
                  <a:pt x="720089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8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040885" y="4919471"/>
            <a:ext cx="462280" cy="464820"/>
          </a:xfrm>
          <a:custGeom>
            <a:avLst/>
            <a:gdLst/>
            <a:ahLst/>
            <a:cxnLst/>
            <a:rect l="l" t="t" r="r" b="b"/>
            <a:pathLst>
              <a:path w="462279" h="464820">
                <a:moveTo>
                  <a:pt x="0" y="76961"/>
                </a:moveTo>
                <a:lnTo>
                  <a:pt x="6042" y="46988"/>
                </a:lnTo>
                <a:lnTo>
                  <a:pt x="22526" y="22526"/>
                </a:lnTo>
                <a:lnTo>
                  <a:pt x="46988" y="6042"/>
                </a:lnTo>
                <a:lnTo>
                  <a:pt x="76962" y="0"/>
                </a:lnTo>
                <a:lnTo>
                  <a:pt x="384810" y="0"/>
                </a:lnTo>
                <a:lnTo>
                  <a:pt x="414783" y="6042"/>
                </a:lnTo>
                <a:lnTo>
                  <a:pt x="439245" y="22526"/>
                </a:lnTo>
                <a:lnTo>
                  <a:pt x="455729" y="46988"/>
                </a:lnTo>
                <a:lnTo>
                  <a:pt x="461772" y="76961"/>
                </a:lnTo>
                <a:lnTo>
                  <a:pt x="461772" y="387857"/>
                </a:lnTo>
                <a:lnTo>
                  <a:pt x="455729" y="417831"/>
                </a:lnTo>
                <a:lnTo>
                  <a:pt x="439245" y="442293"/>
                </a:lnTo>
                <a:lnTo>
                  <a:pt x="414783" y="458777"/>
                </a:lnTo>
                <a:lnTo>
                  <a:pt x="384810" y="464819"/>
                </a:lnTo>
                <a:lnTo>
                  <a:pt x="76962" y="464819"/>
                </a:lnTo>
                <a:lnTo>
                  <a:pt x="46988" y="458777"/>
                </a:lnTo>
                <a:lnTo>
                  <a:pt x="22526" y="442293"/>
                </a:lnTo>
                <a:lnTo>
                  <a:pt x="6042" y="417831"/>
                </a:lnTo>
                <a:lnTo>
                  <a:pt x="0" y="387857"/>
                </a:lnTo>
                <a:lnTo>
                  <a:pt x="0" y="76961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505200" y="5359146"/>
            <a:ext cx="462280" cy="464820"/>
          </a:xfrm>
          <a:custGeom>
            <a:avLst/>
            <a:gdLst/>
            <a:ahLst/>
            <a:cxnLst/>
            <a:rect l="l" t="t" r="r" b="b"/>
            <a:pathLst>
              <a:path w="462279" h="464820">
                <a:moveTo>
                  <a:pt x="0" y="76961"/>
                </a:moveTo>
                <a:lnTo>
                  <a:pt x="6042" y="46988"/>
                </a:lnTo>
                <a:lnTo>
                  <a:pt x="22526" y="22526"/>
                </a:lnTo>
                <a:lnTo>
                  <a:pt x="46988" y="6042"/>
                </a:lnTo>
                <a:lnTo>
                  <a:pt x="76962" y="0"/>
                </a:lnTo>
                <a:lnTo>
                  <a:pt x="384810" y="0"/>
                </a:lnTo>
                <a:lnTo>
                  <a:pt x="414783" y="6042"/>
                </a:lnTo>
                <a:lnTo>
                  <a:pt x="439245" y="22526"/>
                </a:lnTo>
                <a:lnTo>
                  <a:pt x="455729" y="46988"/>
                </a:lnTo>
                <a:lnTo>
                  <a:pt x="461772" y="76961"/>
                </a:lnTo>
                <a:lnTo>
                  <a:pt x="461772" y="387857"/>
                </a:lnTo>
                <a:lnTo>
                  <a:pt x="455729" y="417815"/>
                </a:lnTo>
                <a:lnTo>
                  <a:pt x="439245" y="442279"/>
                </a:lnTo>
                <a:lnTo>
                  <a:pt x="414783" y="458772"/>
                </a:lnTo>
                <a:lnTo>
                  <a:pt x="384810" y="464819"/>
                </a:lnTo>
                <a:lnTo>
                  <a:pt x="76962" y="464819"/>
                </a:lnTo>
                <a:lnTo>
                  <a:pt x="46988" y="458772"/>
                </a:lnTo>
                <a:lnTo>
                  <a:pt x="22526" y="442279"/>
                </a:lnTo>
                <a:lnTo>
                  <a:pt x="6042" y="417815"/>
                </a:lnTo>
                <a:lnTo>
                  <a:pt x="0" y="387857"/>
                </a:lnTo>
                <a:lnTo>
                  <a:pt x="0" y="76961"/>
                </a:lnTo>
                <a:close/>
              </a:path>
            </a:pathLst>
          </a:custGeom>
          <a:ln w="38099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18" name="object 18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0" name="object 20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/>
          <p:nvPr/>
        </p:nvSpPr>
        <p:spPr>
          <a:xfrm>
            <a:off x="4019550" y="5374157"/>
            <a:ext cx="522605" cy="453390"/>
          </a:xfrm>
          <a:custGeom>
            <a:avLst/>
            <a:gdLst/>
            <a:ahLst/>
            <a:cxnLst/>
            <a:rect l="l" t="t" r="r" b="b"/>
            <a:pathLst>
              <a:path w="522604" h="453389">
                <a:moveTo>
                  <a:pt x="522058" y="0"/>
                </a:moveTo>
                <a:lnTo>
                  <a:pt x="0" y="0"/>
                </a:lnTo>
                <a:lnTo>
                  <a:pt x="0" y="453072"/>
                </a:lnTo>
                <a:lnTo>
                  <a:pt x="522058" y="453072"/>
                </a:lnTo>
                <a:lnTo>
                  <a:pt x="522058" y="0"/>
                </a:lnTo>
                <a:close/>
              </a:path>
            </a:pathLst>
          </a:custGeom>
          <a:solidFill>
            <a:srgbClr val="E7E7E7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1336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8" name="object 8"/>
          <p:cNvSpPr/>
          <p:nvPr/>
        </p:nvSpPr>
        <p:spPr>
          <a:xfrm>
            <a:off x="5334000" y="1277238"/>
            <a:ext cx="762000" cy="370840"/>
          </a:xfrm>
          <a:custGeom>
            <a:avLst/>
            <a:gdLst/>
            <a:ahLst/>
            <a:cxnLst/>
            <a:rect l="l" t="t" r="r" b="b"/>
            <a:pathLst>
              <a:path w="762000" h="370839">
                <a:moveTo>
                  <a:pt x="762000" y="0"/>
                </a:moveTo>
                <a:lnTo>
                  <a:pt x="0" y="0"/>
                </a:lnTo>
                <a:lnTo>
                  <a:pt x="0" y="370839"/>
                </a:lnTo>
                <a:lnTo>
                  <a:pt x="762000" y="370839"/>
                </a:lnTo>
                <a:lnTo>
                  <a:pt x="762000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0" name="object 10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332476" y="126415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8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89" y="65150"/>
                </a:lnTo>
                <a:lnTo>
                  <a:pt x="720089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8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6101334" y="166039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90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8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89" y="65150"/>
                </a:lnTo>
                <a:lnTo>
                  <a:pt x="720089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8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562855" y="4919471"/>
            <a:ext cx="462280" cy="464820"/>
          </a:xfrm>
          <a:custGeom>
            <a:avLst/>
            <a:gdLst/>
            <a:ahLst/>
            <a:cxnLst/>
            <a:rect l="l" t="t" r="r" b="b"/>
            <a:pathLst>
              <a:path w="462279" h="464820">
                <a:moveTo>
                  <a:pt x="0" y="76961"/>
                </a:moveTo>
                <a:lnTo>
                  <a:pt x="6042" y="46988"/>
                </a:lnTo>
                <a:lnTo>
                  <a:pt x="22526" y="22526"/>
                </a:lnTo>
                <a:lnTo>
                  <a:pt x="46988" y="6042"/>
                </a:lnTo>
                <a:lnTo>
                  <a:pt x="76962" y="0"/>
                </a:lnTo>
                <a:lnTo>
                  <a:pt x="384810" y="0"/>
                </a:lnTo>
                <a:lnTo>
                  <a:pt x="414783" y="6042"/>
                </a:lnTo>
                <a:lnTo>
                  <a:pt x="439245" y="22526"/>
                </a:lnTo>
                <a:lnTo>
                  <a:pt x="455729" y="46988"/>
                </a:lnTo>
                <a:lnTo>
                  <a:pt x="461772" y="76961"/>
                </a:lnTo>
                <a:lnTo>
                  <a:pt x="461772" y="387857"/>
                </a:lnTo>
                <a:lnTo>
                  <a:pt x="455729" y="417831"/>
                </a:lnTo>
                <a:lnTo>
                  <a:pt x="439245" y="442293"/>
                </a:lnTo>
                <a:lnTo>
                  <a:pt x="414783" y="458777"/>
                </a:lnTo>
                <a:lnTo>
                  <a:pt x="384810" y="464819"/>
                </a:lnTo>
                <a:lnTo>
                  <a:pt x="76962" y="464819"/>
                </a:lnTo>
                <a:lnTo>
                  <a:pt x="46988" y="458777"/>
                </a:lnTo>
                <a:lnTo>
                  <a:pt x="22526" y="442293"/>
                </a:lnTo>
                <a:lnTo>
                  <a:pt x="6042" y="417831"/>
                </a:lnTo>
                <a:lnTo>
                  <a:pt x="0" y="387857"/>
                </a:lnTo>
                <a:lnTo>
                  <a:pt x="0" y="76961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027932" y="5359146"/>
            <a:ext cx="461009" cy="464820"/>
          </a:xfrm>
          <a:custGeom>
            <a:avLst/>
            <a:gdLst/>
            <a:ahLst/>
            <a:cxnLst/>
            <a:rect l="l" t="t" r="r" b="b"/>
            <a:pathLst>
              <a:path w="461009" h="464820">
                <a:moveTo>
                  <a:pt x="0" y="76834"/>
                </a:moveTo>
                <a:lnTo>
                  <a:pt x="6040" y="46934"/>
                </a:lnTo>
                <a:lnTo>
                  <a:pt x="22510" y="22510"/>
                </a:lnTo>
                <a:lnTo>
                  <a:pt x="46934" y="6040"/>
                </a:lnTo>
                <a:lnTo>
                  <a:pt x="76834" y="0"/>
                </a:lnTo>
                <a:lnTo>
                  <a:pt x="384175" y="0"/>
                </a:lnTo>
                <a:lnTo>
                  <a:pt x="414075" y="6040"/>
                </a:lnTo>
                <a:lnTo>
                  <a:pt x="438499" y="22510"/>
                </a:lnTo>
                <a:lnTo>
                  <a:pt x="454969" y="46934"/>
                </a:lnTo>
                <a:lnTo>
                  <a:pt x="461009" y="76834"/>
                </a:lnTo>
                <a:lnTo>
                  <a:pt x="461009" y="387984"/>
                </a:lnTo>
                <a:lnTo>
                  <a:pt x="454969" y="417890"/>
                </a:lnTo>
                <a:lnTo>
                  <a:pt x="438499" y="442314"/>
                </a:lnTo>
                <a:lnTo>
                  <a:pt x="414075" y="458781"/>
                </a:lnTo>
                <a:lnTo>
                  <a:pt x="384175" y="464819"/>
                </a:lnTo>
                <a:lnTo>
                  <a:pt x="76834" y="464819"/>
                </a:lnTo>
                <a:lnTo>
                  <a:pt x="46934" y="458781"/>
                </a:lnTo>
                <a:lnTo>
                  <a:pt x="22510" y="442314"/>
                </a:lnTo>
                <a:lnTo>
                  <a:pt x="6040" y="417890"/>
                </a:lnTo>
                <a:lnTo>
                  <a:pt x="0" y="387984"/>
                </a:lnTo>
                <a:lnTo>
                  <a:pt x="0" y="76834"/>
                </a:lnTo>
                <a:close/>
              </a:path>
            </a:pathLst>
          </a:custGeom>
          <a:ln w="38099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18" name="object 18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0" name="object 20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409319" y="5374157"/>
            <a:ext cx="1044575" cy="906144"/>
            <a:chOff x="1409319" y="5374157"/>
            <a:chExt cx="1044575" cy="906144"/>
          </a:xfrm>
        </p:grpSpPr>
        <p:sp>
          <p:nvSpPr>
            <p:cNvPr id="7" name="object 7"/>
            <p:cNvSpPr/>
            <p:nvPr/>
          </p:nvSpPr>
          <p:spPr>
            <a:xfrm>
              <a:off x="1931416" y="5374157"/>
              <a:ext cx="522605" cy="453390"/>
            </a:xfrm>
            <a:custGeom>
              <a:avLst/>
              <a:gdLst/>
              <a:ahLst/>
              <a:cxnLst/>
              <a:rect l="l" t="t" r="r" b="b"/>
              <a:pathLst>
                <a:path w="522605" h="453389">
                  <a:moveTo>
                    <a:pt x="522058" y="0"/>
                  </a:moveTo>
                  <a:lnTo>
                    <a:pt x="0" y="0"/>
                  </a:lnTo>
                  <a:lnTo>
                    <a:pt x="0" y="453072"/>
                  </a:lnTo>
                  <a:lnTo>
                    <a:pt x="522058" y="453072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409319" y="5827229"/>
              <a:ext cx="522605" cy="453390"/>
            </a:xfrm>
            <a:custGeom>
              <a:avLst/>
              <a:gdLst/>
              <a:ahLst/>
              <a:cxnLst/>
              <a:rect l="l" t="t" r="r" b="b"/>
              <a:pathLst>
                <a:path w="522605" h="453389">
                  <a:moveTo>
                    <a:pt x="522058" y="0"/>
                  </a:moveTo>
                  <a:lnTo>
                    <a:pt x="0" y="0"/>
                  </a:lnTo>
                  <a:lnTo>
                    <a:pt x="0" y="453072"/>
                  </a:lnTo>
                  <a:lnTo>
                    <a:pt x="522058" y="453072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1336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0" name="object 10"/>
          <p:cNvSpPr/>
          <p:nvPr/>
        </p:nvSpPr>
        <p:spPr>
          <a:xfrm>
            <a:off x="6096000" y="1277238"/>
            <a:ext cx="762000" cy="370840"/>
          </a:xfrm>
          <a:custGeom>
            <a:avLst/>
            <a:gdLst/>
            <a:ahLst/>
            <a:cxnLst/>
            <a:rect l="l" t="t" r="r" b="b"/>
            <a:pathLst>
              <a:path w="762000" h="370839">
                <a:moveTo>
                  <a:pt x="762000" y="0"/>
                </a:moveTo>
                <a:lnTo>
                  <a:pt x="0" y="0"/>
                </a:lnTo>
                <a:lnTo>
                  <a:pt x="0" y="370839"/>
                </a:lnTo>
                <a:lnTo>
                  <a:pt x="762000" y="370839"/>
                </a:lnTo>
                <a:lnTo>
                  <a:pt x="762000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2" name="object 12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6124955" y="126415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90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1" y="0"/>
                </a:lnTo>
                <a:lnTo>
                  <a:pt x="654939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90" y="65150"/>
                </a:lnTo>
                <a:lnTo>
                  <a:pt x="720090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9" y="390905"/>
                </a:lnTo>
                <a:lnTo>
                  <a:pt x="65151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313432" y="166039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8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90" y="65150"/>
                </a:lnTo>
                <a:lnTo>
                  <a:pt x="720090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8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099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423416" y="5389626"/>
            <a:ext cx="997585" cy="904875"/>
          </a:xfrm>
          <a:custGeom>
            <a:avLst/>
            <a:gdLst/>
            <a:ahLst/>
            <a:cxnLst/>
            <a:rect l="l" t="t" r="r" b="b"/>
            <a:pathLst>
              <a:path w="997585" h="904875">
                <a:moveTo>
                  <a:pt x="535685" y="76962"/>
                </a:moveTo>
                <a:lnTo>
                  <a:pt x="541728" y="46988"/>
                </a:lnTo>
                <a:lnTo>
                  <a:pt x="558212" y="22526"/>
                </a:lnTo>
                <a:lnTo>
                  <a:pt x="582674" y="6042"/>
                </a:lnTo>
                <a:lnTo>
                  <a:pt x="612647" y="0"/>
                </a:lnTo>
                <a:lnTo>
                  <a:pt x="920496" y="0"/>
                </a:lnTo>
                <a:lnTo>
                  <a:pt x="950469" y="6042"/>
                </a:lnTo>
                <a:lnTo>
                  <a:pt x="974931" y="22526"/>
                </a:lnTo>
                <a:lnTo>
                  <a:pt x="991415" y="46988"/>
                </a:lnTo>
                <a:lnTo>
                  <a:pt x="997458" y="76962"/>
                </a:lnTo>
                <a:lnTo>
                  <a:pt x="997458" y="387858"/>
                </a:lnTo>
                <a:lnTo>
                  <a:pt x="991415" y="417815"/>
                </a:lnTo>
                <a:lnTo>
                  <a:pt x="974931" y="442279"/>
                </a:lnTo>
                <a:lnTo>
                  <a:pt x="950469" y="458772"/>
                </a:lnTo>
                <a:lnTo>
                  <a:pt x="920496" y="464820"/>
                </a:lnTo>
                <a:lnTo>
                  <a:pt x="612647" y="464820"/>
                </a:lnTo>
                <a:lnTo>
                  <a:pt x="582674" y="458772"/>
                </a:lnTo>
                <a:lnTo>
                  <a:pt x="558212" y="442279"/>
                </a:lnTo>
                <a:lnTo>
                  <a:pt x="541728" y="417815"/>
                </a:lnTo>
                <a:lnTo>
                  <a:pt x="535685" y="387858"/>
                </a:lnTo>
                <a:lnTo>
                  <a:pt x="535685" y="76962"/>
                </a:lnTo>
                <a:close/>
              </a:path>
              <a:path w="997585" h="904875">
                <a:moveTo>
                  <a:pt x="0" y="516636"/>
                </a:moveTo>
                <a:lnTo>
                  <a:pt x="6042" y="486678"/>
                </a:lnTo>
                <a:lnTo>
                  <a:pt x="22526" y="462214"/>
                </a:lnTo>
                <a:lnTo>
                  <a:pt x="46988" y="445721"/>
                </a:lnTo>
                <a:lnTo>
                  <a:pt x="76962" y="439674"/>
                </a:lnTo>
                <a:lnTo>
                  <a:pt x="384809" y="439674"/>
                </a:lnTo>
                <a:lnTo>
                  <a:pt x="414783" y="445721"/>
                </a:lnTo>
                <a:lnTo>
                  <a:pt x="439245" y="462214"/>
                </a:lnTo>
                <a:lnTo>
                  <a:pt x="455729" y="486678"/>
                </a:lnTo>
                <a:lnTo>
                  <a:pt x="461772" y="516636"/>
                </a:lnTo>
                <a:lnTo>
                  <a:pt x="461772" y="827532"/>
                </a:lnTo>
                <a:lnTo>
                  <a:pt x="455729" y="857489"/>
                </a:lnTo>
                <a:lnTo>
                  <a:pt x="439245" y="881953"/>
                </a:lnTo>
                <a:lnTo>
                  <a:pt x="414783" y="898446"/>
                </a:lnTo>
                <a:lnTo>
                  <a:pt x="384809" y="904494"/>
                </a:lnTo>
                <a:lnTo>
                  <a:pt x="76962" y="904494"/>
                </a:lnTo>
                <a:lnTo>
                  <a:pt x="46988" y="898446"/>
                </a:lnTo>
                <a:lnTo>
                  <a:pt x="22526" y="881953"/>
                </a:lnTo>
                <a:lnTo>
                  <a:pt x="6042" y="857489"/>
                </a:lnTo>
                <a:lnTo>
                  <a:pt x="0" y="827532"/>
                </a:lnTo>
                <a:lnTo>
                  <a:pt x="0" y="516636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19" name="object 19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1" name="object 21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931416" y="5374157"/>
            <a:ext cx="1044575" cy="906144"/>
            <a:chOff x="1931416" y="5374157"/>
            <a:chExt cx="1044575" cy="906144"/>
          </a:xfrm>
        </p:grpSpPr>
        <p:sp>
          <p:nvSpPr>
            <p:cNvPr id="7" name="object 7"/>
            <p:cNvSpPr/>
            <p:nvPr/>
          </p:nvSpPr>
          <p:spPr>
            <a:xfrm>
              <a:off x="2453386" y="5374157"/>
              <a:ext cx="522605" cy="453390"/>
            </a:xfrm>
            <a:custGeom>
              <a:avLst/>
              <a:gdLst/>
              <a:ahLst/>
              <a:cxnLst/>
              <a:rect l="l" t="t" r="r" b="b"/>
              <a:pathLst>
                <a:path w="522605" h="453389">
                  <a:moveTo>
                    <a:pt x="522058" y="0"/>
                  </a:moveTo>
                  <a:lnTo>
                    <a:pt x="0" y="0"/>
                  </a:lnTo>
                  <a:lnTo>
                    <a:pt x="0" y="453072"/>
                  </a:lnTo>
                  <a:lnTo>
                    <a:pt x="522058" y="453072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931416" y="5827229"/>
              <a:ext cx="522605" cy="453390"/>
            </a:xfrm>
            <a:custGeom>
              <a:avLst/>
              <a:gdLst/>
              <a:ahLst/>
              <a:cxnLst/>
              <a:rect l="l" t="t" r="r" b="b"/>
              <a:pathLst>
                <a:path w="522605" h="453389">
                  <a:moveTo>
                    <a:pt x="522058" y="0"/>
                  </a:moveTo>
                  <a:lnTo>
                    <a:pt x="0" y="0"/>
                  </a:lnTo>
                  <a:lnTo>
                    <a:pt x="0" y="453072"/>
                  </a:lnTo>
                  <a:lnTo>
                    <a:pt x="522058" y="453072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1336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0" name="object 10"/>
          <p:cNvSpPr/>
          <p:nvPr/>
        </p:nvSpPr>
        <p:spPr>
          <a:xfrm>
            <a:off x="6096000" y="1277238"/>
            <a:ext cx="762000" cy="370840"/>
          </a:xfrm>
          <a:custGeom>
            <a:avLst/>
            <a:gdLst/>
            <a:ahLst/>
            <a:cxnLst/>
            <a:rect l="l" t="t" r="r" b="b"/>
            <a:pathLst>
              <a:path w="762000" h="370839">
                <a:moveTo>
                  <a:pt x="762000" y="0"/>
                </a:moveTo>
                <a:lnTo>
                  <a:pt x="0" y="0"/>
                </a:lnTo>
                <a:lnTo>
                  <a:pt x="0" y="370839"/>
                </a:lnTo>
                <a:lnTo>
                  <a:pt x="762000" y="370839"/>
                </a:lnTo>
                <a:lnTo>
                  <a:pt x="762000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2" name="object 12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6124955" y="126415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90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1" y="0"/>
                </a:lnTo>
                <a:lnTo>
                  <a:pt x="654939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90" y="65150"/>
                </a:lnTo>
                <a:lnTo>
                  <a:pt x="720090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9" y="390905"/>
                </a:lnTo>
                <a:lnTo>
                  <a:pt x="65151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080004" y="166039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8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90" y="65150"/>
                </a:lnTo>
                <a:lnTo>
                  <a:pt x="720090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8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099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928622" y="5389626"/>
            <a:ext cx="997585" cy="904875"/>
          </a:xfrm>
          <a:custGeom>
            <a:avLst/>
            <a:gdLst/>
            <a:ahLst/>
            <a:cxnLst/>
            <a:rect l="l" t="t" r="r" b="b"/>
            <a:pathLst>
              <a:path w="997585" h="904875">
                <a:moveTo>
                  <a:pt x="535685" y="76962"/>
                </a:moveTo>
                <a:lnTo>
                  <a:pt x="541728" y="46988"/>
                </a:lnTo>
                <a:lnTo>
                  <a:pt x="558212" y="22526"/>
                </a:lnTo>
                <a:lnTo>
                  <a:pt x="582674" y="6042"/>
                </a:lnTo>
                <a:lnTo>
                  <a:pt x="612647" y="0"/>
                </a:lnTo>
                <a:lnTo>
                  <a:pt x="920495" y="0"/>
                </a:lnTo>
                <a:lnTo>
                  <a:pt x="950469" y="6042"/>
                </a:lnTo>
                <a:lnTo>
                  <a:pt x="974931" y="22526"/>
                </a:lnTo>
                <a:lnTo>
                  <a:pt x="991415" y="46988"/>
                </a:lnTo>
                <a:lnTo>
                  <a:pt x="997457" y="76962"/>
                </a:lnTo>
                <a:lnTo>
                  <a:pt x="997457" y="387858"/>
                </a:lnTo>
                <a:lnTo>
                  <a:pt x="991415" y="417815"/>
                </a:lnTo>
                <a:lnTo>
                  <a:pt x="974931" y="442279"/>
                </a:lnTo>
                <a:lnTo>
                  <a:pt x="950469" y="458772"/>
                </a:lnTo>
                <a:lnTo>
                  <a:pt x="920495" y="464820"/>
                </a:lnTo>
                <a:lnTo>
                  <a:pt x="612647" y="464820"/>
                </a:lnTo>
                <a:lnTo>
                  <a:pt x="582674" y="458772"/>
                </a:lnTo>
                <a:lnTo>
                  <a:pt x="558212" y="442279"/>
                </a:lnTo>
                <a:lnTo>
                  <a:pt x="541728" y="417815"/>
                </a:lnTo>
                <a:lnTo>
                  <a:pt x="535685" y="387858"/>
                </a:lnTo>
                <a:lnTo>
                  <a:pt x="535685" y="76962"/>
                </a:lnTo>
                <a:close/>
              </a:path>
              <a:path w="997585" h="904875">
                <a:moveTo>
                  <a:pt x="0" y="516636"/>
                </a:moveTo>
                <a:lnTo>
                  <a:pt x="6042" y="486678"/>
                </a:lnTo>
                <a:lnTo>
                  <a:pt x="22526" y="462214"/>
                </a:lnTo>
                <a:lnTo>
                  <a:pt x="46988" y="445721"/>
                </a:lnTo>
                <a:lnTo>
                  <a:pt x="76961" y="439674"/>
                </a:lnTo>
                <a:lnTo>
                  <a:pt x="384809" y="439674"/>
                </a:lnTo>
                <a:lnTo>
                  <a:pt x="414783" y="445721"/>
                </a:lnTo>
                <a:lnTo>
                  <a:pt x="439245" y="462214"/>
                </a:lnTo>
                <a:lnTo>
                  <a:pt x="455729" y="486678"/>
                </a:lnTo>
                <a:lnTo>
                  <a:pt x="461771" y="516636"/>
                </a:lnTo>
                <a:lnTo>
                  <a:pt x="461771" y="827532"/>
                </a:lnTo>
                <a:lnTo>
                  <a:pt x="455729" y="857489"/>
                </a:lnTo>
                <a:lnTo>
                  <a:pt x="439245" y="881953"/>
                </a:lnTo>
                <a:lnTo>
                  <a:pt x="414783" y="898446"/>
                </a:lnTo>
                <a:lnTo>
                  <a:pt x="384809" y="904494"/>
                </a:lnTo>
                <a:lnTo>
                  <a:pt x="76961" y="904494"/>
                </a:lnTo>
                <a:lnTo>
                  <a:pt x="46988" y="898446"/>
                </a:lnTo>
                <a:lnTo>
                  <a:pt x="22526" y="881953"/>
                </a:lnTo>
                <a:lnTo>
                  <a:pt x="6042" y="857489"/>
                </a:lnTo>
                <a:lnTo>
                  <a:pt x="0" y="827532"/>
                </a:lnTo>
                <a:lnTo>
                  <a:pt x="0" y="516636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19" name="object 19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1" name="object 21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2453385" y="5374157"/>
            <a:ext cx="1044575" cy="906144"/>
            <a:chOff x="2453385" y="5374157"/>
            <a:chExt cx="1044575" cy="906144"/>
          </a:xfrm>
        </p:grpSpPr>
        <p:sp>
          <p:nvSpPr>
            <p:cNvPr id="7" name="object 7"/>
            <p:cNvSpPr/>
            <p:nvPr/>
          </p:nvSpPr>
          <p:spPr>
            <a:xfrm>
              <a:off x="2975482" y="5374157"/>
              <a:ext cx="522605" cy="453390"/>
            </a:xfrm>
            <a:custGeom>
              <a:avLst/>
              <a:gdLst/>
              <a:ahLst/>
              <a:cxnLst/>
              <a:rect l="l" t="t" r="r" b="b"/>
              <a:pathLst>
                <a:path w="522604" h="453389">
                  <a:moveTo>
                    <a:pt x="522058" y="0"/>
                  </a:moveTo>
                  <a:lnTo>
                    <a:pt x="0" y="0"/>
                  </a:lnTo>
                  <a:lnTo>
                    <a:pt x="0" y="453072"/>
                  </a:lnTo>
                  <a:lnTo>
                    <a:pt x="522058" y="453072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2453385" y="5827229"/>
              <a:ext cx="522605" cy="453390"/>
            </a:xfrm>
            <a:custGeom>
              <a:avLst/>
              <a:gdLst/>
              <a:ahLst/>
              <a:cxnLst/>
              <a:rect l="l" t="t" r="r" b="b"/>
              <a:pathLst>
                <a:path w="522605" h="453389">
                  <a:moveTo>
                    <a:pt x="522058" y="0"/>
                  </a:moveTo>
                  <a:lnTo>
                    <a:pt x="0" y="0"/>
                  </a:lnTo>
                  <a:lnTo>
                    <a:pt x="0" y="453072"/>
                  </a:lnTo>
                  <a:lnTo>
                    <a:pt x="522058" y="453072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1336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0" name="object 10"/>
          <p:cNvSpPr/>
          <p:nvPr/>
        </p:nvSpPr>
        <p:spPr>
          <a:xfrm>
            <a:off x="6096000" y="1277238"/>
            <a:ext cx="762000" cy="370840"/>
          </a:xfrm>
          <a:custGeom>
            <a:avLst/>
            <a:gdLst/>
            <a:ahLst/>
            <a:cxnLst/>
            <a:rect l="l" t="t" r="r" b="b"/>
            <a:pathLst>
              <a:path w="762000" h="370839">
                <a:moveTo>
                  <a:pt x="762000" y="0"/>
                </a:moveTo>
                <a:lnTo>
                  <a:pt x="0" y="0"/>
                </a:lnTo>
                <a:lnTo>
                  <a:pt x="0" y="370839"/>
                </a:lnTo>
                <a:lnTo>
                  <a:pt x="762000" y="370839"/>
                </a:lnTo>
                <a:lnTo>
                  <a:pt x="762000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810000" y="1648079"/>
            <a:ext cx="762000" cy="391795"/>
          </a:xfrm>
          <a:custGeom>
            <a:avLst/>
            <a:gdLst/>
            <a:ahLst/>
            <a:cxnLst/>
            <a:rect l="l" t="t" r="r" b="b"/>
            <a:pathLst>
              <a:path w="762000" h="391794">
                <a:moveTo>
                  <a:pt x="762000" y="0"/>
                </a:moveTo>
                <a:lnTo>
                  <a:pt x="0" y="0"/>
                </a:lnTo>
                <a:lnTo>
                  <a:pt x="0" y="391795"/>
                </a:lnTo>
                <a:lnTo>
                  <a:pt x="762000" y="391795"/>
                </a:lnTo>
                <a:lnTo>
                  <a:pt x="762000" y="0"/>
                </a:lnTo>
                <a:close/>
              </a:path>
            </a:pathLst>
          </a:custGeom>
          <a:solidFill>
            <a:srgbClr val="E7E7E7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3" name="object 13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6124955" y="126415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90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1" y="0"/>
                </a:lnTo>
                <a:lnTo>
                  <a:pt x="654939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90" y="65150"/>
                </a:lnTo>
                <a:lnTo>
                  <a:pt x="720090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9" y="390905"/>
                </a:lnTo>
                <a:lnTo>
                  <a:pt x="65151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793997" y="166039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8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89" y="65150"/>
                </a:lnTo>
                <a:lnTo>
                  <a:pt x="720089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8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486405" y="5389626"/>
            <a:ext cx="996950" cy="904875"/>
          </a:xfrm>
          <a:custGeom>
            <a:avLst/>
            <a:gdLst/>
            <a:ahLst/>
            <a:cxnLst/>
            <a:rect l="l" t="t" r="r" b="b"/>
            <a:pathLst>
              <a:path w="996950" h="904875">
                <a:moveTo>
                  <a:pt x="535686" y="76835"/>
                </a:moveTo>
                <a:lnTo>
                  <a:pt x="541726" y="46934"/>
                </a:lnTo>
                <a:lnTo>
                  <a:pt x="558196" y="22510"/>
                </a:lnTo>
                <a:lnTo>
                  <a:pt x="582620" y="6040"/>
                </a:lnTo>
                <a:lnTo>
                  <a:pt x="612520" y="0"/>
                </a:lnTo>
                <a:lnTo>
                  <a:pt x="919860" y="0"/>
                </a:lnTo>
                <a:lnTo>
                  <a:pt x="949761" y="6040"/>
                </a:lnTo>
                <a:lnTo>
                  <a:pt x="974185" y="22510"/>
                </a:lnTo>
                <a:lnTo>
                  <a:pt x="990655" y="46934"/>
                </a:lnTo>
                <a:lnTo>
                  <a:pt x="996695" y="76835"/>
                </a:lnTo>
                <a:lnTo>
                  <a:pt x="996695" y="387985"/>
                </a:lnTo>
                <a:lnTo>
                  <a:pt x="990655" y="417890"/>
                </a:lnTo>
                <a:lnTo>
                  <a:pt x="974185" y="442314"/>
                </a:lnTo>
                <a:lnTo>
                  <a:pt x="949761" y="458781"/>
                </a:lnTo>
                <a:lnTo>
                  <a:pt x="919860" y="464820"/>
                </a:lnTo>
                <a:lnTo>
                  <a:pt x="612520" y="464820"/>
                </a:lnTo>
                <a:lnTo>
                  <a:pt x="582620" y="458781"/>
                </a:lnTo>
                <a:lnTo>
                  <a:pt x="558196" y="442314"/>
                </a:lnTo>
                <a:lnTo>
                  <a:pt x="541726" y="417890"/>
                </a:lnTo>
                <a:lnTo>
                  <a:pt x="535686" y="387985"/>
                </a:lnTo>
                <a:lnTo>
                  <a:pt x="535686" y="76835"/>
                </a:lnTo>
                <a:close/>
              </a:path>
              <a:path w="996950" h="904875">
                <a:moveTo>
                  <a:pt x="0" y="516636"/>
                </a:moveTo>
                <a:lnTo>
                  <a:pt x="6042" y="486678"/>
                </a:lnTo>
                <a:lnTo>
                  <a:pt x="22526" y="462214"/>
                </a:lnTo>
                <a:lnTo>
                  <a:pt x="46988" y="445721"/>
                </a:lnTo>
                <a:lnTo>
                  <a:pt x="76962" y="439674"/>
                </a:lnTo>
                <a:lnTo>
                  <a:pt x="384810" y="439674"/>
                </a:lnTo>
                <a:lnTo>
                  <a:pt x="414783" y="445721"/>
                </a:lnTo>
                <a:lnTo>
                  <a:pt x="439245" y="462214"/>
                </a:lnTo>
                <a:lnTo>
                  <a:pt x="455729" y="486678"/>
                </a:lnTo>
                <a:lnTo>
                  <a:pt x="461771" y="516636"/>
                </a:lnTo>
                <a:lnTo>
                  <a:pt x="461771" y="827532"/>
                </a:lnTo>
                <a:lnTo>
                  <a:pt x="455729" y="857489"/>
                </a:lnTo>
                <a:lnTo>
                  <a:pt x="439245" y="881953"/>
                </a:lnTo>
                <a:lnTo>
                  <a:pt x="414783" y="898446"/>
                </a:lnTo>
                <a:lnTo>
                  <a:pt x="384810" y="904494"/>
                </a:lnTo>
                <a:lnTo>
                  <a:pt x="76962" y="904494"/>
                </a:lnTo>
                <a:lnTo>
                  <a:pt x="46988" y="898446"/>
                </a:lnTo>
                <a:lnTo>
                  <a:pt x="22526" y="881953"/>
                </a:lnTo>
                <a:lnTo>
                  <a:pt x="6042" y="857489"/>
                </a:lnTo>
                <a:lnTo>
                  <a:pt x="0" y="827532"/>
                </a:lnTo>
                <a:lnTo>
                  <a:pt x="0" y="516636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20" name="object 20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2" name="object 22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/>
          <p:nvPr/>
        </p:nvSpPr>
        <p:spPr>
          <a:xfrm>
            <a:off x="2975482" y="5374157"/>
            <a:ext cx="522605" cy="453390"/>
          </a:xfrm>
          <a:custGeom>
            <a:avLst/>
            <a:gdLst/>
            <a:ahLst/>
            <a:cxnLst/>
            <a:rect l="l" t="t" r="r" b="b"/>
            <a:pathLst>
              <a:path w="522604" h="453389">
                <a:moveTo>
                  <a:pt x="522058" y="0"/>
                </a:moveTo>
                <a:lnTo>
                  <a:pt x="0" y="0"/>
                </a:lnTo>
                <a:lnTo>
                  <a:pt x="0" y="453072"/>
                </a:lnTo>
                <a:lnTo>
                  <a:pt x="522058" y="453072"/>
                </a:lnTo>
                <a:lnTo>
                  <a:pt x="522058" y="0"/>
                </a:lnTo>
                <a:close/>
              </a:path>
            </a:pathLst>
          </a:custGeom>
          <a:solidFill>
            <a:srgbClr val="E7E7E7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1336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8" name="object 8"/>
          <p:cNvSpPr/>
          <p:nvPr/>
        </p:nvSpPr>
        <p:spPr>
          <a:xfrm>
            <a:off x="6096000" y="1277238"/>
            <a:ext cx="762000" cy="370840"/>
          </a:xfrm>
          <a:custGeom>
            <a:avLst/>
            <a:gdLst/>
            <a:ahLst/>
            <a:cxnLst/>
            <a:rect l="l" t="t" r="r" b="b"/>
            <a:pathLst>
              <a:path w="762000" h="370839">
                <a:moveTo>
                  <a:pt x="762000" y="0"/>
                </a:moveTo>
                <a:lnTo>
                  <a:pt x="0" y="0"/>
                </a:lnTo>
                <a:lnTo>
                  <a:pt x="0" y="370839"/>
                </a:lnTo>
                <a:lnTo>
                  <a:pt x="762000" y="370839"/>
                </a:lnTo>
                <a:lnTo>
                  <a:pt x="762000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4572000" y="1648079"/>
            <a:ext cx="762000" cy="391795"/>
          </a:xfrm>
          <a:custGeom>
            <a:avLst/>
            <a:gdLst/>
            <a:ahLst/>
            <a:cxnLst/>
            <a:rect l="l" t="t" r="r" b="b"/>
            <a:pathLst>
              <a:path w="762000" h="391794">
                <a:moveTo>
                  <a:pt x="762000" y="0"/>
                </a:moveTo>
                <a:lnTo>
                  <a:pt x="0" y="0"/>
                </a:lnTo>
                <a:lnTo>
                  <a:pt x="0" y="391795"/>
                </a:lnTo>
                <a:lnTo>
                  <a:pt x="762000" y="391795"/>
                </a:lnTo>
                <a:lnTo>
                  <a:pt x="762000" y="0"/>
                </a:lnTo>
                <a:close/>
              </a:path>
            </a:pathLst>
          </a:custGeom>
          <a:solidFill>
            <a:srgbClr val="E7E7E7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1" name="object 11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6124955" y="126415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90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1" y="0"/>
                </a:lnTo>
                <a:lnTo>
                  <a:pt x="654939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90" y="65150"/>
                </a:lnTo>
                <a:lnTo>
                  <a:pt x="720090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9" y="390905"/>
                </a:lnTo>
                <a:lnTo>
                  <a:pt x="65151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543044" y="166039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8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89" y="65150"/>
                </a:lnTo>
                <a:lnTo>
                  <a:pt x="720089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8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022092" y="5389626"/>
            <a:ext cx="461009" cy="464820"/>
          </a:xfrm>
          <a:custGeom>
            <a:avLst/>
            <a:gdLst/>
            <a:ahLst/>
            <a:cxnLst/>
            <a:rect l="l" t="t" r="r" b="b"/>
            <a:pathLst>
              <a:path w="461009" h="464820">
                <a:moveTo>
                  <a:pt x="0" y="76835"/>
                </a:moveTo>
                <a:lnTo>
                  <a:pt x="6040" y="46934"/>
                </a:lnTo>
                <a:lnTo>
                  <a:pt x="22510" y="22510"/>
                </a:lnTo>
                <a:lnTo>
                  <a:pt x="46934" y="6040"/>
                </a:lnTo>
                <a:lnTo>
                  <a:pt x="76834" y="0"/>
                </a:lnTo>
                <a:lnTo>
                  <a:pt x="384174" y="0"/>
                </a:lnTo>
                <a:lnTo>
                  <a:pt x="414075" y="6040"/>
                </a:lnTo>
                <a:lnTo>
                  <a:pt x="438499" y="22510"/>
                </a:lnTo>
                <a:lnTo>
                  <a:pt x="454969" y="46934"/>
                </a:lnTo>
                <a:lnTo>
                  <a:pt x="461009" y="76835"/>
                </a:lnTo>
                <a:lnTo>
                  <a:pt x="461009" y="387985"/>
                </a:lnTo>
                <a:lnTo>
                  <a:pt x="454969" y="417890"/>
                </a:lnTo>
                <a:lnTo>
                  <a:pt x="438499" y="442314"/>
                </a:lnTo>
                <a:lnTo>
                  <a:pt x="414075" y="458781"/>
                </a:lnTo>
                <a:lnTo>
                  <a:pt x="384174" y="464820"/>
                </a:lnTo>
                <a:lnTo>
                  <a:pt x="76834" y="464820"/>
                </a:lnTo>
                <a:lnTo>
                  <a:pt x="46934" y="458781"/>
                </a:lnTo>
                <a:lnTo>
                  <a:pt x="22510" y="442314"/>
                </a:lnTo>
                <a:lnTo>
                  <a:pt x="6040" y="417890"/>
                </a:lnTo>
                <a:lnTo>
                  <a:pt x="0" y="387985"/>
                </a:lnTo>
                <a:lnTo>
                  <a:pt x="0" y="76835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18" name="object 18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0" name="object 20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3497579" y="5374157"/>
            <a:ext cx="1044575" cy="906144"/>
            <a:chOff x="3497579" y="5374157"/>
            <a:chExt cx="1044575" cy="906144"/>
          </a:xfrm>
        </p:grpSpPr>
        <p:sp>
          <p:nvSpPr>
            <p:cNvPr id="7" name="object 7"/>
            <p:cNvSpPr/>
            <p:nvPr/>
          </p:nvSpPr>
          <p:spPr>
            <a:xfrm>
              <a:off x="4019549" y="5374157"/>
              <a:ext cx="522605" cy="453390"/>
            </a:xfrm>
            <a:custGeom>
              <a:avLst/>
              <a:gdLst/>
              <a:ahLst/>
              <a:cxnLst/>
              <a:rect l="l" t="t" r="r" b="b"/>
              <a:pathLst>
                <a:path w="522604" h="453389">
                  <a:moveTo>
                    <a:pt x="522058" y="0"/>
                  </a:moveTo>
                  <a:lnTo>
                    <a:pt x="0" y="0"/>
                  </a:lnTo>
                  <a:lnTo>
                    <a:pt x="0" y="453072"/>
                  </a:lnTo>
                  <a:lnTo>
                    <a:pt x="522058" y="453072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497579" y="5827229"/>
              <a:ext cx="522605" cy="453390"/>
            </a:xfrm>
            <a:custGeom>
              <a:avLst/>
              <a:gdLst/>
              <a:ahLst/>
              <a:cxnLst/>
              <a:rect l="l" t="t" r="r" b="b"/>
              <a:pathLst>
                <a:path w="522604" h="453389">
                  <a:moveTo>
                    <a:pt x="522058" y="0"/>
                  </a:moveTo>
                  <a:lnTo>
                    <a:pt x="0" y="0"/>
                  </a:lnTo>
                  <a:lnTo>
                    <a:pt x="0" y="453072"/>
                  </a:lnTo>
                  <a:lnTo>
                    <a:pt x="522058" y="453072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1336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0" name="object 10"/>
          <p:cNvSpPr/>
          <p:nvPr/>
        </p:nvSpPr>
        <p:spPr>
          <a:xfrm>
            <a:off x="6096000" y="1277238"/>
            <a:ext cx="762000" cy="370840"/>
          </a:xfrm>
          <a:custGeom>
            <a:avLst/>
            <a:gdLst/>
            <a:ahLst/>
            <a:cxnLst/>
            <a:rect l="l" t="t" r="r" b="b"/>
            <a:pathLst>
              <a:path w="762000" h="370839">
                <a:moveTo>
                  <a:pt x="762000" y="0"/>
                </a:moveTo>
                <a:lnTo>
                  <a:pt x="0" y="0"/>
                </a:lnTo>
                <a:lnTo>
                  <a:pt x="0" y="370839"/>
                </a:lnTo>
                <a:lnTo>
                  <a:pt x="762000" y="370839"/>
                </a:lnTo>
                <a:lnTo>
                  <a:pt x="762000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2" name="object 12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6124955" y="126415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90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1" y="0"/>
                </a:lnTo>
                <a:lnTo>
                  <a:pt x="654939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90" y="65150"/>
                </a:lnTo>
                <a:lnTo>
                  <a:pt x="720090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9" y="390905"/>
                </a:lnTo>
                <a:lnTo>
                  <a:pt x="65151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326379" y="166039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9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90" y="65150"/>
                </a:lnTo>
                <a:lnTo>
                  <a:pt x="720090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9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544061" y="5341620"/>
            <a:ext cx="989330" cy="931544"/>
          </a:xfrm>
          <a:custGeom>
            <a:avLst/>
            <a:gdLst/>
            <a:ahLst/>
            <a:cxnLst/>
            <a:rect l="l" t="t" r="r" b="b"/>
            <a:pathLst>
              <a:path w="989328" h="931544">
                <a:moveTo>
                  <a:pt x="0" y="543305"/>
                </a:moveTo>
                <a:lnTo>
                  <a:pt x="6042" y="513348"/>
                </a:lnTo>
                <a:lnTo>
                  <a:pt x="22526" y="488884"/>
                </a:lnTo>
                <a:lnTo>
                  <a:pt x="46988" y="472391"/>
                </a:lnTo>
                <a:lnTo>
                  <a:pt x="76962" y="466343"/>
                </a:lnTo>
                <a:lnTo>
                  <a:pt x="384810" y="466343"/>
                </a:lnTo>
                <a:lnTo>
                  <a:pt x="414783" y="472391"/>
                </a:lnTo>
                <a:lnTo>
                  <a:pt x="439245" y="488884"/>
                </a:lnTo>
                <a:lnTo>
                  <a:pt x="455729" y="513348"/>
                </a:lnTo>
                <a:lnTo>
                  <a:pt x="461772" y="543305"/>
                </a:lnTo>
                <a:lnTo>
                  <a:pt x="461772" y="854201"/>
                </a:lnTo>
                <a:lnTo>
                  <a:pt x="455729" y="884159"/>
                </a:lnTo>
                <a:lnTo>
                  <a:pt x="439245" y="908623"/>
                </a:lnTo>
                <a:lnTo>
                  <a:pt x="414783" y="925116"/>
                </a:lnTo>
                <a:lnTo>
                  <a:pt x="384810" y="931163"/>
                </a:lnTo>
                <a:lnTo>
                  <a:pt x="76962" y="931163"/>
                </a:lnTo>
                <a:lnTo>
                  <a:pt x="46988" y="925116"/>
                </a:lnTo>
                <a:lnTo>
                  <a:pt x="22526" y="908623"/>
                </a:lnTo>
                <a:lnTo>
                  <a:pt x="6042" y="884159"/>
                </a:lnTo>
                <a:lnTo>
                  <a:pt x="0" y="854201"/>
                </a:lnTo>
                <a:lnTo>
                  <a:pt x="0" y="543305"/>
                </a:lnTo>
                <a:close/>
              </a:path>
              <a:path w="989328" h="931544">
                <a:moveTo>
                  <a:pt x="527303" y="76961"/>
                </a:moveTo>
                <a:lnTo>
                  <a:pt x="533346" y="46988"/>
                </a:lnTo>
                <a:lnTo>
                  <a:pt x="549830" y="22526"/>
                </a:lnTo>
                <a:lnTo>
                  <a:pt x="574292" y="6042"/>
                </a:lnTo>
                <a:lnTo>
                  <a:pt x="604265" y="0"/>
                </a:lnTo>
                <a:lnTo>
                  <a:pt x="912113" y="0"/>
                </a:lnTo>
                <a:lnTo>
                  <a:pt x="942087" y="6042"/>
                </a:lnTo>
                <a:lnTo>
                  <a:pt x="966549" y="22526"/>
                </a:lnTo>
                <a:lnTo>
                  <a:pt x="983033" y="46988"/>
                </a:lnTo>
                <a:lnTo>
                  <a:pt x="989076" y="76961"/>
                </a:lnTo>
                <a:lnTo>
                  <a:pt x="989076" y="387857"/>
                </a:lnTo>
                <a:lnTo>
                  <a:pt x="983033" y="417815"/>
                </a:lnTo>
                <a:lnTo>
                  <a:pt x="966549" y="442279"/>
                </a:lnTo>
                <a:lnTo>
                  <a:pt x="942087" y="458772"/>
                </a:lnTo>
                <a:lnTo>
                  <a:pt x="912113" y="464819"/>
                </a:lnTo>
                <a:lnTo>
                  <a:pt x="604265" y="464819"/>
                </a:lnTo>
                <a:lnTo>
                  <a:pt x="574292" y="458772"/>
                </a:lnTo>
                <a:lnTo>
                  <a:pt x="549830" y="442279"/>
                </a:lnTo>
                <a:lnTo>
                  <a:pt x="533346" y="417815"/>
                </a:lnTo>
                <a:lnTo>
                  <a:pt x="527303" y="387857"/>
                </a:lnTo>
                <a:lnTo>
                  <a:pt x="527303" y="76961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19" name="object 19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1" name="object 21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/>
          <p:nvPr/>
        </p:nvSpPr>
        <p:spPr>
          <a:xfrm>
            <a:off x="4019550" y="5374157"/>
            <a:ext cx="522605" cy="453390"/>
          </a:xfrm>
          <a:custGeom>
            <a:avLst/>
            <a:gdLst/>
            <a:ahLst/>
            <a:cxnLst/>
            <a:rect l="l" t="t" r="r" b="b"/>
            <a:pathLst>
              <a:path w="522604" h="453389">
                <a:moveTo>
                  <a:pt x="522058" y="0"/>
                </a:moveTo>
                <a:lnTo>
                  <a:pt x="0" y="0"/>
                </a:lnTo>
                <a:lnTo>
                  <a:pt x="0" y="453072"/>
                </a:lnTo>
                <a:lnTo>
                  <a:pt x="522058" y="453072"/>
                </a:lnTo>
                <a:lnTo>
                  <a:pt x="522058" y="0"/>
                </a:lnTo>
                <a:close/>
              </a:path>
            </a:pathLst>
          </a:custGeom>
          <a:solidFill>
            <a:srgbClr val="E7E7E7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1336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8" name="object 8"/>
          <p:cNvSpPr/>
          <p:nvPr/>
        </p:nvSpPr>
        <p:spPr>
          <a:xfrm>
            <a:off x="6096000" y="1277238"/>
            <a:ext cx="762000" cy="370840"/>
          </a:xfrm>
          <a:custGeom>
            <a:avLst/>
            <a:gdLst/>
            <a:ahLst/>
            <a:cxnLst/>
            <a:rect l="l" t="t" r="r" b="b"/>
            <a:pathLst>
              <a:path w="762000" h="370839">
                <a:moveTo>
                  <a:pt x="762000" y="0"/>
                </a:moveTo>
                <a:lnTo>
                  <a:pt x="0" y="0"/>
                </a:lnTo>
                <a:lnTo>
                  <a:pt x="0" y="370839"/>
                </a:lnTo>
                <a:lnTo>
                  <a:pt x="762000" y="370839"/>
                </a:lnTo>
                <a:lnTo>
                  <a:pt x="762000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0" name="object 10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6124955" y="126415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90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1" y="0"/>
                </a:lnTo>
                <a:lnTo>
                  <a:pt x="654939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90" y="65150"/>
                </a:lnTo>
                <a:lnTo>
                  <a:pt x="720090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9" y="390905"/>
                </a:lnTo>
                <a:lnTo>
                  <a:pt x="65151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6118859" y="166039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90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8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89" y="65150"/>
                </a:lnTo>
                <a:lnTo>
                  <a:pt x="720089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8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071365" y="5341620"/>
            <a:ext cx="462280" cy="464820"/>
          </a:xfrm>
          <a:custGeom>
            <a:avLst/>
            <a:gdLst/>
            <a:ahLst/>
            <a:cxnLst/>
            <a:rect l="l" t="t" r="r" b="b"/>
            <a:pathLst>
              <a:path w="462279" h="464820">
                <a:moveTo>
                  <a:pt x="0" y="76961"/>
                </a:moveTo>
                <a:lnTo>
                  <a:pt x="6042" y="46988"/>
                </a:lnTo>
                <a:lnTo>
                  <a:pt x="22526" y="22526"/>
                </a:lnTo>
                <a:lnTo>
                  <a:pt x="46988" y="6042"/>
                </a:lnTo>
                <a:lnTo>
                  <a:pt x="76962" y="0"/>
                </a:lnTo>
                <a:lnTo>
                  <a:pt x="384810" y="0"/>
                </a:lnTo>
                <a:lnTo>
                  <a:pt x="414783" y="6042"/>
                </a:lnTo>
                <a:lnTo>
                  <a:pt x="439245" y="22526"/>
                </a:lnTo>
                <a:lnTo>
                  <a:pt x="455729" y="46988"/>
                </a:lnTo>
                <a:lnTo>
                  <a:pt x="461772" y="76961"/>
                </a:lnTo>
                <a:lnTo>
                  <a:pt x="461772" y="387857"/>
                </a:lnTo>
                <a:lnTo>
                  <a:pt x="455729" y="417815"/>
                </a:lnTo>
                <a:lnTo>
                  <a:pt x="439245" y="442279"/>
                </a:lnTo>
                <a:lnTo>
                  <a:pt x="414783" y="458772"/>
                </a:lnTo>
                <a:lnTo>
                  <a:pt x="384810" y="464819"/>
                </a:lnTo>
                <a:lnTo>
                  <a:pt x="76962" y="464819"/>
                </a:lnTo>
                <a:lnTo>
                  <a:pt x="46988" y="458772"/>
                </a:lnTo>
                <a:lnTo>
                  <a:pt x="22526" y="442279"/>
                </a:lnTo>
                <a:lnTo>
                  <a:pt x="6042" y="417815"/>
                </a:lnTo>
                <a:lnTo>
                  <a:pt x="0" y="387857"/>
                </a:lnTo>
                <a:lnTo>
                  <a:pt x="0" y="76961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17" name="object 17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9" name="object 19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/>
          <p:nvPr/>
        </p:nvSpPr>
        <p:spPr>
          <a:xfrm>
            <a:off x="1409319" y="5827229"/>
            <a:ext cx="522605" cy="453390"/>
          </a:xfrm>
          <a:custGeom>
            <a:avLst/>
            <a:gdLst/>
            <a:ahLst/>
            <a:cxnLst/>
            <a:rect l="l" t="t" r="r" b="b"/>
            <a:pathLst>
              <a:path w="522605" h="453389">
                <a:moveTo>
                  <a:pt x="522058" y="0"/>
                </a:moveTo>
                <a:lnTo>
                  <a:pt x="0" y="0"/>
                </a:lnTo>
                <a:lnTo>
                  <a:pt x="0" y="453072"/>
                </a:lnTo>
                <a:lnTo>
                  <a:pt x="522058" y="453072"/>
                </a:lnTo>
                <a:lnTo>
                  <a:pt x="522058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1336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8" name="object 8"/>
          <p:cNvSpPr/>
          <p:nvPr/>
        </p:nvSpPr>
        <p:spPr>
          <a:xfrm>
            <a:off x="6858000" y="1277238"/>
            <a:ext cx="762000" cy="370840"/>
          </a:xfrm>
          <a:custGeom>
            <a:avLst/>
            <a:gdLst/>
            <a:ahLst/>
            <a:cxnLst/>
            <a:rect l="l" t="t" r="r" b="b"/>
            <a:pathLst>
              <a:path w="762000" h="370839">
                <a:moveTo>
                  <a:pt x="762000" y="0"/>
                </a:moveTo>
                <a:lnTo>
                  <a:pt x="0" y="0"/>
                </a:lnTo>
                <a:lnTo>
                  <a:pt x="0" y="370839"/>
                </a:lnTo>
                <a:lnTo>
                  <a:pt x="762000" y="370839"/>
                </a:lnTo>
                <a:lnTo>
                  <a:pt x="762000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0" name="object 10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6830568" y="126415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90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8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89" y="65150"/>
                </a:lnTo>
                <a:lnTo>
                  <a:pt x="720089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8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295905" y="166039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8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89" y="65150"/>
                </a:lnTo>
                <a:lnTo>
                  <a:pt x="720089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8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467611" y="5795009"/>
            <a:ext cx="461009" cy="464184"/>
          </a:xfrm>
          <a:custGeom>
            <a:avLst/>
            <a:gdLst/>
            <a:ahLst/>
            <a:cxnLst/>
            <a:rect l="l" t="t" r="r" b="b"/>
            <a:pathLst>
              <a:path w="461009" h="464184">
                <a:moveTo>
                  <a:pt x="0" y="76834"/>
                </a:moveTo>
                <a:lnTo>
                  <a:pt x="6040" y="46929"/>
                </a:lnTo>
                <a:lnTo>
                  <a:pt x="22510" y="22505"/>
                </a:lnTo>
                <a:lnTo>
                  <a:pt x="46934" y="6038"/>
                </a:lnTo>
                <a:lnTo>
                  <a:pt x="76834" y="0"/>
                </a:lnTo>
                <a:lnTo>
                  <a:pt x="384175" y="0"/>
                </a:lnTo>
                <a:lnTo>
                  <a:pt x="414075" y="6038"/>
                </a:lnTo>
                <a:lnTo>
                  <a:pt x="438499" y="22505"/>
                </a:lnTo>
                <a:lnTo>
                  <a:pt x="454969" y="46929"/>
                </a:lnTo>
                <a:lnTo>
                  <a:pt x="461010" y="76834"/>
                </a:lnTo>
                <a:lnTo>
                  <a:pt x="461010" y="387222"/>
                </a:lnTo>
                <a:lnTo>
                  <a:pt x="454969" y="417128"/>
                </a:lnTo>
                <a:lnTo>
                  <a:pt x="438499" y="441552"/>
                </a:lnTo>
                <a:lnTo>
                  <a:pt x="414075" y="458019"/>
                </a:lnTo>
                <a:lnTo>
                  <a:pt x="384175" y="464057"/>
                </a:lnTo>
                <a:lnTo>
                  <a:pt x="76834" y="464057"/>
                </a:lnTo>
                <a:lnTo>
                  <a:pt x="46934" y="458019"/>
                </a:lnTo>
                <a:lnTo>
                  <a:pt x="22510" y="441552"/>
                </a:lnTo>
                <a:lnTo>
                  <a:pt x="6040" y="417128"/>
                </a:lnTo>
                <a:lnTo>
                  <a:pt x="0" y="387222"/>
                </a:lnTo>
                <a:lnTo>
                  <a:pt x="0" y="76834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17" name="object 17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9" name="object 19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931416" y="5827229"/>
            <a:ext cx="1044575" cy="906144"/>
            <a:chOff x="1931416" y="5827229"/>
            <a:chExt cx="1044575" cy="906144"/>
          </a:xfrm>
        </p:grpSpPr>
        <p:sp>
          <p:nvSpPr>
            <p:cNvPr id="7" name="object 7"/>
            <p:cNvSpPr/>
            <p:nvPr/>
          </p:nvSpPr>
          <p:spPr>
            <a:xfrm>
              <a:off x="2453386" y="5827229"/>
              <a:ext cx="522605" cy="453390"/>
            </a:xfrm>
            <a:custGeom>
              <a:avLst/>
              <a:gdLst/>
              <a:ahLst/>
              <a:cxnLst/>
              <a:rect l="l" t="t" r="r" b="b"/>
              <a:pathLst>
                <a:path w="522605" h="453389">
                  <a:moveTo>
                    <a:pt x="522058" y="0"/>
                  </a:moveTo>
                  <a:lnTo>
                    <a:pt x="0" y="0"/>
                  </a:lnTo>
                  <a:lnTo>
                    <a:pt x="0" y="453072"/>
                  </a:lnTo>
                  <a:lnTo>
                    <a:pt x="522058" y="453072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931416" y="6280303"/>
              <a:ext cx="522605" cy="453390"/>
            </a:xfrm>
            <a:custGeom>
              <a:avLst/>
              <a:gdLst/>
              <a:ahLst/>
              <a:cxnLst/>
              <a:rect l="l" t="t" r="r" b="b"/>
              <a:pathLst>
                <a:path w="522605" h="453390">
                  <a:moveTo>
                    <a:pt x="522058" y="0"/>
                  </a:moveTo>
                  <a:lnTo>
                    <a:pt x="0" y="0"/>
                  </a:lnTo>
                  <a:lnTo>
                    <a:pt x="0" y="453072"/>
                  </a:lnTo>
                  <a:lnTo>
                    <a:pt x="522058" y="453072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1336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0" name="object 10"/>
          <p:cNvSpPr/>
          <p:nvPr/>
        </p:nvSpPr>
        <p:spPr>
          <a:xfrm>
            <a:off x="6858000" y="1277238"/>
            <a:ext cx="762000" cy="370840"/>
          </a:xfrm>
          <a:custGeom>
            <a:avLst/>
            <a:gdLst/>
            <a:ahLst/>
            <a:cxnLst/>
            <a:rect l="l" t="t" r="r" b="b"/>
            <a:pathLst>
              <a:path w="762000" h="370839">
                <a:moveTo>
                  <a:pt x="762000" y="0"/>
                </a:moveTo>
                <a:lnTo>
                  <a:pt x="0" y="0"/>
                </a:lnTo>
                <a:lnTo>
                  <a:pt x="0" y="370839"/>
                </a:lnTo>
                <a:lnTo>
                  <a:pt x="762000" y="370839"/>
                </a:lnTo>
                <a:lnTo>
                  <a:pt x="762000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2" name="object 12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6830568" y="126415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90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8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89" y="65150"/>
                </a:lnTo>
                <a:lnTo>
                  <a:pt x="720089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8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070860" y="166039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8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89" y="65150"/>
                </a:lnTo>
                <a:lnTo>
                  <a:pt x="720089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8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976627" y="5795009"/>
            <a:ext cx="954405" cy="913130"/>
          </a:xfrm>
          <a:custGeom>
            <a:avLst/>
            <a:gdLst/>
            <a:ahLst/>
            <a:cxnLst/>
            <a:rect l="l" t="t" r="r" b="b"/>
            <a:pathLst>
              <a:path w="954405" h="913128">
                <a:moveTo>
                  <a:pt x="492252" y="76961"/>
                </a:moveTo>
                <a:lnTo>
                  <a:pt x="498294" y="47004"/>
                </a:lnTo>
                <a:lnTo>
                  <a:pt x="514778" y="22540"/>
                </a:lnTo>
                <a:lnTo>
                  <a:pt x="539240" y="6047"/>
                </a:lnTo>
                <a:lnTo>
                  <a:pt x="569214" y="0"/>
                </a:lnTo>
                <a:lnTo>
                  <a:pt x="877062" y="0"/>
                </a:lnTo>
                <a:lnTo>
                  <a:pt x="907035" y="6047"/>
                </a:lnTo>
                <a:lnTo>
                  <a:pt x="931497" y="22540"/>
                </a:lnTo>
                <a:lnTo>
                  <a:pt x="947981" y="47004"/>
                </a:lnTo>
                <a:lnTo>
                  <a:pt x="954024" y="76961"/>
                </a:lnTo>
                <a:lnTo>
                  <a:pt x="954024" y="387095"/>
                </a:lnTo>
                <a:lnTo>
                  <a:pt x="947981" y="417053"/>
                </a:lnTo>
                <a:lnTo>
                  <a:pt x="931497" y="441517"/>
                </a:lnTo>
                <a:lnTo>
                  <a:pt x="907035" y="458010"/>
                </a:lnTo>
                <a:lnTo>
                  <a:pt x="877062" y="464057"/>
                </a:lnTo>
                <a:lnTo>
                  <a:pt x="569214" y="464057"/>
                </a:lnTo>
                <a:lnTo>
                  <a:pt x="539240" y="458010"/>
                </a:lnTo>
                <a:lnTo>
                  <a:pt x="514778" y="441517"/>
                </a:lnTo>
                <a:lnTo>
                  <a:pt x="498294" y="417053"/>
                </a:lnTo>
                <a:lnTo>
                  <a:pt x="492252" y="387095"/>
                </a:lnTo>
                <a:lnTo>
                  <a:pt x="492252" y="76961"/>
                </a:lnTo>
                <a:close/>
              </a:path>
              <a:path w="954405" h="913128">
                <a:moveTo>
                  <a:pt x="0" y="525017"/>
                </a:moveTo>
                <a:lnTo>
                  <a:pt x="6042" y="495060"/>
                </a:lnTo>
                <a:lnTo>
                  <a:pt x="22526" y="470596"/>
                </a:lnTo>
                <a:lnTo>
                  <a:pt x="46988" y="454103"/>
                </a:lnTo>
                <a:lnTo>
                  <a:pt x="76962" y="448055"/>
                </a:lnTo>
                <a:lnTo>
                  <a:pt x="384810" y="448055"/>
                </a:lnTo>
                <a:lnTo>
                  <a:pt x="414783" y="454103"/>
                </a:lnTo>
                <a:lnTo>
                  <a:pt x="439245" y="470596"/>
                </a:lnTo>
                <a:lnTo>
                  <a:pt x="455729" y="495060"/>
                </a:lnTo>
                <a:lnTo>
                  <a:pt x="461772" y="525017"/>
                </a:lnTo>
                <a:lnTo>
                  <a:pt x="461772" y="835913"/>
                </a:lnTo>
                <a:lnTo>
                  <a:pt x="455729" y="865871"/>
                </a:lnTo>
                <a:lnTo>
                  <a:pt x="439245" y="890335"/>
                </a:lnTo>
                <a:lnTo>
                  <a:pt x="414783" y="906828"/>
                </a:lnTo>
                <a:lnTo>
                  <a:pt x="384810" y="912876"/>
                </a:lnTo>
                <a:lnTo>
                  <a:pt x="76962" y="912876"/>
                </a:lnTo>
                <a:lnTo>
                  <a:pt x="46988" y="906828"/>
                </a:lnTo>
                <a:lnTo>
                  <a:pt x="22526" y="890335"/>
                </a:lnTo>
                <a:lnTo>
                  <a:pt x="6042" y="865871"/>
                </a:lnTo>
                <a:lnTo>
                  <a:pt x="0" y="835913"/>
                </a:lnTo>
                <a:lnTo>
                  <a:pt x="0" y="525017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19" name="object 19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1" name="object 21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2453385" y="5827229"/>
            <a:ext cx="1044575" cy="906144"/>
            <a:chOff x="2453385" y="5827229"/>
            <a:chExt cx="1044575" cy="906144"/>
          </a:xfrm>
        </p:grpSpPr>
        <p:sp>
          <p:nvSpPr>
            <p:cNvPr id="7" name="object 7"/>
            <p:cNvSpPr/>
            <p:nvPr/>
          </p:nvSpPr>
          <p:spPr>
            <a:xfrm>
              <a:off x="2975482" y="5827229"/>
              <a:ext cx="522605" cy="453390"/>
            </a:xfrm>
            <a:custGeom>
              <a:avLst/>
              <a:gdLst/>
              <a:ahLst/>
              <a:cxnLst/>
              <a:rect l="l" t="t" r="r" b="b"/>
              <a:pathLst>
                <a:path w="522604" h="453389">
                  <a:moveTo>
                    <a:pt x="522058" y="0"/>
                  </a:moveTo>
                  <a:lnTo>
                    <a:pt x="0" y="0"/>
                  </a:lnTo>
                  <a:lnTo>
                    <a:pt x="0" y="453072"/>
                  </a:lnTo>
                  <a:lnTo>
                    <a:pt x="522058" y="453072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2453385" y="6280303"/>
              <a:ext cx="522605" cy="453390"/>
            </a:xfrm>
            <a:custGeom>
              <a:avLst/>
              <a:gdLst/>
              <a:ahLst/>
              <a:cxnLst/>
              <a:rect l="l" t="t" r="r" b="b"/>
              <a:pathLst>
                <a:path w="522605" h="453390">
                  <a:moveTo>
                    <a:pt x="522058" y="0"/>
                  </a:moveTo>
                  <a:lnTo>
                    <a:pt x="0" y="0"/>
                  </a:lnTo>
                  <a:lnTo>
                    <a:pt x="0" y="453072"/>
                  </a:lnTo>
                  <a:lnTo>
                    <a:pt x="522058" y="453072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1336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0" name="object 10"/>
          <p:cNvSpPr/>
          <p:nvPr/>
        </p:nvSpPr>
        <p:spPr>
          <a:xfrm>
            <a:off x="6858000" y="1277238"/>
            <a:ext cx="762000" cy="370840"/>
          </a:xfrm>
          <a:custGeom>
            <a:avLst/>
            <a:gdLst/>
            <a:ahLst/>
            <a:cxnLst/>
            <a:rect l="l" t="t" r="r" b="b"/>
            <a:pathLst>
              <a:path w="762000" h="370839">
                <a:moveTo>
                  <a:pt x="762000" y="0"/>
                </a:moveTo>
                <a:lnTo>
                  <a:pt x="0" y="0"/>
                </a:lnTo>
                <a:lnTo>
                  <a:pt x="0" y="370839"/>
                </a:lnTo>
                <a:lnTo>
                  <a:pt x="762000" y="370839"/>
                </a:lnTo>
                <a:lnTo>
                  <a:pt x="762000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2" name="object 12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6830568" y="126415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90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8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89" y="65150"/>
                </a:lnTo>
                <a:lnTo>
                  <a:pt x="720089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8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829050" y="166039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8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89" y="65150"/>
                </a:lnTo>
                <a:lnTo>
                  <a:pt x="720089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8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490216" y="5795009"/>
            <a:ext cx="954405" cy="913130"/>
          </a:xfrm>
          <a:custGeom>
            <a:avLst/>
            <a:gdLst/>
            <a:ahLst/>
            <a:cxnLst/>
            <a:rect l="l" t="t" r="r" b="b"/>
            <a:pathLst>
              <a:path w="954403" h="913128">
                <a:moveTo>
                  <a:pt x="492251" y="76961"/>
                </a:moveTo>
                <a:lnTo>
                  <a:pt x="498294" y="47004"/>
                </a:lnTo>
                <a:lnTo>
                  <a:pt x="514778" y="22540"/>
                </a:lnTo>
                <a:lnTo>
                  <a:pt x="539240" y="6047"/>
                </a:lnTo>
                <a:lnTo>
                  <a:pt x="569213" y="0"/>
                </a:lnTo>
                <a:lnTo>
                  <a:pt x="877061" y="0"/>
                </a:lnTo>
                <a:lnTo>
                  <a:pt x="907035" y="6047"/>
                </a:lnTo>
                <a:lnTo>
                  <a:pt x="931497" y="22540"/>
                </a:lnTo>
                <a:lnTo>
                  <a:pt x="947981" y="47004"/>
                </a:lnTo>
                <a:lnTo>
                  <a:pt x="954023" y="76961"/>
                </a:lnTo>
                <a:lnTo>
                  <a:pt x="954023" y="387095"/>
                </a:lnTo>
                <a:lnTo>
                  <a:pt x="947981" y="417053"/>
                </a:lnTo>
                <a:lnTo>
                  <a:pt x="931497" y="441517"/>
                </a:lnTo>
                <a:lnTo>
                  <a:pt x="907035" y="458010"/>
                </a:lnTo>
                <a:lnTo>
                  <a:pt x="877061" y="464057"/>
                </a:lnTo>
                <a:lnTo>
                  <a:pt x="569213" y="464057"/>
                </a:lnTo>
                <a:lnTo>
                  <a:pt x="539240" y="458010"/>
                </a:lnTo>
                <a:lnTo>
                  <a:pt x="514778" y="441517"/>
                </a:lnTo>
                <a:lnTo>
                  <a:pt x="498294" y="417053"/>
                </a:lnTo>
                <a:lnTo>
                  <a:pt x="492251" y="387095"/>
                </a:lnTo>
                <a:lnTo>
                  <a:pt x="492251" y="76961"/>
                </a:lnTo>
                <a:close/>
              </a:path>
              <a:path w="954403" h="913128">
                <a:moveTo>
                  <a:pt x="0" y="525017"/>
                </a:moveTo>
                <a:lnTo>
                  <a:pt x="6042" y="495060"/>
                </a:lnTo>
                <a:lnTo>
                  <a:pt x="22526" y="470596"/>
                </a:lnTo>
                <a:lnTo>
                  <a:pt x="46988" y="454103"/>
                </a:lnTo>
                <a:lnTo>
                  <a:pt x="76961" y="448055"/>
                </a:lnTo>
                <a:lnTo>
                  <a:pt x="384809" y="448055"/>
                </a:lnTo>
                <a:lnTo>
                  <a:pt x="414783" y="454103"/>
                </a:lnTo>
                <a:lnTo>
                  <a:pt x="439245" y="470596"/>
                </a:lnTo>
                <a:lnTo>
                  <a:pt x="455729" y="495060"/>
                </a:lnTo>
                <a:lnTo>
                  <a:pt x="461771" y="525017"/>
                </a:lnTo>
                <a:lnTo>
                  <a:pt x="461771" y="835913"/>
                </a:lnTo>
                <a:lnTo>
                  <a:pt x="455729" y="865871"/>
                </a:lnTo>
                <a:lnTo>
                  <a:pt x="439245" y="890335"/>
                </a:lnTo>
                <a:lnTo>
                  <a:pt x="414783" y="906828"/>
                </a:lnTo>
                <a:lnTo>
                  <a:pt x="384809" y="912876"/>
                </a:lnTo>
                <a:lnTo>
                  <a:pt x="76961" y="912876"/>
                </a:lnTo>
                <a:lnTo>
                  <a:pt x="46988" y="906828"/>
                </a:lnTo>
                <a:lnTo>
                  <a:pt x="22526" y="890335"/>
                </a:lnTo>
                <a:lnTo>
                  <a:pt x="6042" y="865871"/>
                </a:lnTo>
                <a:lnTo>
                  <a:pt x="0" y="835913"/>
                </a:lnTo>
                <a:lnTo>
                  <a:pt x="0" y="525017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19" name="object 19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1" name="object 21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2975482" y="5827229"/>
            <a:ext cx="1044575" cy="906144"/>
            <a:chOff x="2975482" y="5827229"/>
            <a:chExt cx="1044575" cy="906144"/>
          </a:xfrm>
        </p:grpSpPr>
        <p:sp>
          <p:nvSpPr>
            <p:cNvPr id="7" name="object 7"/>
            <p:cNvSpPr/>
            <p:nvPr/>
          </p:nvSpPr>
          <p:spPr>
            <a:xfrm>
              <a:off x="3497579" y="5827229"/>
              <a:ext cx="522605" cy="453390"/>
            </a:xfrm>
            <a:custGeom>
              <a:avLst/>
              <a:gdLst/>
              <a:ahLst/>
              <a:cxnLst/>
              <a:rect l="l" t="t" r="r" b="b"/>
              <a:pathLst>
                <a:path w="522604" h="453389">
                  <a:moveTo>
                    <a:pt x="522058" y="0"/>
                  </a:moveTo>
                  <a:lnTo>
                    <a:pt x="0" y="0"/>
                  </a:lnTo>
                  <a:lnTo>
                    <a:pt x="0" y="453072"/>
                  </a:lnTo>
                  <a:lnTo>
                    <a:pt x="522058" y="453072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2975482" y="6280303"/>
              <a:ext cx="522605" cy="453390"/>
            </a:xfrm>
            <a:custGeom>
              <a:avLst/>
              <a:gdLst/>
              <a:ahLst/>
              <a:cxnLst/>
              <a:rect l="l" t="t" r="r" b="b"/>
              <a:pathLst>
                <a:path w="522604" h="453390">
                  <a:moveTo>
                    <a:pt x="522058" y="0"/>
                  </a:moveTo>
                  <a:lnTo>
                    <a:pt x="0" y="0"/>
                  </a:lnTo>
                  <a:lnTo>
                    <a:pt x="0" y="453072"/>
                  </a:lnTo>
                  <a:lnTo>
                    <a:pt x="522058" y="453072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1336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0" name="object 10"/>
          <p:cNvSpPr/>
          <p:nvPr/>
        </p:nvSpPr>
        <p:spPr>
          <a:xfrm>
            <a:off x="6858000" y="1277238"/>
            <a:ext cx="762000" cy="370840"/>
          </a:xfrm>
          <a:custGeom>
            <a:avLst/>
            <a:gdLst/>
            <a:ahLst/>
            <a:cxnLst/>
            <a:rect l="l" t="t" r="r" b="b"/>
            <a:pathLst>
              <a:path w="762000" h="370839">
                <a:moveTo>
                  <a:pt x="762000" y="0"/>
                </a:moveTo>
                <a:lnTo>
                  <a:pt x="0" y="0"/>
                </a:lnTo>
                <a:lnTo>
                  <a:pt x="0" y="370839"/>
                </a:lnTo>
                <a:lnTo>
                  <a:pt x="762000" y="370839"/>
                </a:lnTo>
                <a:lnTo>
                  <a:pt x="762000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572000" y="1648078"/>
            <a:ext cx="1524000" cy="391795"/>
          </a:xfrm>
          <a:custGeom>
            <a:avLst/>
            <a:gdLst/>
            <a:ahLst/>
            <a:cxnLst/>
            <a:rect l="l" t="t" r="r" b="b"/>
            <a:pathLst>
              <a:path w="1524000" h="391794">
                <a:moveTo>
                  <a:pt x="1524000" y="0"/>
                </a:moveTo>
                <a:lnTo>
                  <a:pt x="762000" y="0"/>
                </a:lnTo>
                <a:lnTo>
                  <a:pt x="0" y="0"/>
                </a:lnTo>
                <a:lnTo>
                  <a:pt x="0" y="391795"/>
                </a:lnTo>
                <a:lnTo>
                  <a:pt x="762000" y="391795"/>
                </a:lnTo>
                <a:lnTo>
                  <a:pt x="1524000" y="391795"/>
                </a:lnTo>
                <a:lnTo>
                  <a:pt x="1524000" y="0"/>
                </a:lnTo>
                <a:close/>
              </a:path>
            </a:pathLst>
          </a:custGeom>
          <a:solidFill>
            <a:srgbClr val="E7E7E7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3" name="object 13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6830568" y="126415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90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8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89" y="65150"/>
                </a:lnTo>
                <a:lnTo>
                  <a:pt x="720089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8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4655820" y="166039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8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89" y="65150"/>
                </a:lnTo>
                <a:lnTo>
                  <a:pt x="720089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8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3012948" y="5795009"/>
            <a:ext cx="954405" cy="913130"/>
          </a:xfrm>
          <a:custGeom>
            <a:avLst/>
            <a:gdLst/>
            <a:ahLst/>
            <a:cxnLst/>
            <a:rect l="l" t="t" r="r" b="b"/>
            <a:pathLst>
              <a:path w="954403" h="913128">
                <a:moveTo>
                  <a:pt x="492251" y="76961"/>
                </a:moveTo>
                <a:lnTo>
                  <a:pt x="498294" y="47004"/>
                </a:lnTo>
                <a:lnTo>
                  <a:pt x="514778" y="22540"/>
                </a:lnTo>
                <a:lnTo>
                  <a:pt x="539240" y="6047"/>
                </a:lnTo>
                <a:lnTo>
                  <a:pt x="569213" y="0"/>
                </a:lnTo>
                <a:lnTo>
                  <a:pt x="877062" y="0"/>
                </a:lnTo>
                <a:lnTo>
                  <a:pt x="907035" y="6047"/>
                </a:lnTo>
                <a:lnTo>
                  <a:pt x="931497" y="22540"/>
                </a:lnTo>
                <a:lnTo>
                  <a:pt x="947981" y="47004"/>
                </a:lnTo>
                <a:lnTo>
                  <a:pt x="954024" y="76961"/>
                </a:lnTo>
                <a:lnTo>
                  <a:pt x="954024" y="387095"/>
                </a:lnTo>
                <a:lnTo>
                  <a:pt x="947981" y="417053"/>
                </a:lnTo>
                <a:lnTo>
                  <a:pt x="931497" y="441517"/>
                </a:lnTo>
                <a:lnTo>
                  <a:pt x="907035" y="458010"/>
                </a:lnTo>
                <a:lnTo>
                  <a:pt x="877062" y="464057"/>
                </a:lnTo>
                <a:lnTo>
                  <a:pt x="569213" y="464057"/>
                </a:lnTo>
                <a:lnTo>
                  <a:pt x="539240" y="458010"/>
                </a:lnTo>
                <a:lnTo>
                  <a:pt x="514778" y="441517"/>
                </a:lnTo>
                <a:lnTo>
                  <a:pt x="498294" y="417053"/>
                </a:lnTo>
                <a:lnTo>
                  <a:pt x="492251" y="387095"/>
                </a:lnTo>
                <a:lnTo>
                  <a:pt x="492251" y="76961"/>
                </a:lnTo>
                <a:close/>
              </a:path>
              <a:path w="954403" h="913128">
                <a:moveTo>
                  <a:pt x="0" y="525017"/>
                </a:moveTo>
                <a:lnTo>
                  <a:pt x="6042" y="495060"/>
                </a:lnTo>
                <a:lnTo>
                  <a:pt x="22526" y="470596"/>
                </a:lnTo>
                <a:lnTo>
                  <a:pt x="46988" y="454103"/>
                </a:lnTo>
                <a:lnTo>
                  <a:pt x="76962" y="448055"/>
                </a:lnTo>
                <a:lnTo>
                  <a:pt x="384810" y="448055"/>
                </a:lnTo>
                <a:lnTo>
                  <a:pt x="414783" y="454103"/>
                </a:lnTo>
                <a:lnTo>
                  <a:pt x="439245" y="470596"/>
                </a:lnTo>
                <a:lnTo>
                  <a:pt x="455729" y="495060"/>
                </a:lnTo>
                <a:lnTo>
                  <a:pt x="461772" y="525017"/>
                </a:lnTo>
                <a:lnTo>
                  <a:pt x="461772" y="835913"/>
                </a:lnTo>
                <a:lnTo>
                  <a:pt x="455729" y="865871"/>
                </a:lnTo>
                <a:lnTo>
                  <a:pt x="439245" y="890335"/>
                </a:lnTo>
                <a:lnTo>
                  <a:pt x="414783" y="906828"/>
                </a:lnTo>
                <a:lnTo>
                  <a:pt x="384810" y="912876"/>
                </a:lnTo>
                <a:lnTo>
                  <a:pt x="76962" y="912876"/>
                </a:lnTo>
                <a:lnTo>
                  <a:pt x="46988" y="906828"/>
                </a:lnTo>
                <a:lnTo>
                  <a:pt x="22526" y="890335"/>
                </a:lnTo>
                <a:lnTo>
                  <a:pt x="6042" y="865871"/>
                </a:lnTo>
                <a:lnTo>
                  <a:pt x="0" y="835913"/>
                </a:lnTo>
                <a:lnTo>
                  <a:pt x="0" y="525017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20" name="object 20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2" name="object 22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/>
          <p:nvPr/>
        </p:nvSpPr>
        <p:spPr>
          <a:xfrm>
            <a:off x="3497579" y="5827229"/>
            <a:ext cx="522605" cy="453390"/>
          </a:xfrm>
          <a:custGeom>
            <a:avLst/>
            <a:gdLst/>
            <a:ahLst/>
            <a:cxnLst/>
            <a:rect l="l" t="t" r="r" b="b"/>
            <a:pathLst>
              <a:path w="522604" h="453389">
                <a:moveTo>
                  <a:pt x="522058" y="0"/>
                </a:moveTo>
                <a:lnTo>
                  <a:pt x="0" y="0"/>
                </a:lnTo>
                <a:lnTo>
                  <a:pt x="0" y="453072"/>
                </a:lnTo>
                <a:lnTo>
                  <a:pt x="522058" y="453072"/>
                </a:lnTo>
                <a:lnTo>
                  <a:pt x="522058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1336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8" name="object 8"/>
          <p:cNvSpPr/>
          <p:nvPr/>
        </p:nvSpPr>
        <p:spPr>
          <a:xfrm>
            <a:off x="6858000" y="1277238"/>
            <a:ext cx="762000" cy="370840"/>
          </a:xfrm>
          <a:custGeom>
            <a:avLst/>
            <a:gdLst/>
            <a:ahLst/>
            <a:cxnLst/>
            <a:rect l="l" t="t" r="r" b="b"/>
            <a:pathLst>
              <a:path w="762000" h="370839">
                <a:moveTo>
                  <a:pt x="762000" y="0"/>
                </a:moveTo>
                <a:lnTo>
                  <a:pt x="0" y="0"/>
                </a:lnTo>
                <a:lnTo>
                  <a:pt x="0" y="370839"/>
                </a:lnTo>
                <a:lnTo>
                  <a:pt x="762000" y="370839"/>
                </a:lnTo>
                <a:lnTo>
                  <a:pt x="762000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0" name="object 10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6830568" y="126415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90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8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89" y="65150"/>
                </a:lnTo>
                <a:lnTo>
                  <a:pt x="720089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8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361432" y="166039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89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8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89" y="65150"/>
                </a:lnTo>
                <a:lnTo>
                  <a:pt x="720089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8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3505200" y="5795009"/>
            <a:ext cx="462280" cy="464184"/>
          </a:xfrm>
          <a:custGeom>
            <a:avLst/>
            <a:gdLst/>
            <a:ahLst/>
            <a:cxnLst/>
            <a:rect l="l" t="t" r="r" b="b"/>
            <a:pathLst>
              <a:path w="462279" h="464184">
                <a:moveTo>
                  <a:pt x="0" y="76961"/>
                </a:moveTo>
                <a:lnTo>
                  <a:pt x="6042" y="47004"/>
                </a:lnTo>
                <a:lnTo>
                  <a:pt x="22526" y="22540"/>
                </a:lnTo>
                <a:lnTo>
                  <a:pt x="46988" y="6047"/>
                </a:lnTo>
                <a:lnTo>
                  <a:pt x="76962" y="0"/>
                </a:lnTo>
                <a:lnTo>
                  <a:pt x="384810" y="0"/>
                </a:lnTo>
                <a:lnTo>
                  <a:pt x="414783" y="6047"/>
                </a:lnTo>
                <a:lnTo>
                  <a:pt x="439245" y="22540"/>
                </a:lnTo>
                <a:lnTo>
                  <a:pt x="455729" y="47004"/>
                </a:lnTo>
                <a:lnTo>
                  <a:pt x="461772" y="76961"/>
                </a:lnTo>
                <a:lnTo>
                  <a:pt x="461772" y="387095"/>
                </a:lnTo>
                <a:lnTo>
                  <a:pt x="455729" y="417053"/>
                </a:lnTo>
                <a:lnTo>
                  <a:pt x="439245" y="441517"/>
                </a:lnTo>
                <a:lnTo>
                  <a:pt x="414783" y="458010"/>
                </a:lnTo>
                <a:lnTo>
                  <a:pt x="384810" y="464057"/>
                </a:lnTo>
                <a:lnTo>
                  <a:pt x="76962" y="464057"/>
                </a:lnTo>
                <a:lnTo>
                  <a:pt x="46988" y="458010"/>
                </a:lnTo>
                <a:lnTo>
                  <a:pt x="22526" y="441517"/>
                </a:lnTo>
                <a:lnTo>
                  <a:pt x="6042" y="417053"/>
                </a:lnTo>
                <a:lnTo>
                  <a:pt x="0" y="387095"/>
                </a:lnTo>
                <a:lnTo>
                  <a:pt x="0" y="76961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17" name="object 17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9" name="object 19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4019550" y="5827229"/>
            <a:ext cx="1044575" cy="906144"/>
            <a:chOff x="4019550" y="5827229"/>
            <a:chExt cx="1044575" cy="906144"/>
          </a:xfrm>
        </p:grpSpPr>
        <p:sp>
          <p:nvSpPr>
            <p:cNvPr id="7" name="object 7"/>
            <p:cNvSpPr/>
            <p:nvPr/>
          </p:nvSpPr>
          <p:spPr>
            <a:xfrm>
              <a:off x="4541647" y="5827229"/>
              <a:ext cx="522605" cy="453390"/>
            </a:xfrm>
            <a:custGeom>
              <a:avLst/>
              <a:gdLst/>
              <a:ahLst/>
              <a:cxnLst/>
              <a:rect l="l" t="t" r="r" b="b"/>
              <a:pathLst>
                <a:path w="522604" h="453389">
                  <a:moveTo>
                    <a:pt x="522058" y="0"/>
                  </a:moveTo>
                  <a:lnTo>
                    <a:pt x="0" y="0"/>
                  </a:lnTo>
                  <a:lnTo>
                    <a:pt x="0" y="453072"/>
                  </a:lnTo>
                  <a:lnTo>
                    <a:pt x="522058" y="453072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019550" y="6280303"/>
              <a:ext cx="522605" cy="453390"/>
            </a:xfrm>
            <a:custGeom>
              <a:avLst/>
              <a:gdLst/>
              <a:ahLst/>
              <a:cxnLst/>
              <a:rect l="l" t="t" r="r" b="b"/>
              <a:pathLst>
                <a:path w="522604" h="453390">
                  <a:moveTo>
                    <a:pt x="522058" y="0"/>
                  </a:moveTo>
                  <a:lnTo>
                    <a:pt x="0" y="0"/>
                  </a:lnTo>
                  <a:lnTo>
                    <a:pt x="0" y="453072"/>
                  </a:lnTo>
                  <a:lnTo>
                    <a:pt x="522058" y="453072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1336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0" name="object 10"/>
          <p:cNvSpPr/>
          <p:nvPr/>
        </p:nvSpPr>
        <p:spPr>
          <a:xfrm>
            <a:off x="6858000" y="1277238"/>
            <a:ext cx="762000" cy="370840"/>
          </a:xfrm>
          <a:custGeom>
            <a:avLst/>
            <a:gdLst/>
            <a:ahLst/>
            <a:cxnLst/>
            <a:rect l="l" t="t" r="r" b="b"/>
            <a:pathLst>
              <a:path w="762000" h="370839">
                <a:moveTo>
                  <a:pt x="762000" y="0"/>
                </a:moveTo>
                <a:lnTo>
                  <a:pt x="0" y="0"/>
                </a:lnTo>
                <a:lnTo>
                  <a:pt x="0" y="370839"/>
                </a:lnTo>
                <a:lnTo>
                  <a:pt x="762000" y="370839"/>
                </a:lnTo>
                <a:lnTo>
                  <a:pt x="762000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2" name="object 12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6830568" y="126415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90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8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89" y="65150"/>
                </a:lnTo>
                <a:lnTo>
                  <a:pt x="720089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8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6128003" y="1660398"/>
            <a:ext cx="720090" cy="391160"/>
          </a:xfrm>
          <a:custGeom>
            <a:avLst/>
            <a:gdLst/>
            <a:ahLst/>
            <a:cxnLst/>
            <a:rect l="l" t="t" r="r" b="b"/>
            <a:pathLst>
              <a:path w="720090" h="391160">
                <a:moveTo>
                  <a:pt x="0" y="65150"/>
                </a:moveTo>
                <a:lnTo>
                  <a:pt x="5125" y="39808"/>
                </a:lnTo>
                <a:lnTo>
                  <a:pt x="19097" y="19097"/>
                </a:lnTo>
                <a:lnTo>
                  <a:pt x="39808" y="5125"/>
                </a:lnTo>
                <a:lnTo>
                  <a:pt x="65150" y="0"/>
                </a:lnTo>
                <a:lnTo>
                  <a:pt x="654939" y="0"/>
                </a:lnTo>
                <a:lnTo>
                  <a:pt x="680281" y="5125"/>
                </a:lnTo>
                <a:lnTo>
                  <a:pt x="700992" y="19097"/>
                </a:lnTo>
                <a:lnTo>
                  <a:pt x="714964" y="39808"/>
                </a:lnTo>
                <a:lnTo>
                  <a:pt x="720090" y="65150"/>
                </a:lnTo>
                <a:lnTo>
                  <a:pt x="720090" y="325754"/>
                </a:lnTo>
                <a:lnTo>
                  <a:pt x="714964" y="351097"/>
                </a:lnTo>
                <a:lnTo>
                  <a:pt x="700992" y="371808"/>
                </a:lnTo>
                <a:lnTo>
                  <a:pt x="680281" y="385780"/>
                </a:lnTo>
                <a:lnTo>
                  <a:pt x="654939" y="390905"/>
                </a:lnTo>
                <a:lnTo>
                  <a:pt x="65150" y="390905"/>
                </a:lnTo>
                <a:lnTo>
                  <a:pt x="39808" y="385780"/>
                </a:lnTo>
                <a:lnTo>
                  <a:pt x="19097" y="371808"/>
                </a:lnTo>
                <a:lnTo>
                  <a:pt x="5125" y="351097"/>
                </a:lnTo>
                <a:lnTo>
                  <a:pt x="0" y="325754"/>
                </a:lnTo>
                <a:lnTo>
                  <a:pt x="0" y="65150"/>
                </a:lnTo>
                <a:close/>
              </a:path>
            </a:pathLst>
          </a:custGeom>
          <a:ln w="38100">
            <a:solidFill>
              <a:srgbClr val="33CC33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4058411" y="5812535"/>
            <a:ext cx="988694" cy="913130"/>
          </a:xfrm>
          <a:custGeom>
            <a:avLst/>
            <a:gdLst/>
            <a:ahLst/>
            <a:cxnLst/>
            <a:rect l="l" t="t" r="r" b="b"/>
            <a:pathLst>
              <a:path w="988694" h="913128">
                <a:moveTo>
                  <a:pt x="526541" y="76961"/>
                </a:moveTo>
                <a:lnTo>
                  <a:pt x="532584" y="47004"/>
                </a:lnTo>
                <a:lnTo>
                  <a:pt x="549068" y="22540"/>
                </a:lnTo>
                <a:lnTo>
                  <a:pt x="573530" y="6047"/>
                </a:lnTo>
                <a:lnTo>
                  <a:pt x="603503" y="0"/>
                </a:lnTo>
                <a:lnTo>
                  <a:pt x="911351" y="0"/>
                </a:lnTo>
                <a:lnTo>
                  <a:pt x="941325" y="6047"/>
                </a:lnTo>
                <a:lnTo>
                  <a:pt x="965787" y="22540"/>
                </a:lnTo>
                <a:lnTo>
                  <a:pt x="982271" y="47004"/>
                </a:lnTo>
                <a:lnTo>
                  <a:pt x="988313" y="76961"/>
                </a:lnTo>
                <a:lnTo>
                  <a:pt x="988313" y="387095"/>
                </a:lnTo>
                <a:lnTo>
                  <a:pt x="982271" y="417053"/>
                </a:lnTo>
                <a:lnTo>
                  <a:pt x="965787" y="441517"/>
                </a:lnTo>
                <a:lnTo>
                  <a:pt x="941325" y="458010"/>
                </a:lnTo>
                <a:lnTo>
                  <a:pt x="911351" y="464057"/>
                </a:lnTo>
                <a:lnTo>
                  <a:pt x="603503" y="464057"/>
                </a:lnTo>
                <a:lnTo>
                  <a:pt x="573530" y="458010"/>
                </a:lnTo>
                <a:lnTo>
                  <a:pt x="549068" y="441517"/>
                </a:lnTo>
                <a:lnTo>
                  <a:pt x="532584" y="417053"/>
                </a:lnTo>
                <a:lnTo>
                  <a:pt x="526541" y="387095"/>
                </a:lnTo>
                <a:lnTo>
                  <a:pt x="526541" y="76961"/>
                </a:lnTo>
                <a:close/>
              </a:path>
              <a:path w="988694" h="913128">
                <a:moveTo>
                  <a:pt x="0" y="524890"/>
                </a:moveTo>
                <a:lnTo>
                  <a:pt x="6040" y="494985"/>
                </a:lnTo>
                <a:lnTo>
                  <a:pt x="22510" y="470561"/>
                </a:lnTo>
                <a:lnTo>
                  <a:pt x="46934" y="454094"/>
                </a:lnTo>
                <a:lnTo>
                  <a:pt x="76835" y="448055"/>
                </a:lnTo>
                <a:lnTo>
                  <a:pt x="384175" y="448055"/>
                </a:lnTo>
                <a:lnTo>
                  <a:pt x="414075" y="454094"/>
                </a:lnTo>
                <a:lnTo>
                  <a:pt x="438499" y="470561"/>
                </a:lnTo>
                <a:lnTo>
                  <a:pt x="454969" y="494985"/>
                </a:lnTo>
                <a:lnTo>
                  <a:pt x="461010" y="524890"/>
                </a:lnTo>
                <a:lnTo>
                  <a:pt x="461010" y="836041"/>
                </a:lnTo>
                <a:lnTo>
                  <a:pt x="454969" y="865946"/>
                </a:lnTo>
                <a:lnTo>
                  <a:pt x="438499" y="890370"/>
                </a:lnTo>
                <a:lnTo>
                  <a:pt x="414075" y="906837"/>
                </a:lnTo>
                <a:lnTo>
                  <a:pt x="384175" y="912876"/>
                </a:lnTo>
                <a:lnTo>
                  <a:pt x="76835" y="912876"/>
                </a:lnTo>
                <a:lnTo>
                  <a:pt x="46934" y="906837"/>
                </a:lnTo>
                <a:lnTo>
                  <a:pt x="22510" y="890370"/>
                </a:lnTo>
                <a:lnTo>
                  <a:pt x="6040" y="865946"/>
                </a:lnTo>
                <a:lnTo>
                  <a:pt x="0" y="836041"/>
                </a:lnTo>
                <a:lnTo>
                  <a:pt x="0" y="524890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19" name="object 19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1" name="object 21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1336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8" name="object 8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1" name="object 11"/>
          <p:cNvSpPr/>
          <p:nvPr/>
        </p:nvSpPr>
        <p:spPr>
          <a:xfrm flipH="1">
            <a:off x="7911210" y="2462402"/>
            <a:ext cx="0" cy="3824604"/>
          </a:xfrm>
          <a:custGeom>
            <a:avLst/>
            <a:gdLst/>
            <a:ahLst/>
            <a:cxnLst/>
            <a:rect l="l" t="t" r="r" b="b"/>
            <a:pathLst>
              <a:path h="3824604">
                <a:moveTo>
                  <a:pt x="0" y="0"/>
                </a:moveTo>
                <a:lnTo>
                  <a:pt x="0" y="3824249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" name="object 12"/>
          <p:cNvGrpSpPr/>
          <p:nvPr/>
        </p:nvGrpSpPr>
        <p:grpSpPr>
          <a:xfrm>
            <a:off x="6860667" y="2462402"/>
            <a:ext cx="535305" cy="3824604"/>
            <a:chOff x="6860667" y="2462402"/>
            <a:chExt cx="535305" cy="3824604"/>
          </a:xfrm>
        </p:grpSpPr>
        <p:sp>
          <p:nvSpPr>
            <p:cNvPr id="13" name="object 13"/>
            <p:cNvSpPr/>
            <p:nvPr/>
          </p:nvSpPr>
          <p:spPr>
            <a:xfrm>
              <a:off x="686701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6867017" y="2462402"/>
              <a:ext cx="522605" cy="3824604"/>
            </a:xfrm>
            <a:custGeom>
              <a:avLst/>
              <a:gdLst/>
              <a:ahLst/>
              <a:cxnLst/>
              <a:rect l="l" t="t" r="r" b="b"/>
              <a:pathLst>
                <a:path w="522604" h="3824604">
                  <a:moveTo>
                    <a:pt x="522097" y="0"/>
                  </a:moveTo>
                  <a:lnTo>
                    <a:pt x="522097" y="3824249"/>
                  </a:lnTo>
                </a:path>
                <a:path w="522604" h="3824604">
                  <a:moveTo>
                    <a:pt x="0" y="0"/>
                  </a:moveTo>
                  <a:lnTo>
                    <a:pt x="0" y="3824249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686739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6" name="object 16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124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14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200025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48895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16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016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016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016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016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016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016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016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7" name="object 17"/>
          <p:cNvSpPr/>
          <p:nvPr/>
        </p:nvSpPr>
        <p:spPr>
          <a:xfrm>
            <a:off x="5005832" y="5990844"/>
            <a:ext cx="3573779" cy="771525"/>
          </a:xfrm>
          <a:custGeom>
            <a:avLst/>
            <a:gdLst/>
            <a:ahLst/>
            <a:cxnLst/>
            <a:rect l="l" t="t" r="r" b="b"/>
            <a:pathLst>
              <a:path w="3573779" h="771525">
                <a:moveTo>
                  <a:pt x="3573525" y="0"/>
                </a:moveTo>
                <a:lnTo>
                  <a:pt x="149097" y="0"/>
                </a:lnTo>
                <a:lnTo>
                  <a:pt x="149097" y="449833"/>
                </a:lnTo>
                <a:lnTo>
                  <a:pt x="0" y="484771"/>
                </a:lnTo>
                <a:lnTo>
                  <a:pt x="149097" y="642619"/>
                </a:lnTo>
                <a:lnTo>
                  <a:pt x="149097" y="771142"/>
                </a:lnTo>
                <a:lnTo>
                  <a:pt x="3573525" y="771142"/>
                </a:lnTo>
                <a:lnTo>
                  <a:pt x="3573525" y="0"/>
                </a:lnTo>
                <a:close/>
              </a:path>
            </a:pathLst>
          </a:custGeom>
          <a:solidFill>
            <a:srgbClr val="0051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 txBox="1"/>
          <p:nvPr/>
        </p:nvSpPr>
        <p:spPr>
          <a:xfrm>
            <a:off x="5330697" y="6143497"/>
            <a:ext cx="307340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spc="-5">
                <a:solidFill>
                  <a:srgbClr val="FFFFFF"/>
                </a:solidFill>
                <a:latin typeface="PMingLiU"/>
                <a:cs typeface="PMingLiU"/>
              </a:rPr>
              <a:t>最长公共子序列的长度</a:t>
            </a:r>
            <a:endParaRPr sz="2400">
              <a:latin typeface="PMingLiU"/>
              <a:cs typeface="PMingLiU"/>
            </a:endParaRPr>
          </a:p>
        </p:txBody>
      </p:sp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1336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8" name="object 8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8135619" y="1383919"/>
          <a:ext cx="2595879" cy="3956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48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8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8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48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956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0" name="object 10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13" name="object 13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5" name="object 15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6" name="object 16"/>
          <p:cNvSpPr/>
          <p:nvPr/>
        </p:nvSpPr>
        <p:spPr>
          <a:xfrm>
            <a:off x="10027157" y="5815584"/>
            <a:ext cx="461009" cy="464820"/>
          </a:xfrm>
          <a:custGeom>
            <a:avLst/>
            <a:gdLst/>
            <a:ahLst/>
            <a:cxnLst/>
            <a:rect l="l" t="t" r="r" b="b"/>
            <a:pathLst>
              <a:path w="461009" h="464820">
                <a:moveTo>
                  <a:pt x="0" y="76834"/>
                </a:moveTo>
                <a:lnTo>
                  <a:pt x="6040" y="46929"/>
                </a:lnTo>
                <a:lnTo>
                  <a:pt x="22510" y="22505"/>
                </a:lnTo>
                <a:lnTo>
                  <a:pt x="46934" y="6038"/>
                </a:lnTo>
                <a:lnTo>
                  <a:pt x="76835" y="0"/>
                </a:lnTo>
                <a:lnTo>
                  <a:pt x="384175" y="0"/>
                </a:lnTo>
                <a:lnTo>
                  <a:pt x="414075" y="6038"/>
                </a:lnTo>
                <a:lnTo>
                  <a:pt x="438499" y="22505"/>
                </a:lnTo>
                <a:lnTo>
                  <a:pt x="454969" y="46929"/>
                </a:lnTo>
                <a:lnTo>
                  <a:pt x="461010" y="76834"/>
                </a:lnTo>
                <a:lnTo>
                  <a:pt x="461010" y="387984"/>
                </a:lnTo>
                <a:lnTo>
                  <a:pt x="454969" y="417890"/>
                </a:lnTo>
                <a:lnTo>
                  <a:pt x="438499" y="442314"/>
                </a:lnTo>
                <a:lnTo>
                  <a:pt x="414075" y="458781"/>
                </a:lnTo>
                <a:lnTo>
                  <a:pt x="384175" y="464819"/>
                </a:lnTo>
                <a:lnTo>
                  <a:pt x="76835" y="464819"/>
                </a:lnTo>
                <a:lnTo>
                  <a:pt x="46934" y="458781"/>
                </a:lnTo>
                <a:lnTo>
                  <a:pt x="22510" y="442314"/>
                </a:lnTo>
                <a:lnTo>
                  <a:pt x="6040" y="417890"/>
                </a:lnTo>
                <a:lnTo>
                  <a:pt x="0" y="387984"/>
                </a:lnTo>
                <a:lnTo>
                  <a:pt x="0" y="76834"/>
                </a:lnTo>
                <a:close/>
              </a:path>
            </a:pathLst>
          </a:custGeom>
          <a:ln w="38099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" name="文本框 1">
            <a:extLst>
              <a:ext uri="{FF2B5EF4-FFF2-40B4-BE49-F238E27FC236}">
                <a16:creationId xmlns:a16="http://schemas.microsoft.com/office/drawing/2014/main" id="{96909411-B956-7244-BF11-10494E89793E}"/>
              </a:ext>
            </a:extLst>
          </p:cNvPr>
          <p:cNvSpPr txBox="1"/>
          <p:nvPr/>
        </p:nvSpPr>
        <p:spPr>
          <a:xfrm>
            <a:off x="1148549" y="161755"/>
            <a:ext cx="208723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zh-CN" altLang="en-US" sz="2800" dirty="0">
                <a:latin typeface="SimSun" panose="02010600030101010101" pitchFamily="2" charset="-122"/>
                <a:ea typeface="SimSun" panose="02010600030101010101" pitchFamily="2" charset="-122"/>
              </a:rPr>
              <a:t>最优解追踪</a:t>
            </a:r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1336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8" name="object 8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8135619" y="1383919"/>
          <a:ext cx="2595879" cy="3956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48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8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8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48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956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000" b="1">
                          <a:latin typeface="Times New Roman"/>
                          <a:cs typeface="Times New Roman"/>
                        </a:rPr>
                        <a:t>A</a:t>
                      </a: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3683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0" name="object 10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13" name="object 13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" name="object 15"/>
          <p:cNvSpPr/>
          <p:nvPr/>
        </p:nvSpPr>
        <p:spPr>
          <a:xfrm>
            <a:off x="9999344" y="5374157"/>
            <a:ext cx="522605" cy="453390"/>
          </a:xfrm>
          <a:custGeom>
            <a:avLst/>
            <a:gdLst/>
            <a:ahLst/>
            <a:cxnLst/>
            <a:rect l="l" t="t" r="r" b="b"/>
            <a:pathLst>
              <a:path w="522604" h="453389">
                <a:moveTo>
                  <a:pt x="522058" y="0"/>
                </a:moveTo>
                <a:lnTo>
                  <a:pt x="0" y="0"/>
                </a:lnTo>
                <a:lnTo>
                  <a:pt x="0" y="453072"/>
                </a:lnTo>
                <a:lnTo>
                  <a:pt x="522058" y="453072"/>
                </a:lnTo>
                <a:lnTo>
                  <a:pt x="522058" y="0"/>
                </a:lnTo>
                <a:close/>
              </a:path>
            </a:pathLst>
          </a:custGeom>
          <a:solidFill>
            <a:srgbClr val="E7E7E7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6" name="object 16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7" name="object 17"/>
          <p:cNvSpPr/>
          <p:nvPr/>
        </p:nvSpPr>
        <p:spPr>
          <a:xfrm>
            <a:off x="10027157" y="5378958"/>
            <a:ext cx="461009" cy="464820"/>
          </a:xfrm>
          <a:custGeom>
            <a:avLst/>
            <a:gdLst/>
            <a:ahLst/>
            <a:cxnLst/>
            <a:rect l="l" t="t" r="r" b="b"/>
            <a:pathLst>
              <a:path w="461009" h="464820">
                <a:moveTo>
                  <a:pt x="0" y="76834"/>
                </a:moveTo>
                <a:lnTo>
                  <a:pt x="6040" y="46934"/>
                </a:lnTo>
                <a:lnTo>
                  <a:pt x="22510" y="22510"/>
                </a:lnTo>
                <a:lnTo>
                  <a:pt x="46934" y="6040"/>
                </a:lnTo>
                <a:lnTo>
                  <a:pt x="76835" y="0"/>
                </a:lnTo>
                <a:lnTo>
                  <a:pt x="384175" y="0"/>
                </a:lnTo>
                <a:lnTo>
                  <a:pt x="414075" y="6040"/>
                </a:lnTo>
                <a:lnTo>
                  <a:pt x="438499" y="22510"/>
                </a:lnTo>
                <a:lnTo>
                  <a:pt x="454969" y="46934"/>
                </a:lnTo>
                <a:lnTo>
                  <a:pt x="461010" y="76834"/>
                </a:lnTo>
                <a:lnTo>
                  <a:pt x="461010" y="387984"/>
                </a:lnTo>
                <a:lnTo>
                  <a:pt x="454969" y="417890"/>
                </a:lnTo>
                <a:lnTo>
                  <a:pt x="438499" y="442314"/>
                </a:lnTo>
                <a:lnTo>
                  <a:pt x="414075" y="458781"/>
                </a:lnTo>
                <a:lnTo>
                  <a:pt x="384175" y="464819"/>
                </a:lnTo>
                <a:lnTo>
                  <a:pt x="76835" y="464819"/>
                </a:lnTo>
                <a:lnTo>
                  <a:pt x="46934" y="458781"/>
                </a:lnTo>
                <a:lnTo>
                  <a:pt x="22510" y="442314"/>
                </a:lnTo>
                <a:lnTo>
                  <a:pt x="6040" y="417890"/>
                </a:lnTo>
                <a:lnTo>
                  <a:pt x="0" y="387984"/>
                </a:lnTo>
                <a:lnTo>
                  <a:pt x="0" y="76834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文本框 17">
            <a:extLst>
              <a:ext uri="{FF2B5EF4-FFF2-40B4-BE49-F238E27FC236}">
                <a16:creationId xmlns:a16="http://schemas.microsoft.com/office/drawing/2014/main" id="{40EF2E9D-E66B-F044-9B1F-C47A07A4F183}"/>
              </a:ext>
            </a:extLst>
          </p:cNvPr>
          <p:cNvSpPr txBox="1"/>
          <p:nvPr/>
        </p:nvSpPr>
        <p:spPr>
          <a:xfrm>
            <a:off x="1148549" y="161755"/>
            <a:ext cx="208723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zh-CN" altLang="en-US" sz="2800" dirty="0">
                <a:latin typeface="SimSun" panose="02010600030101010101" pitchFamily="2" charset="-122"/>
                <a:ea typeface="SimSun" panose="02010600030101010101" pitchFamily="2" charset="-122"/>
              </a:rPr>
              <a:t>最优解追踪</a:t>
            </a:r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1336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8" name="object 8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8135619" y="1383919"/>
          <a:ext cx="2595879" cy="3956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48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8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8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48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956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000" b="1">
                          <a:latin typeface="Times New Roman"/>
                          <a:cs typeface="Times New Roman"/>
                        </a:rPr>
                        <a:t>A</a:t>
                      </a: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3683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0" name="object 10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13" name="object 13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5" name="object 15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6" name="object 16"/>
          <p:cNvSpPr/>
          <p:nvPr/>
        </p:nvSpPr>
        <p:spPr>
          <a:xfrm>
            <a:off x="9524238" y="4917947"/>
            <a:ext cx="462280" cy="464184"/>
          </a:xfrm>
          <a:custGeom>
            <a:avLst/>
            <a:gdLst/>
            <a:ahLst/>
            <a:cxnLst/>
            <a:rect l="l" t="t" r="r" b="b"/>
            <a:pathLst>
              <a:path w="462279" h="464184">
                <a:moveTo>
                  <a:pt x="0" y="76962"/>
                </a:moveTo>
                <a:lnTo>
                  <a:pt x="6042" y="46988"/>
                </a:lnTo>
                <a:lnTo>
                  <a:pt x="22526" y="22526"/>
                </a:lnTo>
                <a:lnTo>
                  <a:pt x="46988" y="6042"/>
                </a:lnTo>
                <a:lnTo>
                  <a:pt x="76961" y="0"/>
                </a:lnTo>
                <a:lnTo>
                  <a:pt x="384809" y="0"/>
                </a:lnTo>
                <a:lnTo>
                  <a:pt x="414783" y="6042"/>
                </a:lnTo>
                <a:lnTo>
                  <a:pt x="439245" y="22526"/>
                </a:lnTo>
                <a:lnTo>
                  <a:pt x="455729" y="46988"/>
                </a:lnTo>
                <a:lnTo>
                  <a:pt x="461771" y="76962"/>
                </a:lnTo>
                <a:lnTo>
                  <a:pt x="461771" y="387095"/>
                </a:lnTo>
                <a:lnTo>
                  <a:pt x="455729" y="417069"/>
                </a:lnTo>
                <a:lnTo>
                  <a:pt x="439245" y="441531"/>
                </a:lnTo>
                <a:lnTo>
                  <a:pt x="414783" y="458015"/>
                </a:lnTo>
                <a:lnTo>
                  <a:pt x="384809" y="464057"/>
                </a:lnTo>
                <a:lnTo>
                  <a:pt x="76961" y="464057"/>
                </a:lnTo>
                <a:lnTo>
                  <a:pt x="46988" y="458015"/>
                </a:lnTo>
                <a:lnTo>
                  <a:pt x="22526" y="441531"/>
                </a:lnTo>
                <a:lnTo>
                  <a:pt x="6042" y="417069"/>
                </a:lnTo>
                <a:lnTo>
                  <a:pt x="0" y="387095"/>
                </a:lnTo>
                <a:lnTo>
                  <a:pt x="0" y="76962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文本框 16">
            <a:extLst>
              <a:ext uri="{FF2B5EF4-FFF2-40B4-BE49-F238E27FC236}">
                <a16:creationId xmlns:a16="http://schemas.microsoft.com/office/drawing/2014/main" id="{DE50E98A-CED2-D448-89C6-4466BD76D69B}"/>
              </a:ext>
            </a:extLst>
          </p:cNvPr>
          <p:cNvSpPr txBox="1"/>
          <p:nvPr/>
        </p:nvSpPr>
        <p:spPr>
          <a:xfrm>
            <a:off x="1148549" y="161755"/>
            <a:ext cx="208723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zh-CN" altLang="en-US" sz="2800" dirty="0">
                <a:latin typeface="SimSun" panose="02010600030101010101" pitchFamily="2" charset="-122"/>
                <a:ea typeface="SimSun" panose="02010600030101010101" pitchFamily="2" charset="-122"/>
              </a:rPr>
              <a:t>最优解追踪</a:t>
            </a:r>
          </a:p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1336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8" name="object 8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8135619" y="1383919"/>
          <a:ext cx="2595879" cy="3956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48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8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8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48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956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000" b="1">
                          <a:latin typeface="Times New Roman"/>
                          <a:cs typeface="Times New Roman"/>
                        </a:rPr>
                        <a:t>B</a:t>
                      </a: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3683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000" b="1">
                          <a:latin typeface="Times New Roman"/>
                          <a:cs typeface="Times New Roman"/>
                        </a:rPr>
                        <a:t>A</a:t>
                      </a: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3683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0" name="object 10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13" name="object 13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" name="object 15"/>
          <p:cNvSpPr/>
          <p:nvPr/>
        </p:nvSpPr>
        <p:spPr>
          <a:xfrm>
            <a:off x="9477375" y="4468050"/>
            <a:ext cx="522605" cy="453390"/>
          </a:xfrm>
          <a:custGeom>
            <a:avLst/>
            <a:gdLst/>
            <a:ahLst/>
            <a:cxnLst/>
            <a:rect l="l" t="t" r="r" b="b"/>
            <a:pathLst>
              <a:path w="522604" h="453389">
                <a:moveTo>
                  <a:pt x="522058" y="0"/>
                </a:moveTo>
                <a:lnTo>
                  <a:pt x="0" y="0"/>
                </a:lnTo>
                <a:lnTo>
                  <a:pt x="0" y="453072"/>
                </a:lnTo>
                <a:lnTo>
                  <a:pt x="522058" y="453072"/>
                </a:lnTo>
                <a:lnTo>
                  <a:pt x="522058" y="0"/>
                </a:lnTo>
                <a:close/>
              </a:path>
            </a:pathLst>
          </a:custGeom>
          <a:solidFill>
            <a:srgbClr val="E7E7E7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6" name="object 16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7" name="object 17"/>
          <p:cNvSpPr/>
          <p:nvPr/>
        </p:nvSpPr>
        <p:spPr>
          <a:xfrm>
            <a:off x="9524238" y="4472940"/>
            <a:ext cx="462280" cy="464820"/>
          </a:xfrm>
          <a:custGeom>
            <a:avLst/>
            <a:gdLst/>
            <a:ahLst/>
            <a:cxnLst/>
            <a:rect l="l" t="t" r="r" b="b"/>
            <a:pathLst>
              <a:path w="462279" h="464820">
                <a:moveTo>
                  <a:pt x="0" y="76962"/>
                </a:moveTo>
                <a:lnTo>
                  <a:pt x="6042" y="46988"/>
                </a:lnTo>
                <a:lnTo>
                  <a:pt x="22526" y="22526"/>
                </a:lnTo>
                <a:lnTo>
                  <a:pt x="46988" y="6042"/>
                </a:lnTo>
                <a:lnTo>
                  <a:pt x="76961" y="0"/>
                </a:lnTo>
                <a:lnTo>
                  <a:pt x="384809" y="0"/>
                </a:lnTo>
                <a:lnTo>
                  <a:pt x="414783" y="6042"/>
                </a:lnTo>
                <a:lnTo>
                  <a:pt x="439245" y="22526"/>
                </a:lnTo>
                <a:lnTo>
                  <a:pt x="455729" y="46988"/>
                </a:lnTo>
                <a:lnTo>
                  <a:pt x="461771" y="76962"/>
                </a:lnTo>
                <a:lnTo>
                  <a:pt x="461771" y="387858"/>
                </a:lnTo>
                <a:lnTo>
                  <a:pt x="455729" y="417831"/>
                </a:lnTo>
                <a:lnTo>
                  <a:pt x="439245" y="442293"/>
                </a:lnTo>
                <a:lnTo>
                  <a:pt x="414783" y="458777"/>
                </a:lnTo>
                <a:lnTo>
                  <a:pt x="384809" y="464820"/>
                </a:lnTo>
                <a:lnTo>
                  <a:pt x="76961" y="464820"/>
                </a:lnTo>
                <a:lnTo>
                  <a:pt x="46988" y="458777"/>
                </a:lnTo>
                <a:lnTo>
                  <a:pt x="22526" y="442293"/>
                </a:lnTo>
                <a:lnTo>
                  <a:pt x="6042" y="417831"/>
                </a:lnTo>
                <a:lnTo>
                  <a:pt x="0" y="387858"/>
                </a:lnTo>
                <a:lnTo>
                  <a:pt x="0" y="76962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文本框 17">
            <a:extLst>
              <a:ext uri="{FF2B5EF4-FFF2-40B4-BE49-F238E27FC236}">
                <a16:creationId xmlns:a16="http://schemas.microsoft.com/office/drawing/2014/main" id="{612772E5-A863-B84F-94EB-3D6948FBA3B8}"/>
              </a:ext>
            </a:extLst>
          </p:cNvPr>
          <p:cNvSpPr txBox="1"/>
          <p:nvPr/>
        </p:nvSpPr>
        <p:spPr>
          <a:xfrm>
            <a:off x="1148549" y="161755"/>
            <a:ext cx="208723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zh-CN" altLang="en-US" sz="2800" dirty="0">
                <a:latin typeface="SimSun" panose="02010600030101010101" pitchFamily="2" charset="-122"/>
                <a:ea typeface="SimSun" panose="02010600030101010101" pitchFamily="2" charset="-122"/>
              </a:rPr>
              <a:t>最优解追踪</a:t>
            </a:r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1336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8135619" y="1383919"/>
          <a:ext cx="2595879" cy="3956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48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8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8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48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956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000" b="1">
                          <a:latin typeface="Times New Roman"/>
                          <a:cs typeface="Times New Roman"/>
                        </a:rPr>
                        <a:t>B</a:t>
                      </a: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3683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000" b="1">
                          <a:latin typeface="Times New Roman"/>
                          <a:cs typeface="Times New Roman"/>
                        </a:rPr>
                        <a:t>A</a:t>
                      </a: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3683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13" name="object 13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5" name="object 15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6" name="object 16"/>
          <p:cNvSpPr/>
          <p:nvPr/>
        </p:nvSpPr>
        <p:spPr>
          <a:xfrm>
            <a:off x="8988552" y="4003547"/>
            <a:ext cx="462280" cy="464184"/>
          </a:xfrm>
          <a:custGeom>
            <a:avLst/>
            <a:gdLst/>
            <a:ahLst/>
            <a:cxnLst/>
            <a:rect l="l" t="t" r="r" b="b"/>
            <a:pathLst>
              <a:path w="462279" h="464184">
                <a:moveTo>
                  <a:pt x="0" y="76962"/>
                </a:moveTo>
                <a:lnTo>
                  <a:pt x="6042" y="46988"/>
                </a:lnTo>
                <a:lnTo>
                  <a:pt x="22526" y="22526"/>
                </a:lnTo>
                <a:lnTo>
                  <a:pt x="46988" y="6042"/>
                </a:lnTo>
                <a:lnTo>
                  <a:pt x="76962" y="0"/>
                </a:lnTo>
                <a:lnTo>
                  <a:pt x="384809" y="0"/>
                </a:lnTo>
                <a:lnTo>
                  <a:pt x="414783" y="6042"/>
                </a:lnTo>
                <a:lnTo>
                  <a:pt x="439245" y="22526"/>
                </a:lnTo>
                <a:lnTo>
                  <a:pt x="455729" y="46988"/>
                </a:lnTo>
                <a:lnTo>
                  <a:pt x="461772" y="76962"/>
                </a:lnTo>
                <a:lnTo>
                  <a:pt x="461772" y="387095"/>
                </a:lnTo>
                <a:lnTo>
                  <a:pt x="455729" y="417069"/>
                </a:lnTo>
                <a:lnTo>
                  <a:pt x="439245" y="441531"/>
                </a:lnTo>
                <a:lnTo>
                  <a:pt x="414783" y="458015"/>
                </a:lnTo>
                <a:lnTo>
                  <a:pt x="384809" y="464057"/>
                </a:lnTo>
                <a:lnTo>
                  <a:pt x="76962" y="464057"/>
                </a:lnTo>
                <a:lnTo>
                  <a:pt x="46988" y="458015"/>
                </a:lnTo>
                <a:lnTo>
                  <a:pt x="22526" y="441531"/>
                </a:lnTo>
                <a:lnTo>
                  <a:pt x="6042" y="417069"/>
                </a:lnTo>
                <a:lnTo>
                  <a:pt x="0" y="387095"/>
                </a:lnTo>
                <a:lnTo>
                  <a:pt x="0" y="76962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文本框 16">
            <a:extLst>
              <a:ext uri="{FF2B5EF4-FFF2-40B4-BE49-F238E27FC236}">
                <a16:creationId xmlns:a16="http://schemas.microsoft.com/office/drawing/2014/main" id="{A8C3C52D-5BE0-9D47-B1E1-C74AD3AE80D1}"/>
              </a:ext>
            </a:extLst>
          </p:cNvPr>
          <p:cNvSpPr txBox="1"/>
          <p:nvPr/>
        </p:nvSpPr>
        <p:spPr>
          <a:xfrm>
            <a:off x="1148549" y="161755"/>
            <a:ext cx="208723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zh-CN" altLang="en-US" sz="2800" dirty="0">
                <a:latin typeface="SimSun" panose="02010600030101010101" pitchFamily="2" charset="-122"/>
                <a:ea typeface="SimSun" panose="02010600030101010101" pitchFamily="2" charset="-122"/>
              </a:rPr>
              <a:t>最优解追踪</a:t>
            </a:r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1336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8135619" y="1383919"/>
          <a:ext cx="2595879" cy="3956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48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8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8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48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956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000" b="1">
                          <a:latin typeface="Times New Roman"/>
                          <a:cs typeface="Times New Roman"/>
                        </a:rPr>
                        <a:t>C</a:t>
                      </a: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3683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000" b="1">
                          <a:latin typeface="Times New Roman"/>
                          <a:cs typeface="Times New Roman"/>
                        </a:rPr>
                        <a:t>B</a:t>
                      </a: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3683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000" b="1">
                          <a:latin typeface="Times New Roman"/>
                          <a:cs typeface="Times New Roman"/>
                        </a:rPr>
                        <a:t>A</a:t>
                      </a: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3683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13" name="object 13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5" name="object 15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6" name="object 16"/>
          <p:cNvSpPr/>
          <p:nvPr/>
        </p:nvSpPr>
        <p:spPr>
          <a:xfrm>
            <a:off x="8469630" y="4003547"/>
            <a:ext cx="462280" cy="464184"/>
          </a:xfrm>
          <a:custGeom>
            <a:avLst/>
            <a:gdLst/>
            <a:ahLst/>
            <a:cxnLst/>
            <a:rect l="l" t="t" r="r" b="b"/>
            <a:pathLst>
              <a:path w="462279" h="464184">
                <a:moveTo>
                  <a:pt x="0" y="76962"/>
                </a:moveTo>
                <a:lnTo>
                  <a:pt x="6042" y="46988"/>
                </a:lnTo>
                <a:lnTo>
                  <a:pt x="22526" y="22526"/>
                </a:lnTo>
                <a:lnTo>
                  <a:pt x="46988" y="6042"/>
                </a:lnTo>
                <a:lnTo>
                  <a:pt x="76962" y="0"/>
                </a:lnTo>
                <a:lnTo>
                  <a:pt x="384810" y="0"/>
                </a:lnTo>
                <a:lnTo>
                  <a:pt x="414783" y="6042"/>
                </a:lnTo>
                <a:lnTo>
                  <a:pt x="439245" y="22526"/>
                </a:lnTo>
                <a:lnTo>
                  <a:pt x="455729" y="46988"/>
                </a:lnTo>
                <a:lnTo>
                  <a:pt x="461772" y="76962"/>
                </a:lnTo>
                <a:lnTo>
                  <a:pt x="461772" y="387095"/>
                </a:lnTo>
                <a:lnTo>
                  <a:pt x="455729" y="417069"/>
                </a:lnTo>
                <a:lnTo>
                  <a:pt x="439245" y="441531"/>
                </a:lnTo>
                <a:lnTo>
                  <a:pt x="414783" y="458015"/>
                </a:lnTo>
                <a:lnTo>
                  <a:pt x="384810" y="464057"/>
                </a:lnTo>
                <a:lnTo>
                  <a:pt x="76962" y="464057"/>
                </a:lnTo>
                <a:lnTo>
                  <a:pt x="46988" y="458015"/>
                </a:lnTo>
                <a:lnTo>
                  <a:pt x="22526" y="441531"/>
                </a:lnTo>
                <a:lnTo>
                  <a:pt x="6042" y="417069"/>
                </a:lnTo>
                <a:lnTo>
                  <a:pt x="0" y="387095"/>
                </a:lnTo>
                <a:lnTo>
                  <a:pt x="0" y="76962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文本框 16">
            <a:extLst>
              <a:ext uri="{FF2B5EF4-FFF2-40B4-BE49-F238E27FC236}">
                <a16:creationId xmlns:a16="http://schemas.microsoft.com/office/drawing/2014/main" id="{767821C4-283A-F74A-B890-2CC5B996F503}"/>
              </a:ext>
            </a:extLst>
          </p:cNvPr>
          <p:cNvSpPr txBox="1"/>
          <p:nvPr/>
        </p:nvSpPr>
        <p:spPr>
          <a:xfrm>
            <a:off x="1148549" y="161755"/>
            <a:ext cx="208723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zh-CN" altLang="en-US" sz="2800" dirty="0">
                <a:latin typeface="SimSun" panose="02010600030101010101" pitchFamily="2" charset="-122"/>
                <a:ea typeface="SimSun" panose="02010600030101010101" pitchFamily="2" charset="-122"/>
              </a:rPr>
              <a:t>最优解追踪</a:t>
            </a:r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1336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8135619" y="1383919"/>
          <a:ext cx="2595879" cy="3956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48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8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8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48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956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000" b="1">
                          <a:latin typeface="Times New Roman"/>
                          <a:cs typeface="Times New Roman"/>
                        </a:rPr>
                        <a:t>C</a:t>
                      </a: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3683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000" b="1">
                          <a:latin typeface="Times New Roman"/>
                          <a:cs typeface="Times New Roman"/>
                        </a:rPr>
                        <a:t>B</a:t>
                      </a: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3683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000" b="1">
                          <a:latin typeface="Times New Roman"/>
                          <a:cs typeface="Times New Roman"/>
                        </a:rPr>
                        <a:t>A</a:t>
                      </a: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3683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13" name="object 13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" name="object 15"/>
          <p:cNvSpPr/>
          <p:nvPr/>
        </p:nvSpPr>
        <p:spPr>
          <a:xfrm>
            <a:off x="7911210" y="3561905"/>
            <a:ext cx="522605" cy="453390"/>
          </a:xfrm>
          <a:custGeom>
            <a:avLst/>
            <a:gdLst/>
            <a:ahLst/>
            <a:cxnLst/>
            <a:rect l="l" t="t" r="r" b="b"/>
            <a:pathLst>
              <a:path w="522604" h="453389">
                <a:moveTo>
                  <a:pt x="522058" y="0"/>
                </a:moveTo>
                <a:lnTo>
                  <a:pt x="0" y="0"/>
                </a:lnTo>
                <a:lnTo>
                  <a:pt x="0" y="453072"/>
                </a:lnTo>
                <a:lnTo>
                  <a:pt x="522058" y="453072"/>
                </a:lnTo>
                <a:lnTo>
                  <a:pt x="522058" y="0"/>
                </a:lnTo>
                <a:close/>
              </a:path>
            </a:pathLst>
          </a:custGeom>
          <a:solidFill>
            <a:srgbClr val="E7E7E7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6" name="object 16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7" name="object 17"/>
          <p:cNvSpPr/>
          <p:nvPr/>
        </p:nvSpPr>
        <p:spPr>
          <a:xfrm>
            <a:off x="7942326" y="3541776"/>
            <a:ext cx="462280" cy="464820"/>
          </a:xfrm>
          <a:custGeom>
            <a:avLst/>
            <a:gdLst/>
            <a:ahLst/>
            <a:cxnLst/>
            <a:rect l="l" t="t" r="r" b="b"/>
            <a:pathLst>
              <a:path w="462279" h="464820">
                <a:moveTo>
                  <a:pt x="0" y="76962"/>
                </a:moveTo>
                <a:lnTo>
                  <a:pt x="6042" y="46988"/>
                </a:lnTo>
                <a:lnTo>
                  <a:pt x="22526" y="22526"/>
                </a:lnTo>
                <a:lnTo>
                  <a:pt x="46988" y="6042"/>
                </a:lnTo>
                <a:lnTo>
                  <a:pt x="76962" y="0"/>
                </a:lnTo>
                <a:lnTo>
                  <a:pt x="384809" y="0"/>
                </a:lnTo>
                <a:lnTo>
                  <a:pt x="414783" y="6042"/>
                </a:lnTo>
                <a:lnTo>
                  <a:pt x="439245" y="22526"/>
                </a:lnTo>
                <a:lnTo>
                  <a:pt x="455729" y="46988"/>
                </a:lnTo>
                <a:lnTo>
                  <a:pt x="461772" y="76962"/>
                </a:lnTo>
                <a:lnTo>
                  <a:pt x="461772" y="387857"/>
                </a:lnTo>
                <a:lnTo>
                  <a:pt x="455729" y="417831"/>
                </a:lnTo>
                <a:lnTo>
                  <a:pt x="439245" y="442293"/>
                </a:lnTo>
                <a:lnTo>
                  <a:pt x="414783" y="458777"/>
                </a:lnTo>
                <a:lnTo>
                  <a:pt x="384809" y="464819"/>
                </a:lnTo>
                <a:lnTo>
                  <a:pt x="76962" y="464819"/>
                </a:lnTo>
                <a:lnTo>
                  <a:pt x="46988" y="458777"/>
                </a:lnTo>
                <a:lnTo>
                  <a:pt x="22526" y="442293"/>
                </a:lnTo>
                <a:lnTo>
                  <a:pt x="6042" y="417831"/>
                </a:lnTo>
                <a:lnTo>
                  <a:pt x="0" y="387857"/>
                </a:lnTo>
                <a:lnTo>
                  <a:pt x="0" y="76962"/>
                </a:lnTo>
                <a:close/>
              </a:path>
            </a:pathLst>
          </a:custGeom>
          <a:ln w="38099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文本框 17">
            <a:extLst>
              <a:ext uri="{FF2B5EF4-FFF2-40B4-BE49-F238E27FC236}">
                <a16:creationId xmlns:a16="http://schemas.microsoft.com/office/drawing/2014/main" id="{64672EB1-2AF4-7244-9442-8E8555604697}"/>
              </a:ext>
            </a:extLst>
          </p:cNvPr>
          <p:cNvSpPr txBox="1"/>
          <p:nvPr/>
        </p:nvSpPr>
        <p:spPr>
          <a:xfrm>
            <a:off x="1148549" y="161755"/>
            <a:ext cx="208723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zh-CN" altLang="en-US" sz="2800" dirty="0">
                <a:latin typeface="SimSun" panose="02010600030101010101" pitchFamily="2" charset="-122"/>
                <a:ea typeface="SimSun" panose="02010600030101010101" pitchFamily="2" charset="-122"/>
              </a:rPr>
              <a:t>最优解追踪</a:t>
            </a:r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1336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8135619" y="1383919"/>
          <a:ext cx="2595879" cy="3956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48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8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8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48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95605"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000" b="1">
                          <a:latin typeface="Times New Roman"/>
                          <a:cs typeface="Times New Roman"/>
                        </a:rPr>
                        <a:t>B</a:t>
                      </a: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3683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000" b="1">
                          <a:latin typeface="Times New Roman"/>
                          <a:cs typeface="Times New Roman"/>
                        </a:rPr>
                        <a:t>C</a:t>
                      </a: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3683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000" b="1">
                          <a:latin typeface="Times New Roman"/>
                          <a:cs typeface="Times New Roman"/>
                        </a:rPr>
                        <a:t>B</a:t>
                      </a: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3683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000" b="1">
                          <a:latin typeface="Times New Roman"/>
                          <a:cs typeface="Times New Roman"/>
                        </a:rPr>
                        <a:t>A</a:t>
                      </a: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3683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13" name="object 13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" name="object 15"/>
          <p:cNvSpPr/>
          <p:nvPr/>
        </p:nvSpPr>
        <p:spPr>
          <a:xfrm>
            <a:off x="7389114" y="3561905"/>
            <a:ext cx="522605" cy="453390"/>
          </a:xfrm>
          <a:custGeom>
            <a:avLst/>
            <a:gdLst/>
            <a:ahLst/>
            <a:cxnLst/>
            <a:rect l="l" t="t" r="r" b="b"/>
            <a:pathLst>
              <a:path w="522604" h="453389">
                <a:moveTo>
                  <a:pt x="522058" y="0"/>
                </a:moveTo>
                <a:lnTo>
                  <a:pt x="0" y="0"/>
                </a:lnTo>
                <a:lnTo>
                  <a:pt x="0" y="453072"/>
                </a:lnTo>
                <a:lnTo>
                  <a:pt x="522058" y="453072"/>
                </a:lnTo>
                <a:lnTo>
                  <a:pt x="522058" y="0"/>
                </a:lnTo>
                <a:close/>
              </a:path>
            </a:pathLst>
          </a:custGeom>
          <a:solidFill>
            <a:srgbClr val="E7E7E7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6" name="object 16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7" name="object 17"/>
          <p:cNvSpPr/>
          <p:nvPr/>
        </p:nvSpPr>
        <p:spPr>
          <a:xfrm>
            <a:off x="7440168" y="3541776"/>
            <a:ext cx="462280" cy="464820"/>
          </a:xfrm>
          <a:custGeom>
            <a:avLst/>
            <a:gdLst/>
            <a:ahLst/>
            <a:cxnLst/>
            <a:rect l="l" t="t" r="r" b="b"/>
            <a:pathLst>
              <a:path w="462279" h="464820">
                <a:moveTo>
                  <a:pt x="0" y="76962"/>
                </a:moveTo>
                <a:lnTo>
                  <a:pt x="6042" y="46988"/>
                </a:lnTo>
                <a:lnTo>
                  <a:pt x="22526" y="22526"/>
                </a:lnTo>
                <a:lnTo>
                  <a:pt x="46988" y="6042"/>
                </a:lnTo>
                <a:lnTo>
                  <a:pt x="76961" y="0"/>
                </a:lnTo>
                <a:lnTo>
                  <a:pt x="384809" y="0"/>
                </a:lnTo>
                <a:lnTo>
                  <a:pt x="414783" y="6042"/>
                </a:lnTo>
                <a:lnTo>
                  <a:pt x="439245" y="22526"/>
                </a:lnTo>
                <a:lnTo>
                  <a:pt x="455729" y="46988"/>
                </a:lnTo>
                <a:lnTo>
                  <a:pt x="461772" y="76962"/>
                </a:lnTo>
                <a:lnTo>
                  <a:pt x="461772" y="387857"/>
                </a:lnTo>
                <a:lnTo>
                  <a:pt x="455729" y="417831"/>
                </a:lnTo>
                <a:lnTo>
                  <a:pt x="439245" y="442293"/>
                </a:lnTo>
                <a:lnTo>
                  <a:pt x="414783" y="458777"/>
                </a:lnTo>
                <a:lnTo>
                  <a:pt x="384809" y="464819"/>
                </a:lnTo>
                <a:lnTo>
                  <a:pt x="76961" y="464819"/>
                </a:lnTo>
                <a:lnTo>
                  <a:pt x="46988" y="458777"/>
                </a:lnTo>
                <a:lnTo>
                  <a:pt x="22526" y="442293"/>
                </a:lnTo>
                <a:lnTo>
                  <a:pt x="6042" y="417831"/>
                </a:lnTo>
                <a:lnTo>
                  <a:pt x="0" y="387857"/>
                </a:lnTo>
                <a:lnTo>
                  <a:pt x="0" y="76962"/>
                </a:lnTo>
                <a:close/>
              </a:path>
            </a:pathLst>
          </a:custGeom>
          <a:ln w="38099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文本框 17">
            <a:extLst>
              <a:ext uri="{FF2B5EF4-FFF2-40B4-BE49-F238E27FC236}">
                <a16:creationId xmlns:a16="http://schemas.microsoft.com/office/drawing/2014/main" id="{A2AC975D-9A97-4243-8CE2-1B1D8FF2A8FC}"/>
              </a:ext>
            </a:extLst>
          </p:cNvPr>
          <p:cNvSpPr txBox="1"/>
          <p:nvPr/>
        </p:nvSpPr>
        <p:spPr>
          <a:xfrm>
            <a:off x="1148549" y="161755"/>
            <a:ext cx="208723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zh-CN" altLang="en-US" sz="2800" dirty="0">
                <a:latin typeface="SimSun" panose="02010600030101010101" pitchFamily="2" charset="-122"/>
                <a:ea typeface="SimSun" panose="02010600030101010101" pitchFamily="2" charset="-122"/>
              </a:rPr>
              <a:t>最优解追踪</a:t>
            </a:r>
          </a:p>
        </p:txBody>
      </p:sp>
    </p:spTree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881278" y="2462783"/>
            <a:ext cx="534670" cy="652780"/>
            <a:chOff x="881278" y="2462783"/>
            <a:chExt cx="534670" cy="652780"/>
          </a:xfrm>
        </p:grpSpPr>
        <p:sp>
          <p:nvSpPr>
            <p:cNvPr id="4" name="object 4"/>
            <p:cNvSpPr/>
            <p:nvPr/>
          </p:nvSpPr>
          <p:spPr>
            <a:xfrm>
              <a:off x="887247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5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7628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69" h="640080">
                  <a:moveTo>
                    <a:pt x="0" y="0"/>
                  </a:moveTo>
                  <a:lnTo>
                    <a:pt x="521944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880897" y="2462402"/>
          <a:ext cx="4175756" cy="426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62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2705" algn="ctr">
                        <a:lnSpc>
                          <a:spcPct val="100000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1336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195580" algn="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8135619" y="1383919"/>
          <a:ext cx="2595879" cy="3956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48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8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8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48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95605"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000" b="1">
                          <a:latin typeface="Times New Roman"/>
                          <a:cs typeface="Times New Roman"/>
                        </a:rPr>
                        <a:t>B</a:t>
                      </a: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3683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000" b="1">
                          <a:latin typeface="Times New Roman"/>
                          <a:cs typeface="Times New Roman"/>
                        </a:rPr>
                        <a:t>C</a:t>
                      </a: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3683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000" b="1">
                          <a:latin typeface="Times New Roman"/>
                          <a:cs typeface="Times New Roman"/>
                        </a:rPr>
                        <a:t>B</a:t>
                      </a: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3683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000" b="1">
                          <a:latin typeface="Times New Roman"/>
                          <a:cs typeface="Times New Roman"/>
                        </a:rPr>
                        <a:t>A</a:t>
                      </a: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3683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1517650" y="900049"/>
          <a:ext cx="6096000" cy="1132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686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𝑿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R="31813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795"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𝒀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𝒋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R="31559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𝑫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𝑪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187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𝑩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50">
                          <a:latin typeface="Cambria Math"/>
                          <a:cs typeface="Cambria Math"/>
                        </a:rPr>
                        <a:t>𝑨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6858381" y="1648205"/>
            <a:ext cx="762000" cy="392430"/>
          </a:xfrm>
          <a:custGeom>
            <a:avLst/>
            <a:gdLst/>
            <a:ahLst/>
            <a:cxnLst/>
            <a:rect l="l" t="t" r="r" b="b"/>
            <a:pathLst>
              <a:path w="762000" h="392430">
                <a:moveTo>
                  <a:pt x="0" y="0"/>
                </a:moveTo>
                <a:lnTo>
                  <a:pt x="762000" y="39243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987297" y="1993138"/>
            <a:ext cx="496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913118" y="1993138"/>
            <a:ext cx="7905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𝒓𝒆𝒄[</a:t>
            </a:r>
            <a:r>
              <a:rPr sz="2400" spc="-10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]</a:t>
            </a:r>
            <a:endParaRPr sz="2400">
              <a:latin typeface="Cambria Math"/>
              <a:cs typeface="Cambria Math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6861047" y="2462783"/>
            <a:ext cx="534670" cy="652780"/>
            <a:chOff x="6861047" y="2462783"/>
            <a:chExt cx="534670" cy="652780"/>
          </a:xfrm>
        </p:grpSpPr>
        <p:sp>
          <p:nvSpPr>
            <p:cNvPr id="13" name="object 13"/>
            <p:cNvSpPr/>
            <p:nvPr/>
          </p:nvSpPr>
          <p:spPr>
            <a:xfrm>
              <a:off x="6867016" y="2468752"/>
              <a:ext cx="522605" cy="640080"/>
            </a:xfrm>
            <a:custGeom>
              <a:avLst/>
              <a:gdLst/>
              <a:ahLst/>
              <a:cxnLst/>
              <a:rect l="l" t="t" r="r" b="b"/>
              <a:pathLst>
                <a:path w="522604" h="640080">
                  <a:moveTo>
                    <a:pt x="522058" y="0"/>
                  </a:moveTo>
                  <a:lnTo>
                    <a:pt x="0" y="0"/>
                  </a:lnTo>
                  <a:lnTo>
                    <a:pt x="0" y="640079"/>
                  </a:lnTo>
                  <a:lnTo>
                    <a:pt x="522058" y="640079"/>
                  </a:lnTo>
                  <a:lnTo>
                    <a:pt x="52205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6867397" y="2469133"/>
              <a:ext cx="521970" cy="640080"/>
            </a:xfrm>
            <a:custGeom>
              <a:avLst/>
              <a:gdLst/>
              <a:ahLst/>
              <a:cxnLst/>
              <a:rect l="l" t="t" r="r" b="b"/>
              <a:pathLst>
                <a:path w="521970" h="640080">
                  <a:moveTo>
                    <a:pt x="0" y="0"/>
                  </a:moveTo>
                  <a:lnTo>
                    <a:pt x="521970" y="64007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5" name="object 15"/>
          <p:cNvGraphicFramePr>
            <a:graphicFrameLocks noGrp="1"/>
          </p:cNvGraphicFramePr>
          <p:nvPr/>
        </p:nvGraphicFramePr>
        <p:xfrm>
          <a:off x="6860667" y="2462402"/>
          <a:ext cx="3653786" cy="380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9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190500" algn="ctr">
                        <a:lnSpc>
                          <a:spcPts val="2155"/>
                        </a:lnSpc>
                        <a:spcBef>
                          <a:spcPts val="310"/>
                        </a:spcBef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𝒋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  <a:p>
                      <a:pPr marR="58419" algn="ctr">
                        <a:lnSpc>
                          <a:spcPts val="2155"/>
                        </a:lnSpc>
                      </a:pPr>
                      <a:r>
                        <a:rPr sz="18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8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1752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L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7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LU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U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6" name="object 16"/>
          <p:cNvSpPr/>
          <p:nvPr/>
        </p:nvSpPr>
        <p:spPr>
          <a:xfrm>
            <a:off x="8300719" y="1880361"/>
            <a:ext cx="2743200" cy="809625"/>
          </a:xfrm>
          <a:custGeom>
            <a:avLst/>
            <a:gdLst/>
            <a:ahLst/>
            <a:cxnLst/>
            <a:rect l="l" t="t" r="r" b="b"/>
            <a:pathLst>
              <a:path w="2743200" h="809625">
                <a:moveTo>
                  <a:pt x="0" y="0"/>
                </a:moveTo>
                <a:lnTo>
                  <a:pt x="327405" y="359283"/>
                </a:lnTo>
                <a:lnTo>
                  <a:pt x="327405" y="809498"/>
                </a:lnTo>
                <a:lnTo>
                  <a:pt x="2742946" y="809498"/>
                </a:lnTo>
                <a:lnTo>
                  <a:pt x="2742946" y="37591"/>
                </a:lnTo>
                <a:lnTo>
                  <a:pt x="327405" y="37591"/>
                </a:lnTo>
                <a:lnTo>
                  <a:pt x="327405" y="166242"/>
                </a:lnTo>
                <a:lnTo>
                  <a:pt x="0" y="0"/>
                </a:lnTo>
                <a:close/>
              </a:path>
            </a:pathLst>
          </a:custGeom>
          <a:solidFill>
            <a:srgbClr val="0051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 txBox="1"/>
          <p:nvPr/>
        </p:nvSpPr>
        <p:spPr>
          <a:xfrm>
            <a:off x="8756395" y="2070608"/>
            <a:ext cx="215900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spc="-10">
                <a:solidFill>
                  <a:srgbClr val="FFFFFF"/>
                </a:solidFill>
                <a:latin typeface="PMingLiU"/>
                <a:cs typeface="PMingLiU"/>
              </a:rPr>
              <a:t>最长公共子序列</a:t>
            </a:r>
            <a:endParaRPr sz="2400">
              <a:latin typeface="PMingLiU"/>
              <a:cs typeface="PMingLiU"/>
            </a:endParaRPr>
          </a:p>
        </p:txBody>
      </p:sp>
      <p:sp>
        <p:nvSpPr>
          <p:cNvPr id="18" name="文本框 17">
            <a:extLst>
              <a:ext uri="{FF2B5EF4-FFF2-40B4-BE49-F238E27FC236}">
                <a16:creationId xmlns:a16="http://schemas.microsoft.com/office/drawing/2014/main" id="{12AA6027-7A61-4348-9FD8-DD68ED9E68BA}"/>
              </a:ext>
            </a:extLst>
          </p:cNvPr>
          <p:cNvSpPr txBox="1"/>
          <p:nvPr/>
        </p:nvSpPr>
        <p:spPr>
          <a:xfrm>
            <a:off x="1148549" y="161755"/>
            <a:ext cx="208723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zh-CN" altLang="en-US" sz="2800" dirty="0">
                <a:latin typeface="SimSun" panose="02010600030101010101" pitchFamily="2" charset="-122"/>
                <a:ea typeface="SimSun" panose="02010600030101010101" pitchFamily="2" charset="-122"/>
              </a:rPr>
              <a:t>最优解追踪</a:t>
            </a:r>
          </a:p>
        </p:txBody>
      </p:sp>
    </p:spTree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11610" y="1383599"/>
            <a:ext cx="9418320" cy="4057015"/>
            <a:chOff x="711610" y="1383599"/>
            <a:chExt cx="9418320" cy="4057015"/>
          </a:xfrm>
        </p:grpSpPr>
        <p:pic>
          <p:nvPicPr>
            <p:cNvPr id="3" name="object 3"/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711610" y="1383599"/>
              <a:ext cx="9417864" cy="4056993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1022603" y="2136647"/>
              <a:ext cx="5111115" cy="592455"/>
            </a:xfrm>
            <a:custGeom>
              <a:avLst/>
              <a:gdLst/>
              <a:ahLst/>
              <a:cxnLst/>
              <a:rect l="l" t="t" r="r" b="b"/>
              <a:pathLst>
                <a:path w="5111115" h="592455">
                  <a:moveTo>
                    <a:pt x="0" y="69087"/>
                  </a:moveTo>
                  <a:lnTo>
                    <a:pt x="5428" y="42219"/>
                  </a:lnTo>
                  <a:lnTo>
                    <a:pt x="20232" y="20256"/>
                  </a:lnTo>
                  <a:lnTo>
                    <a:pt x="42192" y="5437"/>
                  </a:lnTo>
                  <a:lnTo>
                    <a:pt x="69087" y="0"/>
                  </a:lnTo>
                  <a:lnTo>
                    <a:pt x="5041646" y="0"/>
                  </a:lnTo>
                  <a:lnTo>
                    <a:pt x="5068514" y="5437"/>
                  </a:lnTo>
                  <a:lnTo>
                    <a:pt x="5090477" y="20256"/>
                  </a:lnTo>
                  <a:lnTo>
                    <a:pt x="5105296" y="42219"/>
                  </a:lnTo>
                  <a:lnTo>
                    <a:pt x="5110734" y="69087"/>
                  </a:lnTo>
                  <a:lnTo>
                    <a:pt x="5110734" y="522986"/>
                  </a:lnTo>
                  <a:lnTo>
                    <a:pt x="5105296" y="549854"/>
                  </a:lnTo>
                  <a:lnTo>
                    <a:pt x="5090477" y="571817"/>
                  </a:lnTo>
                  <a:lnTo>
                    <a:pt x="5068514" y="586636"/>
                  </a:lnTo>
                  <a:lnTo>
                    <a:pt x="5041646" y="592074"/>
                  </a:lnTo>
                  <a:lnTo>
                    <a:pt x="69087" y="592074"/>
                  </a:lnTo>
                  <a:lnTo>
                    <a:pt x="42192" y="586636"/>
                  </a:lnTo>
                  <a:lnTo>
                    <a:pt x="20232" y="571817"/>
                  </a:lnTo>
                  <a:lnTo>
                    <a:pt x="5428" y="549854"/>
                  </a:lnTo>
                  <a:lnTo>
                    <a:pt x="0" y="522986"/>
                  </a:lnTo>
                  <a:lnTo>
                    <a:pt x="0" y="69087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712090" y="916118"/>
            <a:ext cx="6017260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b="1" dirty="0">
                <a:latin typeface="Times New Roman"/>
                <a:cs typeface="Times New Roman"/>
              </a:rPr>
              <a:t>Longest-Common-Subsequence(</a:t>
            </a:r>
            <a:r>
              <a:rPr sz="2800" dirty="0">
                <a:latin typeface="Cambria Math"/>
                <a:cs typeface="Cambria Math"/>
              </a:rPr>
              <a:t>𝑿,</a:t>
            </a:r>
            <a:r>
              <a:rPr sz="2800" spc="-150" dirty="0">
                <a:latin typeface="Cambria Math"/>
                <a:cs typeface="Cambria Math"/>
              </a:rPr>
              <a:t> </a:t>
            </a:r>
            <a:r>
              <a:rPr sz="2800" spc="-25" dirty="0">
                <a:latin typeface="Cambria Math"/>
                <a:cs typeface="Cambria Math"/>
              </a:rPr>
              <a:t>𝒀</a:t>
            </a:r>
            <a:r>
              <a:rPr sz="2800" b="1" spc="-25" dirty="0">
                <a:latin typeface="Times New Roman"/>
                <a:cs typeface="Times New Roman"/>
              </a:rPr>
              <a:t>)</a:t>
            </a:r>
            <a:endParaRPr sz="28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1245209" y="52448"/>
            <a:ext cx="2115508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/>
              <a:t>伪代</a:t>
            </a:r>
            <a:r>
              <a:rPr spc="-50" dirty="0" err="1"/>
              <a:t>码</a:t>
            </a:r>
            <a:endParaRPr spc="-50" dirty="0"/>
          </a:p>
        </p:txBody>
      </p:sp>
      <p:sp>
        <p:nvSpPr>
          <p:cNvPr id="7" name="object 7"/>
          <p:cNvSpPr txBox="1"/>
          <p:nvPr/>
        </p:nvSpPr>
        <p:spPr>
          <a:xfrm>
            <a:off x="7336155" y="2137029"/>
            <a:ext cx="1866264" cy="599440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vert="horz" wrap="square" lIns="0" tIns="96520" rIns="0" bIns="0" rtlCol="0">
            <a:spAutoFit/>
          </a:bodyPr>
          <a:lstStyle/>
          <a:p>
            <a:pPr marL="373380">
              <a:lnSpc>
                <a:spcPct val="100000"/>
              </a:lnSpc>
              <a:spcBef>
                <a:spcPts val="760"/>
              </a:spcBef>
            </a:pPr>
            <a:r>
              <a:rPr sz="2200" spc="-20">
                <a:latin typeface="PMingLiU"/>
                <a:cs typeface="PMingLiU"/>
              </a:rPr>
              <a:t>序列长度</a:t>
            </a:r>
            <a:endParaRPr sz="2200">
              <a:latin typeface="PMingLiU"/>
              <a:cs typeface="PMingLiU"/>
            </a:endParaRPr>
          </a:p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11610" y="1383599"/>
            <a:ext cx="9418320" cy="4057015"/>
            <a:chOff x="711610" y="1383599"/>
            <a:chExt cx="9418320" cy="4057015"/>
          </a:xfrm>
        </p:grpSpPr>
        <p:pic>
          <p:nvPicPr>
            <p:cNvPr id="3" name="object 3"/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711610" y="1383599"/>
              <a:ext cx="9417864" cy="4056993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912875" y="2727959"/>
              <a:ext cx="6097905" cy="2594610"/>
            </a:xfrm>
            <a:custGeom>
              <a:avLst/>
              <a:gdLst/>
              <a:ahLst/>
              <a:cxnLst/>
              <a:rect l="l" t="t" r="r" b="b"/>
              <a:pathLst>
                <a:path w="6097905" h="2594610">
                  <a:moveTo>
                    <a:pt x="0" y="302767"/>
                  </a:moveTo>
                  <a:lnTo>
                    <a:pt x="3962" y="253646"/>
                  </a:lnTo>
                  <a:lnTo>
                    <a:pt x="15433" y="207052"/>
                  </a:lnTo>
                  <a:lnTo>
                    <a:pt x="33789" y="163608"/>
                  </a:lnTo>
                  <a:lnTo>
                    <a:pt x="58408" y="123937"/>
                  </a:lnTo>
                  <a:lnTo>
                    <a:pt x="88666" y="88661"/>
                  </a:lnTo>
                  <a:lnTo>
                    <a:pt x="123940" y="58403"/>
                  </a:lnTo>
                  <a:lnTo>
                    <a:pt x="163607" y="33785"/>
                  </a:lnTo>
                  <a:lnTo>
                    <a:pt x="207042" y="15431"/>
                  </a:lnTo>
                  <a:lnTo>
                    <a:pt x="253624" y="3961"/>
                  </a:lnTo>
                  <a:lnTo>
                    <a:pt x="302729" y="0"/>
                  </a:lnTo>
                  <a:lnTo>
                    <a:pt x="5794756" y="0"/>
                  </a:lnTo>
                  <a:lnTo>
                    <a:pt x="5843877" y="3961"/>
                  </a:lnTo>
                  <a:lnTo>
                    <a:pt x="5890471" y="15431"/>
                  </a:lnTo>
                  <a:lnTo>
                    <a:pt x="5933915" y="33785"/>
                  </a:lnTo>
                  <a:lnTo>
                    <a:pt x="5973586" y="58403"/>
                  </a:lnTo>
                  <a:lnTo>
                    <a:pt x="6008862" y="88661"/>
                  </a:lnTo>
                  <a:lnTo>
                    <a:pt x="6039120" y="123937"/>
                  </a:lnTo>
                  <a:lnTo>
                    <a:pt x="6063738" y="163608"/>
                  </a:lnTo>
                  <a:lnTo>
                    <a:pt x="6082092" y="207052"/>
                  </a:lnTo>
                  <a:lnTo>
                    <a:pt x="6093562" y="253646"/>
                  </a:lnTo>
                  <a:lnTo>
                    <a:pt x="6097524" y="302767"/>
                  </a:lnTo>
                  <a:lnTo>
                    <a:pt x="6097524" y="2291841"/>
                  </a:lnTo>
                  <a:lnTo>
                    <a:pt x="6093562" y="2340963"/>
                  </a:lnTo>
                  <a:lnTo>
                    <a:pt x="6082092" y="2387557"/>
                  </a:lnTo>
                  <a:lnTo>
                    <a:pt x="6063738" y="2431001"/>
                  </a:lnTo>
                  <a:lnTo>
                    <a:pt x="6039120" y="2470672"/>
                  </a:lnTo>
                  <a:lnTo>
                    <a:pt x="6008862" y="2505948"/>
                  </a:lnTo>
                  <a:lnTo>
                    <a:pt x="5973586" y="2536206"/>
                  </a:lnTo>
                  <a:lnTo>
                    <a:pt x="5933915" y="2560824"/>
                  </a:lnTo>
                  <a:lnTo>
                    <a:pt x="5890471" y="2579178"/>
                  </a:lnTo>
                  <a:lnTo>
                    <a:pt x="5843877" y="2590648"/>
                  </a:lnTo>
                  <a:lnTo>
                    <a:pt x="5794756" y="2594610"/>
                  </a:lnTo>
                  <a:lnTo>
                    <a:pt x="302729" y="2594610"/>
                  </a:lnTo>
                  <a:lnTo>
                    <a:pt x="253624" y="2590648"/>
                  </a:lnTo>
                  <a:lnTo>
                    <a:pt x="207042" y="2579178"/>
                  </a:lnTo>
                  <a:lnTo>
                    <a:pt x="163607" y="2560824"/>
                  </a:lnTo>
                  <a:lnTo>
                    <a:pt x="123940" y="2536206"/>
                  </a:lnTo>
                  <a:lnTo>
                    <a:pt x="88666" y="2505948"/>
                  </a:lnTo>
                  <a:lnTo>
                    <a:pt x="58408" y="2470672"/>
                  </a:lnTo>
                  <a:lnTo>
                    <a:pt x="33789" y="2431001"/>
                  </a:lnTo>
                  <a:lnTo>
                    <a:pt x="15433" y="2387557"/>
                  </a:lnTo>
                  <a:lnTo>
                    <a:pt x="3962" y="2340963"/>
                  </a:lnTo>
                  <a:lnTo>
                    <a:pt x="0" y="2291841"/>
                  </a:lnTo>
                  <a:lnTo>
                    <a:pt x="0" y="302767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88340" y="927993"/>
            <a:ext cx="6017260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b="1">
                <a:latin typeface="Times New Roman"/>
                <a:cs typeface="Times New Roman"/>
              </a:rPr>
              <a:t>Longest-Common-Subsequence(</a:t>
            </a:r>
            <a:r>
              <a:rPr sz="2800">
                <a:latin typeface="Cambria Math"/>
                <a:cs typeface="Cambria Math"/>
              </a:rPr>
              <a:t>𝑿,</a:t>
            </a:r>
            <a:r>
              <a:rPr sz="2800" spc="-150">
                <a:latin typeface="Cambria Math"/>
                <a:cs typeface="Cambria Math"/>
              </a:rPr>
              <a:t> </a:t>
            </a:r>
            <a:r>
              <a:rPr sz="2800" spc="-25">
                <a:latin typeface="Cambria Math"/>
                <a:cs typeface="Cambria Math"/>
              </a:rPr>
              <a:t>𝒀</a:t>
            </a:r>
            <a:r>
              <a:rPr sz="2800" b="1" spc="-25">
                <a:latin typeface="Times New Roman"/>
                <a:cs typeface="Times New Roman"/>
              </a:rPr>
              <a:t>)</a:t>
            </a:r>
            <a:endParaRPr sz="28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1237078" y="59151"/>
            <a:ext cx="2459892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/>
              <a:t>伪代</a:t>
            </a:r>
            <a:r>
              <a:rPr spc="-50" dirty="0" err="1"/>
              <a:t>码</a:t>
            </a:r>
            <a:endParaRPr spc="-50" dirty="0"/>
          </a:p>
        </p:txBody>
      </p:sp>
      <p:sp>
        <p:nvSpPr>
          <p:cNvPr id="7" name="object 7"/>
          <p:cNvSpPr txBox="1"/>
          <p:nvPr/>
        </p:nvSpPr>
        <p:spPr>
          <a:xfrm>
            <a:off x="7327772" y="3565778"/>
            <a:ext cx="1866900" cy="600075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vert="horz" wrap="square" lIns="0" tIns="97790" rIns="0" bIns="0" rtlCol="0">
            <a:spAutoFit/>
          </a:bodyPr>
          <a:lstStyle/>
          <a:p>
            <a:pPr marL="513080">
              <a:lnSpc>
                <a:spcPct val="100000"/>
              </a:lnSpc>
              <a:spcBef>
                <a:spcPts val="770"/>
              </a:spcBef>
            </a:pPr>
            <a:r>
              <a:rPr sz="2200" spc="-20">
                <a:latin typeface="PMingLiU"/>
                <a:cs typeface="PMingLiU"/>
              </a:rPr>
              <a:t>初始化</a:t>
            </a:r>
            <a:endParaRPr sz="2200">
              <a:latin typeface="PMingLiU"/>
              <a:cs typeface="PMingLiU"/>
            </a:endParaRPr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38586" y="1331793"/>
            <a:ext cx="8589010" cy="5477510"/>
            <a:chOff x="738586" y="1331793"/>
            <a:chExt cx="8589010" cy="5477510"/>
          </a:xfrm>
        </p:grpSpPr>
        <p:pic>
          <p:nvPicPr>
            <p:cNvPr id="3" name="object 3"/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738586" y="1331793"/>
              <a:ext cx="8588431" cy="5477271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912876" y="1680210"/>
              <a:ext cx="5183505" cy="622935"/>
            </a:xfrm>
            <a:custGeom>
              <a:avLst/>
              <a:gdLst/>
              <a:ahLst/>
              <a:cxnLst/>
              <a:rect l="l" t="t" r="r" b="b"/>
              <a:pathLst>
                <a:path w="5183505" h="622935">
                  <a:moveTo>
                    <a:pt x="0" y="72643"/>
                  </a:moveTo>
                  <a:lnTo>
                    <a:pt x="5708" y="44362"/>
                  </a:lnTo>
                  <a:lnTo>
                    <a:pt x="21277" y="21272"/>
                  </a:lnTo>
                  <a:lnTo>
                    <a:pt x="44368" y="5707"/>
                  </a:lnTo>
                  <a:lnTo>
                    <a:pt x="72643" y="0"/>
                  </a:lnTo>
                  <a:lnTo>
                    <a:pt x="5110480" y="0"/>
                  </a:lnTo>
                  <a:lnTo>
                    <a:pt x="5138761" y="5707"/>
                  </a:lnTo>
                  <a:lnTo>
                    <a:pt x="5161851" y="21272"/>
                  </a:lnTo>
                  <a:lnTo>
                    <a:pt x="5177416" y="44362"/>
                  </a:lnTo>
                  <a:lnTo>
                    <a:pt x="5183124" y="72643"/>
                  </a:lnTo>
                  <a:lnTo>
                    <a:pt x="5183124" y="549910"/>
                  </a:lnTo>
                  <a:lnTo>
                    <a:pt x="5177416" y="578191"/>
                  </a:lnTo>
                  <a:lnTo>
                    <a:pt x="5161851" y="601281"/>
                  </a:lnTo>
                  <a:lnTo>
                    <a:pt x="5138761" y="616846"/>
                  </a:lnTo>
                  <a:lnTo>
                    <a:pt x="5110480" y="622553"/>
                  </a:lnTo>
                  <a:lnTo>
                    <a:pt x="72643" y="622553"/>
                  </a:lnTo>
                  <a:lnTo>
                    <a:pt x="44368" y="616846"/>
                  </a:lnTo>
                  <a:lnTo>
                    <a:pt x="21277" y="601281"/>
                  </a:lnTo>
                  <a:lnTo>
                    <a:pt x="5708" y="578191"/>
                  </a:lnTo>
                  <a:lnTo>
                    <a:pt x="0" y="549910"/>
                  </a:lnTo>
                  <a:lnTo>
                    <a:pt x="0" y="72643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88340" y="880493"/>
            <a:ext cx="6017260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b="1" dirty="0">
                <a:latin typeface="Times New Roman"/>
                <a:cs typeface="Times New Roman"/>
              </a:rPr>
              <a:t>Longest-Common-Subsequence(</a:t>
            </a:r>
            <a:r>
              <a:rPr sz="2800" dirty="0">
                <a:latin typeface="Cambria Math"/>
                <a:cs typeface="Cambria Math"/>
              </a:rPr>
              <a:t>𝑿,</a:t>
            </a:r>
            <a:r>
              <a:rPr sz="2800" spc="-150" dirty="0">
                <a:latin typeface="Cambria Math"/>
                <a:cs typeface="Cambria Math"/>
              </a:rPr>
              <a:t> </a:t>
            </a:r>
            <a:r>
              <a:rPr sz="2800" spc="-25" dirty="0">
                <a:latin typeface="Cambria Math"/>
                <a:cs typeface="Cambria Math"/>
              </a:rPr>
              <a:t>𝒀</a:t>
            </a:r>
            <a:r>
              <a:rPr sz="2800" b="1" spc="-25" dirty="0">
                <a:latin typeface="Times New Roman"/>
                <a:cs typeface="Times New Roman"/>
              </a:rPr>
              <a:t>)</a:t>
            </a:r>
            <a:endParaRPr sz="28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1189575" y="48936"/>
            <a:ext cx="2578645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/>
              <a:t>伪代</a:t>
            </a:r>
            <a:r>
              <a:rPr spc="-50" dirty="0" err="1"/>
              <a:t>码</a:t>
            </a:r>
            <a:endParaRPr spc="-50" dirty="0"/>
          </a:p>
        </p:txBody>
      </p:sp>
      <p:sp>
        <p:nvSpPr>
          <p:cNvPr id="7" name="object 7"/>
          <p:cNvSpPr txBox="1"/>
          <p:nvPr/>
        </p:nvSpPr>
        <p:spPr>
          <a:xfrm>
            <a:off x="6315836" y="1680591"/>
            <a:ext cx="1976120" cy="392430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vert="horz" wrap="square" lIns="0" tIns="12065" rIns="0" bIns="0" rtlCol="0">
            <a:spAutoFit/>
          </a:bodyPr>
          <a:lstStyle/>
          <a:p>
            <a:pPr marL="99060">
              <a:lnSpc>
                <a:spcPct val="100000"/>
              </a:lnSpc>
              <a:spcBef>
                <a:spcPts val="95"/>
              </a:spcBef>
            </a:pPr>
            <a:r>
              <a:rPr sz="2000" spc="-20">
                <a:latin typeface="PMingLiU"/>
                <a:cs typeface="PMingLiU"/>
              </a:rPr>
              <a:t>依次计算子问</a:t>
            </a:r>
            <a:r>
              <a:rPr sz="2000" spc="-50">
                <a:latin typeface="PMingLiU"/>
                <a:cs typeface="PMingLiU"/>
              </a:rPr>
              <a:t>题</a:t>
            </a:r>
            <a:endParaRPr sz="2000">
              <a:latin typeface="PMingLiU"/>
              <a:cs typeface="PMingLiU"/>
            </a:endParaRPr>
          </a:p>
        </p:txBody>
      </p:sp>
    </p:spTree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38586" y="1331793"/>
            <a:ext cx="8589010" cy="5477510"/>
            <a:chOff x="738586" y="1331793"/>
            <a:chExt cx="8589010" cy="5477510"/>
          </a:xfrm>
        </p:grpSpPr>
        <p:pic>
          <p:nvPicPr>
            <p:cNvPr id="3" name="object 3"/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738586" y="1331793"/>
              <a:ext cx="8588431" cy="5477271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912876" y="2240280"/>
              <a:ext cx="5183505" cy="391795"/>
            </a:xfrm>
            <a:custGeom>
              <a:avLst/>
              <a:gdLst/>
              <a:ahLst/>
              <a:cxnLst/>
              <a:rect l="l" t="t" r="r" b="b"/>
              <a:pathLst>
                <a:path w="5183505" h="391794">
                  <a:moveTo>
                    <a:pt x="0" y="45720"/>
                  </a:moveTo>
                  <a:lnTo>
                    <a:pt x="3591" y="27914"/>
                  </a:lnTo>
                  <a:lnTo>
                    <a:pt x="13384" y="13382"/>
                  </a:lnTo>
                  <a:lnTo>
                    <a:pt x="27908" y="3589"/>
                  </a:lnTo>
                  <a:lnTo>
                    <a:pt x="45694" y="0"/>
                  </a:lnTo>
                  <a:lnTo>
                    <a:pt x="5137404" y="0"/>
                  </a:lnTo>
                  <a:lnTo>
                    <a:pt x="5155209" y="3589"/>
                  </a:lnTo>
                  <a:lnTo>
                    <a:pt x="5169741" y="13382"/>
                  </a:lnTo>
                  <a:lnTo>
                    <a:pt x="5179534" y="27914"/>
                  </a:lnTo>
                  <a:lnTo>
                    <a:pt x="5183124" y="45720"/>
                  </a:lnTo>
                  <a:lnTo>
                    <a:pt x="5183124" y="345948"/>
                  </a:lnTo>
                  <a:lnTo>
                    <a:pt x="5179534" y="363753"/>
                  </a:lnTo>
                  <a:lnTo>
                    <a:pt x="5169741" y="378285"/>
                  </a:lnTo>
                  <a:lnTo>
                    <a:pt x="5155209" y="388078"/>
                  </a:lnTo>
                  <a:lnTo>
                    <a:pt x="5137404" y="391668"/>
                  </a:lnTo>
                  <a:lnTo>
                    <a:pt x="45694" y="391668"/>
                  </a:lnTo>
                  <a:lnTo>
                    <a:pt x="27908" y="388078"/>
                  </a:lnTo>
                  <a:lnTo>
                    <a:pt x="13384" y="378285"/>
                  </a:lnTo>
                  <a:lnTo>
                    <a:pt x="3591" y="363753"/>
                  </a:lnTo>
                  <a:lnTo>
                    <a:pt x="0" y="345948"/>
                  </a:lnTo>
                  <a:lnTo>
                    <a:pt x="0" y="45720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88340" y="880493"/>
            <a:ext cx="6017260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b="1" dirty="0">
                <a:latin typeface="Times New Roman"/>
                <a:cs typeface="Times New Roman"/>
              </a:rPr>
              <a:t>Longest-Common-Subsequence(</a:t>
            </a:r>
            <a:r>
              <a:rPr sz="2800" dirty="0">
                <a:latin typeface="Cambria Math"/>
                <a:cs typeface="Cambria Math"/>
              </a:rPr>
              <a:t>𝑿,</a:t>
            </a:r>
            <a:r>
              <a:rPr sz="2800" spc="-150" dirty="0">
                <a:latin typeface="Cambria Math"/>
                <a:cs typeface="Cambria Math"/>
              </a:rPr>
              <a:t> </a:t>
            </a:r>
            <a:r>
              <a:rPr sz="2800" spc="-25" dirty="0">
                <a:latin typeface="Cambria Math"/>
                <a:cs typeface="Cambria Math"/>
              </a:rPr>
              <a:t>𝒀</a:t>
            </a:r>
            <a:r>
              <a:rPr sz="2800" b="1" spc="-25" dirty="0">
                <a:latin typeface="Times New Roman"/>
                <a:cs typeface="Times New Roman"/>
              </a:rPr>
              <a:t>)</a:t>
            </a:r>
            <a:endParaRPr sz="28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1185832" y="62032"/>
            <a:ext cx="199675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/>
              <a:t>伪代</a:t>
            </a:r>
            <a:r>
              <a:rPr spc="-50" dirty="0" err="1"/>
              <a:t>码</a:t>
            </a:r>
            <a:endParaRPr spc="-50" dirty="0"/>
          </a:p>
        </p:txBody>
      </p:sp>
      <p:sp>
        <p:nvSpPr>
          <p:cNvPr id="7" name="object 7"/>
          <p:cNvSpPr txBox="1"/>
          <p:nvPr/>
        </p:nvSpPr>
        <p:spPr>
          <a:xfrm>
            <a:off x="6315836" y="2240660"/>
            <a:ext cx="1976120" cy="391795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vert="horz" wrap="square" lIns="0" tIns="11430" rIns="0" bIns="0" rtlCol="0">
            <a:spAutoFit/>
          </a:bodyPr>
          <a:lstStyle/>
          <a:p>
            <a:pPr marL="480059">
              <a:lnSpc>
                <a:spcPct val="100000"/>
              </a:lnSpc>
              <a:spcBef>
                <a:spcPts val="90"/>
              </a:spcBef>
            </a:pPr>
            <a:r>
              <a:rPr sz="2000" spc="-20">
                <a:latin typeface="PMingLiU"/>
                <a:cs typeface="PMingLiU"/>
              </a:rPr>
              <a:t>末尾相</a:t>
            </a:r>
            <a:r>
              <a:rPr sz="2000" spc="-50">
                <a:latin typeface="PMingLiU"/>
                <a:cs typeface="PMingLiU"/>
              </a:rPr>
              <a:t>等</a:t>
            </a:r>
            <a:endParaRPr sz="2000">
              <a:latin typeface="PMingLiU"/>
              <a:cs typeface="PMingLiU"/>
            </a:endParaRPr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38586" y="1331793"/>
            <a:ext cx="8589010" cy="5477510"/>
            <a:chOff x="738586" y="1331793"/>
            <a:chExt cx="8589010" cy="5477510"/>
          </a:xfrm>
        </p:grpSpPr>
        <p:pic>
          <p:nvPicPr>
            <p:cNvPr id="3" name="object 3"/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738586" y="1331793"/>
              <a:ext cx="8588431" cy="5477271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1997963" y="2504694"/>
              <a:ext cx="3596004" cy="680720"/>
            </a:xfrm>
            <a:custGeom>
              <a:avLst/>
              <a:gdLst/>
              <a:ahLst/>
              <a:cxnLst/>
              <a:rect l="l" t="t" r="r" b="b"/>
              <a:pathLst>
                <a:path w="3596004" h="680719">
                  <a:moveTo>
                    <a:pt x="0" y="79375"/>
                  </a:moveTo>
                  <a:lnTo>
                    <a:pt x="6240" y="48488"/>
                  </a:lnTo>
                  <a:lnTo>
                    <a:pt x="23256" y="23256"/>
                  </a:lnTo>
                  <a:lnTo>
                    <a:pt x="48488" y="6240"/>
                  </a:lnTo>
                  <a:lnTo>
                    <a:pt x="79375" y="0"/>
                  </a:lnTo>
                  <a:lnTo>
                    <a:pt x="3516503" y="0"/>
                  </a:lnTo>
                  <a:lnTo>
                    <a:pt x="3547389" y="6240"/>
                  </a:lnTo>
                  <a:lnTo>
                    <a:pt x="3572621" y="23256"/>
                  </a:lnTo>
                  <a:lnTo>
                    <a:pt x="3589637" y="48488"/>
                  </a:lnTo>
                  <a:lnTo>
                    <a:pt x="3595878" y="79375"/>
                  </a:lnTo>
                  <a:lnTo>
                    <a:pt x="3595878" y="601090"/>
                  </a:lnTo>
                  <a:lnTo>
                    <a:pt x="3589637" y="631977"/>
                  </a:lnTo>
                  <a:lnTo>
                    <a:pt x="3572621" y="657209"/>
                  </a:lnTo>
                  <a:lnTo>
                    <a:pt x="3547389" y="674225"/>
                  </a:lnTo>
                  <a:lnTo>
                    <a:pt x="3516503" y="680465"/>
                  </a:lnTo>
                  <a:lnTo>
                    <a:pt x="79375" y="680465"/>
                  </a:lnTo>
                  <a:lnTo>
                    <a:pt x="48488" y="674225"/>
                  </a:lnTo>
                  <a:lnTo>
                    <a:pt x="23256" y="657209"/>
                  </a:lnTo>
                  <a:lnTo>
                    <a:pt x="6240" y="631977"/>
                  </a:lnTo>
                  <a:lnTo>
                    <a:pt x="0" y="601090"/>
                  </a:lnTo>
                  <a:lnTo>
                    <a:pt x="0" y="79375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88340" y="904243"/>
            <a:ext cx="6017260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b="1">
                <a:latin typeface="Times New Roman"/>
                <a:cs typeface="Times New Roman"/>
              </a:rPr>
              <a:t>Longest-Common-Subsequence(</a:t>
            </a:r>
            <a:r>
              <a:rPr sz="2800">
                <a:latin typeface="Cambria Math"/>
                <a:cs typeface="Cambria Math"/>
              </a:rPr>
              <a:t>𝑿,</a:t>
            </a:r>
            <a:r>
              <a:rPr sz="2800" spc="-150">
                <a:latin typeface="Cambria Math"/>
                <a:cs typeface="Cambria Math"/>
              </a:rPr>
              <a:t> </a:t>
            </a:r>
            <a:r>
              <a:rPr sz="2800" spc="-25">
                <a:latin typeface="Cambria Math"/>
                <a:cs typeface="Cambria Math"/>
              </a:rPr>
              <a:t>𝒀</a:t>
            </a:r>
            <a:r>
              <a:rPr sz="2800" b="1" spc="-25">
                <a:latin typeface="Times New Roman"/>
                <a:cs typeface="Times New Roman"/>
              </a:rPr>
              <a:t>)</a:t>
            </a:r>
            <a:endParaRPr sz="28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1185832" y="85054"/>
            <a:ext cx="2329263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/>
              <a:t>伪代</a:t>
            </a:r>
            <a:r>
              <a:rPr spc="-50" dirty="0" err="1"/>
              <a:t>码</a:t>
            </a:r>
            <a:endParaRPr spc="-50" dirty="0"/>
          </a:p>
        </p:txBody>
      </p:sp>
      <p:sp>
        <p:nvSpPr>
          <p:cNvPr id="7" name="object 7"/>
          <p:cNvSpPr txBox="1"/>
          <p:nvPr/>
        </p:nvSpPr>
        <p:spPr>
          <a:xfrm>
            <a:off x="6028563" y="2487548"/>
            <a:ext cx="2216785" cy="392430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vert="horz" wrap="square" lIns="0" tIns="12065" rIns="0" bIns="0" rtlCol="0">
            <a:spAutoFit/>
          </a:bodyPr>
          <a:lstStyle/>
          <a:p>
            <a:pPr marL="220345">
              <a:lnSpc>
                <a:spcPct val="100000"/>
              </a:lnSpc>
              <a:spcBef>
                <a:spcPts val="95"/>
              </a:spcBef>
            </a:pPr>
            <a:r>
              <a:rPr sz="2000" spc="-20">
                <a:latin typeface="PMingLiU"/>
                <a:cs typeface="PMingLiU"/>
              </a:rPr>
              <a:t>记录长度和决</a:t>
            </a:r>
            <a:r>
              <a:rPr sz="2000" spc="-50">
                <a:latin typeface="PMingLiU"/>
                <a:cs typeface="PMingLiU"/>
              </a:rPr>
              <a:t>策</a:t>
            </a:r>
            <a:endParaRPr sz="2000">
              <a:latin typeface="PMingLiU"/>
              <a:cs typeface="PMingLiU"/>
            </a:endParaRPr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38586" y="1331793"/>
            <a:ext cx="8589010" cy="5477510"/>
            <a:chOff x="738586" y="1331793"/>
            <a:chExt cx="8589010" cy="5477510"/>
          </a:xfrm>
        </p:grpSpPr>
        <p:pic>
          <p:nvPicPr>
            <p:cNvPr id="3" name="object 3"/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738586" y="1331793"/>
              <a:ext cx="8588431" cy="5477271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1813560" y="3429000"/>
              <a:ext cx="4918075" cy="2411730"/>
            </a:xfrm>
            <a:custGeom>
              <a:avLst/>
              <a:gdLst/>
              <a:ahLst/>
              <a:cxnLst/>
              <a:rect l="l" t="t" r="r" b="b"/>
              <a:pathLst>
                <a:path w="4918075" h="2411729">
                  <a:moveTo>
                    <a:pt x="0" y="281431"/>
                  </a:moveTo>
                  <a:lnTo>
                    <a:pt x="3682" y="235778"/>
                  </a:lnTo>
                  <a:lnTo>
                    <a:pt x="14345" y="192471"/>
                  </a:lnTo>
                  <a:lnTo>
                    <a:pt x="31409" y="152090"/>
                  </a:lnTo>
                  <a:lnTo>
                    <a:pt x="54295" y="115214"/>
                  </a:lnTo>
                  <a:lnTo>
                    <a:pt x="82422" y="82423"/>
                  </a:lnTo>
                  <a:lnTo>
                    <a:pt x="115214" y="54295"/>
                  </a:lnTo>
                  <a:lnTo>
                    <a:pt x="152090" y="31409"/>
                  </a:lnTo>
                  <a:lnTo>
                    <a:pt x="192471" y="14345"/>
                  </a:lnTo>
                  <a:lnTo>
                    <a:pt x="235778" y="3682"/>
                  </a:lnTo>
                  <a:lnTo>
                    <a:pt x="281431" y="0"/>
                  </a:lnTo>
                  <a:lnTo>
                    <a:pt x="4636516" y="0"/>
                  </a:lnTo>
                  <a:lnTo>
                    <a:pt x="4682169" y="3683"/>
                  </a:lnTo>
                  <a:lnTo>
                    <a:pt x="4725476" y="14345"/>
                  </a:lnTo>
                  <a:lnTo>
                    <a:pt x="4765857" y="31409"/>
                  </a:lnTo>
                  <a:lnTo>
                    <a:pt x="4802733" y="54295"/>
                  </a:lnTo>
                  <a:lnTo>
                    <a:pt x="4835525" y="82423"/>
                  </a:lnTo>
                  <a:lnTo>
                    <a:pt x="4863652" y="115214"/>
                  </a:lnTo>
                  <a:lnTo>
                    <a:pt x="4886538" y="152090"/>
                  </a:lnTo>
                  <a:lnTo>
                    <a:pt x="4903602" y="192471"/>
                  </a:lnTo>
                  <a:lnTo>
                    <a:pt x="4914265" y="235778"/>
                  </a:lnTo>
                  <a:lnTo>
                    <a:pt x="4917947" y="281431"/>
                  </a:lnTo>
                  <a:lnTo>
                    <a:pt x="4917947" y="2130298"/>
                  </a:lnTo>
                  <a:lnTo>
                    <a:pt x="4914265" y="2175951"/>
                  </a:lnTo>
                  <a:lnTo>
                    <a:pt x="4903602" y="2219258"/>
                  </a:lnTo>
                  <a:lnTo>
                    <a:pt x="4886538" y="2259639"/>
                  </a:lnTo>
                  <a:lnTo>
                    <a:pt x="4863652" y="2296515"/>
                  </a:lnTo>
                  <a:lnTo>
                    <a:pt x="4835524" y="2329307"/>
                  </a:lnTo>
                  <a:lnTo>
                    <a:pt x="4802733" y="2357434"/>
                  </a:lnTo>
                  <a:lnTo>
                    <a:pt x="4765857" y="2380320"/>
                  </a:lnTo>
                  <a:lnTo>
                    <a:pt x="4725476" y="2397384"/>
                  </a:lnTo>
                  <a:lnTo>
                    <a:pt x="4682169" y="2408047"/>
                  </a:lnTo>
                  <a:lnTo>
                    <a:pt x="4636516" y="2411730"/>
                  </a:lnTo>
                  <a:lnTo>
                    <a:pt x="281431" y="2411730"/>
                  </a:lnTo>
                  <a:lnTo>
                    <a:pt x="235778" y="2408047"/>
                  </a:lnTo>
                  <a:lnTo>
                    <a:pt x="192471" y="2397384"/>
                  </a:lnTo>
                  <a:lnTo>
                    <a:pt x="152090" y="2380320"/>
                  </a:lnTo>
                  <a:lnTo>
                    <a:pt x="115214" y="2357434"/>
                  </a:lnTo>
                  <a:lnTo>
                    <a:pt x="82423" y="2329307"/>
                  </a:lnTo>
                  <a:lnTo>
                    <a:pt x="54295" y="2296515"/>
                  </a:lnTo>
                  <a:lnTo>
                    <a:pt x="31409" y="2259639"/>
                  </a:lnTo>
                  <a:lnTo>
                    <a:pt x="14345" y="2219258"/>
                  </a:lnTo>
                  <a:lnTo>
                    <a:pt x="3683" y="2175951"/>
                  </a:lnTo>
                  <a:lnTo>
                    <a:pt x="0" y="2130298"/>
                  </a:lnTo>
                  <a:lnTo>
                    <a:pt x="0" y="281431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88340" y="892368"/>
            <a:ext cx="6017260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b="1" dirty="0">
                <a:latin typeface="Times New Roman"/>
                <a:cs typeface="Times New Roman"/>
              </a:rPr>
              <a:t>Longest-Common-Subsequence(</a:t>
            </a:r>
            <a:r>
              <a:rPr sz="2800" dirty="0">
                <a:latin typeface="Cambria Math"/>
                <a:cs typeface="Cambria Math"/>
              </a:rPr>
              <a:t>𝑿,</a:t>
            </a:r>
            <a:r>
              <a:rPr sz="2800" spc="-150" dirty="0">
                <a:latin typeface="Cambria Math"/>
                <a:cs typeface="Cambria Math"/>
              </a:rPr>
              <a:t> </a:t>
            </a:r>
            <a:r>
              <a:rPr sz="2800" spc="-25" dirty="0">
                <a:latin typeface="Cambria Math"/>
                <a:cs typeface="Cambria Math"/>
              </a:rPr>
              <a:t>𝒀</a:t>
            </a:r>
            <a:r>
              <a:rPr sz="2800" b="1" spc="-25" dirty="0">
                <a:latin typeface="Times New Roman"/>
                <a:cs typeface="Times New Roman"/>
              </a:rPr>
              <a:t>)</a:t>
            </a:r>
            <a:endParaRPr sz="28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1245209" y="85054"/>
            <a:ext cx="2281762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/>
              <a:t>伪代</a:t>
            </a:r>
            <a:r>
              <a:rPr spc="-50" dirty="0" err="1"/>
              <a:t>码</a:t>
            </a:r>
            <a:endParaRPr spc="-50" dirty="0"/>
          </a:p>
        </p:txBody>
      </p:sp>
      <p:sp>
        <p:nvSpPr>
          <p:cNvPr id="7" name="object 7"/>
          <p:cNvSpPr txBox="1"/>
          <p:nvPr/>
        </p:nvSpPr>
        <p:spPr>
          <a:xfrm>
            <a:off x="7092315" y="3429380"/>
            <a:ext cx="1305560" cy="391795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vert="horz" wrap="square" lIns="0" tIns="12065" rIns="0" bIns="0" rtlCol="0">
            <a:spAutoFit/>
          </a:bodyPr>
          <a:lstStyle/>
          <a:p>
            <a:pPr marL="144780">
              <a:lnSpc>
                <a:spcPct val="100000"/>
              </a:lnSpc>
              <a:spcBef>
                <a:spcPts val="95"/>
              </a:spcBef>
            </a:pPr>
            <a:r>
              <a:rPr sz="2000" spc="-20">
                <a:latin typeface="PMingLiU"/>
                <a:cs typeface="PMingLiU"/>
              </a:rPr>
              <a:t>末尾不</a:t>
            </a:r>
            <a:r>
              <a:rPr sz="2000" spc="-50">
                <a:latin typeface="PMingLiU"/>
                <a:cs typeface="PMingLiU"/>
              </a:rPr>
              <a:t>等</a:t>
            </a:r>
            <a:endParaRPr sz="2000">
              <a:latin typeface="PMingLiU"/>
              <a:cs typeface="PMingLiU"/>
            </a:endParaRPr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/>
          <a:stretch>
            <a:fillRect/>
          </a:stretch>
        </p:blipFill>
        <p:spPr>
          <a:xfrm>
            <a:off x="649320" y="1454683"/>
            <a:ext cx="9362578" cy="4927041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688340" y="975493"/>
            <a:ext cx="368617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b="1" dirty="0">
                <a:latin typeface="Times New Roman"/>
                <a:cs typeface="Times New Roman"/>
              </a:rPr>
              <a:t>Print-</a:t>
            </a:r>
            <a:r>
              <a:rPr sz="2800" b="1" spc="-10" dirty="0">
                <a:latin typeface="Times New Roman"/>
                <a:cs typeface="Times New Roman"/>
              </a:rPr>
              <a:t>LCS</a:t>
            </a:r>
            <a:r>
              <a:rPr sz="2800" spc="-10" dirty="0">
                <a:latin typeface="Times New Roman"/>
                <a:cs typeface="Times New Roman"/>
              </a:rPr>
              <a:t>(</a:t>
            </a:r>
            <a:r>
              <a:rPr sz="2800" spc="-10" dirty="0">
                <a:latin typeface="Cambria Math"/>
                <a:cs typeface="Cambria Math"/>
              </a:rPr>
              <a:t>𝒓𝒆𝒄,</a:t>
            </a:r>
            <a:r>
              <a:rPr sz="2800" spc="-135" dirty="0">
                <a:latin typeface="Cambria Math"/>
                <a:cs typeface="Cambria Math"/>
              </a:rPr>
              <a:t> </a:t>
            </a:r>
            <a:r>
              <a:rPr sz="2800" spc="-10" dirty="0">
                <a:latin typeface="Cambria Math"/>
                <a:cs typeface="Cambria Math"/>
              </a:rPr>
              <a:t>𝑿,</a:t>
            </a:r>
            <a:r>
              <a:rPr sz="2800" spc="-120" dirty="0">
                <a:latin typeface="Cambria Math"/>
                <a:cs typeface="Cambria Math"/>
              </a:rPr>
              <a:t> </a:t>
            </a:r>
            <a:r>
              <a:rPr sz="2800" spc="-10" dirty="0">
                <a:latin typeface="Cambria Math"/>
                <a:cs typeface="Cambria Math"/>
              </a:rPr>
              <a:t>𝒊,</a:t>
            </a:r>
            <a:r>
              <a:rPr sz="2800" spc="-114" dirty="0">
                <a:latin typeface="Cambria Math"/>
                <a:cs typeface="Cambria Math"/>
              </a:rPr>
              <a:t> </a:t>
            </a:r>
            <a:r>
              <a:rPr sz="2800" spc="-25" dirty="0">
                <a:latin typeface="Cambria Math"/>
                <a:cs typeface="Cambria Math"/>
              </a:rPr>
              <a:t>𝒋</a:t>
            </a:r>
            <a:r>
              <a:rPr sz="2800" spc="-25" dirty="0">
                <a:latin typeface="Times New Roman"/>
                <a:cs typeface="Times New Roman"/>
              </a:rPr>
              <a:t>)</a:t>
            </a:r>
            <a:endParaRPr sz="2800" dirty="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1197708" y="96201"/>
            <a:ext cx="2483643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/>
              <a:t>伪代</a:t>
            </a:r>
            <a:r>
              <a:rPr spc="-50" dirty="0" err="1"/>
              <a:t>码</a:t>
            </a:r>
            <a:endParaRPr spc="-50" dirty="0"/>
          </a:p>
        </p:txBody>
      </p:sp>
      <p:sp>
        <p:nvSpPr>
          <p:cNvPr id="5" name="object 5"/>
          <p:cNvSpPr txBox="1"/>
          <p:nvPr/>
        </p:nvSpPr>
        <p:spPr>
          <a:xfrm>
            <a:off x="5789295" y="2269617"/>
            <a:ext cx="2773680" cy="519430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vert="horz" wrap="square" lIns="0" tIns="75565" rIns="0" bIns="0" rtlCol="0">
            <a:spAutoFit/>
          </a:bodyPr>
          <a:lstStyle/>
          <a:p>
            <a:pPr marL="625475">
              <a:lnSpc>
                <a:spcPct val="100000"/>
              </a:lnSpc>
              <a:spcBef>
                <a:spcPts val="595"/>
              </a:spcBef>
            </a:pPr>
            <a:r>
              <a:rPr sz="2000" spc="-20">
                <a:latin typeface="PMingLiU"/>
                <a:cs typeface="PMingLiU"/>
              </a:rPr>
              <a:t>倒序追踪方</a:t>
            </a:r>
            <a:r>
              <a:rPr sz="2000" spc="-50">
                <a:latin typeface="PMingLiU"/>
                <a:cs typeface="PMingLiU"/>
              </a:rPr>
              <a:t>案</a:t>
            </a:r>
            <a:endParaRPr sz="2000">
              <a:latin typeface="PMingLiU"/>
              <a:cs typeface="PMingLiU"/>
            </a:endParaRPr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9320" y="1454683"/>
            <a:ext cx="9363075" cy="4927600"/>
            <a:chOff x="649320" y="1454683"/>
            <a:chExt cx="9363075" cy="4927600"/>
          </a:xfrm>
        </p:grpSpPr>
        <p:pic>
          <p:nvPicPr>
            <p:cNvPr id="3" name="object 3"/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649320" y="1454683"/>
              <a:ext cx="9362578" cy="4927041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1027175" y="2171699"/>
              <a:ext cx="3078480" cy="934719"/>
            </a:xfrm>
            <a:custGeom>
              <a:avLst/>
              <a:gdLst/>
              <a:ahLst/>
              <a:cxnLst/>
              <a:rect l="l" t="t" r="r" b="b"/>
              <a:pathLst>
                <a:path w="3078479" h="934719">
                  <a:moveTo>
                    <a:pt x="0" y="108965"/>
                  </a:moveTo>
                  <a:lnTo>
                    <a:pt x="8566" y="66544"/>
                  </a:lnTo>
                  <a:lnTo>
                    <a:pt x="31927" y="31908"/>
                  </a:lnTo>
                  <a:lnTo>
                    <a:pt x="66576" y="8560"/>
                  </a:lnTo>
                  <a:lnTo>
                    <a:pt x="109004" y="0"/>
                  </a:lnTo>
                  <a:lnTo>
                    <a:pt x="2969514" y="0"/>
                  </a:lnTo>
                  <a:lnTo>
                    <a:pt x="3011935" y="8560"/>
                  </a:lnTo>
                  <a:lnTo>
                    <a:pt x="3046571" y="31908"/>
                  </a:lnTo>
                  <a:lnTo>
                    <a:pt x="3069919" y="66544"/>
                  </a:lnTo>
                  <a:lnTo>
                    <a:pt x="3078479" y="108965"/>
                  </a:lnTo>
                  <a:lnTo>
                    <a:pt x="3078479" y="825246"/>
                  </a:lnTo>
                  <a:lnTo>
                    <a:pt x="3069919" y="867667"/>
                  </a:lnTo>
                  <a:lnTo>
                    <a:pt x="3046571" y="902303"/>
                  </a:lnTo>
                  <a:lnTo>
                    <a:pt x="3011935" y="925651"/>
                  </a:lnTo>
                  <a:lnTo>
                    <a:pt x="2969514" y="934212"/>
                  </a:lnTo>
                  <a:lnTo>
                    <a:pt x="109004" y="934212"/>
                  </a:lnTo>
                  <a:lnTo>
                    <a:pt x="66576" y="925651"/>
                  </a:lnTo>
                  <a:lnTo>
                    <a:pt x="31927" y="902303"/>
                  </a:lnTo>
                  <a:lnTo>
                    <a:pt x="8566" y="867667"/>
                  </a:lnTo>
                  <a:lnTo>
                    <a:pt x="0" y="825246"/>
                  </a:lnTo>
                  <a:lnTo>
                    <a:pt x="0" y="108965"/>
                  </a:lnTo>
                  <a:close/>
                </a:path>
              </a:pathLst>
            </a:custGeom>
            <a:ln w="38099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88340" y="963618"/>
            <a:ext cx="368617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b="1" dirty="0">
                <a:latin typeface="Times New Roman"/>
                <a:cs typeface="Times New Roman"/>
              </a:rPr>
              <a:t>Print-</a:t>
            </a:r>
            <a:r>
              <a:rPr sz="2800" b="1" spc="-10" dirty="0">
                <a:latin typeface="Times New Roman"/>
                <a:cs typeface="Times New Roman"/>
              </a:rPr>
              <a:t>LCS</a:t>
            </a:r>
            <a:r>
              <a:rPr sz="2800" spc="-10" dirty="0">
                <a:latin typeface="Times New Roman"/>
                <a:cs typeface="Times New Roman"/>
              </a:rPr>
              <a:t>(</a:t>
            </a:r>
            <a:r>
              <a:rPr sz="2800" spc="-10" dirty="0">
                <a:latin typeface="Cambria Math"/>
                <a:cs typeface="Cambria Math"/>
              </a:rPr>
              <a:t>𝒓𝒆𝒄,</a:t>
            </a:r>
            <a:r>
              <a:rPr sz="2800" spc="-135" dirty="0">
                <a:latin typeface="Cambria Math"/>
                <a:cs typeface="Cambria Math"/>
              </a:rPr>
              <a:t> </a:t>
            </a:r>
            <a:r>
              <a:rPr sz="2800" spc="-10" dirty="0">
                <a:latin typeface="Cambria Math"/>
                <a:cs typeface="Cambria Math"/>
              </a:rPr>
              <a:t>𝑿,</a:t>
            </a:r>
            <a:r>
              <a:rPr sz="2800" spc="-120" dirty="0">
                <a:latin typeface="Cambria Math"/>
                <a:cs typeface="Cambria Math"/>
              </a:rPr>
              <a:t> </a:t>
            </a:r>
            <a:r>
              <a:rPr sz="2800" spc="-10" dirty="0">
                <a:latin typeface="Cambria Math"/>
                <a:cs typeface="Cambria Math"/>
              </a:rPr>
              <a:t>𝒊,</a:t>
            </a:r>
            <a:r>
              <a:rPr sz="2800" spc="-114" dirty="0">
                <a:latin typeface="Cambria Math"/>
                <a:cs typeface="Cambria Math"/>
              </a:rPr>
              <a:t> </a:t>
            </a:r>
            <a:r>
              <a:rPr sz="2800" spc="-25" dirty="0">
                <a:latin typeface="Cambria Math"/>
                <a:cs typeface="Cambria Math"/>
              </a:rPr>
              <a:t>𝒋</a:t>
            </a:r>
            <a:r>
              <a:rPr sz="2800" spc="-25" dirty="0">
                <a:latin typeface="Times New Roman"/>
                <a:cs typeface="Times New Roman"/>
              </a:rPr>
              <a:t>)</a:t>
            </a:r>
            <a:endParaRPr sz="28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1185832" y="74114"/>
            <a:ext cx="199675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/>
              <a:t>伪代</a:t>
            </a:r>
            <a:r>
              <a:rPr spc="-50" dirty="0" err="1"/>
              <a:t>码</a:t>
            </a:r>
            <a:endParaRPr spc="-50" dirty="0"/>
          </a:p>
        </p:txBody>
      </p:sp>
      <p:sp>
        <p:nvSpPr>
          <p:cNvPr id="7" name="object 7"/>
          <p:cNvSpPr txBox="1"/>
          <p:nvPr/>
        </p:nvSpPr>
        <p:spPr>
          <a:xfrm>
            <a:off x="4314063" y="2172080"/>
            <a:ext cx="4249420" cy="516890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vert="horz" wrap="square" lIns="0" tIns="7937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625"/>
              </a:spcBef>
            </a:pPr>
            <a:r>
              <a:rPr sz="2000" spc="-20">
                <a:latin typeface="PMingLiU"/>
                <a:cs typeface="PMingLiU"/>
              </a:rPr>
              <a:t>递归终止：序列长度为</a:t>
            </a:r>
            <a:r>
              <a:rPr sz="2000" b="1" spc="-50">
                <a:latin typeface="Times New Roman"/>
                <a:cs typeface="Times New Roman"/>
              </a:rPr>
              <a:t>0</a:t>
            </a:r>
            <a:endParaRPr sz="20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9320" y="1454683"/>
            <a:ext cx="9363075" cy="4927600"/>
            <a:chOff x="649320" y="1454683"/>
            <a:chExt cx="9363075" cy="4927600"/>
          </a:xfrm>
        </p:grpSpPr>
        <p:pic>
          <p:nvPicPr>
            <p:cNvPr id="3" name="object 3"/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649320" y="1454683"/>
              <a:ext cx="9362578" cy="4927041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1002791" y="3062477"/>
              <a:ext cx="4097654" cy="1291590"/>
            </a:xfrm>
            <a:custGeom>
              <a:avLst/>
              <a:gdLst/>
              <a:ahLst/>
              <a:cxnLst/>
              <a:rect l="l" t="t" r="r" b="b"/>
              <a:pathLst>
                <a:path w="4097654" h="1291589">
                  <a:moveTo>
                    <a:pt x="0" y="150749"/>
                  </a:moveTo>
                  <a:lnTo>
                    <a:pt x="7683" y="103079"/>
                  </a:lnTo>
                  <a:lnTo>
                    <a:pt x="29077" y="61694"/>
                  </a:lnTo>
                  <a:lnTo>
                    <a:pt x="61700" y="29069"/>
                  </a:lnTo>
                  <a:lnTo>
                    <a:pt x="103067" y="7679"/>
                  </a:lnTo>
                  <a:lnTo>
                    <a:pt x="150698" y="0"/>
                  </a:lnTo>
                  <a:lnTo>
                    <a:pt x="3946525" y="0"/>
                  </a:lnTo>
                  <a:lnTo>
                    <a:pt x="3994194" y="7679"/>
                  </a:lnTo>
                  <a:lnTo>
                    <a:pt x="4035579" y="29069"/>
                  </a:lnTo>
                  <a:lnTo>
                    <a:pt x="4068204" y="61694"/>
                  </a:lnTo>
                  <a:lnTo>
                    <a:pt x="4089594" y="103079"/>
                  </a:lnTo>
                  <a:lnTo>
                    <a:pt x="4097274" y="150749"/>
                  </a:lnTo>
                  <a:lnTo>
                    <a:pt x="4097274" y="1140841"/>
                  </a:lnTo>
                  <a:lnTo>
                    <a:pt x="4089594" y="1188510"/>
                  </a:lnTo>
                  <a:lnTo>
                    <a:pt x="4068204" y="1229895"/>
                  </a:lnTo>
                  <a:lnTo>
                    <a:pt x="4035579" y="1262520"/>
                  </a:lnTo>
                  <a:lnTo>
                    <a:pt x="3994194" y="1283910"/>
                  </a:lnTo>
                  <a:lnTo>
                    <a:pt x="3946525" y="1291590"/>
                  </a:lnTo>
                  <a:lnTo>
                    <a:pt x="150698" y="1291590"/>
                  </a:lnTo>
                  <a:lnTo>
                    <a:pt x="103067" y="1283910"/>
                  </a:lnTo>
                  <a:lnTo>
                    <a:pt x="61700" y="1262520"/>
                  </a:lnTo>
                  <a:lnTo>
                    <a:pt x="29077" y="1229895"/>
                  </a:lnTo>
                  <a:lnTo>
                    <a:pt x="7683" y="1188510"/>
                  </a:lnTo>
                  <a:lnTo>
                    <a:pt x="0" y="1140841"/>
                  </a:lnTo>
                  <a:lnTo>
                    <a:pt x="0" y="150749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88340" y="963618"/>
            <a:ext cx="368617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b="1" dirty="0">
                <a:latin typeface="Times New Roman"/>
                <a:cs typeface="Times New Roman"/>
              </a:rPr>
              <a:t>Print-</a:t>
            </a:r>
            <a:r>
              <a:rPr sz="2800" b="1" spc="-10" dirty="0">
                <a:latin typeface="Times New Roman"/>
                <a:cs typeface="Times New Roman"/>
              </a:rPr>
              <a:t>LCS</a:t>
            </a:r>
            <a:r>
              <a:rPr sz="2800" spc="-10" dirty="0">
                <a:latin typeface="Times New Roman"/>
                <a:cs typeface="Times New Roman"/>
              </a:rPr>
              <a:t>(</a:t>
            </a:r>
            <a:r>
              <a:rPr sz="2800" spc="-10" dirty="0">
                <a:latin typeface="Cambria Math"/>
                <a:cs typeface="Cambria Math"/>
              </a:rPr>
              <a:t>𝒓𝒆𝒄,</a:t>
            </a:r>
            <a:r>
              <a:rPr sz="2800" spc="-135" dirty="0">
                <a:latin typeface="Cambria Math"/>
                <a:cs typeface="Cambria Math"/>
              </a:rPr>
              <a:t> </a:t>
            </a:r>
            <a:r>
              <a:rPr sz="2800" spc="-10" dirty="0">
                <a:latin typeface="Cambria Math"/>
                <a:cs typeface="Cambria Math"/>
              </a:rPr>
              <a:t>𝑿,</a:t>
            </a:r>
            <a:r>
              <a:rPr sz="2800" spc="-120" dirty="0">
                <a:latin typeface="Cambria Math"/>
                <a:cs typeface="Cambria Math"/>
              </a:rPr>
              <a:t> </a:t>
            </a:r>
            <a:r>
              <a:rPr sz="2800" spc="-10" dirty="0">
                <a:latin typeface="Cambria Math"/>
                <a:cs typeface="Cambria Math"/>
              </a:rPr>
              <a:t>𝒊,</a:t>
            </a:r>
            <a:r>
              <a:rPr sz="2800" spc="-114" dirty="0">
                <a:latin typeface="Cambria Math"/>
                <a:cs typeface="Cambria Math"/>
              </a:rPr>
              <a:t> </a:t>
            </a:r>
            <a:r>
              <a:rPr sz="2800" spc="-25" dirty="0">
                <a:latin typeface="Cambria Math"/>
                <a:cs typeface="Cambria Math"/>
              </a:rPr>
              <a:t>𝒋</a:t>
            </a:r>
            <a:r>
              <a:rPr sz="2800" spc="-25" dirty="0">
                <a:latin typeface="Times New Roman"/>
                <a:cs typeface="Times New Roman"/>
              </a:rPr>
              <a:t>)</a:t>
            </a:r>
            <a:endParaRPr sz="28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1173958" y="23609"/>
            <a:ext cx="2032380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/>
              <a:t>伪代</a:t>
            </a:r>
            <a:r>
              <a:rPr spc="-50" dirty="0" err="1"/>
              <a:t>码</a:t>
            </a:r>
            <a:endParaRPr spc="-50" dirty="0"/>
          </a:p>
        </p:txBody>
      </p:sp>
      <p:sp>
        <p:nvSpPr>
          <p:cNvPr id="7" name="object 7"/>
          <p:cNvSpPr txBox="1"/>
          <p:nvPr/>
        </p:nvSpPr>
        <p:spPr>
          <a:xfrm>
            <a:off x="5233034" y="3062858"/>
            <a:ext cx="3329940" cy="548640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vert="horz" wrap="square" lIns="0" tIns="95250" rIns="0" bIns="0" rtlCol="0">
            <a:spAutoFit/>
          </a:bodyPr>
          <a:lstStyle/>
          <a:p>
            <a:pPr marL="522605">
              <a:lnSpc>
                <a:spcPct val="100000"/>
              </a:lnSpc>
              <a:spcBef>
                <a:spcPts val="750"/>
              </a:spcBef>
            </a:pPr>
            <a:r>
              <a:rPr sz="2000" spc="-20">
                <a:latin typeface="PMingLiU"/>
                <a:cs typeface="PMingLiU"/>
              </a:rPr>
              <a:t>追踪方案：末尾相</a:t>
            </a:r>
            <a:r>
              <a:rPr sz="2000" spc="-50">
                <a:latin typeface="PMingLiU"/>
                <a:cs typeface="PMingLiU"/>
              </a:rPr>
              <a:t>等</a:t>
            </a:r>
            <a:endParaRPr sz="2000">
              <a:latin typeface="PMingLiU"/>
              <a:cs typeface="PMingLiU"/>
            </a:endParaRPr>
          </a:p>
        </p:txBody>
      </p:sp>
    </p:spTree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8340" y="963619"/>
            <a:ext cx="368617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b="1" dirty="0">
                <a:latin typeface="Times New Roman"/>
                <a:cs typeface="Times New Roman"/>
              </a:rPr>
              <a:t>Print-</a:t>
            </a:r>
            <a:r>
              <a:rPr sz="2800" b="1" spc="-10" dirty="0">
                <a:latin typeface="Times New Roman"/>
                <a:cs typeface="Times New Roman"/>
              </a:rPr>
              <a:t>LCS</a:t>
            </a:r>
            <a:r>
              <a:rPr sz="2800" spc="-10" dirty="0">
                <a:latin typeface="Times New Roman"/>
                <a:cs typeface="Times New Roman"/>
              </a:rPr>
              <a:t>(</a:t>
            </a:r>
            <a:r>
              <a:rPr sz="2800" spc="-10" dirty="0">
                <a:latin typeface="Cambria Math"/>
                <a:cs typeface="Cambria Math"/>
              </a:rPr>
              <a:t>𝒓𝒆𝒄,</a:t>
            </a:r>
            <a:r>
              <a:rPr sz="2800" spc="-135" dirty="0">
                <a:latin typeface="Cambria Math"/>
                <a:cs typeface="Cambria Math"/>
              </a:rPr>
              <a:t> </a:t>
            </a:r>
            <a:r>
              <a:rPr sz="2800" spc="-10" dirty="0">
                <a:latin typeface="Cambria Math"/>
                <a:cs typeface="Cambria Math"/>
              </a:rPr>
              <a:t>𝑿,</a:t>
            </a:r>
            <a:r>
              <a:rPr sz="2800" spc="-120" dirty="0">
                <a:latin typeface="Cambria Math"/>
                <a:cs typeface="Cambria Math"/>
              </a:rPr>
              <a:t> </a:t>
            </a:r>
            <a:r>
              <a:rPr sz="2800" spc="-10" dirty="0">
                <a:latin typeface="Cambria Math"/>
                <a:cs typeface="Cambria Math"/>
              </a:rPr>
              <a:t>𝒊,</a:t>
            </a:r>
            <a:r>
              <a:rPr sz="2800" spc="-114" dirty="0">
                <a:latin typeface="Cambria Math"/>
                <a:cs typeface="Cambria Math"/>
              </a:rPr>
              <a:t> </a:t>
            </a:r>
            <a:r>
              <a:rPr sz="2800" spc="-25" dirty="0">
                <a:latin typeface="Cambria Math"/>
                <a:cs typeface="Cambria Math"/>
              </a:rPr>
              <a:t>𝒋</a:t>
            </a:r>
            <a:r>
              <a:rPr sz="2800" spc="-25" dirty="0">
                <a:latin typeface="Times New Roman"/>
                <a:cs typeface="Times New Roman"/>
              </a:rPr>
              <a:t>)</a:t>
            </a:r>
            <a:endParaRPr sz="2800" dirty="0">
              <a:latin typeface="Times New Roman"/>
              <a:cs typeface="Times New Roman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649320" y="1454683"/>
            <a:ext cx="9363075" cy="4927600"/>
            <a:chOff x="649320" y="1454683"/>
            <a:chExt cx="9363075" cy="4927600"/>
          </a:xfrm>
        </p:grpSpPr>
        <p:pic>
          <p:nvPicPr>
            <p:cNvPr id="4" name="object 4"/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649320" y="1454683"/>
              <a:ext cx="9362578" cy="4927041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961643" y="4343399"/>
              <a:ext cx="3948429" cy="1956435"/>
            </a:xfrm>
            <a:custGeom>
              <a:avLst/>
              <a:gdLst/>
              <a:ahLst/>
              <a:cxnLst/>
              <a:rect l="l" t="t" r="r" b="b"/>
              <a:pathLst>
                <a:path w="3948429" h="1956435">
                  <a:moveTo>
                    <a:pt x="0" y="228219"/>
                  </a:moveTo>
                  <a:lnTo>
                    <a:pt x="4636" y="182241"/>
                  </a:lnTo>
                  <a:lnTo>
                    <a:pt x="17935" y="139410"/>
                  </a:lnTo>
                  <a:lnTo>
                    <a:pt x="38978" y="100645"/>
                  </a:lnTo>
                  <a:lnTo>
                    <a:pt x="66848" y="66865"/>
                  </a:lnTo>
                  <a:lnTo>
                    <a:pt x="100625" y="38991"/>
                  </a:lnTo>
                  <a:lnTo>
                    <a:pt x="139394" y="17942"/>
                  </a:lnTo>
                  <a:lnTo>
                    <a:pt x="182235" y="4638"/>
                  </a:lnTo>
                  <a:lnTo>
                    <a:pt x="228231" y="0"/>
                  </a:lnTo>
                  <a:lnTo>
                    <a:pt x="3719703" y="0"/>
                  </a:lnTo>
                  <a:lnTo>
                    <a:pt x="3765680" y="4638"/>
                  </a:lnTo>
                  <a:lnTo>
                    <a:pt x="3808511" y="17942"/>
                  </a:lnTo>
                  <a:lnTo>
                    <a:pt x="3847276" y="38991"/>
                  </a:lnTo>
                  <a:lnTo>
                    <a:pt x="3881056" y="66865"/>
                  </a:lnTo>
                  <a:lnTo>
                    <a:pt x="3908930" y="100645"/>
                  </a:lnTo>
                  <a:lnTo>
                    <a:pt x="3929979" y="139410"/>
                  </a:lnTo>
                  <a:lnTo>
                    <a:pt x="3943283" y="182241"/>
                  </a:lnTo>
                  <a:lnTo>
                    <a:pt x="3947922" y="228219"/>
                  </a:lnTo>
                  <a:lnTo>
                    <a:pt x="3947922" y="1727822"/>
                  </a:lnTo>
                  <a:lnTo>
                    <a:pt x="3943283" y="1773818"/>
                  </a:lnTo>
                  <a:lnTo>
                    <a:pt x="3929979" y="1816659"/>
                  </a:lnTo>
                  <a:lnTo>
                    <a:pt x="3908930" y="1855428"/>
                  </a:lnTo>
                  <a:lnTo>
                    <a:pt x="3881056" y="1889205"/>
                  </a:lnTo>
                  <a:lnTo>
                    <a:pt x="3847276" y="1917075"/>
                  </a:lnTo>
                  <a:lnTo>
                    <a:pt x="3808511" y="1938118"/>
                  </a:lnTo>
                  <a:lnTo>
                    <a:pt x="3765680" y="1951417"/>
                  </a:lnTo>
                  <a:lnTo>
                    <a:pt x="3719703" y="1956054"/>
                  </a:lnTo>
                  <a:lnTo>
                    <a:pt x="228231" y="1956054"/>
                  </a:lnTo>
                  <a:lnTo>
                    <a:pt x="182235" y="1951417"/>
                  </a:lnTo>
                  <a:lnTo>
                    <a:pt x="139394" y="1938118"/>
                  </a:lnTo>
                  <a:lnTo>
                    <a:pt x="100625" y="1917075"/>
                  </a:lnTo>
                  <a:lnTo>
                    <a:pt x="66848" y="1889205"/>
                  </a:lnTo>
                  <a:lnTo>
                    <a:pt x="38978" y="1855428"/>
                  </a:lnTo>
                  <a:lnTo>
                    <a:pt x="17935" y="1816659"/>
                  </a:lnTo>
                  <a:lnTo>
                    <a:pt x="4636" y="1773818"/>
                  </a:lnTo>
                  <a:lnTo>
                    <a:pt x="0" y="1727822"/>
                  </a:lnTo>
                  <a:lnTo>
                    <a:pt x="0" y="228219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1233334" y="38062"/>
            <a:ext cx="2970531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/>
              <a:t>伪代</a:t>
            </a:r>
            <a:r>
              <a:rPr spc="-50" dirty="0" err="1"/>
              <a:t>码</a:t>
            </a:r>
            <a:endParaRPr spc="-50" dirty="0"/>
          </a:p>
        </p:txBody>
      </p:sp>
      <p:sp>
        <p:nvSpPr>
          <p:cNvPr id="7" name="object 7"/>
          <p:cNvSpPr txBox="1"/>
          <p:nvPr/>
        </p:nvSpPr>
        <p:spPr>
          <a:xfrm>
            <a:off x="5233034" y="4355972"/>
            <a:ext cx="3329940" cy="548640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vert="horz" wrap="square" lIns="0" tIns="95885" rIns="0" bIns="0" rtlCol="0">
            <a:spAutoFit/>
          </a:bodyPr>
          <a:lstStyle/>
          <a:p>
            <a:pPr marL="522605">
              <a:lnSpc>
                <a:spcPct val="100000"/>
              </a:lnSpc>
              <a:spcBef>
                <a:spcPts val="755"/>
              </a:spcBef>
            </a:pPr>
            <a:r>
              <a:rPr sz="2000" spc="-20">
                <a:latin typeface="PMingLiU"/>
                <a:cs typeface="PMingLiU"/>
              </a:rPr>
              <a:t>追踪方案：末尾不</a:t>
            </a:r>
            <a:r>
              <a:rPr sz="2000" spc="-50">
                <a:latin typeface="PMingLiU"/>
                <a:cs typeface="PMingLiU"/>
              </a:rPr>
              <a:t>等</a:t>
            </a:r>
            <a:endParaRPr sz="2000">
              <a:latin typeface="PMingLiU"/>
              <a:cs typeface="PMingLiU"/>
            </a:endParaRPr>
          </a:p>
        </p:txBody>
      </p:sp>
    </p:spTree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38586" y="1331793"/>
            <a:ext cx="8589010" cy="5477510"/>
            <a:chOff x="738586" y="1331793"/>
            <a:chExt cx="8589010" cy="5477510"/>
          </a:xfrm>
        </p:grpSpPr>
        <p:pic>
          <p:nvPicPr>
            <p:cNvPr id="3" name="object 3"/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738586" y="1331793"/>
              <a:ext cx="8588431" cy="5477271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5891784" y="6022086"/>
              <a:ext cx="3423920" cy="772160"/>
            </a:xfrm>
            <a:custGeom>
              <a:avLst/>
              <a:gdLst/>
              <a:ahLst/>
              <a:cxnLst/>
              <a:rect l="l" t="t" r="r" b="b"/>
              <a:pathLst>
                <a:path w="3423920" h="772159">
                  <a:moveTo>
                    <a:pt x="3423666" y="0"/>
                  </a:moveTo>
                  <a:lnTo>
                    <a:pt x="0" y="0"/>
                  </a:lnTo>
                  <a:lnTo>
                    <a:pt x="0" y="771905"/>
                  </a:lnTo>
                  <a:lnTo>
                    <a:pt x="3423666" y="771905"/>
                  </a:lnTo>
                  <a:lnTo>
                    <a:pt x="3423666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99262" y="857504"/>
            <a:ext cx="6017260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3535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5600" algn="l"/>
                <a:tab pos="356235" algn="l"/>
              </a:tabLst>
            </a:pPr>
            <a:r>
              <a:rPr sz="2800" b="1">
                <a:latin typeface="Times New Roman"/>
                <a:cs typeface="Times New Roman"/>
              </a:rPr>
              <a:t>Longest-Common-Subsequence(</a:t>
            </a:r>
            <a:r>
              <a:rPr sz="2800">
                <a:latin typeface="Cambria Math"/>
                <a:cs typeface="Cambria Math"/>
              </a:rPr>
              <a:t>𝑿,</a:t>
            </a:r>
            <a:r>
              <a:rPr sz="2800" spc="-145">
                <a:latin typeface="Cambria Math"/>
                <a:cs typeface="Cambria Math"/>
              </a:rPr>
              <a:t> </a:t>
            </a:r>
            <a:r>
              <a:rPr sz="2800" spc="-25">
                <a:latin typeface="Cambria Math"/>
                <a:cs typeface="Cambria Math"/>
              </a:rPr>
              <a:t>𝒀</a:t>
            </a:r>
            <a:r>
              <a:rPr sz="2800" b="1" spc="-25">
                <a:latin typeface="Times New Roman"/>
                <a:cs typeface="Times New Roman"/>
              </a:rPr>
              <a:t>)</a:t>
            </a:r>
            <a:endParaRPr sz="28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1231037" y="99380"/>
            <a:ext cx="4953710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/>
              <a:t>时间复杂度分</a:t>
            </a:r>
            <a:r>
              <a:rPr spc="-50" dirty="0" err="1"/>
              <a:t>析</a:t>
            </a:r>
            <a:endParaRPr spc="-50" dirty="0"/>
          </a:p>
        </p:txBody>
      </p:sp>
      <p:sp>
        <p:nvSpPr>
          <p:cNvPr id="7" name="object 7"/>
          <p:cNvSpPr txBox="1"/>
          <p:nvPr/>
        </p:nvSpPr>
        <p:spPr>
          <a:xfrm>
            <a:off x="5970778" y="6180582"/>
            <a:ext cx="3032760" cy="3917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spc="-10" dirty="0" err="1">
                <a:solidFill>
                  <a:srgbClr val="FFFFFF"/>
                </a:solidFill>
                <a:latin typeface="PMingLiU"/>
                <a:cs typeface="PMingLiU"/>
              </a:rPr>
              <a:t>时间复杂度</a:t>
            </a:r>
            <a:r>
              <a:rPr sz="2400" spc="-10" dirty="0">
                <a:solidFill>
                  <a:srgbClr val="FFFFFF"/>
                </a:solidFill>
                <a:latin typeface="PMingLiU"/>
                <a:cs typeface="PMingLiU"/>
              </a:rPr>
              <a:t>：</a:t>
            </a:r>
            <a:r>
              <a:rPr sz="2400" dirty="0">
                <a:solidFill>
                  <a:srgbClr val="FFFFFF"/>
                </a:solidFill>
                <a:latin typeface="Cambria Math"/>
                <a:cs typeface="Cambria Math"/>
              </a:rPr>
              <a:t>𝑶(𝒏 ⋅ </a:t>
            </a:r>
            <a:r>
              <a:rPr sz="2400" spc="-25" dirty="0">
                <a:solidFill>
                  <a:srgbClr val="FFFFFF"/>
                </a:solidFill>
                <a:latin typeface="Cambria Math"/>
                <a:cs typeface="Cambria Math"/>
              </a:rPr>
              <a:t>𝒎)</a:t>
            </a:r>
            <a:endParaRPr sz="2400" dirty="0">
              <a:latin typeface="Cambria Math"/>
              <a:cs typeface="Cambria Math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LIDE.ICON" val="#53131;#53131;#177509;#76194;#81515;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LIDE.ICON" val="#53131;#53131;#177509;#76194;#81515;"/>
</p:tagLst>
</file>

<file path=ppt/theme/theme1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22590</TotalTime>
  <Words>12293</Words>
  <Application>Microsoft Macintosh PowerPoint</Application>
  <PresentationFormat>宽屏</PresentationFormat>
  <Paragraphs>8973</Paragraphs>
  <Slides>131</Slides>
  <Notes>16</Notes>
  <HiddenSlides>0</HiddenSlides>
  <MMClips>0</MMClips>
  <ScaleCrop>false</ScaleCrop>
  <HeadingPairs>
    <vt:vector size="6" baseType="variant">
      <vt:variant>
        <vt:lpstr>已用的字体</vt:lpstr>
      </vt:variant>
      <vt:variant>
        <vt:i4>12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131</vt:i4>
      </vt:variant>
    </vt:vector>
  </HeadingPairs>
  <TitlesOfParts>
    <vt:vector size="144" baseType="lpstr">
      <vt:lpstr>等线</vt:lpstr>
      <vt:lpstr>等线 Light</vt:lpstr>
      <vt:lpstr>方正大标宋简体</vt:lpstr>
      <vt:lpstr>方正清刻本悦宋简体</vt:lpstr>
      <vt:lpstr>SimSun</vt:lpstr>
      <vt:lpstr>微软雅黑</vt:lpstr>
      <vt:lpstr>PMingLiU</vt:lpstr>
      <vt:lpstr>Times New Roman Regular</vt:lpstr>
      <vt:lpstr>Arial</vt:lpstr>
      <vt:lpstr>Cambria Math</vt:lpstr>
      <vt:lpstr>Times New Roman</vt:lpstr>
      <vt:lpstr>Wingdings</vt:lpstr>
      <vt:lpstr>Office 主题​​</vt:lpstr>
      <vt:lpstr>算法设计与分析</vt:lpstr>
      <vt:lpstr>PowerPoint 演示文稿</vt:lpstr>
      <vt:lpstr>PowerPoint 演示文稿</vt:lpstr>
      <vt:lpstr>问题背景：子序列</vt:lpstr>
      <vt:lpstr>问题背景：子序列</vt:lpstr>
      <vt:lpstr>问题背景：子序列</vt:lpstr>
      <vt:lpstr>问题背景：公共子序列</vt:lpstr>
      <vt:lpstr>问题背景：公共子序列</vt:lpstr>
      <vt:lpstr>问题背景：公共子序列</vt:lpstr>
      <vt:lpstr>问题背景：公共子序列</vt:lpstr>
      <vt:lpstr>问题背景：公共子序列</vt:lpstr>
      <vt:lpstr>问题定义</vt:lpstr>
      <vt:lpstr>蛮力枚举</vt:lpstr>
      <vt:lpstr>蛮力枚举</vt:lpstr>
      <vt:lpstr>蛮力枚举</vt:lpstr>
      <vt:lpstr>蛮力枚举</vt:lpstr>
      <vt:lpstr>蛮力枚举</vt:lpstr>
      <vt:lpstr>蛮力枚举</vt:lpstr>
      <vt:lpstr>蛮力枚举</vt:lpstr>
      <vt:lpstr>蛮力枚举</vt:lpstr>
      <vt:lpstr>蛮力枚举</vt:lpstr>
      <vt:lpstr>蛮力枚举</vt:lpstr>
      <vt:lpstr>蛮力枚举</vt:lpstr>
      <vt:lpstr>蛮力枚举</vt:lpstr>
      <vt:lpstr>蛮力枚举</vt:lpstr>
      <vt:lpstr>蛮力枚举</vt:lpstr>
      <vt:lpstr>枚举观察</vt:lpstr>
      <vt:lpstr>枚举观察</vt:lpstr>
      <vt:lpstr>枚举观察</vt:lpstr>
      <vt:lpstr>枚举观察</vt:lpstr>
      <vt:lpstr>枚举观察</vt:lpstr>
      <vt:lpstr>问题结构分析</vt:lpstr>
      <vt:lpstr>递推关系建立：分析最优（子）结构</vt:lpstr>
      <vt:lpstr>递推关系建立：分析最优（子）结构</vt:lpstr>
      <vt:lpstr>递推关系建立：分析最优（子）结构</vt:lpstr>
      <vt:lpstr>递推关系建立：分析最优（子）结构</vt:lpstr>
      <vt:lpstr>递推关系建立：分析最优（子）结构</vt:lpstr>
      <vt:lpstr>递推关系建立：分析最优（子）结构</vt:lpstr>
      <vt:lpstr>递推关系建立：分析最优（子）结构</vt:lpstr>
      <vt:lpstr>递推关系建立：分析最优（子）结构</vt:lpstr>
      <vt:lpstr>递推关系建立：分析最优（子）结构</vt:lpstr>
      <vt:lpstr>递推关系建立：分析最优（子）结构</vt:lpstr>
      <vt:lpstr>递推关系建立：分析最优（子）结构</vt:lpstr>
      <vt:lpstr>递推关系建立：分析最优（子）结构</vt:lpstr>
      <vt:lpstr>递推关系建立：分析最优（子）结构</vt:lpstr>
      <vt:lpstr>递推关系建立：分析最优（子）结构</vt:lpstr>
      <vt:lpstr>算法设计与分析</vt:lpstr>
      <vt:lpstr>PowerPoint 演示文稿</vt:lpstr>
      <vt:lpstr>递推关系建立：分析最优（子）结构</vt:lpstr>
      <vt:lpstr>自底向上计算：确定计算顺序</vt:lpstr>
      <vt:lpstr>自底向上计算：确定计算顺序</vt:lpstr>
      <vt:lpstr>自底向上计算：确定计算顺序</vt:lpstr>
      <vt:lpstr>自底向上计算：确定计算顺序</vt:lpstr>
      <vt:lpstr>自底向上计算：确定计算顺序</vt:lpstr>
      <vt:lpstr>自底向上计算：确定计算顺序</vt:lpstr>
      <vt:lpstr>自底向上计算：确定计算顺序</vt:lpstr>
      <vt:lpstr>最优方案追踪：记录决策过程</vt:lpstr>
      <vt:lpstr>最优方案追踪：记录决策过程</vt:lpstr>
      <vt:lpstr>最优方案追踪：记录决策过程</vt:lpstr>
      <vt:lpstr>最优方案追踪：记录决策过程</vt:lpstr>
      <vt:lpstr>最优方案追踪：记录决策过程</vt:lpstr>
      <vt:lpstr>最优方案追踪：记录决策过程</vt:lpstr>
      <vt:lpstr>最优方案追踪：记录决策过程</vt:lpstr>
      <vt:lpstr>最优方案追踪：记录决策过程</vt:lpstr>
      <vt:lpstr>算法实例</vt:lpstr>
      <vt:lpstr>算法实例</vt:lpstr>
      <vt:lpstr>算法实例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伪代码</vt:lpstr>
      <vt:lpstr>伪代码</vt:lpstr>
      <vt:lpstr>伪代码</vt:lpstr>
      <vt:lpstr>伪代码</vt:lpstr>
      <vt:lpstr>伪代码</vt:lpstr>
      <vt:lpstr>伪代码</vt:lpstr>
      <vt:lpstr>伪代码</vt:lpstr>
      <vt:lpstr>伪代码</vt:lpstr>
      <vt:lpstr>伪代码</vt:lpstr>
      <vt:lpstr>伪代码</vt:lpstr>
      <vt:lpstr>时间复杂度分析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赵 浩然</dc:creator>
  <cp:lastModifiedBy>赵 浩然</cp:lastModifiedBy>
  <cp:revision>920</cp:revision>
  <dcterms:created xsi:type="dcterms:W3CDTF">2022-08-31T02:13:47Z</dcterms:created>
  <dcterms:modified xsi:type="dcterms:W3CDTF">2023-05-31T00:47:10Z</dcterms:modified>
</cp:coreProperties>
</file>