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79"/>
  </p:notesMasterIdLst>
  <p:sldIdLst>
    <p:sldId id="256" r:id="rId2"/>
    <p:sldId id="308" r:id="rId3"/>
    <p:sldId id="381" r:id="rId4"/>
    <p:sldId id="456" r:id="rId5"/>
    <p:sldId id="425" r:id="rId6"/>
    <p:sldId id="426" r:id="rId7"/>
    <p:sldId id="449" r:id="rId8"/>
    <p:sldId id="390" r:id="rId9"/>
    <p:sldId id="427" r:id="rId10"/>
    <p:sldId id="428" r:id="rId11"/>
    <p:sldId id="429" r:id="rId12"/>
    <p:sldId id="430" r:id="rId13"/>
    <p:sldId id="450" r:id="rId14"/>
    <p:sldId id="391" r:id="rId15"/>
    <p:sldId id="431" r:id="rId16"/>
    <p:sldId id="392" r:id="rId17"/>
    <p:sldId id="451" r:id="rId18"/>
    <p:sldId id="399" r:id="rId19"/>
    <p:sldId id="471" r:id="rId20"/>
    <p:sldId id="472" r:id="rId21"/>
    <p:sldId id="473" r:id="rId22"/>
    <p:sldId id="400" r:id="rId23"/>
    <p:sldId id="402" r:id="rId24"/>
    <p:sldId id="403" r:id="rId25"/>
    <p:sldId id="404" r:id="rId26"/>
    <p:sldId id="457" r:id="rId27"/>
    <p:sldId id="476" r:id="rId28"/>
    <p:sldId id="475" r:id="rId29"/>
    <p:sldId id="459" r:id="rId30"/>
    <p:sldId id="433" r:id="rId31"/>
    <p:sldId id="460" r:id="rId32"/>
    <p:sldId id="458" r:id="rId33"/>
    <p:sldId id="477" r:id="rId34"/>
    <p:sldId id="434" r:id="rId35"/>
    <p:sldId id="435" r:id="rId36"/>
    <p:sldId id="436" r:id="rId37"/>
    <p:sldId id="437" r:id="rId38"/>
    <p:sldId id="439" r:id="rId39"/>
    <p:sldId id="438" r:id="rId40"/>
    <p:sldId id="440" r:id="rId41"/>
    <p:sldId id="441" r:id="rId42"/>
    <p:sldId id="442" r:id="rId43"/>
    <p:sldId id="443" r:id="rId44"/>
    <p:sldId id="444" r:id="rId45"/>
    <p:sldId id="405" r:id="rId46"/>
    <p:sldId id="466" r:id="rId47"/>
    <p:sldId id="465" r:id="rId48"/>
    <p:sldId id="461" r:id="rId49"/>
    <p:sldId id="464" r:id="rId50"/>
    <p:sldId id="484" r:id="rId51"/>
    <p:sldId id="407" r:id="rId52"/>
    <p:sldId id="467" r:id="rId53"/>
    <p:sldId id="462" r:id="rId54"/>
    <p:sldId id="478" r:id="rId55"/>
    <p:sldId id="463" r:id="rId56"/>
    <p:sldId id="452" r:id="rId57"/>
    <p:sldId id="409" r:id="rId58"/>
    <p:sldId id="468" r:id="rId59"/>
    <p:sldId id="469" r:id="rId60"/>
    <p:sldId id="410" r:id="rId61"/>
    <p:sldId id="479" r:id="rId62"/>
    <p:sldId id="446" r:id="rId63"/>
    <p:sldId id="480" r:id="rId64"/>
    <p:sldId id="447" r:id="rId65"/>
    <p:sldId id="481" r:id="rId66"/>
    <p:sldId id="412" r:id="rId67"/>
    <p:sldId id="413" r:id="rId68"/>
    <p:sldId id="470" r:id="rId69"/>
    <p:sldId id="453" r:id="rId70"/>
    <p:sldId id="414" r:id="rId71"/>
    <p:sldId id="482" r:id="rId72"/>
    <p:sldId id="483" r:id="rId73"/>
    <p:sldId id="455" r:id="rId74"/>
    <p:sldId id="423" r:id="rId75"/>
    <p:sldId id="454" r:id="rId76"/>
    <p:sldId id="424" r:id="rId77"/>
    <p:sldId id="485" r:id="rId78"/>
  </p:sldIdLst>
  <p:sldSz cx="9144000" cy="6858000" type="screen4x3"/>
  <p:notesSz cx="6858000" cy="9144000"/>
  <p:defaultTextStyle>
    <a:defPPr>
      <a:defRPr lang="zh-CN"/>
    </a:defPPr>
    <a:lvl1pPr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sz="1200" b="1"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sz="1200" b="1"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FF66FF"/>
    <a:srgbClr val="CCFFFF"/>
    <a:srgbClr val="FFFFCC"/>
    <a:srgbClr val="CC6600"/>
    <a:srgbClr val="6699FF"/>
    <a:srgbClr val="FF99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6" autoAdjust="0"/>
    <p:restoredTop sz="99507" autoAdjust="0"/>
  </p:normalViewPr>
  <p:slideViewPr>
    <p:cSldViewPr>
      <p:cViewPr varScale="1">
        <p:scale>
          <a:sx n="121" d="100"/>
          <a:sy n="121" d="100"/>
        </p:scale>
        <p:origin x="166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DBCB6DE-5A88-47B5-AFA0-EF38DE1CA8F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b="0">
                <a:solidFill>
                  <a:schemeClr val="tx1"/>
                </a:solidFill>
                <a:latin typeface="Times New Roman" pitchFamily="18" charset="0"/>
              </a:defRPr>
            </a:lvl1pPr>
          </a:lstStyle>
          <a:p>
            <a:pPr>
              <a:defRPr/>
            </a:pPr>
            <a:endParaRPr lang="en-US" altLang="zh-CN"/>
          </a:p>
        </p:txBody>
      </p:sp>
      <p:sp>
        <p:nvSpPr>
          <p:cNvPr id="35843" name="Rectangle 3">
            <a:extLst>
              <a:ext uri="{FF2B5EF4-FFF2-40B4-BE49-F238E27FC236}">
                <a16:creationId xmlns:a16="http://schemas.microsoft.com/office/drawing/2014/main" id="{6F31A234-9A36-43CE-94C9-739F846001E6}"/>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0">
                <a:solidFill>
                  <a:schemeClr val="tx1"/>
                </a:solidFill>
                <a:latin typeface="Times New Roman"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C68009C1-CFA6-F3EE-0E08-81183F2ED57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a:extLst>
              <a:ext uri="{FF2B5EF4-FFF2-40B4-BE49-F238E27FC236}">
                <a16:creationId xmlns:a16="http://schemas.microsoft.com/office/drawing/2014/main" id="{749671BC-B5BD-4EE3-A53B-E97ABDC6934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0261CA5B-1FBB-4D95-B463-FD45564E7FCF}"/>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b="0">
                <a:solidFill>
                  <a:schemeClr val="tx1"/>
                </a:solidFill>
                <a:latin typeface="Times New Roman" pitchFamily="18" charset="0"/>
              </a:defRPr>
            </a:lvl1pPr>
          </a:lstStyle>
          <a:p>
            <a:pPr>
              <a:defRPr/>
            </a:pPr>
            <a:endParaRPr lang="en-US" altLang="zh-CN"/>
          </a:p>
        </p:txBody>
      </p:sp>
      <p:sp>
        <p:nvSpPr>
          <p:cNvPr id="35847" name="Rectangle 7">
            <a:extLst>
              <a:ext uri="{FF2B5EF4-FFF2-40B4-BE49-F238E27FC236}">
                <a16:creationId xmlns:a16="http://schemas.microsoft.com/office/drawing/2014/main" id="{DA35B3F6-578C-4750-858C-A8A7E8124D3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b="0">
                <a:solidFill>
                  <a:schemeClr val="tx1"/>
                </a:solidFill>
                <a:latin typeface="Times New Roman" panose="02020603050405020304" pitchFamily="18" charset="0"/>
              </a:defRPr>
            </a:lvl1pPr>
          </a:lstStyle>
          <a:p>
            <a:fld id="{DAFE265D-7B27-4BB6-A066-89AA62E7B0C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B68AF610-3733-ECF4-9FC5-3941E3BDCE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BED74597-1AC6-406E-8A88-CDD960DC0C65}" type="slidenum">
              <a:rPr lang="en-US" altLang="zh-CN" b="0">
                <a:solidFill>
                  <a:schemeClr val="tx1"/>
                </a:solidFill>
                <a:latin typeface="Times New Roman" panose="02020603050405020304" pitchFamily="18" charset="0"/>
              </a:rPr>
              <a:pPr/>
              <a:t>1</a:t>
            </a:fld>
            <a:endParaRPr lang="en-US" altLang="zh-CN"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CA18ADB4-9CFE-C116-5B69-12782BAF7C7F}"/>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683B7718-264C-5182-0A5A-A2277D2E38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4FF7E751-885B-E420-E2EC-5D0DE53BA5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C97AA79B-E57C-49D9-9593-8DD6060600F8}" type="slidenum">
              <a:rPr lang="en-US" altLang="zh-CN" b="0">
                <a:solidFill>
                  <a:schemeClr val="tx1"/>
                </a:solidFill>
                <a:latin typeface="Times New Roman" panose="02020603050405020304" pitchFamily="18" charset="0"/>
              </a:rPr>
              <a:pPr/>
              <a:t>2</a:t>
            </a:fld>
            <a:endParaRPr lang="en-US" altLang="zh-CN" b="0">
              <a:solidFill>
                <a:schemeClr val="tx1"/>
              </a:solidFill>
              <a:latin typeface="Times New Roman" panose="02020603050405020304" pitchFamily="18" charset="0"/>
            </a:endParaRPr>
          </a:p>
        </p:txBody>
      </p:sp>
      <p:sp>
        <p:nvSpPr>
          <p:cNvPr id="7171" name="Rectangle 2">
            <a:extLst>
              <a:ext uri="{FF2B5EF4-FFF2-40B4-BE49-F238E27FC236}">
                <a16:creationId xmlns:a16="http://schemas.microsoft.com/office/drawing/2014/main" id="{C7B1B988-5678-3781-EEBD-61E1AE75DCF2}"/>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A86C7CD0-7084-90D9-D1BE-5D6403D704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2964191F-03E0-31B6-9D6E-1FBBF2F4A2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0F6E3044-DA44-49A4-9DD5-2B0443F79F2F}" type="slidenum">
              <a:rPr lang="en-US" altLang="zh-CN" b="0">
                <a:solidFill>
                  <a:schemeClr val="tx1"/>
                </a:solidFill>
                <a:latin typeface="Times New Roman" panose="02020603050405020304" pitchFamily="18" charset="0"/>
              </a:rPr>
              <a:pPr/>
              <a:t>3</a:t>
            </a:fld>
            <a:endParaRPr lang="en-US" altLang="zh-CN" b="0">
              <a:solidFill>
                <a:schemeClr val="tx1"/>
              </a:solidFill>
              <a:latin typeface="Times New Roman" panose="02020603050405020304" pitchFamily="18" charset="0"/>
            </a:endParaRPr>
          </a:p>
        </p:txBody>
      </p:sp>
      <p:sp>
        <p:nvSpPr>
          <p:cNvPr id="9219" name="Rectangle 2">
            <a:extLst>
              <a:ext uri="{FF2B5EF4-FFF2-40B4-BE49-F238E27FC236}">
                <a16:creationId xmlns:a16="http://schemas.microsoft.com/office/drawing/2014/main" id="{FFDB30FC-F9CE-1566-F044-5BD217F8A3DE}"/>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B45B4DD0-D4E0-A6D8-5B36-A786B68808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4648E895-371E-1B79-5EF7-170AFA211D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40FA666A-C698-4767-92FC-CD9727B49D23}" type="slidenum">
              <a:rPr lang="en-US" altLang="zh-CN" b="0">
                <a:solidFill>
                  <a:schemeClr val="tx1"/>
                </a:solidFill>
                <a:latin typeface="Times New Roman" panose="02020603050405020304" pitchFamily="18" charset="0"/>
              </a:rPr>
              <a:pPr/>
              <a:t>4</a:t>
            </a:fld>
            <a:endParaRPr lang="en-US" altLang="zh-CN" b="0">
              <a:solidFill>
                <a:schemeClr val="tx1"/>
              </a:solidFill>
              <a:latin typeface="Times New Roman" panose="02020603050405020304" pitchFamily="18" charset="0"/>
            </a:endParaRPr>
          </a:p>
        </p:txBody>
      </p:sp>
      <p:sp>
        <p:nvSpPr>
          <p:cNvPr id="11267" name="Rectangle 2">
            <a:extLst>
              <a:ext uri="{FF2B5EF4-FFF2-40B4-BE49-F238E27FC236}">
                <a16:creationId xmlns:a16="http://schemas.microsoft.com/office/drawing/2014/main" id="{2258D6E9-D034-E5B0-20FC-E993F1B89CC9}"/>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312E6DF9-87A4-2C18-039C-63363891C6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9CB85D20-2566-82FA-C6AC-E8D441538B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51B77E9F-CE69-4700-8059-D39C691764BF}" type="slidenum">
              <a:rPr lang="en-US" altLang="zh-CN" b="0">
                <a:solidFill>
                  <a:schemeClr val="tx1"/>
                </a:solidFill>
                <a:latin typeface="Times New Roman" panose="02020603050405020304" pitchFamily="18" charset="0"/>
              </a:rPr>
              <a:pPr/>
              <a:t>7</a:t>
            </a:fld>
            <a:endParaRPr lang="en-US" altLang="zh-CN" b="0">
              <a:solidFill>
                <a:schemeClr val="tx1"/>
              </a:solidFill>
              <a:latin typeface="Times New Roman" panose="02020603050405020304" pitchFamily="18" charset="0"/>
            </a:endParaRPr>
          </a:p>
        </p:txBody>
      </p:sp>
      <p:sp>
        <p:nvSpPr>
          <p:cNvPr id="15363" name="Rectangle 2">
            <a:extLst>
              <a:ext uri="{FF2B5EF4-FFF2-40B4-BE49-F238E27FC236}">
                <a16:creationId xmlns:a16="http://schemas.microsoft.com/office/drawing/2014/main" id="{56963D4B-F422-00C5-46E4-64F00F43A3BE}"/>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2B1D7199-9C6B-25DA-A10C-576AE68A0D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7110AD7D-65E4-2D80-A0C0-412114117A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0E3852D5-5AEE-4D89-8438-2A92348866ED}" type="slidenum">
              <a:rPr lang="en-US" altLang="zh-CN" b="0">
                <a:solidFill>
                  <a:schemeClr val="tx1"/>
                </a:solidFill>
                <a:latin typeface="Times New Roman" panose="02020603050405020304" pitchFamily="18" charset="0"/>
              </a:rPr>
              <a:pPr/>
              <a:t>8</a:t>
            </a:fld>
            <a:endParaRPr lang="en-US" altLang="zh-CN" b="0">
              <a:solidFill>
                <a:schemeClr val="tx1"/>
              </a:solidFill>
              <a:latin typeface="Times New Roman" panose="02020603050405020304" pitchFamily="18" charset="0"/>
            </a:endParaRPr>
          </a:p>
        </p:txBody>
      </p:sp>
      <p:sp>
        <p:nvSpPr>
          <p:cNvPr id="17411" name="Rectangle 2">
            <a:extLst>
              <a:ext uri="{FF2B5EF4-FFF2-40B4-BE49-F238E27FC236}">
                <a16:creationId xmlns:a16="http://schemas.microsoft.com/office/drawing/2014/main" id="{EAD43D01-8326-AD14-9DE0-1A57633B88F5}"/>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D92CB0A-A392-A433-AF90-643E4F79E2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47D86F4-A93B-EC35-D3BA-1CFD6A4434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2AF7CFD2-160F-49D2-9E68-C6B7CE517624}" type="slidenum">
              <a:rPr lang="en-US" altLang="zh-CN" b="0">
                <a:solidFill>
                  <a:schemeClr val="tx1"/>
                </a:solidFill>
                <a:latin typeface="Times New Roman" panose="02020603050405020304" pitchFamily="18" charset="0"/>
              </a:rPr>
              <a:pPr/>
              <a:t>13</a:t>
            </a:fld>
            <a:endParaRPr lang="en-US" altLang="zh-CN" b="0">
              <a:solidFill>
                <a:schemeClr val="tx1"/>
              </a:solidFill>
              <a:latin typeface="Times New Roman" panose="02020603050405020304" pitchFamily="18" charset="0"/>
            </a:endParaRPr>
          </a:p>
        </p:txBody>
      </p:sp>
      <p:sp>
        <p:nvSpPr>
          <p:cNvPr id="23555" name="Rectangle 2">
            <a:extLst>
              <a:ext uri="{FF2B5EF4-FFF2-40B4-BE49-F238E27FC236}">
                <a16:creationId xmlns:a16="http://schemas.microsoft.com/office/drawing/2014/main" id="{6FEA3590-F3EA-EEFC-C98F-48942BD35853}"/>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83579E46-9C1B-B5D1-FD33-F87C7821E5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A494550-9A04-C866-B43C-45F6905D67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48A77792-28EF-4EB7-8721-112886E0D3C6}" type="slidenum">
              <a:rPr lang="en-US" altLang="zh-CN" b="0">
                <a:solidFill>
                  <a:schemeClr val="tx1"/>
                </a:solidFill>
                <a:latin typeface="Times New Roman" panose="02020603050405020304" pitchFamily="18" charset="0"/>
              </a:rPr>
              <a:pPr/>
              <a:t>14</a:t>
            </a:fld>
            <a:endParaRPr lang="en-US" altLang="zh-CN" b="0">
              <a:solidFill>
                <a:schemeClr val="tx1"/>
              </a:solidFill>
              <a:latin typeface="Times New Roman" panose="02020603050405020304" pitchFamily="18" charset="0"/>
            </a:endParaRPr>
          </a:p>
        </p:txBody>
      </p:sp>
      <p:sp>
        <p:nvSpPr>
          <p:cNvPr id="25603" name="Rectangle 2">
            <a:extLst>
              <a:ext uri="{FF2B5EF4-FFF2-40B4-BE49-F238E27FC236}">
                <a16:creationId xmlns:a16="http://schemas.microsoft.com/office/drawing/2014/main" id="{4B27735F-1C94-A91A-FA79-AE5DA65D1C0A}"/>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D26F6D9A-485C-2962-33F9-CA3F6E6486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831DA148-774C-A02F-F2B7-37F3B9A9AC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73CC49CF-5417-42A8-8055-70D23E44C50B}" type="slidenum">
              <a:rPr lang="en-US" altLang="zh-CN" b="0">
                <a:solidFill>
                  <a:schemeClr val="tx1"/>
                </a:solidFill>
                <a:latin typeface="Times New Roman" panose="02020603050405020304" pitchFamily="18" charset="0"/>
              </a:rPr>
              <a:pPr/>
              <a:t>16</a:t>
            </a:fld>
            <a:endParaRPr lang="en-US" altLang="zh-CN" b="0">
              <a:solidFill>
                <a:schemeClr val="tx1"/>
              </a:solidFill>
              <a:latin typeface="Times New Roman" panose="02020603050405020304" pitchFamily="18" charset="0"/>
            </a:endParaRPr>
          </a:p>
        </p:txBody>
      </p:sp>
      <p:sp>
        <p:nvSpPr>
          <p:cNvPr id="28675" name="Rectangle 2">
            <a:extLst>
              <a:ext uri="{FF2B5EF4-FFF2-40B4-BE49-F238E27FC236}">
                <a16:creationId xmlns:a16="http://schemas.microsoft.com/office/drawing/2014/main" id="{02477B5D-7067-FDF5-7FA9-59FD05917AF6}"/>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00506A84-5163-3508-B9D6-71102210CE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CF7F3FF6-A995-0F75-C9F1-6D998CA459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E1FE87E9-69E2-4D8A-976C-2EACE787AF00}" type="slidenum">
              <a:rPr lang="en-US" altLang="zh-CN" b="0">
                <a:solidFill>
                  <a:schemeClr val="tx1"/>
                </a:solidFill>
                <a:latin typeface="Times New Roman" panose="02020603050405020304" pitchFamily="18" charset="0"/>
              </a:rPr>
              <a:pPr/>
              <a:t>17</a:t>
            </a:fld>
            <a:endParaRPr lang="en-US" altLang="zh-CN" b="0">
              <a:solidFill>
                <a:schemeClr val="tx1"/>
              </a:solidFill>
              <a:latin typeface="Times New Roman" panose="02020603050405020304" pitchFamily="18" charset="0"/>
            </a:endParaRPr>
          </a:p>
        </p:txBody>
      </p:sp>
      <p:sp>
        <p:nvSpPr>
          <p:cNvPr id="30723" name="Rectangle 2">
            <a:extLst>
              <a:ext uri="{FF2B5EF4-FFF2-40B4-BE49-F238E27FC236}">
                <a16:creationId xmlns:a16="http://schemas.microsoft.com/office/drawing/2014/main" id="{4431C736-4371-B966-2302-673185BFD09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80C817DE-6E4E-F414-7F53-24486661D0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00B21773-BCFC-E06A-9915-414AD46A24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D0432034-D799-43A8-BCFB-BD7E9365DB4C}" type="slidenum">
              <a:rPr lang="en-US" altLang="zh-CN" b="0">
                <a:solidFill>
                  <a:schemeClr val="tx1"/>
                </a:solidFill>
                <a:latin typeface="Times New Roman" panose="02020603050405020304" pitchFamily="18" charset="0"/>
              </a:rPr>
              <a:pPr/>
              <a:t>18</a:t>
            </a:fld>
            <a:endParaRPr lang="en-US" altLang="zh-CN" b="0">
              <a:solidFill>
                <a:schemeClr val="tx1"/>
              </a:solidFill>
              <a:latin typeface="Times New Roman" panose="02020603050405020304" pitchFamily="18" charset="0"/>
            </a:endParaRPr>
          </a:p>
        </p:txBody>
      </p:sp>
      <p:sp>
        <p:nvSpPr>
          <p:cNvPr id="32771" name="Rectangle 2">
            <a:extLst>
              <a:ext uri="{FF2B5EF4-FFF2-40B4-BE49-F238E27FC236}">
                <a16:creationId xmlns:a16="http://schemas.microsoft.com/office/drawing/2014/main" id="{EA952ED1-E86C-A500-1B7A-34952DA4D33D}"/>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20326282-B358-57B2-4E52-70AAA9D5B0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00B21773-BCFC-E06A-9915-414AD46A24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D0432034-D799-43A8-BCFB-BD7E9365DB4C}" type="slidenum">
              <a:rPr lang="en-US" altLang="zh-CN" b="0">
                <a:solidFill>
                  <a:schemeClr val="tx1"/>
                </a:solidFill>
                <a:latin typeface="Times New Roman" panose="02020603050405020304" pitchFamily="18" charset="0"/>
              </a:rPr>
              <a:pPr/>
              <a:t>19</a:t>
            </a:fld>
            <a:endParaRPr lang="en-US" altLang="zh-CN" b="0">
              <a:solidFill>
                <a:schemeClr val="tx1"/>
              </a:solidFill>
              <a:latin typeface="Times New Roman" panose="02020603050405020304" pitchFamily="18" charset="0"/>
            </a:endParaRPr>
          </a:p>
        </p:txBody>
      </p:sp>
      <p:sp>
        <p:nvSpPr>
          <p:cNvPr id="32771" name="Rectangle 2">
            <a:extLst>
              <a:ext uri="{FF2B5EF4-FFF2-40B4-BE49-F238E27FC236}">
                <a16:creationId xmlns:a16="http://schemas.microsoft.com/office/drawing/2014/main" id="{EA952ED1-E86C-A500-1B7A-34952DA4D33D}"/>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20326282-B358-57B2-4E52-70AAA9D5B0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03554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00B21773-BCFC-E06A-9915-414AD46A24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D0432034-D799-43A8-BCFB-BD7E9365DB4C}" type="slidenum">
              <a:rPr lang="en-US" altLang="zh-CN" b="0">
                <a:solidFill>
                  <a:schemeClr val="tx1"/>
                </a:solidFill>
                <a:latin typeface="Times New Roman" panose="02020603050405020304" pitchFamily="18" charset="0"/>
              </a:rPr>
              <a:pPr/>
              <a:t>20</a:t>
            </a:fld>
            <a:endParaRPr lang="en-US" altLang="zh-CN" b="0">
              <a:solidFill>
                <a:schemeClr val="tx1"/>
              </a:solidFill>
              <a:latin typeface="Times New Roman" panose="02020603050405020304" pitchFamily="18" charset="0"/>
            </a:endParaRPr>
          </a:p>
        </p:txBody>
      </p:sp>
      <p:sp>
        <p:nvSpPr>
          <p:cNvPr id="32771" name="Rectangle 2">
            <a:extLst>
              <a:ext uri="{FF2B5EF4-FFF2-40B4-BE49-F238E27FC236}">
                <a16:creationId xmlns:a16="http://schemas.microsoft.com/office/drawing/2014/main" id="{EA952ED1-E86C-A500-1B7A-34952DA4D33D}"/>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20326282-B358-57B2-4E52-70AAA9D5B0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084516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00B21773-BCFC-E06A-9915-414AD46A24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D0432034-D799-43A8-BCFB-BD7E9365DB4C}" type="slidenum">
              <a:rPr lang="en-US" altLang="zh-CN" b="0">
                <a:solidFill>
                  <a:schemeClr val="tx1"/>
                </a:solidFill>
                <a:latin typeface="Times New Roman" panose="02020603050405020304" pitchFamily="18" charset="0"/>
              </a:rPr>
              <a:pPr/>
              <a:t>21</a:t>
            </a:fld>
            <a:endParaRPr lang="en-US" altLang="zh-CN" b="0">
              <a:solidFill>
                <a:schemeClr val="tx1"/>
              </a:solidFill>
              <a:latin typeface="Times New Roman" panose="02020603050405020304" pitchFamily="18" charset="0"/>
            </a:endParaRPr>
          </a:p>
        </p:txBody>
      </p:sp>
      <p:sp>
        <p:nvSpPr>
          <p:cNvPr id="32771" name="Rectangle 2">
            <a:extLst>
              <a:ext uri="{FF2B5EF4-FFF2-40B4-BE49-F238E27FC236}">
                <a16:creationId xmlns:a16="http://schemas.microsoft.com/office/drawing/2014/main" id="{EA952ED1-E86C-A500-1B7A-34952DA4D33D}"/>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20326282-B358-57B2-4E52-70AAA9D5B0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905362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2A1E1B07-D58E-F07A-0EEA-554EA3AFAD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38DBB27C-0488-42D9-AD3B-6C3A6423736A}" type="slidenum">
              <a:rPr lang="en-US" altLang="zh-CN" b="0">
                <a:solidFill>
                  <a:schemeClr val="tx1"/>
                </a:solidFill>
                <a:latin typeface="Times New Roman" panose="02020603050405020304" pitchFamily="18" charset="0"/>
              </a:rPr>
              <a:pPr/>
              <a:t>22</a:t>
            </a:fld>
            <a:endParaRPr lang="en-US" altLang="zh-CN" b="0">
              <a:solidFill>
                <a:schemeClr val="tx1"/>
              </a:solidFill>
              <a:latin typeface="Times New Roman" panose="02020603050405020304" pitchFamily="18" charset="0"/>
            </a:endParaRPr>
          </a:p>
        </p:txBody>
      </p:sp>
      <p:sp>
        <p:nvSpPr>
          <p:cNvPr id="34819" name="Rectangle 2">
            <a:extLst>
              <a:ext uri="{FF2B5EF4-FFF2-40B4-BE49-F238E27FC236}">
                <a16:creationId xmlns:a16="http://schemas.microsoft.com/office/drawing/2014/main" id="{7E69835E-6471-94C9-E250-F68F529B6422}"/>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95FA1AD8-322B-E979-D4C5-003589D01F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995951C5-6779-AC86-622C-14C5FF377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913D6E45-ADEA-41F9-8B6E-1083ED8A74E4}" type="slidenum">
              <a:rPr lang="en-US" altLang="zh-CN" b="0">
                <a:solidFill>
                  <a:schemeClr val="tx1"/>
                </a:solidFill>
                <a:latin typeface="Times New Roman" panose="02020603050405020304" pitchFamily="18" charset="0"/>
              </a:rPr>
              <a:pPr/>
              <a:t>23</a:t>
            </a:fld>
            <a:endParaRPr lang="en-US" altLang="zh-CN" b="0">
              <a:solidFill>
                <a:schemeClr val="tx1"/>
              </a:solidFill>
              <a:latin typeface="Times New Roman" panose="02020603050405020304" pitchFamily="18" charset="0"/>
            </a:endParaRPr>
          </a:p>
        </p:txBody>
      </p:sp>
      <p:sp>
        <p:nvSpPr>
          <p:cNvPr id="36867" name="Rectangle 2">
            <a:extLst>
              <a:ext uri="{FF2B5EF4-FFF2-40B4-BE49-F238E27FC236}">
                <a16:creationId xmlns:a16="http://schemas.microsoft.com/office/drawing/2014/main" id="{64356642-CB11-F202-CABF-83C17DA9BF78}"/>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C148DA28-1B99-A489-C317-5C9FDD5B28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2E102E2E-307F-28A3-FF0C-DD5A4C8B34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11649103-3002-4A1E-B38D-080C3E46FD6B}" type="slidenum">
              <a:rPr lang="en-US" altLang="zh-CN" b="0">
                <a:solidFill>
                  <a:schemeClr val="tx1"/>
                </a:solidFill>
                <a:latin typeface="Times New Roman" panose="02020603050405020304" pitchFamily="18" charset="0"/>
              </a:rPr>
              <a:pPr/>
              <a:t>24</a:t>
            </a:fld>
            <a:endParaRPr lang="en-US" altLang="zh-CN" b="0">
              <a:solidFill>
                <a:schemeClr val="tx1"/>
              </a:solidFill>
              <a:latin typeface="Times New Roman" panose="02020603050405020304" pitchFamily="18" charset="0"/>
            </a:endParaRPr>
          </a:p>
        </p:txBody>
      </p:sp>
      <p:sp>
        <p:nvSpPr>
          <p:cNvPr id="38915" name="Rectangle 2">
            <a:extLst>
              <a:ext uri="{FF2B5EF4-FFF2-40B4-BE49-F238E27FC236}">
                <a16:creationId xmlns:a16="http://schemas.microsoft.com/office/drawing/2014/main" id="{9120F8F4-50F5-74A2-2A43-6BCC870126F8}"/>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3BC4297C-2CDB-3101-D54B-401966E5C4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11739154-B7CD-983A-7E6E-B36F239AA5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C6BB6229-5010-40F9-96B3-AD66E05E9A38}" type="slidenum">
              <a:rPr lang="en-US" altLang="zh-CN" b="0">
                <a:solidFill>
                  <a:schemeClr val="tx1"/>
                </a:solidFill>
                <a:latin typeface="Times New Roman" panose="02020603050405020304" pitchFamily="18" charset="0"/>
              </a:rPr>
              <a:pPr/>
              <a:t>25</a:t>
            </a:fld>
            <a:endParaRPr lang="en-US" altLang="zh-CN" b="0">
              <a:solidFill>
                <a:schemeClr val="tx1"/>
              </a:solidFill>
              <a:latin typeface="Times New Roman" panose="02020603050405020304" pitchFamily="18" charset="0"/>
            </a:endParaRPr>
          </a:p>
        </p:txBody>
      </p:sp>
      <p:sp>
        <p:nvSpPr>
          <p:cNvPr id="40963" name="Rectangle 2">
            <a:extLst>
              <a:ext uri="{FF2B5EF4-FFF2-40B4-BE49-F238E27FC236}">
                <a16:creationId xmlns:a16="http://schemas.microsoft.com/office/drawing/2014/main" id="{EDCF9431-0B43-F2DB-2711-1E3732FFC54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B3E8FFB8-59FE-D021-2478-72DBCD0C82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68F3CFCF-99B9-BBA2-3ED3-E2E6139880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3C17D69E-4392-4074-9E72-23AB29A567A9}" type="slidenum">
              <a:rPr lang="en-US" altLang="zh-CN" b="0">
                <a:solidFill>
                  <a:schemeClr val="tx1"/>
                </a:solidFill>
                <a:latin typeface="Times New Roman" panose="02020603050405020304" pitchFamily="18" charset="0"/>
              </a:rPr>
              <a:pPr/>
              <a:t>26</a:t>
            </a:fld>
            <a:endParaRPr lang="en-US" altLang="zh-CN" b="0">
              <a:solidFill>
                <a:schemeClr val="tx1"/>
              </a:solidFill>
              <a:latin typeface="Times New Roman" panose="02020603050405020304" pitchFamily="18" charset="0"/>
            </a:endParaRPr>
          </a:p>
        </p:txBody>
      </p:sp>
      <p:sp>
        <p:nvSpPr>
          <p:cNvPr id="43011" name="Rectangle 2">
            <a:extLst>
              <a:ext uri="{FF2B5EF4-FFF2-40B4-BE49-F238E27FC236}">
                <a16:creationId xmlns:a16="http://schemas.microsoft.com/office/drawing/2014/main" id="{89796562-2014-30B7-895E-E9751654E20B}"/>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1BF8349-042F-31DC-1C15-258ED6D48F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68F3CFCF-99B9-BBA2-3ED3-E2E6139880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3C17D69E-4392-4074-9E72-23AB29A567A9}" type="slidenum">
              <a:rPr lang="en-US" altLang="zh-CN" b="0">
                <a:solidFill>
                  <a:schemeClr val="tx1"/>
                </a:solidFill>
                <a:latin typeface="Times New Roman" panose="02020603050405020304" pitchFamily="18" charset="0"/>
              </a:rPr>
              <a:pPr/>
              <a:t>27</a:t>
            </a:fld>
            <a:endParaRPr lang="en-US" altLang="zh-CN" b="0">
              <a:solidFill>
                <a:schemeClr val="tx1"/>
              </a:solidFill>
              <a:latin typeface="Times New Roman" panose="02020603050405020304" pitchFamily="18" charset="0"/>
            </a:endParaRPr>
          </a:p>
        </p:txBody>
      </p:sp>
      <p:sp>
        <p:nvSpPr>
          <p:cNvPr id="43011" name="Rectangle 2">
            <a:extLst>
              <a:ext uri="{FF2B5EF4-FFF2-40B4-BE49-F238E27FC236}">
                <a16:creationId xmlns:a16="http://schemas.microsoft.com/office/drawing/2014/main" id="{89796562-2014-30B7-895E-E9751654E20B}"/>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1BF8349-042F-31DC-1C15-258ED6D48F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6312061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68F3CFCF-99B9-BBA2-3ED3-E2E6139880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3C17D69E-4392-4074-9E72-23AB29A567A9}" type="slidenum">
              <a:rPr lang="en-US" altLang="zh-CN" b="0">
                <a:solidFill>
                  <a:schemeClr val="tx1"/>
                </a:solidFill>
                <a:latin typeface="Times New Roman" panose="02020603050405020304" pitchFamily="18" charset="0"/>
              </a:rPr>
              <a:pPr/>
              <a:t>28</a:t>
            </a:fld>
            <a:endParaRPr lang="en-US" altLang="zh-CN" b="0">
              <a:solidFill>
                <a:schemeClr val="tx1"/>
              </a:solidFill>
              <a:latin typeface="Times New Roman" panose="02020603050405020304" pitchFamily="18" charset="0"/>
            </a:endParaRPr>
          </a:p>
        </p:txBody>
      </p:sp>
      <p:sp>
        <p:nvSpPr>
          <p:cNvPr id="43011" name="Rectangle 2">
            <a:extLst>
              <a:ext uri="{FF2B5EF4-FFF2-40B4-BE49-F238E27FC236}">
                <a16:creationId xmlns:a16="http://schemas.microsoft.com/office/drawing/2014/main" id="{89796562-2014-30B7-895E-E9751654E20B}"/>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1BF8349-042F-31DC-1C15-258ED6D48F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235404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7989FA61-ED43-AB80-2BD7-80DB93E79A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0F4DC823-B720-4015-BB0E-F7A304C06C20}" type="slidenum">
              <a:rPr lang="en-US" altLang="zh-CN" b="0">
                <a:solidFill>
                  <a:schemeClr val="tx1"/>
                </a:solidFill>
                <a:latin typeface="Times New Roman" panose="02020603050405020304" pitchFamily="18" charset="0"/>
              </a:rPr>
              <a:pPr/>
              <a:t>29</a:t>
            </a:fld>
            <a:endParaRPr lang="en-US" altLang="zh-CN" b="0">
              <a:solidFill>
                <a:schemeClr val="tx1"/>
              </a:solidFill>
              <a:latin typeface="Times New Roman" panose="02020603050405020304" pitchFamily="18" charset="0"/>
            </a:endParaRPr>
          </a:p>
        </p:txBody>
      </p:sp>
      <p:sp>
        <p:nvSpPr>
          <p:cNvPr id="45059" name="Rectangle 2">
            <a:extLst>
              <a:ext uri="{FF2B5EF4-FFF2-40B4-BE49-F238E27FC236}">
                <a16:creationId xmlns:a16="http://schemas.microsoft.com/office/drawing/2014/main" id="{13C5A0FE-0E11-5013-9225-B10BEA2DD5B6}"/>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ECDE2B44-27A5-38CA-C105-0FF771388A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A4374BCB-4E6C-AF8E-46C8-95DC3347E1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B4B8D387-BE96-4F63-9ECD-9812F7A50B13}" type="slidenum">
              <a:rPr lang="en-US" altLang="zh-CN" b="0">
                <a:solidFill>
                  <a:schemeClr val="tx1"/>
                </a:solidFill>
                <a:latin typeface="Times New Roman" panose="02020603050405020304" pitchFamily="18" charset="0"/>
              </a:rPr>
              <a:pPr/>
              <a:t>31</a:t>
            </a:fld>
            <a:endParaRPr lang="en-US" altLang="zh-CN" b="0">
              <a:solidFill>
                <a:schemeClr val="tx1"/>
              </a:solidFill>
              <a:latin typeface="Times New Roman" panose="02020603050405020304" pitchFamily="18" charset="0"/>
            </a:endParaRPr>
          </a:p>
        </p:txBody>
      </p:sp>
      <p:sp>
        <p:nvSpPr>
          <p:cNvPr id="48131" name="Rectangle 2">
            <a:extLst>
              <a:ext uri="{FF2B5EF4-FFF2-40B4-BE49-F238E27FC236}">
                <a16:creationId xmlns:a16="http://schemas.microsoft.com/office/drawing/2014/main" id="{83BA42D8-34BA-A187-7CBB-43B155855764}"/>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0C832344-93FA-58EE-76ED-209776CE82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0BFED4E-5EBB-D7F9-EF60-73893CB340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0FC72E82-3C79-41FF-AD7A-543B1D22B08F}" type="slidenum">
              <a:rPr lang="en-US" altLang="zh-CN" b="0">
                <a:solidFill>
                  <a:schemeClr val="tx1"/>
                </a:solidFill>
                <a:latin typeface="Times New Roman" panose="02020603050405020304" pitchFamily="18" charset="0"/>
              </a:rPr>
              <a:pPr/>
              <a:t>32</a:t>
            </a:fld>
            <a:endParaRPr lang="en-US" altLang="zh-CN" b="0">
              <a:solidFill>
                <a:schemeClr val="tx1"/>
              </a:solidFill>
              <a:latin typeface="Times New Roman" panose="02020603050405020304" pitchFamily="18" charset="0"/>
            </a:endParaRPr>
          </a:p>
        </p:txBody>
      </p:sp>
      <p:sp>
        <p:nvSpPr>
          <p:cNvPr id="50179" name="Rectangle 2">
            <a:extLst>
              <a:ext uri="{FF2B5EF4-FFF2-40B4-BE49-F238E27FC236}">
                <a16:creationId xmlns:a16="http://schemas.microsoft.com/office/drawing/2014/main" id="{B2652069-9936-D4E1-6518-6D4B50B4F053}"/>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840E05FD-4E9F-A585-169B-1B8DC197CF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C0BFED4E-5EBB-D7F9-EF60-73893CB340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0FC72E82-3C79-41FF-AD7A-543B1D22B08F}" type="slidenum">
              <a:rPr lang="en-US" altLang="zh-CN" b="0">
                <a:solidFill>
                  <a:schemeClr val="tx1"/>
                </a:solidFill>
                <a:latin typeface="Times New Roman" panose="02020603050405020304" pitchFamily="18" charset="0"/>
              </a:rPr>
              <a:pPr/>
              <a:t>33</a:t>
            </a:fld>
            <a:endParaRPr lang="en-US" altLang="zh-CN" b="0">
              <a:solidFill>
                <a:schemeClr val="tx1"/>
              </a:solidFill>
              <a:latin typeface="Times New Roman" panose="02020603050405020304" pitchFamily="18" charset="0"/>
            </a:endParaRPr>
          </a:p>
        </p:txBody>
      </p:sp>
      <p:sp>
        <p:nvSpPr>
          <p:cNvPr id="50179" name="Rectangle 2">
            <a:extLst>
              <a:ext uri="{FF2B5EF4-FFF2-40B4-BE49-F238E27FC236}">
                <a16:creationId xmlns:a16="http://schemas.microsoft.com/office/drawing/2014/main" id="{B2652069-9936-D4E1-6518-6D4B50B4F053}"/>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840E05FD-4E9F-A585-169B-1B8DC197CF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656764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EFB692C-20B5-6AAA-A49F-3E8675452D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182169AC-BF63-44E4-9F05-AAA83FA2930A}" type="slidenum">
              <a:rPr lang="en-US" altLang="zh-CN" b="0">
                <a:solidFill>
                  <a:schemeClr val="tx1"/>
                </a:solidFill>
                <a:latin typeface="Times New Roman" panose="02020603050405020304" pitchFamily="18" charset="0"/>
              </a:rPr>
              <a:pPr/>
              <a:t>45</a:t>
            </a:fld>
            <a:endParaRPr lang="en-US" altLang="zh-CN" b="0">
              <a:solidFill>
                <a:schemeClr val="tx1"/>
              </a:solidFill>
              <a:latin typeface="Times New Roman" panose="02020603050405020304" pitchFamily="18" charset="0"/>
            </a:endParaRPr>
          </a:p>
        </p:txBody>
      </p:sp>
      <p:sp>
        <p:nvSpPr>
          <p:cNvPr id="63491" name="Rectangle 2">
            <a:extLst>
              <a:ext uri="{FF2B5EF4-FFF2-40B4-BE49-F238E27FC236}">
                <a16:creationId xmlns:a16="http://schemas.microsoft.com/office/drawing/2014/main" id="{BDA0858D-1179-E080-E13B-6E055061041D}"/>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9BC4D6E5-7C25-6CF1-1B42-8C7CC4F31A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1A890FD1-9307-6F28-1976-AA74137BF5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63E81094-C838-4E47-ADB8-BD4F149070BA}" type="slidenum">
              <a:rPr lang="en-US" altLang="zh-CN" b="0">
                <a:solidFill>
                  <a:schemeClr val="tx1"/>
                </a:solidFill>
                <a:latin typeface="Times New Roman" panose="02020603050405020304" pitchFamily="18" charset="0"/>
              </a:rPr>
              <a:pPr/>
              <a:t>46</a:t>
            </a:fld>
            <a:endParaRPr lang="en-US" altLang="zh-CN" b="0">
              <a:solidFill>
                <a:schemeClr val="tx1"/>
              </a:solidFill>
              <a:latin typeface="Times New Roman" panose="02020603050405020304" pitchFamily="18" charset="0"/>
            </a:endParaRPr>
          </a:p>
        </p:txBody>
      </p:sp>
      <p:sp>
        <p:nvSpPr>
          <p:cNvPr id="65539" name="Rectangle 2">
            <a:extLst>
              <a:ext uri="{FF2B5EF4-FFF2-40B4-BE49-F238E27FC236}">
                <a16:creationId xmlns:a16="http://schemas.microsoft.com/office/drawing/2014/main" id="{83EB14A2-568F-CD09-F1AD-BA7B570F8A9B}"/>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4E89E50C-B313-96AD-4EDA-7F24DEDE36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A5DD599D-1545-9729-C37F-E379659924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EAD49277-D664-4D6D-95FF-A889C3B389B4}" type="slidenum">
              <a:rPr lang="en-US" altLang="zh-CN" b="0">
                <a:solidFill>
                  <a:schemeClr val="tx1"/>
                </a:solidFill>
                <a:latin typeface="Times New Roman" panose="02020603050405020304" pitchFamily="18" charset="0"/>
              </a:rPr>
              <a:pPr/>
              <a:t>47</a:t>
            </a:fld>
            <a:endParaRPr lang="en-US" altLang="zh-CN" b="0">
              <a:solidFill>
                <a:schemeClr val="tx1"/>
              </a:solidFill>
              <a:latin typeface="Times New Roman" panose="02020603050405020304" pitchFamily="18" charset="0"/>
            </a:endParaRPr>
          </a:p>
        </p:txBody>
      </p:sp>
      <p:sp>
        <p:nvSpPr>
          <p:cNvPr id="67587" name="Rectangle 2">
            <a:extLst>
              <a:ext uri="{FF2B5EF4-FFF2-40B4-BE49-F238E27FC236}">
                <a16:creationId xmlns:a16="http://schemas.microsoft.com/office/drawing/2014/main" id="{B2090521-9D5A-9063-2388-49C7B1D8C175}"/>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AE316356-44ED-013F-8A85-84EF412A46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03D8040B-7ED2-EF3A-7486-F890CADDD9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498A3683-13D9-475F-B09A-F2C0AE915DC7}" type="slidenum">
              <a:rPr lang="en-US" altLang="zh-CN" b="0">
                <a:solidFill>
                  <a:schemeClr val="tx1"/>
                </a:solidFill>
                <a:latin typeface="Times New Roman" panose="02020603050405020304" pitchFamily="18" charset="0"/>
              </a:rPr>
              <a:pPr/>
              <a:t>48</a:t>
            </a:fld>
            <a:endParaRPr lang="en-US" altLang="zh-CN" b="0">
              <a:solidFill>
                <a:schemeClr val="tx1"/>
              </a:solidFill>
              <a:latin typeface="Times New Roman" panose="02020603050405020304" pitchFamily="18" charset="0"/>
            </a:endParaRPr>
          </a:p>
        </p:txBody>
      </p:sp>
      <p:sp>
        <p:nvSpPr>
          <p:cNvPr id="69635" name="Rectangle 2">
            <a:extLst>
              <a:ext uri="{FF2B5EF4-FFF2-40B4-BE49-F238E27FC236}">
                <a16:creationId xmlns:a16="http://schemas.microsoft.com/office/drawing/2014/main" id="{458B06BF-CE24-923B-038F-D008A879C939}"/>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1EF5F86F-D1A9-CFBA-7FAF-7BC6982A6A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9C37B397-4834-6B3B-137D-C6C0C90EDD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EE0EF141-C3C3-4A80-AB99-433383A24456}" type="slidenum">
              <a:rPr lang="en-US" altLang="zh-CN" b="0">
                <a:solidFill>
                  <a:schemeClr val="tx1"/>
                </a:solidFill>
                <a:latin typeface="Times New Roman" panose="02020603050405020304" pitchFamily="18" charset="0"/>
              </a:rPr>
              <a:pPr/>
              <a:t>49</a:t>
            </a:fld>
            <a:endParaRPr lang="en-US" altLang="zh-CN" b="0">
              <a:solidFill>
                <a:schemeClr val="tx1"/>
              </a:solidFill>
              <a:latin typeface="Times New Roman" panose="02020603050405020304" pitchFamily="18" charset="0"/>
            </a:endParaRPr>
          </a:p>
        </p:txBody>
      </p:sp>
      <p:sp>
        <p:nvSpPr>
          <p:cNvPr id="71683" name="Rectangle 2">
            <a:extLst>
              <a:ext uri="{FF2B5EF4-FFF2-40B4-BE49-F238E27FC236}">
                <a16:creationId xmlns:a16="http://schemas.microsoft.com/office/drawing/2014/main" id="{16B19B73-FE61-3469-B573-75E090C45D5E}"/>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91BBEB7A-91E8-F7C4-BE66-6B12374B5C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9C37B397-4834-6B3B-137D-C6C0C90EDD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EE0EF141-C3C3-4A80-AB99-433383A24456}" type="slidenum">
              <a:rPr lang="en-US" altLang="zh-CN" b="0">
                <a:solidFill>
                  <a:schemeClr val="tx1"/>
                </a:solidFill>
                <a:latin typeface="Times New Roman" panose="02020603050405020304" pitchFamily="18" charset="0"/>
              </a:rPr>
              <a:pPr/>
              <a:t>50</a:t>
            </a:fld>
            <a:endParaRPr lang="en-US" altLang="zh-CN" b="0">
              <a:solidFill>
                <a:schemeClr val="tx1"/>
              </a:solidFill>
              <a:latin typeface="Times New Roman" panose="02020603050405020304" pitchFamily="18" charset="0"/>
            </a:endParaRPr>
          </a:p>
        </p:txBody>
      </p:sp>
      <p:sp>
        <p:nvSpPr>
          <p:cNvPr id="71683" name="Rectangle 2">
            <a:extLst>
              <a:ext uri="{FF2B5EF4-FFF2-40B4-BE49-F238E27FC236}">
                <a16:creationId xmlns:a16="http://schemas.microsoft.com/office/drawing/2014/main" id="{16B19B73-FE61-3469-B573-75E090C45D5E}"/>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91BBEB7A-91E8-F7C4-BE66-6B12374B5C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8170938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C5960084-0B8F-584D-1720-0E3B55937F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6807B550-8D99-42DF-997C-B4A9F1FF7E8B}" type="slidenum">
              <a:rPr lang="en-US" altLang="zh-CN" b="0">
                <a:solidFill>
                  <a:schemeClr val="tx1"/>
                </a:solidFill>
                <a:latin typeface="Times New Roman" panose="02020603050405020304" pitchFamily="18" charset="0"/>
              </a:rPr>
              <a:pPr/>
              <a:t>51</a:t>
            </a:fld>
            <a:endParaRPr lang="en-US" altLang="zh-CN" b="0">
              <a:solidFill>
                <a:schemeClr val="tx1"/>
              </a:solidFill>
              <a:latin typeface="Times New Roman" panose="02020603050405020304" pitchFamily="18" charset="0"/>
            </a:endParaRPr>
          </a:p>
        </p:txBody>
      </p:sp>
      <p:sp>
        <p:nvSpPr>
          <p:cNvPr id="73731" name="Rectangle 2">
            <a:extLst>
              <a:ext uri="{FF2B5EF4-FFF2-40B4-BE49-F238E27FC236}">
                <a16:creationId xmlns:a16="http://schemas.microsoft.com/office/drawing/2014/main" id="{9C2660D6-BA61-4E63-0F21-493AA265379E}"/>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48360D06-6FEE-723A-B27E-C159422F7E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0B190967-BF23-DA99-1E84-D377A2CE04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063065B6-D595-43DA-8F68-DD4F158D445D}" type="slidenum">
              <a:rPr lang="en-US" altLang="zh-CN" b="0">
                <a:solidFill>
                  <a:schemeClr val="tx1"/>
                </a:solidFill>
                <a:latin typeface="Times New Roman" panose="02020603050405020304" pitchFamily="18" charset="0"/>
              </a:rPr>
              <a:pPr/>
              <a:t>52</a:t>
            </a:fld>
            <a:endParaRPr lang="en-US" altLang="zh-CN" b="0">
              <a:solidFill>
                <a:schemeClr val="tx1"/>
              </a:solidFill>
              <a:latin typeface="Times New Roman" panose="02020603050405020304" pitchFamily="18" charset="0"/>
            </a:endParaRPr>
          </a:p>
        </p:txBody>
      </p:sp>
      <p:sp>
        <p:nvSpPr>
          <p:cNvPr id="75779" name="Rectangle 2">
            <a:extLst>
              <a:ext uri="{FF2B5EF4-FFF2-40B4-BE49-F238E27FC236}">
                <a16:creationId xmlns:a16="http://schemas.microsoft.com/office/drawing/2014/main" id="{A3D4E6AE-7E7E-1331-6BD3-3720E43B7E3B}"/>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CBE8FBCD-01E3-6093-4425-D584D539F3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748AD27A-E570-26F2-8597-59E6AFA54E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B7A820A3-29F2-4F18-B2B9-51B3ED62CD76}" type="slidenum">
              <a:rPr lang="en-US" altLang="zh-CN" b="0">
                <a:solidFill>
                  <a:schemeClr val="tx1"/>
                </a:solidFill>
                <a:latin typeface="Times New Roman" panose="02020603050405020304" pitchFamily="18" charset="0"/>
              </a:rPr>
              <a:pPr/>
              <a:t>53</a:t>
            </a:fld>
            <a:endParaRPr lang="en-US" altLang="zh-CN" b="0">
              <a:solidFill>
                <a:schemeClr val="tx1"/>
              </a:solidFill>
              <a:latin typeface="Times New Roman" panose="02020603050405020304" pitchFamily="18" charset="0"/>
            </a:endParaRPr>
          </a:p>
        </p:txBody>
      </p:sp>
      <p:sp>
        <p:nvSpPr>
          <p:cNvPr id="77827" name="Rectangle 2">
            <a:extLst>
              <a:ext uri="{FF2B5EF4-FFF2-40B4-BE49-F238E27FC236}">
                <a16:creationId xmlns:a16="http://schemas.microsoft.com/office/drawing/2014/main" id="{005FDE54-3C97-DE8F-230B-869F62E40A7B}"/>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6BAC4054-B01A-9542-0A76-E1B3E6C5D5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748AD27A-E570-26F2-8597-59E6AFA54E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B7A820A3-29F2-4F18-B2B9-51B3ED62CD76}" type="slidenum">
              <a:rPr lang="en-US" altLang="zh-CN" b="0">
                <a:solidFill>
                  <a:schemeClr val="tx1"/>
                </a:solidFill>
                <a:latin typeface="Times New Roman" panose="02020603050405020304" pitchFamily="18" charset="0"/>
              </a:rPr>
              <a:pPr/>
              <a:t>54</a:t>
            </a:fld>
            <a:endParaRPr lang="en-US" altLang="zh-CN" b="0">
              <a:solidFill>
                <a:schemeClr val="tx1"/>
              </a:solidFill>
              <a:latin typeface="Times New Roman" panose="02020603050405020304" pitchFamily="18" charset="0"/>
            </a:endParaRPr>
          </a:p>
        </p:txBody>
      </p:sp>
      <p:sp>
        <p:nvSpPr>
          <p:cNvPr id="77827" name="Rectangle 2">
            <a:extLst>
              <a:ext uri="{FF2B5EF4-FFF2-40B4-BE49-F238E27FC236}">
                <a16:creationId xmlns:a16="http://schemas.microsoft.com/office/drawing/2014/main" id="{005FDE54-3C97-DE8F-230B-869F62E40A7B}"/>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6BAC4054-B01A-9542-0A76-E1B3E6C5D5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447288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27C9AE68-8DD0-51B3-EEE9-C06883F5D2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21273160-6702-42A4-BB14-AFD739EF2773}" type="slidenum">
              <a:rPr lang="en-US" altLang="zh-CN" b="0">
                <a:solidFill>
                  <a:schemeClr val="tx1"/>
                </a:solidFill>
                <a:latin typeface="Times New Roman" panose="02020603050405020304" pitchFamily="18" charset="0"/>
              </a:rPr>
              <a:pPr/>
              <a:t>55</a:t>
            </a:fld>
            <a:endParaRPr lang="en-US" altLang="zh-CN" b="0">
              <a:solidFill>
                <a:schemeClr val="tx1"/>
              </a:solidFill>
              <a:latin typeface="Times New Roman" panose="02020603050405020304" pitchFamily="18" charset="0"/>
            </a:endParaRPr>
          </a:p>
        </p:txBody>
      </p:sp>
      <p:sp>
        <p:nvSpPr>
          <p:cNvPr id="79875" name="Rectangle 2">
            <a:extLst>
              <a:ext uri="{FF2B5EF4-FFF2-40B4-BE49-F238E27FC236}">
                <a16:creationId xmlns:a16="http://schemas.microsoft.com/office/drawing/2014/main" id="{413D3222-AA7B-6D03-F479-4385BEE5BD8D}"/>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57BCD39A-F8D8-C601-67F5-B8E1C4C147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A8934C9F-E1EB-86D9-8ACE-F52DD93D4D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557A5B7A-95B1-428D-BD0C-227C9CE6A788}" type="slidenum">
              <a:rPr lang="en-US" altLang="zh-CN" b="0">
                <a:solidFill>
                  <a:schemeClr val="tx1"/>
                </a:solidFill>
                <a:latin typeface="Times New Roman" panose="02020603050405020304" pitchFamily="18" charset="0"/>
              </a:rPr>
              <a:pPr/>
              <a:t>56</a:t>
            </a:fld>
            <a:endParaRPr lang="en-US" altLang="zh-CN" b="0">
              <a:solidFill>
                <a:schemeClr val="tx1"/>
              </a:solidFill>
              <a:latin typeface="Times New Roman" panose="02020603050405020304" pitchFamily="18" charset="0"/>
            </a:endParaRPr>
          </a:p>
        </p:txBody>
      </p:sp>
      <p:sp>
        <p:nvSpPr>
          <p:cNvPr id="81923" name="Rectangle 2">
            <a:extLst>
              <a:ext uri="{FF2B5EF4-FFF2-40B4-BE49-F238E27FC236}">
                <a16:creationId xmlns:a16="http://schemas.microsoft.com/office/drawing/2014/main" id="{F692610D-21DF-632E-BCFD-13255627BAD2}"/>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4E7C1505-E9C2-7210-02AE-843F11500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54A6E505-63D0-9D53-C820-6228ECC06E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04A745D9-2BAE-47B6-AD92-377FC5A0089D}" type="slidenum">
              <a:rPr lang="en-US" altLang="zh-CN" b="0">
                <a:solidFill>
                  <a:schemeClr val="tx1"/>
                </a:solidFill>
                <a:latin typeface="Times New Roman" panose="02020603050405020304" pitchFamily="18" charset="0"/>
              </a:rPr>
              <a:pPr/>
              <a:t>57</a:t>
            </a:fld>
            <a:endParaRPr lang="en-US" altLang="zh-CN" b="0">
              <a:solidFill>
                <a:schemeClr val="tx1"/>
              </a:solidFill>
              <a:latin typeface="Times New Roman" panose="02020603050405020304" pitchFamily="18" charset="0"/>
            </a:endParaRPr>
          </a:p>
        </p:txBody>
      </p:sp>
      <p:sp>
        <p:nvSpPr>
          <p:cNvPr id="83971" name="Rectangle 2">
            <a:extLst>
              <a:ext uri="{FF2B5EF4-FFF2-40B4-BE49-F238E27FC236}">
                <a16:creationId xmlns:a16="http://schemas.microsoft.com/office/drawing/2014/main" id="{418B349A-8CAB-058D-675B-0FFA7DF0E83A}"/>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488A9CA2-D947-BD9A-4FB8-B5FB6359F9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05FF34A8-4BDD-D64A-DFC4-CD6E97DC1A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2D4E57AB-0F20-4F95-B4FF-E80C6086ECCE}" type="slidenum">
              <a:rPr lang="en-US" altLang="zh-CN" b="0">
                <a:solidFill>
                  <a:schemeClr val="tx1"/>
                </a:solidFill>
                <a:latin typeface="Times New Roman" panose="02020603050405020304" pitchFamily="18" charset="0"/>
              </a:rPr>
              <a:pPr/>
              <a:t>58</a:t>
            </a:fld>
            <a:endParaRPr lang="en-US" altLang="zh-CN" b="0">
              <a:solidFill>
                <a:schemeClr val="tx1"/>
              </a:solidFill>
              <a:latin typeface="Times New Roman" panose="02020603050405020304" pitchFamily="18" charset="0"/>
            </a:endParaRPr>
          </a:p>
        </p:txBody>
      </p:sp>
      <p:sp>
        <p:nvSpPr>
          <p:cNvPr id="86019" name="Rectangle 2">
            <a:extLst>
              <a:ext uri="{FF2B5EF4-FFF2-40B4-BE49-F238E27FC236}">
                <a16:creationId xmlns:a16="http://schemas.microsoft.com/office/drawing/2014/main" id="{A50BEB3B-265B-55DD-9E60-64522CAA056E}"/>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E03ECFB3-D450-F7F8-6C32-4BE09AB69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5D40B934-B69F-AB0C-8CCD-029C4BD038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871E4902-FE33-43C4-BBEB-FD3C3FFB14B5}" type="slidenum">
              <a:rPr lang="en-US" altLang="zh-CN" b="0">
                <a:solidFill>
                  <a:schemeClr val="tx1"/>
                </a:solidFill>
                <a:latin typeface="Times New Roman" panose="02020603050405020304" pitchFamily="18" charset="0"/>
              </a:rPr>
              <a:pPr/>
              <a:t>59</a:t>
            </a:fld>
            <a:endParaRPr lang="en-US" altLang="zh-CN" b="0">
              <a:solidFill>
                <a:schemeClr val="tx1"/>
              </a:solidFill>
              <a:latin typeface="Times New Roman" panose="02020603050405020304" pitchFamily="18" charset="0"/>
            </a:endParaRPr>
          </a:p>
        </p:txBody>
      </p:sp>
      <p:sp>
        <p:nvSpPr>
          <p:cNvPr id="88067" name="Rectangle 2">
            <a:extLst>
              <a:ext uri="{FF2B5EF4-FFF2-40B4-BE49-F238E27FC236}">
                <a16:creationId xmlns:a16="http://schemas.microsoft.com/office/drawing/2014/main" id="{86EFCF44-8914-E1C4-EBE9-879AB5F6A08D}"/>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A6729F3B-030B-0032-97D4-E500C53AB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D4574A53-50E4-3511-CFD1-2CF43C1A2E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2A3E7CAA-B2D0-4D79-BE7D-3AF4F3F4CAFB}" type="slidenum">
              <a:rPr lang="en-US" altLang="zh-CN" b="0">
                <a:solidFill>
                  <a:schemeClr val="tx1"/>
                </a:solidFill>
                <a:latin typeface="Times New Roman" panose="02020603050405020304" pitchFamily="18" charset="0"/>
              </a:rPr>
              <a:pPr/>
              <a:t>60</a:t>
            </a:fld>
            <a:endParaRPr lang="en-US" altLang="zh-CN" b="0">
              <a:solidFill>
                <a:schemeClr val="tx1"/>
              </a:solidFill>
              <a:latin typeface="Times New Roman" panose="02020603050405020304" pitchFamily="18" charset="0"/>
            </a:endParaRPr>
          </a:p>
        </p:txBody>
      </p:sp>
      <p:sp>
        <p:nvSpPr>
          <p:cNvPr id="90115" name="Rectangle 2">
            <a:extLst>
              <a:ext uri="{FF2B5EF4-FFF2-40B4-BE49-F238E27FC236}">
                <a16:creationId xmlns:a16="http://schemas.microsoft.com/office/drawing/2014/main" id="{E4C5CCC9-4812-155B-6561-00428FB940B7}"/>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543C9445-E249-0C89-74AC-01CAD734C7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D4574A53-50E4-3511-CFD1-2CF43C1A2E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2A3E7CAA-B2D0-4D79-BE7D-3AF4F3F4CAFB}" type="slidenum">
              <a:rPr lang="en-US" altLang="zh-CN" b="0">
                <a:solidFill>
                  <a:schemeClr val="tx1"/>
                </a:solidFill>
                <a:latin typeface="Times New Roman" panose="02020603050405020304" pitchFamily="18" charset="0"/>
              </a:rPr>
              <a:pPr/>
              <a:t>61</a:t>
            </a:fld>
            <a:endParaRPr lang="en-US" altLang="zh-CN" b="0">
              <a:solidFill>
                <a:schemeClr val="tx1"/>
              </a:solidFill>
              <a:latin typeface="Times New Roman" panose="02020603050405020304" pitchFamily="18" charset="0"/>
            </a:endParaRPr>
          </a:p>
        </p:txBody>
      </p:sp>
      <p:sp>
        <p:nvSpPr>
          <p:cNvPr id="90115" name="Rectangle 2">
            <a:extLst>
              <a:ext uri="{FF2B5EF4-FFF2-40B4-BE49-F238E27FC236}">
                <a16:creationId xmlns:a16="http://schemas.microsoft.com/office/drawing/2014/main" id="{E4C5CCC9-4812-155B-6561-00428FB940B7}"/>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543C9445-E249-0C89-74AC-01CAD734C7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964818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A5C106BC-FB1E-E7C0-9443-9D9795E512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3FDD0599-191C-4EAC-B1E3-91B51AFF8253}" type="slidenum">
              <a:rPr lang="en-US" altLang="zh-CN" b="0">
                <a:solidFill>
                  <a:schemeClr val="tx1"/>
                </a:solidFill>
                <a:latin typeface="Times New Roman" panose="02020603050405020304" pitchFamily="18" charset="0"/>
              </a:rPr>
              <a:pPr/>
              <a:t>66</a:t>
            </a:fld>
            <a:endParaRPr lang="en-US" altLang="zh-CN" b="0">
              <a:solidFill>
                <a:schemeClr val="tx1"/>
              </a:solidFill>
              <a:latin typeface="Times New Roman" panose="02020603050405020304" pitchFamily="18" charset="0"/>
            </a:endParaRPr>
          </a:p>
        </p:txBody>
      </p:sp>
      <p:sp>
        <p:nvSpPr>
          <p:cNvPr id="94211" name="Rectangle 2">
            <a:extLst>
              <a:ext uri="{FF2B5EF4-FFF2-40B4-BE49-F238E27FC236}">
                <a16:creationId xmlns:a16="http://schemas.microsoft.com/office/drawing/2014/main" id="{F7790080-8D10-4181-5DA0-A27B2492985C}"/>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ADBC294C-DFEF-981C-20EB-DE65DAB39C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56F152FB-EBA0-A1A1-9166-A128824DB6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B5AB0D4F-0E5F-44E1-A0D7-880B7A8F89F8}" type="slidenum">
              <a:rPr lang="en-US" altLang="zh-CN" b="0">
                <a:solidFill>
                  <a:schemeClr val="tx1"/>
                </a:solidFill>
                <a:latin typeface="Times New Roman" panose="02020603050405020304" pitchFamily="18" charset="0"/>
              </a:rPr>
              <a:pPr/>
              <a:t>67</a:t>
            </a:fld>
            <a:endParaRPr lang="en-US" altLang="zh-CN" b="0">
              <a:solidFill>
                <a:schemeClr val="tx1"/>
              </a:solidFill>
              <a:latin typeface="Times New Roman" panose="02020603050405020304" pitchFamily="18" charset="0"/>
            </a:endParaRPr>
          </a:p>
        </p:txBody>
      </p:sp>
      <p:sp>
        <p:nvSpPr>
          <p:cNvPr id="96259" name="Rectangle 2">
            <a:extLst>
              <a:ext uri="{FF2B5EF4-FFF2-40B4-BE49-F238E27FC236}">
                <a16:creationId xmlns:a16="http://schemas.microsoft.com/office/drawing/2014/main" id="{32F38E0C-188E-BAFA-4451-99C9BFAF9D3A}"/>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E8398B3C-EE5A-6BA7-00DC-0694347CA8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AFCD3A68-A3A4-CAB3-3F7D-0810361FB4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09AD66ED-CAEF-4A7C-BBC6-CF7CEC4D1B31}" type="slidenum">
              <a:rPr lang="en-US" altLang="zh-CN" b="0">
                <a:solidFill>
                  <a:schemeClr val="tx1"/>
                </a:solidFill>
                <a:latin typeface="Times New Roman" panose="02020603050405020304" pitchFamily="18" charset="0"/>
              </a:rPr>
              <a:pPr/>
              <a:t>68</a:t>
            </a:fld>
            <a:endParaRPr lang="en-US" altLang="zh-CN" b="0">
              <a:solidFill>
                <a:schemeClr val="tx1"/>
              </a:solidFill>
              <a:latin typeface="Times New Roman" panose="02020603050405020304" pitchFamily="18" charset="0"/>
            </a:endParaRPr>
          </a:p>
        </p:txBody>
      </p:sp>
      <p:sp>
        <p:nvSpPr>
          <p:cNvPr id="98307" name="Rectangle 2">
            <a:extLst>
              <a:ext uri="{FF2B5EF4-FFF2-40B4-BE49-F238E27FC236}">
                <a16:creationId xmlns:a16="http://schemas.microsoft.com/office/drawing/2014/main" id="{D640FDF9-BEAF-123D-B836-C7E55BA9A582}"/>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D424F0CC-0CA2-960B-16B0-DA810EB029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6790F37F-F752-3228-15B6-4C7595EE45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A92B7F33-AF6E-469D-9581-A07DEB00AE3E}" type="slidenum">
              <a:rPr lang="en-US" altLang="zh-CN" b="0">
                <a:solidFill>
                  <a:schemeClr val="tx1"/>
                </a:solidFill>
                <a:latin typeface="Times New Roman" panose="02020603050405020304" pitchFamily="18" charset="0"/>
              </a:rPr>
              <a:pPr/>
              <a:t>69</a:t>
            </a:fld>
            <a:endParaRPr lang="en-US" altLang="zh-CN" b="0">
              <a:solidFill>
                <a:schemeClr val="tx1"/>
              </a:solidFill>
              <a:latin typeface="Times New Roman" panose="02020603050405020304" pitchFamily="18" charset="0"/>
            </a:endParaRPr>
          </a:p>
        </p:txBody>
      </p:sp>
      <p:sp>
        <p:nvSpPr>
          <p:cNvPr id="100355" name="Rectangle 2">
            <a:extLst>
              <a:ext uri="{FF2B5EF4-FFF2-40B4-BE49-F238E27FC236}">
                <a16:creationId xmlns:a16="http://schemas.microsoft.com/office/drawing/2014/main" id="{7D4D2560-84DA-84FF-91D9-003E019C40E1}"/>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D26E31F6-B597-CE21-CD87-C478BC1A52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918C7219-F86D-DA85-C4CD-CE9268AD8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B2ACBD2D-9D8B-4E5E-9EB9-4CA9D9B08CD9}" type="slidenum">
              <a:rPr lang="en-US" altLang="zh-CN" b="0">
                <a:solidFill>
                  <a:schemeClr val="tx1"/>
                </a:solidFill>
                <a:latin typeface="Times New Roman" panose="02020603050405020304" pitchFamily="18" charset="0"/>
              </a:rPr>
              <a:pPr/>
              <a:t>70</a:t>
            </a:fld>
            <a:endParaRPr lang="en-US" altLang="zh-CN" b="0">
              <a:solidFill>
                <a:schemeClr val="tx1"/>
              </a:solidFill>
              <a:latin typeface="Times New Roman" panose="02020603050405020304" pitchFamily="18" charset="0"/>
            </a:endParaRPr>
          </a:p>
        </p:txBody>
      </p:sp>
      <p:sp>
        <p:nvSpPr>
          <p:cNvPr id="102403" name="Rectangle 2">
            <a:extLst>
              <a:ext uri="{FF2B5EF4-FFF2-40B4-BE49-F238E27FC236}">
                <a16:creationId xmlns:a16="http://schemas.microsoft.com/office/drawing/2014/main" id="{F397F61F-724A-B483-46D3-7D8BF0869E59}"/>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56D33E44-C345-30F8-D847-88FD648DCD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918C7219-F86D-DA85-C4CD-CE9268AD8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B2ACBD2D-9D8B-4E5E-9EB9-4CA9D9B08CD9}" type="slidenum">
              <a:rPr lang="en-US" altLang="zh-CN" b="0">
                <a:solidFill>
                  <a:schemeClr val="tx1"/>
                </a:solidFill>
                <a:latin typeface="Times New Roman" panose="02020603050405020304" pitchFamily="18" charset="0"/>
              </a:rPr>
              <a:pPr/>
              <a:t>71</a:t>
            </a:fld>
            <a:endParaRPr lang="en-US" altLang="zh-CN" b="0">
              <a:solidFill>
                <a:schemeClr val="tx1"/>
              </a:solidFill>
              <a:latin typeface="Times New Roman" panose="02020603050405020304" pitchFamily="18" charset="0"/>
            </a:endParaRPr>
          </a:p>
        </p:txBody>
      </p:sp>
      <p:sp>
        <p:nvSpPr>
          <p:cNvPr id="102403" name="Rectangle 2">
            <a:extLst>
              <a:ext uri="{FF2B5EF4-FFF2-40B4-BE49-F238E27FC236}">
                <a16:creationId xmlns:a16="http://schemas.microsoft.com/office/drawing/2014/main" id="{F397F61F-724A-B483-46D3-7D8BF0869E59}"/>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56D33E44-C345-30F8-D847-88FD648DCD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71883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918C7219-F86D-DA85-C4CD-CE9268AD8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B2ACBD2D-9D8B-4E5E-9EB9-4CA9D9B08CD9}" type="slidenum">
              <a:rPr lang="en-US" altLang="zh-CN" b="0">
                <a:solidFill>
                  <a:schemeClr val="tx1"/>
                </a:solidFill>
                <a:latin typeface="Times New Roman" panose="02020603050405020304" pitchFamily="18" charset="0"/>
              </a:rPr>
              <a:pPr/>
              <a:t>72</a:t>
            </a:fld>
            <a:endParaRPr lang="en-US" altLang="zh-CN" b="0">
              <a:solidFill>
                <a:schemeClr val="tx1"/>
              </a:solidFill>
              <a:latin typeface="Times New Roman" panose="02020603050405020304" pitchFamily="18" charset="0"/>
            </a:endParaRPr>
          </a:p>
        </p:txBody>
      </p:sp>
      <p:sp>
        <p:nvSpPr>
          <p:cNvPr id="102403" name="Rectangle 2">
            <a:extLst>
              <a:ext uri="{FF2B5EF4-FFF2-40B4-BE49-F238E27FC236}">
                <a16:creationId xmlns:a16="http://schemas.microsoft.com/office/drawing/2014/main" id="{F397F61F-724A-B483-46D3-7D8BF0869E59}"/>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56D33E44-C345-30F8-D847-88FD648DCD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5747397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83D01EC7-5B4C-2F58-A070-51CBE27E1F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92169289-9CBB-417B-9DFD-0064D630027F}" type="slidenum">
              <a:rPr lang="en-US" altLang="zh-CN" b="0">
                <a:solidFill>
                  <a:schemeClr val="tx1"/>
                </a:solidFill>
                <a:latin typeface="Times New Roman" panose="02020603050405020304" pitchFamily="18" charset="0"/>
              </a:rPr>
              <a:pPr/>
              <a:t>73</a:t>
            </a:fld>
            <a:endParaRPr lang="en-US" altLang="zh-CN" b="0">
              <a:solidFill>
                <a:schemeClr val="tx1"/>
              </a:solidFill>
              <a:latin typeface="Times New Roman" panose="02020603050405020304" pitchFamily="18" charset="0"/>
            </a:endParaRPr>
          </a:p>
        </p:txBody>
      </p:sp>
      <p:sp>
        <p:nvSpPr>
          <p:cNvPr id="104451" name="Rectangle 2">
            <a:extLst>
              <a:ext uri="{FF2B5EF4-FFF2-40B4-BE49-F238E27FC236}">
                <a16:creationId xmlns:a16="http://schemas.microsoft.com/office/drawing/2014/main" id="{C3FD8003-79C7-8965-042A-855B402B8CA0}"/>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1FDB71AB-D1F7-40F2-72D5-145D9F0772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0E3832E1-7FA1-E44C-F3F2-ACB1648C9A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6B9CB360-2352-4EA8-BB84-8484D0E1312F}" type="slidenum">
              <a:rPr lang="en-US" altLang="zh-CN" b="0">
                <a:solidFill>
                  <a:schemeClr val="tx1"/>
                </a:solidFill>
                <a:latin typeface="Times New Roman" panose="02020603050405020304" pitchFamily="18" charset="0"/>
              </a:rPr>
              <a:pPr/>
              <a:t>74</a:t>
            </a:fld>
            <a:endParaRPr lang="en-US" altLang="zh-CN" b="0">
              <a:solidFill>
                <a:schemeClr val="tx1"/>
              </a:solidFill>
              <a:latin typeface="Times New Roman" panose="02020603050405020304" pitchFamily="18" charset="0"/>
            </a:endParaRPr>
          </a:p>
        </p:txBody>
      </p:sp>
      <p:sp>
        <p:nvSpPr>
          <p:cNvPr id="106499" name="Rectangle 2">
            <a:extLst>
              <a:ext uri="{FF2B5EF4-FFF2-40B4-BE49-F238E27FC236}">
                <a16:creationId xmlns:a16="http://schemas.microsoft.com/office/drawing/2014/main" id="{54A15CE7-D0F0-78F3-E91F-A542748C359B}"/>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0F129425-2220-2D78-ACB0-5874DDCFF8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571B8C85-0018-289B-8C9C-52759D7BDF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16F9733D-9CC2-43E4-907F-EE3B2EA1CD69}" type="slidenum">
              <a:rPr lang="en-US" altLang="zh-CN" b="0">
                <a:solidFill>
                  <a:schemeClr val="tx1"/>
                </a:solidFill>
                <a:latin typeface="Times New Roman" panose="02020603050405020304" pitchFamily="18" charset="0"/>
              </a:rPr>
              <a:pPr/>
              <a:t>75</a:t>
            </a:fld>
            <a:endParaRPr lang="en-US" altLang="zh-CN" b="0">
              <a:solidFill>
                <a:schemeClr val="tx1"/>
              </a:solidFill>
              <a:latin typeface="Times New Roman" panose="02020603050405020304" pitchFamily="18" charset="0"/>
            </a:endParaRPr>
          </a:p>
        </p:txBody>
      </p:sp>
      <p:sp>
        <p:nvSpPr>
          <p:cNvPr id="108547" name="Rectangle 2">
            <a:extLst>
              <a:ext uri="{FF2B5EF4-FFF2-40B4-BE49-F238E27FC236}">
                <a16:creationId xmlns:a16="http://schemas.microsoft.com/office/drawing/2014/main" id="{456E48FB-0F39-BDFE-6769-57A5D1F27F76}"/>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F25FC2B9-B082-F0D1-2277-A092AF2520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6BB46C5A-0C0A-4EC9-ADFC-000EA230D0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fld id="{3A00D505-314B-42A0-AFF7-D7182C0B7368}" type="slidenum">
              <a:rPr lang="en-US" altLang="zh-CN" b="0">
                <a:solidFill>
                  <a:schemeClr val="tx1"/>
                </a:solidFill>
                <a:latin typeface="Times New Roman" panose="02020603050405020304" pitchFamily="18" charset="0"/>
              </a:rPr>
              <a:pPr/>
              <a:t>76</a:t>
            </a:fld>
            <a:endParaRPr lang="en-US" altLang="zh-CN" b="0">
              <a:solidFill>
                <a:schemeClr val="tx1"/>
              </a:solidFill>
              <a:latin typeface="Times New Roman" panose="02020603050405020304" pitchFamily="18" charset="0"/>
            </a:endParaRPr>
          </a:p>
        </p:txBody>
      </p:sp>
      <p:sp>
        <p:nvSpPr>
          <p:cNvPr id="110595" name="Rectangle 2">
            <a:extLst>
              <a:ext uri="{FF2B5EF4-FFF2-40B4-BE49-F238E27FC236}">
                <a16:creationId xmlns:a16="http://schemas.microsoft.com/office/drawing/2014/main" id="{BFDE19F9-22C1-B947-ECBC-FAF058BF6765}"/>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8ABF60C6-BE93-4F8C-028E-5497C4A6B8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3B30C4CD-3E47-BB7B-C1A8-98D0963EDE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a:ln algn="ctr"/>
        </p:spPr>
        <p:txBody>
          <a:bodyPr/>
          <a:lstStyle>
            <a:lvl1pPr marL="0" indent="0" algn="r">
              <a:defRPr sz="3600">
                <a:solidFill>
                  <a:srgbClr val="FFFF00"/>
                </a:solidFill>
              </a:defRPr>
            </a:lvl1pPr>
          </a:lstStyle>
          <a:p>
            <a:r>
              <a:rPr lang="zh-CN" altLang="en-US"/>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itchFamily="18" charset="2"/>
              <a:buNone/>
              <a:defRPr>
                <a:solidFill>
                  <a:schemeClr val="bg1"/>
                </a:solidFill>
              </a:defRPr>
            </a:lvl1pPr>
          </a:lstStyle>
          <a:p>
            <a:r>
              <a:rPr lang="zh-CN" altLang="en-US"/>
              <a:t>单击此处编辑母版副标题样式</a:t>
            </a:r>
          </a:p>
        </p:txBody>
      </p:sp>
    </p:spTree>
    <p:extLst>
      <p:ext uri="{BB962C8B-B14F-4D97-AF65-F5344CB8AC3E}">
        <p14:creationId xmlns:p14="http://schemas.microsoft.com/office/powerpoint/2010/main" val="3167758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31470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802534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84308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7199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375416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295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43381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291627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32978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89655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052513"/>
            <a:ext cx="8785225"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22750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9717A31-8F29-3EF1-8259-50768CD20EF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532B30C0-BFFC-493E-BDBB-CD81DB244E3D}"/>
              </a:ext>
            </a:extLst>
          </p:cNvPr>
          <p:cNvSpPr txBox="1">
            <a:spLocks noChangeArrowheads="1"/>
          </p:cNvSpPr>
          <p:nvPr/>
        </p:nvSpPr>
        <p:spPr bwMode="auto">
          <a:xfrm>
            <a:off x="8412163" y="6624638"/>
            <a:ext cx="500062" cy="274637"/>
          </a:xfrm>
          <a:prstGeom prst="rect">
            <a:avLst/>
          </a:prstGeom>
          <a:noFill/>
          <a:ln w="9525">
            <a:noFill/>
            <a:miter lim="800000"/>
            <a:headEnd/>
            <a:tailEnd/>
          </a:ln>
          <a:effectLst/>
        </p:spPr>
        <p:txBody>
          <a:bodyPr wrap="none">
            <a:spAutoFit/>
          </a:bodyPr>
          <a:lstStyle>
            <a:lvl1pPr>
              <a:defRPr kumimoji="1" sz="1200" b="1">
                <a:solidFill>
                  <a:schemeClr val="bg1"/>
                </a:solidFill>
                <a:latin typeface="Arial" panose="020B0604020202020204" pitchFamily="34" charset="0"/>
                <a:ea typeface="宋体" panose="02010600030101010101" pitchFamily="2" charset="-122"/>
              </a:defRPr>
            </a:lvl1pPr>
            <a:lvl2pPr marL="742950" indent="-285750">
              <a:defRPr kumimoji="1" sz="1200" b="1">
                <a:solidFill>
                  <a:schemeClr val="bg1"/>
                </a:solidFill>
                <a:latin typeface="Arial" panose="020B0604020202020204" pitchFamily="34" charset="0"/>
                <a:ea typeface="宋体" panose="02010600030101010101" pitchFamily="2" charset="-122"/>
              </a:defRPr>
            </a:lvl2pPr>
            <a:lvl3pPr marL="1143000" indent="-228600">
              <a:defRPr kumimoji="1" sz="1200" b="1">
                <a:solidFill>
                  <a:schemeClr val="bg1"/>
                </a:solidFill>
                <a:latin typeface="Arial" panose="020B0604020202020204" pitchFamily="34" charset="0"/>
                <a:ea typeface="宋体" panose="02010600030101010101" pitchFamily="2" charset="-122"/>
              </a:defRPr>
            </a:lvl3pPr>
            <a:lvl4pPr marL="1600200" indent="-228600">
              <a:defRPr kumimoji="1" sz="1200" b="1">
                <a:solidFill>
                  <a:schemeClr val="bg1"/>
                </a:solidFill>
                <a:latin typeface="Arial" panose="020B0604020202020204" pitchFamily="34" charset="0"/>
                <a:ea typeface="宋体" panose="02010600030101010101" pitchFamily="2" charset="-122"/>
              </a:defRPr>
            </a:lvl4pPr>
            <a:lvl5pPr marL="2057400" indent="-228600">
              <a:defRPr kumimoji="1" sz="12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lgn="r" eaLnBrk="1" hangingPunct="1"/>
            <a:fld id="{A6DF2EE2-C937-451A-B7B1-0460A40C566A}" type="slidenum">
              <a:rPr kumimoji="0" lang="en-US" altLang="zh-CN">
                <a:solidFill>
                  <a:schemeClr val="tx2"/>
                </a:solidFill>
                <a:latin typeface="Comic Sans MS" panose="030F0702030302020204" pitchFamily="66" charset="0"/>
                <a:cs typeface="Times New Roman" panose="02020603050405020304" pitchFamily="18" charset="0"/>
              </a:rPr>
              <a:pPr algn="r" eaLnBrk="1" hangingPunct="1"/>
              <a:t>‹#›</a:t>
            </a:fld>
            <a:endParaRPr kumimoji="0" lang="en-US" altLang="zh-CN">
              <a:solidFill>
                <a:schemeClr val="tx2"/>
              </a:solidFill>
              <a:latin typeface="Comic Sans MS" panose="030F0702030302020204" pitchFamily="66" charset="0"/>
              <a:cs typeface="Times New Roman" panose="02020603050405020304" pitchFamily="18" charset="0"/>
            </a:endParaRPr>
          </a:p>
        </p:txBody>
      </p:sp>
      <p:sp>
        <p:nvSpPr>
          <p:cNvPr id="79876" name="Rectangle 4">
            <a:extLst>
              <a:ext uri="{FF2B5EF4-FFF2-40B4-BE49-F238E27FC236}">
                <a16:creationId xmlns:a16="http://schemas.microsoft.com/office/drawing/2014/main" id="{1F6D7A73-094F-AF7E-A163-8EF8632C60E4}"/>
              </a:ext>
            </a:extLst>
          </p:cNvPr>
          <p:cNvSpPr>
            <a:spLocks noGrp="1" noChangeArrowheads="1"/>
          </p:cNvSpPr>
          <p:nvPr>
            <p:ph type="title"/>
          </p:nvPr>
        </p:nvSpPr>
        <p:spPr bwMode="auto">
          <a:xfrm>
            <a:off x="179388" y="1052513"/>
            <a:ext cx="8785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9877" name="Rectangle 5">
            <a:extLst>
              <a:ext uri="{FF2B5EF4-FFF2-40B4-BE49-F238E27FC236}">
                <a16:creationId xmlns:a16="http://schemas.microsoft.com/office/drawing/2014/main" id="{B423BD6D-07C4-C762-B73D-5392FC0AA191}"/>
              </a:ext>
            </a:extLst>
          </p:cNvPr>
          <p:cNvSpPr>
            <a:spLocks noGrp="1" noChangeArrowheads="1"/>
          </p:cNvSpPr>
          <p:nvPr>
            <p:ph type="body" idx="1"/>
          </p:nvPr>
        </p:nvSpPr>
        <p:spPr bwMode="auto">
          <a:xfrm>
            <a:off x="179388" y="1773238"/>
            <a:ext cx="8785225"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581A2DA8-CCBE-45BE-B085-2EEBCB56CB39}"/>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p:spPr>
        <p:txBody>
          <a:bodyPr wrap="none" anchor="ctr"/>
          <a:lstStyle>
            <a:lvl1pPr algn="ctr">
              <a:defRPr kumimoji="1" sz="1200" b="1">
                <a:solidFill>
                  <a:schemeClr val="bg1"/>
                </a:solidFill>
                <a:latin typeface="Arial" panose="020B0604020202020204" pitchFamily="34" charset="0"/>
                <a:ea typeface="宋体" panose="02010600030101010101" pitchFamily="2" charset="-122"/>
              </a:defRPr>
            </a:lvl1pPr>
            <a:lvl2pPr marL="742950" indent="-285750" algn="ctr">
              <a:defRPr kumimoji="1" sz="1200" b="1">
                <a:solidFill>
                  <a:schemeClr val="bg1"/>
                </a:solidFill>
                <a:latin typeface="Arial" panose="020B0604020202020204" pitchFamily="34" charset="0"/>
                <a:ea typeface="宋体" panose="02010600030101010101" pitchFamily="2" charset="-122"/>
              </a:defRPr>
            </a:lvl2pPr>
            <a:lvl3pPr marL="1143000" indent="-228600" algn="ctr">
              <a:defRPr kumimoji="1" sz="1200" b="1">
                <a:solidFill>
                  <a:schemeClr val="bg1"/>
                </a:solidFill>
                <a:latin typeface="Arial" panose="020B0604020202020204" pitchFamily="34" charset="0"/>
                <a:ea typeface="宋体" panose="02010600030101010101" pitchFamily="2" charset="-122"/>
              </a:defRPr>
            </a:lvl3pPr>
            <a:lvl4pPr marL="1600200" indent="-228600" algn="ctr">
              <a:defRPr kumimoji="1" sz="1200" b="1">
                <a:solidFill>
                  <a:schemeClr val="bg1"/>
                </a:solidFill>
                <a:latin typeface="Arial" panose="020B0604020202020204" pitchFamily="34" charset="0"/>
                <a:ea typeface="宋体" panose="02010600030101010101" pitchFamily="2" charset="-122"/>
              </a:defRPr>
            </a:lvl4pPr>
            <a:lvl5pPr marL="2057400" indent="-228600" algn="ctr">
              <a:defRPr kumimoji="1" sz="12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1200" b="1">
                <a:solidFill>
                  <a:schemeClr val="bg1"/>
                </a:solidFill>
                <a:latin typeface="Arial" panose="020B0604020202020204" pitchFamily="34" charset="0"/>
                <a:ea typeface="宋体" panose="02010600030101010101" pitchFamily="2" charset="-122"/>
              </a:defRPr>
            </a:lvl9pPr>
          </a:lstStyle>
          <a:p>
            <a:pPr>
              <a:defRPr/>
            </a:pPr>
            <a:endParaRPr lang="zh-CN" altLang="en-US"/>
          </a:p>
        </p:txBody>
      </p:sp>
      <p:sp>
        <p:nvSpPr>
          <p:cNvPr id="2" name="矩形 1">
            <a:extLst>
              <a:ext uri="{FF2B5EF4-FFF2-40B4-BE49-F238E27FC236}">
                <a16:creationId xmlns:a16="http://schemas.microsoft.com/office/drawing/2014/main" id="{A84E8AF9-E504-48EB-A111-724240421FC6}"/>
              </a:ext>
            </a:extLst>
          </p:cNvPr>
          <p:cNvSpPr/>
          <p:nvPr userDrawn="1"/>
        </p:nvSpPr>
        <p:spPr bwMode="auto">
          <a:xfrm>
            <a:off x="0" y="6092825"/>
            <a:ext cx="1116013" cy="936625"/>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lIns="0" tIns="0" rIns="0" bIns="0" anchor="ctr" anchorCtr="1"/>
          <a:lstStyle/>
          <a:p>
            <a:pPr algn="ctr">
              <a:defRPr/>
            </a:pPr>
            <a:endParaRPr lang="zh-CN" altLang="en-US">
              <a:solidFill>
                <a:schemeClr val="bg1"/>
              </a:solidFill>
            </a:endParaRPr>
          </a:p>
        </p:txBody>
      </p:sp>
    </p:spTree>
  </p:cSld>
  <p:clrMap bg1="lt1" tx1="dk1" bg2="lt2" tx2="dk2" accent1="accent1" accent2="accent2" accent3="accent3" accent4="accent4" accent5="accent5" accent6="accent6" hlink="hlink" folHlink="folHlink"/>
  <p:sldLayoutIdLst>
    <p:sldLayoutId id="2147483747"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slide(fromBottom)">
                                      <p:cBhvr>
                                        <p:cTn id="11" dur="500"/>
                                        <p:tgtEl>
                                          <p:spTgt spid="79876"/>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79877">
                                            <p:txEl>
                                              <p:pRg st="0" end="0"/>
                                            </p:txEl>
                                          </p:spTgt>
                                        </p:tgtEl>
                                        <p:attrNameLst>
                                          <p:attrName>style.visibility</p:attrName>
                                        </p:attrNameLst>
                                      </p:cBhvr>
                                      <p:to>
                                        <p:strVal val="visible"/>
                                      </p:to>
                                    </p:set>
                                    <p:animEffect transition="in" filter="slide(fromTop)">
                                      <p:cBhvr>
                                        <p:cTn id="15" dur="500"/>
                                        <p:tgtEl>
                                          <p:spTgt spid="79877">
                                            <p:txEl>
                                              <p:pRg st="0" end="0"/>
                                            </p:txEl>
                                          </p:spTgt>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79877">
                                            <p:txEl>
                                              <p:pRg st="1" end="1"/>
                                            </p:txEl>
                                          </p:spTgt>
                                        </p:tgtEl>
                                        <p:attrNameLst>
                                          <p:attrName>style.visibility</p:attrName>
                                        </p:attrNameLst>
                                      </p:cBhvr>
                                      <p:to>
                                        <p:strVal val="visible"/>
                                      </p:to>
                                    </p:set>
                                    <p:animEffect transition="in" filter="slide(fromTop)">
                                      <p:cBhvr>
                                        <p:cTn id="18" dur="500"/>
                                        <p:tgtEl>
                                          <p:spTgt spid="79877">
                                            <p:txEl>
                                              <p:pRg st="1" end="1"/>
                                            </p:txEl>
                                          </p:spTgt>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79877">
                                            <p:txEl>
                                              <p:pRg st="2" end="2"/>
                                            </p:txEl>
                                          </p:spTgt>
                                        </p:tgtEl>
                                        <p:attrNameLst>
                                          <p:attrName>style.visibility</p:attrName>
                                        </p:attrNameLst>
                                      </p:cBhvr>
                                      <p:to>
                                        <p:strVal val="visible"/>
                                      </p:to>
                                    </p:set>
                                    <p:animEffect transition="in" filter="slide(fromTop)">
                                      <p:cBhvr>
                                        <p:cTn id="21" dur="500"/>
                                        <p:tgtEl>
                                          <p:spTgt spid="79877">
                                            <p:txEl>
                                              <p:pRg st="2" end="2"/>
                                            </p:txEl>
                                          </p:spTgt>
                                        </p:tgtEl>
                                      </p:cBhvr>
                                    </p:animEffect>
                                  </p:childTnLst>
                                </p:cTn>
                              </p:par>
                              <p:par>
                                <p:cTn id="22" presetID="12" presetClass="entr" presetSubtype="1" fill="hold" grpId="0" nodeType="withEffect">
                                  <p:stCondLst>
                                    <p:cond delay="0"/>
                                  </p:stCondLst>
                                  <p:childTnLst>
                                    <p:set>
                                      <p:cBhvr>
                                        <p:cTn id="23" dur="1" fill="hold">
                                          <p:stCondLst>
                                            <p:cond delay="0"/>
                                          </p:stCondLst>
                                        </p:cTn>
                                        <p:tgtEl>
                                          <p:spTgt spid="79877">
                                            <p:txEl>
                                              <p:pRg st="3" end="3"/>
                                            </p:txEl>
                                          </p:spTgt>
                                        </p:tgtEl>
                                        <p:attrNameLst>
                                          <p:attrName>style.visibility</p:attrName>
                                        </p:attrNameLst>
                                      </p:cBhvr>
                                      <p:to>
                                        <p:strVal val="visible"/>
                                      </p:to>
                                    </p:set>
                                    <p:animEffect transition="in" filter="slide(fromTop)">
                                      <p:cBhvr>
                                        <p:cTn id="24" dur="500"/>
                                        <p:tgtEl>
                                          <p:spTgt spid="79877">
                                            <p:txEl>
                                              <p:pRg st="3" end="3"/>
                                            </p:txEl>
                                          </p:spTgt>
                                        </p:tgtEl>
                                      </p:cBhvr>
                                    </p:animEffect>
                                  </p:childTnLst>
                                </p:cTn>
                              </p:par>
                              <p:par>
                                <p:cTn id="25" presetID="12" presetClass="entr" presetSubtype="1" fill="hold" grpId="0" nodeType="withEffect">
                                  <p:stCondLst>
                                    <p:cond delay="0"/>
                                  </p:stCondLst>
                                  <p:childTnLst>
                                    <p:set>
                                      <p:cBhvr>
                                        <p:cTn id="26" dur="1" fill="hold">
                                          <p:stCondLst>
                                            <p:cond delay="0"/>
                                          </p:stCondLst>
                                        </p:cTn>
                                        <p:tgtEl>
                                          <p:spTgt spid="79877">
                                            <p:txEl>
                                              <p:pRg st="4" end="4"/>
                                            </p:txEl>
                                          </p:spTgt>
                                        </p:tgtEl>
                                        <p:attrNameLst>
                                          <p:attrName>style.visibility</p:attrName>
                                        </p:attrNameLst>
                                      </p:cBhvr>
                                      <p:to>
                                        <p:strVal val="visible"/>
                                      </p:to>
                                    </p:set>
                                    <p:animEffect transition="in" filter="slide(fromTop)">
                                      <p:cBhvr>
                                        <p:cTn id="27" dur="500"/>
                                        <p:tgtEl>
                                          <p:spTgt spid="79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tmplLst>
          <p:tmpl lvl="1">
            <p:tnLst>
              <p:par>
                <p:cTn presetID="12" presetClass="entr" presetSubtype="1" fill="hold" nodeType="after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2">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3">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4">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5">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Lst>
      </p:bldP>
      <p:bldP spid="79878" grpId="0" animBg="1"/>
    </p:bldLst>
  </p:timing>
  <p:txStyles>
    <p:titleStyle>
      <a:lvl1pPr marL="342900" indent="-342900" algn="l" rtl="0" eaLnBrk="0" fontAlgn="base" hangingPunct="0">
        <a:spcBef>
          <a:spcPct val="20000"/>
        </a:spcBef>
        <a:spcAft>
          <a:spcPct val="0"/>
        </a:spcAft>
        <a:defRPr sz="2800" b="1">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pitchFamily="34" charset="0"/>
          <a:ea typeface="宋体" pitchFamily="2" charset="-122"/>
        </a:defRPr>
      </a:lvl2pPr>
      <a:lvl3pPr marL="342900" indent="-342900" algn="l" rtl="0" eaLnBrk="0" fontAlgn="base" hangingPunct="0">
        <a:spcBef>
          <a:spcPct val="20000"/>
        </a:spcBef>
        <a:spcAft>
          <a:spcPct val="0"/>
        </a:spcAft>
        <a:defRPr sz="2800" b="1">
          <a:solidFill>
            <a:schemeClr val="accent2"/>
          </a:solidFill>
          <a:latin typeface="Arial" pitchFamily="34" charset="0"/>
          <a:ea typeface="宋体" pitchFamily="2" charset="-122"/>
        </a:defRPr>
      </a:lvl3pPr>
      <a:lvl4pPr marL="342900" indent="-342900" algn="l" rtl="0" eaLnBrk="0" fontAlgn="base" hangingPunct="0">
        <a:spcBef>
          <a:spcPct val="20000"/>
        </a:spcBef>
        <a:spcAft>
          <a:spcPct val="0"/>
        </a:spcAft>
        <a:defRPr sz="2800" b="1">
          <a:solidFill>
            <a:schemeClr val="accent2"/>
          </a:solidFill>
          <a:latin typeface="Arial" pitchFamily="34" charset="0"/>
          <a:ea typeface="宋体" pitchFamily="2" charset="-122"/>
        </a:defRPr>
      </a:lvl4pPr>
      <a:lvl5pPr marL="342900" indent="-342900" algn="l" rtl="0" eaLnBrk="0" fontAlgn="base" hangingPunct="0">
        <a:spcBef>
          <a:spcPct val="20000"/>
        </a:spcBef>
        <a:spcAft>
          <a:spcPct val="0"/>
        </a:spcAft>
        <a:defRPr sz="2800" b="1">
          <a:solidFill>
            <a:schemeClr val="accent2"/>
          </a:solidFill>
          <a:latin typeface="Arial" pitchFamily="34" charset="0"/>
          <a:ea typeface="宋体" pitchFamily="2" charset="-122"/>
        </a:defRPr>
      </a:lvl5pPr>
      <a:lvl6pPr marL="800100" indent="-342900" algn="l" rtl="0" fontAlgn="base">
        <a:spcBef>
          <a:spcPct val="20000"/>
        </a:spcBef>
        <a:spcAft>
          <a:spcPct val="0"/>
        </a:spcAft>
        <a:defRPr sz="2800" b="1">
          <a:solidFill>
            <a:schemeClr val="accent2"/>
          </a:solidFill>
          <a:latin typeface="Arial" pitchFamily="34" charset="0"/>
          <a:ea typeface="宋体" pitchFamily="2" charset="-122"/>
        </a:defRPr>
      </a:lvl6pPr>
      <a:lvl7pPr marL="1257300" indent="-342900" algn="l" rtl="0" fontAlgn="base">
        <a:spcBef>
          <a:spcPct val="20000"/>
        </a:spcBef>
        <a:spcAft>
          <a:spcPct val="0"/>
        </a:spcAft>
        <a:defRPr sz="2800" b="1">
          <a:solidFill>
            <a:schemeClr val="accent2"/>
          </a:solidFill>
          <a:latin typeface="Arial" pitchFamily="34" charset="0"/>
          <a:ea typeface="宋体" pitchFamily="2" charset="-122"/>
        </a:defRPr>
      </a:lvl7pPr>
      <a:lvl8pPr marL="1714500" indent="-342900" algn="l" rtl="0" fontAlgn="base">
        <a:spcBef>
          <a:spcPct val="20000"/>
        </a:spcBef>
        <a:spcAft>
          <a:spcPct val="0"/>
        </a:spcAft>
        <a:defRPr sz="2800" b="1">
          <a:solidFill>
            <a:schemeClr val="accent2"/>
          </a:solidFill>
          <a:latin typeface="Arial" pitchFamily="34" charset="0"/>
          <a:ea typeface="宋体" pitchFamily="2" charset="-122"/>
        </a:defRPr>
      </a:lvl8pPr>
      <a:lvl9pPr marL="2171700" indent="-342900" algn="l" rtl="0" fontAlgn="base">
        <a:spcBef>
          <a:spcPct val="20000"/>
        </a:spcBef>
        <a:spcAft>
          <a:spcPct val="0"/>
        </a:spcAft>
        <a:defRPr sz="2800" b="1">
          <a:solidFill>
            <a:schemeClr val="accent2"/>
          </a:solidFill>
          <a:latin typeface="Arial" pitchFamily="34" charset="0"/>
          <a:ea typeface="宋体"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microsoft.com/office/2007/relationships/hdphoto" Target="../media/hdphoto1.wdp"/></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a:extLst>
              <a:ext uri="{FF2B5EF4-FFF2-40B4-BE49-F238E27FC236}">
                <a16:creationId xmlns:a16="http://schemas.microsoft.com/office/drawing/2014/main" id="{33A7A389-5E6C-E764-5ABF-5F8BE2AB098A}"/>
              </a:ext>
            </a:extLst>
          </p:cNvPr>
          <p:cNvSpPr>
            <a:spLocks noGrp="1" noChangeArrowheads="1"/>
          </p:cNvSpPr>
          <p:nvPr>
            <p:ph type="ctrTitle"/>
          </p:nvPr>
        </p:nvSpPr>
        <p:spPr>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algn="ctr" eaLnBrk="1" hangingPunct="1"/>
            <a:r>
              <a:rPr lang="zh-CN" altLang="en-US"/>
              <a:t>第 </a:t>
            </a:r>
            <a:r>
              <a:rPr lang="en-US" altLang="zh-CN"/>
              <a:t>9 </a:t>
            </a:r>
            <a:r>
              <a:rPr lang="zh-CN" altLang="en-US"/>
              <a:t>章   软件项目跟踪控制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F1C9004-6273-47A1-7D9F-126C8B817C89}"/>
              </a:ext>
            </a:extLst>
          </p:cNvPr>
          <p:cNvSpPr>
            <a:spLocks noGrp="1" noChangeArrowheads="1"/>
          </p:cNvSpPr>
          <p:nvPr>
            <p:ph type="title"/>
          </p:nvPr>
        </p:nvSpPr>
        <p:spPr/>
        <p:txBody>
          <a:bodyPr/>
          <a:lstStyle/>
          <a:p>
            <a:pPr eaLnBrk="1" hangingPunct="1"/>
            <a:r>
              <a:rPr lang="zh-CN" altLang="en-US"/>
              <a:t>本章内容提要</a:t>
            </a:r>
          </a:p>
        </p:txBody>
      </p:sp>
      <p:grpSp>
        <p:nvGrpSpPr>
          <p:cNvPr id="6147" name="Group 49">
            <a:extLst>
              <a:ext uri="{FF2B5EF4-FFF2-40B4-BE49-F238E27FC236}">
                <a16:creationId xmlns:a16="http://schemas.microsoft.com/office/drawing/2014/main" id="{48AC6889-3090-E920-535A-767FCCC03EB6}"/>
              </a:ext>
            </a:extLst>
          </p:cNvPr>
          <p:cNvGrpSpPr>
            <a:grpSpLocks/>
          </p:cNvGrpSpPr>
          <p:nvPr/>
        </p:nvGrpSpPr>
        <p:grpSpPr bwMode="auto">
          <a:xfrm>
            <a:off x="969963" y="2487613"/>
            <a:ext cx="5689600" cy="3389312"/>
            <a:chOff x="611" y="1389"/>
            <a:chExt cx="3584" cy="2135"/>
          </a:xfrm>
        </p:grpSpPr>
        <p:grpSp>
          <p:nvGrpSpPr>
            <p:cNvPr id="6148" name="Group 3">
              <a:extLst>
                <a:ext uri="{FF2B5EF4-FFF2-40B4-BE49-F238E27FC236}">
                  <a16:creationId xmlns:a16="http://schemas.microsoft.com/office/drawing/2014/main" id="{4E810FE6-ED1E-A61C-289F-9943A4AF1AE8}"/>
                </a:ext>
              </a:extLst>
            </p:cNvPr>
            <p:cNvGrpSpPr>
              <a:grpSpLocks/>
            </p:cNvGrpSpPr>
            <p:nvPr/>
          </p:nvGrpSpPr>
          <p:grpSpPr bwMode="auto">
            <a:xfrm>
              <a:off x="611" y="1389"/>
              <a:ext cx="3572" cy="205"/>
              <a:chOff x="385" y="1460"/>
              <a:chExt cx="3572" cy="324"/>
            </a:xfrm>
          </p:grpSpPr>
          <p:sp>
            <p:nvSpPr>
              <p:cNvPr id="6178" name="AutoShape 4">
                <a:extLst>
                  <a:ext uri="{FF2B5EF4-FFF2-40B4-BE49-F238E27FC236}">
                    <a16:creationId xmlns:a16="http://schemas.microsoft.com/office/drawing/2014/main" id="{8189D041-AB82-3E35-E5EE-644D716B83FB}"/>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79" name="Text Box 5">
                <a:extLst>
                  <a:ext uri="{FF2B5EF4-FFF2-40B4-BE49-F238E27FC236}">
                    <a16:creationId xmlns:a16="http://schemas.microsoft.com/office/drawing/2014/main" id="{A3F56BB2-56B9-C29E-052C-191786607F11}"/>
                  </a:ext>
                </a:extLst>
              </p:cNvPr>
              <p:cNvSpPr txBox="1">
                <a:spLocks noChangeArrowheads="1"/>
              </p:cNvSpPr>
              <p:nvPr/>
            </p:nvSpPr>
            <p:spPr bwMode="auto">
              <a:xfrm>
                <a:off x="626" y="1460"/>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软件项目跟踪控制概述</a:t>
                </a:r>
                <a:r>
                  <a:rPr lang="zh-CN" altLang="en-US" sz="1800">
                    <a:latin typeface="宋体" panose="02010600030101010101" pitchFamily="2" charset="-122"/>
                  </a:rPr>
                  <a:t>  </a:t>
                </a:r>
              </a:p>
            </p:txBody>
          </p:sp>
          <p:sp>
            <p:nvSpPr>
              <p:cNvPr id="6180" name="Rectangle 6">
                <a:extLst>
                  <a:ext uri="{FF2B5EF4-FFF2-40B4-BE49-F238E27FC236}">
                    <a16:creationId xmlns:a16="http://schemas.microsoft.com/office/drawing/2014/main" id="{893F2222-3E91-1E2B-8A62-CBD4BAAD677E}"/>
                  </a:ext>
                </a:extLst>
              </p:cNvPr>
              <p:cNvSpPr>
                <a:spLocks noChangeArrowheads="1"/>
              </p:cNvSpPr>
              <p:nvPr/>
            </p:nvSpPr>
            <p:spPr bwMode="auto">
              <a:xfrm>
                <a:off x="385" y="153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9.1</a:t>
                </a:r>
                <a:endParaRPr lang="en-US" altLang="zh-CN" sz="1800">
                  <a:solidFill>
                    <a:srgbClr val="000000"/>
                  </a:solidFill>
                </a:endParaRPr>
              </a:p>
            </p:txBody>
          </p:sp>
        </p:grpSp>
        <p:grpSp>
          <p:nvGrpSpPr>
            <p:cNvPr id="6149" name="Group 7">
              <a:extLst>
                <a:ext uri="{FF2B5EF4-FFF2-40B4-BE49-F238E27FC236}">
                  <a16:creationId xmlns:a16="http://schemas.microsoft.com/office/drawing/2014/main" id="{DF4BDAEC-3A6D-5823-CFE8-9D9260B7EA8F}"/>
                </a:ext>
              </a:extLst>
            </p:cNvPr>
            <p:cNvGrpSpPr>
              <a:grpSpLocks/>
            </p:cNvGrpSpPr>
            <p:nvPr/>
          </p:nvGrpSpPr>
          <p:grpSpPr bwMode="auto">
            <a:xfrm>
              <a:off x="611" y="1675"/>
              <a:ext cx="3572" cy="202"/>
              <a:chOff x="385" y="1831"/>
              <a:chExt cx="3572" cy="319"/>
            </a:xfrm>
          </p:grpSpPr>
          <p:grpSp>
            <p:nvGrpSpPr>
              <p:cNvPr id="6174" name="Group 8">
                <a:extLst>
                  <a:ext uri="{FF2B5EF4-FFF2-40B4-BE49-F238E27FC236}">
                    <a16:creationId xmlns:a16="http://schemas.microsoft.com/office/drawing/2014/main" id="{C862961F-01B2-C7E0-53D1-26063DB9628C}"/>
                  </a:ext>
                </a:extLst>
              </p:cNvPr>
              <p:cNvGrpSpPr>
                <a:grpSpLocks/>
              </p:cNvGrpSpPr>
              <p:nvPr/>
            </p:nvGrpSpPr>
            <p:grpSpPr bwMode="auto">
              <a:xfrm>
                <a:off x="464" y="1831"/>
                <a:ext cx="3493" cy="319"/>
                <a:chOff x="464" y="1831"/>
                <a:chExt cx="3493" cy="319"/>
              </a:xfrm>
            </p:grpSpPr>
            <p:sp>
              <p:nvSpPr>
                <p:cNvPr id="6176" name="AutoShape 9">
                  <a:extLst>
                    <a:ext uri="{FF2B5EF4-FFF2-40B4-BE49-F238E27FC236}">
                      <a16:creationId xmlns:a16="http://schemas.microsoft.com/office/drawing/2014/main" id="{B1CF0DD8-84FF-1C97-EC7E-019A0DBE4E68}"/>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77" name="Text Box 10">
                  <a:extLst>
                    <a:ext uri="{FF2B5EF4-FFF2-40B4-BE49-F238E27FC236}">
                      <a16:creationId xmlns:a16="http://schemas.microsoft.com/office/drawing/2014/main" id="{D3DB0D5B-A558-890A-2CB1-FE9F63D6041C}"/>
                    </a:ext>
                  </a:extLst>
                </p:cNvPr>
                <p:cNvSpPr txBox="1">
                  <a:spLocks noChangeArrowheads="1"/>
                </p:cNvSpPr>
                <p:nvPr/>
              </p:nvSpPr>
              <p:spPr bwMode="auto">
                <a:xfrm>
                  <a:off x="626" y="1831"/>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软件项目跟踪控制的标准</a:t>
                  </a:r>
                  <a:r>
                    <a:rPr lang="zh-CN" altLang="en-US" sz="1200">
                      <a:solidFill>
                        <a:schemeClr val="bg1"/>
                      </a:solidFill>
                      <a:latin typeface="黑体" panose="02010609060101010101" pitchFamily="49" charset="-122"/>
                      <a:ea typeface="黑体" panose="02010609060101010101" pitchFamily="49" charset="-122"/>
                    </a:rPr>
                    <a:t> </a:t>
                  </a:r>
                </a:p>
              </p:txBody>
            </p:sp>
          </p:grpSp>
          <p:sp>
            <p:nvSpPr>
              <p:cNvPr id="6175" name="Rectangle 11">
                <a:extLst>
                  <a:ext uri="{FF2B5EF4-FFF2-40B4-BE49-F238E27FC236}">
                    <a16:creationId xmlns:a16="http://schemas.microsoft.com/office/drawing/2014/main" id="{304FF6D8-F637-1FE4-2E2B-B28128F9EC44}"/>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9.2</a:t>
                </a:r>
                <a:endParaRPr lang="en-US" altLang="zh-CN" sz="1800">
                  <a:solidFill>
                    <a:srgbClr val="000000"/>
                  </a:solidFill>
                </a:endParaRPr>
              </a:p>
            </p:txBody>
          </p:sp>
        </p:grpSp>
        <p:grpSp>
          <p:nvGrpSpPr>
            <p:cNvPr id="6150" name="Group 12">
              <a:extLst>
                <a:ext uri="{FF2B5EF4-FFF2-40B4-BE49-F238E27FC236}">
                  <a16:creationId xmlns:a16="http://schemas.microsoft.com/office/drawing/2014/main" id="{DC07248C-6D72-27A6-6332-BF10749CA7B5}"/>
                </a:ext>
              </a:extLst>
            </p:cNvPr>
            <p:cNvGrpSpPr>
              <a:grpSpLocks/>
            </p:cNvGrpSpPr>
            <p:nvPr/>
          </p:nvGrpSpPr>
          <p:grpSpPr bwMode="auto">
            <a:xfrm>
              <a:off x="611" y="1947"/>
              <a:ext cx="3584" cy="198"/>
              <a:chOff x="385" y="2209"/>
              <a:chExt cx="3584" cy="313"/>
            </a:xfrm>
          </p:grpSpPr>
          <p:sp>
            <p:nvSpPr>
              <p:cNvPr id="6171" name="AutoShape 13">
                <a:extLst>
                  <a:ext uri="{FF2B5EF4-FFF2-40B4-BE49-F238E27FC236}">
                    <a16:creationId xmlns:a16="http://schemas.microsoft.com/office/drawing/2014/main" id="{961905C6-3FAD-9820-EC3E-86BFAFBBE29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72" name="Text Box 14">
                <a:extLst>
                  <a:ext uri="{FF2B5EF4-FFF2-40B4-BE49-F238E27FC236}">
                    <a16:creationId xmlns:a16="http://schemas.microsoft.com/office/drawing/2014/main" id="{8F452A9D-8E58-FC5C-F42A-4685C3CE52FC}"/>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solidFill>
                      <a:schemeClr val="bg1"/>
                    </a:solidFill>
                    <a:ea typeface="黑体" panose="02010609060101010101" pitchFamily="49" charset="-122"/>
                  </a:rPr>
                  <a:t>  </a:t>
                </a:r>
                <a:r>
                  <a:rPr lang="zh-CN" altLang="en-US" sz="2000">
                    <a:ea typeface="黑体" panose="02010609060101010101" pitchFamily="49" charset="-122"/>
                  </a:rPr>
                  <a:t>软件项目监控和报告体系</a:t>
                </a:r>
                <a:r>
                  <a:rPr lang="zh-CN" altLang="en-US" sz="1200">
                    <a:solidFill>
                      <a:schemeClr val="bg1"/>
                    </a:solidFill>
                  </a:rPr>
                  <a:t> </a:t>
                </a:r>
              </a:p>
            </p:txBody>
          </p:sp>
          <p:sp>
            <p:nvSpPr>
              <p:cNvPr id="6173" name="Rectangle 15">
                <a:extLst>
                  <a:ext uri="{FF2B5EF4-FFF2-40B4-BE49-F238E27FC236}">
                    <a16:creationId xmlns:a16="http://schemas.microsoft.com/office/drawing/2014/main" id="{B6C145F6-6D8C-9EC9-469A-28D80904F45C}"/>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9.3</a:t>
                </a:r>
                <a:endParaRPr lang="en-US" altLang="zh-CN" sz="1800">
                  <a:solidFill>
                    <a:srgbClr val="000000"/>
                  </a:solidFill>
                </a:endParaRPr>
              </a:p>
            </p:txBody>
          </p:sp>
        </p:grpSp>
        <p:grpSp>
          <p:nvGrpSpPr>
            <p:cNvPr id="6151" name="Group 16">
              <a:extLst>
                <a:ext uri="{FF2B5EF4-FFF2-40B4-BE49-F238E27FC236}">
                  <a16:creationId xmlns:a16="http://schemas.microsoft.com/office/drawing/2014/main" id="{CA98195D-2262-0212-313D-5F90F9FF91B4}"/>
                </a:ext>
              </a:extLst>
            </p:cNvPr>
            <p:cNvGrpSpPr>
              <a:grpSpLocks/>
            </p:cNvGrpSpPr>
            <p:nvPr/>
          </p:nvGrpSpPr>
          <p:grpSpPr bwMode="auto">
            <a:xfrm>
              <a:off x="611" y="2219"/>
              <a:ext cx="3584" cy="198"/>
              <a:chOff x="385" y="2209"/>
              <a:chExt cx="3584" cy="313"/>
            </a:xfrm>
          </p:grpSpPr>
          <p:sp>
            <p:nvSpPr>
              <p:cNvPr id="6168" name="AutoShape 17">
                <a:extLst>
                  <a:ext uri="{FF2B5EF4-FFF2-40B4-BE49-F238E27FC236}">
                    <a16:creationId xmlns:a16="http://schemas.microsoft.com/office/drawing/2014/main" id="{EABAA4E2-6FD5-F3BB-606D-D5E5B682C06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9" name="Text Box 18">
                <a:extLst>
                  <a:ext uri="{FF2B5EF4-FFF2-40B4-BE49-F238E27FC236}">
                    <a16:creationId xmlns:a16="http://schemas.microsoft.com/office/drawing/2014/main" id="{E13ABEA4-F080-5F03-58F8-42068AB33177}"/>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软件项目跟踪控制过程</a:t>
                </a:r>
                <a:r>
                  <a:rPr lang="zh-CN" altLang="en-US" sz="1200">
                    <a:solidFill>
                      <a:schemeClr val="bg1"/>
                    </a:solidFill>
                  </a:rPr>
                  <a:t> </a:t>
                </a:r>
              </a:p>
            </p:txBody>
          </p:sp>
          <p:sp>
            <p:nvSpPr>
              <p:cNvPr id="6170" name="Rectangle 19">
                <a:extLst>
                  <a:ext uri="{FF2B5EF4-FFF2-40B4-BE49-F238E27FC236}">
                    <a16:creationId xmlns:a16="http://schemas.microsoft.com/office/drawing/2014/main" id="{593692C7-61A3-2A73-AB81-5518FCDBC39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9.4</a:t>
                </a:r>
                <a:endParaRPr lang="en-US" altLang="zh-CN" sz="1800">
                  <a:solidFill>
                    <a:srgbClr val="000000"/>
                  </a:solidFill>
                </a:endParaRPr>
              </a:p>
            </p:txBody>
          </p:sp>
        </p:grpSp>
        <p:grpSp>
          <p:nvGrpSpPr>
            <p:cNvPr id="6152" name="Group 24">
              <a:extLst>
                <a:ext uri="{FF2B5EF4-FFF2-40B4-BE49-F238E27FC236}">
                  <a16:creationId xmlns:a16="http://schemas.microsoft.com/office/drawing/2014/main" id="{843F652F-A29E-3452-6BC9-9AE2D6B41F36}"/>
                </a:ext>
              </a:extLst>
            </p:cNvPr>
            <p:cNvGrpSpPr>
              <a:grpSpLocks/>
            </p:cNvGrpSpPr>
            <p:nvPr/>
          </p:nvGrpSpPr>
          <p:grpSpPr bwMode="auto">
            <a:xfrm>
              <a:off x="611" y="2505"/>
              <a:ext cx="3584" cy="197"/>
              <a:chOff x="385" y="2209"/>
              <a:chExt cx="3584" cy="311"/>
            </a:xfrm>
          </p:grpSpPr>
          <p:sp>
            <p:nvSpPr>
              <p:cNvPr id="6165" name="AutoShape 25">
                <a:extLst>
                  <a:ext uri="{FF2B5EF4-FFF2-40B4-BE49-F238E27FC236}">
                    <a16:creationId xmlns:a16="http://schemas.microsoft.com/office/drawing/2014/main" id="{8B0C70B8-0D19-55D8-41AB-1B05B4C0B19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6" name="Text Box 26">
                <a:extLst>
                  <a:ext uri="{FF2B5EF4-FFF2-40B4-BE49-F238E27FC236}">
                    <a16:creationId xmlns:a16="http://schemas.microsoft.com/office/drawing/2014/main" id="{5513ABD8-C734-273D-D918-661B630626F1}"/>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软件项目评审 </a:t>
                </a:r>
              </a:p>
            </p:txBody>
          </p:sp>
          <p:sp>
            <p:nvSpPr>
              <p:cNvPr id="6167" name="Rectangle 27">
                <a:extLst>
                  <a:ext uri="{FF2B5EF4-FFF2-40B4-BE49-F238E27FC236}">
                    <a16:creationId xmlns:a16="http://schemas.microsoft.com/office/drawing/2014/main" id="{EB385142-EFB5-15E0-655D-5A8705896F3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9.5</a:t>
                </a:r>
                <a:endParaRPr lang="en-US" altLang="zh-CN" sz="1800">
                  <a:solidFill>
                    <a:srgbClr val="000000"/>
                  </a:solidFill>
                </a:endParaRPr>
              </a:p>
            </p:txBody>
          </p:sp>
        </p:grpSp>
        <p:grpSp>
          <p:nvGrpSpPr>
            <p:cNvPr id="6153" name="Group 28">
              <a:extLst>
                <a:ext uri="{FF2B5EF4-FFF2-40B4-BE49-F238E27FC236}">
                  <a16:creationId xmlns:a16="http://schemas.microsoft.com/office/drawing/2014/main" id="{99829688-B5D3-136D-7B23-1FF00059129A}"/>
                </a:ext>
              </a:extLst>
            </p:cNvPr>
            <p:cNvGrpSpPr>
              <a:grpSpLocks/>
            </p:cNvGrpSpPr>
            <p:nvPr/>
          </p:nvGrpSpPr>
          <p:grpSpPr bwMode="auto">
            <a:xfrm>
              <a:off x="611" y="2760"/>
              <a:ext cx="3584" cy="230"/>
              <a:chOff x="385" y="2187"/>
              <a:chExt cx="3584" cy="363"/>
            </a:xfrm>
          </p:grpSpPr>
          <p:sp>
            <p:nvSpPr>
              <p:cNvPr id="6162" name="AutoShape 29">
                <a:extLst>
                  <a:ext uri="{FF2B5EF4-FFF2-40B4-BE49-F238E27FC236}">
                    <a16:creationId xmlns:a16="http://schemas.microsoft.com/office/drawing/2014/main" id="{8AF7CBCF-C2F7-3A66-AF52-2F490DB288D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3" name="Text Box 30">
                <a:extLst>
                  <a:ext uri="{FF2B5EF4-FFF2-40B4-BE49-F238E27FC236}">
                    <a16:creationId xmlns:a16="http://schemas.microsoft.com/office/drawing/2014/main" id="{346E99F2-D4A7-3D90-C70A-D828B4A6121B}"/>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ea typeface="黑体" panose="02010609060101010101" pitchFamily="49" charset="-122"/>
                  </a:rPr>
                  <a:t>软件项目计划修改</a:t>
                </a:r>
                <a:r>
                  <a:rPr lang="zh-CN" altLang="en-US" sz="1200">
                    <a:solidFill>
                      <a:schemeClr val="bg1"/>
                    </a:solidFill>
                  </a:rPr>
                  <a:t> </a:t>
                </a:r>
                <a:r>
                  <a:rPr lang="zh-CN" altLang="en-US" sz="2400" b="0">
                    <a:latin typeface="Times New Roman" panose="02020603050405020304" pitchFamily="18" charset="0"/>
                  </a:rPr>
                  <a:t> </a:t>
                </a:r>
              </a:p>
            </p:txBody>
          </p:sp>
          <p:sp>
            <p:nvSpPr>
              <p:cNvPr id="6164" name="Rectangle 31">
                <a:extLst>
                  <a:ext uri="{FF2B5EF4-FFF2-40B4-BE49-F238E27FC236}">
                    <a16:creationId xmlns:a16="http://schemas.microsoft.com/office/drawing/2014/main" id="{8B069B0F-6678-CF4C-45E4-130F98770A25}"/>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9.6</a:t>
                </a:r>
                <a:endParaRPr lang="en-US" altLang="zh-CN" sz="1800">
                  <a:solidFill>
                    <a:srgbClr val="000000"/>
                  </a:solidFill>
                </a:endParaRPr>
              </a:p>
            </p:txBody>
          </p:sp>
        </p:grpSp>
        <p:grpSp>
          <p:nvGrpSpPr>
            <p:cNvPr id="6154" name="Group 36">
              <a:extLst>
                <a:ext uri="{FF2B5EF4-FFF2-40B4-BE49-F238E27FC236}">
                  <a16:creationId xmlns:a16="http://schemas.microsoft.com/office/drawing/2014/main" id="{7BB6FB9A-952F-7FF9-F949-9A20CC844C4C}"/>
                </a:ext>
              </a:extLst>
            </p:cNvPr>
            <p:cNvGrpSpPr>
              <a:grpSpLocks/>
            </p:cNvGrpSpPr>
            <p:nvPr/>
          </p:nvGrpSpPr>
          <p:grpSpPr bwMode="auto">
            <a:xfrm>
              <a:off x="611" y="3022"/>
              <a:ext cx="3584" cy="230"/>
              <a:chOff x="385" y="2187"/>
              <a:chExt cx="3584" cy="363"/>
            </a:xfrm>
          </p:grpSpPr>
          <p:sp>
            <p:nvSpPr>
              <p:cNvPr id="6159" name="AutoShape 37">
                <a:extLst>
                  <a:ext uri="{FF2B5EF4-FFF2-40B4-BE49-F238E27FC236}">
                    <a16:creationId xmlns:a16="http://schemas.microsoft.com/office/drawing/2014/main" id="{B6FB5F1B-1360-0555-CE50-38F4CE65EF2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0" name="Text Box 38">
                <a:extLst>
                  <a:ext uri="{FF2B5EF4-FFF2-40B4-BE49-F238E27FC236}">
                    <a16:creationId xmlns:a16="http://schemas.microsoft.com/office/drawing/2014/main" id="{904AACF7-7DD5-CDBC-CE37-881698383FBD}"/>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6161" name="Rectangle 39">
                <a:extLst>
                  <a:ext uri="{FF2B5EF4-FFF2-40B4-BE49-F238E27FC236}">
                    <a16:creationId xmlns:a16="http://schemas.microsoft.com/office/drawing/2014/main" id="{D9A4C684-510F-1FB1-F93A-CA7AEA5ABA0A}"/>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9.7</a:t>
                </a:r>
                <a:endParaRPr lang="en-US" altLang="zh-CN" sz="1800">
                  <a:solidFill>
                    <a:srgbClr val="000000"/>
                  </a:solidFill>
                </a:endParaRPr>
              </a:p>
            </p:txBody>
          </p:sp>
        </p:grpSp>
        <p:grpSp>
          <p:nvGrpSpPr>
            <p:cNvPr id="6155" name="Group 40">
              <a:extLst>
                <a:ext uri="{FF2B5EF4-FFF2-40B4-BE49-F238E27FC236}">
                  <a16:creationId xmlns:a16="http://schemas.microsoft.com/office/drawing/2014/main" id="{B13A2A25-3218-C132-66BD-166DF5137E23}"/>
                </a:ext>
              </a:extLst>
            </p:cNvPr>
            <p:cNvGrpSpPr>
              <a:grpSpLocks/>
            </p:cNvGrpSpPr>
            <p:nvPr/>
          </p:nvGrpSpPr>
          <p:grpSpPr bwMode="auto">
            <a:xfrm>
              <a:off x="611" y="3294"/>
              <a:ext cx="3584" cy="230"/>
              <a:chOff x="385" y="2187"/>
              <a:chExt cx="3584" cy="363"/>
            </a:xfrm>
          </p:grpSpPr>
          <p:sp>
            <p:nvSpPr>
              <p:cNvPr id="6156" name="AutoShape 41">
                <a:extLst>
                  <a:ext uri="{FF2B5EF4-FFF2-40B4-BE49-F238E27FC236}">
                    <a16:creationId xmlns:a16="http://schemas.microsoft.com/office/drawing/2014/main" id="{F1D2151A-F052-C6C2-2BEE-1EDBFA47478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57" name="Text Box 42">
                <a:extLst>
                  <a:ext uri="{FF2B5EF4-FFF2-40B4-BE49-F238E27FC236}">
                    <a16:creationId xmlns:a16="http://schemas.microsoft.com/office/drawing/2014/main" id="{FEA3F6E3-0B69-5466-779E-3FEC3DCBA4A1}"/>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复习思考题</a:t>
                </a:r>
                <a:r>
                  <a:rPr lang="zh-CN" altLang="en-US" sz="2400" b="0">
                    <a:latin typeface="Times New Roman" panose="02020603050405020304" pitchFamily="18" charset="0"/>
                  </a:rPr>
                  <a:t> </a:t>
                </a:r>
              </a:p>
            </p:txBody>
          </p:sp>
          <p:sp>
            <p:nvSpPr>
              <p:cNvPr id="6158" name="Rectangle 43">
                <a:extLst>
                  <a:ext uri="{FF2B5EF4-FFF2-40B4-BE49-F238E27FC236}">
                    <a16:creationId xmlns:a16="http://schemas.microsoft.com/office/drawing/2014/main" id="{14B2FC29-99BC-35E9-5A9B-DA1E2B7476E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9.8</a:t>
                </a:r>
                <a:endParaRPr lang="en-US" altLang="zh-CN" sz="1800">
                  <a:solidFill>
                    <a:srgbClr val="000000"/>
                  </a:solidFil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E64C614-EC13-2BCA-B1AF-C037025548FA}"/>
              </a:ext>
            </a:extLst>
          </p:cNvPr>
          <p:cNvSpPr>
            <a:spLocks noGrp="1" noChangeArrowheads="1"/>
          </p:cNvSpPr>
          <p:nvPr>
            <p:ph type="title"/>
          </p:nvPr>
        </p:nvSpPr>
        <p:spPr/>
        <p:txBody>
          <a:bodyPr/>
          <a:lstStyle/>
          <a:p>
            <a:pPr eaLnBrk="1" hangingPunct="1"/>
            <a:r>
              <a:rPr lang="en-US" altLang="zh-CN"/>
              <a:t>9.1  </a:t>
            </a:r>
            <a:r>
              <a:rPr kumimoji="1" lang="zh-CN" altLang="en-US"/>
              <a:t>软件项目跟踪控制概述 </a:t>
            </a:r>
          </a:p>
        </p:txBody>
      </p:sp>
      <p:sp>
        <p:nvSpPr>
          <p:cNvPr id="8195" name="Rectangle 3">
            <a:extLst>
              <a:ext uri="{FF2B5EF4-FFF2-40B4-BE49-F238E27FC236}">
                <a16:creationId xmlns:a16="http://schemas.microsoft.com/office/drawing/2014/main" id="{91D4E169-3415-AD1C-1153-CFC384D262C0}"/>
              </a:ext>
            </a:extLst>
          </p:cNvPr>
          <p:cNvSpPr>
            <a:spLocks noGrp="1" noChangeArrowheads="1"/>
          </p:cNvSpPr>
          <p:nvPr>
            <p:ph type="body" idx="1"/>
          </p:nvPr>
        </p:nvSpPr>
        <p:spPr>
          <a:xfrm>
            <a:off x="323850" y="1844675"/>
            <a:ext cx="8640763" cy="5013325"/>
          </a:xfrm>
        </p:spPr>
        <p:txBody>
          <a:bodyPr/>
          <a:lstStyle/>
          <a:p>
            <a:pPr eaLnBrk="1" hangingPunct="1">
              <a:lnSpc>
                <a:spcPct val="120000"/>
              </a:lnSpc>
            </a:pPr>
            <a:r>
              <a:rPr lang="zh-CN" altLang="en-US" sz="2400">
                <a:solidFill>
                  <a:schemeClr val="accent2"/>
                </a:solidFill>
                <a:ea typeface="黑体" panose="02010609060101010101" pitchFamily="49" charset="-122"/>
              </a:rPr>
              <a:t>项目跟踪控制</a:t>
            </a:r>
          </a:p>
          <a:p>
            <a:pPr eaLnBrk="1" hangingPunct="1">
              <a:lnSpc>
                <a:spcPct val="120000"/>
              </a:lnSpc>
              <a:buFont typeface="Wingdings 2" panose="05020102010507070707" pitchFamily="18" charset="2"/>
              <a:buNone/>
            </a:pPr>
            <a:r>
              <a:rPr lang="zh-CN" altLang="en-US" sz="2000"/>
              <a:t>     </a:t>
            </a:r>
            <a:r>
              <a:rPr lang="en-US" altLang="zh-CN" sz="2000">
                <a:solidFill>
                  <a:schemeClr val="accent2"/>
                </a:solidFill>
              </a:rPr>
              <a:t>——</a:t>
            </a:r>
            <a:r>
              <a:rPr lang="zh-CN" altLang="en-US" sz="1800"/>
              <a:t>保证项目能够按照预先设定的计划轨道行驶，使项目不要偏离预定的发展进程。跟踪控制是一个反馈过程，需要在项目实施的全过程对项目进行跟踪控制。   </a:t>
            </a:r>
          </a:p>
          <a:p>
            <a:pPr eaLnBrk="1" hangingPunct="1">
              <a:lnSpc>
                <a:spcPct val="120000"/>
              </a:lnSpc>
            </a:pPr>
            <a:r>
              <a:rPr lang="zh-CN" altLang="en-US" sz="2400">
                <a:solidFill>
                  <a:schemeClr val="accent2"/>
                </a:solidFill>
                <a:ea typeface="黑体" panose="02010609060101010101" pitchFamily="49" charset="-122"/>
              </a:rPr>
              <a:t>项目跟踪控制的基本步骤</a:t>
            </a:r>
            <a:endParaRPr lang="en-US" altLang="zh-CN" sz="2400">
              <a:solidFill>
                <a:schemeClr val="accent2"/>
              </a:solidFill>
              <a:ea typeface="黑体" panose="02010609060101010101" pitchFamily="49" charset="-122"/>
            </a:endParaRPr>
          </a:p>
          <a:p>
            <a:pPr lvl="1" eaLnBrk="1" hangingPunct="1">
              <a:lnSpc>
                <a:spcPct val="120000"/>
              </a:lnSpc>
            </a:pPr>
            <a:r>
              <a:rPr lang="zh-CN" altLang="en-US" sz="1800" b="0">
                <a:solidFill>
                  <a:srgbClr val="FF0000"/>
                </a:solidFill>
                <a:ea typeface="黑体" panose="02010609060101010101" pitchFamily="49" charset="-122"/>
              </a:rPr>
              <a:t>项目跟踪控制</a:t>
            </a:r>
            <a:r>
              <a:rPr lang="zh-CN" altLang="en-US" sz="1800" b="0">
                <a:ea typeface="黑体" panose="02010609060101010101" pitchFamily="49" charset="-122"/>
              </a:rPr>
              <a:t>是项目管理的关键环节，同时也是最能体现项目经验的阶段。在项目执行过程中，</a:t>
            </a:r>
            <a:r>
              <a:rPr lang="zh-CN" altLang="en-US" sz="1800" b="0">
                <a:solidFill>
                  <a:srgbClr val="FF0000"/>
                </a:solidFill>
                <a:ea typeface="黑体" panose="02010609060101010101" pitchFamily="49" charset="-122"/>
              </a:rPr>
              <a:t>项目经理的作用至关重要</a:t>
            </a:r>
            <a:r>
              <a:rPr lang="zh-CN" altLang="en-US" sz="1800" b="0">
                <a:ea typeface="黑体" panose="02010609060101010101" pitchFamily="49" charset="-122"/>
              </a:rPr>
              <a:t>，一个好的项目经理是项目获得成功的关键</a:t>
            </a:r>
            <a:endParaRPr lang="en-US" altLang="zh-CN" sz="1800" b="0">
              <a:ea typeface="黑体" panose="02010609060101010101" pitchFamily="49" charset="-122"/>
            </a:endParaRPr>
          </a:p>
          <a:p>
            <a:pPr lvl="1" eaLnBrk="1" hangingPunct="1">
              <a:lnSpc>
                <a:spcPct val="120000"/>
              </a:lnSpc>
            </a:pPr>
            <a:r>
              <a:rPr lang="zh-CN" altLang="en-US" sz="1800" b="0">
                <a:ea typeface="黑体" panose="02010609060101010101" pitchFamily="49" charset="-122"/>
              </a:rPr>
              <a:t>对于项目组来说，最好是通过</a:t>
            </a:r>
            <a:r>
              <a:rPr lang="zh-CN" altLang="en-US" sz="1800" b="0">
                <a:solidFill>
                  <a:srgbClr val="FF0000"/>
                </a:solidFill>
                <a:ea typeface="黑体" panose="02010609060101010101" pitchFamily="49" charset="-122"/>
              </a:rPr>
              <a:t>设置偏差的警戒线和底线</a:t>
            </a:r>
            <a:r>
              <a:rPr lang="zh-CN" altLang="en-US" sz="1800" b="0">
                <a:ea typeface="黑体" panose="02010609060101010101" pitchFamily="49" charset="-122"/>
              </a:rPr>
              <a:t>的方法来控制项目，警戒线和底线可以以</a:t>
            </a:r>
            <a:r>
              <a:rPr lang="zh-CN" altLang="en-US" sz="1800" b="0">
                <a:solidFill>
                  <a:srgbClr val="FF0000"/>
                </a:solidFill>
                <a:ea typeface="黑体" panose="02010609060101010101" pitchFamily="49" charset="-122"/>
              </a:rPr>
              <a:t>时间和阶段成果为标志</a:t>
            </a:r>
            <a:r>
              <a:rPr lang="zh-CN" altLang="en-US" sz="1800" b="0">
                <a:ea typeface="黑体" panose="02010609060101010101" pitchFamily="49" charset="-122"/>
              </a:rPr>
              <a:t>。警戒线是为了认清发生拖延的标志，就像水位的警戒线一样，当警戒信号出现后，就应该执行应急措施。在警戒线上应该</a:t>
            </a:r>
            <a:r>
              <a:rPr lang="zh-CN" altLang="en-US" sz="1800" b="0">
                <a:solidFill>
                  <a:srgbClr val="FF0000"/>
                </a:solidFill>
                <a:ea typeface="黑体" panose="02010609060101010101" pitchFamily="49" charset="-122"/>
              </a:rPr>
              <a:t>设置必要的解决或缓解问题的活动</a:t>
            </a:r>
            <a:r>
              <a:rPr lang="zh-CN" altLang="en-US" sz="1800" b="0">
                <a:ea typeface="黑体" panose="02010609060101010101" pitchFamily="49" charset="-122"/>
              </a:rPr>
              <a:t>。底线本身是一种预测，预测可能的拖延时间。</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265B04F-8A24-8B1A-6E55-992A1DE3BD07}"/>
              </a:ext>
            </a:extLst>
          </p:cNvPr>
          <p:cNvSpPr>
            <a:spLocks noGrp="1" noChangeArrowheads="1"/>
          </p:cNvSpPr>
          <p:nvPr>
            <p:ph type="title"/>
          </p:nvPr>
        </p:nvSpPr>
        <p:spPr/>
        <p:txBody>
          <a:bodyPr/>
          <a:lstStyle/>
          <a:p>
            <a:pPr eaLnBrk="1" hangingPunct="1"/>
            <a:r>
              <a:rPr lang="en-US" altLang="zh-CN"/>
              <a:t>9.1  </a:t>
            </a:r>
            <a:r>
              <a:rPr kumimoji="1" lang="zh-CN" altLang="en-US"/>
              <a:t>软件项目跟踪控制概述 </a:t>
            </a:r>
          </a:p>
        </p:txBody>
      </p:sp>
      <p:sp>
        <p:nvSpPr>
          <p:cNvPr id="10243" name="Rectangle 3">
            <a:extLst>
              <a:ext uri="{FF2B5EF4-FFF2-40B4-BE49-F238E27FC236}">
                <a16:creationId xmlns:a16="http://schemas.microsoft.com/office/drawing/2014/main" id="{ECC53A93-1EDE-C5B6-E038-26FB9F0C1F09}"/>
              </a:ext>
            </a:extLst>
          </p:cNvPr>
          <p:cNvSpPr>
            <a:spLocks noGrp="1" noChangeArrowheads="1"/>
          </p:cNvSpPr>
          <p:nvPr>
            <p:ph type="body" idx="1"/>
          </p:nvPr>
        </p:nvSpPr>
        <p:spPr>
          <a:xfrm>
            <a:off x="323850" y="1844675"/>
            <a:ext cx="8640763" cy="5013325"/>
          </a:xfrm>
        </p:spPr>
        <p:txBody>
          <a:bodyPr/>
          <a:lstStyle/>
          <a:p>
            <a:pPr eaLnBrk="1" hangingPunct="1">
              <a:lnSpc>
                <a:spcPct val="120000"/>
              </a:lnSpc>
            </a:pPr>
            <a:r>
              <a:rPr lang="zh-CN" altLang="en-US" sz="2400" dirty="0">
                <a:solidFill>
                  <a:schemeClr val="accent2"/>
                </a:solidFill>
                <a:ea typeface="黑体" panose="02010609060101010101" pitchFamily="49" charset="-122"/>
              </a:rPr>
              <a:t>为了控制好项目，必须做好以下事情：</a:t>
            </a:r>
            <a:endParaRPr lang="en-US" altLang="zh-CN" sz="2400" dirty="0">
              <a:solidFill>
                <a:schemeClr val="accent2"/>
              </a:solidFill>
              <a:ea typeface="黑体" panose="02010609060101010101" pitchFamily="49" charset="-122"/>
            </a:endParaRPr>
          </a:p>
          <a:p>
            <a:pPr lvl="1" eaLnBrk="1" hangingPunct="1">
              <a:lnSpc>
                <a:spcPct val="120000"/>
              </a:lnSpc>
            </a:pPr>
            <a:r>
              <a:rPr lang="zh-CN" altLang="en-US" sz="1600" b="0" dirty="0">
                <a:ea typeface="黑体" panose="02010609060101010101" pitchFamily="49" charset="-122"/>
              </a:rPr>
              <a:t>充分了解项目当前的</a:t>
            </a:r>
            <a:r>
              <a:rPr lang="zh-CN" altLang="en-US" sz="1600" b="0" dirty="0">
                <a:solidFill>
                  <a:srgbClr val="FF0000"/>
                </a:solidFill>
                <a:ea typeface="黑体" panose="02010609060101010101" pitchFamily="49" charset="-122"/>
              </a:rPr>
              <a:t>状态</a:t>
            </a:r>
            <a:endParaRPr lang="en-US" altLang="zh-CN" sz="1600" b="0" dirty="0">
              <a:solidFill>
                <a:srgbClr val="FF0000"/>
              </a:solidFill>
              <a:ea typeface="黑体" panose="02010609060101010101" pitchFamily="49" charset="-122"/>
            </a:endParaRPr>
          </a:p>
          <a:p>
            <a:pPr lvl="1" eaLnBrk="1" hangingPunct="1">
              <a:lnSpc>
                <a:spcPct val="120000"/>
              </a:lnSpc>
            </a:pPr>
            <a:r>
              <a:rPr lang="zh-CN" altLang="en-US" sz="1600" b="0" dirty="0">
                <a:ea typeface="黑体" panose="02010609060101010101" pitchFamily="49" charset="-122"/>
              </a:rPr>
              <a:t>依据所期望的状态、当前的状态和目标做出一些决策。其中，</a:t>
            </a:r>
            <a:r>
              <a:rPr lang="zh-CN" altLang="en-US" sz="1600" b="0" dirty="0">
                <a:solidFill>
                  <a:srgbClr val="FF0000"/>
                </a:solidFill>
                <a:ea typeface="黑体" panose="02010609060101010101" pitchFamily="49" charset="-122"/>
              </a:rPr>
              <a:t>项目经理的分析能力、经验和觉悟性</a:t>
            </a:r>
            <a:r>
              <a:rPr lang="zh-CN" altLang="en-US" sz="1600" b="0" dirty="0">
                <a:ea typeface="黑体" panose="02010609060101010101" pitchFamily="49" charset="-122"/>
              </a:rPr>
              <a:t>都决定了做出决策的质量。</a:t>
            </a:r>
            <a:endParaRPr lang="en-US" altLang="zh-CN" sz="1600" b="0" dirty="0">
              <a:ea typeface="黑体" panose="02010609060101010101" pitchFamily="49" charset="-122"/>
            </a:endParaRPr>
          </a:p>
          <a:p>
            <a:pPr lvl="1" eaLnBrk="1" hangingPunct="1">
              <a:lnSpc>
                <a:spcPct val="120000"/>
              </a:lnSpc>
            </a:pPr>
            <a:r>
              <a:rPr lang="zh-CN" altLang="en-US" sz="1600" b="0" dirty="0">
                <a:ea typeface="黑体" panose="02010609060101010101" pitchFamily="49" charset="-122"/>
              </a:rPr>
              <a:t>当然决策主要是受到所了解信息的限制，如果掌握的项目状态数据不够准确或者不够完整，就不能做出最好的决策。</a:t>
            </a:r>
            <a:endParaRPr lang="en-US" altLang="zh-CN" sz="1600" b="0" dirty="0">
              <a:ea typeface="黑体" panose="02010609060101010101" pitchFamily="49" charset="-122"/>
            </a:endParaRPr>
          </a:p>
          <a:p>
            <a:pPr eaLnBrk="1" hangingPunct="1">
              <a:lnSpc>
                <a:spcPct val="120000"/>
              </a:lnSpc>
            </a:pPr>
            <a:r>
              <a:rPr lang="zh-CN" altLang="en-US" sz="2400" dirty="0">
                <a:solidFill>
                  <a:schemeClr val="accent2"/>
                </a:solidFill>
                <a:ea typeface="黑体" panose="02010609060101010101" pitchFamily="49" charset="-122"/>
              </a:rPr>
              <a:t>项目跟踪控制的基本步骤</a:t>
            </a:r>
            <a:endParaRPr lang="zh-CN" altLang="en-US" sz="2000" dirty="0">
              <a:solidFill>
                <a:schemeClr val="accent1"/>
              </a:solidFill>
              <a:ea typeface="黑体" panose="02010609060101010101" pitchFamily="49" charset="-122"/>
            </a:endParaRPr>
          </a:p>
          <a:p>
            <a:pPr lvl="1" eaLnBrk="1" hangingPunct="1">
              <a:lnSpc>
                <a:spcPct val="120000"/>
              </a:lnSpc>
              <a:spcBef>
                <a:spcPct val="30000"/>
              </a:spcBef>
            </a:pPr>
            <a:r>
              <a:rPr lang="zh-CN" altLang="en-US" sz="1800" dirty="0">
                <a:solidFill>
                  <a:schemeClr val="accent1"/>
                </a:solidFill>
                <a:ea typeface="黑体" panose="02010609060101010101" pitchFamily="49" charset="-122"/>
              </a:rPr>
              <a:t>建立标准</a:t>
            </a:r>
            <a:r>
              <a:rPr lang="zh-CN" altLang="en-US" sz="1800" dirty="0">
                <a:solidFill>
                  <a:schemeClr val="accent2"/>
                </a:solidFill>
                <a:ea typeface="黑体" panose="02010609060101010101" pitchFamily="49" charset="-122"/>
              </a:rPr>
              <a:t>  </a:t>
            </a:r>
            <a:r>
              <a:rPr lang="zh-CN" altLang="en-US" sz="1600" dirty="0"/>
              <a:t>即建立项目正确完成应该达到的目标</a:t>
            </a:r>
          </a:p>
          <a:p>
            <a:pPr lvl="1" eaLnBrk="1" hangingPunct="1">
              <a:lnSpc>
                <a:spcPct val="120000"/>
              </a:lnSpc>
              <a:spcBef>
                <a:spcPct val="30000"/>
              </a:spcBef>
            </a:pPr>
            <a:r>
              <a:rPr lang="zh-CN" altLang="en-US" sz="1800" dirty="0">
                <a:solidFill>
                  <a:schemeClr val="accent1"/>
                </a:solidFill>
                <a:ea typeface="黑体" panose="02010609060101010101" pitchFamily="49" charset="-122"/>
              </a:rPr>
              <a:t>观察项目的性能</a:t>
            </a:r>
            <a:r>
              <a:rPr lang="zh-CN" altLang="en-US" sz="1800" dirty="0">
                <a:solidFill>
                  <a:schemeClr val="accent2"/>
                </a:solidFill>
                <a:ea typeface="黑体" panose="02010609060101010101" pitchFamily="49" charset="-122"/>
              </a:rPr>
              <a:t>   </a:t>
            </a:r>
            <a:r>
              <a:rPr lang="zh-CN" altLang="en-US" sz="1600" dirty="0"/>
              <a:t>建立项目监控和报告体系，确定为控制项目所必需的数据</a:t>
            </a:r>
          </a:p>
          <a:p>
            <a:pPr lvl="1" eaLnBrk="1" hangingPunct="1">
              <a:lnSpc>
                <a:spcPct val="120000"/>
              </a:lnSpc>
              <a:spcBef>
                <a:spcPct val="30000"/>
              </a:spcBef>
            </a:pPr>
            <a:r>
              <a:rPr lang="zh-CN" altLang="en-US" sz="1800" dirty="0">
                <a:solidFill>
                  <a:schemeClr val="accent1"/>
                </a:solidFill>
                <a:ea typeface="黑体" panose="02010609060101010101" pitchFamily="49" charset="-122"/>
              </a:rPr>
              <a:t>测量和分析结果</a:t>
            </a:r>
            <a:r>
              <a:rPr lang="zh-CN" altLang="en-US" sz="1600" dirty="0"/>
              <a:t>  将项目的实际结果与计划进行比较</a:t>
            </a:r>
          </a:p>
          <a:p>
            <a:pPr lvl="1" eaLnBrk="1" hangingPunct="1">
              <a:lnSpc>
                <a:spcPct val="120000"/>
              </a:lnSpc>
              <a:spcBef>
                <a:spcPct val="30000"/>
              </a:spcBef>
            </a:pPr>
            <a:r>
              <a:rPr lang="zh-CN" altLang="en-US" sz="1800" dirty="0">
                <a:solidFill>
                  <a:schemeClr val="accent1"/>
                </a:solidFill>
                <a:ea typeface="黑体" panose="02010609060101010101" pitchFamily="49" charset="-122"/>
              </a:rPr>
              <a:t>采取必要措施</a:t>
            </a:r>
            <a:r>
              <a:rPr lang="zh-CN" altLang="en-US" sz="1600" dirty="0"/>
              <a:t>   当实际的结果同计划有误差时，必要时修正项目计划</a:t>
            </a:r>
          </a:p>
          <a:p>
            <a:pPr lvl="1" eaLnBrk="1" hangingPunct="1">
              <a:lnSpc>
                <a:spcPct val="120000"/>
              </a:lnSpc>
              <a:spcBef>
                <a:spcPct val="30000"/>
              </a:spcBef>
            </a:pPr>
            <a:r>
              <a:rPr lang="zh-CN" altLang="en-US" sz="1800" dirty="0">
                <a:solidFill>
                  <a:schemeClr val="accent1"/>
                </a:solidFill>
                <a:ea typeface="黑体" panose="02010609060101010101" pitchFamily="49" charset="-122"/>
              </a:rPr>
              <a:t>控制反馈</a:t>
            </a:r>
            <a:r>
              <a:rPr lang="zh-CN" altLang="en-US" sz="1600" dirty="0"/>
              <a:t>   如果修正计划，应该通知有关人员和部门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8AF40A7-6499-A8EC-1753-ABE4CF804EFC}"/>
              </a:ext>
            </a:extLst>
          </p:cNvPr>
          <p:cNvSpPr>
            <a:spLocks noGrp="1" noChangeArrowheads="1"/>
          </p:cNvSpPr>
          <p:nvPr>
            <p:ph type="title"/>
          </p:nvPr>
        </p:nvSpPr>
        <p:spPr/>
        <p:txBody>
          <a:bodyPr/>
          <a:lstStyle/>
          <a:p>
            <a:pPr eaLnBrk="1" hangingPunct="1"/>
            <a:r>
              <a:rPr kumimoji="1" lang="zh-CN" altLang="en-US"/>
              <a:t>软件项目跟踪控制概述</a:t>
            </a:r>
          </a:p>
        </p:txBody>
      </p:sp>
      <p:sp>
        <p:nvSpPr>
          <p:cNvPr id="12291" name="Rectangle 3">
            <a:extLst>
              <a:ext uri="{FF2B5EF4-FFF2-40B4-BE49-F238E27FC236}">
                <a16:creationId xmlns:a16="http://schemas.microsoft.com/office/drawing/2014/main" id="{558BC5CD-AD2A-4110-AF4C-6EBD020A1F39}"/>
              </a:ext>
            </a:extLst>
          </p:cNvPr>
          <p:cNvSpPr>
            <a:spLocks noGrp="1" noChangeArrowheads="1"/>
          </p:cNvSpPr>
          <p:nvPr>
            <p:ph type="body" idx="1"/>
          </p:nvPr>
        </p:nvSpPr>
        <p:spPr>
          <a:xfrm>
            <a:off x="468313" y="1844675"/>
            <a:ext cx="8496300" cy="5013325"/>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项目跟踪控制过程</a:t>
            </a:r>
          </a:p>
        </p:txBody>
      </p:sp>
      <p:pic>
        <p:nvPicPr>
          <p:cNvPr id="12292" name="Picture 4" descr="cas1">
            <a:extLst>
              <a:ext uri="{FF2B5EF4-FFF2-40B4-BE49-F238E27FC236}">
                <a16:creationId xmlns:a16="http://schemas.microsoft.com/office/drawing/2014/main" id="{4BA43AC7-A194-855D-ED1B-52EC06A18B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5956" r="5037" b="9773"/>
          <a:stretch>
            <a:fillRect/>
          </a:stretch>
        </p:blipFill>
        <p:spPr bwMode="auto">
          <a:xfrm>
            <a:off x="1042988" y="2354263"/>
            <a:ext cx="7850187" cy="4387850"/>
          </a:xfrm>
          <a:prstGeom prst="rect">
            <a:avLst/>
          </a:prstGeom>
          <a:solidFill>
            <a:srgbClr val="CC6600"/>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24B5D8F-7E11-2533-10E6-2F756BF71F62}"/>
              </a:ext>
            </a:extLst>
          </p:cNvPr>
          <p:cNvSpPr>
            <a:spLocks noGrp="1" noChangeArrowheads="1"/>
          </p:cNvSpPr>
          <p:nvPr>
            <p:ph type="title"/>
          </p:nvPr>
        </p:nvSpPr>
        <p:spPr/>
        <p:txBody>
          <a:bodyPr/>
          <a:lstStyle/>
          <a:p>
            <a:pPr eaLnBrk="1" hangingPunct="1"/>
            <a:r>
              <a:rPr kumimoji="1" lang="zh-CN" altLang="en-US"/>
              <a:t>软件项目跟踪控制概述</a:t>
            </a:r>
          </a:p>
        </p:txBody>
      </p:sp>
      <p:sp>
        <p:nvSpPr>
          <p:cNvPr id="13315" name="Rectangle 3">
            <a:extLst>
              <a:ext uri="{FF2B5EF4-FFF2-40B4-BE49-F238E27FC236}">
                <a16:creationId xmlns:a16="http://schemas.microsoft.com/office/drawing/2014/main" id="{C2ED1E4A-9774-9C16-73C0-8EEEE1189D7D}"/>
              </a:ext>
            </a:extLst>
          </p:cNvPr>
          <p:cNvSpPr>
            <a:spLocks noGrp="1" noChangeArrowheads="1"/>
          </p:cNvSpPr>
          <p:nvPr>
            <p:ph type="body" idx="1"/>
          </p:nvPr>
        </p:nvSpPr>
        <p:spPr>
          <a:xfrm>
            <a:off x="971550" y="1916113"/>
            <a:ext cx="7993063" cy="4941887"/>
          </a:xfrm>
        </p:spPr>
        <p:txBody>
          <a:bodyPr/>
          <a:lstStyle/>
          <a:p>
            <a:pPr eaLnBrk="1" hangingPunct="1">
              <a:lnSpc>
                <a:spcPct val="130000"/>
              </a:lnSpc>
              <a:spcBef>
                <a:spcPct val="50000"/>
              </a:spcBef>
            </a:pPr>
            <a:r>
              <a:rPr lang="zh-CN" altLang="en-US" sz="2400">
                <a:solidFill>
                  <a:schemeClr val="accent2"/>
                </a:solidFill>
                <a:latin typeface="黑体" panose="02010609060101010101" pitchFamily="49" charset="-122"/>
                <a:ea typeface="黑体" panose="02010609060101010101" pitchFamily="49" charset="-122"/>
              </a:rPr>
              <a:t>项目跟踪控制的重要性</a:t>
            </a:r>
          </a:p>
          <a:p>
            <a:pPr eaLnBrk="1" hangingPunct="1">
              <a:lnSpc>
                <a:spcPct val="130000"/>
              </a:lnSpc>
              <a:spcBef>
                <a:spcPct val="50000"/>
              </a:spcBef>
              <a:buFont typeface="Wingdings 2" panose="05020102010507070707" pitchFamily="18" charset="2"/>
              <a:buNone/>
            </a:pPr>
            <a:r>
              <a:rPr lang="zh-CN" altLang="en-US" sz="2000">
                <a:solidFill>
                  <a:schemeClr val="accent1"/>
                </a:solidFill>
                <a:latin typeface="黑体" panose="02010609060101010101" pitchFamily="49" charset="-122"/>
                <a:ea typeface="黑体" panose="02010609060101010101" pitchFamily="49" charset="-122"/>
              </a:rPr>
              <a:t>   如果没有项目控制，则可能出现：</a:t>
            </a:r>
          </a:p>
          <a:p>
            <a:pPr eaLnBrk="1" hangingPunct="1">
              <a:lnSpc>
                <a:spcPct val="130000"/>
              </a:lnSpc>
              <a:spcBef>
                <a:spcPct val="50000"/>
              </a:spcBef>
            </a:pPr>
            <a:r>
              <a:rPr lang="zh-CN" altLang="en-US" sz="2000">
                <a:latin typeface="宋体" panose="02010600030101010101" pitchFamily="2" charset="-122"/>
              </a:rPr>
              <a:t>项目的范围会很大</a:t>
            </a:r>
          </a:p>
          <a:p>
            <a:pPr eaLnBrk="1" hangingPunct="1">
              <a:lnSpc>
                <a:spcPct val="130000"/>
              </a:lnSpc>
              <a:spcBef>
                <a:spcPct val="50000"/>
              </a:spcBef>
            </a:pPr>
            <a:r>
              <a:rPr lang="zh-CN" altLang="en-US" sz="2000">
                <a:latin typeface="宋体" panose="02010600030101010101" pitchFamily="2" charset="-122"/>
              </a:rPr>
              <a:t>成本会成倍增长</a:t>
            </a:r>
          </a:p>
          <a:p>
            <a:pPr eaLnBrk="1" hangingPunct="1">
              <a:lnSpc>
                <a:spcPct val="130000"/>
              </a:lnSpc>
              <a:spcBef>
                <a:spcPct val="50000"/>
              </a:spcBef>
            </a:pPr>
            <a:r>
              <a:rPr lang="zh-CN" altLang="en-US" sz="2000">
                <a:latin typeface="宋体" panose="02010600030101010101" pitchFamily="2" charset="-122"/>
              </a:rPr>
              <a:t>风险也会增加</a:t>
            </a:r>
          </a:p>
          <a:p>
            <a:pPr eaLnBrk="1" hangingPunct="1">
              <a:lnSpc>
                <a:spcPct val="130000"/>
              </a:lnSpc>
              <a:spcBef>
                <a:spcPct val="50000"/>
              </a:spcBef>
            </a:pPr>
            <a:r>
              <a:rPr lang="zh-CN" altLang="en-US" sz="2000">
                <a:latin typeface="宋体" panose="02010600030101010101" pitchFamily="2" charset="-122"/>
              </a:rPr>
              <a:t>进度也会推迟</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269CF3D-4EB9-3E03-8554-53B50F3BCCDD}"/>
              </a:ext>
            </a:extLst>
          </p:cNvPr>
          <p:cNvSpPr>
            <a:spLocks noGrp="1" noChangeArrowheads="1"/>
          </p:cNvSpPr>
          <p:nvPr>
            <p:ph type="title"/>
          </p:nvPr>
        </p:nvSpPr>
        <p:spPr/>
        <p:txBody>
          <a:bodyPr/>
          <a:lstStyle/>
          <a:p>
            <a:pPr eaLnBrk="1" hangingPunct="1"/>
            <a:r>
              <a:rPr lang="zh-CN" altLang="en-US"/>
              <a:t>本章内容提要</a:t>
            </a:r>
          </a:p>
        </p:txBody>
      </p:sp>
      <p:grpSp>
        <p:nvGrpSpPr>
          <p:cNvPr id="14339" name="Group 3">
            <a:extLst>
              <a:ext uri="{FF2B5EF4-FFF2-40B4-BE49-F238E27FC236}">
                <a16:creationId xmlns:a16="http://schemas.microsoft.com/office/drawing/2014/main" id="{70E67BC3-C9E7-8A13-118F-9360BFB45497}"/>
              </a:ext>
            </a:extLst>
          </p:cNvPr>
          <p:cNvGrpSpPr>
            <a:grpSpLocks/>
          </p:cNvGrpSpPr>
          <p:nvPr/>
        </p:nvGrpSpPr>
        <p:grpSpPr bwMode="auto">
          <a:xfrm>
            <a:off x="969963" y="2487613"/>
            <a:ext cx="5689600" cy="3389312"/>
            <a:chOff x="611" y="1389"/>
            <a:chExt cx="3584" cy="2135"/>
          </a:xfrm>
        </p:grpSpPr>
        <p:grpSp>
          <p:nvGrpSpPr>
            <p:cNvPr id="14340" name="Group 4">
              <a:extLst>
                <a:ext uri="{FF2B5EF4-FFF2-40B4-BE49-F238E27FC236}">
                  <a16:creationId xmlns:a16="http://schemas.microsoft.com/office/drawing/2014/main" id="{CD59FC17-FDF0-E096-17F2-7644440F7F8F}"/>
                </a:ext>
              </a:extLst>
            </p:cNvPr>
            <p:cNvGrpSpPr>
              <a:grpSpLocks/>
            </p:cNvGrpSpPr>
            <p:nvPr/>
          </p:nvGrpSpPr>
          <p:grpSpPr bwMode="auto">
            <a:xfrm>
              <a:off x="611" y="1389"/>
              <a:ext cx="3572" cy="205"/>
              <a:chOff x="385" y="1460"/>
              <a:chExt cx="3572" cy="324"/>
            </a:xfrm>
          </p:grpSpPr>
          <p:sp>
            <p:nvSpPr>
              <p:cNvPr id="14370" name="AutoShape 5">
                <a:extLst>
                  <a:ext uri="{FF2B5EF4-FFF2-40B4-BE49-F238E27FC236}">
                    <a16:creationId xmlns:a16="http://schemas.microsoft.com/office/drawing/2014/main" id="{0CF7C14D-C926-5F2C-02A0-CCBF505AF682}"/>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4371" name="Text Box 6">
                <a:extLst>
                  <a:ext uri="{FF2B5EF4-FFF2-40B4-BE49-F238E27FC236}">
                    <a16:creationId xmlns:a16="http://schemas.microsoft.com/office/drawing/2014/main" id="{33776AE7-1806-CCE7-A34C-B9CD96972040}"/>
                  </a:ext>
                </a:extLst>
              </p:cNvPr>
              <p:cNvSpPr txBox="1">
                <a:spLocks noChangeArrowheads="1"/>
              </p:cNvSpPr>
              <p:nvPr/>
            </p:nvSpPr>
            <p:spPr bwMode="auto">
              <a:xfrm>
                <a:off x="626" y="1460"/>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软件项目跟踪控制概述</a:t>
                </a:r>
                <a:r>
                  <a:rPr lang="zh-CN" altLang="en-US" sz="1800">
                    <a:latin typeface="宋体" panose="02010600030101010101" pitchFamily="2" charset="-122"/>
                  </a:rPr>
                  <a:t>  </a:t>
                </a:r>
              </a:p>
            </p:txBody>
          </p:sp>
          <p:sp>
            <p:nvSpPr>
              <p:cNvPr id="14372" name="Rectangle 7">
                <a:extLst>
                  <a:ext uri="{FF2B5EF4-FFF2-40B4-BE49-F238E27FC236}">
                    <a16:creationId xmlns:a16="http://schemas.microsoft.com/office/drawing/2014/main" id="{FABEFD0F-5627-9FF6-ED6A-4CEAF541453B}"/>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9.1</a:t>
                </a:r>
                <a:endParaRPr lang="en-US" altLang="zh-CN" sz="1800">
                  <a:solidFill>
                    <a:srgbClr val="000000"/>
                  </a:solidFill>
                </a:endParaRPr>
              </a:p>
            </p:txBody>
          </p:sp>
        </p:grpSp>
        <p:grpSp>
          <p:nvGrpSpPr>
            <p:cNvPr id="14341" name="Group 8">
              <a:extLst>
                <a:ext uri="{FF2B5EF4-FFF2-40B4-BE49-F238E27FC236}">
                  <a16:creationId xmlns:a16="http://schemas.microsoft.com/office/drawing/2014/main" id="{C084D083-752D-1F05-A1AB-71B008E0B8E4}"/>
                </a:ext>
              </a:extLst>
            </p:cNvPr>
            <p:cNvGrpSpPr>
              <a:grpSpLocks/>
            </p:cNvGrpSpPr>
            <p:nvPr/>
          </p:nvGrpSpPr>
          <p:grpSpPr bwMode="auto">
            <a:xfrm>
              <a:off x="611" y="1675"/>
              <a:ext cx="3572" cy="202"/>
              <a:chOff x="385" y="1831"/>
              <a:chExt cx="3572" cy="319"/>
            </a:xfrm>
          </p:grpSpPr>
          <p:grpSp>
            <p:nvGrpSpPr>
              <p:cNvPr id="14366" name="Group 9">
                <a:extLst>
                  <a:ext uri="{FF2B5EF4-FFF2-40B4-BE49-F238E27FC236}">
                    <a16:creationId xmlns:a16="http://schemas.microsoft.com/office/drawing/2014/main" id="{4EF0A628-9E0A-DDFA-27AA-6F12C45BCB1E}"/>
                  </a:ext>
                </a:extLst>
              </p:cNvPr>
              <p:cNvGrpSpPr>
                <a:grpSpLocks/>
              </p:cNvGrpSpPr>
              <p:nvPr/>
            </p:nvGrpSpPr>
            <p:grpSpPr bwMode="auto">
              <a:xfrm>
                <a:off x="464" y="1831"/>
                <a:ext cx="3493" cy="319"/>
                <a:chOff x="464" y="1831"/>
                <a:chExt cx="3493" cy="319"/>
              </a:xfrm>
            </p:grpSpPr>
            <p:sp>
              <p:nvSpPr>
                <p:cNvPr id="14368" name="AutoShape 10">
                  <a:extLst>
                    <a:ext uri="{FF2B5EF4-FFF2-40B4-BE49-F238E27FC236}">
                      <a16:creationId xmlns:a16="http://schemas.microsoft.com/office/drawing/2014/main" id="{3CB1F16F-DDD6-F84B-0C1C-FF573DAF1CA1}"/>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4369" name="Text Box 11">
                  <a:extLst>
                    <a:ext uri="{FF2B5EF4-FFF2-40B4-BE49-F238E27FC236}">
                      <a16:creationId xmlns:a16="http://schemas.microsoft.com/office/drawing/2014/main" id="{8EF27D0A-CC14-0BEC-1839-A65303BB3409}"/>
                    </a:ext>
                  </a:extLst>
                </p:cNvPr>
                <p:cNvSpPr txBox="1">
                  <a:spLocks noChangeArrowheads="1"/>
                </p:cNvSpPr>
                <p:nvPr/>
              </p:nvSpPr>
              <p:spPr bwMode="auto">
                <a:xfrm>
                  <a:off x="626" y="1831"/>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软件项目跟踪控制的标准</a:t>
                  </a:r>
                  <a:r>
                    <a:rPr lang="zh-CN" altLang="en-US" sz="1200">
                      <a:solidFill>
                        <a:schemeClr val="bg1"/>
                      </a:solidFill>
                      <a:latin typeface="黑体" panose="02010609060101010101" pitchFamily="49" charset="-122"/>
                      <a:ea typeface="黑体" panose="02010609060101010101" pitchFamily="49" charset="-122"/>
                    </a:rPr>
                    <a:t> </a:t>
                  </a:r>
                </a:p>
              </p:txBody>
            </p:sp>
          </p:grpSp>
          <p:sp>
            <p:nvSpPr>
              <p:cNvPr id="14367" name="Rectangle 12">
                <a:extLst>
                  <a:ext uri="{FF2B5EF4-FFF2-40B4-BE49-F238E27FC236}">
                    <a16:creationId xmlns:a16="http://schemas.microsoft.com/office/drawing/2014/main" id="{BC213819-4FF2-8054-D161-043A07DBCD2F}"/>
                  </a:ext>
                </a:extLst>
              </p:cNvPr>
              <p:cNvSpPr>
                <a:spLocks noChangeArrowheads="1"/>
              </p:cNvSpPr>
              <p:nvPr/>
            </p:nvSpPr>
            <p:spPr bwMode="auto">
              <a:xfrm>
                <a:off x="385" y="1915"/>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9.2</a:t>
                </a:r>
                <a:endParaRPr lang="en-US" altLang="zh-CN" sz="1800">
                  <a:solidFill>
                    <a:srgbClr val="000000"/>
                  </a:solidFill>
                </a:endParaRPr>
              </a:p>
            </p:txBody>
          </p:sp>
        </p:grpSp>
        <p:grpSp>
          <p:nvGrpSpPr>
            <p:cNvPr id="14342" name="Group 13">
              <a:extLst>
                <a:ext uri="{FF2B5EF4-FFF2-40B4-BE49-F238E27FC236}">
                  <a16:creationId xmlns:a16="http://schemas.microsoft.com/office/drawing/2014/main" id="{E7970778-9CE3-F853-0A18-240A95D9D237}"/>
                </a:ext>
              </a:extLst>
            </p:cNvPr>
            <p:cNvGrpSpPr>
              <a:grpSpLocks/>
            </p:cNvGrpSpPr>
            <p:nvPr/>
          </p:nvGrpSpPr>
          <p:grpSpPr bwMode="auto">
            <a:xfrm>
              <a:off x="611" y="1947"/>
              <a:ext cx="3584" cy="198"/>
              <a:chOff x="385" y="2209"/>
              <a:chExt cx="3584" cy="313"/>
            </a:xfrm>
          </p:grpSpPr>
          <p:sp>
            <p:nvSpPr>
              <p:cNvPr id="14363" name="AutoShape 14">
                <a:extLst>
                  <a:ext uri="{FF2B5EF4-FFF2-40B4-BE49-F238E27FC236}">
                    <a16:creationId xmlns:a16="http://schemas.microsoft.com/office/drawing/2014/main" id="{43C7BB81-199A-C3EC-86E0-EC35FAB6903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4364" name="Text Box 15">
                <a:extLst>
                  <a:ext uri="{FF2B5EF4-FFF2-40B4-BE49-F238E27FC236}">
                    <a16:creationId xmlns:a16="http://schemas.microsoft.com/office/drawing/2014/main" id="{A1A68CD1-9B84-1C12-6D80-7879B39BDF5F}"/>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solidFill>
                      <a:schemeClr val="bg1"/>
                    </a:solidFill>
                    <a:ea typeface="黑体" panose="02010609060101010101" pitchFamily="49" charset="-122"/>
                  </a:rPr>
                  <a:t>  </a:t>
                </a:r>
                <a:r>
                  <a:rPr lang="zh-CN" altLang="en-US" sz="2000">
                    <a:ea typeface="黑体" panose="02010609060101010101" pitchFamily="49" charset="-122"/>
                  </a:rPr>
                  <a:t>软件项目监控和报告体系</a:t>
                </a:r>
                <a:r>
                  <a:rPr lang="zh-CN" altLang="en-US" sz="1200">
                    <a:solidFill>
                      <a:schemeClr val="bg1"/>
                    </a:solidFill>
                  </a:rPr>
                  <a:t> </a:t>
                </a:r>
              </a:p>
            </p:txBody>
          </p:sp>
          <p:sp>
            <p:nvSpPr>
              <p:cNvPr id="14365" name="Rectangle 16">
                <a:extLst>
                  <a:ext uri="{FF2B5EF4-FFF2-40B4-BE49-F238E27FC236}">
                    <a16:creationId xmlns:a16="http://schemas.microsoft.com/office/drawing/2014/main" id="{2E933E0F-2D6C-65E2-DBAC-150001B4F6B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9.3</a:t>
                </a:r>
                <a:endParaRPr lang="en-US" altLang="zh-CN" sz="1800">
                  <a:solidFill>
                    <a:srgbClr val="000000"/>
                  </a:solidFill>
                </a:endParaRPr>
              </a:p>
            </p:txBody>
          </p:sp>
        </p:grpSp>
        <p:grpSp>
          <p:nvGrpSpPr>
            <p:cNvPr id="14343" name="Group 17">
              <a:extLst>
                <a:ext uri="{FF2B5EF4-FFF2-40B4-BE49-F238E27FC236}">
                  <a16:creationId xmlns:a16="http://schemas.microsoft.com/office/drawing/2014/main" id="{03E4A1B3-A8EB-4D7F-4EE3-78381ECD7800}"/>
                </a:ext>
              </a:extLst>
            </p:cNvPr>
            <p:cNvGrpSpPr>
              <a:grpSpLocks/>
            </p:cNvGrpSpPr>
            <p:nvPr/>
          </p:nvGrpSpPr>
          <p:grpSpPr bwMode="auto">
            <a:xfrm>
              <a:off x="611" y="2219"/>
              <a:ext cx="3584" cy="198"/>
              <a:chOff x="385" y="2209"/>
              <a:chExt cx="3584" cy="313"/>
            </a:xfrm>
          </p:grpSpPr>
          <p:sp>
            <p:nvSpPr>
              <p:cNvPr id="14360" name="AutoShape 18">
                <a:extLst>
                  <a:ext uri="{FF2B5EF4-FFF2-40B4-BE49-F238E27FC236}">
                    <a16:creationId xmlns:a16="http://schemas.microsoft.com/office/drawing/2014/main" id="{2ACE33CA-C86A-3813-A527-05EC166322D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4361" name="Text Box 19">
                <a:extLst>
                  <a:ext uri="{FF2B5EF4-FFF2-40B4-BE49-F238E27FC236}">
                    <a16:creationId xmlns:a16="http://schemas.microsoft.com/office/drawing/2014/main" id="{F4FC7DBA-A831-E5C1-5C78-4169F60C8F07}"/>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软件项目跟踪控制过程</a:t>
                </a:r>
                <a:r>
                  <a:rPr lang="zh-CN" altLang="en-US" sz="1200">
                    <a:solidFill>
                      <a:schemeClr val="bg1"/>
                    </a:solidFill>
                  </a:rPr>
                  <a:t> </a:t>
                </a:r>
              </a:p>
            </p:txBody>
          </p:sp>
          <p:sp>
            <p:nvSpPr>
              <p:cNvPr id="14362" name="Rectangle 20">
                <a:extLst>
                  <a:ext uri="{FF2B5EF4-FFF2-40B4-BE49-F238E27FC236}">
                    <a16:creationId xmlns:a16="http://schemas.microsoft.com/office/drawing/2014/main" id="{284E4597-6294-2692-8ABD-2AF0255E9BD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9.4</a:t>
                </a:r>
                <a:endParaRPr lang="en-US" altLang="zh-CN" sz="1800">
                  <a:solidFill>
                    <a:srgbClr val="000000"/>
                  </a:solidFill>
                </a:endParaRPr>
              </a:p>
            </p:txBody>
          </p:sp>
        </p:grpSp>
        <p:grpSp>
          <p:nvGrpSpPr>
            <p:cNvPr id="14344" name="Group 21">
              <a:extLst>
                <a:ext uri="{FF2B5EF4-FFF2-40B4-BE49-F238E27FC236}">
                  <a16:creationId xmlns:a16="http://schemas.microsoft.com/office/drawing/2014/main" id="{4BD4A128-A742-ED1A-E307-3FE4F4E5F40B}"/>
                </a:ext>
              </a:extLst>
            </p:cNvPr>
            <p:cNvGrpSpPr>
              <a:grpSpLocks/>
            </p:cNvGrpSpPr>
            <p:nvPr/>
          </p:nvGrpSpPr>
          <p:grpSpPr bwMode="auto">
            <a:xfrm>
              <a:off x="611" y="2505"/>
              <a:ext cx="3584" cy="197"/>
              <a:chOff x="385" y="2209"/>
              <a:chExt cx="3584" cy="311"/>
            </a:xfrm>
          </p:grpSpPr>
          <p:sp>
            <p:nvSpPr>
              <p:cNvPr id="14357" name="AutoShape 22">
                <a:extLst>
                  <a:ext uri="{FF2B5EF4-FFF2-40B4-BE49-F238E27FC236}">
                    <a16:creationId xmlns:a16="http://schemas.microsoft.com/office/drawing/2014/main" id="{31D199EA-1C7B-B0CA-9467-6F5140A0939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4358" name="Text Box 23">
                <a:extLst>
                  <a:ext uri="{FF2B5EF4-FFF2-40B4-BE49-F238E27FC236}">
                    <a16:creationId xmlns:a16="http://schemas.microsoft.com/office/drawing/2014/main" id="{AC2E78C1-2FAA-E805-8CD2-FF97F7313A26}"/>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软件项目评审 </a:t>
                </a:r>
              </a:p>
            </p:txBody>
          </p:sp>
          <p:sp>
            <p:nvSpPr>
              <p:cNvPr id="14359" name="Rectangle 24">
                <a:extLst>
                  <a:ext uri="{FF2B5EF4-FFF2-40B4-BE49-F238E27FC236}">
                    <a16:creationId xmlns:a16="http://schemas.microsoft.com/office/drawing/2014/main" id="{E992CB9F-017A-140C-1A18-C0A9480BD9B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9.5</a:t>
                </a:r>
                <a:endParaRPr lang="en-US" altLang="zh-CN" sz="1800">
                  <a:solidFill>
                    <a:srgbClr val="000000"/>
                  </a:solidFill>
                </a:endParaRPr>
              </a:p>
            </p:txBody>
          </p:sp>
        </p:grpSp>
        <p:grpSp>
          <p:nvGrpSpPr>
            <p:cNvPr id="14345" name="Group 25">
              <a:extLst>
                <a:ext uri="{FF2B5EF4-FFF2-40B4-BE49-F238E27FC236}">
                  <a16:creationId xmlns:a16="http://schemas.microsoft.com/office/drawing/2014/main" id="{D5450B73-1D2A-352C-7578-7F94E1EE786C}"/>
                </a:ext>
              </a:extLst>
            </p:cNvPr>
            <p:cNvGrpSpPr>
              <a:grpSpLocks/>
            </p:cNvGrpSpPr>
            <p:nvPr/>
          </p:nvGrpSpPr>
          <p:grpSpPr bwMode="auto">
            <a:xfrm>
              <a:off x="611" y="2760"/>
              <a:ext cx="3584" cy="230"/>
              <a:chOff x="385" y="2187"/>
              <a:chExt cx="3584" cy="363"/>
            </a:xfrm>
          </p:grpSpPr>
          <p:sp>
            <p:nvSpPr>
              <p:cNvPr id="14354" name="AutoShape 26">
                <a:extLst>
                  <a:ext uri="{FF2B5EF4-FFF2-40B4-BE49-F238E27FC236}">
                    <a16:creationId xmlns:a16="http://schemas.microsoft.com/office/drawing/2014/main" id="{CFCAFAE6-CDC1-966D-E5F5-3F5399F338A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4355" name="Text Box 27">
                <a:extLst>
                  <a:ext uri="{FF2B5EF4-FFF2-40B4-BE49-F238E27FC236}">
                    <a16:creationId xmlns:a16="http://schemas.microsoft.com/office/drawing/2014/main" id="{0FA9625F-6111-1C19-3EA3-CF10DF8248AF}"/>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ea typeface="黑体" panose="02010609060101010101" pitchFamily="49" charset="-122"/>
                  </a:rPr>
                  <a:t>软件项目计划修改</a:t>
                </a:r>
                <a:r>
                  <a:rPr lang="zh-CN" altLang="en-US" sz="1200">
                    <a:solidFill>
                      <a:schemeClr val="bg1"/>
                    </a:solidFill>
                  </a:rPr>
                  <a:t> </a:t>
                </a:r>
                <a:r>
                  <a:rPr lang="zh-CN" altLang="en-US" sz="2400" b="0">
                    <a:latin typeface="Times New Roman" panose="02020603050405020304" pitchFamily="18" charset="0"/>
                  </a:rPr>
                  <a:t> </a:t>
                </a:r>
              </a:p>
            </p:txBody>
          </p:sp>
          <p:sp>
            <p:nvSpPr>
              <p:cNvPr id="14356" name="Rectangle 28">
                <a:extLst>
                  <a:ext uri="{FF2B5EF4-FFF2-40B4-BE49-F238E27FC236}">
                    <a16:creationId xmlns:a16="http://schemas.microsoft.com/office/drawing/2014/main" id="{A80C86EA-04E3-750E-89EB-3D472492F085}"/>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9.6</a:t>
                </a:r>
                <a:endParaRPr lang="en-US" altLang="zh-CN" sz="1800">
                  <a:solidFill>
                    <a:srgbClr val="000000"/>
                  </a:solidFill>
                </a:endParaRPr>
              </a:p>
            </p:txBody>
          </p:sp>
        </p:grpSp>
        <p:grpSp>
          <p:nvGrpSpPr>
            <p:cNvPr id="14346" name="Group 29">
              <a:extLst>
                <a:ext uri="{FF2B5EF4-FFF2-40B4-BE49-F238E27FC236}">
                  <a16:creationId xmlns:a16="http://schemas.microsoft.com/office/drawing/2014/main" id="{32BF7F25-0262-03DB-2378-4C7551951D60}"/>
                </a:ext>
              </a:extLst>
            </p:cNvPr>
            <p:cNvGrpSpPr>
              <a:grpSpLocks/>
            </p:cNvGrpSpPr>
            <p:nvPr/>
          </p:nvGrpSpPr>
          <p:grpSpPr bwMode="auto">
            <a:xfrm>
              <a:off x="611" y="3022"/>
              <a:ext cx="3584" cy="230"/>
              <a:chOff x="385" y="2187"/>
              <a:chExt cx="3584" cy="363"/>
            </a:xfrm>
          </p:grpSpPr>
          <p:sp>
            <p:nvSpPr>
              <p:cNvPr id="14351" name="AutoShape 30">
                <a:extLst>
                  <a:ext uri="{FF2B5EF4-FFF2-40B4-BE49-F238E27FC236}">
                    <a16:creationId xmlns:a16="http://schemas.microsoft.com/office/drawing/2014/main" id="{AC5C6A42-56AA-6BA8-3CD1-3A10D095ABB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4352" name="Text Box 31">
                <a:extLst>
                  <a:ext uri="{FF2B5EF4-FFF2-40B4-BE49-F238E27FC236}">
                    <a16:creationId xmlns:a16="http://schemas.microsoft.com/office/drawing/2014/main" id="{225A3B9D-EAA9-BE75-6BB7-3B87882E6A02}"/>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14353" name="Rectangle 32">
                <a:extLst>
                  <a:ext uri="{FF2B5EF4-FFF2-40B4-BE49-F238E27FC236}">
                    <a16:creationId xmlns:a16="http://schemas.microsoft.com/office/drawing/2014/main" id="{ACDB5FBA-5902-E2D1-FD47-134EE60583A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9.7</a:t>
                </a:r>
                <a:endParaRPr lang="en-US" altLang="zh-CN" sz="1800">
                  <a:solidFill>
                    <a:srgbClr val="000000"/>
                  </a:solidFill>
                </a:endParaRPr>
              </a:p>
            </p:txBody>
          </p:sp>
        </p:grpSp>
        <p:grpSp>
          <p:nvGrpSpPr>
            <p:cNvPr id="14347" name="Group 33">
              <a:extLst>
                <a:ext uri="{FF2B5EF4-FFF2-40B4-BE49-F238E27FC236}">
                  <a16:creationId xmlns:a16="http://schemas.microsoft.com/office/drawing/2014/main" id="{02A941A3-0315-9E7C-81D4-8D7135C74A84}"/>
                </a:ext>
              </a:extLst>
            </p:cNvPr>
            <p:cNvGrpSpPr>
              <a:grpSpLocks/>
            </p:cNvGrpSpPr>
            <p:nvPr/>
          </p:nvGrpSpPr>
          <p:grpSpPr bwMode="auto">
            <a:xfrm>
              <a:off x="611" y="3294"/>
              <a:ext cx="3584" cy="230"/>
              <a:chOff x="385" y="2187"/>
              <a:chExt cx="3584" cy="363"/>
            </a:xfrm>
          </p:grpSpPr>
          <p:sp>
            <p:nvSpPr>
              <p:cNvPr id="14348" name="AutoShape 34">
                <a:extLst>
                  <a:ext uri="{FF2B5EF4-FFF2-40B4-BE49-F238E27FC236}">
                    <a16:creationId xmlns:a16="http://schemas.microsoft.com/office/drawing/2014/main" id="{DDAA5C8F-75D1-9B8F-B786-157B13ABFA7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4349" name="Text Box 35">
                <a:extLst>
                  <a:ext uri="{FF2B5EF4-FFF2-40B4-BE49-F238E27FC236}">
                    <a16:creationId xmlns:a16="http://schemas.microsoft.com/office/drawing/2014/main" id="{7DA8F230-C6C6-5587-B7DA-C3C22777B30F}"/>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复习思考题</a:t>
                </a:r>
                <a:r>
                  <a:rPr lang="zh-CN" altLang="en-US" sz="2400" b="0">
                    <a:latin typeface="Times New Roman" panose="02020603050405020304" pitchFamily="18" charset="0"/>
                  </a:rPr>
                  <a:t> </a:t>
                </a:r>
              </a:p>
            </p:txBody>
          </p:sp>
          <p:sp>
            <p:nvSpPr>
              <p:cNvPr id="14350" name="Rectangle 36">
                <a:extLst>
                  <a:ext uri="{FF2B5EF4-FFF2-40B4-BE49-F238E27FC236}">
                    <a16:creationId xmlns:a16="http://schemas.microsoft.com/office/drawing/2014/main" id="{8B01E8BD-8AD8-6FCD-1195-69AAC3B7E434}"/>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9.8</a:t>
                </a:r>
                <a:endParaRPr lang="en-US" altLang="zh-CN" sz="1800">
                  <a:solidFill>
                    <a:srgbClr val="000000"/>
                  </a:solidFill>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81A3DDF-72FF-C615-3172-5564FF382B62}"/>
              </a:ext>
            </a:extLst>
          </p:cNvPr>
          <p:cNvSpPr>
            <a:spLocks noGrp="1" noChangeArrowheads="1"/>
          </p:cNvSpPr>
          <p:nvPr>
            <p:ph type="title"/>
          </p:nvPr>
        </p:nvSpPr>
        <p:spPr/>
        <p:txBody>
          <a:bodyPr/>
          <a:lstStyle/>
          <a:p>
            <a:pPr eaLnBrk="1" hangingPunct="1"/>
            <a:r>
              <a:rPr lang="en-US" altLang="zh-CN"/>
              <a:t>9.2  </a:t>
            </a:r>
            <a:r>
              <a:rPr kumimoji="1" lang="zh-CN" altLang="en-US"/>
              <a:t>软件项目跟踪控制的标准 </a:t>
            </a:r>
          </a:p>
        </p:txBody>
      </p:sp>
      <p:sp>
        <p:nvSpPr>
          <p:cNvPr id="16387" name="Rectangle 3">
            <a:extLst>
              <a:ext uri="{FF2B5EF4-FFF2-40B4-BE49-F238E27FC236}">
                <a16:creationId xmlns:a16="http://schemas.microsoft.com/office/drawing/2014/main" id="{265F8A6C-78C6-6C4B-AED8-190DBBA8166E}"/>
              </a:ext>
            </a:extLst>
          </p:cNvPr>
          <p:cNvSpPr>
            <a:spLocks noGrp="1" noChangeArrowheads="1"/>
          </p:cNvSpPr>
          <p:nvPr>
            <p:ph type="body" idx="1"/>
          </p:nvPr>
        </p:nvSpPr>
        <p:spPr>
          <a:xfrm>
            <a:off x="539750" y="1989138"/>
            <a:ext cx="8424863" cy="4868862"/>
          </a:xfrm>
        </p:spPr>
        <p:txBody>
          <a:bodyPr/>
          <a:lstStyle/>
          <a:p>
            <a:pPr eaLnBrk="1" hangingPunct="1">
              <a:lnSpc>
                <a:spcPct val="120000"/>
              </a:lnSpc>
            </a:pPr>
            <a:r>
              <a:rPr lang="zh-CN" altLang="en-US" sz="2400" dirty="0">
                <a:solidFill>
                  <a:schemeClr val="accent2"/>
                </a:solidFill>
                <a:latin typeface="黑体" panose="02010609060101010101" pitchFamily="49" charset="-122"/>
                <a:ea typeface="黑体" panose="02010609060101010101" pitchFamily="49" charset="-122"/>
              </a:rPr>
              <a:t>建立控制标准</a:t>
            </a:r>
            <a:endParaRPr lang="zh-CN" altLang="en-US" sz="2400" dirty="0">
              <a:solidFill>
                <a:schemeClr val="accent2"/>
              </a:solidFill>
            </a:endParaRPr>
          </a:p>
          <a:p>
            <a:pPr eaLnBrk="1" hangingPunct="1">
              <a:lnSpc>
                <a:spcPct val="120000"/>
              </a:lnSpc>
              <a:buFont typeface="Wingdings 2" panose="05020102010507070707" pitchFamily="18" charset="2"/>
              <a:buNone/>
            </a:pPr>
            <a:r>
              <a:rPr lang="zh-CN" altLang="en-US" sz="2000" dirty="0"/>
              <a:t>     </a:t>
            </a:r>
            <a:r>
              <a:rPr lang="en-US" altLang="zh-CN" sz="2000" dirty="0">
                <a:solidFill>
                  <a:schemeClr val="accent2"/>
                </a:solidFill>
              </a:rPr>
              <a:t>——</a:t>
            </a:r>
            <a:r>
              <a:rPr lang="zh-CN" altLang="en-US" sz="2000" dirty="0"/>
              <a:t>在对项目进行跟踪控制时，应该确定</a:t>
            </a:r>
            <a:r>
              <a:rPr lang="zh-CN" altLang="en-US" sz="2000" dirty="0">
                <a:solidFill>
                  <a:srgbClr val="FF0000"/>
                </a:solidFill>
              </a:rPr>
              <a:t>偏差的接受准则</a:t>
            </a:r>
            <a:r>
              <a:rPr lang="zh-CN" altLang="en-US" sz="2000" dirty="0"/>
              <a:t>，比如进度、成本、质量等计划与实际的偏差比例等。</a:t>
            </a:r>
            <a:endParaRPr lang="zh-CN" altLang="en-US" sz="2000" dirty="0">
              <a:latin typeface="黑体" panose="02010609060101010101" pitchFamily="49" charset="-122"/>
              <a:ea typeface="黑体" panose="02010609060101010101" pitchFamily="49" charset="-122"/>
            </a:endParaRPr>
          </a:p>
          <a:p>
            <a:pPr eaLnBrk="1" hangingPunct="1">
              <a:lnSpc>
                <a:spcPct val="120000"/>
              </a:lnSpc>
            </a:pPr>
            <a:r>
              <a:rPr lang="zh-CN" altLang="en-US" sz="2000" dirty="0">
                <a:solidFill>
                  <a:schemeClr val="accent2"/>
                </a:solidFill>
                <a:latin typeface="黑体" panose="02010609060101010101" pitchFamily="49" charset="-122"/>
                <a:ea typeface="黑体" panose="02010609060101010101" pitchFamily="49" charset="-122"/>
              </a:rPr>
              <a:t>三个主要的基准计划</a:t>
            </a:r>
          </a:p>
          <a:p>
            <a:pPr lvl="1" eaLnBrk="1" hangingPunct="1">
              <a:lnSpc>
                <a:spcPct val="120000"/>
              </a:lnSpc>
              <a:spcBef>
                <a:spcPct val="30000"/>
              </a:spcBef>
            </a:pPr>
            <a:r>
              <a:rPr lang="zh-CN" altLang="en-US" sz="2000" dirty="0">
                <a:latin typeface="宋体" panose="02010600030101010101" pitchFamily="2" charset="-122"/>
              </a:rPr>
              <a:t>范围（质量）计划</a:t>
            </a:r>
          </a:p>
          <a:p>
            <a:pPr lvl="1" eaLnBrk="1" hangingPunct="1">
              <a:lnSpc>
                <a:spcPct val="120000"/>
              </a:lnSpc>
              <a:spcBef>
                <a:spcPct val="30000"/>
              </a:spcBef>
            </a:pPr>
            <a:r>
              <a:rPr lang="zh-CN" altLang="en-US" sz="2000" dirty="0">
                <a:latin typeface="宋体" panose="02010600030101010101" pitchFamily="2" charset="-122"/>
              </a:rPr>
              <a:t>进度计划</a:t>
            </a:r>
          </a:p>
          <a:p>
            <a:pPr lvl="1" eaLnBrk="1" hangingPunct="1">
              <a:lnSpc>
                <a:spcPct val="120000"/>
              </a:lnSpc>
              <a:spcBef>
                <a:spcPct val="30000"/>
              </a:spcBef>
            </a:pPr>
            <a:r>
              <a:rPr lang="zh-CN" altLang="en-US" sz="2000" dirty="0">
                <a:latin typeface="宋体" panose="02010600030101010101" pitchFamily="2" charset="-122"/>
              </a:rPr>
              <a:t>成本计划</a:t>
            </a:r>
          </a:p>
          <a:p>
            <a:pPr eaLnBrk="1" hangingPunct="1">
              <a:lnSpc>
                <a:spcPct val="120000"/>
              </a:lnSpc>
            </a:pPr>
            <a:r>
              <a:rPr lang="zh-CN" altLang="en-US" sz="2000" dirty="0">
                <a:solidFill>
                  <a:srgbClr val="FF0000"/>
                </a:solidFill>
              </a:rPr>
              <a:t>基准计划</a:t>
            </a:r>
            <a:r>
              <a:rPr lang="zh-CN" altLang="en-US" sz="2000" dirty="0"/>
              <a:t>是优化后并批准的计划，它作为项目实施考核的依据，以便在整个项目的实施中进行对照。项目跟踪控制是对项目规划过的所有过程进行跟踪控制，包括</a:t>
            </a:r>
            <a:r>
              <a:rPr lang="zh-CN" altLang="en-US" sz="2000" dirty="0">
                <a:solidFill>
                  <a:srgbClr val="FF0000"/>
                </a:solidFill>
              </a:rPr>
              <a:t>规模、进度、成本、质量、风险</a:t>
            </a:r>
            <a:r>
              <a:rPr lang="zh-CN" altLang="en-US" sz="2000" dirty="0"/>
              <a:t>等环节。</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55F03EA-E48A-9963-4ED3-9A16FB4CEE86}"/>
              </a:ext>
            </a:extLst>
          </p:cNvPr>
          <p:cNvSpPr>
            <a:spLocks noGrp="1" noChangeArrowheads="1"/>
          </p:cNvSpPr>
          <p:nvPr>
            <p:ph type="title"/>
          </p:nvPr>
        </p:nvSpPr>
        <p:spPr/>
        <p:txBody>
          <a:bodyPr/>
          <a:lstStyle/>
          <a:p>
            <a:pPr eaLnBrk="1" hangingPunct="1"/>
            <a:r>
              <a:rPr kumimoji="1" lang="zh-CN" altLang="en-US"/>
              <a:t>软件项目跟踪控制的标准</a:t>
            </a:r>
          </a:p>
        </p:txBody>
      </p:sp>
      <p:sp>
        <p:nvSpPr>
          <p:cNvPr id="18435" name="Rectangle 3">
            <a:extLst>
              <a:ext uri="{FF2B5EF4-FFF2-40B4-BE49-F238E27FC236}">
                <a16:creationId xmlns:a16="http://schemas.microsoft.com/office/drawing/2014/main" id="{AD750051-0AAB-43BD-67EA-D63B28AC498E}"/>
              </a:ext>
            </a:extLst>
          </p:cNvPr>
          <p:cNvSpPr>
            <a:spLocks noGrp="1" noChangeArrowheads="1"/>
          </p:cNvSpPr>
          <p:nvPr>
            <p:ph type="body" idx="1"/>
          </p:nvPr>
        </p:nvSpPr>
        <p:spPr>
          <a:xfrm>
            <a:off x="395288" y="1844675"/>
            <a:ext cx="8569325" cy="5013325"/>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需求（范围）控制标准</a:t>
            </a:r>
          </a:p>
        </p:txBody>
      </p:sp>
      <p:grpSp>
        <p:nvGrpSpPr>
          <p:cNvPr id="18436" name="Group 4">
            <a:extLst>
              <a:ext uri="{FF2B5EF4-FFF2-40B4-BE49-F238E27FC236}">
                <a16:creationId xmlns:a16="http://schemas.microsoft.com/office/drawing/2014/main" id="{EA068371-AC4F-9406-72C9-3315817ED387}"/>
              </a:ext>
            </a:extLst>
          </p:cNvPr>
          <p:cNvGrpSpPr>
            <a:grpSpLocks/>
          </p:cNvGrpSpPr>
          <p:nvPr/>
        </p:nvGrpSpPr>
        <p:grpSpPr bwMode="auto">
          <a:xfrm>
            <a:off x="611188" y="2492375"/>
            <a:ext cx="8459787" cy="3960813"/>
            <a:chOff x="0" y="1296"/>
            <a:chExt cx="5760" cy="3024"/>
          </a:xfrm>
        </p:grpSpPr>
        <p:pic>
          <p:nvPicPr>
            <p:cNvPr id="18437" name="Picture 5">
              <a:extLst>
                <a:ext uri="{FF2B5EF4-FFF2-40B4-BE49-F238E27FC236}">
                  <a16:creationId xmlns:a16="http://schemas.microsoft.com/office/drawing/2014/main" id="{76CA3F45-D0A9-46BF-9F3C-8DD8F0F0F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96"/>
              <a:ext cx="2880" cy="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pic>
          <p:nvPicPr>
            <p:cNvPr id="18438" name="Picture 6">
              <a:extLst>
                <a:ext uri="{FF2B5EF4-FFF2-40B4-BE49-F238E27FC236}">
                  <a16:creationId xmlns:a16="http://schemas.microsoft.com/office/drawing/2014/main" id="{41DB29F3-8A34-7348-140D-473317A54B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0" y="1296"/>
              <a:ext cx="2880" cy="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0DC6516-C304-5077-1810-D8266FC042FE}"/>
              </a:ext>
            </a:extLst>
          </p:cNvPr>
          <p:cNvSpPr>
            <a:spLocks noGrp="1" noChangeArrowheads="1"/>
          </p:cNvSpPr>
          <p:nvPr>
            <p:ph type="title"/>
          </p:nvPr>
        </p:nvSpPr>
        <p:spPr/>
        <p:txBody>
          <a:bodyPr/>
          <a:lstStyle/>
          <a:p>
            <a:pPr eaLnBrk="1" hangingPunct="1"/>
            <a:r>
              <a:rPr kumimoji="1" lang="zh-CN" altLang="en-US"/>
              <a:t>软件项目跟踪控制的标准</a:t>
            </a:r>
          </a:p>
        </p:txBody>
      </p:sp>
      <p:sp>
        <p:nvSpPr>
          <p:cNvPr id="19459" name="Rectangle 3">
            <a:extLst>
              <a:ext uri="{FF2B5EF4-FFF2-40B4-BE49-F238E27FC236}">
                <a16:creationId xmlns:a16="http://schemas.microsoft.com/office/drawing/2014/main" id="{EE8F58B8-018A-3D75-3E6A-734658595F12}"/>
              </a:ext>
            </a:extLst>
          </p:cNvPr>
          <p:cNvSpPr>
            <a:spLocks noGrp="1" noChangeArrowheads="1"/>
          </p:cNvSpPr>
          <p:nvPr>
            <p:ph type="body" idx="1"/>
          </p:nvPr>
        </p:nvSpPr>
        <p:spPr>
          <a:xfrm>
            <a:off x="395288" y="2060575"/>
            <a:ext cx="8569325" cy="4797425"/>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进度控制标准</a:t>
            </a:r>
          </a:p>
        </p:txBody>
      </p:sp>
      <p:pic>
        <p:nvPicPr>
          <p:cNvPr id="19460" name="Picture 4">
            <a:extLst>
              <a:ext uri="{FF2B5EF4-FFF2-40B4-BE49-F238E27FC236}">
                <a16:creationId xmlns:a16="http://schemas.microsoft.com/office/drawing/2014/main" id="{E19CAE99-5057-A909-EDEA-32BB88F085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708275"/>
            <a:ext cx="76327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0634A2F0-4B78-E258-B24A-283CA7C0DD0C}"/>
              </a:ext>
            </a:extLst>
          </p:cNvPr>
          <p:cNvSpPr>
            <a:spLocks noGrp="1" noChangeArrowheads="1"/>
          </p:cNvSpPr>
          <p:nvPr>
            <p:ph type="title"/>
          </p:nvPr>
        </p:nvSpPr>
        <p:spPr/>
        <p:txBody>
          <a:bodyPr/>
          <a:lstStyle/>
          <a:p>
            <a:pPr eaLnBrk="1" hangingPunct="1"/>
            <a:r>
              <a:rPr kumimoji="1" lang="zh-CN" altLang="en-US"/>
              <a:t>软件项目跟踪控制的标准</a:t>
            </a:r>
          </a:p>
        </p:txBody>
      </p:sp>
      <p:sp>
        <p:nvSpPr>
          <p:cNvPr id="20483" name="Rectangle 3">
            <a:extLst>
              <a:ext uri="{FF2B5EF4-FFF2-40B4-BE49-F238E27FC236}">
                <a16:creationId xmlns:a16="http://schemas.microsoft.com/office/drawing/2014/main" id="{B68F6F75-9741-D103-A070-2F33729C5B99}"/>
              </a:ext>
            </a:extLst>
          </p:cNvPr>
          <p:cNvSpPr>
            <a:spLocks noGrp="1" noChangeArrowheads="1"/>
          </p:cNvSpPr>
          <p:nvPr>
            <p:ph type="body" idx="1"/>
          </p:nvPr>
        </p:nvSpPr>
        <p:spPr>
          <a:xfrm>
            <a:off x="468313" y="1916113"/>
            <a:ext cx="8496300" cy="4941887"/>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成本控制标准</a:t>
            </a:r>
          </a:p>
        </p:txBody>
      </p:sp>
      <p:pic>
        <p:nvPicPr>
          <p:cNvPr id="20484" name="Picture 4">
            <a:extLst>
              <a:ext uri="{FF2B5EF4-FFF2-40B4-BE49-F238E27FC236}">
                <a16:creationId xmlns:a16="http://schemas.microsoft.com/office/drawing/2014/main" id="{86483BB4-490C-55BB-C19F-17D008C0E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138" y="2554288"/>
            <a:ext cx="77755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1D08261-4AE5-7D42-61BB-331EA0584B64}"/>
              </a:ext>
            </a:extLst>
          </p:cNvPr>
          <p:cNvSpPr>
            <a:spLocks noGrp="1" noChangeArrowheads="1"/>
          </p:cNvSpPr>
          <p:nvPr>
            <p:ph type="title"/>
          </p:nvPr>
        </p:nvSpPr>
        <p:spPr/>
        <p:txBody>
          <a:bodyPr/>
          <a:lstStyle/>
          <a:p>
            <a:pPr eaLnBrk="1" hangingPunct="1"/>
            <a:r>
              <a:rPr kumimoji="1" lang="zh-CN" altLang="en-US"/>
              <a:t>软件项目跟踪控制的标准</a:t>
            </a:r>
          </a:p>
        </p:txBody>
      </p:sp>
      <p:sp>
        <p:nvSpPr>
          <p:cNvPr id="21507" name="Rectangle 3">
            <a:extLst>
              <a:ext uri="{FF2B5EF4-FFF2-40B4-BE49-F238E27FC236}">
                <a16:creationId xmlns:a16="http://schemas.microsoft.com/office/drawing/2014/main" id="{445DC14A-7560-2458-776A-FCE8ABD3CFE0}"/>
              </a:ext>
            </a:extLst>
          </p:cNvPr>
          <p:cNvSpPr>
            <a:spLocks noGrp="1" noChangeArrowheads="1"/>
          </p:cNvSpPr>
          <p:nvPr>
            <p:ph type="body" idx="1"/>
          </p:nvPr>
        </p:nvSpPr>
        <p:spPr>
          <a:xfrm>
            <a:off x="539750" y="1943100"/>
            <a:ext cx="8424863" cy="4941888"/>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质量控制标准</a:t>
            </a:r>
          </a:p>
        </p:txBody>
      </p:sp>
      <p:pic>
        <p:nvPicPr>
          <p:cNvPr id="21508" name="Picture 4">
            <a:extLst>
              <a:ext uri="{FF2B5EF4-FFF2-40B4-BE49-F238E27FC236}">
                <a16:creationId xmlns:a16="http://schemas.microsoft.com/office/drawing/2014/main" id="{9C6DA974-DCC7-043C-DEAC-2D40961961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579688"/>
            <a:ext cx="7416800" cy="4162425"/>
          </a:xfrm>
          <a:prstGeom prst="rect">
            <a:avLst/>
          </a:prstGeom>
          <a:solidFill>
            <a:srgbClr val="FFFF00"/>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F6D3D60-03E3-AEC5-0B85-4F13CAD01856}"/>
              </a:ext>
            </a:extLst>
          </p:cNvPr>
          <p:cNvSpPr>
            <a:spLocks noGrp="1" noChangeArrowheads="1"/>
          </p:cNvSpPr>
          <p:nvPr>
            <p:ph type="title"/>
          </p:nvPr>
        </p:nvSpPr>
        <p:spPr/>
        <p:txBody>
          <a:bodyPr/>
          <a:lstStyle/>
          <a:p>
            <a:pPr eaLnBrk="1" hangingPunct="1"/>
            <a:r>
              <a:rPr lang="zh-CN" altLang="en-US"/>
              <a:t>本章内容提要</a:t>
            </a:r>
          </a:p>
        </p:txBody>
      </p:sp>
      <p:grpSp>
        <p:nvGrpSpPr>
          <p:cNvPr id="22531" name="Group 3">
            <a:extLst>
              <a:ext uri="{FF2B5EF4-FFF2-40B4-BE49-F238E27FC236}">
                <a16:creationId xmlns:a16="http://schemas.microsoft.com/office/drawing/2014/main" id="{05B70AF2-3FA5-C96A-83C6-E650114016B0}"/>
              </a:ext>
            </a:extLst>
          </p:cNvPr>
          <p:cNvGrpSpPr>
            <a:grpSpLocks/>
          </p:cNvGrpSpPr>
          <p:nvPr/>
        </p:nvGrpSpPr>
        <p:grpSpPr bwMode="auto">
          <a:xfrm>
            <a:off x="969963" y="2487613"/>
            <a:ext cx="5689600" cy="3389312"/>
            <a:chOff x="611" y="1389"/>
            <a:chExt cx="3584" cy="2135"/>
          </a:xfrm>
        </p:grpSpPr>
        <p:grpSp>
          <p:nvGrpSpPr>
            <p:cNvPr id="22532" name="Group 4">
              <a:extLst>
                <a:ext uri="{FF2B5EF4-FFF2-40B4-BE49-F238E27FC236}">
                  <a16:creationId xmlns:a16="http://schemas.microsoft.com/office/drawing/2014/main" id="{0D10F2E4-81E9-838C-4D5D-82892DA69539}"/>
                </a:ext>
              </a:extLst>
            </p:cNvPr>
            <p:cNvGrpSpPr>
              <a:grpSpLocks/>
            </p:cNvGrpSpPr>
            <p:nvPr/>
          </p:nvGrpSpPr>
          <p:grpSpPr bwMode="auto">
            <a:xfrm>
              <a:off x="611" y="1389"/>
              <a:ext cx="3572" cy="205"/>
              <a:chOff x="385" y="1460"/>
              <a:chExt cx="3572" cy="324"/>
            </a:xfrm>
          </p:grpSpPr>
          <p:sp>
            <p:nvSpPr>
              <p:cNvPr id="22562" name="AutoShape 5">
                <a:extLst>
                  <a:ext uri="{FF2B5EF4-FFF2-40B4-BE49-F238E27FC236}">
                    <a16:creationId xmlns:a16="http://schemas.microsoft.com/office/drawing/2014/main" id="{D007D84B-0C9F-EAAD-2ECB-90C913CD666C}"/>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2563" name="Text Box 6">
                <a:extLst>
                  <a:ext uri="{FF2B5EF4-FFF2-40B4-BE49-F238E27FC236}">
                    <a16:creationId xmlns:a16="http://schemas.microsoft.com/office/drawing/2014/main" id="{7BBA44BF-2570-BB16-8150-EA0A28B8729D}"/>
                  </a:ext>
                </a:extLst>
              </p:cNvPr>
              <p:cNvSpPr txBox="1">
                <a:spLocks noChangeArrowheads="1"/>
              </p:cNvSpPr>
              <p:nvPr/>
            </p:nvSpPr>
            <p:spPr bwMode="auto">
              <a:xfrm>
                <a:off x="626" y="1460"/>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软件项目跟踪控制概述</a:t>
                </a:r>
                <a:r>
                  <a:rPr lang="zh-CN" altLang="en-US" sz="1800">
                    <a:latin typeface="宋体" panose="02010600030101010101" pitchFamily="2" charset="-122"/>
                  </a:rPr>
                  <a:t>  </a:t>
                </a:r>
              </a:p>
            </p:txBody>
          </p:sp>
          <p:sp>
            <p:nvSpPr>
              <p:cNvPr id="22564" name="Rectangle 7">
                <a:extLst>
                  <a:ext uri="{FF2B5EF4-FFF2-40B4-BE49-F238E27FC236}">
                    <a16:creationId xmlns:a16="http://schemas.microsoft.com/office/drawing/2014/main" id="{F38146BA-8299-A1FB-2C7D-233975B857CE}"/>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9.1</a:t>
                </a:r>
                <a:endParaRPr lang="en-US" altLang="zh-CN" sz="1800">
                  <a:solidFill>
                    <a:srgbClr val="000000"/>
                  </a:solidFill>
                </a:endParaRPr>
              </a:p>
            </p:txBody>
          </p:sp>
        </p:grpSp>
        <p:grpSp>
          <p:nvGrpSpPr>
            <p:cNvPr id="22533" name="Group 8">
              <a:extLst>
                <a:ext uri="{FF2B5EF4-FFF2-40B4-BE49-F238E27FC236}">
                  <a16:creationId xmlns:a16="http://schemas.microsoft.com/office/drawing/2014/main" id="{EA7425C5-E1A1-C561-78E0-DC4F9C08426A}"/>
                </a:ext>
              </a:extLst>
            </p:cNvPr>
            <p:cNvGrpSpPr>
              <a:grpSpLocks/>
            </p:cNvGrpSpPr>
            <p:nvPr/>
          </p:nvGrpSpPr>
          <p:grpSpPr bwMode="auto">
            <a:xfrm>
              <a:off x="611" y="1675"/>
              <a:ext cx="3572" cy="202"/>
              <a:chOff x="385" y="1831"/>
              <a:chExt cx="3572" cy="319"/>
            </a:xfrm>
          </p:grpSpPr>
          <p:grpSp>
            <p:nvGrpSpPr>
              <p:cNvPr id="22558" name="Group 9">
                <a:extLst>
                  <a:ext uri="{FF2B5EF4-FFF2-40B4-BE49-F238E27FC236}">
                    <a16:creationId xmlns:a16="http://schemas.microsoft.com/office/drawing/2014/main" id="{9F3ECBA1-A298-6EA2-4C3F-E3F27BF15804}"/>
                  </a:ext>
                </a:extLst>
              </p:cNvPr>
              <p:cNvGrpSpPr>
                <a:grpSpLocks/>
              </p:cNvGrpSpPr>
              <p:nvPr/>
            </p:nvGrpSpPr>
            <p:grpSpPr bwMode="auto">
              <a:xfrm>
                <a:off x="464" y="1831"/>
                <a:ext cx="3493" cy="319"/>
                <a:chOff x="464" y="1831"/>
                <a:chExt cx="3493" cy="319"/>
              </a:xfrm>
            </p:grpSpPr>
            <p:sp>
              <p:nvSpPr>
                <p:cNvPr id="22560" name="AutoShape 10">
                  <a:extLst>
                    <a:ext uri="{FF2B5EF4-FFF2-40B4-BE49-F238E27FC236}">
                      <a16:creationId xmlns:a16="http://schemas.microsoft.com/office/drawing/2014/main" id="{4A6D2878-7EF6-F031-2E30-405FBB7262CE}"/>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2561" name="Text Box 11">
                  <a:extLst>
                    <a:ext uri="{FF2B5EF4-FFF2-40B4-BE49-F238E27FC236}">
                      <a16:creationId xmlns:a16="http://schemas.microsoft.com/office/drawing/2014/main" id="{5566C4A9-AE51-EF77-9EAB-F3914CEE7EFB}"/>
                    </a:ext>
                  </a:extLst>
                </p:cNvPr>
                <p:cNvSpPr txBox="1">
                  <a:spLocks noChangeArrowheads="1"/>
                </p:cNvSpPr>
                <p:nvPr/>
              </p:nvSpPr>
              <p:spPr bwMode="auto">
                <a:xfrm>
                  <a:off x="626" y="1831"/>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软件项目跟踪控制的标准</a:t>
                  </a:r>
                  <a:r>
                    <a:rPr lang="zh-CN" altLang="en-US" sz="1200">
                      <a:solidFill>
                        <a:schemeClr val="bg1"/>
                      </a:solidFill>
                      <a:latin typeface="黑体" panose="02010609060101010101" pitchFamily="49" charset="-122"/>
                      <a:ea typeface="黑体" panose="02010609060101010101" pitchFamily="49" charset="-122"/>
                    </a:rPr>
                    <a:t> </a:t>
                  </a:r>
                </a:p>
              </p:txBody>
            </p:sp>
          </p:grpSp>
          <p:sp>
            <p:nvSpPr>
              <p:cNvPr id="22559" name="Rectangle 12">
                <a:extLst>
                  <a:ext uri="{FF2B5EF4-FFF2-40B4-BE49-F238E27FC236}">
                    <a16:creationId xmlns:a16="http://schemas.microsoft.com/office/drawing/2014/main" id="{7365286D-2472-38E0-C452-3D87A56B28D0}"/>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9.2</a:t>
                </a:r>
                <a:endParaRPr lang="en-US" altLang="zh-CN" sz="1800">
                  <a:solidFill>
                    <a:srgbClr val="000000"/>
                  </a:solidFill>
                </a:endParaRPr>
              </a:p>
            </p:txBody>
          </p:sp>
        </p:grpSp>
        <p:grpSp>
          <p:nvGrpSpPr>
            <p:cNvPr id="22534" name="Group 13">
              <a:extLst>
                <a:ext uri="{FF2B5EF4-FFF2-40B4-BE49-F238E27FC236}">
                  <a16:creationId xmlns:a16="http://schemas.microsoft.com/office/drawing/2014/main" id="{C80C9542-08A1-6864-5CD2-2BD80097A7BE}"/>
                </a:ext>
              </a:extLst>
            </p:cNvPr>
            <p:cNvGrpSpPr>
              <a:grpSpLocks/>
            </p:cNvGrpSpPr>
            <p:nvPr/>
          </p:nvGrpSpPr>
          <p:grpSpPr bwMode="auto">
            <a:xfrm>
              <a:off x="611" y="1947"/>
              <a:ext cx="3584" cy="198"/>
              <a:chOff x="385" y="2209"/>
              <a:chExt cx="3584" cy="313"/>
            </a:xfrm>
          </p:grpSpPr>
          <p:sp>
            <p:nvSpPr>
              <p:cNvPr id="22555" name="AutoShape 14">
                <a:extLst>
                  <a:ext uri="{FF2B5EF4-FFF2-40B4-BE49-F238E27FC236}">
                    <a16:creationId xmlns:a16="http://schemas.microsoft.com/office/drawing/2014/main" id="{2AC64FE8-C937-7DA2-09B4-0F38EF48BF6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2556" name="Text Box 15">
                <a:extLst>
                  <a:ext uri="{FF2B5EF4-FFF2-40B4-BE49-F238E27FC236}">
                    <a16:creationId xmlns:a16="http://schemas.microsoft.com/office/drawing/2014/main" id="{05DBEB4B-EA7A-55E5-BAAE-ED19732A1420}"/>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solidFill>
                      <a:schemeClr val="bg1"/>
                    </a:solidFill>
                    <a:ea typeface="黑体" panose="02010609060101010101" pitchFamily="49" charset="-122"/>
                  </a:rPr>
                  <a:t>  </a:t>
                </a:r>
                <a:r>
                  <a:rPr lang="zh-CN" altLang="en-US" sz="2000">
                    <a:ea typeface="黑体" panose="02010609060101010101" pitchFamily="49" charset="-122"/>
                  </a:rPr>
                  <a:t>软件项目监控和报告体系</a:t>
                </a:r>
                <a:r>
                  <a:rPr lang="zh-CN" altLang="en-US" sz="1200">
                    <a:solidFill>
                      <a:schemeClr val="bg1"/>
                    </a:solidFill>
                  </a:rPr>
                  <a:t> </a:t>
                </a:r>
              </a:p>
            </p:txBody>
          </p:sp>
          <p:sp>
            <p:nvSpPr>
              <p:cNvPr id="22557" name="Rectangle 16">
                <a:extLst>
                  <a:ext uri="{FF2B5EF4-FFF2-40B4-BE49-F238E27FC236}">
                    <a16:creationId xmlns:a16="http://schemas.microsoft.com/office/drawing/2014/main" id="{3120EC35-C4AC-18C0-4D93-F519737D9DB5}"/>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9.3</a:t>
                </a:r>
                <a:endParaRPr lang="en-US" altLang="zh-CN" sz="1800">
                  <a:solidFill>
                    <a:srgbClr val="000000"/>
                  </a:solidFill>
                </a:endParaRPr>
              </a:p>
            </p:txBody>
          </p:sp>
        </p:grpSp>
        <p:grpSp>
          <p:nvGrpSpPr>
            <p:cNvPr id="22535" name="Group 17">
              <a:extLst>
                <a:ext uri="{FF2B5EF4-FFF2-40B4-BE49-F238E27FC236}">
                  <a16:creationId xmlns:a16="http://schemas.microsoft.com/office/drawing/2014/main" id="{6AA9D206-F539-E724-2798-139C26B51273}"/>
                </a:ext>
              </a:extLst>
            </p:cNvPr>
            <p:cNvGrpSpPr>
              <a:grpSpLocks/>
            </p:cNvGrpSpPr>
            <p:nvPr/>
          </p:nvGrpSpPr>
          <p:grpSpPr bwMode="auto">
            <a:xfrm>
              <a:off x="611" y="2219"/>
              <a:ext cx="3584" cy="198"/>
              <a:chOff x="385" y="2209"/>
              <a:chExt cx="3584" cy="313"/>
            </a:xfrm>
          </p:grpSpPr>
          <p:sp>
            <p:nvSpPr>
              <p:cNvPr id="22552" name="AutoShape 18">
                <a:extLst>
                  <a:ext uri="{FF2B5EF4-FFF2-40B4-BE49-F238E27FC236}">
                    <a16:creationId xmlns:a16="http://schemas.microsoft.com/office/drawing/2014/main" id="{D3424A38-55D4-7FF8-B5B9-525FD90F4EB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2553" name="Text Box 19">
                <a:extLst>
                  <a:ext uri="{FF2B5EF4-FFF2-40B4-BE49-F238E27FC236}">
                    <a16:creationId xmlns:a16="http://schemas.microsoft.com/office/drawing/2014/main" id="{30D6AA4C-A802-3059-37D8-04A4D9137EE1}"/>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软件项目跟踪控制过程</a:t>
                </a:r>
                <a:r>
                  <a:rPr lang="zh-CN" altLang="en-US" sz="1200">
                    <a:solidFill>
                      <a:schemeClr val="bg1"/>
                    </a:solidFill>
                  </a:rPr>
                  <a:t> </a:t>
                </a:r>
              </a:p>
            </p:txBody>
          </p:sp>
          <p:sp>
            <p:nvSpPr>
              <p:cNvPr id="22554" name="Rectangle 20">
                <a:extLst>
                  <a:ext uri="{FF2B5EF4-FFF2-40B4-BE49-F238E27FC236}">
                    <a16:creationId xmlns:a16="http://schemas.microsoft.com/office/drawing/2014/main" id="{C7F72BF1-9DDC-B48C-61C4-F89969D2714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9.4</a:t>
                </a:r>
                <a:endParaRPr lang="en-US" altLang="zh-CN" sz="1800">
                  <a:solidFill>
                    <a:srgbClr val="000000"/>
                  </a:solidFill>
                </a:endParaRPr>
              </a:p>
            </p:txBody>
          </p:sp>
        </p:grpSp>
        <p:grpSp>
          <p:nvGrpSpPr>
            <p:cNvPr id="22536" name="Group 21">
              <a:extLst>
                <a:ext uri="{FF2B5EF4-FFF2-40B4-BE49-F238E27FC236}">
                  <a16:creationId xmlns:a16="http://schemas.microsoft.com/office/drawing/2014/main" id="{BA987AF7-9522-7265-7210-9877036F7055}"/>
                </a:ext>
              </a:extLst>
            </p:cNvPr>
            <p:cNvGrpSpPr>
              <a:grpSpLocks/>
            </p:cNvGrpSpPr>
            <p:nvPr/>
          </p:nvGrpSpPr>
          <p:grpSpPr bwMode="auto">
            <a:xfrm>
              <a:off x="611" y="2505"/>
              <a:ext cx="3584" cy="197"/>
              <a:chOff x="385" y="2209"/>
              <a:chExt cx="3584" cy="311"/>
            </a:xfrm>
          </p:grpSpPr>
          <p:sp>
            <p:nvSpPr>
              <p:cNvPr id="22549" name="AutoShape 22">
                <a:extLst>
                  <a:ext uri="{FF2B5EF4-FFF2-40B4-BE49-F238E27FC236}">
                    <a16:creationId xmlns:a16="http://schemas.microsoft.com/office/drawing/2014/main" id="{2671A4B0-0504-DC93-92B3-6E0A8829115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2550" name="Text Box 23">
                <a:extLst>
                  <a:ext uri="{FF2B5EF4-FFF2-40B4-BE49-F238E27FC236}">
                    <a16:creationId xmlns:a16="http://schemas.microsoft.com/office/drawing/2014/main" id="{A40534BB-7113-2B15-805F-45078F9D11B3}"/>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软件项目评审 </a:t>
                </a:r>
              </a:p>
            </p:txBody>
          </p:sp>
          <p:sp>
            <p:nvSpPr>
              <p:cNvPr id="22551" name="Rectangle 24">
                <a:extLst>
                  <a:ext uri="{FF2B5EF4-FFF2-40B4-BE49-F238E27FC236}">
                    <a16:creationId xmlns:a16="http://schemas.microsoft.com/office/drawing/2014/main" id="{8CECF787-46F8-CF1C-64D0-4472063A0DA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9.5</a:t>
                </a:r>
                <a:endParaRPr lang="en-US" altLang="zh-CN" sz="1800">
                  <a:solidFill>
                    <a:srgbClr val="000000"/>
                  </a:solidFill>
                </a:endParaRPr>
              </a:p>
            </p:txBody>
          </p:sp>
        </p:grpSp>
        <p:grpSp>
          <p:nvGrpSpPr>
            <p:cNvPr id="22537" name="Group 25">
              <a:extLst>
                <a:ext uri="{FF2B5EF4-FFF2-40B4-BE49-F238E27FC236}">
                  <a16:creationId xmlns:a16="http://schemas.microsoft.com/office/drawing/2014/main" id="{34750F53-1AE9-A93E-FDFB-431FA821DAC0}"/>
                </a:ext>
              </a:extLst>
            </p:cNvPr>
            <p:cNvGrpSpPr>
              <a:grpSpLocks/>
            </p:cNvGrpSpPr>
            <p:nvPr/>
          </p:nvGrpSpPr>
          <p:grpSpPr bwMode="auto">
            <a:xfrm>
              <a:off x="611" y="2760"/>
              <a:ext cx="3584" cy="230"/>
              <a:chOff x="385" y="2187"/>
              <a:chExt cx="3584" cy="363"/>
            </a:xfrm>
          </p:grpSpPr>
          <p:sp>
            <p:nvSpPr>
              <p:cNvPr id="22546" name="AutoShape 26">
                <a:extLst>
                  <a:ext uri="{FF2B5EF4-FFF2-40B4-BE49-F238E27FC236}">
                    <a16:creationId xmlns:a16="http://schemas.microsoft.com/office/drawing/2014/main" id="{FEDD8357-41C4-FE7A-D023-0DAA8ECEF7E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2547" name="Text Box 27">
                <a:extLst>
                  <a:ext uri="{FF2B5EF4-FFF2-40B4-BE49-F238E27FC236}">
                    <a16:creationId xmlns:a16="http://schemas.microsoft.com/office/drawing/2014/main" id="{44D585C5-673A-7DBA-A7A1-E40B7175054C}"/>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ea typeface="黑体" panose="02010609060101010101" pitchFamily="49" charset="-122"/>
                  </a:rPr>
                  <a:t>软件项目计划修改</a:t>
                </a:r>
                <a:r>
                  <a:rPr lang="zh-CN" altLang="en-US" sz="1200">
                    <a:solidFill>
                      <a:schemeClr val="bg1"/>
                    </a:solidFill>
                  </a:rPr>
                  <a:t> </a:t>
                </a:r>
                <a:r>
                  <a:rPr lang="zh-CN" altLang="en-US" sz="2400" b="0">
                    <a:latin typeface="Times New Roman" panose="02020603050405020304" pitchFamily="18" charset="0"/>
                  </a:rPr>
                  <a:t> </a:t>
                </a:r>
              </a:p>
            </p:txBody>
          </p:sp>
          <p:sp>
            <p:nvSpPr>
              <p:cNvPr id="22548" name="Rectangle 28">
                <a:extLst>
                  <a:ext uri="{FF2B5EF4-FFF2-40B4-BE49-F238E27FC236}">
                    <a16:creationId xmlns:a16="http://schemas.microsoft.com/office/drawing/2014/main" id="{D3F92C14-AB54-F93A-CE52-34FAF9B55B0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9.6</a:t>
                </a:r>
                <a:endParaRPr lang="en-US" altLang="zh-CN" sz="1800">
                  <a:solidFill>
                    <a:srgbClr val="000000"/>
                  </a:solidFill>
                </a:endParaRPr>
              </a:p>
            </p:txBody>
          </p:sp>
        </p:grpSp>
        <p:grpSp>
          <p:nvGrpSpPr>
            <p:cNvPr id="22538" name="Group 29">
              <a:extLst>
                <a:ext uri="{FF2B5EF4-FFF2-40B4-BE49-F238E27FC236}">
                  <a16:creationId xmlns:a16="http://schemas.microsoft.com/office/drawing/2014/main" id="{74D21AC7-1105-218D-608B-2D605ED68D4D}"/>
                </a:ext>
              </a:extLst>
            </p:cNvPr>
            <p:cNvGrpSpPr>
              <a:grpSpLocks/>
            </p:cNvGrpSpPr>
            <p:nvPr/>
          </p:nvGrpSpPr>
          <p:grpSpPr bwMode="auto">
            <a:xfrm>
              <a:off x="611" y="3022"/>
              <a:ext cx="3584" cy="230"/>
              <a:chOff x="385" y="2187"/>
              <a:chExt cx="3584" cy="363"/>
            </a:xfrm>
          </p:grpSpPr>
          <p:sp>
            <p:nvSpPr>
              <p:cNvPr id="22543" name="AutoShape 30">
                <a:extLst>
                  <a:ext uri="{FF2B5EF4-FFF2-40B4-BE49-F238E27FC236}">
                    <a16:creationId xmlns:a16="http://schemas.microsoft.com/office/drawing/2014/main" id="{10D13CC9-5258-79B1-B069-19A2E55AF11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2544" name="Text Box 31">
                <a:extLst>
                  <a:ext uri="{FF2B5EF4-FFF2-40B4-BE49-F238E27FC236}">
                    <a16:creationId xmlns:a16="http://schemas.microsoft.com/office/drawing/2014/main" id="{F02DA713-031A-3756-92CD-BDA35FD9465F}"/>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22545" name="Rectangle 32">
                <a:extLst>
                  <a:ext uri="{FF2B5EF4-FFF2-40B4-BE49-F238E27FC236}">
                    <a16:creationId xmlns:a16="http://schemas.microsoft.com/office/drawing/2014/main" id="{1BF63F8B-09B8-75A2-5B7E-B0659780D2C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9.7</a:t>
                </a:r>
                <a:endParaRPr lang="en-US" altLang="zh-CN" sz="1800">
                  <a:solidFill>
                    <a:srgbClr val="000000"/>
                  </a:solidFill>
                </a:endParaRPr>
              </a:p>
            </p:txBody>
          </p:sp>
        </p:grpSp>
        <p:grpSp>
          <p:nvGrpSpPr>
            <p:cNvPr id="22539" name="Group 33">
              <a:extLst>
                <a:ext uri="{FF2B5EF4-FFF2-40B4-BE49-F238E27FC236}">
                  <a16:creationId xmlns:a16="http://schemas.microsoft.com/office/drawing/2014/main" id="{97A260BF-A6D7-6DC7-6FDB-DC14FB1D66F4}"/>
                </a:ext>
              </a:extLst>
            </p:cNvPr>
            <p:cNvGrpSpPr>
              <a:grpSpLocks/>
            </p:cNvGrpSpPr>
            <p:nvPr/>
          </p:nvGrpSpPr>
          <p:grpSpPr bwMode="auto">
            <a:xfrm>
              <a:off x="611" y="3294"/>
              <a:ext cx="3584" cy="230"/>
              <a:chOff x="385" y="2187"/>
              <a:chExt cx="3584" cy="363"/>
            </a:xfrm>
          </p:grpSpPr>
          <p:sp>
            <p:nvSpPr>
              <p:cNvPr id="22540" name="AutoShape 34">
                <a:extLst>
                  <a:ext uri="{FF2B5EF4-FFF2-40B4-BE49-F238E27FC236}">
                    <a16:creationId xmlns:a16="http://schemas.microsoft.com/office/drawing/2014/main" id="{FA6F7F14-A5ED-0853-7EBE-F002D07A79B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2541" name="Text Box 35">
                <a:extLst>
                  <a:ext uri="{FF2B5EF4-FFF2-40B4-BE49-F238E27FC236}">
                    <a16:creationId xmlns:a16="http://schemas.microsoft.com/office/drawing/2014/main" id="{F503D4F2-2559-CB25-466B-2445941D7CC5}"/>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复习思考题</a:t>
                </a:r>
                <a:r>
                  <a:rPr lang="zh-CN" altLang="en-US" sz="2400" b="0">
                    <a:latin typeface="Times New Roman" panose="02020603050405020304" pitchFamily="18" charset="0"/>
                  </a:rPr>
                  <a:t> </a:t>
                </a:r>
              </a:p>
            </p:txBody>
          </p:sp>
          <p:sp>
            <p:nvSpPr>
              <p:cNvPr id="22542" name="Rectangle 36">
                <a:extLst>
                  <a:ext uri="{FF2B5EF4-FFF2-40B4-BE49-F238E27FC236}">
                    <a16:creationId xmlns:a16="http://schemas.microsoft.com/office/drawing/2014/main" id="{4A9C7A2B-256E-2539-D67C-C256DB2403C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9.8</a:t>
                </a:r>
                <a:endParaRPr lang="en-US" altLang="zh-CN" sz="1800">
                  <a:solidFill>
                    <a:srgbClr val="000000"/>
                  </a:solidFill>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FD3ECF9-8932-93B1-EDDC-F43DA887321A}"/>
              </a:ext>
            </a:extLst>
          </p:cNvPr>
          <p:cNvSpPr>
            <a:spLocks noGrp="1" noChangeArrowheads="1"/>
          </p:cNvSpPr>
          <p:nvPr>
            <p:ph type="title"/>
          </p:nvPr>
        </p:nvSpPr>
        <p:spPr/>
        <p:txBody>
          <a:bodyPr/>
          <a:lstStyle/>
          <a:p>
            <a:pPr eaLnBrk="1" hangingPunct="1"/>
            <a:r>
              <a:rPr lang="en-US" altLang="zh-CN"/>
              <a:t>9.3  </a:t>
            </a:r>
            <a:r>
              <a:rPr kumimoji="1" lang="zh-CN" altLang="en-US"/>
              <a:t>软件项目监控和报告体系 </a:t>
            </a:r>
          </a:p>
        </p:txBody>
      </p:sp>
      <p:sp>
        <p:nvSpPr>
          <p:cNvPr id="24579" name="Rectangle 3">
            <a:extLst>
              <a:ext uri="{FF2B5EF4-FFF2-40B4-BE49-F238E27FC236}">
                <a16:creationId xmlns:a16="http://schemas.microsoft.com/office/drawing/2014/main" id="{89E56C8E-AC6C-9323-76A2-4566CC6A1368}"/>
              </a:ext>
            </a:extLst>
          </p:cNvPr>
          <p:cNvSpPr>
            <a:spLocks noGrp="1" noChangeArrowheads="1"/>
          </p:cNvSpPr>
          <p:nvPr>
            <p:ph type="body" idx="1"/>
          </p:nvPr>
        </p:nvSpPr>
        <p:spPr>
          <a:xfrm>
            <a:off x="395288" y="1916113"/>
            <a:ext cx="8569325" cy="4941887"/>
          </a:xfrm>
        </p:spPr>
        <p:txBody>
          <a:bodyPr/>
          <a:lstStyle/>
          <a:p>
            <a:pPr eaLnBrk="1" hangingPunct="1">
              <a:lnSpc>
                <a:spcPct val="130000"/>
              </a:lnSpc>
              <a:spcBef>
                <a:spcPct val="40000"/>
              </a:spcBef>
            </a:pPr>
            <a:r>
              <a:rPr lang="zh-CN" altLang="en-US" sz="2400" dirty="0">
                <a:solidFill>
                  <a:schemeClr val="accent2"/>
                </a:solidFill>
                <a:latin typeface="黑体" panose="02010609060101010101" pitchFamily="49" charset="-122"/>
                <a:ea typeface="黑体" panose="02010609060101010101" pitchFamily="49" charset="-122"/>
              </a:rPr>
              <a:t>项目信息采集</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40000"/>
              </a:spcBef>
            </a:pPr>
            <a:r>
              <a:rPr lang="zh-CN" altLang="en-US" sz="1800" b="0" dirty="0">
                <a:solidFill>
                  <a:schemeClr val="tx2"/>
                </a:solidFill>
                <a:latin typeface="黑体" panose="02010609060101010101" pitchFamily="49" charset="-122"/>
                <a:ea typeface="黑体" panose="02010609060101010101" pitchFamily="49" charset="-122"/>
              </a:rPr>
              <a:t>为了确定项目的状态，必须指定相应的</a:t>
            </a:r>
            <a:r>
              <a:rPr lang="zh-CN" altLang="en-US" sz="1800" b="0" dirty="0">
                <a:solidFill>
                  <a:srgbClr val="FF0000"/>
                </a:solidFill>
                <a:latin typeface="黑体" panose="02010609060101010101" pitchFamily="49" charset="-122"/>
                <a:ea typeface="黑体" panose="02010609060101010101" pitchFamily="49" charset="-122"/>
              </a:rPr>
              <a:t>监控系统和报告系统</a:t>
            </a:r>
            <a:r>
              <a:rPr lang="zh-CN" altLang="en-US" sz="1800" b="0" dirty="0">
                <a:solidFill>
                  <a:schemeClr val="tx2"/>
                </a:solidFill>
                <a:latin typeface="黑体" panose="02010609060101010101" pitchFamily="49" charset="-122"/>
                <a:ea typeface="黑体" panose="02010609060101010101" pitchFamily="49" charset="-122"/>
              </a:rPr>
              <a:t>。项目经理需要了解项目进展和产品质量的反馈，以确保项目的各个环节都按计划进行。</a:t>
            </a:r>
            <a:endParaRPr lang="en-US" altLang="zh-CN" sz="1800" b="0" dirty="0">
              <a:solidFill>
                <a:schemeClr val="tx2"/>
              </a:solidFill>
              <a:latin typeface="黑体" panose="02010609060101010101" pitchFamily="49" charset="-122"/>
              <a:ea typeface="黑体" panose="02010609060101010101" pitchFamily="49" charset="-122"/>
            </a:endParaRPr>
          </a:p>
          <a:p>
            <a:pPr lvl="1" eaLnBrk="1" hangingPunct="1">
              <a:lnSpc>
                <a:spcPct val="130000"/>
              </a:lnSpc>
              <a:spcBef>
                <a:spcPct val="40000"/>
              </a:spcBef>
            </a:pPr>
            <a:r>
              <a:rPr lang="zh-CN" altLang="en-US" sz="1800" b="0" dirty="0">
                <a:solidFill>
                  <a:schemeClr val="tx2"/>
                </a:solidFill>
                <a:latin typeface="黑体" panose="02010609060101010101" pitchFamily="49" charset="-122"/>
                <a:ea typeface="黑体" panose="02010609060101010101" pitchFamily="49" charset="-122"/>
              </a:rPr>
              <a:t>建立项目监控和报告体系的首要任务是</a:t>
            </a:r>
            <a:r>
              <a:rPr lang="zh-CN" altLang="en-US" sz="1800" b="0" dirty="0">
                <a:solidFill>
                  <a:srgbClr val="FF0000"/>
                </a:solidFill>
                <a:latin typeface="黑体" panose="02010609060101010101" pitchFamily="49" charset="-122"/>
                <a:ea typeface="黑体" panose="02010609060101010101" pitchFamily="49" charset="-122"/>
              </a:rPr>
              <a:t>项目信息跟踪采集</a:t>
            </a:r>
            <a:r>
              <a:rPr lang="zh-CN" altLang="en-US" sz="1800" b="0" dirty="0">
                <a:solidFill>
                  <a:schemeClr val="tx2"/>
                </a:solidFill>
                <a:latin typeface="黑体" panose="02010609060101010101" pitchFamily="49" charset="-122"/>
                <a:ea typeface="黑体" panose="02010609060101010101" pitchFamily="49" charset="-122"/>
              </a:rPr>
              <a:t>。跟踪采集是依据规定的规范对项目开发过程中的有关数据进行收集和记录，作为观察分析项目性能、标识偏差的依据。</a:t>
            </a:r>
          </a:p>
          <a:p>
            <a:pPr eaLnBrk="1" hangingPunct="1">
              <a:lnSpc>
                <a:spcPct val="130000"/>
              </a:lnSpc>
              <a:spcBef>
                <a:spcPct val="40000"/>
              </a:spcBef>
            </a:pPr>
            <a:r>
              <a:rPr lang="zh-CN" altLang="en-US" sz="1800" b="0" dirty="0">
                <a:solidFill>
                  <a:schemeClr val="tx2"/>
                </a:solidFill>
                <a:latin typeface="黑体" panose="02010609060101010101" pitchFamily="49" charset="-122"/>
                <a:ea typeface="黑体" panose="02010609060101010101" pitchFamily="49" charset="-122"/>
              </a:rPr>
              <a:t>跟踪采集主要是在项目生存期内，根据项目计划中规定的</a:t>
            </a:r>
            <a:r>
              <a:rPr lang="zh-CN" altLang="en-US" sz="1800" b="0" dirty="0">
                <a:solidFill>
                  <a:srgbClr val="FF0000"/>
                </a:solidFill>
                <a:latin typeface="黑体" panose="02010609060101010101" pitchFamily="49" charset="-122"/>
                <a:ea typeface="黑体" panose="02010609060101010101" pitchFamily="49" charset="-122"/>
              </a:rPr>
              <a:t>跟踪频率</a:t>
            </a:r>
            <a:r>
              <a:rPr lang="zh-CN" altLang="en-US" sz="1800" b="0" dirty="0">
                <a:solidFill>
                  <a:schemeClr val="tx2"/>
                </a:solidFill>
                <a:latin typeface="黑体" panose="02010609060101010101" pitchFamily="49" charset="-122"/>
                <a:ea typeface="黑体" panose="02010609060101010101" pitchFamily="49" charset="-122"/>
              </a:rPr>
              <a:t>按照规定的步骤对项目管理、技术开发和质量保证活动进行跟踪。</a:t>
            </a:r>
          </a:p>
          <a:p>
            <a:pPr eaLnBrk="1" hangingPunct="1">
              <a:lnSpc>
                <a:spcPct val="130000"/>
              </a:lnSpc>
              <a:spcBef>
                <a:spcPct val="40000"/>
              </a:spcBef>
            </a:pPr>
            <a:r>
              <a:rPr lang="zh-CN" altLang="en-US" sz="1800" b="0" dirty="0">
                <a:solidFill>
                  <a:schemeClr val="tx2"/>
                </a:solidFill>
                <a:latin typeface="黑体" panose="02010609060101010101" pitchFamily="49" charset="-122"/>
                <a:ea typeface="黑体" panose="02010609060101010101" pitchFamily="49" charset="-122"/>
              </a:rPr>
              <a:t>跟踪采集的目的是监控项目实际情况，记录反映当前项目状态的</a:t>
            </a:r>
            <a:r>
              <a:rPr lang="zh-CN" altLang="en-US" sz="1800" b="0" dirty="0">
                <a:solidFill>
                  <a:srgbClr val="FF0000"/>
                </a:solidFill>
                <a:latin typeface="黑体" panose="02010609060101010101" pitchFamily="49" charset="-122"/>
                <a:ea typeface="黑体" panose="02010609060101010101" pitchFamily="49" charset="-122"/>
              </a:rPr>
              <a:t>数据</a:t>
            </a:r>
            <a:r>
              <a:rPr lang="zh-CN" altLang="en-US" sz="1800" b="0" dirty="0">
                <a:solidFill>
                  <a:schemeClr val="tx2"/>
                </a:solidFill>
                <a:latin typeface="黑体" panose="02010609060101010101" pitchFamily="49" charset="-122"/>
                <a:ea typeface="黑体" panose="02010609060101010101" pitchFamily="49" charset="-122"/>
              </a:rPr>
              <a:t>（进度、资源、成本、性能、质量等） 。</a:t>
            </a:r>
          </a:p>
          <a:p>
            <a:pPr eaLnBrk="1" hangingPunct="1">
              <a:lnSpc>
                <a:spcPct val="130000"/>
              </a:lnSpc>
              <a:spcBef>
                <a:spcPct val="40000"/>
              </a:spcBef>
            </a:pPr>
            <a:r>
              <a:rPr lang="zh-CN" altLang="en-US" sz="1800" b="0" dirty="0">
                <a:solidFill>
                  <a:schemeClr val="tx2"/>
                </a:solidFill>
                <a:latin typeface="黑体" panose="02010609060101010101" pitchFamily="49" charset="-122"/>
                <a:ea typeface="黑体" panose="02010609060101010101" pitchFamily="49" charset="-122"/>
              </a:rPr>
              <a:t>用于对项目计划的执行情况进行比较分析，属于</a:t>
            </a:r>
            <a:r>
              <a:rPr lang="zh-CN" altLang="en-US" sz="1800" b="0" dirty="0">
                <a:solidFill>
                  <a:srgbClr val="FF0000"/>
                </a:solidFill>
                <a:latin typeface="黑体" panose="02010609060101010101" pitchFamily="49" charset="-122"/>
                <a:ea typeface="黑体" panose="02010609060101010101" pitchFamily="49" charset="-122"/>
              </a:rPr>
              <a:t>项目度量实施过程。</a:t>
            </a:r>
          </a:p>
          <a:p>
            <a:pPr eaLnBrk="1" hangingPunct="1">
              <a:buFont typeface="Wingdings 2" panose="05020102010507070707" pitchFamily="18" charset="2"/>
              <a:buNone/>
            </a:pPr>
            <a:r>
              <a:rPr lang="zh-CN" altLang="en-US" sz="2000" dirty="0"/>
              <a:t>    </a:t>
            </a:r>
          </a:p>
          <a:p>
            <a:pPr eaLnBrk="1" hangingPunct="1"/>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20F20EBA-A8BC-3B13-47C3-B8493CE7F0B9}"/>
              </a:ext>
            </a:extLst>
          </p:cNvPr>
          <p:cNvSpPr>
            <a:spLocks noGrp="1" noChangeArrowheads="1"/>
          </p:cNvSpPr>
          <p:nvPr>
            <p:ph type="title"/>
          </p:nvPr>
        </p:nvSpPr>
        <p:spPr/>
        <p:txBody>
          <a:bodyPr/>
          <a:lstStyle/>
          <a:p>
            <a:pPr eaLnBrk="1" hangingPunct="1"/>
            <a:r>
              <a:rPr kumimoji="1" lang="zh-CN" altLang="en-US"/>
              <a:t>软件项目监控和报告体系</a:t>
            </a:r>
          </a:p>
        </p:txBody>
      </p:sp>
      <p:sp>
        <p:nvSpPr>
          <p:cNvPr id="26627" name="Rectangle 3">
            <a:extLst>
              <a:ext uri="{FF2B5EF4-FFF2-40B4-BE49-F238E27FC236}">
                <a16:creationId xmlns:a16="http://schemas.microsoft.com/office/drawing/2014/main" id="{040FBBAA-BF30-E10C-A9AB-434A25BA611E}"/>
              </a:ext>
            </a:extLst>
          </p:cNvPr>
          <p:cNvSpPr>
            <a:spLocks noGrp="1" noChangeArrowheads="1"/>
          </p:cNvSpPr>
          <p:nvPr>
            <p:ph type="body" idx="1"/>
          </p:nvPr>
        </p:nvSpPr>
        <p:spPr>
          <a:xfrm>
            <a:off x="468313" y="1989138"/>
            <a:ext cx="8496300" cy="4868862"/>
          </a:xfrm>
        </p:spPr>
        <p:txBody>
          <a:bodyPr/>
          <a:lstStyle/>
          <a:p>
            <a:pPr eaLnBrk="1" hangingPunct="1">
              <a:lnSpc>
                <a:spcPct val="120000"/>
              </a:lnSpc>
              <a:spcBef>
                <a:spcPct val="40000"/>
              </a:spcBef>
            </a:pPr>
            <a:r>
              <a:rPr lang="zh-CN" altLang="en-US" sz="2400" dirty="0">
                <a:solidFill>
                  <a:schemeClr val="accent2"/>
                </a:solidFill>
                <a:ea typeface="黑体" panose="02010609060101010101" pitchFamily="49" charset="-122"/>
              </a:rPr>
              <a:t>确立采集对象</a:t>
            </a:r>
            <a:endParaRPr lang="en-US" altLang="zh-CN" sz="2400" dirty="0">
              <a:solidFill>
                <a:schemeClr val="accent2"/>
              </a:solidFill>
              <a:ea typeface="黑体" panose="02010609060101010101" pitchFamily="49" charset="-122"/>
            </a:endParaRPr>
          </a:p>
          <a:p>
            <a:pPr lvl="1" eaLnBrk="1" hangingPunct="1">
              <a:lnSpc>
                <a:spcPct val="120000"/>
              </a:lnSpc>
              <a:spcBef>
                <a:spcPct val="40000"/>
              </a:spcBef>
            </a:pPr>
            <a:r>
              <a:rPr lang="zh-CN" altLang="en-US" sz="2000" dirty="0">
                <a:solidFill>
                  <a:schemeClr val="accent2"/>
                </a:solidFill>
                <a:ea typeface="黑体" panose="02010609060101010101" pitchFamily="49" charset="-122"/>
              </a:rPr>
              <a:t>首先要建立采集的对象</a:t>
            </a:r>
          </a:p>
          <a:p>
            <a:pPr eaLnBrk="1" hangingPunct="1">
              <a:lnSpc>
                <a:spcPct val="120000"/>
              </a:lnSpc>
              <a:spcBef>
                <a:spcPct val="40000"/>
              </a:spcBef>
              <a:buFont typeface="Wingdings 2" panose="05020102010507070707" pitchFamily="18" charset="2"/>
              <a:buNone/>
            </a:pPr>
            <a:r>
              <a:rPr lang="zh-CN" altLang="en-US" sz="2000" dirty="0"/>
              <a:t>     </a:t>
            </a:r>
            <a:r>
              <a:rPr lang="en-US" altLang="zh-CN" sz="2000" dirty="0">
                <a:solidFill>
                  <a:schemeClr val="accent1"/>
                </a:solidFill>
              </a:rPr>
              <a:t>——</a:t>
            </a:r>
            <a:r>
              <a:rPr lang="zh-CN" altLang="en-US" sz="2000" dirty="0">
                <a:solidFill>
                  <a:schemeClr val="accent1"/>
                </a:solidFill>
              </a:rPr>
              <a:t>采集对象主要是对项目有重要影响的内部和外部因素。</a:t>
            </a:r>
          </a:p>
          <a:p>
            <a:pPr eaLnBrk="1" hangingPunct="1">
              <a:lnSpc>
                <a:spcPct val="120000"/>
              </a:lnSpc>
              <a:spcBef>
                <a:spcPct val="40000"/>
              </a:spcBef>
            </a:pPr>
            <a:r>
              <a:rPr lang="zh-CN" altLang="en-US" sz="2000" dirty="0">
                <a:solidFill>
                  <a:schemeClr val="accent2"/>
                </a:solidFill>
                <a:ea typeface="黑体" panose="02010609060101010101" pitchFamily="49" charset="-122"/>
              </a:rPr>
              <a:t>内部因素</a:t>
            </a:r>
            <a:r>
              <a:rPr lang="zh-CN" altLang="en-US" sz="2000" dirty="0"/>
              <a:t>   指项目基本可以控制的因素，例如变更、范围、进度、成本、资源、风险等</a:t>
            </a:r>
          </a:p>
          <a:p>
            <a:pPr eaLnBrk="1" hangingPunct="1">
              <a:lnSpc>
                <a:spcPct val="120000"/>
              </a:lnSpc>
              <a:spcBef>
                <a:spcPct val="40000"/>
              </a:spcBef>
            </a:pPr>
            <a:r>
              <a:rPr lang="zh-CN" altLang="en-US" sz="2000" dirty="0">
                <a:solidFill>
                  <a:schemeClr val="accent2"/>
                </a:solidFill>
                <a:ea typeface="黑体" panose="02010609060101010101" pitchFamily="49" charset="-122"/>
              </a:rPr>
              <a:t>外部因素</a:t>
            </a:r>
            <a:r>
              <a:rPr lang="zh-CN" altLang="en-US" sz="2000" dirty="0"/>
              <a:t>   指项目无法控制的因素，比如法律法规、市场价格、外汇牌价等</a:t>
            </a:r>
          </a:p>
          <a:p>
            <a:pPr eaLnBrk="1" hangingPunct="1">
              <a:lnSpc>
                <a:spcPct val="120000"/>
              </a:lnSpc>
              <a:spcBef>
                <a:spcPct val="40000"/>
              </a:spcBef>
            </a:pPr>
            <a:r>
              <a:rPr lang="zh-CN" altLang="en-US" sz="2000" dirty="0"/>
              <a:t>一般要根据项目的具体情况选择采集对象。如果项目比较小，可以集中在进度、成本、资源、产品质量等内部因素；只有项目比较大的时候才可以考虑外部因素。跟踪采集的具体对象可以参见度量计划中的相关度量指标。</a:t>
            </a:r>
          </a:p>
          <a:p>
            <a:pPr eaLnBrk="1" hangingPunct="1">
              <a:lnSpc>
                <a:spcPct val="120000"/>
              </a:lnSpc>
              <a:spcBef>
                <a:spcPct val="40000"/>
              </a:spcBef>
            </a:pPr>
            <a:endParaRPr lang="zh-CN" altLang="en-US" sz="2000" dirty="0">
              <a:solidFill>
                <a:schemeClr val="accent2"/>
              </a:solidFill>
              <a:ea typeface="黑体" panose="02010609060101010101" pitchFamily="49" charset="-122"/>
            </a:endParaRPr>
          </a:p>
          <a:p>
            <a:pPr eaLnBrk="1" hangingPunct="1"/>
            <a:endParaRPr lang="en-US" altLang="zh-CN" sz="2400" dirty="0">
              <a:solidFill>
                <a:schemeClr val="accent2"/>
              </a:solidFill>
              <a:ea typeface="黑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264E32E-F13B-A2AE-54B3-7B66EE70B8E2}"/>
              </a:ext>
            </a:extLst>
          </p:cNvPr>
          <p:cNvSpPr>
            <a:spLocks noGrp="1" noChangeArrowheads="1"/>
          </p:cNvSpPr>
          <p:nvPr>
            <p:ph type="title"/>
          </p:nvPr>
        </p:nvSpPr>
        <p:spPr/>
        <p:txBody>
          <a:bodyPr/>
          <a:lstStyle/>
          <a:p>
            <a:pPr eaLnBrk="1" hangingPunct="1"/>
            <a:r>
              <a:rPr kumimoji="1" lang="zh-CN" altLang="en-US"/>
              <a:t>软件项目监控和报告体系</a:t>
            </a:r>
          </a:p>
        </p:txBody>
      </p:sp>
      <p:sp>
        <p:nvSpPr>
          <p:cNvPr id="27651" name="Rectangle 3">
            <a:extLst>
              <a:ext uri="{FF2B5EF4-FFF2-40B4-BE49-F238E27FC236}">
                <a16:creationId xmlns:a16="http://schemas.microsoft.com/office/drawing/2014/main" id="{4CED3419-E96B-41AE-18CB-E4F382CFEFC2}"/>
              </a:ext>
            </a:extLst>
          </p:cNvPr>
          <p:cNvSpPr>
            <a:spLocks noGrp="1" noChangeArrowheads="1"/>
          </p:cNvSpPr>
          <p:nvPr>
            <p:ph type="body" idx="1"/>
          </p:nvPr>
        </p:nvSpPr>
        <p:spPr>
          <a:xfrm>
            <a:off x="611188" y="1916113"/>
            <a:ext cx="8353425" cy="4941887"/>
          </a:xfrm>
        </p:spPr>
        <p:txBody>
          <a:bodyPr/>
          <a:lstStyle/>
          <a:p>
            <a:pPr eaLnBrk="1" hangingPunct="1">
              <a:lnSpc>
                <a:spcPct val="110000"/>
              </a:lnSpc>
            </a:pPr>
            <a:r>
              <a:rPr lang="zh-CN" altLang="en-US" sz="2400" dirty="0">
                <a:solidFill>
                  <a:schemeClr val="accent2"/>
                </a:solidFill>
                <a:latin typeface="黑体" panose="02010609060101010101" pitchFamily="49" charset="-122"/>
                <a:ea typeface="黑体" panose="02010609060101010101" pitchFamily="49" charset="-122"/>
              </a:rPr>
              <a:t>采集过程实例</a:t>
            </a:r>
          </a:p>
          <a:p>
            <a:pPr algn="just" eaLnBrk="1" hangingPunct="1">
              <a:lnSpc>
                <a:spcPct val="110000"/>
              </a:lnSpc>
            </a:pPr>
            <a:r>
              <a:rPr lang="zh-CN" altLang="en-US" sz="2000" dirty="0">
                <a:latin typeface="黑体" panose="02010609060101010101" pitchFamily="49" charset="-122"/>
              </a:rPr>
              <a:t>依据项目计划的要求确定跟踪频率和记录数据的方式</a:t>
            </a:r>
          </a:p>
          <a:p>
            <a:pPr algn="just" eaLnBrk="1" hangingPunct="1">
              <a:lnSpc>
                <a:spcPct val="110000"/>
              </a:lnSpc>
            </a:pPr>
            <a:r>
              <a:rPr lang="zh-CN" altLang="en-US" sz="2000" dirty="0">
                <a:latin typeface="黑体" panose="02010609060101010101" pitchFamily="49" charset="-122"/>
              </a:rPr>
              <a:t>按照跟踪频率记录实际任务完成的情况（包括进度或完成时间，质量等）</a:t>
            </a:r>
          </a:p>
          <a:p>
            <a:pPr algn="just" eaLnBrk="1" hangingPunct="1">
              <a:lnSpc>
                <a:spcPct val="110000"/>
              </a:lnSpc>
            </a:pPr>
            <a:r>
              <a:rPr lang="zh-CN" altLang="en-US" sz="2000" dirty="0">
                <a:latin typeface="黑体" panose="02010609060101010101" pitchFamily="49" charset="-122"/>
              </a:rPr>
              <a:t>按照跟踪频率记录完成任务所花费的人力和工时</a:t>
            </a:r>
          </a:p>
          <a:p>
            <a:pPr algn="just" eaLnBrk="1" hangingPunct="1">
              <a:lnSpc>
                <a:spcPct val="110000"/>
              </a:lnSpc>
            </a:pPr>
            <a:r>
              <a:rPr lang="zh-CN" altLang="en-US" sz="2000" dirty="0">
                <a:latin typeface="黑体" panose="02010609060101010101" pitchFamily="49" charset="-122"/>
              </a:rPr>
              <a:t>根据实际任务进度和实际人力投入计算实际人力成本和实际任务规模</a:t>
            </a:r>
          </a:p>
          <a:p>
            <a:pPr algn="just" eaLnBrk="1" hangingPunct="1">
              <a:lnSpc>
                <a:spcPct val="110000"/>
              </a:lnSpc>
            </a:pPr>
            <a:r>
              <a:rPr lang="zh-CN" altLang="en-US" sz="2000" dirty="0">
                <a:solidFill>
                  <a:srgbClr val="000000"/>
                </a:solidFill>
                <a:latin typeface="黑体" panose="02010609060101010101" pitchFamily="49" charset="-122"/>
              </a:rPr>
              <a:t>记录</a:t>
            </a:r>
            <a:r>
              <a:rPr lang="zh-CN" altLang="en-US" sz="2000" dirty="0">
                <a:latin typeface="黑体" panose="02010609060101010101" pitchFamily="49" charset="-122"/>
              </a:rPr>
              <a:t>除人力成本以外的其他</a:t>
            </a:r>
            <a:r>
              <a:rPr lang="zh-CN" altLang="en-US" sz="2000" dirty="0">
                <a:solidFill>
                  <a:srgbClr val="000000"/>
                </a:solidFill>
                <a:latin typeface="黑体" panose="02010609060101010101" pitchFamily="49" charset="-122"/>
              </a:rPr>
              <a:t>成本消耗</a:t>
            </a:r>
            <a:endParaRPr lang="zh-CN" altLang="en-US" sz="2000" dirty="0">
              <a:latin typeface="黑体" panose="02010609060101010101" pitchFamily="49" charset="-122"/>
            </a:endParaRPr>
          </a:p>
          <a:p>
            <a:pPr algn="just" eaLnBrk="1" hangingPunct="1">
              <a:lnSpc>
                <a:spcPct val="110000"/>
              </a:lnSpc>
            </a:pPr>
            <a:r>
              <a:rPr lang="zh-CN" altLang="en-US" sz="2000" dirty="0">
                <a:latin typeface="黑体" panose="02010609060101010101" pitchFamily="49" charset="-122"/>
              </a:rPr>
              <a:t>记录关键资源的使用情况</a:t>
            </a:r>
          </a:p>
          <a:p>
            <a:pPr algn="just" eaLnBrk="1" hangingPunct="1">
              <a:lnSpc>
                <a:spcPct val="110000"/>
              </a:lnSpc>
            </a:pPr>
            <a:r>
              <a:rPr lang="zh-CN" altLang="en-US" sz="2000" dirty="0">
                <a:latin typeface="黑体" panose="02010609060101010101" pitchFamily="49" charset="-122"/>
              </a:rPr>
              <a:t>记录项目进行过程中风险发生的情况及处理对策</a:t>
            </a:r>
          </a:p>
          <a:p>
            <a:pPr algn="just" eaLnBrk="1" hangingPunct="1">
              <a:lnSpc>
                <a:spcPct val="110000"/>
              </a:lnSpc>
            </a:pPr>
            <a:r>
              <a:rPr lang="zh-CN" altLang="en-US" sz="2000" dirty="0">
                <a:latin typeface="黑体" panose="02010609060101010101" pitchFamily="49" charset="-122"/>
              </a:rPr>
              <a:t>按期按任务性质统计项目任务的时间分配情况</a:t>
            </a:r>
          </a:p>
          <a:p>
            <a:pPr algn="just" eaLnBrk="1" hangingPunct="1">
              <a:lnSpc>
                <a:spcPct val="110000"/>
              </a:lnSpc>
            </a:pPr>
            <a:r>
              <a:rPr lang="zh-CN" altLang="en-US" sz="2000" dirty="0">
                <a:latin typeface="黑体" panose="02010609060101010101" pitchFamily="49" charset="-122"/>
              </a:rPr>
              <a:t>收集其它的要求的采集信息以及必要的度量信息等</a:t>
            </a:r>
            <a:endParaRPr lang="zh-CN" alt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047AD38-814D-2656-0D74-154BDA1645CB}"/>
              </a:ext>
            </a:extLst>
          </p:cNvPr>
          <p:cNvSpPr>
            <a:spLocks noGrp="1" noChangeArrowheads="1"/>
          </p:cNvSpPr>
          <p:nvPr>
            <p:ph type="title"/>
          </p:nvPr>
        </p:nvSpPr>
        <p:spPr/>
        <p:txBody>
          <a:bodyPr/>
          <a:lstStyle/>
          <a:p>
            <a:pPr eaLnBrk="1" hangingPunct="1"/>
            <a:r>
              <a:rPr lang="zh-CN" altLang="en-US"/>
              <a:t>本章内容提要</a:t>
            </a:r>
          </a:p>
        </p:txBody>
      </p:sp>
      <p:grpSp>
        <p:nvGrpSpPr>
          <p:cNvPr id="29699" name="Group 3">
            <a:extLst>
              <a:ext uri="{FF2B5EF4-FFF2-40B4-BE49-F238E27FC236}">
                <a16:creationId xmlns:a16="http://schemas.microsoft.com/office/drawing/2014/main" id="{B490DD12-40E4-0524-51F0-30BF39AA3491}"/>
              </a:ext>
            </a:extLst>
          </p:cNvPr>
          <p:cNvGrpSpPr>
            <a:grpSpLocks/>
          </p:cNvGrpSpPr>
          <p:nvPr/>
        </p:nvGrpSpPr>
        <p:grpSpPr bwMode="auto">
          <a:xfrm>
            <a:off x="969963" y="2487613"/>
            <a:ext cx="5689600" cy="3389312"/>
            <a:chOff x="611" y="1389"/>
            <a:chExt cx="3584" cy="2135"/>
          </a:xfrm>
        </p:grpSpPr>
        <p:grpSp>
          <p:nvGrpSpPr>
            <p:cNvPr id="29700" name="Group 4">
              <a:extLst>
                <a:ext uri="{FF2B5EF4-FFF2-40B4-BE49-F238E27FC236}">
                  <a16:creationId xmlns:a16="http://schemas.microsoft.com/office/drawing/2014/main" id="{DF4CB7A8-BE66-F4E2-A538-2922839CC9B3}"/>
                </a:ext>
              </a:extLst>
            </p:cNvPr>
            <p:cNvGrpSpPr>
              <a:grpSpLocks/>
            </p:cNvGrpSpPr>
            <p:nvPr/>
          </p:nvGrpSpPr>
          <p:grpSpPr bwMode="auto">
            <a:xfrm>
              <a:off x="611" y="1389"/>
              <a:ext cx="3572" cy="205"/>
              <a:chOff x="385" y="1460"/>
              <a:chExt cx="3572" cy="324"/>
            </a:xfrm>
          </p:grpSpPr>
          <p:sp>
            <p:nvSpPr>
              <p:cNvPr id="29730" name="AutoShape 5">
                <a:extLst>
                  <a:ext uri="{FF2B5EF4-FFF2-40B4-BE49-F238E27FC236}">
                    <a16:creationId xmlns:a16="http://schemas.microsoft.com/office/drawing/2014/main" id="{45E9F436-06C1-8C25-34D2-38BB6EE6E0FA}"/>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9731" name="Text Box 6">
                <a:extLst>
                  <a:ext uri="{FF2B5EF4-FFF2-40B4-BE49-F238E27FC236}">
                    <a16:creationId xmlns:a16="http://schemas.microsoft.com/office/drawing/2014/main" id="{534B7330-DF6A-C2AC-6F30-1B60A6097819}"/>
                  </a:ext>
                </a:extLst>
              </p:cNvPr>
              <p:cNvSpPr txBox="1">
                <a:spLocks noChangeArrowheads="1"/>
              </p:cNvSpPr>
              <p:nvPr/>
            </p:nvSpPr>
            <p:spPr bwMode="auto">
              <a:xfrm>
                <a:off x="626" y="1460"/>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软件项目跟踪控制概述</a:t>
                </a:r>
                <a:r>
                  <a:rPr lang="zh-CN" altLang="en-US" sz="1800">
                    <a:latin typeface="宋体" panose="02010600030101010101" pitchFamily="2" charset="-122"/>
                  </a:rPr>
                  <a:t>  </a:t>
                </a:r>
              </a:p>
            </p:txBody>
          </p:sp>
          <p:sp>
            <p:nvSpPr>
              <p:cNvPr id="29732" name="Rectangle 7">
                <a:extLst>
                  <a:ext uri="{FF2B5EF4-FFF2-40B4-BE49-F238E27FC236}">
                    <a16:creationId xmlns:a16="http://schemas.microsoft.com/office/drawing/2014/main" id="{790FC9AF-355A-0BE6-DCFE-11A49D4CBB20}"/>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9.1</a:t>
                </a:r>
                <a:endParaRPr lang="en-US" altLang="zh-CN" sz="1800">
                  <a:solidFill>
                    <a:srgbClr val="000000"/>
                  </a:solidFill>
                </a:endParaRPr>
              </a:p>
            </p:txBody>
          </p:sp>
        </p:grpSp>
        <p:grpSp>
          <p:nvGrpSpPr>
            <p:cNvPr id="29701" name="Group 8">
              <a:extLst>
                <a:ext uri="{FF2B5EF4-FFF2-40B4-BE49-F238E27FC236}">
                  <a16:creationId xmlns:a16="http://schemas.microsoft.com/office/drawing/2014/main" id="{C09DB686-0930-F564-DEBF-88EE785F448C}"/>
                </a:ext>
              </a:extLst>
            </p:cNvPr>
            <p:cNvGrpSpPr>
              <a:grpSpLocks/>
            </p:cNvGrpSpPr>
            <p:nvPr/>
          </p:nvGrpSpPr>
          <p:grpSpPr bwMode="auto">
            <a:xfrm>
              <a:off x="611" y="1675"/>
              <a:ext cx="3572" cy="202"/>
              <a:chOff x="385" y="1831"/>
              <a:chExt cx="3572" cy="319"/>
            </a:xfrm>
          </p:grpSpPr>
          <p:grpSp>
            <p:nvGrpSpPr>
              <p:cNvPr id="29726" name="Group 9">
                <a:extLst>
                  <a:ext uri="{FF2B5EF4-FFF2-40B4-BE49-F238E27FC236}">
                    <a16:creationId xmlns:a16="http://schemas.microsoft.com/office/drawing/2014/main" id="{B1DF8CB9-7E71-DA5D-FFE2-3420601E3B45}"/>
                  </a:ext>
                </a:extLst>
              </p:cNvPr>
              <p:cNvGrpSpPr>
                <a:grpSpLocks/>
              </p:cNvGrpSpPr>
              <p:nvPr/>
            </p:nvGrpSpPr>
            <p:grpSpPr bwMode="auto">
              <a:xfrm>
                <a:off x="464" y="1831"/>
                <a:ext cx="3493" cy="319"/>
                <a:chOff x="464" y="1831"/>
                <a:chExt cx="3493" cy="319"/>
              </a:xfrm>
            </p:grpSpPr>
            <p:sp>
              <p:nvSpPr>
                <p:cNvPr id="29728" name="AutoShape 10">
                  <a:extLst>
                    <a:ext uri="{FF2B5EF4-FFF2-40B4-BE49-F238E27FC236}">
                      <a16:creationId xmlns:a16="http://schemas.microsoft.com/office/drawing/2014/main" id="{17241B2B-244F-5E8C-E841-A58AEA5FCEE6}"/>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9729" name="Text Box 11">
                  <a:extLst>
                    <a:ext uri="{FF2B5EF4-FFF2-40B4-BE49-F238E27FC236}">
                      <a16:creationId xmlns:a16="http://schemas.microsoft.com/office/drawing/2014/main" id="{3BAB77CB-0949-99FC-6ED4-419129782C50}"/>
                    </a:ext>
                  </a:extLst>
                </p:cNvPr>
                <p:cNvSpPr txBox="1">
                  <a:spLocks noChangeArrowheads="1"/>
                </p:cNvSpPr>
                <p:nvPr/>
              </p:nvSpPr>
              <p:spPr bwMode="auto">
                <a:xfrm>
                  <a:off x="626" y="1831"/>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软件项目跟踪控制的标准</a:t>
                  </a:r>
                  <a:r>
                    <a:rPr lang="zh-CN" altLang="en-US" sz="1200">
                      <a:solidFill>
                        <a:schemeClr val="bg1"/>
                      </a:solidFill>
                      <a:latin typeface="黑体" panose="02010609060101010101" pitchFamily="49" charset="-122"/>
                      <a:ea typeface="黑体" panose="02010609060101010101" pitchFamily="49" charset="-122"/>
                    </a:rPr>
                    <a:t> </a:t>
                  </a:r>
                </a:p>
              </p:txBody>
            </p:sp>
          </p:grpSp>
          <p:sp>
            <p:nvSpPr>
              <p:cNvPr id="29727" name="Rectangle 12">
                <a:extLst>
                  <a:ext uri="{FF2B5EF4-FFF2-40B4-BE49-F238E27FC236}">
                    <a16:creationId xmlns:a16="http://schemas.microsoft.com/office/drawing/2014/main" id="{11D5380C-7749-9D68-693C-49A960392C0F}"/>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9.2</a:t>
                </a:r>
                <a:endParaRPr lang="en-US" altLang="zh-CN" sz="1800">
                  <a:solidFill>
                    <a:srgbClr val="000000"/>
                  </a:solidFill>
                </a:endParaRPr>
              </a:p>
            </p:txBody>
          </p:sp>
        </p:grpSp>
        <p:grpSp>
          <p:nvGrpSpPr>
            <p:cNvPr id="29702" name="Group 13">
              <a:extLst>
                <a:ext uri="{FF2B5EF4-FFF2-40B4-BE49-F238E27FC236}">
                  <a16:creationId xmlns:a16="http://schemas.microsoft.com/office/drawing/2014/main" id="{F002A466-D092-4270-DA24-41F4606A1E11}"/>
                </a:ext>
              </a:extLst>
            </p:cNvPr>
            <p:cNvGrpSpPr>
              <a:grpSpLocks/>
            </p:cNvGrpSpPr>
            <p:nvPr/>
          </p:nvGrpSpPr>
          <p:grpSpPr bwMode="auto">
            <a:xfrm>
              <a:off x="611" y="1947"/>
              <a:ext cx="3584" cy="198"/>
              <a:chOff x="385" y="2209"/>
              <a:chExt cx="3584" cy="313"/>
            </a:xfrm>
          </p:grpSpPr>
          <p:sp>
            <p:nvSpPr>
              <p:cNvPr id="29723" name="AutoShape 14">
                <a:extLst>
                  <a:ext uri="{FF2B5EF4-FFF2-40B4-BE49-F238E27FC236}">
                    <a16:creationId xmlns:a16="http://schemas.microsoft.com/office/drawing/2014/main" id="{51F8BB35-EAE9-FFF0-EE91-35F34CD8DA0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9724" name="Text Box 15">
                <a:extLst>
                  <a:ext uri="{FF2B5EF4-FFF2-40B4-BE49-F238E27FC236}">
                    <a16:creationId xmlns:a16="http://schemas.microsoft.com/office/drawing/2014/main" id="{EBCCCC5E-A48C-B603-11B9-60E099E4BE4D}"/>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solidFill>
                      <a:schemeClr val="bg1"/>
                    </a:solidFill>
                    <a:ea typeface="黑体" panose="02010609060101010101" pitchFamily="49" charset="-122"/>
                  </a:rPr>
                  <a:t>  </a:t>
                </a:r>
                <a:r>
                  <a:rPr lang="zh-CN" altLang="en-US" sz="2000">
                    <a:ea typeface="黑体" panose="02010609060101010101" pitchFamily="49" charset="-122"/>
                  </a:rPr>
                  <a:t>软件项目监控和报告体系</a:t>
                </a:r>
                <a:r>
                  <a:rPr lang="zh-CN" altLang="en-US" sz="1200">
                    <a:solidFill>
                      <a:schemeClr val="bg1"/>
                    </a:solidFill>
                  </a:rPr>
                  <a:t> </a:t>
                </a:r>
              </a:p>
            </p:txBody>
          </p:sp>
          <p:sp>
            <p:nvSpPr>
              <p:cNvPr id="29725" name="Rectangle 16">
                <a:extLst>
                  <a:ext uri="{FF2B5EF4-FFF2-40B4-BE49-F238E27FC236}">
                    <a16:creationId xmlns:a16="http://schemas.microsoft.com/office/drawing/2014/main" id="{1D2AE967-54E1-992C-31BE-B408D46A436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9.3</a:t>
                </a:r>
                <a:endParaRPr lang="en-US" altLang="zh-CN" sz="1800">
                  <a:solidFill>
                    <a:srgbClr val="000000"/>
                  </a:solidFill>
                </a:endParaRPr>
              </a:p>
            </p:txBody>
          </p:sp>
        </p:grpSp>
        <p:grpSp>
          <p:nvGrpSpPr>
            <p:cNvPr id="29703" name="Group 17">
              <a:extLst>
                <a:ext uri="{FF2B5EF4-FFF2-40B4-BE49-F238E27FC236}">
                  <a16:creationId xmlns:a16="http://schemas.microsoft.com/office/drawing/2014/main" id="{2A5E3F8C-22F9-BA2A-03B9-900C2F046930}"/>
                </a:ext>
              </a:extLst>
            </p:cNvPr>
            <p:cNvGrpSpPr>
              <a:grpSpLocks/>
            </p:cNvGrpSpPr>
            <p:nvPr/>
          </p:nvGrpSpPr>
          <p:grpSpPr bwMode="auto">
            <a:xfrm>
              <a:off x="611" y="2219"/>
              <a:ext cx="3584" cy="198"/>
              <a:chOff x="385" y="2209"/>
              <a:chExt cx="3584" cy="313"/>
            </a:xfrm>
          </p:grpSpPr>
          <p:sp>
            <p:nvSpPr>
              <p:cNvPr id="29720" name="AutoShape 18">
                <a:extLst>
                  <a:ext uri="{FF2B5EF4-FFF2-40B4-BE49-F238E27FC236}">
                    <a16:creationId xmlns:a16="http://schemas.microsoft.com/office/drawing/2014/main" id="{7FA14CAE-90FA-D7B4-F62C-896AF7C6047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9721" name="Text Box 19">
                <a:extLst>
                  <a:ext uri="{FF2B5EF4-FFF2-40B4-BE49-F238E27FC236}">
                    <a16:creationId xmlns:a16="http://schemas.microsoft.com/office/drawing/2014/main" id="{68A472F6-075F-2694-6B50-B3FD349254CF}"/>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软件项目跟踪控制过程</a:t>
                </a:r>
                <a:r>
                  <a:rPr lang="zh-CN" altLang="en-US" sz="1200">
                    <a:solidFill>
                      <a:schemeClr val="bg1"/>
                    </a:solidFill>
                  </a:rPr>
                  <a:t> </a:t>
                </a:r>
              </a:p>
            </p:txBody>
          </p:sp>
          <p:sp>
            <p:nvSpPr>
              <p:cNvPr id="29722" name="Rectangle 20">
                <a:extLst>
                  <a:ext uri="{FF2B5EF4-FFF2-40B4-BE49-F238E27FC236}">
                    <a16:creationId xmlns:a16="http://schemas.microsoft.com/office/drawing/2014/main" id="{F246A2AB-1EDF-C04D-07C9-FA098F0C67FB}"/>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9.4</a:t>
                </a:r>
                <a:endParaRPr lang="en-US" altLang="zh-CN" sz="1800">
                  <a:solidFill>
                    <a:srgbClr val="000000"/>
                  </a:solidFill>
                </a:endParaRPr>
              </a:p>
            </p:txBody>
          </p:sp>
        </p:grpSp>
        <p:grpSp>
          <p:nvGrpSpPr>
            <p:cNvPr id="29704" name="Group 21">
              <a:extLst>
                <a:ext uri="{FF2B5EF4-FFF2-40B4-BE49-F238E27FC236}">
                  <a16:creationId xmlns:a16="http://schemas.microsoft.com/office/drawing/2014/main" id="{A1E0C6DD-F927-514A-B41D-952E92366419}"/>
                </a:ext>
              </a:extLst>
            </p:cNvPr>
            <p:cNvGrpSpPr>
              <a:grpSpLocks/>
            </p:cNvGrpSpPr>
            <p:nvPr/>
          </p:nvGrpSpPr>
          <p:grpSpPr bwMode="auto">
            <a:xfrm>
              <a:off x="611" y="2505"/>
              <a:ext cx="3584" cy="197"/>
              <a:chOff x="385" y="2209"/>
              <a:chExt cx="3584" cy="311"/>
            </a:xfrm>
          </p:grpSpPr>
          <p:sp>
            <p:nvSpPr>
              <p:cNvPr id="29717" name="AutoShape 22">
                <a:extLst>
                  <a:ext uri="{FF2B5EF4-FFF2-40B4-BE49-F238E27FC236}">
                    <a16:creationId xmlns:a16="http://schemas.microsoft.com/office/drawing/2014/main" id="{972FD20F-7079-36FD-58BB-86E59697C02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9718" name="Text Box 23">
                <a:extLst>
                  <a:ext uri="{FF2B5EF4-FFF2-40B4-BE49-F238E27FC236}">
                    <a16:creationId xmlns:a16="http://schemas.microsoft.com/office/drawing/2014/main" id="{5BA26C67-BDDD-A9BE-9413-9B8E469812EC}"/>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软件项目评审 </a:t>
                </a:r>
              </a:p>
            </p:txBody>
          </p:sp>
          <p:sp>
            <p:nvSpPr>
              <p:cNvPr id="29719" name="Rectangle 24">
                <a:extLst>
                  <a:ext uri="{FF2B5EF4-FFF2-40B4-BE49-F238E27FC236}">
                    <a16:creationId xmlns:a16="http://schemas.microsoft.com/office/drawing/2014/main" id="{CE7AEFF3-3F13-2797-6997-0A776F13012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9.5</a:t>
                </a:r>
                <a:endParaRPr lang="en-US" altLang="zh-CN" sz="1800">
                  <a:solidFill>
                    <a:srgbClr val="000000"/>
                  </a:solidFill>
                </a:endParaRPr>
              </a:p>
            </p:txBody>
          </p:sp>
        </p:grpSp>
        <p:grpSp>
          <p:nvGrpSpPr>
            <p:cNvPr id="29705" name="Group 25">
              <a:extLst>
                <a:ext uri="{FF2B5EF4-FFF2-40B4-BE49-F238E27FC236}">
                  <a16:creationId xmlns:a16="http://schemas.microsoft.com/office/drawing/2014/main" id="{9E9BFAEF-8893-3092-AB08-27194B1F0CC3}"/>
                </a:ext>
              </a:extLst>
            </p:cNvPr>
            <p:cNvGrpSpPr>
              <a:grpSpLocks/>
            </p:cNvGrpSpPr>
            <p:nvPr/>
          </p:nvGrpSpPr>
          <p:grpSpPr bwMode="auto">
            <a:xfrm>
              <a:off x="611" y="2760"/>
              <a:ext cx="3584" cy="230"/>
              <a:chOff x="385" y="2187"/>
              <a:chExt cx="3584" cy="363"/>
            </a:xfrm>
          </p:grpSpPr>
          <p:sp>
            <p:nvSpPr>
              <p:cNvPr id="29714" name="AutoShape 26">
                <a:extLst>
                  <a:ext uri="{FF2B5EF4-FFF2-40B4-BE49-F238E27FC236}">
                    <a16:creationId xmlns:a16="http://schemas.microsoft.com/office/drawing/2014/main" id="{5A5E0860-DD60-ED0A-132B-458EF5F5149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9715" name="Text Box 27">
                <a:extLst>
                  <a:ext uri="{FF2B5EF4-FFF2-40B4-BE49-F238E27FC236}">
                    <a16:creationId xmlns:a16="http://schemas.microsoft.com/office/drawing/2014/main" id="{EB8C0BDF-2A53-FD38-532A-C6DAF0CE45AC}"/>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ea typeface="黑体" panose="02010609060101010101" pitchFamily="49" charset="-122"/>
                  </a:rPr>
                  <a:t>软件项目计划修改</a:t>
                </a:r>
                <a:r>
                  <a:rPr lang="zh-CN" altLang="en-US" sz="1200">
                    <a:solidFill>
                      <a:schemeClr val="bg1"/>
                    </a:solidFill>
                  </a:rPr>
                  <a:t> </a:t>
                </a:r>
                <a:r>
                  <a:rPr lang="zh-CN" altLang="en-US" sz="2400" b="0">
                    <a:latin typeface="Times New Roman" panose="02020603050405020304" pitchFamily="18" charset="0"/>
                  </a:rPr>
                  <a:t> </a:t>
                </a:r>
              </a:p>
            </p:txBody>
          </p:sp>
          <p:sp>
            <p:nvSpPr>
              <p:cNvPr id="29716" name="Rectangle 28">
                <a:extLst>
                  <a:ext uri="{FF2B5EF4-FFF2-40B4-BE49-F238E27FC236}">
                    <a16:creationId xmlns:a16="http://schemas.microsoft.com/office/drawing/2014/main" id="{EC9F904B-3822-2D92-ACF3-683F76EF43C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9.6</a:t>
                </a:r>
                <a:endParaRPr lang="en-US" altLang="zh-CN" sz="1800">
                  <a:solidFill>
                    <a:srgbClr val="000000"/>
                  </a:solidFill>
                </a:endParaRPr>
              </a:p>
            </p:txBody>
          </p:sp>
        </p:grpSp>
        <p:grpSp>
          <p:nvGrpSpPr>
            <p:cNvPr id="29706" name="Group 29">
              <a:extLst>
                <a:ext uri="{FF2B5EF4-FFF2-40B4-BE49-F238E27FC236}">
                  <a16:creationId xmlns:a16="http://schemas.microsoft.com/office/drawing/2014/main" id="{8A7D615A-054E-5CED-03E2-82FAB2DA4E5A}"/>
                </a:ext>
              </a:extLst>
            </p:cNvPr>
            <p:cNvGrpSpPr>
              <a:grpSpLocks/>
            </p:cNvGrpSpPr>
            <p:nvPr/>
          </p:nvGrpSpPr>
          <p:grpSpPr bwMode="auto">
            <a:xfrm>
              <a:off x="611" y="3022"/>
              <a:ext cx="3584" cy="230"/>
              <a:chOff x="385" y="2187"/>
              <a:chExt cx="3584" cy="363"/>
            </a:xfrm>
          </p:grpSpPr>
          <p:sp>
            <p:nvSpPr>
              <p:cNvPr id="29711" name="AutoShape 30">
                <a:extLst>
                  <a:ext uri="{FF2B5EF4-FFF2-40B4-BE49-F238E27FC236}">
                    <a16:creationId xmlns:a16="http://schemas.microsoft.com/office/drawing/2014/main" id="{AA303647-19B1-6F0D-26BE-670823F0168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9712" name="Text Box 31">
                <a:extLst>
                  <a:ext uri="{FF2B5EF4-FFF2-40B4-BE49-F238E27FC236}">
                    <a16:creationId xmlns:a16="http://schemas.microsoft.com/office/drawing/2014/main" id="{2CD14747-B4F8-71F7-D084-7B68407C158E}"/>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29713" name="Rectangle 32">
                <a:extLst>
                  <a:ext uri="{FF2B5EF4-FFF2-40B4-BE49-F238E27FC236}">
                    <a16:creationId xmlns:a16="http://schemas.microsoft.com/office/drawing/2014/main" id="{5D8201CB-902C-DFD0-D298-62ED58FEB58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9.7</a:t>
                </a:r>
                <a:endParaRPr lang="en-US" altLang="zh-CN" sz="1800">
                  <a:solidFill>
                    <a:srgbClr val="000000"/>
                  </a:solidFill>
                </a:endParaRPr>
              </a:p>
            </p:txBody>
          </p:sp>
        </p:grpSp>
        <p:grpSp>
          <p:nvGrpSpPr>
            <p:cNvPr id="29707" name="Group 33">
              <a:extLst>
                <a:ext uri="{FF2B5EF4-FFF2-40B4-BE49-F238E27FC236}">
                  <a16:creationId xmlns:a16="http://schemas.microsoft.com/office/drawing/2014/main" id="{C4942E9E-AAE6-CFBB-F48A-D092B9A89641}"/>
                </a:ext>
              </a:extLst>
            </p:cNvPr>
            <p:cNvGrpSpPr>
              <a:grpSpLocks/>
            </p:cNvGrpSpPr>
            <p:nvPr/>
          </p:nvGrpSpPr>
          <p:grpSpPr bwMode="auto">
            <a:xfrm>
              <a:off x="611" y="3294"/>
              <a:ext cx="3584" cy="230"/>
              <a:chOff x="385" y="2187"/>
              <a:chExt cx="3584" cy="363"/>
            </a:xfrm>
          </p:grpSpPr>
          <p:sp>
            <p:nvSpPr>
              <p:cNvPr id="29708" name="AutoShape 34">
                <a:extLst>
                  <a:ext uri="{FF2B5EF4-FFF2-40B4-BE49-F238E27FC236}">
                    <a16:creationId xmlns:a16="http://schemas.microsoft.com/office/drawing/2014/main" id="{DACA4ABD-32D5-9374-551E-EEFDC9E7A30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29709" name="Text Box 35">
                <a:extLst>
                  <a:ext uri="{FF2B5EF4-FFF2-40B4-BE49-F238E27FC236}">
                    <a16:creationId xmlns:a16="http://schemas.microsoft.com/office/drawing/2014/main" id="{1FA75A8D-15B3-7871-B687-C35D63D53276}"/>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复习思考题</a:t>
                </a:r>
                <a:r>
                  <a:rPr lang="zh-CN" altLang="en-US" sz="2400" b="0">
                    <a:latin typeface="Times New Roman" panose="02020603050405020304" pitchFamily="18" charset="0"/>
                  </a:rPr>
                  <a:t> </a:t>
                </a:r>
              </a:p>
            </p:txBody>
          </p:sp>
          <p:sp>
            <p:nvSpPr>
              <p:cNvPr id="29710" name="Rectangle 36">
                <a:extLst>
                  <a:ext uri="{FF2B5EF4-FFF2-40B4-BE49-F238E27FC236}">
                    <a16:creationId xmlns:a16="http://schemas.microsoft.com/office/drawing/2014/main" id="{7CBCE64E-E502-C94B-AC26-0441F5D7B55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9.8</a:t>
                </a:r>
                <a:endParaRPr lang="en-US" altLang="zh-CN" sz="1800">
                  <a:solidFill>
                    <a:srgbClr val="000000"/>
                  </a:solidFill>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DAD2C01-AC3A-13E7-57CD-9202D251A791}"/>
              </a:ext>
            </a:extLst>
          </p:cNvPr>
          <p:cNvSpPr>
            <a:spLocks noGrp="1" noChangeArrowheads="1"/>
          </p:cNvSpPr>
          <p:nvPr>
            <p:ph type="title"/>
          </p:nvPr>
        </p:nvSpPr>
        <p:spPr/>
        <p:txBody>
          <a:bodyPr/>
          <a:lstStyle/>
          <a:p>
            <a:pPr eaLnBrk="1" hangingPunct="1"/>
            <a:r>
              <a:rPr lang="en-US" altLang="zh-CN"/>
              <a:t>9.4  </a:t>
            </a:r>
            <a:r>
              <a:rPr kumimoji="1" lang="zh-CN" altLang="en-US"/>
              <a:t>软件项目跟踪控制过程</a:t>
            </a:r>
          </a:p>
        </p:txBody>
      </p:sp>
      <p:sp>
        <p:nvSpPr>
          <p:cNvPr id="31747" name="Rectangle 3">
            <a:extLst>
              <a:ext uri="{FF2B5EF4-FFF2-40B4-BE49-F238E27FC236}">
                <a16:creationId xmlns:a16="http://schemas.microsoft.com/office/drawing/2014/main" id="{1B568CD8-C8FB-E483-7427-49EF03E46AB0}"/>
              </a:ext>
            </a:extLst>
          </p:cNvPr>
          <p:cNvSpPr>
            <a:spLocks noGrp="1" noChangeArrowheads="1"/>
          </p:cNvSpPr>
          <p:nvPr>
            <p:ph type="body" idx="1"/>
          </p:nvPr>
        </p:nvSpPr>
        <p:spPr>
          <a:xfrm>
            <a:off x="1116013" y="1989138"/>
            <a:ext cx="7848600" cy="4868862"/>
          </a:xfrm>
        </p:spPr>
        <p:txBody>
          <a:bodyPr/>
          <a:lstStyle/>
          <a:p>
            <a:pPr eaLnBrk="1" hangingPunct="1">
              <a:lnSpc>
                <a:spcPct val="120000"/>
              </a:lnSpc>
            </a:pPr>
            <a:r>
              <a:rPr lang="zh-CN" altLang="en-US" sz="2400">
                <a:solidFill>
                  <a:schemeClr val="accent2"/>
                </a:solidFill>
                <a:latin typeface="黑体" panose="02010609060101010101" pitchFamily="49" charset="-122"/>
                <a:ea typeface="黑体" panose="02010609060101010101" pitchFamily="49" charset="-122"/>
              </a:rPr>
              <a:t>项目跟踪控制分析的对象</a:t>
            </a:r>
          </a:p>
          <a:p>
            <a:pPr lvl="1" eaLnBrk="1" hangingPunct="1">
              <a:lnSpc>
                <a:spcPct val="120000"/>
              </a:lnSpc>
              <a:spcBef>
                <a:spcPct val="30000"/>
              </a:spcBef>
            </a:pPr>
            <a:r>
              <a:rPr lang="zh-CN" altLang="en-US" sz="2000">
                <a:solidFill>
                  <a:schemeClr val="accent1"/>
                </a:solidFill>
                <a:latin typeface="黑体" panose="02010609060101010101" pitchFamily="49" charset="-122"/>
                <a:ea typeface="黑体" panose="02010609060101010101" pitchFamily="49" charset="-122"/>
              </a:rPr>
              <a:t>项目范围跟踪控制</a:t>
            </a:r>
            <a:endParaRPr lang="en-US" altLang="zh-CN" sz="2000">
              <a:solidFill>
                <a:schemeClr val="accent1"/>
              </a:solidFill>
              <a:latin typeface="黑体" panose="02010609060101010101" pitchFamily="49" charset="-122"/>
              <a:ea typeface="黑体" panose="02010609060101010101" pitchFamily="49" charset="-122"/>
            </a:endParaRPr>
          </a:p>
          <a:p>
            <a:pPr lvl="1" eaLnBrk="1" hangingPunct="1">
              <a:lnSpc>
                <a:spcPct val="120000"/>
              </a:lnSpc>
              <a:spcBef>
                <a:spcPct val="30000"/>
              </a:spcBef>
            </a:pPr>
            <a:r>
              <a:rPr lang="zh-CN" altLang="en-US" sz="2000" b="0">
                <a:solidFill>
                  <a:schemeClr val="accent1"/>
                </a:solidFill>
                <a:latin typeface="黑体" panose="02010609060101010101" pitchFamily="49" charset="-122"/>
                <a:ea typeface="黑体" panose="02010609060101010101" pitchFamily="49" charset="-122"/>
              </a:rPr>
              <a:t>项目成本</a:t>
            </a:r>
            <a:r>
              <a:rPr lang="zh-CN" altLang="en-US" sz="2000">
                <a:solidFill>
                  <a:schemeClr val="accent1"/>
                </a:solidFill>
                <a:latin typeface="黑体" panose="02010609060101010101" pitchFamily="49" charset="-122"/>
                <a:ea typeface="黑体" panose="02010609060101010101" pitchFamily="49" charset="-122"/>
              </a:rPr>
              <a:t>跟踪控制</a:t>
            </a:r>
            <a:endParaRPr lang="zh-CN" altLang="en-US" sz="2000" b="0">
              <a:solidFill>
                <a:schemeClr val="accent1"/>
              </a:solidFill>
              <a:latin typeface="黑体" panose="02010609060101010101" pitchFamily="49" charset="-122"/>
              <a:ea typeface="黑体" panose="02010609060101010101" pitchFamily="49" charset="-122"/>
            </a:endParaRPr>
          </a:p>
          <a:p>
            <a:pPr lvl="1" eaLnBrk="1" hangingPunct="1">
              <a:lnSpc>
                <a:spcPct val="120000"/>
              </a:lnSpc>
              <a:spcBef>
                <a:spcPct val="30000"/>
              </a:spcBef>
            </a:pPr>
            <a:r>
              <a:rPr lang="zh-CN" altLang="en-US" sz="2000" b="0">
                <a:solidFill>
                  <a:schemeClr val="accent1"/>
                </a:solidFill>
                <a:latin typeface="黑体" panose="02010609060101010101" pitchFamily="49" charset="-122"/>
                <a:ea typeface="黑体" panose="02010609060101010101" pitchFamily="49" charset="-122"/>
              </a:rPr>
              <a:t>项目进度</a:t>
            </a:r>
            <a:r>
              <a:rPr lang="zh-CN" altLang="en-US" sz="2000">
                <a:solidFill>
                  <a:schemeClr val="accent1"/>
                </a:solidFill>
                <a:latin typeface="黑体" panose="02010609060101010101" pitchFamily="49" charset="-122"/>
                <a:ea typeface="黑体" panose="02010609060101010101" pitchFamily="49" charset="-122"/>
              </a:rPr>
              <a:t>跟踪控制</a:t>
            </a:r>
            <a:endParaRPr lang="zh-CN" altLang="en-US" sz="2000" b="0">
              <a:solidFill>
                <a:schemeClr val="accent1"/>
              </a:solidFill>
              <a:latin typeface="黑体" panose="02010609060101010101" pitchFamily="49" charset="-122"/>
              <a:ea typeface="黑体" panose="02010609060101010101" pitchFamily="49" charset="-122"/>
            </a:endParaRPr>
          </a:p>
          <a:p>
            <a:pPr lvl="1" eaLnBrk="1" hangingPunct="1">
              <a:lnSpc>
                <a:spcPct val="120000"/>
              </a:lnSpc>
              <a:spcBef>
                <a:spcPct val="30000"/>
              </a:spcBef>
            </a:pPr>
            <a:r>
              <a:rPr lang="zh-CN" altLang="en-US" sz="2000" b="0">
                <a:solidFill>
                  <a:schemeClr val="accent1"/>
                </a:solidFill>
                <a:latin typeface="黑体" panose="02010609060101010101" pitchFamily="49" charset="-122"/>
                <a:ea typeface="黑体" panose="02010609060101010101" pitchFamily="49" charset="-122"/>
              </a:rPr>
              <a:t>项目资源</a:t>
            </a:r>
            <a:r>
              <a:rPr lang="zh-CN" altLang="en-US" sz="2000">
                <a:solidFill>
                  <a:schemeClr val="accent1"/>
                </a:solidFill>
                <a:latin typeface="黑体" panose="02010609060101010101" pitchFamily="49" charset="-122"/>
                <a:ea typeface="黑体" panose="02010609060101010101" pitchFamily="49" charset="-122"/>
              </a:rPr>
              <a:t>跟踪控制</a:t>
            </a:r>
            <a:endParaRPr lang="zh-CN" altLang="en-US" sz="2000" b="0">
              <a:solidFill>
                <a:schemeClr val="accent1"/>
              </a:solidFill>
              <a:latin typeface="黑体" panose="02010609060101010101" pitchFamily="49" charset="-122"/>
              <a:ea typeface="黑体" panose="02010609060101010101" pitchFamily="49" charset="-122"/>
            </a:endParaRPr>
          </a:p>
          <a:p>
            <a:pPr lvl="1" eaLnBrk="1" hangingPunct="1">
              <a:lnSpc>
                <a:spcPct val="120000"/>
              </a:lnSpc>
              <a:spcBef>
                <a:spcPct val="30000"/>
              </a:spcBef>
            </a:pPr>
            <a:r>
              <a:rPr lang="zh-CN" altLang="en-US" sz="2000">
                <a:solidFill>
                  <a:schemeClr val="accent1"/>
                </a:solidFill>
                <a:latin typeface="黑体" panose="02010609060101010101" pitchFamily="49" charset="-122"/>
                <a:ea typeface="黑体" panose="02010609060101010101" pitchFamily="49" charset="-122"/>
              </a:rPr>
              <a:t>项目质量跟踪控制</a:t>
            </a:r>
          </a:p>
          <a:p>
            <a:pPr lvl="1" eaLnBrk="1" hangingPunct="1">
              <a:lnSpc>
                <a:spcPct val="120000"/>
              </a:lnSpc>
              <a:spcBef>
                <a:spcPct val="30000"/>
              </a:spcBef>
            </a:pPr>
            <a:r>
              <a:rPr lang="zh-CN" altLang="en-US" sz="2000">
                <a:solidFill>
                  <a:schemeClr val="accent1"/>
                </a:solidFill>
                <a:latin typeface="黑体" panose="02010609060101010101" pitchFamily="49" charset="-122"/>
                <a:ea typeface="黑体" panose="02010609060101010101" pitchFamily="49" charset="-122"/>
              </a:rPr>
              <a:t>项目风险跟踪控制</a:t>
            </a:r>
          </a:p>
          <a:p>
            <a:pPr eaLnBrk="1" hangingPunct="1"/>
            <a:endParaRPr lang="en-US" altLang="zh-CN" sz="2000">
              <a:solidFill>
                <a:schemeClr val="accent1"/>
              </a:solidFill>
              <a:latin typeface="黑体" panose="02010609060101010101" pitchFamily="49" charset="-122"/>
              <a:ea typeface="黑体" panose="02010609060101010101" pitchFamily="49" charset="-122"/>
            </a:endParaRPr>
          </a:p>
        </p:txBody>
      </p:sp>
      <p:pic>
        <p:nvPicPr>
          <p:cNvPr id="31748" name="Picture 4" descr="fa">
            <a:extLst>
              <a:ext uri="{FF2B5EF4-FFF2-40B4-BE49-F238E27FC236}">
                <a16:creationId xmlns:a16="http://schemas.microsoft.com/office/drawing/2014/main" id="{EF6F8473-B8AA-471D-B7BC-2EAEEAA0AB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00" y="3733800"/>
            <a:ext cx="2178050"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DAD2C01-AC3A-13E7-57CD-9202D251A791}"/>
              </a:ext>
            </a:extLst>
          </p:cNvPr>
          <p:cNvSpPr>
            <a:spLocks noGrp="1" noChangeArrowheads="1"/>
          </p:cNvSpPr>
          <p:nvPr>
            <p:ph type="title"/>
          </p:nvPr>
        </p:nvSpPr>
        <p:spPr/>
        <p:txBody>
          <a:bodyPr/>
          <a:lstStyle/>
          <a:p>
            <a:pPr eaLnBrk="1" hangingPunct="1"/>
            <a:r>
              <a:rPr lang="en-US" altLang="zh-CN"/>
              <a:t>9.4  </a:t>
            </a:r>
            <a:r>
              <a:rPr kumimoji="1" lang="zh-CN" altLang="en-US"/>
              <a:t>软件项目跟踪控制过程</a:t>
            </a:r>
          </a:p>
        </p:txBody>
      </p:sp>
      <p:sp>
        <p:nvSpPr>
          <p:cNvPr id="31747" name="Rectangle 3">
            <a:extLst>
              <a:ext uri="{FF2B5EF4-FFF2-40B4-BE49-F238E27FC236}">
                <a16:creationId xmlns:a16="http://schemas.microsoft.com/office/drawing/2014/main" id="{1B568CD8-C8FB-E483-7427-49EF03E46AB0}"/>
              </a:ext>
            </a:extLst>
          </p:cNvPr>
          <p:cNvSpPr>
            <a:spLocks noGrp="1" noChangeArrowheads="1"/>
          </p:cNvSpPr>
          <p:nvPr>
            <p:ph type="body" idx="1"/>
          </p:nvPr>
        </p:nvSpPr>
        <p:spPr>
          <a:xfrm>
            <a:off x="1116013" y="1989138"/>
            <a:ext cx="7848600" cy="4868862"/>
          </a:xfrm>
        </p:spPr>
        <p:txBody>
          <a:bodyPr/>
          <a:lstStyle/>
          <a:p>
            <a:pPr eaLnBrk="1" hangingPunct="1">
              <a:lnSpc>
                <a:spcPct val="120000"/>
              </a:lnSpc>
            </a:pPr>
            <a:r>
              <a:rPr lang="zh-CN" altLang="en-US" sz="2400" dirty="0">
                <a:solidFill>
                  <a:schemeClr val="accent2"/>
                </a:solidFill>
                <a:latin typeface="黑体" panose="02010609060101010101" pitchFamily="49" charset="-122"/>
                <a:ea typeface="黑体" panose="02010609060101010101" pitchFamily="49" charset="-122"/>
              </a:rPr>
              <a:t>项目跟踪控制</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当项目组按照计划执行任务时，</a:t>
            </a:r>
            <a:r>
              <a:rPr lang="zh-CN" altLang="en-US" sz="2000" dirty="0">
                <a:solidFill>
                  <a:srgbClr val="FF0000"/>
                </a:solidFill>
                <a:latin typeface="黑体" panose="02010609060101010101" pitchFamily="49" charset="-122"/>
                <a:ea typeface="黑体" panose="02010609060101010101" pitchFamily="49" charset="-122"/>
              </a:rPr>
              <a:t>应该主动和不断地监控工作的状态</a:t>
            </a:r>
            <a:r>
              <a:rPr lang="zh-CN" altLang="en-US" sz="2000" dirty="0">
                <a:latin typeface="黑体" panose="02010609060101010101" pitchFamily="49" charset="-122"/>
                <a:ea typeface="黑体" panose="02010609060101010101" pitchFamily="49" charset="-122"/>
              </a:rPr>
              <a:t>，确保它们能够实现自身的目标和整体的目标。在实际中，可能发生各种各样的问题，例如：</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）任务估计不准确</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）需求发生变化</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）软件工具或者方法无法适应新的环境</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）设备和资源在需要时不可用</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）设计和实现发生错误</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6</a:t>
            </a:r>
            <a:r>
              <a:rPr lang="zh-CN" altLang="en-US" sz="2000" dirty="0">
                <a:latin typeface="黑体" panose="02010609060101010101" pitchFamily="49" charset="-122"/>
                <a:ea typeface="黑体" panose="02010609060101010101" pitchFamily="49" charset="-122"/>
              </a:rPr>
              <a:t>）开发人员流动等</a:t>
            </a:r>
          </a:p>
          <a:p>
            <a:pPr eaLnBrk="1" hangingPunct="1"/>
            <a:endParaRPr lang="en-US" altLang="zh-CN" sz="2000" dirty="0">
              <a:solidFill>
                <a:schemeClr val="accent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46551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DAD2C01-AC3A-13E7-57CD-9202D251A791}"/>
              </a:ext>
            </a:extLst>
          </p:cNvPr>
          <p:cNvSpPr>
            <a:spLocks noGrp="1" noChangeArrowheads="1"/>
          </p:cNvSpPr>
          <p:nvPr>
            <p:ph type="title"/>
          </p:nvPr>
        </p:nvSpPr>
        <p:spPr/>
        <p:txBody>
          <a:bodyPr/>
          <a:lstStyle/>
          <a:p>
            <a:pPr eaLnBrk="1" hangingPunct="1"/>
            <a:r>
              <a:rPr lang="en-US" altLang="zh-CN"/>
              <a:t>9.4  </a:t>
            </a:r>
            <a:r>
              <a:rPr kumimoji="1" lang="zh-CN" altLang="en-US"/>
              <a:t>软件项目跟踪控制过程</a:t>
            </a:r>
          </a:p>
        </p:txBody>
      </p:sp>
      <p:sp>
        <p:nvSpPr>
          <p:cNvPr id="31747" name="Rectangle 3">
            <a:extLst>
              <a:ext uri="{FF2B5EF4-FFF2-40B4-BE49-F238E27FC236}">
                <a16:creationId xmlns:a16="http://schemas.microsoft.com/office/drawing/2014/main" id="{1B568CD8-C8FB-E483-7427-49EF03E46AB0}"/>
              </a:ext>
            </a:extLst>
          </p:cNvPr>
          <p:cNvSpPr>
            <a:spLocks noGrp="1" noChangeArrowheads="1"/>
          </p:cNvSpPr>
          <p:nvPr>
            <p:ph type="body" idx="1"/>
          </p:nvPr>
        </p:nvSpPr>
        <p:spPr>
          <a:xfrm>
            <a:off x="1116013" y="1989138"/>
            <a:ext cx="7848600" cy="4868862"/>
          </a:xfrm>
        </p:spPr>
        <p:txBody>
          <a:bodyPr/>
          <a:lstStyle/>
          <a:p>
            <a:pPr eaLnBrk="1" hangingPunct="1">
              <a:lnSpc>
                <a:spcPct val="120000"/>
              </a:lnSpc>
            </a:pPr>
            <a:r>
              <a:rPr lang="zh-CN" altLang="en-US" sz="2400" dirty="0">
                <a:solidFill>
                  <a:schemeClr val="accent2"/>
                </a:solidFill>
                <a:latin typeface="黑体" panose="02010609060101010101" pitchFamily="49" charset="-122"/>
                <a:ea typeface="黑体" panose="02010609060101010101" pitchFamily="49" charset="-122"/>
              </a:rPr>
              <a:t>项目跟踪控制</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如果没有主动的项目跟踪控制，上述的问题也许不能及时发现，而</a:t>
            </a:r>
            <a:r>
              <a:rPr lang="zh-CN" altLang="en-US" sz="2000" dirty="0">
                <a:solidFill>
                  <a:srgbClr val="FF0000"/>
                </a:solidFill>
                <a:latin typeface="黑体" panose="02010609060101010101" pitchFamily="49" charset="-122"/>
                <a:ea typeface="黑体" panose="02010609060101010101" pitchFamily="49" charset="-122"/>
              </a:rPr>
              <a:t>产生负面的影响</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solidFill>
                  <a:srgbClr val="FF0000"/>
                </a:solidFill>
                <a:latin typeface="黑体" panose="02010609060101010101" pitchFamily="49" charset="-122"/>
                <a:ea typeface="黑体" panose="02010609060101010101" pitchFamily="49" charset="-122"/>
              </a:rPr>
              <a:t>项目跟踪控制本身的工作也应该合理</a:t>
            </a:r>
            <a:r>
              <a:rPr lang="zh-CN" altLang="en-US" sz="2000" dirty="0">
                <a:latin typeface="黑体" panose="02010609060101010101" pitchFamily="49" charset="-122"/>
                <a:ea typeface="黑体" panose="02010609060101010101" pitchFamily="49" charset="-122"/>
              </a:rPr>
              <a:t>，否则会占用很多的资源和成本。</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对于很小的项目，项目经理可以自己完成其中的大部分工作；对于大型项目；对于大型项目（或者规模较大的组织），应该指定相关的人员协助项目经理完成。</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225014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DAD2C01-AC3A-13E7-57CD-9202D251A791}"/>
              </a:ext>
            </a:extLst>
          </p:cNvPr>
          <p:cNvSpPr>
            <a:spLocks noGrp="1" noChangeArrowheads="1"/>
          </p:cNvSpPr>
          <p:nvPr>
            <p:ph type="title"/>
          </p:nvPr>
        </p:nvSpPr>
        <p:spPr/>
        <p:txBody>
          <a:bodyPr/>
          <a:lstStyle/>
          <a:p>
            <a:pPr eaLnBrk="1" hangingPunct="1"/>
            <a:r>
              <a:rPr lang="en-US" altLang="zh-CN"/>
              <a:t>9.4  </a:t>
            </a:r>
            <a:r>
              <a:rPr kumimoji="1" lang="zh-CN" altLang="en-US"/>
              <a:t>软件项目跟踪控制过程</a:t>
            </a:r>
          </a:p>
        </p:txBody>
      </p:sp>
      <p:sp>
        <p:nvSpPr>
          <p:cNvPr id="31747" name="Rectangle 3">
            <a:extLst>
              <a:ext uri="{FF2B5EF4-FFF2-40B4-BE49-F238E27FC236}">
                <a16:creationId xmlns:a16="http://schemas.microsoft.com/office/drawing/2014/main" id="{1B568CD8-C8FB-E483-7427-49EF03E46AB0}"/>
              </a:ext>
            </a:extLst>
          </p:cNvPr>
          <p:cNvSpPr>
            <a:spLocks noGrp="1" noChangeArrowheads="1"/>
          </p:cNvSpPr>
          <p:nvPr>
            <p:ph type="body" idx="1"/>
          </p:nvPr>
        </p:nvSpPr>
        <p:spPr>
          <a:xfrm>
            <a:off x="1116013" y="1989138"/>
            <a:ext cx="7848600" cy="4868862"/>
          </a:xfrm>
        </p:spPr>
        <p:txBody>
          <a:bodyPr/>
          <a:lstStyle/>
          <a:p>
            <a:pPr eaLnBrk="1" hangingPunct="1">
              <a:lnSpc>
                <a:spcPct val="120000"/>
              </a:lnSpc>
            </a:pPr>
            <a:r>
              <a:rPr lang="zh-CN" altLang="en-US" sz="2400" dirty="0">
                <a:solidFill>
                  <a:schemeClr val="accent2"/>
                </a:solidFill>
                <a:latin typeface="黑体" panose="02010609060101010101" pitchFamily="49" charset="-122"/>
                <a:ea typeface="黑体" panose="02010609060101010101" pitchFamily="49" charset="-122"/>
              </a:rPr>
              <a:t>项目跟踪控制</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项目经理根据采集的项目数据，进行项目性能分析。性能分析主要是确定</a:t>
            </a:r>
            <a:r>
              <a:rPr lang="zh-CN" altLang="en-US" sz="2000" dirty="0">
                <a:solidFill>
                  <a:srgbClr val="FF0000"/>
                </a:solidFill>
                <a:latin typeface="黑体" panose="02010609060101010101" pitchFamily="49" charset="-122"/>
                <a:ea typeface="黑体" panose="02010609060101010101" pitchFamily="49" charset="-122"/>
              </a:rPr>
              <a:t>项目是否满足其计划和目标</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将计划的性能与实际的性能进行</a:t>
            </a:r>
            <a:r>
              <a:rPr lang="zh-CN" altLang="en-US" sz="2000" dirty="0">
                <a:solidFill>
                  <a:srgbClr val="FF0000"/>
                </a:solidFill>
                <a:latin typeface="黑体" panose="02010609060101010101" pitchFamily="49" charset="-122"/>
                <a:ea typeface="黑体" panose="02010609060101010101" pitchFamily="49" charset="-122"/>
              </a:rPr>
              <a:t>比较</a:t>
            </a:r>
            <a:r>
              <a:rPr lang="zh-CN" altLang="en-US" sz="2000" dirty="0">
                <a:latin typeface="黑体" panose="02010609060101010101" pitchFamily="49" charset="-122"/>
                <a:ea typeface="黑体" panose="02010609060101010101" pitchFamily="49" charset="-122"/>
              </a:rPr>
              <a:t>（相当于项目计划与实际执行的一个减法），如果出现偏离计划的情况，就需要识别产生偏离的</a:t>
            </a:r>
            <a:r>
              <a:rPr lang="zh-CN" altLang="en-US" sz="2000" dirty="0">
                <a:solidFill>
                  <a:srgbClr val="FF0000"/>
                </a:solidFill>
                <a:latin typeface="黑体" panose="02010609060101010101" pitchFamily="49" charset="-122"/>
                <a:ea typeface="黑体" panose="02010609060101010101" pitchFamily="49" charset="-122"/>
              </a:rPr>
              <a:t>原因</a:t>
            </a:r>
            <a:r>
              <a:rPr lang="zh-CN" altLang="en-US" sz="2000" dirty="0">
                <a:latin typeface="黑体" panose="02010609060101010101" pitchFamily="49" charset="-122"/>
                <a:ea typeface="黑体" panose="02010609060101010101" pitchFamily="49" charset="-122"/>
              </a:rPr>
              <a:t>，采取必要的</a:t>
            </a:r>
            <a:r>
              <a:rPr lang="zh-CN" altLang="en-US" sz="2000" dirty="0">
                <a:solidFill>
                  <a:srgbClr val="FF0000"/>
                </a:solidFill>
                <a:latin typeface="黑体" panose="02010609060101010101" pitchFamily="49" charset="-122"/>
                <a:ea typeface="黑体" panose="02010609060101010101" pitchFamily="49" charset="-122"/>
              </a:rPr>
              <a:t>措施</a:t>
            </a:r>
            <a:r>
              <a:rPr lang="zh-CN" altLang="en-US" sz="2000" dirty="0">
                <a:latin typeface="黑体" panose="02010609060101010101" pitchFamily="49" charset="-122"/>
                <a:ea typeface="黑体" panose="02010609060101010101" pitchFamily="49" charset="-122"/>
              </a:rPr>
              <a:t>以确保项目成功。</a:t>
            </a:r>
            <a:endParaRPr lang="en-US" altLang="zh-CN" sz="2000" dirty="0">
              <a:latin typeface="黑体" panose="02010609060101010101" pitchFamily="49" charset="-122"/>
              <a:ea typeface="黑体" panose="02010609060101010101" pitchFamily="49" charset="-122"/>
            </a:endParaRPr>
          </a:p>
          <a:p>
            <a:pPr lvl="1" eaLnBrk="1" hangingPunct="1">
              <a:lnSpc>
                <a:spcPct val="120000"/>
              </a:lnSpc>
            </a:pPr>
            <a:r>
              <a:rPr lang="zh-CN" altLang="en-US" sz="2000" dirty="0">
                <a:latin typeface="黑体" panose="02010609060101010101" pitchFamily="49" charset="-122"/>
                <a:ea typeface="黑体" panose="02010609060101010101" pitchFamily="49" charset="-122"/>
              </a:rPr>
              <a:t>性能分析的结果为决策者提供信息。在项目的执行过程中，应该</a:t>
            </a:r>
            <a:r>
              <a:rPr lang="zh-CN" altLang="en-US" sz="2000" dirty="0">
                <a:solidFill>
                  <a:srgbClr val="FF0000"/>
                </a:solidFill>
                <a:latin typeface="黑体" panose="02010609060101010101" pitchFamily="49" charset="-122"/>
                <a:ea typeface="黑体" panose="02010609060101010101" pitchFamily="49" charset="-122"/>
              </a:rPr>
              <a:t>定期进行性能分析</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19273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4C4158B-770C-76F7-CDC4-30735BEEC68E}"/>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33795" name="Rectangle 3">
            <a:extLst>
              <a:ext uri="{FF2B5EF4-FFF2-40B4-BE49-F238E27FC236}">
                <a16:creationId xmlns:a16="http://schemas.microsoft.com/office/drawing/2014/main" id="{0BCA3542-5A1A-3B85-9E41-37FAE3F38310}"/>
              </a:ext>
            </a:extLst>
          </p:cNvPr>
          <p:cNvSpPr>
            <a:spLocks noGrp="1" noChangeArrowheads="1"/>
          </p:cNvSpPr>
          <p:nvPr>
            <p:ph type="body" sz="half" idx="1"/>
          </p:nvPr>
        </p:nvSpPr>
        <p:spPr>
          <a:xfrm>
            <a:off x="323850" y="1844675"/>
            <a:ext cx="8640763" cy="5013325"/>
          </a:xfrm>
        </p:spPr>
        <p:txBody>
          <a:bodyPr/>
          <a:lstStyle/>
          <a:p>
            <a:pPr eaLnBrk="1" hangingPunct="1">
              <a:lnSpc>
                <a:spcPct val="130000"/>
              </a:lnSpc>
            </a:pPr>
            <a:r>
              <a:rPr lang="en-US" altLang="zh-CN" sz="2400">
                <a:solidFill>
                  <a:schemeClr val="accent2"/>
                </a:solidFill>
                <a:latin typeface="黑体" panose="02010609060101010101" pitchFamily="49" charset="-122"/>
                <a:ea typeface="黑体" panose="02010609060101010101" pitchFamily="49" charset="-122"/>
              </a:rPr>
              <a:t>9.4.1 </a:t>
            </a:r>
            <a:r>
              <a:rPr lang="zh-CN" altLang="en-US" sz="2400">
                <a:solidFill>
                  <a:schemeClr val="accent2"/>
                </a:solidFill>
                <a:latin typeface="黑体" panose="02010609060101010101" pitchFamily="49" charset="-122"/>
                <a:ea typeface="黑体" panose="02010609060101010101" pitchFamily="49" charset="-122"/>
              </a:rPr>
              <a:t>项目范围跟踪控制</a:t>
            </a:r>
            <a:endParaRPr lang="zh-CN" altLang="en-US" sz="2400">
              <a:solidFill>
                <a:schemeClr val="accent2"/>
              </a:solidFill>
            </a:endParaRPr>
          </a:p>
          <a:p>
            <a:pPr eaLnBrk="1" hangingPunct="1">
              <a:lnSpc>
                <a:spcPct val="130000"/>
              </a:lnSpc>
              <a:buFont typeface="Wingdings 2" panose="05020102010507070707" pitchFamily="18" charset="2"/>
              <a:buNone/>
            </a:pPr>
            <a:r>
              <a:rPr lang="zh-CN" altLang="en-US" sz="1800"/>
              <a:t>      </a:t>
            </a:r>
            <a:r>
              <a:rPr lang="en-US" altLang="zh-CN" sz="1800">
                <a:solidFill>
                  <a:schemeClr val="accent2"/>
                </a:solidFill>
              </a:rPr>
              <a:t>——</a:t>
            </a:r>
            <a:r>
              <a:rPr lang="zh-CN" altLang="en-US" sz="2000"/>
              <a:t>其输入是软件项目的</a:t>
            </a:r>
            <a:r>
              <a:rPr lang="zh-CN" altLang="en-US" sz="2000">
                <a:solidFill>
                  <a:srgbClr val="FF0000"/>
                </a:solidFill>
              </a:rPr>
              <a:t>计划需求范围</a:t>
            </a:r>
            <a:r>
              <a:rPr lang="en-US" altLang="zh-CN" sz="2000"/>
              <a:t>(</a:t>
            </a:r>
            <a:r>
              <a:rPr lang="zh-CN" altLang="en-US" sz="2000"/>
              <a:t>即需求规格</a:t>
            </a:r>
            <a:r>
              <a:rPr lang="en-US" altLang="zh-CN" sz="2000"/>
              <a:t>)</a:t>
            </a:r>
            <a:r>
              <a:rPr lang="zh-CN" altLang="en-US" sz="2000"/>
              <a:t>和</a:t>
            </a:r>
            <a:r>
              <a:rPr lang="zh-CN" altLang="en-US" sz="2000">
                <a:solidFill>
                  <a:srgbClr val="FF0000"/>
                </a:solidFill>
              </a:rPr>
              <a:t>实际执行过程中的范围及其控制标准</a:t>
            </a:r>
            <a:r>
              <a:rPr lang="zh-CN" altLang="en-US" sz="2000"/>
              <a:t>。在项目范围控制过程中，通过与计划的需求规格比较，如果出现范围变化，即出现增加／修改／删除部分需求范围，就需要通过范围变更控制系统来实现变更，以保证项目范围在可以接受的范围内进行。</a:t>
            </a:r>
          </a:p>
          <a:p>
            <a:pPr eaLnBrk="1" hangingPunct="1">
              <a:lnSpc>
                <a:spcPct val="130000"/>
              </a:lnSpc>
            </a:pPr>
            <a:endParaRPr lang="en-US" altLang="zh-CN" sz="2000"/>
          </a:p>
        </p:txBody>
      </p:sp>
      <p:grpSp>
        <p:nvGrpSpPr>
          <p:cNvPr id="33796" name="Group 14">
            <a:extLst>
              <a:ext uri="{FF2B5EF4-FFF2-40B4-BE49-F238E27FC236}">
                <a16:creationId xmlns:a16="http://schemas.microsoft.com/office/drawing/2014/main" id="{99DB42BB-3737-3926-5B6C-AF49CB722B8D}"/>
              </a:ext>
            </a:extLst>
          </p:cNvPr>
          <p:cNvGrpSpPr>
            <a:grpSpLocks/>
          </p:cNvGrpSpPr>
          <p:nvPr/>
        </p:nvGrpSpPr>
        <p:grpSpPr bwMode="auto">
          <a:xfrm>
            <a:off x="1547813" y="4545013"/>
            <a:ext cx="6769100" cy="2197100"/>
            <a:chOff x="884" y="2568"/>
            <a:chExt cx="4536" cy="1503"/>
          </a:xfrm>
        </p:grpSpPr>
        <p:sp>
          <p:nvSpPr>
            <p:cNvPr id="33797" name="Text Box 8">
              <a:extLst>
                <a:ext uri="{FF2B5EF4-FFF2-40B4-BE49-F238E27FC236}">
                  <a16:creationId xmlns:a16="http://schemas.microsoft.com/office/drawing/2014/main" id="{2BBC8D72-D113-D403-964F-2C024158C7D9}"/>
                </a:ext>
              </a:extLst>
            </p:cNvPr>
            <p:cNvSpPr txBox="1">
              <a:spLocks noChangeArrowheads="1"/>
            </p:cNvSpPr>
            <p:nvPr/>
          </p:nvSpPr>
          <p:spPr bwMode="auto">
            <a:xfrm>
              <a:off x="2201" y="2631"/>
              <a:ext cx="1902" cy="602"/>
            </a:xfrm>
            <a:prstGeom prst="rect">
              <a:avLst/>
            </a:prstGeom>
            <a:solidFill>
              <a:srgbClr val="86B4E6"/>
            </a:solidFill>
            <a:ln w="25400">
              <a:solidFill>
                <a:srgbClr val="CC6600"/>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latin typeface="Arial Narrow" panose="020B0606020202030204" pitchFamily="34" charset="0"/>
                  <a:ea typeface="黑体" panose="02010609060101010101" pitchFamily="49" charset="-122"/>
                </a:rPr>
                <a:t>方法：</a:t>
              </a:r>
            </a:p>
            <a:p>
              <a:pPr eaLnBrk="1" hangingPunct="1">
                <a:spcBef>
                  <a:spcPct val="50000"/>
                </a:spcBef>
                <a:buClrTx/>
                <a:buFontTx/>
                <a:buNone/>
              </a:pPr>
              <a:r>
                <a:rPr lang="zh-CN" altLang="en-US" sz="2000">
                  <a:latin typeface="Arial Narrow" panose="020B0606020202030204" pitchFamily="34" charset="0"/>
                </a:rPr>
                <a:t>范围变更控制系统</a:t>
              </a:r>
            </a:p>
          </p:txBody>
        </p:sp>
        <p:sp>
          <p:nvSpPr>
            <p:cNvPr id="33798" name="Text Box 9">
              <a:extLst>
                <a:ext uri="{FF2B5EF4-FFF2-40B4-BE49-F238E27FC236}">
                  <a16:creationId xmlns:a16="http://schemas.microsoft.com/office/drawing/2014/main" id="{83C4344F-9DEE-A5CC-7E1D-18981CD87B61}"/>
                </a:ext>
              </a:extLst>
            </p:cNvPr>
            <p:cNvSpPr txBox="1">
              <a:spLocks noChangeArrowheads="1"/>
            </p:cNvSpPr>
            <p:nvPr/>
          </p:nvSpPr>
          <p:spPr bwMode="auto">
            <a:xfrm>
              <a:off x="884" y="2599"/>
              <a:ext cx="972" cy="1436"/>
            </a:xfrm>
            <a:prstGeom prst="rect">
              <a:avLst/>
            </a:prstGeom>
            <a:solidFill>
              <a:srgbClr val="86B4E6"/>
            </a:solidFill>
            <a:ln w="25400">
              <a:solidFill>
                <a:srgbClr val="CC6600"/>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latin typeface="Arial Narrow" panose="020B0606020202030204" pitchFamily="34" charset="0"/>
                  <a:ea typeface="黑体" panose="02010609060101010101" pitchFamily="49" charset="-122"/>
                </a:rPr>
                <a:t>输入</a:t>
              </a:r>
              <a:r>
                <a:rPr lang="zh-CN" altLang="en-US" sz="2000" b="0">
                  <a:latin typeface="Arial Narrow" panose="020B0606020202030204" pitchFamily="34" charset="0"/>
                  <a:ea typeface="黑体" panose="02010609060101010101" pitchFamily="49" charset="-122"/>
                </a:rPr>
                <a:t>：</a:t>
              </a:r>
            </a:p>
            <a:p>
              <a:pPr eaLnBrk="1" hangingPunct="1">
                <a:spcBef>
                  <a:spcPct val="50000"/>
                </a:spcBef>
                <a:buClrTx/>
                <a:buFontTx/>
                <a:buNone/>
              </a:pPr>
              <a:r>
                <a:rPr lang="zh-CN" altLang="en-US" sz="2000">
                  <a:latin typeface="Arial Narrow" panose="020B0606020202030204" pitchFamily="34" charset="0"/>
                </a:rPr>
                <a:t>范围控制标准</a:t>
              </a:r>
            </a:p>
            <a:p>
              <a:pPr eaLnBrk="1" hangingPunct="1">
                <a:spcBef>
                  <a:spcPct val="50000"/>
                </a:spcBef>
                <a:buClrTx/>
                <a:buFontTx/>
                <a:buNone/>
              </a:pPr>
              <a:r>
                <a:rPr lang="zh-CN" altLang="en-US" sz="2000">
                  <a:latin typeface="Arial Narrow" panose="020B0606020202030204" pitchFamily="34" charset="0"/>
                </a:rPr>
                <a:t>计划范围</a:t>
              </a:r>
            </a:p>
            <a:p>
              <a:pPr eaLnBrk="1" hangingPunct="1">
                <a:spcBef>
                  <a:spcPct val="50000"/>
                </a:spcBef>
                <a:buClrTx/>
                <a:buFontTx/>
                <a:buNone/>
              </a:pPr>
              <a:r>
                <a:rPr lang="zh-CN" altLang="en-US" sz="2000">
                  <a:latin typeface="Arial Narrow" panose="020B0606020202030204" pitchFamily="34" charset="0"/>
                </a:rPr>
                <a:t>实际范围</a:t>
              </a:r>
            </a:p>
          </p:txBody>
        </p:sp>
        <p:sp>
          <p:nvSpPr>
            <p:cNvPr id="33799" name="Text Box 10">
              <a:extLst>
                <a:ext uri="{FF2B5EF4-FFF2-40B4-BE49-F238E27FC236}">
                  <a16:creationId xmlns:a16="http://schemas.microsoft.com/office/drawing/2014/main" id="{DF428905-1EDF-F4F6-3203-24834AC78C6F}"/>
                </a:ext>
              </a:extLst>
            </p:cNvPr>
            <p:cNvSpPr txBox="1">
              <a:spLocks noChangeArrowheads="1"/>
            </p:cNvSpPr>
            <p:nvPr/>
          </p:nvSpPr>
          <p:spPr bwMode="auto">
            <a:xfrm>
              <a:off x="4448" y="2568"/>
              <a:ext cx="972" cy="810"/>
            </a:xfrm>
            <a:prstGeom prst="rect">
              <a:avLst/>
            </a:prstGeom>
            <a:solidFill>
              <a:srgbClr val="86B4E6"/>
            </a:solidFill>
            <a:ln w="25400">
              <a:solidFill>
                <a:srgbClr val="CC6600"/>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latin typeface="Arial Narrow" panose="020B0606020202030204" pitchFamily="34" charset="0"/>
                  <a:ea typeface="黑体" panose="02010609060101010101" pitchFamily="49" charset="-122"/>
                </a:rPr>
                <a:t>输出</a:t>
              </a:r>
              <a:r>
                <a:rPr lang="zh-CN" altLang="en-US" sz="2000" b="0">
                  <a:latin typeface="Arial Narrow" panose="020B0606020202030204" pitchFamily="34" charset="0"/>
                  <a:ea typeface="黑体" panose="02010609060101010101" pitchFamily="49" charset="-122"/>
                </a:rPr>
                <a:t>：</a:t>
              </a:r>
            </a:p>
            <a:p>
              <a:pPr eaLnBrk="1" hangingPunct="1">
                <a:spcBef>
                  <a:spcPct val="50000"/>
                </a:spcBef>
                <a:buClrTx/>
                <a:buFontTx/>
                <a:buNone/>
              </a:pPr>
              <a:r>
                <a:rPr lang="zh-CN" altLang="en-US" sz="2000">
                  <a:latin typeface="Arial Narrow" panose="020B0606020202030204" pitchFamily="34" charset="0"/>
                </a:rPr>
                <a:t>范围修改决定</a:t>
              </a:r>
            </a:p>
          </p:txBody>
        </p:sp>
        <p:sp>
          <p:nvSpPr>
            <p:cNvPr id="33800" name="Line 11">
              <a:extLst>
                <a:ext uri="{FF2B5EF4-FFF2-40B4-BE49-F238E27FC236}">
                  <a16:creationId xmlns:a16="http://schemas.microsoft.com/office/drawing/2014/main" id="{3D59AEB1-3FA5-D3B7-F216-5CBAAFB6EF1C}"/>
                </a:ext>
              </a:extLst>
            </p:cNvPr>
            <p:cNvSpPr>
              <a:spLocks noChangeShapeType="1"/>
            </p:cNvSpPr>
            <p:nvPr/>
          </p:nvSpPr>
          <p:spPr bwMode="auto">
            <a:xfrm>
              <a:off x="1856" y="2947"/>
              <a:ext cx="365" cy="0"/>
            </a:xfrm>
            <a:prstGeom prst="line">
              <a:avLst/>
            </a:prstGeom>
            <a:noFill/>
            <a:ln w="25400">
              <a:solidFill>
                <a:srgbClr val="CC66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3801" name="Line 12">
              <a:extLst>
                <a:ext uri="{FF2B5EF4-FFF2-40B4-BE49-F238E27FC236}">
                  <a16:creationId xmlns:a16="http://schemas.microsoft.com/office/drawing/2014/main" id="{683FEF88-E06E-9357-6F2F-C9644217FF46}"/>
                </a:ext>
              </a:extLst>
            </p:cNvPr>
            <p:cNvSpPr>
              <a:spLocks noChangeShapeType="1"/>
            </p:cNvSpPr>
            <p:nvPr/>
          </p:nvSpPr>
          <p:spPr bwMode="auto">
            <a:xfrm>
              <a:off x="4084" y="2947"/>
              <a:ext cx="364" cy="0"/>
            </a:xfrm>
            <a:prstGeom prst="line">
              <a:avLst/>
            </a:prstGeom>
            <a:noFill/>
            <a:ln w="25400">
              <a:solidFill>
                <a:srgbClr val="CC6600"/>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3802" name="AutoShape 13">
              <a:extLst>
                <a:ext uri="{FF2B5EF4-FFF2-40B4-BE49-F238E27FC236}">
                  <a16:creationId xmlns:a16="http://schemas.microsoft.com/office/drawing/2014/main" id="{A137E47D-7101-FA6A-77FC-96BD23031E83}"/>
                </a:ext>
              </a:extLst>
            </p:cNvPr>
            <p:cNvSpPr>
              <a:spLocks/>
            </p:cNvSpPr>
            <p:nvPr/>
          </p:nvSpPr>
          <p:spPr bwMode="auto">
            <a:xfrm>
              <a:off x="3923" y="3612"/>
              <a:ext cx="891" cy="459"/>
            </a:xfrm>
            <a:prstGeom prst="borderCallout2">
              <a:avLst>
                <a:gd name="adj1" fmla="val 15685"/>
                <a:gd name="adj2" fmla="val -5389"/>
                <a:gd name="adj3" fmla="val 15685"/>
                <a:gd name="adj4" fmla="val -42310"/>
                <a:gd name="adj5" fmla="val -53157"/>
                <a:gd name="adj6" fmla="val -80694"/>
              </a:avLst>
            </a:prstGeom>
            <a:solidFill>
              <a:srgbClr val="86B4E6"/>
            </a:solidFill>
            <a:ln w="25400">
              <a:solidFill>
                <a:srgbClr val="CC6600"/>
              </a:solidFill>
              <a:miter lim="800000"/>
              <a:headEnd type="stealth" w="med" len="lg"/>
              <a:tailEnd type="none" w="sm" len="sm"/>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2000">
                  <a:latin typeface="Arial Narrow" panose="020B0606020202030204" pitchFamily="34" charset="0"/>
                </a:rPr>
                <a:t>基线变更控制系统</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006170B-FA5A-8156-5731-FE80A4BB1C1F}"/>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35843" name="Rectangle 3">
            <a:extLst>
              <a:ext uri="{FF2B5EF4-FFF2-40B4-BE49-F238E27FC236}">
                <a16:creationId xmlns:a16="http://schemas.microsoft.com/office/drawing/2014/main" id="{8CF5271C-73F2-24CF-B292-5FE91ED0F327}"/>
              </a:ext>
            </a:extLst>
          </p:cNvPr>
          <p:cNvSpPr>
            <a:spLocks noGrp="1" noChangeArrowheads="1"/>
          </p:cNvSpPr>
          <p:nvPr>
            <p:ph type="body" idx="1"/>
          </p:nvPr>
        </p:nvSpPr>
        <p:spPr>
          <a:xfrm>
            <a:off x="755650" y="1989138"/>
            <a:ext cx="8208963" cy="4868862"/>
          </a:xfrm>
        </p:spPr>
        <p:txBody>
          <a:bodyPr/>
          <a:lstStyle/>
          <a:p>
            <a:pPr eaLnBrk="1" hangingPunct="1">
              <a:lnSpc>
                <a:spcPct val="130000"/>
              </a:lnSpc>
              <a:spcBef>
                <a:spcPct val="50000"/>
              </a:spcBef>
            </a:pPr>
            <a:r>
              <a:rPr lang="zh-CN" altLang="en-US" sz="2000" dirty="0">
                <a:solidFill>
                  <a:schemeClr val="accent2"/>
                </a:solidFill>
                <a:latin typeface="黑体" panose="02010609060101010101" pitchFamily="49" charset="-122"/>
                <a:ea typeface="黑体" panose="02010609060101010101" pitchFamily="49" charset="-122"/>
              </a:rPr>
              <a:t>范围控制注意点</a:t>
            </a:r>
            <a:endParaRPr lang="zh-CN" altLang="en-US" sz="2000" dirty="0">
              <a:solidFill>
                <a:schemeClr val="accent2"/>
              </a:solidFill>
            </a:endParaRPr>
          </a:p>
          <a:p>
            <a:pPr eaLnBrk="1" hangingPunct="1">
              <a:lnSpc>
                <a:spcPct val="130000"/>
              </a:lnSpc>
              <a:spcBef>
                <a:spcPct val="50000"/>
              </a:spcBef>
              <a:buFont typeface="Wingdings 2" panose="05020102010507070707" pitchFamily="18" charset="2"/>
              <a:buNone/>
            </a:pPr>
            <a:r>
              <a:rPr lang="zh-CN" altLang="en-US" sz="2000" dirty="0">
                <a:solidFill>
                  <a:srgbClr val="080808"/>
                </a:solidFill>
                <a:latin typeface="黑体" panose="02010609060101010101" pitchFamily="49" charset="-122"/>
                <a:ea typeface="黑体" panose="02010609060101010101" pitchFamily="49" charset="-122"/>
              </a:rPr>
              <a:t>   </a:t>
            </a:r>
            <a:r>
              <a:rPr lang="en-US" altLang="zh-CN" sz="2000" dirty="0">
                <a:solidFill>
                  <a:schemeClr val="accent2"/>
                </a:solidFill>
                <a:ea typeface="黑体" panose="02010609060101010101" pitchFamily="49" charset="-122"/>
              </a:rPr>
              <a:t>——</a:t>
            </a:r>
            <a:r>
              <a:rPr lang="zh-CN" altLang="en-US" sz="2000" dirty="0">
                <a:solidFill>
                  <a:schemeClr val="accent2"/>
                </a:solidFill>
                <a:latin typeface="黑体" panose="02010609060101010101" pitchFamily="49" charset="-122"/>
                <a:ea typeface="黑体" panose="02010609060101010101" pitchFamily="49" charset="-122"/>
              </a:rPr>
              <a:t>防治不合理的范围扩张</a:t>
            </a:r>
          </a:p>
          <a:p>
            <a:pPr lvl="1" eaLnBrk="1" hangingPunct="1">
              <a:lnSpc>
                <a:spcPct val="130000"/>
              </a:lnSpc>
              <a:spcBef>
                <a:spcPct val="50000"/>
              </a:spcBef>
            </a:pPr>
            <a:r>
              <a:rPr lang="zh-CN" altLang="en-US" sz="2000" dirty="0">
                <a:solidFill>
                  <a:srgbClr val="CC6600"/>
                </a:solidFill>
              </a:rPr>
              <a:t>范围</a:t>
            </a:r>
            <a:r>
              <a:rPr lang="zh-CN" altLang="en-US" sz="2000" dirty="0">
                <a:solidFill>
                  <a:srgbClr val="CC6600"/>
                </a:solidFill>
                <a:latin typeface="黑体" panose="02010609060101010101" pitchFamily="49" charset="-122"/>
                <a:ea typeface="黑体" panose="02010609060101010101" pitchFamily="49" charset="-122"/>
              </a:rPr>
              <a:t>蔓延</a:t>
            </a:r>
            <a:r>
              <a:rPr lang="zh-CN" altLang="en-US" sz="2000" dirty="0">
                <a:solidFill>
                  <a:srgbClr val="080808"/>
                </a:solidFill>
                <a:latin typeface="黑体" panose="02010609060101010101" pitchFamily="49" charset="-122"/>
                <a:ea typeface="黑体" panose="02010609060101010101" pitchFamily="49" charset="-122"/>
              </a:rPr>
              <a:t>（ </a:t>
            </a:r>
            <a:r>
              <a:rPr lang="en-US" altLang="zh-CN" sz="2000" dirty="0"/>
              <a:t>Scope Creeping</a:t>
            </a:r>
            <a:r>
              <a:rPr lang="en-US" altLang="zh-CN" sz="2000" dirty="0">
                <a:solidFill>
                  <a:srgbClr val="080808"/>
                </a:solidFill>
                <a:latin typeface="黑体" panose="02010609060101010101" pitchFamily="49" charset="-122"/>
                <a:ea typeface="黑体" panose="02010609060101010101" pitchFamily="49" charset="-122"/>
              </a:rPr>
              <a:t> </a:t>
            </a:r>
            <a:r>
              <a:rPr lang="zh-CN" altLang="en-US" sz="2000" dirty="0">
                <a:solidFill>
                  <a:srgbClr val="080808"/>
                </a:solidFill>
                <a:latin typeface="黑体" panose="02010609060101010101" pitchFamily="49" charset="-122"/>
                <a:ea typeface="黑体" panose="02010609060101010101" pitchFamily="49" charset="-122"/>
              </a:rPr>
              <a:t>）</a:t>
            </a:r>
          </a:p>
          <a:p>
            <a:pPr lvl="2" eaLnBrk="1" hangingPunct="1">
              <a:lnSpc>
                <a:spcPct val="130000"/>
              </a:lnSpc>
              <a:spcBef>
                <a:spcPct val="50000"/>
              </a:spcBef>
            </a:pPr>
            <a:r>
              <a:rPr lang="zh-CN" altLang="en-US" dirty="0">
                <a:solidFill>
                  <a:srgbClr val="FF0000"/>
                </a:solidFill>
                <a:latin typeface="黑体" panose="02010609060101010101" pitchFamily="49" charset="-122"/>
                <a:ea typeface="黑体" panose="02010609060101010101" pitchFamily="49" charset="-122"/>
              </a:rPr>
              <a:t>客户无限制地增加需求</a:t>
            </a:r>
            <a:r>
              <a:rPr lang="zh-CN" altLang="en-US" dirty="0">
                <a:solidFill>
                  <a:srgbClr val="080808"/>
                </a:solidFill>
                <a:latin typeface="黑体" panose="02010609060101010101" pitchFamily="49" charset="-122"/>
                <a:ea typeface="黑体" panose="02010609060101010101" pitchFamily="49" charset="-122"/>
              </a:rPr>
              <a:t>，是指在客户的要求下，没有经过正常的范围变更控制系统而直接扩大项目范围，通常这部分扩大的工作内容是无法得到经济补偿的。</a:t>
            </a:r>
          </a:p>
          <a:p>
            <a:pPr lvl="1" eaLnBrk="1" hangingPunct="1">
              <a:lnSpc>
                <a:spcPct val="130000"/>
              </a:lnSpc>
              <a:spcBef>
                <a:spcPct val="50000"/>
              </a:spcBef>
            </a:pPr>
            <a:r>
              <a:rPr lang="zh-CN" altLang="en-US" sz="2000" dirty="0">
                <a:solidFill>
                  <a:srgbClr val="CC6600"/>
                </a:solidFill>
                <a:latin typeface="黑体" panose="02010609060101010101" pitchFamily="49" charset="-122"/>
                <a:ea typeface="黑体" panose="02010609060101010101" pitchFamily="49" charset="-122"/>
              </a:rPr>
              <a:t>镀金</a:t>
            </a:r>
            <a:r>
              <a:rPr lang="zh-CN" altLang="en-US" sz="2000" dirty="0">
                <a:solidFill>
                  <a:srgbClr val="080808"/>
                </a:solidFill>
                <a:latin typeface="黑体" panose="02010609060101010101" pitchFamily="49" charset="-122"/>
                <a:ea typeface="黑体" panose="02010609060101010101" pitchFamily="49" charset="-122"/>
              </a:rPr>
              <a:t>（ </a:t>
            </a:r>
            <a:r>
              <a:rPr lang="en-US" altLang="zh-CN" sz="2000" dirty="0"/>
              <a:t>Gold-plating</a:t>
            </a:r>
            <a:r>
              <a:rPr lang="en-US" altLang="zh-CN" sz="2000" dirty="0">
                <a:solidFill>
                  <a:srgbClr val="080808"/>
                </a:solidFill>
                <a:latin typeface="黑体" panose="02010609060101010101" pitchFamily="49" charset="-122"/>
                <a:ea typeface="黑体" panose="02010609060101010101" pitchFamily="49" charset="-122"/>
              </a:rPr>
              <a:t> </a:t>
            </a:r>
            <a:r>
              <a:rPr lang="zh-CN" altLang="en-US" sz="2000" dirty="0">
                <a:solidFill>
                  <a:srgbClr val="080808"/>
                </a:solidFill>
                <a:latin typeface="黑体" panose="02010609060101010101" pitchFamily="49" charset="-122"/>
                <a:ea typeface="黑体" panose="02010609060101010101" pitchFamily="49" charset="-122"/>
              </a:rPr>
              <a:t>）</a:t>
            </a:r>
          </a:p>
          <a:p>
            <a:pPr lvl="2" eaLnBrk="1" hangingPunct="1">
              <a:lnSpc>
                <a:spcPct val="130000"/>
              </a:lnSpc>
              <a:spcBef>
                <a:spcPct val="50000"/>
              </a:spcBef>
            </a:pPr>
            <a:r>
              <a:rPr lang="zh-CN" altLang="en-US" dirty="0">
                <a:solidFill>
                  <a:srgbClr val="FF0000"/>
                </a:solidFill>
                <a:latin typeface="黑体" panose="02010609060101010101" pitchFamily="49" charset="-122"/>
                <a:ea typeface="黑体" panose="02010609060101010101" pitchFamily="49" charset="-122"/>
              </a:rPr>
              <a:t>开发人员无限制地美化功能</a:t>
            </a:r>
            <a:r>
              <a:rPr lang="zh-CN" altLang="en-US" dirty="0">
                <a:solidFill>
                  <a:srgbClr val="080808"/>
                </a:solidFill>
                <a:latin typeface="黑体" panose="02010609060101010101" pitchFamily="49" charset="-122"/>
                <a:ea typeface="黑体" panose="02010609060101010101" pitchFamily="49" charset="-122"/>
              </a:rPr>
              <a:t>，是指在范围定义的工作内容以外，项目团队主动增加的额外工作，这部分工作同样会增加额外工作，也无法得到经济补偿。</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F7F46B7-1B56-BA35-F648-179406E6B0A1}"/>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37891" name="Rectangle 3">
            <a:extLst>
              <a:ext uri="{FF2B5EF4-FFF2-40B4-BE49-F238E27FC236}">
                <a16:creationId xmlns:a16="http://schemas.microsoft.com/office/drawing/2014/main" id="{0A3F5124-B6D3-883F-650A-FE0A0947AE27}"/>
              </a:ext>
            </a:extLst>
          </p:cNvPr>
          <p:cNvSpPr>
            <a:spLocks noGrp="1" noChangeArrowheads="1"/>
          </p:cNvSpPr>
          <p:nvPr>
            <p:ph type="body" sz="half" idx="1"/>
          </p:nvPr>
        </p:nvSpPr>
        <p:spPr>
          <a:xfrm>
            <a:off x="323850" y="2060575"/>
            <a:ext cx="8640763" cy="4797425"/>
          </a:xfrm>
        </p:spPr>
        <p:txBody>
          <a:bodyPr/>
          <a:lstStyle/>
          <a:p>
            <a:pPr eaLnBrk="1" hangingPunct="1">
              <a:lnSpc>
                <a:spcPct val="130000"/>
              </a:lnSpc>
              <a:spcBef>
                <a:spcPct val="50000"/>
              </a:spcBef>
            </a:pPr>
            <a:r>
              <a:rPr lang="en-US" altLang="zh-CN" sz="2400" dirty="0">
                <a:solidFill>
                  <a:schemeClr val="accent2"/>
                </a:solidFill>
                <a:latin typeface="黑体" panose="02010609060101010101" pitchFamily="49" charset="-122"/>
                <a:ea typeface="黑体" panose="02010609060101010101" pitchFamily="49" charset="-122"/>
              </a:rPr>
              <a:t>9.4.2 </a:t>
            </a:r>
            <a:r>
              <a:rPr lang="zh-CN" altLang="en-US" sz="2400" dirty="0">
                <a:solidFill>
                  <a:schemeClr val="accent2"/>
                </a:solidFill>
                <a:latin typeface="黑体" panose="02010609060101010101" pitchFamily="49" charset="-122"/>
                <a:ea typeface="黑体" panose="02010609060101010101" pitchFamily="49" charset="-122"/>
              </a:rPr>
              <a:t>项目进度、成本、资源跟踪控制 </a:t>
            </a:r>
          </a:p>
          <a:p>
            <a:pPr eaLnBrk="1" hangingPunct="1">
              <a:lnSpc>
                <a:spcPct val="130000"/>
              </a:lnSpc>
              <a:spcBef>
                <a:spcPct val="50000"/>
              </a:spcBef>
              <a:buFont typeface="Wingdings 2" panose="05020102010507070707" pitchFamily="18" charset="2"/>
              <a:buNone/>
            </a:pPr>
            <a:r>
              <a:rPr lang="zh-CN" altLang="en-US" sz="1800" dirty="0"/>
              <a:t>      </a:t>
            </a:r>
            <a:r>
              <a:rPr lang="en-US" altLang="zh-CN" sz="1800" dirty="0">
                <a:solidFill>
                  <a:schemeClr val="accent2"/>
                </a:solidFill>
              </a:rPr>
              <a:t>——</a:t>
            </a:r>
            <a:r>
              <a:rPr lang="zh-CN" altLang="en-US" sz="2000" dirty="0"/>
              <a:t>根据跟踪采集的</a:t>
            </a:r>
            <a:r>
              <a:rPr lang="zh-CN" altLang="en-US" sz="2000" dirty="0">
                <a:solidFill>
                  <a:srgbClr val="FF0000"/>
                </a:solidFill>
              </a:rPr>
              <a:t>进度、成本、资源</a:t>
            </a:r>
            <a:r>
              <a:rPr lang="zh-CN" altLang="en-US" sz="2000" dirty="0"/>
              <a:t>等数据，并与</a:t>
            </a:r>
            <a:r>
              <a:rPr lang="zh-CN" altLang="en-US" sz="2000" dirty="0">
                <a:solidFill>
                  <a:srgbClr val="FF0000"/>
                </a:solidFill>
              </a:rPr>
              <a:t>原来的基准计划比较</a:t>
            </a:r>
            <a:r>
              <a:rPr lang="zh-CN" altLang="en-US" sz="2000" dirty="0"/>
              <a:t>，对项目的进展情况进行分析，以保证项目在可以控制的进度、成本、资源内完成。常用的项目性能分析方法有图解控制法、</a:t>
            </a:r>
            <a:r>
              <a:rPr lang="zh-CN" altLang="en-US" sz="2000" dirty="0">
                <a:solidFill>
                  <a:srgbClr val="FF0000"/>
                </a:solidFill>
              </a:rPr>
              <a:t>挣值分析法</a:t>
            </a:r>
            <a:r>
              <a:rPr lang="zh-CN" altLang="en-US" sz="2000" dirty="0"/>
              <a:t>（即已获取价值分析法）等。</a:t>
            </a:r>
          </a:p>
          <a:p>
            <a:pPr eaLnBrk="1" hangingPunct="1">
              <a:lnSpc>
                <a:spcPct val="130000"/>
              </a:lnSpc>
              <a:spcBef>
                <a:spcPct val="50000"/>
              </a:spcBef>
            </a:pPr>
            <a:endParaRPr lang="en-US" altLang="zh-CN" sz="2000" dirty="0"/>
          </a:p>
        </p:txBody>
      </p:sp>
      <p:grpSp>
        <p:nvGrpSpPr>
          <p:cNvPr id="37892" name="Group 7">
            <a:extLst>
              <a:ext uri="{FF2B5EF4-FFF2-40B4-BE49-F238E27FC236}">
                <a16:creationId xmlns:a16="http://schemas.microsoft.com/office/drawing/2014/main" id="{C22B8A3A-7E5E-B58A-FFA7-906BEB05CBA3}"/>
              </a:ext>
            </a:extLst>
          </p:cNvPr>
          <p:cNvGrpSpPr>
            <a:grpSpLocks/>
          </p:cNvGrpSpPr>
          <p:nvPr/>
        </p:nvGrpSpPr>
        <p:grpSpPr bwMode="auto">
          <a:xfrm>
            <a:off x="1115616" y="4581128"/>
            <a:ext cx="7223125" cy="1946275"/>
            <a:chOff x="192" y="1834"/>
            <a:chExt cx="5568" cy="1739"/>
          </a:xfrm>
        </p:grpSpPr>
        <p:sp>
          <p:nvSpPr>
            <p:cNvPr id="37893" name="Text Box 8">
              <a:extLst>
                <a:ext uri="{FF2B5EF4-FFF2-40B4-BE49-F238E27FC236}">
                  <a16:creationId xmlns:a16="http://schemas.microsoft.com/office/drawing/2014/main" id="{05F7A24B-1907-CC14-793A-534D815E9B32}"/>
                </a:ext>
              </a:extLst>
            </p:cNvPr>
            <p:cNvSpPr txBox="1">
              <a:spLocks noChangeArrowheads="1"/>
            </p:cNvSpPr>
            <p:nvPr/>
          </p:nvSpPr>
          <p:spPr bwMode="auto">
            <a:xfrm>
              <a:off x="1752" y="1947"/>
              <a:ext cx="2256" cy="1030"/>
            </a:xfrm>
            <a:prstGeom prst="rect">
              <a:avLst/>
            </a:prstGeom>
            <a:solidFill>
              <a:srgbClr val="CC6600"/>
            </a:solidFill>
            <a:ln w="25400">
              <a:solidFill>
                <a:srgbClr val="448AD8"/>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bg1"/>
                  </a:solidFill>
                  <a:latin typeface="Arial Narrow" panose="020B0606020202030204" pitchFamily="34" charset="0"/>
                  <a:ea typeface="黑体" panose="02010609060101010101" pitchFamily="49" charset="-122"/>
                </a:rPr>
                <a:t>方法：</a:t>
              </a:r>
            </a:p>
            <a:p>
              <a:pPr eaLnBrk="1" hangingPunct="1">
                <a:spcBef>
                  <a:spcPct val="20000"/>
                </a:spcBef>
                <a:buClr>
                  <a:srgbClr val="FF0000"/>
                </a:buClr>
                <a:buSzPct val="55000"/>
                <a:buFont typeface="Monotype Sorts" charset="0"/>
                <a:buNone/>
              </a:pPr>
              <a:r>
                <a:rPr lang="zh-CN" altLang="en-US" sz="2000">
                  <a:solidFill>
                    <a:schemeClr val="bg1"/>
                  </a:solidFill>
                  <a:latin typeface="黑体" panose="02010609060101010101" pitchFamily="49" charset="-122"/>
                  <a:ea typeface="黑体" panose="02010609060101010101" pitchFamily="49" charset="-122"/>
                </a:rPr>
                <a:t>图解控制法 </a:t>
              </a:r>
            </a:p>
            <a:p>
              <a:pPr eaLnBrk="1" hangingPunct="1">
                <a:spcBef>
                  <a:spcPct val="20000"/>
                </a:spcBef>
                <a:buClr>
                  <a:srgbClr val="FF0000"/>
                </a:buClr>
                <a:buSzPct val="55000"/>
                <a:buFont typeface="Monotype Sorts" charset="0"/>
                <a:buNone/>
              </a:pPr>
              <a:r>
                <a:rPr lang="zh-CN" altLang="en-US" sz="2000">
                  <a:solidFill>
                    <a:schemeClr val="bg1"/>
                  </a:solidFill>
                  <a:latin typeface="黑体" panose="02010609060101010101" pitchFamily="49" charset="-122"/>
                  <a:ea typeface="黑体" panose="02010609060101010101" pitchFamily="49" charset="-122"/>
                </a:rPr>
                <a:t>挣值分析法</a:t>
              </a:r>
            </a:p>
          </p:txBody>
        </p:sp>
        <p:sp>
          <p:nvSpPr>
            <p:cNvPr id="37894" name="Text Box 9">
              <a:extLst>
                <a:ext uri="{FF2B5EF4-FFF2-40B4-BE49-F238E27FC236}">
                  <a16:creationId xmlns:a16="http://schemas.microsoft.com/office/drawing/2014/main" id="{7A2FD38B-3109-B112-1C08-1B01F5573735}"/>
                </a:ext>
              </a:extLst>
            </p:cNvPr>
            <p:cNvSpPr txBox="1">
              <a:spLocks noChangeArrowheads="1"/>
            </p:cNvSpPr>
            <p:nvPr/>
          </p:nvSpPr>
          <p:spPr bwMode="auto">
            <a:xfrm>
              <a:off x="192" y="1834"/>
              <a:ext cx="1152" cy="1739"/>
            </a:xfrm>
            <a:prstGeom prst="rect">
              <a:avLst/>
            </a:prstGeom>
            <a:solidFill>
              <a:srgbClr val="CC6600"/>
            </a:solidFill>
            <a:ln w="25400">
              <a:solidFill>
                <a:srgbClr val="448AD8"/>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dirty="0">
                  <a:solidFill>
                    <a:schemeClr val="bg1"/>
                  </a:solidFill>
                  <a:latin typeface="Arial Narrow" panose="020B0606020202030204" pitchFamily="34" charset="0"/>
                  <a:ea typeface="黑体" panose="02010609060101010101" pitchFamily="49" charset="-122"/>
                </a:rPr>
                <a:t>输入：</a:t>
              </a:r>
            </a:p>
            <a:p>
              <a:pPr eaLnBrk="1" hangingPunct="1">
                <a:spcBef>
                  <a:spcPct val="50000"/>
                </a:spcBef>
                <a:buClrTx/>
                <a:buFontTx/>
                <a:buNone/>
              </a:pPr>
              <a:r>
                <a:rPr lang="zh-CN" altLang="en-US" sz="2000" dirty="0">
                  <a:solidFill>
                    <a:schemeClr val="bg1"/>
                  </a:solidFill>
                  <a:latin typeface="Arial Narrow" panose="020B0606020202030204" pitchFamily="34" charset="0"/>
                </a:rPr>
                <a:t>计划进度、成本、资源</a:t>
              </a:r>
            </a:p>
            <a:p>
              <a:pPr eaLnBrk="1" hangingPunct="1">
                <a:spcBef>
                  <a:spcPct val="50000"/>
                </a:spcBef>
                <a:buClrTx/>
                <a:buFontTx/>
                <a:buNone/>
              </a:pPr>
              <a:r>
                <a:rPr lang="zh-CN" altLang="en-US" sz="2000" dirty="0">
                  <a:solidFill>
                    <a:schemeClr val="bg1"/>
                  </a:solidFill>
                  <a:latin typeface="Arial Narrow" panose="020B0606020202030204" pitchFamily="34" charset="0"/>
                </a:rPr>
                <a:t>实际进度、成本、资源</a:t>
              </a:r>
            </a:p>
          </p:txBody>
        </p:sp>
        <p:sp>
          <p:nvSpPr>
            <p:cNvPr id="37895" name="Text Box 10">
              <a:extLst>
                <a:ext uri="{FF2B5EF4-FFF2-40B4-BE49-F238E27FC236}">
                  <a16:creationId xmlns:a16="http://schemas.microsoft.com/office/drawing/2014/main" id="{E32F262A-A5E9-FDAE-89BB-1FF7EFD3C3BE}"/>
                </a:ext>
              </a:extLst>
            </p:cNvPr>
            <p:cNvSpPr txBox="1">
              <a:spLocks noChangeArrowheads="1"/>
            </p:cNvSpPr>
            <p:nvPr/>
          </p:nvSpPr>
          <p:spPr bwMode="auto">
            <a:xfrm>
              <a:off x="4369" y="2085"/>
              <a:ext cx="1391" cy="1058"/>
            </a:xfrm>
            <a:prstGeom prst="rect">
              <a:avLst/>
            </a:prstGeom>
            <a:solidFill>
              <a:srgbClr val="CC6600"/>
            </a:solidFill>
            <a:ln w="25400">
              <a:solidFill>
                <a:srgbClr val="448AD8"/>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bg1"/>
                  </a:solidFill>
                  <a:latin typeface="Arial Narrow" panose="020B0606020202030204" pitchFamily="34" charset="0"/>
                  <a:ea typeface="黑体" panose="02010609060101010101" pitchFamily="49" charset="-122"/>
                </a:rPr>
                <a:t>输出</a:t>
              </a:r>
              <a:r>
                <a:rPr lang="zh-CN" altLang="en-US" sz="2000">
                  <a:solidFill>
                    <a:schemeClr val="bg1"/>
                  </a:solidFill>
                  <a:latin typeface="Arial Narrow" panose="020B0606020202030204" pitchFamily="34" charset="0"/>
                </a:rPr>
                <a:t>：</a:t>
              </a:r>
            </a:p>
            <a:p>
              <a:pPr eaLnBrk="1" hangingPunct="1">
                <a:spcBef>
                  <a:spcPct val="50000"/>
                </a:spcBef>
                <a:buClrTx/>
                <a:buFontTx/>
                <a:buNone/>
              </a:pPr>
              <a:r>
                <a:rPr lang="zh-CN" altLang="en-US" sz="2000">
                  <a:solidFill>
                    <a:schemeClr val="bg1"/>
                  </a:solidFill>
                  <a:latin typeface="Arial Narrow" panose="020B0606020202030204" pitchFamily="34" charset="0"/>
                </a:rPr>
                <a:t>进度、成本、资源修改决定</a:t>
              </a:r>
            </a:p>
          </p:txBody>
        </p:sp>
        <p:sp>
          <p:nvSpPr>
            <p:cNvPr id="37896" name="Line 11">
              <a:extLst>
                <a:ext uri="{FF2B5EF4-FFF2-40B4-BE49-F238E27FC236}">
                  <a16:creationId xmlns:a16="http://schemas.microsoft.com/office/drawing/2014/main" id="{24D202B1-A8AE-7123-08B0-72862E67E272}"/>
                </a:ext>
              </a:extLst>
            </p:cNvPr>
            <p:cNvSpPr>
              <a:spLocks noChangeShapeType="1"/>
            </p:cNvSpPr>
            <p:nvPr/>
          </p:nvSpPr>
          <p:spPr bwMode="auto">
            <a:xfrm>
              <a:off x="1344" y="2523"/>
              <a:ext cx="432" cy="0"/>
            </a:xfrm>
            <a:prstGeom prst="line">
              <a:avLst/>
            </a:prstGeom>
            <a:noFill/>
            <a:ln w="25400">
              <a:solidFill>
                <a:srgbClr val="448AD8"/>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7897" name="Line 12">
              <a:extLst>
                <a:ext uri="{FF2B5EF4-FFF2-40B4-BE49-F238E27FC236}">
                  <a16:creationId xmlns:a16="http://schemas.microsoft.com/office/drawing/2014/main" id="{935A9C0D-B98C-45EB-56C5-5131748CF53C}"/>
                </a:ext>
              </a:extLst>
            </p:cNvPr>
            <p:cNvSpPr>
              <a:spLocks noChangeShapeType="1"/>
            </p:cNvSpPr>
            <p:nvPr/>
          </p:nvSpPr>
          <p:spPr bwMode="auto">
            <a:xfrm>
              <a:off x="3984" y="2523"/>
              <a:ext cx="432" cy="0"/>
            </a:xfrm>
            <a:prstGeom prst="line">
              <a:avLst/>
            </a:prstGeom>
            <a:noFill/>
            <a:ln w="25400">
              <a:solidFill>
                <a:srgbClr val="448AD8"/>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94294E4F-6A11-763C-1263-79EE53D348B6}"/>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39939" name="Rectangle 3">
            <a:extLst>
              <a:ext uri="{FF2B5EF4-FFF2-40B4-BE49-F238E27FC236}">
                <a16:creationId xmlns:a16="http://schemas.microsoft.com/office/drawing/2014/main" id="{3E03D584-50DD-AC4C-22B8-11A52CF3D361}"/>
              </a:ext>
            </a:extLst>
          </p:cNvPr>
          <p:cNvSpPr>
            <a:spLocks noGrp="1" noChangeArrowheads="1"/>
          </p:cNvSpPr>
          <p:nvPr>
            <p:ph type="body" idx="1"/>
          </p:nvPr>
        </p:nvSpPr>
        <p:spPr>
          <a:xfrm>
            <a:off x="611188" y="1916113"/>
            <a:ext cx="8353425" cy="4537075"/>
          </a:xfrm>
        </p:spPr>
        <p:txBody>
          <a:bodyPr/>
          <a:lstStyle/>
          <a:p>
            <a:pPr eaLnBrk="1" hangingPunct="1">
              <a:lnSpc>
                <a:spcPct val="120000"/>
              </a:lnSpc>
              <a:spcBef>
                <a:spcPct val="40000"/>
              </a:spcBef>
            </a:pPr>
            <a:r>
              <a:rPr lang="zh-CN" altLang="en-US" sz="2400">
                <a:solidFill>
                  <a:schemeClr val="accent2"/>
                </a:solidFill>
                <a:ea typeface="黑体" panose="02010609060101010101" pitchFamily="49" charset="-122"/>
              </a:rPr>
              <a:t>项目性能分析方法</a:t>
            </a:r>
            <a:r>
              <a:rPr lang="zh-CN" altLang="en-US"/>
              <a:t> </a:t>
            </a:r>
            <a:endParaRPr lang="zh-CN" altLang="en-US" sz="2000"/>
          </a:p>
          <a:p>
            <a:pPr eaLnBrk="1" hangingPunct="1">
              <a:lnSpc>
                <a:spcPct val="120000"/>
              </a:lnSpc>
            </a:pPr>
            <a:r>
              <a:rPr lang="zh-CN" altLang="en-US" sz="2000">
                <a:solidFill>
                  <a:schemeClr val="accent2"/>
                </a:solidFill>
                <a:latin typeface="黑体" panose="02010609060101010101" pitchFamily="49" charset="-122"/>
                <a:ea typeface="黑体" panose="02010609060101010101" pitchFamily="49" charset="-122"/>
              </a:rPr>
              <a:t>图解控制法</a:t>
            </a:r>
          </a:p>
          <a:p>
            <a:pPr eaLnBrk="1" hangingPunct="1">
              <a:lnSpc>
                <a:spcPct val="120000"/>
              </a:lnSpc>
              <a:buFont typeface="Wingdings 2" panose="05020102010507070707" pitchFamily="18" charset="2"/>
              <a:buNone/>
            </a:pPr>
            <a:r>
              <a:rPr lang="zh-CN" altLang="en-US" sz="2000">
                <a:latin typeface="黑体" panose="02010609060101010101" pitchFamily="49" charset="-122"/>
                <a:ea typeface="黑体" panose="02010609060101010101" pitchFamily="49" charset="-122"/>
              </a:rPr>
              <a:t>   </a:t>
            </a:r>
            <a:r>
              <a:rPr lang="en-US" altLang="zh-CN" sz="2000">
                <a:solidFill>
                  <a:schemeClr val="accent2"/>
                </a:solidFill>
                <a:ea typeface="黑体" panose="02010609060101010101" pitchFamily="49" charset="-122"/>
              </a:rPr>
              <a:t>——</a:t>
            </a:r>
            <a:r>
              <a:rPr lang="zh-CN" altLang="en-US" sz="2000">
                <a:latin typeface="黑体" panose="02010609060101010101" pitchFamily="49" charset="-122"/>
                <a:ea typeface="黑体" panose="02010609060101010101" pitchFamily="49" charset="-122"/>
              </a:rPr>
              <a:t>能清楚确定项目状况，但没有量化信息</a:t>
            </a:r>
            <a:endParaRPr lang="zh-CN" altLang="en-US" sz="2000">
              <a:latin typeface="宋体" panose="02010600030101010101" pitchFamily="2" charset="-122"/>
            </a:endParaRPr>
          </a:p>
          <a:p>
            <a:pPr lvl="1" eaLnBrk="1" hangingPunct="1">
              <a:lnSpc>
                <a:spcPct val="120000"/>
              </a:lnSpc>
              <a:spcBef>
                <a:spcPct val="30000"/>
              </a:spcBef>
            </a:pPr>
            <a:r>
              <a:rPr lang="zh-CN" altLang="en-US" sz="2000">
                <a:latin typeface="宋体" panose="02010600030101010101" pitchFamily="2" charset="-122"/>
              </a:rPr>
              <a:t>进度</a:t>
            </a:r>
            <a:r>
              <a:rPr lang="en-US" altLang="zh-CN" sz="2000">
                <a:latin typeface="宋体" panose="02010600030101010101" pitchFamily="2" charset="-122"/>
              </a:rPr>
              <a:t>---</a:t>
            </a:r>
            <a:r>
              <a:rPr lang="zh-CN" altLang="en-US" sz="2000">
                <a:latin typeface="宋体" panose="02010600030101010101" pitchFamily="2" charset="-122"/>
              </a:rPr>
              <a:t>甘特图</a:t>
            </a:r>
          </a:p>
          <a:p>
            <a:pPr lvl="1" eaLnBrk="1" hangingPunct="1">
              <a:lnSpc>
                <a:spcPct val="120000"/>
              </a:lnSpc>
              <a:spcBef>
                <a:spcPct val="30000"/>
              </a:spcBef>
            </a:pPr>
            <a:r>
              <a:rPr lang="zh-CN" altLang="en-US" sz="2000">
                <a:latin typeface="宋体" panose="02010600030101010101" pitchFamily="2" charset="-122"/>
              </a:rPr>
              <a:t>成本</a:t>
            </a:r>
            <a:r>
              <a:rPr lang="en-US" altLang="zh-CN" sz="2000">
                <a:latin typeface="宋体" panose="02010600030101010101" pitchFamily="2" charset="-122"/>
              </a:rPr>
              <a:t>—</a:t>
            </a:r>
            <a:r>
              <a:rPr lang="zh-CN" altLang="en-US" sz="2000">
                <a:latin typeface="宋体" panose="02010600030101010101" pitchFamily="2" charset="-122"/>
              </a:rPr>
              <a:t>累计费用曲线图</a:t>
            </a:r>
          </a:p>
          <a:p>
            <a:pPr lvl="1" eaLnBrk="1" hangingPunct="1">
              <a:lnSpc>
                <a:spcPct val="120000"/>
              </a:lnSpc>
              <a:spcBef>
                <a:spcPct val="30000"/>
              </a:spcBef>
            </a:pPr>
            <a:r>
              <a:rPr lang="zh-CN" altLang="en-US" sz="2000">
                <a:latin typeface="宋体" panose="02010600030101010101" pitchFamily="2" charset="-122"/>
              </a:rPr>
              <a:t>人力物力资源</a:t>
            </a:r>
            <a:r>
              <a:rPr lang="en-US" altLang="zh-CN" sz="2000">
                <a:latin typeface="宋体" panose="02010600030101010101" pitchFamily="2" charset="-122"/>
              </a:rPr>
              <a:t>—</a:t>
            </a:r>
            <a:r>
              <a:rPr lang="zh-CN" altLang="en-US" sz="2000">
                <a:latin typeface="宋体" panose="02010600030101010101" pitchFamily="2" charset="-122"/>
              </a:rPr>
              <a:t>资源载荷图</a:t>
            </a:r>
            <a:endParaRPr lang="zh-CN" altLang="en-US">
              <a:latin typeface="宋体" panose="02010600030101010101" pitchFamily="2" charset="-122"/>
            </a:endParaRPr>
          </a:p>
          <a:p>
            <a:pPr eaLnBrk="1" hangingPunct="1">
              <a:lnSpc>
                <a:spcPct val="120000"/>
              </a:lnSpc>
              <a:spcBef>
                <a:spcPct val="40000"/>
              </a:spcBef>
              <a:buFont typeface="Wingdings 2" panose="05020102010507070707" pitchFamily="18" charset="2"/>
              <a:buNone/>
            </a:pPr>
            <a:endParaRPr lang="en-US" altLang="zh-CN" sz="2000">
              <a:latin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D5F081F-843E-19C9-D26F-9659CD0B49B6}"/>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37891" name="Rectangle 3">
            <a:extLst>
              <a:ext uri="{FF2B5EF4-FFF2-40B4-BE49-F238E27FC236}">
                <a16:creationId xmlns:a16="http://schemas.microsoft.com/office/drawing/2014/main" id="{25D6B8A7-AAB2-474D-BC66-BC7C52C8D758}"/>
              </a:ext>
            </a:extLst>
          </p:cNvPr>
          <p:cNvSpPr>
            <a:spLocks noGrp="1" noChangeArrowheads="1"/>
          </p:cNvSpPr>
          <p:nvPr>
            <p:ph type="body" idx="1"/>
          </p:nvPr>
        </p:nvSpPr>
        <p:spPr>
          <a:xfrm>
            <a:off x="611188" y="1916113"/>
            <a:ext cx="8353425" cy="4537075"/>
          </a:xfrm>
        </p:spPr>
        <p:txBody>
          <a:bodyPr/>
          <a:lstStyle/>
          <a:p>
            <a:pPr eaLnBrk="1" hangingPunct="1">
              <a:lnSpc>
                <a:spcPct val="120000"/>
              </a:lnSpc>
              <a:spcBef>
                <a:spcPct val="40000"/>
              </a:spcBef>
              <a:defRPr/>
            </a:pPr>
            <a:r>
              <a:rPr lang="zh-CN" altLang="en-US" sz="2400" dirty="0">
                <a:solidFill>
                  <a:schemeClr val="accent2"/>
                </a:solidFill>
                <a:ea typeface="黑体" panose="02010609060101010101" pitchFamily="49" charset="-122"/>
              </a:rPr>
              <a:t>项目性能分析方法</a:t>
            </a:r>
            <a:r>
              <a:rPr lang="zh-CN" altLang="en-US" dirty="0"/>
              <a:t> </a:t>
            </a:r>
            <a:endParaRPr lang="zh-CN" altLang="en-US" sz="2000" dirty="0"/>
          </a:p>
          <a:p>
            <a:pPr eaLnBrk="1" hangingPunct="1">
              <a:lnSpc>
                <a:spcPct val="120000"/>
              </a:lnSpc>
              <a:defRPr/>
            </a:pPr>
            <a:r>
              <a:rPr lang="zh-CN" altLang="en-US" sz="2000" dirty="0">
                <a:solidFill>
                  <a:schemeClr val="accent2"/>
                </a:solidFill>
                <a:latin typeface="黑体" panose="02010609060101010101" pitchFamily="49" charset="-122"/>
                <a:ea typeface="黑体" panose="02010609060101010101" pitchFamily="49" charset="-122"/>
              </a:rPr>
              <a:t>图解控制法</a:t>
            </a:r>
          </a:p>
          <a:p>
            <a:pPr lvl="1" eaLnBrk="1" hangingPunct="1">
              <a:lnSpc>
                <a:spcPct val="120000"/>
              </a:lnSpc>
              <a:spcBef>
                <a:spcPct val="30000"/>
              </a:spcBef>
              <a:defRPr/>
            </a:pPr>
            <a:r>
              <a:rPr lang="zh-CN" altLang="en-US" sz="2000" dirty="0">
                <a:latin typeface="宋体" panose="02010600030101010101" pitchFamily="2" charset="-122"/>
              </a:rPr>
              <a:t>进度</a:t>
            </a:r>
            <a:r>
              <a:rPr lang="en-US" altLang="zh-CN" sz="2000" dirty="0">
                <a:latin typeface="宋体" panose="02010600030101010101" pitchFamily="2" charset="-122"/>
              </a:rPr>
              <a:t>---</a:t>
            </a:r>
            <a:r>
              <a:rPr lang="zh-CN" altLang="en-US" sz="2000" dirty="0">
                <a:latin typeface="宋体" panose="02010600030101010101" pitchFamily="2" charset="-122"/>
              </a:rPr>
              <a:t>甘特图</a:t>
            </a:r>
            <a:endParaRPr lang="en-US" altLang="zh-CN" sz="2000" dirty="0">
              <a:latin typeface="宋体" panose="02010600030101010101" pitchFamily="2" charset="-122"/>
            </a:endParaRPr>
          </a:p>
          <a:p>
            <a:pPr lvl="2" eaLnBrk="1" hangingPunct="1">
              <a:lnSpc>
                <a:spcPct val="120000"/>
              </a:lnSpc>
              <a:spcBef>
                <a:spcPct val="30000"/>
              </a:spcBef>
              <a:defRPr/>
            </a:pPr>
            <a:r>
              <a:rPr lang="zh-CN" altLang="en-US" sz="1600" dirty="0">
                <a:latin typeface="宋体" panose="02010600030101010101" pitchFamily="2" charset="-122"/>
              </a:rPr>
              <a:t>从甘特图可以看出计划中各项任务的</a:t>
            </a:r>
            <a:r>
              <a:rPr lang="zh-CN" altLang="en-US" sz="1600" dirty="0">
                <a:solidFill>
                  <a:srgbClr val="FF0000"/>
                </a:solidFill>
                <a:latin typeface="宋体" panose="02010600030101010101" pitchFamily="2" charset="-122"/>
              </a:rPr>
              <a:t>开始时间、结束时间</a:t>
            </a:r>
            <a:r>
              <a:rPr lang="zh-CN" altLang="en-US" sz="1600" dirty="0">
                <a:latin typeface="宋体" panose="02010600030101010101" pitchFamily="2" charset="-122"/>
              </a:rPr>
              <a:t>，还可以看出计划进度和实际进度的比较结果。</a:t>
            </a:r>
          </a:p>
          <a:p>
            <a:pPr lvl="2" eaLnBrk="1" hangingPunct="1">
              <a:lnSpc>
                <a:spcPct val="120000"/>
              </a:lnSpc>
              <a:spcBef>
                <a:spcPct val="30000"/>
              </a:spcBef>
              <a:defRPr/>
            </a:pPr>
            <a:endParaRPr lang="zh-CN" altLang="en-US" sz="1600" dirty="0">
              <a:latin typeface="宋体" panose="02010600030101010101" pitchFamily="2" charset="-122"/>
            </a:endParaRPr>
          </a:p>
          <a:p>
            <a:pPr marL="0" indent="0" eaLnBrk="1" hangingPunct="1">
              <a:lnSpc>
                <a:spcPct val="120000"/>
              </a:lnSpc>
              <a:spcBef>
                <a:spcPct val="40000"/>
              </a:spcBef>
              <a:buFont typeface="Wingdings 2" panose="05020102010507070707" pitchFamily="18" charset="2"/>
              <a:buNone/>
              <a:defRPr/>
            </a:pPr>
            <a:endParaRPr lang="zh-CN" altLang="en-US" sz="2000" dirty="0">
              <a:latin typeface="宋体" panose="02010600030101010101" pitchFamily="2" charset="-122"/>
            </a:endParaRPr>
          </a:p>
          <a:p>
            <a:pPr eaLnBrk="1" hangingPunct="1">
              <a:lnSpc>
                <a:spcPct val="120000"/>
              </a:lnSpc>
              <a:spcBef>
                <a:spcPct val="40000"/>
              </a:spcBef>
              <a:buFont typeface="Wingdings 2" panose="05020102010507070707" pitchFamily="18" charset="2"/>
              <a:buNone/>
              <a:defRPr/>
            </a:pPr>
            <a:endParaRPr lang="en-US" altLang="zh-CN" sz="2000" dirty="0">
              <a:latin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D5F081F-843E-19C9-D26F-9659CD0B49B6}"/>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37891" name="Rectangle 3">
            <a:extLst>
              <a:ext uri="{FF2B5EF4-FFF2-40B4-BE49-F238E27FC236}">
                <a16:creationId xmlns:a16="http://schemas.microsoft.com/office/drawing/2014/main" id="{25D6B8A7-AAB2-474D-BC66-BC7C52C8D758}"/>
              </a:ext>
            </a:extLst>
          </p:cNvPr>
          <p:cNvSpPr>
            <a:spLocks noGrp="1" noChangeArrowheads="1"/>
          </p:cNvSpPr>
          <p:nvPr>
            <p:ph type="body" idx="1"/>
          </p:nvPr>
        </p:nvSpPr>
        <p:spPr>
          <a:xfrm>
            <a:off x="611188" y="1916113"/>
            <a:ext cx="8353425" cy="4537075"/>
          </a:xfrm>
        </p:spPr>
        <p:txBody>
          <a:bodyPr/>
          <a:lstStyle/>
          <a:p>
            <a:pPr eaLnBrk="1" hangingPunct="1">
              <a:lnSpc>
                <a:spcPct val="120000"/>
              </a:lnSpc>
              <a:spcBef>
                <a:spcPct val="40000"/>
              </a:spcBef>
              <a:defRPr/>
            </a:pPr>
            <a:r>
              <a:rPr lang="zh-CN" altLang="en-US" sz="2400" dirty="0">
                <a:solidFill>
                  <a:schemeClr val="accent2"/>
                </a:solidFill>
                <a:ea typeface="黑体" panose="02010609060101010101" pitchFamily="49" charset="-122"/>
              </a:rPr>
              <a:t>项目性能分析方法</a:t>
            </a:r>
            <a:r>
              <a:rPr lang="zh-CN" altLang="en-US" dirty="0"/>
              <a:t> </a:t>
            </a:r>
            <a:endParaRPr lang="zh-CN" altLang="en-US" sz="2000" dirty="0"/>
          </a:p>
          <a:p>
            <a:pPr lvl="2" eaLnBrk="1" hangingPunct="1">
              <a:lnSpc>
                <a:spcPct val="120000"/>
              </a:lnSpc>
              <a:spcBef>
                <a:spcPct val="30000"/>
              </a:spcBef>
              <a:defRPr/>
            </a:pPr>
            <a:endParaRPr lang="zh-CN" altLang="en-US" sz="1600" dirty="0">
              <a:latin typeface="宋体" panose="02010600030101010101" pitchFamily="2" charset="-122"/>
            </a:endParaRPr>
          </a:p>
          <a:p>
            <a:pPr marL="0" indent="0" eaLnBrk="1" hangingPunct="1">
              <a:lnSpc>
                <a:spcPct val="120000"/>
              </a:lnSpc>
              <a:spcBef>
                <a:spcPct val="40000"/>
              </a:spcBef>
              <a:buFont typeface="Wingdings 2" panose="05020102010507070707" pitchFamily="18" charset="2"/>
              <a:buNone/>
              <a:defRPr/>
            </a:pPr>
            <a:endParaRPr lang="zh-CN" altLang="en-US" sz="2000" dirty="0">
              <a:latin typeface="宋体" panose="02010600030101010101" pitchFamily="2" charset="-122"/>
            </a:endParaRPr>
          </a:p>
          <a:p>
            <a:pPr eaLnBrk="1" hangingPunct="1">
              <a:lnSpc>
                <a:spcPct val="120000"/>
              </a:lnSpc>
              <a:spcBef>
                <a:spcPct val="40000"/>
              </a:spcBef>
              <a:buFont typeface="Wingdings 2" panose="05020102010507070707" pitchFamily="18" charset="2"/>
              <a:buNone/>
              <a:defRPr/>
            </a:pPr>
            <a:endParaRPr lang="en-US" altLang="zh-CN" sz="2000" dirty="0">
              <a:latin typeface="宋体" panose="02010600030101010101" pitchFamily="2" charset="-122"/>
            </a:endParaRPr>
          </a:p>
        </p:txBody>
      </p:sp>
      <p:pic>
        <p:nvPicPr>
          <p:cNvPr id="4" name="Picture 4">
            <a:extLst>
              <a:ext uri="{FF2B5EF4-FFF2-40B4-BE49-F238E27FC236}">
                <a16:creationId xmlns:a16="http://schemas.microsoft.com/office/drawing/2014/main" id="{A8EE7EAB-9F2B-78AC-EE7C-B638C0215B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85" t="19711" b="5063"/>
          <a:stretch>
            <a:fillRect/>
          </a:stretch>
        </p:blipFill>
        <p:spPr bwMode="auto">
          <a:xfrm>
            <a:off x="611188" y="2420888"/>
            <a:ext cx="8083550" cy="449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6350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D5F081F-843E-19C9-D26F-9659CD0B49B6}"/>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37891" name="Rectangle 3">
            <a:extLst>
              <a:ext uri="{FF2B5EF4-FFF2-40B4-BE49-F238E27FC236}">
                <a16:creationId xmlns:a16="http://schemas.microsoft.com/office/drawing/2014/main" id="{25D6B8A7-AAB2-474D-BC66-BC7C52C8D758}"/>
              </a:ext>
            </a:extLst>
          </p:cNvPr>
          <p:cNvSpPr>
            <a:spLocks noGrp="1" noChangeArrowheads="1"/>
          </p:cNvSpPr>
          <p:nvPr>
            <p:ph type="body" idx="1"/>
          </p:nvPr>
        </p:nvSpPr>
        <p:spPr>
          <a:xfrm>
            <a:off x="611188" y="1916113"/>
            <a:ext cx="8353425" cy="4537075"/>
          </a:xfrm>
        </p:spPr>
        <p:txBody>
          <a:bodyPr/>
          <a:lstStyle/>
          <a:p>
            <a:pPr eaLnBrk="1" hangingPunct="1">
              <a:lnSpc>
                <a:spcPct val="120000"/>
              </a:lnSpc>
              <a:spcBef>
                <a:spcPct val="40000"/>
              </a:spcBef>
              <a:defRPr/>
            </a:pPr>
            <a:r>
              <a:rPr lang="zh-CN" altLang="en-US" sz="2400" dirty="0">
                <a:solidFill>
                  <a:schemeClr val="accent2"/>
                </a:solidFill>
                <a:ea typeface="黑体" panose="02010609060101010101" pitchFamily="49" charset="-122"/>
              </a:rPr>
              <a:t>项目性能分析方法</a:t>
            </a:r>
            <a:r>
              <a:rPr lang="zh-CN" altLang="en-US" dirty="0"/>
              <a:t> </a:t>
            </a:r>
            <a:endParaRPr lang="zh-CN" altLang="en-US" sz="2000" dirty="0"/>
          </a:p>
          <a:p>
            <a:pPr eaLnBrk="1" hangingPunct="1">
              <a:lnSpc>
                <a:spcPct val="120000"/>
              </a:lnSpc>
              <a:defRPr/>
            </a:pPr>
            <a:r>
              <a:rPr lang="zh-CN" altLang="en-US" sz="2000" dirty="0">
                <a:solidFill>
                  <a:schemeClr val="accent2"/>
                </a:solidFill>
                <a:latin typeface="黑体" panose="02010609060101010101" pitchFamily="49" charset="-122"/>
                <a:ea typeface="黑体" panose="02010609060101010101" pitchFamily="49" charset="-122"/>
              </a:rPr>
              <a:t>图解控制法</a:t>
            </a:r>
          </a:p>
          <a:p>
            <a:pPr lvl="1" eaLnBrk="1" hangingPunct="1">
              <a:lnSpc>
                <a:spcPct val="120000"/>
              </a:lnSpc>
              <a:spcBef>
                <a:spcPct val="30000"/>
              </a:spcBef>
              <a:defRPr/>
            </a:pPr>
            <a:r>
              <a:rPr lang="zh-CN" altLang="en-US" sz="2000" dirty="0">
                <a:latin typeface="宋体" panose="02010600030101010101" pitchFamily="2" charset="-122"/>
              </a:rPr>
              <a:t>成本</a:t>
            </a:r>
            <a:r>
              <a:rPr lang="en-US" altLang="zh-CN" sz="2000" dirty="0">
                <a:latin typeface="宋体" panose="02010600030101010101" pitchFamily="2" charset="-122"/>
              </a:rPr>
              <a:t>—</a:t>
            </a:r>
            <a:r>
              <a:rPr lang="zh-CN" altLang="en-US" sz="2000" dirty="0">
                <a:latin typeface="宋体" panose="02010600030101010101" pitchFamily="2" charset="-122"/>
              </a:rPr>
              <a:t>累计费用曲线图</a:t>
            </a:r>
            <a:endParaRPr lang="en-US" altLang="zh-CN" sz="2000" dirty="0">
              <a:latin typeface="宋体" panose="02010600030101010101" pitchFamily="2" charset="-122"/>
            </a:endParaRPr>
          </a:p>
          <a:p>
            <a:pPr lvl="2" eaLnBrk="1" hangingPunct="1">
              <a:lnSpc>
                <a:spcPct val="120000"/>
              </a:lnSpc>
              <a:spcBef>
                <a:spcPct val="30000"/>
              </a:spcBef>
              <a:defRPr/>
            </a:pPr>
            <a:r>
              <a:rPr lang="zh-CN" altLang="en-US" sz="1800" dirty="0">
                <a:latin typeface="宋体" panose="02010600030101010101" pitchFamily="2" charset="-122"/>
              </a:rPr>
              <a:t>是项目累计成本图，将项目中各个阶段的费用进行累计，得到平滑的、递增的计划成本和实际成本的曲线。累计费用曲线对于监视费用偏差是很有用的，计划成本曲线和实际曲线之间的高度差表示成本偏差，</a:t>
            </a:r>
            <a:r>
              <a:rPr lang="zh-CN" altLang="en-US" sz="1800" dirty="0">
                <a:solidFill>
                  <a:srgbClr val="FF0000"/>
                </a:solidFill>
                <a:latin typeface="宋体" panose="02010600030101010101" pitchFamily="2" charset="-122"/>
              </a:rPr>
              <a:t>在理想情况下，两条曲线应当很相似</a:t>
            </a:r>
            <a:r>
              <a:rPr lang="zh-CN" altLang="en-US" sz="1800" dirty="0">
                <a:latin typeface="宋体" panose="02010600030101010101" pitchFamily="2" charset="-122"/>
              </a:rPr>
              <a:t>。</a:t>
            </a:r>
          </a:p>
          <a:p>
            <a:pPr marL="0" indent="0" eaLnBrk="1" hangingPunct="1">
              <a:lnSpc>
                <a:spcPct val="120000"/>
              </a:lnSpc>
              <a:spcBef>
                <a:spcPct val="40000"/>
              </a:spcBef>
              <a:buFont typeface="Wingdings 2" panose="05020102010507070707" pitchFamily="18" charset="2"/>
              <a:buNone/>
              <a:defRPr/>
            </a:pPr>
            <a:endParaRPr lang="zh-CN" altLang="en-US" sz="2000" dirty="0">
              <a:latin typeface="宋体" panose="02010600030101010101" pitchFamily="2" charset="-122"/>
            </a:endParaRPr>
          </a:p>
          <a:p>
            <a:pPr eaLnBrk="1" hangingPunct="1">
              <a:lnSpc>
                <a:spcPct val="120000"/>
              </a:lnSpc>
              <a:spcBef>
                <a:spcPct val="40000"/>
              </a:spcBef>
              <a:buFont typeface="Wingdings 2" panose="05020102010507070707" pitchFamily="18" charset="2"/>
              <a:buNone/>
              <a:defRPr/>
            </a:pPr>
            <a:endParaRPr lang="en-US" altLang="zh-CN" sz="2000" dirty="0">
              <a:latin typeface="宋体" panose="02010600030101010101" pitchFamily="2" charset="-122"/>
            </a:endParaRPr>
          </a:p>
        </p:txBody>
      </p:sp>
    </p:spTree>
    <p:extLst>
      <p:ext uri="{BB962C8B-B14F-4D97-AF65-F5344CB8AC3E}">
        <p14:creationId xmlns:p14="http://schemas.microsoft.com/office/powerpoint/2010/main" val="2686473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E4588FE-1DB9-27E1-FE62-D7A6CB9FF5EE}"/>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37891" name="Rectangle 3">
            <a:extLst>
              <a:ext uri="{FF2B5EF4-FFF2-40B4-BE49-F238E27FC236}">
                <a16:creationId xmlns:a16="http://schemas.microsoft.com/office/drawing/2014/main" id="{C30BE573-A90F-47D0-98D2-1EFC70846BCB}"/>
              </a:ext>
            </a:extLst>
          </p:cNvPr>
          <p:cNvSpPr>
            <a:spLocks noGrp="1" noChangeArrowheads="1"/>
          </p:cNvSpPr>
          <p:nvPr>
            <p:ph type="body" idx="1"/>
          </p:nvPr>
        </p:nvSpPr>
        <p:spPr>
          <a:xfrm>
            <a:off x="611188" y="1916113"/>
            <a:ext cx="8353425" cy="4537075"/>
          </a:xfrm>
        </p:spPr>
        <p:txBody>
          <a:bodyPr/>
          <a:lstStyle/>
          <a:p>
            <a:pPr eaLnBrk="1" hangingPunct="1">
              <a:lnSpc>
                <a:spcPct val="120000"/>
              </a:lnSpc>
              <a:spcBef>
                <a:spcPct val="40000"/>
              </a:spcBef>
              <a:defRPr/>
            </a:pPr>
            <a:r>
              <a:rPr lang="zh-CN" altLang="en-US" sz="2400" dirty="0">
                <a:solidFill>
                  <a:schemeClr val="accent2"/>
                </a:solidFill>
                <a:ea typeface="黑体" panose="02010609060101010101" pitchFamily="49" charset="-122"/>
              </a:rPr>
              <a:t>项目性能分析方法</a:t>
            </a:r>
            <a:r>
              <a:rPr lang="zh-CN" altLang="en-US" dirty="0"/>
              <a:t> </a:t>
            </a:r>
            <a:endParaRPr lang="zh-CN" altLang="en-US" sz="2000" dirty="0"/>
          </a:p>
          <a:p>
            <a:pPr eaLnBrk="1" hangingPunct="1">
              <a:lnSpc>
                <a:spcPct val="120000"/>
              </a:lnSpc>
              <a:defRPr/>
            </a:pPr>
            <a:r>
              <a:rPr lang="zh-CN" altLang="en-US" sz="2000" dirty="0">
                <a:solidFill>
                  <a:schemeClr val="accent2"/>
                </a:solidFill>
                <a:latin typeface="黑体" panose="02010609060101010101" pitchFamily="49" charset="-122"/>
                <a:ea typeface="黑体" panose="02010609060101010101" pitchFamily="49" charset="-122"/>
              </a:rPr>
              <a:t>图解控制法</a:t>
            </a:r>
          </a:p>
          <a:p>
            <a:pPr lvl="1" eaLnBrk="1" hangingPunct="1">
              <a:lnSpc>
                <a:spcPct val="120000"/>
              </a:lnSpc>
              <a:spcBef>
                <a:spcPct val="30000"/>
              </a:spcBef>
              <a:defRPr/>
            </a:pPr>
            <a:r>
              <a:rPr lang="zh-CN" altLang="en-US" sz="2000" dirty="0">
                <a:latin typeface="宋体" panose="02010600030101010101" pitchFamily="2" charset="-122"/>
              </a:rPr>
              <a:t>人力物力资源</a:t>
            </a:r>
            <a:r>
              <a:rPr lang="en-US" altLang="zh-CN" sz="2000" dirty="0">
                <a:latin typeface="宋体" panose="02010600030101010101" pitchFamily="2" charset="-122"/>
              </a:rPr>
              <a:t>—</a:t>
            </a:r>
            <a:r>
              <a:rPr lang="zh-CN" altLang="en-US" sz="2000" dirty="0">
                <a:latin typeface="宋体" panose="02010600030101010101" pitchFamily="2" charset="-122"/>
              </a:rPr>
              <a:t>资源载荷图</a:t>
            </a:r>
            <a:endParaRPr lang="en-US" altLang="zh-CN" sz="2000" dirty="0">
              <a:latin typeface="宋体" panose="02010600030101010101" pitchFamily="2" charset="-122"/>
            </a:endParaRPr>
          </a:p>
          <a:p>
            <a:pPr lvl="2" eaLnBrk="1" hangingPunct="1">
              <a:lnSpc>
                <a:spcPct val="120000"/>
              </a:lnSpc>
              <a:spcBef>
                <a:spcPct val="30000"/>
              </a:spcBef>
              <a:defRPr/>
            </a:pPr>
            <a:r>
              <a:rPr lang="zh-CN" altLang="en-US" sz="1800" dirty="0">
                <a:solidFill>
                  <a:srgbClr val="FF0000"/>
                </a:solidFill>
                <a:latin typeface="宋体" panose="02010600030101010101" pitchFamily="2" charset="-122"/>
              </a:rPr>
              <a:t>显示项目生存期的资源消耗</a:t>
            </a:r>
            <a:r>
              <a:rPr lang="zh-CN" altLang="en-US" sz="1800" dirty="0">
                <a:latin typeface="宋体" panose="02010600030101010101" pitchFamily="2" charset="-122"/>
              </a:rPr>
              <a:t>。项目早期处于启动阶段，资源使用得少；到了中期，项目全面展开，资源大量被使用；而在项目结束阶段，资源消耗再次减少。利用资源分配表的总数很容易构造资源荷载图，资源荷载图围住的面积代表某段工作时间的资源消耗。</a:t>
            </a:r>
          </a:p>
          <a:p>
            <a:pPr marL="0" indent="0" eaLnBrk="1" hangingPunct="1">
              <a:lnSpc>
                <a:spcPct val="120000"/>
              </a:lnSpc>
              <a:spcBef>
                <a:spcPct val="40000"/>
              </a:spcBef>
              <a:buFont typeface="Wingdings 2" panose="05020102010507070707" pitchFamily="18" charset="2"/>
              <a:buNone/>
              <a:defRPr/>
            </a:pPr>
            <a:endParaRPr lang="zh-CN" altLang="en-US" sz="2000" dirty="0">
              <a:latin typeface="宋体" panose="02010600030101010101" pitchFamily="2" charset="-122"/>
            </a:endParaRPr>
          </a:p>
          <a:p>
            <a:pPr eaLnBrk="1" hangingPunct="1">
              <a:lnSpc>
                <a:spcPct val="120000"/>
              </a:lnSpc>
              <a:spcBef>
                <a:spcPct val="40000"/>
              </a:spcBef>
              <a:buFont typeface="Wingdings 2" panose="05020102010507070707" pitchFamily="18" charset="2"/>
              <a:buNone/>
              <a:defRPr/>
            </a:pPr>
            <a:endParaRPr lang="en-US" altLang="zh-CN" sz="2000" dirty="0">
              <a:latin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95B5BA7-E46E-7BDD-9F8A-799C11771B94}"/>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46083" name="Rectangle 3">
            <a:extLst>
              <a:ext uri="{FF2B5EF4-FFF2-40B4-BE49-F238E27FC236}">
                <a16:creationId xmlns:a16="http://schemas.microsoft.com/office/drawing/2014/main" id="{B30C03C8-6800-5F14-ABCA-C7002B73BEEE}"/>
              </a:ext>
            </a:extLst>
          </p:cNvPr>
          <p:cNvSpPr>
            <a:spLocks noGrp="1" noChangeArrowheads="1"/>
          </p:cNvSpPr>
          <p:nvPr>
            <p:ph type="body" idx="1"/>
          </p:nvPr>
        </p:nvSpPr>
        <p:spPr>
          <a:xfrm>
            <a:off x="395288" y="1916113"/>
            <a:ext cx="8569325" cy="4941887"/>
          </a:xfrm>
        </p:spPr>
        <p:txBody>
          <a:bodyPr/>
          <a:lstStyle/>
          <a:p>
            <a:pPr eaLnBrk="1" hangingPunct="1"/>
            <a:r>
              <a:rPr lang="zh-CN" altLang="en-US" sz="2000">
                <a:solidFill>
                  <a:srgbClr val="CC6600"/>
                </a:solidFill>
                <a:latin typeface="黑体" panose="02010609060101010101" pitchFamily="49" charset="-122"/>
                <a:ea typeface="黑体" panose="02010609060101010101" pitchFamily="49" charset="-122"/>
              </a:rPr>
              <a:t>图解控制法－图例</a:t>
            </a:r>
          </a:p>
        </p:txBody>
      </p:sp>
      <p:pic>
        <p:nvPicPr>
          <p:cNvPr id="46084" name="Picture 4" descr="casey3">
            <a:extLst>
              <a:ext uri="{FF2B5EF4-FFF2-40B4-BE49-F238E27FC236}">
                <a16:creationId xmlns:a16="http://schemas.microsoft.com/office/drawing/2014/main" id="{BF4EB282-BCC3-1320-6817-BCEAD495E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8542"/>
          <a:stretch>
            <a:fillRect/>
          </a:stretch>
        </p:blipFill>
        <p:spPr bwMode="auto">
          <a:xfrm>
            <a:off x="1066800" y="2276475"/>
            <a:ext cx="7239000" cy="450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E6A11F3-D6AA-3C35-3896-A97C58B87584}"/>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37891" name="Rectangle 3">
            <a:extLst>
              <a:ext uri="{FF2B5EF4-FFF2-40B4-BE49-F238E27FC236}">
                <a16:creationId xmlns:a16="http://schemas.microsoft.com/office/drawing/2014/main" id="{E97750DE-1818-4B15-965B-D67DE95F6E69}"/>
              </a:ext>
            </a:extLst>
          </p:cNvPr>
          <p:cNvSpPr>
            <a:spLocks noGrp="1" noChangeArrowheads="1"/>
          </p:cNvSpPr>
          <p:nvPr>
            <p:ph type="body" idx="1"/>
          </p:nvPr>
        </p:nvSpPr>
        <p:spPr>
          <a:xfrm>
            <a:off x="611188" y="1916113"/>
            <a:ext cx="8353425" cy="4537075"/>
          </a:xfrm>
        </p:spPr>
        <p:txBody>
          <a:bodyPr/>
          <a:lstStyle/>
          <a:p>
            <a:pPr eaLnBrk="1" hangingPunct="1">
              <a:lnSpc>
                <a:spcPct val="120000"/>
              </a:lnSpc>
              <a:spcBef>
                <a:spcPct val="40000"/>
              </a:spcBef>
              <a:defRPr/>
            </a:pPr>
            <a:r>
              <a:rPr lang="zh-CN" altLang="en-US" sz="2400" dirty="0">
                <a:solidFill>
                  <a:schemeClr val="accent2"/>
                </a:solidFill>
                <a:ea typeface="黑体" panose="02010609060101010101" pitchFamily="49" charset="-122"/>
              </a:rPr>
              <a:t>项目性能分析方法</a:t>
            </a:r>
            <a:r>
              <a:rPr lang="zh-CN" altLang="en-US" dirty="0"/>
              <a:t> </a:t>
            </a:r>
            <a:endParaRPr lang="zh-CN" altLang="en-US" sz="2000" dirty="0"/>
          </a:p>
          <a:p>
            <a:pPr eaLnBrk="1" hangingPunct="1">
              <a:lnSpc>
                <a:spcPct val="120000"/>
              </a:lnSpc>
              <a:defRPr/>
            </a:pPr>
            <a:r>
              <a:rPr lang="zh-CN" altLang="en-US" sz="2000" dirty="0">
                <a:solidFill>
                  <a:schemeClr val="accent2"/>
                </a:solidFill>
                <a:latin typeface="黑体" panose="02010609060101010101" pitchFamily="49" charset="-122"/>
                <a:ea typeface="黑体" panose="02010609060101010101" pitchFamily="49" charset="-122"/>
              </a:rPr>
              <a:t>图解控制法</a:t>
            </a:r>
          </a:p>
          <a:p>
            <a:pPr lvl="1" eaLnBrk="1" hangingPunct="1">
              <a:lnSpc>
                <a:spcPct val="120000"/>
              </a:lnSpc>
              <a:spcBef>
                <a:spcPct val="30000"/>
              </a:spcBef>
              <a:defRPr/>
            </a:pPr>
            <a:r>
              <a:rPr lang="zh-CN" altLang="en-US" sz="1800" dirty="0">
                <a:latin typeface="宋体" panose="02010600030101010101" pitchFamily="2" charset="-122"/>
              </a:rPr>
              <a:t>用图解控制方法进行项目分析的时候应该利用甘特图、累计费用曲线图和资源荷载图来共同监控项目。这个方法可以给项目经理提供项目进展的</a:t>
            </a:r>
            <a:r>
              <a:rPr lang="zh-CN" altLang="en-US" sz="1800" dirty="0">
                <a:solidFill>
                  <a:srgbClr val="FF0000"/>
                </a:solidFill>
                <a:latin typeface="宋体" panose="02010600030101010101" pitchFamily="2" charset="-122"/>
              </a:rPr>
              <a:t>直接的信息</a:t>
            </a:r>
            <a:r>
              <a:rPr lang="zh-CN" altLang="en-US" sz="1800" dirty="0">
                <a:latin typeface="宋体" panose="02010600030101010101" pitchFamily="2" charset="-122"/>
              </a:rPr>
              <a:t>。</a:t>
            </a:r>
            <a:endParaRPr lang="en-US" altLang="zh-CN" sz="1800" dirty="0">
              <a:latin typeface="宋体" panose="02010600030101010101" pitchFamily="2" charset="-122"/>
            </a:endParaRPr>
          </a:p>
          <a:p>
            <a:pPr lvl="1" eaLnBrk="1" hangingPunct="1">
              <a:lnSpc>
                <a:spcPct val="120000"/>
              </a:lnSpc>
              <a:spcBef>
                <a:spcPct val="30000"/>
              </a:spcBef>
              <a:defRPr/>
            </a:pPr>
            <a:r>
              <a:rPr lang="zh-CN" altLang="en-US" sz="1800" dirty="0">
                <a:solidFill>
                  <a:srgbClr val="FF0000"/>
                </a:solidFill>
                <a:latin typeface="宋体" panose="02010600030101010101" pitchFamily="2" charset="-122"/>
              </a:rPr>
              <a:t>优点：</a:t>
            </a:r>
            <a:r>
              <a:rPr lang="zh-CN" altLang="en-US" sz="1800" dirty="0">
                <a:latin typeface="宋体" panose="02010600030101010101" pitchFamily="2" charset="-122"/>
              </a:rPr>
              <a:t>可以一目了然地确定项目状况，采用这种易于理解的方法，既可以向上级管理层，也可以向项目人员报告项目的状况。</a:t>
            </a:r>
            <a:endParaRPr lang="en-US" altLang="zh-CN" sz="1800" dirty="0">
              <a:latin typeface="宋体" panose="02010600030101010101" pitchFamily="2" charset="-122"/>
            </a:endParaRPr>
          </a:p>
          <a:p>
            <a:pPr lvl="1" eaLnBrk="1" hangingPunct="1">
              <a:lnSpc>
                <a:spcPct val="120000"/>
              </a:lnSpc>
              <a:spcBef>
                <a:spcPct val="30000"/>
              </a:spcBef>
              <a:defRPr/>
            </a:pPr>
            <a:r>
              <a:rPr lang="zh-CN" altLang="en-US" sz="1800" dirty="0">
                <a:solidFill>
                  <a:srgbClr val="FF0000"/>
                </a:solidFill>
                <a:latin typeface="宋体" panose="02010600030101010101" pitchFamily="2" charset="-122"/>
              </a:rPr>
              <a:t>缺点：</a:t>
            </a:r>
            <a:r>
              <a:rPr lang="zh-CN" altLang="en-US" sz="1800" dirty="0">
                <a:latin typeface="宋体" panose="02010600030101010101" pitchFamily="2" charset="-122"/>
              </a:rPr>
              <a:t>只能提供视觉印象，但本身不能提供其他重要的量化信息。例如相对于完成的工作量预算支出的速度，每项工作的预算和进度中所占的份额或者完成工作的百分比等。而</a:t>
            </a:r>
            <a:r>
              <a:rPr lang="zh-CN" altLang="en-US" sz="1800" dirty="0">
                <a:solidFill>
                  <a:srgbClr val="FF0000"/>
                </a:solidFill>
                <a:latin typeface="宋体" panose="02010600030101010101" pitchFamily="2" charset="-122"/>
              </a:rPr>
              <a:t>挣值分析法</a:t>
            </a:r>
            <a:r>
              <a:rPr lang="zh-CN" altLang="en-US" sz="1800" dirty="0">
                <a:latin typeface="宋体" panose="02010600030101010101" pitchFamily="2" charset="-122"/>
              </a:rPr>
              <a:t>可以提供这方面的功能，而且还可以提供更多量化的信息，无论是大型项目还是小型项目都可以采用这个挣值分析法。</a:t>
            </a:r>
            <a:endParaRPr lang="en-US" altLang="zh-CN" sz="1800" dirty="0">
              <a:latin typeface="宋体" panose="02010600030101010101" pitchFamily="2" charset="-122"/>
            </a:endParaRPr>
          </a:p>
          <a:p>
            <a:pPr lvl="2" eaLnBrk="1" hangingPunct="1">
              <a:lnSpc>
                <a:spcPct val="120000"/>
              </a:lnSpc>
              <a:spcBef>
                <a:spcPct val="30000"/>
              </a:spcBef>
              <a:defRPr/>
            </a:pPr>
            <a:endParaRPr lang="zh-CN" altLang="en-US" sz="1600" dirty="0">
              <a:latin typeface="宋体" panose="02010600030101010101" pitchFamily="2" charset="-122"/>
            </a:endParaRPr>
          </a:p>
          <a:p>
            <a:pPr marL="0" indent="0" eaLnBrk="1" hangingPunct="1">
              <a:lnSpc>
                <a:spcPct val="120000"/>
              </a:lnSpc>
              <a:spcBef>
                <a:spcPct val="40000"/>
              </a:spcBef>
              <a:buFont typeface="Wingdings 2" panose="05020102010507070707" pitchFamily="18" charset="2"/>
              <a:buNone/>
              <a:defRPr/>
            </a:pPr>
            <a:endParaRPr lang="zh-CN" altLang="en-US" sz="2000" dirty="0">
              <a:latin typeface="宋体" panose="02010600030101010101" pitchFamily="2" charset="-122"/>
            </a:endParaRPr>
          </a:p>
          <a:p>
            <a:pPr eaLnBrk="1" hangingPunct="1">
              <a:lnSpc>
                <a:spcPct val="120000"/>
              </a:lnSpc>
              <a:spcBef>
                <a:spcPct val="40000"/>
              </a:spcBef>
              <a:buFont typeface="Wingdings 2" panose="05020102010507070707" pitchFamily="18" charset="2"/>
              <a:buNone/>
              <a:defRPr/>
            </a:pPr>
            <a:endParaRPr lang="en-US" altLang="zh-CN" sz="2000" dirty="0">
              <a:latin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40D73D7-F6F9-D09D-4584-4B530A2E37E2}"/>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49155" name="Rectangle 3">
            <a:extLst>
              <a:ext uri="{FF2B5EF4-FFF2-40B4-BE49-F238E27FC236}">
                <a16:creationId xmlns:a16="http://schemas.microsoft.com/office/drawing/2014/main" id="{2CC81FA9-970F-A304-3FC8-84BD27D614D6}"/>
              </a:ext>
            </a:extLst>
          </p:cNvPr>
          <p:cNvSpPr>
            <a:spLocks noGrp="1" noChangeArrowheads="1"/>
          </p:cNvSpPr>
          <p:nvPr>
            <p:ph type="body" idx="1"/>
          </p:nvPr>
        </p:nvSpPr>
        <p:spPr>
          <a:xfrm>
            <a:off x="611188" y="1916113"/>
            <a:ext cx="8353425" cy="4537075"/>
          </a:xfrm>
        </p:spPr>
        <p:txBody>
          <a:bodyPr/>
          <a:lstStyle/>
          <a:p>
            <a:pPr eaLnBrk="1" hangingPunct="1">
              <a:lnSpc>
                <a:spcPct val="120000"/>
              </a:lnSpc>
              <a:spcBef>
                <a:spcPct val="40000"/>
              </a:spcBef>
            </a:pPr>
            <a:r>
              <a:rPr lang="zh-CN" altLang="en-US" sz="2400" dirty="0">
                <a:solidFill>
                  <a:schemeClr val="accent2"/>
                </a:solidFill>
                <a:ea typeface="黑体" panose="02010609060101010101" pitchFamily="49" charset="-122"/>
              </a:rPr>
              <a:t>项目性能分析方法</a:t>
            </a:r>
            <a:r>
              <a:rPr lang="zh-CN" altLang="en-US" dirty="0"/>
              <a:t> </a:t>
            </a:r>
            <a:endParaRPr lang="zh-CN" altLang="en-US" sz="2000" dirty="0"/>
          </a:p>
          <a:p>
            <a:pPr eaLnBrk="1" hangingPunct="1">
              <a:lnSpc>
                <a:spcPct val="120000"/>
              </a:lnSpc>
            </a:pPr>
            <a:r>
              <a:rPr lang="zh-CN" altLang="en-US" sz="2000" dirty="0">
                <a:solidFill>
                  <a:schemeClr val="accent2"/>
                </a:solidFill>
                <a:latin typeface="黑体" panose="02010609060101010101" pitchFamily="49" charset="-122"/>
                <a:ea typeface="黑体" panose="02010609060101010101" pitchFamily="49" charset="-122"/>
              </a:rPr>
              <a:t>挣值分析法</a:t>
            </a:r>
            <a:r>
              <a:rPr lang="zh-CN" altLang="en-US" sz="2000" dirty="0">
                <a:latin typeface="宋体" panose="02010600030101010101" pitchFamily="2" charset="-122"/>
              </a:rPr>
              <a:t>（盈余分析法、已获取价值分析法）</a:t>
            </a:r>
            <a:endParaRPr lang="en-US" altLang="zh-CN" sz="2000" dirty="0">
              <a:latin typeface="宋体" panose="02010600030101010101" pitchFamily="2" charset="-122"/>
            </a:endParaRPr>
          </a:p>
          <a:p>
            <a:pPr eaLnBrk="1" hangingPunct="1">
              <a:lnSpc>
                <a:spcPct val="120000"/>
              </a:lnSpc>
            </a:pPr>
            <a:r>
              <a:rPr lang="zh-CN" altLang="en-US" sz="2000" dirty="0">
                <a:latin typeface="宋体" panose="02010600030101010101" pitchFamily="2" charset="-122"/>
              </a:rPr>
              <a:t>挣值分析法是对项目实施的进度、成本状态进行绩效评估的有效方法，是估算</a:t>
            </a:r>
            <a:r>
              <a:rPr lang="zh-CN" altLang="en-US" sz="2000" dirty="0">
                <a:solidFill>
                  <a:srgbClr val="FF0000"/>
                </a:solidFill>
                <a:latin typeface="宋体" panose="02010600030101010101" pitchFamily="2" charset="-122"/>
              </a:rPr>
              <a:t>实际花费在一个项目上的工作量</a:t>
            </a:r>
            <a:r>
              <a:rPr lang="zh-CN" altLang="en-US" sz="2000" dirty="0">
                <a:latin typeface="宋体" panose="02010600030101010101" pitchFamily="2" charset="-122"/>
              </a:rPr>
              <a:t>以及</a:t>
            </a:r>
            <a:r>
              <a:rPr lang="zh-CN" altLang="en-US" sz="2000" dirty="0">
                <a:solidFill>
                  <a:srgbClr val="FF0000"/>
                </a:solidFill>
                <a:latin typeface="宋体" panose="02010600030101010101" pitchFamily="2" charset="-122"/>
              </a:rPr>
              <a:t>预计该项目所需成本</a:t>
            </a:r>
            <a:r>
              <a:rPr lang="zh-CN" altLang="en-US" sz="2000" dirty="0">
                <a:latin typeface="宋体" panose="02010600030101010101" pitchFamily="2" charset="-122"/>
              </a:rPr>
              <a:t>和</a:t>
            </a:r>
            <a:r>
              <a:rPr lang="zh-CN" altLang="en-US" sz="2000" dirty="0">
                <a:solidFill>
                  <a:srgbClr val="FF0000"/>
                </a:solidFill>
                <a:latin typeface="宋体" panose="02010600030101010101" pitchFamily="2" charset="-122"/>
              </a:rPr>
              <a:t>完成该项目的日期</a:t>
            </a:r>
            <a:r>
              <a:rPr lang="zh-CN" altLang="en-US" sz="2000" dirty="0">
                <a:latin typeface="宋体" panose="02010600030101010101" pitchFamily="2" charset="-122"/>
              </a:rPr>
              <a:t>的一种方法。</a:t>
            </a:r>
          </a:p>
          <a:p>
            <a:pPr eaLnBrk="1" hangingPunct="1">
              <a:lnSpc>
                <a:spcPct val="120000"/>
              </a:lnSpc>
              <a:buFont typeface="Wingdings 2" panose="05020102010507070707" pitchFamily="18" charset="2"/>
              <a:buNone/>
            </a:pPr>
            <a:r>
              <a:rPr lang="zh-CN" altLang="en-US" sz="2000" dirty="0">
                <a:latin typeface="黑体" panose="02010609060101010101" pitchFamily="49" charset="-122"/>
                <a:ea typeface="黑体" panose="02010609060101010101" pitchFamily="49" charset="-122"/>
              </a:rPr>
              <a:t>   </a:t>
            </a:r>
            <a:r>
              <a:rPr lang="en-US" altLang="zh-CN" sz="2000" dirty="0">
                <a:solidFill>
                  <a:schemeClr val="accent2"/>
                </a:solidFill>
                <a:ea typeface="黑体" panose="02010609060101010101" pitchFamily="49" charset="-122"/>
              </a:rPr>
              <a:t>——Eared Value Analysis </a:t>
            </a:r>
            <a:r>
              <a:rPr lang="zh-CN" altLang="en-US" sz="2000" dirty="0">
                <a:latin typeface="黑体" panose="02010609060101010101" pitchFamily="49" charset="-122"/>
                <a:ea typeface="黑体" panose="02010609060101010101" pitchFamily="49" charset="-122"/>
              </a:rPr>
              <a:t>利用成本会计评估项目进展情况的一种方法，可以提供更多量化的信息</a:t>
            </a:r>
          </a:p>
          <a:p>
            <a:pPr eaLnBrk="1" hangingPunct="1">
              <a:lnSpc>
                <a:spcPct val="120000"/>
              </a:lnSpc>
              <a:spcBef>
                <a:spcPct val="40000"/>
              </a:spcBef>
            </a:pPr>
            <a:endParaRPr lang="zh-CN" altLang="en-US" sz="2000" dirty="0">
              <a:latin typeface="宋体" panose="02010600030101010101" pitchFamily="2" charset="-122"/>
            </a:endParaRPr>
          </a:p>
          <a:p>
            <a:pPr eaLnBrk="1" hangingPunct="1">
              <a:lnSpc>
                <a:spcPct val="120000"/>
              </a:lnSpc>
              <a:spcBef>
                <a:spcPct val="40000"/>
              </a:spcBef>
              <a:buFont typeface="Wingdings 2" panose="05020102010507070707" pitchFamily="18" charset="2"/>
              <a:buNone/>
            </a:pPr>
            <a:endParaRPr lang="en-US" altLang="zh-CN" sz="2000" dirty="0">
              <a:latin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40D73D7-F6F9-D09D-4584-4B530A2E37E2}"/>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49155" name="Rectangle 3">
            <a:extLst>
              <a:ext uri="{FF2B5EF4-FFF2-40B4-BE49-F238E27FC236}">
                <a16:creationId xmlns:a16="http://schemas.microsoft.com/office/drawing/2014/main" id="{2CC81FA9-970F-A304-3FC8-84BD27D614D6}"/>
              </a:ext>
            </a:extLst>
          </p:cNvPr>
          <p:cNvSpPr>
            <a:spLocks noGrp="1" noChangeArrowheads="1"/>
          </p:cNvSpPr>
          <p:nvPr>
            <p:ph type="body" idx="1"/>
          </p:nvPr>
        </p:nvSpPr>
        <p:spPr>
          <a:xfrm>
            <a:off x="611188" y="1916113"/>
            <a:ext cx="8353425" cy="4537075"/>
          </a:xfrm>
        </p:spPr>
        <p:txBody>
          <a:bodyPr/>
          <a:lstStyle/>
          <a:p>
            <a:pPr eaLnBrk="1" hangingPunct="1">
              <a:lnSpc>
                <a:spcPct val="120000"/>
              </a:lnSpc>
              <a:spcBef>
                <a:spcPct val="40000"/>
              </a:spcBef>
            </a:pPr>
            <a:r>
              <a:rPr lang="zh-CN" altLang="en-US" sz="2400" dirty="0">
                <a:solidFill>
                  <a:schemeClr val="accent2"/>
                </a:solidFill>
                <a:ea typeface="黑体" panose="02010609060101010101" pitchFamily="49" charset="-122"/>
              </a:rPr>
              <a:t>项目性能分析方法</a:t>
            </a:r>
            <a:r>
              <a:rPr lang="zh-CN" altLang="en-US" dirty="0"/>
              <a:t> </a:t>
            </a:r>
            <a:endParaRPr lang="zh-CN" altLang="en-US" sz="2000" dirty="0"/>
          </a:p>
          <a:p>
            <a:pPr eaLnBrk="1" hangingPunct="1">
              <a:lnSpc>
                <a:spcPct val="120000"/>
              </a:lnSpc>
            </a:pPr>
            <a:r>
              <a:rPr lang="zh-CN" altLang="en-US" sz="2000" dirty="0">
                <a:solidFill>
                  <a:schemeClr val="accent2"/>
                </a:solidFill>
                <a:latin typeface="黑体" panose="02010609060101010101" pitchFamily="49" charset="-122"/>
                <a:ea typeface="黑体" panose="02010609060101010101" pitchFamily="49" charset="-122"/>
              </a:rPr>
              <a:t>挣值分析法</a:t>
            </a:r>
            <a:r>
              <a:rPr lang="zh-CN" altLang="en-US" sz="2000" dirty="0">
                <a:latin typeface="宋体" panose="02010600030101010101" pitchFamily="2" charset="-122"/>
              </a:rPr>
              <a:t>（盈余分析法、已获取价值分析法）</a:t>
            </a:r>
            <a:endParaRPr lang="en-US" altLang="zh-CN" sz="2000" dirty="0">
              <a:latin typeface="宋体" panose="02010600030101010101" pitchFamily="2" charset="-122"/>
            </a:endParaRPr>
          </a:p>
          <a:p>
            <a:pPr eaLnBrk="1" hangingPunct="1">
              <a:lnSpc>
                <a:spcPct val="120000"/>
              </a:lnSpc>
            </a:pPr>
            <a:r>
              <a:rPr lang="zh-CN" altLang="en-US" sz="2000" dirty="0">
                <a:latin typeface="宋体" panose="02010600030101010101" pitchFamily="2" charset="-122"/>
              </a:rPr>
              <a:t>挣值分析法是利用成本会计的概念评估项目进展情况的一种方法。传统的项目性能统计是将实际的值与计划的值比较，</a:t>
            </a:r>
            <a:r>
              <a:rPr lang="zh-CN" altLang="en-US" sz="2000" dirty="0">
                <a:solidFill>
                  <a:srgbClr val="FF0000"/>
                </a:solidFill>
                <a:latin typeface="宋体" panose="02010600030101010101" pitchFamily="2" charset="-122"/>
              </a:rPr>
              <a:t>计算差值，判断差值的情况</a:t>
            </a:r>
            <a:r>
              <a:rPr lang="zh-CN" altLang="en-US" sz="2000" dirty="0">
                <a:latin typeface="宋体" panose="02010600030101010101" pitchFamily="2" charset="-122"/>
              </a:rPr>
              <a:t>。</a:t>
            </a:r>
            <a:endParaRPr lang="en-US" altLang="zh-CN" sz="2000" dirty="0">
              <a:latin typeface="宋体" panose="02010600030101010101" pitchFamily="2" charset="-122"/>
            </a:endParaRPr>
          </a:p>
          <a:p>
            <a:pPr eaLnBrk="1" hangingPunct="1">
              <a:lnSpc>
                <a:spcPct val="120000"/>
              </a:lnSpc>
            </a:pPr>
            <a:r>
              <a:rPr lang="zh-CN" altLang="en-US" sz="2000" dirty="0">
                <a:latin typeface="宋体" panose="02010600030101010101" pitchFamily="2" charset="-122"/>
              </a:rPr>
              <a:t>实际的执行情况可能</a:t>
            </a:r>
            <a:r>
              <a:rPr lang="zh-CN" altLang="en-US" sz="2000" dirty="0">
                <a:solidFill>
                  <a:srgbClr val="FF0000"/>
                </a:solidFill>
                <a:latin typeface="宋体" panose="02010600030101010101" pitchFamily="2" charset="-122"/>
              </a:rPr>
              <a:t>不是这样简单</a:t>
            </a:r>
            <a:r>
              <a:rPr lang="zh-CN" altLang="en-US" sz="2000" dirty="0">
                <a:latin typeface="宋体" panose="02010600030101010101" pitchFamily="2" charset="-122"/>
              </a:rPr>
              <a:t>，如果实际完成的任务量超过了计划的任务量，那么实际的花费可能远大于计划的成本，但不能说超出成本了。</a:t>
            </a:r>
            <a:endParaRPr lang="en-US" altLang="zh-CN" sz="2000" dirty="0">
              <a:latin typeface="宋体" panose="02010600030101010101" pitchFamily="2" charset="-122"/>
            </a:endParaRPr>
          </a:p>
          <a:p>
            <a:pPr eaLnBrk="1" hangingPunct="1">
              <a:lnSpc>
                <a:spcPct val="120000"/>
              </a:lnSpc>
            </a:pPr>
            <a:r>
              <a:rPr lang="zh-CN" altLang="en-US" sz="2000" dirty="0">
                <a:latin typeface="宋体" panose="02010600030101010101" pitchFamily="2" charset="-122"/>
              </a:rPr>
              <a:t>所以，应该</a:t>
            </a:r>
            <a:r>
              <a:rPr lang="zh-CN" altLang="en-US" sz="2000" dirty="0">
                <a:solidFill>
                  <a:srgbClr val="FF0000"/>
                </a:solidFill>
                <a:latin typeface="宋体" panose="02010600030101010101" pitchFamily="2" charset="-122"/>
              </a:rPr>
              <a:t>计算实际完成结果的价值</a:t>
            </a:r>
            <a:r>
              <a:rPr lang="zh-CN" altLang="en-US" sz="2000" dirty="0">
                <a:latin typeface="宋体" panose="02010600030101010101" pitchFamily="2" charset="-122"/>
              </a:rPr>
              <a:t>，这样就引出了已获取价值的概念，即到目前为止项目实际完成的价值。有了“已获取价值”就可以避免只用实际值与计划值进行简单减法而产生的不一致性。</a:t>
            </a:r>
          </a:p>
          <a:p>
            <a:pPr eaLnBrk="1" hangingPunct="1">
              <a:lnSpc>
                <a:spcPct val="120000"/>
              </a:lnSpc>
              <a:spcBef>
                <a:spcPct val="40000"/>
              </a:spcBef>
              <a:buFont typeface="Wingdings 2" panose="05020102010507070707" pitchFamily="18" charset="2"/>
              <a:buNone/>
            </a:pPr>
            <a:endParaRPr lang="en-US" altLang="zh-CN" sz="2000" dirty="0">
              <a:latin typeface="宋体" panose="02010600030101010101" pitchFamily="2" charset="-122"/>
            </a:endParaRPr>
          </a:p>
        </p:txBody>
      </p:sp>
    </p:spTree>
    <p:extLst>
      <p:ext uri="{BB962C8B-B14F-4D97-AF65-F5344CB8AC3E}">
        <p14:creationId xmlns:p14="http://schemas.microsoft.com/office/powerpoint/2010/main" val="4049023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E01776D9-5ADD-CC69-5A49-50B8B8C484E5}"/>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51203" name="Rectangle 3">
            <a:extLst>
              <a:ext uri="{FF2B5EF4-FFF2-40B4-BE49-F238E27FC236}">
                <a16:creationId xmlns:a16="http://schemas.microsoft.com/office/drawing/2014/main" id="{0E9E2F07-1739-62F0-3DBB-592A4214CA7A}"/>
              </a:ext>
            </a:extLst>
          </p:cNvPr>
          <p:cNvSpPr>
            <a:spLocks noGrp="1" noChangeArrowheads="1"/>
          </p:cNvSpPr>
          <p:nvPr>
            <p:ph type="body" idx="1"/>
          </p:nvPr>
        </p:nvSpPr>
        <p:spPr>
          <a:xfrm>
            <a:off x="395288" y="1989138"/>
            <a:ext cx="8569325" cy="4868862"/>
          </a:xfrm>
        </p:spPr>
        <p:txBody>
          <a:bodyPr/>
          <a:lstStyle/>
          <a:p>
            <a:pPr eaLnBrk="1" hangingPunct="1"/>
            <a:r>
              <a:rPr lang="zh-CN" altLang="en-US" sz="2000">
                <a:solidFill>
                  <a:srgbClr val="CC6600"/>
                </a:solidFill>
                <a:latin typeface="黑体" panose="02010609060101010101" pitchFamily="49" charset="-122"/>
                <a:ea typeface="黑体" panose="02010609060101010101" pitchFamily="49" charset="-122"/>
              </a:rPr>
              <a:t>已获取价值分析模型</a:t>
            </a:r>
          </a:p>
        </p:txBody>
      </p:sp>
      <p:grpSp>
        <p:nvGrpSpPr>
          <p:cNvPr id="51204" name="Group 9">
            <a:extLst>
              <a:ext uri="{FF2B5EF4-FFF2-40B4-BE49-F238E27FC236}">
                <a16:creationId xmlns:a16="http://schemas.microsoft.com/office/drawing/2014/main" id="{8BC3A2AD-0A53-AA78-6C3F-5F62DDB06DA8}"/>
              </a:ext>
            </a:extLst>
          </p:cNvPr>
          <p:cNvGrpSpPr>
            <a:grpSpLocks/>
          </p:cNvGrpSpPr>
          <p:nvPr/>
        </p:nvGrpSpPr>
        <p:grpSpPr bwMode="auto">
          <a:xfrm>
            <a:off x="1476375" y="2565400"/>
            <a:ext cx="6624638" cy="3622675"/>
            <a:chOff x="930" y="1616"/>
            <a:chExt cx="4173" cy="2282"/>
          </a:xfrm>
        </p:grpSpPr>
        <p:sp>
          <p:nvSpPr>
            <p:cNvPr id="51205" name="Text Box 5">
              <a:extLst>
                <a:ext uri="{FF2B5EF4-FFF2-40B4-BE49-F238E27FC236}">
                  <a16:creationId xmlns:a16="http://schemas.microsoft.com/office/drawing/2014/main" id="{7F0BFB60-24A4-72BA-3CCE-85C4179C46AF}"/>
                </a:ext>
              </a:extLst>
            </p:cNvPr>
            <p:cNvSpPr txBox="1">
              <a:spLocks noChangeArrowheads="1"/>
            </p:cNvSpPr>
            <p:nvPr/>
          </p:nvSpPr>
          <p:spPr bwMode="auto">
            <a:xfrm>
              <a:off x="930" y="1979"/>
              <a:ext cx="1074" cy="1418"/>
            </a:xfrm>
            <a:prstGeom prst="rect">
              <a:avLst/>
            </a:prstGeom>
            <a:solidFill>
              <a:srgbClr val="86B4E6"/>
            </a:solidFill>
            <a:ln w="25400">
              <a:solidFill>
                <a:schemeClr val="tx1"/>
              </a:solidFill>
              <a:miter lim="800000"/>
              <a:headEnd type="none" w="sm" len="sm"/>
              <a:tailEnd type="none" w="med" len="lg"/>
            </a:ln>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latin typeface="Arial Narrow" panose="020B0606020202030204" pitchFamily="34" charset="0"/>
                  <a:ea typeface="黑体" panose="02010609060101010101" pitchFamily="49" charset="-122"/>
                </a:rPr>
                <a:t>输入</a:t>
              </a:r>
              <a:r>
                <a:rPr lang="zh-CN" altLang="en-US" sz="2000">
                  <a:latin typeface="Arial Narrow" panose="020B0606020202030204" pitchFamily="34" charset="0"/>
                </a:rPr>
                <a:t>：</a:t>
              </a:r>
            </a:p>
            <a:p>
              <a:pPr eaLnBrk="1" hangingPunct="1">
                <a:spcBef>
                  <a:spcPct val="50000"/>
                </a:spcBef>
                <a:buClrTx/>
                <a:buFontTx/>
                <a:buAutoNum type="arabicPeriod"/>
              </a:pPr>
              <a:r>
                <a:rPr lang="en-US" altLang="zh-CN" sz="2000">
                  <a:latin typeface="Arial Narrow" panose="020B0606020202030204" pitchFamily="34" charset="0"/>
                </a:rPr>
                <a:t>BCWS</a:t>
              </a:r>
            </a:p>
            <a:p>
              <a:pPr eaLnBrk="1" hangingPunct="1">
                <a:spcBef>
                  <a:spcPct val="50000"/>
                </a:spcBef>
                <a:buClrTx/>
                <a:buFontTx/>
                <a:buAutoNum type="arabicPeriod"/>
              </a:pPr>
              <a:r>
                <a:rPr lang="en-US" altLang="zh-CN" sz="2000">
                  <a:latin typeface="Arial Narrow" panose="020B0606020202030204" pitchFamily="34" charset="0"/>
                </a:rPr>
                <a:t>BCWP</a:t>
              </a:r>
            </a:p>
            <a:p>
              <a:pPr eaLnBrk="1" hangingPunct="1">
                <a:spcBef>
                  <a:spcPct val="50000"/>
                </a:spcBef>
                <a:buClrTx/>
                <a:buFontTx/>
                <a:buAutoNum type="arabicPeriod"/>
              </a:pPr>
              <a:r>
                <a:rPr lang="en-US" altLang="zh-CN" sz="2000">
                  <a:latin typeface="Arial Narrow" panose="020B0606020202030204" pitchFamily="34" charset="0"/>
                </a:rPr>
                <a:t>ACWP</a:t>
              </a:r>
            </a:p>
            <a:p>
              <a:pPr eaLnBrk="1" hangingPunct="1">
                <a:spcBef>
                  <a:spcPct val="50000"/>
                </a:spcBef>
                <a:buClrTx/>
                <a:buFontTx/>
                <a:buAutoNum type="arabicPeriod"/>
              </a:pPr>
              <a:r>
                <a:rPr lang="en-US" altLang="zh-CN" sz="2000">
                  <a:latin typeface="Arial Narrow" panose="020B0606020202030204" pitchFamily="34" charset="0"/>
                </a:rPr>
                <a:t>BAC</a:t>
              </a:r>
            </a:p>
          </p:txBody>
        </p:sp>
        <p:sp>
          <p:nvSpPr>
            <p:cNvPr id="51206" name="Text Box 6">
              <a:extLst>
                <a:ext uri="{FF2B5EF4-FFF2-40B4-BE49-F238E27FC236}">
                  <a16:creationId xmlns:a16="http://schemas.microsoft.com/office/drawing/2014/main" id="{975FF47C-C8D5-209C-D8EA-52929A7FFE55}"/>
                </a:ext>
              </a:extLst>
            </p:cNvPr>
            <p:cNvSpPr txBox="1">
              <a:spLocks noChangeArrowheads="1"/>
            </p:cNvSpPr>
            <p:nvPr/>
          </p:nvSpPr>
          <p:spPr bwMode="auto">
            <a:xfrm>
              <a:off x="4029" y="1616"/>
              <a:ext cx="1074" cy="2282"/>
            </a:xfrm>
            <a:prstGeom prst="rect">
              <a:avLst/>
            </a:prstGeom>
            <a:solidFill>
              <a:srgbClr val="86B4E6"/>
            </a:solidFill>
            <a:ln w="25400">
              <a:solidFill>
                <a:schemeClr val="tx1"/>
              </a:solidFill>
              <a:miter lim="800000"/>
              <a:headEnd type="none" w="sm" len="sm"/>
              <a:tailEnd type="none" w="med" len="lg"/>
            </a:ln>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latin typeface="Arial Narrow" panose="020B0606020202030204" pitchFamily="34" charset="0"/>
                  <a:ea typeface="黑体" panose="02010609060101010101" pitchFamily="49" charset="-122"/>
                </a:rPr>
                <a:t>输出</a:t>
              </a:r>
              <a:r>
                <a:rPr lang="zh-CN" altLang="en-US" sz="2000">
                  <a:latin typeface="Arial Narrow" panose="020B0606020202030204" pitchFamily="34" charset="0"/>
                </a:rPr>
                <a:t>：</a:t>
              </a:r>
            </a:p>
            <a:p>
              <a:pPr eaLnBrk="1" hangingPunct="1">
                <a:spcBef>
                  <a:spcPct val="50000"/>
                </a:spcBef>
                <a:buClrTx/>
                <a:buFontTx/>
                <a:buAutoNum type="arabicPeriod"/>
              </a:pPr>
              <a:r>
                <a:rPr lang="en-US" altLang="zh-CN" sz="2000">
                  <a:latin typeface="Arial Narrow" panose="020B0606020202030204" pitchFamily="34" charset="0"/>
                </a:rPr>
                <a:t>CV</a:t>
              </a:r>
            </a:p>
            <a:p>
              <a:pPr eaLnBrk="1" hangingPunct="1">
                <a:spcBef>
                  <a:spcPct val="50000"/>
                </a:spcBef>
                <a:buClrTx/>
                <a:buFontTx/>
                <a:buAutoNum type="arabicPeriod"/>
              </a:pPr>
              <a:r>
                <a:rPr lang="en-US" altLang="zh-CN" sz="2000">
                  <a:latin typeface="Arial Narrow" panose="020B0606020202030204" pitchFamily="34" charset="0"/>
                </a:rPr>
                <a:t>CPI</a:t>
              </a:r>
            </a:p>
            <a:p>
              <a:pPr eaLnBrk="1" hangingPunct="1">
                <a:spcBef>
                  <a:spcPct val="50000"/>
                </a:spcBef>
                <a:buClrTx/>
                <a:buFontTx/>
                <a:buAutoNum type="arabicPeriod"/>
              </a:pPr>
              <a:r>
                <a:rPr lang="en-US" altLang="zh-CN" sz="2000">
                  <a:latin typeface="Arial Narrow" panose="020B0606020202030204" pitchFamily="34" charset="0"/>
                </a:rPr>
                <a:t>SV</a:t>
              </a:r>
            </a:p>
            <a:p>
              <a:pPr eaLnBrk="1" hangingPunct="1">
                <a:spcBef>
                  <a:spcPct val="50000"/>
                </a:spcBef>
                <a:buClrTx/>
                <a:buFontTx/>
                <a:buAutoNum type="arabicPeriod"/>
              </a:pPr>
              <a:r>
                <a:rPr lang="en-US" altLang="zh-CN" sz="2000">
                  <a:latin typeface="Arial Narrow" panose="020B0606020202030204" pitchFamily="34" charset="0"/>
                </a:rPr>
                <a:t>SPI</a:t>
              </a:r>
            </a:p>
            <a:p>
              <a:pPr eaLnBrk="1" hangingPunct="1">
                <a:spcBef>
                  <a:spcPct val="50000"/>
                </a:spcBef>
                <a:buClrTx/>
                <a:buFontTx/>
                <a:buAutoNum type="arabicPeriod"/>
              </a:pPr>
              <a:r>
                <a:rPr lang="en-US" altLang="zh-CN" sz="2000">
                  <a:latin typeface="Arial Narrow" panose="020B0606020202030204" pitchFamily="34" charset="0"/>
                </a:rPr>
                <a:t>EAC</a:t>
              </a:r>
            </a:p>
            <a:p>
              <a:pPr eaLnBrk="1" hangingPunct="1">
                <a:spcBef>
                  <a:spcPct val="50000"/>
                </a:spcBef>
                <a:buClrTx/>
                <a:buFontTx/>
                <a:buAutoNum type="arabicPeriod"/>
              </a:pPr>
              <a:r>
                <a:rPr lang="en-US" altLang="zh-CN" sz="2000">
                  <a:latin typeface="Arial Narrow" panose="020B0606020202030204" pitchFamily="34" charset="0"/>
                </a:rPr>
                <a:t>VAC</a:t>
              </a:r>
            </a:p>
            <a:p>
              <a:pPr eaLnBrk="1" hangingPunct="1">
                <a:spcBef>
                  <a:spcPct val="50000"/>
                </a:spcBef>
                <a:buClrTx/>
                <a:buFontTx/>
                <a:buAutoNum type="arabicPeriod"/>
              </a:pPr>
              <a:r>
                <a:rPr lang="en-US" altLang="zh-CN" sz="2000">
                  <a:latin typeface="Arial Narrow" panose="020B0606020202030204" pitchFamily="34" charset="0"/>
                </a:rPr>
                <a:t>SAC</a:t>
              </a:r>
            </a:p>
          </p:txBody>
        </p:sp>
        <p:sp>
          <p:nvSpPr>
            <p:cNvPr id="51207" name="AutoShape 7">
              <a:extLst>
                <a:ext uri="{FF2B5EF4-FFF2-40B4-BE49-F238E27FC236}">
                  <a16:creationId xmlns:a16="http://schemas.microsoft.com/office/drawing/2014/main" id="{A7A7118D-2D2C-F242-28B9-EA2402173244}"/>
                </a:ext>
              </a:extLst>
            </p:cNvPr>
            <p:cNvSpPr>
              <a:spLocks noChangeArrowheads="1"/>
            </p:cNvSpPr>
            <p:nvPr/>
          </p:nvSpPr>
          <p:spPr bwMode="auto">
            <a:xfrm>
              <a:off x="2336" y="2886"/>
              <a:ext cx="1405" cy="455"/>
            </a:xfrm>
            <a:prstGeom prst="homePlate">
              <a:avLst>
                <a:gd name="adj" fmla="val 77198"/>
              </a:avLst>
            </a:prstGeom>
            <a:solidFill>
              <a:srgbClr val="86B4E6"/>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2000">
                  <a:latin typeface="Arial Narrow" panose="020B0606020202030204" pitchFamily="34" charset="0"/>
                  <a:ea typeface="黑体" panose="02010609060101010101" pitchFamily="49" charset="-122"/>
                </a:rPr>
                <a:t>已获价值分析</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DE4C5AF3-5A02-24DD-7536-1A45669EDBCF}"/>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52227" name="Rectangle 3">
            <a:extLst>
              <a:ext uri="{FF2B5EF4-FFF2-40B4-BE49-F238E27FC236}">
                <a16:creationId xmlns:a16="http://schemas.microsoft.com/office/drawing/2014/main" id="{190C26E6-F3D5-B9B8-D05D-699128A28AEE}"/>
              </a:ext>
            </a:extLst>
          </p:cNvPr>
          <p:cNvSpPr>
            <a:spLocks noGrp="1" noChangeArrowheads="1"/>
          </p:cNvSpPr>
          <p:nvPr>
            <p:ph type="body" idx="1"/>
          </p:nvPr>
        </p:nvSpPr>
        <p:spPr>
          <a:xfrm>
            <a:off x="395288" y="1844675"/>
            <a:ext cx="8569325" cy="5013325"/>
          </a:xfrm>
        </p:spPr>
        <p:txBody>
          <a:bodyPr/>
          <a:lstStyle/>
          <a:p>
            <a:pPr eaLnBrk="1" hangingPunct="1"/>
            <a:r>
              <a:rPr lang="zh-CN" altLang="en-US" sz="2000">
                <a:latin typeface="黑体" panose="02010609060101010101" pitchFamily="49" charset="-122"/>
                <a:ea typeface="黑体" panose="02010609060101010101" pitchFamily="49" charset="-122"/>
              </a:rPr>
              <a:t>输入</a:t>
            </a:r>
          </a:p>
          <a:p>
            <a:pPr lvl="1" eaLnBrk="1" hangingPunct="1">
              <a:lnSpc>
                <a:spcPct val="120000"/>
              </a:lnSpc>
              <a:spcBef>
                <a:spcPct val="30000"/>
              </a:spcBef>
            </a:pPr>
            <a:r>
              <a:rPr lang="en-US" altLang="zh-CN" sz="2000">
                <a:ea typeface="黑体" panose="02010609060101010101" pitchFamily="49" charset="-122"/>
              </a:rPr>
              <a:t>BCWS(Budgeted cost of work scheduled)</a:t>
            </a:r>
          </a:p>
          <a:p>
            <a:pPr lvl="2" eaLnBrk="1" hangingPunct="1">
              <a:lnSpc>
                <a:spcPct val="120000"/>
              </a:lnSpc>
              <a:spcBef>
                <a:spcPct val="30000"/>
              </a:spcBef>
            </a:pPr>
            <a:r>
              <a:rPr lang="zh-CN" altLang="en-US">
                <a:ea typeface="黑体" panose="02010609060101010101" pitchFamily="49" charset="-122"/>
              </a:rPr>
              <a:t>计划工作成本</a:t>
            </a:r>
          </a:p>
          <a:p>
            <a:pPr lvl="1" eaLnBrk="1" hangingPunct="1">
              <a:lnSpc>
                <a:spcPct val="120000"/>
              </a:lnSpc>
              <a:spcBef>
                <a:spcPct val="30000"/>
              </a:spcBef>
            </a:pPr>
            <a:r>
              <a:rPr lang="en-US" altLang="zh-CN" sz="2000">
                <a:ea typeface="黑体" panose="02010609060101010101" pitchFamily="49" charset="-122"/>
              </a:rPr>
              <a:t>ACWP(Actual cost of work performed)</a:t>
            </a:r>
          </a:p>
          <a:p>
            <a:pPr lvl="2" eaLnBrk="1" hangingPunct="1">
              <a:lnSpc>
                <a:spcPct val="120000"/>
              </a:lnSpc>
              <a:spcBef>
                <a:spcPct val="30000"/>
              </a:spcBef>
            </a:pPr>
            <a:r>
              <a:rPr lang="zh-CN" altLang="en-US">
                <a:ea typeface="黑体" panose="02010609060101010101" pitchFamily="49" charset="-122"/>
              </a:rPr>
              <a:t>实际工作成本</a:t>
            </a:r>
          </a:p>
          <a:p>
            <a:pPr lvl="1" eaLnBrk="1" hangingPunct="1">
              <a:lnSpc>
                <a:spcPct val="120000"/>
              </a:lnSpc>
              <a:spcBef>
                <a:spcPct val="30000"/>
              </a:spcBef>
            </a:pPr>
            <a:r>
              <a:rPr lang="en-US" altLang="zh-CN" sz="2000">
                <a:ea typeface="黑体" panose="02010609060101010101" pitchFamily="49" charset="-122"/>
              </a:rPr>
              <a:t>BCWP(Budgeted cost of work performed)</a:t>
            </a:r>
          </a:p>
          <a:p>
            <a:pPr lvl="2" eaLnBrk="1" hangingPunct="1">
              <a:lnSpc>
                <a:spcPct val="120000"/>
              </a:lnSpc>
              <a:spcBef>
                <a:spcPct val="30000"/>
              </a:spcBef>
            </a:pPr>
            <a:r>
              <a:rPr lang="zh-CN" altLang="en-US">
                <a:ea typeface="黑体" panose="02010609060101010101" pitchFamily="49" charset="-122"/>
              </a:rPr>
              <a:t>已获值</a:t>
            </a:r>
            <a:r>
              <a:rPr lang="en-US" altLang="zh-CN">
                <a:ea typeface="黑体" panose="02010609060101010101" pitchFamily="49" charset="-122"/>
              </a:rPr>
              <a:t>(Earned Value)</a:t>
            </a:r>
          </a:p>
          <a:p>
            <a:pPr lvl="1" eaLnBrk="1" hangingPunct="1">
              <a:lnSpc>
                <a:spcPct val="120000"/>
              </a:lnSpc>
              <a:spcBef>
                <a:spcPct val="30000"/>
              </a:spcBef>
            </a:pPr>
            <a:r>
              <a:rPr lang="en-US" altLang="zh-CN" sz="2000">
                <a:ea typeface="黑体" panose="02010609060101010101" pitchFamily="49" charset="-122"/>
              </a:rPr>
              <a:t>BAC</a:t>
            </a:r>
            <a:r>
              <a:rPr lang="en-US" altLang="zh-CN" sz="2000">
                <a:ea typeface="黑体" panose="02010609060101010101" pitchFamily="49" charset="-122"/>
                <a:sym typeface="Wingdings" panose="05000000000000000000" pitchFamily="2" charset="2"/>
              </a:rPr>
              <a:t>(Budget At Completion)</a:t>
            </a:r>
          </a:p>
          <a:p>
            <a:pPr lvl="2" eaLnBrk="1" hangingPunct="1">
              <a:lnSpc>
                <a:spcPct val="120000"/>
              </a:lnSpc>
              <a:spcBef>
                <a:spcPct val="30000"/>
              </a:spcBef>
            </a:pPr>
            <a:r>
              <a:rPr lang="zh-CN" altLang="en-US">
                <a:ea typeface="黑体" panose="02010609060101010101" pitchFamily="49" charset="-122"/>
              </a:rPr>
              <a:t>预算总值（估算结果）</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FC5D3C9-2E96-E266-69AE-8488B98D14C8}"/>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53251" name="Rectangle 3">
            <a:extLst>
              <a:ext uri="{FF2B5EF4-FFF2-40B4-BE49-F238E27FC236}">
                <a16:creationId xmlns:a16="http://schemas.microsoft.com/office/drawing/2014/main" id="{76828C55-F83F-0191-D672-38B68B8B9231}"/>
              </a:ext>
            </a:extLst>
          </p:cNvPr>
          <p:cNvSpPr>
            <a:spLocks noGrp="1" noChangeArrowheads="1"/>
          </p:cNvSpPr>
          <p:nvPr>
            <p:ph type="body" idx="1"/>
          </p:nvPr>
        </p:nvSpPr>
        <p:spPr>
          <a:xfrm>
            <a:off x="323850" y="1916113"/>
            <a:ext cx="8640763" cy="4941887"/>
          </a:xfrm>
        </p:spPr>
        <p:txBody>
          <a:bodyPr/>
          <a:lstStyle/>
          <a:p>
            <a:pPr eaLnBrk="1" hangingPunct="1"/>
            <a:r>
              <a:rPr lang="zh-CN" altLang="en-US" sz="2000">
                <a:latin typeface="黑体" panose="02010609060101010101" pitchFamily="49" charset="-122"/>
                <a:ea typeface="黑体" panose="02010609060101010101" pitchFamily="49" charset="-122"/>
              </a:rPr>
              <a:t>已获价值分析原理</a:t>
            </a:r>
          </a:p>
        </p:txBody>
      </p:sp>
      <p:grpSp>
        <p:nvGrpSpPr>
          <p:cNvPr id="53252" name="Group 26">
            <a:extLst>
              <a:ext uri="{FF2B5EF4-FFF2-40B4-BE49-F238E27FC236}">
                <a16:creationId xmlns:a16="http://schemas.microsoft.com/office/drawing/2014/main" id="{F741A980-164F-67DC-9222-9617E6DFF4D8}"/>
              </a:ext>
            </a:extLst>
          </p:cNvPr>
          <p:cNvGrpSpPr>
            <a:grpSpLocks/>
          </p:cNvGrpSpPr>
          <p:nvPr/>
        </p:nvGrpSpPr>
        <p:grpSpPr bwMode="auto">
          <a:xfrm>
            <a:off x="900113" y="2454275"/>
            <a:ext cx="7523162" cy="4403725"/>
            <a:chOff x="335" y="835"/>
            <a:chExt cx="5185" cy="3378"/>
          </a:xfrm>
        </p:grpSpPr>
        <p:sp>
          <p:nvSpPr>
            <p:cNvPr id="53253" name="Text Box 27">
              <a:extLst>
                <a:ext uri="{FF2B5EF4-FFF2-40B4-BE49-F238E27FC236}">
                  <a16:creationId xmlns:a16="http://schemas.microsoft.com/office/drawing/2014/main" id="{D330404A-E305-1BC5-325E-C55315193DB6}"/>
                </a:ext>
              </a:extLst>
            </p:cNvPr>
            <p:cNvSpPr txBox="1">
              <a:spLocks noChangeArrowheads="1"/>
            </p:cNvSpPr>
            <p:nvPr/>
          </p:nvSpPr>
          <p:spPr bwMode="auto">
            <a:xfrm>
              <a:off x="4129" y="3909"/>
              <a:ext cx="110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lang="zh-CN" altLang="en-US" sz="2000">
                  <a:latin typeface="Arial Narrow" panose="020B0606020202030204" pitchFamily="34" charset="0"/>
                  <a:ea typeface="黑体" panose="02010609060101010101" pitchFamily="49" charset="-122"/>
                </a:rPr>
                <a:t>时间</a:t>
              </a:r>
            </a:p>
          </p:txBody>
        </p:sp>
        <p:sp>
          <p:nvSpPr>
            <p:cNvPr id="53254" name="Line 28">
              <a:extLst>
                <a:ext uri="{FF2B5EF4-FFF2-40B4-BE49-F238E27FC236}">
                  <a16:creationId xmlns:a16="http://schemas.microsoft.com/office/drawing/2014/main" id="{B334CFAE-D1A5-63F0-6BE4-00134D57BFF8}"/>
                </a:ext>
              </a:extLst>
            </p:cNvPr>
            <p:cNvSpPr>
              <a:spLocks noChangeShapeType="1"/>
            </p:cNvSpPr>
            <p:nvPr/>
          </p:nvSpPr>
          <p:spPr bwMode="auto">
            <a:xfrm>
              <a:off x="816" y="3427"/>
              <a:ext cx="4512" cy="0"/>
            </a:xfrm>
            <a:prstGeom prst="line">
              <a:avLst/>
            </a:prstGeom>
            <a:noFill/>
            <a:ln w="254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55" name="Line 29">
              <a:extLst>
                <a:ext uri="{FF2B5EF4-FFF2-40B4-BE49-F238E27FC236}">
                  <a16:creationId xmlns:a16="http://schemas.microsoft.com/office/drawing/2014/main" id="{0A175E1D-A3F3-9BBA-5CC4-C6D7AFDC78A0}"/>
                </a:ext>
              </a:extLst>
            </p:cNvPr>
            <p:cNvSpPr>
              <a:spLocks noChangeShapeType="1"/>
            </p:cNvSpPr>
            <p:nvPr/>
          </p:nvSpPr>
          <p:spPr bwMode="auto">
            <a:xfrm flipV="1">
              <a:off x="816" y="835"/>
              <a:ext cx="0" cy="2592"/>
            </a:xfrm>
            <a:prstGeom prst="line">
              <a:avLst/>
            </a:prstGeom>
            <a:noFill/>
            <a:ln w="254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3256" name="Freeform 30">
              <a:extLst>
                <a:ext uri="{FF2B5EF4-FFF2-40B4-BE49-F238E27FC236}">
                  <a16:creationId xmlns:a16="http://schemas.microsoft.com/office/drawing/2014/main" id="{67BA7960-1C78-8F37-A4F6-EE32BDACACE1}"/>
                </a:ext>
              </a:extLst>
            </p:cNvPr>
            <p:cNvSpPr>
              <a:spLocks/>
            </p:cNvSpPr>
            <p:nvPr/>
          </p:nvSpPr>
          <p:spPr bwMode="auto">
            <a:xfrm>
              <a:off x="816" y="1008"/>
              <a:ext cx="4560" cy="2416"/>
            </a:xfrm>
            <a:custGeom>
              <a:avLst/>
              <a:gdLst>
                <a:gd name="T0" fmla="*/ 0 w 4560"/>
                <a:gd name="T1" fmla="*/ 2416 h 2416"/>
                <a:gd name="T2" fmla="*/ 3360 w 4560"/>
                <a:gd name="T3" fmla="*/ 400 h 2416"/>
                <a:gd name="T4" fmla="*/ 4560 w 4560"/>
                <a:gd name="T5" fmla="*/ 16 h 2416"/>
                <a:gd name="T6" fmla="*/ 0 60000 65536"/>
                <a:gd name="T7" fmla="*/ 0 60000 65536"/>
                <a:gd name="T8" fmla="*/ 0 60000 65536"/>
                <a:gd name="T9" fmla="*/ 0 w 4560"/>
                <a:gd name="T10" fmla="*/ 0 h 2416"/>
                <a:gd name="T11" fmla="*/ 4560 w 4560"/>
                <a:gd name="T12" fmla="*/ 2416 h 2416"/>
              </a:gdLst>
              <a:ahLst/>
              <a:cxnLst>
                <a:cxn ang="T6">
                  <a:pos x="T0" y="T1"/>
                </a:cxn>
                <a:cxn ang="T7">
                  <a:pos x="T2" y="T3"/>
                </a:cxn>
                <a:cxn ang="T8">
                  <a:pos x="T4" y="T5"/>
                </a:cxn>
              </a:cxnLst>
              <a:rect l="T9" t="T10" r="T11" b="T12"/>
              <a:pathLst>
                <a:path w="4560" h="2416">
                  <a:moveTo>
                    <a:pt x="0" y="2416"/>
                  </a:moveTo>
                  <a:cubicBezTo>
                    <a:pt x="1300" y="1608"/>
                    <a:pt x="2600" y="800"/>
                    <a:pt x="3360" y="400"/>
                  </a:cubicBezTo>
                  <a:cubicBezTo>
                    <a:pt x="4120" y="0"/>
                    <a:pt x="4360" y="80"/>
                    <a:pt x="4560" y="16"/>
                  </a:cubicBezTo>
                </a:path>
              </a:pathLst>
            </a:custGeom>
            <a:noFill/>
            <a:ln w="25400" cap="flat" cmpd="sng">
              <a:solidFill>
                <a:srgbClr val="448AD8"/>
              </a:solidFill>
              <a:prstDash val="solid"/>
              <a:round/>
              <a:headEnd type="none" w="sm" len="sm"/>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57" name="Text Box 31">
              <a:extLst>
                <a:ext uri="{FF2B5EF4-FFF2-40B4-BE49-F238E27FC236}">
                  <a16:creationId xmlns:a16="http://schemas.microsoft.com/office/drawing/2014/main" id="{82243739-848E-74B9-E0A1-4477176E3108}"/>
                </a:ext>
              </a:extLst>
            </p:cNvPr>
            <p:cNvSpPr txBox="1">
              <a:spLocks noChangeArrowheads="1"/>
            </p:cNvSpPr>
            <p:nvPr/>
          </p:nvSpPr>
          <p:spPr bwMode="auto">
            <a:xfrm>
              <a:off x="335" y="1027"/>
              <a:ext cx="337"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vert="eaVert">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lang="zh-CN" altLang="en-US" sz="2000">
                  <a:latin typeface="Arial Narrow" panose="020B0606020202030204" pitchFamily="34" charset="0"/>
                  <a:ea typeface="黑体" panose="02010609060101010101" pitchFamily="49" charset="-122"/>
                </a:rPr>
                <a:t>费用</a:t>
              </a:r>
            </a:p>
          </p:txBody>
        </p:sp>
        <p:sp>
          <p:nvSpPr>
            <p:cNvPr id="53258" name="Line 32">
              <a:extLst>
                <a:ext uri="{FF2B5EF4-FFF2-40B4-BE49-F238E27FC236}">
                  <a16:creationId xmlns:a16="http://schemas.microsoft.com/office/drawing/2014/main" id="{AEF53282-C599-CAED-28EF-CC71107A9293}"/>
                </a:ext>
              </a:extLst>
            </p:cNvPr>
            <p:cNvSpPr>
              <a:spLocks noChangeShapeType="1"/>
            </p:cNvSpPr>
            <p:nvPr/>
          </p:nvSpPr>
          <p:spPr bwMode="auto">
            <a:xfrm>
              <a:off x="2976" y="1584"/>
              <a:ext cx="0" cy="1843"/>
            </a:xfrm>
            <a:prstGeom prst="line">
              <a:avLst/>
            </a:prstGeom>
            <a:noFill/>
            <a:ln w="25400">
              <a:solidFill>
                <a:schemeClr val="tx1"/>
              </a:solidFill>
              <a:prstDash val="sysDot"/>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59" name="Line 33">
              <a:extLst>
                <a:ext uri="{FF2B5EF4-FFF2-40B4-BE49-F238E27FC236}">
                  <a16:creationId xmlns:a16="http://schemas.microsoft.com/office/drawing/2014/main" id="{55EC376C-8E95-EBDA-9F87-22DBF9770013}"/>
                </a:ext>
              </a:extLst>
            </p:cNvPr>
            <p:cNvSpPr>
              <a:spLocks noChangeShapeType="1"/>
            </p:cNvSpPr>
            <p:nvPr/>
          </p:nvSpPr>
          <p:spPr bwMode="auto">
            <a:xfrm flipH="1">
              <a:off x="816" y="2083"/>
              <a:ext cx="2160" cy="0"/>
            </a:xfrm>
            <a:prstGeom prst="line">
              <a:avLst/>
            </a:prstGeom>
            <a:noFill/>
            <a:ln w="25400">
              <a:solidFill>
                <a:schemeClr val="tx1"/>
              </a:solidFill>
              <a:prstDash val="sysDot"/>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0" name="Text Box 34">
              <a:extLst>
                <a:ext uri="{FF2B5EF4-FFF2-40B4-BE49-F238E27FC236}">
                  <a16:creationId xmlns:a16="http://schemas.microsoft.com/office/drawing/2014/main" id="{59920B41-88D3-E63B-D37C-8E145E93E1EF}"/>
                </a:ext>
              </a:extLst>
            </p:cNvPr>
            <p:cNvSpPr txBox="1">
              <a:spLocks noChangeArrowheads="1"/>
            </p:cNvSpPr>
            <p:nvPr/>
          </p:nvSpPr>
          <p:spPr bwMode="auto">
            <a:xfrm>
              <a:off x="2594" y="3504"/>
              <a:ext cx="91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latin typeface="Arial Narrow" panose="020B0606020202030204" pitchFamily="34" charset="0"/>
                  <a:ea typeface="黑体" panose="02010609060101010101" pitchFamily="49" charset="-122"/>
                </a:rPr>
                <a:t>当前日期</a:t>
              </a:r>
            </a:p>
          </p:txBody>
        </p:sp>
        <p:sp>
          <p:nvSpPr>
            <p:cNvPr id="53261" name="Freeform 35">
              <a:extLst>
                <a:ext uri="{FF2B5EF4-FFF2-40B4-BE49-F238E27FC236}">
                  <a16:creationId xmlns:a16="http://schemas.microsoft.com/office/drawing/2014/main" id="{69EC6A60-8486-0476-3D27-DE4C635F334F}"/>
                </a:ext>
              </a:extLst>
            </p:cNvPr>
            <p:cNvSpPr>
              <a:spLocks/>
            </p:cNvSpPr>
            <p:nvPr/>
          </p:nvSpPr>
          <p:spPr bwMode="auto">
            <a:xfrm>
              <a:off x="864" y="1728"/>
              <a:ext cx="2160" cy="1680"/>
            </a:xfrm>
            <a:custGeom>
              <a:avLst/>
              <a:gdLst>
                <a:gd name="T0" fmla="*/ 0 w 2160"/>
                <a:gd name="T1" fmla="*/ 1680 h 1680"/>
                <a:gd name="T2" fmla="*/ 432 w 2160"/>
                <a:gd name="T3" fmla="*/ 1584 h 1680"/>
                <a:gd name="T4" fmla="*/ 960 w 2160"/>
                <a:gd name="T5" fmla="*/ 1248 h 1680"/>
                <a:gd name="T6" fmla="*/ 1296 w 2160"/>
                <a:gd name="T7" fmla="*/ 768 h 1680"/>
                <a:gd name="T8" fmla="*/ 1584 w 2160"/>
                <a:gd name="T9" fmla="*/ 528 h 1680"/>
                <a:gd name="T10" fmla="*/ 1872 w 2160"/>
                <a:gd name="T11" fmla="*/ 192 h 1680"/>
                <a:gd name="T12" fmla="*/ 2160 w 2160"/>
                <a:gd name="T13" fmla="*/ 0 h 1680"/>
                <a:gd name="T14" fmla="*/ 0 60000 65536"/>
                <a:gd name="T15" fmla="*/ 0 60000 65536"/>
                <a:gd name="T16" fmla="*/ 0 60000 65536"/>
                <a:gd name="T17" fmla="*/ 0 60000 65536"/>
                <a:gd name="T18" fmla="*/ 0 60000 65536"/>
                <a:gd name="T19" fmla="*/ 0 60000 65536"/>
                <a:gd name="T20" fmla="*/ 0 60000 65536"/>
                <a:gd name="T21" fmla="*/ 0 w 2160"/>
                <a:gd name="T22" fmla="*/ 0 h 1680"/>
                <a:gd name="T23" fmla="*/ 2160 w 2160"/>
                <a:gd name="T24" fmla="*/ 1680 h 16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 h="1680">
                  <a:moveTo>
                    <a:pt x="0" y="1680"/>
                  </a:moveTo>
                  <a:cubicBezTo>
                    <a:pt x="136" y="1668"/>
                    <a:pt x="272" y="1656"/>
                    <a:pt x="432" y="1584"/>
                  </a:cubicBezTo>
                  <a:cubicBezTo>
                    <a:pt x="592" y="1512"/>
                    <a:pt x="816" y="1384"/>
                    <a:pt x="960" y="1248"/>
                  </a:cubicBezTo>
                  <a:cubicBezTo>
                    <a:pt x="1104" y="1112"/>
                    <a:pt x="1192" y="888"/>
                    <a:pt x="1296" y="768"/>
                  </a:cubicBezTo>
                  <a:cubicBezTo>
                    <a:pt x="1400" y="648"/>
                    <a:pt x="1488" y="624"/>
                    <a:pt x="1584" y="528"/>
                  </a:cubicBezTo>
                  <a:cubicBezTo>
                    <a:pt x="1680" y="432"/>
                    <a:pt x="1776" y="280"/>
                    <a:pt x="1872" y="192"/>
                  </a:cubicBezTo>
                  <a:cubicBezTo>
                    <a:pt x="1968" y="104"/>
                    <a:pt x="2120" y="32"/>
                    <a:pt x="2160" y="0"/>
                  </a:cubicBezTo>
                </a:path>
              </a:pathLst>
            </a:custGeom>
            <a:noFill/>
            <a:ln w="25400" cap="flat" cmpd="sng">
              <a:solidFill>
                <a:schemeClr val="accent1"/>
              </a:solidFill>
              <a:prstDash val="solid"/>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62" name="Line 36">
              <a:extLst>
                <a:ext uri="{FF2B5EF4-FFF2-40B4-BE49-F238E27FC236}">
                  <a16:creationId xmlns:a16="http://schemas.microsoft.com/office/drawing/2014/main" id="{D83A9B43-24EC-ED2B-8B47-57DE7AA745EA}"/>
                </a:ext>
              </a:extLst>
            </p:cNvPr>
            <p:cNvSpPr>
              <a:spLocks noChangeShapeType="1"/>
            </p:cNvSpPr>
            <p:nvPr/>
          </p:nvSpPr>
          <p:spPr bwMode="auto">
            <a:xfrm flipH="1">
              <a:off x="816" y="1776"/>
              <a:ext cx="2064" cy="0"/>
            </a:xfrm>
            <a:prstGeom prst="line">
              <a:avLst/>
            </a:prstGeom>
            <a:noFill/>
            <a:ln w="25400">
              <a:solidFill>
                <a:schemeClr val="tx1"/>
              </a:solidFill>
              <a:prstDash val="sysDot"/>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3" name="Freeform 37">
              <a:extLst>
                <a:ext uri="{FF2B5EF4-FFF2-40B4-BE49-F238E27FC236}">
                  <a16:creationId xmlns:a16="http://schemas.microsoft.com/office/drawing/2014/main" id="{27B2061C-7FC9-E96E-BCA1-799C32E52E84}"/>
                </a:ext>
              </a:extLst>
            </p:cNvPr>
            <p:cNvSpPr>
              <a:spLocks/>
            </p:cNvSpPr>
            <p:nvPr/>
          </p:nvSpPr>
          <p:spPr bwMode="auto">
            <a:xfrm>
              <a:off x="816" y="1920"/>
              <a:ext cx="2160" cy="1488"/>
            </a:xfrm>
            <a:custGeom>
              <a:avLst/>
              <a:gdLst>
                <a:gd name="T0" fmla="*/ 0 w 2160"/>
                <a:gd name="T1" fmla="*/ 1488 h 1488"/>
                <a:gd name="T2" fmla="*/ 336 w 2160"/>
                <a:gd name="T3" fmla="*/ 1104 h 1488"/>
                <a:gd name="T4" fmla="*/ 576 w 2160"/>
                <a:gd name="T5" fmla="*/ 912 h 1488"/>
                <a:gd name="T6" fmla="*/ 816 w 2160"/>
                <a:gd name="T7" fmla="*/ 720 h 1488"/>
                <a:gd name="T8" fmla="*/ 1152 w 2160"/>
                <a:gd name="T9" fmla="*/ 480 h 1488"/>
                <a:gd name="T10" fmla="*/ 1776 w 2160"/>
                <a:gd name="T11" fmla="*/ 96 h 1488"/>
                <a:gd name="T12" fmla="*/ 2160 w 2160"/>
                <a:gd name="T13" fmla="*/ 0 h 1488"/>
                <a:gd name="T14" fmla="*/ 0 60000 65536"/>
                <a:gd name="T15" fmla="*/ 0 60000 65536"/>
                <a:gd name="T16" fmla="*/ 0 60000 65536"/>
                <a:gd name="T17" fmla="*/ 0 60000 65536"/>
                <a:gd name="T18" fmla="*/ 0 60000 65536"/>
                <a:gd name="T19" fmla="*/ 0 60000 65536"/>
                <a:gd name="T20" fmla="*/ 0 60000 65536"/>
                <a:gd name="T21" fmla="*/ 0 w 2160"/>
                <a:gd name="T22" fmla="*/ 0 h 1488"/>
                <a:gd name="T23" fmla="*/ 2160 w 2160"/>
                <a:gd name="T24" fmla="*/ 1488 h 14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 h="1488">
                  <a:moveTo>
                    <a:pt x="0" y="1488"/>
                  </a:moveTo>
                  <a:cubicBezTo>
                    <a:pt x="120" y="1344"/>
                    <a:pt x="240" y="1200"/>
                    <a:pt x="336" y="1104"/>
                  </a:cubicBezTo>
                  <a:cubicBezTo>
                    <a:pt x="432" y="1008"/>
                    <a:pt x="496" y="976"/>
                    <a:pt x="576" y="912"/>
                  </a:cubicBezTo>
                  <a:cubicBezTo>
                    <a:pt x="656" y="848"/>
                    <a:pt x="720" y="792"/>
                    <a:pt x="816" y="720"/>
                  </a:cubicBezTo>
                  <a:cubicBezTo>
                    <a:pt x="912" y="648"/>
                    <a:pt x="992" y="584"/>
                    <a:pt x="1152" y="480"/>
                  </a:cubicBezTo>
                  <a:cubicBezTo>
                    <a:pt x="1312" y="376"/>
                    <a:pt x="1608" y="176"/>
                    <a:pt x="1776" y="96"/>
                  </a:cubicBezTo>
                  <a:cubicBezTo>
                    <a:pt x="1944" y="16"/>
                    <a:pt x="2096" y="16"/>
                    <a:pt x="2160" y="0"/>
                  </a:cubicBezTo>
                </a:path>
              </a:pathLst>
            </a:custGeom>
            <a:noFill/>
            <a:ln w="25400" cap="flat" cmpd="sng">
              <a:solidFill>
                <a:srgbClr val="CC6600"/>
              </a:solidFill>
              <a:prstDash val="solid"/>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64" name="AutoShape 38">
              <a:extLst>
                <a:ext uri="{FF2B5EF4-FFF2-40B4-BE49-F238E27FC236}">
                  <a16:creationId xmlns:a16="http://schemas.microsoft.com/office/drawing/2014/main" id="{BB15C7C1-BE5D-CB54-8405-933703905593}"/>
                </a:ext>
              </a:extLst>
            </p:cNvPr>
            <p:cNvSpPr>
              <a:spLocks noChangeArrowheads="1"/>
            </p:cNvSpPr>
            <p:nvPr/>
          </p:nvSpPr>
          <p:spPr bwMode="auto">
            <a:xfrm>
              <a:off x="4224" y="1872"/>
              <a:ext cx="1008" cy="624"/>
            </a:xfrm>
            <a:prstGeom prst="wedgeEllipseCallout">
              <a:avLst>
                <a:gd name="adj1" fmla="val -83931"/>
                <a:gd name="adj2" fmla="val -97755"/>
              </a:avLst>
            </a:prstGeom>
            <a:solidFill>
              <a:srgbClr val="448AD8"/>
            </a:solidFill>
            <a:ln w="25400">
              <a:solidFill>
                <a:schemeClr val="tx1"/>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latin typeface="Arial Narrow" panose="020B0606020202030204" pitchFamily="34" charset="0"/>
                </a:rPr>
                <a:t>BCWS</a:t>
              </a:r>
            </a:p>
          </p:txBody>
        </p:sp>
        <p:sp>
          <p:nvSpPr>
            <p:cNvPr id="53265" name="AutoShape 39">
              <a:extLst>
                <a:ext uri="{FF2B5EF4-FFF2-40B4-BE49-F238E27FC236}">
                  <a16:creationId xmlns:a16="http://schemas.microsoft.com/office/drawing/2014/main" id="{65ABCF1A-1EED-0394-F61E-14ED164FFF7C}"/>
                </a:ext>
              </a:extLst>
            </p:cNvPr>
            <p:cNvSpPr>
              <a:spLocks noChangeArrowheads="1"/>
            </p:cNvSpPr>
            <p:nvPr/>
          </p:nvSpPr>
          <p:spPr bwMode="auto">
            <a:xfrm>
              <a:off x="2880" y="2496"/>
              <a:ext cx="1008" cy="624"/>
            </a:xfrm>
            <a:prstGeom prst="wedgeEllipseCallout">
              <a:avLst>
                <a:gd name="adj1" fmla="val -83931"/>
                <a:gd name="adj2" fmla="val -97755"/>
              </a:avLst>
            </a:prstGeom>
            <a:solidFill>
              <a:schemeClr val="accent1"/>
            </a:solidFill>
            <a:ln w="25400">
              <a:solidFill>
                <a:schemeClr val="tx1"/>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latin typeface="Arial Narrow" panose="020B0606020202030204" pitchFamily="34" charset="0"/>
                </a:rPr>
                <a:t>ACWP</a:t>
              </a:r>
            </a:p>
          </p:txBody>
        </p:sp>
        <p:sp>
          <p:nvSpPr>
            <p:cNvPr id="53266" name="AutoShape 40">
              <a:extLst>
                <a:ext uri="{FF2B5EF4-FFF2-40B4-BE49-F238E27FC236}">
                  <a16:creationId xmlns:a16="http://schemas.microsoft.com/office/drawing/2014/main" id="{75C2D072-B871-74C3-F550-250CEBA1EB23}"/>
                </a:ext>
              </a:extLst>
            </p:cNvPr>
            <p:cNvSpPr>
              <a:spLocks noChangeArrowheads="1"/>
            </p:cNvSpPr>
            <p:nvPr/>
          </p:nvSpPr>
          <p:spPr bwMode="auto">
            <a:xfrm>
              <a:off x="1200" y="1344"/>
              <a:ext cx="1104" cy="624"/>
            </a:xfrm>
            <a:prstGeom prst="wedgeEllipseCallout">
              <a:avLst>
                <a:gd name="adj1" fmla="val -29347"/>
                <a:gd name="adj2" fmla="val 182370"/>
              </a:avLst>
            </a:prstGeom>
            <a:solidFill>
              <a:srgbClr val="CC6600"/>
            </a:solidFill>
            <a:ln w="25400">
              <a:solidFill>
                <a:schemeClr val="tx1"/>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solidFill>
                    <a:schemeClr val="bg1"/>
                  </a:solidFill>
                  <a:latin typeface="Arial Narrow" panose="020B0606020202030204" pitchFamily="34" charset="0"/>
                </a:rPr>
                <a:t>BCWP</a:t>
              </a:r>
            </a:p>
          </p:txBody>
        </p:sp>
        <p:sp>
          <p:nvSpPr>
            <p:cNvPr id="53267" name="Line 41">
              <a:extLst>
                <a:ext uri="{FF2B5EF4-FFF2-40B4-BE49-F238E27FC236}">
                  <a16:creationId xmlns:a16="http://schemas.microsoft.com/office/drawing/2014/main" id="{D47B0BB2-C4E0-DEA4-5CB8-327EAB73F0C3}"/>
                </a:ext>
              </a:extLst>
            </p:cNvPr>
            <p:cNvSpPr>
              <a:spLocks noChangeShapeType="1"/>
            </p:cNvSpPr>
            <p:nvPr/>
          </p:nvSpPr>
          <p:spPr bwMode="auto">
            <a:xfrm>
              <a:off x="5376" y="1008"/>
              <a:ext cx="144" cy="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3268" name="Line 42">
              <a:extLst>
                <a:ext uri="{FF2B5EF4-FFF2-40B4-BE49-F238E27FC236}">
                  <a16:creationId xmlns:a16="http://schemas.microsoft.com/office/drawing/2014/main" id="{D543D5AF-1EE8-7B74-5609-9968C4AB7EC7}"/>
                </a:ext>
              </a:extLst>
            </p:cNvPr>
            <p:cNvSpPr>
              <a:spLocks noChangeShapeType="1"/>
            </p:cNvSpPr>
            <p:nvPr/>
          </p:nvSpPr>
          <p:spPr bwMode="auto">
            <a:xfrm flipV="1">
              <a:off x="5424" y="1008"/>
              <a:ext cx="0" cy="2448"/>
            </a:xfrm>
            <a:prstGeom prst="line">
              <a:avLst/>
            </a:prstGeom>
            <a:noFill/>
            <a:ln w="25400">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9" name="AutoShape 43">
              <a:extLst>
                <a:ext uri="{FF2B5EF4-FFF2-40B4-BE49-F238E27FC236}">
                  <a16:creationId xmlns:a16="http://schemas.microsoft.com/office/drawing/2014/main" id="{11EC5F23-BA54-50CA-588F-E7E7B15CA306}"/>
                </a:ext>
              </a:extLst>
            </p:cNvPr>
            <p:cNvSpPr>
              <a:spLocks/>
            </p:cNvSpPr>
            <p:nvPr/>
          </p:nvSpPr>
          <p:spPr bwMode="auto">
            <a:xfrm>
              <a:off x="2880" y="1728"/>
              <a:ext cx="384" cy="192"/>
            </a:xfrm>
            <a:prstGeom prst="rightBrace">
              <a:avLst>
                <a:gd name="adj1" fmla="val 8333"/>
                <a:gd name="adj2" fmla="val 50000"/>
              </a:avLst>
            </a:prstGeom>
            <a:noFill/>
            <a:ln w="9525">
              <a:solidFill>
                <a:srgbClr val="FF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3270" name="AutoShape 44">
              <a:extLst>
                <a:ext uri="{FF2B5EF4-FFF2-40B4-BE49-F238E27FC236}">
                  <a16:creationId xmlns:a16="http://schemas.microsoft.com/office/drawing/2014/main" id="{53D912C5-D530-3523-1C8B-8EAA84305698}"/>
                </a:ext>
              </a:extLst>
            </p:cNvPr>
            <p:cNvSpPr>
              <a:spLocks/>
            </p:cNvSpPr>
            <p:nvPr/>
          </p:nvSpPr>
          <p:spPr bwMode="auto">
            <a:xfrm>
              <a:off x="2880" y="1920"/>
              <a:ext cx="384" cy="192"/>
            </a:xfrm>
            <a:prstGeom prst="rightBrace">
              <a:avLst>
                <a:gd name="adj1" fmla="val 8333"/>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3271" name="AutoShape 45">
              <a:extLst>
                <a:ext uri="{FF2B5EF4-FFF2-40B4-BE49-F238E27FC236}">
                  <a16:creationId xmlns:a16="http://schemas.microsoft.com/office/drawing/2014/main" id="{85BA9CA2-E73A-D5F3-B322-04CEDA9E69E8}"/>
                </a:ext>
              </a:extLst>
            </p:cNvPr>
            <p:cNvSpPr>
              <a:spLocks/>
            </p:cNvSpPr>
            <p:nvPr/>
          </p:nvSpPr>
          <p:spPr bwMode="auto">
            <a:xfrm>
              <a:off x="3600" y="1152"/>
              <a:ext cx="588" cy="216"/>
            </a:xfrm>
            <a:prstGeom prst="borderCallout1">
              <a:avLst>
                <a:gd name="adj1" fmla="val 33333"/>
                <a:gd name="adj2" fmla="val -8162"/>
                <a:gd name="adj3" fmla="val 316667"/>
                <a:gd name="adj4" fmla="val -61222"/>
              </a:avLst>
            </a:prstGeom>
            <a:noFill/>
            <a:ln w="9525">
              <a:solidFill>
                <a:srgbClr val="FF66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latin typeface="Arial Narrow" panose="020B0606020202030204" pitchFamily="34" charset="0"/>
                </a:rPr>
                <a:t>CV</a:t>
              </a:r>
            </a:p>
          </p:txBody>
        </p:sp>
        <p:sp>
          <p:nvSpPr>
            <p:cNvPr id="53272" name="AutoShape 46">
              <a:extLst>
                <a:ext uri="{FF2B5EF4-FFF2-40B4-BE49-F238E27FC236}">
                  <a16:creationId xmlns:a16="http://schemas.microsoft.com/office/drawing/2014/main" id="{36265C77-4354-E672-FC4C-15059D4DC152}"/>
                </a:ext>
              </a:extLst>
            </p:cNvPr>
            <p:cNvSpPr>
              <a:spLocks/>
            </p:cNvSpPr>
            <p:nvPr/>
          </p:nvSpPr>
          <p:spPr bwMode="auto">
            <a:xfrm>
              <a:off x="3504" y="2160"/>
              <a:ext cx="576" cy="276"/>
            </a:xfrm>
            <a:prstGeom prst="borderCallout1">
              <a:avLst>
                <a:gd name="adj1" fmla="val 26088"/>
                <a:gd name="adj2" fmla="val -8333"/>
                <a:gd name="adj3" fmla="val -60870"/>
                <a:gd name="adj4" fmla="val -43750"/>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2000">
                  <a:latin typeface="Arial Narrow" panose="020B0606020202030204" pitchFamily="34" charset="0"/>
                </a:rPr>
                <a:t>SV</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A8078E24-058E-46B3-C4B9-94C89ED78BD0}"/>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54275" name="Rectangle 3">
            <a:extLst>
              <a:ext uri="{FF2B5EF4-FFF2-40B4-BE49-F238E27FC236}">
                <a16:creationId xmlns:a16="http://schemas.microsoft.com/office/drawing/2014/main" id="{544152EF-53CB-7C25-232E-646D3F97BE10}"/>
              </a:ext>
            </a:extLst>
          </p:cNvPr>
          <p:cNvSpPr>
            <a:spLocks noGrp="1" noChangeArrowheads="1"/>
          </p:cNvSpPr>
          <p:nvPr>
            <p:ph type="body" idx="1"/>
          </p:nvPr>
        </p:nvSpPr>
        <p:spPr>
          <a:xfrm>
            <a:off x="250825" y="1773238"/>
            <a:ext cx="8713788" cy="5084762"/>
          </a:xfrm>
        </p:spPr>
        <p:txBody>
          <a:bodyPr/>
          <a:lstStyle/>
          <a:p>
            <a:pPr eaLnBrk="1" hangingPunct="1">
              <a:lnSpc>
                <a:spcPct val="110000"/>
              </a:lnSpc>
            </a:pPr>
            <a:r>
              <a:rPr lang="zh-CN" altLang="en-US" sz="2000">
                <a:solidFill>
                  <a:schemeClr val="accent2"/>
                </a:solidFill>
                <a:latin typeface="黑体" panose="02010609060101010101" pitchFamily="49" charset="-122"/>
                <a:ea typeface="黑体" panose="02010609060101010101" pitchFamily="49" charset="-122"/>
              </a:rPr>
              <a:t>分析未来趋势</a:t>
            </a:r>
          </a:p>
          <a:p>
            <a:pPr lvl="1" eaLnBrk="1" hangingPunct="1">
              <a:lnSpc>
                <a:spcPct val="110000"/>
              </a:lnSpc>
            </a:pPr>
            <a:r>
              <a:rPr lang="zh-CN" altLang="en-US" sz="1800">
                <a:latin typeface="宋体" panose="02010600030101010101" pitchFamily="2" charset="-122"/>
              </a:rPr>
              <a:t>一切顺利：</a:t>
            </a:r>
            <a:r>
              <a:rPr lang="en-US" altLang="zh-CN" sz="1800">
                <a:latin typeface="宋体" panose="02010600030101010101" pitchFamily="2" charset="-122"/>
              </a:rPr>
              <a:t>ACWP,BCWP,BCWS,</a:t>
            </a:r>
            <a:r>
              <a:rPr lang="zh-CN" altLang="en-US" sz="1800">
                <a:latin typeface="宋体" panose="02010600030101010101" pitchFamily="2" charset="-122"/>
              </a:rPr>
              <a:t>应该重合或接近重合</a:t>
            </a:r>
          </a:p>
          <a:p>
            <a:pPr lvl="1" eaLnBrk="1" hangingPunct="1">
              <a:lnSpc>
                <a:spcPct val="110000"/>
              </a:lnSpc>
            </a:pPr>
            <a:r>
              <a:rPr lang="zh-CN" altLang="en-US" sz="1800">
                <a:latin typeface="宋体" panose="02010600030101010101" pitchFamily="2" charset="-122"/>
              </a:rPr>
              <a:t>项目在控制下按照计划进行： </a:t>
            </a:r>
            <a:r>
              <a:rPr lang="en-US" altLang="zh-CN" sz="1800">
                <a:latin typeface="宋体" panose="02010600030101010101" pitchFamily="2" charset="-122"/>
              </a:rPr>
              <a:t>ACWP, </a:t>
            </a:r>
            <a:r>
              <a:rPr lang="zh-CN" altLang="en-US" sz="1800">
                <a:latin typeface="宋体" panose="02010600030101010101" pitchFamily="2" charset="-122"/>
              </a:rPr>
              <a:t>接近</a:t>
            </a:r>
            <a:r>
              <a:rPr lang="en-US" altLang="zh-CN" sz="1800">
                <a:latin typeface="宋体" panose="02010600030101010101" pitchFamily="2" charset="-122"/>
              </a:rPr>
              <a:t>BCWS</a:t>
            </a:r>
          </a:p>
          <a:p>
            <a:pPr eaLnBrk="1" hangingPunct="1">
              <a:lnSpc>
                <a:spcPct val="110000"/>
              </a:lnSpc>
            </a:pPr>
            <a:r>
              <a:rPr lang="en-US" altLang="zh-CN" sz="2000">
                <a:solidFill>
                  <a:schemeClr val="accent2"/>
                </a:solidFill>
                <a:latin typeface="黑体" panose="02010609060101010101" pitchFamily="49" charset="-122"/>
                <a:ea typeface="黑体" panose="02010609060101010101" pitchFamily="49" charset="-122"/>
              </a:rPr>
              <a:t>BCWP</a:t>
            </a:r>
            <a:r>
              <a:rPr lang="zh-CN" altLang="en-US" sz="2000">
                <a:solidFill>
                  <a:schemeClr val="accent2"/>
                </a:solidFill>
                <a:latin typeface="黑体" panose="02010609060101010101" pitchFamily="49" charset="-122"/>
                <a:ea typeface="黑体" panose="02010609060101010101" pitchFamily="49" charset="-122"/>
              </a:rPr>
              <a:t>的计算</a:t>
            </a:r>
          </a:p>
          <a:p>
            <a:pPr eaLnBrk="1" hangingPunct="1">
              <a:lnSpc>
                <a:spcPct val="110000"/>
              </a:lnSpc>
              <a:buFont typeface="Wingdings 2" panose="05020102010507070707" pitchFamily="18" charset="2"/>
              <a:buNone/>
            </a:pPr>
            <a:r>
              <a:rPr lang="zh-CN" altLang="en-US" sz="2000">
                <a:latin typeface="宋体" panose="02010600030101010101" pitchFamily="2" charset="-122"/>
              </a:rPr>
              <a:t>   </a:t>
            </a:r>
            <a:r>
              <a:rPr lang="en-US" altLang="zh-CN" sz="2000">
                <a:solidFill>
                  <a:srgbClr val="CC6600"/>
                </a:solidFill>
                <a:latin typeface="宋体" panose="02010600030101010101" pitchFamily="2"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已获价值分析的难点是计算</a:t>
            </a:r>
            <a:r>
              <a:rPr lang="en-US" altLang="zh-CN" sz="2000">
                <a:solidFill>
                  <a:srgbClr val="CC6600"/>
                </a:solidFill>
                <a:latin typeface="黑体" panose="02010609060101010101" pitchFamily="49" charset="-122"/>
                <a:ea typeface="黑体" panose="02010609060101010101" pitchFamily="49" charset="-122"/>
              </a:rPr>
              <a:t>BCWP</a:t>
            </a:r>
          </a:p>
          <a:p>
            <a:pPr lvl="1" eaLnBrk="1" hangingPunct="1">
              <a:lnSpc>
                <a:spcPct val="110000"/>
              </a:lnSpc>
            </a:pPr>
            <a:r>
              <a:rPr lang="zh-CN" altLang="en-US" sz="1800">
                <a:solidFill>
                  <a:schemeClr val="accent2"/>
                </a:solidFill>
                <a:latin typeface="黑体" panose="02010609060101010101" pitchFamily="49" charset="-122"/>
                <a:ea typeface="黑体" panose="02010609060101010101" pitchFamily="49" charset="-122"/>
              </a:rPr>
              <a:t>方法一</a:t>
            </a:r>
            <a:r>
              <a:rPr lang="zh-CN" altLang="en-US" sz="1800">
                <a:latin typeface="宋体" panose="02010600030101010101" pitchFamily="2" charset="-122"/>
              </a:rPr>
              <a:t>：自下而上</a:t>
            </a:r>
            <a:r>
              <a:rPr lang="en-US" altLang="zh-CN" sz="1800">
                <a:latin typeface="宋体" panose="02010600030101010101" pitchFamily="2" charset="-122"/>
                <a:sym typeface="Wingdings" panose="05000000000000000000" pitchFamily="2" charset="2"/>
              </a:rPr>
              <a:t>-</a:t>
            </a:r>
            <a:r>
              <a:rPr lang="zh-CN" altLang="en-US" sz="1800">
                <a:latin typeface="宋体" panose="02010600030101010101" pitchFamily="2" charset="-122"/>
                <a:sym typeface="Wingdings" panose="05000000000000000000" pitchFamily="2" charset="2"/>
              </a:rPr>
              <a:t>很</a:t>
            </a:r>
            <a:r>
              <a:rPr lang="zh-CN" altLang="en-US" sz="1800">
                <a:latin typeface="宋体" panose="02010600030101010101" pitchFamily="2" charset="-122"/>
              </a:rPr>
              <a:t>麻烦</a:t>
            </a:r>
          </a:p>
          <a:p>
            <a:pPr lvl="1" eaLnBrk="1" hangingPunct="1">
              <a:lnSpc>
                <a:spcPct val="110000"/>
              </a:lnSpc>
            </a:pPr>
            <a:r>
              <a:rPr lang="zh-CN" altLang="en-US" sz="1800">
                <a:solidFill>
                  <a:schemeClr val="accent2"/>
                </a:solidFill>
                <a:latin typeface="黑体" panose="02010609060101010101" pitchFamily="49" charset="-122"/>
                <a:ea typeface="黑体" panose="02010609060101010101" pitchFamily="49" charset="-122"/>
              </a:rPr>
              <a:t>方法二</a:t>
            </a:r>
            <a:r>
              <a:rPr lang="zh-CN" altLang="en-US" sz="1800">
                <a:latin typeface="宋体" panose="02010600030101010101" pitchFamily="2" charset="-122"/>
              </a:rPr>
              <a:t>：公式计算方法</a:t>
            </a:r>
          </a:p>
          <a:p>
            <a:pPr lvl="2" eaLnBrk="1" hangingPunct="1">
              <a:lnSpc>
                <a:spcPct val="110000"/>
              </a:lnSpc>
            </a:pPr>
            <a:r>
              <a:rPr lang="en-US" altLang="zh-CN" sz="1800">
                <a:solidFill>
                  <a:schemeClr val="accent2"/>
                </a:solidFill>
                <a:latin typeface="黑体" panose="02010609060101010101" pitchFamily="49" charset="-122"/>
                <a:ea typeface="黑体" panose="02010609060101010101" pitchFamily="49" charset="-122"/>
              </a:rPr>
              <a:t>50/50</a:t>
            </a:r>
            <a:r>
              <a:rPr lang="zh-CN" altLang="en-US" sz="1800">
                <a:solidFill>
                  <a:schemeClr val="accent2"/>
                </a:solidFill>
                <a:latin typeface="黑体" panose="02010609060101010101" pitchFamily="49" charset="-122"/>
                <a:ea typeface="黑体" panose="02010609060101010101" pitchFamily="49" charset="-122"/>
              </a:rPr>
              <a:t>规则</a:t>
            </a:r>
            <a:endParaRPr lang="zh-CN" altLang="en-US" sz="1800">
              <a:latin typeface="宋体" panose="02010600030101010101" pitchFamily="2" charset="-122"/>
            </a:endParaRPr>
          </a:p>
          <a:p>
            <a:pPr lvl="3" eaLnBrk="1" hangingPunct="1">
              <a:lnSpc>
                <a:spcPct val="110000"/>
              </a:lnSpc>
            </a:pPr>
            <a:r>
              <a:rPr lang="zh-CN" altLang="en-US">
                <a:latin typeface="宋体" panose="02010600030101010101" pitchFamily="2" charset="-122"/>
              </a:rPr>
              <a:t>当一项工作开始时，假定已经获得一半的价值。</a:t>
            </a:r>
          </a:p>
          <a:p>
            <a:pPr lvl="2" eaLnBrk="1" hangingPunct="1">
              <a:lnSpc>
                <a:spcPct val="110000"/>
              </a:lnSpc>
            </a:pPr>
            <a:r>
              <a:rPr lang="en-US" altLang="zh-CN" sz="1800">
                <a:solidFill>
                  <a:schemeClr val="accent2"/>
                </a:solidFill>
                <a:latin typeface="黑体" panose="02010609060101010101" pitchFamily="49" charset="-122"/>
                <a:ea typeface="黑体" panose="02010609060101010101" pitchFamily="49" charset="-122"/>
              </a:rPr>
              <a:t>0/100</a:t>
            </a:r>
            <a:r>
              <a:rPr lang="zh-CN" altLang="en-US" sz="1800">
                <a:solidFill>
                  <a:schemeClr val="accent2"/>
                </a:solidFill>
                <a:latin typeface="黑体" panose="02010609060101010101" pitchFamily="49" charset="-122"/>
                <a:ea typeface="黑体" panose="02010609060101010101" pitchFamily="49" charset="-122"/>
              </a:rPr>
              <a:t>规则</a:t>
            </a:r>
          </a:p>
          <a:p>
            <a:pPr lvl="3" eaLnBrk="1" hangingPunct="1">
              <a:lnSpc>
                <a:spcPct val="110000"/>
              </a:lnSpc>
            </a:pPr>
            <a:r>
              <a:rPr lang="zh-CN" altLang="en-US">
                <a:latin typeface="宋体" panose="02010600030101010101" pitchFamily="2" charset="-122"/>
              </a:rPr>
              <a:t>当一项工作开始时，没有产生价值，直到结束获得全部价值。</a:t>
            </a:r>
          </a:p>
          <a:p>
            <a:pPr lvl="2" eaLnBrk="1" hangingPunct="1">
              <a:lnSpc>
                <a:spcPct val="110000"/>
              </a:lnSpc>
            </a:pPr>
            <a:r>
              <a:rPr lang="zh-CN" altLang="en-US" sz="1800">
                <a:solidFill>
                  <a:schemeClr val="accent2"/>
                </a:solidFill>
                <a:latin typeface="黑体" panose="02010609060101010101" pitchFamily="49" charset="-122"/>
                <a:ea typeface="黑体" panose="02010609060101010101" pitchFamily="49" charset="-122"/>
              </a:rPr>
              <a:t>经验加权法</a:t>
            </a:r>
          </a:p>
          <a:p>
            <a:pPr eaLnBrk="1" hangingPunct="1"/>
            <a:endParaRPr lang="zh-CN" altLang="en-US" sz="2000">
              <a:solidFill>
                <a:schemeClr val="accent2"/>
              </a:solidFill>
              <a:latin typeface="宋体" panose="02010600030101010101" pitchFamily="2" charset="-122"/>
            </a:endParaRPr>
          </a:p>
          <a:p>
            <a:pPr eaLnBrk="1" hangingPunct="1"/>
            <a:endParaRPr lang="en-US" altLang="zh-CN" sz="2000">
              <a:solidFill>
                <a:schemeClr val="accent2"/>
              </a:solidFill>
              <a:latin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9B18880E-3A5B-692B-524F-B4DEAC2BD792}"/>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56323" name="Rectangle 3">
            <a:extLst>
              <a:ext uri="{FF2B5EF4-FFF2-40B4-BE49-F238E27FC236}">
                <a16:creationId xmlns:a16="http://schemas.microsoft.com/office/drawing/2014/main" id="{5D354D01-A7E8-F676-0749-D8A7386B877E}"/>
              </a:ext>
            </a:extLst>
          </p:cNvPr>
          <p:cNvSpPr>
            <a:spLocks noGrp="1" noChangeArrowheads="1"/>
          </p:cNvSpPr>
          <p:nvPr>
            <p:ph type="body" idx="1"/>
          </p:nvPr>
        </p:nvSpPr>
        <p:spPr>
          <a:xfrm>
            <a:off x="395288" y="1844675"/>
            <a:ext cx="8569325" cy="5013325"/>
          </a:xfrm>
        </p:spPr>
        <p:txBody>
          <a:bodyPr/>
          <a:lstStyle/>
          <a:p>
            <a:pPr eaLnBrk="1" hangingPunct="1"/>
            <a:r>
              <a:rPr lang="zh-CN" altLang="en-US" sz="2000">
                <a:solidFill>
                  <a:schemeClr val="accent2"/>
                </a:solidFill>
                <a:latin typeface="黑体" panose="02010609060101010101" pitchFamily="49" charset="-122"/>
                <a:ea typeface="黑体" panose="02010609060101010101" pitchFamily="49" charset="-122"/>
              </a:rPr>
              <a:t>实例</a:t>
            </a:r>
          </a:p>
          <a:p>
            <a:pPr eaLnBrk="1" hangingPunct="1"/>
            <a:endParaRPr lang="en-US" altLang="zh-CN" sz="2000">
              <a:solidFill>
                <a:schemeClr val="accent2"/>
              </a:solidFill>
              <a:latin typeface="黑体" panose="02010609060101010101" pitchFamily="49" charset="-122"/>
              <a:ea typeface="黑体" panose="02010609060101010101" pitchFamily="49" charset="-122"/>
            </a:endParaRPr>
          </a:p>
        </p:txBody>
      </p:sp>
      <p:grpSp>
        <p:nvGrpSpPr>
          <p:cNvPr id="56324" name="Group 5">
            <a:extLst>
              <a:ext uri="{FF2B5EF4-FFF2-40B4-BE49-F238E27FC236}">
                <a16:creationId xmlns:a16="http://schemas.microsoft.com/office/drawing/2014/main" id="{B6CF72FE-C5E4-448F-F0EC-7BEBBC7AEB59}"/>
              </a:ext>
            </a:extLst>
          </p:cNvPr>
          <p:cNvGrpSpPr>
            <a:grpSpLocks/>
          </p:cNvGrpSpPr>
          <p:nvPr/>
        </p:nvGrpSpPr>
        <p:grpSpPr bwMode="auto">
          <a:xfrm>
            <a:off x="611188" y="2228850"/>
            <a:ext cx="7772400" cy="3505200"/>
            <a:chOff x="1774" y="11112"/>
            <a:chExt cx="8306" cy="4251"/>
          </a:xfrm>
        </p:grpSpPr>
        <p:sp>
          <p:nvSpPr>
            <p:cNvPr id="56327" name="AutoShape 6">
              <a:extLst>
                <a:ext uri="{FF2B5EF4-FFF2-40B4-BE49-F238E27FC236}">
                  <a16:creationId xmlns:a16="http://schemas.microsoft.com/office/drawing/2014/main" id="{ED6ABD61-BFC4-794B-ED50-CE576FAF93B1}"/>
                </a:ext>
              </a:extLst>
            </p:cNvPr>
            <p:cNvSpPr>
              <a:spLocks noChangeAspect="1" noChangeArrowheads="1" noTextEdit="1"/>
            </p:cNvSpPr>
            <p:nvPr/>
          </p:nvSpPr>
          <p:spPr bwMode="auto">
            <a:xfrm>
              <a:off x="1774" y="11112"/>
              <a:ext cx="8306" cy="4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8" name="Text Box 7">
              <a:extLst>
                <a:ext uri="{FF2B5EF4-FFF2-40B4-BE49-F238E27FC236}">
                  <a16:creationId xmlns:a16="http://schemas.microsoft.com/office/drawing/2014/main" id="{009909A3-6BFC-B853-BBB3-CB7D806E746D}"/>
                </a:ext>
              </a:extLst>
            </p:cNvPr>
            <p:cNvSpPr txBox="1">
              <a:spLocks noChangeArrowheads="1"/>
            </p:cNvSpPr>
            <p:nvPr/>
          </p:nvSpPr>
          <p:spPr bwMode="auto">
            <a:xfrm>
              <a:off x="5178" y="14898"/>
              <a:ext cx="690" cy="46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时间</a:t>
              </a:r>
            </a:p>
          </p:txBody>
        </p:sp>
        <p:grpSp>
          <p:nvGrpSpPr>
            <p:cNvPr id="56329" name="Group 8">
              <a:extLst>
                <a:ext uri="{FF2B5EF4-FFF2-40B4-BE49-F238E27FC236}">
                  <a16:creationId xmlns:a16="http://schemas.microsoft.com/office/drawing/2014/main" id="{9DE0F36B-C1CE-081B-7A01-AD5579688005}"/>
                </a:ext>
              </a:extLst>
            </p:cNvPr>
            <p:cNvGrpSpPr>
              <a:grpSpLocks/>
            </p:cNvGrpSpPr>
            <p:nvPr/>
          </p:nvGrpSpPr>
          <p:grpSpPr bwMode="auto">
            <a:xfrm>
              <a:off x="1920" y="11193"/>
              <a:ext cx="8100" cy="3906"/>
              <a:chOff x="1542" y="1946"/>
              <a:chExt cx="8100" cy="3906"/>
            </a:xfrm>
          </p:grpSpPr>
          <p:sp>
            <p:nvSpPr>
              <p:cNvPr id="56330" name="Rectangle 9">
                <a:extLst>
                  <a:ext uri="{FF2B5EF4-FFF2-40B4-BE49-F238E27FC236}">
                    <a16:creationId xmlns:a16="http://schemas.microsoft.com/office/drawing/2014/main" id="{FEAC3757-23AA-0BF0-E912-2589068A52E8}"/>
                  </a:ext>
                </a:extLst>
              </p:cNvPr>
              <p:cNvSpPr>
                <a:spLocks noChangeArrowheads="1"/>
              </p:cNvSpPr>
              <p:nvPr/>
            </p:nvSpPr>
            <p:spPr bwMode="auto">
              <a:xfrm>
                <a:off x="5582" y="5171"/>
                <a:ext cx="1366" cy="270"/>
              </a:xfrm>
              <a:prstGeom prst="rect">
                <a:avLst/>
              </a:prstGeom>
              <a:solidFill>
                <a:srgbClr val="0000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31" name="Rectangle 10">
                <a:extLst>
                  <a:ext uri="{FF2B5EF4-FFF2-40B4-BE49-F238E27FC236}">
                    <a16:creationId xmlns:a16="http://schemas.microsoft.com/office/drawing/2014/main" id="{C168F07B-9806-5FB0-0780-B4C06F626E1D}"/>
                  </a:ext>
                </a:extLst>
              </p:cNvPr>
              <p:cNvSpPr>
                <a:spLocks noChangeArrowheads="1"/>
              </p:cNvSpPr>
              <p:nvPr/>
            </p:nvSpPr>
            <p:spPr bwMode="auto">
              <a:xfrm>
                <a:off x="1710" y="2516"/>
                <a:ext cx="2506" cy="270"/>
              </a:xfrm>
              <a:prstGeom prst="rect">
                <a:avLst/>
              </a:prstGeom>
              <a:solidFill>
                <a:srgbClr val="0000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32" name="Rectangle 11">
                <a:extLst>
                  <a:ext uri="{FF2B5EF4-FFF2-40B4-BE49-F238E27FC236}">
                    <a16:creationId xmlns:a16="http://schemas.microsoft.com/office/drawing/2014/main" id="{F428EAE0-E566-720E-B6BF-72111682225F}"/>
                  </a:ext>
                </a:extLst>
              </p:cNvPr>
              <p:cNvSpPr>
                <a:spLocks noChangeArrowheads="1"/>
              </p:cNvSpPr>
              <p:nvPr/>
            </p:nvSpPr>
            <p:spPr bwMode="auto">
              <a:xfrm>
                <a:off x="2100" y="3041"/>
                <a:ext cx="2536" cy="315"/>
              </a:xfrm>
              <a:prstGeom prst="rect">
                <a:avLst/>
              </a:prstGeom>
              <a:solidFill>
                <a:srgbClr val="FFFFFF"/>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700" b="0">
                    <a:latin typeface="Times New Roman" panose="02020603050405020304" pitchFamily="18" charset="0"/>
                  </a:rPr>
                  <a:t>任务</a:t>
                </a:r>
                <a:r>
                  <a:rPr kumimoji="0" lang="en-US" altLang="zh-CN" sz="700" b="0">
                    <a:latin typeface="Times New Roman" panose="02020603050405020304" pitchFamily="18" charset="0"/>
                  </a:rPr>
                  <a:t>B:$100</a:t>
                </a:r>
              </a:p>
            </p:txBody>
          </p:sp>
          <p:sp>
            <p:nvSpPr>
              <p:cNvPr id="56333" name="Rectangle 12">
                <a:extLst>
                  <a:ext uri="{FF2B5EF4-FFF2-40B4-BE49-F238E27FC236}">
                    <a16:creationId xmlns:a16="http://schemas.microsoft.com/office/drawing/2014/main" id="{8CF0972A-F4EF-55CE-D855-36AC0A41F7ED}"/>
                  </a:ext>
                </a:extLst>
              </p:cNvPr>
              <p:cNvSpPr>
                <a:spLocks noChangeArrowheads="1"/>
              </p:cNvSpPr>
              <p:nvPr/>
            </p:nvSpPr>
            <p:spPr bwMode="auto">
              <a:xfrm>
                <a:off x="2716" y="3401"/>
                <a:ext cx="2536" cy="285"/>
              </a:xfrm>
              <a:prstGeom prst="rect">
                <a:avLst/>
              </a:prstGeom>
              <a:solidFill>
                <a:srgbClr val="0000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34" name="Rectangle 13">
                <a:extLst>
                  <a:ext uri="{FF2B5EF4-FFF2-40B4-BE49-F238E27FC236}">
                    <a16:creationId xmlns:a16="http://schemas.microsoft.com/office/drawing/2014/main" id="{C86317D8-47F7-967E-C1AA-C4B91F999EB4}"/>
                  </a:ext>
                </a:extLst>
              </p:cNvPr>
              <p:cNvSpPr>
                <a:spLocks noChangeArrowheads="1"/>
              </p:cNvSpPr>
              <p:nvPr/>
            </p:nvSpPr>
            <p:spPr bwMode="auto">
              <a:xfrm>
                <a:off x="2206" y="3911"/>
                <a:ext cx="2536" cy="315"/>
              </a:xfrm>
              <a:prstGeom prst="rect">
                <a:avLst/>
              </a:prstGeom>
              <a:solidFill>
                <a:srgbClr val="FFFFFF"/>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700" b="0">
                    <a:latin typeface="Times New Roman" panose="02020603050405020304" pitchFamily="18" charset="0"/>
                  </a:rPr>
                  <a:t>任务</a:t>
                </a:r>
                <a:r>
                  <a:rPr kumimoji="0" lang="en-US" altLang="zh-CN" sz="700" b="0">
                    <a:latin typeface="Times New Roman" panose="02020603050405020304" pitchFamily="18" charset="0"/>
                  </a:rPr>
                  <a:t>C:$100</a:t>
                </a:r>
              </a:p>
            </p:txBody>
          </p:sp>
          <p:sp>
            <p:nvSpPr>
              <p:cNvPr id="56335" name="Rectangle 14">
                <a:extLst>
                  <a:ext uri="{FF2B5EF4-FFF2-40B4-BE49-F238E27FC236}">
                    <a16:creationId xmlns:a16="http://schemas.microsoft.com/office/drawing/2014/main" id="{3B69A104-9583-1A28-570E-4E5FE3A75632}"/>
                  </a:ext>
                </a:extLst>
              </p:cNvPr>
              <p:cNvSpPr>
                <a:spLocks noChangeArrowheads="1"/>
              </p:cNvSpPr>
              <p:nvPr/>
            </p:nvSpPr>
            <p:spPr bwMode="auto">
              <a:xfrm>
                <a:off x="3690" y="4271"/>
                <a:ext cx="2536" cy="285"/>
              </a:xfrm>
              <a:prstGeom prst="rect">
                <a:avLst/>
              </a:prstGeom>
              <a:solidFill>
                <a:srgbClr val="0000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36" name="Rectangle 15">
                <a:extLst>
                  <a:ext uri="{FF2B5EF4-FFF2-40B4-BE49-F238E27FC236}">
                    <a16:creationId xmlns:a16="http://schemas.microsoft.com/office/drawing/2014/main" id="{754F81C3-C195-5A7A-42E4-70D41F6E7A1E}"/>
                  </a:ext>
                </a:extLst>
              </p:cNvPr>
              <p:cNvSpPr>
                <a:spLocks noChangeArrowheads="1"/>
              </p:cNvSpPr>
              <p:nvPr/>
            </p:nvSpPr>
            <p:spPr bwMode="auto">
              <a:xfrm>
                <a:off x="3674" y="4811"/>
                <a:ext cx="2536" cy="330"/>
              </a:xfrm>
              <a:prstGeom prst="rect">
                <a:avLst/>
              </a:prstGeom>
              <a:solidFill>
                <a:srgbClr val="FFFFFF"/>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700" b="0">
                    <a:latin typeface="Times New Roman" panose="02020603050405020304" pitchFamily="18" charset="0"/>
                  </a:rPr>
                  <a:t>任务</a:t>
                </a:r>
                <a:r>
                  <a:rPr kumimoji="0" lang="en-US" altLang="zh-CN" sz="700" b="0">
                    <a:latin typeface="Times New Roman" panose="02020603050405020304" pitchFamily="18" charset="0"/>
                  </a:rPr>
                  <a:t>D:$100</a:t>
                </a:r>
              </a:p>
            </p:txBody>
          </p:sp>
          <p:sp>
            <p:nvSpPr>
              <p:cNvPr id="56337" name="Rectangle 16">
                <a:extLst>
                  <a:ext uri="{FF2B5EF4-FFF2-40B4-BE49-F238E27FC236}">
                    <a16:creationId xmlns:a16="http://schemas.microsoft.com/office/drawing/2014/main" id="{79128272-B977-2AB8-2326-3F6AD89E487D}"/>
                  </a:ext>
                </a:extLst>
              </p:cNvPr>
              <p:cNvSpPr>
                <a:spLocks noChangeArrowheads="1"/>
              </p:cNvSpPr>
              <p:nvPr/>
            </p:nvSpPr>
            <p:spPr bwMode="auto">
              <a:xfrm>
                <a:off x="1694" y="2156"/>
                <a:ext cx="2536" cy="315"/>
              </a:xfrm>
              <a:prstGeom prst="rect">
                <a:avLst/>
              </a:prstGeom>
              <a:solidFill>
                <a:srgbClr val="FFFFFF"/>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700" b="0">
                    <a:latin typeface="Times New Roman" panose="02020603050405020304" pitchFamily="18" charset="0"/>
                  </a:rPr>
                  <a:t>任务</a:t>
                </a:r>
                <a:r>
                  <a:rPr kumimoji="0" lang="en-US" altLang="zh-CN" sz="700" b="0">
                    <a:latin typeface="Times New Roman" panose="02020603050405020304" pitchFamily="18" charset="0"/>
                  </a:rPr>
                  <a:t>A:$100</a:t>
                </a:r>
              </a:p>
            </p:txBody>
          </p:sp>
          <p:sp>
            <p:nvSpPr>
              <p:cNvPr id="56338" name="Line 17">
                <a:extLst>
                  <a:ext uri="{FF2B5EF4-FFF2-40B4-BE49-F238E27FC236}">
                    <a16:creationId xmlns:a16="http://schemas.microsoft.com/office/drawing/2014/main" id="{5B1C3F34-4B34-D38B-9D27-48C235B1066B}"/>
                  </a:ext>
                </a:extLst>
              </p:cNvPr>
              <p:cNvSpPr>
                <a:spLocks noChangeShapeType="1"/>
              </p:cNvSpPr>
              <p:nvPr/>
            </p:nvSpPr>
            <p:spPr bwMode="auto">
              <a:xfrm>
                <a:off x="1542" y="5576"/>
                <a:ext cx="810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9" name="Line 18">
                <a:extLst>
                  <a:ext uri="{FF2B5EF4-FFF2-40B4-BE49-F238E27FC236}">
                    <a16:creationId xmlns:a16="http://schemas.microsoft.com/office/drawing/2014/main" id="{F1F73AD6-F05F-BAD0-61DD-F6CEF430354A}"/>
                  </a:ext>
                </a:extLst>
              </p:cNvPr>
              <p:cNvSpPr>
                <a:spLocks noChangeShapeType="1"/>
              </p:cNvSpPr>
              <p:nvPr/>
            </p:nvSpPr>
            <p:spPr bwMode="auto">
              <a:xfrm>
                <a:off x="6946" y="2021"/>
                <a:ext cx="16" cy="33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40" name="Text Box 19">
                <a:extLst>
                  <a:ext uri="{FF2B5EF4-FFF2-40B4-BE49-F238E27FC236}">
                    <a16:creationId xmlns:a16="http://schemas.microsoft.com/office/drawing/2014/main" id="{6E5A73CA-3DBC-1014-65F6-61F974018E73}"/>
                  </a:ext>
                </a:extLst>
              </p:cNvPr>
              <p:cNvSpPr txBox="1">
                <a:spLocks noChangeArrowheads="1"/>
              </p:cNvSpPr>
              <p:nvPr/>
            </p:nvSpPr>
            <p:spPr bwMode="auto">
              <a:xfrm>
                <a:off x="4786" y="1946"/>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计划</a:t>
                </a:r>
              </a:p>
            </p:txBody>
          </p:sp>
          <p:sp>
            <p:nvSpPr>
              <p:cNvPr id="56341" name="Text Box 20">
                <a:extLst>
                  <a:ext uri="{FF2B5EF4-FFF2-40B4-BE49-F238E27FC236}">
                    <a16:creationId xmlns:a16="http://schemas.microsoft.com/office/drawing/2014/main" id="{0BF46D4B-FB2C-85FA-8A2A-3EBBCB22F7D6}"/>
                  </a:ext>
                </a:extLst>
              </p:cNvPr>
              <p:cNvSpPr txBox="1">
                <a:spLocks noChangeArrowheads="1"/>
              </p:cNvSpPr>
              <p:nvPr/>
            </p:nvSpPr>
            <p:spPr bwMode="auto">
              <a:xfrm>
                <a:off x="4816" y="2426"/>
                <a:ext cx="690" cy="46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实际</a:t>
                </a:r>
              </a:p>
            </p:txBody>
          </p:sp>
          <p:sp>
            <p:nvSpPr>
              <p:cNvPr id="56342" name="Text Box 21">
                <a:extLst>
                  <a:ext uri="{FF2B5EF4-FFF2-40B4-BE49-F238E27FC236}">
                    <a16:creationId xmlns:a16="http://schemas.microsoft.com/office/drawing/2014/main" id="{57949573-A5C3-16D3-38AF-A03FA73D5B79}"/>
                  </a:ext>
                </a:extLst>
              </p:cNvPr>
              <p:cNvSpPr txBox="1">
                <a:spLocks noChangeArrowheads="1"/>
              </p:cNvSpPr>
              <p:nvPr/>
            </p:nvSpPr>
            <p:spPr bwMode="auto">
              <a:xfrm>
                <a:off x="7258" y="2129"/>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开始</a:t>
                </a:r>
              </a:p>
            </p:txBody>
          </p:sp>
          <p:sp>
            <p:nvSpPr>
              <p:cNvPr id="56343" name="Text Box 22">
                <a:extLst>
                  <a:ext uri="{FF2B5EF4-FFF2-40B4-BE49-F238E27FC236}">
                    <a16:creationId xmlns:a16="http://schemas.microsoft.com/office/drawing/2014/main" id="{9CD5BDCC-89FD-8BE5-1BCB-1331AAEFE3D4}"/>
                  </a:ext>
                </a:extLst>
              </p:cNvPr>
              <p:cNvSpPr txBox="1">
                <a:spLocks noChangeArrowheads="1"/>
              </p:cNvSpPr>
              <p:nvPr/>
            </p:nvSpPr>
            <p:spPr bwMode="auto">
              <a:xfrm>
                <a:off x="8070" y="210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结束</a:t>
                </a:r>
              </a:p>
            </p:txBody>
          </p:sp>
          <p:sp>
            <p:nvSpPr>
              <p:cNvPr id="56344" name="Text Box 23">
                <a:extLst>
                  <a:ext uri="{FF2B5EF4-FFF2-40B4-BE49-F238E27FC236}">
                    <a16:creationId xmlns:a16="http://schemas.microsoft.com/office/drawing/2014/main" id="{7C44D28F-C609-6B46-3A4F-8DA436C579ED}"/>
                  </a:ext>
                </a:extLst>
              </p:cNvPr>
              <p:cNvSpPr txBox="1">
                <a:spLocks noChangeArrowheads="1"/>
              </p:cNvSpPr>
              <p:nvPr/>
            </p:nvSpPr>
            <p:spPr bwMode="auto">
              <a:xfrm>
                <a:off x="8806" y="210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共计</a:t>
                </a:r>
              </a:p>
            </p:txBody>
          </p:sp>
          <p:sp>
            <p:nvSpPr>
              <p:cNvPr id="56345" name="Text Box 24">
                <a:extLst>
                  <a:ext uri="{FF2B5EF4-FFF2-40B4-BE49-F238E27FC236}">
                    <a16:creationId xmlns:a16="http://schemas.microsoft.com/office/drawing/2014/main" id="{9E12695A-AEB9-7D5D-B5F4-76B4638E3071}"/>
                  </a:ext>
                </a:extLst>
              </p:cNvPr>
              <p:cNvSpPr txBox="1">
                <a:spLocks noChangeArrowheads="1"/>
              </p:cNvSpPr>
              <p:nvPr/>
            </p:nvSpPr>
            <p:spPr bwMode="auto">
              <a:xfrm>
                <a:off x="5774" y="201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今天</a:t>
                </a:r>
              </a:p>
            </p:txBody>
          </p:sp>
          <p:sp>
            <p:nvSpPr>
              <p:cNvPr id="56346" name="Text Box 25">
                <a:extLst>
                  <a:ext uri="{FF2B5EF4-FFF2-40B4-BE49-F238E27FC236}">
                    <a16:creationId xmlns:a16="http://schemas.microsoft.com/office/drawing/2014/main" id="{A8A38F0F-820C-62CE-107F-E858C25A2074}"/>
                  </a:ext>
                </a:extLst>
              </p:cNvPr>
              <p:cNvSpPr txBox="1">
                <a:spLocks noChangeArrowheads="1"/>
              </p:cNvSpPr>
              <p:nvPr/>
            </p:nvSpPr>
            <p:spPr bwMode="auto">
              <a:xfrm>
                <a:off x="7238" y="2534"/>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6347" name="Text Box 26">
                <a:extLst>
                  <a:ext uri="{FF2B5EF4-FFF2-40B4-BE49-F238E27FC236}">
                    <a16:creationId xmlns:a16="http://schemas.microsoft.com/office/drawing/2014/main" id="{E40052DF-969D-B4F3-AEDA-077C65544D92}"/>
                  </a:ext>
                </a:extLst>
              </p:cNvPr>
              <p:cNvSpPr txBox="1">
                <a:spLocks noChangeArrowheads="1"/>
              </p:cNvSpPr>
              <p:nvPr/>
            </p:nvSpPr>
            <p:spPr bwMode="auto">
              <a:xfrm>
                <a:off x="8050" y="2510"/>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6348" name="Text Box 27">
                <a:extLst>
                  <a:ext uri="{FF2B5EF4-FFF2-40B4-BE49-F238E27FC236}">
                    <a16:creationId xmlns:a16="http://schemas.microsoft.com/office/drawing/2014/main" id="{38F03D35-1326-D7B7-55E4-40D733FA85D4}"/>
                  </a:ext>
                </a:extLst>
              </p:cNvPr>
              <p:cNvSpPr txBox="1">
                <a:spLocks noChangeArrowheads="1"/>
              </p:cNvSpPr>
              <p:nvPr/>
            </p:nvSpPr>
            <p:spPr bwMode="auto">
              <a:xfrm>
                <a:off x="8786" y="2510"/>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$100</a:t>
                </a:r>
              </a:p>
            </p:txBody>
          </p:sp>
          <p:sp>
            <p:nvSpPr>
              <p:cNvPr id="56349" name="Text Box 28">
                <a:extLst>
                  <a:ext uri="{FF2B5EF4-FFF2-40B4-BE49-F238E27FC236}">
                    <a16:creationId xmlns:a16="http://schemas.microsoft.com/office/drawing/2014/main" id="{8D2A1515-E3B9-59C5-47FE-F4AF243D6762}"/>
                  </a:ext>
                </a:extLst>
              </p:cNvPr>
              <p:cNvSpPr txBox="1">
                <a:spLocks noChangeArrowheads="1"/>
              </p:cNvSpPr>
              <p:nvPr/>
            </p:nvSpPr>
            <p:spPr bwMode="auto">
              <a:xfrm>
                <a:off x="7252" y="3149"/>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6350" name="Text Box 29">
                <a:extLst>
                  <a:ext uri="{FF2B5EF4-FFF2-40B4-BE49-F238E27FC236}">
                    <a16:creationId xmlns:a16="http://schemas.microsoft.com/office/drawing/2014/main" id="{4916B849-652E-82D7-9E22-B75C530D7627}"/>
                  </a:ext>
                </a:extLst>
              </p:cNvPr>
              <p:cNvSpPr txBox="1">
                <a:spLocks noChangeArrowheads="1"/>
              </p:cNvSpPr>
              <p:nvPr/>
            </p:nvSpPr>
            <p:spPr bwMode="auto">
              <a:xfrm>
                <a:off x="8064" y="312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6351" name="Text Box 30">
                <a:extLst>
                  <a:ext uri="{FF2B5EF4-FFF2-40B4-BE49-F238E27FC236}">
                    <a16:creationId xmlns:a16="http://schemas.microsoft.com/office/drawing/2014/main" id="{368F0704-2341-3D44-0B00-9667FD28722B}"/>
                  </a:ext>
                </a:extLst>
              </p:cNvPr>
              <p:cNvSpPr txBox="1">
                <a:spLocks noChangeArrowheads="1"/>
              </p:cNvSpPr>
              <p:nvPr/>
            </p:nvSpPr>
            <p:spPr bwMode="auto">
              <a:xfrm>
                <a:off x="8800" y="312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$100</a:t>
                </a:r>
              </a:p>
            </p:txBody>
          </p:sp>
          <p:sp>
            <p:nvSpPr>
              <p:cNvPr id="56352" name="Text Box 31">
                <a:extLst>
                  <a:ext uri="{FF2B5EF4-FFF2-40B4-BE49-F238E27FC236}">
                    <a16:creationId xmlns:a16="http://schemas.microsoft.com/office/drawing/2014/main" id="{795F3378-912F-7CC5-059F-4C6186E6081C}"/>
                  </a:ext>
                </a:extLst>
              </p:cNvPr>
              <p:cNvSpPr txBox="1">
                <a:spLocks noChangeArrowheads="1"/>
              </p:cNvSpPr>
              <p:nvPr/>
            </p:nvSpPr>
            <p:spPr bwMode="auto">
              <a:xfrm>
                <a:off x="7314" y="3929"/>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6353" name="Text Box 32">
                <a:extLst>
                  <a:ext uri="{FF2B5EF4-FFF2-40B4-BE49-F238E27FC236}">
                    <a16:creationId xmlns:a16="http://schemas.microsoft.com/office/drawing/2014/main" id="{31154C27-E468-AACD-29D8-795BAB80AF0A}"/>
                  </a:ext>
                </a:extLst>
              </p:cNvPr>
              <p:cNvSpPr txBox="1">
                <a:spLocks noChangeArrowheads="1"/>
              </p:cNvSpPr>
              <p:nvPr/>
            </p:nvSpPr>
            <p:spPr bwMode="auto">
              <a:xfrm>
                <a:off x="8126" y="390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6354" name="Text Box 33">
                <a:extLst>
                  <a:ext uri="{FF2B5EF4-FFF2-40B4-BE49-F238E27FC236}">
                    <a16:creationId xmlns:a16="http://schemas.microsoft.com/office/drawing/2014/main" id="{74E796D3-F634-8D2D-21B3-54B08B35CF49}"/>
                  </a:ext>
                </a:extLst>
              </p:cNvPr>
              <p:cNvSpPr txBox="1">
                <a:spLocks noChangeArrowheads="1"/>
              </p:cNvSpPr>
              <p:nvPr/>
            </p:nvSpPr>
            <p:spPr bwMode="auto">
              <a:xfrm>
                <a:off x="8862" y="390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$100</a:t>
                </a:r>
              </a:p>
            </p:txBody>
          </p:sp>
          <p:sp>
            <p:nvSpPr>
              <p:cNvPr id="56355" name="Text Box 34">
                <a:extLst>
                  <a:ext uri="{FF2B5EF4-FFF2-40B4-BE49-F238E27FC236}">
                    <a16:creationId xmlns:a16="http://schemas.microsoft.com/office/drawing/2014/main" id="{1AD94C42-33DB-AAAD-9887-27C91CC46105}"/>
                  </a:ext>
                </a:extLst>
              </p:cNvPr>
              <p:cNvSpPr txBox="1">
                <a:spLocks noChangeArrowheads="1"/>
              </p:cNvSpPr>
              <p:nvPr/>
            </p:nvSpPr>
            <p:spPr bwMode="auto">
              <a:xfrm>
                <a:off x="7344" y="4664"/>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6356" name="Text Box 35">
                <a:extLst>
                  <a:ext uri="{FF2B5EF4-FFF2-40B4-BE49-F238E27FC236}">
                    <a16:creationId xmlns:a16="http://schemas.microsoft.com/office/drawing/2014/main" id="{E9D1723E-6D64-36A0-C268-ABC603028E3B}"/>
                  </a:ext>
                </a:extLst>
              </p:cNvPr>
              <p:cNvSpPr txBox="1">
                <a:spLocks noChangeArrowheads="1"/>
              </p:cNvSpPr>
              <p:nvPr/>
            </p:nvSpPr>
            <p:spPr bwMode="auto">
              <a:xfrm>
                <a:off x="8156" y="4640"/>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$0</a:t>
                </a:r>
              </a:p>
            </p:txBody>
          </p:sp>
          <p:sp>
            <p:nvSpPr>
              <p:cNvPr id="56357" name="Text Box 36">
                <a:extLst>
                  <a:ext uri="{FF2B5EF4-FFF2-40B4-BE49-F238E27FC236}">
                    <a16:creationId xmlns:a16="http://schemas.microsoft.com/office/drawing/2014/main" id="{CEF14EFB-5118-ADD8-EAED-15960C85FAD2}"/>
                  </a:ext>
                </a:extLst>
              </p:cNvPr>
              <p:cNvSpPr txBox="1">
                <a:spLocks noChangeArrowheads="1"/>
              </p:cNvSpPr>
              <p:nvPr/>
            </p:nvSpPr>
            <p:spPr bwMode="auto">
              <a:xfrm>
                <a:off x="8892" y="4640"/>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6358" name="Text Box 37">
                <a:extLst>
                  <a:ext uri="{FF2B5EF4-FFF2-40B4-BE49-F238E27FC236}">
                    <a16:creationId xmlns:a16="http://schemas.microsoft.com/office/drawing/2014/main" id="{15C5707E-B33D-9E3A-A828-6B5EB595BBD4}"/>
                  </a:ext>
                </a:extLst>
              </p:cNvPr>
              <p:cNvSpPr txBox="1">
                <a:spLocks noChangeArrowheads="1"/>
              </p:cNvSpPr>
              <p:nvPr/>
            </p:nvSpPr>
            <p:spPr bwMode="auto">
              <a:xfrm>
                <a:off x="7322" y="5051"/>
                <a:ext cx="210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已获价值 </a:t>
                </a:r>
                <a:r>
                  <a:rPr kumimoji="0" lang="en-US" altLang="zh-CN" sz="900" b="0">
                    <a:latin typeface="Times New Roman" panose="02020603050405020304" pitchFamily="18" charset="0"/>
                  </a:rPr>
                  <a:t>= $350</a:t>
                </a:r>
              </a:p>
            </p:txBody>
          </p:sp>
          <p:sp>
            <p:nvSpPr>
              <p:cNvPr id="56359" name="Line 38">
                <a:extLst>
                  <a:ext uri="{FF2B5EF4-FFF2-40B4-BE49-F238E27FC236}">
                    <a16:creationId xmlns:a16="http://schemas.microsoft.com/office/drawing/2014/main" id="{3B79B5D3-7D50-217D-1DAD-44ACCFB65A2D}"/>
                  </a:ext>
                </a:extLst>
              </p:cNvPr>
              <p:cNvSpPr>
                <a:spLocks noChangeShapeType="1"/>
              </p:cNvSpPr>
              <p:nvPr/>
            </p:nvSpPr>
            <p:spPr bwMode="auto">
              <a:xfrm flipH="1">
                <a:off x="4230" y="2177"/>
                <a:ext cx="646"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60" name="Line 39">
                <a:extLst>
                  <a:ext uri="{FF2B5EF4-FFF2-40B4-BE49-F238E27FC236}">
                    <a16:creationId xmlns:a16="http://schemas.microsoft.com/office/drawing/2014/main" id="{5E669CC5-9A1B-0E69-F482-2DBB5ECB22EE}"/>
                  </a:ext>
                </a:extLst>
              </p:cNvPr>
              <p:cNvSpPr>
                <a:spLocks noChangeShapeType="1"/>
              </p:cNvSpPr>
              <p:nvPr/>
            </p:nvSpPr>
            <p:spPr bwMode="auto">
              <a:xfrm>
                <a:off x="4230" y="2612"/>
                <a:ext cx="660" cy="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61" name="Line 40">
                <a:extLst>
                  <a:ext uri="{FF2B5EF4-FFF2-40B4-BE49-F238E27FC236}">
                    <a16:creationId xmlns:a16="http://schemas.microsoft.com/office/drawing/2014/main" id="{C7832863-DBE9-C250-C2A2-9EBC73C69C9A}"/>
                  </a:ext>
                </a:extLst>
              </p:cNvPr>
              <p:cNvSpPr>
                <a:spLocks noChangeShapeType="1"/>
              </p:cNvSpPr>
              <p:nvPr/>
            </p:nvSpPr>
            <p:spPr bwMode="auto">
              <a:xfrm>
                <a:off x="6286" y="2252"/>
                <a:ext cx="660" cy="3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62" name="Line 41">
                <a:extLst>
                  <a:ext uri="{FF2B5EF4-FFF2-40B4-BE49-F238E27FC236}">
                    <a16:creationId xmlns:a16="http://schemas.microsoft.com/office/drawing/2014/main" id="{0B197C23-A6B2-2FA0-9413-DCB3CD93F4F9}"/>
                  </a:ext>
                </a:extLst>
              </p:cNvPr>
              <p:cNvSpPr>
                <a:spLocks noChangeShapeType="1"/>
              </p:cNvSpPr>
              <p:nvPr/>
            </p:nvSpPr>
            <p:spPr bwMode="auto">
              <a:xfrm>
                <a:off x="5386" y="5852"/>
                <a:ext cx="37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6325" name="Rectangle 42">
            <a:extLst>
              <a:ext uri="{FF2B5EF4-FFF2-40B4-BE49-F238E27FC236}">
                <a16:creationId xmlns:a16="http://schemas.microsoft.com/office/drawing/2014/main" id="{249D887F-951A-0CA3-CFF7-114B4069811D}"/>
              </a:ext>
            </a:extLst>
          </p:cNvPr>
          <p:cNvSpPr>
            <a:spLocks noChangeArrowheads="1"/>
          </p:cNvSpPr>
          <p:nvPr/>
        </p:nvSpPr>
        <p:spPr bwMode="auto">
          <a:xfrm>
            <a:off x="900113" y="5661025"/>
            <a:ext cx="5184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1">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lang="en-US" altLang="zh-CN" sz="2000">
                <a:solidFill>
                  <a:schemeClr val="accent2"/>
                </a:solidFill>
              </a:rPr>
              <a:t>BCWS=$400 , BCWP=$350, </a:t>
            </a:r>
            <a:r>
              <a:rPr lang="zh-CN" altLang="en-US" sz="2000">
                <a:solidFill>
                  <a:schemeClr val="accent2"/>
                </a:solidFill>
              </a:rPr>
              <a:t>则</a:t>
            </a:r>
            <a:r>
              <a:rPr lang="en-US" altLang="zh-CN" sz="2000">
                <a:solidFill>
                  <a:schemeClr val="accent2"/>
                </a:solidFill>
              </a:rPr>
              <a:t>SV=- $ 50</a:t>
            </a:r>
          </a:p>
        </p:txBody>
      </p:sp>
      <p:sp>
        <p:nvSpPr>
          <p:cNvPr id="403499" name="Text Box 43">
            <a:extLst>
              <a:ext uri="{FF2B5EF4-FFF2-40B4-BE49-F238E27FC236}">
                <a16:creationId xmlns:a16="http://schemas.microsoft.com/office/drawing/2014/main" id="{D9D7907D-CFE5-0102-EA9E-06A5B690250C}"/>
              </a:ext>
            </a:extLst>
          </p:cNvPr>
          <p:cNvSpPr txBox="1">
            <a:spLocks noChangeArrowheads="1"/>
          </p:cNvSpPr>
          <p:nvPr/>
        </p:nvSpPr>
        <p:spPr bwMode="auto">
          <a:xfrm>
            <a:off x="1042988" y="6165850"/>
            <a:ext cx="556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accent2"/>
                </a:solidFill>
                <a:latin typeface="黑体" panose="02010609060101010101" pitchFamily="49" charset="-122"/>
                <a:ea typeface="黑体" panose="02010609060101010101" pitchFamily="49" charset="-122"/>
              </a:rPr>
              <a:t>如果</a:t>
            </a:r>
            <a:r>
              <a:rPr lang="en-US" altLang="zh-CN" sz="2000">
                <a:solidFill>
                  <a:schemeClr val="accent2"/>
                </a:solidFill>
              </a:rPr>
              <a:t>ACWP= $ 700</a:t>
            </a:r>
            <a:r>
              <a:rPr lang="en-US" altLang="zh-CN" sz="2000">
                <a:solidFill>
                  <a:schemeClr val="accent2"/>
                </a:solidFill>
                <a:latin typeface="黑体" panose="02010609060101010101" pitchFamily="49" charset="-122"/>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则</a:t>
            </a:r>
            <a:r>
              <a:rPr lang="en-US" altLang="zh-CN" sz="2000">
                <a:solidFill>
                  <a:schemeClr val="accent2"/>
                </a:solidFill>
              </a:rPr>
              <a:t>CV=- $ 350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wd">
                                    <p:tmAbs val="300"/>
                                  </p:iterate>
                                  <p:childTnLst>
                                    <p:set>
                                      <p:cBhvr>
                                        <p:cTn id="6" dur="1" fill="hold">
                                          <p:stCondLst>
                                            <p:cond delay="299"/>
                                          </p:stCondLst>
                                        </p:cTn>
                                        <p:tgtEl>
                                          <p:spTgt spid="403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99"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6E07B9E-DFFA-61B9-3BB0-A6A973D10CC9}"/>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55299" name="Rectangle 3">
            <a:extLst>
              <a:ext uri="{FF2B5EF4-FFF2-40B4-BE49-F238E27FC236}">
                <a16:creationId xmlns:a16="http://schemas.microsoft.com/office/drawing/2014/main" id="{33C4F8E0-CE29-BC96-EC76-F832C63A36A8}"/>
              </a:ext>
            </a:extLst>
          </p:cNvPr>
          <p:cNvSpPr>
            <a:spLocks noGrp="1" noChangeArrowheads="1"/>
          </p:cNvSpPr>
          <p:nvPr>
            <p:ph type="body" idx="1"/>
          </p:nvPr>
        </p:nvSpPr>
        <p:spPr>
          <a:xfrm>
            <a:off x="539750" y="1989138"/>
            <a:ext cx="8424863" cy="4868862"/>
          </a:xfrm>
        </p:spPr>
        <p:txBody>
          <a:bodyPr/>
          <a:lstStyle/>
          <a:p>
            <a:pPr eaLnBrk="1" hangingPunct="1">
              <a:lnSpc>
                <a:spcPct val="110000"/>
              </a:lnSpc>
            </a:pPr>
            <a:r>
              <a:rPr lang="zh-CN" altLang="en-US" sz="2000" dirty="0">
                <a:latin typeface="黑体" panose="02010609060101010101" pitchFamily="49" charset="-122"/>
                <a:ea typeface="黑体" panose="02010609060101010101" pitchFamily="49" charset="-122"/>
              </a:rPr>
              <a:t>输出</a:t>
            </a:r>
            <a:r>
              <a:rPr lang="en-US" altLang="zh-CN" sz="2000" dirty="0">
                <a:solidFill>
                  <a:schemeClr val="accent2"/>
                </a:solidFill>
                <a:ea typeface="黑体" panose="02010609060101010101" pitchFamily="49" charset="-122"/>
              </a:rPr>
              <a:t>——</a:t>
            </a:r>
            <a:r>
              <a:rPr lang="zh-CN" altLang="en-US" sz="2000" dirty="0">
                <a:solidFill>
                  <a:schemeClr val="accent2"/>
                </a:solidFill>
                <a:latin typeface="黑体" panose="02010609060101010101" pitchFamily="49" charset="-122"/>
                <a:ea typeface="黑体" panose="02010609060101010101" pitchFamily="49" charset="-122"/>
              </a:rPr>
              <a:t>已获值导出度量</a:t>
            </a:r>
            <a:r>
              <a:rPr lang="en-US" altLang="zh-CN" sz="2000" dirty="0">
                <a:solidFill>
                  <a:schemeClr val="accent2"/>
                </a:solidFill>
                <a:latin typeface="黑体" panose="02010609060101010101" pitchFamily="49" charset="-122"/>
                <a:ea typeface="黑体" panose="02010609060101010101" pitchFamily="49" charset="-122"/>
              </a:rPr>
              <a:t>-1</a:t>
            </a:r>
          </a:p>
          <a:p>
            <a:pPr lvl="1" eaLnBrk="1" hangingPunct="1">
              <a:lnSpc>
                <a:spcPct val="120000"/>
              </a:lnSpc>
              <a:spcBef>
                <a:spcPct val="30000"/>
              </a:spcBef>
            </a:pPr>
            <a:r>
              <a:rPr lang="zh-CN" altLang="en-US" sz="2000" dirty="0">
                <a:solidFill>
                  <a:schemeClr val="accent2"/>
                </a:solidFill>
                <a:latin typeface="黑体" panose="02010609060101010101" pitchFamily="49" charset="-122"/>
                <a:ea typeface="黑体" panose="02010609060101010101" pitchFamily="49" charset="-122"/>
              </a:rPr>
              <a:t>进度差异</a:t>
            </a:r>
            <a:r>
              <a:rPr lang="en-US" altLang="zh-CN" sz="2000" dirty="0">
                <a:latin typeface="宋体" panose="02010600030101010101" pitchFamily="2" charset="-122"/>
              </a:rPr>
              <a:t>:SV</a:t>
            </a:r>
            <a:r>
              <a:rPr lang="zh-CN" altLang="en-US" sz="2000" dirty="0">
                <a:latin typeface="宋体" panose="02010600030101010101" pitchFamily="2" charset="-122"/>
              </a:rPr>
              <a:t>（</a:t>
            </a:r>
            <a:r>
              <a:rPr lang="en-US" altLang="zh-CN" sz="2000" dirty="0">
                <a:latin typeface="宋体" panose="02010600030101010101" pitchFamily="2" charset="-122"/>
              </a:rPr>
              <a:t>Schedule Variance</a:t>
            </a:r>
            <a:r>
              <a:rPr lang="zh-CN" altLang="en-US" sz="2000" dirty="0">
                <a:latin typeface="宋体" panose="02010600030101010101" pitchFamily="2" charset="-122"/>
              </a:rPr>
              <a:t>）</a:t>
            </a:r>
            <a:r>
              <a:rPr lang="en-US" altLang="zh-CN" sz="2000" dirty="0">
                <a:latin typeface="宋体" panose="02010600030101010101" pitchFamily="2" charset="-122"/>
              </a:rPr>
              <a:t>=BCWP-BCWS</a:t>
            </a:r>
          </a:p>
          <a:p>
            <a:pPr lvl="2" eaLnBrk="1" hangingPunct="1">
              <a:lnSpc>
                <a:spcPct val="110000"/>
              </a:lnSpc>
              <a:spcBef>
                <a:spcPct val="30000"/>
              </a:spcBef>
            </a:pPr>
            <a:r>
              <a:rPr lang="en-US" altLang="zh-CN" dirty="0">
                <a:latin typeface="宋体" panose="02010600030101010101" pitchFamily="2" charset="-122"/>
              </a:rPr>
              <a:t>=0</a:t>
            </a:r>
            <a:r>
              <a:rPr lang="zh-CN" altLang="en-US" dirty="0">
                <a:latin typeface="宋体" panose="02010600030101010101" pitchFamily="2" charset="-122"/>
              </a:rPr>
              <a:t>：按照进度进行</a:t>
            </a:r>
          </a:p>
          <a:p>
            <a:pPr lvl="2" eaLnBrk="1" hangingPunct="1">
              <a:lnSpc>
                <a:spcPct val="110000"/>
              </a:lnSpc>
              <a:spcBef>
                <a:spcPct val="30000"/>
              </a:spcBef>
            </a:pPr>
            <a:r>
              <a:rPr lang="en-US" altLang="zh-CN" dirty="0">
                <a:latin typeface="宋体" panose="02010600030101010101" pitchFamily="2" charset="-122"/>
              </a:rPr>
              <a:t>&lt;0</a:t>
            </a:r>
            <a:r>
              <a:rPr lang="zh-CN" altLang="en-US" dirty="0">
                <a:latin typeface="宋体" panose="02010600030101010101" pitchFamily="2" charset="-122"/>
              </a:rPr>
              <a:t>：落后于进度</a:t>
            </a:r>
          </a:p>
          <a:p>
            <a:pPr lvl="2" eaLnBrk="1" hangingPunct="1">
              <a:lnSpc>
                <a:spcPct val="110000"/>
              </a:lnSpc>
              <a:spcBef>
                <a:spcPct val="30000"/>
              </a:spcBef>
            </a:pPr>
            <a:r>
              <a:rPr lang="en-US" altLang="zh-CN" dirty="0">
                <a:latin typeface="宋体" panose="02010600030101010101" pitchFamily="2" charset="-122"/>
              </a:rPr>
              <a:t>&gt;0</a:t>
            </a:r>
            <a:r>
              <a:rPr lang="zh-CN" altLang="en-US" dirty="0">
                <a:latin typeface="宋体" panose="02010600030101010101" pitchFamily="2" charset="-122"/>
              </a:rPr>
              <a:t>：超前于进度</a:t>
            </a:r>
          </a:p>
          <a:p>
            <a:pPr lvl="1" eaLnBrk="1" hangingPunct="1">
              <a:lnSpc>
                <a:spcPct val="110000"/>
              </a:lnSpc>
            </a:pPr>
            <a:r>
              <a:rPr lang="zh-CN" altLang="en-US" sz="2000" dirty="0">
                <a:solidFill>
                  <a:schemeClr val="accent2"/>
                </a:solidFill>
                <a:latin typeface="黑体" panose="02010609060101010101" pitchFamily="49" charset="-122"/>
                <a:ea typeface="黑体" panose="02010609060101010101" pitchFamily="49" charset="-122"/>
              </a:rPr>
              <a:t>费用差异</a:t>
            </a:r>
            <a:r>
              <a:rPr lang="en-US" altLang="zh-CN" sz="2000" dirty="0">
                <a:latin typeface="宋体" panose="02010600030101010101" pitchFamily="2" charset="-122"/>
              </a:rPr>
              <a:t>:CV</a:t>
            </a:r>
            <a:r>
              <a:rPr lang="zh-CN" altLang="en-US" sz="2000" dirty="0">
                <a:latin typeface="宋体" panose="02010600030101010101" pitchFamily="2" charset="-122"/>
              </a:rPr>
              <a:t>（</a:t>
            </a:r>
            <a:r>
              <a:rPr lang="en-US" altLang="zh-CN" sz="2000" dirty="0">
                <a:latin typeface="宋体" panose="02010600030101010101" pitchFamily="2" charset="-122"/>
              </a:rPr>
              <a:t>Cost Variance )=BCWP-ACWP</a:t>
            </a:r>
          </a:p>
          <a:p>
            <a:pPr lvl="2" eaLnBrk="1" hangingPunct="1">
              <a:lnSpc>
                <a:spcPct val="110000"/>
              </a:lnSpc>
              <a:spcBef>
                <a:spcPct val="30000"/>
              </a:spcBef>
            </a:pPr>
            <a:r>
              <a:rPr lang="en-US" altLang="zh-CN" dirty="0">
                <a:latin typeface="宋体" panose="02010600030101010101" pitchFamily="2" charset="-122"/>
              </a:rPr>
              <a:t>=0</a:t>
            </a:r>
            <a:r>
              <a:rPr lang="zh-CN" altLang="en-US" dirty="0">
                <a:latin typeface="宋体" panose="02010600030101010101" pitchFamily="2" charset="-122"/>
              </a:rPr>
              <a:t>：按照预算进行</a:t>
            </a:r>
          </a:p>
          <a:p>
            <a:pPr lvl="2" eaLnBrk="1" hangingPunct="1">
              <a:lnSpc>
                <a:spcPct val="110000"/>
              </a:lnSpc>
              <a:spcBef>
                <a:spcPct val="30000"/>
              </a:spcBef>
            </a:pPr>
            <a:r>
              <a:rPr lang="en-US" altLang="zh-CN" dirty="0">
                <a:latin typeface="宋体" panose="02010600030101010101" pitchFamily="2" charset="-122"/>
              </a:rPr>
              <a:t>&gt;0</a:t>
            </a:r>
            <a:r>
              <a:rPr lang="zh-CN" altLang="en-US">
                <a:latin typeface="宋体" panose="02010600030101010101" pitchFamily="2" charset="-122"/>
              </a:rPr>
              <a:t>：低于预算</a:t>
            </a:r>
          </a:p>
          <a:p>
            <a:pPr lvl="2" eaLnBrk="1" hangingPunct="1">
              <a:lnSpc>
                <a:spcPct val="110000"/>
              </a:lnSpc>
              <a:spcBef>
                <a:spcPct val="30000"/>
              </a:spcBef>
            </a:pPr>
            <a:r>
              <a:rPr lang="en-US" altLang="zh-CN" dirty="0">
                <a:latin typeface="宋体" panose="02010600030101010101" pitchFamily="2" charset="-122"/>
              </a:rPr>
              <a:t>&lt;0</a:t>
            </a:r>
            <a:r>
              <a:rPr lang="zh-CN" altLang="en-US" dirty="0">
                <a:latin typeface="宋体" panose="02010600030101010101" pitchFamily="2" charset="-122"/>
              </a:rPr>
              <a:t>：超出于预算</a:t>
            </a:r>
          </a:p>
          <a:p>
            <a:pPr eaLnBrk="1" hangingPunct="1">
              <a:lnSpc>
                <a:spcPct val="110000"/>
              </a:lnSpc>
            </a:pPr>
            <a:endParaRPr lang="zh-CN" altLang="en-US" sz="2000" dirty="0">
              <a:latin typeface="宋体" panose="02010600030101010101" pitchFamily="2" charset="-122"/>
            </a:endParaRPr>
          </a:p>
          <a:p>
            <a:pPr eaLnBrk="1" hangingPunct="1"/>
            <a:endParaRPr lang="en-US" altLang="zh-CN" sz="20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EFE93A51-EE82-D0A6-9A8E-3F08BE455486}"/>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57347" name="Rectangle 3">
            <a:extLst>
              <a:ext uri="{FF2B5EF4-FFF2-40B4-BE49-F238E27FC236}">
                <a16:creationId xmlns:a16="http://schemas.microsoft.com/office/drawing/2014/main" id="{6495FDD8-B2A7-5334-589C-E1FFC5EA9D8C}"/>
              </a:ext>
            </a:extLst>
          </p:cNvPr>
          <p:cNvSpPr>
            <a:spLocks noGrp="1" noChangeArrowheads="1"/>
          </p:cNvSpPr>
          <p:nvPr>
            <p:ph type="body" idx="1"/>
          </p:nvPr>
        </p:nvSpPr>
        <p:spPr>
          <a:xfrm>
            <a:off x="323850" y="1916113"/>
            <a:ext cx="8640763" cy="4941887"/>
          </a:xfrm>
        </p:spPr>
        <p:txBody>
          <a:bodyPr/>
          <a:lstStyle/>
          <a:p>
            <a:pPr eaLnBrk="1" hangingPunct="1"/>
            <a:r>
              <a:rPr lang="zh-CN" altLang="en-US" sz="2000" dirty="0">
                <a:latin typeface="黑体" panose="02010609060101010101" pitchFamily="49" charset="-122"/>
                <a:ea typeface="黑体" panose="02010609060101010101" pitchFamily="49" charset="-122"/>
              </a:rPr>
              <a:t>输出</a:t>
            </a:r>
            <a:r>
              <a:rPr lang="en-US" altLang="zh-CN" sz="2000" dirty="0">
                <a:solidFill>
                  <a:schemeClr val="accent2"/>
                </a:solidFill>
                <a:ea typeface="黑体" panose="02010609060101010101" pitchFamily="49" charset="-122"/>
              </a:rPr>
              <a:t>——</a:t>
            </a:r>
            <a:r>
              <a:rPr lang="zh-CN" altLang="en-US" sz="2000" dirty="0">
                <a:solidFill>
                  <a:schemeClr val="accent2"/>
                </a:solidFill>
                <a:latin typeface="黑体" panose="02010609060101010101" pitchFamily="49" charset="-122"/>
                <a:ea typeface="黑体" panose="02010609060101010101" pitchFamily="49" charset="-122"/>
              </a:rPr>
              <a:t>已获值导出度量</a:t>
            </a:r>
            <a:r>
              <a:rPr lang="en-US" altLang="zh-CN" sz="2000" dirty="0">
                <a:solidFill>
                  <a:schemeClr val="accent2"/>
                </a:solidFill>
                <a:latin typeface="黑体" panose="02010609060101010101" pitchFamily="49" charset="-122"/>
                <a:ea typeface="黑体" panose="02010609060101010101" pitchFamily="49" charset="-122"/>
              </a:rPr>
              <a:t>-2</a:t>
            </a:r>
          </a:p>
          <a:p>
            <a:pPr lvl="1" eaLnBrk="1" hangingPunct="1"/>
            <a:r>
              <a:rPr lang="zh-CN" altLang="en-US" sz="2000" dirty="0">
                <a:solidFill>
                  <a:schemeClr val="accent2"/>
                </a:solidFill>
                <a:latin typeface="黑体" panose="02010609060101010101" pitchFamily="49" charset="-122"/>
                <a:ea typeface="黑体" panose="02010609060101010101" pitchFamily="49" charset="-122"/>
              </a:rPr>
              <a:t>进度效能指标</a:t>
            </a:r>
            <a:r>
              <a:rPr lang="zh-CN" altLang="en-US" sz="2000" dirty="0">
                <a:latin typeface="宋体" panose="02010600030101010101" pitchFamily="2" charset="-122"/>
              </a:rPr>
              <a:t>： </a:t>
            </a:r>
            <a:r>
              <a:rPr lang="en-US" altLang="zh-CN" sz="2000" dirty="0">
                <a:latin typeface="宋体" panose="02010600030101010101" pitchFamily="2" charset="-122"/>
              </a:rPr>
              <a:t>SPI(Schedule  Performance Index)=BCWP/BCWS</a:t>
            </a:r>
          </a:p>
          <a:p>
            <a:pPr lvl="2" eaLnBrk="1" hangingPunct="1"/>
            <a:r>
              <a:rPr lang="zh-CN" altLang="en-US" dirty="0">
                <a:latin typeface="宋体" panose="02010600030101010101" pitchFamily="2" charset="-122"/>
              </a:rPr>
              <a:t>已完成工作百分比</a:t>
            </a:r>
          </a:p>
          <a:p>
            <a:pPr lvl="2" eaLnBrk="1" hangingPunct="1"/>
            <a:r>
              <a:rPr lang="en-US" altLang="zh-CN" dirty="0">
                <a:latin typeface="宋体" panose="02010600030101010101" pitchFamily="2" charset="-122"/>
              </a:rPr>
              <a:t>=1</a:t>
            </a:r>
            <a:r>
              <a:rPr lang="zh-CN" altLang="en-US" dirty="0">
                <a:latin typeface="宋体" panose="02010600030101010101" pitchFamily="2" charset="-122"/>
              </a:rPr>
              <a:t>：按照进度进行</a:t>
            </a:r>
          </a:p>
          <a:p>
            <a:pPr lvl="2" eaLnBrk="1" hangingPunct="1"/>
            <a:r>
              <a:rPr lang="en-US" altLang="zh-CN" dirty="0">
                <a:latin typeface="宋体" panose="02010600030101010101" pitchFamily="2" charset="-122"/>
              </a:rPr>
              <a:t>&gt;1</a:t>
            </a:r>
            <a:r>
              <a:rPr lang="zh-CN" altLang="en-US" dirty="0">
                <a:latin typeface="宋体" panose="02010600030101010101" pitchFamily="2" charset="-122"/>
              </a:rPr>
              <a:t>：超前于进度</a:t>
            </a:r>
          </a:p>
          <a:p>
            <a:pPr lvl="2" eaLnBrk="1" hangingPunct="1"/>
            <a:r>
              <a:rPr lang="en-US" altLang="zh-CN" dirty="0">
                <a:latin typeface="宋体" panose="02010600030101010101" pitchFamily="2" charset="-122"/>
              </a:rPr>
              <a:t>&lt;1</a:t>
            </a:r>
            <a:r>
              <a:rPr lang="zh-CN" altLang="en-US" dirty="0">
                <a:latin typeface="宋体" panose="02010600030101010101" pitchFamily="2" charset="-122"/>
              </a:rPr>
              <a:t>：落后于进度</a:t>
            </a:r>
            <a:endParaRPr lang="en-US" altLang="zh-CN" dirty="0">
              <a:latin typeface="宋体" panose="02010600030101010101" pitchFamily="2" charset="-122"/>
            </a:endParaRPr>
          </a:p>
          <a:p>
            <a:pPr lvl="1" eaLnBrk="1" hangingPunct="1">
              <a:lnSpc>
                <a:spcPct val="120000"/>
              </a:lnSpc>
              <a:spcBef>
                <a:spcPct val="30000"/>
              </a:spcBef>
            </a:pPr>
            <a:r>
              <a:rPr lang="zh-CN" altLang="en-US" sz="2000" dirty="0">
                <a:solidFill>
                  <a:schemeClr val="accent2"/>
                </a:solidFill>
                <a:latin typeface="黑体" panose="02010609060101010101" pitchFamily="49" charset="-122"/>
                <a:ea typeface="黑体" panose="02010609060101010101" pitchFamily="49" charset="-122"/>
              </a:rPr>
              <a:t>成本效能指数</a:t>
            </a:r>
            <a:r>
              <a:rPr lang="zh-CN" altLang="en-US" sz="2000" dirty="0">
                <a:latin typeface="宋体" panose="02010600030101010101" pitchFamily="2" charset="-122"/>
              </a:rPr>
              <a:t>：</a:t>
            </a:r>
            <a:r>
              <a:rPr lang="en-US" altLang="zh-CN" sz="2000" dirty="0">
                <a:latin typeface="宋体" panose="02010600030101010101" pitchFamily="2" charset="-122"/>
              </a:rPr>
              <a:t>CPI(Cost Performance Index)=BCWP/ACWP</a:t>
            </a:r>
          </a:p>
          <a:p>
            <a:pPr lvl="2" eaLnBrk="1" hangingPunct="1"/>
            <a:r>
              <a:rPr lang="zh-CN" altLang="en-US" dirty="0">
                <a:latin typeface="宋体" panose="02010600030101010101" pitchFamily="2" charset="-122"/>
              </a:rPr>
              <a:t>费用的支出速度</a:t>
            </a:r>
          </a:p>
          <a:p>
            <a:pPr lvl="2" eaLnBrk="1" hangingPunct="1"/>
            <a:r>
              <a:rPr lang="en-US" altLang="zh-CN" dirty="0">
                <a:latin typeface="宋体" panose="02010600030101010101" pitchFamily="2" charset="-122"/>
              </a:rPr>
              <a:t>=1</a:t>
            </a:r>
            <a:r>
              <a:rPr lang="zh-CN" altLang="en-US" dirty="0">
                <a:latin typeface="宋体" panose="02010600030101010101" pitchFamily="2" charset="-122"/>
              </a:rPr>
              <a:t>：按照预算进行</a:t>
            </a:r>
          </a:p>
          <a:p>
            <a:pPr lvl="2" eaLnBrk="1" hangingPunct="1"/>
            <a:r>
              <a:rPr lang="en-US" altLang="zh-CN" dirty="0">
                <a:latin typeface="宋体" panose="02010600030101010101" pitchFamily="2" charset="-122"/>
              </a:rPr>
              <a:t>&gt;1</a:t>
            </a:r>
            <a:r>
              <a:rPr lang="zh-CN" altLang="en-US" dirty="0">
                <a:latin typeface="宋体" panose="02010600030101010101" pitchFamily="2" charset="-122"/>
              </a:rPr>
              <a:t>：低于预算</a:t>
            </a:r>
          </a:p>
          <a:p>
            <a:pPr lvl="2" eaLnBrk="1" hangingPunct="1"/>
            <a:r>
              <a:rPr lang="en-US" altLang="zh-CN" dirty="0">
                <a:latin typeface="宋体" panose="02010600030101010101" pitchFamily="2" charset="-122"/>
              </a:rPr>
              <a:t>&lt;1</a:t>
            </a:r>
            <a:r>
              <a:rPr lang="zh-CN" altLang="en-US" dirty="0">
                <a:latin typeface="宋体" panose="02010600030101010101" pitchFamily="2" charset="-122"/>
              </a:rPr>
              <a:t>：超出预算</a:t>
            </a:r>
          </a:p>
          <a:p>
            <a:pPr eaLnBrk="1" hangingPunct="1"/>
            <a:endParaRPr lang="en-US" altLang="zh-CN" sz="2000" dirty="0">
              <a:solidFill>
                <a:schemeClr val="accent2"/>
              </a:solidFill>
              <a:latin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D0A2FA2-4592-9E58-9AF2-7E38897A108A}"/>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58371" name="Rectangle 3">
            <a:extLst>
              <a:ext uri="{FF2B5EF4-FFF2-40B4-BE49-F238E27FC236}">
                <a16:creationId xmlns:a16="http://schemas.microsoft.com/office/drawing/2014/main" id="{BB6878A9-F475-282C-8C45-D7C16E5390BA}"/>
              </a:ext>
            </a:extLst>
          </p:cNvPr>
          <p:cNvSpPr>
            <a:spLocks noGrp="1" noChangeArrowheads="1"/>
          </p:cNvSpPr>
          <p:nvPr>
            <p:ph type="body" idx="1"/>
          </p:nvPr>
        </p:nvSpPr>
        <p:spPr>
          <a:xfrm>
            <a:off x="323850" y="1916113"/>
            <a:ext cx="8640763" cy="4941887"/>
          </a:xfrm>
        </p:spPr>
        <p:txBody>
          <a:bodyPr/>
          <a:lstStyle/>
          <a:p>
            <a:pPr eaLnBrk="1" hangingPunct="1">
              <a:lnSpc>
                <a:spcPct val="110000"/>
              </a:lnSpc>
              <a:spcBef>
                <a:spcPct val="20000"/>
              </a:spcBef>
            </a:pPr>
            <a:r>
              <a:rPr lang="zh-CN" altLang="en-US" sz="2000" dirty="0">
                <a:latin typeface="黑体" panose="02010609060101010101" pitchFamily="49" charset="-122"/>
                <a:ea typeface="黑体" panose="02010609060101010101" pitchFamily="49" charset="-122"/>
              </a:rPr>
              <a:t>输出</a:t>
            </a:r>
            <a:r>
              <a:rPr lang="en-US" altLang="zh-CN" sz="2000" dirty="0">
                <a:solidFill>
                  <a:schemeClr val="accent2"/>
                </a:solidFill>
                <a:ea typeface="黑体" panose="02010609060101010101" pitchFamily="49" charset="-122"/>
              </a:rPr>
              <a:t>——</a:t>
            </a:r>
            <a:r>
              <a:rPr lang="zh-CN" altLang="en-US" sz="2000" dirty="0">
                <a:solidFill>
                  <a:schemeClr val="accent2"/>
                </a:solidFill>
                <a:latin typeface="黑体" panose="02010609060101010101" pitchFamily="49" charset="-122"/>
                <a:ea typeface="黑体" panose="02010609060101010101" pitchFamily="49" charset="-122"/>
              </a:rPr>
              <a:t>已获值导出度量</a:t>
            </a:r>
            <a:r>
              <a:rPr lang="en-US" altLang="zh-CN" sz="2000" dirty="0">
                <a:solidFill>
                  <a:schemeClr val="accent2"/>
                </a:solidFill>
                <a:latin typeface="黑体" panose="02010609060101010101" pitchFamily="49" charset="-122"/>
                <a:ea typeface="黑体" panose="02010609060101010101" pitchFamily="49" charset="-122"/>
              </a:rPr>
              <a:t>-3</a:t>
            </a:r>
          </a:p>
          <a:p>
            <a:pPr lvl="1" eaLnBrk="1" hangingPunct="1">
              <a:lnSpc>
                <a:spcPct val="120000"/>
              </a:lnSpc>
              <a:spcBef>
                <a:spcPct val="30000"/>
              </a:spcBef>
            </a:pPr>
            <a:r>
              <a:rPr lang="zh-CN" altLang="en-US" sz="2000" dirty="0">
                <a:solidFill>
                  <a:schemeClr val="accent2"/>
                </a:solidFill>
                <a:latin typeface="黑体" panose="02010609060101010101" pitchFamily="49" charset="-122"/>
                <a:ea typeface="黑体" panose="02010609060101010101" pitchFamily="49" charset="-122"/>
              </a:rPr>
              <a:t>工作完成的预测成本</a:t>
            </a:r>
            <a:endParaRPr lang="zh-CN" altLang="en-US" sz="2000" dirty="0">
              <a:latin typeface="黑体" panose="02010609060101010101" pitchFamily="49" charset="-122"/>
              <a:ea typeface="黑体" panose="02010609060101010101" pitchFamily="49" charset="-122"/>
            </a:endParaRPr>
          </a:p>
          <a:p>
            <a:pPr lvl="3" eaLnBrk="1" hangingPunct="1">
              <a:lnSpc>
                <a:spcPct val="110000"/>
              </a:lnSpc>
            </a:pPr>
            <a:r>
              <a:rPr lang="en-US" altLang="zh-CN" b="1" dirty="0">
                <a:solidFill>
                  <a:srgbClr val="FF0000"/>
                </a:solidFill>
                <a:ea typeface="黑体" panose="02010609060101010101" pitchFamily="49" charset="-122"/>
              </a:rPr>
              <a:t>EAC </a:t>
            </a:r>
            <a:r>
              <a:rPr lang="zh-CN" altLang="en-US" b="1" dirty="0">
                <a:solidFill>
                  <a:srgbClr val="FF0000"/>
                </a:solidFill>
                <a:ea typeface="黑体" panose="02010609060101010101" pitchFamily="49" charset="-122"/>
              </a:rPr>
              <a:t>（</a:t>
            </a:r>
            <a:r>
              <a:rPr lang="en-US" altLang="zh-CN" b="1" dirty="0">
                <a:solidFill>
                  <a:srgbClr val="FF0000"/>
                </a:solidFill>
                <a:ea typeface="黑体" panose="02010609060101010101" pitchFamily="49" charset="-122"/>
              </a:rPr>
              <a:t>Estimate At Completion</a:t>
            </a:r>
            <a:r>
              <a:rPr lang="zh-CN" altLang="en-US" b="1" dirty="0">
                <a:solidFill>
                  <a:srgbClr val="FF0000"/>
                </a:solidFill>
                <a:ea typeface="黑体" panose="02010609060101010101" pitchFamily="49" charset="-122"/>
              </a:rPr>
              <a:t>） </a:t>
            </a:r>
            <a:r>
              <a:rPr lang="en-US" altLang="zh-CN" b="1" dirty="0">
                <a:solidFill>
                  <a:srgbClr val="FF0000"/>
                </a:solidFill>
                <a:ea typeface="黑体" panose="02010609060101010101" pitchFamily="49" charset="-122"/>
              </a:rPr>
              <a:t>=BAC/CPI</a:t>
            </a:r>
          </a:p>
          <a:p>
            <a:pPr lvl="2" eaLnBrk="1" hangingPunct="1">
              <a:lnSpc>
                <a:spcPct val="110000"/>
              </a:lnSpc>
            </a:pPr>
            <a:r>
              <a:rPr lang="zh-CN" altLang="en-US" dirty="0">
                <a:latin typeface="黑体" panose="02010609060101010101" pitchFamily="49" charset="-122"/>
                <a:ea typeface="黑体" panose="02010609060101010101" pitchFamily="49" charset="-122"/>
              </a:rPr>
              <a:t>其它借鉴公式</a:t>
            </a:r>
          </a:p>
          <a:p>
            <a:pPr lvl="3" eaLnBrk="1" hangingPunct="1">
              <a:lnSpc>
                <a:spcPct val="110000"/>
              </a:lnSpc>
            </a:pPr>
            <a:r>
              <a:rPr lang="en-US" altLang="zh-CN" b="1" dirty="0">
                <a:ea typeface="黑体" panose="02010609060101010101" pitchFamily="49" charset="-122"/>
              </a:rPr>
              <a:t>EAC=BAC/(CPI*SPI)</a:t>
            </a:r>
          </a:p>
          <a:p>
            <a:pPr lvl="3" eaLnBrk="1" hangingPunct="1">
              <a:lnSpc>
                <a:spcPct val="110000"/>
              </a:lnSpc>
            </a:pPr>
            <a:r>
              <a:rPr lang="en-US" altLang="zh-CN" b="1" dirty="0">
                <a:ea typeface="黑体" panose="02010609060101010101" pitchFamily="49" charset="-122"/>
              </a:rPr>
              <a:t>EAC=ACWP+(BAC-BCWP)</a:t>
            </a:r>
          </a:p>
          <a:p>
            <a:pPr lvl="3" eaLnBrk="1" hangingPunct="1">
              <a:lnSpc>
                <a:spcPct val="110000"/>
              </a:lnSpc>
            </a:pPr>
            <a:r>
              <a:rPr lang="en-US" altLang="zh-CN" b="1" dirty="0">
                <a:ea typeface="黑体" panose="02010609060101010101" pitchFamily="49" charset="-122"/>
              </a:rPr>
              <a:t>EAC</a:t>
            </a:r>
            <a:r>
              <a:rPr lang="en-US" altLang="zh-CN" b="1" dirty="0">
                <a:latin typeface="黑体" panose="02010609060101010101" pitchFamily="49" charset="-122"/>
                <a:ea typeface="黑体" panose="02010609060101010101" pitchFamily="49" charset="-122"/>
              </a:rPr>
              <a:t>= </a:t>
            </a:r>
            <a:r>
              <a:rPr lang="en-US" altLang="zh-CN" b="1" dirty="0">
                <a:ea typeface="黑体" panose="02010609060101010101" pitchFamily="49" charset="-122"/>
              </a:rPr>
              <a:t>ACWP+</a:t>
            </a:r>
            <a:r>
              <a:rPr lang="zh-CN" altLang="en-US" b="1" dirty="0">
                <a:ea typeface="黑体" panose="02010609060101010101" pitchFamily="49" charset="-122"/>
              </a:rPr>
              <a:t>剩余工作的新估计</a:t>
            </a:r>
          </a:p>
          <a:p>
            <a:pPr lvl="1" eaLnBrk="1" hangingPunct="1">
              <a:lnSpc>
                <a:spcPct val="110000"/>
              </a:lnSpc>
            </a:pPr>
            <a:r>
              <a:rPr lang="zh-CN" altLang="en-US" sz="2000" dirty="0">
                <a:solidFill>
                  <a:schemeClr val="accent2"/>
                </a:solidFill>
                <a:latin typeface="黑体" panose="02010609060101010101" pitchFamily="49" charset="-122"/>
                <a:ea typeface="黑体" panose="02010609060101010101" pitchFamily="49" charset="-122"/>
              </a:rPr>
              <a:t>工作完成的成本差异</a:t>
            </a:r>
          </a:p>
          <a:p>
            <a:pPr lvl="2" eaLnBrk="1" hangingPunct="1">
              <a:lnSpc>
                <a:spcPct val="110000"/>
              </a:lnSpc>
            </a:pPr>
            <a:r>
              <a:rPr lang="en-US" altLang="zh-CN" dirty="0">
                <a:ea typeface="黑体" panose="02010609060101010101" pitchFamily="49" charset="-122"/>
              </a:rPr>
              <a:t>VAC</a:t>
            </a:r>
            <a:r>
              <a:rPr lang="zh-CN" altLang="en-US" dirty="0">
                <a:ea typeface="黑体" panose="02010609060101010101" pitchFamily="49" charset="-122"/>
              </a:rPr>
              <a:t>（</a:t>
            </a:r>
            <a:r>
              <a:rPr lang="en-US" altLang="zh-CN" dirty="0">
                <a:ea typeface="黑体" panose="02010609060101010101" pitchFamily="49" charset="-122"/>
              </a:rPr>
              <a:t>Variance At Completion</a:t>
            </a:r>
            <a:r>
              <a:rPr lang="zh-CN" altLang="en-US" dirty="0">
                <a:ea typeface="黑体" panose="02010609060101010101" pitchFamily="49" charset="-122"/>
              </a:rPr>
              <a:t>）</a:t>
            </a:r>
            <a:r>
              <a:rPr lang="en-US" altLang="zh-CN" dirty="0">
                <a:ea typeface="黑体" panose="02010609060101010101" pitchFamily="49" charset="-122"/>
              </a:rPr>
              <a:t>= BAC- EAC</a:t>
            </a:r>
          </a:p>
          <a:p>
            <a:pPr lvl="1" eaLnBrk="1" hangingPunct="1">
              <a:lnSpc>
                <a:spcPct val="110000"/>
              </a:lnSpc>
            </a:pPr>
            <a:r>
              <a:rPr lang="zh-CN" altLang="en-US" sz="2000" dirty="0">
                <a:solidFill>
                  <a:schemeClr val="accent2"/>
                </a:solidFill>
                <a:latin typeface="黑体" panose="02010609060101010101" pitchFamily="49" charset="-122"/>
                <a:ea typeface="黑体" panose="02010609060101010101" pitchFamily="49" charset="-122"/>
              </a:rPr>
              <a:t>项目完成的预测时间</a:t>
            </a:r>
            <a:r>
              <a:rPr lang="zh-CN" altLang="en-US" sz="2000" dirty="0">
                <a:latin typeface="黑体" panose="02010609060101010101" pitchFamily="49" charset="-122"/>
                <a:ea typeface="黑体" panose="02010609060101010101" pitchFamily="49" charset="-122"/>
              </a:rPr>
              <a:t> </a:t>
            </a:r>
          </a:p>
          <a:p>
            <a:pPr lvl="2" eaLnBrk="1" hangingPunct="1">
              <a:lnSpc>
                <a:spcPct val="110000"/>
              </a:lnSpc>
            </a:pPr>
            <a:r>
              <a:rPr lang="en-US" altLang="zh-CN" dirty="0">
                <a:solidFill>
                  <a:srgbClr val="FF0000"/>
                </a:solidFill>
                <a:ea typeface="黑体" panose="02010609060101010101" pitchFamily="49" charset="-122"/>
              </a:rPr>
              <a:t>SAC(Schedule At Completion )=</a:t>
            </a:r>
            <a:r>
              <a:rPr lang="zh-CN" altLang="en-US" dirty="0">
                <a:solidFill>
                  <a:srgbClr val="FF0000"/>
                </a:solidFill>
                <a:latin typeface="黑体" panose="02010609060101010101" pitchFamily="49" charset="-122"/>
                <a:ea typeface="黑体" panose="02010609060101010101" pitchFamily="49" charset="-122"/>
              </a:rPr>
              <a:t>进度计划</a:t>
            </a:r>
            <a:r>
              <a:rPr lang="en-US" altLang="zh-CN" dirty="0">
                <a:solidFill>
                  <a:srgbClr val="FF0000"/>
                </a:solidFill>
                <a:latin typeface="黑体" panose="02010609060101010101" pitchFamily="49" charset="-122"/>
                <a:ea typeface="黑体" panose="02010609060101010101" pitchFamily="49" charset="-122"/>
              </a:rPr>
              <a:t>/</a:t>
            </a:r>
            <a:r>
              <a:rPr lang="en-US" altLang="zh-CN" dirty="0">
                <a:solidFill>
                  <a:srgbClr val="FF0000"/>
                </a:solidFill>
                <a:ea typeface="黑体" panose="02010609060101010101" pitchFamily="49" charset="-122"/>
              </a:rPr>
              <a:t>SPI</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08685370-302F-AE80-2F64-262D8570FBD1}"/>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59395" name="Rectangle 3">
            <a:extLst>
              <a:ext uri="{FF2B5EF4-FFF2-40B4-BE49-F238E27FC236}">
                <a16:creationId xmlns:a16="http://schemas.microsoft.com/office/drawing/2014/main" id="{A48EA73A-9FB5-D399-494A-C7A9D2FA1EAE}"/>
              </a:ext>
            </a:extLst>
          </p:cNvPr>
          <p:cNvSpPr>
            <a:spLocks noGrp="1" noChangeArrowheads="1"/>
          </p:cNvSpPr>
          <p:nvPr>
            <p:ph type="body" idx="1"/>
          </p:nvPr>
        </p:nvSpPr>
        <p:spPr>
          <a:xfrm>
            <a:off x="395288" y="1916113"/>
            <a:ext cx="8569325" cy="4941887"/>
          </a:xfrm>
        </p:spPr>
        <p:txBody>
          <a:bodyPr/>
          <a:lstStyle/>
          <a:p>
            <a:pPr eaLnBrk="1" hangingPunct="1"/>
            <a:r>
              <a:rPr lang="zh-CN" altLang="en-US" sz="2000">
                <a:solidFill>
                  <a:schemeClr val="accent2"/>
                </a:solidFill>
                <a:latin typeface="黑体" panose="02010609060101010101" pitchFamily="49" charset="-122"/>
                <a:ea typeface="黑体" panose="02010609060101010101" pitchFamily="49" charset="-122"/>
              </a:rPr>
              <a:t>性能分析实例</a:t>
            </a:r>
          </a:p>
          <a:p>
            <a:pPr eaLnBrk="1" hangingPunct="1"/>
            <a:endParaRPr lang="en-US" altLang="zh-CN" sz="2000">
              <a:solidFill>
                <a:schemeClr val="accent2"/>
              </a:solidFill>
              <a:latin typeface="黑体" panose="02010609060101010101" pitchFamily="49" charset="-122"/>
              <a:ea typeface="黑体" panose="02010609060101010101" pitchFamily="49" charset="-122"/>
            </a:endParaRPr>
          </a:p>
        </p:txBody>
      </p:sp>
      <p:grpSp>
        <p:nvGrpSpPr>
          <p:cNvPr id="59396" name="Group 4">
            <a:extLst>
              <a:ext uri="{FF2B5EF4-FFF2-40B4-BE49-F238E27FC236}">
                <a16:creationId xmlns:a16="http://schemas.microsoft.com/office/drawing/2014/main" id="{96A31D72-58EA-BD19-4C5C-131C631EA665}"/>
              </a:ext>
            </a:extLst>
          </p:cNvPr>
          <p:cNvGrpSpPr>
            <a:grpSpLocks/>
          </p:cNvGrpSpPr>
          <p:nvPr/>
        </p:nvGrpSpPr>
        <p:grpSpPr bwMode="auto">
          <a:xfrm>
            <a:off x="611188" y="2349500"/>
            <a:ext cx="8137525" cy="2735263"/>
            <a:chOff x="1774" y="11112"/>
            <a:chExt cx="8306" cy="4251"/>
          </a:xfrm>
        </p:grpSpPr>
        <p:sp>
          <p:nvSpPr>
            <p:cNvPr id="59404" name="AutoShape 5">
              <a:extLst>
                <a:ext uri="{FF2B5EF4-FFF2-40B4-BE49-F238E27FC236}">
                  <a16:creationId xmlns:a16="http://schemas.microsoft.com/office/drawing/2014/main" id="{E4582A77-025C-49D9-AE6D-2AB4ECAC38A7}"/>
                </a:ext>
              </a:extLst>
            </p:cNvPr>
            <p:cNvSpPr>
              <a:spLocks noChangeAspect="1" noChangeArrowheads="1" noTextEdit="1"/>
            </p:cNvSpPr>
            <p:nvPr/>
          </p:nvSpPr>
          <p:spPr bwMode="auto">
            <a:xfrm>
              <a:off x="1774" y="11112"/>
              <a:ext cx="8306" cy="4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405" name="Text Box 6">
              <a:extLst>
                <a:ext uri="{FF2B5EF4-FFF2-40B4-BE49-F238E27FC236}">
                  <a16:creationId xmlns:a16="http://schemas.microsoft.com/office/drawing/2014/main" id="{63D2FBD6-E1B0-3BF4-83E4-3810D85F02EE}"/>
                </a:ext>
              </a:extLst>
            </p:cNvPr>
            <p:cNvSpPr txBox="1">
              <a:spLocks noChangeArrowheads="1"/>
            </p:cNvSpPr>
            <p:nvPr/>
          </p:nvSpPr>
          <p:spPr bwMode="auto">
            <a:xfrm>
              <a:off x="5178" y="14898"/>
              <a:ext cx="690" cy="46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时间</a:t>
              </a:r>
            </a:p>
          </p:txBody>
        </p:sp>
        <p:grpSp>
          <p:nvGrpSpPr>
            <p:cNvPr id="59406" name="Group 7">
              <a:extLst>
                <a:ext uri="{FF2B5EF4-FFF2-40B4-BE49-F238E27FC236}">
                  <a16:creationId xmlns:a16="http://schemas.microsoft.com/office/drawing/2014/main" id="{511014BB-0393-8FAF-FEBF-1EB7D5175B87}"/>
                </a:ext>
              </a:extLst>
            </p:cNvPr>
            <p:cNvGrpSpPr>
              <a:grpSpLocks/>
            </p:cNvGrpSpPr>
            <p:nvPr/>
          </p:nvGrpSpPr>
          <p:grpSpPr bwMode="auto">
            <a:xfrm>
              <a:off x="1920" y="11193"/>
              <a:ext cx="8100" cy="3906"/>
              <a:chOff x="1542" y="1946"/>
              <a:chExt cx="8100" cy="3906"/>
            </a:xfrm>
          </p:grpSpPr>
          <p:sp>
            <p:nvSpPr>
              <p:cNvPr id="59407" name="Rectangle 8">
                <a:extLst>
                  <a:ext uri="{FF2B5EF4-FFF2-40B4-BE49-F238E27FC236}">
                    <a16:creationId xmlns:a16="http://schemas.microsoft.com/office/drawing/2014/main" id="{2A651A99-83F1-CD99-7A3F-1DEA1CA9AF9A}"/>
                  </a:ext>
                </a:extLst>
              </p:cNvPr>
              <p:cNvSpPr>
                <a:spLocks noChangeArrowheads="1"/>
              </p:cNvSpPr>
              <p:nvPr/>
            </p:nvSpPr>
            <p:spPr bwMode="auto">
              <a:xfrm>
                <a:off x="5582" y="5171"/>
                <a:ext cx="1366" cy="270"/>
              </a:xfrm>
              <a:prstGeom prst="rect">
                <a:avLst/>
              </a:prstGeom>
              <a:solidFill>
                <a:srgbClr val="0000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9408" name="Rectangle 9">
                <a:extLst>
                  <a:ext uri="{FF2B5EF4-FFF2-40B4-BE49-F238E27FC236}">
                    <a16:creationId xmlns:a16="http://schemas.microsoft.com/office/drawing/2014/main" id="{9A799DA1-9FA3-5DF3-1E0D-EDC288DDDD03}"/>
                  </a:ext>
                </a:extLst>
              </p:cNvPr>
              <p:cNvSpPr>
                <a:spLocks noChangeArrowheads="1"/>
              </p:cNvSpPr>
              <p:nvPr/>
            </p:nvSpPr>
            <p:spPr bwMode="auto">
              <a:xfrm>
                <a:off x="1710" y="2516"/>
                <a:ext cx="2506" cy="270"/>
              </a:xfrm>
              <a:prstGeom prst="rect">
                <a:avLst/>
              </a:prstGeom>
              <a:solidFill>
                <a:srgbClr val="0000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9409" name="Rectangle 10">
                <a:extLst>
                  <a:ext uri="{FF2B5EF4-FFF2-40B4-BE49-F238E27FC236}">
                    <a16:creationId xmlns:a16="http://schemas.microsoft.com/office/drawing/2014/main" id="{EF246FA6-FDD5-A7F3-8BCE-BFB816BA8EB8}"/>
                  </a:ext>
                </a:extLst>
              </p:cNvPr>
              <p:cNvSpPr>
                <a:spLocks noChangeArrowheads="1"/>
              </p:cNvSpPr>
              <p:nvPr/>
            </p:nvSpPr>
            <p:spPr bwMode="auto">
              <a:xfrm>
                <a:off x="2100" y="3041"/>
                <a:ext cx="2536" cy="315"/>
              </a:xfrm>
              <a:prstGeom prst="rect">
                <a:avLst/>
              </a:prstGeom>
              <a:solidFill>
                <a:srgbClr val="FFFFFF"/>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700" b="0">
                    <a:latin typeface="Times New Roman" panose="02020603050405020304" pitchFamily="18" charset="0"/>
                  </a:rPr>
                  <a:t>任务</a:t>
                </a:r>
                <a:r>
                  <a:rPr kumimoji="0" lang="en-US" altLang="zh-CN" sz="700" b="0">
                    <a:latin typeface="Times New Roman" panose="02020603050405020304" pitchFamily="18" charset="0"/>
                  </a:rPr>
                  <a:t>B:$100</a:t>
                </a:r>
              </a:p>
            </p:txBody>
          </p:sp>
          <p:sp>
            <p:nvSpPr>
              <p:cNvPr id="59410" name="Rectangle 11">
                <a:extLst>
                  <a:ext uri="{FF2B5EF4-FFF2-40B4-BE49-F238E27FC236}">
                    <a16:creationId xmlns:a16="http://schemas.microsoft.com/office/drawing/2014/main" id="{FA94DC5B-9895-3816-B4FB-76B7ABC070E7}"/>
                  </a:ext>
                </a:extLst>
              </p:cNvPr>
              <p:cNvSpPr>
                <a:spLocks noChangeArrowheads="1"/>
              </p:cNvSpPr>
              <p:nvPr/>
            </p:nvSpPr>
            <p:spPr bwMode="auto">
              <a:xfrm>
                <a:off x="2716" y="3401"/>
                <a:ext cx="2536" cy="285"/>
              </a:xfrm>
              <a:prstGeom prst="rect">
                <a:avLst/>
              </a:prstGeom>
              <a:solidFill>
                <a:srgbClr val="0000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9411" name="Rectangle 12">
                <a:extLst>
                  <a:ext uri="{FF2B5EF4-FFF2-40B4-BE49-F238E27FC236}">
                    <a16:creationId xmlns:a16="http://schemas.microsoft.com/office/drawing/2014/main" id="{7A5DA4AF-41A9-CC00-A91F-AB7D14EB4D91}"/>
                  </a:ext>
                </a:extLst>
              </p:cNvPr>
              <p:cNvSpPr>
                <a:spLocks noChangeArrowheads="1"/>
              </p:cNvSpPr>
              <p:nvPr/>
            </p:nvSpPr>
            <p:spPr bwMode="auto">
              <a:xfrm>
                <a:off x="2206" y="3911"/>
                <a:ext cx="2536" cy="315"/>
              </a:xfrm>
              <a:prstGeom prst="rect">
                <a:avLst/>
              </a:prstGeom>
              <a:solidFill>
                <a:srgbClr val="FFFFFF"/>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700" b="0">
                    <a:latin typeface="Times New Roman" panose="02020603050405020304" pitchFamily="18" charset="0"/>
                  </a:rPr>
                  <a:t>任务</a:t>
                </a:r>
                <a:r>
                  <a:rPr kumimoji="0" lang="en-US" altLang="zh-CN" sz="700" b="0">
                    <a:latin typeface="Times New Roman" panose="02020603050405020304" pitchFamily="18" charset="0"/>
                  </a:rPr>
                  <a:t>C:$100</a:t>
                </a:r>
              </a:p>
            </p:txBody>
          </p:sp>
          <p:sp>
            <p:nvSpPr>
              <p:cNvPr id="59412" name="Rectangle 13">
                <a:extLst>
                  <a:ext uri="{FF2B5EF4-FFF2-40B4-BE49-F238E27FC236}">
                    <a16:creationId xmlns:a16="http://schemas.microsoft.com/office/drawing/2014/main" id="{75AD92AD-32EC-AA29-4894-836FF6C10E5A}"/>
                  </a:ext>
                </a:extLst>
              </p:cNvPr>
              <p:cNvSpPr>
                <a:spLocks noChangeArrowheads="1"/>
              </p:cNvSpPr>
              <p:nvPr/>
            </p:nvSpPr>
            <p:spPr bwMode="auto">
              <a:xfrm>
                <a:off x="3690" y="4271"/>
                <a:ext cx="2536" cy="285"/>
              </a:xfrm>
              <a:prstGeom prst="rect">
                <a:avLst/>
              </a:prstGeom>
              <a:solidFill>
                <a:srgbClr val="0000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9413" name="Rectangle 14">
                <a:extLst>
                  <a:ext uri="{FF2B5EF4-FFF2-40B4-BE49-F238E27FC236}">
                    <a16:creationId xmlns:a16="http://schemas.microsoft.com/office/drawing/2014/main" id="{1CCF6C67-E32A-B197-3C5B-66E38A1BBE8D}"/>
                  </a:ext>
                </a:extLst>
              </p:cNvPr>
              <p:cNvSpPr>
                <a:spLocks noChangeArrowheads="1"/>
              </p:cNvSpPr>
              <p:nvPr/>
            </p:nvSpPr>
            <p:spPr bwMode="auto">
              <a:xfrm>
                <a:off x="3674" y="4811"/>
                <a:ext cx="2536" cy="330"/>
              </a:xfrm>
              <a:prstGeom prst="rect">
                <a:avLst/>
              </a:prstGeom>
              <a:solidFill>
                <a:srgbClr val="FFFFFF"/>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700" b="0">
                    <a:latin typeface="Times New Roman" panose="02020603050405020304" pitchFamily="18" charset="0"/>
                  </a:rPr>
                  <a:t>任务</a:t>
                </a:r>
                <a:r>
                  <a:rPr kumimoji="0" lang="en-US" altLang="zh-CN" sz="700" b="0">
                    <a:latin typeface="Times New Roman" panose="02020603050405020304" pitchFamily="18" charset="0"/>
                  </a:rPr>
                  <a:t>D:$100</a:t>
                </a:r>
              </a:p>
            </p:txBody>
          </p:sp>
          <p:sp>
            <p:nvSpPr>
              <p:cNvPr id="59414" name="Rectangle 15">
                <a:extLst>
                  <a:ext uri="{FF2B5EF4-FFF2-40B4-BE49-F238E27FC236}">
                    <a16:creationId xmlns:a16="http://schemas.microsoft.com/office/drawing/2014/main" id="{4D0191B3-2878-C668-38A2-B78B3BE5AED3}"/>
                  </a:ext>
                </a:extLst>
              </p:cNvPr>
              <p:cNvSpPr>
                <a:spLocks noChangeArrowheads="1"/>
              </p:cNvSpPr>
              <p:nvPr/>
            </p:nvSpPr>
            <p:spPr bwMode="auto">
              <a:xfrm>
                <a:off x="1694" y="2156"/>
                <a:ext cx="2536" cy="315"/>
              </a:xfrm>
              <a:prstGeom prst="rect">
                <a:avLst/>
              </a:prstGeom>
              <a:solidFill>
                <a:srgbClr val="FFFFFF"/>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700" b="0">
                    <a:latin typeface="Times New Roman" panose="02020603050405020304" pitchFamily="18" charset="0"/>
                  </a:rPr>
                  <a:t>任务</a:t>
                </a:r>
                <a:r>
                  <a:rPr kumimoji="0" lang="en-US" altLang="zh-CN" sz="700" b="0">
                    <a:latin typeface="Times New Roman" panose="02020603050405020304" pitchFamily="18" charset="0"/>
                  </a:rPr>
                  <a:t>A:$100</a:t>
                </a:r>
              </a:p>
            </p:txBody>
          </p:sp>
          <p:sp>
            <p:nvSpPr>
              <p:cNvPr id="59415" name="Line 16">
                <a:extLst>
                  <a:ext uri="{FF2B5EF4-FFF2-40B4-BE49-F238E27FC236}">
                    <a16:creationId xmlns:a16="http://schemas.microsoft.com/office/drawing/2014/main" id="{66DF136C-26BB-54A1-FA44-32035733E658}"/>
                  </a:ext>
                </a:extLst>
              </p:cNvPr>
              <p:cNvSpPr>
                <a:spLocks noChangeShapeType="1"/>
              </p:cNvSpPr>
              <p:nvPr/>
            </p:nvSpPr>
            <p:spPr bwMode="auto">
              <a:xfrm>
                <a:off x="1542" y="5576"/>
                <a:ext cx="810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6" name="Line 17">
                <a:extLst>
                  <a:ext uri="{FF2B5EF4-FFF2-40B4-BE49-F238E27FC236}">
                    <a16:creationId xmlns:a16="http://schemas.microsoft.com/office/drawing/2014/main" id="{58BF6D79-C854-CBEC-B348-5ACB28290553}"/>
                  </a:ext>
                </a:extLst>
              </p:cNvPr>
              <p:cNvSpPr>
                <a:spLocks noChangeShapeType="1"/>
              </p:cNvSpPr>
              <p:nvPr/>
            </p:nvSpPr>
            <p:spPr bwMode="auto">
              <a:xfrm>
                <a:off x="6946" y="2021"/>
                <a:ext cx="16" cy="33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7" name="Text Box 18">
                <a:extLst>
                  <a:ext uri="{FF2B5EF4-FFF2-40B4-BE49-F238E27FC236}">
                    <a16:creationId xmlns:a16="http://schemas.microsoft.com/office/drawing/2014/main" id="{F88EF10D-B87E-7E40-A628-5F56871614E8}"/>
                  </a:ext>
                </a:extLst>
              </p:cNvPr>
              <p:cNvSpPr txBox="1">
                <a:spLocks noChangeArrowheads="1"/>
              </p:cNvSpPr>
              <p:nvPr/>
            </p:nvSpPr>
            <p:spPr bwMode="auto">
              <a:xfrm>
                <a:off x="4786" y="1946"/>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计划</a:t>
                </a:r>
              </a:p>
            </p:txBody>
          </p:sp>
          <p:sp>
            <p:nvSpPr>
              <p:cNvPr id="59418" name="Text Box 19">
                <a:extLst>
                  <a:ext uri="{FF2B5EF4-FFF2-40B4-BE49-F238E27FC236}">
                    <a16:creationId xmlns:a16="http://schemas.microsoft.com/office/drawing/2014/main" id="{F2A0DB7F-DB82-2DE4-98AB-9C96A272AC02}"/>
                  </a:ext>
                </a:extLst>
              </p:cNvPr>
              <p:cNvSpPr txBox="1">
                <a:spLocks noChangeArrowheads="1"/>
              </p:cNvSpPr>
              <p:nvPr/>
            </p:nvSpPr>
            <p:spPr bwMode="auto">
              <a:xfrm>
                <a:off x="4816" y="2426"/>
                <a:ext cx="690" cy="46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实际</a:t>
                </a:r>
              </a:p>
            </p:txBody>
          </p:sp>
          <p:sp>
            <p:nvSpPr>
              <p:cNvPr id="59419" name="Text Box 20">
                <a:extLst>
                  <a:ext uri="{FF2B5EF4-FFF2-40B4-BE49-F238E27FC236}">
                    <a16:creationId xmlns:a16="http://schemas.microsoft.com/office/drawing/2014/main" id="{BA219BC9-D585-32E9-9ECC-7D86A0F4D085}"/>
                  </a:ext>
                </a:extLst>
              </p:cNvPr>
              <p:cNvSpPr txBox="1">
                <a:spLocks noChangeArrowheads="1"/>
              </p:cNvSpPr>
              <p:nvPr/>
            </p:nvSpPr>
            <p:spPr bwMode="auto">
              <a:xfrm>
                <a:off x="7258" y="2129"/>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开始</a:t>
                </a:r>
              </a:p>
            </p:txBody>
          </p:sp>
          <p:sp>
            <p:nvSpPr>
              <p:cNvPr id="59420" name="Text Box 21">
                <a:extLst>
                  <a:ext uri="{FF2B5EF4-FFF2-40B4-BE49-F238E27FC236}">
                    <a16:creationId xmlns:a16="http://schemas.microsoft.com/office/drawing/2014/main" id="{EF4666F9-EDC3-61CF-73A9-B2CAB9E5F7EA}"/>
                  </a:ext>
                </a:extLst>
              </p:cNvPr>
              <p:cNvSpPr txBox="1">
                <a:spLocks noChangeArrowheads="1"/>
              </p:cNvSpPr>
              <p:nvPr/>
            </p:nvSpPr>
            <p:spPr bwMode="auto">
              <a:xfrm>
                <a:off x="8070" y="210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结束</a:t>
                </a:r>
              </a:p>
            </p:txBody>
          </p:sp>
          <p:sp>
            <p:nvSpPr>
              <p:cNvPr id="59421" name="Text Box 22">
                <a:extLst>
                  <a:ext uri="{FF2B5EF4-FFF2-40B4-BE49-F238E27FC236}">
                    <a16:creationId xmlns:a16="http://schemas.microsoft.com/office/drawing/2014/main" id="{01600576-8550-19EC-6A3F-7D6DE7902977}"/>
                  </a:ext>
                </a:extLst>
              </p:cNvPr>
              <p:cNvSpPr txBox="1">
                <a:spLocks noChangeArrowheads="1"/>
              </p:cNvSpPr>
              <p:nvPr/>
            </p:nvSpPr>
            <p:spPr bwMode="auto">
              <a:xfrm>
                <a:off x="8806" y="210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共计</a:t>
                </a:r>
              </a:p>
            </p:txBody>
          </p:sp>
          <p:sp>
            <p:nvSpPr>
              <p:cNvPr id="59422" name="Text Box 23">
                <a:extLst>
                  <a:ext uri="{FF2B5EF4-FFF2-40B4-BE49-F238E27FC236}">
                    <a16:creationId xmlns:a16="http://schemas.microsoft.com/office/drawing/2014/main" id="{57199E65-9AFD-C668-C7D7-54FB04179F5B}"/>
                  </a:ext>
                </a:extLst>
              </p:cNvPr>
              <p:cNvSpPr txBox="1">
                <a:spLocks noChangeArrowheads="1"/>
              </p:cNvSpPr>
              <p:nvPr/>
            </p:nvSpPr>
            <p:spPr bwMode="auto">
              <a:xfrm>
                <a:off x="5774" y="201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今天</a:t>
                </a:r>
              </a:p>
            </p:txBody>
          </p:sp>
          <p:sp>
            <p:nvSpPr>
              <p:cNvPr id="59423" name="Text Box 24">
                <a:extLst>
                  <a:ext uri="{FF2B5EF4-FFF2-40B4-BE49-F238E27FC236}">
                    <a16:creationId xmlns:a16="http://schemas.microsoft.com/office/drawing/2014/main" id="{69335CA7-5CB9-F1FC-8266-9059221431FD}"/>
                  </a:ext>
                </a:extLst>
              </p:cNvPr>
              <p:cNvSpPr txBox="1">
                <a:spLocks noChangeArrowheads="1"/>
              </p:cNvSpPr>
              <p:nvPr/>
            </p:nvSpPr>
            <p:spPr bwMode="auto">
              <a:xfrm>
                <a:off x="7238" y="2534"/>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9424" name="Text Box 25">
                <a:extLst>
                  <a:ext uri="{FF2B5EF4-FFF2-40B4-BE49-F238E27FC236}">
                    <a16:creationId xmlns:a16="http://schemas.microsoft.com/office/drawing/2014/main" id="{2D67C3A8-C7AF-7C19-5B30-A3D53FE4ABE5}"/>
                  </a:ext>
                </a:extLst>
              </p:cNvPr>
              <p:cNvSpPr txBox="1">
                <a:spLocks noChangeArrowheads="1"/>
              </p:cNvSpPr>
              <p:nvPr/>
            </p:nvSpPr>
            <p:spPr bwMode="auto">
              <a:xfrm>
                <a:off x="8050" y="2510"/>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9425" name="Text Box 26">
                <a:extLst>
                  <a:ext uri="{FF2B5EF4-FFF2-40B4-BE49-F238E27FC236}">
                    <a16:creationId xmlns:a16="http://schemas.microsoft.com/office/drawing/2014/main" id="{51F285AE-2AF0-D3D5-444E-5E890E419A1E}"/>
                  </a:ext>
                </a:extLst>
              </p:cNvPr>
              <p:cNvSpPr txBox="1">
                <a:spLocks noChangeArrowheads="1"/>
              </p:cNvSpPr>
              <p:nvPr/>
            </p:nvSpPr>
            <p:spPr bwMode="auto">
              <a:xfrm>
                <a:off x="8786" y="2510"/>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$100</a:t>
                </a:r>
              </a:p>
            </p:txBody>
          </p:sp>
          <p:sp>
            <p:nvSpPr>
              <p:cNvPr id="59426" name="Text Box 27">
                <a:extLst>
                  <a:ext uri="{FF2B5EF4-FFF2-40B4-BE49-F238E27FC236}">
                    <a16:creationId xmlns:a16="http://schemas.microsoft.com/office/drawing/2014/main" id="{FABAB4F1-FA43-8215-8D64-91DE47AA6B0C}"/>
                  </a:ext>
                </a:extLst>
              </p:cNvPr>
              <p:cNvSpPr txBox="1">
                <a:spLocks noChangeArrowheads="1"/>
              </p:cNvSpPr>
              <p:nvPr/>
            </p:nvSpPr>
            <p:spPr bwMode="auto">
              <a:xfrm>
                <a:off x="7252" y="3149"/>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9427" name="Text Box 28">
                <a:extLst>
                  <a:ext uri="{FF2B5EF4-FFF2-40B4-BE49-F238E27FC236}">
                    <a16:creationId xmlns:a16="http://schemas.microsoft.com/office/drawing/2014/main" id="{09F6A24D-0051-8F61-A8DF-5446C706F22A}"/>
                  </a:ext>
                </a:extLst>
              </p:cNvPr>
              <p:cNvSpPr txBox="1">
                <a:spLocks noChangeArrowheads="1"/>
              </p:cNvSpPr>
              <p:nvPr/>
            </p:nvSpPr>
            <p:spPr bwMode="auto">
              <a:xfrm>
                <a:off x="8064" y="312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9428" name="Text Box 29">
                <a:extLst>
                  <a:ext uri="{FF2B5EF4-FFF2-40B4-BE49-F238E27FC236}">
                    <a16:creationId xmlns:a16="http://schemas.microsoft.com/office/drawing/2014/main" id="{08072937-8E70-6C24-E8AD-2DB0E1FF01B8}"/>
                  </a:ext>
                </a:extLst>
              </p:cNvPr>
              <p:cNvSpPr txBox="1">
                <a:spLocks noChangeArrowheads="1"/>
              </p:cNvSpPr>
              <p:nvPr/>
            </p:nvSpPr>
            <p:spPr bwMode="auto">
              <a:xfrm>
                <a:off x="8800" y="312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$100</a:t>
                </a:r>
              </a:p>
            </p:txBody>
          </p:sp>
          <p:sp>
            <p:nvSpPr>
              <p:cNvPr id="59429" name="Text Box 30">
                <a:extLst>
                  <a:ext uri="{FF2B5EF4-FFF2-40B4-BE49-F238E27FC236}">
                    <a16:creationId xmlns:a16="http://schemas.microsoft.com/office/drawing/2014/main" id="{80C6D567-141F-7851-9F7A-D57164F7E6A0}"/>
                  </a:ext>
                </a:extLst>
              </p:cNvPr>
              <p:cNvSpPr txBox="1">
                <a:spLocks noChangeArrowheads="1"/>
              </p:cNvSpPr>
              <p:nvPr/>
            </p:nvSpPr>
            <p:spPr bwMode="auto">
              <a:xfrm>
                <a:off x="7314" y="3929"/>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9430" name="Text Box 31">
                <a:extLst>
                  <a:ext uri="{FF2B5EF4-FFF2-40B4-BE49-F238E27FC236}">
                    <a16:creationId xmlns:a16="http://schemas.microsoft.com/office/drawing/2014/main" id="{FB2A6345-BDB9-BA2F-8C2D-2E5BD95FB61D}"/>
                  </a:ext>
                </a:extLst>
              </p:cNvPr>
              <p:cNvSpPr txBox="1">
                <a:spLocks noChangeArrowheads="1"/>
              </p:cNvSpPr>
              <p:nvPr/>
            </p:nvSpPr>
            <p:spPr bwMode="auto">
              <a:xfrm>
                <a:off x="8126" y="390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9431" name="Text Box 32">
                <a:extLst>
                  <a:ext uri="{FF2B5EF4-FFF2-40B4-BE49-F238E27FC236}">
                    <a16:creationId xmlns:a16="http://schemas.microsoft.com/office/drawing/2014/main" id="{E53017DD-B0FD-C0AC-0B9E-CDFF6298EC07}"/>
                  </a:ext>
                </a:extLst>
              </p:cNvPr>
              <p:cNvSpPr txBox="1">
                <a:spLocks noChangeArrowheads="1"/>
              </p:cNvSpPr>
              <p:nvPr/>
            </p:nvSpPr>
            <p:spPr bwMode="auto">
              <a:xfrm>
                <a:off x="8862" y="3905"/>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$100</a:t>
                </a:r>
              </a:p>
            </p:txBody>
          </p:sp>
          <p:sp>
            <p:nvSpPr>
              <p:cNvPr id="59432" name="Text Box 33">
                <a:extLst>
                  <a:ext uri="{FF2B5EF4-FFF2-40B4-BE49-F238E27FC236}">
                    <a16:creationId xmlns:a16="http://schemas.microsoft.com/office/drawing/2014/main" id="{D29320AF-28FB-BF2A-A0F5-965E50D1A822}"/>
                  </a:ext>
                </a:extLst>
              </p:cNvPr>
              <p:cNvSpPr txBox="1">
                <a:spLocks noChangeArrowheads="1"/>
              </p:cNvSpPr>
              <p:nvPr/>
            </p:nvSpPr>
            <p:spPr bwMode="auto">
              <a:xfrm>
                <a:off x="7344" y="4664"/>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9433" name="Text Box 34">
                <a:extLst>
                  <a:ext uri="{FF2B5EF4-FFF2-40B4-BE49-F238E27FC236}">
                    <a16:creationId xmlns:a16="http://schemas.microsoft.com/office/drawing/2014/main" id="{B33BDD87-7509-4442-5065-9DFCF3655E26}"/>
                  </a:ext>
                </a:extLst>
              </p:cNvPr>
              <p:cNvSpPr txBox="1">
                <a:spLocks noChangeArrowheads="1"/>
              </p:cNvSpPr>
              <p:nvPr/>
            </p:nvSpPr>
            <p:spPr bwMode="auto">
              <a:xfrm>
                <a:off x="8156" y="4640"/>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$0</a:t>
                </a:r>
              </a:p>
            </p:txBody>
          </p:sp>
          <p:sp>
            <p:nvSpPr>
              <p:cNvPr id="59434" name="Text Box 35">
                <a:extLst>
                  <a:ext uri="{FF2B5EF4-FFF2-40B4-BE49-F238E27FC236}">
                    <a16:creationId xmlns:a16="http://schemas.microsoft.com/office/drawing/2014/main" id="{FBCB5955-D816-C324-EDFE-06E238C97A20}"/>
                  </a:ext>
                </a:extLst>
              </p:cNvPr>
              <p:cNvSpPr txBox="1">
                <a:spLocks noChangeArrowheads="1"/>
              </p:cNvSpPr>
              <p:nvPr/>
            </p:nvSpPr>
            <p:spPr bwMode="auto">
              <a:xfrm>
                <a:off x="8892" y="4640"/>
                <a:ext cx="69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en-US" altLang="zh-CN" sz="900" b="0">
                    <a:latin typeface="Times New Roman" panose="02020603050405020304" pitchFamily="18" charset="0"/>
                  </a:rPr>
                  <a:t>$50</a:t>
                </a:r>
              </a:p>
            </p:txBody>
          </p:sp>
          <p:sp>
            <p:nvSpPr>
              <p:cNvPr id="59435" name="Text Box 36">
                <a:extLst>
                  <a:ext uri="{FF2B5EF4-FFF2-40B4-BE49-F238E27FC236}">
                    <a16:creationId xmlns:a16="http://schemas.microsoft.com/office/drawing/2014/main" id="{6B23734B-1BCB-F27A-7A7A-E3D5196CD527}"/>
                  </a:ext>
                </a:extLst>
              </p:cNvPr>
              <p:cNvSpPr txBox="1">
                <a:spLocks noChangeArrowheads="1"/>
              </p:cNvSpPr>
              <p:nvPr/>
            </p:nvSpPr>
            <p:spPr bwMode="auto">
              <a:xfrm>
                <a:off x="7322" y="5051"/>
                <a:ext cx="2100" cy="39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900" b="0">
                    <a:latin typeface="Times New Roman" panose="02020603050405020304" pitchFamily="18" charset="0"/>
                  </a:rPr>
                  <a:t>已获价值 </a:t>
                </a:r>
                <a:r>
                  <a:rPr kumimoji="0" lang="en-US" altLang="zh-CN" sz="900" b="0">
                    <a:latin typeface="Times New Roman" panose="02020603050405020304" pitchFamily="18" charset="0"/>
                  </a:rPr>
                  <a:t>= $350</a:t>
                </a:r>
              </a:p>
            </p:txBody>
          </p:sp>
          <p:sp>
            <p:nvSpPr>
              <p:cNvPr id="59436" name="Line 37">
                <a:extLst>
                  <a:ext uri="{FF2B5EF4-FFF2-40B4-BE49-F238E27FC236}">
                    <a16:creationId xmlns:a16="http://schemas.microsoft.com/office/drawing/2014/main" id="{F56BD063-DE8F-2334-9427-4DEF1E7C0590}"/>
                  </a:ext>
                </a:extLst>
              </p:cNvPr>
              <p:cNvSpPr>
                <a:spLocks noChangeShapeType="1"/>
              </p:cNvSpPr>
              <p:nvPr/>
            </p:nvSpPr>
            <p:spPr bwMode="auto">
              <a:xfrm flipH="1">
                <a:off x="4230" y="2177"/>
                <a:ext cx="646"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7" name="Line 38">
                <a:extLst>
                  <a:ext uri="{FF2B5EF4-FFF2-40B4-BE49-F238E27FC236}">
                    <a16:creationId xmlns:a16="http://schemas.microsoft.com/office/drawing/2014/main" id="{2FC0EA56-BD4A-6FC2-0998-2DFC97FC6F75}"/>
                  </a:ext>
                </a:extLst>
              </p:cNvPr>
              <p:cNvSpPr>
                <a:spLocks noChangeShapeType="1"/>
              </p:cNvSpPr>
              <p:nvPr/>
            </p:nvSpPr>
            <p:spPr bwMode="auto">
              <a:xfrm>
                <a:off x="4230" y="2612"/>
                <a:ext cx="660" cy="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8" name="Line 39">
                <a:extLst>
                  <a:ext uri="{FF2B5EF4-FFF2-40B4-BE49-F238E27FC236}">
                    <a16:creationId xmlns:a16="http://schemas.microsoft.com/office/drawing/2014/main" id="{97ABA75E-6059-9F35-9866-D137FC78CFAB}"/>
                  </a:ext>
                </a:extLst>
              </p:cNvPr>
              <p:cNvSpPr>
                <a:spLocks noChangeShapeType="1"/>
              </p:cNvSpPr>
              <p:nvPr/>
            </p:nvSpPr>
            <p:spPr bwMode="auto">
              <a:xfrm>
                <a:off x="6286" y="2252"/>
                <a:ext cx="660" cy="3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9" name="Line 40">
                <a:extLst>
                  <a:ext uri="{FF2B5EF4-FFF2-40B4-BE49-F238E27FC236}">
                    <a16:creationId xmlns:a16="http://schemas.microsoft.com/office/drawing/2014/main" id="{DF689290-D629-586A-E7D4-218A1F013594}"/>
                  </a:ext>
                </a:extLst>
              </p:cNvPr>
              <p:cNvSpPr>
                <a:spLocks noChangeShapeType="1"/>
              </p:cNvSpPr>
              <p:nvPr/>
            </p:nvSpPr>
            <p:spPr bwMode="auto">
              <a:xfrm>
                <a:off x="5386" y="5852"/>
                <a:ext cx="37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9397" name="Group 48">
            <a:extLst>
              <a:ext uri="{FF2B5EF4-FFF2-40B4-BE49-F238E27FC236}">
                <a16:creationId xmlns:a16="http://schemas.microsoft.com/office/drawing/2014/main" id="{A341304A-0CFA-4EB9-5B28-8F43D6444BAE}"/>
              </a:ext>
            </a:extLst>
          </p:cNvPr>
          <p:cNvGrpSpPr>
            <a:grpSpLocks/>
          </p:cNvGrpSpPr>
          <p:nvPr/>
        </p:nvGrpSpPr>
        <p:grpSpPr bwMode="auto">
          <a:xfrm>
            <a:off x="801688" y="5084763"/>
            <a:ext cx="7947025" cy="1404937"/>
            <a:chOff x="505" y="3203"/>
            <a:chExt cx="5006" cy="885"/>
          </a:xfrm>
        </p:grpSpPr>
        <p:sp>
          <p:nvSpPr>
            <p:cNvPr id="59398" name="Text Box 41">
              <a:extLst>
                <a:ext uri="{FF2B5EF4-FFF2-40B4-BE49-F238E27FC236}">
                  <a16:creationId xmlns:a16="http://schemas.microsoft.com/office/drawing/2014/main" id="{6DD6C7FB-D5E6-1862-F326-4EAF9700CFC2}"/>
                </a:ext>
              </a:extLst>
            </p:cNvPr>
            <p:cNvSpPr txBox="1">
              <a:spLocks noChangeArrowheads="1"/>
            </p:cNvSpPr>
            <p:nvPr/>
          </p:nvSpPr>
          <p:spPr bwMode="auto">
            <a:xfrm>
              <a:off x="521" y="3203"/>
              <a:ext cx="26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accent2"/>
                  </a:solidFill>
                  <a:ea typeface="黑体" panose="02010609060101010101" pitchFamily="49" charset="-122"/>
                </a:rPr>
                <a:t>则：</a:t>
              </a:r>
              <a:r>
                <a:rPr lang="en-US" altLang="zh-CN" sz="2000">
                  <a:solidFill>
                    <a:schemeClr val="accent2"/>
                  </a:solidFill>
                </a:rPr>
                <a:t>BCWS=$400 , BCWP=$350</a:t>
              </a:r>
              <a:r>
                <a:rPr lang="zh-CN" altLang="en-US" sz="2000">
                  <a:solidFill>
                    <a:schemeClr val="accent2"/>
                  </a:solidFill>
                </a:rPr>
                <a:t>；</a:t>
              </a:r>
            </a:p>
          </p:txBody>
        </p:sp>
        <p:sp>
          <p:nvSpPr>
            <p:cNvPr id="59399" name="Text Box 42">
              <a:extLst>
                <a:ext uri="{FF2B5EF4-FFF2-40B4-BE49-F238E27FC236}">
                  <a16:creationId xmlns:a16="http://schemas.microsoft.com/office/drawing/2014/main" id="{57D6B9C2-B20A-D0CE-D877-3EE71E38FA1E}"/>
                </a:ext>
              </a:extLst>
            </p:cNvPr>
            <p:cNvSpPr txBox="1">
              <a:spLocks noChangeArrowheads="1"/>
            </p:cNvSpPr>
            <p:nvPr/>
          </p:nvSpPr>
          <p:spPr bwMode="auto">
            <a:xfrm>
              <a:off x="521" y="3822"/>
              <a:ext cx="18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accent2"/>
                  </a:solidFill>
                  <a:ea typeface="黑体" panose="02010609060101010101" pitchFamily="49" charset="-122"/>
                </a:rPr>
                <a:t>若</a:t>
              </a:r>
              <a:r>
                <a:rPr lang="zh-CN" altLang="en-US" sz="2000">
                  <a:solidFill>
                    <a:schemeClr val="accent2"/>
                  </a:solidFill>
                </a:rPr>
                <a:t>  </a:t>
              </a:r>
              <a:r>
                <a:rPr lang="en-US" altLang="zh-CN" sz="2000">
                  <a:solidFill>
                    <a:schemeClr val="accent2"/>
                  </a:solidFill>
                </a:rPr>
                <a:t>BAC= $ 1000</a:t>
              </a:r>
              <a:r>
                <a:rPr lang="zh-CN" altLang="en-US" sz="2000">
                  <a:solidFill>
                    <a:schemeClr val="accent2"/>
                  </a:solidFill>
                </a:rPr>
                <a:t>，</a:t>
              </a:r>
            </a:p>
          </p:txBody>
        </p:sp>
        <p:sp>
          <p:nvSpPr>
            <p:cNvPr id="59400" name="Text Box 43">
              <a:extLst>
                <a:ext uri="{FF2B5EF4-FFF2-40B4-BE49-F238E27FC236}">
                  <a16:creationId xmlns:a16="http://schemas.microsoft.com/office/drawing/2014/main" id="{CAD920CF-A163-D77F-547C-901AA398F5D8}"/>
                </a:ext>
              </a:extLst>
            </p:cNvPr>
            <p:cNvSpPr txBox="1">
              <a:spLocks noChangeArrowheads="1"/>
            </p:cNvSpPr>
            <p:nvPr/>
          </p:nvSpPr>
          <p:spPr bwMode="auto">
            <a:xfrm>
              <a:off x="505" y="3534"/>
              <a:ext cx="25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accent2"/>
                  </a:solidFill>
                  <a:ea typeface="黑体" panose="02010609060101010101" pitchFamily="49" charset="-122"/>
                </a:rPr>
                <a:t>则：</a:t>
              </a:r>
              <a:r>
                <a:rPr lang="en-US" altLang="zh-CN" sz="2000">
                  <a:solidFill>
                    <a:schemeClr val="accent2"/>
                  </a:solidFill>
                </a:rPr>
                <a:t>SV=- $ 50</a:t>
              </a:r>
              <a:r>
                <a:rPr lang="zh-CN" altLang="en-US" sz="2000">
                  <a:solidFill>
                    <a:schemeClr val="accent2"/>
                  </a:solidFill>
                </a:rPr>
                <a:t>，</a:t>
              </a:r>
              <a:r>
                <a:rPr lang="en-US" altLang="zh-CN" sz="2000">
                  <a:solidFill>
                    <a:schemeClr val="accent2"/>
                  </a:solidFill>
                </a:rPr>
                <a:t>CV=- $ 350</a:t>
              </a:r>
              <a:r>
                <a:rPr lang="zh-CN" altLang="en-US" sz="2000">
                  <a:solidFill>
                    <a:schemeClr val="accent2"/>
                  </a:solidFill>
                </a:rPr>
                <a:t>；</a:t>
              </a:r>
            </a:p>
          </p:txBody>
        </p:sp>
        <p:sp>
          <p:nvSpPr>
            <p:cNvPr id="59401" name="Text Box 44">
              <a:extLst>
                <a:ext uri="{FF2B5EF4-FFF2-40B4-BE49-F238E27FC236}">
                  <a16:creationId xmlns:a16="http://schemas.microsoft.com/office/drawing/2014/main" id="{4362342B-BE20-B947-940D-B0AD79FA594F}"/>
                </a:ext>
              </a:extLst>
            </p:cNvPr>
            <p:cNvSpPr txBox="1">
              <a:spLocks noChangeArrowheads="1"/>
            </p:cNvSpPr>
            <p:nvPr/>
          </p:nvSpPr>
          <p:spPr bwMode="auto">
            <a:xfrm>
              <a:off x="2849" y="3521"/>
              <a:ext cx="2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en-US" altLang="zh-CN" sz="2000">
                  <a:solidFill>
                    <a:schemeClr val="accent2"/>
                  </a:solidFill>
                </a:rPr>
                <a:t>SPI= 87.5%</a:t>
              </a:r>
              <a:r>
                <a:rPr lang="zh-CN" altLang="en-US" sz="2000">
                  <a:solidFill>
                    <a:schemeClr val="accent2"/>
                  </a:solidFill>
                </a:rPr>
                <a:t>；</a:t>
              </a:r>
              <a:r>
                <a:rPr lang="en-US" altLang="zh-CN" sz="2000">
                  <a:solidFill>
                    <a:schemeClr val="accent2"/>
                  </a:solidFill>
                </a:rPr>
                <a:t>CPI=50%</a:t>
              </a:r>
            </a:p>
          </p:txBody>
        </p:sp>
        <p:sp>
          <p:nvSpPr>
            <p:cNvPr id="59402" name="Text Box 45">
              <a:extLst>
                <a:ext uri="{FF2B5EF4-FFF2-40B4-BE49-F238E27FC236}">
                  <a16:creationId xmlns:a16="http://schemas.microsoft.com/office/drawing/2014/main" id="{D75D30F5-7D00-D2C8-E991-180053AED2BA}"/>
                </a:ext>
              </a:extLst>
            </p:cNvPr>
            <p:cNvSpPr txBox="1">
              <a:spLocks noChangeArrowheads="1"/>
            </p:cNvSpPr>
            <p:nvPr/>
          </p:nvSpPr>
          <p:spPr bwMode="auto">
            <a:xfrm>
              <a:off x="3152" y="3203"/>
              <a:ext cx="235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accent2"/>
                  </a:solidFill>
                  <a:ea typeface="黑体" panose="02010609060101010101" pitchFamily="49" charset="-122"/>
                </a:rPr>
                <a:t>假设目前</a:t>
              </a:r>
              <a:r>
                <a:rPr lang="zh-CN" altLang="en-US" sz="2000">
                  <a:solidFill>
                    <a:schemeClr val="accent2"/>
                  </a:solidFill>
                </a:rPr>
                <a:t>  </a:t>
              </a:r>
              <a:r>
                <a:rPr lang="en-US" altLang="zh-CN" sz="2000">
                  <a:solidFill>
                    <a:schemeClr val="accent2"/>
                  </a:solidFill>
                </a:rPr>
                <a:t>ACWP= $ 700</a:t>
              </a:r>
              <a:r>
                <a:rPr lang="zh-CN" altLang="en-US" sz="2000">
                  <a:solidFill>
                    <a:schemeClr val="accent2"/>
                  </a:solidFill>
                </a:rPr>
                <a:t>，</a:t>
              </a:r>
            </a:p>
          </p:txBody>
        </p:sp>
        <p:sp>
          <p:nvSpPr>
            <p:cNvPr id="59403" name="Text Box 46">
              <a:extLst>
                <a:ext uri="{FF2B5EF4-FFF2-40B4-BE49-F238E27FC236}">
                  <a16:creationId xmlns:a16="http://schemas.microsoft.com/office/drawing/2014/main" id="{45378632-D3F9-CC67-CF04-763B8EA54C73}"/>
                </a:ext>
              </a:extLst>
            </p:cNvPr>
            <p:cNvSpPr txBox="1">
              <a:spLocks noChangeArrowheads="1"/>
            </p:cNvSpPr>
            <p:nvPr/>
          </p:nvSpPr>
          <p:spPr bwMode="auto">
            <a:xfrm>
              <a:off x="2064" y="3838"/>
              <a:ext cx="28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accent2"/>
                  </a:solidFill>
                  <a:ea typeface="黑体" panose="02010609060101010101" pitchFamily="49" charset="-122"/>
                </a:rPr>
                <a:t>则：</a:t>
              </a:r>
              <a:r>
                <a:rPr lang="en-US" altLang="zh-CN" sz="2000">
                  <a:solidFill>
                    <a:schemeClr val="accent2"/>
                  </a:solidFill>
                </a:rPr>
                <a:t>EAC=1000/0.5= $2000</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7BF9205-EE14-E63E-C024-F11E6235069F}"/>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60419" name="Rectangle 3">
            <a:extLst>
              <a:ext uri="{FF2B5EF4-FFF2-40B4-BE49-F238E27FC236}">
                <a16:creationId xmlns:a16="http://schemas.microsoft.com/office/drawing/2014/main" id="{BC829389-C9E5-31DC-53FE-36B07DF5D85A}"/>
              </a:ext>
            </a:extLst>
          </p:cNvPr>
          <p:cNvSpPr>
            <a:spLocks noGrp="1" noChangeArrowheads="1"/>
          </p:cNvSpPr>
          <p:nvPr>
            <p:ph type="body" sz="half" idx="1"/>
          </p:nvPr>
        </p:nvSpPr>
        <p:spPr>
          <a:xfrm>
            <a:off x="323850" y="1989138"/>
            <a:ext cx="8820150" cy="4868862"/>
          </a:xfrm>
        </p:spPr>
        <p:txBody>
          <a:bodyPr/>
          <a:lstStyle/>
          <a:p>
            <a:pPr eaLnBrk="1" hangingPunct="1">
              <a:lnSpc>
                <a:spcPct val="120000"/>
              </a:lnSpc>
            </a:pPr>
            <a:r>
              <a:rPr lang="zh-CN" altLang="en-US" sz="2000">
                <a:solidFill>
                  <a:schemeClr val="accent2"/>
                </a:solidFill>
                <a:latin typeface="黑体" panose="02010609060101010101" pitchFamily="49" charset="-122"/>
                <a:ea typeface="黑体" panose="02010609060101010101" pitchFamily="49" charset="-122"/>
              </a:rPr>
              <a:t>练习题</a:t>
            </a:r>
          </a:p>
          <a:p>
            <a:pPr lvl="1" eaLnBrk="1" hangingPunct="1">
              <a:lnSpc>
                <a:spcPct val="120000"/>
              </a:lnSpc>
              <a:spcBef>
                <a:spcPct val="30000"/>
              </a:spcBef>
            </a:pPr>
            <a:r>
              <a:rPr lang="zh-CN" altLang="en-US" sz="2000">
                <a:latin typeface="宋体" panose="02010600030101010101" pitchFamily="2" charset="-122"/>
              </a:rPr>
              <a:t>你被指定负责一个软件项目，其中有４部分，项目总预算为</a:t>
            </a:r>
            <a:r>
              <a:rPr lang="en-US" altLang="zh-CN" sz="2000">
                <a:latin typeface="宋体" panose="02010600030101010101" pitchFamily="2" charset="-122"/>
              </a:rPr>
              <a:t>53000, A</a:t>
            </a:r>
            <a:r>
              <a:rPr lang="zh-CN" altLang="en-US" sz="2000">
                <a:latin typeface="宋体" panose="02010600030101010101" pitchFamily="2" charset="-122"/>
              </a:rPr>
              <a:t>任务为</a:t>
            </a:r>
            <a:r>
              <a:rPr lang="en-US" altLang="zh-CN" sz="2000">
                <a:latin typeface="宋体" panose="02010600030101010101" pitchFamily="2" charset="-122"/>
              </a:rPr>
              <a:t>26000, B</a:t>
            </a:r>
            <a:r>
              <a:rPr lang="zh-CN" altLang="en-US" sz="2000">
                <a:latin typeface="宋体" panose="02010600030101010101" pitchFamily="2" charset="-122"/>
              </a:rPr>
              <a:t>任务为</a:t>
            </a:r>
            <a:r>
              <a:rPr lang="en-US" altLang="zh-CN" sz="2000">
                <a:latin typeface="宋体" panose="02010600030101010101" pitchFamily="2" charset="-122"/>
              </a:rPr>
              <a:t>12000, C</a:t>
            </a:r>
            <a:r>
              <a:rPr lang="zh-CN" altLang="en-US" sz="2000">
                <a:latin typeface="宋体" panose="02010600030101010101" pitchFamily="2" charset="-122"/>
              </a:rPr>
              <a:t>任务为</a:t>
            </a:r>
            <a:r>
              <a:rPr lang="en-US" altLang="zh-CN" sz="2000">
                <a:latin typeface="宋体" panose="02010600030101010101" pitchFamily="2" charset="-122"/>
              </a:rPr>
              <a:t>10000, D</a:t>
            </a:r>
            <a:r>
              <a:rPr lang="zh-CN" altLang="en-US" sz="2000">
                <a:latin typeface="宋体" panose="02010600030101010101" pitchFamily="2" charset="-122"/>
              </a:rPr>
              <a:t>任务为</a:t>
            </a:r>
            <a:r>
              <a:rPr lang="en-US" altLang="zh-CN" sz="2000">
                <a:latin typeface="宋体" panose="02010600030101010101" pitchFamily="2" charset="-122"/>
              </a:rPr>
              <a:t>5000, </a:t>
            </a:r>
            <a:r>
              <a:rPr lang="zh-CN" altLang="en-US" sz="2000">
                <a:latin typeface="宋体" panose="02010600030101010101" pitchFamily="2" charset="-122"/>
              </a:rPr>
              <a:t>截止到</a:t>
            </a:r>
            <a:r>
              <a:rPr lang="en-US" altLang="zh-CN" sz="2000">
                <a:latin typeface="宋体" panose="02010600030101010101" pitchFamily="2" charset="-122"/>
              </a:rPr>
              <a:t>5</a:t>
            </a:r>
            <a:r>
              <a:rPr lang="zh-CN" altLang="en-US" sz="2000">
                <a:latin typeface="宋体" panose="02010600030101010101" pitchFamily="2" charset="-122"/>
              </a:rPr>
              <a:t>月</a:t>
            </a:r>
            <a:r>
              <a:rPr lang="en-US" altLang="zh-CN" sz="2000">
                <a:latin typeface="宋体" panose="02010600030101010101" pitchFamily="2" charset="-122"/>
              </a:rPr>
              <a:t>31</a:t>
            </a:r>
            <a:r>
              <a:rPr lang="zh-CN" altLang="en-US" sz="2000">
                <a:latin typeface="宋体" panose="02010600030101010101" pitchFamily="2" charset="-122"/>
              </a:rPr>
              <a:t>日，</a:t>
            </a:r>
            <a:r>
              <a:rPr lang="en-US" altLang="zh-CN" sz="2000">
                <a:latin typeface="宋体" panose="02010600030101010101" pitchFamily="2" charset="-122"/>
              </a:rPr>
              <a:t>A</a:t>
            </a:r>
            <a:r>
              <a:rPr lang="zh-CN" altLang="en-US" sz="2000">
                <a:latin typeface="宋体" panose="02010600030101010101" pitchFamily="2" charset="-122"/>
              </a:rPr>
              <a:t>任务已经全部完成，</a:t>
            </a:r>
            <a:r>
              <a:rPr lang="en-US" altLang="zh-CN" sz="2000">
                <a:latin typeface="宋体" panose="02010600030101010101" pitchFamily="2" charset="-122"/>
              </a:rPr>
              <a:t>B</a:t>
            </a:r>
            <a:r>
              <a:rPr lang="zh-CN" altLang="en-US" sz="2000">
                <a:latin typeface="宋体" panose="02010600030101010101" pitchFamily="2" charset="-122"/>
              </a:rPr>
              <a:t>任务过半，</a:t>
            </a:r>
            <a:r>
              <a:rPr lang="en-US" altLang="zh-CN" sz="2000">
                <a:latin typeface="宋体" panose="02010600030101010101" pitchFamily="2" charset="-122"/>
              </a:rPr>
              <a:t>C</a:t>
            </a:r>
            <a:r>
              <a:rPr lang="zh-CN" altLang="en-US" sz="2000">
                <a:latin typeface="宋体" panose="02010600030101010101" pitchFamily="2" charset="-122"/>
              </a:rPr>
              <a:t>任务刚开始，</a:t>
            </a:r>
            <a:r>
              <a:rPr lang="en-US" altLang="zh-CN" sz="2000">
                <a:latin typeface="宋体" panose="02010600030101010101" pitchFamily="2" charset="-122"/>
              </a:rPr>
              <a:t>D</a:t>
            </a:r>
            <a:r>
              <a:rPr lang="zh-CN" altLang="en-US" sz="2000">
                <a:latin typeface="宋体" panose="02010600030101010101" pitchFamily="2" charset="-122"/>
              </a:rPr>
              <a:t>任务还没有开始，采用</a:t>
            </a:r>
            <a:r>
              <a:rPr lang="en-US" altLang="zh-CN" sz="2000">
                <a:latin typeface="宋体" panose="02010600030101010101" pitchFamily="2" charset="-122"/>
              </a:rPr>
              <a:t>50/50</a:t>
            </a:r>
            <a:r>
              <a:rPr lang="zh-CN" altLang="en-US" sz="2000">
                <a:latin typeface="宋体" panose="02010600030101010101" pitchFamily="2" charset="-122"/>
              </a:rPr>
              <a:t>规则计算截止到</a:t>
            </a:r>
            <a:r>
              <a:rPr lang="en-US" altLang="zh-CN" sz="2000">
                <a:latin typeface="宋体" panose="02010600030101010101" pitchFamily="2" charset="-122"/>
              </a:rPr>
              <a:t>5</a:t>
            </a:r>
            <a:r>
              <a:rPr lang="zh-CN" altLang="en-US" sz="2000">
                <a:latin typeface="宋体" panose="02010600030101010101" pitchFamily="2" charset="-122"/>
              </a:rPr>
              <a:t>月</a:t>
            </a:r>
            <a:r>
              <a:rPr lang="en-US" altLang="zh-CN" sz="2000">
                <a:latin typeface="宋体" panose="02010600030101010101" pitchFamily="2" charset="-122"/>
              </a:rPr>
              <a:t>31</a:t>
            </a:r>
            <a:r>
              <a:rPr lang="zh-CN" altLang="en-US" sz="2000">
                <a:latin typeface="宋体" panose="02010600030101010101" pitchFamily="2" charset="-122"/>
              </a:rPr>
              <a:t>日的</a:t>
            </a:r>
            <a:r>
              <a:rPr lang="en-US" altLang="zh-CN" sz="2000">
                <a:latin typeface="宋体" panose="02010600030101010101" pitchFamily="2" charset="-122"/>
              </a:rPr>
              <a:t>CV</a:t>
            </a:r>
            <a:r>
              <a:rPr lang="zh-CN" altLang="en-US" sz="2000">
                <a:latin typeface="宋体" panose="02010600030101010101" pitchFamily="2" charset="-122"/>
              </a:rPr>
              <a:t>，</a:t>
            </a:r>
            <a:r>
              <a:rPr lang="en-US" altLang="zh-CN" sz="2000">
                <a:latin typeface="宋体" panose="02010600030101010101" pitchFamily="2" charset="-122"/>
              </a:rPr>
              <a:t>SV</a:t>
            </a:r>
            <a:r>
              <a:rPr lang="zh-CN" altLang="en-US" sz="2000">
                <a:latin typeface="宋体" panose="02010600030101010101" pitchFamily="2" charset="-122"/>
              </a:rPr>
              <a:t>，</a:t>
            </a:r>
            <a:r>
              <a:rPr lang="en-US" altLang="zh-CN" sz="2000">
                <a:latin typeface="宋体" panose="02010600030101010101" pitchFamily="2" charset="-122"/>
              </a:rPr>
              <a:t>CPI</a:t>
            </a:r>
            <a:r>
              <a:rPr lang="zh-CN" altLang="en-US" sz="2000">
                <a:latin typeface="宋体" panose="02010600030101010101" pitchFamily="2" charset="-122"/>
              </a:rPr>
              <a:t>，</a:t>
            </a:r>
            <a:r>
              <a:rPr lang="en-US" altLang="zh-CN" sz="2000">
                <a:latin typeface="宋体" panose="02010600030101010101" pitchFamily="2" charset="-122"/>
              </a:rPr>
              <a:t>SPI</a:t>
            </a:r>
            <a:r>
              <a:rPr lang="zh-CN" altLang="en-US" sz="2000">
                <a:latin typeface="宋体" panose="02010600030101010101" pitchFamily="2" charset="-122"/>
              </a:rPr>
              <a:t>？</a:t>
            </a:r>
          </a:p>
          <a:p>
            <a:pPr eaLnBrk="1" hangingPunct="1"/>
            <a:endParaRPr lang="en-US" altLang="zh-CN" sz="1800">
              <a:latin typeface="宋体" panose="02010600030101010101" pitchFamily="2" charset="-122"/>
            </a:endParaRPr>
          </a:p>
        </p:txBody>
      </p:sp>
      <p:graphicFrame>
        <p:nvGraphicFramePr>
          <p:cNvPr id="407614" name="Group 62">
            <a:extLst>
              <a:ext uri="{FF2B5EF4-FFF2-40B4-BE49-F238E27FC236}">
                <a16:creationId xmlns:a16="http://schemas.microsoft.com/office/drawing/2014/main" id="{6C65FC9D-0C14-463E-B49F-2AA695F5E16A}"/>
              </a:ext>
            </a:extLst>
          </p:cNvPr>
          <p:cNvGraphicFramePr>
            <a:graphicFrameLocks noGrp="1"/>
          </p:cNvGraphicFramePr>
          <p:nvPr>
            <p:ph sz="half" idx="2"/>
          </p:nvPr>
        </p:nvGraphicFramePr>
        <p:xfrm>
          <a:off x="1042988" y="4292600"/>
          <a:ext cx="7777162" cy="2220918"/>
        </p:xfrm>
        <a:graphic>
          <a:graphicData uri="http://schemas.openxmlformats.org/drawingml/2006/table">
            <a:tbl>
              <a:tblPr/>
              <a:tblGrid>
                <a:gridCol w="1728787">
                  <a:extLst>
                    <a:ext uri="{9D8B030D-6E8A-4147-A177-3AD203B41FA5}">
                      <a16:colId xmlns:a16="http://schemas.microsoft.com/office/drawing/2014/main" val="20000"/>
                    </a:ext>
                  </a:extLst>
                </a:gridCol>
                <a:gridCol w="2087563">
                  <a:extLst>
                    <a:ext uri="{9D8B030D-6E8A-4147-A177-3AD203B41FA5}">
                      <a16:colId xmlns:a16="http://schemas.microsoft.com/office/drawing/2014/main" val="20001"/>
                    </a:ext>
                  </a:extLst>
                </a:gridCol>
                <a:gridCol w="2089150">
                  <a:extLst>
                    <a:ext uri="{9D8B030D-6E8A-4147-A177-3AD203B41FA5}">
                      <a16:colId xmlns:a16="http://schemas.microsoft.com/office/drawing/2014/main" val="20002"/>
                    </a:ext>
                  </a:extLst>
                </a:gridCol>
                <a:gridCol w="1871662">
                  <a:extLst>
                    <a:ext uri="{9D8B030D-6E8A-4147-A177-3AD203B41FA5}">
                      <a16:colId xmlns:a16="http://schemas.microsoft.com/office/drawing/2014/main" val="20003"/>
                    </a:ext>
                  </a:extLst>
                </a:gridCol>
              </a:tblGrid>
              <a:tr h="365739">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任务</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ＢＣＷＳ</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ＡＣＷＰ</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ＢＣＷＰ</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0"/>
                  </a:ext>
                </a:extLst>
              </a:tr>
              <a:tr h="365739">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Ａ</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26000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25500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365739">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Ｂ</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9000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5400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374566">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Ｃ</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4800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4100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3"/>
                  </a:ext>
                </a:extLst>
              </a:tr>
              <a:tr h="374566">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Ｄ</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374566">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总计</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7A18B86-5A9C-8566-8B45-E0625C44C2E3}"/>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61443" name="Rectangle 3">
            <a:extLst>
              <a:ext uri="{FF2B5EF4-FFF2-40B4-BE49-F238E27FC236}">
                <a16:creationId xmlns:a16="http://schemas.microsoft.com/office/drawing/2014/main" id="{5E36AC36-D54C-0625-027F-D0834605C9EF}"/>
              </a:ext>
            </a:extLst>
          </p:cNvPr>
          <p:cNvSpPr>
            <a:spLocks noGrp="1" noChangeArrowheads="1"/>
          </p:cNvSpPr>
          <p:nvPr>
            <p:ph type="body" sz="half" idx="1"/>
          </p:nvPr>
        </p:nvSpPr>
        <p:spPr>
          <a:xfrm>
            <a:off x="684213" y="2060575"/>
            <a:ext cx="8208962" cy="4797425"/>
          </a:xfrm>
        </p:spPr>
        <p:txBody>
          <a:bodyPr/>
          <a:lstStyle/>
          <a:p>
            <a:pPr eaLnBrk="1" hangingPunct="1"/>
            <a:r>
              <a:rPr lang="zh-CN" altLang="en-US" sz="1800">
                <a:solidFill>
                  <a:srgbClr val="FF0000"/>
                </a:solidFill>
                <a:latin typeface="黑体" panose="02010609060101010101" pitchFamily="49" charset="-122"/>
                <a:ea typeface="黑体" panose="02010609060101010101" pitchFamily="49" charset="-122"/>
              </a:rPr>
              <a:t>答案</a:t>
            </a:r>
          </a:p>
        </p:txBody>
      </p:sp>
      <p:graphicFrame>
        <p:nvGraphicFramePr>
          <p:cNvPr id="409663" name="Group 63">
            <a:extLst>
              <a:ext uri="{FF2B5EF4-FFF2-40B4-BE49-F238E27FC236}">
                <a16:creationId xmlns:a16="http://schemas.microsoft.com/office/drawing/2014/main" id="{2D29B58D-5839-42E7-9580-D38F174D9E82}"/>
              </a:ext>
            </a:extLst>
          </p:cNvPr>
          <p:cNvGraphicFramePr>
            <a:graphicFrameLocks noGrp="1"/>
          </p:cNvGraphicFramePr>
          <p:nvPr>
            <p:ph sz="half" idx="2"/>
          </p:nvPr>
        </p:nvGraphicFramePr>
        <p:xfrm>
          <a:off x="827088" y="2684463"/>
          <a:ext cx="8066087" cy="2451099"/>
        </p:xfrm>
        <a:graphic>
          <a:graphicData uri="http://schemas.openxmlformats.org/drawingml/2006/table">
            <a:tbl>
              <a:tblPr/>
              <a:tblGrid>
                <a:gridCol w="1712912">
                  <a:extLst>
                    <a:ext uri="{9D8B030D-6E8A-4147-A177-3AD203B41FA5}">
                      <a16:colId xmlns:a16="http://schemas.microsoft.com/office/drawing/2014/main" val="20000"/>
                    </a:ext>
                  </a:extLst>
                </a:gridCol>
                <a:gridCol w="2141538">
                  <a:extLst>
                    <a:ext uri="{9D8B030D-6E8A-4147-A177-3AD203B41FA5}">
                      <a16:colId xmlns:a16="http://schemas.microsoft.com/office/drawing/2014/main" val="20001"/>
                    </a:ext>
                  </a:extLst>
                </a:gridCol>
                <a:gridCol w="2070100">
                  <a:extLst>
                    <a:ext uri="{9D8B030D-6E8A-4147-A177-3AD203B41FA5}">
                      <a16:colId xmlns:a16="http://schemas.microsoft.com/office/drawing/2014/main" val="20002"/>
                    </a:ext>
                  </a:extLst>
                </a:gridCol>
                <a:gridCol w="2141537">
                  <a:extLst>
                    <a:ext uri="{9D8B030D-6E8A-4147-A177-3AD203B41FA5}">
                      <a16:colId xmlns:a16="http://schemas.microsoft.com/office/drawing/2014/main" val="20003"/>
                    </a:ext>
                  </a:extLst>
                </a:gridCol>
              </a:tblGrid>
              <a:tr h="365734">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任务</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ＢＣＷＳ</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ＡＣＷＰ</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ＢＣＷＰ</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09455">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Ａ</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26000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25500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rgbClr val="FF0000"/>
                          </a:solidFill>
                          <a:effectLst/>
                          <a:latin typeface="Arial" panose="020B0604020202020204" pitchFamily="34" charset="0"/>
                          <a:ea typeface="宋体" panose="02010600030101010101" pitchFamily="2" charset="-122"/>
                        </a:rPr>
                        <a:t>26000</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39609">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Ｂ</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9000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5400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rgbClr val="FF0000"/>
                          </a:solidFill>
                          <a:effectLst/>
                          <a:latin typeface="Arial" panose="020B0604020202020204" pitchFamily="34" charset="0"/>
                          <a:ea typeface="宋体" panose="02010600030101010101" pitchFamily="2" charset="-122"/>
                        </a:rPr>
                        <a:t>6000</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38021">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Ｃ</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4800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4100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rgbClr val="FF0000"/>
                          </a:solidFill>
                          <a:effectLst/>
                          <a:latin typeface="Arial" panose="020B0604020202020204" pitchFamily="34" charset="0"/>
                          <a:ea typeface="宋体" panose="02010600030101010101" pitchFamily="2" charset="-122"/>
                        </a:rPr>
                        <a:t>5000</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387238">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Ｄ</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rgbClr val="FF0000"/>
                          </a:solidFill>
                          <a:effectLst/>
                          <a:latin typeface="Arial" panose="020B0604020202020204" pitchFamily="34" charset="0"/>
                          <a:ea typeface="宋体" panose="02010600030101010101" pitchFamily="2" charset="-122"/>
                        </a:rPr>
                        <a:t>0</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11042">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总计</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rgbClr val="FF0000"/>
                          </a:solidFill>
                          <a:effectLst/>
                          <a:latin typeface="Arial" panose="020B0604020202020204" pitchFamily="34" charset="0"/>
                          <a:ea typeface="宋体" panose="02010600030101010101" pitchFamily="2" charset="-122"/>
                        </a:rPr>
                        <a:t>39800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rgbClr val="FF0000"/>
                          </a:solidFill>
                          <a:effectLst/>
                          <a:latin typeface="Arial" panose="020B0604020202020204" pitchFamily="34" charset="0"/>
                          <a:ea typeface="宋体" panose="02010600030101010101" pitchFamily="2" charset="-122"/>
                        </a:rPr>
                        <a:t>35000</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gn="l">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lgn="l">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30000"/>
                        </a:spcBef>
                        <a:spcAft>
                          <a:spcPct val="0"/>
                        </a:spcAft>
                        <a:buClr>
                          <a:srgbClr val="0000FF"/>
                        </a:buClr>
                        <a:buSzTx/>
                        <a:buFont typeface="Wingdings 2" panose="05020102010507070707" pitchFamily="18" charset="2"/>
                        <a:buNone/>
                        <a:tabLst/>
                      </a:pPr>
                      <a:r>
                        <a:rPr kumimoji="0" lang="en-US" altLang="zh-CN" sz="1800" b="1" i="0" u="none" strike="noStrike" cap="none" normalizeH="0" baseline="0">
                          <a:ln>
                            <a:noFill/>
                          </a:ln>
                          <a:solidFill>
                            <a:srgbClr val="FF0000"/>
                          </a:solidFill>
                          <a:effectLst/>
                          <a:latin typeface="Arial" panose="020B0604020202020204" pitchFamily="34" charset="0"/>
                          <a:ea typeface="宋体" panose="02010600030101010101" pitchFamily="2" charset="-122"/>
                        </a:rPr>
                        <a:t>37000</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bl>
          </a:graphicData>
        </a:graphic>
      </p:graphicFrame>
      <p:sp>
        <p:nvSpPr>
          <p:cNvPr id="61481" name="Rectangle 59">
            <a:extLst>
              <a:ext uri="{FF2B5EF4-FFF2-40B4-BE49-F238E27FC236}">
                <a16:creationId xmlns:a16="http://schemas.microsoft.com/office/drawing/2014/main" id="{71762113-F7F9-E49B-01B1-1DE8E5603D92}"/>
              </a:ext>
            </a:extLst>
          </p:cNvPr>
          <p:cNvSpPr>
            <a:spLocks noChangeArrowheads="1"/>
          </p:cNvSpPr>
          <p:nvPr/>
        </p:nvSpPr>
        <p:spPr bwMode="auto">
          <a:xfrm>
            <a:off x="1763713" y="5373688"/>
            <a:ext cx="4572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1">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50000"/>
              </a:spcBef>
              <a:buClrTx/>
              <a:buFontTx/>
              <a:buNone/>
            </a:pPr>
            <a:r>
              <a:rPr lang="en-US" altLang="zh-CN" sz="2000">
                <a:solidFill>
                  <a:srgbClr val="FF0000"/>
                </a:solidFill>
              </a:rPr>
              <a:t>CV=2000,  SV=-2800</a:t>
            </a:r>
          </a:p>
          <a:p>
            <a:pPr algn="ctr">
              <a:lnSpc>
                <a:spcPct val="130000"/>
              </a:lnSpc>
              <a:spcBef>
                <a:spcPct val="50000"/>
              </a:spcBef>
              <a:buClrTx/>
              <a:buFontTx/>
              <a:buNone/>
            </a:pPr>
            <a:r>
              <a:rPr lang="en-US" altLang="zh-CN" sz="2000">
                <a:solidFill>
                  <a:srgbClr val="FF0000"/>
                </a:solidFill>
              </a:rPr>
              <a:t>  CPI = 1.06,  SPI =0.93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1BCD5973-0B9B-9B8B-6C73-8D2D0C27F4A2}"/>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62467" name="Rectangle 3">
            <a:extLst>
              <a:ext uri="{FF2B5EF4-FFF2-40B4-BE49-F238E27FC236}">
                <a16:creationId xmlns:a16="http://schemas.microsoft.com/office/drawing/2014/main" id="{FAC94A04-95DF-C06E-CD22-3DD2C22F1E2B}"/>
              </a:ext>
            </a:extLst>
          </p:cNvPr>
          <p:cNvSpPr>
            <a:spLocks noGrp="1" noChangeArrowheads="1"/>
          </p:cNvSpPr>
          <p:nvPr>
            <p:ph type="body" sz="half" idx="1"/>
          </p:nvPr>
        </p:nvSpPr>
        <p:spPr>
          <a:xfrm>
            <a:off x="250825" y="1989138"/>
            <a:ext cx="8893175" cy="4868862"/>
          </a:xfrm>
        </p:spPr>
        <p:txBody>
          <a:bodyPr/>
          <a:lstStyle/>
          <a:p>
            <a:pPr eaLnBrk="1" hangingPunct="1">
              <a:lnSpc>
                <a:spcPct val="130000"/>
              </a:lnSpc>
              <a:spcBef>
                <a:spcPct val="50000"/>
              </a:spcBef>
            </a:pPr>
            <a:r>
              <a:rPr lang="zh-CN" altLang="en-US" sz="2400">
                <a:solidFill>
                  <a:schemeClr val="accent2"/>
                </a:solidFill>
                <a:ea typeface="黑体" panose="02010609060101010101" pitchFamily="49" charset="-122"/>
              </a:rPr>
              <a:t>偏差管理（成本）</a:t>
            </a:r>
            <a:endParaRPr lang="en-US" altLang="zh-CN" sz="2000">
              <a:solidFill>
                <a:schemeClr val="accent2"/>
              </a:solidFill>
              <a:ea typeface="黑体" panose="02010609060101010101" pitchFamily="49" charset="-122"/>
            </a:endParaRPr>
          </a:p>
          <a:p>
            <a:pPr lvl="1" eaLnBrk="1" hangingPunct="1">
              <a:lnSpc>
                <a:spcPct val="130000"/>
              </a:lnSpc>
              <a:spcBef>
                <a:spcPct val="50000"/>
              </a:spcBef>
            </a:pPr>
            <a:r>
              <a:rPr lang="zh-CN" altLang="en-US" sz="2000">
                <a:ea typeface="黑体" panose="02010609060101010101" pitchFamily="49" charset="-122"/>
              </a:rPr>
              <a:t>项目经理在做项目计划的时候已经对项目进行了预算，而且经常是按照</a:t>
            </a:r>
            <a:r>
              <a:rPr lang="zh-CN" altLang="en-US" sz="2000">
                <a:solidFill>
                  <a:srgbClr val="FF0000"/>
                </a:solidFill>
                <a:ea typeface="黑体" panose="02010609060101010101" pitchFamily="49" charset="-122"/>
              </a:rPr>
              <a:t>预算内完成</a:t>
            </a:r>
            <a:r>
              <a:rPr lang="zh-CN" altLang="en-US" sz="2000">
                <a:ea typeface="黑体" panose="02010609060101010101" pitchFamily="49" charset="-122"/>
              </a:rPr>
              <a:t>、</a:t>
            </a:r>
            <a:r>
              <a:rPr lang="zh-CN" altLang="en-US" sz="2000">
                <a:solidFill>
                  <a:srgbClr val="FF0000"/>
                </a:solidFill>
                <a:ea typeface="黑体" panose="02010609060101010101" pitchFamily="49" charset="-122"/>
              </a:rPr>
              <a:t>低于预算完成</a:t>
            </a:r>
            <a:r>
              <a:rPr lang="zh-CN" altLang="en-US" sz="2000">
                <a:ea typeface="黑体" panose="02010609060101010101" pitchFamily="49" charset="-122"/>
              </a:rPr>
              <a:t>或者</a:t>
            </a:r>
            <a:r>
              <a:rPr lang="zh-CN" altLang="en-US" sz="2000">
                <a:solidFill>
                  <a:srgbClr val="FF0000"/>
                </a:solidFill>
                <a:ea typeface="黑体" panose="02010609060101010101" pitchFamily="49" charset="-122"/>
              </a:rPr>
              <a:t>超预算完成</a:t>
            </a:r>
            <a:r>
              <a:rPr lang="zh-CN" altLang="en-US" sz="2000">
                <a:ea typeface="黑体" panose="02010609060101010101" pitchFamily="49" charset="-122"/>
              </a:rPr>
              <a:t>来评价项目的成败。</a:t>
            </a:r>
            <a:endParaRPr lang="en-US" altLang="zh-CN" sz="2000">
              <a:ea typeface="黑体" panose="02010609060101010101" pitchFamily="49" charset="-122"/>
            </a:endParaRPr>
          </a:p>
          <a:p>
            <a:pPr lvl="1" eaLnBrk="1" hangingPunct="1">
              <a:lnSpc>
                <a:spcPct val="130000"/>
              </a:lnSpc>
              <a:spcBef>
                <a:spcPct val="50000"/>
              </a:spcBef>
            </a:pPr>
            <a:r>
              <a:rPr lang="zh-CN" altLang="en-US" sz="2000">
                <a:solidFill>
                  <a:srgbClr val="FF0000"/>
                </a:solidFill>
                <a:ea typeface="黑体" panose="02010609060101010101" pitchFamily="49" charset="-122"/>
              </a:rPr>
              <a:t>超预算</a:t>
            </a:r>
            <a:r>
              <a:rPr lang="zh-CN" altLang="en-US" sz="2000">
                <a:ea typeface="黑体" panose="02010609060101010101" pitchFamily="49" charset="-122"/>
              </a:rPr>
              <a:t>会给项目经理以及公司带来很严重的后果，根据合同得到经费的项目，经费超支可能会导致经济损失。</a:t>
            </a:r>
            <a:endParaRPr lang="en-US" altLang="zh-CN" sz="2000">
              <a:ea typeface="黑体" panose="02010609060101010101" pitchFamily="49" charset="-122"/>
            </a:endParaRPr>
          </a:p>
          <a:p>
            <a:pPr lvl="1" eaLnBrk="1" hangingPunct="1">
              <a:lnSpc>
                <a:spcPct val="130000"/>
              </a:lnSpc>
              <a:spcBef>
                <a:spcPct val="50000"/>
              </a:spcBef>
            </a:pPr>
            <a:r>
              <a:rPr lang="zh-CN" altLang="en-US" sz="2000">
                <a:ea typeface="黑体" panose="02010609060101010101" pitchFamily="49" charset="-122"/>
              </a:rPr>
              <a:t>为了预防这个威胁，项目经理经常在成本估算的时候</a:t>
            </a:r>
            <a:r>
              <a:rPr lang="zh-CN" altLang="en-US" sz="2000">
                <a:solidFill>
                  <a:srgbClr val="FF0000"/>
                </a:solidFill>
                <a:ea typeface="黑体" panose="02010609060101010101" pitchFamily="49" charset="-122"/>
              </a:rPr>
              <a:t>添加水分</a:t>
            </a:r>
            <a:r>
              <a:rPr lang="zh-CN" altLang="en-US" sz="2000">
                <a:ea typeface="黑体" panose="02010609060101010101" pitchFamily="49" charset="-122"/>
              </a:rPr>
              <a:t>，一般是先做出一个比较实际的估计，然后乘上一个系数来应付不可预测的问题。</a:t>
            </a:r>
            <a:endParaRPr lang="en-US" altLang="zh-CN" sz="2000">
              <a:ea typeface="黑体" panose="02010609060101010101" pitchFamily="49" charset="-122"/>
            </a:endParaRPr>
          </a:p>
          <a:p>
            <a:pPr lvl="1" eaLnBrk="1" hangingPunct="1">
              <a:lnSpc>
                <a:spcPct val="130000"/>
              </a:lnSpc>
              <a:spcBef>
                <a:spcPct val="50000"/>
              </a:spcBef>
            </a:pPr>
            <a:r>
              <a:rPr lang="zh-CN" altLang="en-US" sz="2000">
                <a:ea typeface="黑体" panose="02010609060101010101" pitchFamily="49" charset="-122"/>
              </a:rPr>
              <a:t>对于超出控制允许偏差范围的情况，要引起重视，应该调查偏差发生的原因。</a:t>
            </a:r>
            <a:endParaRPr lang="zh-CN" altLang="en-US" sz="2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30866D2A-D989-B712-AF6E-CFA26CF34DE6}"/>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64515" name="Rectangle 3">
            <a:extLst>
              <a:ext uri="{FF2B5EF4-FFF2-40B4-BE49-F238E27FC236}">
                <a16:creationId xmlns:a16="http://schemas.microsoft.com/office/drawing/2014/main" id="{77B413BD-CD4A-B593-4B35-6403A135F1A3}"/>
              </a:ext>
            </a:extLst>
          </p:cNvPr>
          <p:cNvSpPr>
            <a:spLocks noGrp="1" noChangeArrowheads="1"/>
          </p:cNvSpPr>
          <p:nvPr>
            <p:ph type="body" sz="half" idx="1"/>
          </p:nvPr>
        </p:nvSpPr>
        <p:spPr>
          <a:xfrm>
            <a:off x="250825" y="1989138"/>
            <a:ext cx="8893175" cy="4868862"/>
          </a:xfrm>
        </p:spPr>
        <p:txBody>
          <a:bodyPr/>
          <a:lstStyle/>
          <a:p>
            <a:pPr eaLnBrk="1" hangingPunct="1">
              <a:lnSpc>
                <a:spcPct val="130000"/>
              </a:lnSpc>
              <a:spcBef>
                <a:spcPct val="50000"/>
              </a:spcBef>
            </a:pPr>
            <a:r>
              <a:rPr lang="zh-CN" altLang="en-US" sz="2400">
                <a:solidFill>
                  <a:schemeClr val="accent2"/>
                </a:solidFill>
                <a:ea typeface="黑体" panose="02010609060101010101" pitchFamily="49" charset="-122"/>
              </a:rPr>
              <a:t>偏差管理（进度）</a:t>
            </a:r>
            <a:endParaRPr lang="en-US" altLang="zh-CN" sz="2000">
              <a:solidFill>
                <a:schemeClr val="accent2"/>
              </a:solidFill>
              <a:ea typeface="黑体" panose="02010609060101010101" pitchFamily="49" charset="-122"/>
            </a:endParaRPr>
          </a:p>
          <a:p>
            <a:pPr lvl="1" eaLnBrk="1" hangingPunct="1">
              <a:lnSpc>
                <a:spcPct val="130000"/>
              </a:lnSpc>
              <a:spcBef>
                <a:spcPct val="50000"/>
              </a:spcBef>
            </a:pPr>
            <a:r>
              <a:rPr lang="zh-CN" altLang="en-US" sz="2000"/>
              <a:t>进度问题更是项目经理关注的问题。</a:t>
            </a:r>
            <a:r>
              <a:rPr lang="zh-CN" altLang="en-US" sz="2000">
                <a:solidFill>
                  <a:srgbClr val="FF0000"/>
                </a:solidFill>
              </a:rPr>
              <a:t>进度冲突</a:t>
            </a:r>
            <a:r>
              <a:rPr lang="zh-CN" altLang="en-US" sz="2000"/>
              <a:t>常常是项目管理过程中最主要的冲突，进度落后时危及项目成功的一项非常重要的因素。</a:t>
            </a:r>
            <a:endParaRPr lang="en-US" altLang="zh-CN" sz="2000"/>
          </a:p>
          <a:p>
            <a:pPr lvl="1" eaLnBrk="1" hangingPunct="1">
              <a:lnSpc>
                <a:spcPct val="130000"/>
              </a:lnSpc>
              <a:spcBef>
                <a:spcPct val="50000"/>
              </a:spcBef>
            </a:pPr>
            <a:r>
              <a:rPr lang="zh-CN" altLang="en-US" sz="2000"/>
              <a:t>一般在安排进度的时候，很多的项目经理对团队成员的要求时</a:t>
            </a:r>
            <a:r>
              <a:rPr lang="zh-CN" altLang="en-US" sz="2000">
                <a:solidFill>
                  <a:srgbClr val="FF0000"/>
                </a:solidFill>
              </a:rPr>
              <a:t>先紧后松</a:t>
            </a:r>
            <a:r>
              <a:rPr lang="zh-CN" altLang="en-US" sz="2000"/>
              <a:t>。</a:t>
            </a:r>
            <a:endParaRPr lang="en-US" altLang="zh-CN" sz="2000"/>
          </a:p>
          <a:p>
            <a:pPr lvl="1" eaLnBrk="1" hangingPunct="1">
              <a:lnSpc>
                <a:spcPct val="130000"/>
              </a:lnSpc>
              <a:spcBef>
                <a:spcPct val="50000"/>
              </a:spcBef>
            </a:pPr>
            <a:r>
              <a:rPr lang="zh-CN" altLang="en-US" sz="2000"/>
              <a:t>对上层管理者或者客户进行进度沟通，基本是</a:t>
            </a:r>
            <a:r>
              <a:rPr lang="zh-CN" altLang="en-US" sz="2000">
                <a:solidFill>
                  <a:srgbClr val="FF0000"/>
                </a:solidFill>
              </a:rPr>
              <a:t>先松后紧</a:t>
            </a:r>
            <a:r>
              <a:rPr lang="zh-CN" altLang="en-US" sz="2000"/>
              <a:t>，给项目留出一定的余地，然后在实施过程中紧密控制。</a:t>
            </a:r>
            <a:r>
              <a:rPr lang="zh-CN" altLang="en-US" sz="2000">
                <a:solidFill>
                  <a:srgbClr val="FF0000"/>
                </a:solidFill>
              </a:rPr>
              <a:t>保证进度的偏差在可以控制的范围内</a:t>
            </a:r>
            <a:r>
              <a:rPr lang="zh-CN" altLang="en-US" sz="2000"/>
              <a:t>。</a:t>
            </a:r>
            <a:endParaRPr lang="en-US" altLang="zh-CN" sz="2000"/>
          </a:p>
          <a:p>
            <a:pPr lvl="1" eaLnBrk="1" hangingPunct="1">
              <a:lnSpc>
                <a:spcPct val="130000"/>
              </a:lnSpc>
              <a:spcBef>
                <a:spcPct val="50000"/>
              </a:spcBef>
            </a:pPr>
            <a:r>
              <a:rPr lang="zh-CN" altLang="en-US" sz="2000"/>
              <a:t>如果偏差超出一定的范围，可能需要提出</a:t>
            </a:r>
            <a:r>
              <a:rPr lang="zh-CN" altLang="en-US" sz="2000">
                <a:solidFill>
                  <a:srgbClr val="FF0000"/>
                </a:solidFill>
              </a:rPr>
              <a:t>变更申请</a:t>
            </a:r>
            <a:r>
              <a:rPr lang="zh-CN" altLang="en-US" sz="2000"/>
              <a:t>，对进度或者成本等基准计划进行变更。</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99E57BAC-B589-F0A2-990A-830B10EA6838}"/>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66563" name="Rectangle 3">
            <a:extLst>
              <a:ext uri="{FF2B5EF4-FFF2-40B4-BE49-F238E27FC236}">
                <a16:creationId xmlns:a16="http://schemas.microsoft.com/office/drawing/2014/main" id="{9DEF6DDF-AA19-388C-1A7D-1B168868FFB2}"/>
              </a:ext>
            </a:extLst>
          </p:cNvPr>
          <p:cNvSpPr>
            <a:spLocks noGrp="1" noChangeArrowheads="1"/>
          </p:cNvSpPr>
          <p:nvPr>
            <p:ph type="body" sz="half" idx="1"/>
          </p:nvPr>
        </p:nvSpPr>
        <p:spPr>
          <a:xfrm>
            <a:off x="250825" y="1989138"/>
            <a:ext cx="8893175" cy="4868862"/>
          </a:xfrm>
        </p:spPr>
        <p:txBody>
          <a:bodyPr/>
          <a:lstStyle/>
          <a:p>
            <a:pPr eaLnBrk="1" hangingPunct="1">
              <a:lnSpc>
                <a:spcPct val="130000"/>
              </a:lnSpc>
              <a:spcBef>
                <a:spcPct val="50000"/>
              </a:spcBef>
            </a:pPr>
            <a:r>
              <a:rPr lang="zh-CN" altLang="en-US" sz="2400">
                <a:solidFill>
                  <a:schemeClr val="accent2"/>
                </a:solidFill>
                <a:ea typeface="黑体" panose="02010609060101010101" pitchFamily="49" charset="-122"/>
              </a:rPr>
              <a:t>项目质量跟踪控制</a:t>
            </a:r>
            <a:r>
              <a:rPr lang="zh-CN" altLang="en-US" sz="2400"/>
              <a:t> </a:t>
            </a:r>
          </a:p>
          <a:p>
            <a:pPr eaLnBrk="1" hangingPunct="1">
              <a:lnSpc>
                <a:spcPct val="130000"/>
              </a:lnSpc>
              <a:spcBef>
                <a:spcPct val="50000"/>
              </a:spcBef>
              <a:buFont typeface="Wingdings 2" panose="05020102010507070707" pitchFamily="18" charset="2"/>
              <a:buNone/>
            </a:pPr>
            <a:r>
              <a:rPr lang="zh-CN" altLang="en-US" sz="1800"/>
              <a:t>      </a:t>
            </a:r>
            <a:r>
              <a:rPr lang="en-US" altLang="zh-CN" sz="2000"/>
              <a:t>——</a:t>
            </a:r>
            <a:r>
              <a:rPr lang="zh-CN" altLang="en-US" sz="2000"/>
              <a:t>通过质量跟踪的结果来判断项目执行过程的质量情况，决定产品是否可以接受，还是需要返工或者放弃产品。</a:t>
            </a:r>
          </a:p>
        </p:txBody>
      </p:sp>
      <p:grpSp>
        <p:nvGrpSpPr>
          <p:cNvPr id="66564" name="Group 13">
            <a:extLst>
              <a:ext uri="{FF2B5EF4-FFF2-40B4-BE49-F238E27FC236}">
                <a16:creationId xmlns:a16="http://schemas.microsoft.com/office/drawing/2014/main" id="{AD4557B9-CABA-016A-0F6D-6FA6D0F98B2B}"/>
              </a:ext>
            </a:extLst>
          </p:cNvPr>
          <p:cNvGrpSpPr>
            <a:grpSpLocks/>
          </p:cNvGrpSpPr>
          <p:nvPr/>
        </p:nvGrpSpPr>
        <p:grpSpPr bwMode="auto">
          <a:xfrm>
            <a:off x="1042988" y="4076700"/>
            <a:ext cx="7777162" cy="1519238"/>
            <a:chOff x="748" y="2655"/>
            <a:chExt cx="4899" cy="957"/>
          </a:xfrm>
        </p:grpSpPr>
        <p:sp>
          <p:nvSpPr>
            <p:cNvPr id="66565" name="Text Box 8">
              <a:extLst>
                <a:ext uri="{FF2B5EF4-FFF2-40B4-BE49-F238E27FC236}">
                  <a16:creationId xmlns:a16="http://schemas.microsoft.com/office/drawing/2014/main" id="{1074DACE-4C61-81C5-D8D3-502CE8358DFD}"/>
                </a:ext>
              </a:extLst>
            </p:cNvPr>
            <p:cNvSpPr txBox="1">
              <a:spLocks noChangeArrowheads="1"/>
            </p:cNvSpPr>
            <p:nvPr/>
          </p:nvSpPr>
          <p:spPr bwMode="auto">
            <a:xfrm>
              <a:off x="2243" y="2655"/>
              <a:ext cx="1966" cy="957"/>
            </a:xfrm>
            <a:prstGeom prst="rect">
              <a:avLst/>
            </a:prstGeom>
            <a:solidFill>
              <a:srgbClr val="CC6600"/>
            </a:solidFill>
            <a:ln w="25400">
              <a:solidFill>
                <a:schemeClr val="tx1"/>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bg1"/>
                  </a:solidFill>
                  <a:latin typeface="黑体" panose="02010609060101010101" pitchFamily="49" charset="-122"/>
                  <a:ea typeface="黑体" panose="02010609060101010101" pitchFamily="49" charset="-122"/>
                </a:rPr>
                <a:t>方法：</a:t>
              </a:r>
            </a:p>
            <a:p>
              <a:pPr eaLnBrk="1" hangingPunct="1">
                <a:spcBef>
                  <a:spcPct val="20000"/>
                </a:spcBef>
                <a:buClr>
                  <a:srgbClr val="FF0000"/>
                </a:buClr>
                <a:buSzPct val="55000"/>
                <a:buFont typeface="Monotype Sorts" charset="0"/>
                <a:buNone/>
              </a:pPr>
              <a:r>
                <a:rPr lang="zh-CN" altLang="en-US" sz="2000">
                  <a:solidFill>
                    <a:schemeClr val="bg1"/>
                  </a:solidFill>
                  <a:latin typeface="黑体" panose="02010609060101010101" pitchFamily="49" charset="-122"/>
                  <a:ea typeface="黑体" panose="02010609060101010101" pitchFamily="49" charset="-122"/>
                </a:rPr>
                <a:t>质量度量</a:t>
              </a:r>
            </a:p>
            <a:p>
              <a:pPr eaLnBrk="1" hangingPunct="1">
                <a:spcBef>
                  <a:spcPct val="20000"/>
                </a:spcBef>
                <a:buClr>
                  <a:srgbClr val="FF0000"/>
                </a:buClr>
                <a:buSzPct val="55000"/>
                <a:buFont typeface="Monotype Sorts" charset="0"/>
                <a:buNone/>
              </a:pPr>
              <a:r>
                <a:rPr lang="zh-CN" altLang="en-US" sz="2000">
                  <a:solidFill>
                    <a:schemeClr val="bg1"/>
                  </a:solidFill>
                  <a:latin typeface="黑体" panose="02010609060101010101" pitchFamily="49" charset="-122"/>
                  <a:ea typeface="黑体" panose="02010609060101010101" pitchFamily="49" charset="-122"/>
                </a:rPr>
                <a:t>控制图法 </a:t>
              </a:r>
            </a:p>
            <a:p>
              <a:pPr eaLnBrk="1" hangingPunct="1">
                <a:spcBef>
                  <a:spcPct val="20000"/>
                </a:spcBef>
                <a:buClr>
                  <a:srgbClr val="FF0000"/>
                </a:buClr>
                <a:buSzPct val="55000"/>
                <a:buFont typeface="Monotype Sorts" charset="0"/>
                <a:buNone/>
              </a:pPr>
              <a:r>
                <a:rPr lang="zh-CN" altLang="en-US" sz="2000">
                  <a:solidFill>
                    <a:schemeClr val="bg1"/>
                  </a:solidFill>
                  <a:latin typeface="黑体" panose="02010609060101010101" pitchFamily="49" charset="-122"/>
                  <a:ea typeface="黑体" panose="02010609060101010101" pitchFamily="49" charset="-122"/>
                </a:rPr>
                <a:t>趋势分析法</a:t>
              </a:r>
            </a:p>
          </p:txBody>
        </p:sp>
        <p:sp>
          <p:nvSpPr>
            <p:cNvPr id="66566" name="Text Box 9">
              <a:extLst>
                <a:ext uri="{FF2B5EF4-FFF2-40B4-BE49-F238E27FC236}">
                  <a16:creationId xmlns:a16="http://schemas.microsoft.com/office/drawing/2014/main" id="{E46E7C9C-27E2-6950-CEEE-E52A37BB9F62}"/>
                </a:ext>
              </a:extLst>
            </p:cNvPr>
            <p:cNvSpPr txBox="1">
              <a:spLocks noChangeArrowheads="1"/>
            </p:cNvSpPr>
            <p:nvPr/>
          </p:nvSpPr>
          <p:spPr bwMode="auto">
            <a:xfrm>
              <a:off x="748" y="2670"/>
              <a:ext cx="1140" cy="842"/>
            </a:xfrm>
            <a:prstGeom prst="rect">
              <a:avLst/>
            </a:prstGeom>
            <a:solidFill>
              <a:srgbClr val="CC6600"/>
            </a:solidFill>
            <a:ln w="25400">
              <a:solidFill>
                <a:schemeClr val="tx1"/>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bg1"/>
                  </a:solidFill>
                  <a:latin typeface="黑体" panose="02010609060101010101" pitchFamily="49" charset="-122"/>
                  <a:ea typeface="黑体" panose="02010609060101010101" pitchFamily="49" charset="-122"/>
                </a:rPr>
                <a:t>输入：</a:t>
              </a:r>
            </a:p>
            <a:p>
              <a:pPr eaLnBrk="1" hangingPunct="1">
                <a:spcBef>
                  <a:spcPct val="50000"/>
                </a:spcBef>
                <a:buClrTx/>
                <a:buFontTx/>
                <a:buNone/>
              </a:pPr>
              <a:r>
                <a:rPr lang="zh-CN" altLang="en-US" sz="2000">
                  <a:solidFill>
                    <a:schemeClr val="bg1"/>
                  </a:solidFill>
                  <a:latin typeface="黑体" panose="02010609060101010101" pitchFamily="49" charset="-122"/>
                  <a:ea typeface="黑体" panose="02010609060101010101" pitchFamily="49" charset="-122"/>
                </a:rPr>
                <a:t>质量计划标准</a:t>
              </a:r>
            </a:p>
            <a:p>
              <a:pPr eaLnBrk="1" hangingPunct="1">
                <a:spcBef>
                  <a:spcPct val="50000"/>
                </a:spcBef>
                <a:buClrTx/>
                <a:buFontTx/>
                <a:buNone/>
              </a:pPr>
              <a:r>
                <a:rPr lang="zh-CN" altLang="en-US" sz="2000">
                  <a:solidFill>
                    <a:schemeClr val="bg1"/>
                  </a:solidFill>
                  <a:latin typeface="黑体" panose="02010609060101010101" pitchFamily="49" charset="-122"/>
                  <a:ea typeface="黑体" panose="02010609060101010101" pitchFamily="49" charset="-122"/>
                </a:rPr>
                <a:t>软件产品</a:t>
              </a:r>
            </a:p>
          </p:txBody>
        </p:sp>
        <p:sp>
          <p:nvSpPr>
            <p:cNvPr id="66567" name="Text Box 10">
              <a:extLst>
                <a:ext uri="{FF2B5EF4-FFF2-40B4-BE49-F238E27FC236}">
                  <a16:creationId xmlns:a16="http://schemas.microsoft.com/office/drawing/2014/main" id="{2B5F8244-7CFD-B022-2F5B-5B8948C05FF1}"/>
                </a:ext>
              </a:extLst>
            </p:cNvPr>
            <p:cNvSpPr txBox="1">
              <a:spLocks noChangeArrowheads="1"/>
            </p:cNvSpPr>
            <p:nvPr/>
          </p:nvSpPr>
          <p:spPr bwMode="auto">
            <a:xfrm>
              <a:off x="4522" y="2679"/>
              <a:ext cx="1125" cy="842"/>
            </a:xfrm>
            <a:prstGeom prst="rect">
              <a:avLst/>
            </a:prstGeom>
            <a:solidFill>
              <a:srgbClr val="CC6600"/>
            </a:solidFill>
            <a:ln w="25400">
              <a:solidFill>
                <a:schemeClr val="tx1"/>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solidFill>
                    <a:schemeClr val="bg1"/>
                  </a:solidFill>
                  <a:latin typeface="黑体" panose="02010609060101010101" pitchFamily="49" charset="-122"/>
                  <a:ea typeface="黑体" panose="02010609060101010101" pitchFamily="49" charset="-122"/>
                </a:rPr>
                <a:t>输出：</a:t>
              </a:r>
            </a:p>
            <a:p>
              <a:pPr eaLnBrk="1" hangingPunct="1">
                <a:spcBef>
                  <a:spcPct val="50000"/>
                </a:spcBef>
                <a:buClrTx/>
                <a:buFontTx/>
                <a:buNone/>
              </a:pPr>
              <a:r>
                <a:rPr lang="zh-CN" altLang="en-US" sz="2000">
                  <a:solidFill>
                    <a:schemeClr val="bg1"/>
                  </a:solidFill>
                  <a:latin typeface="黑体" panose="02010609060101010101" pitchFamily="49" charset="-122"/>
                  <a:ea typeface="黑体" panose="02010609060101010101" pitchFamily="49" charset="-122"/>
                </a:rPr>
                <a:t>产品接收与否</a:t>
              </a:r>
            </a:p>
            <a:p>
              <a:pPr eaLnBrk="1" hangingPunct="1">
                <a:spcBef>
                  <a:spcPct val="50000"/>
                </a:spcBef>
                <a:buClrTx/>
                <a:buFontTx/>
                <a:buNone/>
              </a:pPr>
              <a:r>
                <a:rPr lang="zh-CN" altLang="en-US" sz="2000">
                  <a:solidFill>
                    <a:schemeClr val="bg1"/>
                  </a:solidFill>
                  <a:latin typeface="黑体" panose="02010609060101010101" pitchFamily="49" charset="-122"/>
                  <a:ea typeface="黑体" panose="02010609060101010101" pitchFamily="49" charset="-122"/>
                </a:rPr>
                <a:t>过程调整</a:t>
              </a:r>
            </a:p>
          </p:txBody>
        </p:sp>
        <p:sp>
          <p:nvSpPr>
            <p:cNvPr id="66568" name="Line 11">
              <a:extLst>
                <a:ext uri="{FF2B5EF4-FFF2-40B4-BE49-F238E27FC236}">
                  <a16:creationId xmlns:a16="http://schemas.microsoft.com/office/drawing/2014/main" id="{D1083321-2FF1-C16C-958A-A0BAE8B684BC}"/>
                </a:ext>
              </a:extLst>
            </p:cNvPr>
            <p:cNvSpPr>
              <a:spLocks noChangeShapeType="1"/>
            </p:cNvSpPr>
            <p:nvPr/>
          </p:nvSpPr>
          <p:spPr bwMode="auto">
            <a:xfrm>
              <a:off x="1888" y="3131"/>
              <a:ext cx="376"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66569" name="Line 12">
              <a:extLst>
                <a:ext uri="{FF2B5EF4-FFF2-40B4-BE49-F238E27FC236}">
                  <a16:creationId xmlns:a16="http://schemas.microsoft.com/office/drawing/2014/main" id="{BB93D70F-075E-678B-4A4F-CC32E1D85F34}"/>
                </a:ext>
              </a:extLst>
            </p:cNvPr>
            <p:cNvSpPr>
              <a:spLocks noChangeShapeType="1"/>
            </p:cNvSpPr>
            <p:nvPr/>
          </p:nvSpPr>
          <p:spPr bwMode="auto">
            <a:xfrm>
              <a:off x="4188" y="3131"/>
              <a:ext cx="376"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BFD184B2-7349-05E8-3237-91CCA4EB58C7}"/>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68611" name="Rectangle 3">
            <a:extLst>
              <a:ext uri="{FF2B5EF4-FFF2-40B4-BE49-F238E27FC236}">
                <a16:creationId xmlns:a16="http://schemas.microsoft.com/office/drawing/2014/main" id="{11A2005A-D30E-2D2E-F01C-0700967040F0}"/>
              </a:ext>
            </a:extLst>
          </p:cNvPr>
          <p:cNvSpPr>
            <a:spLocks noGrp="1" noChangeArrowheads="1"/>
          </p:cNvSpPr>
          <p:nvPr>
            <p:ph type="body" sz="half" idx="1"/>
          </p:nvPr>
        </p:nvSpPr>
        <p:spPr>
          <a:xfrm>
            <a:off x="250825" y="1989138"/>
            <a:ext cx="8893175" cy="4868862"/>
          </a:xfrm>
        </p:spPr>
        <p:txBody>
          <a:bodyPr/>
          <a:lstStyle/>
          <a:p>
            <a:pPr eaLnBrk="1" hangingPunct="1">
              <a:lnSpc>
                <a:spcPct val="130000"/>
              </a:lnSpc>
              <a:spcBef>
                <a:spcPct val="50000"/>
              </a:spcBef>
            </a:pPr>
            <a:r>
              <a:rPr lang="zh-CN" altLang="en-US" sz="2000" dirty="0">
                <a:solidFill>
                  <a:schemeClr val="accent2"/>
                </a:solidFill>
                <a:ea typeface="黑体" panose="02010609060101010101" pitchFamily="49" charset="-122"/>
              </a:rPr>
              <a:t>项目质量跟踪控制</a:t>
            </a:r>
            <a:r>
              <a:rPr lang="zh-CN" altLang="en-US" sz="2000" dirty="0"/>
              <a:t> </a:t>
            </a:r>
            <a:endParaRPr lang="en-US" altLang="zh-CN" sz="1800" dirty="0"/>
          </a:p>
          <a:p>
            <a:pPr lvl="1" eaLnBrk="1" hangingPunct="1">
              <a:lnSpc>
                <a:spcPct val="130000"/>
              </a:lnSpc>
              <a:spcBef>
                <a:spcPct val="50000"/>
              </a:spcBef>
            </a:pPr>
            <a:r>
              <a:rPr lang="zh-CN" altLang="en-US" sz="1800" dirty="0"/>
              <a:t>软件质量度量主要有两类：</a:t>
            </a:r>
            <a:endParaRPr lang="en-US" altLang="zh-CN" sz="1800" dirty="0"/>
          </a:p>
          <a:p>
            <a:pPr lvl="2" eaLnBrk="1" hangingPunct="1">
              <a:lnSpc>
                <a:spcPct val="130000"/>
              </a:lnSpc>
              <a:spcBef>
                <a:spcPct val="50000"/>
              </a:spcBef>
            </a:pPr>
            <a:r>
              <a:rPr lang="zh-CN" altLang="en-US" sz="1600" dirty="0">
                <a:solidFill>
                  <a:srgbClr val="FF0000"/>
                </a:solidFill>
              </a:rPr>
              <a:t>预测型度量：</a:t>
            </a:r>
            <a:r>
              <a:rPr lang="zh-CN" altLang="en-US" sz="1600" dirty="0"/>
              <a:t>利用定量或者定性的方法，对软件质量的评价值进行估计，以便得到软件质量的比较精确的估算值，它是运用在软件开发过程中的。</a:t>
            </a:r>
            <a:endParaRPr lang="en-US" altLang="zh-CN" sz="1600" dirty="0"/>
          </a:p>
          <a:p>
            <a:pPr lvl="2" eaLnBrk="1" hangingPunct="1">
              <a:lnSpc>
                <a:spcPct val="130000"/>
              </a:lnSpc>
              <a:spcBef>
                <a:spcPct val="50000"/>
              </a:spcBef>
            </a:pPr>
            <a:r>
              <a:rPr lang="zh-CN" altLang="en-US" sz="1600" dirty="0">
                <a:solidFill>
                  <a:srgbClr val="FF0000"/>
                </a:solidFill>
              </a:rPr>
              <a:t>验收型度量：</a:t>
            </a:r>
            <a:r>
              <a:rPr lang="zh-CN" altLang="en-US" sz="1600" dirty="0"/>
              <a:t>是在软件开发各个阶段的检查点，对软件的要求质量进行确认性检查的具体评价。</a:t>
            </a:r>
            <a:endParaRPr lang="en-US" altLang="zh-CN" sz="1600" dirty="0"/>
          </a:p>
          <a:p>
            <a:pPr lvl="1" eaLnBrk="1" hangingPunct="1">
              <a:lnSpc>
                <a:spcPct val="130000"/>
              </a:lnSpc>
              <a:spcBef>
                <a:spcPct val="50000"/>
              </a:spcBef>
            </a:pPr>
            <a:r>
              <a:rPr lang="zh-CN" altLang="en-US" sz="1800" dirty="0"/>
              <a:t>质量度量方法：</a:t>
            </a:r>
            <a:endParaRPr lang="en-US" altLang="zh-CN" sz="1800" dirty="0"/>
          </a:p>
          <a:p>
            <a:pPr lvl="2" eaLnBrk="1" hangingPunct="1">
              <a:lnSpc>
                <a:spcPct val="130000"/>
              </a:lnSpc>
              <a:spcBef>
                <a:spcPct val="50000"/>
              </a:spcBef>
            </a:pPr>
            <a:r>
              <a:rPr lang="zh-CN" altLang="en-US" sz="1600" dirty="0">
                <a:solidFill>
                  <a:srgbClr val="FF0000"/>
                </a:solidFill>
              </a:rPr>
              <a:t>尺度度量：</a:t>
            </a:r>
            <a:r>
              <a:rPr lang="zh-CN" altLang="en-US" sz="1600" dirty="0"/>
              <a:t>一种定量度量，适应一些可以直接度量的特性（例如缺陷率等）</a:t>
            </a:r>
            <a:endParaRPr lang="en-US" altLang="zh-CN" sz="1600" dirty="0"/>
          </a:p>
          <a:p>
            <a:pPr lvl="2" eaLnBrk="1" hangingPunct="1">
              <a:lnSpc>
                <a:spcPct val="130000"/>
              </a:lnSpc>
              <a:spcBef>
                <a:spcPct val="50000"/>
              </a:spcBef>
            </a:pPr>
            <a:r>
              <a:rPr lang="zh-CN" altLang="en-US" sz="1600" dirty="0">
                <a:solidFill>
                  <a:srgbClr val="FF0000"/>
                </a:solidFill>
              </a:rPr>
              <a:t>二元度量</a:t>
            </a:r>
            <a:r>
              <a:rPr lang="zh-CN" altLang="en-US" sz="1600" dirty="0"/>
              <a:t>：一种定性度量，适应能间接度量的质量特性（例如使用性、灵活性等），一般可以制定检查表来实现质量度量。</a:t>
            </a:r>
            <a:endParaRPr lang="en-US" altLang="zh-CN" sz="1600" dirty="0"/>
          </a:p>
          <a:p>
            <a:pPr lvl="1" eaLnBrk="1" hangingPunct="1">
              <a:lnSpc>
                <a:spcPct val="130000"/>
              </a:lnSpc>
              <a:spcBef>
                <a:spcPct val="50000"/>
              </a:spcBef>
            </a:pPr>
            <a:r>
              <a:rPr lang="zh-CN" altLang="en-US" sz="1600" dirty="0"/>
              <a:t>目前还不能精确地做到定量评价软件的质量，一般可以采取若干位软件专家进行打分来评价。</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BE4F8E66-A199-F217-856B-374CE33C0D7F}"/>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70659" name="Rectangle 3">
            <a:extLst>
              <a:ext uri="{FF2B5EF4-FFF2-40B4-BE49-F238E27FC236}">
                <a16:creationId xmlns:a16="http://schemas.microsoft.com/office/drawing/2014/main" id="{614724BB-3329-14B8-23F7-4E21A141F7BE}"/>
              </a:ext>
            </a:extLst>
          </p:cNvPr>
          <p:cNvSpPr>
            <a:spLocks noGrp="1" noChangeArrowheads="1"/>
          </p:cNvSpPr>
          <p:nvPr>
            <p:ph type="body" sz="half" idx="1"/>
          </p:nvPr>
        </p:nvSpPr>
        <p:spPr>
          <a:xfrm>
            <a:off x="250825" y="1989138"/>
            <a:ext cx="8893175" cy="4868862"/>
          </a:xfrm>
        </p:spPr>
        <p:txBody>
          <a:bodyPr/>
          <a:lstStyle/>
          <a:p>
            <a:pPr eaLnBrk="1" hangingPunct="1">
              <a:lnSpc>
                <a:spcPct val="130000"/>
              </a:lnSpc>
              <a:spcBef>
                <a:spcPct val="50000"/>
              </a:spcBef>
            </a:pPr>
            <a:r>
              <a:rPr lang="zh-CN" altLang="en-US" sz="2000">
                <a:solidFill>
                  <a:schemeClr val="accent2"/>
                </a:solidFill>
                <a:ea typeface="黑体" panose="02010609060101010101" pitchFamily="49" charset="-122"/>
              </a:rPr>
              <a:t>项目质量跟踪控制</a:t>
            </a:r>
            <a:r>
              <a:rPr lang="zh-CN" altLang="en-US" sz="2000"/>
              <a:t> </a:t>
            </a:r>
            <a:endParaRPr lang="en-US" altLang="zh-CN" sz="1800"/>
          </a:p>
          <a:p>
            <a:pPr lvl="1" eaLnBrk="1" hangingPunct="1">
              <a:lnSpc>
                <a:spcPct val="130000"/>
              </a:lnSpc>
              <a:spcBef>
                <a:spcPct val="50000"/>
              </a:spcBef>
            </a:pPr>
            <a:r>
              <a:rPr lang="zh-CN" altLang="en-US" sz="1600"/>
              <a:t>如果某个质量特性不符合规定的标准，就应当分析这个质量特性，找出原因。</a:t>
            </a:r>
            <a:endParaRPr lang="en-US" altLang="zh-CN" sz="1600"/>
          </a:p>
          <a:p>
            <a:pPr lvl="1" eaLnBrk="1" hangingPunct="1">
              <a:lnSpc>
                <a:spcPct val="130000"/>
              </a:lnSpc>
              <a:spcBef>
                <a:spcPct val="50000"/>
              </a:spcBef>
            </a:pPr>
            <a:r>
              <a:rPr lang="zh-CN" altLang="en-US" sz="1600">
                <a:solidFill>
                  <a:srgbClr val="FF0000"/>
                </a:solidFill>
              </a:rPr>
              <a:t>控制图法</a:t>
            </a:r>
            <a:r>
              <a:rPr lang="zh-CN" altLang="en-US" sz="1600"/>
              <a:t>是一种图形的控制方法，它显示软件产品的质量随着时间变化的情况，在控制图法中标识出质量控制的偏差标准。</a:t>
            </a:r>
            <a:endParaRPr lang="en-US" altLang="zh-CN" sz="1600"/>
          </a:p>
          <a:p>
            <a:pPr lvl="1" eaLnBrk="1" hangingPunct="1">
              <a:lnSpc>
                <a:spcPct val="130000"/>
              </a:lnSpc>
              <a:spcBef>
                <a:spcPct val="50000"/>
              </a:spcBef>
            </a:pPr>
            <a:r>
              <a:rPr lang="zh-CN" altLang="en-US" sz="1600">
                <a:solidFill>
                  <a:srgbClr val="FF0000"/>
                </a:solidFill>
              </a:rPr>
              <a:t>趋势分析法</a:t>
            </a:r>
            <a:r>
              <a:rPr lang="zh-CN" altLang="en-US" sz="1600"/>
              <a:t>是指运用数字技巧，依据过去的成果预测将来的产品。趋势分析常用来监测：技术上的绩效</a:t>
            </a:r>
            <a:r>
              <a:rPr lang="en-US" altLang="zh-CN" sz="1600"/>
              <a:t>——</a:t>
            </a:r>
            <a:r>
              <a:rPr lang="zh-CN" altLang="en-US" sz="1600"/>
              <a:t>有多少错误和缺陷已被指出以及有多少错误和缺陷仍未被纠正；成本和进度绩效</a:t>
            </a:r>
            <a:r>
              <a:rPr lang="en-US" altLang="zh-CN" sz="1600"/>
              <a:t>——</a:t>
            </a:r>
            <a:r>
              <a:rPr lang="zh-CN" altLang="en-US" sz="1600"/>
              <a:t>每个阶段完成活动的数量有明显的变动。</a:t>
            </a:r>
            <a:endParaRPr lang="en-US" altLang="zh-CN" sz="1600"/>
          </a:p>
          <a:p>
            <a:pPr lvl="1" eaLnBrk="1" hangingPunct="1">
              <a:lnSpc>
                <a:spcPct val="130000"/>
              </a:lnSpc>
              <a:spcBef>
                <a:spcPct val="50000"/>
              </a:spcBef>
            </a:pPr>
            <a:r>
              <a:rPr lang="en-US" altLang="zh-CN" sz="1600"/>
              <a:t>Pareto</a:t>
            </a:r>
            <a:r>
              <a:rPr lang="zh-CN" altLang="en-US" sz="1600"/>
              <a:t>图分析就是一种趋势分析方法，它是源自于</a:t>
            </a:r>
            <a:r>
              <a:rPr lang="en-US" altLang="zh-CN" sz="1600"/>
              <a:t>Pareto</a:t>
            </a:r>
            <a:r>
              <a:rPr lang="zh-CN" altLang="en-US" sz="1600"/>
              <a:t>规则。</a:t>
            </a:r>
            <a:r>
              <a:rPr lang="en-US" altLang="zh-CN" sz="1600"/>
              <a:t>Pareto</a:t>
            </a:r>
            <a:r>
              <a:rPr lang="zh-CN" altLang="en-US" sz="1600"/>
              <a:t>规则是一个很常用的项目管理法则；</a:t>
            </a:r>
            <a:r>
              <a:rPr lang="en-US" altLang="zh-CN" sz="1600"/>
              <a:t>80%</a:t>
            </a:r>
            <a:r>
              <a:rPr lang="zh-CN" altLang="en-US" sz="1600"/>
              <a:t>的问题是由</a:t>
            </a:r>
            <a:r>
              <a:rPr lang="en-US" altLang="zh-CN" sz="1600"/>
              <a:t>20%</a:t>
            </a:r>
            <a:r>
              <a:rPr lang="zh-CN" altLang="en-US" sz="1600"/>
              <a:t>的原因引起的（即</a:t>
            </a:r>
            <a:r>
              <a:rPr lang="en-US" altLang="zh-CN" sz="1600"/>
              <a:t>80%</a:t>
            </a:r>
            <a:r>
              <a:rPr lang="zh-CN" altLang="en-US" sz="1600"/>
              <a:t>的财富掌握在</a:t>
            </a:r>
            <a:r>
              <a:rPr lang="en-US" altLang="zh-CN" sz="1600"/>
              <a:t>20%</a:t>
            </a:r>
            <a:r>
              <a:rPr lang="zh-CN" altLang="en-US" sz="1600"/>
              <a:t>人的手里）</a:t>
            </a:r>
            <a:endParaRPr lang="en-US" altLang="zh-CN" sz="1600"/>
          </a:p>
          <a:p>
            <a:pPr lvl="1" eaLnBrk="1" hangingPunct="1">
              <a:lnSpc>
                <a:spcPct val="130000"/>
              </a:lnSpc>
              <a:spcBef>
                <a:spcPct val="50000"/>
              </a:spcBef>
            </a:pPr>
            <a:endParaRPr lang="zh-CN" altLang="en-US" sz="16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BE4F8E66-A199-F217-856B-374CE33C0D7F}"/>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70659" name="Rectangle 3">
            <a:extLst>
              <a:ext uri="{FF2B5EF4-FFF2-40B4-BE49-F238E27FC236}">
                <a16:creationId xmlns:a16="http://schemas.microsoft.com/office/drawing/2014/main" id="{614724BB-3329-14B8-23F7-4E21A141F7BE}"/>
              </a:ext>
            </a:extLst>
          </p:cNvPr>
          <p:cNvSpPr>
            <a:spLocks noGrp="1" noChangeArrowheads="1"/>
          </p:cNvSpPr>
          <p:nvPr>
            <p:ph type="body" sz="half" idx="1"/>
          </p:nvPr>
        </p:nvSpPr>
        <p:spPr>
          <a:xfrm>
            <a:off x="250825" y="1989138"/>
            <a:ext cx="8893175" cy="4868862"/>
          </a:xfrm>
        </p:spPr>
        <p:txBody>
          <a:bodyPr/>
          <a:lstStyle/>
          <a:p>
            <a:pPr eaLnBrk="1" hangingPunct="1">
              <a:lnSpc>
                <a:spcPct val="130000"/>
              </a:lnSpc>
              <a:spcBef>
                <a:spcPct val="50000"/>
              </a:spcBef>
            </a:pPr>
            <a:r>
              <a:rPr lang="zh-CN" altLang="en-US" sz="2000" dirty="0">
                <a:solidFill>
                  <a:schemeClr val="accent2"/>
                </a:solidFill>
                <a:ea typeface="黑体" panose="02010609060101010101" pitchFamily="49" charset="-122"/>
              </a:rPr>
              <a:t>项目质量跟踪控制</a:t>
            </a:r>
            <a:r>
              <a:rPr lang="zh-CN" altLang="en-US" sz="2000" dirty="0"/>
              <a:t> </a:t>
            </a:r>
            <a:endParaRPr lang="en-US" altLang="zh-CN" sz="1800" dirty="0"/>
          </a:p>
          <a:p>
            <a:pPr lvl="1" eaLnBrk="1" hangingPunct="1">
              <a:lnSpc>
                <a:spcPct val="130000"/>
              </a:lnSpc>
              <a:spcBef>
                <a:spcPct val="50000"/>
              </a:spcBef>
            </a:pPr>
            <a:r>
              <a:rPr lang="zh-CN" altLang="en-US" sz="1600" dirty="0"/>
              <a:t>控制图</a:t>
            </a:r>
          </a:p>
        </p:txBody>
      </p:sp>
      <p:pic>
        <p:nvPicPr>
          <p:cNvPr id="2" name="图片 1">
            <a:extLst>
              <a:ext uri="{FF2B5EF4-FFF2-40B4-BE49-F238E27FC236}">
                <a16:creationId xmlns:a16="http://schemas.microsoft.com/office/drawing/2014/main" id="{CC8FD191-A698-48F6-E0EF-5BB99208EE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852936"/>
            <a:ext cx="5400675"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6461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A4651B2A-5CC0-F718-C32B-542B4496BEAA}"/>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72707" name="Rectangle 3">
            <a:extLst>
              <a:ext uri="{FF2B5EF4-FFF2-40B4-BE49-F238E27FC236}">
                <a16:creationId xmlns:a16="http://schemas.microsoft.com/office/drawing/2014/main" id="{F1101EBE-60C5-3DFD-5E20-A5E02554F8AD}"/>
              </a:ext>
            </a:extLst>
          </p:cNvPr>
          <p:cNvSpPr>
            <a:spLocks noGrp="1" noChangeArrowheads="1"/>
          </p:cNvSpPr>
          <p:nvPr>
            <p:ph type="body" sz="half" idx="1"/>
          </p:nvPr>
        </p:nvSpPr>
        <p:spPr>
          <a:xfrm>
            <a:off x="539750" y="1916113"/>
            <a:ext cx="8604250" cy="4941887"/>
          </a:xfrm>
        </p:spPr>
        <p:txBody>
          <a:bodyPr/>
          <a:lstStyle/>
          <a:p>
            <a:pPr eaLnBrk="1" hangingPunct="1">
              <a:lnSpc>
                <a:spcPct val="110000"/>
              </a:lnSpc>
              <a:spcBef>
                <a:spcPct val="20000"/>
              </a:spcBef>
            </a:pPr>
            <a:r>
              <a:rPr lang="zh-CN" altLang="en-US" sz="2400" dirty="0">
                <a:solidFill>
                  <a:schemeClr val="accent2"/>
                </a:solidFill>
                <a:ea typeface="黑体" panose="02010609060101010101" pitchFamily="49" charset="-122"/>
              </a:rPr>
              <a:t>项目风险的跟踪控制</a:t>
            </a:r>
            <a:r>
              <a:rPr lang="zh-CN" altLang="en-US" sz="2400" dirty="0"/>
              <a:t> </a:t>
            </a:r>
          </a:p>
          <a:p>
            <a:pPr lvl="1" eaLnBrk="1" hangingPunct="1">
              <a:lnSpc>
                <a:spcPct val="110000"/>
              </a:lnSpc>
            </a:pPr>
            <a:r>
              <a:rPr lang="zh-CN" altLang="en-US" sz="2000" dirty="0">
                <a:latin typeface="宋体" panose="02010600030101010101" pitchFamily="2" charset="-122"/>
              </a:rPr>
              <a:t>在项目实施过程中，项目经理应该定期回顾和维护项目风险计划，及时更新风险清单，对风险进行重新排序，并更新风险的解决情况。</a:t>
            </a:r>
            <a:endParaRPr lang="en-US" altLang="zh-CN" sz="2000" dirty="0">
              <a:latin typeface="宋体" panose="02010600030101010101" pitchFamily="2" charset="-122"/>
            </a:endParaRPr>
          </a:p>
          <a:p>
            <a:pPr lvl="1" eaLnBrk="1" hangingPunct="1">
              <a:lnSpc>
                <a:spcPct val="110000"/>
              </a:lnSpc>
            </a:pPr>
            <a:r>
              <a:rPr lang="zh-CN" altLang="en-US" sz="2000" dirty="0">
                <a:solidFill>
                  <a:srgbClr val="FF0000"/>
                </a:solidFill>
                <a:latin typeface="宋体" panose="02010600030101010101" pitchFamily="2" charset="-122"/>
              </a:rPr>
              <a:t>风险跟踪控制</a:t>
            </a:r>
            <a:r>
              <a:rPr lang="zh-CN" altLang="en-US" sz="2000" dirty="0">
                <a:latin typeface="宋体" panose="02010600030101010101" pitchFamily="2" charset="-122"/>
              </a:rPr>
              <a:t>：</a:t>
            </a:r>
            <a:endParaRPr lang="en-US" altLang="zh-CN" sz="2000" dirty="0">
              <a:latin typeface="宋体" panose="02010600030101010101" pitchFamily="2" charset="-122"/>
            </a:endParaRPr>
          </a:p>
          <a:p>
            <a:pPr lvl="2" eaLnBrk="1" hangingPunct="1">
              <a:lnSpc>
                <a:spcPct val="110000"/>
              </a:lnSpc>
            </a:pPr>
            <a:r>
              <a:rPr lang="zh-CN" altLang="en-US" sz="1600" dirty="0">
                <a:solidFill>
                  <a:srgbClr val="FF0000"/>
                </a:solidFill>
                <a:latin typeface="宋体" panose="02010600030101010101" pitchFamily="2" charset="-122"/>
              </a:rPr>
              <a:t>实施和跟踪风险管理计划</a:t>
            </a:r>
          </a:p>
          <a:p>
            <a:pPr lvl="2" eaLnBrk="1" hangingPunct="1">
              <a:lnSpc>
                <a:spcPct val="110000"/>
              </a:lnSpc>
            </a:pPr>
            <a:r>
              <a:rPr lang="zh-CN" altLang="en-US" sz="1600" dirty="0">
                <a:solidFill>
                  <a:srgbClr val="FF0000"/>
                </a:solidFill>
                <a:latin typeface="宋体" panose="02010600030101010101" pitchFamily="2" charset="-122"/>
              </a:rPr>
              <a:t>确保针对风险策略正在合理使用</a:t>
            </a:r>
          </a:p>
          <a:p>
            <a:pPr lvl="2" eaLnBrk="1" hangingPunct="1">
              <a:lnSpc>
                <a:spcPct val="110000"/>
              </a:lnSpc>
            </a:pPr>
            <a:r>
              <a:rPr lang="zh-CN" altLang="en-US" sz="1600" dirty="0">
                <a:solidFill>
                  <a:srgbClr val="FF0000"/>
                </a:solidFill>
                <a:latin typeface="宋体" panose="02010600030101010101" pitchFamily="2" charset="-122"/>
              </a:rPr>
              <a:t>监视剩余的风险和识别新的风险</a:t>
            </a:r>
          </a:p>
          <a:p>
            <a:pPr lvl="2" eaLnBrk="1" hangingPunct="1">
              <a:lnSpc>
                <a:spcPct val="110000"/>
              </a:lnSpc>
            </a:pPr>
            <a:r>
              <a:rPr lang="zh-CN" altLang="en-US" sz="1600" dirty="0">
                <a:solidFill>
                  <a:srgbClr val="FF0000"/>
                </a:solidFill>
                <a:latin typeface="宋体" panose="02010600030101010101" pitchFamily="2" charset="-122"/>
              </a:rPr>
              <a:t>收集可用于将来的风险分析信息</a:t>
            </a:r>
            <a:endParaRPr lang="en-US" altLang="zh-CN" sz="1600" dirty="0">
              <a:solidFill>
                <a:srgbClr val="FF0000"/>
              </a:solidFill>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风险跟踪控制是贯穿项目始终的，当</a:t>
            </a:r>
            <a:r>
              <a:rPr lang="zh-CN" altLang="en-US" sz="2000" dirty="0">
                <a:solidFill>
                  <a:srgbClr val="FF0000"/>
                </a:solidFill>
                <a:latin typeface="宋体" panose="02010600030101010101" pitchFamily="2" charset="-122"/>
              </a:rPr>
              <a:t>变更</a:t>
            </a:r>
            <a:r>
              <a:rPr lang="zh-CN" altLang="en-US" sz="2000" dirty="0">
                <a:latin typeface="宋体" panose="02010600030101010101" pitchFamily="2" charset="-122"/>
              </a:rPr>
              <a:t>发生时，需要</a:t>
            </a:r>
            <a:r>
              <a:rPr lang="zh-CN" altLang="en-US" sz="2000" dirty="0">
                <a:solidFill>
                  <a:srgbClr val="FF0000"/>
                </a:solidFill>
                <a:latin typeface="宋体" panose="02010600030101010101" pitchFamily="2" charset="-122"/>
              </a:rPr>
              <a:t>重复进行</a:t>
            </a:r>
            <a:r>
              <a:rPr lang="zh-CN" altLang="en-US" sz="2000" dirty="0">
                <a:latin typeface="宋体" panose="02010600030101010101" pitchFamily="2" charset="-122"/>
              </a:rPr>
              <a:t>风险识别、风险评估以及风险对策以研究出一整套基本措施。</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就算是最彻底和最复杂的分析也不可能准确识别所有风险及其发生概率，理解这一点是很重要的。</a:t>
            </a:r>
            <a:endParaRPr lang="en-US" altLang="zh-CN" sz="2000" dirty="0">
              <a:latin typeface="宋体" panose="02010600030101010101" pitchFamily="2" charset="-122"/>
            </a:endParaRPr>
          </a:p>
          <a:p>
            <a:pPr lvl="1" eaLnBrk="1" hangingPunct="1">
              <a:lnSpc>
                <a:spcPct val="110000"/>
              </a:lnSpc>
            </a:pPr>
            <a:r>
              <a:rPr lang="zh-CN" altLang="en-US" sz="2000" dirty="0">
                <a:latin typeface="宋体" panose="02010600030101010101" pitchFamily="2" charset="-122"/>
              </a:rPr>
              <a:t>因此，</a:t>
            </a:r>
            <a:r>
              <a:rPr lang="zh-CN" altLang="en-US" sz="2000" dirty="0">
                <a:solidFill>
                  <a:srgbClr val="FF0000"/>
                </a:solidFill>
                <a:latin typeface="宋体" panose="02010600030101010101" pitchFamily="2" charset="-122"/>
              </a:rPr>
              <a:t>控制和重复</a:t>
            </a:r>
            <a:r>
              <a:rPr lang="zh-CN" altLang="en-US" sz="2000" dirty="0">
                <a:latin typeface="宋体" panose="02010600030101010101" pitchFamily="2" charset="-122"/>
              </a:rPr>
              <a:t>是必要的。</a:t>
            </a:r>
          </a:p>
          <a:p>
            <a:pPr lvl="2" eaLnBrk="1" hangingPunct="1">
              <a:lnSpc>
                <a:spcPct val="110000"/>
              </a:lnSpc>
            </a:pPr>
            <a:endParaRPr lang="zh-CN" altLang="en-US" sz="1600" dirty="0">
              <a:latin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3D10013-52F5-1A08-5560-D3DE5EC4AD76}"/>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74755" name="Rectangle 3">
            <a:extLst>
              <a:ext uri="{FF2B5EF4-FFF2-40B4-BE49-F238E27FC236}">
                <a16:creationId xmlns:a16="http://schemas.microsoft.com/office/drawing/2014/main" id="{69923392-5712-08A8-8AC9-5165B348403E}"/>
              </a:ext>
            </a:extLst>
          </p:cNvPr>
          <p:cNvSpPr>
            <a:spLocks noGrp="1" noChangeArrowheads="1"/>
          </p:cNvSpPr>
          <p:nvPr>
            <p:ph type="body" sz="half" idx="1"/>
          </p:nvPr>
        </p:nvSpPr>
        <p:spPr>
          <a:xfrm>
            <a:off x="539750" y="1916113"/>
            <a:ext cx="8604250" cy="4941887"/>
          </a:xfrm>
        </p:spPr>
        <p:txBody>
          <a:bodyPr/>
          <a:lstStyle/>
          <a:p>
            <a:pPr eaLnBrk="1" hangingPunct="1">
              <a:lnSpc>
                <a:spcPct val="110000"/>
              </a:lnSpc>
              <a:spcBef>
                <a:spcPct val="20000"/>
              </a:spcBef>
            </a:pPr>
            <a:r>
              <a:rPr lang="zh-CN" altLang="en-US" sz="2400">
                <a:solidFill>
                  <a:schemeClr val="accent2"/>
                </a:solidFill>
                <a:ea typeface="黑体" panose="02010609060101010101" pitchFamily="49" charset="-122"/>
              </a:rPr>
              <a:t>项目风险的跟踪控制</a:t>
            </a:r>
            <a:endParaRPr lang="en-US" altLang="zh-CN" sz="2400">
              <a:solidFill>
                <a:schemeClr val="accent2"/>
              </a:solidFill>
              <a:ea typeface="黑体" panose="02010609060101010101" pitchFamily="49" charset="-122"/>
            </a:endParaRPr>
          </a:p>
          <a:p>
            <a:pPr lvl="1" eaLnBrk="1" hangingPunct="1">
              <a:lnSpc>
                <a:spcPct val="110000"/>
              </a:lnSpc>
            </a:pPr>
            <a:r>
              <a:rPr lang="zh-CN" altLang="en-US" sz="2000">
                <a:latin typeface="宋体" panose="02010600030101010101" pitchFamily="2" charset="-122"/>
              </a:rPr>
              <a:t>风险跟踪控制的过程：</a:t>
            </a:r>
            <a:endParaRPr lang="zh-CN" altLang="en-US" sz="2000"/>
          </a:p>
          <a:p>
            <a:pPr eaLnBrk="1" hangingPunct="1">
              <a:lnSpc>
                <a:spcPct val="110000"/>
              </a:lnSpc>
              <a:spcBef>
                <a:spcPct val="20000"/>
              </a:spcBef>
              <a:buFont typeface="Wingdings 2" panose="05020102010507070707" pitchFamily="18" charset="2"/>
              <a:buNone/>
            </a:pPr>
            <a:r>
              <a:rPr lang="zh-CN" altLang="en-US" sz="2000">
                <a:latin typeface="宋体" panose="02010600030101010101" pitchFamily="2" charset="-122"/>
              </a:rPr>
              <a:t> </a:t>
            </a:r>
          </a:p>
        </p:txBody>
      </p:sp>
      <p:grpSp>
        <p:nvGrpSpPr>
          <p:cNvPr id="74756" name="Group 14">
            <a:extLst>
              <a:ext uri="{FF2B5EF4-FFF2-40B4-BE49-F238E27FC236}">
                <a16:creationId xmlns:a16="http://schemas.microsoft.com/office/drawing/2014/main" id="{6B43728C-AE67-D203-E498-FF0752C8F8FC}"/>
              </a:ext>
            </a:extLst>
          </p:cNvPr>
          <p:cNvGrpSpPr>
            <a:grpSpLocks/>
          </p:cNvGrpSpPr>
          <p:nvPr/>
        </p:nvGrpSpPr>
        <p:grpSpPr bwMode="auto">
          <a:xfrm>
            <a:off x="954088" y="3381375"/>
            <a:ext cx="7775575" cy="2009775"/>
            <a:chOff x="336" y="2568"/>
            <a:chExt cx="5424" cy="1266"/>
          </a:xfrm>
        </p:grpSpPr>
        <p:sp>
          <p:nvSpPr>
            <p:cNvPr id="74757" name="Text Box 9">
              <a:extLst>
                <a:ext uri="{FF2B5EF4-FFF2-40B4-BE49-F238E27FC236}">
                  <a16:creationId xmlns:a16="http://schemas.microsoft.com/office/drawing/2014/main" id="{05087FA9-00AD-B76F-F735-483BBF3281EB}"/>
                </a:ext>
              </a:extLst>
            </p:cNvPr>
            <p:cNvSpPr txBox="1">
              <a:spLocks noChangeArrowheads="1"/>
            </p:cNvSpPr>
            <p:nvPr/>
          </p:nvSpPr>
          <p:spPr bwMode="auto">
            <a:xfrm>
              <a:off x="1896" y="2568"/>
              <a:ext cx="2256" cy="1266"/>
            </a:xfrm>
            <a:prstGeom prst="rect">
              <a:avLst/>
            </a:prstGeom>
            <a:solidFill>
              <a:srgbClr val="6699FF"/>
            </a:solidFill>
            <a:ln w="25400">
              <a:solidFill>
                <a:srgbClr val="FF9933"/>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ClrTx/>
                <a:buFontTx/>
                <a:buNone/>
              </a:pPr>
              <a:r>
                <a:rPr lang="zh-CN" altLang="en-US" sz="2000" b="0">
                  <a:solidFill>
                    <a:srgbClr val="FFFFCC"/>
                  </a:solidFill>
                  <a:latin typeface="Arial Narrow" panose="020B0606020202030204" pitchFamily="34" charset="0"/>
                  <a:ea typeface="黑体" panose="02010609060101010101" pitchFamily="49" charset="-122"/>
                </a:rPr>
                <a:t>方法：</a:t>
              </a:r>
            </a:p>
            <a:p>
              <a:pPr eaLnBrk="1" hangingPunct="1">
                <a:buClrTx/>
                <a:buFontTx/>
                <a:buNone/>
              </a:pPr>
              <a:r>
                <a:rPr lang="zh-CN" altLang="en-US" sz="2000" b="0">
                  <a:latin typeface="Arial Narrow" panose="020B0606020202030204" pitchFamily="34" charset="0"/>
                  <a:ea typeface="黑体" panose="02010609060101010101" pitchFamily="49" charset="-122"/>
                </a:rPr>
                <a:t>建立项目风险监控体系</a:t>
              </a:r>
            </a:p>
            <a:p>
              <a:pPr eaLnBrk="1" hangingPunct="1">
                <a:buClrTx/>
                <a:buFontTx/>
                <a:buNone/>
              </a:pPr>
              <a:r>
                <a:rPr lang="zh-CN" altLang="en-US" sz="2000" b="0">
                  <a:latin typeface="Arial Narrow" panose="020B0606020202030204" pitchFamily="34" charset="0"/>
                  <a:ea typeface="黑体" panose="02010609060101010101" pitchFamily="49" charset="-122"/>
                </a:rPr>
                <a:t>风险审核</a:t>
              </a:r>
            </a:p>
            <a:p>
              <a:pPr eaLnBrk="1" hangingPunct="1">
                <a:buClrTx/>
                <a:buFontTx/>
                <a:buNone/>
              </a:pPr>
              <a:r>
                <a:rPr lang="zh-CN" altLang="en-US" sz="2000" b="0">
                  <a:latin typeface="Arial Narrow" panose="020B0606020202030204" pitchFamily="34" charset="0"/>
                  <a:ea typeface="黑体" panose="02010609060101010101" pitchFamily="49" charset="-122"/>
                </a:rPr>
                <a:t>挣值分析</a:t>
              </a:r>
            </a:p>
            <a:p>
              <a:pPr eaLnBrk="1" hangingPunct="1">
                <a:buClrTx/>
                <a:buFontTx/>
                <a:buNone/>
              </a:pPr>
              <a:r>
                <a:rPr lang="zh-CN" altLang="en-US" sz="2000" b="0">
                  <a:latin typeface="Arial Narrow" panose="020B0606020202030204" pitchFamily="34" charset="0"/>
                  <a:ea typeface="黑体" panose="02010609060101010101" pitchFamily="49" charset="-122"/>
                </a:rPr>
                <a:t>项目风险评价</a:t>
              </a:r>
            </a:p>
          </p:txBody>
        </p:sp>
        <p:sp>
          <p:nvSpPr>
            <p:cNvPr id="74758" name="Text Box 10">
              <a:extLst>
                <a:ext uri="{FF2B5EF4-FFF2-40B4-BE49-F238E27FC236}">
                  <a16:creationId xmlns:a16="http://schemas.microsoft.com/office/drawing/2014/main" id="{A3E537AD-C382-D453-F644-CADD8982DC4F}"/>
                </a:ext>
              </a:extLst>
            </p:cNvPr>
            <p:cNvSpPr txBox="1">
              <a:spLocks noChangeArrowheads="1"/>
            </p:cNvSpPr>
            <p:nvPr/>
          </p:nvSpPr>
          <p:spPr bwMode="auto">
            <a:xfrm>
              <a:off x="336" y="2840"/>
              <a:ext cx="1152" cy="554"/>
            </a:xfrm>
            <a:prstGeom prst="rect">
              <a:avLst/>
            </a:prstGeom>
            <a:solidFill>
              <a:srgbClr val="6699FF"/>
            </a:solidFill>
            <a:ln w="25400">
              <a:solidFill>
                <a:srgbClr val="FF9933"/>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b="0">
                  <a:solidFill>
                    <a:srgbClr val="FFFFCC"/>
                  </a:solidFill>
                  <a:latin typeface="Arial Narrow" panose="020B0606020202030204" pitchFamily="34" charset="0"/>
                  <a:ea typeface="黑体" panose="02010609060101010101" pitchFamily="49" charset="-122"/>
                </a:rPr>
                <a:t>输入：</a:t>
              </a:r>
            </a:p>
            <a:p>
              <a:pPr eaLnBrk="1" hangingPunct="1">
                <a:spcBef>
                  <a:spcPct val="50000"/>
                </a:spcBef>
                <a:buClrTx/>
                <a:buFontTx/>
                <a:buNone/>
              </a:pPr>
              <a:r>
                <a:rPr lang="zh-CN" altLang="en-US" sz="2000" b="0">
                  <a:latin typeface="Arial Narrow" panose="020B0606020202030204" pitchFamily="34" charset="0"/>
                  <a:ea typeface="黑体" panose="02010609060101010101" pitchFamily="49" charset="-122"/>
                </a:rPr>
                <a:t>风险计划</a:t>
              </a:r>
            </a:p>
          </p:txBody>
        </p:sp>
        <p:sp>
          <p:nvSpPr>
            <p:cNvPr id="74759" name="Text Box 11">
              <a:extLst>
                <a:ext uri="{FF2B5EF4-FFF2-40B4-BE49-F238E27FC236}">
                  <a16:creationId xmlns:a16="http://schemas.microsoft.com/office/drawing/2014/main" id="{3596E212-5925-1142-E9FF-1311EABDA0C7}"/>
                </a:ext>
              </a:extLst>
            </p:cNvPr>
            <p:cNvSpPr txBox="1">
              <a:spLocks noChangeArrowheads="1"/>
            </p:cNvSpPr>
            <p:nvPr/>
          </p:nvSpPr>
          <p:spPr bwMode="auto">
            <a:xfrm>
              <a:off x="4560" y="2831"/>
              <a:ext cx="1200" cy="746"/>
            </a:xfrm>
            <a:prstGeom prst="rect">
              <a:avLst/>
            </a:prstGeom>
            <a:solidFill>
              <a:srgbClr val="6699FF"/>
            </a:solidFill>
            <a:ln w="25400">
              <a:solidFill>
                <a:srgbClr val="FF9933"/>
              </a:solidFill>
              <a:miter lim="800000"/>
              <a:headEnd type="none" w="sm" len="sm"/>
              <a:tailEnd type="none" w="med" len="lg"/>
            </a:ln>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b="0">
                  <a:solidFill>
                    <a:srgbClr val="FFFFCC"/>
                  </a:solidFill>
                  <a:latin typeface="Arial Narrow" panose="020B0606020202030204" pitchFamily="34" charset="0"/>
                  <a:ea typeface="黑体" panose="02010609060101010101" pitchFamily="49" charset="-122"/>
                </a:rPr>
                <a:t>输出：</a:t>
              </a:r>
            </a:p>
            <a:p>
              <a:pPr eaLnBrk="1" hangingPunct="1">
                <a:spcBef>
                  <a:spcPct val="50000"/>
                </a:spcBef>
                <a:buClrTx/>
                <a:buFontTx/>
                <a:buNone/>
              </a:pPr>
              <a:r>
                <a:rPr lang="zh-CN" altLang="en-US" sz="2000" b="0">
                  <a:latin typeface="Arial Narrow" panose="020B0606020202030204" pitchFamily="34" charset="0"/>
                  <a:ea typeface="黑体" panose="02010609060101010101" pitchFamily="49" charset="-122"/>
                </a:rPr>
                <a:t>风险计划更新</a:t>
              </a:r>
            </a:p>
          </p:txBody>
        </p:sp>
        <p:sp>
          <p:nvSpPr>
            <p:cNvPr id="74760" name="Line 12">
              <a:extLst>
                <a:ext uri="{FF2B5EF4-FFF2-40B4-BE49-F238E27FC236}">
                  <a16:creationId xmlns:a16="http://schemas.microsoft.com/office/drawing/2014/main" id="{01C5C1F8-2278-EFF4-27FD-04FA7AB1FA42}"/>
                </a:ext>
              </a:extLst>
            </p:cNvPr>
            <p:cNvSpPr>
              <a:spLocks noChangeShapeType="1"/>
            </p:cNvSpPr>
            <p:nvPr/>
          </p:nvSpPr>
          <p:spPr bwMode="auto">
            <a:xfrm>
              <a:off x="1488" y="3144"/>
              <a:ext cx="432" cy="0"/>
            </a:xfrm>
            <a:prstGeom prst="line">
              <a:avLst/>
            </a:prstGeom>
            <a:noFill/>
            <a:ln w="25400">
              <a:solidFill>
                <a:srgbClr val="FF9933"/>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74761" name="Line 13">
              <a:extLst>
                <a:ext uri="{FF2B5EF4-FFF2-40B4-BE49-F238E27FC236}">
                  <a16:creationId xmlns:a16="http://schemas.microsoft.com/office/drawing/2014/main" id="{08F8C993-3FE1-FBC5-7E14-6BFE5BEFF763}"/>
                </a:ext>
              </a:extLst>
            </p:cNvPr>
            <p:cNvSpPr>
              <a:spLocks noChangeShapeType="1"/>
            </p:cNvSpPr>
            <p:nvPr/>
          </p:nvSpPr>
          <p:spPr bwMode="auto">
            <a:xfrm>
              <a:off x="4128" y="3144"/>
              <a:ext cx="432" cy="0"/>
            </a:xfrm>
            <a:prstGeom prst="line">
              <a:avLst/>
            </a:prstGeom>
            <a:noFill/>
            <a:ln w="25400">
              <a:solidFill>
                <a:srgbClr val="FF9933"/>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363861-A31B-D3A8-FC63-25E62BCD7600}"/>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76803" name="Rectangle 3">
            <a:extLst>
              <a:ext uri="{FF2B5EF4-FFF2-40B4-BE49-F238E27FC236}">
                <a16:creationId xmlns:a16="http://schemas.microsoft.com/office/drawing/2014/main" id="{87EE7E58-7C45-0EF4-92A0-343184AEF652}"/>
              </a:ext>
            </a:extLst>
          </p:cNvPr>
          <p:cNvSpPr>
            <a:spLocks noGrp="1" noChangeArrowheads="1"/>
          </p:cNvSpPr>
          <p:nvPr>
            <p:ph type="body" sz="half" idx="1"/>
          </p:nvPr>
        </p:nvSpPr>
        <p:spPr>
          <a:xfrm>
            <a:off x="539750" y="1916113"/>
            <a:ext cx="8604250" cy="4941887"/>
          </a:xfrm>
        </p:spPr>
        <p:txBody>
          <a:bodyPr/>
          <a:lstStyle/>
          <a:p>
            <a:pPr eaLnBrk="1" hangingPunct="1">
              <a:lnSpc>
                <a:spcPct val="110000"/>
              </a:lnSpc>
              <a:spcBef>
                <a:spcPct val="20000"/>
              </a:spcBef>
            </a:pPr>
            <a:r>
              <a:rPr lang="zh-CN" altLang="en-US" sz="2400" dirty="0">
                <a:solidFill>
                  <a:schemeClr val="accent2"/>
                </a:solidFill>
                <a:ea typeface="黑体" panose="02010609060101010101" pitchFamily="49" charset="-122"/>
              </a:rPr>
              <a:t>项目风险的跟踪控制</a:t>
            </a:r>
            <a:r>
              <a:rPr lang="zh-CN" altLang="en-US" sz="2400" dirty="0"/>
              <a:t> </a:t>
            </a:r>
          </a:p>
          <a:p>
            <a:pPr lvl="1" eaLnBrk="1" hangingPunct="1">
              <a:lnSpc>
                <a:spcPct val="110000"/>
              </a:lnSpc>
            </a:pPr>
            <a:r>
              <a:rPr lang="en-US" altLang="zh-CN" sz="1800" dirty="0">
                <a:latin typeface="宋体" panose="02010600030101010101" pitchFamily="2" charset="-122"/>
              </a:rPr>
              <a:t>1.</a:t>
            </a:r>
            <a:r>
              <a:rPr lang="zh-CN" altLang="en-US" sz="1800" dirty="0">
                <a:latin typeface="宋体" panose="02010600030101010101" pitchFamily="2" charset="-122"/>
              </a:rPr>
              <a:t>建立项目风险监控体系</a:t>
            </a:r>
            <a:endParaRPr lang="en-US" altLang="zh-CN" sz="1800" dirty="0">
              <a:latin typeface="宋体" panose="02010600030101010101" pitchFamily="2" charset="-122"/>
            </a:endParaRPr>
          </a:p>
          <a:p>
            <a:pPr lvl="2" eaLnBrk="1" hangingPunct="1">
              <a:lnSpc>
                <a:spcPct val="110000"/>
              </a:lnSpc>
            </a:pPr>
            <a:r>
              <a:rPr lang="zh-CN" altLang="en-US" sz="1600" dirty="0">
                <a:latin typeface="宋体" panose="02010600030101010101" pitchFamily="2" charset="-122"/>
              </a:rPr>
              <a:t>项目风险监控体系的建立，包括制定项目风险的方针、程序、责任制度、报告制度、预警制度、沟通程序等方式，以此来控制项目的风险</a:t>
            </a:r>
            <a:endParaRPr lang="en-US" altLang="zh-CN" sz="1600" dirty="0">
              <a:latin typeface="宋体" panose="02010600030101010101" pitchFamily="2" charset="-122"/>
            </a:endParaRPr>
          </a:p>
          <a:p>
            <a:pPr lvl="1" eaLnBrk="1" hangingPunct="1">
              <a:lnSpc>
                <a:spcPct val="110000"/>
              </a:lnSpc>
            </a:pPr>
            <a:r>
              <a:rPr lang="en-US" altLang="zh-CN" sz="1800" dirty="0">
                <a:latin typeface="宋体" panose="02010600030101010101" pitchFamily="2" charset="-122"/>
              </a:rPr>
              <a:t>2.</a:t>
            </a:r>
            <a:r>
              <a:rPr lang="zh-CN" altLang="en-US" sz="1800" dirty="0">
                <a:latin typeface="宋体" panose="02010600030101010101" pitchFamily="2" charset="-122"/>
              </a:rPr>
              <a:t>项目风险审核</a:t>
            </a:r>
            <a:endParaRPr lang="en-US" altLang="zh-CN" sz="1800" dirty="0">
              <a:latin typeface="宋体" panose="02010600030101010101" pitchFamily="2" charset="-122"/>
            </a:endParaRPr>
          </a:p>
          <a:p>
            <a:pPr lvl="2" eaLnBrk="1" hangingPunct="1">
              <a:lnSpc>
                <a:spcPct val="110000"/>
              </a:lnSpc>
            </a:pPr>
            <a:r>
              <a:rPr lang="zh-CN" altLang="en-US" sz="1600" dirty="0">
                <a:latin typeface="宋体" panose="02010600030101010101" pitchFamily="2" charset="-122"/>
              </a:rPr>
              <a:t>开展项目风险监控的有效手段，也可以作为改进项目风险监控活动的一种有效的体制。</a:t>
            </a:r>
            <a:endParaRPr lang="en-US" altLang="zh-CN" sz="1600" dirty="0">
              <a:latin typeface="宋体" panose="02010600030101010101" pitchFamily="2" charset="-122"/>
            </a:endParaRPr>
          </a:p>
          <a:p>
            <a:pPr lvl="1" eaLnBrk="1" hangingPunct="1">
              <a:lnSpc>
                <a:spcPct val="110000"/>
              </a:lnSpc>
            </a:pPr>
            <a:r>
              <a:rPr lang="en-US" altLang="zh-CN" sz="1800" dirty="0">
                <a:latin typeface="宋体" panose="02010600030101010101" pitchFamily="2" charset="-122"/>
              </a:rPr>
              <a:t>3.</a:t>
            </a:r>
            <a:r>
              <a:rPr lang="zh-CN" altLang="en-US" sz="1800" dirty="0">
                <a:latin typeface="宋体" panose="02010600030101010101" pitchFamily="2" charset="-122"/>
              </a:rPr>
              <a:t>挣值分析：</a:t>
            </a:r>
            <a:endParaRPr lang="en-US" altLang="zh-CN" sz="1800" dirty="0">
              <a:latin typeface="宋体" panose="02010600030101010101" pitchFamily="2" charset="-122"/>
            </a:endParaRPr>
          </a:p>
          <a:p>
            <a:pPr lvl="2" eaLnBrk="1" hangingPunct="1">
              <a:lnSpc>
                <a:spcPct val="110000"/>
              </a:lnSpc>
            </a:pPr>
            <a:r>
              <a:rPr lang="zh-CN" altLang="en-US" sz="1600" dirty="0">
                <a:latin typeface="宋体" panose="02010600030101010101" pitchFamily="2" charset="-122"/>
              </a:rPr>
              <a:t>通过挣值分析可以显示项目在成本和进度上的偏差。如果偏差较大，需要进一步对项目风险进行识别和分析。</a:t>
            </a:r>
            <a:endParaRPr lang="en-US" altLang="zh-CN" sz="1600" dirty="0">
              <a:latin typeface="宋体" panose="02010600030101010101" pitchFamily="2" charset="-122"/>
            </a:endParaRPr>
          </a:p>
          <a:p>
            <a:pPr lvl="1" eaLnBrk="1" hangingPunct="1">
              <a:lnSpc>
                <a:spcPct val="110000"/>
              </a:lnSpc>
            </a:pPr>
            <a:r>
              <a:rPr lang="en-US" altLang="zh-CN" sz="1800" dirty="0">
                <a:latin typeface="宋体" panose="02010600030101010101" pitchFamily="2" charset="-122"/>
              </a:rPr>
              <a:t>4.</a:t>
            </a:r>
            <a:r>
              <a:rPr lang="zh-CN" altLang="en-US" sz="1800" dirty="0">
                <a:latin typeface="宋体" panose="02010600030101010101" pitchFamily="2" charset="-122"/>
              </a:rPr>
              <a:t>风险评价：</a:t>
            </a:r>
            <a:endParaRPr lang="en-US" altLang="zh-CN" sz="1800" dirty="0">
              <a:latin typeface="宋体" panose="02010600030101010101" pitchFamily="2" charset="-122"/>
            </a:endParaRPr>
          </a:p>
          <a:p>
            <a:pPr lvl="2" eaLnBrk="1" hangingPunct="1">
              <a:lnSpc>
                <a:spcPct val="110000"/>
              </a:lnSpc>
            </a:pPr>
            <a:r>
              <a:rPr lang="zh-CN" altLang="en-US" sz="1600" dirty="0">
                <a:latin typeface="宋体" panose="02010600030101010101" pitchFamily="2" charset="-122"/>
              </a:rPr>
              <a:t>风险评价按照阶段不同可以分为事前评价、事中评价、事后评价、跟踪评价等；按照评价方法不同可以分为定性评价、定量评价、综合评价等。</a:t>
            </a:r>
            <a:endParaRPr lang="en-US" altLang="zh-CN" sz="1600" dirty="0">
              <a:latin typeface="宋体" panose="02010600030101010101" pitchFamily="2" charset="-122"/>
            </a:endParaRPr>
          </a:p>
          <a:p>
            <a:pPr lvl="1" eaLnBrk="1" hangingPunct="1">
              <a:lnSpc>
                <a:spcPct val="110000"/>
              </a:lnSpc>
            </a:pPr>
            <a:r>
              <a:rPr lang="en-US" altLang="zh-CN" sz="1800" dirty="0">
                <a:latin typeface="宋体" panose="02010600030101010101" pitchFamily="2" charset="-122"/>
              </a:rPr>
              <a:t>5.</a:t>
            </a:r>
            <a:r>
              <a:rPr lang="zh-CN" altLang="en-US" sz="1800" dirty="0">
                <a:latin typeface="宋体" panose="02010600030101010101" pitchFamily="2" charset="-122"/>
              </a:rPr>
              <a:t>风险分析结果：</a:t>
            </a:r>
            <a:endParaRPr lang="en-US" altLang="zh-CN" sz="1800" dirty="0">
              <a:latin typeface="宋体" panose="02010600030101010101" pitchFamily="2" charset="-122"/>
            </a:endParaRPr>
          </a:p>
          <a:p>
            <a:pPr lvl="2" eaLnBrk="1" hangingPunct="1">
              <a:lnSpc>
                <a:spcPct val="110000"/>
              </a:lnSpc>
            </a:pPr>
            <a:r>
              <a:rPr lang="zh-CN" altLang="en-US" sz="1600" dirty="0">
                <a:latin typeface="宋体" panose="02010600030101010101" pitchFamily="2" charset="-122"/>
              </a:rPr>
              <a:t>对风险事件后果、概率等评估，设置相应管理方案。</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8363861-A31B-D3A8-FC63-25E62BCD7600}"/>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76803" name="Rectangle 3">
            <a:extLst>
              <a:ext uri="{FF2B5EF4-FFF2-40B4-BE49-F238E27FC236}">
                <a16:creationId xmlns:a16="http://schemas.microsoft.com/office/drawing/2014/main" id="{87EE7E58-7C45-0EF4-92A0-343184AEF652}"/>
              </a:ext>
            </a:extLst>
          </p:cNvPr>
          <p:cNvSpPr>
            <a:spLocks noGrp="1" noChangeArrowheads="1"/>
          </p:cNvSpPr>
          <p:nvPr>
            <p:ph type="body" sz="half" idx="1"/>
          </p:nvPr>
        </p:nvSpPr>
        <p:spPr>
          <a:xfrm>
            <a:off x="539750" y="1916113"/>
            <a:ext cx="8604250" cy="4941887"/>
          </a:xfrm>
        </p:spPr>
        <p:txBody>
          <a:bodyPr/>
          <a:lstStyle/>
          <a:p>
            <a:pPr eaLnBrk="1" hangingPunct="1">
              <a:lnSpc>
                <a:spcPct val="110000"/>
              </a:lnSpc>
              <a:spcBef>
                <a:spcPct val="20000"/>
              </a:spcBef>
            </a:pPr>
            <a:r>
              <a:rPr lang="zh-CN" altLang="en-US" sz="2400" dirty="0">
                <a:solidFill>
                  <a:schemeClr val="accent2"/>
                </a:solidFill>
                <a:ea typeface="黑体" panose="02010609060101010101" pitchFamily="49" charset="-122"/>
              </a:rPr>
              <a:t>项目风险的跟踪控制</a:t>
            </a:r>
            <a:r>
              <a:rPr lang="zh-CN" altLang="en-US" sz="2400" dirty="0"/>
              <a:t> </a:t>
            </a:r>
          </a:p>
          <a:p>
            <a:pPr lvl="1" eaLnBrk="1" hangingPunct="1">
              <a:lnSpc>
                <a:spcPct val="110000"/>
              </a:lnSpc>
            </a:pPr>
            <a:endParaRPr lang="zh-CN" altLang="en-US" sz="1600" dirty="0">
              <a:latin typeface="宋体" panose="02010600030101010101" pitchFamily="2" charset="-122"/>
            </a:endParaRPr>
          </a:p>
        </p:txBody>
      </p:sp>
      <p:pic>
        <p:nvPicPr>
          <p:cNvPr id="3" name="图片 2">
            <a:extLst>
              <a:ext uri="{FF2B5EF4-FFF2-40B4-BE49-F238E27FC236}">
                <a16:creationId xmlns:a16="http://schemas.microsoft.com/office/drawing/2014/main" id="{E1E5C8D9-EC21-D7B6-0F68-5FD5BF6B840B}"/>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1962" t="9051" r="12201" b="2750"/>
          <a:stretch/>
        </p:blipFill>
        <p:spPr>
          <a:xfrm>
            <a:off x="2123728" y="2492896"/>
            <a:ext cx="5328591" cy="4106371"/>
          </a:xfrm>
          <a:prstGeom prst="rect">
            <a:avLst/>
          </a:prstGeom>
        </p:spPr>
      </p:pic>
    </p:spTree>
    <p:extLst>
      <p:ext uri="{BB962C8B-B14F-4D97-AF65-F5344CB8AC3E}">
        <p14:creationId xmlns:p14="http://schemas.microsoft.com/office/powerpoint/2010/main" val="4382871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6C8EF3E1-1035-8244-ACE9-A20F2EF8512D}"/>
              </a:ext>
            </a:extLst>
          </p:cNvPr>
          <p:cNvSpPr>
            <a:spLocks noGrp="1" noChangeArrowheads="1"/>
          </p:cNvSpPr>
          <p:nvPr>
            <p:ph type="title"/>
          </p:nvPr>
        </p:nvSpPr>
        <p:spPr/>
        <p:txBody>
          <a:bodyPr/>
          <a:lstStyle/>
          <a:p>
            <a:pPr eaLnBrk="1" hangingPunct="1"/>
            <a:r>
              <a:rPr kumimoji="1" lang="zh-CN" altLang="en-US"/>
              <a:t>软件项目跟踪控制过程</a:t>
            </a:r>
          </a:p>
        </p:txBody>
      </p:sp>
      <p:sp>
        <p:nvSpPr>
          <p:cNvPr id="78851" name="Rectangle 3">
            <a:extLst>
              <a:ext uri="{FF2B5EF4-FFF2-40B4-BE49-F238E27FC236}">
                <a16:creationId xmlns:a16="http://schemas.microsoft.com/office/drawing/2014/main" id="{E340F578-0B25-84DC-D3B8-4FF90975811A}"/>
              </a:ext>
            </a:extLst>
          </p:cNvPr>
          <p:cNvSpPr>
            <a:spLocks noGrp="1" noChangeArrowheads="1"/>
          </p:cNvSpPr>
          <p:nvPr>
            <p:ph type="body" sz="half" idx="1"/>
          </p:nvPr>
        </p:nvSpPr>
        <p:spPr>
          <a:xfrm>
            <a:off x="539750" y="1916113"/>
            <a:ext cx="8604250" cy="4941887"/>
          </a:xfrm>
        </p:spPr>
        <p:txBody>
          <a:bodyPr/>
          <a:lstStyle/>
          <a:p>
            <a:pPr eaLnBrk="1" hangingPunct="1">
              <a:lnSpc>
                <a:spcPct val="110000"/>
              </a:lnSpc>
              <a:spcBef>
                <a:spcPct val="20000"/>
              </a:spcBef>
            </a:pPr>
            <a:r>
              <a:rPr lang="zh-CN" altLang="en-US" sz="2400" dirty="0">
                <a:solidFill>
                  <a:schemeClr val="accent2"/>
                </a:solidFill>
                <a:ea typeface="黑体" panose="02010609060101010101" pitchFamily="49" charset="-122"/>
              </a:rPr>
              <a:t>其他方面的监控：</a:t>
            </a:r>
            <a:endParaRPr lang="en-US" altLang="zh-CN" sz="1200" dirty="0">
              <a:solidFill>
                <a:schemeClr val="accent2"/>
              </a:solidFill>
              <a:latin typeface="宋体" panose="02010600030101010101" pitchFamily="2" charset="-122"/>
              <a:ea typeface="黑体" panose="02010609060101010101" pitchFamily="49" charset="-122"/>
            </a:endParaRPr>
          </a:p>
          <a:p>
            <a:pPr lvl="1" eaLnBrk="1" hangingPunct="1">
              <a:lnSpc>
                <a:spcPct val="110000"/>
              </a:lnSpc>
            </a:pPr>
            <a:r>
              <a:rPr lang="zh-CN" altLang="en-US" dirty="0">
                <a:latin typeface="宋体" panose="02010600030101010101" pitchFamily="2" charset="-122"/>
                <a:ea typeface="黑体" panose="02010609060101010101" pitchFamily="49" charset="-122"/>
              </a:rPr>
              <a:t>配置管理</a:t>
            </a:r>
            <a:endParaRPr lang="en-US" altLang="zh-CN" dirty="0">
              <a:latin typeface="宋体" panose="02010600030101010101" pitchFamily="2" charset="-122"/>
              <a:ea typeface="黑体" panose="02010609060101010101" pitchFamily="49" charset="-122"/>
            </a:endParaRPr>
          </a:p>
          <a:p>
            <a:pPr lvl="1" eaLnBrk="1" hangingPunct="1">
              <a:lnSpc>
                <a:spcPct val="110000"/>
              </a:lnSpc>
            </a:pPr>
            <a:r>
              <a:rPr lang="zh-CN" altLang="en-US" dirty="0">
                <a:latin typeface="宋体" panose="02010600030101010101" pitchFamily="2" charset="-122"/>
                <a:ea typeface="黑体" panose="02010609060101010101" pitchFamily="49" charset="-122"/>
              </a:rPr>
              <a:t>人员管理</a:t>
            </a:r>
            <a:endParaRPr lang="en-US" altLang="zh-CN" dirty="0">
              <a:latin typeface="宋体" panose="02010600030101010101" pitchFamily="2" charset="-122"/>
              <a:ea typeface="黑体" panose="02010609060101010101" pitchFamily="49" charset="-122"/>
            </a:endParaRPr>
          </a:p>
          <a:p>
            <a:pPr lvl="1" eaLnBrk="1" hangingPunct="1">
              <a:lnSpc>
                <a:spcPct val="110000"/>
              </a:lnSpc>
            </a:pPr>
            <a:r>
              <a:rPr lang="zh-CN" altLang="en-US" dirty="0">
                <a:latin typeface="宋体" panose="02010600030101010101" pitchFamily="2" charset="-122"/>
                <a:ea typeface="黑体" panose="02010609060101010101" pitchFamily="49" charset="-122"/>
              </a:rPr>
              <a:t>团队的工作士气</a:t>
            </a:r>
            <a:endParaRPr lang="en-US" altLang="zh-CN" dirty="0">
              <a:latin typeface="宋体" panose="02010600030101010101" pitchFamily="2" charset="-122"/>
              <a:ea typeface="黑体" panose="02010609060101010101" pitchFamily="49" charset="-122"/>
            </a:endParaRPr>
          </a:p>
          <a:p>
            <a:pPr lvl="1" eaLnBrk="1" hangingPunct="1">
              <a:lnSpc>
                <a:spcPct val="110000"/>
              </a:lnSpc>
            </a:pPr>
            <a:r>
              <a:rPr lang="zh-CN" altLang="en-US" dirty="0">
                <a:latin typeface="宋体" panose="02010600030101010101" pitchFamily="2" charset="-122"/>
                <a:ea typeface="黑体" panose="02010609060101010101" pitchFamily="49" charset="-122"/>
              </a:rPr>
              <a:t>人员流失</a:t>
            </a:r>
            <a:endParaRPr lang="en-US" altLang="zh-CN" dirty="0">
              <a:ea typeface="黑体"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4ECF9CA7-74A7-0A56-CBE8-E19C19BE37C0}"/>
              </a:ext>
            </a:extLst>
          </p:cNvPr>
          <p:cNvSpPr>
            <a:spLocks noGrp="1" noChangeArrowheads="1"/>
          </p:cNvSpPr>
          <p:nvPr>
            <p:ph type="title"/>
          </p:nvPr>
        </p:nvSpPr>
        <p:spPr/>
        <p:txBody>
          <a:bodyPr/>
          <a:lstStyle/>
          <a:p>
            <a:pPr eaLnBrk="1" hangingPunct="1"/>
            <a:r>
              <a:rPr lang="zh-CN" altLang="en-US"/>
              <a:t>本章内容提要</a:t>
            </a:r>
          </a:p>
        </p:txBody>
      </p:sp>
      <p:grpSp>
        <p:nvGrpSpPr>
          <p:cNvPr id="80899" name="Group 3">
            <a:extLst>
              <a:ext uri="{FF2B5EF4-FFF2-40B4-BE49-F238E27FC236}">
                <a16:creationId xmlns:a16="http://schemas.microsoft.com/office/drawing/2014/main" id="{0C782E90-A783-32DC-0FB2-38F6E7C6D7C1}"/>
              </a:ext>
            </a:extLst>
          </p:cNvPr>
          <p:cNvGrpSpPr>
            <a:grpSpLocks/>
          </p:cNvGrpSpPr>
          <p:nvPr/>
        </p:nvGrpSpPr>
        <p:grpSpPr bwMode="auto">
          <a:xfrm>
            <a:off x="969963" y="2487613"/>
            <a:ext cx="5689600" cy="3389312"/>
            <a:chOff x="611" y="1389"/>
            <a:chExt cx="3584" cy="2135"/>
          </a:xfrm>
        </p:grpSpPr>
        <p:grpSp>
          <p:nvGrpSpPr>
            <p:cNvPr id="80900" name="Group 4">
              <a:extLst>
                <a:ext uri="{FF2B5EF4-FFF2-40B4-BE49-F238E27FC236}">
                  <a16:creationId xmlns:a16="http://schemas.microsoft.com/office/drawing/2014/main" id="{2AB6F389-DF45-362E-7630-B13E02B9EE44}"/>
                </a:ext>
              </a:extLst>
            </p:cNvPr>
            <p:cNvGrpSpPr>
              <a:grpSpLocks/>
            </p:cNvGrpSpPr>
            <p:nvPr/>
          </p:nvGrpSpPr>
          <p:grpSpPr bwMode="auto">
            <a:xfrm>
              <a:off x="611" y="1389"/>
              <a:ext cx="3572" cy="205"/>
              <a:chOff x="385" y="1460"/>
              <a:chExt cx="3572" cy="324"/>
            </a:xfrm>
          </p:grpSpPr>
          <p:sp>
            <p:nvSpPr>
              <p:cNvPr id="80930" name="AutoShape 5">
                <a:extLst>
                  <a:ext uri="{FF2B5EF4-FFF2-40B4-BE49-F238E27FC236}">
                    <a16:creationId xmlns:a16="http://schemas.microsoft.com/office/drawing/2014/main" id="{349E5294-4AD8-77A8-8E5F-6B49B812B9F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80931" name="Text Box 6">
                <a:extLst>
                  <a:ext uri="{FF2B5EF4-FFF2-40B4-BE49-F238E27FC236}">
                    <a16:creationId xmlns:a16="http://schemas.microsoft.com/office/drawing/2014/main" id="{0B3226A1-1FD9-568D-3994-1231D02D04F0}"/>
                  </a:ext>
                </a:extLst>
              </p:cNvPr>
              <p:cNvSpPr txBox="1">
                <a:spLocks noChangeArrowheads="1"/>
              </p:cNvSpPr>
              <p:nvPr/>
            </p:nvSpPr>
            <p:spPr bwMode="auto">
              <a:xfrm>
                <a:off x="626" y="1460"/>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软件项目跟踪控制概述</a:t>
                </a:r>
                <a:r>
                  <a:rPr lang="zh-CN" altLang="en-US" sz="1800">
                    <a:latin typeface="宋体" panose="02010600030101010101" pitchFamily="2" charset="-122"/>
                  </a:rPr>
                  <a:t>  </a:t>
                </a:r>
              </a:p>
            </p:txBody>
          </p:sp>
          <p:sp>
            <p:nvSpPr>
              <p:cNvPr id="80932" name="Rectangle 7">
                <a:extLst>
                  <a:ext uri="{FF2B5EF4-FFF2-40B4-BE49-F238E27FC236}">
                    <a16:creationId xmlns:a16="http://schemas.microsoft.com/office/drawing/2014/main" id="{C3243ACF-6266-4BA2-631B-A338832FD0E4}"/>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9.1</a:t>
                </a:r>
                <a:endParaRPr lang="en-US" altLang="zh-CN" sz="1800">
                  <a:solidFill>
                    <a:srgbClr val="000000"/>
                  </a:solidFill>
                </a:endParaRPr>
              </a:p>
            </p:txBody>
          </p:sp>
        </p:grpSp>
        <p:grpSp>
          <p:nvGrpSpPr>
            <p:cNvPr id="80901" name="Group 8">
              <a:extLst>
                <a:ext uri="{FF2B5EF4-FFF2-40B4-BE49-F238E27FC236}">
                  <a16:creationId xmlns:a16="http://schemas.microsoft.com/office/drawing/2014/main" id="{BF77068B-C0CF-62BA-BD62-4C6BF809A6F4}"/>
                </a:ext>
              </a:extLst>
            </p:cNvPr>
            <p:cNvGrpSpPr>
              <a:grpSpLocks/>
            </p:cNvGrpSpPr>
            <p:nvPr/>
          </p:nvGrpSpPr>
          <p:grpSpPr bwMode="auto">
            <a:xfrm>
              <a:off x="611" y="1675"/>
              <a:ext cx="3572" cy="202"/>
              <a:chOff x="385" y="1831"/>
              <a:chExt cx="3572" cy="319"/>
            </a:xfrm>
          </p:grpSpPr>
          <p:grpSp>
            <p:nvGrpSpPr>
              <p:cNvPr id="80926" name="Group 9">
                <a:extLst>
                  <a:ext uri="{FF2B5EF4-FFF2-40B4-BE49-F238E27FC236}">
                    <a16:creationId xmlns:a16="http://schemas.microsoft.com/office/drawing/2014/main" id="{1565BF01-60C3-1F8B-8810-E63EB9C7B675}"/>
                  </a:ext>
                </a:extLst>
              </p:cNvPr>
              <p:cNvGrpSpPr>
                <a:grpSpLocks/>
              </p:cNvGrpSpPr>
              <p:nvPr/>
            </p:nvGrpSpPr>
            <p:grpSpPr bwMode="auto">
              <a:xfrm>
                <a:off x="464" y="1831"/>
                <a:ext cx="3493" cy="319"/>
                <a:chOff x="464" y="1831"/>
                <a:chExt cx="3493" cy="319"/>
              </a:xfrm>
            </p:grpSpPr>
            <p:sp>
              <p:nvSpPr>
                <p:cNvPr id="80928" name="AutoShape 10">
                  <a:extLst>
                    <a:ext uri="{FF2B5EF4-FFF2-40B4-BE49-F238E27FC236}">
                      <a16:creationId xmlns:a16="http://schemas.microsoft.com/office/drawing/2014/main" id="{45DEC857-5CFE-22F9-EEDA-9A9C14636916}"/>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80929" name="Text Box 11">
                  <a:extLst>
                    <a:ext uri="{FF2B5EF4-FFF2-40B4-BE49-F238E27FC236}">
                      <a16:creationId xmlns:a16="http://schemas.microsoft.com/office/drawing/2014/main" id="{290584CC-B6F8-C0EA-425D-EC0A0E513780}"/>
                    </a:ext>
                  </a:extLst>
                </p:cNvPr>
                <p:cNvSpPr txBox="1">
                  <a:spLocks noChangeArrowheads="1"/>
                </p:cNvSpPr>
                <p:nvPr/>
              </p:nvSpPr>
              <p:spPr bwMode="auto">
                <a:xfrm>
                  <a:off x="626" y="1831"/>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软件项目跟踪控制的标准</a:t>
                  </a:r>
                  <a:r>
                    <a:rPr lang="zh-CN" altLang="en-US" sz="1200">
                      <a:solidFill>
                        <a:schemeClr val="bg1"/>
                      </a:solidFill>
                      <a:latin typeface="黑体" panose="02010609060101010101" pitchFamily="49" charset="-122"/>
                      <a:ea typeface="黑体" panose="02010609060101010101" pitchFamily="49" charset="-122"/>
                    </a:rPr>
                    <a:t> </a:t>
                  </a:r>
                </a:p>
              </p:txBody>
            </p:sp>
          </p:grpSp>
          <p:sp>
            <p:nvSpPr>
              <p:cNvPr id="80927" name="Rectangle 12">
                <a:extLst>
                  <a:ext uri="{FF2B5EF4-FFF2-40B4-BE49-F238E27FC236}">
                    <a16:creationId xmlns:a16="http://schemas.microsoft.com/office/drawing/2014/main" id="{C0B0F4D9-501C-4C4A-8A4F-B0B302BCBB71}"/>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9.2</a:t>
                </a:r>
                <a:endParaRPr lang="en-US" altLang="zh-CN" sz="1800">
                  <a:solidFill>
                    <a:srgbClr val="000000"/>
                  </a:solidFill>
                </a:endParaRPr>
              </a:p>
            </p:txBody>
          </p:sp>
        </p:grpSp>
        <p:grpSp>
          <p:nvGrpSpPr>
            <p:cNvPr id="80902" name="Group 13">
              <a:extLst>
                <a:ext uri="{FF2B5EF4-FFF2-40B4-BE49-F238E27FC236}">
                  <a16:creationId xmlns:a16="http://schemas.microsoft.com/office/drawing/2014/main" id="{FC7CCDB8-A80F-549F-8264-12A2810BC0C5}"/>
                </a:ext>
              </a:extLst>
            </p:cNvPr>
            <p:cNvGrpSpPr>
              <a:grpSpLocks/>
            </p:cNvGrpSpPr>
            <p:nvPr/>
          </p:nvGrpSpPr>
          <p:grpSpPr bwMode="auto">
            <a:xfrm>
              <a:off x="611" y="1947"/>
              <a:ext cx="3584" cy="198"/>
              <a:chOff x="385" y="2209"/>
              <a:chExt cx="3584" cy="313"/>
            </a:xfrm>
          </p:grpSpPr>
          <p:sp>
            <p:nvSpPr>
              <p:cNvPr id="80923" name="AutoShape 14">
                <a:extLst>
                  <a:ext uri="{FF2B5EF4-FFF2-40B4-BE49-F238E27FC236}">
                    <a16:creationId xmlns:a16="http://schemas.microsoft.com/office/drawing/2014/main" id="{F8E85B15-A3E7-FD4B-16F4-E9C6331DDE8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80924" name="Text Box 15">
                <a:extLst>
                  <a:ext uri="{FF2B5EF4-FFF2-40B4-BE49-F238E27FC236}">
                    <a16:creationId xmlns:a16="http://schemas.microsoft.com/office/drawing/2014/main" id="{F9DF408E-C4F0-66EB-567F-E1096BEA5BFD}"/>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solidFill>
                      <a:schemeClr val="bg1"/>
                    </a:solidFill>
                    <a:ea typeface="黑体" panose="02010609060101010101" pitchFamily="49" charset="-122"/>
                  </a:rPr>
                  <a:t>  </a:t>
                </a:r>
                <a:r>
                  <a:rPr lang="zh-CN" altLang="en-US" sz="2000">
                    <a:ea typeface="黑体" panose="02010609060101010101" pitchFamily="49" charset="-122"/>
                  </a:rPr>
                  <a:t>软件项目监控和报告体系</a:t>
                </a:r>
                <a:r>
                  <a:rPr lang="zh-CN" altLang="en-US" sz="1200">
                    <a:solidFill>
                      <a:schemeClr val="bg1"/>
                    </a:solidFill>
                  </a:rPr>
                  <a:t> </a:t>
                </a:r>
              </a:p>
            </p:txBody>
          </p:sp>
          <p:sp>
            <p:nvSpPr>
              <p:cNvPr id="80925" name="Rectangle 16">
                <a:extLst>
                  <a:ext uri="{FF2B5EF4-FFF2-40B4-BE49-F238E27FC236}">
                    <a16:creationId xmlns:a16="http://schemas.microsoft.com/office/drawing/2014/main" id="{7BD2D8AC-6B2C-999A-2E60-48E3E0B9A1F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9.3</a:t>
                </a:r>
                <a:endParaRPr lang="en-US" altLang="zh-CN" sz="1800">
                  <a:solidFill>
                    <a:srgbClr val="000000"/>
                  </a:solidFill>
                </a:endParaRPr>
              </a:p>
            </p:txBody>
          </p:sp>
        </p:grpSp>
        <p:grpSp>
          <p:nvGrpSpPr>
            <p:cNvPr id="80903" name="Group 17">
              <a:extLst>
                <a:ext uri="{FF2B5EF4-FFF2-40B4-BE49-F238E27FC236}">
                  <a16:creationId xmlns:a16="http://schemas.microsoft.com/office/drawing/2014/main" id="{93679AAE-1193-4444-4AAA-154F4042B9F2}"/>
                </a:ext>
              </a:extLst>
            </p:cNvPr>
            <p:cNvGrpSpPr>
              <a:grpSpLocks/>
            </p:cNvGrpSpPr>
            <p:nvPr/>
          </p:nvGrpSpPr>
          <p:grpSpPr bwMode="auto">
            <a:xfrm>
              <a:off x="611" y="2219"/>
              <a:ext cx="3584" cy="198"/>
              <a:chOff x="385" y="2209"/>
              <a:chExt cx="3584" cy="313"/>
            </a:xfrm>
          </p:grpSpPr>
          <p:sp>
            <p:nvSpPr>
              <p:cNvPr id="80920" name="AutoShape 18">
                <a:extLst>
                  <a:ext uri="{FF2B5EF4-FFF2-40B4-BE49-F238E27FC236}">
                    <a16:creationId xmlns:a16="http://schemas.microsoft.com/office/drawing/2014/main" id="{45ABDB4B-5A4D-8369-D91A-A25634F3AE7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80921" name="Text Box 19">
                <a:extLst>
                  <a:ext uri="{FF2B5EF4-FFF2-40B4-BE49-F238E27FC236}">
                    <a16:creationId xmlns:a16="http://schemas.microsoft.com/office/drawing/2014/main" id="{C73A288B-8F67-AA8E-BEC8-B1A50AA48345}"/>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软件项目跟踪控制过程</a:t>
                </a:r>
                <a:r>
                  <a:rPr lang="zh-CN" altLang="en-US" sz="1200">
                    <a:solidFill>
                      <a:schemeClr val="bg1"/>
                    </a:solidFill>
                  </a:rPr>
                  <a:t> </a:t>
                </a:r>
              </a:p>
            </p:txBody>
          </p:sp>
          <p:sp>
            <p:nvSpPr>
              <p:cNvPr id="80922" name="Rectangle 20">
                <a:extLst>
                  <a:ext uri="{FF2B5EF4-FFF2-40B4-BE49-F238E27FC236}">
                    <a16:creationId xmlns:a16="http://schemas.microsoft.com/office/drawing/2014/main" id="{5178A1A3-0469-1A84-71C6-26F241BA5A5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9.4</a:t>
                </a:r>
                <a:endParaRPr lang="en-US" altLang="zh-CN" sz="1800">
                  <a:solidFill>
                    <a:srgbClr val="000000"/>
                  </a:solidFill>
                </a:endParaRPr>
              </a:p>
            </p:txBody>
          </p:sp>
        </p:grpSp>
        <p:grpSp>
          <p:nvGrpSpPr>
            <p:cNvPr id="80904" name="Group 21">
              <a:extLst>
                <a:ext uri="{FF2B5EF4-FFF2-40B4-BE49-F238E27FC236}">
                  <a16:creationId xmlns:a16="http://schemas.microsoft.com/office/drawing/2014/main" id="{36D6EBB2-AEF9-B2D5-2592-BE99DB00593D}"/>
                </a:ext>
              </a:extLst>
            </p:cNvPr>
            <p:cNvGrpSpPr>
              <a:grpSpLocks/>
            </p:cNvGrpSpPr>
            <p:nvPr/>
          </p:nvGrpSpPr>
          <p:grpSpPr bwMode="auto">
            <a:xfrm>
              <a:off x="611" y="2505"/>
              <a:ext cx="3584" cy="197"/>
              <a:chOff x="385" y="2209"/>
              <a:chExt cx="3584" cy="311"/>
            </a:xfrm>
          </p:grpSpPr>
          <p:sp>
            <p:nvSpPr>
              <p:cNvPr id="80917" name="AutoShape 22">
                <a:extLst>
                  <a:ext uri="{FF2B5EF4-FFF2-40B4-BE49-F238E27FC236}">
                    <a16:creationId xmlns:a16="http://schemas.microsoft.com/office/drawing/2014/main" id="{649204F2-7AA5-FCC1-4CAC-150DF9A75CE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80918" name="Text Box 23">
                <a:extLst>
                  <a:ext uri="{FF2B5EF4-FFF2-40B4-BE49-F238E27FC236}">
                    <a16:creationId xmlns:a16="http://schemas.microsoft.com/office/drawing/2014/main" id="{B35AB824-97BE-9C53-58A1-E6DE4C398F32}"/>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软件项目评审 </a:t>
                </a:r>
              </a:p>
            </p:txBody>
          </p:sp>
          <p:sp>
            <p:nvSpPr>
              <p:cNvPr id="80919" name="Rectangle 24">
                <a:extLst>
                  <a:ext uri="{FF2B5EF4-FFF2-40B4-BE49-F238E27FC236}">
                    <a16:creationId xmlns:a16="http://schemas.microsoft.com/office/drawing/2014/main" id="{725BB03D-87C3-6ADF-DA16-440E189E2A1E}"/>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9.5</a:t>
                </a:r>
                <a:endParaRPr lang="en-US" altLang="zh-CN" sz="1800">
                  <a:solidFill>
                    <a:srgbClr val="000000"/>
                  </a:solidFill>
                </a:endParaRPr>
              </a:p>
            </p:txBody>
          </p:sp>
        </p:grpSp>
        <p:grpSp>
          <p:nvGrpSpPr>
            <p:cNvPr id="80905" name="Group 25">
              <a:extLst>
                <a:ext uri="{FF2B5EF4-FFF2-40B4-BE49-F238E27FC236}">
                  <a16:creationId xmlns:a16="http://schemas.microsoft.com/office/drawing/2014/main" id="{B33F71EB-3431-40C6-0B73-7FF895F57EF8}"/>
                </a:ext>
              </a:extLst>
            </p:cNvPr>
            <p:cNvGrpSpPr>
              <a:grpSpLocks/>
            </p:cNvGrpSpPr>
            <p:nvPr/>
          </p:nvGrpSpPr>
          <p:grpSpPr bwMode="auto">
            <a:xfrm>
              <a:off x="611" y="2760"/>
              <a:ext cx="3584" cy="230"/>
              <a:chOff x="385" y="2187"/>
              <a:chExt cx="3584" cy="363"/>
            </a:xfrm>
          </p:grpSpPr>
          <p:sp>
            <p:nvSpPr>
              <p:cNvPr id="80914" name="AutoShape 26">
                <a:extLst>
                  <a:ext uri="{FF2B5EF4-FFF2-40B4-BE49-F238E27FC236}">
                    <a16:creationId xmlns:a16="http://schemas.microsoft.com/office/drawing/2014/main" id="{DE81A0BC-5E6C-A12A-438B-9455CDE2A25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80915" name="Text Box 27">
                <a:extLst>
                  <a:ext uri="{FF2B5EF4-FFF2-40B4-BE49-F238E27FC236}">
                    <a16:creationId xmlns:a16="http://schemas.microsoft.com/office/drawing/2014/main" id="{71A9868F-B630-FC80-3214-DEEB941C36CD}"/>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ea typeface="黑体" panose="02010609060101010101" pitchFamily="49" charset="-122"/>
                  </a:rPr>
                  <a:t>软件项目计划修改</a:t>
                </a:r>
                <a:r>
                  <a:rPr lang="zh-CN" altLang="en-US" sz="1200">
                    <a:solidFill>
                      <a:schemeClr val="bg1"/>
                    </a:solidFill>
                  </a:rPr>
                  <a:t> </a:t>
                </a:r>
                <a:r>
                  <a:rPr lang="zh-CN" altLang="en-US" sz="2400" b="0">
                    <a:latin typeface="Times New Roman" panose="02020603050405020304" pitchFamily="18" charset="0"/>
                  </a:rPr>
                  <a:t> </a:t>
                </a:r>
              </a:p>
            </p:txBody>
          </p:sp>
          <p:sp>
            <p:nvSpPr>
              <p:cNvPr id="80916" name="Rectangle 28">
                <a:extLst>
                  <a:ext uri="{FF2B5EF4-FFF2-40B4-BE49-F238E27FC236}">
                    <a16:creationId xmlns:a16="http://schemas.microsoft.com/office/drawing/2014/main" id="{F2FCE4C9-8413-D218-C2DD-114A3071687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9.6</a:t>
                </a:r>
                <a:endParaRPr lang="en-US" altLang="zh-CN" sz="1800">
                  <a:solidFill>
                    <a:srgbClr val="000000"/>
                  </a:solidFill>
                </a:endParaRPr>
              </a:p>
            </p:txBody>
          </p:sp>
        </p:grpSp>
        <p:grpSp>
          <p:nvGrpSpPr>
            <p:cNvPr id="80906" name="Group 29">
              <a:extLst>
                <a:ext uri="{FF2B5EF4-FFF2-40B4-BE49-F238E27FC236}">
                  <a16:creationId xmlns:a16="http://schemas.microsoft.com/office/drawing/2014/main" id="{DF602D41-D98D-1E0E-0CFF-ABC5C6C95D42}"/>
                </a:ext>
              </a:extLst>
            </p:cNvPr>
            <p:cNvGrpSpPr>
              <a:grpSpLocks/>
            </p:cNvGrpSpPr>
            <p:nvPr/>
          </p:nvGrpSpPr>
          <p:grpSpPr bwMode="auto">
            <a:xfrm>
              <a:off x="611" y="3022"/>
              <a:ext cx="3584" cy="230"/>
              <a:chOff x="385" y="2187"/>
              <a:chExt cx="3584" cy="363"/>
            </a:xfrm>
          </p:grpSpPr>
          <p:sp>
            <p:nvSpPr>
              <p:cNvPr id="80911" name="AutoShape 30">
                <a:extLst>
                  <a:ext uri="{FF2B5EF4-FFF2-40B4-BE49-F238E27FC236}">
                    <a16:creationId xmlns:a16="http://schemas.microsoft.com/office/drawing/2014/main" id="{C9FA7181-1929-3E5D-EA0D-0D326B5A647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80912" name="Text Box 31">
                <a:extLst>
                  <a:ext uri="{FF2B5EF4-FFF2-40B4-BE49-F238E27FC236}">
                    <a16:creationId xmlns:a16="http://schemas.microsoft.com/office/drawing/2014/main" id="{AE58B965-F3AD-A8A5-6DCF-0198266B1DF9}"/>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80913" name="Rectangle 32">
                <a:extLst>
                  <a:ext uri="{FF2B5EF4-FFF2-40B4-BE49-F238E27FC236}">
                    <a16:creationId xmlns:a16="http://schemas.microsoft.com/office/drawing/2014/main" id="{AD02BEF7-67E0-1573-3DBD-16B76B68B52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9.7</a:t>
                </a:r>
                <a:endParaRPr lang="en-US" altLang="zh-CN" sz="1800">
                  <a:solidFill>
                    <a:srgbClr val="000000"/>
                  </a:solidFill>
                </a:endParaRPr>
              </a:p>
            </p:txBody>
          </p:sp>
        </p:grpSp>
        <p:grpSp>
          <p:nvGrpSpPr>
            <p:cNvPr id="80907" name="Group 33">
              <a:extLst>
                <a:ext uri="{FF2B5EF4-FFF2-40B4-BE49-F238E27FC236}">
                  <a16:creationId xmlns:a16="http://schemas.microsoft.com/office/drawing/2014/main" id="{058BC44D-C1A2-225E-E07C-CD1B1108F376}"/>
                </a:ext>
              </a:extLst>
            </p:cNvPr>
            <p:cNvGrpSpPr>
              <a:grpSpLocks/>
            </p:cNvGrpSpPr>
            <p:nvPr/>
          </p:nvGrpSpPr>
          <p:grpSpPr bwMode="auto">
            <a:xfrm>
              <a:off x="611" y="3294"/>
              <a:ext cx="3584" cy="230"/>
              <a:chOff x="385" y="2187"/>
              <a:chExt cx="3584" cy="363"/>
            </a:xfrm>
          </p:grpSpPr>
          <p:sp>
            <p:nvSpPr>
              <p:cNvPr id="80908" name="AutoShape 34">
                <a:extLst>
                  <a:ext uri="{FF2B5EF4-FFF2-40B4-BE49-F238E27FC236}">
                    <a16:creationId xmlns:a16="http://schemas.microsoft.com/office/drawing/2014/main" id="{6F3FB52E-BC75-9710-CFFD-BA350DE343D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80909" name="Text Box 35">
                <a:extLst>
                  <a:ext uri="{FF2B5EF4-FFF2-40B4-BE49-F238E27FC236}">
                    <a16:creationId xmlns:a16="http://schemas.microsoft.com/office/drawing/2014/main" id="{1C11E62F-B7B1-04E6-0903-7CC56852DAC5}"/>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复习思考题</a:t>
                </a:r>
                <a:r>
                  <a:rPr lang="zh-CN" altLang="en-US" sz="2400" b="0">
                    <a:latin typeface="Times New Roman" panose="02020603050405020304" pitchFamily="18" charset="0"/>
                  </a:rPr>
                  <a:t> </a:t>
                </a:r>
              </a:p>
            </p:txBody>
          </p:sp>
          <p:sp>
            <p:nvSpPr>
              <p:cNvPr id="80910" name="Rectangle 36">
                <a:extLst>
                  <a:ext uri="{FF2B5EF4-FFF2-40B4-BE49-F238E27FC236}">
                    <a16:creationId xmlns:a16="http://schemas.microsoft.com/office/drawing/2014/main" id="{C6D6108B-E531-2234-6694-2C38B063C7C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9.8</a:t>
                </a:r>
                <a:endParaRPr lang="en-US" altLang="zh-CN" sz="1800">
                  <a:solidFill>
                    <a:srgbClr val="000000"/>
                  </a:solidFill>
                </a:endParaRPr>
              </a:p>
            </p:txBody>
          </p:sp>
        </p:gr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95F35E19-E294-FC57-6D46-B3625138931C}"/>
              </a:ext>
            </a:extLst>
          </p:cNvPr>
          <p:cNvSpPr>
            <a:spLocks noGrp="1" noChangeArrowheads="1"/>
          </p:cNvSpPr>
          <p:nvPr>
            <p:ph type="title"/>
          </p:nvPr>
        </p:nvSpPr>
        <p:spPr/>
        <p:txBody>
          <a:bodyPr/>
          <a:lstStyle/>
          <a:p>
            <a:pPr eaLnBrk="1" hangingPunct="1"/>
            <a:r>
              <a:rPr lang="en-US" altLang="zh-CN"/>
              <a:t>9.5  </a:t>
            </a:r>
            <a:r>
              <a:rPr kumimoji="1" lang="zh-CN" altLang="en-US"/>
              <a:t>软件项目评审 </a:t>
            </a:r>
          </a:p>
        </p:txBody>
      </p:sp>
      <p:sp>
        <p:nvSpPr>
          <p:cNvPr id="82947" name="Rectangle 3">
            <a:extLst>
              <a:ext uri="{FF2B5EF4-FFF2-40B4-BE49-F238E27FC236}">
                <a16:creationId xmlns:a16="http://schemas.microsoft.com/office/drawing/2014/main" id="{558F4116-2FA8-4186-2971-682C1DC9CF3B}"/>
              </a:ext>
            </a:extLst>
          </p:cNvPr>
          <p:cNvSpPr>
            <a:spLocks noGrp="1" noChangeArrowheads="1"/>
          </p:cNvSpPr>
          <p:nvPr>
            <p:ph type="body" idx="1"/>
          </p:nvPr>
        </p:nvSpPr>
        <p:spPr>
          <a:xfrm>
            <a:off x="684213" y="1916113"/>
            <a:ext cx="8280400" cy="4941887"/>
          </a:xfrm>
        </p:spPr>
        <p:txBody>
          <a:bodyPr/>
          <a:lstStyle/>
          <a:p>
            <a:pPr eaLnBrk="1" hangingPunct="1">
              <a:lnSpc>
                <a:spcPct val="110000"/>
              </a:lnSpc>
              <a:spcBef>
                <a:spcPct val="20000"/>
              </a:spcBef>
            </a:pPr>
            <a:r>
              <a:rPr lang="zh-CN" altLang="en-US" sz="2400" dirty="0">
                <a:solidFill>
                  <a:schemeClr val="accent2"/>
                </a:solidFill>
                <a:ea typeface="黑体" panose="02010609060101010101" pitchFamily="49" charset="-122"/>
              </a:rPr>
              <a:t>软件项目评审</a:t>
            </a:r>
            <a:r>
              <a:rPr lang="zh-CN" altLang="en-US" dirty="0"/>
              <a:t> </a:t>
            </a:r>
            <a:endParaRPr lang="en-US" altLang="zh-CN" dirty="0"/>
          </a:p>
          <a:p>
            <a:pPr eaLnBrk="1" hangingPunct="1">
              <a:lnSpc>
                <a:spcPct val="110000"/>
              </a:lnSpc>
              <a:spcBef>
                <a:spcPct val="20000"/>
              </a:spcBef>
            </a:pPr>
            <a:r>
              <a:rPr lang="zh-CN" altLang="en-US" sz="1600" dirty="0"/>
              <a:t>项目评审是通过一定的方式对项目进行评价和审核的过程，通过项目评审，可以明确项目的执行状况，并确定采取的管理措施。</a:t>
            </a:r>
            <a:endParaRPr lang="en-US" altLang="zh-CN" sz="1600" dirty="0"/>
          </a:p>
          <a:p>
            <a:pPr eaLnBrk="1" hangingPunct="1">
              <a:lnSpc>
                <a:spcPct val="110000"/>
              </a:lnSpc>
              <a:spcBef>
                <a:spcPct val="20000"/>
              </a:spcBef>
            </a:pPr>
            <a:r>
              <a:rPr lang="zh-CN" altLang="en-US" sz="1600" dirty="0"/>
              <a:t>评审时，需要对</a:t>
            </a:r>
            <a:r>
              <a:rPr lang="zh-CN" altLang="en-US" sz="1600" dirty="0">
                <a:solidFill>
                  <a:srgbClr val="FF0000"/>
                </a:solidFill>
              </a:rPr>
              <a:t>进度计划、成本计划、风险计划、质量计划、配置计划</a:t>
            </a:r>
            <a:r>
              <a:rPr lang="zh-CN" altLang="en-US" sz="1600" dirty="0"/>
              <a:t>等的执行情况进行评价，确认计划中各项任务的完成情况，重新评估风险，更新风险表，明确是否所有的质量、配置活动都在执行以及团队的沟通情况如何等，给出</a:t>
            </a:r>
            <a:r>
              <a:rPr lang="zh-CN" altLang="en-US" sz="1600" dirty="0">
                <a:solidFill>
                  <a:srgbClr val="FF0000"/>
                </a:solidFill>
              </a:rPr>
              <a:t>到目前为止项目的执行结论</a:t>
            </a:r>
            <a:r>
              <a:rPr lang="zh-CN" altLang="en-US" sz="1600" dirty="0"/>
              <a:t>。</a:t>
            </a:r>
            <a:endParaRPr lang="en-US" altLang="zh-CN" sz="1600" dirty="0"/>
          </a:p>
          <a:p>
            <a:pPr eaLnBrk="1" hangingPunct="1">
              <a:lnSpc>
                <a:spcPct val="110000"/>
              </a:lnSpc>
              <a:spcBef>
                <a:spcPct val="20000"/>
              </a:spcBef>
            </a:pPr>
            <a:r>
              <a:rPr lang="zh-CN" altLang="en-US" sz="2400" dirty="0">
                <a:solidFill>
                  <a:schemeClr val="accent2"/>
                </a:solidFill>
                <a:latin typeface="黑体" panose="02010609060101010101" pitchFamily="49" charset="-122"/>
                <a:ea typeface="黑体" panose="02010609060101010101" pitchFamily="49" charset="-122"/>
              </a:rPr>
              <a:t>评审内容</a:t>
            </a:r>
          </a:p>
          <a:p>
            <a:pPr lvl="1" eaLnBrk="1" hangingPunct="1">
              <a:lnSpc>
                <a:spcPct val="110000"/>
              </a:lnSpc>
            </a:pPr>
            <a:r>
              <a:rPr lang="zh-CN" altLang="en-US" sz="1600" dirty="0">
                <a:latin typeface="宋体" panose="02010600030101010101" pitchFamily="2" charset="-122"/>
              </a:rPr>
              <a:t>进度计划</a:t>
            </a:r>
          </a:p>
          <a:p>
            <a:pPr lvl="1" eaLnBrk="1" hangingPunct="1">
              <a:lnSpc>
                <a:spcPct val="110000"/>
              </a:lnSpc>
            </a:pPr>
            <a:r>
              <a:rPr lang="zh-CN" altLang="en-US" sz="1600" dirty="0">
                <a:latin typeface="宋体" panose="02010600030101010101" pitchFamily="2" charset="-122"/>
              </a:rPr>
              <a:t>质量计划</a:t>
            </a:r>
          </a:p>
          <a:p>
            <a:pPr lvl="1" eaLnBrk="1" hangingPunct="1">
              <a:lnSpc>
                <a:spcPct val="110000"/>
              </a:lnSpc>
            </a:pPr>
            <a:r>
              <a:rPr lang="zh-CN" altLang="en-US" sz="1600" dirty="0">
                <a:latin typeface="宋体" panose="02010600030101010101" pitchFamily="2" charset="-122"/>
              </a:rPr>
              <a:t>配置计划</a:t>
            </a:r>
          </a:p>
          <a:p>
            <a:pPr lvl="1" eaLnBrk="1" hangingPunct="1">
              <a:lnSpc>
                <a:spcPct val="110000"/>
              </a:lnSpc>
            </a:pPr>
            <a:r>
              <a:rPr lang="zh-CN" altLang="en-US" sz="1600" dirty="0">
                <a:latin typeface="宋体" panose="02010600030101010101" pitchFamily="2" charset="-122"/>
              </a:rPr>
              <a:t>风险计划</a:t>
            </a:r>
          </a:p>
          <a:p>
            <a:pPr lvl="1" eaLnBrk="1" hangingPunct="1">
              <a:lnSpc>
                <a:spcPct val="110000"/>
              </a:lnSpc>
            </a:pPr>
            <a:r>
              <a:rPr lang="zh-CN" altLang="en-US" sz="1600" dirty="0">
                <a:latin typeface="宋体" panose="02010600030101010101" pitchFamily="2" charset="-122"/>
              </a:rPr>
              <a:t>沟通计划</a:t>
            </a:r>
          </a:p>
          <a:p>
            <a:pPr lvl="1" eaLnBrk="1" hangingPunct="1">
              <a:lnSpc>
                <a:spcPct val="110000"/>
              </a:lnSpc>
            </a:pPr>
            <a:r>
              <a:rPr lang="zh-CN" altLang="en-US" sz="1600" dirty="0">
                <a:latin typeface="宋体" panose="02010600030101010101" pitchFamily="2" charset="-122"/>
              </a:rPr>
              <a:t>度量计划等等</a:t>
            </a:r>
            <a:endParaRPr lang="zh-CN" altLang="en-US" sz="1600" dirty="0">
              <a:solidFill>
                <a:schemeClr val="accent2"/>
              </a:solidFill>
              <a:latin typeface="宋体" panose="02010600030101010101" pitchFamily="2" charset="-122"/>
            </a:endParaRPr>
          </a:p>
          <a:p>
            <a:pPr eaLnBrk="1" hangingPunct="1">
              <a:lnSpc>
                <a:spcPct val="110000"/>
              </a:lnSpc>
              <a:spcBef>
                <a:spcPct val="20000"/>
              </a:spcBef>
            </a:pPr>
            <a:endParaRPr lang="en-US" altLang="zh-CN" sz="2000" dirty="0">
              <a:solidFill>
                <a:schemeClr val="accent2"/>
              </a:solidFill>
              <a:latin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891E578-67AD-45A2-A77A-5E6035A93AAA}"/>
              </a:ext>
            </a:extLst>
          </p:cNvPr>
          <p:cNvSpPr>
            <a:spLocks noGrp="1" noChangeArrowheads="1"/>
          </p:cNvSpPr>
          <p:nvPr>
            <p:ph type="title"/>
          </p:nvPr>
        </p:nvSpPr>
        <p:spPr/>
        <p:txBody>
          <a:bodyPr/>
          <a:lstStyle/>
          <a:p>
            <a:pPr eaLnBrk="1" hangingPunct="1"/>
            <a:r>
              <a:rPr lang="en-US" altLang="zh-CN"/>
              <a:t>9.5  </a:t>
            </a:r>
            <a:r>
              <a:rPr kumimoji="1" lang="zh-CN" altLang="en-US"/>
              <a:t>软件项目评审 </a:t>
            </a:r>
          </a:p>
        </p:txBody>
      </p:sp>
      <p:sp>
        <p:nvSpPr>
          <p:cNvPr id="84995" name="Rectangle 3">
            <a:extLst>
              <a:ext uri="{FF2B5EF4-FFF2-40B4-BE49-F238E27FC236}">
                <a16:creationId xmlns:a16="http://schemas.microsoft.com/office/drawing/2014/main" id="{0A17657E-86FD-4852-D535-9A4866EC3D62}"/>
              </a:ext>
            </a:extLst>
          </p:cNvPr>
          <p:cNvSpPr>
            <a:spLocks noGrp="1" noChangeArrowheads="1"/>
          </p:cNvSpPr>
          <p:nvPr>
            <p:ph type="body" idx="1"/>
          </p:nvPr>
        </p:nvSpPr>
        <p:spPr>
          <a:xfrm>
            <a:off x="684213" y="1916113"/>
            <a:ext cx="8280400" cy="4941887"/>
          </a:xfrm>
        </p:spPr>
        <p:txBody>
          <a:bodyPr/>
          <a:lstStyle/>
          <a:p>
            <a:pPr eaLnBrk="1" hangingPunct="1">
              <a:lnSpc>
                <a:spcPct val="110000"/>
              </a:lnSpc>
              <a:spcBef>
                <a:spcPct val="20000"/>
              </a:spcBef>
            </a:pPr>
            <a:r>
              <a:rPr lang="zh-CN" altLang="en-US" sz="2400" dirty="0">
                <a:solidFill>
                  <a:schemeClr val="accent2"/>
                </a:solidFill>
                <a:ea typeface="黑体" panose="02010609060101010101" pitchFamily="49" charset="-122"/>
              </a:rPr>
              <a:t>软件项目评审</a:t>
            </a:r>
            <a:endParaRPr lang="en-US" altLang="zh-CN" sz="2400" dirty="0">
              <a:solidFill>
                <a:schemeClr val="accent2"/>
              </a:solidFill>
              <a:ea typeface="黑体" panose="02010609060101010101" pitchFamily="49" charset="-122"/>
            </a:endParaRPr>
          </a:p>
          <a:p>
            <a:pPr lvl="1" eaLnBrk="1" hangingPunct="1">
              <a:lnSpc>
                <a:spcPct val="110000"/>
              </a:lnSpc>
            </a:pPr>
            <a:r>
              <a:rPr lang="zh-CN" altLang="en-US" dirty="0">
                <a:solidFill>
                  <a:schemeClr val="accent2"/>
                </a:solidFill>
                <a:ea typeface="黑体" panose="02010609060101010101" pitchFamily="49" charset="-122"/>
              </a:rPr>
              <a:t>评审准备：</a:t>
            </a:r>
            <a:endParaRPr lang="en-US" altLang="zh-CN" dirty="0">
              <a:solidFill>
                <a:schemeClr val="accent2"/>
              </a:solidFill>
              <a:ea typeface="黑体" panose="02010609060101010101" pitchFamily="49" charset="-122"/>
            </a:endParaRPr>
          </a:p>
          <a:p>
            <a:pPr lvl="2" eaLnBrk="1" hangingPunct="1">
              <a:lnSpc>
                <a:spcPct val="110000"/>
              </a:lnSpc>
            </a:pPr>
            <a:r>
              <a:rPr lang="zh-CN" altLang="en-US" dirty="0">
                <a:ea typeface="黑体" panose="02010609060101010101" pitchFamily="49" charset="-122"/>
              </a:rPr>
              <a:t>评审准备主要是评审负责人确定评审内容并向评审参与者</a:t>
            </a:r>
            <a:r>
              <a:rPr lang="zh-CN" altLang="en-US" dirty="0">
                <a:solidFill>
                  <a:srgbClr val="FF0000"/>
                </a:solidFill>
                <a:ea typeface="黑体" panose="02010609060101010101" pitchFamily="49" charset="-122"/>
              </a:rPr>
              <a:t>发送评审内容</a:t>
            </a:r>
            <a:r>
              <a:rPr lang="zh-CN" altLang="en-US" dirty="0">
                <a:ea typeface="黑体" panose="02010609060101010101" pitchFamily="49" charset="-122"/>
              </a:rPr>
              <a:t>以及有关评审资料，评审参与者</a:t>
            </a:r>
            <a:r>
              <a:rPr lang="zh-CN" altLang="en-US" dirty="0">
                <a:solidFill>
                  <a:srgbClr val="FF0000"/>
                </a:solidFill>
                <a:ea typeface="黑体" panose="02010609060101010101" pitchFamily="49" charset="-122"/>
              </a:rPr>
              <a:t>审阅评审内容</a:t>
            </a:r>
            <a:r>
              <a:rPr lang="zh-CN" altLang="en-US" dirty="0">
                <a:ea typeface="黑体" panose="02010609060101010101" pitchFamily="49" charset="-122"/>
              </a:rPr>
              <a:t>及有关评审资料的过程。</a:t>
            </a:r>
            <a:endParaRPr lang="en-US" altLang="zh-CN" dirty="0">
              <a:ea typeface="黑体" panose="02010609060101010101" pitchFamily="49" charset="-122"/>
            </a:endParaRPr>
          </a:p>
          <a:p>
            <a:pPr lvl="2" eaLnBrk="1" hangingPunct="1">
              <a:lnSpc>
                <a:spcPct val="110000"/>
              </a:lnSpc>
            </a:pPr>
            <a:r>
              <a:rPr lang="zh-CN" altLang="en-US" dirty="0">
                <a:ea typeface="黑体" panose="02010609060101010101" pitchFamily="49" charset="-122"/>
              </a:rPr>
              <a:t>评审准备可能包括评审目的、评审内容、文档或产品的名称、评审方式、评审依据的规范和标准，</a:t>
            </a:r>
            <a:r>
              <a:rPr lang="en-US" altLang="zh-CN" dirty="0">
                <a:ea typeface="黑体" panose="02010609060101010101" pitchFamily="49" charset="-122"/>
              </a:rPr>
              <a:t>…</a:t>
            </a:r>
          </a:p>
          <a:p>
            <a:pPr lvl="2" eaLnBrk="1" hangingPunct="1">
              <a:lnSpc>
                <a:spcPct val="110000"/>
              </a:lnSpc>
            </a:pP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2A412462-2DBF-EED1-78FA-8FBD0EBDAAD4}"/>
              </a:ext>
            </a:extLst>
          </p:cNvPr>
          <p:cNvSpPr>
            <a:spLocks noGrp="1" noChangeArrowheads="1"/>
          </p:cNvSpPr>
          <p:nvPr>
            <p:ph type="title"/>
          </p:nvPr>
        </p:nvSpPr>
        <p:spPr/>
        <p:txBody>
          <a:bodyPr/>
          <a:lstStyle/>
          <a:p>
            <a:pPr eaLnBrk="1" hangingPunct="1"/>
            <a:r>
              <a:rPr lang="en-US" altLang="zh-CN"/>
              <a:t>9.5  </a:t>
            </a:r>
            <a:r>
              <a:rPr kumimoji="1" lang="zh-CN" altLang="en-US"/>
              <a:t>软件项目评审 </a:t>
            </a:r>
          </a:p>
        </p:txBody>
      </p:sp>
      <p:sp>
        <p:nvSpPr>
          <p:cNvPr id="87043" name="Rectangle 3">
            <a:extLst>
              <a:ext uri="{FF2B5EF4-FFF2-40B4-BE49-F238E27FC236}">
                <a16:creationId xmlns:a16="http://schemas.microsoft.com/office/drawing/2014/main" id="{B9A1C675-36C4-7620-1517-FB2A31120786}"/>
              </a:ext>
            </a:extLst>
          </p:cNvPr>
          <p:cNvSpPr>
            <a:spLocks noGrp="1" noChangeArrowheads="1"/>
          </p:cNvSpPr>
          <p:nvPr>
            <p:ph type="body" idx="1"/>
          </p:nvPr>
        </p:nvSpPr>
        <p:spPr>
          <a:xfrm>
            <a:off x="684213" y="1916113"/>
            <a:ext cx="8280400" cy="4941887"/>
          </a:xfrm>
        </p:spPr>
        <p:txBody>
          <a:bodyPr/>
          <a:lstStyle/>
          <a:p>
            <a:pPr eaLnBrk="1" hangingPunct="1">
              <a:lnSpc>
                <a:spcPct val="110000"/>
              </a:lnSpc>
              <a:spcBef>
                <a:spcPct val="20000"/>
              </a:spcBef>
            </a:pPr>
            <a:r>
              <a:rPr lang="zh-CN" altLang="en-US" sz="1800" dirty="0">
                <a:solidFill>
                  <a:schemeClr val="accent2"/>
                </a:solidFill>
                <a:ea typeface="黑体" panose="02010609060101010101" pitchFamily="49" charset="-122"/>
              </a:rPr>
              <a:t>软件项目评审</a:t>
            </a:r>
            <a:endParaRPr lang="en-US" altLang="zh-CN" sz="1800" dirty="0">
              <a:solidFill>
                <a:schemeClr val="accent2"/>
              </a:solidFill>
              <a:ea typeface="黑体" panose="02010609060101010101" pitchFamily="49" charset="-122"/>
            </a:endParaRPr>
          </a:p>
          <a:p>
            <a:pPr lvl="1" eaLnBrk="1" hangingPunct="1">
              <a:lnSpc>
                <a:spcPct val="110000"/>
              </a:lnSpc>
            </a:pPr>
            <a:r>
              <a:rPr lang="zh-CN" altLang="en-US" sz="1800" dirty="0">
                <a:solidFill>
                  <a:schemeClr val="accent2"/>
                </a:solidFill>
                <a:ea typeface="黑体" panose="02010609060101010101" pitchFamily="49" charset="-122"/>
              </a:rPr>
              <a:t>评审过程 ：</a:t>
            </a:r>
            <a:endParaRPr lang="en-US" altLang="zh-CN" sz="1800" dirty="0">
              <a:solidFill>
                <a:schemeClr val="accent2"/>
              </a:solidFill>
              <a:ea typeface="黑体" panose="02010609060101010101" pitchFamily="49" charset="-122"/>
            </a:endParaRPr>
          </a:p>
          <a:p>
            <a:pPr lvl="2" eaLnBrk="1" hangingPunct="1">
              <a:lnSpc>
                <a:spcPct val="110000"/>
              </a:lnSpc>
            </a:pPr>
            <a:r>
              <a:rPr lang="zh-CN" altLang="en-US" sz="1600" dirty="0">
                <a:ea typeface="黑体" panose="02010609060101010101" pitchFamily="49" charset="-122"/>
              </a:rPr>
              <a:t>评审过程的制定，为项目的评审活动能够有计划、有步骤地进行提供了指南，其中包括评审过程中所要进行的各项基本活动。</a:t>
            </a:r>
            <a:endParaRPr lang="en-US" altLang="zh-CN" sz="1600" dirty="0">
              <a:ea typeface="黑体" panose="02010609060101010101" pitchFamily="49" charset="-122"/>
            </a:endParaRPr>
          </a:p>
          <a:p>
            <a:pPr eaLnBrk="1" hangingPunct="1">
              <a:lnSpc>
                <a:spcPct val="110000"/>
              </a:lnSpc>
              <a:spcBef>
                <a:spcPct val="20000"/>
              </a:spcBef>
            </a:pPr>
            <a:r>
              <a:rPr lang="zh-CN" altLang="en-US" sz="1800" dirty="0">
                <a:solidFill>
                  <a:schemeClr val="accent2"/>
                </a:solidFill>
                <a:latin typeface="黑体" panose="02010609060101010101" pitchFamily="49" charset="-122"/>
                <a:ea typeface="黑体" panose="02010609060101010101" pitchFamily="49" charset="-122"/>
              </a:rPr>
              <a:t>评审类型</a:t>
            </a:r>
          </a:p>
          <a:p>
            <a:pPr lvl="1" eaLnBrk="1" hangingPunct="1">
              <a:lnSpc>
                <a:spcPct val="110000"/>
              </a:lnSpc>
            </a:pPr>
            <a:r>
              <a:rPr lang="zh-CN" altLang="en-US" sz="1600" dirty="0">
                <a:solidFill>
                  <a:schemeClr val="accent2"/>
                </a:solidFill>
                <a:latin typeface="黑体" panose="02010609060101010101" pitchFamily="49" charset="-122"/>
                <a:ea typeface="黑体" panose="02010609060101010101" pitchFamily="49" charset="-122"/>
              </a:rPr>
              <a:t>按活动类别分</a:t>
            </a:r>
          </a:p>
          <a:p>
            <a:pPr lvl="2" eaLnBrk="1" hangingPunct="1">
              <a:lnSpc>
                <a:spcPct val="110000"/>
              </a:lnSpc>
            </a:pPr>
            <a:r>
              <a:rPr lang="zh-CN" altLang="en-US" sz="1600" dirty="0">
                <a:latin typeface="黑体" panose="02010609060101010101" pitchFamily="49" charset="-122"/>
              </a:rPr>
              <a:t>商务评审</a:t>
            </a:r>
          </a:p>
          <a:p>
            <a:pPr lvl="2" eaLnBrk="1" hangingPunct="1">
              <a:lnSpc>
                <a:spcPct val="110000"/>
              </a:lnSpc>
            </a:pPr>
            <a:r>
              <a:rPr lang="zh-CN" altLang="en-US" sz="1600" dirty="0">
                <a:latin typeface="黑体" panose="02010609060101010101" pitchFamily="49" charset="-122"/>
              </a:rPr>
              <a:t>技术评审</a:t>
            </a:r>
          </a:p>
          <a:p>
            <a:pPr lvl="2" eaLnBrk="1" hangingPunct="1">
              <a:lnSpc>
                <a:spcPct val="110000"/>
              </a:lnSpc>
            </a:pPr>
            <a:r>
              <a:rPr lang="zh-CN" altLang="en-US" sz="1600" dirty="0">
                <a:latin typeface="黑体" panose="02010609060101010101" pitchFamily="49" charset="-122"/>
              </a:rPr>
              <a:t>管理评审</a:t>
            </a:r>
          </a:p>
          <a:p>
            <a:pPr lvl="2" eaLnBrk="1" hangingPunct="1">
              <a:lnSpc>
                <a:spcPct val="110000"/>
              </a:lnSpc>
            </a:pPr>
            <a:r>
              <a:rPr lang="zh-CN" altLang="en-US" sz="1600" dirty="0">
                <a:latin typeface="黑体" panose="02010609060101010101" pitchFamily="49" charset="-122"/>
              </a:rPr>
              <a:t>质量评审</a:t>
            </a:r>
          </a:p>
          <a:p>
            <a:pPr lvl="2" eaLnBrk="1" hangingPunct="1">
              <a:lnSpc>
                <a:spcPct val="110000"/>
              </a:lnSpc>
            </a:pPr>
            <a:r>
              <a:rPr lang="zh-CN" altLang="en-US" sz="1600" dirty="0">
                <a:latin typeface="黑体" panose="02010609060101010101" pitchFamily="49" charset="-122"/>
              </a:rPr>
              <a:t>产品评审等等</a:t>
            </a:r>
          </a:p>
          <a:p>
            <a:pPr lvl="1" eaLnBrk="1" hangingPunct="1">
              <a:lnSpc>
                <a:spcPct val="110000"/>
              </a:lnSpc>
            </a:pPr>
            <a:r>
              <a:rPr lang="zh-CN" altLang="en-US" sz="1600" dirty="0">
                <a:solidFill>
                  <a:schemeClr val="accent2"/>
                </a:solidFill>
                <a:latin typeface="黑体" panose="02010609060101010101" pitchFamily="49" charset="-122"/>
                <a:ea typeface="黑体" panose="02010609060101010101" pitchFamily="49" charset="-122"/>
              </a:rPr>
              <a:t>按时间类别分</a:t>
            </a:r>
          </a:p>
          <a:p>
            <a:pPr lvl="2" eaLnBrk="1" hangingPunct="1">
              <a:lnSpc>
                <a:spcPct val="110000"/>
              </a:lnSpc>
            </a:pPr>
            <a:r>
              <a:rPr lang="zh-CN" altLang="en-US" sz="1600" dirty="0">
                <a:solidFill>
                  <a:srgbClr val="FF0000"/>
                </a:solidFill>
                <a:latin typeface="黑体" panose="02010609060101010101" pitchFamily="49" charset="-122"/>
              </a:rPr>
              <a:t>定期评审</a:t>
            </a:r>
          </a:p>
          <a:p>
            <a:pPr lvl="2" eaLnBrk="1" hangingPunct="1">
              <a:lnSpc>
                <a:spcPct val="110000"/>
              </a:lnSpc>
            </a:pPr>
            <a:r>
              <a:rPr lang="zh-CN" altLang="en-US" sz="1600" dirty="0">
                <a:solidFill>
                  <a:srgbClr val="FF0000"/>
                </a:solidFill>
                <a:latin typeface="黑体" panose="02010609060101010101" pitchFamily="49" charset="-122"/>
              </a:rPr>
              <a:t>阶段评审</a:t>
            </a:r>
          </a:p>
          <a:p>
            <a:pPr lvl="2" eaLnBrk="1" hangingPunct="1">
              <a:lnSpc>
                <a:spcPct val="110000"/>
              </a:lnSpc>
            </a:pPr>
            <a:r>
              <a:rPr lang="zh-CN" altLang="en-US" sz="1600" dirty="0">
                <a:solidFill>
                  <a:srgbClr val="FF0000"/>
                </a:solidFill>
                <a:latin typeface="黑体" panose="02010609060101010101" pitchFamily="49" charset="-122"/>
              </a:rPr>
              <a:t>事件评审</a:t>
            </a:r>
            <a:r>
              <a:rPr lang="zh-CN" altLang="en-US" sz="1600" dirty="0">
                <a:latin typeface="黑体" panose="02010609060101010101" pitchFamily="49" charset="-122"/>
              </a:rPr>
              <a:t>等等</a:t>
            </a:r>
          </a:p>
          <a:p>
            <a:pPr eaLnBrk="1" hangingPunct="1">
              <a:lnSpc>
                <a:spcPct val="110000"/>
              </a:lnSpc>
            </a:pP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996815D1-571C-2B99-4350-62F19C38C788}"/>
              </a:ext>
            </a:extLst>
          </p:cNvPr>
          <p:cNvSpPr>
            <a:spLocks noGrp="1" noChangeArrowheads="1"/>
          </p:cNvSpPr>
          <p:nvPr>
            <p:ph type="title"/>
          </p:nvPr>
        </p:nvSpPr>
        <p:spPr/>
        <p:txBody>
          <a:bodyPr/>
          <a:lstStyle/>
          <a:p>
            <a:pPr eaLnBrk="1" hangingPunct="1"/>
            <a:r>
              <a:rPr kumimoji="1" lang="zh-CN" altLang="en-US"/>
              <a:t>软件项目评审</a:t>
            </a:r>
          </a:p>
        </p:txBody>
      </p:sp>
      <p:sp>
        <p:nvSpPr>
          <p:cNvPr id="89091" name="Rectangle 3">
            <a:extLst>
              <a:ext uri="{FF2B5EF4-FFF2-40B4-BE49-F238E27FC236}">
                <a16:creationId xmlns:a16="http://schemas.microsoft.com/office/drawing/2014/main" id="{E6FA61AE-846E-E4C3-3091-FCEAFA427A7C}"/>
              </a:ext>
            </a:extLst>
          </p:cNvPr>
          <p:cNvSpPr>
            <a:spLocks noGrp="1" noChangeArrowheads="1"/>
          </p:cNvSpPr>
          <p:nvPr>
            <p:ph type="body" idx="1"/>
          </p:nvPr>
        </p:nvSpPr>
        <p:spPr>
          <a:xfrm>
            <a:off x="395288" y="1916113"/>
            <a:ext cx="8389937" cy="4941887"/>
          </a:xfrm>
        </p:spPr>
        <p:txBody>
          <a:bodyPr/>
          <a:lstStyle/>
          <a:p>
            <a:pPr eaLnBrk="1" hangingPunct="1"/>
            <a:r>
              <a:rPr lang="zh-CN" altLang="en-US" sz="2000">
                <a:solidFill>
                  <a:schemeClr val="accent2"/>
                </a:solidFill>
                <a:latin typeface="黑体" panose="02010609060101010101" pitchFamily="49" charset="-122"/>
                <a:ea typeface="黑体" panose="02010609060101010101" pitchFamily="49" charset="-122"/>
              </a:rPr>
              <a:t>定期评审</a:t>
            </a:r>
            <a:endParaRPr lang="zh-CN" altLang="en-US">
              <a:solidFill>
                <a:schemeClr val="accent2"/>
              </a:solidFill>
            </a:endParaRPr>
          </a:p>
          <a:p>
            <a:pPr eaLnBrk="1" hangingPunct="1">
              <a:buFont typeface="Wingdings 2" panose="05020102010507070707" pitchFamily="18" charset="2"/>
              <a:buNone/>
            </a:pPr>
            <a:r>
              <a:rPr lang="zh-CN" altLang="en-US" sz="2000"/>
              <a:t>   </a:t>
            </a:r>
            <a:endParaRPr lang="zh-CN" altLang="en-US"/>
          </a:p>
        </p:txBody>
      </p:sp>
      <p:grpSp>
        <p:nvGrpSpPr>
          <p:cNvPr id="89092" name="Group 19">
            <a:extLst>
              <a:ext uri="{FF2B5EF4-FFF2-40B4-BE49-F238E27FC236}">
                <a16:creationId xmlns:a16="http://schemas.microsoft.com/office/drawing/2014/main" id="{2D4A3FF4-2575-3B59-BA14-377FCDC05208}"/>
              </a:ext>
            </a:extLst>
          </p:cNvPr>
          <p:cNvGrpSpPr>
            <a:grpSpLocks/>
          </p:cNvGrpSpPr>
          <p:nvPr/>
        </p:nvGrpSpPr>
        <p:grpSpPr bwMode="auto">
          <a:xfrm>
            <a:off x="865188" y="2520950"/>
            <a:ext cx="7810500" cy="4003675"/>
            <a:chOff x="545" y="1496"/>
            <a:chExt cx="4920" cy="2522"/>
          </a:xfrm>
        </p:grpSpPr>
        <p:sp>
          <p:nvSpPr>
            <p:cNvPr id="89093" name="Rectangle 5">
              <a:extLst>
                <a:ext uri="{FF2B5EF4-FFF2-40B4-BE49-F238E27FC236}">
                  <a16:creationId xmlns:a16="http://schemas.microsoft.com/office/drawing/2014/main" id="{4CAB98BD-85C8-804E-1716-CD23A7A07939}"/>
                </a:ext>
              </a:extLst>
            </p:cNvPr>
            <p:cNvSpPr>
              <a:spLocks noChangeArrowheads="1"/>
            </p:cNvSpPr>
            <p:nvPr/>
          </p:nvSpPr>
          <p:spPr bwMode="auto">
            <a:xfrm>
              <a:off x="1732" y="1570"/>
              <a:ext cx="1750" cy="332"/>
            </a:xfrm>
            <a:prstGeom prst="rect">
              <a:avLst/>
            </a:prstGeom>
            <a:solidFill>
              <a:srgbClr val="6699FF"/>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黑体" panose="02010609060101010101" pitchFamily="49" charset="-122"/>
                  <a:ea typeface="黑体" panose="02010609060101010101" pitchFamily="49" charset="-122"/>
                </a:rPr>
                <a:t>准备评审要素</a:t>
              </a:r>
            </a:p>
          </p:txBody>
        </p:sp>
        <p:sp>
          <p:nvSpPr>
            <p:cNvPr id="89094" name="Line 6">
              <a:extLst>
                <a:ext uri="{FF2B5EF4-FFF2-40B4-BE49-F238E27FC236}">
                  <a16:creationId xmlns:a16="http://schemas.microsoft.com/office/drawing/2014/main" id="{0A9E3D1A-B564-6B6C-90DE-5B597C1DB8CE}"/>
                </a:ext>
              </a:extLst>
            </p:cNvPr>
            <p:cNvSpPr>
              <a:spLocks noChangeShapeType="1"/>
            </p:cNvSpPr>
            <p:nvPr/>
          </p:nvSpPr>
          <p:spPr bwMode="auto">
            <a:xfrm>
              <a:off x="1202" y="1706"/>
              <a:ext cx="530" cy="1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095" name="Text Box 7">
              <a:extLst>
                <a:ext uri="{FF2B5EF4-FFF2-40B4-BE49-F238E27FC236}">
                  <a16:creationId xmlns:a16="http://schemas.microsoft.com/office/drawing/2014/main" id="{47B46932-DADD-8582-DAB1-006C7B1B9005}"/>
                </a:ext>
              </a:extLst>
            </p:cNvPr>
            <p:cNvSpPr txBox="1">
              <a:spLocks noChangeArrowheads="1"/>
            </p:cNvSpPr>
            <p:nvPr/>
          </p:nvSpPr>
          <p:spPr bwMode="auto">
            <a:xfrm>
              <a:off x="545" y="1496"/>
              <a:ext cx="702" cy="410"/>
            </a:xfrm>
            <a:prstGeom prst="rect">
              <a:avLst/>
            </a:prstGeom>
            <a:solidFill>
              <a:srgbClr val="CC6600"/>
            </a:solidFill>
            <a:ln w="9525">
              <a:solidFill>
                <a:schemeClr val="tx1"/>
              </a:solidFill>
              <a:miter lim="800000"/>
              <a:headEnd/>
              <a:tailEnd/>
            </a:ln>
          </p:spPr>
          <p:txBody>
            <a:bodyPr wrap="none">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solidFill>
                    <a:schemeClr val="bg1"/>
                  </a:solidFill>
                  <a:latin typeface="黑体" panose="02010609060101010101" pitchFamily="49" charset="-122"/>
                  <a:ea typeface="黑体" panose="02010609060101010101" pitchFamily="49" charset="-122"/>
                </a:rPr>
                <a:t>到达定期</a:t>
              </a:r>
            </a:p>
            <a:p>
              <a:pPr algn="just">
                <a:spcBef>
                  <a:spcPct val="0"/>
                </a:spcBef>
                <a:buClrTx/>
                <a:buFontTx/>
                <a:buNone/>
              </a:pPr>
              <a:r>
                <a:rPr kumimoji="0" lang="zh-CN" altLang="en-US" sz="1800">
                  <a:solidFill>
                    <a:schemeClr val="bg1"/>
                  </a:solidFill>
                  <a:latin typeface="黑体" panose="02010609060101010101" pitchFamily="49" charset="-122"/>
                  <a:ea typeface="黑体" panose="02010609060101010101" pitchFamily="49" charset="-122"/>
                </a:rPr>
                <a:t>评审时间</a:t>
              </a:r>
            </a:p>
          </p:txBody>
        </p:sp>
        <p:sp>
          <p:nvSpPr>
            <p:cNvPr id="89096" name="Rectangle 8">
              <a:extLst>
                <a:ext uri="{FF2B5EF4-FFF2-40B4-BE49-F238E27FC236}">
                  <a16:creationId xmlns:a16="http://schemas.microsoft.com/office/drawing/2014/main" id="{CB4D561E-040E-F047-2F44-BA89A0754221}"/>
                </a:ext>
              </a:extLst>
            </p:cNvPr>
            <p:cNvSpPr>
              <a:spLocks noChangeArrowheads="1"/>
            </p:cNvSpPr>
            <p:nvPr/>
          </p:nvSpPr>
          <p:spPr bwMode="auto">
            <a:xfrm>
              <a:off x="2726" y="2076"/>
              <a:ext cx="1750" cy="331"/>
            </a:xfrm>
            <a:prstGeom prst="rect">
              <a:avLst/>
            </a:prstGeom>
            <a:solidFill>
              <a:srgbClr val="6699FF"/>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黑体" panose="02010609060101010101" pitchFamily="49" charset="-122"/>
                  <a:ea typeface="黑体" panose="02010609060101010101" pitchFamily="49" charset="-122"/>
                </a:rPr>
                <a:t>确定评审方式</a:t>
              </a:r>
            </a:p>
          </p:txBody>
        </p:sp>
        <p:sp>
          <p:nvSpPr>
            <p:cNvPr id="89097" name="Rectangle 9">
              <a:extLst>
                <a:ext uri="{FF2B5EF4-FFF2-40B4-BE49-F238E27FC236}">
                  <a16:creationId xmlns:a16="http://schemas.microsoft.com/office/drawing/2014/main" id="{224AFF57-7E36-FEE6-D04A-17EAB65F5742}"/>
                </a:ext>
              </a:extLst>
            </p:cNvPr>
            <p:cNvSpPr>
              <a:spLocks noChangeArrowheads="1"/>
            </p:cNvSpPr>
            <p:nvPr/>
          </p:nvSpPr>
          <p:spPr bwMode="auto">
            <a:xfrm>
              <a:off x="3595" y="2600"/>
              <a:ext cx="1870" cy="333"/>
            </a:xfrm>
            <a:prstGeom prst="rect">
              <a:avLst/>
            </a:prstGeom>
            <a:solidFill>
              <a:srgbClr val="6699FF"/>
            </a:solidFill>
            <a:ln w="9525">
              <a:solidFill>
                <a:srgbClr val="000000"/>
              </a:solidFill>
              <a:miter lim="800000"/>
              <a:headEnd/>
              <a:tailEnd/>
            </a:ln>
          </p:spPr>
          <p:txBody>
            <a:bodyPr wrap="none" lIns="0" r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黑体" panose="02010609060101010101" pitchFamily="49" charset="-122"/>
                  <a:ea typeface="黑体" panose="02010609060101010101" pitchFamily="49" charset="-122"/>
                </a:rPr>
                <a:t>依据跟踪数据统计实际数据</a:t>
              </a:r>
            </a:p>
          </p:txBody>
        </p:sp>
        <p:sp>
          <p:nvSpPr>
            <p:cNvPr id="89098" name="Rectangle 10">
              <a:extLst>
                <a:ext uri="{FF2B5EF4-FFF2-40B4-BE49-F238E27FC236}">
                  <a16:creationId xmlns:a16="http://schemas.microsoft.com/office/drawing/2014/main" id="{892A863D-E630-19DC-0506-C2626C453BDF}"/>
                </a:ext>
              </a:extLst>
            </p:cNvPr>
            <p:cNvSpPr>
              <a:spLocks noChangeArrowheads="1"/>
            </p:cNvSpPr>
            <p:nvPr/>
          </p:nvSpPr>
          <p:spPr bwMode="auto">
            <a:xfrm>
              <a:off x="2288" y="3115"/>
              <a:ext cx="2183" cy="331"/>
            </a:xfrm>
            <a:prstGeom prst="rect">
              <a:avLst/>
            </a:prstGeom>
            <a:solidFill>
              <a:srgbClr val="6699FF"/>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黑体" panose="02010609060101010101" pitchFamily="49" charset="-122"/>
                  <a:ea typeface="黑体" panose="02010609060101010101" pitchFamily="49" charset="-122"/>
                </a:rPr>
                <a:t>评审管理</a:t>
              </a:r>
              <a:r>
                <a:rPr kumimoji="0" lang="en-US" altLang="zh-CN" sz="1800">
                  <a:solidFill>
                    <a:srgbClr val="000000"/>
                  </a:solidFill>
                  <a:latin typeface="黑体" panose="02010609060101010101" pitchFamily="49" charset="-122"/>
                  <a:ea typeface="黑体" panose="02010609060101010101" pitchFamily="49" charset="-122"/>
                </a:rPr>
                <a:t>/</a:t>
              </a:r>
              <a:r>
                <a:rPr kumimoji="0" lang="zh-CN" altLang="en-US" sz="1800">
                  <a:solidFill>
                    <a:srgbClr val="000000"/>
                  </a:solidFill>
                  <a:latin typeface="黑体" panose="02010609060101010101" pitchFamily="49" charset="-122"/>
                  <a:ea typeface="黑体" panose="02010609060101010101" pitchFamily="49" charset="-122"/>
                </a:rPr>
                <a:t>质量</a:t>
              </a:r>
              <a:r>
                <a:rPr kumimoji="0" lang="en-US" altLang="zh-CN" sz="1800">
                  <a:solidFill>
                    <a:srgbClr val="000000"/>
                  </a:solidFill>
                  <a:latin typeface="黑体" panose="02010609060101010101" pitchFamily="49" charset="-122"/>
                  <a:ea typeface="黑体" panose="02010609060101010101" pitchFamily="49" charset="-122"/>
                </a:rPr>
                <a:t>/</a:t>
              </a:r>
              <a:r>
                <a:rPr kumimoji="0" lang="zh-CN" altLang="en-US" sz="1800">
                  <a:solidFill>
                    <a:srgbClr val="000000"/>
                  </a:solidFill>
                  <a:latin typeface="黑体" panose="02010609060101010101" pitchFamily="49" charset="-122"/>
                  <a:ea typeface="黑体" panose="02010609060101010101" pitchFamily="49" charset="-122"/>
                </a:rPr>
                <a:t>技术等问题</a:t>
              </a:r>
            </a:p>
          </p:txBody>
        </p:sp>
        <p:sp>
          <p:nvSpPr>
            <p:cNvPr id="89099" name="Rectangle 11">
              <a:extLst>
                <a:ext uri="{FF2B5EF4-FFF2-40B4-BE49-F238E27FC236}">
                  <a16:creationId xmlns:a16="http://schemas.microsoft.com/office/drawing/2014/main" id="{2109C639-E2D9-DB80-82DD-81BB6C501956}"/>
                </a:ext>
              </a:extLst>
            </p:cNvPr>
            <p:cNvSpPr>
              <a:spLocks noChangeArrowheads="1"/>
            </p:cNvSpPr>
            <p:nvPr/>
          </p:nvSpPr>
          <p:spPr bwMode="auto">
            <a:xfrm>
              <a:off x="2695" y="3686"/>
              <a:ext cx="1346" cy="332"/>
            </a:xfrm>
            <a:prstGeom prst="rect">
              <a:avLst/>
            </a:prstGeom>
            <a:solidFill>
              <a:srgbClr val="6699FF"/>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黑体" panose="02010609060101010101" pitchFamily="49" charset="-122"/>
                  <a:ea typeface="黑体" panose="02010609060101010101" pitchFamily="49" charset="-122"/>
                </a:rPr>
                <a:t>对评审做出结论</a:t>
              </a:r>
            </a:p>
          </p:txBody>
        </p:sp>
        <p:sp>
          <p:nvSpPr>
            <p:cNvPr id="89100" name="Rectangle 12">
              <a:extLst>
                <a:ext uri="{FF2B5EF4-FFF2-40B4-BE49-F238E27FC236}">
                  <a16:creationId xmlns:a16="http://schemas.microsoft.com/office/drawing/2014/main" id="{BEC7D837-BAF1-60C5-9126-3018AB19B813}"/>
                </a:ext>
              </a:extLst>
            </p:cNvPr>
            <p:cNvSpPr>
              <a:spLocks noChangeArrowheads="1"/>
            </p:cNvSpPr>
            <p:nvPr/>
          </p:nvSpPr>
          <p:spPr bwMode="auto">
            <a:xfrm>
              <a:off x="909" y="3675"/>
              <a:ext cx="1140" cy="343"/>
            </a:xfrm>
            <a:prstGeom prst="rect">
              <a:avLst/>
            </a:prstGeom>
            <a:solidFill>
              <a:srgbClr val="6699FF"/>
            </a:solidFill>
            <a:ln w="9525">
              <a:solidFill>
                <a:srgbClr val="000000"/>
              </a:solidFill>
              <a:prstDash val="dash"/>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黑体" panose="02010609060101010101" pitchFamily="49" charset="-122"/>
                  <a:ea typeface="黑体" panose="02010609060101010101" pitchFamily="49" charset="-122"/>
                </a:rPr>
                <a:t>计划修改</a:t>
              </a:r>
            </a:p>
          </p:txBody>
        </p:sp>
        <p:sp>
          <p:nvSpPr>
            <p:cNvPr id="89101" name="Line 13">
              <a:extLst>
                <a:ext uri="{FF2B5EF4-FFF2-40B4-BE49-F238E27FC236}">
                  <a16:creationId xmlns:a16="http://schemas.microsoft.com/office/drawing/2014/main" id="{99ABB7F7-2D15-D7D3-CD05-9196FB860A1D}"/>
                </a:ext>
              </a:extLst>
            </p:cNvPr>
            <p:cNvSpPr>
              <a:spLocks noChangeShapeType="1"/>
            </p:cNvSpPr>
            <p:nvPr/>
          </p:nvSpPr>
          <p:spPr bwMode="auto">
            <a:xfrm>
              <a:off x="2033" y="3871"/>
              <a:ext cx="693" cy="0"/>
            </a:xfrm>
            <a:prstGeom prst="line">
              <a:avLst/>
            </a:prstGeom>
            <a:noFill/>
            <a:ln w="28575">
              <a:solidFill>
                <a:srgbClr val="00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02" name="Freeform 14">
              <a:extLst>
                <a:ext uri="{FF2B5EF4-FFF2-40B4-BE49-F238E27FC236}">
                  <a16:creationId xmlns:a16="http://schemas.microsoft.com/office/drawing/2014/main" id="{366D3518-CAEB-DBA8-ADD0-3F0F6EAA0A16}"/>
                </a:ext>
              </a:extLst>
            </p:cNvPr>
            <p:cNvSpPr>
              <a:spLocks/>
            </p:cNvSpPr>
            <p:nvPr/>
          </p:nvSpPr>
          <p:spPr bwMode="auto">
            <a:xfrm>
              <a:off x="2178" y="1905"/>
              <a:ext cx="548" cy="343"/>
            </a:xfrm>
            <a:custGeom>
              <a:avLst/>
              <a:gdLst>
                <a:gd name="T0" fmla="*/ 0 w 900"/>
                <a:gd name="T1" fmla="*/ 0 h 468"/>
                <a:gd name="T2" fmla="*/ 0 w 900"/>
                <a:gd name="T3" fmla="*/ 99 h 468"/>
                <a:gd name="T4" fmla="*/ 76 w 900"/>
                <a:gd name="T5" fmla="*/ 99 h 468"/>
                <a:gd name="T6" fmla="*/ 0 60000 65536"/>
                <a:gd name="T7" fmla="*/ 0 60000 65536"/>
                <a:gd name="T8" fmla="*/ 0 60000 65536"/>
                <a:gd name="T9" fmla="*/ 0 w 900"/>
                <a:gd name="T10" fmla="*/ 0 h 468"/>
                <a:gd name="T11" fmla="*/ 900 w 900"/>
                <a:gd name="T12" fmla="*/ 468 h 468"/>
              </a:gdLst>
              <a:ahLst/>
              <a:cxnLst>
                <a:cxn ang="T6">
                  <a:pos x="T0" y="T1"/>
                </a:cxn>
                <a:cxn ang="T7">
                  <a:pos x="T2" y="T3"/>
                </a:cxn>
                <a:cxn ang="T8">
                  <a:pos x="T4" y="T5"/>
                </a:cxn>
              </a:cxnLst>
              <a:rect l="T9" t="T10" r="T11" b="T12"/>
              <a:pathLst>
                <a:path w="900" h="468">
                  <a:moveTo>
                    <a:pt x="0" y="0"/>
                  </a:moveTo>
                  <a:lnTo>
                    <a:pt x="0" y="468"/>
                  </a:lnTo>
                  <a:lnTo>
                    <a:pt x="900" y="468"/>
                  </a:lnTo>
                </a:path>
              </a:pathLst>
            </a:custGeom>
            <a:solidFill>
              <a:srgbClr val="6699FF"/>
            </a:solidFill>
            <a:ln w="28575" cmpd="sng">
              <a:solidFill>
                <a:srgbClr val="000000"/>
              </a:solidFill>
              <a:round/>
              <a:headEnd type="none" w="med" len="med"/>
              <a:tailEnd type="triangle" w="med" len="med"/>
            </a:ln>
          </p:spPr>
          <p:txBody>
            <a:bodyPr/>
            <a:lstStyle/>
            <a:p>
              <a:endParaRPr lang="zh-CN" altLang="en-US"/>
            </a:p>
          </p:txBody>
        </p:sp>
        <p:sp>
          <p:nvSpPr>
            <p:cNvPr id="89103" name="Freeform 15">
              <a:extLst>
                <a:ext uri="{FF2B5EF4-FFF2-40B4-BE49-F238E27FC236}">
                  <a16:creationId xmlns:a16="http://schemas.microsoft.com/office/drawing/2014/main" id="{7B68AE33-23AC-6F54-06CA-FC17BD9C2CBD}"/>
                </a:ext>
              </a:extLst>
            </p:cNvPr>
            <p:cNvSpPr>
              <a:spLocks/>
            </p:cNvSpPr>
            <p:nvPr/>
          </p:nvSpPr>
          <p:spPr bwMode="auto">
            <a:xfrm>
              <a:off x="3383" y="2418"/>
              <a:ext cx="219" cy="343"/>
            </a:xfrm>
            <a:custGeom>
              <a:avLst/>
              <a:gdLst>
                <a:gd name="T0" fmla="*/ 0 w 360"/>
                <a:gd name="T1" fmla="*/ 0 h 468"/>
                <a:gd name="T2" fmla="*/ 0 w 360"/>
                <a:gd name="T3" fmla="*/ 99 h 468"/>
                <a:gd name="T4" fmla="*/ 30 w 360"/>
                <a:gd name="T5" fmla="*/ 99 h 468"/>
                <a:gd name="T6" fmla="*/ 0 60000 65536"/>
                <a:gd name="T7" fmla="*/ 0 60000 65536"/>
                <a:gd name="T8" fmla="*/ 0 60000 65536"/>
                <a:gd name="T9" fmla="*/ 0 w 360"/>
                <a:gd name="T10" fmla="*/ 0 h 468"/>
                <a:gd name="T11" fmla="*/ 360 w 360"/>
                <a:gd name="T12" fmla="*/ 468 h 468"/>
              </a:gdLst>
              <a:ahLst/>
              <a:cxnLst>
                <a:cxn ang="T6">
                  <a:pos x="T0" y="T1"/>
                </a:cxn>
                <a:cxn ang="T7">
                  <a:pos x="T2" y="T3"/>
                </a:cxn>
                <a:cxn ang="T8">
                  <a:pos x="T4" y="T5"/>
                </a:cxn>
              </a:cxnLst>
              <a:rect l="T9" t="T10" r="T11" b="T12"/>
              <a:pathLst>
                <a:path w="360" h="468">
                  <a:moveTo>
                    <a:pt x="0" y="0"/>
                  </a:moveTo>
                  <a:lnTo>
                    <a:pt x="0" y="468"/>
                  </a:lnTo>
                  <a:lnTo>
                    <a:pt x="360" y="468"/>
                  </a:lnTo>
                </a:path>
              </a:pathLst>
            </a:custGeom>
            <a:solidFill>
              <a:srgbClr val="6699FF"/>
            </a:solidFill>
            <a:ln w="28575" cmpd="sng">
              <a:solidFill>
                <a:srgbClr val="000000"/>
              </a:solidFill>
              <a:round/>
              <a:headEnd type="none" w="med" len="med"/>
              <a:tailEnd type="triangle" w="med" len="med"/>
            </a:ln>
          </p:spPr>
          <p:txBody>
            <a:bodyPr/>
            <a:lstStyle/>
            <a:p>
              <a:endParaRPr lang="zh-CN" altLang="en-US"/>
            </a:p>
          </p:txBody>
        </p:sp>
        <p:sp>
          <p:nvSpPr>
            <p:cNvPr id="89104" name="Freeform 16">
              <a:extLst>
                <a:ext uri="{FF2B5EF4-FFF2-40B4-BE49-F238E27FC236}">
                  <a16:creationId xmlns:a16="http://schemas.microsoft.com/office/drawing/2014/main" id="{5BF932B1-71A2-A464-C988-515E7FEC21EF}"/>
                </a:ext>
              </a:extLst>
            </p:cNvPr>
            <p:cNvSpPr>
              <a:spLocks/>
            </p:cNvSpPr>
            <p:nvPr/>
          </p:nvSpPr>
          <p:spPr bwMode="auto">
            <a:xfrm>
              <a:off x="4479" y="2946"/>
              <a:ext cx="329" cy="343"/>
            </a:xfrm>
            <a:custGeom>
              <a:avLst/>
              <a:gdLst>
                <a:gd name="T0" fmla="*/ 45 w 540"/>
                <a:gd name="T1" fmla="*/ 0 h 312"/>
                <a:gd name="T2" fmla="*/ 45 w 540"/>
                <a:gd name="T3" fmla="*/ 500 h 312"/>
                <a:gd name="T4" fmla="*/ 0 w 540"/>
                <a:gd name="T5" fmla="*/ 500 h 312"/>
                <a:gd name="T6" fmla="*/ 0 60000 65536"/>
                <a:gd name="T7" fmla="*/ 0 60000 65536"/>
                <a:gd name="T8" fmla="*/ 0 60000 65536"/>
                <a:gd name="T9" fmla="*/ 0 w 540"/>
                <a:gd name="T10" fmla="*/ 0 h 312"/>
                <a:gd name="T11" fmla="*/ 540 w 540"/>
                <a:gd name="T12" fmla="*/ 312 h 312"/>
              </a:gdLst>
              <a:ahLst/>
              <a:cxnLst>
                <a:cxn ang="T6">
                  <a:pos x="T0" y="T1"/>
                </a:cxn>
                <a:cxn ang="T7">
                  <a:pos x="T2" y="T3"/>
                </a:cxn>
                <a:cxn ang="T8">
                  <a:pos x="T4" y="T5"/>
                </a:cxn>
              </a:cxnLst>
              <a:rect l="T9" t="T10" r="T11" b="T12"/>
              <a:pathLst>
                <a:path w="540" h="312">
                  <a:moveTo>
                    <a:pt x="540" y="0"/>
                  </a:moveTo>
                  <a:lnTo>
                    <a:pt x="540" y="312"/>
                  </a:lnTo>
                  <a:lnTo>
                    <a:pt x="0" y="312"/>
                  </a:lnTo>
                </a:path>
              </a:pathLst>
            </a:custGeom>
            <a:solidFill>
              <a:srgbClr val="6699FF"/>
            </a:solidFill>
            <a:ln w="28575" cmpd="sng">
              <a:solidFill>
                <a:srgbClr val="000000"/>
              </a:solidFill>
              <a:round/>
              <a:headEnd type="none" w="med" len="med"/>
              <a:tailEnd type="triangle" w="med" len="med"/>
            </a:ln>
          </p:spPr>
          <p:txBody>
            <a:bodyPr/>
            <a:lstStyle/>
            <a:p>
              <a:endParaRPr lang="zh-CN" altLang="en-US"/>
            </a:p>
          </p:txBody>
        </p:sp>
        <p:sp>
          <p:nvSpPr>
            <p:cNvPr id="89105" name="Line 17">
              <a:extLst>
                <a:ext uri="{FF2B5EF4-FFF2-40B4-BE49-F238E27FC236}">
                  <a16:creationId xmlns:a16="http://schemas.microsoft.com/office/drawing/2014/main" id="{10D5C5A3-CF3E-28F2-0B1D-1CA65C47B524}"/>
                </a:ext>
              </a:extLst>
            </p:cNvPr>
            <p:cNvSpPr>
              <a:spLocks noChangeShapeType="1"/>
            </p:cNvSpPr>
            <p:nvPr/>
          </p:nvSpPr>
          <p:spPr bwMode="auto">
            <a:xfrm>
              <a:off x="3383" y="3446"/>
              <a:ext cx="0" cy="229"/>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996815D1-571C-2B99-4350-62F19C38C788}"/>
              </a:ext>
            </a:extLst>
          </p:cNvPr>
          <p:cNvSpPr>
            <a:spLocks noGrp="1" noChangeArrowheads="1"/>
          </p:cNvSpPr>
          <p:nvPr>
            <p:ph type="title"/>
          </p:nvPr>
        </p:nvSpPr>
        <p:spPr/>
        <p:txBody>
          <a:bodyPr/>
          <a:lstStyle/>
          <a:p>
            <a:pPr eaLnBrk="1" hangingPunct="1"/>
            <a:r>
              <a:rPr kumimoji="1" lang="zh-CN" altLang="en-US"/>
              <a:t>软件项目评审</a:t>
            </a:r>
          </a:p>
        </p:txBody>
      </p:sp>
      <p:sp>
        <p:nvSpPr>
          <p:cNvPr id="89091" name="Rectangle 3">
            <a:extLst>
              <a:ext uri="{FF2B5EF4-FFF2-40B4-BE49-F238E27FC236}">
                <a16:creationId xmlns:a16="http://schemas.microsoft.com/office/drawing/2014/main" id="{E6FA61AE-846E-E4C3-3091-FCEAFA427A7C}"/>
              </a:ext>
            </a:extLst>
          </p:cNvPr>
          <p:cNvSpPr>
            <a:spLocks noGrp="1" noChangeArrowheads="1"/>
          </p:cNvSpPr>
          <p:nvPr>
            <p:ph type="body" idx="1"/>
          </p:nvPr>
        </p:nvSpPr>
        <p:spPr>
          <a:xfrm>
            <a:off x="395288" y="1916113"/>
            <a:ext cx="8389937" cy="4941887"/>
          </a:xfrm>
        </p:spPr>
        <p:txBody>
          <a:bodyPr/>
          <a:lstStyle/>
          <a:p>
            <a:pPr eaLnBrk="1" hangingPunct="1"/>
            <a:r>
              <a:rPr lang="zh-CN" altLang="en-US" sz="2000" dirty="0">
                <a:solidFill>
                  <a:schemeClr val="accent2"/>
                </a:solidFill>
                <a:latin typeface="黑体" panose="02010609060101010101" pitchFamily="49" charset="-122"/>
                <a:ea typeface="黑体" panose="02010609060101010101" pitchFamily="49" charset="-122"/>
              </a:rPr>
              <a:t>定期评审</a:t>
            </a:r>
            <a:endParaRPr lang="zh-CN" altLang="en-US" dirty="0">
              <a:solidFill>
                <a:schemeClr val="accent2"/>
              </a:solidFill>
            </a:endParaRPr>
          </a:p>
          <a:p>
            <a:pPr eaLnBrk="1" hangingPunct="1">
              <a:buFont typeface="Wingdings 2" panose="05020102010507070707" pitchFamily="18" charset="2"/>
              <a:buNone/>
            </a:pPr>
            <a:r>
              <a:rPr lang="zh-CN" altLang="en-US" sz="2000" dirty="0"/>
              <a:t>   </a:t>
            </a:r>
            <a:r>
              <a:rPr lang="en-US" altLang="zh-CN" sz="2000" dirty="0"/>
              <a:t>	</a:t>
            </a:r>
            <a:r>
              <a:rPr lang="zh-CN" altLang="en-US" sz="2000" dirty="0"/>
              <a:t>定期评审主要是根据项目计划和跟踪采集的数据定期对</a:t>
            </a:r>
            <a:r>
              <a:rPr lang="zh-CN" altLang="en-US" sz="2000" dirty="0">
                <a:solidFill>
                  <a:srgbClr val="FF0000"/>
                </a:solidFill>
              </a:rPr>
              <a:t>项目执行的状态进行评审</a:t>
            </a:r>
            <a:r>
              <a:rPr lang="zh-CN" altLang="en-US" sz="2000" dirty="0"/>
              <a:t>：</a:t>
            </a:r>
            <a:endParaRPr lang="en-US" altLang="zh-CN" sz="2000" dirty="0"/>
          </a:p>
          <a:p>
            <a:pPr eaLnBrk="1" hangingPunct="1">
              <a:buFont typeface="Wingdings 2" panose="05020102010507070707" pitchFamily="18" charset="2"/>
              <a:buNone/>
            </a:pPr>
            <a:r>
              <a:rPr lang="en-US" altLang="zh-CN" sz="2000" dirty="0"/>
              <a:t>	</a:t>
            </a:r>
            <a:r>
              <a:rPr lang="zh-CN" altLang="en-US" sz="2000" dirty="0"/>
              <a:t>（</a:t>
            </a:r>
            <a:r>
              <a:rPr lang="en-US" altLang="zh-CN" sz="2000" dirty="0"/>
              <a:t>1</a:t>
            </a:r>
            <a:r>
              <a:rPr lang="zh-CN" altLang="en-US" sz="2000" dirty="0"/>
              <a:t>）跟踪项目的实际执行情况</a:t>
            </a:r>
            <a:endParaRPr lang="en-US" altLang="zh-CN" sz="2000" dirty="0"/>
          </a:p>
          <a:p>
            <a:pPr eaLnBrk="1" hangingPunct="1">
              <a:buFont typeface="Wingdings 2" panose="05020102010507070707" pitchFamily="18" charset="2"/>
              <a:buNone/>
            </a:pPr>
            <a:r>
              <a:rPr lang="en-US" altLang="zh-CN" sz="2000" dirty="0"/>
              <a:t>	</a:t>
            </a:r>
            <a:r>
              <a:rPr lang="zh-CN" altLang="en-US" sz="2000" dirty="0"/>
              <a:t>（</a:t>
            </a:r>
            <a:r>
              <a:rPr lang="en-US" altLang="zh-CN" sz="2000" dirty="0"/>
              <a:t>2</a:t>
            </a:r>
            <a:r>
              <a:rPr lang="zh-CN" altLang="en-US" sz="2000" dirty="0"/>
              <a:t>）检查任务规模是否合理</a:t>
            </a:r>
            <a:endParaRPr lang="en-US" altLang="zh-CN" sz="2000" dirty="0"/>
          </a:p>
          <a:p>
            <a:pPr eaLnBrk="1" hangingPunct="1">
              <a:buFont typeface="Wingdings 2" panose="05020102010507070707" pitchFamily="18" charset="2"/>
              <a:buNone/>
            </a:pPr>
            <a:r>
              <a:rPr lang="en-US" altLang="zh-CN" sz="2000" dirty="0"/>
              <a:t>	</a:t>
            </a:r>
            <a:r>
              <a:rPr lang="zh-CN" altLang="en-US" sz="2000" dirty="0"/>
              <a:t>（</a:t>
            </a:r>
            <a:r>
              <a:rPr lang="en-US" altLang="zh-CN" sz="2000" dirty="0"/>
              <a:t>3</a:t>
            </a:r>
            <a:r>
              <a:rPr lang="zh-CN" altLang="en-US" sz="2000" dirty="0"/>
              <a:t>）项目进度是否得以保证</a:t>
            </a:r>
            <a:endParaRPr lang="en-US" altLang="zh-CN" sz="2000" dirty="0"/>
          </a:p>
          <a:p>
            <a:pPr eaLnBrk="1" hangingPunct="1">
              <a:buFont typeface="Wingdings 2" panose="05020102010507070707" pitchFamily="18" charset="2"/>
              <a:buNone/>
            </a:pPr>
            <a:r>
              <a:rPr lang="en-US" altLang="zh-CN" sz="2000" dirty="0"/>
              <a:t>	</a:t>
            </a:r>
            <a:r>
              <a:rPr lang="zh-CN" altLang="en-US" sz="2000" dirty="0"/>
              <a:t>（</a:t>
            </a:r>
            <a:r>
              <a:rPr lang="en-US" altLang="zh-CN" sz="2000" dirty="0"/>
              <a:t>4</a:t>
            </a:r>
            <a:r>
              <a:rPr lang="zh-CN" altLang="en-US" sz="2000" dirty="0"/>
              <a:t>）资源调配是否合理</a:t>
            </a:r>
            <a:endParaRPr lang="en-US" altLang="zh-CN" sz="2000" dirty="0"/>
          </a:p>
          <a:p>
            <a:pPr eaLnBrk="1" hangingPunct="1">
              <a:buFont typeface="Wingdings 2" panose="05020102010507070707" pitchFamily="18" charset="2"/>
              <a:buNone/>
            </a:pPr>
            <a:r>
              <a:rPr lang="en-US" altLang="zh-CN" sz="2000" dirty="0"/>
              <a:t>	</a:t>
            </a:r>
            <a:r>
              <a:rPr lang="zh-CN" altLang="en-US" sz="2000" dirty="0"/>
              <a:t>（</a:t>
            </a:r>
            <a:r>
              <a:rPr lang="en-US" altLang="zh-CN" sz="2000" dirty="0"/>
              <a:t>5</a:t>
            </a:r>
            <a:r>
              <a:rPr lang="zh-CN" altLang="en-US" sz="2000" dirty="0"/>
              <a:t>）责任是否落实等。</a:t>
            </a:r>
            <a:endParaRPr lang="en-US" altLang="zh-CN" sz="2000" dirty="0"/>
          </a:p>
          <a:p>
            <a:pPr eaLnBrk="1" hangingPunct="1">
              <a:buFont typeface="Wingdings 2" panose="05020102010507070707" pitchFamily="18" charset="2"/>
              <a:buNone/>
            </a:pPr>
            <a:endParaRPr lang="en-US" altLang="zh-CN" sz="2000" dirty="0"/>
          </a:p>
          <a:p>
            <a:pPr eaLnBrk="1" hangingPunct="1">
              <a:buFont typeface="Wingdings 2" panose="05020102010507070707" pitchFamily="18" charset="2"/>
              <a:buNone/>
            </a:pPr>
            <a:r>
              <a:rPr lang="en-US" altLang="zh-CN" sz="2000" dirty="0"/>
              <a:t>	</a:t>
            </a:r>
            <a:r>
              <a:rPr lang="zh-CN" altLang="en-US" sz="2000" dirty="0"/>
              <a:t>基于上述评审，项目经理可以将项目实际执行结果与计划进行比较，如果出现明显</a:t>
            </a:r>
            <a:r>
              <a:rPr lang="zh-CN" altLang="en-US" sz="2000" dirty="0">
                <a:solidFill>
                  <a:srgbClr val="FF0000"/>
                </a:solidFill>
              </a:rPr>
              <a:t>偏差</a:t>
            </a:r>
            <a:r>
              <a:rPr lang="zh-CN" altLang="en-US" sz="2000" dirty="0"/>
              <a:t>，就需要采取</a:t>
            </a:r>
            <a:r>
              <a:rPr lang="zh-CN" altLang="en-US" sz="2000" dirty="0">
                <a:solidFill>
                  <a:srgbClr val="FF0000"/>
                </a:solidFill>
              </a:rPr>
              <a:t>纠正</a:t>
            </a:r>
            <a:r>
              <a:rPr lang="zh-CN" altLang="en-US" sz="2000" dirty="0"/>
              <a:t>措施。</a:t>
            </a:r>
            <a:endParaRPr lang="zh-CN" altLang="en-US" dirty="0"/>
          </a:p>
        </p:txBody>
      </p:sp>
    </p:spTree>
    <p:extLst>
      <p:ext uri="{BB962C8B-B14F-4D97-AF65-F5344CB8AC3E}">
        <p14:creationId xmlns:p14="http://schemas.microsoft.com/office/powerpoint/2010/main" val="17545585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6318B38D-388F-C043-993E-54C382FCACC3}"/>
              </a:ext>
            </a:extLst>
          </p:cNvPr>
          <p:cNvSpPr>
            <a:spLocks noGrp="1" noChangeArrowheads="1"/>
          </p:cNvSpPr>
          <p:nvPr>
            <p:ph type="title"/>
          </p:nvPr>
        </p:nvSpPr>
        <p:spPr/>
        <p:txBody>
          <a:bodyPr/>
          <a:lstStyle/>
          <a:p>
            <a:pPr eaLnBrk="1" hangingPunct="1"/>
            <a:r>
              <a:rPr kumimoji="1" lang="zh-CN" altLang="en-US"/>
              <a:t>软件项目评审</a:t>
            </a:r>
          </a:p>
        </p:txBody>
      </p:sp>
      <p:sp>
        <p:nvSpPr>
          <p:cNvPr id="91139" name="Rectangle 3">
            <a:extLst>
              <a:ext uri="{FF2B5EF4-FFF2-40B4-BE49-F238E27FC236}">
                <a16:creationId xmlns:a16="http://schemas.microsoft.com/office/drawing/2014/main" id="{55A1434C-0B2A-C9E8-7389-C98BF5FF0A5F}"/>
              </a:ext>
            </a:extLst>
          </p:cNvPr>
          <p:cNvSpPr>
            <a:spLocks noGrp="1" noChangeArrowheads="1"/>
          </p:cNvSpPr>
          <p:nvPr>
            <p:ph type="body" idx="1"/>
          </p:nvPr>
        </p:nvSpPr>
        <p:spPr>
          <a:xfrm>
            <a:off x="468313" y="2060575"/>
            <a:ext cx="8496300" cy="4797425"/>
          </a:xfrm>
        </p:spPr>
        <p:txBody>
          <a:bodyPr/>
          <a:lstStyle/>
          <a:p>
            <a:pPr eaLnBrk="1" hangingPunct="1"/>
            <a:r>
              <a:rPr lang="zh-CN" altLang="en-US" sz="2000">
                <a:solidFill>
                  <a:schemeClr val="accent2"/>
                </a:solidFill>
                <a:latin typeface="黑体" panose="02010609060101010101" pitchFamily="49" charset="-122"/>
                <a:ea typeface="黑体" panose="02010609060101010101" pitchFamily="49" charset="-122"/>
              </a:rPr>
              <a:t>阶段评审（里程碑评审）</a:t>
            </a:r>
          </a:p>
        </p:txBody>
      </p:sp>
      <p:grpSp>
        <p:nvGrpSpPr>
          <p:cNvPr id="91140" name="Group 20">
            <a:extLst>
              <a:ext uri="{FF2B5EF4-FFF2-40B4-BE49-F238E27FC236}">
                <a16:creationId xmlns:a16="http://schemas.microsoft.com/office/drawing/2014/main" id="{D03CF7BD-3F74-E07B-6CBE-2322EEA8D7FC}"/>
              </a:ext>
            </a:extLst>
          </p:cNvPr>
          <p:cNvGrpSpPr>
            <a:grpSpLocks/>
          </p:cNvGrpSpPr>
          <p:nvPr/>
        </p:nvGrpSpPr>
        <p:grpSpPr bwMode="auto">
          <a:xfrm>
            <a:off x="1116013" y="2636838"/>
            <a:ext cx="7345362" cy="3959225"/>
            <a:chOff x="657" y="1480"/>
            <a:chExt cx="4627" cy="2494"/>
          </a:xfrm>
        </p:grpSpPr>
        <p:sp>
          <p:nvSpPr>
            <p:cNvPr id="91141" name="Rectangle 5">
              <a:extLst>
                <a:ext uri="{FF2B5EF4-FFF2-40B4-BE49-F238E27FC236}">
                  <a16:creationId xmlns:a16="http://schemas.microsoft.com/office/drawing/2014/main" id="{81107DBA-82EA-4030-C421-1A7A4E229065}"/>
                </a:ext>
              </a:extLst>
            </p:cNvPr>
            <p:cNvSpPr>
              <a:spLocks noChangeArrowheads="1"/>
            </p:cNvSpPr>
            <p:nvPr/>
          </p:nvSpPr>
          <p:spPr bwMode="auto">
            <a:xfrm>
              <a:off x="2070" y="1571"/>
              <a:ext cx="1621" cy="250"/>
            </a:xfrm>
            <a:prstGeom prst="rect">
              <a:avLst/>
            </a:prstGeom>
            <a:solidFill>
              <a:srgbClr val="CC6600"/>
            </a:solidFill>
            <a:ln w="9525">
              <a:solidFill>
                <a:srgbClr val="000000"/>
              </a:solidFill>
              <a:miter lim="800000"/>
              <a:headEnd/>
              <a:tailEnd/>
            </a:ln>
          </p:spPr>
          <p:txBody>
            <a:bodyPr wrap="none" t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准备评审要素</a:t>
              </a:r>
            </a:p>
          </p:txBody>
        </p:sp>
        <p:sp>
          <p:nvSpPr>
            <p:cNvPr id="91142" name="Line 6">
              <a:extLst>
                <a:ext uri="{FF2B5EF4-FFF2-40B4-BE49-F238E27FC236}">
                  <a16:creationId xmlns:a16="http://schemas.microsoft.com/office/drawing/2014/main" id="{82827A2E-507B-68D0-95B4-2E7A6F5BA725}"/>
                </a:ext>
              </a:extLst>
            </p:cNvPr>
            <p:cNvSpPr>
              <a:spLocks noChangeShapeType="1"/>
            </p:cNvSpPr>
            <p:nvPr/>
          </p:nvSpPr>
          <p:spPr bwMode="auto">
            <a:xfrm flipV="1">
              <a:off x="1655" y="1739"/>
              <a:ext cx="415" cy="1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3" name="Rectangle 7">
              <a:extLst>
                <a:ext uri="{FF2B5EF4-FFF2-40B4-BE49-F238E27FC236}">
                  <a16:creationId xmlns:a16="http://schemas.microsoft.com/office/drawing/2014/main" id="{52244E18-7F76-B641-4F63-7C07A16DEEF7}"/>
                </a:ext>
              </a:extLst>
            </p:cNvPr>
            <p:cNvSpPr>
              <a:spLocks noChangeArrowheads="1"/>
            </p:cNvSpPr>
            <p:nvPr/>
          </p:nvSpPr>
          <p:spPr bwMode="auto">
            <a:xfrm>
              <a:off x="2963" y="1923"/>
              <a:ext cx="1720" cy="258"/>
            </a:xfrm>
            <a:prstGeom prst="rect">
              <a:avLst/>
            </a:prstGeom>
            <a:solidFill>
              <a:srgbClr val="CC6600"/>
            </a:solidFill>
            <a:ln w="9525">
              <a:solidFill>
                <a:srgbClr val="000000"/>
              </a:solidFill>
              <a:miter lim="800000"/>
              <a:headEnd/>
              <a:tailEnd/>
            </a:ln>
          </p:spPr>
          <p:txBody>
            <a:bodyPr wrap="none" lIns="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ts val="300"/>
                </a:spcBef>
                <a:buClrTx/>
                <a:buFontTx/>
                <a:buNone/>
              </a:pPr>
              <a:r>
                <a:rPr kumimoji="0" lang="zh-CN" altLang="en-US" sz="1800">
                  <a:solidFill>
                    <a:schemeClr val="bg1"/>
                  </a:solidFill>
                  <a:ea typeface="黑体" panose="02010609060101010101" pitchFamily="49" charset="-122"/>
                </a:rPr>
                <a:t>组织评审</a:t>
              </a:r>
            </a:p>
          </p:txBody>
        </p:sp>
        <p:sp>
          <p:nvSpPr>
            <p:cNvPr id="91144" name="Rectangle 8">
              <a:extLst>
                <a:ext uri="{FF2B5EF4-FFF2-40B4-BE49-F238E27FC236}">
                  <a16:creationId xmlns:a16="http://schemas.microsoft.com/office/drawing/2014/main" id="{871A90D7-E88C-A7D8-41EF-8E2DD171E4F1}"/>
                </a:ext>
              </a:extLst>
            </p:cNvPr>
            <p:cNvSpPr>
              <a:spLocks noChangeArrowheads="1"/>
            </p:cNvSpPr>
            <p:nvPr/>
          </p:nvSpPr>
          <p:spPr bwMode="auto">
            <a:xfrm>
              <a:off x="3491" y="2334"/>
              <a:ext cx="1793" cy="264"/>
            </a:xfrm>
            <a:prstGeom prst="rect">
              <a:avLst/>
            </a:prstGeom>
            <a:solidFill>
              <a:srgbClr val="CC6600"/>
            </a:solidFill>
            <a:ln w="9525">
              <a:solidFill>
                <a:srgbClr val="000000"/>
              </a:solidFill>
              <a:miter lim="800000"/>
              <a:headEnd/>
              <a:tailEnd/>
            </a:ln>
          </p:spPr>
          <p:txBody>
            <a:bodyPr wrap="none" lIns="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评审阶段关键任务完成情况</a:t>
              </a:r>
            </a:p>
          </p:txBody>
        </p:sp>
        <p:sp>
          <p:nvSpPr>
            <p:cNvPr id="91145" name="Rectangle 9">
              <a:extLst>
                <a:ext uri="{FF2B5EF4-FFF2-40B4-BE49-F238E27FC236}">
                  <a16:creationId xmlns:a16="http://schemas.microsoft.com/office/drawing/2014/main" id="{5AEC0E62-0D65-D24D-DA31-95C8866C8F9E}"/>
                </a:ext>
              </a:extLst>
            </p:cNvPr>
            <p:cNvSpPr>
              <a:spLocks noChangeArrowheads="1"/>
            </p:cNvSpPr>
            <p:nvPr/>
          </p:nvSpPr>
          <p:spPr bwMode="auto">
            <a:xfrm>
              <a:off x="2858" y="2745"/>
              <a:ext cx="1793" cy="269"/>
            </a:xfrm>
            <a:prstGeom prst="rect">
              <a:avLst/>
            </a:prstGeom>
            <a:solidFill>
              <a:srgbClr val="CC6600"/>
            </a:solidFill>
            <a:ln w="9525">
              <a:solidFill>
                <a:srgbClr val="000000"/>
              </a:solidFill>
              <a:miter lim="800000"/>
              <a:headEnd/>
              <a:tailEnd/>
            </a:ln>
          </p:spPr>
          <p:txBody>
            <a:bodyPr wrap="none" t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确认产品提交情况</a:t>
              </a:r>
            </a:p>
          </p:txBody>
        </p:sp>
        <p:sp>
          <p:nvSpPr>
            <p:cNvPr id="91146" name="Rectangle 10">
              <a:extLst>
                <a:ext uri="{FF2B5EF4-FFF2-40B4-BE49-F238E27FC236}">
                  <a16:creationId xmlns:a16="http://schemas.microsoft.com/office/drawing/2014/main" id="{8DC14CCB-7139-594B-15B9-74BAA47919F2}"/>
                </a:ext>
              </a:extLst>
            </p:cNvPr>
            <p:cNvSpPr>
              <a:spLocks noChangeArrowheads="1"/>
            </p:cNvSpPr>
            <p:nvPr/>
          </p:nvSpPr>
          <p:spPr bwMode="auto">
            <a:xfrm>
              <a:off x="2436" y="3688"/>
              <a:ext cx="1223" cy="279"/>
            </a:xfrm>
            <a:prstGeom prst="rect">
              <a:avLst/>
            </a:prstGeom>
            <a:solidFill>
              <a:srgbClr val="CC6600"/>
            </a:solidFill>
            <a:ln w="9525">
              <a:solidFill>
                <a:srgbClr val="000000"/>
              </a:solidFill>
              <a:miter lim="800000"/>
              <a:headEnd/>
              <a:tailEnd/>
            </a:ln>
          </p:spPr>
          <p:txBody>
            <a:bodyPr wrap="none" t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阶段评语</a:t>
              </a:r>
            </a:p>
          </p:txBody>
        </p:sp>
        <p:sp>
          <p:nvSpPr>
            <p:cNvPr id="91147" name="Rectangle 11">
              <a:extLst>
                <a:ext uri="{FF2B5EF4-FFF2-40B4-BE49-F238E27FC236}">
                  <a16:creationId xmlns:a16="http://schemas.microsoft.com/office/drawing/2014/main" id="{29EFA090-CC57-E1FE-202F-4DF2F0CF4C49}"/>
                </a:ext>
              </a:extLst>
            </p:cNvPr>
            <p:cNvSpPr>
              <a:spLocks noChangeArrowheads="1"/>
            </p:cNvSpPr>
            <p:nvPr/>
          </p:nvSpPr>
          <p:spPr bwMode="auto">
            <a:xfrm>
              <a:off x="2436" y="3154"/>
              <a:ext cx="1207" cy="269"/>
            </a:xfrm>
            <a:prstGeom prst="rect">
              <a:avLst/>
            </a:prstGeom>
            <a:solidFill>
              <a:srgbClr val="CC6600"/>
            </a:solidFill>
            <a:ln w="9525">
              <a:solidFill>
                <a:srgbClr val="000000"/>
              </a:solidFill>
              <a:miter lim="800000"/>
              <a:headEnd/>
              <a:tailEnd/>
            </a:ln>
          </p:spPr>
          <p:txBody>
            <a:bodyPr wrap="none" lIns="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统计数据报告</a:t>
              </a:r>
            </a:p>
          </p:txBody>
        </p:sp>
        <p:sp>
          <p:nvSpPr>
            <p:cNvPr id="91148" name="Rectangle 12">
              <a:extLst>
                <a:ext uri="{FF2B5EF4-FFF2-40B4-BE49-F238E27FC236}">
                  <a16:creationId xmlns:a16="http://schemas.microsoft.com/office/drawing/2014/main" id="{3BFCB684-A0B7-2949-CB09-98BDDCC8D179}"/>
                </a:ext>
              </a:extLst>
            </p:cNvPr>
            <p:cNvSpPr>
              <a:spLocks noChangeArrowheads="1"/>
            </p:cNvSpPr>
            <p:nvPr/>
          </p:nvSpPr>
          <p:spPr bwMode="auto">
            <a:xfrm>
              <a:off x="748" y="3691"/>
              <a:ext cx="1261" cy="283"/>
            </a:xfrm>
            <a:prstGeom prst="rect">
              <a:avLst/>
            </a:prstGeom>
            <a:solidFill>
              <a:srgbClr val="CC6600"/>
            </a:solidFill>
            <a:ln w="9525">
              <a:solidFill>
                <a:srgbClr val="000000"/>
              </a:solidFill>
              <a:miter lim="800000"/>
              <a:headEnd/>
              <a:tailEnd/>
            </a:ln>
          </p:spPr>
          <p:txBody>
            <a:bodyPr wrap="none" lIns="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bg1"/>
                  </a:solidFill>
                  <a:latin typeface="Times New Roman" panose="02020603050405020304" pitchFamily="18" charset="0"/>
                  <a:ea typeface="黑体" panose="02010609060101010101" pitchFamily="49" charset="-122"/>
                </a:rPr>
                <a:t>对下阶段计划调整</a:t>
              </a:r>
            </a:p>
          </p:txBody>
        </p:sp>
        <p:sp>
          <p:nvSpPr>
            <p:cNvPr id="91149" name="Freeform 13">
              <a:extLst>
                <a:ext uri="{FF2B5EF4-FFF2-40B4-BE49-F238E27FC236}">
                  <a16:creationId xmlns:a16="http://schemas.microsoft.com/office/drawing/2014/main" id="{9B77C423-ADD8-4DF6-9800-0047B00D131F}"/>
                </a:ext>
              </a:extLst>
            </p:cNvPr>
            <p:cNvSpPr>
              <a:spLocks/>
            </p:cNvSpPr>
            <p:nvPr/>
          </p:nvSpPr>
          <p:spPr bwMode="auto">
            <a:xfrm>
              <a:off x="3702" y="1719"/>
              <a:ext cx="316" cy="204"/>
            </a:xfrm>
            <a:custGeom>
              <a:avLst/>
              <a:gdLst>
                <a:gd name="T0" fmla="*/ 0 w 540"/>
                <a:gd name="T1" fmla="*/ 0 h 312"/>
                <a:gd name="T2" fmla="*/ 37 w 540"/>
                <a:gd name="T3" fmla="*/ 0 h 312"/>
                <a:gd name="T4" fmla="*/ 37 w 540"/>
                <a:gd name="T5" fmla="*/ 37 h 312"/>
                <a:gd name="T6" fmla="*/ 0 60000 65536"/>
                <a:gd name="T7" fmla="*/ 0 60000 65536"/>
                <a:gd name="T8" fmla="*/ 0 60000 65536"/>
                <a:gd name="T9" fmla="*/ 0 w 540"/>
                <a:gd name="T10" fmla="*/ 0 h 312"/>
                <a:gd name="T11" fmla="*/ 540 w 540"/>
                <a:gd name="T12" fmla="*/ 312 h 312"/>
              </a:gdLst>
              <a:ahLst/>
              <a:cxnLst>
                <a:cxn ang="T6">
                  <a:pos x="T0" y="T1"/>
                </a:cxn>
                <a:cxn ang="T7">
                  <a:pos x="T2" y="T3"/>
                </a:cxn>
                <a:cxn ang="T8">
                  <a:pos x="T4" y="T5"/>
                </a:cxn>
              </a:cxnLst>
              <a:rect l="T9" t="T10" r="T11" b="T12"/>
              <a:pathLst>
                <a:path w="540" h="312">
                  <a:moveTo>
                    <a:pt x="0" y="0"/>
                  </a:moveTo>
                  <a:lnTo>
                    <a:pt x="540" y="0"/>
                  </a:lnTo>
                  <a:lnTo>
                    <a:pt x="540" y="312"/>
                  </a:lnTo>
                </a:path>
              </a:pathLst>
            </a:custGeom>
            <a:solidFill>
              <a:srgbClr val="CC6600"/>
            </a:solidFill>
            <a:ln w="28575" cmpd="sng">
              <a:solidFill>
                <a:srgbClr val="000000"/>
              </a:solidFill>
              <a:round/>
              <a:headEnd type="none" w="med" len="med"/>
              <a:tailEnd type="triangle" w="med" len="med"/>
            </a:ln>
          </p:spPr>
          <p:txBody>
            <a:bodyPr/>
            <a:lstStyle/>
            <a:p>
              <a:endParaRPr lang="zh-CN" altLang="en-US"/>
            </a:p>
          </p:txBody>
        </p:sp>
        <p:sp>
          <p:nvSpPr>
            <p:cNvPr id="91150" name="Freeform 14">
              <a:extLst>
                <a:ext uri="{FF2B5EF4-FFF2-40B4-BE49-F238E27FC236}">
                  <a16:creationId xmlns:a16="http://schemas.microsoft.com/office/drawing/2014/main" id="{50343551-32AC-2674-887E-BE92969C2BAD}"/>
                </a:ext>
              </a:extLst>
            </p:cNvPr>
            <p:cNvSpPr>
              <a:spLocks/>
            </p:cNvSpPr>
            <p:nvPr/>
          </p:nvSpPr>
          <p:spPr bwMode="auto">
            <a:xfrm>
              <a:off x="4682" y="2026"/>
              <a:ext cx="316" cy="308"/>
            </a:xfrm>
            <a:custGeom>
              <a:avLst/>
              <a:gdLst>
                <a:gd name="T0" fmla="*/ 0 w 540"/>
                <a:gd name="T1" fmla="*/ 0 h 468"/>
                <a:gd name="T2" fmla="*/ 37 w 540"/>
                <a:gd name="T3" fmla="*/ 0 h 468"/>
                <a:gd name="T4" fmla="*/ 37 w 540"/>
                <a:gd name="T5" fmla="*/ 58 h 468"/>
                <a:gd name="T6" fmla="*/ 0 60000 65536"/>
                <a:gd name="T7" fmla="*/ 0 60000 65536"/>
                <a:gd name="T8" fmla="*/ 0 60000 65536"/>
                <a:gd name="T9" fmla="*/ 0 w 540"/>
                <a:gd name="T10" fmla="*/ 0 h 468"/>
                <a:gd name="T11" fmla="*/ 540 w 540"/>
                <a:gd name="T12" fmla="*/ 468 h 468"/>
              </a:gdLst>
              <a:ahLst/>
              <a:cxnLst>
                <a:cxn ang="T6">
                  <a:pos x="T0" y="T1"/>
                </a:cxn>
                <a:cxn ang="T7">
                  <a:pos x="T2" y="T3"/>
                </a:cxn>
                <a:cxn ang="T8">
                  <a:pos x="T4" y="T5"/>
                </a:cxn>
              </a:cxnLst>
              <a:rect l="T9" t="T10" r="T11" b="T12"/>
              <a:pathLst>
                <a:path w="540" h="468">
                  <a:moveTo>
                    <a:pt x="0" y="0"/>
                  </a:moveTo>
                  <a:lnTo>
                    <a:pt x="540" y="0"/>
                  </a:lnTo>
                  <a:lnTo>
                    <a:pt x="540" y="468"/>
                  </a:lnTo>
                </a:path>
              </a:pathLst>
            </a:custGeom>
            <a:solidFill>
              <a:srgbClr val="CC6600"/>
            </a:solidFill>
            <a:ln w="28575" cmpd="sng">
              <a:solidFill>
                <a:srgbClr val="000000"/>
              </a:solidFill>
              <a:round/>
              <a:headEnd type="none" w="med" len="med"/>
              <a:tailEnd type="triangle" w="med" len="med"/>
            </a:ln>
          </p:spPr>
          <p:txBody>
            <a:bodyPr/>
            <a:lstStyle/>
            <a:p>
              <a:endParaRPr lang="zh-CN" altLang="en-US"/>
            </a:p>
          </p:txBody>
        </p:sp>
        <p:sp>
          <p:nvSpPr>
            <p:cNvPr id="91151" name="Freeform 15">
              <a:extLst>
                <a:ext uri="{FF2B5EF4-FFF2-40B4-BE49-F238E27FC236}">
                  <a16:creationId xmlns:a16="http://schemas.microsoft.com/office/drawing/2014/main" id="{D417912F-2441-8B4F-100F-E51F797DBFC7}"/>
                </a:ext>
              </a:extLst>
            </p:cNvPr>
            <p:cNvSpPr>
              <a:spLocks/>
            </p:cNvSpPr>
            <p:nvPr/>
          </p:nvSpPr>
          <p:spPr bwMode="auto">
            <a:xfrm>
              <a:off x="4651" y="2620"/>
              <a:ext cx="317" cy="309"/>
            </a:xfrm>
            <a:custGeom>
              <a:avLst/>
              <a:gdLst>
                <a:gd name="T0" fmla="*/ 38 w 540"/>
                <a:gd name="T1" fmla="*/ 0 h 468"/>
                <a:gd name="T2" fmla="*/ 38 w 540"/>
                <a:gd name="T3" fmla="*/ 59 h 468"/>
                <a:gd name="T4" fmla="*/ 0 w 540"/>
                <a:gd name="T5" fmla="*/ 59 h 468"/>
                <a:gd name="T6" fmla="*/ 0 60000 65536"/>
                <a:gd name="T7" fmla="*/ 0 60000 65536"/>
                <a:gd name="T8" fmla="*/ 0 60000 65536"/>
                <a:gd name="T9" fmla="*/ 0 w 540"/>
                <a:gd name="T10" fmla="*/ 0 h 468"/>
                <a:gd name="T11" fmla="*/ 540 w 540"/>
                <a:gd name="T12" fmla="*/ 468 h 468"/>
              </a:gdLst>
              <a:ahLst/>
              <a:cxnLst>
                <a:cxn ang="T6">
                  <a:pos x="T0" y="T1"/>
                </a:cxn>
                <a:cxn ang="T7">
                  <a:pos x="T2" y="T3"/>
                </a:cxn>
                <a:cxn ang="T8">
                  <a:pos x="T4" y="T5"/>
                </a:cxn>
              </a:cxnLst>
              <a:rect l="T9" t="T10" r="T11" b="T12"/>
              <a:pathLst>
                <a:path w="540" h="468">
                  <a:moveTo>
                    <a:pt x="540" y="0"/>
                  </a:moveTo>
                  <a:lnTo>
                    <a:pt x="540" y="468"/>
                  </a:lnTo>
                  <a:lnTo>
                    <a:pt x="0" y="468"/>
                  </a:lnTo>
                </a:path>
              </a:pathLst>
            </a:custGeom>
            <a:solidFill>
              <a:srgbClr val="CC6600"/>
            </a:solidFill>
            <a:ln w="28575" cmpd="sng">
              <a:solidFill>
                <a:srgbClr val="000000"/>
              </a:solidFill>
              <a:round/>
              <a:headEnd type="none" w="med" len="med"/>
              <a:tailEnd type="triangle" w="med" len="med"/>
            </a:ln>
          </p:spPr>
          <p:txBody>
            <a:bodyPr/>
            <a:lstStyle/>
            <a:p>
              <a:endParaRPr lang="zh-CN" altLang="en-US"/>
            </a:p>
          </p:txBody>
        </p:sp>
        <p:sp>
          <p:nvSpPr>
            <p:cNvPr id="91152" name="Freeform 16">
              <a:extLst>
                <a:ext uri="{FF2B5EF4-FFF2-40B4-BE49-F238E27FC236}">
                  <a16:creationId xmlns:a16="http://schemas.microsoft.com/office/drawing/2014/main" id="{A3D258B0-1C80-37E5-C733-0EBBB27B188E}"/>
                </a:ext>
              </a:extLst>
            </p:cNvPr>
            <p:cNvSpPr>
              <a:spLocks/>
            </p:cNvSpPr>
            <p:nvPr/>
          </p:nvSpPr>
          <p:spPr bwMode="auto">
            <a:xfrm>
              <a:off x="3662" y="3031"/>
              <a:ext cx="633" cy="307"/>
            </a:xfrm>
            <a:custGeom>
              <a:avLst/>
              <a:gdLst>
                <a:gd name="T0" fmla="*/ 74 w 1080"/>
                <a:gd name="T1" fmla="*/ 0 h 468"/>
                <a:gd name="T2" fmla="*/ 74 w 1080"/>
                <a:gd name="T3" fmla="*/ 57 h 468"/>
                <a:gd name="T4" fmla="*/ 0 w 1080"/>
                <a:gd name="T5" fmla="*/ 57 h 468"/>
                <a:gd name="T6" fmla="*/ 0 60000 65536"/>
                <a:gd name="T7" fmla="*/ 0 60000 65536"/>
                <a:gd name="T8" fmla="*/ 0 60000 65536"/>
                <a:gd name="T9" fmla="*/ 0 w 1080"/>
                <a:gd name="T10" fmla="*/ 0 h 468"/>
                <a:gd name="T11" fmla="*/ 1080 w 1080"/>
                <a:gd name="T12" fmla="*/ 468 h 468"/>
              </a:gdLst>
              <a:ahLst/>
              <a:cxnLst>
                <a:cxn ang="T6">
                  <a:pos x="T0" y="T1"/>
                </a:cxn>
                <a:cxn ang="T7">
                  <a:pos x="T2" y="T3"/>
                </a:cxn>
                <a:cxn ang="T8">
                  <a:pos x="T4" y="T5"/>
                </a:cxn>
              </a:cxnLst>
              <a:rect l="T9" t="T10" r="T11" b="T12"/>
              <a:pathLst>
                <a:path w="1080" h="468">
                  <a:moveTo>
                    <a:pt x="1080" y="0"/>
                  </a:moveTo>
                  <a:lnTo>
                    <a:pt x="1080" y="468"/>
                  </a:lnTo>
                  <a:lnTo>
                    <a:pt x="0" y="468"/>
                  </a:lnTo>
                </a:path>
              </a:pathLst>
            </a:custGeom>
            <a:solidFill>
              <a:srgbClr val="CC6600"/>
            </a:solidFill>
            <a:ln w="28575" cmpd="sng">
              <a:solidFill>
                <a:srgbClr val="000000"/>
              </a:solidFill>
              <a:round/>
              <a:headEnd type="none" w="med" len="med"/>
              <a:tailEnd type="triangle" w="med" len="med"/>
            </a:ln>
          </p:spPr>
          <p:txBody>
            <a:bodyPr/>
            <a:lstStyle/>
            <a:p>
              <a:endParaRPr lang="zh-CN" altLang="en-US"/>
            </a:p>
          </p:txBody>
        </p:sp>
        <p:sp>
          <p:nvSpPr>
            <p:cNvPr id="91153" name="Line 17">
              <a:extLst>
                <a:ext uri="{FF2B5EF4-FFF2-40B4-BE49-F238E27FC236}">
                  <a16:creationId xmlns:a16="http://schemas.microsoft.com/office/drawing/2014/main" id="{762B3D08-51D5-F403-0A7D-8CB4BA2DAC12}"/>
                </a:ext>
              </a:extLst>
            </p:cNvPr>
            <p:cNvSpPr>
              <a:spLocks noChangeShapeType="1"/>
            </p:cNvSpPr>
            <p:nvPr/>
          </p:nvSpPr>
          <p:spPr bwMode="auto">
            <a:xfrm>
              <a:off x="2963" y="3412"/>
              <a:ext cx="0" cy="30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1154" name="Line 18">
              <a:extLst>
                <a:ext uri="{FF2B5EF4-FFF2-40B4-BE49-F238E27FC236}">
                  <a16:creationId xmlns:a16="http://schemas.microsoft.com/office/drawing/2014/main" id="{9C88980D-965C-E2BE-1D3C-AE73DEFD1A0D}"/>
                </a:ext>
              </a:extLst>
            </p:cNvPr>
            <p:cNvSpPr>
              <a:spLocks noChangeShapeType="1"/>
            </p:cNvSpPr>
            <p:nvPr/>
          </p:nvSpPr>
          <p:spPr bwMode="auto">
            <a:xfrm flipH="1">
              <a:off x="2014" y="3872"/>
              <a:ext cx="422"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1155" name="Rectangle 19">
              <a:extLst>
                <a:ext uri="{FF2B5EF4-FFF2-40B4-BE49-F238E27FC236}">
                  <a16:creationId xmlns:a16="http://schemas.microsoft.com/office/drawing/2014/main" id="{17D00D9A-94A0-1FA0-30BB-49594AECC78F}"/>
                </a:ext>
              </a:extLst>
            </p:cNvPr>
            <p:cNvSpPr>
              <a:spLocks noChangeArrowheads="1"/>
            </p:cNvSpPr>
            <p:nvPr/>
          </p:nvSpPr>
          <p:spPr bwMode="auto">
            <a:xfrm>
              <a:off x="657" y="1480"/>
              <a:ext cx="998" cy="499"/>
            </a:xfrm>
            <a:prstGeom prst="rect">
              <a:avLst/>
            </a:prstGeom>
            <a:solidFill>
              <a:srgbClr val="6699FF"/>
            </a:solidFill>
            <a:ln w="9525">
              <a:solidFill>
                <a:srgbClr val="000000"/>
              </a:solidFill>
              <a:miter lim="800000"/>
              <a:headEnd/>
              <a:tailEnd/>
            </a:ln>
          </p:spPr>
          <p:txBody>
            <a:bodyPr wrap="none" lIns="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Times New Roman" panose="02020603050405020304" pitchFamily="18" charset="0"/>
                  <a:ea typeface="黑体" panose="02010609060101010101" pitchFamily="49" charset="-122"/>
                </a:rPr>
                <a:t>一个阶段结束</a:t>
              </a: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6318B38D-388F-C043-993E-54C382FCACC3}"/>
              </a:ext>
            </a:extLst>
          </p:cNvPr>
          <p:cNvSpPr>
            <a:spLocks noGrp="1" noChangeArrowheads="1"/>
          </p:cNvSpPr>
          <p:nvPr>
            <p:ph type="title"/>
          </p:nvPr>
        </p:nvSpPr>
        <p:spPr/>
        <p:txBody>
          <a:bodyPr/>
          <a:lstStyle/>
          <a:p>
            <a:pPr eaLnBrk="1" hangingPunct="1"/>
            <a:r>
              <a:rPr kumimoji="1" lang="zh-CN" altLang="en-US"/>
              <a:t>软件项目评审</a:t>
            </a:r>
          </a:p>
        </p:txBody>
      </p:sp>
      <p:sp>
        <p:nvSpPr>
          <p:cNvPr id="91139" name="Rectangle 3">
            <a:extLst>
              <a:ext uri="{FF2B5EF4-FFF2-40B4-BE49-F238E27FC236}">
                <a16:creationId xmlns:a16="http://schemas.microsoft.com/office/drawing/2014/main" id="{55A1434C-0B2A-C9E8-7389-C98BF5FF0A5F}"/>
              </a:ext>
            </a:extLst>
          </p:cNvPr>
          <p:cNvSpPr>
            <a:spLocks noGrp="1" noChangeArrowheads="1"/>
          </p:cNvSpPr>
          <p:nvPr>
            <p:ph type="body" idx="1"/>
          </p:nvPr>
        </p:nvSpPr>
        <p:spPr>
          <a:xfrm>
            <a:off x="468313" y="2060575"/>
            <a:ext cx="8496300" cy="4797425"/>
          </a:xfrm>
        </p:spPr>
        <p:txBody>
          <a:bodyPr/>
          <a:lstStyle/>
          <a:p>
            <a:pPr eaLnBrk="1" hangingPunct="1"/>
            <a:r>
              <a:rPr lang="zh-CN" altLang="en-US" sz="2000" dirty="0">
                <a:solidFill>
                  <a:schemeClr val="accent2"/>
                </a:solidFill>
                <a:latin typeface="黑体" panose="02010609060101010101" pitchFamily="49" charset="-122"/>
                <a:ea typeface="黑体" panose="02010609060101010101" pitchFamily="49" charset="-122"/>
              </a:rPr>
              <a:t>阶段评审（里程碑评审）</a:t>
            </a:r>
            <a:endParaRPr lang="en-US" altLang="zh-CN" sz="2000" dirty="0">
              <a:solidFill>
                <a:schemeClr val="accent2"/>
              </a:solidFill>
              <a:latin typeface="黑体" panose="02010609060101010101" pitchFamily="49" charset="-122"/>
              <a:ea typeface="黑体" panose="02010609060101010101" pitchFamily="49" charset="-122"/>
            </a:endParaRPr>
          </a:p>
          <a:p>
            <a:pPr lvl="1" eaLnBrk="1" hangingPunct="1"/>
            <a:r>
              <a:rPr lang="zh-CN" altLang="en-US" sz="1800" dirty="0"/>
              <a:t>阶段评审主要是在项目计划中规定的</a:t>
            </a:r>
            <a:r>
              <a:rPr lang="zh-CN" altLang="en-US" sz="1800" dirty="0">
                <a:solidFill>
                  <a:srgbClr val="FF0000"/>
                </a:solidFill>
              </a:rPr>
              <a:t>阶段点（里程碑）</a:t>
            </a:r>
            <a:r>
              <a:rPr lang="zh-CN" altLang="en-US" sz="1800" dirty="0"/>
              <a:t>，由项目管理者组织，根据项目计划、定期评审报告、技术评审报告和</a:t>
            </a:r>
            <a:r>
              <a:rPr lang="en-US" altLang="zh-CN" sz="1800" dirty="0"/>
              <a:t>SQA</a:t>
            </a:r>
            <a:r>
              <a:rPr lang="zh-CN" altLang="en-US" sz="1800" dirty="0"/>
              <a:t>评审报告对</a:t>
            </a:r>
            <a:r>
              <a:rPr lang="zh-CN" altLang="en-US" sz="1800" dirty="0">
                <a:solidFill>
                  <a:srgbClr val="FF0000"/>
                </a:solidFill>
              </a:rPr>
              <a:t>该阶段任务完成情况和产品</a:t>
            </a:r>
            <a:r>
              <a:rPr lang="zh-CN" altLang="en-US" sz="1800" dirty="0"/>
              <a:t>进行评审。</a:t>
            </a:r>
            <a:endParaRPr lang="en-US" altLang="zh-CN" sz="1800" dirty="0"/>
          </a:p>
          <a:p>
            <a:pPr lvl="1" eaLnBrk="1" hangingPunct="1"/>
            <a:endParaRPr lang="en-US" altLang="zh-CN" sz="1800" dirty="0"/>
          </a:p>
          <a:p>
            <a:pPr lvl="1" eaLnBrk="1" hangingPunct="1"/>
            <a:r>
              <a:rPr lang="zh-CN" altLang="en-US" sz="1800" dirty="0"/>
              <a:t>目的是检查当前计划执行情况，检查产品与计划的</a:t>
            </a:r>
            <a:r>
              <a:rPr lang="zh-CN" altLang="en-US" sz="1800" dirty="0">
                <a:solidFill>
                  <a:srgbClr val="FF0000"/>
                </a:solidFill>
              </a:rPr>
              <a:t>偏差</a:t>
            </a:r>
            <a:r>
              <a:rPr lang="zh-CN" altLang="en-US" sz="1800" dirty="0"/>
              <a:t>，并对项目风险进行分析处理，判断是否可以对产品进行</a:t>
            </a:r>
            <a:r>
              <a:rPr lang="zh-CN" altLang="en-US" sz="1800" dirty="0">
                <a:solidFill>
                  <a:srgbClr val="FF0000"/>
                </a:solidFill>
              </a:rPr>
              <a:t>基线冻结</a:t>
            </a:r>
            <a:r>
              <a:rPr lang="zh-CN" altLang="en-US" sz="1800" dirty="0"/>
              <a:t>。</a:t>
            </a:r>
            <a:endParaRPr lang="en-US" altLang="zh-CN" sz="1800" dirty="0"/>
          </a:p>
          <a:p>
            <a:pPr lvl="1" eaLnBrk="1" hangingPunct="1"/>
            <a:endParaRPr lang="en-US" altLang="zh-CN" sz="1800" dirty="0"/>
          </a:p>
          <a:p>
            <a:pPr lvl="1" eaLnBrk="1" hangingPunct="1"/>
            <a:r>
              <a:rPr lang="zh-CN" altLang="en-US" sz="1800" dirty="0"/>
              <a:t>一个好的计划应该是渐进完善和细化的，所以阶段评审之后应该对下一阶段</a:t>
            </a:r>
            <a:r>
              <a:rPr lang="zh-CN" altLang="en-US" sz="1800" dirty="0">
                <a:solidFill>
                  <a:srgbClr val="FF0000"/>
                </a:solidFill>
              </a:rPr>
              <a:t>项目计划进行必要的修正</a:t>
            </a:r>
            <a:r>
              <a:rPr lang="zh-CN" altLang="en-US" sz="1800" dirty="0"/>
              <a:t>。</a:t>
            </a:r>
            <a:endParaRPr lang="en-US" altLang="zh-CN" sz="1800" dirty="0"/>
          </a:p>
          <a:p>
            <a:pPr lvl="1" eaLnBrk="1" hangingPunct="1"/>
            <a:r>
              <a:rPr lang="zh-CN" altLang="en-US" sz="1800" dirty="0"/>
              <a:t>阶段评审一般采用</a:t>
            </a:r>
            <a:r>
              <a:rPr lang="zh-CN" altLang="en-US" sz="1800" dirty="0">
                <a:solidFill>
                  <a:srgbClr val="FF0000"/>
                </a:solidFill>
              </a:rPr>
              <a:t>会议</a:t>
            </a:r>
            <a:r>
              <a:rPr lang="zh-CN" altLang="en-US" sz="1800" dirty="0"/>
              <a:t>形式。</a:t>
            </a:r>
          </a:p>
        </p:txBody>
      </p:sp>
    </p:spTree>
    <p:extLst>
      <p:ext uri="{BB962C8B-B14F-4D97-AF65-F5344CB8AC3E}">
        <p14:creationId xmlns:p14="http://schemas.microsoft.com/office/powerpoint/2010/main" val="15440860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3A819C7B-ECA0-FD13-6CDE-9320E1BFE14A}"/>
              </a:ext>
            </a:extLst>
          </p:cNvPr>
          <p:cNvSpPr>
            <a:spLocks noGrp="1" noChangeArrowheads="1"/>
          </p:cNvSpPr>
          <p:nvPr>
            <p:ph type="title"/>
          </p:nvPr>
        </p:nvSpPr>
        <p:spPr/>
        <p:txBody>
          <a:bodyPr/>
          <a:lstStyle/>
          <a:p>
            <a:pPr eaLnBrk="1" hangingPunct="1"/>
            <a:r>
              <a:rPr kumimoji="1" lang="zh-CN" altLang="en-US"/>
              <a:t>软件项目评审</a:t>
            </a:r>
          </a:p>
        </p:txBody>
      </p:sp>
      <p:sp>
        <p:nvSpPr>
          <p:cNvPr id="92163" name="Rectangle 3">
            <a:extLst>
              <a:ext uri="{FF2B5EF4-FFF2-40B4-BE49-F238E27FC236}">
                <a16:creationId xmlns:a16="http://schemas.microsoft.com/office/drawing/2014/main" id="{31CE5C5E-41A7-3932-CC10-45525C8F9835}"/>
              </a:ext>
            </a:extLst>
          </p:cNvPr>
          <p:cNvSpPr>
            <a:spLocks noGrp="1" noChangeArrowheads="1"/>
          </p:cNvSpPr>
          <p:nvPr>
            <p:ph type="body" idx="1"/>
          </p:nvPr>
        </p:nvSpPr>
        <p:spPr>
          <a:xfrm>
            <a:off x="611188" y="1989138"/>
            <a:ext cx="8353425" cy="4868862"/>
          </a:xfrm>
        </p:spPr>
        <p:txBody>
          <a:bodyPr/>
          <a:lstStyle/>
          <a:p>
            <a:pPr eaLnBrk="1" hangingPunct="1"/>
            <a:r>
              <a:rPr lang="zh-CN" altLang="en-US" sz="2000">
                <a:solidFill>
                  <a:schemeClr val="accent2"/>
                </a:solidFill>
                <a:latin typeface="黑体" panose="02010609060101010101" pitchFamily="49" charset="-122"/>
                <a:ea typeface="黑体" panose="02010609060101010101" pitchFamily="49" charset="-122"/>
              </a:rPr>
              <a:t>事件评审</a:t>
            </a:r>
          </a:p>
        </p:txBody>
      </p:sp>
      <p:grpSp>
        <p:nvGrpSpPr>
          <p:cNvPr id="92164" name="Group 18">
            <a:extLst>
              <a:ext uri="{FF2B5EF4-FFF2-40B4-BE49-F238E27FC236}">
                <a16:creationId xmlns:a16="http://schemas.microsoft.com/office/drawing/2014/main" id="{72053057-C38E-0D57-64C4-789CBC5ED67A}"/>
              </a:ext>
            </a:extLst>
          </p:cNvPr>
          <p:cNvGrpSpPr>
            <a:grpSpLocks/>
          </p:cNvGrpSpPr>
          <p:nvPr/>
        </p:nvGrpSpPr>
        <p:grpSpPr bwMode="auto">
          <a:xfrm>
            <a:off x="1042988" y="2590800"/>
            <a:ext cx="7416800" cy="3810000"/>
            <a:chOff x="431" y="1632"/>
            <a:chExt cx="5011" cy="2400"/>
          </a:xfrm>
        </p:grpSpPr>
        <p:sp>
          <p:nvSpPr>
            <p:cNvPr id="92165" name="Rectangle 5">
              <a:extLst>
                <a:ext uri="{FF2B5EF4-FFF2-40B4-BE49-F238E27FC236}">
                  <a16:creationId xmlns:a16="http://schemas.microsoft.com/office/drawing/2014/main" id="{8CD8E0C9-7724-671B-D461-E93C6830B6B3}"/>
                </a:ext>
              </a:extLst>
            </p:cNvPr>
            <p:cNvSpPr>
              <a:spLocks noChangeArrowheads="1"/>
            </p:cNvSpPr>
            <p:nvPr/>
          </p:nvSpPr>
          <p:spPr bwMode="auto">
            <a:xfrm>
              <a:off x="1705" y="1706"/>
              <a:ext cx="1625" cy="285"/>
            </a:xfrm>
            <a:prstGeom prst="rect">
              <a:avLst/>
            </a:prstGeom>
            <a:solidFill>
              <a:srgbClr val="FFCC00"/>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accent2"/>
                  </a:solidFill>
                  <a:latin typeface="Times New Roman" panose="02020603050405020304" pitchFamily="18" charset="0"/>
                  <a:ea typeface="黑体" panose="02010609060101010101" pitchFamily="49" charset="-122"/>
                </a:rPr>
                <a:t>组织评审</a:t>
              </a:r>
            </a:p>
          </p:txBody>
        </p:sp>
        <p:sp>
          <p:nvSpPr>
            <p:cNvPr id="92166" name="Line 6">
              <a:extLst>
                <a:ext uri="{FF2B5EF4-FFF2-40B4-BE49-F238E27FC236}">
                  <a16:creationId xmlns:a16="http://schemas.microsoft.com/office/drawing/2014/main" id="{AA8AC364-2217-0D2E-8FF5-9282F3FAD2D0}"/>
                </a:ext>
              </a:extLst>
            </p:cNvPr>
            <p:cNvSpPr>
              <a:spLocks noChangeShapeType="1"/>
            </p:cNvSpPr>
            <p:nvPr/>
          </p:nvSpPr>
          <p:spPr bwMode="auto">
            <a:xfrm>
              <a:off x="1197" y="1813"/>
              <a:ext cx="508"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67" name="Text Box 7">
              <a:extLst>
                <a:ext uri="{FF2B5EF4-FFF2-40B4-BE49-F238E27FC236}">
                  <a16:creationId xmlns:a16="http://schemas.microsoft.com/office/drawing/2014/main" id="{CD35B753-2AED-BD3A-362F-0AC8AE358782}"/>
                </a:ext>
              </a:extLst>
            </p:cNvPr>
            <p:cNvSpPr txBox="1">
              <a:spLocks noChangeArrowheads="1"/>
            </p:cNvSpPr>
            <p:nvPr/>
          </p:nvSpPr>
          <p:spPr bwMode="auto">
            <a:xfrm>
              <a:off x="431" y="1632"/>
              <a:ext cx="753" cy="410"/>
            </a:xfrm>
            <a:prstGeom prst="rect">
              <a:avLst/>
            </a:prstGeom>
            <a:solidFill>
              <a:schemeClr val="accent1"/>
            </a:solidFill>
            <a:ln w="9525">
              <a:solidFill>
                <a:schemeClr val="tx1"/>
              </a:solidFill>
              <a:miter lim="800000"/>
              <a:headEnd/>
              <a:tailEnd/>
            </a:ln>
          </p:spPr>
          <p:txBody>
            <a:bodyPr wrap="none">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800">
                  <a:latin typeface="Times New Roman" panose="02020603050405020304" pitchFamily="18" charset="0"/>
                  <a:ea typeface="黑体" panose="02010609060101010101" pitchFamily="49" charset="-122"/>
                </a:rPr>
                <a:t>事件报告</a:t>
              </a:r>
            </a:p>
            <a:p>
              <a:pPr algn="just">
                <a:spcBef>
                  <a:spcPct val="0"/>
                </a:spcBef>
                <a:buClrTx/>
                <a:buFontTx/>
                <a:buNone/>
              </a:pPr>
              <a:r>
                <a:rPr kumimoji="0" lang="zh-CN" altLang="en-US" sz="1800">
                  <a:latin typeface="Times New Roman" panose="02020603050405020304" pitchFamily="18" charset="0"/>
                  <a:ea typeface="黑体" panose="02010609060101010101" pitchFamily="49" charset="-122"/>
                </a:rPr>
                <a:t>被批准</a:t>
              </a:r>
            </a:p>
          </p:txBody>
        </p:sp>
        <p:sp>
          <p:nvSpPr>
            <p:cNvPr id="92168" name="Rectangle 8">
              <a:extLst>
                <a:ext uri="{FF2B5EF4-FFF2-40B4-BE49-F238E27FC236}">
                  <a16:creationId xmlns:a16="http://schemas.microsoft.com/office/drawing/2014/main" id="{F2401BA2-9BBF-AC78-1758-0267E5964EF2}"/>
                </a:ext>
              </a:extLst>
            </p:cNvPr>
            <p:cNvSpPr>
              <a:spLocks noChangeArrowheads="1"/>
            </p:cNvSpPr>
            <p:nvPr/>
          </p:nvSpPr>
          <p:spPr bwMode="auto">
            <a:xfrm>
              <a:off x="1893" y="2191"/>
              <a:ext cx="1624" cy="282"/>
            </a:xfrm>
            <a:prstGeom prst="rect">
              <a:avLst/>
            </a:prstGeom>
            <a:solidFill>
              <a:srgbClr val="FFCC00"/>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accent2"/>
                  </a:solidFill>
                  <a:latin typeface="Times New Roman" panose="02020603050405020304" pitchFamily="18" charset="0"/>
                  <a:ea typeface="黑体" panose="02010609060101010101" pitchFamily="49" charset="-122"/>
                </a:rPr>
                <a:t>报告事件的情况</a:t>
              </a:r>
            </a:p>
          </p:txBody>
        </p:sp>
        <p:sp>
          <p:nvSpPr>
            <p:cNvPr id="92169" name="Rectangle 9">
              <a:extLst>
                <a:ext uri="{FF2B5EF4-FFF2-40B4-BE49-F238E27FC236}">
                  <a16:creationId xmlns:a16="http://schemas.microsoft.com/office/drawing/2014/main" id="{4DEF8E98-4F31-25B6-95C8-6FDECD80EAA8}"/>
                </a:ext>
              </a:extLst>
            </p:cNvPr>
            <p:cNvSpPr>
              <a:spLocks noChangeArrowheads="1"/>
            </p:cNvSpPr>
            <p:nvPr/>
          </p:nvSpPr>
          <p:spPr bwMode="auto">
            <a:xfrm>
              <a:off x="2174" y="2692"/>
              <a:ext cx="1625" cy="283"/>
            </a:xfrm>
            <a:prstGeom prst="rect">
              <a:avLst/>
            </a:prstGeom>
            <a:solidFill>
              <a:srgbClr val="FFCC00"/>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accent2"/>
                  </a:solidFill>
                  <a:latin typeface="Times New Roman" panose="02020603050405020304" pitchFamily="18" charset="0"/>
                  <a:ea typeface="黑体" panose="02010609060101010101" pitchFamily="49" charset="-122"/>
                </a:rPr>
                <a:t>对事件处理方案的讨论</a:t>
              </a:r>
            </a:p>
          </p:txBody>
        </p:sp>
        <p:sp>
          <p:nvSpPr>
            <p:cNvPr id="92170" name="Rectangle 10">
              <a:extLst>
                <a:ext uri="{FF2B5EF4-FFF2-40B4-BE49-F238E27FC236}">
                  <a16:creationId xmlns:a16="http://schemas.microsoft.com/office/drawing/2014/main" id="{004BBBE5-40B0-75DE-C990-6F44FAA55F6C}"/>
                </a:ext>
              </a:extLst>
            </p:cNvPr>
            <p:cNvSpPr>
              <a:spLocks noChangeArrowheads="1"/>
            </p:cNvSpPr>
            <p:nvPr/>
          </p:nvSpPr>
          <p:spPr bwMode="auto">
            <a:xfrm>
              <a:off x="2392" y="3219"/>
              <a:ext cx="1625" cy="284"/>
            </a:xfrm>
            <a:prstGeom prst="rect">
              <a:avLst/>
            </a:prstGeom>
            <a:solidFill>
              <a:srgbClr val="FFCC00"/>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accent2"/>
                  </a:solidFill>
                  <a:latin typeface="Times New Roman" panose="02020603050405020304" pitchFamily="18" charset="0"/>
                  <a:ea typeface="黑体" panose="02010609060101010101" pitchFamily="49" charset="-122"/>
                </a:rPr>
                <a:t>确定事件影响的范围</a:t>
              </a:r>
            </a:p>
          </p:txBody>
        </p:sp>
        <p:sp>
          <p:nvSpPr>
            <p:cNvPr id="92171" name="Rectangle 11">
              <a:extLst>
                <a:ext uri="{FF2B5EF4-FFF2-40B4-BE49-F238E27FC236}">
                  <a16:creationId xmlns:a16="http://schemas.microsoft.com/office/drawing/2014/main" id="{43D040A6-340A-B1BA-5D00-6A103A605005}"/>
                </a:ext>
              </a:extLst>
            </p:cNvPr>
            <p:cNvSpPr>
              <a:spLocks noChangeArrowheads="1"/>
            </p:cNvSpPr>
            <p:nvPr/>
          </p:nvSpPr>
          <p:spPr bwMode="auto">
            <a:xfrm>
              <a:off x="2681" y="3747"/>
              <a:ext cx="1625" cy="285"/>
            </a:xfrm>
            <a:prstGeom prst="rect">
              <a:avLst/>
            </a:prstGeom>
            <a:solidFill>
              <a:srgbClr val="FFCC00"/>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accent2"/>
                  </a:solidFill>
                  <a:latin typeface="Times New Roman" panose="02020603050405020304" pitchFamily="18" charset="0"/>
                  <a:ea typeface="黑体" panose="02010609060101010101" pitchFamily="49" charset="-122"/>
                </a:rPr>
                <a:t>对评审做出结论</a:t>
              </a:r>
            </a:p>
          </p:txBody>
        </p:sp>
        <p:sp>
          <p:nvSpPr>
            <p:cNvPr id="92172" name="Rectangle 12">
              <a:extLst>
                <a:ext uri="{FF2B5EF4-FFF2-40B4-BE49-F238E27FC236}">
                  <a16:creationId xmlns:a16="http://schemas.microsoft.com/office/drawing/2014/main" id="{EDA4FE2B-68A6-81BB-4068-2BEC25979261}"/>
                </a:ext>
              </a:extLst>
            </p:cNvPr>
            <p:cNvSpPr>
              <a:spLocks noChangeArrowheads="1"/>
            </p:cNvSpPr>
            <p:nvPr/>
          </p:nvSpPr>
          <p:spPr bwMode="auto">
            <a:xfrm>
              <a:off x="4737" y="3715"/>
              <a:ext cx="705" cy="317"/>
            </a:xfrm>
            <a:prstGeom prst="rect">
              <a:avLst/>
            </a:prstGeom>
            <a:solidFill>
              <a:srgbClr val="FFCC00"/>
            </a:solidFill>
            <a:ln w="9525">
              <a:solidFill>
                <a:srgbClr val="000000"/>
              </a:solidFill>
              <a:prstDash val="dash"/>
              <a:miter lim="800000"/>
              <a:headEnd/>
              <a:tailEnd/>
            </a:ln>
          </p:spPr>
          <p:txBody>
            <a:bodyPr wrap="none" t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chemeClr val="accent2"/>
                  </a:solidFill>
                  <a:latin typeface="Times New Roman" panose="02020603050405020304" pitchFamily="18" charset="0"/>
                  <a:ea typeface="黑体" panose="02010609060101010101" pitchFamily="49" charset="-122"/>
                </a:rPr>
                <a:t>计划修改</a:t>
              </a:r>
            </a:p>
          </p:txBody>
        </p:sp>
        <p:sp>
          <p:nvSpPr>
            <p:cNvPr id="92173" name="Line 13">
              <a:extLst>
                <a:ext uri="{FF2B5EF4-FFF2-40B4-BE49-F238E27FC236}">
                  <a16:creationId xmlns:a16="http://schemas.microsoft.com/office/drawing/2014/main" id="{7478C2FD-B85C-9615-9162-B68BB08073AC}"/>
                </a:ext>
              </a:extLst>
            </p:cNvPr>
            <p:cNvSpPr>
              <a:spLocks noChangeShapeType="1"/>
            </p:cNvSpPr>
            <p:nvPr/>
          </p:nvSpPr>
          <p:spPr bwMode="auto">
            <a:xfrm>
              <a:off x="4303" y="3873"/>
              <a:ext cx="469"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74" name="Freeform 14">
              <a:extLst>
                <a:ext uri="{FF2B5EF4-FFF2-40B4-BE49-F238E27FC236}">
                  <a16:creationId xmlns:a16="http://schemas.microsoft.com/office/drawing/2014/main" id="{5DBCEEDB-F349-A446-6334-6121FE3105DE}"/>
                </a:ext>
              </a:extLst>
            </p:cNvPr>
            <p:cNvSpPr>
              <a:spLocks/>
            </p:cNvSpPr>
            <p:nvPr/>
          </p:nvSpPr>
          <p:spPr bwMode="auto">
            <a:xfrm>
              <a:off x="3330" y="1855"/>
              <a:ext cx="94" cy="317"/>
            </a:xfrm>
            <a:custGeom>
              <a:avLst/>
              <a:gdLst>
                <a:gd name="T0" fmla="*/ 0 w 180"/>
                <a:gd name="T1" fmla="*/ 0 h 468"/>
                <a:gd name="T2" fmla="*/ 7 w 180"/>
                <a:gd name="T3" fmla="*/ 0 h 468"/>
                <a:gd name="T4" fmla="*/ 7 w 180"/>
                <a:gd name="T5" fmla="*/ 67 h 468"/>
                <a:gd name="T6" fmla="*/ 0 60000 65536"/>
                <a:gd name="T7" fmla="*/ 0 60000 65536"/>
                <a:gd name="T8" fmla="*/ 0 60000 65536"/>
                <a:gd name="T9" fmla="*/ 0 w 180"/>
                <a:gd name="T10" fmla="*/ 0 h 468"/>
                <a:gd name="T11" fmla="*/ 180 w 180"/>
                <a:gd name="T12" fmla="*/ 468 h 468"/>
              </a:gdLst>
              <a:ahLst/>
              <a:cxnLst>
                <a:cxn ang="T6">
                  <a:pos x="T0" y="T1"/>
                </a:cxn>
                <a:cxn ang="T7">
                  <a:pos x="T2" y="T3"/>
                </a:cxn>
                <a:cxn ang="T8">
                  <a:pos x="T4" y="T5"/>
                </a:cxn>
              </a:cxnLst>
              <a:rect l="T9" t="T10" r="T11" b="T12"/>
              <a:pathLst>
                <a:path w="180" h="468">
                  <a:moveTo>
                    <a:pt x="0" y="0"/>
                  </a:moveTo>
                  <a:lnTo>
                    <a:pt x="180" y="0"/>
                  </a:lnTo>
                  <a:lnTo>
                    <a:pt x="180" y="468"/>
                  </a:lnTo>
                </a:path>
              </a:pathLst>
            </a:custGeom>
            <a:solidFill>
              <a:srgbClr val="FFCC00"/>
            </a:solidFill>
            <a:ln w="28575" cmpd="sng">
              <a:solidFill>
                <a:srgbClr val="000000"/>
              </a:solidFill>
              <a:round/>
              <a:headEnd type="none" w="med" len="med"/>
              <a:tailEnd type="triangle" w="med" len="med"/>
            </a:ln>
          </p:spPr>
          <p:txBody>
            <a:bodyPr/>
            <a:lstStyle/>
            <a:p>
              <a:endParaRPr lang="zh-CN" altLang="en-US"/>
            </a:p>
          </p:txBody>
        </p:sp>
        <p:sp>
          <p:nvSpPr>
            <p:cNvPr id="92175" name="Freeform 15">
              <a:extLst>
                <a:ext uri="{FF2B5EF4-FFF2-40B4-BE49-F238E27FC236}">
                  <a16:creationId xmlns:a16="http://schemas.microsoft.com/office/drawing/2014/main" id="{C2E85FD2-90F4-FE56-ABBE-2781333F932C}"/>
                </a:ext>
              </a:extLst>
            </p:cNvPr>
            <p:cNvSpPr>
              <a:spLocks/>
            </p:cNvSpPr>
            <p:nvPr/>
          </p:nvSpPr>
          <p:spPr bwMode="auto">
            <a:xfrm>
              <a:off x="3517" y="2341"/>
              <a:ext cx="94" cy="317"/>
            </a:xfrm>
            <a:custGeom>
              <a:avLst/>
              <a:gdLst>
                <a:gd name="T0" fmla="*/ 0 w 180"/>
                <a:gd name="T1" fmla="*/ 0 h 468"/>
                <a:gd name="T2" fmla="*/ 7 w 180"/>
                <a:gd name="T3" fmla="*/ 0 h 468"/>
                <a:gd name="T4" fmla="*/ 7 w 180"/>
                <a:gd name="T5" fmla="*/ 67 h 468"/>
                <a:gd name="T6" fmla="*/ 0 60000 65536"/>
                <a:gd name="T7" fmla="*/ 0 60000 65536"/>
                <a:gd name="T8" fmla="*/ 0 60000 65536"/>
                <a:gd name="T9" fmla="*/ 0 w 180"/>
                <a:gd name="T10" fmla="*/ 0 h 468"/>
                <a:gd name="T11" fmla="*/ 180 w 180"/>
                <a:gd name="T12" fmla="*/ 468 h 468"/>
              </a:gdLst>
              <a:ahLst/>
              <a:cxnLst>
                <a:cxn ang="T6">
                  <a:pos x="T0" y="T1"/>
                </a:cxn>
                <a:cxn ang="T7">
                  <a:pos x="T2" y="T3"/>
                </a:cxn>
                <a:cxn ang="T8">
                  <a:pos x="T4" y="T5"/>
                </a:cxn>
              </a:cxnLst>
              <a:rect l="T9" t="T10" r="T11" b="T12"/>
              <a:pathLst>
                <a:path w="180" h="468">
                  <a:moveTo>
                    <a:pt x="0" y="0"/>
                  </a:moveTo>
                  <a:lnTo>
                    <a:pt x="180" y="0"/>
                  </a:lnTo>
                  <a:lnTo>
                    <a:pt x="180" y="468"/>
                  </a:lnTo>
                </a:path>
              </a:pathLst>
            </a:custGeom>
            <a:solidFill>
              <a:srgbClr val="FFCC00"/>
            </a:solidFill>
            <a:ln w="28575" cmpd="sng">
              <a:solidFill>
                <a:srgbClr val="000000"/>
              </a:solidFill>
              <a:round/>
              <a:headEnd type="none" w="med" len="med"/>
              <a:tailEnd type="triangle" w="med" len="med"/>
            </a:ln>
          </p:spPr>
          <p:txBody>
            <a:bodyPr/>
            <a:lstStyle/>
            <a:p>
              <a:endParaRPr lang="zh-CN" altLang="en-US"/>
            </a:p>
          </p:txBody>
        </p:sp>
        <p:sp>
          <p:nvSpPr>
            <p:cNvPr id="92176" name="Freeform 16">
              <a:extLst>
                <a:ext uri="{FF2B5EF4-FFF2-40B4-BE49-F238E27FC236}">
                  <a16:creationId xmlns:a16="http://schemas.microsoft.com/office/drawing/2014/main" id="{D6B56BDA-C459-834E-0818-A9219B7F7195}"/>
                </a:ext>
              </a:extLst>
            </p:cNvPr>
            <p:cNvSpPr>
              <a:spLocks/>
            </p:cNvSpPr>
            <p:nvPr/>
          </p:nvSpPr>
          <p:spPr bwMode="auto">
            <a:xfrm>
              <a:off x="3799" y="2870"/>
              <a:ext cx="94" cy="317"/>
            </a:xfrm>
            <a:custGeom>
              <a:avLst/>
              <a:gdLst>
                <a:gd name="T0" fmla="*/ 0 w 180"/>
                <a:gd name="T1" fmla="*/ 0 h 468"/>
                <a:gd name="T2" fmla="*/ 7 w 180"/>
                <a:gd name="T3" fmla="*/ 0 h 468"/>
                <a:gd name="T4" fmla="*/ 7 w 180"/>
                <a:gd name="T5" fmla="*/ 67 h 468"/>
                <a:gd name="T6" fmla="*/ 0 60000 65536"/>
                <a:gd name="T7" fmla="*/ 0 60000 65536"/>
                <a:gd name="T8" fmla="*/ 0 60000 65536"/>
                <a:gd name="T9" fmla="*/ 0 w 180"/>
                <a:gd name="T10" fmla="*/ 0 h 468"/>
                <a:gd name="T11" fmla="*/ 180 w 180"/>
                <a:gd name="T12" fmla="*/ 468 h 468"/>
              </a:gdLst>
              <a:ahLst/>
              <a:cxnLst>
                <a:cxn ang="T6">
                  <a:pos x="T0" y="T1"/>
                </a:cxn>
                <a:cxn ang="T7">
                  <a:pos x="T2" y="T3"/>
                </a:cxn>
                <a:cxn ang="T8">
                  <a:pos x="T4" y="T5"/>
                </a:cxn>
              </a:cxnLst>
              <a:rect l="T9" t="T10" r="T11" b="T12"/>
              <a:pathLst>
                <a:path w="180" h="468">
                  <a:moveTo>
                    <a:pt x="0" y="0"/>
                  </a:moveTo>
                  <a:lnTo>
                    <a:pt x="180" y="0"/>
                  </a:lnTo>
                  <a:lnTo>
                    <a:pt x="180" y="468"/>
                  </a:lnTo>
                </a:path>
              </a:pathLst>
            </a:custGeom>
            <a:solidFill>
              <a:srgbClr val="FFCC00"/>
            </a:solidFill>
            <a:ln w="28575" cmpd="sng">
              <a:solidFill>
                <a:srgbClr val="000000"/>
              </a:solidFill>
              <a:round/>
              <a:headEnd type="none" w="med" len="med"/>
              <a:tailEnd type="triangle" w="med" len="med"/>
            </a:ln>
          </p:spPr>
          <p:txBody>
            <a:bodyPr/>
            <a:lstStyle/>
            <a:p>
              <a:endParaRPr lang="zh-CN" altLang="en-US"/>
            </a:p>
          </p:txBody>
        </p:sp>
        <p:sp>
          <p:nvSpPr>
            <p:cNvPr id="92177" name="Freeform 17">
              <a:extLst>
                <a:ext uri="{FF2B5EF4-FFF2-40B4-BE49-F238E27FC236}">
                  <a16:creationId xmlns:a16="http://schemas.microsoft.com/office/drawing/2014/main" id="{14265D19-7D33-84DC-5984-52F336EB1FB3}"/>
                </a:ext>
              </a:extLst>
            </p:cNvPr>
            <p:cNvSpPr>
              <a:spLocks/>
            </p:cNvSpPr>
            <p:nvPr/>
          </p:nvSpPr>
          <p:spPr bwMode="auto">
            <a:xfrm>
              <a:off x="4011" y="3398"/>
              <a:ext cx="94" cy="317"/>
            </a:xfrm>
            <a:custGeom>
              <a:avLst/>
              <a:gdLst>
                <a:gd name="T0" fmla="*/ 0 w 180"/>
                <a:gd name="T1" fmla="*/ 0 h 468"/>
                <a:gd name="T2" fmla="*/ 7 w 180"/>
                <a:gd name="T3" fmla="*/ 0 h 468"/>
                <a:gd name="T4" fmla="*/ 7 w 180"/>
                <a:gd name="T5" fmla="*/ 67 h 468"/>
                <a:gd name="T6" fmla="*/ 0 60000 65536"/>
                <a:gd name="T7" fmla="*/ 0 60000 65536"/>
                <a:gd name="T8" fmla="*/ 0 60000 65536"/>
                <a:gd name="T9" fmla="*/ 0 w 180"/>
                <a:gd name="T10" fmla="*/ 0 h 468"/>
                <a:gd name="T11" fmla="*/ 180 w 180"/>
                <a:gd name="T12" fmla="*/ 468 h 468"/>
              </a:gdLst>
              <a:ahLst/>
              <a:cxnLst>
                <a:cxn ang="T6">
                  <a:pos x="T0" y="T1"/>
                </a:cxn>
                <a:cxn ang="T7">
                  <a:pos x="T2" y="T3"/>
                </a:cxn>
                <a:cxn ang="T8">
                  <a:pos x="T4" y="T5"/>
                </a:cxn>
              </a:cxnLst>
              <a:rect l="T9" t="T10" r="T11" b="T12"/>
              <a:pathLst>
                <a:path w="180" h="468">
                  <a:moveTo>
                    <a:pt x="0" y="0"/>
                  </a:moveTo>
                  <a:lnTo>
                    <a:pt x="180" y="0"/>
                  </a:lnTo>
                  <a:lnTo>
                    <a:pt x="180" y="468"/>
                  </a:lnTo>
                </a:path>
              </a:pathLst>
            </a:custGeom>
            <a:solidFill>
              <a:srgbClr val="FFCC00"/>
            </a:solidFill>
            <a:ln w="28575" cmpd="sng">
              <a:solidFill>
                <a:srgbClr val="000000"/>
              </a:solidFill>
              <a:round/>
              <a:headEnd type="none" w="med" len="med"/>
              <a:tailEnd type="triangle" w="med" len="med"/>
            </a:ln>
          </p:spPr>
          <p:txBody>
            <a:bodyPr/>
            <a:lstStyle/>
            <a:p>
              <a:endParaRPr lang="zh-CN" altLang="en-US"/>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3A819C7B-ECA0-FD13-6CDE-9320E1BFE14A}"/>
              </a:ext>
            </a:extLst>
          </p:cNvPr>
          <p:cNvSpPr>
            <a:spLocks noGrp="1" noChangeArrowheads="1"/>
          </p:cNvSpPr>
          <p:nvPr>
            <p:ph type="title"/>
          </p:nvPr>
        </p:nvSpPr>
        <p:spPr/>
        <p:txBody>
          <a:bodyPr/>
          <a:lstStyle/>
          <a:p>
            <a:pPr eaLnBrk="1" hangingPunct="1"/>
            <a:r>
              <a:rPr kumimoji="1" lang="zh-CN" altLang="en-US"/>
              <a:t>软件项目评审</a:t>
            </a:r>
          </a:p>
        </p:txBody>
      </p:sp>
      <p:sp>
        <p:nvSpPr>
          <p:cNvPr id="92163" name="Rectangle 3">
            <a:extLst>
              <a:ext uri="{FF2B5EF4-FFF2-40B4-BE49-F238E27FC236}">
                <a16:creationId xmlns:a16="http://schemas.microsoft.com/office/drawing/2014/main" id="{31CE5C5E-41A7-3932-CC10-45525C8F9835}"/>
              </a:ext>
            </a:extLst>
          </p:cNvPr>
          <p:cNvSpPr>
            <a:spLocks noGrp="1" noChangeArrowheads="1"/>
          </p:cNvSpPr>
          <p:nvPr>
            <p:ph type="body" idx="1"/>
          </p:nvPr>
        </p:nvSpPr>
        <p:spPr>
          <a:xfrm>
            <a:off x="611188" y="1989138"/>
            <a:ext cx="8353425" cy="4868862"/>
          </a:xfrm>
        </p:spPr>
        <p:txBody>
          <a:bodyPr/>
          <a:lstStyle/>
          <a:p>
            <a:pPr eaLnBrk="1" hangingPunct="1"/>
            <a:r>
              <a:rPr lang="zh-CN" altLang="en-US" sz="2400" dirty="0">
                <a:solidFill>
                  <a:schemeClr val="accent2"/>
                </a:solidFill>
                <a:latin typeface="黑体" panose="02010609060101010101" pitchFamily="49" charset="-122"/>
                <a:ea typeface="黑体" panose="02010609060101010101" pitchFamily="49" charset="-122"/>
              </a:rPr>
              <a:t>事件评审</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r>
              <a:rPr lang="zh-CN" altLang="en-US" sz="2000" dirty="0">
                <a:latin typeface="黑体" panose="02010609060101010101" pitchFamily="49" charset="-122"/>
                <a:ea typeface="黑体" panose="02010609060101010101" pitchFamily="49" charset="-122"/>
              </a:rPr>
              <a:t>在项目进展过程中可能会出现一些</a:t>
            </a:r>
            <a:r>
              <a:rPr lang="zh-CN" altLang="en-US" sz="2000" dirty="0">
                <a:solidFill>
                  <a:srgbClr val="FF0000"/>
                </a:solidFill>
                <a:latin typeface="黑体" panose="02010609060101010101" pitchFamily="49" charset="-122"/>
                <a:ea typeface="黑体" panose="02010609060101010101" pitchFamily="49" charset="-122"/>
              </a:rPr>
              <a:t>意想不到的事件</a:t>
            </a:r>
            <a:r>
              <a:rPr lang="zh-CN" altLang="en-US" sz="2000" dirty="0">
                <a:latin typeface="黑体" panose="02010609060101010101" pitchFamily="49" charset="-122"/>
                <a:ea typeface="黑体" panose="02010609060101010101" pitchFamily="49" charset="-122"/>
              </a:rPr>
              <a:t>，需要项目经理</a:t>
            </a:r>
            <a:r>
              <a:rPr lang="zh-CN" altLang="en-US" sz="2000" dirty="0">
                <a:solidFill>
                  <a:srgbClr val="FF0000"/>
                </a:solidFill>
                <a:latin typeface="黑体" panose="02010609060101010101" pitchFamily="49" charset="-122"/>
                <a:ea typeface="黑体" panose="02010609060101010101" pitchFamily="49" charset="-122"/>
              </a:rPr>
              <a:t>及时解决</a:t>
            </a:r>
            <a:r>
              <a:rPr lang="zh-CN" altLang="en-US" sz="2000" dirty="0">
                <a:latin typeface="黑体" panose="02010609060101010101" pitchFamily="49" charset="-122"/>
                <a:ea typeface="黑体" panose="02010609060101010101" pitchFamily="49" charset="-122"/>
              </a:rPr>
              <a:t>。事件评审主要是根据项目进行过程中相关人员提交的事件报告。</a:t>
            </a:r>
            <a:endParaRPr lang="en-US" altLang="zh-CN" sz="2000" dirty="0">
              <a:latin typeface="黑体" panose="02010609060101010101" pitchFamily="49" charset="-122"/>
              <a:ea typeface="黑体" panose="02010609060101010101" pitchFamily="49" charset="-122"/>
            </a:endParaRPr>
          </a:p>
          <a:p>
            <a:pPr lvl="1" eaLnBrk="1" hangingPunct="1"/>
            <a:endParaRPr lang="en-US" altLang="zh-CN" sz="2000" dirty="0">
              <a:latin typeface="黑体" panose="02010609060101010101" pitchFamily="49" charset="-122"/>
              <a:ea typeface="黑体" panose="02010609060101010101" pitchFamily="49" charset="-122"/>
            </a:endParaRPr>
          </a:p>
          <a:p>
            <a:pPr lvl="1" eaLnBrk="1" hangingPunct="1"/>
            <a:r>
              <a:rPr lang="zh-CN" altLang="en-US" sz="2000" dirty="0">
                <a:latin typeface="黑体" panose="02010609060101010101" pitchFamily="49" charset="-122"/>
                <a:ea typeface="黑体" panose="02010609060101010101" pitchFamily="49" charset="-122"/>
              </a:rPr>
              <a:t>这里的事件主要是指</a:t>
            </a:r>
            <a:r>
              <a:rPr lang="zh-CN" altLang="en-US" sz="2000" dirty="0">
                <a:solidFill>
                  <a:srgbClr val="FF0000"/>
                </a:solidFill>
                <a:latin typeface="黑体" panose="02010609060101010101" pitchFamily="49" charset="-122"/>
                <a:ea typeface="黑体" panose="02010609060101010101" pitchFamily="49" charset="-122"/>
              </a:rPr>
              <a:t>对项目进度和投入成本产生影响</a:t>
            </a:r>
            <a:r>
              <a:rPr lang="zh-CN" altLang="en-US" sz="2000" dirty="0">
                <a:latin typeface="黑体" panose="02010609060101010101" pitchFamily="49" charset="-122"/>
                <a:ea typeface="黑体" panose="02010609060101010101" pitchFamily="49" charset="-122"/>
              </a:rPr>
              <a:t>的技术事件、质量保证事件、项目管理事件和项目支持事件。</a:t>
            </a:r>
            <a:endParaRPr lang="en-US" altLang="zh-CN" sz="2000" dirty="0">
              <a:latin typeface="黑体" panose="02010609060101010101" pitchFamily="49" charset="-122"/>
              <a:ea typeface="黑体" panose="02010609060101010101" pitchFamily="49" charset="-122"/>
            </a:endParaRPr>
          </a:p>
          <a:p>
            <a:pPr lvl="1" eaLnBrk="1" hangingPunct="1"/>
            <a:endParaRPr lang="en-US" altLang="zh-CN" sz="2000" dirty="0">
              <a:latin typeface="黑体" panose="02010609060101010101" pitchFamily="49" charset="-122"/>
              <a:ea typeface="黑体" panose="02010609060101010101" pitchFamily="49" charset="-122"/>
            </a:endParaRPr>
          </a:p>
          <a:p>
            <a:pPr lvl="1" eaLnBrk="1" hangingPunct="1"/>
            <a:r>
              <a:rPr lang="zh-CN" altLang="en-US" sz="2000" dirty="0">
                <a:latin typeface="黑体" panose="02010609060101010101" pitchFamily="49" charset="-122"/>
                <a:ea typeface="黑体" panose="02010609060101010101" pitchFamily="49" charset="-122"/>
              </a:rPr>
              <a:t>对该事件组织相关人员进行评审，目的是通过</a:t>
            </a:r>
            <a:r>
              <a:rPr lang="zh-CN" altLang="en-US" sz="2000" dirty="0">
                <a:solidFill>
                  <a:srgbClr val="FF0000"/>
                </a:solidFill>
                <a:latin typeface="黑体" panose="02010609060101010101" pitchFamily="49" charset="-122"/>
                <a:ea typeface="黑体" panose="02010609060101010101" pitchFamily="49" charset="-122"/>
              </a:rPr>
              <a:t>分析事件性质和影响范围</a:t>
            </a:r>
            <a:r>
              <a:rPr lang="zh-CN" altLang="en-US" sz="2000" dirty="0">
                <a:latin typeface="黑体" panose="02010609060101010101" pitchFamily="49" charset="-122"/>
                <a:ea typeface="黑体" panose="02010609060101010101" pitchFamily="49" charset="-122"/>
              </a:rPr>
              <a:t>，讨论事件处理方案并判断该事件是否影响项目计划，必要时应采取纠正措施，从而</a:t>
            </a:r>
            <a:r>
              <a:rPr lang="zh-CN" altLang="en-US" sz="2000" dirty="0">
                <a:solidFill>
                  <a:srgbClr val="FF0000"/>
                </a:solidFill>
                <a:latin typeface="黑体" panose="02010609060101010101" pitchFamily="49" charset="-122"/>
                <a:ea typeface="黑体" panose="02010609060101010101" pitchFamily="49" charset="-122"/>
              </a:rPr>
              <a:t>保证整个项目的顺利进行</a:t>
            </a:r>
            <a:r>
              <a:rPr lang="zh-CN" altLang="en-US" sz="2000" dirty="0">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6054283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BE6BF2E4-48F2-DDA7-4812-101FE445D65F}"/>
              </a:ext>
            </a:extLst>
          </p:cNvPr>
          <p:cNvSpPr>
            <a:spLocks noGrp="1" noChangeArrowheads="1"/>
          </p:cNvSpPr>
          <p:nvPr>
            <p:ph type="title"/>
          </p:nvPr>
        </p:nvSpPr>
        <p:spPr/>
        <p:txBody>
          <a:bodyPr/>
          <a:lstStyle/>
          <a:p>
            <a:pPr eaLnBrk="1" hangingPunct="1"/>
            <a:r>
              <a:rPr kumimoji="1" lang="zh-CN" altLang="en-US"/>
              <a:t>软件项目评审</a:t>
            </a:r>
          </a:p>
        </p:txBody>
      </p:sp>
      <p:sp>
        <p:nvSpPr>
          <p:cNvPr id="93187" name="Rectangle 3">
            <a:extLst>
              <a:ext uri="{FF2B5EF4-FFF2-40B4-BE49-F238E27FC236}">
                <a16:creationId xmlns:a16="http://schemas.microsoft.com/office/drawing/2014/main" id="{3B48BA31-5F93-95EA-98E3-F320BD680FCA}"/>
              </a:ext>
            </a:extLst>
          </p:cNvPr>
          <p:cNvSpPr>
            <a:spLocks noGrp="1" noChangeArrowheads="1"/>
          </p:cNvSpPr>
          <p:nvPr>
            <p:ph type="body" idx="1"/>
          </p:nvPr>
        </p:nvSpPr>
        <p:spPr>
          <a:xfrm>
            <a:off x="323850" y="1916113"/>
            <a:ext cx="8640763" cy="4941887"/>
          </a:xfrm>
        </p:spPr>
        <p:txBody>
          <a:bodyPr/>
          <a:lstStyle/>
          <a:p>
            <a:pPr eaLnBrk="1" hangingPunct="1"/>
            <a:r>
              <a:rPr lang="zh-CN" altLang="en-US" sz="2400">
                <a:solidFill>
                  <a:schemeClr val="accent2"/>
                </a:solidFill>
                <a:ea typeface="黑体" panose="02010609060101010101" pitchFamily="49" charset="-122"/>
              </a:rPr>
              <a:t>评审报告</a:t>
            </a:r>
            <a:r>
              <a:rPr lang="zh-CN" altLang="en-US"/>
              <a:t> </a:t>
            </a:r>
          </a:p>
          <a:p>
            <a:pPr eaLnBrk="1" hangingPunct="1">
              <a:buFont typeface="Wingdings 2" panose="05020102010507070707" pitchFamily="18" charset="2"/>
              <a:buNone/>
            </a:pPr>
            <a:r>
              <a:rPr lang="zh-CN" altLang="en-US" sz="2000"/>
              <a:t>     </a:t>
            </a:r>
            <a:r>
              <a:rPr lang="en-US" altLang="zh-CN" sz="2000">
                <a:solidFill>
                  <a:srgbClr val="6699FF"/>
                </a:solidFill>
                <a:ea typeface="黑体" panose="02010609060101010101" pitchFamily="49" charset="-122"/>
              </a:rPr>
              <a:t>——</a:t>
            </a:r>
            <a:r>
              <a:rPr lang="zh-CN" altLang="en-US" sz="2000">
                <a:solidFill>
                  <a:srgbClr val="6699FF"/>
                </a:solidFill>
                <a:latin typeface="黑体" panose="02010609060101010101" pitchFamily="49" charset="-122"/>
                <a:ea typeface="黑体" panose="02010609060101010101" pitchFamily="49" charset="-122"/>
              </a:rPr>
              <a:t>项目评审结束后需要将评审的结果以评审报告的形式进行发布。评审报告包括定期评审报告、事件评审报告和阶段</a:t>
            </a:r>
            <a:r>
              <a:rPr lang="en-US" altLang="zh-CN" sz="2000">
                <a:solidFill>
                  <a:srgbClr val="6699FF"/>
                </a:solidFill>
                <a:latin typeface="黑体" panose="02010609060101010101" pitchFamily="49" charset="-122"/>
                <a:ea typeface="黑体" panose="02010609060101010101" pitchFamily="49" charset="-122"/>
              </a:rPr>
              <a:t>(</a:t>
            </a:r>
            <a:r>
              <a:rPr lang="zh-CN" altLang="en-US" sz="2000">
                <a:solidFill>
                  <a:srgbClr val="6699FF"/>
                </a:solidFill>
                <a:latin typeface="黑体" panose="02010609060101010101" pitchFamily="49" charset="-122"/>
                <a:ea typeface="黑体" panose="02010609060101010101" pitchFamily="49" charset="-122"/>
              </a:rPr>
              <a:t>里程碑</a:t>
            </a:r>
            <a:r>
              <a:rPr lang="en-US" altLang="zh-CN" sz="2000">
                <a:solidFill>
                  <a:srgbClr val="6699FF"/>
                </a:solidFill>
                <a:latin typeface="黑体" panose="02010609060101010101" pitchFamily="49" charset="-122"/>
                <a:ea typeface="黑体" panose="02010609060101010101" pitchFamily="49" charset="-122"/>
              </a:rPr>
              <a:t>)</a:t>
            </a:r>
            <a:r>
              <a:rPr lang="zh-CN" altLang="en-US" sz="2000">
                <a:solidFill>
                  <a:srgbClr val="6699FF"/>
                </a:solidFill>
                <a:latin typeface="黑体" panose="02010609060101010101" pitchFamily="49" charset="-122"/>
                <a:ea typeface="黑体" panose="02010609060101010101" pitchFamily="49" charset="-122"/>
              </a:rPr>
              <a:t>评审报告。</a:t>
            </a:r>
            <a:r>
              <a:rPr lang="zh-CN" altLang="en-US"/>
              <a:t> </a:t>
            </a:r>
          </a:p>
        </p:txBody>
      </p:sp>
      <p:grpSp>
        <p:nvGrpSpPr>
          <p:cNvPr id="93188" name="Group 25">
            <a:extLst>
              <a:ext uri="{FF2B5EF4-FFF2-40B4-BE49-F238E27FC236}">
                <a16:creationId xmlns:a16="http://schemas.microsoft.com/office/drawing/2014/main" id="{61A4A1CE-D120-7146-BE25-A0EA22BC2C7B}"/>
              </a:ext>
            </a:extLst>
          </p:cNvPr>
          <p:cNvGrpSpPr>
            <a:grpSpLocks/>
          </p:cNvGrpSpPr>
          <p:nvPr/>
        </p:nvGrpSpPr>
        <p:grpSpPr bwMode="auto">
          <a:xfrm>
            <a:off x="1120775" y="3357563"/>
            <a:ext cx="7412038" cy="3455987"/>
            <a:chOff x="657" y="2115"/>
            <a:chExt cx="4669" cy="2177"/>
          </a:xfrm>
        </p:grpSpPr>
        <p:sp>
          <p:nvSpPr>
            <p:cNvPr id="93189" name="AutoShape 5">
              <a:extLst>
                <a:ext uri="{FF2B5EF4-FFF2-40B4-BE49-F238E27FC236}">
                  <a16:creationId xmlns:a16="http://schemas.microsoft.com/office/drawing/2014/main" id="{1905EB96-F846-FCE1-E4DF-8E34431BE693}"/>
                </a:ext>
              </a:extLst>
            </p:cNvPr>
            <p:cNvSpPr>
              <a:spLocks noChangeArrowheads="1"/>
            </p:cNvSpPr>
            <p:nvPr/>
          </p:nvSpPr>
          <p:spPr bwMode="auto">
            <a:xfrm>
              <a:off x="2091" y="2115"/>
              <a:ext cx="992" cy="383"/>
            </a:xfrm>
            <a:prstGeom prst="foldedCorner">
              <a:avLst>
                <a:gd name="adj" fmla="val 12500"/>
              </a:avLst>
            </a:prstGeom>
            <a:solidFill>
              <a:srgbClr val="FFCC00"/>
            </a:solidFill>
            <a:ln w="9525">
              <a:solidFill>
                <a:schemeClr val="bg2"/>
              </a:solidFill>
              <a:round/>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600">
                  <a:solidFill>
                    <a:srgbClr val="000000"/>
                  </a:solidFill>
                  <a:latin typeface="Times New Roman" panose="02020603050405020304" pitchFamily="18" charset="0"/>
                  <a:ea typeface="黑体" panose="02010609060101010101" pitchFamily="49" charset="-122"/>
                </a:rPr>
                <a:t>定期评审报告</a:t>
              </a:r>
            </a:p>
          </p:txBody>
        </p:sp>
        <p:sp>
          <p:nvSpPr>
            <p:cNvPr id="93190" name="AutoShape 6">
              <a:extLst>
                <a:ext uri="{FF2B5EF4-FFF2-40B4-BE49-F238E27FC236}">
                  <a16:creationId xmlns:a16="http://schemas.microsoft.com/office/drawing/2014/main" id="{51CF4EF8-F726-719F-2E39-79CB58B521EF}"/>
                </a:ext>
              </a:extLst>
            </p:cNvPr>
            <p:cNvSpPr>
              <a:spLocks noChangeArrowheads="1"/>
            </p:cNvSpPr>
            <p:nvPr/>
          </p:nvSpPr>
          <p:spPr bwMode="auto">
            <a:xfrm>
              <a:off x="2091" y="2713"/>
              <a:ext cx="992" cy="383"/>
            </a:xfrm>
            <a:prstGeom prst="foldedCorner">
              <a:avLst>
                <a:gd name="adj" fmla="val 12500"/>
              </a:avLst>
            </a:prstGeom>
            <a:solidFill>
              <a:srgbClr val="FFCC00"/>
            </a:solidFill>
            <a:ln w="9525">
              <a:solidFill>
                <a:schemeClr val="bg2"/>
              </a:solidFill>
              <a:round/>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600">
                  <a:solidFill>
                    <a:srgbClr val="000000"/>
                  </a:solidFill>
                  <a:latin typeface="Times New Roman" panose="02020603050405020304" pitchFamily="18" charset="0"/>
                  <a:ea typeface="黑体" panose="02010609060101010101" pitchFamily="49" charset="-122"/>
                </a:rPr>
                <a:t>阶段评审报告</a:t>
              </a:r>
            </a:p>
          </p:txBody>
        </p:sp>
        <p:sp>
          <p:nvSpPr>
            <p:cNvPr id="93191" name="AutoShape 7">
              <a:extLst>
                <a:ext uri="{FF2B5EF4-FFF2-40B4-BE49-F238E27FC236}">
                  <a16:creationId xmlns:a16="http://schemas.microsoft.com/office/drawing/2014/main" id="{BEC97F30-58D8-E89C-C12B-0E21652C8386}"/>
                </a:ext>
              </a:extLst>
            </p:cNvPr>
            <p:cNvSpPr>
              <a:spLocks noChangeArrowheads="1"/>
            </p:cNvSpPr>
            <p:nvPr/>
          </p:nvSpPr>
          <p:spPr bwMode="auto">
            <a:xfrm>
              <a:off x="2091" y="3352"/>
              <a:ext cx="992" cy="385"/>
            </a:xfrm>
            <a:prstGeom prst="foldedCorner">
              <a:avLst>
                <a:gd name="adj" fmla="val 12500"/>
              </a:avLst>
            </a:prstGeom>
            <a:solidFill>
              <a:srgbClr val="FFCC00"/>
            </a:solidFill>
            <a:ln w="9525">
              <a:solidFill>
                <a:schemeClr val="bg2"/>
              </a:solidFill>
              <a:round/>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600">
                  <a:solidFill>
                    <a:srgbClr val="000000"/>
                  </a:solidFill>
                  <a:latin typeface="Times New Roman" panose="02020603050405020304" pitchFamily="18" charset="0"/>
                  <a:ea typeface="黑体" panose="02010609060101010101" pitchFamily="49" charset="-122"/>
                </a:rPr>
                <a:t>事件评审报告</a:t>
              </a:r>
            </a:p>
          </p:txBody>
        </p:sp>
        <p:sp>
          <p:nvSpPr>
            <p:cNvPr id="93192" name="AutoShape 10">
              <a:extLst>
                <a:ext uri="{FF2B5EF4-FFF2-40B4-BE49-F238E27FC236}">
                  <a16:creationId xmlns:a16="http://schemas.microsoft.com/office/drawing/2014/main" id="{97E72B3C-A0A3-E81E-6D94-CEC0D55CDB9B}"/>
                </a:ext>
              </a:extLst>
            </p:cNvPr>
            <p:cNvSpPr>
              <a:spLocks noChangeArrowheads="1"/>
            </p:cNvSpPr>
            <p:nvPr/>
          </p:nvSpPr>
          <p:spPr bwMode="auto">
            <a:xfrm>
              <a:off x="657" y="2685"/>
              <a:ext cx="726" cy="383"/>
            </a:xfrm>
            <a:prstGeom prst="foldedCorner">
              <a:avLst>
                <a:gd name="adj" fmla="val 12500"/>
              </a:avLst>
            </a:prstGeom>
            <a:solidFill>
              <a:srgbClr val="6699FF"/>
            </a:solidFill>
            <a:ln w="9525">
              <a:solidFill>
                <a:schemeClr val="bg2"/>
              </a:solidFill>
              <a:round/>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600">
                  <a:solidFill>
                    <a:srgbClr val="000000"/>
                  </a:solidFill>
                  <a:latin typeface="Times New Roman" panose="02020603050405020304" pitchFamily="18" charset="0"/>
                  <a:ea typeface="黑体" panose="02010609060101010101" pitchFamily="49" charset="-122"/>
                </a:rPr>
                <a:t>评审记录</a:t>
              </a:r>
            </a:p>
          </p:txBody>
        </p:sp>
        <p:sp>
          <p:nvSpPr>
            <p:cNvPr id="93193" name="Line 11">
              <a:extLst>
                <a:ext uri="{FF2B5EF4-FFF2-40B4-BE49-F238E27FC236}">
                  <a16:creationId xmlns:a16="http://schemas.microsoft.com/office/drawing/2014/main" id="{A0A86200-8868-9028-36E1-18BE29682678}"/>
                </a:ext>
              </a:extLst>
            </p:cNvPr>
            <p:cNvSpPr>
              <a:spLocks noChangeShapeType="1"/>
            </p:cNvSpPr>
            <p:nvPr/>
          </p:nvSpPr>
          <p:spPr bwMode="auto">
            <a:xfrm>
              <a:off x="1398" y="2883"/>
              <a:ext cx="693"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4" name="Freeform 12">
              <a:extLst>
                <a:ext uri="{FF2B5EF4-FFF2-40B4-BE49-F238E27FC236}">
                  <a16:creationId xmlns:a16="http://schemas.microsoft.com/office/drawing/2014/main" id="{6AB9F391-E8D1-4D09-0360-F45588C6F197}"/>
                </a:ext>
              </a:extLst>
            </p:cNvPr>
            <p:cNvSpPr>
              <a:spLocks/>
            </p:cNvSpPr>
            <p:nvPr/>
          </p:nvSpPr>
          <p:spPr bwMode="auto">
            <a:xfrm>
              <a:off x="1721" y="2285"/>
              <a:ext cx="370" cy="1280"/>
            </a:xfrm>
            <a:custGeom>
              <a:avLst/>
              <a:gdLst>
                <a:gd name="T0" fmla="*/ 319 w 384"/>
                <a:gd name="T1" fmla="*/ 0 h 1440"/>
                <a:gd name="T2" fmla="*/ 0 w 384"/>
                <a:gd name="T3" fmla="*/ 0 h 1440"/>
                <a:gd name="T4" fmla="*/ 0 w 384"/>
                <a:gd name="T5" fmla="*/ 800 h 1440"/>
                <a:gd name="T6" fmla="*/ 319 w 384"/>
                <a:gd name="T7" fmla="*/ 800 h 1440"/>
                <a:gd name="T8" fmla="*/ 0 60000 65536"/>
                <a:gd name="T9" fmla="*/ 0 60000 65536"/>
                <a:gd name="T10" fmla="*/ 0 60000 65536"/>
                <a:gd name="T11" fmla="*/ 0 60000 65536"/>
                <a:gd name="T12" fmla="*/ 0 w 384"/>
                <a:gd name="T13" fmla="*/ 0 h 1440"/>
                <a:gd name="T14" fmla="*/ 384 w 384"/>
                <a:gd name="T15" fmla="*/ 1440 h 1440"/>
              </a:gdLst>
              <a:ahLst/>
              <a:cxnLst>
                <a:cxn ang="T8">
                  <a:pos x="T0" y="T1"/>
                </a:cxn>
                <a:cxn ang="T9">
                  <a:pos x="T2" y="T3"/>
                </a:cxn>
                <a:cxn ang="T10">
                  <a:pos x="T4" y="T5"/>
                </a:cxn>
                <a:cxn ang="T11">
                  <a:pos x="T6" y="T7"/>
                </a:cxn>
              </a:cxnLst>
              <a:rect l="T12" t="T13" r="T14" b="T15"/>
              <a:pathLst>
                <a:path w="384" h="1440">
                  <a:moveTo>
                    <a:pt x="384" y="0"/>
                  </a:moveTo>
                  <a:lnTo>
                    <a:pt x="0" y="0"/>
                  </a:lnTo>
                  <a:lnTo>
                    <a:pt x="0" y="1440"/>
                  </a:lnTo>
                  <a:lnTo>
                    <a:pt x="384" y="1440"/>
                  </a:lnTo>
                </a:path>
              </a:pathLst>
            </a:custGeom>
            <a:noFill/>
            <a:ln w="28575" cmpd="sng">
              <a:solidFill>
                <a:schemeClr val="bg2"/>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195" name="Text Box 13">
              <a:extLst>
                <a:ext uri="{FF2B5EF4-FFF2-40B4-BE49-F238E27FC236}">
                  <a16:creationId xmlns:a16="http://schemas.microsoft.com/office/drawing/2014/main" id="{FA05E693-86A2-9338-9BB1-7FF092BA2901}"/>
                </a:ext>
              </a:extLst>
            </p:cNvPr>
            <p:cNvSpPr txBox="1">
              <a:spLocks noChangeArrowheads="1"/>
            </p:cNvSpPr>
            <p:nvPr/>
          </p:nvSpPr>
          <p:spPr bwMode="auto">
            <a:xfrm>
              <a:off x="1404" y="2922"/>
              <a:ext cx="251" cy="37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kumimoji="0" lang="zh-CN" altLang="en-US" sz="1600">
                  <a:solidFill>
                    <a:srgbClr val="000000"/>
                  </a:solidFill>
                  <a:latin typeface="Times New Roman" panose="02020603050405020304" pitchFamily="18" charset="0"/>
                  <a:ea typeface="黑体" panose="02010609060101010101" pitchFamily="49" charset="-122"/>
                </a:rPr>
                <a:t>整</a:t>
              </a:r>
            </a:p>
            <a:p>
              <a:pPr algn="just">
                <a:spcBef>
                  <a:spcPct val="0"/>
                </a:spcBef>
                <a:buClrTx/>
                <a:buFontTx/>
                <a:buNone/>
              </a:pPr>
              <a:r>
                <a:rPr kumimoji="0" lang="zh-CN" altLang="en-US" sz="1600">
                  <a:solidFill>
                    <a:srgbClr val="000000"/>
                  </a:solidFill>
                  <a:latin typeface="Times New Roman" panose="02020603050405020304" pitchFamily="18" charset="0"/>
                  <a:ea typeface="黑体" panose="02010609060101010101" pitchFamily="49" charset="-122"/>
                </a:rPr>
                <a:t>理</a:t>
              </a:r>
            </a:p>
          </p:txBody>
        </p:sp>
        <p:sp>
          <p:nvSpPr>
            <p:cNvPr id="93196" name="AutoShape 8">
              <a:extLst>
                <a:ext uri="{FF2B5EF4-FFF2-40B4-BE49-F238E27FC236}">
                  <a16:creationId xmlns:a16="http://schemas.microsoft.com/office/drawing/2014/main" id="{60CFEC03-4690-619A-3F63-E7F8E55F9640}"/>
                </a:ext>
              </a:extLst>
            </p:cNvPr>
            <p:cNvSpPr>
              <a:spLocks noChangeArrowheads="1"/>
            </p:cNvSpPr>
            <p:nvPr/>
          </p:nvSpPr>
          <p:spPr bwMode="auto">
            <a:xfrm>
              <a:off x="3939" y="2498"/>
              <a:ext cx="726" cy="385"/>
            </a:xfrm>
            <a:prstGeom prst="foldedCorner">
              <a:avLst>
                <a:gd name="adj" fmla="val 12500"/>
              </a:avLst>
            </a:prstGeom>
            <a:solidFill>
              <a:srgbClr val="CC6600"/>
            </a:solidFill>
            <a:ln w="9525">
              <a:solidFill>
                <a:schemeClr val="bg2"/>
              </a:solidFill>
              <a:round/>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600">
                  <a:solidFill>
                    <a:srgbClr val="000000"/>
                  </a:solidFill>
                  <a:latin typeface="Times New Roman" panose="02020603050405020304" pitchFamily="18" charset="0"/>
                  <a:ea typeface="黑体" panose="02010609060101010101" pitchFamily="49" charset="-122"/>
                </a:rPr>
                <a:t>项目简报</a:t>
              </a:r>
            </a:p>
          </p:txBody>
        </p:sp>
        <p:sp>
          <p:nvSpPr>
            <p:cNvPr id="93197" name="AutoShape 9">
              <a:extLst>
                <a:ext uri="{FF2B5EF4-FFF2-40B4-BE49-F238E27FC236}">
                  <a16:creationId xmlns:a16="http://schemas.microsoft.com/office/drawing/2014/main" id="{56853EF8-CCE5-0081-9EDF-E4E5A9EBD2C0}"/>
                </a:ext>
              </a:extLst>
            </p:cNvPr>
            <p:cNvSpPr>
              <a:spLocks noChangeArrowheads="1"/>
            </p:cNvSpPr>
            <p:nvPr/>
          </p:nvSpPr>
          <p:spPr bwMode="auto">
            <a:xfrm>
              <a:off x="3939" y="3096"/>
              <a:ext cx="992" cy="385"/>
            </a:xfrm>
            <a:prstGeom prst="foldedCorner">
              <a:avLst>
                <a:gd name="adj" fmla="val 12500"/>
              </a:avLst>
            </a:prstGeom>
            <a:solidFill>
              <a:srgbClr val="CC6600"/>
            </a:solidFill>
            <a:ln w="9525">
              <a:solidFill>
                <a:schemeClr val="bg2"/>
              </a:solidFill>
              <a:round/>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600">
                  <a:solidFill>
                    <a:srgbClr val="000000"/>
                  </a:solidFill>
                  <a:latin typeface="Times New Roman" panose="02020603050405020304" pitchFamily="18" charset="0"/>
                  <a:ea typeface="黑体" panose="02010609060101010101" pitchFamily="49" charset="-122"/>
                </a:rPr>
                <a:t>计划修改记录</a:t>
              </a:r>
            </a:p>
          </p:txBody>
        </p:sp>
        <p:sp>
          <p:nvSpPr>
            <p:cNvPr id="93198" name="Freeform 14">
              <a:extLst>
                <a:ext uri="{FF2B5EF4-FFF2-40B4-BE49-F238E27FC236}">
                  <a16:creationId xmlns:a16="http://schemas.microsoft.com/office/drawing/2014/main" id="{4BDBF2AB-F614-BA5B-4F27-86CBF50F8905}"/>
                </a:ext>
              </a:extLst>
            </p:cNvPr>
            <p:cNvSpPr>
              <a:spLocks/>
            </p:cNvSpPr>
            <p:nvPr/>
          </p:nvSpPr>
          <p:spPr bwMode="auto">
            <a:xfrm>
              <a:off x="3061" y="2285"/>
              <a:ext cx="323" cy="1280"/>
            </a:xfrm>
            <a:custGeom>
              <a:avLst/>
              <a:gdLst>
                <a:gd name="T0" fmla="*/ 0 w 336"/>
                <a:gd name="T1" fmla="*/ 0 h 1440"/>
                <a:gd name="T2" fmla="*/ 276 w 336"/>
                <a:gd name="T3" fmla="*/ 0 h 1440"/>
                <a:gd name="T4" fmla="*/ 276 w 336"/>
                <a:gd name="T5" fmla="*/ 800 h 1440"/>
                <a:gd name="T6" fmla="*/ 0 w 336"/>
                <a:gd name="T7" fmla="*/ 800 h 1440"/>
                <a:gd name="T8" fmla="*/ 0 60000 65536"/>
                <a:gd name="T9" fmla="*/ 0 60000 65536"/>
                <a:gd name="T10" fmla="*/ 0 60000 65536"/>
                <a:gd name="T11" fmla="*/ 0 60000 65536"/>
                <a:gd name="T12" fmla="*/ 0 w 336"/>
                <a:gd name="T13" fmla="*/ 0 h 1440"/>
                <a:gd name="T14" fmla="*/ 336 w 336"/>
                <a:gd name="T15" fmla="*/ 1440 h 1440"/>
              </a:gdLst>
              <a:ahLst/>
              <a:cxnLst>
                <a:cxn ang="T8">
                  <a:pos x="T0" y="T1"/>
                </a:cxn>
                <a:cxn ang="T9">
                  <a:pos x="T2" y="T3"/>
                </a:cxn>
                <a:cxn ang="T10">
                  <a:pos x="T4" y="T5"/>
                </a:cxn>
                <a:cxn ang="T11">
                  <a:pos x="T6" y="T7"/>
                </a:cxn>
              </a:cxnLst>
              <a:rect l="T12" t="T13" r="T14" b="T15"/>
              <a:pathLst>
                <a:path w="336" h="1440">
                  <a:moveTo>
                    <a:pt x="0" y="0"/>
                  </a:moveTo>
                  <a:lnTo>
                    <a:pt x="336" y="0"/>
                  </a:lnTo>
                  <a:lnTo>
                    <a:pt x="336" y="1440"/>
                  </a:lnTo>
                  <a:lnTo>
                    <a:pt x="0" y="1440"/>
                  </a:lnTo>
                </a:path>
              </a:pathLst>
            </a:custGeom>
            <a:noFill/>
            <a:ln w="28575" cmpd="sng">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199" name="Line 15">
              <a:extLst>
                <a:ext uri="{FF2B5EF4-FFF2-40B4-BE49-F238E27FC236}">
                  <a16:creationId xmlns:a16="http://schemas.microsoft.com/office/drawing/2014/main" id="{A22A935F-B135-36CE-3483-F446C3096CB2}"/>
                </a:ext>
              </a:extLst>
            </p:cNvPr>
            <p:cNvSpPr>
              <a:spLocks noChangeShapeType="1"/>
            </p:cNvSpPr>
            <p:nvPr/>
          </p:nvSpPr>
          <p:spPr bwMode="auto">
            <a:xfrm>
              <a:off x="3061" y="2883"/>
              <a:ext cx="693"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0" name="Rectangle 16">
              <a:extLst>
                <a:ext uri="{FF2B5EF4-FFF2-40B4-BE49-F238E27FC236}">
                  <a16:creationId xmlns:a16="http://schemas.microsoft.com/office/drawing/2014/main" id="{309BBE48-4D46-BE39-F867-D8D8C60C0AF6}"/>
                </a:ext>
              </a:extLst>
            </p:cNvPr>
            <p:cNvSpPr>
              <a:spLocks noChangeArrowheads="1"/>
            </p:cNvSpPr>
            <p:nvPr/>
          </p:nvSpPr>
          <p:spPr bwMode="auto">
            <a:xfrm>
              <a:off x="3754" y="2244"/>
              <a:ext cx="1572" cy="1407"/>
            </a:xfrm>
            <a:prstGeom prst="rect">
              <a:avLst/>
            </a:prstGeom>
            <a:noFill/>
            <a:ln w="9525">
              <a:solidFill>
                <a:schemeClr val="bg2"/>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3201" name="AutoShape 17">
              <a:extLst>
                <a:ext uri="{FF2B5EF4-FFF2-40B4-BE49-F238E27FC236}">
                  <a16:creationId xmlns:a16="http://schemas.microsoft.com/office/drawing/2014/main" id="{2EBDE84F-E558-A6E2-57FA-B595A943B9CD}"/>
                </a:ext>
              </a:extLst>
            </p:cNvPr>
            <p:cNvSpPr>
              <a:spLocks noChangeArrowheads="1"/>
            </p:cNvSpPr>
            <p:nvPr/>
          </p:nvSpPr>
          <p:spPr bwMode="auto">
            <a:xfrm>
              <a:off x="3338" y="3864"/>
              <a:ext cx="695" cy="428"/>
            </a:xfrm>
            <a:prstGeom prst="can">
              <a:avLst>
                <a:gd name="adj" fmla="val 25000"/>
              </a:avLst>
            </a:prstGeom>
            <a:solidFill>
              <a:schemeClr val="accent1"/>
            </a:solidFill>
            <a:ln w="9525">
              <a:solidFill>
                <a:schemeClr val="bg2"/>
              </a:solidFill>
              <a:round/>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3202" name="Line 18">
              <a:extLst>
                <a:ext uri="{FF2B5EF4-FFF2-40B4-BE49-F238E27FC236}">
                  <a16:creationId xmlns:a16="http://schemas.microsoft.com/office/drawing/2014/main" id="{FF6341B0-7619-5E5D-61CC-4BAD9730ED36}"/>
                </a:ext>
              </a:extLst>
            </p:cNvPr>
            <p:cNvSpPr>
              <a:spLocks noChangeShapeType="1"/>
            </p:cNvSpPr>
            <p:nvPr/>
          </p:nvSpPr>
          <p:spPr bwMode="auto">
            <a:xfrm>
              <a:off x="3338" y="3651"/>
              <a:ext cx="232" cy="172"/>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3" name="Line 19">
              <a:extLst>
                <a:ext uri="{FF2B5EF4-FFF2-40B4-BE49-F238E27FC236}">
                  <a16:creationId xmlns:a16="http://schemas.microsoft.com/office/drawing/2014/main" id="{F1D508D7-0D30-CAC7-8F03-A7910CB3904E}"/>
                </a:ext>
              </a:extLst>
            </p:cNvPr>
            <p:cNvSpPr>
              <a:spLocks noChangeShapeType="1"/>
            </p:cNvSpPr>
            <p:nvPr/>
          </p:nvSpPr>
          <p:spPr bwMode="auto">
            <a:xfrm flipH="1">
              <a:off x="3801" y="3651"/>
              <a:ext cx="184" cy="172"/>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4" name="Text Box 20">
              <a:extLst>
                <a:ext uri="{FF2B5EF4-FFF2-40B4-BE49-F238E27FC236}">
                  <a16:creationId xmlns:a16="http://schemas.microsoft.com/office/drawing/2014/main" id="{4DAC4B70-AE41-9FF8-4A95-B439B693423B}"/>
                </a:ext>
              </a:extLst>
            </p:cNvPr>
            <p:cNvSpPr txBox="1">
              <a:spLocks noChangeArrowheads="1"/>
            </p:cNvSpPr>
            <p:nvPr/>
          </p:nvSpPr>
          <p:spPr bwMode="auto">
            <a:xfrm>
              <a:off x="4156" y="3882"/>
              <a:ext cx="122" cy="21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kumimoji="0" lang="zh-CN" altLang="zh-CN" sz="1600">
                <a:solidFill>
                  <a:schemeClr val="bg1"/>
                </a:solidFill>
                <a:latin typeface="Times New Roman" panose="02020603050405020304" pitchFamily="18" charset="0"/>
                <a:ea typeface="黑体" panose="02010609060101010101" pitchFamily="49" charset="-122"/>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D39F1981-499B-027D-5EBD-99736E20D4BE}"/>
              </a:ext>
            </a:extLst>
          </p:cNvPr>
          <p:cNvSpPr>
            <a:spLocks noGrp="1" noChangeArrowheads="1"/>
          </p:cNvSpPr>
          <p:nvPr>
            <p:ph type="title"/>
          </p:nvPr>
        </p:nvSpPr>
        <p:spPr/>
        <p:txBody>
          <a:bodyPr/>
          <a:lstStyle/>
          <a:p>
            <a:pPr eaLnBrk="1" hangingPunct="1"/>
            <a:r>
              <a:rPr kumimoji="1" lang="zh-CN" altLang="en-US"/>
              <a:t>软件项目评审</a:t>
            </a:r>
          </a:p>
        </p:txBody>
      </p:sp>
      <p:sp>
        <p:nvSpPr>
          <p:cNvPr id="95235" name="Rectangle 3">
            <a:extLst>
              <a:ext uri="{FF2B5EF4-FFF2-40B4-BE49-F238E27FC236}">
                <a16:creationId xmlns:a16="http://schemas.microsoft.com/office/drawing/2014/main" id="{AEADA30D-859F-9CF0-15B4-5008D0325C86}"/>
              </a:ext>
            </a:extLst>
          </p:cNvPr>
          <p:cNvSpPr>
            <a:spLocks noGrp="1" noChangeArrowheads="1"/>
          </p:cNvSpPr>
          <p:nvPr>
            <p:ph type="body" idx="1"/>
          </p:nvPr>
        </p:nvSpPr>
        <p:spPr>
          <a:xfrm>
            <a:off x="611188" y="1916113"/>
            <a:ext cx="8353425" cy="4941887"/>
          </a:xfrm>
        </p:spPr>
        <p:txBody>
          <a:bodyPr/>
          <a:lstStyle/>
          <a:p>
            <a:pPr eaLnBrk="1" hangingPunct="1">
              <a:lnSpc>
                <a:spcPct val="120000"/>
              </a:lnSpc>
            </a:pPr>
            <a:r>
              <a:rPr lang="zh-CN" altLang="en-US" sz="2400">
                <a:solidFill>
                  <a:schemeClr val="accent2"/>
                </a:solidFill>
                <a:latin typeface="黑体" panose="02010609060101010101" pitchFamily="49" charset="-122"/>
                <a:ea typeface="黑体" panose="02010609060101010101" pitchFamily="49" charset="-122"/>
              </a:rPr>
              <a:t>项目管理平台</a:t>
            </a:r>
            <a:r>
              <a:rPr lang="en-US" altLang="zh-CN" sz="2400">
                <a:solidFill>
                  <a:schemeClr val="accent2"/>
                </a:solidFill>
                <a:latin typeface="黑体" panose="02010609060101010101" pitchFamily="49" charset="-122"/>
                <a:ea typeface="黑体" panose="02010609060101010101" pitchFamily="49" charset="-122"/>
              </a:rPr>
              <a:t>-PMIS</a:t>
            </a:r>
          </a:p>
          <a:p>
            <a:pPr eaLnBrk="1" hangingPunct="1">
              <a:lnSpc>
                <a:spcPct val="120000"/>
              </a:lnSpc>
              <a:buFont typeface="Wingdings 2" panose="05020102010507070707" pitchFamily="18" charset="2"/>
              <a:buNone/>
            </a:pPr>
            <a:r>
              <a:rPr lang="en-US" altLang="zh-CN" sz="2000">
                <a:solidFill>
                  <a:schemeClr val="accent2"/>
                </a:solidFill>
                <a:latin typeface="宋体" panose="02010600030101010101" pitchFamily="2" charset="-122"/>
              </a:rPr>
              <a:t>   </a:t>
            </a:r>
            <a:r>
              <a:rPr lang="en-US" altLang="zh-CN" sz="2000"/>
              <a:t> </a:t>
            </a:r>
            <a:r>
              <a:rPr lang="en-US" altLang="zh-CN" sz="2000">
                <a:solidFill>
                  <a:srgbClr val="6699FF"/>
                </a:solidFill>
                <a:ea typeface="黑体" panose="02010609060101010101" pitchFamily="49" charset="-122"/>
              </a:rPr>
              <a:t>——</a:t>
            </a:r>
            <a:r>
              <a:rPr lang="zh-CN" altLang="en-US" sz="2000">
                <a:latin typeface="宋体" panose="02010600030101010101" pitchFamily="2" charset="-122"/>
              </a:rPr>
              <a:t>这个系统包括四个环节，即建立基线计划、信息采集、信息处理、信息输出。 </a:t>
            </a:r>
            <a:r>
              <a:rPr lang="zh-CN" altLang="en-US" sz="2000"/>
              <a:t>   </a:t>
            </a:r>
          </a:p>
        </p:txBody>
      </p:sp>
      <p:grpSp>
        <p:nvGrpSpPr>
          <p:cNvPr id="95236" name="Group 5">
            <a:extLst>
              <a:ext uri="{FF2B5EF4-FFF2-40B4-BE49-F238E27FC236}">
                <a16:creationId xmlns:a16="http://schemas.microsoft.com/office/drawing/2014/main" id="{4D521246-4712-7736-5AC5-492B5024A589}"/>
              </a:ext>
            </a:extLst>
          </p:cNvPr>
          <p:cNvGrpSpPr>
            <a:grpSpLocks/>
          </p:cNvGrpSpPr>
          <p:nvPr/>
        </p:nvGrpSpPr>
        <p:grpSpPr bwMode="auto">
          <a:xfrm>
            <a:off x="1331913" y="3557588"/>
            <a:ext cx="6400800" cy="2895600"/>
            <a:chOff x="624" y="1488"/>
            <a:chExt cx="4032" cy="1824"/>
          </a:xfrm>
        </p:grpSpPr>
        <p:sp>
          <p:nvSpPr>
            <p:cNvPr id="95237" name="Text Box 6">
              <a:extLst>
                <a:ext uri="{FF2B5EF4-FFF2-40B4-BE49-F238E27FC236}">
                  <a16:creationId xmlns:a16="http://schemas.microsoft.com/office/drawing/2014/main" id="{F1D258A3-C183-5B88-685F-4B1BC6C2DA34}"/>
                </a:ext>
              </a:extLst>
            </p:cNvPr>
            <p:cNvSpPr txBox="1">
              <a:spLocks noChangeArrowheads="1"/>
            </p:cNvSpPr>
            <p:nvPr/>
          </p:nvSpPr>
          <p:spPr bwMode="auto">
            <a:xfrm>
              <a:off x="624" y="2496"/>
              <a:ext cx="1152" cy="384"/>
            </a:xfrm>
            <a:prstGeom prst="rect">
              <a:avLst/>
            </a:prstGeom>
            <a:solidFill>
              <a:srgbClr val="FFCC00"/>
            </a:solidFill>
            <a:ln w="9525">
              <a:solidFill>
                <a:schemeClr val="tx1"/>
              </a:solidFill>
              <a:miter lim="800000"/>
              <a:headEnd/>
              <a:tailEnd/>
            </a:ln>
          </p:spPr>
          <p:txBody>
            <a:bodyPr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Times New Roman" panose="02020603050405020304" pitchFamily="18" charset="0"/>
                  <a:ea typeface="黑体" panose="02010609060101010101" pitchFamily="49" charset="-122"/>
                </a:rPr>
                <a:t>建立基准计划</a:t>
              </a:r>
            </a:p>
          </p:txBody>
        </p:sp>
        <p:sp>
          <p:nvSpPr>
            <p:cNvPr id="95238" name="Text Box 7">
              <a:extLst>
                <a:ext uri="{FF2B5EF4-FFF2-40B4-BE49-F238E27FC236}">
                  <a16:creationId xmlns:a16="http://schemas.microsoft.com/office/drawing/2014/main" id="{B012F4A5-E1CD-15CB-1CF0-04B95ECD8B77}"/>
                </a:ext>
              </a:extLst>
            </p:cNvPr>
            <p:cNvSpPr txBox="1">
              <a:spLocks noChangeArrowheads="1"/>
            </p:cNvSpPr>
            <p:nvPr/>
          </p:nvSpPr>
          <p:spPr bwMode="auto">
            <a:xfrm>
              <a:off x="4060" y="2543"/>
              <a:ext cx="596" cy="287"/>
            </a:xfrm>
            <a:prstGeom prst="rect">
              <a:avLst/>
            </a:prstGeom>
            <a:solidFill>
              <a:srgbClr val="FF9933"/>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Times New Roman" panose="02020603050405020304" pitchFamily="18" charset="0"/>
                  <a:ea typeface="黑体" panose="02010609060101010101" pitchFamily="49" charset="-122"/>
                </a:rPr>
                <a:t>输出</a:t>
              </a:r>
            </a:p>
          </p:txBody>
        </p:sp>
        <p:sp>
          <p:nvSpPr>
            <p:cNvPr id="95239" name="Text Box 8">
              <a:extLst>
                <a:ext uri="{FF2B5EF4-FFF2-40B4-BE49-F238E27FC236}">
                  <a16:creationId xmlns:a16="http://schemas.microsoft.com/office/drawing/2014/main" id="{34C39A09-144C-E611-D3D9-3AFD4324820F}"/>
                </a:ext>
              </a:extLst>
            </p:cNvPr>
            <p:cNvSpPr txBox="1">
              <a:spLocks noChangeArrowheads="1"/>
            </p:cNvSpPr>
            <p:nvPr/>
          </p:nvSpPr>
          <p:spPr bwMode="auto">
            <a:xfrm>
              <a:off x="1728" y="1488"/>
              <a:ext cx="801" cy="288"/>
            </a:xfrm>
            <a:prstGeom prst="rect">
              <a:avLst/>
            </a:prstGeom>
            <a:solidFill>
              <a:srgbClr val="CC66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latin typeface="Times New Roman" panose="02020603050405020304" pitchFamily="18" charset="0"/>
                  <a:ea typeface="黑体" panose="02010609060101010101" pitchFamily="49" charset="-122"/>
                </a:rPr>
                <a:t>采集信息</a:t>
              </a:r>
            </a:p>
          </p:txBody>
        </p:sp>
        <p:sp>
          <p:nvSpPr>
            <p:cNvPr id="95240" name="AutoShape 9">
              <a:extLst>
                <a:ext uri="{FF2B5EF4-FFF2-40B4-BE49-F238E27FC236}">
                  <a16:creationId xmlns:a16="http://schemas.microsoft.com/office/drawing/2014/main" id="{95ADE77E-F6CC-B194-1C69-863D2D882B54}"/>
                </a:ext>
              </a:extLst>
            </p:cNvPr>
            <p:cNvSpPr>
              <a:spLocks noChangeArrowheads="1"/>
            </p:cNvSpPr>
            <p:nvPr/>
          </p:nvSpPr>
          <p:spPr bwMode="auto">
            <a:xfrm>
              <a:off x="2699" y="1488"/>
              <a:ext cx="256" cy="6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22 w 21600"/>
                <a:gd name="T19" fmla="*/ 3150 h 21600"/>
                <a:gd name="T20" fmla="*/ 18478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bg2"/>
            </a:solidFill>
            <a:ln w="9525">
              <a:solidFill>
                <a:schemeClr val="tx1"/>
              </a:solidFill>
              <a:miter lim="800000"/>
              <a:headEnd/>
              <a:tailEnd/>
            </a:ln>
          </p:spPr>
          <p:txBody>
            <a:bodyPr/>
            <a:lstStyle/>
            <a:p>
              <a:endParaRPr lang="zh-CN" altLang="en-US"/>
            </a:p>
          </p:txBody>
        </p:sp>
        <p:sp>
          <p:nvSpPr>
            <p:cNvPr id="95241" name="AutoShape 10">
              <a:extLst>
                <a:ext uri="{FF2B5EF4-FFF2-40B4-BE49-F238E27FC236}">
                  <a16:creationId xmlns:a16="http://schemas.microsoft.com/office/drawing/2014/main" id="{A323EDFD-CB60-72E0-79A9-0E49CE45AA3C}"/>
                </a:ext>
              </a:extLst>
            </p:cNvPr>
            <p:cNvSpPr>
              <a:spLocks noChangeArrowheads="1"/>
            </p:cNvSpPr>
            <p:nvPr/>
          </p:nvSpPr>
          <p:spPr bwMode="auto">
            <a:xfrm>
              <a:off x="2444" y="2063"/>
              <a:ext cx="851" cy="1249"/>
            </a:xfrm>
            <a:prstGeom prst="flowChartMagneticDisk">
              <a:avLst/>
            </a:prstGeom>
            <a:solidFill>
              <a:srgbClr val="6699FF"/>
            </a:solidFill>
            <a:ln w="9525">
              <a:solidFill>
                <a:schemeClr val="tx1"/>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kumimoji="0" lang="en-US" altLang="zh-CN" sz="1800">
                <a:latin typeface="Times New Roman" panose="02020603050405020304" pitchFamily="18" charset="0"/>
                <a:ea typeface="黑体" panose="02010609060101010101" pitchFamily="49" charset="-122"/>
              </a:endParaRPr>
            </a:p>
            <a:p>
              <a:pPr algn="ctr">
                <a:spcBef>
                  <a:spcPct val="0"/>
                </a:spcBef>
                <a:buClrTx/>
                <a:buFontTx/>
                <a:buNone/>
              </a:pPr>
              <a:r>
                <a:rPr kumimoji="0" lang="zh-CN" altLang="en-US" sz="1800">
                  <a:latin typeface="Times New Roman" panose="02020603050405020304" pitchFamily="18" charset="0"/>
                  <a:ea typeface="黑体" panose="02010609060101010101" pitchFamily="49" charset="-122"/>
                </a:rPr>
                <a:t>处理</a:t>
              </a:r>
            </a:p>
          </p:txBody>
        </p:sp>
        <p:sp>
          <p:nvSpPr>
            <p:cNvPr id="95242" name="AutoShape 11">
              <a:extLst>
                <a:ext uri="{FF2B5EF4-FFF2-40B4-BE49-F238E27FC236}">
                  <a16:creationId xmlns:a16="http://schemas.microsoft.com/office/drawing/2014/main" id="{3112CB51-6F4C-5E49-9C30-70437F7B07BC}"/>
                </a:ext>
              </a:extLst>
            </p:cNvPr>
            <p:cNvSpPr>
              <a:spLocks noChangeArrowheads="1"/>
            </p:cNvSpPr>
            <p:nvPr/>
          </p:nvSpPr>
          <p:spPr bwMode="auto">
            <a:xfrm>
              <a:off x="1763" y="2639"/>
              <a:ext cx="596" cy="96"/>
            </a:xfrm>
            <a:prstGeom prst="notchedRightArrow">
              <a:avLst>
                <a:gd name="adj1" fmla="val 50000"/>
                <a:gd name="adj2" fmla="val 155208"/>
              </a:avLst>
            </a:prstGeom>
            <a:solidFill>
              <a:srgbClr val="6699FF"/>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5243" name="AutoShape 12">
              <a:extLst>
                <a:ext uri="{FF2B5EF4-FFF2-40B4-BE49-F238E27FC236}">
                  <a16:creationId xmlns:a16="http://schemas.microsoft.com/office/drawing/2014/main" id="{579176BA-F4FE-167D-7F52-C250F9FF1661}"/>
                </a:ext>
              </a:extLst>
            </p:cNvPr>
            <p:cNvSpPr>
              <a:spLocks noChangeArrowheads="1"/>
            </p:cNvSpPr>
            <p:nvPr/>
          </p:nvSpPr>
          <p:spPr bwMode="auto">
            <a:xfrm>
              <a:off x="3380" y="2639"/>
              <a:ext cx="595" cy="96"/>
            </a:xfrm>
            <a:prstGeom prst="notchedRightArrow">
              <a:avLst>
                <a:gd name="adj1" fmla="val 50000"/>
                <a:gd name="adj2" fmla="val 154948"/>
              </a:avLst>
            </a:prstGeom>
            <a:solidFill>
              <a:srgbClr val="6699FF"/>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8A4108E7-71C9-7E22-8F55-DEB55538BB95}"/>
              </a:ext>
            </a:extLst>
          </p:cNvPr>
          <p:cNvSpPr>
            <a:spLocks noGrp="1" noChangeArrowheads="1"/>
          </p:cNvSpPr>
          <p:nvPr>
            <p:ph type="title"/>
          </p:nvPr>
        </p:nvSpPr>
        <p:spPr/>
        <p:txBody>
          <a:bodyPr/>
          <a:lstStyle/>
          <a:p>
            <a:pPr eaLnBrk="1" hangingPunct="1"/>
            <a:r>
              <a:rPr kumimoji="1" lang="zh-CN" altLang="en-US"/>
              <a:t>软件项目评审</a:t>
            </a:r>
          </a:p>
        </p:txBody>
      </p:sp>
      <p:sp>
        <p:nvSpPr>
          <p:cNvPr id="97283" name="Rectangle 3">
            <a:extLst>
              <a:ext uri="{FF2B5EF4-FFF2-40B4-BE49-F238E27FC236}">
                <a16:creationId xmlns:a16="http://schemas.microsoft.com/office/drawing/2014/main" id="{ABA5C7BE-AED7-364E-00BE-BDC692822BE9}"/>
              </a:ext>
            </a:extLst>
          </p:cNvPr>
          <p:cNvSpPr>
            <a:spLocks noGrp="1" noChangeArrowheads="1"/>
          </p:cNvSpPr>
          <p:nvPr>
            <p:ph type="body" idx="1"/>
          </p:nvPr>
        </p:nvSpPr>
        <p:spPr>
          <a:xfrm>
            <a:off x="611188" y="1916113"/>
            <a:ext cx="8353425" cy="4941887"/>
          </a:xfrm>
        </p:spPr>
        <p:txBody>
          <a:bodyPr/>
          <a:lstStyle/>
          <a:p>
            <a:pPr eaLnBrk="1" hangingPunct="1">
              <a:lnSpc>
                <a:spcPct val="120000"/>
              </a:lnSpc>
            </a:pPr>
            <a:r>
              <a:rPr lang="zh-CN" altLang="en-US" sz="2400" dirty="0">
                <a:solidFill>
                  <a:schemeClr val="accent2"/>
                </a:solidFill>
                <a:latin typeface="黑体" panose="02010609060101010101" pitchFamily="49" charset="-122"/>
                <a:ea typeface="黑体" panose="02010609060101010101" pitchFamily="49" charset="-122"/>
              </a:rPr>
              <a:t>问题跟踪列表</a:t>
            </a:r>
            <a:endParaRPr lang="en-US" altLang="zh-CN" sz="2400" dirty="0">
              <a:solidFill>
                <a:schemeClr val="accent2"/>
              </a:solidFill>
              <a:latin typeface="黑体" panose="02010609060101010101" pitchFamily="49" charset="-122"/>
              <a:ea typeface="黑体" panose="02010609060101010101" pitchFamily="49" charset="-122"/>
            </a:endParaRPr>
          </a:p>
          <a:p>
            <a:pPr eaLnBrk="1" hangingPunct="1">
              <a:lnSpc>
                <a:spcPct val="120000"/>
              </a:lnSpc>
            </a:pPr>
            <a:r>
              <a:rPr lang="zh-CN" altLang="en-US" sz="2000" dirty="0">
                <a:latin typeface="宋体" panose="02010600030101010101" pitchFamily="2" charset="-122"/>
              </a:rPr>
              <a:t>发现和解决问题是项目管理工作中非常重要的方面，也是项目沟通过程要完成的任务。解决问题包括</a:t>
            </a:r>
            <a:r>
              <a:rPr lang="zh-CN" altLang="en-US" sz="2000" dirty="0">
                <a:solidFill>
                  <a:srgbClr val="FF0000"/>
                </a:solidFill>
                <a:latin typeface="宋体" panose="02010600030101010101" pitchFamily="2" charset="-122"/>
              </a:rPr>
              <a:t>明确问题和制定解决方案两方面的组合</a:t>
            </a:r>
            <a:r>
              <a:rPr lang="zh-CN" altLang="en-US" sz="2000" dirty="0">
                <a:latin typeface="宋体" panose="02010600030101010101" pitchFamily="2" charset="-122"/>
              </a:rPr>
              <a:t>。它所关注的是那些已经出现的问题，与风险管理项目（风险管理涉及的是潜在的问题）。</a:t>
            </a:r>
            <a:endParaRPr lang="en-US" altLang="zh-CN" sz="2000" dirty="0">
              <a:latin typeface="宋体" panose="02010600030101010101" pitchFamily="2" charset="-122"/>
            </a:endParaRPr>
          </a:p>
          <a:p>
            <a:pPr eaLnBrk="1" hangingPunct="1">
              <a:lnSpc>
                <a:spcPct val="120000"/>
              </a:lnSpc>
            </a:pPr>
            <a:r>
              <a:rPr lang="zh-CN" altLang="en-US" sz="2000" dirty="0">
                <a:latin typeface="宋体" panose="02010600030101010101" pitchFamily="2" charset="-122"/>
              </a:rPr>
              <a:t>明确问题要求将</a:t>
            </a:r>
            <a:r>
              <a:rPr lang="zh-CN" altLang="en-US" sz="2000" dirty="0">
                <a:solidFill>
                  <a:srgbClr val="FF0000"/>
                </a:solidFill>
                <a:latin typeface="宋体" panose="02010600030101010101" pitchFamily="2" charset="-122"/>
              </a:rPr>
              <a:t>原因和现象</a:t>
            </a:r>
            <a:r>
              <a:rPr lang="zh-CN" altLang="en-US" sz="2000" dirty="0">
                <a:latin typeface="宋体" panose="02010600030101010101" pitchFamily="2" charset="-122"/>
              </a:rPr>
              <a:t>进行区分。</a:t>
            </a:r>
            <a:endParaRPr lang="en-US" altLang="zh-CN" sz="2000" dirty="0">
              <a:latin typeface="宋体" panose="02010600030101010101" pitchFamily="2" charset="-122"/>
            </a:endParaRPr>
          </a:p>
          <a:p>
            <a:pPr eaLnBrk="1" hangingPunct="1">
              <a:lnSpc>
                <a:spcPct val="120000"/>
              </a:lnSpc>
            </a:pPr>
            <a:r>
              <a:rPr lang="zh-CN" altLang="en-US" sz="2000" dirty="0">
                <a:latin typeface="宋体" panose="02010600030101010101" pitchFamily="2" charset="-122"/>
              </a:rPr>
              <a:t>项目经理应该</a:t>
            </a:r>
            <a:r>
              <a:rPr lang="zh-CN" altLang="en-US" sz="2000" dirty="0">
                <a:solidFill>
                  <a:srgbClr val="FF0000"/>
                </a:solidFill>
                <a:latin typeface="宋体" panose="02010600030101010101" pitchFamily="2" charset="-122"/>
              </a:rPr>
              <a:t>时时监控潜在的问题，及早做好预防</a:t>
            </a:r>
            <a:r>
              <a:rPr lang="zh-CN" altLang="en-US" sz="2000" dirty="0">
                <a:latin typeface="宋体" panose="02010600030101010101" pitchFamily="2" charset="-122"/>
              </a:rPr>
              <a:t>，将隐患消灭在萌芽状态，一旦明确了问题的解决方案，就必须予以实行，解决方案是具有时间性的。</a:t>
            </a:r>
            <a:endParaRPr lang="en-US" altLang="zh-CN" sz="2000" dirty="0">
              <a:latin typeface="宋体" panose="02010600030101010101" pitchFamily="2" charset="-122"/>
            </a:endParaRPr>
          </a:p>
          <a:p>
            <a:pPr eaLnBrk="1" hangingPunct="1">
              <a:lnSpc>
                <a:spcPct val="120000"/>
              </a:lnSpc>
            </a:pPr>
            <a:r>
              <a:rPr lang="zh-CN" altLang="en-US" sz="2000" dirty="0">
                <a:latin typeface="宋体" panose="02010600030101010101" pitchFamily="2" charset="-122"/>
              </a:rPr>
              <a:t>项目评审后，如果没有问题，一切按原计划进行，项目经理就会很轻松；但</a:t>
            </a:r>
            <a:r>
              <a:rPr lang="zh-CN" altLang="en-US" sz="2000" dirty="0">
                <a:solidFill>
                  <a:srgbClr val="FF0000"/>
                </a:solidFill>
                <a:latin typeface="宋体" panose="02010600030101010101" pitchFamily="2" charset="-122"/>
              </a:rPr>
              <a:t>如果出现了问题，就需要有一个问题跟踪列表</a:t>
            </a:r>
            <a:r>
              <a:rPr lang="zh-CN" altLang="en-US" sz="2000" dirty="0">
                <a:latin typeface="宋体" panose="02010600030101010101" pitchFamily="2" charset="-122"/>
              </a:rPr>
              <a:t>，而这个问题跟踪列表正是</a:t>
            </a:r>
            <a:r>
              <a:rPr lang="zh-CN" altLang="en-US" sz="2000" dirty="0">
                <a:solidFill>
                  <a:srgbClr val="FF0000"/>
                </a:solidFill>
                <a:latin typeface="宋体" panose="02010600030101010101" pitchFamily="2" charset="-122"/>
              </a:rPr>
              <a:t>需要项目经理关注和跟踪的事情</a:t>
            </a:r>
            <a:r>
              <a:rPr lang="zh-CN" altLang="en-US" sz="2000" dirty="0">
                <a:latin typeface="宋体" panose="02010600030101010101" pitchFamily="2" charset="-122"/>
              </a:rPr>
              <a:t>。</a:t>
            </a:r>
            <a:endParaRPr lang="zh-CN" altLang="en-US" sz="2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7F727A29-86B1-2932-EE46-E69068D5FDAF}"/>
              </a:ext>
            </a:extLst>
          </p:cNvPr>
          <p:cNvSpPr>
            <a:spLocks noGrp="1" noChangeArrowheads="1"/>
          </p:cNvSpPr>
          <p:nvPr>
            <p:ph type="title"/>
          </p:nvPr>
        </p:nvSpPr>
        <p:spPr/>
        <p:txBody>
          <a:bodyPr/>
          <a:lstStyle/>
          <a:p>
            <a:pPr eaLnBrk="1" hangingPunct="1"/>
            <a:r>
              <a:rPr lang="zh-CN" altLang="en-US"/>
              <a:t>本章内容提要</a:t>
            </a:r>
          </a:p>
        </p:txBody>
      </p:sp>
      <p:grpSp>
        <p:nvGrpSpPr>
          <p:cNvPr id="99331" name="Group 3">
            <a:extLst>
              <a:ext uri="{FF2B5EF4-FFF2-40B4-BE49-F238E27FC236}">
                <a16:creationId xmlns:a16="http://schemas.microsoft.com/office/drawing/2014/main" id="{AFF208F7-2395-2927-5FAE-D1B5E098D0B8}"/>
              </a:ext>
            </a:extLst>
          </p:cNvPr>
          <p:cNvGrpSpPr>
            <a:grpSpLocks/>
          </p:cNvGrpSpPr>
          <p:nvPr/>
        </p:nvGrpSpPr>
        <p:grpSpPr bwMode="auto">
          <a:xfrm>
            <a:off x="969963" y="2487613"/>
            <a:ext cx="5689600" cy="3389312"/>
            <a:chOff x="611" y="1389"/>
            <a:chExt cx="3584" cy="2135"/>
          </a:xfrm>
        </p:grpSpPr>
        <p:grpSp>
          <p:nvGrpSpPr>
            <p:cNvPr id="99332" name="Group 4">
              <a:extLst>
                <a:ext uri="{FF2B5EF4-FFF2-40B4-BE49-F238E27FC236}">
                  <a16:creationId xmlns:a16="http://schemas.microsoft.com/office/drawing/2014/main" id="{1A3997A3-44DA-D94B-51E4-D51B91D92868}"/>
                </a:ext>
              </a:extLst>
            </p:cNvPr>
            <p:cNvGrpSpPr>
              <a:grpSpLocks/>
            </p:cNvGrpSpPr>
            <p:nvPr/>
          </p:nvGrpSpPr>
          <p:grpSpPr bwMode="auto">
            <a:xfrm>
              <a:off x="611" y="1389"/>
              <a:ext cx="3572" cy="205"/>
              <a:chOff x="385" y="1460"/>
              <a:chExt cx="3572" cy="324"/>
            </a:xfrm>
          </p:grpSpPr>
          <p:sp>
            <p:nvSpPr>
              <p:cNvPr id="99362" name="AutoShape 5">
                <a:extLst>
                  <a:ext uri="{FF2B5EF4-FFF2-40B4-BE49-F238E27FC236}">
                    <a16:creationId xmlns:a16="http://schemas.microsoft.com/office/drawing/2014/main" id="{90C174CE-1557-A865-83C3-88EEB009C242}"/>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9363" name="Text Box 6">
                <a:extLst>
                  <a:ext uri="{FF2B5EF4-FFF2-40B4-BE49-F238E27FC236}">
                    <a16:creationId xmlns:a16="http://schemas.microsoft.com/office/drawing/2014/main" id="{21BA8789-B8B3-26A1-1406-E5446A836777}"/>
                  </a:ext>
                </a:extLst>
              </p:cNvPr>
              <p:cNvSpPr txBox="1">
                <a:spLocks noChangeArrowheads="1"/>
              </p:cNvSpPr>
              <p:nvPr/>
            </p:nvSpPr>
            <p:spPr bwMode="auto">
              <a:xfrm>
                <a:off x="626" y="1460"/>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软件项目跟踪控制概述</a:t>
                </a:r>
                <a:r>
                  <a:rPr lang="zh-CN" altLang="en-US" sz="1800">
                    <a:latin typeface="宋体" panose="02010600030101010101" pitchFamily="2" charset="-122"/>
                  </a:rPr>
                  <a:t>  </a:t>
                </a:r>
              </a:p>
            </p:txBody>
          </p:sp>
          <p:sp>
            <p:nvSpPr>
              <p:cNvPr id="99364" name="Rectangle 7">
                <a:extLst>
                  <a:ext uri="{FF2B5EF4-FFF2-40B4-BE49-F238E27FC236}">
                    <a16:creationId xmlns:a16="http://schemas.microsoft.com/office/drawing/2014/main" id="{40D2ED2C-9997-170E-649B-2956878A631A}"/>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9.1</a:t>
                </a:r>
                <a:endParaRPr lang="en-US" altLang="zh-CN" sz="1800">
                  <a:solidFill>
                    <a:srgbClr val="000000"/>
                  </a:solidFill>
                </a:endParaRPr>
              </a:p>
            </p:txBody>
          </p:sp>
        </p:grpSp>
        <p:grpSp>
          <p:nvGrpSpPr>
            <p:cNvPr id="99333" name="Group 8">
              <a:extLst>
                <a:ext uri="{FF2B5EF4-FFF2-40B4-BE49-F238E27FC236}">
                  <a16:creationId xmlns:a16="http://schemas.microsoft.com/office/drawing/2014/main" id="{4D01AE53-1058-7D57-BA07-3EFD3653CA36}"/>
                </a:ext>
              </a:extLst>
            </p:cNvPr>
            <p:cNvGrpSpPr>
              <a:grpSpLocks/>
            </p:cNvGrpSpPr>
            <p:nvPr/>
          </p:nvGrpSpPr>
          <p:grpSpPr bwMode="auto">
            <a:xfrm>
              <a:off x="611" y="1675"/>
              <a:ext cx="3572" cy="202"/>
              <a:chOff x="385" y="1831"/>
              <a:chExt cx="3572" cy="319"/>
            </a:xfrm>
          </p:grpSpPr>
          <p:grpSp>
            <p:nvGrpSpPr>
              <p:cNvPr id="99358" name="Group 9">
                <a:extLst>
                  <a:ext uri="{FF2B5EF4-FFF2-40B4-BE49-F238E27FC236}">
                    <a16:creationId xmlns:a16="http://schemas.microsoft.com/office/drawing/2014/main" id="{F2970CE9-46B2-D651-E0B4-5F7F332C8A44}"/>
                  </a:ext>
                </a:extLst>
              </p:cNvPr>
              <p:cNvGrpSpPr>
                <a:grpSpLocks/>
              </p:cNvGrpSpPr>
              <p:nvPr/>
            </p:nvGrpSpPr>
            <p:grpSpPr bwMode="auto">
              <a:xfrm>
                <a:off x="464" y="1831"/>
                <a:ext cx="3493" cy="319"/>
                <a:chOff x="464" y="1831"/>
                <a:chExt cx="3493" cy="319"/>
              </a:xfrm>
            </p:grpSpPr>
            <p:sp>
              <p:nvSpPr>
                <p:cNvPr id="99360" name="AutoShape 10">
                  <a:extLst>
                    <a:ext uri="{FF2B5EF4-FFF2-40B4-BE49-F238E27FC236}">
                      <a16:creationId xmlns:a16="http://schemas.microsoft.com/office/drawing/2014/main" id="{D37F61AB-A1CF-1964-B549-B88C1C167906}"/>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9361" name="Text Box 11">
                  <a:extLst>
                    <a:ext uri="{FF2B5EF4-FFF2-40B4-BE49-F238E27FC236}">
                      <a16:creationId xmlns:a16="http://schemas.microsoft.com/office/drawing/2014/main" id="{B2C47B06-7899-B9FA-169E-F2F9A750112B}"/>
                    </a:ext>
                  </a:extLst>
                </p:cNvPr>
                <p:cNvSpPr txBox="1">
                  <a:spLocks noChangeArrowheads="1"/>
                </p:cNvSpPr>
                <p:nvPr/>
              </p:nvSpPr>
              <p:spPr bwMode="auto">
                <a:xfrm>
                  <a:off x="626" y="1831"/>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软件项目跟踪控制的标准</a:t>
                  </a:r>
                  <a:r>
                    <a:rPr lang="zh-CN" altLang="en-US" sz="1200">
                      <a:solidFill>
                        <a:schemeClr val="bg1"/>
                      </a:solidFill>
                      <a:latin typeface="黑体" panose="02010609060101010101" pitchFamily="49" charset="-122"/>
                      <a:ea typeface="黑体" panose="02010609060101010101" pitchFamily="49" charset="-122"/>
                    </a:rPr>
                    <a:t> </a:t>
                  </a:r>
                </a:p>
              </p:txBody>
            </p:sp>
          </p:grpSp>
          <p:sp>
            <p:nvSpPr>
              <p:cNvPr id="99359" name="Rectangle 12">
                <a:extLst>
                  <a:ext uri="{FF2B5EF4-FFF2-40B4-BE49-F238E27FC236}">
                    <a16:creationId xmlns:a16="http://schemas.microsoft.com/office/drawing/2014/main" id="{A96F93CE-2836-78AB-8EC6-4410A6351973}"/>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9.2</a:t>
                </a:r>
                <a:endParaRPr lang="en-US" altLang="zh-CN" sz="1800">
                  <a:solidFill>
                    <a:srgbClr val="000000"/>
                  </a:solidFill>
                </a:endParaRPr>
              </a:p>
            </p:txBody>
          </p:sp>
        </p:grpSp>
        <p:grpSp>
          <p:nvGrpSpPr>
            <p:cNvPr id="99334" name="Group 13">
              <a:extLst>
                <a:ext uri="{FF2B5EF4-FFF2-40B4-BE49-F238E27FC236}">
                  <a16:creationId xmlns:a16="http://schemas.microsoft.com/office/drawing/2014/main" id="{AD882ADD-645E-212D-8BAA-127F5B44D2D4}"/>
                </a:ext>
              </a:extLst>
            </p:cNvPr>
            <p:cNvGrpSpPr>
              <a:grpSpLocks/>
            </p:cNvGrpSpPr>
            <p:nvPr/>
          </p:nvGrpSpPr>
          <p:grpSpPr bwMode="auto">
            <a:xfrm>
              <a:off x="611" y="1947"/>
              <a:ext cx="3584" cy="198"/>
              <a:chOff x="385" y="2209"/>
              <a:chExt cx="3584" cy="313"/>
            </a:xfrm>
          </p:grpSpPr>
          <p:sp>
            <p:nvSpPr>
              <p:cNvPr id="99355" name="AutoShape 14">
                <a:extLst>
                  <a:ext uri="{FF2B5EF4-FFF2-40B4-BE49-F238E27FC236}">
                    <a16:creationId xmlns:a16="http://schemas.microsoft.com/office/drawing/2014/main" id="{1AF153BF-542F-410C-34F8-404C06C9645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9356" name="Text Box 15">
                <a:extLst>
                  <a:ext uri="{FF2B5EF4-FFF2-40B4-BE49-F238E27FC236}">
                    <a16:creationId xmlns:a16="http://schemas.microsoft.com/office/drawing/2014/main" id="{E84F6F78-6F67-A2D0-097D-10ED180638A7}"/>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solidFill>
                      <a:schemeClr val="bg1"/>
                    </a:solidFill>
                    <a:ea typeface="黑体" panose="02010609060101010101" pitchFamily="49" charset="-122"/>
                  </a:rPr>
                  <a:t>  </a:t>
                </a:r>
                <a:r>
                  <a:rPr lang="zh-CN" altLang="en-US" sz="2000">
                    <a:ea typeface="黑体" panose="02010609060101010101" pitchFamily="49" charset="-122"/>
                  </a:rPr>
                  <a:t>软件项目监控和报告体系</a:t>
                </a:r>
                <a:r>
                  <a:rPr lang="zh-CN" altLang="en-US" sz="1200">
                    <a:solidFill>
                      <a:schemeClr val="bg1"/>
                    </a:solidFill>
                  </a:rPr>
                  <a:t> </a:t>
                </a:r>
              </a:p>
            </p:txBody>
          </p:sp>
          <p:sp>
            <p:nvSpPr>
              <p:cNvPr id="99357" name="Rectangle 16">
                <a:extLst>
                  <a:ext uri="{FF2B5EF4-FFF2-40B4-BE49-F238E27FC236}">
                    <a16:creationId xmlns:a16="http://schemas.microsoft.com/office/drawing/2014/main" id="{DF149262-9E97-B50F-65FF-92157EE76364}"/>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9.3</a:t>
                </a:r>
                <a:endParaRPr lang="en-US" altLang="zh-CN" sz="1800">
                  <a:solidFill>
                    <a:srgbClr val="000000"/>
                  </a:solidFill>
                </a:endParaRPr>
              </a:p>
            </p:txBody>
          </p:sp>
        </p:grpSp>
        <p:grpSp>
          <p:nvGrpSpPr>
            <p:cNvPr id="99335" name="Group 17">
              <a:extLst>
                <a:ext uri="{FF2B5EF4-FFF2-40B4-BE49-F238E27FC236}">
                  <a16:creationId xmlns:a16="http://schemas.microsoft.com/office/drawing/2014/main" id="{6D2A2887-B6B8-1489-253E-136071386E63}"/>
                </a:ext>
              </a:extLst>
            </p:cNvPr>
            <p:cNvGrpSpPr>
              <a:grpSpLocks/>
            </p:cNvGrpSpPr>
            <p:nvPr/>
          </p:nvGrpSpPr>
          <p:grpSpPr bwMode="auto">
            <a:xfrm>
              <a:off x="611" y="2219"/>
              <a:ext cx="3584" cy="198"/>
              <a:chOff x="385" y="2209"/>
              <a:chExt cx="3584" cy="313"/>
            </a:xfrm>
          </p:grpSpPr>
          <p:sp>
            <p:nvSpPr>
              <p:cNvPr id="99352" name="AutoShape 18">
                <a:extLst>
                  <a:ext uri="{FF2B5EF4-FFF2-40B4-BE49-F238E27FC236}">
                    <a16:creationId xmlns:a16="http://schemas.microsoft.com/office/drawing/2014/main" id="{DF63E252-960D-65AE-980B-B193A9F45E3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9353" name="Text Box 19">
                <a:extLst>
                  <a:ext uri="{FF2B5EF4-FFF2-40B4-BE49-F238E27FC236}">
                    <a16:creationId xmlns:a16="http://schemas.microsoft.com/office/drawing/2014/main" id="{8D368C55-3A41-1127-F276-6C1AB8EF02B0}"/>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软件项目跟踪控制过程</a:t>
                </a:r>
                <a:r>
                  <a:rPr lang="zh-CN" altLang="en-US" sz="1200">
                    <a:solidFill>
                      <a:schemeClr val="bg1"/>
                    </a:solidFill>
                  </a:rPr>
                  <a:t> </a:t>
                </a:r>
              </a:p>
            </p:txBody>
          </p:sp>
          <p:sp>
            <p:nvSpPr>
              <p:cNvPr id="99354" name="Rectangle 20">
                <a:extLst>
                  <a:ext uri="{FF2B5EF4-FFF2-40B4-BE49-F238E27FC236}">
                    <a16:creationId xmlns:a16="http://schemas.microsoft.com/office/drawing/2014/main" id="{FC96D4F6-F712-D5B9-2C98-24FAE782B324}"/>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9.4</a:t>
                </a:r>
                <a:endParaRPr lang="en-US" altLang="zh-CN" sz="1800">
                  <a:solidFill>
                    <a:srgbClr val="000000"/>
                  </a:solidFill>
                </a:endParaRPr>
              </a:p>
            </p:txBody>
          </p:sp>
        </p:grpSp>
        <p:grpSp>
          <p:nvGrpSpPr>
            <p:cNvPr id="99336" name="Group 21">
              <a:extLst>
                <a:ext uri="{FF2B5EF4-FFF2-40B4-BE49-F238E27FC236}">
                  <a16:creationId xmlns:a16="http://schemas.microsoft.com/office/drawing/2014/main" id="{A292BF5F-6B79-C208-2AE0-4368E608C217}"/>
                </a:ext>
              </a:extLst>
            </p:cNvPr>
            <p:cNvGrpSpPr>
              <a:grpSpLocks/>
            </p:cNvGrpSpPr>
            <p:nvPr/>
          </p:nvGrpSpPr>
          <p:grpSpPr bwMode="auto">
            <a:xfrm>
              <a:off x="611" y="2505"/>
              <a:ext cx="3584" cy="197"/>
              <a:chOff x="385" y="2209"/>
              <a:chExt cx="3584" cy="311"/>
            </a:xfrm>
          </p:grpSpPr>
          <p:sp>
            <p:nvSpPr>
              <p:cNvPr id="99349" name="AutoShape 22">
                <a:extLst>
                  <a:ext uri="{FF2B5EF4-FFF2-40B4-BE49-F238E27FC236}">
                    <a16:creationId xmlns:a16="http://schemas.microsoft.com/office/drawing/2014/main" id="{A4E9CCED-98D4-39B1-267D-8F8B3F58813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9350" name="Text Box 23">
                <a:extLst>
                  <a:ext uri="{FF2B5EF4-FFF2-40B4-BE49-F238E27FC236}">
                    <a16:creationId xmlns:a16="http://schemas.microsoft.com/office/drawing/2014/main" id="{FAD420E4-6BDD-EB02-974E-5D47B0784696}"/>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软件项目评审 </a:t>
                </a:r>
              </a:p>
            </p:txBody>
          </p:sp>
          <p:sp>
            <p:nvSpPr>
              <p:cNvPr id="99351" name="Rectangle 24">
                <a:extLst>
                  <a:ext uri="{FF2B5EF4-FFF2-40B4-BE49-F238E27FC236}">
                    <a16:creationId xmlns:a16="http://schemas.microsoft.com/office/drawing/2014/main" id="{9D3DA13F-00E8-609A-BC14-A97A1918B43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9.5</a:t>
                </a:r>
                <a:endParaRPr lang="en-US" altLang="zh-CN" sz="1800">
                  <a:solidFill>
                    <a:srgbClr val="000000"/>
                  </a:solidFill>
                </a:endParaRPr>
              </a:p>
            </p:txBody>
          </p:sp>
        </p:grpSp>
        <p:grpSp>
          <p:nvGrpSpPr>
            <p:cNvPr id="99337" name="Group 25">
              <a:extLst>
                <a:ext uri="{FF2B5EF4-FFF2-40B4-BE49-F238E27FC236}">
                  <a16:creationId xmlns:a16="http://schemas.microsoft.com/office/drawing/2014/main" id="{51BEEE9B-7999-B599-F958-2340E4CAA152}"/>
                </a:ext>
              </a:extLst>
            </p:cNvPr>
            <p:cNvGrpSpPr>
              <a:grpSpLocks/>
            </p:cNvGrpSpPr>
            <p:nvPr/>
          </p:nvGrpSpPr>
          <p:grpSpPr bwMode="auto">
            <a:xfrm>
              <a:off x="611" y="2760"/>
              <a:ext cx="3584" cy="230"/>
              <a:chOff x="385" y="2187"/>
              <a:chExt cx="3584" cy="363"/>
            </a:xfrm>
          </p:grpSpPr>
          <p:sp>
            <p:nvSpPr>
              <p:cNvPr id="99346" name="AutoShape 26">
                <a:extLst>
                  <a:ext uri="{FF2B5EF4-FFF2-40B4-BE49-F238E27FC236}">
                    <a16:creationId xmlns:a16="http://schemas.microsoft.com/office/drawing/2014/main" id="{0BB4ACB5-9A97-24C3-88F1-FA150DE3E04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9347" name="Text Box 27">
                <a:extLst>
                  <a:ext uri="{FF2B5EF4-FFF2-40B4-BE49-F238E27FC236}">
                    <a16:creationId xmlns:a16="http://schemas.microsoft.com/office/drawing/2014/main" id="{FA8A8F20-C680-ED02-0212-7E715DE4F588}"/>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ea typeface="黑体" panose="02010609060101010101" pitchFamily="49" charset="-122"/>
                  </a:rPr>
                  <a:t>软件项目计划修改</a:t>
                </a:r>
                <a:r>
                  <a:rPr lang="zh-CN" altLang="en-US" sz="1200">
                    <a:solidFill>
                      <a:schemeClr val="bg1"/>
                    </a:solidFill>
                  </a:rPr>
                  <a:t> </a:t>
                </a:r>
                <a:r>
                  <a:rPr lang="zh-CN" altLang="en-US" sz="2400" b="0">
                    <a:latin typeface="Times New Roman" panose="02020603050405020304" pitchFamily="18" charset="0"/>
                  </a:rPr>
                  <a:t> </a:t>
                </a:r>
              </a:p>
            </p:txBody>
          </p:sp>
          <p:sp>
            <p:nvSpPr>
              <p:cNvPr id="99348" name="Rectangle 28">
                <a:extLst>
                  <a:ext uri="{FF2B5EF4-FFF2-40B4-BE49-F238E27FC236}">
                    <a16:creationId xmlns:a16="http://schemas.microsoft.com/office/drawing/2014/main" id="{629F055B-1934-91AB-915E-30400169C491}"/>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9.6</a:t>
                </a:r>
                <a:endParaRPr lang="en-US" altLang="zh-CN" sz="1800">
                  <a:solidFill>
                    <a:srgbClr val="000000"/>
                  </a:solidFill>
                </a:endParaRPr>
              </a:p>
            </p:txBody>
          </p:sp>
        </p:grpSp>
        <p:grpSp>
          <p:nvGrpSpPr>
            <p:cNvPr id="99338" name="Group 29">
              <a:extLst>
                <a:ext uri="{FF2B5EF4-FFF2-40B4-BE49-F238E27FC236}">
                  <a16:creationId xmlns:a16="http://schemas.microsoft.com/office/drawing/2014/main" id="{84A69B42-6CDC-3073-1B66-DD4EDBE67053}"/>
                </a:ext>
              </a:extLst>
            </p:cNvPr>
            <p:cNvGrpSpPr>
              <a:grpSpLocks/>
            </p:cNvGrpSpPr>
            <p:nvPr/>
          </p:nvGrpSpPr>
          <p:grpSpPr bwMode="auto">
            <a:xfrm>
              <a:off x="611" y="3022"/>
              <a:ext cx="3584" cy="230"/>
              <a:chOff x="385" y="2187"/>
              <a:chExt cx="3584" cy="363"/>
            </a:xfrm>
          </p:grpSpPr>
          <p:sp>
            <p:nvSpPr>
              <p:cNvPr id="99343" name="AutoShape 30">
                <a:extLst>
                  <a:ext uri="{FF2B5EF4-FFF2-40B4-BE49-F238E27FC236}">
                    <a16:creationId xmlns:a16="http://schemas.microsoft.com/office/drawing/2014/main" id="{289863AE-BC9F-BFB3-EC94-CE3C6A3AD71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9344" name="Text Box 31">
                <a:extLst>
                  <a:ext uri="{FF2B5EF4-FFF2-40B4-BE49-F238E27FC236}">
                    <a16:creationId xmlns:a16="http://schemas.microsoft.com/office/drawing/2014/main" id="{A9A4226B-497D-511F-F399-880CC5D0973B}"/>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99345" name="Rectangle 32">
                <a:extLst>
                  <a:ext uri="{FF2B5EF4-FFF2-40B4-BE49-F238E27FC236}">
                    <a16:creationId xmlns:a16="http://schemas.microsoft.com/office/drawing/2014/main" id="{3667D6BE-E930-E8C2-348C-77D0B98B257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9.7</a:t>
                </a:r>
                <a:endParaRPr lang="en-US" altLang="zh-CN" sz="1800">
                  <a:solidFill>
                    <a:srgbClr val="000000"/>
                  </a:solidFill>
                </a:endParaRPr>
              </a:p>
            </p:txBody>
          </p:sp>
        </p:grpSp>
        <p:grpSp>
          <p:nvGrpSpPr>
            <p:cNvPr id="99339" name="Group 33">
              <a:extLst>
                <a:ext uri="{FF2B5EF4-FFF2-40B4-BE49-F238E27FC236}">
                  <a16:creationId xmlns:a16="http://schemas.microsoft.com/office/drawing/2014/main" id="{581385D4-E6C1-5A40-27DE-624B04E4B791}"/>
                </a:ext>
              </a:extLst>
            </p:cNvPr>
            <p:cNvGrpSpPr>
              <a:grpSpLocks/>
            </p:cNvGrpSpPr>
            <p:nvPr/>
          </p:nvGrpSpPr>
          <p:grpSpPr bwMode="auto">
            <a:xfrm>
              <a:off x="611" y="3294"/>
              <a:ext cx="3584" cy="230"/>
              <a:chOff x="385" y="2187"/>
              <a:chExt cx="3584" cy="363"/>
            </a:xfrm>
          </p:grpSpPr>
          <p:sp>
            <p:nvSpPr>
              <p:cNvPr id="99340" name="AutoShape 34">
                <a:extLst>
                  <a:ext uri="{FF2B5EF4-FFF2-40B4-BE49-F238E27FC236}">
                    <a16:creationId xmlns:a16="http://schemas.microsoft.com/office/drawing/2014/main" id="{4181FEEB-7555-9A52-9438-39553A80A9F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99341" name="Text Box 35">
                <a:extLst>
                  <a:ext uri="{FF2B5EF4-FFF2-40B4-BE49-F238E27FC236}">
                    <a16:creationId xmlns:a16="http://schemas.microsoft.com/office/drawing/2014/main" id="{1AB48A12-DE26-FF44-CEF0-19711341D1CD}"/>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复习思考题</a:t>
                </a:r>
                <a:r>
                  <a:rPr lang="zh-CN" altLang="en-US" sz="2400" b="0">
                    <a:latin typeface="Times New Roman" panose="02020603050405020304" pitchFamily="18" charset="0"/>
                  </a:rPr>
                  <a:t> </a:t>
                </a:r>
              </a:p>
            </p:txBody>
          </p:sp>
          <p:sp>
            <p:nvSpPr>
              <p:cNvPr id="99342" name="Rectangle 36">
                <a:extLst>
                  <a:ext uri="{FF2B5EF4-FFF2-40B4-BE49-F238E27FC236}">
                    <a16:creationId xmlns:a16="http://schemas.microsoft.com/office/drawing/2014/main" id="{135D977D-162C-0143-E9B8-048D56C0F85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9.8</a:t>
                </a:r>
                <a:endParaRPr lang="en-US" altLang="zh-CN" sz="1800">
                  <a:solidFill>
                    <a:srgbClr val="000000"/>
                  </a:solidFill>
                </a:endParaRPr>
              </a:p>
            </p:txBody>
          </p:sp>
        </p:gr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783D0830-F251-2925-CABC-EF551435D171}"/>
              </a:ext>
            </a:extLst>
          </p:cNvPr>
          <p:cNvSpPr>
            <a:spLocks noGrp="1" noChangeArrowheads="1"/>
          </p:cNvSpPr>
          <p:nvPr>
            <p:ph type="title"/>
          </p:nvPr>
        </p:nvSpPr>
        <p:spPr/>
        <p:txBody>
          <a:bodyPr/>
          <a:lstStyle/>
          <a:p>
            <a:pPr eaLnBrk="1" hangingPunct="1"/>
            <a:r>
              <a:rPr lang="en-US" altLang="zh-CN"/>
              <a:t>9.6  </a:t>
            </a:r>
            <a:r>
              <a:rPr kumimoji="1" lang="zh-CN" altLang="en-US"/>
              <a:t>软件项目计划修改 </a:t>
            </a:r>
          </a:p>
        </p:txBody>
      </p:sp>
      <p:sp>
        <p:nvSpPr>
          <p:cNvPr id="101379" name="Rectangle 3">
            <a:extLst>
              <a:ext uri="{FF2B5EF4-FFF2-40B4-BE49-F238E27FC236}">
                <a16:creationId xmlns:a16="http://schemas.microsoft.com/office/drawing/2014/main" id="{8F91A2C9-F077-F2F7-AEEC-A2E0533F1245}"/>
              </a:ext>
            </a:extLst>
          </p:cNvPr>
          <p:cNvSpPr>
            <a:spLocks noGrp="1" noChangeArrowheads="1"/>
          </p:cNvSpPr>
          <p:nvPr>
            <p:ph type="body" idx="1"/>
          </p:nvPr>
        </p:nvSpPr>
        <p:spPr>
          <a:xfrm>
            <a:off x="323850" y="1844675"/>
            <a:ext cx="8640763" cy="5013325"/>
          </a:xfrm>
        </p:spPr>
        <p:txBody>
          <a:bodyPr/>
          <a:lstStyle/>
          <a:p>
            <a:pPr eaLnBrk="1" hangingPunct="1">
              <a:lnSpc>
                <a:spcPct val="110000"/>
              </a:lnSpc>
              <a:spcBef>
                <a:spcPct val="20000"/>
              </a:spcBef>
            </a:pPr>
            <a:r>
              <a:rPr lang="zh-CN" altLang="en-US" sz="2400">
                <a:solidFill>
                  <a:schemeClr val="accent2"/>
                </a:solidFill>
                <a:latin typeface="黑体" panose="02010609060101010101" pitchFamily="49" charset="-122"/>
                <a:ea typeface="黑体" panose="02010609060101010101" pitchFamily="49" charset="-122"/>
              </a:rPr>
              <a:t>项目计划修改</a:t>
            </a:r>
            <a:endParaRPr lang="zh-CN" altLang="en-US" sz="2400">
              <a:solidFill>
                <a:schemeClr val="accent2"/>
              </a:solidFill>
            </a:endParaRPr>
          </a:p>
          <a:p>
            <a:pPr lvl="1" eaLnBrk="1" hangingPunct="1">
              <a:lnSpc>
                <a:spcPct val="110000"/>
              </a:lnSpc>
            </a:pPr>
            <a:r>
              <a:rPr lang="zh-CN" altLang="en-US" sz="2000">
                <a:latin typeface="黑体" panose="02010609060101010101" pitchFamily="49" charset="-122"/>
                <a:ea typeface="黑体" panose="02010609060101010101" pitchFamily="49" charset="-122"/>
              </a:rPr>
              <a:t>“计划赶不上变化”，根据评审结果决定是否修改项目计划</a:t>
            </a:r>
          </a:p>
          <a:p>
            <a:pPr lvl="1" eaLnBrk="1" hangingPunct="1">
              <a:lnSpc>
                <a:spcPct val="110000"/>
              </a:lnSpc>
            </a:pPr>
            <a:r>
              <a:rPr lang="zh-CN" altLang="en-US" sz="2000">
                <a:latin typeface="黑体" panose="02010609060101010101" pitchFamily="49" charset="-122"/>
                <a:ea typeface="黑体" panose="02010609060101010101" pitchFamily="49" charset="-122"/>
              </a:rPr>
              <a:t>修改计划过程</a:t>
            </a:r>
          </a:p>
        </p:txBody>
      </p:sp>
      <p:grpSp>
        <p:nvGrpSpPr>
          <p:cNvPr id="101380" name="Group 19">
            <a:extLst>
              <a:ext uri="{FF2B5EF4-FFF2-40B4-BE49-F238E27FC236}">
                <a16:creationId xmlns:a16="http://schemas.microsoft.com/office/drawing/2014/main" id="{7A2F0E4C-52C7-EE29-65A4-1377B85B23E5}"/>
              </a:ext>
            </a:extLst>
          </p:cNvPr>
          <p:cNvGrpSpPr>
            <a:grpSpLocks/>
          </p:cNvGrpSpPr>
          <p:nvPr/>
        </p:nvGrpSpPr>
        <p:grpSpPr bwMode="auto">
          <a:xfrm>
            <a:off x="1050925" y="3213100"/>
            <a:ext cx="7337425" cy="3673475"/>
            <a:chOff x="27" y="2069"/>
            <a:chExt cx="4622" cy="2314"/>
          </a:xfrm>
        </p:grpSpPr>
        <p:sp>
          <p:nvSpPr>
            <p:cNvPr id="101381" name="Rectangle 5">
              <a:extLst>
                <a:ext uri="{FF2B5EF4-FFF2-40B4-BE49-F238E27FC236}">
                  <a16:creationId xmlns:a16="http://schemas.microsoft.com/office/drawing/2014/main" id="{7F0971AA-0BF9-816A-6C90-4886B21F0DAE}"/>
                </a:ext>
              </a:extLst>
            </p:cNvPr>
            <p:cNvSpPr>
              <a:spLocks noChangeArrowheads="1"/>
            </p:cNvSpPr>
            <p:nvPr/>
          </p:nvSpPr>
          <p:spPr bwMode="auto">
            <a:xfrm>
              <a:off x="1381" y="2160"/>
              <a:ext cx="1527" cy="244"/>
            </a:xfrm>
            <a:prstGeom prst="rect">
              <a:avLst/>
            </a:prstGeom>
            <a:solidFill>
              <a:srgbClr val="6699FF"/>
            </a:solidFill>
            <a:ln w="9525">
              <a:solidFill>
                <a:srgbClr val="000000"/>
              </a:solidFill>
              <a:miter lim="800000"/>
              <a:headEnd/>
              <a:tailEnd/>
            </a:ln>
          </p:spPr>
          <p:txBody>
            <a:bodyPr wrap="none" t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确定修改的范围和内容</a:t>
              </a:r>
            </a:p>
          </p:txBody>
        </p:sp>
        <p:sp>
          <p:nvSpPr>
            <p:cNvPr id="101382" name="Line 6">
              <a:extLst>
                <a:ext uri="{FF2B5EF4-FFF2-40B4-BE49-F238E27FC236}">
                  <a16:creationId xmlns:a16="http://schemas.microsoft.com/office/drawing/2014/main" id="{004359D9-2834-A55D-4FEF-08E73E1F3EFD}"/>
                </a:ext>
              </a:extLst>
            </p:cNvPr>
            <p:cNvSpPr>
              <a:spLocks noChangeShapeType="1"/>
            </p:cNvSpPr>
            <p:nvPr/>
          </p:nvSpPr>
          <p:spPr bwMode="auto">
            <a:xfrm>
              <a:off x="1020" y="2296"/>
              <a:ext cx="374" cy="4"/>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3" name="Rectangle 7">
              <a:extLst>
                <a:ext uri="{FF2B5EF4-FFF2-40B4-BE49-F238E27FC236}">
                  <a16:creationId xmlns:a16="http://schemas.microsoft.com/office/drawing/2014/main" id="{2D660B92-1CCF-947D-1A77-3AEF534B7721}"/>
                </a:ext>
              </a:extLst>
            </p:cNvPr>
            <p:cNvSpPr>
              <a:spLocks noChangeArrowheads="1"/>
            </p:cNvSpPr>
            <p:nvPr/>
          </p:nvSpPr>
          <p:spPr bwMode="auto">
            <a:xfrm>
              <a:off x="1381" y="2628"/>
              <a:ext cx="993" cy="207"/>
            </a:xfrm>
            <a:prstGeom prst="rect">
              <a:avLst/>
            </a:prstGeom>
            <a:solidFill>
              <a:srgbClr val="6699FF"/>
            </a:solidFill>
            <a:ln w="9525">
              <a:solidFill>
                <a:srgbClr val="000000"/>
              </a:solidFill>
              <a:miter lim="800000"/>
              <a:headEnd/>
              <a:tailEnd/>
            </a:ln>
          </p:spPr>
          <p:txBody>
            <a:bodyPr wrap="none" t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进行责任协调</a:t>
              </a:r>
            </a:p>
          </p:txBody>
        </p:sp>
        <p:sp>
          <p:nvSpPr>
            <p:cNvPr id="101384" name="Rectangle 8">
              <a:extLst>
                <a:ext uri="{FF2B5EF4-FFF2-40B4-BE49-F238E27FC236}">
                  <a16:creationId xmlns:a16="http://schemas.microsoft.com/office/drawing/2014/main" id="{C4DF6ACB-AE57-FDAF-7B69-F233D910C6FA}"/>
                </a:ext>
              </a:extLst>
            </p:cNvPr>
            <p:cNvSpPr>
              <a:spLocks noChangeArrowheads="1"/>
            </p:cNvSpPr>
            <p:nvPr/>
          </p:nvSpPr>
          <p:spPr bwMode="auto">
            <a:xfrm>
              <a:off x="1381" y="3048"/>
              <a:ext cx="1394" cy="247"/>
            </a:xfrm>
            <a:prstGeom prst="rect">
              <a:avLst/>
            </a:prstGeom>
            <a:solidFill>
              <a:srgbClr val="6699FF"/>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规划计划并修改计划</a:t>
              </a:r>
            </a:p>
          </p:txBody>
        </p:sp>
        <p:sp>
          <p:nvSpPr>
            <p:cNvPr id="101385" name="Rectangle 9">
              <a:extLst>
                <a:ext uri="{FF2B5EF4-FFF2-40B4-BE49-F238E27FC236}">
                  <a16:creationId xmlns:a16="http://schemas.microsoft.com/office/drawing/2014/main" id="{490432DD-4927-2341-D56D-9DA36A00264F}"/>
                </a:ext>
              </a:extLst>
            </p:cNvPr>
            <p:cNvSpPr>
              <a:spLocks noChangeArrowheads="1"/>
            </p:cNvSpPr>
            <p:nvPr/>
          </p:nvSpPr>
          <p:spPr bwMode="auto">
            <a:xfrm>
              <a:off x="1381" y="3514"/>
              <a:ext cx="1260" cy="210"/>
            </a:xfrm>
            <a:prstGeom prst="rect">
              <a:avLst/>
            </a:prstGeom>
            <a:solidFill>
              <a:srgbClr val="6699FF"/>
            </a:solidFill>
            <a:ln w="9525">
              <a:solidFill>
                <a:srgbClr val="000000"/>
              </a:solidFill>
              <a:miter lim="800000"/>
              <a:headEnd/>
              <a:tailEnd/>
            </a:ln>
          </p:spPr>
          <p:txBody>
            <a:bodyPr wrap="none" t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修改后的计划确认</a:t>
              </a:r>
            </a:p>
          </p:txBody>
        </p:sp>
        <p:sp>
          <p:nvSpPr>
            <p:cNvPr id="101386" name="Rectangle 10">
              <a:extLst>
                <a:ext uri="{FF2B5EF4-FFF2-40B4-BE49-F238E27FC236}">
                  <a16:creationId xmlns:a16="http://schemas.microsoft.com/office/drawing/2014/main" id="{8824438A-03A1-C912-8DBE-F99695BEE417}"/>
                </a:ext>
              </a:extLst>
            </p:cNvPr>
            <p:cNvSpPr>
              <a:spLocks noChangeArrowheads="1"/>
            </p:cNvSpPr>
            <p:nvPr/>
          </p:nvSpPr>
          <p:spPr bwMode="auto">
            <a:xfrm>
              <a:off x="1381" y="3928"/>
              <a:ext cx="1527" cy="250"/>
            </a:xfrm>
            <a:prstGeom prst="rect">
              <a:avLst/>
            </a:prstGeom>
            <a:solidFill>
              <a:srgbClr val="6699FF"/>
            </a:solidFill>
            <a:ln w="9525">
              <a:solidFill>
                <a:srgbClr val="000000"/>
              </a:solidFill>
              <a:miter lim="800000"/>
              <a:headEnd/>
              <a:tailEnd/>
            </a:ln>
          </p:spPr>
          <p:txBody>
            <a:bodyPr wrap="none" t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提交项目计划修改请求</a:t>
              </a:r>
            </a:p>
          </p:txBody>
        </p:sp>
        <p:sp>
          <p:nvSpPr>
            <p:cNvPr id="101387" name="Rectangle 11">
              <a:extLst>
                <a:ext uri="{FF2B5EF4-FFF2-40B4-BE49-F238E27FC236}">
                  <a16:creationId xmlns:a16="http://schemas.microsoft.com/office/drawing/2014/main" id="{7C2BFDAF-A334-C390-AA5F-AF0DAC504C3D}"/>
                </a:ext>
              </a:extLst>
            </p:cNvPr>
            <p:cNvSpPr>
              <a:spLocks noChangeArrowheads="1"/>
            </p:cNvSpPr>
            <p:nvPr/>
          </p:nvSpPr>
          <p:spPr bwMode="auto">
            <a:xfrm>
              <a:off x="3656" y="3649"/>
              <a:ext cx="993" cy="734"/>
            </a:xfrm>
            <a:prstGeom prst="rect">
              <a:avLst/>
            </a:prstGeom>
            <a:solidFill>
              <a:srgbClr val="6699FF"/>
            </a:solidFill>
            <a:ln w="9525">
              <a:solidFill>
                <a:srgbClr val="000000"/>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依据确认后</a:t>
              </a:r>
            </a:p>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的计划，落实</a:t>
              </a:r>
            </a:p>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项目，并记录</a:t>
              </a:r>
            </a:p>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计划修改过程</a:t>
              </a:r>
            </a:p>
          </p:txBody>
        </p:sp>
        <p:sp>
          <p:nvSpPr>
            <p:cNvPr id="101388" name="Line 12">
              <a:extLst>
                <a:ext uri="{FF2B5EF4-FFF2-40B4-BE49-F238E27FC236}">
                  <a16:creationId xmlns:a16="http://schemas.microsoft.com/office/drawing/2014/main" id="{092E7F10-43DB-9D32-CD49-E9960F7C0656}"/>
                </a:ext>
              </a:extLst>
            </p:cNvPr>
            <p:cNvSpPr>
              <a:spLocks noChangeShapeType="1"/>
            </p:cNvSpPr>
            <p:nvPr/>
          </p:nvSpPr>
          <p:spPr bwMode="auto">
            <a:xfrm>
              <a:off x="2908" y="4065"/>
              <a:ext cx="771"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9" name="Line 13">
              <a:extLst>
                <a:ext uri="{FF2B5EF4-FFF2-40B4-BE49-F238E27FC236}">
                  <a16:creationId xmlns:a16="http://schemas.microsoft.com/office/drawing/2014/main" id="{9CDE8416-6BC7-88FA-8731-54B83AB21748}"/>
                </a:ext>
              </a:extLst>
            </p:cNvPr>
            <p:cNvSpPr>
              <a:spLocks noChangeShapeType="1"/>
            </p:cNvSpPr>
            <p:nvPr/>
          </p:nvSpPr>
          <p:spPr bwMode="auto">
            <a:xfrm>
              <a:off x="2332" y="2835"/>
              <a:ext cx="0" cy="23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0" name="Line 14">
              <a:extLst>
                <a:ext uri="{FF2B5EF4-FFF2-40B4-BE49-F238E27FC236}">
                  <a16:creationId xmlns:a16="http://schemas.microsoft.com/office/drawing/2014/main" id="{28961E25-23A8-54F4-CA1D-FB7909ED6861}"/>
                </a:ext>
              </a:extLst>
            </p:cNvPr>
            <p:cNvSpPr>
              <a:spLocks noChangeShapeType="1"/>
            </p:cNvSpPr>
            <p:nvPr/>
          </p:nvSpPr>
          <p:spPr bwMode="auto">
            <a:xfrm>
              <a:off x="2332" y="2406"/>
              <a:ext cx="0" cy="23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1" name="Line 15">
              <a:extLst>
                <a:ext uri="{FF2B5EF4-FFF2-40B4-BE49-F238E27FC236}">
                  <a16:creationId xmlns:a16="http://schemas.microsoft.com/office/drawing/2014/main" id="{6EF480AE-77F8-A65C-41A7-A2D0ED97DE2C}"/>
                </a:ext>
              </a:extLst>
            </p:cNvPr>
            <p:cNvSpPr>
              <a:spLocks noChangeShapeType="1"/>
            </p:cNvSpPr>
            <p:nvPr/>
          </p:nvSpPr>
          <p:spPr bwMode="auto">
            <a:xfrm>
              <a:off x="2332" y="3295"/>
              <a:ext cx="0" cy="23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2" name="Line 16">
              <a:extLst>
                <a:ext uri="{FF2B5EF4-FFF2-40B4-BE49-F238E27FC236}">
                  <a16:creationId xmlns:a16="http://schemas.microsoft.com/office/drawing/2014/main" id="{D8434BD7-24F6-C5A7-3E9B-4DEA6DFA1FCE}"/>
                </a:ext>
              </a:extLst>
            </p:cNvPr>
            <p:cNvSpPr>
              <a:spLocks noChangeShapeType="1"/>
            </p:cNvSpPr>
            <p:nvPr/>
          </p:nvSpPr>
          <p:spPr bwMode="auto">
            <a:xfrm>
              <a:off x="2332" y="3716"/>
              <a:ext cx="0" cy="23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3" name="Rectangle 17">
              <a:extLst>
                <a:ext uri="{FF2B5EF4-FFF2-40B4-BE49-F238E27FC236}">
                  <a16:creationId xmlns:a16="http://schemas.microsoft.com/office/drawing/2014/main" id="{9844FCE9-333D-4731-685D-81E0011301E3}"/>
                </a:ext>
              </a:extLst>
            </p:cNvPr>
            <p:cNvSpPr>
              <a:spLocks noChangeArrowheads="1"/>
            </p:cNvSpPr>
            <p:nvPr/>
          </p:nvSpPr>
          <p:spPr bwMode="auto">
            <a:xfrm>
              <a:off x="27" y="2069"/>
              <a:ext cx="993" cy="408"/>
            </a:xfrm>
            <a:prstGeom prst="rect">
              <a:avLst/>
            </a:prstGeom>
            <a:solidFill>
              <a:srgbClr val="6699FF"/>
            </a:solidFill>
            <a:ln w="9525">
              <a:solidFill>
                <a:srgbClr val="000000"/>
              </a:solidFill>
              <a:miter lim="800000"/>
              <a:headEnd/>
              <a:tailEnd/>
            </a:ln>
          </p:spPr>
          <p:txBody>
            <a:bodyPr wrap="none" t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zh-CN" altLang="en-US" sz="1800">
                  <a:solidFill>
                    <a:srgbClr val="000000"/>
                  </a:solidFill>
                  <a:latin typeface="Times New Roman" panose="02020603050405020304" pitchFamily="18" charset="0"/>
                  <a:ea typeface="黑体" panose="02010609060101010101" pitchFamily="49" charset="-122"/>
                </a:rPr>
                <a:t>计划修改申请</a:t>
              </a: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783D0830-F251-2925-CABC-EF551435D171}"/>
              </a:ext>
            </a:extLst>
          </p:cNvPr>
          <p:cNvSpPr>
            <a:spLocks noGrp="1" noChangeArrowheads="1"/>
          </p:cNvSpPr>
          <p:nvPr>
            <p:ph type="title"/>
          </p:nvPr>
        </p:nvSpPr>
        <p:spPr/>
        <p:txBody>
          <a:bodyPr/>
          <a:lstStyle/>
          <a:p>
            <a:pPr eaLnBrk="1" hangingPunct="1"/>
            <a:r>
              <a:rPr lang="en-US" altLang="zh-CN"/>
              <a:t>9.6  </a:t>
            </a:r>
            <a:r>
              <a:rPr kumimoji="1" lang="zh-CN" altLang="en-US"/>
              <a:t>软件项目计划修改 </a:t>
            </a:r>
          </a:p>
        </p:txBody>
      </p:sp>
      <p:sp>
        <p:nvSpPr>
          <p:cNvPr id="101379" name="Rectangle 3">
            <a:extLst>
              <a:ext uri="{FF2B5EF4-FFF2-40B4-BE49-F238E27FC236}">
                <a16:creationId xmlns:a16="http://schemas.microsoft.com/office/drawing/2014/main" id="{8F91A2C9-F077-F2F7-AEEC-A2E0533F1245}"/>
              </a:ext>
            </a:extLst>
          </p:cNvPr>
          <p:cNvSpPr>
            <a:spLocks noGrp="1" noChangeArrowheads="1"/>
          </p:cNvSpPr>
          <p:nvPr>
            <p:ph type="body" idx="1"/>
          </p:nvPr>
        </p:nvSpPr>
        <p:spPr>
          <a:xfrm>
            <a:off x="323850" y="1844675"/>
            <a:ext cx="8640763" cy="5013325"/>
          </a:xfrm>
        </p:spPr>
        <p:txBody>
          <a:bodyPr/>
          <a:lstStyle/>
          <a:p>
            <a:pPr eaLnBrk="1" hangingPunct="1">
              <a:lnSpc>
                <a:spcPct val="110000"/>
              </a:lnSpc>
              <a:spcBef>
                <a:spcPct val="20000"/>
              </a:spcBef>
            </a:pPr>
            <a:r>
              <a:rPr lang="zh-CN" altLang="en-US" sz="2400" dirty="0">
                <a:solidFill>
                  <a:schemeClr val="accent2"/>
                </a:solidFill>
                <a:latin typeface="黑体" panose="02010609060101010101" pitchFamily="49" charset="-122"/>
                <a:ea typeface="黑体" panose="02010609060101010101" pitchFamily="49" charset="-122"/>
              </a:rPr>
              <a:t>项目计划修改</a:t>
            </a:r>
            <a:endParaRPr lang="en-US" altLang="zh-CN" sz="1800" dirty="0">
              <a:latin typeface="黑体" panose="02010609060101010101" pitchFamily="49" charset="-122"/>
              <a:ea typeface="黑体" panose="02010609060101010101" pitchFamily="49" charset="-122"/>
            </a:endParaRPr>
          </a:p>
          <a:p>
            <a:pPr lvl="1" eaLnBrk="1" hangingPunct="1">
              <a:lnSpc>
                <a:spcPct val="110000"/>
              </a:lnSpc>
            </a:pPr>
            <a:r>
              <a:rPr lang="zh-CN" altLang="en-US" sz="2000" dirty="0">
                <a:latin typeface="黑体" panose="02010609060101010101" pitchFamily="49" charset="-122"/>
                <a:ea typeface="黑体" panose="02010609060101010101" pitchFamily="49" charset="-122"/>
              </a:rPr>
              <a:t>根据里程碑的完成情况，适当的</a:t>
            </a:r>
            <a:r>
              <a:rPr lang="zh-CN" altLang="en-US" sz="2000" dirty="0">
                <a:solidFill>
                  <a:srgbClr val="FF0000"/>
                </a:solidFill>
                <a:latin typeface="黑体" panose="02010609060101010101" pitchFamily="49" charset="-122"/>
                <a:ea typeface="黑体" panose="02010609060101010101" pitchFamily="49" charset="-122"/>
              </a:rPr>
              <a:t>调整每一个较小阶段的任务量和完成任务的时间</a:t>
            </a:r>
            <a:r>
              <a:rPr lang="zh-CN" altLang="en-US" sz="2000" dirty="0">
                <a:latin typeface="黑体" panose="02010609060101010101" pitchFamily="49" charset="-122"/>
                <a:ea typeface="黑体" panose="02010609060101010101" pitchFamily="49" charset="-122"/>
              </a:rPr>
              <a:t>，这种方式非常有利于整个项目计划的动态调整。</a:t>
            </a:r>
            <a:endParaRPr lang="en-US" altLang="zh-CN" sz="2000" dirty="0">
              <a:latin typeface="黑体" panose="02010609060101010101" pitchFamily="49" charset="-122"/>
              <a:ea typeface="黑体" panose="02010609060101010101" pitchFamily="49" charset="-122"/>
            </a:endParaRPr>
          </a:p>
          <a:p>
            <a:pPr lvl="1" eaLnBrk="1" hangingPunct="1">
              <a:lnSpc>
                <a:spcPct val="110000"/>
              </a:lnSpc>
            </a:pPr>
            <a:endParaRPr lang="en-US" altLang="zh-CN" sz="2000" dirty="0">
              <a:latin typeface="黑体" panose="02010609060101010101" pitchFamily="49" charset="-122"/>
              <a:ea typeface="黑体" panose="02010609060101010101" pitchFamily="49" charset="-122"/>
            </a:endParaRPr>
          </a:p>
          <a:p>
            <a:pPr lvl="1" eaLnBrk="1" hangingPunct="1">
              <a:lnSpc>
                <a:spcPct val="110000"/>
              </a:lnSpc>
            </a:pPr>
            <a:r>
              <a:rPr lang="zh-CN" altLang="en-US" sz="2000" dirty="0">
                <a:latin typeface="黑体" panose="02010609060101010101" pitchFamily="49" charset="-122"/>
                <a:ea typeface="黑体" panose="02010609060101010101" pitchFamily="49" charset="-122"/>
              </a:rPr>
              <a:t>如果项目评审发现</a:t>
            </a:r>
            <a:r>
              <a:rPr lang="zh-CN" altLang="en-US" sz="2000" dirty="0">
                <a:solidFill>
                  <a:srgbClr val="FF0000"/>
                </a:solidFill>
                <a:latin typeface="黑体" panose="02010609060101010101" pitchFamily="49" charset="-122"/>
                <a:ea typeface="黑体" panose="02010609060101010101" pitchFamily="49" charset="-122"/>
              </a:rPr>
              <a:t>项目进展不符合计划且必须调整</a:t>
            </a:r>
            <a:r>
              <a:rPr lang="zh-CN" altLang="en-US" sz="2000" dirty="0">
                <a:latin typeface="黑体" panose="02010609060101010101" pitchFamily="49" charset="-122"/>
                <a:ea typeface="黑体" panose="02010609060101010101" pitchFamily="49" charset="-122"/>
              </a:rPr>
              <a:t>，就必须及进行项目计划的修改。这个调整一定是经过软件配置控制委员会的审议和批准的。</a:t>
            </a:r>
            <a:endParaRPr lang="en-US" altLang="zh-CN" sz="2000" dirty="0">
              <a:latin typeface="黑体" panose="02010609060101010101" pitchFamily="49" charset="-122"/>
              <a:ea typeface="黑体" panose="02010609060101010101" pitchFamily="49" charset="-122"/>
            </a:endParaRPr>
          </a:p>
          <a:p>
            <a:pPr lvl="1" eaLnBrk="1" hangingPunct="1">
              <a:lnSpc>
                <a:spcPct val="110000"/>
              </a:lnSpc>
            </a:pPr>
            <a:endParaRPr lang="en-US" altLang="zh-CN" sz="2000" dirty="0">
              <a:latin typeface="黑体" panose="02010609060101010101" pitchFamily="49" charset="-122"/>
              <a:ea typeface="黑体" panose="02010609060101010101" pitchFamily="49" charset="-122"/>
            </a:endParaRPr>
          </a:p>
          <a:p>
            <a:pPr lvl="1" eaLnBrk="1" hangingPunct="1">
              <a:lnSpc>
                <a:spcPct val="110000"/>
              </a:lnSpc>
            </a:pPr>
            <a:r>
              <a:rPr lang="zh-CN" altLang="en-US" sz="2000" dirty="0">
                <a:latin typeface="黑体" panose="02010609060101010101" pitchFamily="49" charset="-122"/>
                <a:ea typeface="黑体" panose="02010609060101010101" pitchFamily="49" charset="-122"/>
              </a:rPr>
              <a:t>这里有两种情况，一种情况是项目进化中有</a:t>
            </a:r>
            <a:r>
              <a:rPr lang="zh-CN" altLang="en-US" sz="2000" dirty="0">
                <a:solidFill>
                  <a:srgbClr val="FF0000"/>
                </a:solidFill>
                <a:latin typeface="黑体" panose="02010609060101010101" pitchFamily="49" charset="-122"/>
                <a:ea typeface="黑体" panose="02010609060101010101" pitchFamily="49" charset="-122"/>
              </a:rPr>
              <a:t>不合理的地方需要修正</a:t>
            </a:r>
            <a:r>
              <a:rPr lang="zh-CN" altLang="en-US" sz="2000" dirty="0">
                <a:latin typeface="黑体" panose="02010609060101010101" pitchFamily="49" charset="-122"/>
                <a:ea typeface="黑体" panose="02010609060101010101" pitchFamily="49" charset="-122"/>
              </a:rPr>
              <a:t>，另外一种情况是在项目实施过程中，由于种种原因导致</a:t>
            </a:r>
            <a:r>
              <a:rPr lang="zh-CN" altLang="en-US" sz="2000" dirty="0">
                <a:solidFill>
                  <a:srgbClr val="FF0000"/>
                </a:solidFill>
                <a:latin typeface="黑体" panose="02010609060101010101" pitchFamily="49" charset="-122"/>
                <a:ea typeface="黑体" panose="02010609060101010101" pitchFamily="49" charset="-122"/>
              </a:rPr>
              <a:t>实际进展与计划产生了差距</a:t>
            </a:r>
            <a:r>
              <a:rPr lang="zh-CN" altLang="en-US" sz="2000" dirty="0">
                <a:latin typeface="黑体" panose="02010609060101010101" pitchFamily="49" charset="-122"/>
                <a:ea typeface="黑体" panose="02010609060101010101" pitchFamily="49" charset="-122"/>
              </a:rPr>
              <a:t>，不得不对计划进行重新安排。这时，项目经理需要对计划进行修改。</a:t>
            </a:r>
            <a:endParaRPr lang="en-US" altLang="zh-CN" sz="2000" dirty="0">
              <a:latin typeface="黑体" panose="02010609060101010101" pitchFamily="49" charset="-122"/>
              <a:ea typeface="黑体" panose="02010609060101010101" pitchFamily="49" charset="-122"/>
            </a:endParaRPr>
          </a:p>
          <a:p>
            <a:pPr marL="522287" lvl="1" indent="0" eaLnBrk="1" hangingPunct="1">
              <a:lnSpc>
                <a:spcPct val="110000"/>
              </a:lnSpc>
              <a:buNone/>
            </a:pPr>
            <a:endParaRPr lang="en-US" altLang="zh-CN" sz="2000" dirty="0">
              <a:latin typeface="黑体" panose="02010609060101010101" pitchFamily="49" charset="-122"/>
              <a:ea typeface="黑体" panose="02010609060101010101" pitchFamily="49" charset="-122"/>
            </a:endParaRPr>
          </a:p>
          <a:p>
            <a:pPr lvl="1" eaLnBrk="1" hangingPunct="1">
              <a:lnSpc>
                <a:spcPct val="110000"/>
              </a:lnSpc>
            </a:pPr>
            <a:endParaRPr lang="zh-CN" altLang="en-US"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3651316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783D0830-F251-2925-CABC-EF551435D171}"/>
              </a:ext>
            </a:extLst>
          </p:cNvPr>
          <p:cNvSpPr>
            <a:spLocks noGrp="1" noChangeArrowheads="1"/>
          </p:cNvSpPr>
          <p:nvPr>
            <p:ph type="title"/>
          </p:nvPr>
        </p:nvSpPr>
        <p:spPr/>
        <p:txBody>
          <a:bodyPr/>
          <a:lstStyle/>
          <a:p>
            <a:pPr eaLnBrk="1" hangingPunct="1"/>
            <a:r>
              <a:rPr lang="en-US" altLang="zh-CN"/>
              <a:t>9.6  </a:t>
            </a:r>
            <a:r>
              <a:rPr kumimoji="1" lang="zh-CN" altLang="en-US"/>
              <a:t>软件项目计划修改 </a:t>
            </a:r>
          </a:p>
        </p:txBody>
      </p:sp>
      <p:sp>
        <p:nvSpPr>
          <p:cNvPr id="101379" name="Rectangle 3">
            <a:extLst>
              <a:ext uri="{FF2B5EF4-FFF2-40B4-BE49-F238E27FC236}">
                <a16:creationId xmlns:a16="http://schemas.microsoft.com/office/drawing/2014/main" id="{8F91A2C9-F077-F2F7-AEEC-A2E0533F1245}"/>
              </a:ext>
            </a:extLst>
          </p:cNvPr>
          <p:cNvSpPr>
            <a:spLocks noGrp="1" noChangeArrowheads="1"/>
          </p:cNvSpPr>
          <p:nvPr>
            <p:ph type="body" idx="1"/>
          </p:nvPr>
        </p:nvSpPr>
        <p:spPr>
          <a:xfrm>
            <a:off x="323850" y="1844675"/>
            <a:ext cx="8640763" cy="5013325"/>
          </a:xfrm>
        </p:spPr>
        <p:txBody>
          <a:bodyPr/>
          <a:lstStyle/>
          <a:p>
            <a:pPr eaLnBrk="1" hangingPunct="1">
              <a:lnSpc>
                <a:spcPct val="110000"/>
              </a:lnSpc>
              <a:spcBef>
                <a:spcPct val="20000"/>
              </a:spcBef>
            </a:pPr>
            <a:r>
              <a:rPr lang="zh-CN" altLang="en-US" sz="2400" dirty="0">
                <a:solidFill>
                  <a:schemeClr val="accent2"/>
                </a:solidFill>
                <a:latin typeface="黑体" panose="02010609060101010101" pitchFamily="49" charset="-122"/>
                <a:ea typeface="黑体" panose="02010609060101010101" pitchFamily="49" charset="-122"/>
              </a:rPr>
              <a:t>项目计划修改</a:t>
            </a:r>
            <a:endParaRPr lang="zh-CN" altLang="en-US" sz="2400" dirty="0">
              <a:solidFill>
                <a:schemeClr val="accent2"/>
              </a:solidFill>
            </a:endParaRPr>
          </a:p>
          <a:p>
            <a:pPr lvl="1" eaLnBrk="1" hangingPunct="1">
              <a:lnSpc>
                <a:spcPct val="110000"/>
              </a:lnSpc>
            </a:pPr>
            <a:r>
              <a:rPr lang="zh-CN" altLang="en-US" sz="2000" dirty="0">
                <a:latin typeface="黑体" panose="02010609060101010101" pitchFamily="49" charset="-122"/>
                <a:ea typeface="黑体" panose="02010609060101010101" pitchFamily="49" charset="-122"/>
              </a:rPr>
              <a:t>项目经理</a:t>
            </a:r>
            <a:r>
              <a:rPr lang="zh-CN" altLang="en-US" sz="2000" dirty="0">
                <a:solidFill>
                  <a:srgbClr val="FF0000"/>
                </a:solidFill>
                <a:latin typeface="黑体" panose="02010609060101010101" pitchFamily="49" charset="-122"/>
                <a:ea typeface="黑体" panose="02010609060101010101" pitchFamily="49" charset="-122"/>
              </a:rPr>
              <a:t>根据项目计划修改请求</a:t>
            </a:r>
            <a:r>
              <a:rPr lang="zh-CN" altLang="en-US" sz="2000" dirty="0">
                <a:latin typeface="黑体" panose="02010609060101010101" pitchFamily="49" charset="-122"/>
                <a:ea typeface="黑体" panose="02010609060101010101" pitchFamily="49" charset="-122"/>
              </a:rPr>
              <a:t>，组织相关人员进行分析以确定计划修改的范围，然后参照项目规划过程对修改引起的规模变化、人力变化、时间变化、风险因素、责任变化等</a:t>
            </a:r>
            <a:r>
              <a:rPr lang="zh-CN" altLang="en-US" sz="2000" dirty="0">
                <a:solidFill>
                  <a:srgbClr val="FF0000"/>
                </a:solidFill>
                <a:latin typeface="黑体" panose="02010609060101010101" pitchFamily="49" charset="-122"/>
                <a:ea typeface="黑体" panose="02010609060101010101" pitchFamily="49" charset="-122"/>
              </a:rPr>
              <a:t>进行估算并记录结果</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lvl="1" eaLnBrk="1" hangingPunct="1">
              <a:lnSpc>
                <a:spcPct val="110000"/>
              </a:lnSpc>
            </a:pPr>
            <a:endParaRPr lang="en-US" altLang="zh-CN" sz="2000" dirty="0">
              <a:latin typeface="黑体" panose="02010609060101010101" pitchFamily="49" charset="-122"/>
              <a:ea typeface="黑体" panose="02010609060101010101" pitchFamily="49" charset="-122"/>
            </a:endParaRPr>
          </a:p>
          <a:p>
            <a:pPr lvl="1" eaLnBrk="1" hangingPunct="1">
              <a:lnSpc>
                <a:spcPct val="110000"/>
              </a:lnSpc>
            </a:pPr>
            <a:r>
              <a:rPr lang="zh-CN" altLang="en-US" sz="2000" dirty="0">
                <a:latin typeface="黑体" panose="02010609060101010101" pitchFamily="49" charset="-122"/>
                <a:ea typeface="黑体" panose="02010609060101010101" pitchFamily="49" charset="-122"/>
              </a:rPr>
              <a:t>对于修改后的计划，项目经理负责参照计划确认过程</a:t>
            </a:r>
            <a:r>
              <a:rPr lang="zh-CN" altLang="en-US" sz="2000" dirty="0">
                <a:solidFill>
                  <a:srgbClr val="FF0000"/>
                </a:solidFill>
                <a:latin typeface="黑体" panose="02010609060101010101" pitchFamily="49" charset="-122"/>
                <a:ea typeface="黑体" panose="02010609060101010101" pitchFamily="49" charset="-122"/>
              </a:rPr>
              <a:t>与相关各方进行确认</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lvl="1" eaLnBrk="1" hangingPunct="1">
              <a:lnSpc>
                <a:spcPct val="110000"/>
              </a:lnSpc>
            </a:pPr>
            <a:endParaRPr lang="en-US" altLang="zh-CN" sz="2000" dirty="0">
              <a:latin typeface="黑体" panose="02010609060101010101" pitchFamily="49" charset="-122"/>
              <a:ea typeface="黑体" panose="02010609060101010101" pitchFamily="49" charset="-122"/>
            </a:endParaRPr>
          </a:p>
          <a:p>
            <a:pPr lvl="1" eaLnBrk="1" hangingPunct="1">
              <a:lnSpc>
                <a:spcPct val="110000"/>
              </a:lnSpc>
            </a:pPr>
            <a:endParaRPr lang="zh-CN" altLang="en-US"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0106876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7A0256B6-E21F-EBA3-0337-68D658EC2C5F}"/>
              </a:ext>
            </a:extLst>
          </p:cNvPr>
          <p:cNvSpPr>
            <a:spLocks noGrp="1" noChangeArrowheads="1"/>
          </p:cNvSpPr>
          <p:nvPr>
            <p:ph type="title"/>
          </p:nvPr>
        </p:nvSpPr>
        <p:spPr/>
        <p:txBody>
          <a:bodyPr/>
          <a:lstStyle/>
          <a:p>
            <a:pPr eaLnBrk="1" hangingPunct="1"/>
            <a:r>
              <a:rPr lang="zh-CN" altLang="en-US"/>
              <a:t>本章内容提要</a:t>
            </a:r>
          </a:p>
        </p:txBody>
      </p:sp>
      <p:grpSp>
        <p:nvGrpSpPr>
          <p:cNvPr id="103427" name="Group 3">
            <a:extLst>
              <a:ext uri="{FF2B5EF4-FFF2-40B4-BE49-F238E27FC236}">
                <a16:creationId xmlns:a16="http://schemas.microsoft.com/office/drawing/2014/main" id="{D8E8BA56-DB73-EAD3-8490-BC266549F432}"/>
              </a:ext>
            </a:extLst>
          </p:cNvPr>
          <p:cNvGrpSpPr>
            <a:grpSpLocks/>
          </p:cNvGrpSpPr>
          <p:nvPr/>
        </p:nvGrpSpPr>
        <p:grpSpPr bwMode="auto">
          <a:xfrm>
            <a:off x="969963" y="2487613"/>
            <a:ext cx="5689600" cy="3389312"/>
            <a:chOff x="611" y="1389"/>
            <a:chExt cx="3584" cy="2135"/>
          </a:xfrm>
        </p:grpSpPr>
        <p:grpSp>
          <p:nvGrpSpPr>
            <p:cNvPr id="103428" name="Group 4">
              <a:extLst>
                <a:ext uri="{FF2B5EF4-FFF2-40B4-BE49-F238E27FC236}">
                  <a16:creationId xmlns:a16="http://schemas.microsoft.com/office/drawing/2014/main" id="{210441C4-4C13-FC6D-8B04-4075696E9045}"/>
                </a:ext>
              </a:extLst>
            </p:cNvPr>
            <p:cNvGrpSpPr>
              <a:grpSpLocks/>
            </p:cNvGrpSpPr>
            <p:nvPr/>
          </p:nvGrpSpPr>
          <p:grpSpPr bwMode="auto">
            <a:xfrm>
              <a:off x="611" y="1389"/>
              <a:ext cx="3572" cy="205"/>
              <a:chOff x="385" y="1460"/>
              <a:chExt cx="3572" cy="324"/>
            </a:xfrm>
          </p:grpSpPr>
          <p:sp>
            <p:nvSpPr>
              <p:cNvPr id="103458" name="AutoShape 5">
                <a:extLst>
                  <a:ext uri="{FF2B5EF4-FFF2-40B4-BE49-F238E27FC236}">
                    <a16:creationId xmlns:a16="http://schemas.microsoft.com/office/drawing/2014/main" id="{42B1C820-7800-C7A5-4C21-6E2149E97BF7}"/>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3459" name="Text Box 6">
                <a:extLst>
                  <a:ext uri="{FF2B5EF4-FFF2-40B4-BE49-F238E27FC236}">
                    <a16:creationId xmlns:a16="http://schemas.microsoft.com/office/drawing/2014/main" id="{91C353C6-B7D6-C7BE-5A71-F3B8D8801D4A}"/>
                  </a:ext>
                </a:extLst>
              </p:cNvPr>
              <p:cNvSpPr txBox="1">
                <a:spLocks noChangeArrowheads="1"/>
              </p:cNvSpPr>
              <p:nvPr/>
            </p:nvSpPr>
            <p:spPr bwMode="auto">
              <a:xfrm>
                <a:off x="626" y="1460"/>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软件项目跟踪控制概述</a:t>
                </a:r>
                <a:r>
                  <a:rPr lang="zh-CN" altLang="en-US" sz="1800">
                    <a:latin typeface="宋体" panose="02010600030101010101" pitchFamily="2" charset="-122"/>
                  </a:rPr>
                  <a:t>  </a:t>
                </a:r>
              </a:p>
            </p:txBody>
          </p:sp>
          <p:sp>
            <p:nvSpPr>
              <p:cNvPr id="103460" name="Rectangle 7">
                <a:extLst>
                  <a:ext uri="{FF2B5EF4-FFF2-40B4-BE49-F238E27FC236}">
                    <a16:creationId xmlns:a16="http://schemas.microsoft.com/office/drawing/2014/main" id="{8D4FB364-C8D0-8840-8D1C-FB8ECD390C93}"/>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9.1</a:t>
                </a:r>
                <a:endParaRPr lang="en-US" altLang="zh-CN" sz="1800">
                  <a:solidFill>
                    <a:srgbClr val="000000"/>
                  </a:solidFill>
                </a:endParaRPr>
              </a:p>
            </p:txBody>
          </p:sp>
        </p:grpSp>
        <p:grpSp>
          <p:nvGrpSpPr>
            <p:cNvPr id="103429" name="Group 8">
              <a:extLst>
                <a:ext uri="{FF2B5EF4-FFF2-40B4-BE49-F238E27FC236}">
                  <a16:creationId xmlns:a16="http://schemas.microsoft.com/office/drawing/2014/main" id="{CD741A9D-ADB9-958F-C423-8D81103D355F}"/>
                </a:ext>
              </a:extLst>
            </p:cNvPr>
            <p:cNvGrpSpPr>
              <a:grpSpLocks/>
            </p:cNvGrpSpPr>
            <p:nvPr/>
          </p:nvGrpSpPr>
          <p:grpSpPr bwMode="auto">
            <a:xfrm>
              <a:off x="611" y="1675"/>
              <a:ext cx="3572" cy="202"/>
              <a:chOff x="385" y="1831"/>
              <a:chExt cx="3572" cy="319"/>
            </a:xfrm>
          </p:grpSpPr>
          <p:grpSp>
            <p:nvGrpSpPr>
              <p:cNvPr id="103454" name="Group 9">
                <a:extLst>
                  <a:ext uri="{FF2B5EF4-FFF2-40B4-BE49-F238E27FC236}">
                    <a16:creationId xmlns:a16="http://schemas.microsoft.com/office/drawing/2014/main" id="{5DF74D0E-4EA1-DD06-0B64-22A1669944B6}"/>
                  </a:ext>
                </a:extLst>
              </p:cNvPr>
              <p:cNvGrpSpPr>
                <a:grpSpLocks/>
              </p:cNvGrpSpPr>
              <p:nvPr/>
            </p:nvGrpSpPr>
            <p:grpSpPr bwMode="auto">
              <a:xfrm>
                <a:off x="464" y="1831"/>
                <a:ext cx="3493" cy="319"/>
                <a:chOff x="464" y="1831"/>
                <a:chExt cx="3493" cy="319"/>
              </a:xfrm>
            </p:grpSpPr>
            <p:sp>
              <p:nvSpPr>
                <p:cNvPr id="103456" name="AutoShape 10">
                  <a:extLst>
                    <a:ext uri="{FF2B5EF4-FFF2-40B4-BE49-F238E27FC236}">
                      <a16:creationId xmlns:a16="http://schemas.microsoft.com/office/drawing/2014/main" id="{305B7392-46FD-F737-BCE2-79E13670A0D1}"/>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3457" name="Text Box 11">
                  <a:extLst>
                    <a:ext uri="{FF2B5EF4-FFF2-40B4-BE49-F238E27FC236}">
                      <a16:creationId xmlns:a16="http://schemas.microsoft.com/office/drawing/2014/main" id="{A6A5A6FA-2C8B-45B1-994F-E9ACE30BEE08}"/>
                    </a:ext>
                  </a:extLst>
                </p:cNvPr>
                <p:cNvSpPr txBox="1">
                  <a:spLocks noChangeArrowheads="1"/>
                </p:cNvSpPr>
                <p:nvPr/>
              </p:nvSpPr>
              <p:spPr bwMode="auto">
                <a:xfrm>
                  <a:off x="626" y="1831"/>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软件项目跟踪控制的标准</a:t>
                  </a:r>
                  <a:r>
                    <a:rPr lang="zh-CN" altLang="en-US" sz="1200">
                      <a:solidFill>
                        <a:schemeClr val="bg1"/>
                      </a:solidFill>
                      <a:latin typeface="黑体" panose="02010609060101010101" pitchFamily="49" charset="-122"/>
                      <a:ea typeface="黑体" panose="02010609060101010101" pitchFamily="49" charset="-122"/>
                    </a:rPr>
                    <a:t> </a:t>
                  </a:r>
                </a:p>
              </p:txBody>
            </p:sp>
          </p:grpSp>
          <p:sp>
            <p:nvSpPr>
              <p:cNvPr id="103455" name="Rectangle 12">
                <a:extLst>
                  <a:ext uri="{FF2B5EF4-FFF2-40B4-BE49-F238E27FC236}">
                    <a16:creationId xmlns:a16="http://schemas.microsoft.com/office/drawing/2014/main" id="{3072D1FD-948D-5FBC-3104-C849A40907A1}"/>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9.2</a:t>
                </a:r>
                <a:endParaRPr lang="en-US" altLang="zh-CN" sz="1800">
                  <a:solidFill>
                    <a:srgbClr val="000000"/>
                  </a:solidFill>
                </a:endParaRPr>
              </a:p>
            </p:txBody>
          </p:sp>
        </p:grpSp>
        <p:grpSp>
          <p:nvGrpSpPr>
            <p:cNvPr id="103430" name="Group 13">
              <a:extLst>
                <a:ext uri="{FF2B5EF4-FFF2-40B4-BE49-F238E27FC236}">
                  <a16:creationId xmlns:a16="http://schemas.microsoft.com/office/drawing/2014/main" id="{9722EAE7-E747-4D33-BF54-FD5860241620}"/>
                </a:ext>
              </a:extLst>
            </p:cNvPr>
            <p:cNvGrpSpPr>
              <a:grpSpLocks/>
            </p:cNvGrpSpPr>
            <p:nvPr/>
          </p:nvGrpSpPr>
          <p:grpSpPr bwMode="auto">
            <a:xfrm>
              <a:off x="611" y="1947"/>
              <a:ext cx="3584" cy="198"/>
              <a:chOff x="385" y="2209"/>
              <a:chExt cx="3584" cy="313"/>
            </a:xfrm>
          </p:grpSpPr>
          <p:sp>
            <p:nvSpPr>
              <p:cNvPr id="103451" name="AutoShape 14">
                <a:extLst>
                  <a:ext uri="{FF2B5EF4-FFF2-40B4-BE49-F238E27FC236}">
                    <a16:creationId xmlns:a16="http://schemas.microsoft.com/office/drawing/2014/main" id="{823B04D2-4AED-2C06-748D-633C7E84378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3452" name="Text Box 15">
                <a:extLst>
                  <a:ext uri="{FF2B5EF4-FFF2-40B4-BE49-F238E27FC236}">
                    <a16:creationId xmlns:a16="http://schemas.microsoft.com/office/drawing/2014/main" id="{94867DF2-4C1B-1D80-F395-E68FDFAEF1D1}"/>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solidFill>
                      <a:schemeClr val="bg1"/>
                    </a:solidFill>
                    <a:ea typeface="黑体" panose="02010609060101010101" pitchFamily="49" charset="-122"/>
                  </a:rPr>
                  <a:t>  </a:t>
                </a:r>
                <a:r>
                  <a:rPr lang="zh-CN" altLang="en-US" sz="2000">
                    <a:ea typeface="黑体" panose="02010609060101010101" pitchFamily="49" charset="-122"/>
                  </a:rPr>
                  <a:t>软件项目监控和报告体系</a:t>
                </a:r>
                <a:r>
                  <a:rPr lang="zh-CN" altLang="en-US" sz="1200">
                    <a:solidFill>
                      <a:schemeClr val="bg1"/>
                    </a:solidFill>
                  </a:rPr>
                  <a:t> </a:t>
                </a:r>
              </a:p>
            </p:txBody>
          </p:sp>
          <p:sp>
            <p:nvSpPr>
              <p:cNvPr id="103453" name="Rectangle 16">
                <a:extLst>
                  <a:ext uri="{FF2B5EF4-FFF2-40B4-BE49-F238E27FC236}">
                    <a16:creationId xmlns:a16="http://schemas.microsoft.com/office/drawing/2014/main" id="{B2EDB22E-EF85-9060-5DF9-246CE981EFE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9.3</a:t>
                </a:r>
                <a:endParaRPr lang="en-US" altLang="zh-CN" sz="1800">
                  <a:solidFill>
                    <a:srgbClr val="000000"/>
                  </a:solidFill>
                </a:endParaRPr>
              </a:p>
            </p:txBody>
          </p:sp>
        </p:grpSp>
        <p:grpSp>
          <p:nvGrpSpPr>
            <p:cNvPr id="103431" name="Group 17">
              <a:extLst>
                <a:ext uri="{FF2B5EF4-FFF2-40B4-BE49-F238E27FC236}">
                  <a16:creationId xmlns:a16="http://schemas.microsoft.com/office/drawing/2014/main" id="{E8E64284-CC4B-913D-DF4B-AD30E1ADA386}"/>
                </a:ext>
              </a:extLst>
            </p:cNvPr>
            <p:cNvGrpSpPr>
              <a:grpSpLocks/>
            </p:cNvGrpSpPr>
            <p:nvPr/>
          </p:nvGrpSpPr>
          <p:grpSpPr bwMode="auto">
            <a:xfrm>
              <a:off x="611" y="2219"/>
              <a:ext cx="3584" cy="198"/>
              <a:chOff x="385" y="2209"/>
              <a:chExt cx="3584" cy="313"/>
            </a:xfrm>
          </p:grpSpPr>
          <p:sp>
            <p:nvSpPr>
              <p:cNvPr id="103448" name="AutoShape 18">
                <a:extLst>
                  <a:ext uri="{FF2B5EF4-FFF2-40B4-BE49-F238E27FC236}">
                    <a16:creationId xmlns:a16="http://schemas.microsoft.com/office/drawing/2014/main" id="{17633C2F-308D-70AF-9922-F758E8AF85B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3449" name="Text Box 19">
                <a:extLst>
                  <a:ext uri="{FF2B5EF4-FFF2-40B4-BE49-F238E27FC236}">
                    <a16:creationId xmlns:a16="http://schemas.microsoft.com/office/drawing/2014/main" id="{963A47DD-A378-95E4-4145-54F610248C08}"/>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软件项目跟踪控制过程</a:t>
                </a:r>
                <a:r>
                  <a:rPr lang="zh-CN" altLang="en-US" sz="1200">
                    <a:solidFill>
                      <a:schemeClr val="bg1"/>
                    </a:solidFill>
                  </a:rPr>
                  <a:t> </a:t>
                </a:r>
              </a:p>
            </p:txBody>
          </p:sp>
          <p:sp>
            <p:nvSpPr>
              <p:cNvPr id="103450" name="Rectangle 20">
                <a:extLst>
                  <a:ext uri="{FF2B5EF4-FFF2-40B4-BE49-F238E27FC236}">
                    <a16:creationId xmlns:a16="http://schemas.microsoft.com/office/drawing/2014/main" id="{43E88FD1-C3E2-B9E0-6FAC-C103AADFC29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9.4</a:t>
                </a:r>
                <a:endParaRPr lang="en-US" altLang="zh-CN" sz="1800">
                  <a:solidFill>
                    <a:srgbClr val="000000"/>
                  </a:solidFill>
                </a:endParaRPr>
              </a:p>
            </p:txBody>
          </p:sp>
        </p:grpSp>
        <p:grpSp>
          <p:nvGrpSpPr>
            <p:cNvPr id="103432" name="Group 21">
              <a:extLst>
                <a:ext uri="{FF2B5EF4-FFF2-40B4-BE49-F238E27FC236}">
                  <a16:creationId xmlns:a16="http://schemas.microsoft.com/office/drawing/2014/main" id="{8B55E4A8-1DB8-34DB-7AC4-34592CABE82E}"/>
                </a:ext>
              </a:extLst>
            </p:cNvPr>
            <p:cNvGrpSpPr>
              <a:grpSpLocks/>
            </p:cNvGrpSpPr>
            <p:nvPr/>
          </p:nvGrpSpPr>
          <p:grpSpPr bwMode="auto">
            <a:xfrm>
              <a:off x="611" y="2505"/>
              <a:ext cx="3584" cy="197"/>
              <a:chOff x="385" y="2209"/>
              <a:chExt cx="3584" cy="311"/>
            </a:xfrm>
          </p:grpSpPr>
          <p:sp>
            <p:nvSpPr>
              <p:cNvPr id="103445" name="AutoShape 22">
                <a:extLst>
                  <a:ext uri="{FF2B5EF4-FFF2-40B4-BE49-F238E27FC236}">
                    <a16:creationId xmlns:a16="http://schemas.microsoft.com/office/drawing/2014/main" id="{CE52FFC1-50CB-71FC-F06E-3452CAB98EB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3446" name="Text Box 23">
                <a:extLst>
                  <a:ext uri="{FF2B5EF4-FFF2-40B4-BE49-F238E27FC236}">
                    <a16:creationId xmlns:a16="http://schemas.microsoft.com/office/drawing/2014/main" id="{D7469F2B-391A-27DF-A8E7-F634F447409D}"/>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软件项目评审 </a:t>
                </a:r>
              </a:p>
            </p:txBody>
          </p:sp>
          <p:sp>
            <p:nvSpPr>
              <p:cNvPr id="103447" name="Rectangle 24">
                <a:extLst>
                  <a:ext uri="{FF2B5EF4-FFF2-40B4-BE49-F238E27FC236}">
                    <a16:creationId xmlns:a16="http://schemas.microsoft.com/office/drawing/2014/main" id="{3F7A9F88-42FD-633E-5CC8-EE641A146B6A}"/>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9.5</a:t>
                </a:r>
                <a:endParaRPr lang="en-US" altLang="zh-CN" sz="1800">
                  <a:solidFill>
                    <a:srgbClr val="000000"/>
                  </a:solidFill>
                </a:endParaRPr>
              </a:p>
            </p:txBody>
          </p:sp>
        </p:grpSp>
        <p:grpSp>
          <p:nvGrpSpPr>
            <p:cNvPr id="103433" name="Group 25">
              <a:extLst>
                <a:ext uri="{FF2B5EF4-FFF2-40B4-BE49-F238E27FC236}">
                  <a16:creationId xmlns:a16="http://schemas.microsoft.com/office/drawing/2014/main" id="{C4EBBAFE-DDC6-7553-1C41-5C254EB6456A}"/>
                </a:ext>
              </a:extLst>
            </p:cNvPr>
            <p:cNvGrpSpPr>
              <a:grpSpLocks/>
            </p:cNvGrpSpPr>
            <p:nvPr/>
          </p:nvGrpSpPr>
          <p:grpSpPr bwMode="auto">
            <a:xfrm>
              <a:off x="611" y="2760"/>
              <a:ext cx="3584" cy="230"/>
              <a:chOff x="385" y="2187"/>
              <a:chExt cx="3584" cy="363"/>
            </a:xfrm>
          </p:grpSpPr>
          <p:sp>
            <p:nvSpPr>
              <p:cNvPr id="103442" name="AutoShape 26">
                <a:extLst>
                  <a:ext uri="{FF2B5EF4-FFF2-40B4-BE49-F238E27FC236}">
                    <a16:creationId xmlns:a16="http://schemas.microsoft.com/office/drawing/2014/main" id="{E58F1521-A420-2E34-CC54-ACD2882508A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3443" name="Text Box 27">
                <a:extLst>
                  <a:ext uri="{FF2B5EF4-FFF2-40B4-BE49-F238E27FC236}">
                    <a16:creationId xmlns:a16="http://schemas.microsoft.com/office/drawing/2014/main" id="{942BDDED-7CB8-611D-4833-94602226E8ED}"/>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ea typeface="黑体" panose="02010609060101010101" pitchFamily="49" charset="-122"/>
                  </a:rPr>
                  <a:t>软件项目计划修改</a:t>
                </a:r>
                <a:r>
                  <a:rPr lang="zh-CN" altLang="en-US" sz="1200">
                    <a:solidFill>
                      <a:schemeClr val="bg1"/>
                    </a:solidFill>
                  </a:rPr>
                  <a:t> </a:t>
                </a:r>
                <a:r>
                  <a:rPr lang="zh-CN" altLang="en-US" sz="2400" b="0">
                    <a:latin typeface="Times New Roman" panose="02020603050405020304" pitchFamily="18" charset="0"/>
                  </a:rPr>
                  <a:t> </a:t>
                </a:r>
              </a:p>
            </p:txBody>
          </p:sp>
          <p:sp>
            <p:nvSpPr>
              <p:cNvPr id="103444" name="Rectangle 28">
                <a:extLst>
                  <a:ext uri="{FF2B5EF4-FFF2-40B4-BE49-F238E27FC236}">
                    <a16:creationId xmlns:a16="http://schemas.microsoft.com/office/drawing/2014/main" id="{64E326F3-DD26-CD3A-8EC3-D95CFD142EA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9.6</a:t>
                </a:r>
                <a:endParaRPr lang="en-US" altLang="zh-CN" sz="1800">
                  <a:solidFill>
                    <a:srgbClr val="000000"/>
                  </a:solidFill>
                </a:endParaRPr>
              </a:p>
            </p:txBody>
          </p:sp>
        </p:grpSp>
        <p:grpSp>
          <p:nvGrpSpPr>
            <p:cNvPr id="103434" name="Group 29">
              <a:extLst>
                <a:ext uri="{FF2B5EF4-FFF2-40B4-BE49-F238E27FC236}">
                  <a16:creationId xmlns:a16="http://schemas.microsoft.com/office/drawing/2014/main" id="{779F7001-C0ED-7771-E459-78886673AE02}"/>
                </a:ext>
              </a:extLst>
            </p:cNvPr>
            <p:cNvGrpSpPr>
              <a:grpSpLocks/>
            </p:cNvGrpSpPr>
            <p:nvPr/>
          </p:nvGrpSpPr>
          <p:grpSpPr bwMode="auto">
            <a:xfrm>
              <a:off x="611" y="3022"/>
              <a:ext cx="3584" cy="230"/>
              <a:chOff x="385" y="2187"/>
              <a:chExt cx="3584" cy="363"/>
            </a:xfrm>
          </p:grpSpPr>
          <p:sp>
            <p:nvSpPr>
              <p:cNvPr id="103439" name="AutoShape 30">
                <a:extLst>
                  <a:ext uri="{FF2B5EF4-FFF2-40B4-BE49-F238E27FC236}">
                    <a16:creationId xmlns:a16="http://schemas.microsoft.com/office/drawing/2014/main" id="{831C2546-21AA-8297-FCBB-662ACBED134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3440" name="Text Box 31">
                <a:extLst>
                  <a:ext uri="{FF2B5EF4-FFF2-40B4-BE49-F238E27FC236}">
                    <a16:creationId xmlns:a16="http://schemas.microsoft.com/office/drawing/2014/main" id="{ACC47DF3-00CD-5C4D-7893-40B5AB0528AC}"/>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103441" name="Rectangle 32">
                <a:extLst>
                  <a:ext uri="{FF2B5EF4-FFF2-40B4-BE49-F238E27FC236}">
                    <a16:creationId xmlns:a16="http://schemas.microsoft.com/office/drawing/2014/main" id="{FDB9CEFF-E11E-3B65-C6E2-A5BBEFB94D66}"/>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9.7</a:t>
                </a:r>
                <a:endParaRPr lang="en-US" altLang="zh-CN" sz="1800">
                  <a:solidFill>
                    <a:srgbClr val="000000"/>
                  </a:solidFill>
                </a:endParaRPr>
              </a:p>
            </p:txBody>
          </p:sp>
        </p:grpSp>
        <p:grpSp>
          <p:nvGrpSpPr>
            <p:cNvPr id="103435" name="Group 33">
              <a:extLst>
                <a:ext uri="{FF2B5EF4-FFF2-40B4-BE49-F238E27FC236}">
                  <a16:creationId xmlns:a16="http://schemas.microsoft.com/office/drawing/2014/main" id="{0103170C-9DF7-7DD6-BB90-70FDB174F4F9}"/>
                </a:ext>
              </a:extLst>
            </p:cNvPr>
            <p:cNvGrpSpPr>
              <a:grpSpLocks/>
            </p:cNvGrpSpPr>
            <p:nvPr/>
          </p:nvGrpSpPr>
          <p:grpSpPr bwMode="auto">
            <a:xfrm>
              <a:off x="611" y="3294"/>
              <a:ext cx="3584" cy="230"/>
              <a:chOff x="385" y="2187"/>
              <a:chExt cx="3584" cy="363"/>
            </a:xfrm>
          </p:grpSpPr>
          <p:sp>
            <p:nvSpPr>
              <p:cNvPr id="103436" name="AutoShape 34">
                <a:extLst>
                  <a:ext uri="{FF2B5EF4-FFF2-40B4-BE49-F238E27FC236}">
                    <a16:creationId xmlns:a16="http://schemas.microsoft.com/office/drawing/2014/main" id="{C8764193-080B-9996-3D5D-6136B128165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3437" name="Text Box 35">
                <a:extLst>
                  <a:ext uri="{FF2B5EF4-FFF2-40B4-BE49-F238E27FC236}">
                    <a16:creationId xmlns:a16="http://schemas.microsoft.com/office/drawing/2014/main" id="{972A88C7-BFE7-504D-046E-7A32C5B36543}"/>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复习思考题</a:t>
                </a:r>
                <a:r>
                  <a:rPr lang="zh-CN" altLang="en-US" sz="2400" b="0">
                    <a:latin typeface="Times New Roman" panose="02020603050405020304" pitchFamily="18" charset="0"/>
                  </a:rPr>
                  <a:t> </a:t>
                </a:r>
              </a:p>
            </p:txBody>
          </p:sp>
          <p:sp>
            <p:nvSpPr>
              <p:cNvPr id="103438" name="Rectangle 36">
                <a:extLst>
                  <a:ext uri="{FF2B5EF4-FFF2-40B4-BE49-F238E27FC236}">
                    <a16:creationId xmlns:a16="http://schemas.microsoft.com/office/drawing/2014/main" id="{FE945385-A2D1-3AAB-3254-8C558A4B7AC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9.8</a:t>
                </a:r>
                <a:endParaRPr lang="en-US" altLang="zh-CN" sz="1800">
                  <a:solidFill>
                    <a:srgbClr val="000000"/>
                  </a:solidFill>
                </a:endParaRPr>
              </a:p>
            </p:txBody>
          </p:sp>
        </p:gr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1498C7EB-8F33-27F0-8AAE-72F1E5A7CD5D}"/>
              </a:ext>
            </a:extLst>
          </p:cNvPr>
          <p:cNvSpPr>
            <a:spLocks noGrp="1" noChangeArrowheads="1"/>
          </p:cNvSpPr>
          <p:nvPr>
            <p:ph type="title"/>
          </p:nvPr>
        </p:nvSpPr>
        <p:spPr/>
        <p:txBody>
          <a:bodyPr/>
          <a:lstStyle/>
          <a:p>
            <a:pPr eaLnBrk="1" hangingPunct="1"/>
            <a:r>
              <a:rPr lang="en-US" altLang="zh-CN"/>
              <a:t>9.7  </a:t>
            </a:r>
            <a:r>
              <a:rPr lang="zh-CN" altLang="en-US"/>
              <a:t>本章小结 </a:t>
            </a:r>
          </a:p>
        </p:txBody>
      </p:sp>
      <p:sp>
        <p:nvSpPr>
          <p:cNvPr id="105475" name="Rectangle 3">
            <a:extLst>
              <a:ext uri="{FF2B5EF4-FFF2-40B4-BE49-F238E27FC236}">
                <a16:creationId xmlns:a16="http://schemas.microsoft.com/office/drawing/2014/main" id="{E0301F57-9629-4831-BC1C-8DBB943AB1F8}"/>
              </a:ext>
            </a:extLst>
          </p:cNvPr>
          <p:cNvSpPr>
            <a:spLocks noGrp="1" noChangeArrowheads="1"/>
          </p:cNvSpPr>
          <p:nvPr>
            <p:ph type="body" idx="1"/>
          </p:nvPr>
        </p:nvSpPr>
        <p:spPr>
          <a:xfrm>
            <a:off x="323850" y="1987550"/>
            <a:ext cx="8640763" cy="4105275"/>
          </a:xfrm>
          <a:solidFill>
            <a:srgbClr val="FFFFCC"/>
          </a:solidFill>
        </p:spPr>
        <p:txBody>
          <a:bodyPr/>
          <a:lstStyle/>
          <a:p>
            <a:pPr eaLnBrk="1" hangingPunct="1">
              <a:lnSpc>
                <a:spcPct val="130000"/>
              </a:lnSpc>
              <a:spcBef>
                <a:spcPct val="40000"/>
              </a:spcBef>
            </a:pPr>
            <a:r>
              <a:rPr lang="zh-CN" altLang="en-US" sz="1800">
                <a:ea typeface="黑体" panose="02010609060101010101" pitchFamily="49" charset="-122"/>
              </a:rPr>
              <a:t>跟踪控制是软件项目管理过程中一个非常重要的管理过程，它直接决定着软件项目的成功与否，也是体现软件项目管理水平的关键之处</a:t>
            </a:r>
          </a:p>
          <a:p>
            <a:pPr eaLnBrk="1" hangingPunct="1">
              <a:lnSpc>
                <a:spcPct val="130000"/>
              </a:lnSpc>
              <a:spcBef>
                <a:spcPct val="40000"/>
              </a:spcBef>
            </a:pPr>
            <a:r>
              <a:rPr lang="zh-CN" altLang="en-US" sz="1800">
                <a:ea typeface="黑体" panose="02010609060101010101" pitchFamily="49" charset="-122"/>
              </a:rPr>
              <a:t>跟踪和控制是两个重要的环节。跟踪是采集软件项目运行过程中的原始数据信息；控制是根据采集的跟踪数据，与原始项目计划进行比较，从而判断项目的性能，对出现的偏差给予纠正，必要时修改项目计划</a:t>
            </a:r>
          </a:p>
          <a:p>
            <a:pPr eaLnBrk="1" hangingPunct="1">
              <a:lnSpc>
                <a:spcPct val="130000"/>
              </a:lnSpc>
              <a:spcBef>
                <a:spcPct val="40000"/>
              </a:spcBef>
            </a:pPr>
            <a:r>
              <a:rPr lang="zh-CN" altLang="en-US" sz="1800">
                <a:ea typeface="黑体" panose="02010609060101010101" pitchFamily="49" charset="-122"/>
              </a:rPr>
              <a:t>项目的跟踪控制包括项目范围、进度、成本、资源、质量、风险等。本章重点介绍分析项目进展性能的两种方法：图解控制法和挣值分析法</a:t>
            </a:r>
          </a:p>
          <a:p>
            <a:pPr eaLnBrk="1" hangingPunct="1">
              <a:lnSpc>
                <a:spcPct val="130000"/>
              </a:lnSpc>
              <a:spcBef>
                <a:spcPct val="40000"/>
              </a:spcBef>
            </a:pPr>
            <a:r>
              <a:rPr lang="zh-CN" altLang="en-US" sz="1800">
                <a:ea typeface="黑体" panose="02010609060101010101" pitchFamily="49" charset="-122"/>
              </a:rPr>
              <a:t>图解控制方法是综合甘特图、费用曲线以及资源载荷图来分析项目的一种方法</a:t>
            </a:r>
          </a:p>
          <a:p>
            <a:pPr eaLnBrk="1" hangingPunct="1">
              <a:lnSpc>
                <a:spcPct val="130000"/>
              </a:lnSpc>
              <a:spcBef>
                <a:spcPct val="40000"/>
              </a:spcBef>
            </a:pPr>
            <a:r>
              <a:rPr lang="zh-CN" altLang="en-US" sz="1800">
                <a:ea typeface="黑体" panose="02010609060101010101" pitchFamily="49" charset="-122"/>
              </a:rPr>
              <a:t>挣值分析法是利用成本会计的方法评价项目进展情况的一种方法，它是从新的角度看待成本和进度差异的一种方法</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72984AC4-5963-AC04-9592-AD31987F2E4D}"/>
              </a:ext>
            </a:extLst>
          </p:cNvPr>
          <p:cNvSpPr>
            <a:spLocks noGrp="1" noChangeArrowheads="1"/>
          </p:cNvSpPr>
          <p:nvPr>
            <p:ph type="title"/>
          </p:nvPr>
        </p:nvSpPr>
        <p:spPr/>
        <p:txBody>
          <a:bodyPr/>
          <a:lstStyle/>
          <a:p>
            <a:pPr eaLnBrk="1" hangingPunct="1"/>
            <a:r>
              <a:rPr lang="zh-CN" altLang="en-US"/>
              <a:t>本章内容提要</a:t>
            </a:r>
          </a:p>
        </p:txBody>
      </p:sp>
      <p:grpSp>
        <p:nvGrpSpPr>
          <p:cNvPr id="107523" name="Group 3">
            <a:extLst>
              <a:ext uri="{FF2B5EF4-FFF2-40B4-BE49-F238E27FC236}">
                <a16:creationId xmlns:a16="http://schemas.microsoft.com/office/drawing/2014/main" id="{E73D5609-F06E-7D9C-8FB3-6E8C8822F494}"/>
              </a:ext>
            </a:extLst>
          </p:cNvPr>
          <p:cNvGrpSpPr>
            <a:grpSpLocks/>
          </p:cNvGrpSpPr>
          <p:nvPr/>
        </p:nvGrpSpPr>
        <p:grpSpPr bwMode="auto">
          <a:xfrm>
            <a:off x="969963" y="2487613"/>
            <a:ext cx="5689600" cy="3389312"/>
            <a:chOff x="611" y="1389"/>
            <a:chExt cx="3584" cy="2135"/>
          </a:xfrm>
        </p:grpSpPr>
        <p:grpSp>
          <p:nvGrpSpPr>
            <p:cNvPr id="107524" name="Group 4">
              <a:extLst>
                <a:ext uri="{FF2B5EF4-FFF2-40B4-BE49-F238E27FC236}">
                  <a16:creationId xmlns:a16="http://schemas.microsoft.com/office/drawing/2014/main" id="{E59008DA-CD09-67B5-70E3-4752F0935851}"/>
                </a:ext>
              </a:extLst>
            </p:cNvPr>
            <p:cNvGrpSpPr>
              <a:grpSpLocks/>
            </p:cNvGrpSpPr>
            <p:nvPr/>
          </p:nvGrpSpPr>
          <p:grpSpPr bwMode="auto">
            <a:xfrm>
              <a:off x="611" y="1389"/>
              <a:ext cx="3572" cy="205"/>
              <a:chOff x="385" y="1460"/>
              <a:chExt cx="3572" cy="324"/>
            </a:xfrm>
          </p:grpSpPr>
          <p:sp>
            <p:nvSpPr>
              <p:cNvPr id="107554" name="AutoShape 5">
                <a:extLst>
                  <a:ext uri="{FF2B5EF4-FFF2-40B4-BE49-F238E27FC236}">
                    <a16:creationId xmlns:a16="http://schemas.microsoft.com/office/drawing/2014/main" id="{C51438ED-1631-8E57-2AD9-41E47D2BCDCA}"/>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7555" name="Text Box 6">
                <a:extLst>
                  <a:ext uri="{FF2B5EF4-FFF2-40B4-BE49-F238E27FC236}">
                    <a16:creationId xmlns:a16="http://schemas.microsoft.com/office/drawing/2014/main" id="{C48ECFBD-6CF0-025C-81A4-8EBCB7539680}"/>
                  </a:ext>
                </a:extLst>
              </p:cNvPr>
              <p:cNvSpPr txBox="1">
                <a:spLocks noChangeArrowheads="1"/>
              </p:cNvSpPr>
              <p:nvPr/>
            </p:nvSpPr>
            <p:spPr bwMode="auto">
              <a:xfrm>
                <a:off x="626" y="1460"/>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软件项目跟踪控制概述</a:t>
                </a:r>
                <a:r>
                  <a:rPr lang="zh-CN" altLang="en-US" sz="1800">
                    <a:latin typeface="宋体" panose="02010600030101010101" pitchFamily="2" charset="-122"/>
                  </a:rPr>
                  <a:t>  </a:t>
                </a:r>
              </a:p>
            </p:txBody>
          </p:sp>
          <p:sp>
            <p:nvSpPr>
              <p:cNvPr id="107556" name="Rectangle 7">
                <a:extLst>
                  <a:ext uri="{FF2B5EF4-FFF2-40B4-BE49-F238E27FC236}">
                    <a16:creationId xmlns:a16="http://schemas.microsoft.com/office/drawing/2014/main" id="{E2799511-E3D8-D5F2-0C46-81083DC8228C}"/>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9.1</a:t>
                </a:r>
                <a:endParaRPr lang="en-US" altLang="zh-CN" sz="1800">
                  <a:solidFill>
                    <a:srgbClr val="000000"/>
                  </a:solidFill>
                </a:endParaRPr>
              </a:p>
            </p:txBody>
          </p:sp>
        </p:grpSp>
        <p:grpSp>
          <p:nvGrpSpPr>
            <p:cNvPr id="107525" name="Group 8">
              <a:extLst>
                <a:ext uri="{FF2B5EF4-FFF2-40B4-BE49-F238E27FC236}">
                  <a16:creationId xmlns:a16="http://schemas.microsoft.com/office/drawing/2014/main" id="{C42CAE39-78EF-4F8D-A882-1C86CE0A24D6}"/>
                </a:ext>
              </a:extLst>
            </p:cNvPr>
            <p:cNvGrpSpPr>
              <a:grpSpLocks/>
            </p:cNvGrpSpPr>
            <p:nvPr/>
          </p:nvGrpSpPr>
          <p:grpSpPr bwMode="auto">
            <a:xfrm>
              <a:off x="611" y="1675"/>
              <a:ext cx="3572" cy="202"/>
              <a:chOff x="385" y="1831"/>
              <a:chExt cx="3572" cy="319"/>
            </a:xfrm>
          </p:grpSpPr>
          <p:grpSp>
            <p:nvGrpSpPr>
              <p:cNvPr id="107550" name="Group 9">
                <a:extLst>
                  <a:ext uri="{FF2B5EF4-FFF2-40B4-BE49-F238E27FC236}">
                    <a16:creationId xmlns:a16="http://schemas.microsoft.com/office/drawing/2014/main" id="{818461C4-1360-3DAF-606E-13BA78A2E9E8}"/>
                  </a:ext>
                </a:extLst>
              </p:cNvPr>
              <p:cNvGrpSpPr>
                <a:grpSpLocks/>
              </p:cNvGrpSpPr>
              <p:nvPr/>
            </p:nvGrpSpPr>
            <p:grpSpPr bwMode="auto">
              <a:xfrm>
                <a:off x="464" y="1831"/>
                <a:ext cx="3493" cy="319"/>
                <a:chOff x="464" y="1831"/>
                <a:chExt cx="3493" cy="319"/>
              </a:xfrm>
            </p:grpSpPr>
            <p:sp>
              <p:nvSpPr>
                <p:cNvPr id="107552" name="AutoShape 10">
                  <a:extLst>
                    <a:ext uri="{FF2B5EF4-FFF2-40B4-BE49-F238E27FC236}">
                      <a16:creationId xmlns:a16="http://schemas.microsoft.com/office/drawing/2014/main" id="{928B6A0F-D903-4711-F14C-C05DAC6ADC3A}"/>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7553" name="Text Box 11">
                  <a:extLst>
                    <a:ext uri="{FF2B5EF4-FFF2-40B4-BE49-F238E27FC236}">
                      <a16:creationId xmlns:a16="http://schemas.microsoft.com/office/drawing/2014/main" id="{F3A729B5-4FD5-19B8-0980-63A7BEF1B338}"/>
                    </a:ext>
                  </a:extLst>
                </p:cNvPr>
                <p:cNvSpPr txBox="1">
                  <a:spLocks noChangeArrowheads="1"/>
                </p:cNvSpPr>
                <p:nvPr/>
              </p:nvSpPr>
              <p:spPr bwMode="auto">
                <a:xfrm>
                  <a:off x="626" y="1831"/>
                  <a:ext cx="3099"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软件项目跟踪控制的标准</a:t>
                  </a:r>
                  <a:r>
                    <a:rPr lang="zh-CN" altLang="en-US" sz="1200">
                      <a:solidFill>
                        <a:schemeClr val="bg1"/>
                      </a:solidFill>
                      <a:latin typeface="黑体" panose="02010609060101010101" pitchFamily="49" charset="-122"/>
                      <a:ea typeface="黑体" panose="02010609060101010101" pitchFamily="49" charset="-122"/>
                    </a:rPr>
                    <a:t> </a:t>
                  </a:r>
                </a:p>
              </p:txBody>
            </p:sp>
          </p:grpSp>
          <p:sp>
            <p:nvSpPr>
              <p:cNvPr id="107551" name="Rectangle 12">
                <a:extLst>
                  <a:ext uri="{FF2B5EF4-FFF2-40B4-BE49-F238E27FC236}">
                    <a16:creationId xmlns:a16="http://schemas.microsoft.com/office/drawing/2014/main" id="{8490B1B2-F358-AB59-2F94-55C2A8025CA8}"/>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9.2</a:t>
                </a:r>
                <a:endParaRPr lang="en-US" altLang="zh-CN" sz="1800">
                  <a:solidFill>
                    <a:srgbClr val="000000"/>
                  </a:solidFill>
                </a:endParaRPr>
              </a:p>
            </p:txBody>
          </p:sp>
        </p:grpSp>
        <p:grpSp>
          <p:nvGrpSpPr>
            <p:cNvPr id="107526" name="Group 13">
              <a:extLst>
                <a:ext uri="{FF2B5EF4-FFF2-40B4-BE49-F238E27FC236}">
                  <a16:creationId xmlns:a16="http://schemas.microsoft.com/office/drawing/2014/main" id="{279E0E3D-E4C1-1F74-7ED8-1E5EF194E778}"/>
                </a:ext>
              </a:extLst>
            </p:cNvPr>
            <p:cNvGrpSpPr>
              <a:grpSpLocks/>
            </p:cNvGrpSpPr>
            <p:nvPr/>
          </p:nvGrpSpPr>
          <p:grpSpPr bwMode="auto">
            <a:xfrm>
              <a:off x="611" y="1947"/>
              <a:ext cx="3584" cy="198"/>
              <a:chOff x="385" y="2209"/>
              <a:chExt cx="3584" cy="313"/>
            </a:xfrm>
          </p:grpSpPr>
          <p:sp>
            <p:nvSpPr>
              <p:cNvPr id="107547" name="AutoShape 14">
                <a:extLst>
                  <a:ext uri="{FF2B5EF4-FFF2-40B4-BE49-F238E27FC236}">
                    <a16:creationId xmlns:a16="http://schemas.microsoft.com/office/drawing/2014/main" id="{EBBC6701-B0A0-8EB5-2400-FC32126D1B2A}"/>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7548" name="Text Box 15">
                <a:extLst>
                  <a:ext uri="{FF2B5EF4-FFF2-40B4-BE49-F238E27FC236}">
                    <a16:creationId xmlns:a16="http://schemas.microsoft.com/office/drawing/2014/main" id="{206BC86C-E2E8-C7C2-1324-7C8411CA7790}"/>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solidFill>
                      <a:schemeClr val="bg1"/>
                    </a:solidFill>
                    <a:ea typeface="黑体" panose="02010609060101010101" pitchFamily="49" charset="-122"/>
                  </a:rPr>
                  <a:t>  </a:t>
                </a:r>
                <a:r>
                  <a:rPr lang="zh-CN" altLang="en-US" sz="2000">
                    <a:ea typeface="黑体" panose="02010609060101010101" pitchFamily="49" charset="-122"/>
                  </a:rPr>
                  <a:t>软件项目监控和报告体系</a:t>
                </a:r>
                <a:r>
                  <a:rPr lang="zh-CN" altLang="en-US" sz="1200">
                    <a:solidFill>
                      <a:schemeClr val="bg1"/>
                    </a:solidFill>
                  </a:rPr>
                  <a:t> </a:t>
                </a:r>
              </a:p>
            </p:txBody>
          </p:sp>
          <p:sp>
            <p:nvSpPr>
              <p:cNvPr id="107549" name="Rectangle 16">
                <a:extLst>
                  <a:ext uri="{FF2B5EF4-FFF2-40B4-BE49-F238E27FC236}">
                    <a16:creationId xmlns:a16="http://schemas.microsoft.com/office/drawing/2014/main" id="{5DFE9628-0463-F9FE-22DD-D071C014032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9.3</a:t>
                </a:r>
                <a:endParaRPr lang="en-US" altLang="zh-CN" sz="1800">
                  <a:solidFill>
                    <a:srgbClr val="000000"/>
                  </a:solidFill>
                </a:endParaRPr>
              </a:p>
            </p:txBody>
          </p:sp>
        </p:grpSp>
        <p:grpSp>
          <p:nvGrpSpPr>
            <p:cNvPr id="107527" name="Group 17">
              <a:extLst>
                <a:ext uri="{FF2B5EF4-FFF2-40B4-BE49-F238E27FC236}">
                  <a16:creationId xmlns:a16="http://schemas.microsoft.com/office/drawing/2014/main" id="{10A38FFF-C2E4-E34C-D560-D68E70034415}"/>
                </a:ext>
              </a:extLst>
            </p:cNvPr>
            <p:cNvGrpSpPr>
              <a:grpSpLocks/>
            </p:cNvGrpSpPr>
            <p:nvPr/>
          </p:nvGrpSpPr>
          <p:grpSpPr bwMode="auto">
            <a:xfrm>
              <a:off x="611" y="2219"/>
              <a:ext cx="3584" cy="198"/>
              <a:chOff x="385" y="2209"/>
              <a:chExt cx="3584" cy="313"/>
            </a:xfrm>
          </p:grpSpPr>
          <p:sp>
            <p:nvSpPr>
              <p:cNvPr id="107544" name="AutoShape 18">
                <a:extLst>
                  <a:ext uri="{FF2B5EF4-FFF2-40B4-BE49-F238E27FC236}">
                    <a16:creationId xmlns:a16="http://schemas.microsoft.com/office/drawing/2014/main" id="{319C64B1-1900-D0DA-C371-658AE0BE433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7545" name="Text Box 19">
                <a:extLst>
                  <a:ext uri="{FF2B5EF4-FFF2-40B4-BE49-F238E27FC236}">
                    <a16:creationId xmlns:a16="http://schemas.microsoft.com/office/drawing/2014/main" id="{BBCEE894-BBB7-92A2-390C-B95245253D53}"/>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软件项目跟踪控制过程</a:t>
                </a:r>
                <a:r>
                  <a:rPr lang="zh-CN" altLang="en-US" sz="1200">
                    <a:solidFill>
                      <a:schemeClr val="bg1"/>
                    </a:solidFill>
                  </a:rPr>
                  <a:t> </a:t>
                </a:r>
              </a:p>
            </p:txBody>
          </p:sp>
          <p:sp>
            <p:nvSpPr>
              <p:cNvPr id="107546" name="Rectangle 20">
                <a:extLst>
                  <a:ext uri="{FF2B5EF4-FFF2-40B4-BE49-F238E27FC236}">
                    <a16:creationId xmlns:a16="http://schemas.microsoft.com/office/drawing/2014/main" id="{7355969A-CE82-DF6A-0E49-6BCF74E5F41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9.4</a:t>
                </a:r>
                <a:endParaRPr lang="en-US" altLang="zh-CN" sz="1800">
                  <a:solidFill>
                    <a:srgbClr val="000000"/>
                  </a:solidFill>
                </a:endParaRPr>
              </a:p>
            </p:txBody>
          </p:sp>
        </p:grpSp>
        <p:grpSp>
          <p:nvGrpSpPr>
            <p:cNvPr id="107528" name="Group 21">
              <a:extLst>
                <a:ext uri="{FF2B5EF4-FFF2-40B4-BE49-F238E27FC236}">
                  <a16:creationId xmlns:a16="http://schemas.microsoft.com/office/drawing/2014/main" id="{DFD8C478-379A-3EE5-E753-C244A833DBA3}"/>
                </a:ext>
              </a:extLst>
            </p:cNvPr>
            <p:cNvGrpSpPr>
              <a:grpSpLocks/>
            </p:cNvGrpSpPr>
            <p:nvPr/>
          </p:nvGrpSpPr>
          <p:grpSpPr bwMode="auto">
            <a:xfrm>
              <a:off x="611" y="2505"/>
              <a:ext cx="3584" cy="197"/>
              <a:chOff x="385" y="2209"/>
              <a:chExt cx="3584" cy="311"/>
            </a:xfrm>
          </p:grpSpPr>
          <p:sp>
            <p:nvSpPr>
              <p:cNvPr id="107541" name="AutoShape 22">
                <a:extLst>
                  <a:ext uri="{FF2B5EF4-FFF2-40B4-BE49-F238E27FC236}">
                    <a16:creationId xmlns:a16="http://schemas.microsoft.com/office/drawing/2014/main" id="{DAB0B2BA-0DD7-485D-E32A-FCC52841495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7542" name="Text Box 23">
                <a:extLst>
                  <a:ext uri="{FF2B5EF4-FFF2-40B4-BE49-F238E27FC236}">
                    <a16:creationId xmlns:a16="http://schemas.microsoft.com/office/drawing/2014/main" id="{E7385DA8-B72B-8423-6A88-DE38BCA6BE88}"/>
                  </a:ext>
                </a:extLst>
              </p:cNvPr>
              <p:cNvSpPr txBox="1">
                <a:spLocks noChangeArrowheads="1"/>
              </p:cNvSpPr>
              <p:nvPr/>
            </p:nvSpPr>
            <p:spPr bwMode="auto">
              <a:xfrm>
                <a:off x="626" y="2217"/>
                <a:ext cx="31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ea typeface="黑体" panose="02010609060101010101" pitchFamily="49" charset="-122"/>
                  </a:rPr>
                  <a:t>  </a:t>
                </a:r>
                <a:r>
                  <a:rPr lang="zh-CN" altLang="en-US" sz="2000">
                    <a:ea typeface="黑体" panose="02010609060101010101" pitchFamily="49" charset="-122"/>
                  </a:rPr>
                  <a:t>软件项目评审 </a:t>
                </a:r>
              </a:p>
            </p:txBody>
          </p:sp>
          <p:sp>
            <p:nvSpPr>
              <p:cNvPr id="107543" name="Rectangle 24">
                <a:extLst>
                  <a:ext uri="{FF2B5EF4-FFF2-40B4-BE49-F238E27FC236}">
                    <a16:creationId xmlns:a16="http://schemas.microsoft.com/office/drawing/2014/main" id="{D3EA41A8-1A52-D7CC-D01E-FC3278E0C44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9.5</a:t>
                </a:r>
                <a:endParaRPr lang="en-US" altLang="zh-CN" sz="1800">
                  <a:solidFill>
                    <a:srgbClr val="000000"/>
                  </a:solidFill>
                </a:endParaRPr>
              </a:p>
            </p:txBody>
          </p:sp>
        </p:grpSp>
        <p:grpSp>
          <p:nvGrpSpPr>
            <p:cNvPr id="107529" name="Group 25">
              <a:extLst>
                <a:ext uri="{FF2B5EF4-FFF2-40B4-BE49-F238E27FC236}">
                  <a16:creationId xmlns:a16="http://schemas.microsoft.com/office/drawing/2014/main" id="{581EE1C6-7802-8353-8D2E-D60A313AD0C1}"/>
                </a:ext>
              </a:extLst>
            </p:cNvPr>
            <p:cNvGrpSpPr>
              <a:grpSpLocks/>
            </p:cNvGrpSpPr>
            <p:nvPr/>
          </p:nvGrpSpPr>
          <p:grpSpPr bwMode="auto">
            <a:xfrm>
              <a:off x="611" y="2760"/>
              <a:ext cx="3584" cy="230"/>
              <a:chOff x="385" y="2187"/>
              <a:chExt cx="3584" cy="363"/>
            </a:xfrm>
          </p:grpSpPr>
          <p:sp>
            <p:nvSpPr>
              <p:cNvPr id="107538" name="AutoShape 26">
                <a:extLst>
                  <a:ext uri="{FF2B5EF4-FFF2-40B4-BE49-F238E27FC236}">
                    <a16:creationId xmlns:a16="http://schemas.microsoft.com/office/drawing/2014/main" id="{C91B15F9-FA67-9FCB-224F-4AA6C2E4F5A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7539" name="Text Box 27">
                <a:extLst>
                  <a:ext uri="{FF2B5EF4-FFF2-40B4-BE49-F238E27FC236}">
                    <a16:creationId xmlns:a16="http://schemas.microsoft.com/office/drawing/2014/main" id="{F2A6AE3B-302B-C57A-B1ED-7265E25FEAB7}"/>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ea typeface="黑体" panose="02010609060101010101" pitchFamily="49" charset="-122"/>
                  </a:rPr>
                  <a:t>软件项目计划修改</a:t>
                </a:r>
                <a:r>
                  <a:rPr lang="zh-CN" altLang="en-US" sz="1200">
                    <a:solidFill>
                      <a:schemeClr val="bg1"/>
                    </a:solidFill>
                  </a:rPr>
                  <a:t> </a:t>
                </a:r>
                <a:r>
                  <a:rPr lang="zh-CN" altLang="en-US" sz="2400" b="0">
                    <a:latin typeface="Times New Roman" panose="02020603050405020304" pitchFamily="18" charset="0"/>
                  </a:rPr>
                  <a:t> </a:t>
                </a:r>
              </a:p>
            </p:txBody>
          </p:sp>
          <p:sp>
            <p:nvSpPr>
              <p:cNvPr id="107540" name="Rectangle 28">
                <a:extLst>
                  <a:ext uri="{FF2B5EF4-FFF2-40B4-BE49-F238E27FC236}">
                    <a16:creationId xmlns:a16="http://schemas.microsoft.com/office/drawing/2014/main" id="{3F055C3D-723E-254E-C8D4-991DB9B4B95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9.6</a:t>
                </a:r>
                <a:endParaRPr lang="en-US" altLang="zh-CN" sz="1800">
                  <a:solidFill>
                    <a:srgbClr val="000000"/>
                  </a:solidFill>
                </a:endParaRPr>
              </a:p>
            </p:txBody>
          </p:sp>
        </p:grpSp>
        <p:grpSp>
          <p:nvGrpSpPr>
            <p:cNvPr id="107530" name="Group 29">
              <a:extLst>
                <a:ext uri="{FF2B5EF4-FFF2-40B4-BE49-F238E27FC236}">
                  <a16:creationId xmlns:a16="http://schemas.microsoft.com/office/drawing/2014/main" id="{E82AC34D-7C52-7D62-2619-586A6B2BAFEA}"/>
                </a:ext>
              </a:extLst>
            </p:cNvPr>
            <p:cNvGrpSpPr>
              <a:grpSpLocks/>
            </p:cNvGrpSpPr>
            <p:nvPr/>
          </p:nvGrpSpPr>
          <p:grpSpPr bwMode="auto">
            <a:xfrm>
              <a:off x="611" y="3022"/>
              <a:ext cx="3584" cy="230"/>
              <a:chOff x="385" y="2187"/>
              <a:chExt cx="3584" cy="363"/>
            </a:xfrm>
          </p:grpSpPr>
          <p:sp>
            <p:nvSpPr>
              <p:cNvPr id="107535" name="AutoShape 30">
                <a:extLst>
                  <a:ext uri="{FF2B5EF4-FFF2-40B4-BE49-F238E27FC236}">
                    <a16:creationId xmlns:a16="http://schemas.microsoft.com/office/drawing/2014/main" id="{2FC65099-3128-CB62-B9A9-3F2AF130C15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7536" name="Text Box 31">
                <a:extLst>
                  <a:ext uri="{FF2B5EF4-FFF2-40B4-BE49-F238E27FC236}">
                    <a16:creationId xmlns:a16="http://schemas.microsoft.com/office/drawing/2014/main" id="{0BFA8F79-CFE5-C77A-6D13-473EA2683F65}"/>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107537" name="Rectangle 32">
                <a:extLst>
                  <a:ext uri="{FF2B5EF4-FFF2-40B4-BE49-F238E27FC236}">
                    <a16:creationId xmlns:a16="http://schemas.microsoft.com/office/drawing/2014/main" id="{DB7B5BEF-3BAB-C4AB-CFB9-3E1F7148851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9.7</a:t>
                </a:r>
                <a:endParaRPr lang="en-US" altLang="zh-CN" sz="1800">
                  <a:solidFill>
                    <a:srgbClr val="000000"/>
                  </a:solidFill>
                </a:endParaRPr>
              </a:p>
            </p:txBody>
          </p:sp>
        </p:grpSp>
        <p:grpSp>
          <p:nvGrpSpPr>
            <p:cNvPr id="107531" name="Group 33">
              <a:extLst>
                <a:ext uri="{FF2B5EF4-FFF2-40B4-BE49-F238E27FC236}">
                  <a16:creationId xmlns:a16="http://schemas.microsoft.com/office/drawing/2014/main" id="{1F387AC5-0998-2252-9DBE-B17C5B8FD5ED}"/>
                </a:ext>
              </a:extLst>
            </p:cNvPr>
            <p:cNvGrpSpPr>
              <a:grpSpLocks/>
            </p:cNvGrpSpPr>
            <p:nvPr/>
          </p:nvGrpSpPr>
          <p:grpSpPr bwMode="auto">
            <a:xfrm>
              <a:off x="611" y="3294"/>
              <a:ext cx="3584" cy="230"/>
              <a:chOff x="385" y="2187"/>
              <a:chExt cx="3584" cy="363"/>
            </a:xfrm>
          </p:grpSpPr>
          <p:sp>
            <p:nvSpPr>
              <p:cNvPr id="107532" name="AutoShape 34">
                <a:extLst>
                  <a:ext uri="{FF2B5EF4-FFF2-40B4-BE49-F238E27FC236}">
                    <a16:creationId xmlns:a16="http://schemas.microsoft.com/office/drawing/2014/main" id="{4B2ECABC-493A-1BEC-046B-731BF6AD8B4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07533" name="Text Box 35">
                <a:extLst>
                  <a:ext uri="{FF2B5EF4-FFF2-40B4-BE49-F238E27FC236}">
                    <a16:creationId xmlns:a16="http://schemas.microsoft.com/office/drawing/2014/main" id="{E3C9C05D-3B27-88FB-D060-4EDA8B2C59D9}"/>
                  </a:ext>
                </a:extLst>
              </p:cNvPr>
              <p:cNvSpPr txBox="1">
                <a:spLocks noChangeArrowheads="1"/>
              </p:cNvSpPr>
              <p:nvPr/>
            </p:nvSpPr>
            <p:spPr bwMode="auto">
              <a:xfrm>
                <a:off x="626" y="2187"/>
                <a:ext cx="311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复习思考题</a:t>
                </a:r>
                <a:r>
                  <a:rPr lang="zh-CN" altLang="en-US" sz="2400" b="0">
                    <a:latin typeface="Times New Roman" panose="02020603050405020304" pitchFamily="18" charset="0"/>
                  </a:rPr>
                  <a:t> </a:t>
                </a:r>
              </a:p>
            </p:txBody>
          </p:sp>
          <p:sp>
            <p:nvSpPr>
              <p:cNvPr id="107534" name="Rectangle 36">
                <a:extLst>
                  <a:ext uri="{FF2B5EF4-FFF2-40B4-BE49-F238E27FC236}">
                    <a16:creationId xmlns:a16="http://schemas.microsoft.com/office/drawing/2014/main" id="{3853BF28-31A9-1993-97AB-A3B317523CED}"/>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9.8</a:t>
                </a:r>
                <a:endParaRPr lang="en-US" altLang="zh-CN" sz="1800">
                  <a:solidFill>
                    <a:srgbClr val="000000"/>
                  </a:solidFill>
                </a:endParaRPr>
              </a:p>
            </p:txBody>
          </p:sp>
        </p:gr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81946A93-0047-DEAD-25E5-3A32788A1060}"/>
              </a:ext>
            </a:extLst>
          </p:cNvPr>
          <p:cNvSpPr>
            <a:spLocks noGrp="1" noChangeArrowheads="1"/>
          </p:cNvSpPr>
          <p:nvPr>
            <p:ph type="title"/>
          </p:nvPr>
        </p:nvSpPr>
        <p:spPr/>
        <p:txBody>
          <a:bodyPr/>
          <a:lstStyle/>
          <a:p>
            <a:pPr eaLnBrk="1" hangingPunct="1"/>
            <a:r>
              <a:rPr lang="en-US" altLang="zh-CN"/>
              <a:t>9.8  </a:t>
            </a:r>
            <a:r>
              <a:rPr lang="zh-CN" altLang="en-US"/>
              <a:t>复习思考题</a:t>
            </a:r>
          </a:p>
        </p:txBody>
      </p:sp>
      <p:sp>
        <p:nvSpPr>
          <p:cNvPr id="109571" name="Rectangle 3">
            <a:extLst>
              <a:ext uri="{FF2B5EF4-FFF2-40B4-BE49-F238E27FC236}">
                <a16:creationId xmlns:a16="http://schemas.microsoft.com/office/drawing/2014/main" id="{55590220-6003-9A8F-A03E-A133244763F6}"/>
              </a:ext>
            </a:extLst>
          </p:cNvPr>
          <p:cNvSpPr>
            <a:spLocks noGrp="1" noChangeArrowheads="1"/>
          </p:cNvSpPr>
          <p:nvPr>
            <p:ph type="body" idx="1"/>
          </p:nvPr>
        </p:nvSpPr>
        <p:spPr>
          <a:xfrm>
            <a:off x="539750" y="2060575"/>
            <a:ext cx="8424863" cy="4797425"/>
          </a:xfrm>
        </p:spPr>
        <p:txBody>
          <a:bodyPr/>
          <a:lstStyle/>
          <a:p>
            <a:pPr eaLnBrk="1" hangingPunct="1">
              <a:lnSpc>
                <a:spcPct val="130000"/>
              </a:lnSpc>
              <a:spcBef>
                <a:spcPct val="50000"/>
              </a:spcBef>
              <a:buFont typeface="Wingdings 2" panose="05020102010507070707" pitchFamily="18" charset="2"/>
              <a:buNone/>
            </a:pPr>
            <a:r>
              <a:rPr lang="en-US" altLang="zh-CN" sz="2000"/>
              <a:t>1. </a:t>
            </a:r>
            <a:r>
              <a:rPr lang="zh-CN" altLang="en-US" sz="2000"/>
              <a:t>针对第</a:t>
            </a:r>
            <a:r>
              <a:rPr lang="en-US" altLang="zh-CN" sz="2000"/>
              <a:t>8</a:t>
            </a:r>
            <a:r>
              <a:rPr lang="zh-CN" altLang="en-US" sz="2000"/>
              <a:t>章案例中的项目的实施情况，在用微软的</a:t>
            </a:r>
            <a:r>
              <a:rPr lang="en-US" altLang="zh-CN" sz="2000"/>
              <a:t>Project</a:t>
            </a:r>
            <a:r>
              <a:rPr lang="zh-CN" altLang="en-US" sz="2000"/>
              <a:t>工具编制的开发计划的基础上，对项目进行跟踪，并给出跟踪的结果数据和相应的视图。</a:t>
            </a:r>
          </a:p>
          <a:p>
            <a:pPr eaLnBrk="1" hangingPunct="1">
              <a:lnSpc>
                <a:spcPct val="130000"/>
              </a:lnSpc>
              <a:spcBef>
                <a:spcPct val="50000"/>
              </a:spcBef>
              <a:buFont typeface="Wingdings 2" panose="05020102010507070707" pitchFamily="18" charset="2"/>
              <a:buNone/>
            </a:pPr>
            <a:r>
              <a:rPr lang="en-US" altLang="zh-CN" sz="2000"/>
              <a:t>2. </a:t>
            </a:r>
            <a:r>
              <a:rPr lang="zh-CN" altLang="en-US" sz="2000"/>
              <a:t>针对第</a:t>
            </a:r>
            <a:r>
              <a:rPr lang="en-US" altLang="zh-CN" sz="2000"/>
              <a:t>8</a:t>
            </a:r>
            <a:r>
              <a:rPr lang="zh-CN" altLang="en-US" sz="2000"/>
              <a:t>章案例的项目的实施情况，提交项目的定期评审报告。</a:t>
            </a:r>
          </a:p>
          <a:p>
            <a:pPr eaLnBrk="1" hangingPunct="1">
              <a:lnSpc>
                <a:spcPct val="130000"/>
              </a:lnSpc>
              <a:spcBef>
                <a:spcPct val="50000"/>
              </a:spcBef>
              <a:buFont typeface="Wingdings 2" panose="05020102010507070707" pitchFamily="18" charset="2"/>
              <a:buNone/>
            </a:pPr>
            <a:r>
              <a:rPr lang="en-US" altLang="zh-CN" sz="2000"/>
              <a:t>3. </a:t>
            </a:r>
            <a:r>
              <a:rPr lang="zh-CN" altLang="en-US" sz="2000"/>
              <a:t>针对第</a:t>
            </a:r>
            <a:r>
              <a:rPr lang="en-US" altLang="zh-CN" sz="2000"/>
              <a:t>8</a:t>
            </a:r>
            <a:r>
              <a:rPr lang="zh-CN" altLang="en-US" sz="2000"/>
              <a:t>章案例中的项目的实施情况，提交项目问题跟踪列表的结果。</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66B72F-E65A-D1E8-496C-8EFC7B414A42}"/>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077C6388-2374-B781-4415-5EA5D7B0EEC0}"/>
              </a:ext>
            </a:extLst>
          </p:cNvPr>
          <p:cNvSpPr>
            <a:spLocks noGrp="1"/>
          </p:cNvSpPr>
          <p:nvPr>
            <p:ph idx="1"/>
          </p:nvPr>
        </p:nvSpPr>
        <p:spPr/>
        <p:txBody>
          <a:bodyPr/>
          <a:lstStyle/>
          <a:p>
            <a:r>
              <a:rPr lang="zh-CN" altLang="en-US" sz="1600" dirty="0"/>
              <a:t>假设一个软件项目</a:t>
            </a:r>
            <a:r>
              <a:rPr lang="en-US" altLang="zh-CN" sz="1600" dirty="0"/>
              <a:t>P</a:t>
            </a:r>
            <a:r>
              <a:rPr lang="zh-CN" altLang="en-US" sz="1600" dirty="0"/>
              <a:t>，包含</a:t>
            </a:r>
            <a:r>
              <a:rPr lang="en-US" altLang="zh-CN" sz="1600" dirty="0"/>
              <a:t>5</a:t>
            </a:r>
            <a:r>
              <a:rPr lang="zh-CN" altLang="en-US" sz="1600" dirty="0"/>
              <a:t>部分，项目总预算为</a:t>
            </a:r>
            <a:r>
              <a:rPr lang="en-US" altLang="zh-CN" sz="1600" dirty="0"/>
              <a:t>50000</a:t>
            </a:r>
            <a:r>
              <a:rPr lang="zh-CN" altLang="en-US" sz="1600" dirty="0"/>
              <a:t>元，计划</a:t>
            </a:r>
            <a:r>
              <a:rPr lang="en-US" altLang="zh-CN" sz="1600" dirty="0"/>
              <a:t>20</a:t>
            </a:r>
            <a:r>
              <a:rPr lang="zh-CN" altLang="en-US" sz="1600" dirty="0"/>
              <a:t>天完成，共包括</a:t>
            </a:r>
            <a:r>
              <a:rPr lang="en-US" altLang="zh-CN" sz="1600" dirty="0"/>
              <a:t>5</a:t>
            </a:r>
            <a:r>
              <a:rPr lang="zh-CN" altLang="en-US" sz="1600" dirty="0"/>
              <a:t>个任务，其中</a:t>
            </a:r>
            <a:r>
              <a:rPr lang="en-US" altLang="zh-CN" sz="1600" dirty="0"/>
              <a:t>A</a:t>
            </a:r>
            <a:r>
              <a:rPr lang="zh-CN" altLang="en-US" sz="1600" dirty="0"/>
              <a:t>任务</a:t>
            </a:r>
            <a:r>
              <a:rPr lang="en-US" altLang="zh-CN" sz="1600" dirty="0"/>
              <a:t>10000</a:t>
            </a:r>
            <a:r>
              <a:rPr lang="zh-CN" altLang="en-US" sz="1600" dirty="0"/>
              <a:t>元，</a:t>
            </a:r>
            <a:r>
              <a:rPr lang="en-US" altLang="zh-CN" sz="1600" dirty="0"/>
              <a:t>B</a:t>
            </a:r>
            <a:r>
              <a:rPr lang="zh-CN" altLang="en-US" sz="1600" dirty="0"/>
              <a:t>任务</a:t>
            </a:r>
            <a:r>
              <a:rPr lang="en-US" altLang="zh-CN" sz="1600" dirty="0"/>
              <a:t>8000</a:t>
            </a:r>
            <a:r>
              <a:rPr lang="zh-CN" altLang="en-US" sz="1600" dirty="0"/>
              <a:t>元，</a:t>
            </a:r>
            <a:r>
              <a:rPr lang="en-US" altLang="zh-CN" sz="1600" dirty="0"/>
              <a:t>C</a:t>
            </a:r>
            <a:r>
              <a:rPr lang="zh-CN" altLang="en-US" sz="1600" dirty="0"/>
              <a:t>任务</a:t>
            </a:r>
            <a:r>
              <a:rPr lang="en-US" altLang="zh-CN" sz="1600" dirty="0"/>
              <a:t>14000</a:t>
            </a:r>
            <a:r>
              <a:rPr lang="zh-CN" altLang="en-US" sz="1600" dirty="0"/>
              <a:t>元，</a:t>
            </a:r>
            <a:r>
              <a:rPr lang="en-US" altLang="zh-CN" sz="1600" dirty="0"/>
              <a:t>D</a:t>
            </a:r>
            <a:r>
              <a:rPr lang="zh-CN" altLang="en-US" sz="1600" dirty="0"/>
              <a:t>任务</a:t>
            </a:r>
            <a:r>
              <a:rPr lang="en-US" altLang="zh-CN" sz="1600" dirty="0"/>
              <a:t>7000</a:t>
            </a:r>
            <a:r>
              <a:rPr lang="zh-CN" altLang="en-US" sz="1600" dirty="0"/>
              <a:t>元，</a:t>
            </a:r>
            <a:r>
              <a:rPr lang="en-US" altLang="zh-CN" sz="1600" dirty="0"/>
              <a:t>E</a:t>
            </a:r>
            <a:r>
              <a:rPr lang="zh-CN" altLang="en-US" sz="1600" dirty="0"/>
              <a:t>任务</a:t>
            </a:r>
            <a:r>
              <a:rPr lang="en-US" altLang="zh-CN" sz="1600" dirty="0"/>
              <a:t>11000</a:t>
            </a:r>
            <a:r>
              <a:rPr lang="zh-CN" altLang="en-US" sz="1600" dirty="0"/>
              <a:t>元。截止到今天为止，</a:t>
            </a:r>
            <a:r>
              <a:rPr lang="en-US" altLang="zh-CN" sz="1600" dirty="0"/>
              <a:t>A</a:t>
            </a:r>
            <a:r>
              <a:rPr lang="zh-CN" altLang="en-US" sz="1600" dirty="0"/>
              <a:t>、</a:t>
            </a:r>
            <a:r>
              <a:rPr lang="en-US" altLang="zh-CN" sz="1600" dirty="0"/>
              <a:t>B</a:t>
            </a:r>
            <a:r>
              <a:rPr lang="zh-CN" altLang="en-US" sz="1600" dirty="0"/>
              <a:t>任务全部完成，</a:t>
            </a:r>
            <a:r>
              <a:rPr lang="en-US" altLang="zh-CN" sz="1600" dirty="0"/>
              <a:t>C</a:t>
            </a:r>
            <a:r>
              <a:rPr lang="zh-CN" altLang="en-US" sz="1600" dirty="0"/>
              <a:t>任务完成一半，</a:t>
            </a:r>
            <a:r>
              <a:rPr lang="en-US" altLang="zh-CN" sz="1600" dirty="0"/>
              <a:t>D</a:t>
            </a:r>
            <a:r>
              <a:rPr lang="zh-CN" altLang="en-US" sz="1600" dirty="0"/>
              <a:t>任务刚开始，</a:t>
            </a:r>
            <a:r>
              <a:rPr lang="en-US" altLang="zh-CN" sz="1600" dirty="0"/>
              <a:t>E</a:t>
            </a:r>
            <a:r>
              <a:rPr lang="zh-CN" altLang="en-US" sz="1600" dirty="0"/>
              <a:t>任务尚未开始，成本和计划进度如表所示。请采用</a:t>
            </a:r>
            <a:r>
              <a:rPr lang="en-US" altLang="zh-CN" sz="1600" dirty="0"/>
              <a:t>50/50</a:t>
            </a:r>
            <a:r>
              <a:rPr lang="zh-CN" altLang="en-US" sz="1600" dirty="0"/>
              <a:t>规则进行如下分析：</a:t>
            </a:r>
            <a:endParaRPr lang="en-US" altLang="zh-CN" sz="1600" dirty="0"/>
          </a:p>
          <a:p>
            <a:pPr algn="ctr"/>
            <a:r>
              <a:rPr lang="zh-CN" altLang="zh-CN" sz="1800" kern="100" dirty="0">
                <a:effectLst/>
                <a:latin typeface="Times New Roman" panose="02020603050405020304" pitchFamily="18" charset="0"/>
                <a:ea typeface="宋体" panose="02010600030101010101" pitchFamily="2" charset="-122"/>
              </a:rPr>
              <a:t>软件项目</a:t>
            </a:r>
            <a:r>
              <a:rPr lang="en-US" altLang="zh-CN" sz="1800" kern="100" dirty="0">
                <a:effectLst/>
                <a:latin typeface="Times New Roman" panose="02020603050405020304" pitchFamily="18" charset="0"/>
                <a:ea typeface="宋体" panose="02010600030101010101" pitchFamily="2" charset="-122"/>
              </a:rPr>
              <a:t>P</a:t>
            </a:r>
            <a:r>
              <a:rPr lang="zh-CN" altLang="zh-CN" sz="1800" kern="100" dirty="0">
                <a:effectLst/>
                <a:latin typeface="Times New Roman" panose="02020603050405020304" pitchFamily="18" charset="0"/>
                <a:ea typeface="宋体" panose="02010600030101010101" pitchFamily="2" charset="-122"/>
              </a:rPr>
              <a:t>的计划和实际成本</a:t>
            </a:r>
          </a:p>
          <a:p>
            <a:endParaRPr lang="en-US" altLang="zh-CN" sz="1600" dirty="0"/>
          </a:p>
          <a:p>
            <a:endParaRPr lang="en-US" altLang="zh-CN" sz="1600" dirty="0"/>
          </a:p>
          <a:p>
            <a:endParaRPr lang="en-US" altLang="zh-CN" sz="1600" dirty="0"/>
          </a:p>
          <a:p>
            <a:endParaRPr lang="en-US" altLang="zh-CN" sz="1600" dirty="0"/>
          </a:p>
          <a:p>
            <a:endParaRPr lang="en-US" altLang="zh-CN" sz="1600" dirty="0"/>
          </a:p>
          <a:p>
            <a:endParaRPr lang="en-US" altLang="zh-CN" sz="1600" dirty="0"/>
          </a:p>
          <a:p>
            <a:r>
              <a:rPr lang="zh-CN" altLang="en-US" sz="1600" dirty="0"/>
              <a:t>（</a:t>
            </a:r>
            <a:r>
              <a:rPr lang="en-US" altLang="zh-CN" sz="1600" dirty="0"/>
              <a:t>1</a:t>
            </a:r>
            <a:r>
              <a:rPr lang="zh-CN" altLang="en-US" sz="1600" dirty="0"/>
              <a:t>）请计算到今天为止的</a:t>
            </a:r>
            <a:r>
              <a:rPr lang="en-US" altLang="zh-CN" sz="1600" dirty="0"/>
              <a:t>CV</a:t>
            </a:r>
            <a:r>
              <a:rPr lang="zh-CN" altLang="en-US" sz="1600" dirty="0"/>
              <a:t>和</a:t>
            </a:r>
            <a:r>
              <a:rPr lang="en-US" altLang="zh-CN" sz="1600" dirty="0"/>
              <a:t>SV</a:t>
            </a:r>
            <a:endParaRPr lang="zh-CN" altLang="en-US" sz="1600" dirty="0"/>
          </a:p>
          <a:p>
            <a:r>
              <a:rPr lang="zh-CN" altLang="en-US" sz="1600" dirty="0"/>
              <a:t>（</a:t>
            </a:r>
            <a:r>
              <a:rPr lang="en-US" altLang="zh-CN" sz="1600" dirty="0"/>
              <a:t>2</a:t>
            </a:r>
            <a:r>
              <a:rPr lang="zh-CN" altLang="en-US" sz="1600" dirty="0"/>
              <a:t>）请计算到今天为止的</a:t>
            </a:r>
            <a:r>
              <a:rPr lang="en-US" altLang="zh-CN" sz="1600" dirty="0"/>
              <a:t>CPI</a:t>
            </a:r>
            <a:r>
              <a:rPr lang="zh-CN" altLang="en-US" sz="1600" dirty="0"/>
              <a:t>和</a:t>
            </a:r>
            <a:r>
              <a:rPr lang="en-US" altLang="zh-CN" sz="1600" dirty="0"/>
              <a:t>SPI</a:t>
            </a:r>
            <a:endParaRPr lang="zh-CN" altLang="en-US" sz="1600" dirty="0"/>
          </a:p>
          <a:p>
            <a:r>
              <a:rPr lang="zh-CN" altLang="en-US" sz="1600" dirty="0"/>
              <a:t>（</a:t>
            </a:r>
            <a:r>
              <a:rPr lang="en-US" altLang="zh-CN" sz="1600" dirty="0"/>
              <a:t>3</a:t>
            </a:r>
            <a:r>
              <a:rPr lang="zh-CN" altLang="en-US" sz="1600" dirty="0"/>
              <a:t>）请按照当前分析情况预测项目</a:t>
            </a:r>
            <a:r>
              <a:rPr lang="en-US" altLang="zh-CN" sz="1600" dirty="0"/>
              <a:t>P</a:t>
            </a:r>
            <a:r>
              <a:rPr lang="zh-CN" altLang="en-US" sz="1600" dirty="0"/>
              <a:t>的总成本和总进度</a:t>
            </a:r>
          </a:p>
          <a:p>
            <a:pPr marL="0" indent="0">
              <a:buNone/>
            </a:pPr>
            <a:endParaRPr lang="zh-CN" altLang="en-US" sz="1600" dirty="0"/>
          </a:p>
        </p:txBody>
      </p:sp>
      <p:graphicFrame>
        <p:nvGraphicFramePr>
          <p:cNvPr id="4" name="表格 3">
            <a:extLst>
              <a:ext uri="{FF2B5EF4-FFF2-40B4-BE49-F238E27FC236}">
                <a16:creationId xmlns:a16="http://schemas.microsoft.com/office/drawing/2014/main" id="{079616E2-E352-71DF-48C2-69725455EC13}"/>
              </a:ext>
            </a:extLst>
          </p:cNvPr>
          <p:cNvGraphicFramePr>
            <a:graphicFrameLocks noGrp="1"/>
          </p:cNvGraphicFramePr>
          <p:nvPr>
            <p:extLst>
              <p:ext uri="{D42A27DB-BD31-4B8C-83A1-F6EECF244321}">
                <p14:modId xmlns:p14="http://schemas.microsoft.com/office/powerpoint/2010/main" val="3109761221"/>
              </p:ext>
            </p:extLst>
          </p:nvPr>
        </p:nvGraphicFramePr>
        <p:xfrm>
          <a:off x="2483768" y="3140968"/>
          <a:ext cx="4464494" cy="1656185"/>
        </p:xfrm>
        <a:graphic>
          <a:graphicData uri="http://schemas.openxmlformats.org/drawingml/2006/table">
            <a:tbl>
              <a:tblPr firstRow="1" firstCol="1" bandRow="1">
                <a:tableStyleId>{5C22544A-7EE6-4342-B048-85BDC9FD1C3A}</a:tableStyleId>
              </a:tblPr>
              <a:tblGrid>
                <a:gridCol w="1123776">
                  <a:extLst>
                    <a:ext uri="{9D8B030D-6E8A-4147-A177-3AD203B41FA5}">
                      <a16:colId xmlns:a16="http://schemas.microsoft.com/office/drawing/2014/main" val="3483344184"/>
                    </a:ext>
                  </a:extLst>
                </a:gridCol>
                <a:gridCol w="1339053">
                  <a:extLst>
                    <a:ext uri="{9D8B030D-6E8A-4147-A177-3AD203B41FA5}">
                      <a16:colId xmlns:a16="http://schemas.microsoft.com/office/drawing/2014/main" val="665577310"/>
                    </a:ext>
                  </a:extLst>
                </a:gridCol>
                <a:gridCol w="2001665">
                  <a:extLst>
                    <a:ext uri="{9D8B030D-6E8A-4147-A177-3AD203B41FA5}">
                      <a16:colId xmlns:a16="http://schemas.microsoft.com/office/drawing/2014/main" val="2187643783"/>
                    </a:ext>
                  </a:extLst>
                </a:gridCol>
              </a:tblGrid>
              <a:tr h="473195">
                <a:tc>
                  <a:txBody>
                    <a:bodyPr/>
                    <a:lstStyle/>
                    <a:p>
                      <a:pPr algn="ctr"/>
                      <a:r>
                        <a:rPr lang="zh-CN" sz="1200" kern="100" dirty="0">
                          <a:effectLst/>
                        </a:rPr>
                        <a:t>任务名称</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dirty="0">
                          <a:effectLst/>
                        </a:rPr>
                        <a:t>BCWS</a:t>
                      </a:r>
                      <a:r>
                        <a:rPr lang="zh-CN" sz="1200" kern="100" dirty="0">
                          <a:effectLst/>
                        </a:rPr>
                        <a:t>（计划）</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dirty="0">
                          <a:effectLst/>
                        </a:rPr>
                        <a:t>ACWP</a:t>
                      </a:r>
                      <a:r>
                        <a:rPr lang="zh-CN" sz="1200" kern="100" dirty="0">
                          <a:effectLst/>
                        </a:rPr>
                        <a:t>（实际成本）</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79098216"/>
                  </a:ext>
                </a:extLst>
              </a:tr>
              <a:tr h="236598">
                <a:tc>
                  <a:txBody>
                    <a:bodyPr/>
                    <a:lstStyle/>
                    <a:p>
                      <a:pPr algn="ctr"/>
                      <a:r>
                        <a:rPr lang="zh-CN" sz="1200" kern="100" dirty="0">
                          <a:effectLst/>
                        </a:rPr>
                        <a:t>任务</a:t>
                      </a:r>
                      <a:r>
                        <a:rPr lang="en-US" sz="1200" kern="100" dirty="0">
                          <a:effectLst/>
                        </a:rPr>
                        <a:t>A</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a:effectLst/>
                        </a:rPr>
                        <a:t>10000</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dirty="0">
                          <a:effectLst/>
                        </a:rPr>
                        <a:t>9000</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8958253"/>
                  </a:ext>
                </a:extLst>
              </a:tr>
              <a:tr h="236598">
                <a:tc>
                  <a:txBody>
                    <a:bodyPr/>
                    <a:lstStyle/>
                    <a:p>
                      <a:pPr algn="ctr"/>
                      <a:r>
                        <a:rPr lang="zh-CN" sz="1200" kern="100" dirty="0">
                          <a:effectLst/>
                        </a:rPr>
                        <a:t>任务</a:t>
                      </a:r>
                      <a:r>
                        <a:rPr lang="en-US" sz="1200" kern="100" dirty="0">
                          <a:effectLst/>
                        </a:rPr>
                        <a:t>B</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a:effectLst/>
                        </a:rPr>
                        <a:t>8000</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a:effectLst/>
                        </a:rPr>
                        <a:t>7000</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47357301"/>
                  </a:ext>
                </a:extLst>
              </a:tr>
              <a:tr h="236598">
                <a:tc>
                  <a:txBody>
                    <a:bodyPr/>
                    <a:lstStyle/>
                    <a:p>
                      <a:pPr algn="ctr"/>
                      <a:r>
                        <a:rPr lang="zh-CN" sz="1200" kern="100">
                          <a:effectLst/>
                        </a:rPr>
                        <a:t>任务</a:t>
                      </a:r>
                      <a:r>
                        <a:rPr lang="en-US" sz="1200" kern="100">
                          <a:effectLst/>
                        </a:rPr>
                        <a:t>C</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a:effectLst/>
                        </a:rPr>
                        <a:t>7000</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dirty="0">
                          <a:effectLst/>
                        </a:rPr>
                        <a:t>8000</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13085158"/>
                  </a:ext>
                </a:extLst>
              </a:tr>
              <a:tr h="236598">
                <a:tc>
                  <a:txBody>
                    <a:bodyPr/>
                    <a:lstStyle/>
                    <a:p>
                      <a:pPr algn="ctr"/>
                      <a:r>
                        <a:rPr lang="zh-CN" sz="1200" kern="100" dirty="0">
                          <a:effectLst/>
                        </a:rPr>
                        <a:t>任务</a:t>
                      </a:r>
                      <a:r>
                        <a:rPr lang="en-US" sz="1200" kern="100" dirty="0">
                          <a:effectLst/>
                        </a:rPr>
                        <a:t>D</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dirty="0">
                          <a:effectLst/>
                        </a:rPr>
                        <a:t>4000</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a:effectLst/>
                        </a:rPr>
                        <a:t>3000</a:t>
                      </a:r>
                      <a:endParaRPr lang="zh-CN" sz="12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61503802"/>
                  </a:ext>
                </a:extLst>
              </a:tr>
              <a:tr h="236598">
                <a:tc>
                  <a:txBody>
                    <a:bodyPr/>
                    <a:lstStyle/>
                    <a:p>
                      <a:pPr algn="ctr"/>
                      <a:r>
                        <a:rPr lang="zh-CN" sz="1200" kern="100" dirty="0">
                          <a:effectLst/>
                        </a:rPr>
                        <a:t>任务</a:t>
                      </a:r>
                      <a:r>
                        <a:rPr lang="en-US" sz="1200" kern="100" dirty="0">
                          <a:effectLst/>
                        </a:rPr>
                        <a:t>E</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dirty="0">
                          <a:effectLst/>
                        </a:rPr>
                        <a:t>0</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200" kern="100" dirty="0">
                          <a:effectLst/>
                        </a:rPr>
                        <a:t>0</a:t>
                      </a:r>
                      <a:endParaRPr lang="zh-CN" sz="12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8504356"/>
                  </a:ext>
                </a:extLst>
              </a:tr>
            </a:tbl>
          </a:graphicData>
        </a:graphic>
      </p:graphicFrame>
    </p:spTree>
    <p:extLst>
      <p:ext uri="{BB962C8B-B14F-4D97-AF65-F5344CB8AC3E}">
        <p14:creationId xmlns:p14="http://schemas.microsoft.com/office/powerpoint/2010/main" val="2182869045"/>
      </p:ext>
    </p:extLst>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pitchFamily="34" charset="0"/>
            <a:ea typeface="宋体"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5392</TotalTime>
  <Words>6203</Words>
  <Application>Microsoft Office PowerPoint</Application>
  <PresentationFormat>全屏显示(4:3)</PresentationFormat>
  <Paragraphs>817</Paragraphs>
  <Slides>77</Slides>
  <Notes>53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77</vt:i4>
      </vt:variant>
    </vt:vector>
  </HeadingPairs>
  <TitlesOfParts>
    <vt:vector size="87" baseType="lpstr">
      <vt:lpstr>Monotype Sorts</vt:lpstr>
      <vt:lpstr>黑体</vt:lpstr>
      <vt:lpstr>宋体</vt:lpstr>
      <vt:lpstr>Arial</vt:lpstr>
      <vt:lpstr>Arial Narrow</vt:lpstr>
      <vt:lpstr>Comic Sans MS</vt:lpstr>
      <vt:lpstr>Times New Roman</vt:lpstr>
      <vt:lpstr>Wingdings</vt:lpstr>
      <vt:lpstr>Wingdings 2</vt:lpstr>
      <vt:lpstr>1_默认设计模板</vt:lpstr>
      <vt:lpstr>第 9 章   软件项目跟踪控制 </vt:lpstr>
      <vt:lpstr>本章内容提要</vt:lpstr>
      <vt:lpstr>9.1  软件项目跟踪控制概述 </vt:lpstr>
      <vt:lpstr>9.1  软件项目跟踪控制概述 </vt:lpstr>
      <vt:lpstr>软件项目跟踪控制概述</vt:lpstr>
      <vt:lpstr>软件项目跟踪控制概述</vt:lpstr>
      <vt:lpstr>本章内容提要</vt:lpstr>
      <vt:lpstr>9.2  软件项目跟踪控制的标准 </vt:lpstr>
      <vt:lpstr>软件项目跟踪控制的标准</vt:lpstr>
      <vt:lpstr>软件项目跟踪控制的标准</vt:lpstr>
      <vt:lpstr>软件项目跟踪控制的标准</vt:lpstr>
      <vt:lpstr>软件项目跟踪控制的标准</vt:lpstr>
      <vt:lpstr>本章内容提要</vt:lpstr>
      <vt:lpstr>9.3  软件项目监控和报告体系 </vt:lpstr>
      <vt:lpstr>软件项目监控和报告体系</vt:lpstr>
      <vt:lpstr>软件项目监控和报告体系</vt:lpstr>
      <vt:lpstr>本章内容提要</vt:lpstr>
      <vt:lpstr>9.4  软件项目跟踪控制过程</vt:lpstr>
      <vt:lpstr>9.4  软件项目跟踪控制过程</vt:lpstr>
      <vt:lpstr>9.4  软件项目跟踪控制过程</vt:lpstr>
      <vt:lpstr>9.4  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软件项目跟踪控制过程</vt:lpstr>
      <vt:lpstr>本章内容提要</vt:lpstr>
      <vt:lpstr>9.5  软件项目评审 </vt:lpstr>
      <vt:lpstr>9.5  软件项目评审 </vt:lpstr>
      <vt:lpstr>9.5  软件项目评审 </vt:lpstr>
      <vt:lpstr>软件项目评审</vt:lpstr>
      <vt:lpstr>软件项目评审</vt:lpstr>
      <vt:lpstr>软件项目评审</vt:lpstr>
      <vt:lpstr>软件项目评审</vt:lpstr>
      <vt:lpstr>软件项目评审</vt:lpstr>
      <vt:lpstr>软件项目评审</vt:lpstr>
      <vt:lpstr>软件项目评审</vt:lpstr>
      <vt:lpstr>软件项目评审</vt:lpstr>
      <vt:lpstr>软件项目评审</vt:lpstr>
      <vt:lpstr>本章内容提要</vt:lpstr>
      <vt:lpstr>9.6  软件项目计划修改 </vt:lpstr>
      <vt:lpstr>9.6  软件项目计划修改 </vt:lpstr>
      <vt:lpstr>9.6  软件项目计划修改 </vt:lpstr>
      <vt:lpstr>本章内容提要</vt:lpstr>
      <vt:lpstr>9.7  本章小结 </vt:lpstr>
      <vt:lpstr>本章内容提要</vt:lpstr>
      <vt:lpstr>9.8  复习思考题</vt:lpstr>
      <vt:lpstr>习题</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软件项目跟踪控制</dc:title>
  <dc:creator>陆永忠</dc:creator>
  <cp:lastModifiedBy>Mingjian Jiang</cp:lastModifiedBy>
  <cp:revision>536</cp:revision>
  <dcterms:created xsi:type="dcterms:W3CDTF">2005-05-27T08:51:01Z</dcterms:created>
  <dcterms:modified xsi:type="dcterms:W3CDTF">2024-10-14T08:03:11Z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