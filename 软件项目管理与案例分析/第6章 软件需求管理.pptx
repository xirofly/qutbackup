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49"/>
  </p:notesMasterIdLst>
  <p:sldIdLst>
    <p:sldId id="256" r:id="rId2"/>
    <p:sldId id="323" r:id="rId3"/>
    <p:sldId id="270" r:id="rId4"/>
    <p:sldId id="261" r:id="rId5"/>
    <p:sldId id="269" r:id="rId6"/>
    <p:sldId id="275" r:id="rId7"/>
    <p:sldId id="273" r:id="rId8"/>
    <p:sldId id="324" r:id="rId9"/>
    <p:sldId id="276" r:id="rId10"/>
    <p:sldId id="279" r:id="rId11"/>
    <p:sldId id="278" r:id="rId12"/>
    <p:sldId id="277" r:id="rId13"/>
    <p:sldId id="281" r:id="rId14"/>
    <p:sldId id="280" r:id="rId15"/>
    <p:sldId id="284" r:id="rId16"/>
    <p:sldId id="283" r:id="rId17"/>
    <p:sldId id="282" r:id="rId18"/>
    <p:sldId id="331" r:id="rId19"/>
    <p:sldId id="325" r:id="rId20"/>
    <p:sldId id="286" r:id="rId21"/>
    <p:sldId id="287" r:id="rId22"/>
    <p:sldId id="290" r:id="rId23"/>
    <p:sldId id="289" r:id="rId24"/>
    <p:sldId id="326" r:id="rId25"/>
    <p:sldId id="292" r:id="rId26"/>
    <p:sldId id="293" r:id="rId27"/>
    <p:sldId id="332" r:id="rId28"/>
    <p:sldId id="333" r:id="rId29"/>
    <p:sldId id="294" r:id="rId30"/>
    <p:sldId id="334" r:id="rId31"/>
    <p:sldId id="327" r:id="rId32"/>
    <p:sldId id="296" r:id="rId33"/>
    <p:sldId id="328" r:id="rId34"/>
    <p:sldId id="299" r:id="rId35"/>
    <p:sldId id="300" r:id="rId36"/>
    <p:sldId id="301" r:id="rId37"/>
    <p:sldId id="302" r:id="rId38"/>
    <p:sldId id="304" r:id="rId39"/>
    <p:sldId id="303" r:id="rId40"/>
    <p:sldId id="305" r:id="rId41"/>
    <p:sldId id="307" r:id="rId42"/>
    <p:sldId id="309" r:id="rId43"/>
    <p:sldId id="310" r:id="rId44"/>
    <p:sldId id="330" r:id="rId45"/>
    <p:sldId id="312" r:id="rId46"/>
    <p:sldId id="329" r:id="rId47"/>
    <p:sldId id="314" r:id="rId48"/>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0000"/>
    <a:srgbClr val="4D48B8"/>
    <a:srgbClr val="6754AC"/>
    <a:srgbClr val="5D47B9"/>
    <a:srgbClr val="443EC2"/>
    <a:srgbClr val="99FFCC"/>
    <a:srgbClr val="FFFF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31" autoAdjust="0"/>
    <p:restoredTop sz="94660" autoAdjust="0"/>
  </p:normalViewPr>
  <p:slideViewPr>
    <p:cSldViewPr>
      <p:cViewPr varScale="1">
        <p:scale>
          <a:sx n="121" d="100"/>
          <a:sy n="121" d="100"/>
        </p:scale>
        <p:origin x="1685"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8E4521B-E30B-4379-89DF-DF2A10A02CD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35843" name="Rectangle 3">
            <a:extLst>
              <a:ext uri="{FF2B5EF4-FFF2-40B4-BE49-F238E27FC236}">
                <a16:creationId xmlns:a16="http://schemas.microsoft.com/office/drawing/2014/main" id="{DE497DD9-828F-4BD4-BE03-175EFC32BB78}"/>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a:extLst>
              <a:ext uri="{FF2B5EF4-FFF2-40B4-BE49-F238E27FC236}">
                <a16:creationId xmlns:a16="http://schemas.microsoft.com/office/drawing/2014/main" id="{14C66592-1F32-4554-9E08-96141CED543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5" name="Rectangle 5">
            <a:extLst>
              <a:ext uri="{FF2B5EF4-FFF2-40B4-BE49-F238E27FC236}">
                <a16:creationId xmlns:a16="http://schemas.microsoft.com/office/drawing/2014/main" id="{50F1E14D-DAAA-4AED-AA58-E32AC783864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C5C597B5-F403-4139-A7C0-F2267E9C9AB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35847" name="Rectangle 7">
            <a:extLst>
              <a:ext uri="{FF2B5EF4-FFF2-40B4-BE49-F238E27FC236}">
                <a16:creationId xmlns:a16="http://schemas.microsoft.com/office/drawing/2014/main" id="{FA09B60D-158D-4071-A345-CE54A18FB204}"/>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24FA560-BE16-4912-BFB2-37B14493E0F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FB4985E9-88D2-4938-8618-AE587CB02D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3">
            <a:extLst>
              <a:ext uri="{FF2B5EF4-FFF2-40B4-BE49-F238E27FC236}">
                <a16:creationId xmlns:a16="http://schemas.microsoft.com/office/drawing/2014/main" id="{5992328D-43EC-4058-92E9-B603C2298894}"/>
              </a:ext>
            </a:extLst>
          </p:cNvPr>
          <p:cNvSpPr txBox="1">
            <a:spLocks noChangeArrowheads="1"/>
          </p:cNvSpPr>
          <p:nvPr/>
        </p:nvSpPr>
        <p:spPr bwMode="auto">
          <a:xfrm>
            <a:off x="8412163" y="6624638"/>
            <a:ext cx="500062" cy="274637"/>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defRPr/>
            </a:pPr>
            <a:fld id="{4FA10CBE-3623-43F2-A751-080425D23F2F}" type="slidenum">
              <a:rPr kumimoji="0" lang="en-US" altLang="zh-CN" sz="1200" b="1" smtClean="0">
                <a:solidFill>
                  <a:schemeClr val="tx2"/>
                </a:solidFill>
                <a:latin typeface="Comic Sans MS" panose="030F0702030302020204" pitchFamily="66" charset="0"/>
                <a:cs typeface="Times New Roman" panose="02020603050405020304" pitchFamily="18" charset="0"/>
              </a:rPr>
              <a:pPr algn="r" eaLnBrk="1" hangingPunct="1">
                <a:defRPr/>
              </a:pPr>
              <a:t>‹#›</a:t>
            </a:fld>
            <a:endParaRPr kumimoji="0" lang="en-US" altLang="zh-CN" sz="1200" b="1">
              <a:solidFill>
                <a:schemeClr val="tx2"/>
              </a:solidFill>
              <a:latin typeface="Comic Sans MS" panose="030F0702030302020204" pitchFamily="66" charset="0"/>
              <a:cs typeface="Times New Roman" panose="02020603050405020304" pitchFamily="18" charset="0"/>
            </a:endParaRPr>
          </a:p>
        </p:txBody>
      </p:sp>
      <p:sp>
        <p:nvSpPr>
          <p:cNvPr id="6" name="Rectangle 6">
            <a:extLst>
              <a:ext uri="{FF2B5EF4-FFF2-40B4-BE49-F238E27FC236}">
                <a16:creationId xmlns:a16="http://schemas.microsoft.com/office/drawing/2014/main" id="{844AD23A-BA21-4F64-B04F-268E25CA4EE9}"/>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7" name="Text Box 7">
            <a:extLst>
              <a:ext uri="{FF2B5EF4-FFF2-40B4-BE49-F238E27FC236}">
                <a16:creationId xmlns:a16="http://schemas.microsoft.com/office/drawing/2014/main" id="{5A6DFEA3-4EC8-43F8-BA73-F60A31839129}"/>
              </a:ext>
            </a:extLst>
          </p:cNvPr>
          <p:cNvSpPr txBox="1">
            <a:spLocks noChangeArrowheads="1"/>
          </p:cNvSpPr>
          <p:nvPr/>
        </p:nvSpPr>
        <p:spPr bwMode="auto">
          <a:xfrm>
            <a:off x="3563938" y="111125"/>
            <a:ext cx="5688012" cy="336550"/>
          </a:xfrm>
          <a:prstGeom prst="rect">
            <a:avLst/>
          </a:prstGeom>
          <a:noFill/>
          <a:ln>
            <a:noFill/>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defRPr/>
            </a:pPr>
            <a:r>
              <a:rPr lang="en-US" altLang="zh-CN" sz="1600" b="1">
                <a:solidFill>
                  <a:schemeClr val="bg1"/>
                </a:solidFill>
                <a:latin typeface="Arial" panose="020B0604020202020204" pitchFamily="34" charset="0"/>
              </a:rPr>
              <a:t>THE SCHOOL OF SOFTWARE ENGINEERING OF HUST</a:t>
            </a:r>
          </a:p>
        </p:txBody>
      </p:sp>
      <p:pic>
        <p:nvPicPr>
          <p:cNvPr id="8" name="Picture 2" descr="43">
            <a:extLst>
              <a:ext uri="{FF2B5EF4-FFF2-40B4-BE49-F238E27FC236}">
                <a16:creationId xmlns:a16="http://schemas.microsoft.com/office/drawing/2014/main" id="{16A13A78-B98D-418A-A828-702AB628DE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702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a:ln algn="ctr"/>
        </p:spPr>
        <p:txBody>
          <a:bodyPr/>
          <a:lstStyle>
            <a:lvl1pPr marL="0" indent="0" algn="r">
              <a:defRPr sz="3600">
                <a:solidFill>
                  <a:srgbClr val="FFFF00"/>
                </a:solidFill>
              </a:defRPr>
            </a:lvl1pPr>
          </a:lstStyle>
          <a:p>
            <a:r>
              <a:rPr lang="zh-CN" altLang="en-US"/>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itchFamily="18" charset="2"/>
              <a:buNone/>
              <a:defRPr>
                <a:solidFill>
                  <a:schemeClr val="bg1"/>
                </a:solidFill>
              </a:defRPr>
            </a:lvl1pPr>
          </a:lstStyle>
          <a:p>
            <a:r>
              <a:rPr lang="zh-CN" altLang="en-US"/>
              <a:t>单击此处编辑母版副标题样式</a:t>
            </a:r>
          </a:p>
        </p:txBody>
      </p:sp>
    </p:spTree>
    <p:extLst>
      <p:ext uri="{BB962C8B-B14F-4D97-AF65-F5344CB8AC3E}">
        <p14:creationId xmlns:p14="http://schemas.microsoft.com/office/powerpoint/2010/main" val="3098507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19726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8201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773238"/>
            <a:ext cx="4316412"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17322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44873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577867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0012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02915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58669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43797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1052513"/>
            <a:ext cx="2195513"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052513"/>
            <a:ext cx="6437312"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50642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3808A8B-E406-40A7-BD6F-A4CD1C4F9FF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AB72A4E4-3C06-49BD-B564-A6E84C44A33D}"/>
              </a:ext>
            </a:extLst>
          </p:cNvPr>
          <p:cNvSpPr txBox="1">
            <a:spLocks noChangeArrowheads="1"/>
          </p:cNvSpPr>
          <p:nvPr/>
        </p:nvSpPr>
        <p:spPr bwMode="auto">
          <a:xfrm>
            <a:off x="8412163" y="6624638"/>
            <a:ext cx="500062" cy="274637"/>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defRPr/>
            </a:pPr>
            <a:fld id="{8FFD8953-4F95-48EB-86C6-ADD8776E0864}" type="slidenum">
              <a:rPr kumimoji="0" lang="en-US" altLang="zh-CN" sz="1200" b="1" smtClean="0">
                <a:solidFill>
                  <a:schemeClr val="tx2"/>
                </a:solidFill>
                <a:latin typeface="Comic Sans MS" panose="030F0702030302020204" pitchFamily="66" charset="0"/>
                <a:cs typeface="Times New Roman" panose="02020603050405020304" pitchFamily="18" charset="0"/>
              </a:rPr>
              <a:pPr algn="r" eaLnBrk="1" hangingPunct="1">
                <a:defRPr/>
              </a:pPr>
              <a:t>‹#›</a:t>
            </a:fld>
            <a:endParaRPr kumimoji="0" lang="en-US" altLang="zh-CN" sz="1200" b="1">
              <a:solidFill>
                <a:schemeClr val="tx2"/>
              </a:solidFill>
              <a:latin typeface="Comic Sans MS" panose="030F0702030302020204" pitchFamily="66" charset="0"/>
              <a:cs typeface="Times New Roman" panose="02020603050405020304" pitchFamily="18" charset="0"/>
            </a:endParaRPr>
          </a:p>
        </p:txBody>
      </p:sp>
      <p:sp>
        <p:nvSpPr>
          <p:cNvPr id="79876" name="Rectangle 4">
            <a:extLst>
              <a:ext uri="{FF2B5EF4-FFF2-40B4-BE49-F238E27FC236}">
                <a16:creationId xmlns:a16="http://schemas.microsoft.com/office/drawing/2014/main" id="{3053EFA0-FCC0-4607-96A0-48596EADAFC6}"/>
              </a:ext>
            </a:extLst>
          </p:cNvPr>
          <p:cNvSpPr>
            <a:spLocks noGrp="1" noChangeArrowheads="1"/>
          </p:cNvSpPr>
          <p:nvPr>
            <p:ph type="title"/>
          </p:nvPr>
        </p:nvSpPr>
        <p:spPr bwMode="auto">
          <a:xfrm>
            <a:off x="179388" y="1052513"/>
            <a:ext cx="8785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9877" name="Rectangle 5">
            <a:extLst>
              <a:ext uri="{FF2B5EF4-FFF2-40B4-BE49-F238E27FC236}">
                <a16:creationId xmlns:a16="http://schemas.microsoft.com/office/drawing/2014/main" id="{D276A8E9-E0AB-4382-8427-0A856A65B93A}"/>
              </a:ext>
            </a:extLst>
          </p:cNvPr>
          <p:cNvSpPr>
            <a:spLocks noGrp="1" noChangeArrowheads="1"/>
          </p:cNvSpPr>
          <p:nvPr>
            <p:ph type="body" idx="1"/>
          </p:nvPr>
        </p:nvSpPr>
        <p:spPr bwMode="auto">
          <a:xfrm>
            <a:off x="179388" y="1773238"/>
            <a:ext cx="8785225"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8CE94315-E803-4C7B-A1F5-2D222110C4AF}"/>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2" name="矩形 1">
            <a:extLst>
              <a:ext uri="{FF2B5EF4-FFF2-40B4-BE49-F238E27FC236}">
                <a16:creationId xmlns:a16="http://schemas.microsoft.com/office/drawing/2014/main" id="{59C554F2-B5AD-4C9C-BB23-C54CE7DE5C3C}"/>
              </a:ext>
            </a:extLst>
          </p:cNvPr>
          <p:cNvSpPr/>
          <p:nvPr userDrawn="1"/>
        </p:nvSpPr>
        <p:spPr bwMode="auto">
          <a:xfrm>
            <a:off x="0" y="6092825"/>
            <a:ext cx="1042988" cy="936625"/>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a:lstStyle/>
          <a:p>
            <a:pPr eaLnBrk="1" hangingPunct="1">
              <a:defRPr/>
            </a:pPr>
            <a:endParaRPr lang="zh-CN" altLang="en-US">
              <a:solidFill>
                <a:schemeClr val="tx1"/>
              </a:solidFill>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812"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79876"/>
                                        </p:tgtEl>
                                        <p:attrNameLst>
                                          <p:attrName>style.visibility</p:attrName>
                                        </p:attrNameLst>
                                      </p:cBhvr>
                                      <p:to>
                                        <p:strVal val="visible"/>
                                      </p:to>
                                    </p:set>
                                    <p:animEffect transition="in" filter="slide(fromBottom)">
                                      <p:cBhvr>
                                        <p:cTn id="11" dur="500"/>
                                        <p:tgtEl>
                                          <p:spTgt spid="79876"/>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79877">
                                            <p:txEl>
                                              <p:pRg st="0" end="0"/>
                                            </p:txEl>
                                          </p:spTgt>
                                        </p:tgtEl>
                                        <p:attrNameLst>
                                          <p:attrName>style.visibility</p:attrName>
                                        </p:attrNameLst>
                                      </p:cBhvr>
                                      <p:to>
                                        <p:strVal val="visible"/>
                                      </p:to>
                                    </p:set>
                                    <p:animEffect transition="in" filter="slide(fromTop)">
                                      <p:cBhvr>
                                        <p:cTn id="15" dur="500"/>
                                        <p:tgtEl>
                                          <p:spTgt spid="79877">
                                            <p:txEl>
                                              <p:pRg st="0" end="0"/>
                                            </p:txEl>
                                          </p:spTgt>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79877">
                                            <p:txEl>
                                              <p:pRg st="1" end="1"/>
                                            </p:txEl>
                                          </p:spTgt>
                                        </p:tgtEl>
                                        <p:attrNameLst>
                                          <p:attrName>style.visibility</p:attrName>
                                        </p:attrNameLst>
                                      </p:cBhvr>
                                      <p:to>
                                        <p:strVal val="visible"/>
                                      </p:to>
                                    </p:set>
                                    <p:animEffect transition="in" filter="slide(fromTop)">
                                      <p:cBhvr>
                                        <p:cTn id="18" dur="500"/>
                                        <p:tgtEl>
                                          <p:spTgt spid="79877">
                                            <p:txEl>
                                              <p:pRg st="1" end="1"/>
                                            </p:txEl>
                                          </p:spTgt>
                                        </p:tgtEl>
                                      </p:cBhvr>
                                    </p:animEffect>
                                  </p:childTnLst>
                                </p:cTn>
                              </p:par>
                              <p:par>
                                <p:cTn id="19" presetID="12" presetClass="entr" presetSubtype="1" fill="hold" grpId="0" nodeType="withEffect">
                                  <p:stCondLst>
                                    <p:cond delay="0"/>
                                  </p:stCondLst>
                                  <p:childTnLst>
                                    <p:set>
                                      <p:cBhvr>
                                        <p:cTn id="20" dur="1" fill="hold">
                                          <p:stCondLst>
                                            <p:cond delay="0"/>
                                          </p:stCondLst>
                                        </p:cTn>
                                        <p:tgtEl>
                                          <p:spTgt spid="79877">
                                            <p:txEl>
                                              <p:pRg st="2" end="2"/>
                                            </p:txEl>
                                          </p:spTgt>
                                        </p:tgtEl>
                                        <p:attrNameLst>
                                          <p:attrName>style.visibility</p:attrName>
                                        </p:attrNameLst>
                                      </p:cBhvr>
                                      <p:to>
                                        <p:strVal val="visible"/>
                                      </p:to>
                                    </p:set>
                                    <p:animEffect transition="in" filter="slide(fromTop)">
                                      <p:cBhvr>
                                        <p:cTn id="21" dur="500"/>
                                        <p:tgtEl>
                                          <p:spTgt spid="79877">
                                            <p:txEl>
                                              <p:pRg st="2" end="2"/>
                                            </p:txEl>
                                          </p:spTgt>
                                        </p:tgtEl>
                                      </p:cBhvr>
                                    </p:animEffect>
                                  </p:childTnLst>
                                </p:cTn>
                              </p:par>
                              <p:par>
                                <p:cTn id="22" presetID="12" presetClass="entr" presetSubtype="1" fill="hold" grpId="0" nodeType="withEffect">
                                  <p:stCondLst>
                                    <p:cond delay="0"/>
                                  </p:stCondLst>
                                  <p:childTnLst>
                                    <p:set>
                                      <p:cBhvr>
                                        <p:cTn id="23" dur="1" fill="hold">
                                          <p:stCondLst>
                                            <p:cond delay="0"/>
                                          </p:stCondLst>
                                        </p:cTn>
                                        <p:tgtEl>
                                          <p:spTgt spid="79877">
                                            <p:txEl>
                                              <p:pRg st="3" end="3"/>
                                            </p:txEl>
                                          </p:spTgt>
                                        </p:tgtEl>
                                        <p:attrNameLst>
                                          <p:attrName>style.visibility</p:attrName>
                                        </p:attrNameLst>
                                      </p:cBhvr>
                                      <p:to>
                                        <p:strVal val="visible"/>
                                      </p:to>
                                    </p:set>
                                    <p:animEffect transition="in" filter="slide(fromTop)">
                                      <p:cBhvr>
                                        <p:cTn id="24" dur="500"/>
                                        <p:tgtEl>
                                          <p:spTgt spid="79877">
                                            <p:txEl>
                                              <p:pRg st="3" end="3"/>
                                            </p:txEl>
                                          </p:spTgt>
                                        </p:tgtEl>
                                      </p:cBhvr>
                                    </p:animEffect>
                                  </p:childTnLst>
                                </p:cTn>
                              </p:par>
                              <p:par>
                                <p:cTn id="25" presetID="12" presetClass="entr" presetSubtype="1" fill="hold" grpId="0" nodeType="withEffect">
                                  <p:stCondLst>
                                    <p:cond delay="0"/>
                                  </p:stCondLst>
                                  <p:childTnLst>
                                    <p:set>
                                      <p:cBhvr>
                                        <p:cTn id="26" dur="1" fill="hold">
                                          <p:stCondLst>
                                            <p:cond delay="0"/>
                                          </p:stCondLst>
                                        </p:cTn>
                                        <p:tgtEl>
                                          <p:spTgt spid="79877">
                                            <p:txEl>
                                              <p:pRg st="4" end="4"/>
                                            </p:txEl>
                                          </p:spTgt>
                                        </p:tgtEl>
                                        <p:attrNameLst>
                                          <p:attrName>style.visibility</p:attrName>
                                        </p:attrNameLst>
                                      </p:cBhvr>
                                      <p:to>
                                        <p:strVal val="visible"/>
                                      </p:to>
                                    </p:set>
                                    <p:animEffect transition="in" filter="slide(fromTop)">
                                      <p:cBhvr>
                                        <p:cTn id="27" dur="500"/>
                                        <p:tgtEl>
                                          <p:spTgt spid="798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build="p" autoUpdateAnimBg="0" advAuto="0">
        <p:tmplLst>
          <p:tmpl lvl="1">
            <p:tnLst>
              <p:par>
                <p:cTn presetID="12" presetClass="entr" presetSubtype="1" fill="hold" nodeType="after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2">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3">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4">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5">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Lst>
      </p:bldP>
      <p:bldP spid="79878" grpId="0" animBg="1"/>
    </p:bldLst>
  </p:timing>
  <p:txStyles>
    <p:titleStyle>
      <a:lvl1pPr marL="342900" indent="-342900" algn="l" rtl="0" eaLnBrk="0" fontAlgn="base" hangingPunct="0">
        <a:spcBef>
          <a:spcPct val="20000"/>
        </a:spcBef>
        <a:spcAft>
          <a:spcPct val="0"/>
        </a:spcAft>
        <a:defRPr sz="2800" b="1">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2pPr>
      <a:lvl3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3pPr>
      <a:lvl4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4pPr>
      <a:lvl5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5pPr>
      <a:lvl6pPr marL="800100" indent="-342900" algn="l" rtl="0" fontAlgn="base">
        <a:spcBef>
          <a:spcPct val="20000"/>
        </a:spcBef>
        <a:spcAft>
          <a:spcPct val="0"/>
        </a:spcAft>
        <a:defRPr sz="2800" b="1">
          <a:solidFill>
            <a:schemeClr val="accent2"/>
          </a:solidFill>
          <a:latin typeface="Arial" charset="0"/>
          <a:ea typeface="宋体" pitchFamily="2" charset="-122"/>
        </a:defRPr>
      </a:lvl6pPr>
      <a:lvl7pPr marL="1257300" indent="-342900" algn="l" rtl="0" fontAlgn="base">
        <a:spcBef>
          <a:spcPct val="20000"/>
        </a:spcBef>
        <a:spcAft>
          <a:spcPct val="0"/>
        </a:spcAft>
        <a:defRPr sz="2800" b="1">
          <a:solidFill>
            <a:schemeClr val="accent2"/>
          </a:solidFill>
          <a:latin typeface="Arial" charset="0"/>
          <a:ea typeface="宋体" pitchFamily="2" charset="-122"/>
        </a:defRPr>
      </a:lvl7pPr>
      <a:lvl8pPr marL="1714500" indent="-342900" algn="l" rtl="0" fontAlgn="base">
        <a:spcBef>
          <a:spcPct val="20000"/>
        </a:spcBef>
        <a:spcAft>
          <a:spcPct val="0"/>
        </a:spcAft>
        <a:defRPr sz="2800" b="1">
          <a:solidFill>
            <a:schemeClr val="accent2"/>
          </a:solidFill>
          <a:latin typeface="Arial" charset="0"/>
          <a:ea typeface="宋体" pitchFamily="2" charset="-122"/>
        </a:defRPr>
      </a:lvl8pPr>
      <a:lvl9pPr marL="2171700" indent="-342900" algn="l" rtl="0" fontAlgn="base">
        <a:spcBef>
          <a:spcPct val="20000"/>
        </a:spcBef>
        <a:spcAft>
          <a:spcPct val="0"/>
        </a:spcAft>
        <a:defRPr sz="2800" b="1">
          <a:solidFill>
            <a:schemeClr val="accent2"/>
          </a:solidFill>
          <a:latin typeface="Arial" charset="0"/>
          <a:ea typeface="宋体"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a:extLst>
              <a:ext uri="{FF2B5EF4-FFF2-40B4-BE49-F238E27FC236}">
                <a16:creationId xmlns:a16="http://schemas.microsoft.com/office/drawing/2014/main" id="{E2DC4C8D-0688-4CC1-9A5B-E0796D184D88}"/>
              </a:ext>
            </a:extLst>
          </p:cNvPr>
          <p:cNvSpPr>
            <a:spLocks noGrp="1" noChangeArrowheads="1"/>
          </p:cNvSpPr>
          <p:nvPr>
            <p:ph type="ctrTitle"/>
          </p:nvPr>
        </p:nvSpPr>
        <p:spPr>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algn="ctr" eaLnBrk="1" hangingPunct="1"/>
            <a:r>
              <a:rPr lang="zh-CN" altLang="en-US"/>
              <a:t>第 </a:t>
            </a:r>
            <a:r>
              <a:rPr lang="en-US" altLang="zh-CN"/>
              <a:t>6 </a:t>
            </a:r>
            <a:r>
              <a:rPr lang="zh-CN" altLang="en-US"/>
              <a:t>章   软件项目需求管理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792B21E-287E-49DC-B07E-C39BE9C690EC}"/>
              </a:ext>
            </a:extLst>
          </p:cNvPr>
          <p:cNvSpPr>
            <a:spLocks noGrp="1" noChangeArrowheads="1"/>
          </p:cNvSpPr>
          <p:nvPr>
            <p:ph type="title"/>
          </p:nvPr>
        </p:nvSpPr>
        <p:spPr>
          <a:xfrm>
            <a:off x="179388" y="1052513"/>
            <a:ext cx="8788400" cy="717550"/>
          </a:xfrm>
          <a:noFill/>
        </p:spPr>
        <p:txBody>
          <a:bodyPr/>
          <a:lstStyle/>
          <a:p>
            <a:pPr eaLnBrk="1" hangingPunct="1"/>
            <a:r>
              <a:rPr lang="zh-CN" altLang="en-US"/>
              <a:t>本章内容提要</a:t>
            </a:r>
            <a:endParaRPr lang="en-US" altLang="zh-CN"/>
          </a:p>
        </p:txBody>
      </p:sp>
      <p:grpSp>
        <p:nvGrpSpPr>
          <p:cNvPr id="5123" name="Group 30">
            <a:extLst>
              <a:ext uri="{FF2B5EF4-FFF2-40B4-BE49-F238E27FC236}">
                <a16:creationId xmlns:a16="http://schemas.microsoft.com/office/drawing/2014/main" id="{F567AFFE-5750-4180-8DFD-B7AD24DF5D74}"/>
              </a:ext>
            </a:extLst>
          </p:cNvPr>
          <p:cNvGrpSpPr>
            <a:grpSpLocks/>
          </p:cNvGrpSpPr>
          <p:nvPr/>
        </p:nvGrpSpPr>
        <p:grpSpPr bwMode="auto">
          <a:xfrm>
            <a:off x="1057275" y="2222500"/>
            <a:ext cx="5675313" cy="3943350"/>
            <a:chOff x="385" y="1161"/>
            <a:chExt cx="3575" cy="2484"/>
          </a:xfrm>
        </p:grpSpPr>
        <p:sp>
          <p:nvSpPr>
            <p:cNvPr id="5124" name="AutoShape 4">
              <a:extLst>
                <a:ext uri="{FF2B5EF4-FFF2-40B4-BE49-F238E27FC236}">
                  <a16:creationId xmlns:a16="http://schemas.microsoft.com/office/drawing/2014/main" id="{1BF4E16A-1A32-4706-80DA-F2C47FFEA10A}"/>
                </a:ext>
              </a:extLst>
            </p:cNvPr>
            <p:cNvSpPr>
              <a:spLocks noChangeArrowheads="1"/>
            </p:cNvSpPr>
            <p:nvPr/>
          </p:nvSpPr>
          <p:spPr bwMode="auto">
            <a:xfrm>
              <a:off x="464" y="1161"/>
              <a:ext cx="3493" cy="279"/>
            </a:xfrm>
            <a:prstGeom prst="homePlate">
              <a:avLst>
                <a:gd name="adj" fmla="val 32516"/>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25" name="AutoShape 8">
              <a:extLst>
                <a:ext uri="{FF2B5EF4-FFF2-40B4-BE49-F238E27FC236}">
                  <a16:creationId xmlns:a16="http://schemas.microsoft.com/office/drawing/2014/main" id="{868E847C-BC6E-40CA-B6F4-49ED27737354}"/>
                </a:ext>
              </a:extLst>
            </p:cNvPr>
            <p:cNvSpPr>
              <a:spLocks noChangeArrowheads="1"/>
            </p:cNvSpPr>
            <p:nvPr/>
          </p:nvSpPr>
          <p:spPr bwMode="auto">
            <a:xfrm>
              <a:off x="467" y="306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pSp>
          <p:nvGrpSpPr>
            <p:cNvPr id="5126" name="Group 28">
              <a:extLst>
                <a:ext uri="{FF2B5EF4-FFF2-40B4-BE49-F238E27FC236}">
                  <a16:creationId xmlns:a16="http://schemas.microsoft.com/office/drawing/2014/main" id="{DFAF100E-B5D0-4C1B-8049-C1E260B27BE9}"/>
                </a:ext>
              </a:extLst>
            </p:cNvPr>
            <p:cNvGrpSpPr>
              <a:grpSpLocks/>
            </p:cNvGrpSpPr>
            <p:nvPr/>
          </p:nvGrpSpPr>
          <p:grpSpPr bwMode="auto">
            <a:xfrm>
              <a:off x="385" y="1207"/>
              <a:ext cx="3575" cy="2438"/>
              <a:chOff x="385" y="1207"/>
              <a:chExt cx="3575" cy="2438"/>
            </a:xfrm>
          </p:grpSpPr>
          <p:sp>
            <p:nvSpPr>
              <p:cNvPr id="5127" name="Text Box 5">
                <a:extLst>
                  <a:ext uri="{FF2B5EF4-FFF2-40B4-BE49-F238E27FC236}">
                    <a16:creationId xmlns:a16="http://schemas.microsoft.com/office/drawing/2014/main" id="{56C6EC11-3102-43AD-84C9-0FA1B233D4C3}"/>
                  </a:ext>
                </a:extLst>
              </p:cNvPr>
              <p:cNvSpPr txBox="1">
                <a:spLocks noChangeArrowheads="1"/>
              </p:cNvSpPr>
              <p:nvPr/>
            </p:nvSpPr>
            <p:spPr bwMode="auto">
              <a:xfrm>
                <a:off x="626" y="121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软件项目需求管理概述</a:t>
                </a:r>
                <a:r>
                  <a:rPr lang="zh-CN" altLang="en-US" sz="2000" b="0">
                    <a:latin typeface="Times New Roman" panose="02020603050405020304" pitchFamily="18" charset="0"/>
                  </a:rPr>
                  <a:t> </a:t>
                </a:r>
              </a:p>
            </p:txBody>
          </p:sp>
          <p:sp>
            <p:nvSpPr>
              <p:cNvPr id="5128" name="AutoShape 6">
                <a:extLst>
                  <a:ext uri="{FF2B5EF4-FFF2-40B4-BE49-F238E27FC236}">
                    <a16:creationId xmlns:a16="http://schemas.microsoft.com/office/drawing/2014/main" id="{D92602DB-D594-465A-82CD-CE82B73FC100}"/>
                  </a:ext>
                </a:extLst>
              </p:cNvPr>
              <p:cNvSpPr>
                <a:spLocks noChangeArrowheads="1"/>
              </p:cNvSpPr>
              <p:nvPr/>
            </p:nvSpPr>
            <p:spPr bwMode="auto">
              <a:xfrm>
                <a:off x="464" y="1491"/>
                <a:ext cx="3493" cy="273"/>
              </a:xfrm>
              <a:prstGeom prst="homePlate">
                <a:avLst>
                  <a:gd name="adj" fmla="val 3252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29" name="Text Box 7">
                <a:extLst>
                  <a:ext uri="{FF2B5EF4-FFF2-40B4-BE49-F238E27FC236}">
                    <a16:creationId xmlns:a16="http://schemas.microsoft.com/office/drawing/2014/main" id="{4E6DB4AA-3585-404B-9715-58603F3C933E}"/>
                  </a:ext>
                </a:extLst>
              </p:cNvPr>
              <p:cNvSpPr txBox="1">
                <a:spLocks noChangeArrowheads="1"/>
              </p:cNvSpPr>
              <p:nvPr/>
            </p:nvSpPr>
            <p:spPr bwMode="auto">
              <a:xfrm>
                <a:off x="626" y="1539"/>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需求开发和管理过程</a:t>
                </a:r>
                <a:r>
                  <a:rPr lang="zh-CN" altLang="en-US" sz="2000" b="0">
                    <a:latin typeface="Times New Roman" panose="02020603050405020304" pitchFamily="18" charset="0"/>
                  </a:rPr>
                  <a:t> </a:t>
                </a:r>
              </a:p>
            </p:txBody>
          </p:sp>
          <p:sp>
            <p:nvSpPr>
              <p:cNvPr id="5130" name="AutoShape 8">
                <a:extLst>
                  <a:ext uri="{FF2B5EF4-FFF2-40B4-BE49-F238E27FC236}">
                    <a16:creationId xmlns:a16="http://schemas.microsoft.com/office/drawing/2014/main" id="{7B45A10D-7166-4398-8A79-1A06ADEFB131}"/>
                  </a:ext>
                </a:extLst>
              </p:cNvPr>
              <p:cNvSpPr>
                <a:spLocks noChangeArrowheads="1"/>
              </p:cNvSpPr>
              <p:nvPr/>
            </p:nvSpPr>
            <p:spPr bwMode="auto">
              <a:xfrm>
                <a:off x="464" y="1800"/>
                <a:ext cx="3493" cy="266"/>
              </a:xfrm>
              <a:prstGeom prst="homePlate">
                <a:avLst>
                  <a:gd name="adj" fmla="val 32525"/>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31" name="Text Box 9">
                <a:extLst>
                  <a:ext uri="{FF2B5EF4-FFF2-40B4-BE49-F238E27FC236}">
                    <a16:creationId xmlns:a16="http://schemas.microsoft.com/office/drawing/2014/main" id="{D3D37D47-5DA5-4A5D-A363-615DAD044D14}"/>
                  </a:ext>
                </a:extLst>
              </p:cNvPr>
              <p:cNvSpPr txBox="1">
                <a:spLocks noChangeArrowheads="1"/>
              </p:cNvSpPr>
              <p:nvPr/>
            </p:nvSpPr>
            <p:spPr bwMode="auto">
              <a:xfrm>
                <a:off x="626" y="184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需求获取方法</a:t>
                </a:r>
                <a:r>
                  <a:rPr lang="zh-CN" altLang="en-US" sz="2000" b="0">
                    <a:latin typeface="Times New Roman" panose="02020603050405020304" pitchFamily="18" charset="0"/>
                  </a:rPr>
                  <a:t> </a:t>
                </a:r>
              </a:p>
            </p:txBody>
          </p:sp>
          <p:sp>
            <p:nvSpPr>
              <p:cNvPr id="5132" name="Rectangle 10">
                <a:extLst>
                  <a:ext uri="{FF2B5EF4-FFF2-40B4-BE49-F238E27FC236}">
                    <a16:creationId xmlns:a16="http://schemas.microsoft.com/office/drawing/2014/main" id="{316E7D5F-CF56-4A72-861C-512FF302C28A}"/>
                  </a:ext>
                </a:extLst>
              </p:cNvPr>
              <p:cNvSpPr>
                <a:spLocks noChangeArrowheads="1"/>
              </p:cNvSpPr>
              <p:nvPr/>
            </p:nvSpPr>
            <p:spPr bwMode="auto">
              <a:xfrm>
                <a:off x="385" y="1207"/>
                <a:ext cx="211" cy="164"/>
              </a:xfrm>
              <a:prstGeom prst="rect">
                <a:avLst/>
              </a:prstGeom>
              <a:solidFill>
                <a:srgbClr val="0000FF"/>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6.1</a:t>
                </a:r>
                <a:endParaRPr lang="en-US" altLang="zh-CN" sz="1800">
                  <a:solidFill>
                    <a:srgbClr val="000000"/>
                  </a:solidFill>
                </a:endParaRPr>
              </a:p>
            </p:txBody>
          </p:sp>
          <p:sp>
            <p:nvSpPr>
              <p:cNvPr id="5133" name="Rectangle 11">
                <a:extLst>
                  <a:ext uri="{FF2B5EF4-FFF2-40B4-BE49-F238E27FC236}">
                    <a16:creationId xmlns:a16="http://schemas.microsoft.com/office/drawing/2014/main" id="{ED63A212-0980-451A-8792-DF5B36EB242F}"/>
                  </a:ext>
                </a:extLst>
              </p:cNvPr>
              <p:cNvSpPr>
                <a:spLocks noChangeArrowheads="1"/>
              </p:cNvSpPr>
              <p:nvPr/>
            </p:nvSpPr>
            <p:spPr bwMode="auto">
              <a:xfrm>
                <a:off x="385" y="1564"/>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6.2</a:t>
                </a:r>
                <a:endParaRPr lang="en-US" altLang="zh-CN" sz="1800">
                  <a:solidFill>
                    <a:schemeClr val="bg1"/>
                  </a:solidFill>
                </a:endParaRPr>
              </a:p>
            </p:txBody>
          </p:sp>
          <p:sp>
            <p:nvSpPr>
              <p:cNvPr id="5134" name="Rectangle 12">
                <a:extLst>
                  <a:ext uri="{FF2B5EF4-FFF2-40B4-BE49-F238E27FC236}">
                    <a16:creationId xmlns:a16="http://schemas.microsoft.com/office/drawing/2014/main" id="{FE357242-5AEF-4FC4-9D3A-DCD6FF044D8C}"/>
                  </a:ext>
                </a:extLst>
              </p:cNvPr>
              <p:cNvSpPr>
                <a:spLocks noChangeArrowheads="1"/>
              </p:cNvSpPr>
              <p:nvPr/>
            </p:nvSpPr>
            <p:spPr bwMode="auto">
              <a:xfrm>
                <a:off x="385" y="187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6.3</a:t>
                </a:r>
                <a:endParaRPr lang="en-US" altLang="zh-CN" sz="1800">
                  <a:solidFill>
                    <a:srgbClr val="000000"/>
                  </a:solidFill>
                </a:endParaRPr>
              </a:p>
            </p:txBody>
          </p:sp>
          <p:sp>
            <p:nvSpPr>
              <p:cNvPr id="5135" name="AutoShape 8">
                <a:extLst>
                  <a:ext uri="{FF2B5EF4-FFF2-40B4-BE49-F238E27FC236}">
                    <a16:creationId xmlns:a16="http://schemas.microsoft.com/office/drawing/2014/main" id="{EC33CFB8-129E-4031-974E-189DCE9DC7B8}"/>
                  </a:ext>
                </a:extLst>
              </p:cNvPr>
              <p:cNvSpPr>
                <a:spLocks noChangeArrowheads="1"/>
              </p:cNvSpPr>
              <p:nvPr/>
            </p:nvSpPr>
            <p:spPr bwMode="auto">
              <a:xfrm>
                <a:off x="467" y="211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36" name="Text Box 9">
                <a:extLst>
                  <a:ext uri="{FF2B5EF4-FFF2-40B4-BE49-F238E27FC236}">
                    <a16:creationId xmlns:a16="http://schemas.microsoft.com/office/drawing/2014/main" id="{AC113A9D-605C-4B30-BFCA-1F1167EBF36A}"/>
                  </a:ext>
                </a:extLst>
              </p:cNvPr>
              <p:cNvSpPr txBox="1">
                <a:spLocks noChangeArrowheads="1"/>
              </p:cNvSpPr>
              <p:nvPr/>
            </p:nvSpPr>
            <p:spPr bwMode="auto">
              <a:xfrm>
                <a:off x="629" y="216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需求分析建模方法</a:t>
                </a:r>
                <a:r>
                  <a:rPr lang="zh-CN" altLang="en-US" sz="2000" b="0">
                    <a:latin typeface="Times New Roman" panose="02020603050405020304" pitchFamily="18" charset="0"/>
                  </a:rPr>
                  <a:t> </a:t>
                </a:r>
              </a:p>
            </p:txBody>
          </p:sp>
          <p:sp>
            <p:nvSpPr>
              <p:cNvPr id="5137" name="Rectangle 12">
                <a:extLst>
                  <a:ext uri="{FF2B5EF4-FFF2-40B4-BE49-F238E27FC236}">
                    <a16:creationId xmlns:a16="http://schemas.microsoft.com/office/drawing/2014/main" id="{940947C9-75A0-49B9-A825-B2DBC9DF6EE9}"/>
                  </a:ext>
                </a:extLst>
              </p:cNvPr>
              <p:cNvSpPr>
                <a:spLocks noChangeArrowheads="1"/>
              </p:cNvSpPr>
              <p:nvPr/>
            </p:nvSpPr>
            <p:spPr bwMode="auto">
              <a:xfrm>
                <a:off x="388" y="218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6.4</a:t>
                </a:r>
                <a:endParaRPr lang="en-US" altLang="zh-CN" sz="1800">
                  <a:solidFill>
                    <a:srgbClr val="000000"/>
                  </a:solidFill>
                </a:endParaRPr>
              </a:p>
            </p:txBody>
          </p:sp>
          <p:sp>
            <p:nvSpPr>
              <p:cNvPr id="5138" name="AutoShape 8">
                <a:extLst>
                  <a:ext uri="{FF2B5EF4-FFF2-40B4-BE49-F238E27FC236}">
                    <a16:creationId xmlns:a16="http://schemas.microsoft.com/office/drawing/2014/main" id="{F06AFFD5-EB8B-4006-B344-99D58C31D7AB}"/>
                  </a:ext>
                </a:extLst>
              </p:cNvPr>
              <p:cNvSpPr>
                <a:spLocks noChangeArrowheads="1"/>
              </p:cNvSpPr>
              <p:nvPr/>
            </p:nvSpPr>
            <p:spPr bwMode="auto">
              <a:xfrm>
                <a:off x="467" y="243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39" name="Text Box 9">
                <a:extLst>
                  <a:ext uri="{FF2B5EF4-FFF2-40B4-BE49-F238E27FC236}">
                    <a16:creationId xmlns:a16="http://schemas.microsoft.com/office/drawing/2014/main" id="{D3611436-3B91-40CD-B95C-7ADFD59FAF97}"/>
                  </a:ext>
                </a:extLst>
              </p:cNvPr>
              <p:cNvSpPr txBox="1">
                <a:spLocks noChangeArrowheads="1"/>
              </p:cNvSpPr>
              <p:nvPr/>
            </p:nvSpPr>
            <p:spPr bwMode="auto">
              <a:xfrm>
                <a:off x="629" y="247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需求管理工具</a:t>
                </a:r>
                <a:r>
                  <a:rPr lang="zh-CN" altLang="en-US" sz="2000" b="0">
                    <a:latin typeface="Times New Roman" panose="02020603050405020304" pitchFamily="18" charset="0"/>
                  </a:rPr>
                  <a:t> </a:t>
                </a:r>
              </a:p>
            </p:txBody>
          </p:sp>
          <p:sp>
            <p:nvSpPr>
              <p:cNvPr id="5140" name="Rectangle 12">
                <a:extLst>
                  <a:ext uri="{FF2B5EF4-FFF2-40B4-BE49-F238E27FC236}">
                    <a16:creationId xmlns:a16="http://schemas.microsoft.com/office/drawing/2014/main" id="{5EDDBBCD-BBE5-4BC3-AB4B-97B4DDA657C3}"/>
                  </a:ext>
                </a:extLst>
              </p:cNvPr>
              <p:cNvSpPr>
                <a:spLocks noChangeArrowheads="1"/>
              </p:cNvSpPr>
              <p:nvPr/>
            </p:nvSpPr>
            <p:spPr bwMode="auto">
              <a:xfrm>
                <a:off x="388" y="250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6.5</a:t>
                </a:r>
                <a:endParaRPr lang="en-US" altLang="zh-CN" sz="1800">
                  <a:solidFill>
                    <a:srgbClr val="000000"/>
                  </a:solidFill>
                </a:endParaRPr>
              </a:p>
            </p:txBody>
          </p:sp>
          <p:sp>
            <p:nvSpPr>
              <p:cNvPr id="5141" name="AutoShape 8">
                <a:extLst>
                  <a:ext uri="{FF2B5EF4-FFF2-40B4-BE49-F238E27FC236}">
                    <a16:creationId xmlns:a16="http://schemas.microsoft.com/office/drawing/2014/main" id="{64BFE4F2-6726-47DF-BB21-2A6E02F9D8D4}"/>
                  </a:ext>
                </a:extLst>
              </p:cNvPr>
              <p:cNvSpPr>
                <a:spLocks noChangeArrowheads="1"/>
              </p:cNvSpPr>
              <p:nvPr/>
            </p:nvSpPr>
            <p:spPr bwMode="auto">
              <a:xfrm>
                <a:off x="467" y="274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42" name="Text Box 9">
                <a:extLst>
                  <a:ext uri="{FF2B5EF4-FFF2-40B4-BE49-F238E27FC236}">
                    <a16:creationId xmlns:a16="http://schemas.microsoft.com/office/drawing/2014/main" id="{A05037D1-1194-4B3D-B0F6-F2062A5360D9}"/>
                  </a:ext>
                </a:extLst>
              </p:cNvPr>
              <p:cNvSpPr txBox="1">
                <a:spLocks noChangeArrowheads="1"/>
              </p:cNvSpPr>
              <p:nvPr/>
            </p:nvSpPr>
            <p:spPr bwMode="auto">
              <a:xfrm>
                <a:off x="629" y="279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000" b="0">
                    <a:latin typeface="Times New Roman" panose="02020603050405020304" pitchFamily="18" charset="0"/>
                  </a:rPr>
                  <a:t> </a:t>
                </a:r>
              </a:p>
            </p:txBody>
          </p:sp>
          <p:sp>
            <p:nvSpPr>
              <p:cNvPr id="5143" name="Rectangle 12">
                <a:extLst>
                  <a:ext uri="{FF2B5EF4-FFF2-40B4-BE49-F238E27FC236}">
                    <a16:creationId xmlns:a16="http://schemas.microsoft.com/office/drawing/2014/main" id="{ECFDD020-64D9-4FE4-A63D-A81C898DD906}"/>
                  </a:ext>
                </a:extLst>
              </p:cNvPr>
              <p:cNvSpPr>
                <a:spLocks noChangeArrowheads="1"/>
              </p:cNvSpPr>
              <p:nvPr/>
            </p:nvSpPr>
            <p:spPr bwMode="auto">
              <a:xfrm>
                <a:off x="388" y="278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6.6</a:t>
                </a:r>
                <a:endParaRPr lang="en-US" altLang="zh-CN" sz="1800">
                  <a:solidFill>
                    <a:srgbClr val="000000"/>
                  </a:solidFill>
                </a:endParaRPr>
              </a:p>
            </p:txBody>
          </p:sp>
          <p:sp>
            <p:nvSpPr>
              <p:cNvPr id="5144" name="Text Box 9">
                <a:extLst>
                  <a:ext uri="{FF2B5EF4-FFF2-40B4-BE49-F238E27FC236}">
                    <a16:creationId xmlns:a16="http://schemas.microsoft.com/office/drawing/2014/main" id="{2BE3199A-51C1-4C8B-B879-18CA43CEF715}"/>
                  </a:ext>
                </a:extLst>
              </p:cNvPr>
              <p:cNvSpPr txBox="1">
                <a:spLocks noChangeArrowheads="1"/>
              </p:cNvSpPr>
              <p:nvPr/>
            </p:nvSpPr>
            <p:spPr bwMode="auto">
              <a:xfrm>
                <a:off x="629" y="310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000" b="0">
                    <a:latin typeface="Times New Roman" panose="02020603050405020304" pitchFamily="18" charset="0"/>
                  </a:rPr>
                  <a:t> </a:t>
                </a:r>
              </a:p>
            </p:txBody>
          </p:sp>
          <p:sp>
            <p:nvSpPr>
              <p:cNvPr id="5145" name="Rectangle 12">
                <a:extLst>
                  <a:ext uri="{FF2B5EF4-FFF2-40B4-BE49-F238E27FC236}">
                    <a16:creationId xmlns:a16="http://schemas.microsoft.com/office/drawing/2014/main" id="{01B74A75-33C8-4979-81C7-81CD0CC578B8}"/>
                  </a:ext>
                </a:extLst>
              </p:cNvPr>
              <p:cNvSpPr>
                <a:spLocks noChangeArrowheads="1"/>
              </p:cNvSpPr>
              <p:nvPr/>
            </p:nvSpPr>
            <p:spPr bwMode="auto">
              <a:xfrm>
                <a:off x="388" y="313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6.7</a:t>
                </a:r>
                <a:endParaRPr lang="en-US" altLang="zh-CN" sz="1800">
                  <a:solidFill>
                    <a:srgbClr val="000000"/>
                  </a:solidFill>
                </a:endParaRPr>
              </a:p>
            </p:txBody>
          </p:sp>
          <p:sp>
            <p:nvSpPr>
              <p:cNvPr id="5146" name="AutoShape 8">
                <a:extLst>
                  <a:ext uri="{FF2B5EF4-FFF2-40B4-BE49-F238E27FC236}">
                    <a16:creationId xmlns:a16="http://schemas.microsoft.com/office/drawing/2014/main" id="{D6F489D1-F80B-44E2-80B2-CE1D75A2A447}"/>
                  </a:ext>
                </a:extLst>
              </p:cNvPr>
              <p:cNvSpPr>
                <a:spLocks noChangeArrowheads="1"/>
              </p:cNvSpPr>
              <p:nvPr/>
            </p:nvSpPr>
            <p:spPr bwMode="auto">
              <a:xfrm>
                <a:off x="467" y="3375"/>
                <a:ext cx="3493" cy="270"/>
              </a:xfrm>
              <a:prstGeom prst="homePlate">
                <a:avLst>
                  <a:gd name="adj" fmla="val 3252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47" name="Text Box 9">
                <a:extLst>
                  <a:ext uri="{FF2B5EF4-FFF2-40B4-BE49-F238E27FC236}">
                    <a16:creationId xmlns:a16="http://schemas.microsoft.com/office/drawing/2014/main" id="{004E9685-2DF7-42A8-89B1-31F80EED0F2E}"/>
                  </a:ext>
                </a:extLst>
              </p:cNvPr>
              <p:cNvSpPr txBox="1">
                <a:spLocks noChangeArrowheads="1"/>
              </p:cNvSpPr>
              <p:nvPr/>
            </p:nvSpPr>
            <p:spPr bwMode="auto">
              <a:xfrm>
                <a:off x="629" y="342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000" b="0">
                    <a:latin typeface="Times New Roman" panose="02020603050405020304" pitchFamily="18" charset="0"/>
                  </a:rPr>
                  <a:t> </a:t>
                </a:r>
              </a:p>
            </p:txBody>
          </p:sp>
          <p:sp>
            <p:nvSpPr>
              <p:cNvPr id="5148" name="Rectangle 12">
                <a:extLst>
                  <a:ext uri="{FF2B5EF4-FFF2-40B4-BE49-F238E27FC236}">
                    <a16:creationId xmlns:a16="http://schemas.microsoft.com/office/drawing/2014/main" id="{9DC2B13F-E711-4D15-8B23-304171B6950F}"/>
                  </a:ext>
                </a:extLst>
              </p:cNvPr>
              <p:cNvSpPr>
                <a:spLocks noChangeArrowheads="1"/>
              </p:cNvSpPr>
              <p:nvPr/>
            </p:nvSpPr>
            <p:spPr bwMode="auto">
              <a:xfrm>
                <a:off x="388" y="344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6.8</a:t>
                </a:r>
                <a:endParaRPr lang="en-US" altLang="zh-CN" sz="1800">
                  <a:solidFill>
                    <a:srgbClr val="000000"/>
                  </a:solidFil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121827E-8A32-42E0-A95A-E35D7127712D}"/>
              </a:ext>
            </a:extLst>
          </p:cNvPr>
          <p:cNvSpPr>
            <a:spLocks noGrp="1" noChangeArrowheads="1"/>
          </p:cNvSpPr>
          <p:nvPr>
            <p:ph type="title"/>
          </p:nvPr>
        </p:nvSpPr>
        <p:spPr>
          <a:xfrm>
            <a:off x="177800" y="1054100"/>
            <a:ext cx="8788400" cy="717550"/>
          </a:xfrm>
          <a:noFill/>
        </p:spPr>
        <p:txBody>
          <a:bodyPr/>
          <a:lstStyle/>
          <a:p>
            <a:pPr eaLnBrk="1" hangingPunct="1"/>
            <a:r>
              <a:rPr lang="en-US" altLang="zh-CN"/>
              <a:t>6.1 </a:t>
            </a:r>
            <a:r>
              <a:rPr lang="zh-CN" altLang="en-US"/>
              <a:t>软件项目需求管理概述</a:t>
            </a:r>
          </a:p>
        </p:txBody>
      </p:sp>
      <p:sp>
        <p:nvSpPr>
          <p:cNvPr id="6147" name="Rectangle 2">
            <a:extLst>
              <a:ext uri="{FF2B5EF4-FFF2-40B4-BE49-F238E27FC236}">
                <a16:creationId xmlns:a16="http://schemas.microsoft.com/office/drawing/2014/main" id="{4A928847-D37C-490C-BB79-B6876518EC6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aphicFrame>
        <p:nvGraphicFramePr>
          <p:cNvPr id="6148" name="Object 1">
            <a:extLst>
              <a:ext uri="{FF2B5EF4-FFF2-40B4-BE49-F238E27FC236}">
                <a16:creationId xmlns:a16="http://schemas.microsoft.com/office/drawing/2014/main" id="{E1AFAD29-7FD3-49F3-A95B-C42875105D4D}"/>
              </a:ext>
            </a:extLst>
          </p:cNvPr>
          <p:cNvGraphicFramePr>
            <a:graphicFrameLocks noChangeAspect="1"/>
          </p:cNvGraphicFramePr>
          <p:nvPr/>
        </p:nvGraphicFramePr>
        <p:xfrm>
          <a:off x="2484438" y="2714625"/>
          <a:ext cx="4683125" cy="3857625"/>
        </p:xfrm>
        <a:graphic>
          <a:graphicData uri="http://schemas.openxmlformats.org/presentationml/2006/ole">
            <mc:AlternateContent xmlns:mc="http://schemas.openxmlformats.org/markup-compatibility/2006">
              <mc:Choice xmlns:v="urn:schemas-microsoft-com:vml" Requires="v">
                <p:oleObj name="Visio" r:id="rId2" imgW="6554724" imgH="5734507" progId="Visio.Drawing.11">
                  <p:embed/>
                </p:oleObj>
              </mc:Choice>
              <mc:Fallback>
                <p:oleObj name="Visio" r:id="rId2" imgW="6554724" imgH="573450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714625"/>
                        <a:ext cx="468312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9" name="TextBox 6">
            <a:extLst>
              <a:ext uri="{FF2B5EF4-FFF2-40B4-BE49-F238E27FC236}">
                <a16:creationId xmlns:a16="http://schemas.microsoft.com/office/drawing/2014/main" id="{720A65F9-4C47-493A-8340-BEE8D884D755}"/>
              </a:ext>
            </a:extLst>
          </p:cNvPr>
          <p:cNvSpPr txBox="1">
            <a:spLocks noChangeArrowheads="1"/>
          </p:cNvSpPr>
          <p:nvPr/>
        </p:nvSpPr>
        <p:spPr bwMode="auto">
          <a:xfrm>
            <a:off x="900113" y="1989138"/>
            <a:ext cx="3929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2400">
                <a:solidFill>
                  <a:schemeClr val="accent1"/>
                </a:solidFill>
                <a:latin typeface="Times New Roman" panose="02020603050405020304" pitchFamily="18" charset="0"/>
              </a:rPr>
              <a:t>影响软件项目成败的因素</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4">
            <a:extLst>
              <a:ext uri="{FF2B5EF4-FFF2-40B4-BE49-F238E27FC236}">
                <a16:creationId xmlns:a16="http://schemas.microsoft.com/office/drawing/2014/main" id="{D16EA1F9-0F97-4E30-930E-16486740DF3F}"/>
              </a:ext>
            </a:extLst>
          </p:cNvPr>
          <p:cNvSpPr txBox="1">
            <a:spLocks noChangeArrowheads="1"/>
          </p:cNvSpPr>
          <p:nvPr/>
        </p:nvSpPr>
        <p:spPr bwMode="auto">
          <a:xfrm>
            <a:off x="642938" y="2430463"/>
            <a:ext cx="8072437"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
                <a:schemeClr val="accent2"/>
              </a:buClr>
              <a:buSzPct val="70000"/>
              <a:buFont typeface="Wingdings" panose="05000000000000000000" pitchFamily="2" charset="2"/>
              <a:buChar char="n"/>
            </a:pPr>
            <a:r>
              <a:rPr lang="zh-CN" altLang="en-US" sz="2000" dirty="0">
                <a:solidFill>
                  <a:schemeClr val="accent2"/>
                </a:solidFill>
                <a:latin typeface="Times New Roman" panose="02020603050405020304" pitchFamily="18" charset="0"/>
                <a:ea typeface="黑体" panose="02010609060101010101" pitchFamily="49" charset="-122"/>
              </a:rPr>
              <a:t>软件开发的目标</a:t>
            </a:r>
            <a:r>
              <a:rPr lang="en-US" altLang="zh-CN" sz="2000" dirty="0">
                <a:solidFill>
                  <a:schemeClr val="accent2"/>
                </a:solidFill>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rPr>
              <a:t>按时按预算开发出</a:t>
            </a:r>
            <a:r>
              <a:rPr lang="zh-CN" altLang="en-US" sz="2000" dirty="0">
                <a:solidFill>
                  <a:srgbClr val="FF0000"/>
                </a:solidFill>
                <a:latin typeface="Times New Roman" panose="02020603050405020304" pitchFamily="18" charset="0"/>
              </a:rPr>
              <a:t>满足用户真实需要</a:t>
            </a:r>
            <a:r>
              <a:rPr lang="zh-CN" altLang="en-US" sz="2000" dirty="0">
                <a:latin typeface="Times New Roman" panose="02020603050405020304" pitchFamily="18" charset="0"/>
              </a:rPr>
              <a:t>的软件。</a:t>
            </a:r>
            <a:endParaRPr lang="en-US" altLang="zh-CN" sz="2000" dirty="0">
              <a:latin typeface="Times New Roman" panose="02020603050405020304" pitchFamily="18" charset="0"/>
            </a:endParaRPr>
          </a:p>
          <a:p>
            <a:pPr eaLnBrk="1" hangingPunct="1">
              <a:lnSpc>
                <a:spcPct val="130000"/>
              </a:lnSpc>
              <a:spcBef>
                <a:spcPct val="0"/>
              </a:spcBef>
              <a:buClr>
                <a:schemeClr val="accent2"/>
              </a:buClr>
              <a:buSzPct val="85000"/>
              <a:buFontTx/>
              <a:buNone/>
            </a:pPr>
            <a:endParaRPr lang="en-US" altLang="zh-CN" sz="2000" dirty="0">
              <a:latin typeface="Times New Roman" panose="02020603050405020304" pitchFamily="18" charset="0"/>
            </a:endParaRPr>
          </a:p>
          <a:p>
            <a:pPr eaLnBrk="1" hangingPunct="1">
              <a:lnSpc>
                <a:spcPct val="130000"/>
              </a:lnSpc>
              <a:spcBef>
                <a:spcPct val="0"/>
              </a:spcBef>
              <a:buClr>
                <a:schemeClr val="accent2"/>
              </a:buClr>
              <a:buSzPct val="70000"/>
              <a:buFont typeface="Wingdings" panose="05000000000000000000" pitchFamily="2" charset="2"/>
              <a:buChar char="n"/>
            </a:pPr>
            <a:r>
              <a:rPr lang="zh-CN" altLang="en-US" sz="2000" dirty="0">
                <a:solidFill>
                  <a:schemeClr val="accent2"/>
                </a:solidFill>
                <a:latin typeface="Times New Roman" panose="02020603050405020304" pitchFamily="18" charset="0"/>
                <a:ea typeface="黑体" panose="02010609060101010101" pitchFamily="49" charset="-122"/>
              </a:rPr>
              <a:t>需求</a:t>
            </a:r>
            <a:r>
              <a:rPr lang="en-US" altLang="zh-CN" sz="2000" dirty="0">
                <a:solidFill>
                  <a:schemeClr val="accent2"/>
                </a:solidFill>
                <a:latin typeface="Times New Roman" panose="02020603050405020304" pitchFamily="18" charset="0"/>
                <a:ea typeface="黑体" panose="02010609060101010101" pitchFamily="49" charset="-122"/>
              </a:rPr>
              <a:t>—— </a:t>
            </a:r>
            <a:r>
              <a:rPr lang="zh-CN" altLang="en-US" sz="2000" dirty="0">
                <a:latin typeface="Times New Roman" panose="02020603050405020304" pitchFamily="18" charset="0"/>
              </a:rPr>
              <a:t>一个软件项目的开始阶段。在软件工程中，需求分析阶段是包括客户、用户、业务或需求分析员、开发人员、测试人员、用户文档编写者、项目管理者和客户管理者在内的所有的风险承担者都需要参与的阶段。</a:t>
            </a:r>
          </a:p>
        </p:txBody>
      </p:sp>
      <p:sp>
        <p:nvSpPr>
          <p:cNvPr id="7171" name="Rectangle 2">
            <a:extLst>
              <a:ext uri="{FF2B5EF4-FFF2-40B4-BE49-F238E27FC236}">
                <a16:creationId xmlns:a16="http://schemas.microsoft.com/office/drawing/2014/main" id="{47595D06-D4E5-4DC1-ACCC-68DA1834CB50}"/>
              </a:ext>
            </a:extLst>
          </p:cNvPr>
          <p:cNvSpPr>
            <a:spLocks noGrp="1" noChangeArrowheads="1"/>
          </p:cNvSpPr>
          <p:nvPr>
            <p:ph type="title"/>
          </p:nvPr>
        </p:nvSpPr>
        <p:spPr>
          <a:xfrm>
            <a:off x="177800" y="1054100"/>
            <a:ext cx="8788400" cy="717550"/>
          </a:xfrm>
          <a:noFill/>
        </p:spPr>
        <p:txBody>
          <a:bodyPr/>
          <a:lstStyle/>
          <a:p>
            <a:pPr eaLnBrk="1" hangingPunct="1"/>
            <a:r>
              <a:rPr lang="zh-CN" altLang="en-US"/>
              <a:t>软件项目需求管理概述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3">
            <a:extLst>
              <a:ext uri="{FF2B5EF4-FFF2-40B4-BE49-F238E27FC236}">
                <a16:creationId xmlns:a16="http://schemas.microsoft.com/office/drawing/2014/main" id="{E194E76D-23AF-41D5-A7C1-C7220B4A2A07}"/>
              </a:ext>
            </a:extLst>
          </p:cNvPr>
          <p:cNvSpPr txBox="1">
            <a:spLocks noChangeArrowheads="1"/>
          </p:cNvSpPr>
          <p:nvPr/>
        </p:nvSpPr>
        <p:spPr bwMode="auto">
          <a:xfrm>
            <a:off x="1004888" y="1916113"/>
            <a:ext cx="7496175" cy="474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t> </a:t>
            </a:r>
            <a:r>
              <a:rPr kumimoji="0" lang="zh-CN" altLang="en-US" sz="2400" dirty="0">
                <a:solidFill>
                  <a:schemeClr val="accent2"/>
                </a:solidFill>
                <a:ea typeface="黑体" panose="02010609060101010101" pitchFamily="49" charset="-122"/>
              </a:rPr>
              <a:t>需求定义</a:t>
            </a:r>
            <a:endParaRPr kumimoji="0" lang="en-US" altLang="zh-CN" sz="2400" dirty="0">
              <a:solidFill>
                <a:schemeClr val="accent2"/>
              </a:solidFill>
              <a:ea typeface="黑体" panose="02010609060101010101" pitchFamily="49" charset="-122"/>
            </a:endParaRPr>
          </a:p>
          <a:p>
            <a:pPr>
              <a:lnSpc>
                <a:spcPct val="110000"/>
              </a:lnSpc>
              <a:spcBef>
                <a:spcPts val="1200"/>
              </a:spcBef>
              <a:buClr>
                <a:schemeClr val="accent2"/>
              </a:buClr>
              <a:buSzPct val="70000"/>
              <a:buFont typeface="Wingdings" panose="05000000000000000000" pitchFamily="2" charset="2"/>
              <a:buChar char="l"/>
            </a:pPr>
            <a:r>
              <a:rPr lang="en-US" altLang="zh-CN" sz="2000" b="0" dirty="0">
                <a:latin typeface="Times New Roman" panose="02020603050405020304" pitchFamily="18" charset="0"/>
              </a:rPr>
              <a:t> </a:t>
            </a:r>
            <a:r>
              <a:rPr lang="en-US" altLang="zh-CN" sz="2000" dirty="0">
                <a:latin typeface="Times New Roman" panose="02020603050405020304" pitchFamily="18" charset="0"/>
              </a:rPr>
              <a:t>IEEE</a:t>
            </a:r>
            <a:r>
              <a:rPr lang="zh-CN" altLang="en-US" sz="2000" dirty="0">
                <a:latin typeface="Times New Roman" panose="02020603050405020304" pitchFamily="18" charset="0"/>
              </a:rPr>
              <a:t>软件工程标准词汇表</a:t>
            </a:r>
            <a:r>
              <a:rPr lang="en-US" altLang="zh-CN" sz="2000" dirty="0">
                <a:latin typeface="Times New Roman" panose="02020603050405020304" pitchFamily="18" charset="0"/>
              </a:rPr>
              <a:t>(1997</a:t>
            </a:r>
            <a:r>
              <a:rPr lang="zh-CN" altLang="en-US" sz="2000" dirty="0">
                <a:latin typeface="Times New Roman" panose="02020603050405020304" pitchFamily="18" charset="0"/>
              </a:rPr>
              <a:t>年</a:t>
            </a:r>
            <a:r>
              <a:rPr lang="en-US" altLang="zh-CN" sz="2000" dirty="0">
                <a:latin typeface="Times New Roman" panose="02020603050405020304" pitchFamily="18" charset="0"/>
              </a:rPr>
              <a:t>)</a:t>
            </a:r>
            <a:r>
              <a:rPr lang="zh-CN" altLang="en-US" sz="2000" dirty="0">
                <a:latin typeface="Times New Roman" panose="02020603050405020304" pitchFamily="18" charset="0"/>
              </a:rPr>
              <a:t>中将需求定义为：</a:t>
            </a:r>
          </a:p>
          <a:p>
            <a:pPr lvl="1" eaLnBrk="1" hangingPunct="1">
              <a:lnSpc>
                <a:spcPct val="110000"/>
              </a:lnSpc>
              <a:spcBef>
                <a:spcPct val="0"/>
              </a:spcBef>
              <a:buClr>
                <a:schemeClr val="accent2"/>
              </a:buClr>
              <a:buSzPct val="60000"/>
              <a:buFont typeface="Times New Roman" panose="02020603050405020304" pitchFamily="18" charset="0"/>
              <a:buChar char="─"/>
            </a:pPr>
            <a:r>
              <a:rPr lang="en-US" altLang="zh-CN" sz="2000" dirty="0">
                <a:latin typeface="Times New Roman" panose="02020603050405020304" pitchFamily="18" charset="0"/>
              </a:rPr>
              <a:t>(1)</a:t>
            </a:r>
            <a:r>
              <a:rPr lang="zh-CN" altLang="en-US" sz="2000" dirty="0">
                <a:latin typeface="Times New Roman" panose="02020603050405020304" pitchFamily="18" charset="0"/>
              </a:rPr>
              <a:t>用户解决问题或达到目标所需的条件或权能</a:t>
            </a:r>
            <a:r>
              <a:rPr lang="en-US" altLang="zh-CN" sz="2000" dirty="0">
                <a:latin typeface="Times New Roman" panose="02020603050405020304" pitchFamily="18" charset="0"/>
              </a:rPr>
              <a:t>(Capability)</a:t>
            </a:r>
            <a:r>
              <a:rPr lang="zh-CN" altLang="en-US" sz="2000" dirty="0">
                <a:latin typeface="Times New Roman" panose="02020603050405020304" pitchFamily="18" charset="0"/>
              </a:rPr>
              <a:t>；</a:t>
            </a:r>
          </a:p>
          <a:p>
            <a:pPr lvl="1" eaLnBrk="1" hangingPunct="1">
              <a:lnSpc>
                <a:spcPct val="110000"/>
              </a:lnSpc>
              <a:spcBef>
                <a:spcPct val="0"/>
              </a:spcBef>
              <a:buClr>
                <a:schemeClr val="accent2"/>
              </a:buClr>
              <a:buSzPct val="60000"/>
              <a:buFont typeface="Times New Roman" panose="02020603050405020304" pitchFamily="18" charset="0"/>
              <a:buChar char="─"/>
            </a:pPr>
            <a:r>
              <a:rPr lang="en-US" altLang="zh-CN" sz="2000">
                <a:latin typeface="Times New Roman" panose="02020603050405020304" pitchFamily="18" charset="0"/>
              </a:rPr>
              <a:t>(2)</a:t>
            </a:r>
            <a:r>
              <a:rPr lang="zh-CN" altLang="en-US" sz="2000">
                <a:latin typeface="Times New Roman" panose="02020603050405020304" pitchFamily="18" charset="0"/>
              </a:rPr>
              <a:t>系统</a:t>
            </a:r>
            <a:r>
              <a:rPr lang="zh-CN" altLang="en-US" sz="2000" dirty="0">
                <a:latin typeface="Times New Roman" panose="02020603050405020304" pitchFamily="18" charset="0"/>
              </a:rPr>
              <a:t>或系统部件要满足合同、标准、规范或其它正式规定文档所需具有的条件或权能；</a:t>
            </a:r>
          </a:p>
          <a:p>
            <a:pPr lvl="1" eaLnBrk="1" hangingPunct="1">
              <a:lnSpc>
                <a:spcPct val="110000"/>
              </a:lnSpc>
              <a:spcBef>
                <a:spcPct val="0"/>
              </a:spcBef>
              <a:buClr>
                <a:schemeClr val="accent2"/>
              </a:buClr>
              <a:buSzPct val="60000"/>
              <a:buFont typeface="Times New Roman" panose="02020603050405020304" pitchFamily="18" charset="0"/>
              <a:buChar char="─"/>
            </a:pPr>
            <a:r>
              <a:rPr lang="zh-CN" altLang="en-US" sz="2000" dirty="0">
                <a:latin typeface="Times New Roman" panose="02020603050405020304" pitchFamily="18" charset="0"/>
              </a:rPr>
              <a:t>一种反映上面</a:t>
            </a:r>
            <a:r>
              <a:rPr lang="en-US" altLang="zh-CN" sz="2000" dirty="0">
                <a:latin typeface="Times New Roman" panose="02020603050405020304" pitchFamily="18" charset="0"/>
              </a:rPr>
              <a:t>(1)</a:t>
            </a:r>
            <a:r>
              <a:rPr lang="zh-CN" altLang="en-US" sz="2000" dirty="0">
                <a:latin typeface="Times New Roman" panose="02020603050405020304" pitchFamily="18" charset="0"/>
              </a:rPr>
              <a:t>或</a:t>
            </a:r>
            <a:r>
              <a:rPr lang="en-US" altLang="zh-CN" sz="2000" dirty="0">
                <a:latin typeface="Times New Roman" panose="02020603050405020304" pitchFamily="18" charset="0"/>
              </a:rPr>
              <a:t>(2)</a:t>
            </a:r>
            <a:r>
              <a:rPr lang="zh-CN" altLang="en-US" sz="2000" dirty="0">
                <a:latin typeface="Times New Roman" panose="02020603050405020304" pitchFamily="18" charset="0"/>
              </a:rPr>
              <a:t>所描述的条件或权能的文档说明。</a:t>
            </a:r>
            <a:endParaRPr lang="en-US" altLang="zh-CN" sz="2000" dirty="0">
              <a:latin typeface="Times New Roman" panose="02020603050405020304" pitchFamily="18" charset="0"/>
            </a:endParaRPr>
          </a:p>
          <a:p>
            <a:pPr eaLnBrk="1" hangingPunct="1">
              <a:lnSpc>
                <a:spcPct val="110000"/>
              </a:lnSpc>
              <a:spcBef>
                <a:spcPct val="0"/>
              </a:spcBef>
              <a:buClrTx/>
              <a:buFontTx/>
              <a:buNone/>
            </a:pPr>
            <a:endParaRPr lang="en-US" altLang="zh-CN" sz="1800" dirty="0">
              <a:latin typeface="Times New Roman" panose="02020603050405020304" pitchFamily="18" charset="0"/>
            </a:endParaRPr>
          </a:p>
          <a:p>
            <a:pPr>
              <a:lnSpc>
                <a:spcPct val="110000"/>
              </a:lnSpc>
              <a:spcBef>
                <a:spcPts val="12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 软件需求包括以下几个层次：</a:t>
            </a:r>
            <a:endParaRPr lang="en-US" altLang="zh-CN" sz="2000" dirty="0">
              <a:latin typeface="Times New Roman" panose="02020603050405020304" pitchFamily="18" charset="0"/>
            </a:endParaRPr>
          </a:p>
          <a:p>
            <a:pPr lvl="1"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业务需求（</a:t>
            </a:r>
            <a:r>
              <a:rPr lang="en-US" altLang="zh-CN" sz="2000" dirty="0">
                <a:latin typeface="Times New Roman" panose="02020603050405020304" pitchFamily="18" charset="0"/>
              </a:rPr>
              <a:t>business requirement</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1"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用户需求（</a:t>
            </a:r>
            <a:r>
              <a:rPr lang="en-US" altLang="zh-CN" sz="2000" dirty="0">
                <a:latin typeface="Times New Roman" panose="02020603050405020304" pitchFamily="18" charset="0"/>
              </a:rPr>
              <a:t>user requirement</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1"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功能需求（</a:t>
            </a:r>
            <a:r>
              <a:rPr lang="en-US" altLang="zh-CN" sz="2000" dirty="0">
                <a:latin typeface="Times New Roman" panose="02020603050405020304" pitchFamily="18" charset="0"/>
              </a:rPr>
              <a:t>functional requirement</a:t>
            </a:r>
            <a:r>
              <a:rPr lang="zh-CN" altLang="en-US" sz="2000" dirty="0">
                <a:latin typeface="Times New Roman" panose="02020603050405020304" pitchFamily="18" charset="0"/>
              </a:rPr>
              <a:t>）</a:t>
            </a:r>
          </a:p>
          <a:p>
            <a:pPr lvl="1"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同时也包括非功能需求、软件需求规格说明（</a:t>
            </a:r>
            <a:r>
              <a:rPr lang="en-US" altLang="zh-CN" sz="2000" dirty="0">
                <a:latin typeface="Times New Roman" panose="02020603050405020304" pitchFamily="18" charset="0"/>
              </a:rPr>
              <a:t>software requirements specification</a:t>
            </a:r>
            <a:r>
              <a:rPr lang="zh-CN" altLang="en-US" sz="2000" dirty="0">
                <a:latin typeface="Times New Roman" panose="02020603050405020304" pitchFamily="18" charset="0"/>
              </a:rPr>
              <a:t>，</a:t>
            </a:r>
            <a:r>
              <a:rPr lang="en-US" altLang="zh-CN" sz="2000" dirty="0">
                <a:latin typeface="Times New Roman" panose="02020603050405020304" pitchFamily="18" charset="0"/>
              </a:rPr>
              <a:t>SRS</a:t>
            </a:r>
            <a:r>
              <a:rPr lang="zh-CN" altLang="en-US" sz="2000" dirty="0">
                <a:latin typeface="Times New Roman" panose="02020603050405020304" pitchFamily="18" charset="0"/>
              </a:rPr>
              <a:t>）等。</a:t>
            </a:r>
          </a:p>
        </p:txBody>
      </p:sp>
      <p:sp>
        <p:nvSpPr>
          <p:cNvPr id="8195" name="Rectangle 2">
            <a:extLst>
              <a:ext uri="{FF2B5EF4-FFF2-40B4-BE49-F238E27FC236}">
                <a16:creationId xmlns:a16="http://schemas.microsoft.com/office/drawing/2014/main" id="{142A3EDC-8458-4E5B-A830-7C0EEF266FEC}"/>
              </a:ext>
            </a:extLst>
          </p:cNvPr>
          <p:cNvSpPr>
            <a:spLocks noGrp="1" noChangeArrowheads="1"/>
          </p:cNvSpPr>
          <p:nvPr>
            <p:ph type="title"/>
          </p:nvPr>
        </p:nvSpPr>
        <p:spPr>
          <a:xfrm>
            <a:off x="177800" y="1054100"/>
            <a:ext cx="8788400" cy="717550"/>
          </a:xfrm>
          <a:noFill/>
        </p:spPr>
        <p:txBody>
          <a:bodyPr/>
          <a:lstStyle/>
          <a:p>
            <a:pPr eaLnBrk="1" hangingPunct="1"/>
            <a:r>
              <a:rPr lang="zh-CN" altLang="en-US"/>
              <a:t>软件项目需求管理概述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8CCBD8F-2D16-46FC-96A8-5E444D2BBEC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aphicFrame>
        <p:nvGraphicFramePr>
          <p:cNvPr id="9219" name="Object 1">
            <a:extLst>
              <a:ext uri="{FF2B5EF4-FFF2-40B4-BE49-F238E27FC236}">
                <a16:creationId xmlns:a16="http://schemas.microsoft.com/office/drawing/2014/main" id="{66558765-242C-40D0-AD93-146BE8BDBFB4}"/>
              </a:ext>
            </a:extLst>
          </p:cNvPr>
          <p:cNvGraphicFramePr>
            <a:graphicFrameLocks noChangeAspect="1"/>
          </p:cNvGraphicFramePr>
          <p:nvPr/>
        </p:nvGraphicFramePr>
        <p:xfrm>
          <a:off x="1981200" y="2687638"/>
          <a:ext cx="5543550" cy="4197350"/>
        </p:xfrm>
        <a:graphic>
          <a:graphicData uri="http://schemas.openxmlformats.org/presentationml/2006/ole">
            <mc:AlternateContent xmlns:mc="http://schemas.openxmlformats.org/markup-compatibility/2006">
              <mc:Choice xmlns:v="urn:schemas-microsoft-com:vml" Requires="v">
                <p:oleObj name="Visio" r:id="rId2" imgW="11266627" imgH="8494776" progId="Visio.Drawing.11">
                  <p:embed/>
                </p:oleObj>
              </mc:Choice>
              <mc:Fallback>
                <p:oleObj name="Visio" r:id="rId2" imgW="11266627" imgH="849477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687638"/>
                        <a:ext cx="5543550"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0" name="Rectangle 2">
            <a:extLst>
              <a:ext uri="{FF2B5EF4-FFF2-40B4-BE49-F238E27FC236}">
                <a16:creationId xmlns:a16="http://schemas.microsoft.com/office/drawing/2014/main" id="{98F41158-44AB-4D6C-81DB-5FCC0008930C}"/>
              </a:ext>
            </a:extLst>
          </p:cNvPr>
          <p:cNvSpPr>
            <a:spLocks noGrp="1" noChangeArrowheads="1"/>
          </p:cNvSpPr>
          <p:nvPr>
            <p:ph type="title"/>
          </p:nvPr>
        </p:nvSpPr>
        <p:spPr>
          <a:xfrm>
            <a:off x="177800" y="1054100"/>
            <a:ext cx="8788400" cy="717550"/>
          </a:xfrm>
          <a:noFill/>
        </p:spPr>
        <p:txBody>
          <a:bodyPr/>
          <a:lstStyle/>
          <a:p>
            <a:pPr eaLnBrk="1" hangingPunct="1"/>
            <a:r>
              <a:rPr lang="zh-CN" altLang="en-US"/>
              <a:t>软件项目需求管理概述</a:t>
            </a:r>
          </a:p>
        </p:txBody>
      </p:sp>
      <p:sp>
        <p:nvSpPr>
          <p:cNvPr id="9221" name="TextBox 5">
            <a:extLst>
              <a:ext uri="{FF2B5EF4-FFF2-40B4-BE49-F238E27FC236}">
                <a16:creationId xmlns:a16="http://schemas.microsoft.com/office/drawing/2014/main" id="{B14148C2-936A-428C-945F-D9FC12AECD91}"/>
              </a:ext>
            </a:extLst>
          </p:cNvPr>
          <p:cNvSpPr txBox="1">
            <a:spLocks noChangeArrowheads="1"/>
          </p:cNvSpPr>
          <p:nvPr/>
        </p:nvSpPr>
        <p:spPr bwMode="auto">
          <a:xfrm>
            <a:off x="1042988" y="1963738"/>
            <a:ext cx="355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zh-CN" altLang="en-US" sz="2400">
                <a:solidFill>
                  <a:schemeClr val="accent1"/>
                </a:solidFill>
                <a:latin typeface="Times New Roman" panose="02020603050405020304" pitchFamily="18" charset="0"/>
              </a:rPr>
              <a:t>软件需求各组成部分关系</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3">
            <a:extLst>
              <a:ext uri="{FF2B5EF4-FFF2-40B4-BE49-F238E27FC236}">
                <a16:creationId xmlns:a16="http://schemas.microsoft.com/office/drawing/2014/main" id="{6278AAF3-CEEF-4B42-8918-5018531CE58B}"/>
              </a:ext>
            </a:extLst>
          </p:cNvPr>
          <p:cNvSpPr txBox="1">
            <a:spLocks noChangeArrowheads="1"/>
          </p:cNvSpPr>
          <p:nvPr/>
        </p:nvSpPr>
        <p:spPr bwMode="auto">
          <a:xfrm>
            <a:off x="1004888" y="1966913"/>
            <a:ext cx="7670800" cy="4838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20000"/>
              </a:spcBef>
              <a:buClr>
                <a:schemeClr val="accent2"/>
              </a:buClr>
              <a:buSzPct val="70000"/>
              <a:buFont typeface="Wingdings" panose="05000000000000000000" pitchFamily="2" charset="2"/>
              <a:buChar char="n"/>
            </a:pPr>
            <a:r>
              <a:rPr kumimoji="0" lang="zh-CN" altLang="en-US" sz="2400" dirty="0"/>
              <a:t> </a:t>
            </a:r>
            <a:r>
              <a:rPr kumimoji="0" lang="zh-CN" altLang="en-US" sz="2400" dirty="0">
                <a:solidFill>
                  <a:schemeClr val="accent2"/>
                </a:solidFill>
                <a:ea typeface="黑体" panose="02010609060101010101" pitchFamily="49" charset="-122"/>
              </a:rPr>
              <a:t>需求类型</a:t>
            </a:r>
          </a:p>
          <a:p>
            <a:pPr>
              <a:spcBef>
                <a:spcPct val="20000"/>
              </a:spcBef>
              <a:buClr>
                <a:schemeClr val="accent2"/>
              </a:buClr>
              <a:buFont typeface="Wingdings" panose="05000000000000000000" pitchFamily="2" charset="2"/>
              <a:buNone/>
            </a:pPr>
            <a:r>
              <a:rPr lang="zh-CN" altLang="en-US" sz="2000" b="0" dirty="0">
                <a:latin typeface="Times New Roman" panose="02020603050405020304" pitchFamily="18" charset="0"/>
              </a:rPr>
              <a:t>        </a:t>
            </a:r>
            <a:r>
              <a:rPr lang="zh-CN" altLang="en-US" sz="1900" dirty="0">
                <a:latin typeface="Times New Roman" panose="02020603050405020304" pitchFamily="18" charset="0"/>
              </a:rPr>
              <a:t>在</a:t>
            </a:r>
            <a:r>
              <a:rPr lang="en-US" altLang="zh-CN" sz="1900" dirty="0">
                <a:latin typeface="Times New Roman" panose="02020603050405020304" pitchFamily="18" charset="0"/>
              </a:rPr>
              <a:t>UP</a:t>
            </a:r>
            <a:r>
              <a:rPr lang="zh-CN" altLang="en-US" sz="1900" dirty="0">
                <a:latin typeface="Times New Roman" panose="02020603050405020304" pitchFamily="18" charset="0"/>
              </a:rPr>
              <a:t>（统一过程）中，软件需求是根据</a:t>
            </a:r>
            <a:r>
              <a:rPr lang="en-US" altLang="zh-CN" sz="1900" dirty="0">
                <a:latin typeface="Times New Roman" panose="02020603050405020304" pitchFamily="18" charset="0"/>
              </a:rPr>
              <a:t>FURPS+</a:t>
            </a:r>
            <a:r>
              <a:rPr lang="zh-CN" altLang="en-US" sz="1900" dirty="0">
                <a:latin typeface="Times New Roman" panose="02020603050405020304" pitchFamily="18" charset="0"/>
              </a:rPr>
              <a:t>模型来分类的，其中</a:t>
            </a:r>
            <a:r>
              <a:rPr lang="en-US" altLang="zh-CN" sz="1900" dirty="0">
                <a:latin typeface="Times New Roman" panose="02020603050405020304" pitchFamily="18" charset="0"/>
              </a:rPr>
              <a:t>FURPS</a:t>
            </a:r>
            <a:r>
              <a:rPr lang="zh-CN" altLang="en-US" sz="1900" dirty="0">
                <a:latin typeface="Times New Roman" panose="02020603050405020304" pitchFamily="18" charset="0"/>
              </a:rPr>
              <a:t>的含义如下：</a:t>
            </a: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Functional</a:t>
            </a:r>
            <a:r>
              <a:rPr lang="zh-CN" altLang="en-US" sz="1700" dirty="0">
                <a:latin typeface="Times New Roman" panose="02020603050405020304" pitchFamily="18" charset="0"/>
              </a:rPr>
              <a:t>（功能性）：特性、能力和安全性。</a:t>
            </a: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Usability</a:t>
            </a:r>
            <a:r>
              <a:rPr lang="zh-CN" altLang="en-US" sz="1700" dirty="0">
                <a:latin typeface="Times New Roman" panose="02020603050405020304" pitchFamily="18" charset="0"/>
              </a:rPr>
              <a:t>（可用性）：人性化因素、帮助和文档。</a:t>
            </a: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Reliability</a:t>
            </a:r>
            <a:r>
              <a:rPr lang="zh-CN" altLang="en-US" sz="1700" dirty="0">
                <a:latin typeface="Times New Roman" panose="02020603050405020304" pitchFamily="18" charset="0"/>
              </a:rPr>
              <a:t>（可靠性）：故障周期、可恢复性和可预测性。</a:t>
            </a: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Performance</a:t>
            </a:r>
            <a:r>
              <a:rPr lang="zh-CN" altLang="en-US" sz="1700" dirty="0">
                <a:latin typeface="Times New Roman" panose="02020603050405020304" pitchFamily="18" charset="0"/>
              </a:rPr>
              <a:t>（性能）：响应时间、吞吐量、准确性、有效性和资源利用率。</a:t>
            </a: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Supportability</a:t>
            </a:r>
            <a:r>
              <a:rPr lang="zh-CN" altLang="en-US" sz="1700" dirty="0">
                <a:latin typeface="Times New Roman" panose="02020603050405020304" pitchFamily="18" charset="0"/>
              </a:rPr>
              <a:t>（可支持性）：适应性、可维护性、国际化和可配置性。</a:t>
            </a: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a:t>
            </a:r>
            <a:r>
              <a:rPr lang="zh-CN" altLang="en-US" sz="1700" dirty="0">
                <a:latin typeface="Times New Roman" panose="02020603050405020304" pitchFamily="18" charset="0"/>
              </a:rPr>
              <a:t>是指一些辅助性的和次要的因素：</a:t>
            </a:r>
            <a:r>
              <a:rPr lang="en-US" altLang="zh-CN" sz="1700" dirty="0">
                <a:latin typeface="Times New Roman" panose="02020603050405020304" pitchFamily="18" charset="0"/>
              </a:rPr>
              <a:t> </a:t>
            </a:r>
            <a:endParaRPr lang="zh-CN" altLang="en-US" sz="1700" dirty="0">
              <a:latin typeface="Times New Roman" panose="02020603050405020304" pitchFamily="18" charset="0"/>
            </a:endParaRP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Implementation</a:t>
            </a:r>
            <a:r>
              <a:rPr lang="zh-CN" altLang="en-US" sz="1700" dirty="0">
                <a:latin typeface="Times New Roman" panose="02020603050405020304" pitchFamily="18" charset="0"/>
              </a:rPr>
              <a:t>（实现）：资源限制、语言和工具、硬件等。</a:t>
            </a: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Interface</a:t>
            </a:r>
            <a:r>
              <a:rPr lang="zh-CN" altLang="en-US" sz="1700" dirty="0">
                <a:latin typeface="Times New Roman" panose="02020603050405020304" pitchFamily="18" charset="0"/>
              </a:rPr>
              <a:t>（接口）：为外部系统接口所加的约束。</a:t>
            </a: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Operations</a:t>
            </a:r>
            <a:r>
              <a:rPr lang="zh-CN" altLang="en-US" sz="1700" dirty="0">
                <a:latin typeface="Times New Roman" panose="02020603050405020304" pitchFamily="18" charset="0"/>
              </a:rPr>
              <a:t>（操作）：系统操作环境中的管理。</a:t>
            </a: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Packaging(</a:t>
            </a:r>
            <a:r>
              <a:rPr lang="zh-CN" altLang="en-US" sz="1700" dirty="0">
                <a:latin typeface="Times New Roman" panose="02020603050405020304" pitchFamily="18" charset="0"/>
              </a:rPr>
              <a:t>包装</a:t>
            </a:r>
            <a:r>
              <a:rPr lang="en-US" altLang="zh-CN" sz="1700" dirty="0">
                <a:latin typeface="Times New Roman" panose="02020603050405020304" pitchFamily="18" charset="0"/>
              </a:rPr>
              <a:t>)</a:t>
            </a:r>
            <a:r>
              <a:rPr lang="zh-CN" altLang="en-US" sz="1700" dirty="0">
                <a:latin typeface="Times New Roman" panose="02020603050405020304" pitchFamily="18" charset="0"/>
              </a:rPr>
              <a:t>：提供什么样的部署、移交“介质”和形式等。</a:t>
            </a:r>
          </a:p>
          <a:p>
            <a:pPr lvl="1" eaLnBrk="1" hangingPunct="1">
              <a:buClr>
                <a:schemeClr val="accent2"/>
              </a:buClr>
              <a:buFont typeface="黑体" panose="02010609060101010101" pitchFamily="49" charset="-122"/>
              <a:buChar char="-"/>
            </a:pPr>
            <a:r>
              <a:rPr lang="en-US" altLang="zh-CN" sz="1700" dirty="0">
                <a:latin typeface="Times New Roman" panose="02020603050405020304" pitchFamily="18" charset="0"/>
              </a:rPr>
              <a:t>Legal</a:t>
            </a:r>
            <a:r>
              <a:rPr lang="zh-CN" altLang="en-US" sz="1700" dirty="0">
                <a:latin typeface="Times New Roman" panose="02020603050405020304" pitchFamily="18" charset="0"/>
              </a:rPr>
              <a:t>（授权）：法律许可、授权或其他有关法律上的约束。</a:t>
            </a:r>
          </a:p>
        </p:txBody>
      </p:sp>
      <p:sp>
        <p:nvSpPr>
          <p:cNvPr id="10243" name="Rectangle 2">
            <a:extLst>
              <a:ext uri="{FF2B5EF4-FFF2-40B4-BE49-F238E27FC236}">
                <a16:creationId xmlns:a16="http://schemas.microsoft.com/office/drawing/2014/main" id="{7A50C04E-3BF6-44EB-911D-BF1CBBA9CA41}"/>
              </a:ext>
            </a:extLst>
          </p:cNvPr>
          <p:cNvSpPr>
            <a:spLocks noGrp="1" noChangeArrowheads="1"/>
          </p:cNvSpPr>
          <p:nvPr>
            <p:ph type="title"/>
          </p:nvPr>
        </p:nvSpPr>
        <p:spPr>
          <a:xfrm>
            <a:off x="177800" y="1054100"/>
            <a:ext cx="8788400" cy="717550"/>
          </a:xfrm>
          <a:noFill/>
        </p:spPr>
        <p:txBody>
          <a:bodyPr/>
          <a:lstStyle/>
          <a:p>
            <a:pPr eaLnBrk="1" hangingPunct="1"/>
            <a:r>
              <a:rPr lang="zh-CN" altLang="en-US"/>
              <a:t>软件项目需求管理概述</a:t>
            </a:r>
          </a:p>
        </p:txBody>
      </p:sp>
      <p:pic>
        <p:nvPicPr>
          <p:cNvPr id="10244" name="Picture 4">
            <a:extLst>
              <a:ext uri="{FF2B5EF4-FFF2-40B4-BE49-F238E27FC236}">
                <a16:creationId xmlns:a16="http://schemas.microsoft.com/office/drawing/2014/main" id="{3D4C8293-AD01-4E75-AF6A-A85B327C34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736600"/>
            <a:ext cx="1819275"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5E21C6F-3149-44CF-BB94-8D7A58D500D6}"/>
              </a:ext>
            </a:extLst>
          </p:cNvPr>
          <p:cNvSpPr>
            <a:spLocks noGrp="1" noChangeArrowheads="1"/>
          </p:cNvSpPr>
          <p:nvPr>
            <p:ph type="title" idx="4294967295"/>
          </p:nvPr>
        </p:nvSpPr>
        <p:spPr>
          <a:xfrm>
            <a:off x="179388" y="1052513"/>
            <a:ext cx="8788400" cy="717550"/>
          </a:xfrm>
          <a:noFill/>
        </p:spPr>
        <p:txBody>
          <a:bodyPr/>
          <a:lstStyle/>
          <a:p>
            <a:pPr eaLnBrk="1" hangingPunct="1"/>
            <a:r>
              <a:rPr lang="zh-CN" altLang="en-US"/>
              <a:t>本章内容提要</a:t>
            </a:r>
            <a:endParaRPr lang="en-US" altLang="zh-CN"/>
          </a:p>
        </p:txBody>
      </p:sp>
      <p:grpSp>
        <p:nvGrpSpPr>
          <p:cNvPr id="11267" name="Group 3">
            <a:extLst>
              <a:ext uri="{FF2B5EF4-FFF2-40B4-BE49-F238E27FC236}">
                <a16:creationId xmlns:a16="http://schemas.microsoft.com/office/drawing/2014/main" id="{DA0DC642-22F0-4C0B-8C60-95078BAD27B5}"/>
              </a:ext>
            </a:extLst>
          </p:cNvPr>
          <p:cNvGrpSpPr>
            <a:grpSpLocks/>
          </p:cNvGrpSpPr>
          <p:nvPr/>
        </p:nvGrpSpPr>
        <p:grpSpPr bwMode="auto">
          <a:xfrm>
            <a:off x="1057275" y="2222500"/>
            <a:ext cx="5675313" cy="3943350"/>
            <a:chOff x="385" y="1161"/>
            <a:chExt cx="3575" cy="2484"/>
          </a:xfrm>
        </p:grpSpPr>
        <p:sp>
          <p:nvSpPr>
            <p:cNvPr id="11268" name="AutoShape 4">
              <a:extLst>
                <a:ext uri="{FF2B5EF4-FFF2-40B4-BE49-F238E27FC236}">
                  <a16:creationId xmlns:a16="http://schemas.microsoft.com/office/drawing/2014/main" id="{8E19763F-EFBC-4E7B-92D6-984148AE09CD}"/>
                </a:ext>
              </a:extLst>
            </p:cNvPr>
            <p:cNvSpPr>
              <a:spLocks noChangeArrowheads="1"/>
            </p:cNvSpPr>
            <p:nvPr/>
          </p:nvSpPr>
          <p:spPr bwMode="auto">
            <a:xfrm>
              <a:off x="464" y="1161"/>
              <a:ext cx="3493" cy="279"/>
            </a:xfrm>
            <a:prstGeom prst="homePlate">
              <a:avLst>
                <a:gd name="adj" fmla="val 32516"/>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269" name="AutoShape 8">
              <a:extLst>
                <a:ext uri="{FF2B5EF4-FFF2-40B4-BE49-F238E27FC236}">
                  <a16:creationId xmlns:a16="http://schemas.microsoft.com/office/drawing/2014/main" id="{71D87166-A50C-4245-9B03-3F3DFEFE8CAB}"/>
                </a:ext>
              </a:extLst>
            </p:cNvPr>
            <p:cNvSpPr>
              <a:spLocks noChangeArrowheads="1"/>
            </p:cNvSpPr>
            <p:nvPr/>
          </p:nvSpPr>
          <p:spPr bwMode="auto">
            <a:xfrm>
              <a:off x="467" y="306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pSp>
          <p:nvGrpSpPr>
            <p:cNvPr id="11270" name="Group 6">
              <a:extLst>
                <a:ext uri="{FF2B5EF4-FFF2-40B4-BE49-F238E27FC236}">
                  <a16:creationId xmlns:a16="http://schemas.microsoft.com/office/drawing/2014/main" id="{4CC9A7BF-A096-41E2-9EB6-7C0EFD8F234F}"/>
                </a:ext>
              </a:extLst>
            </p:cNvPr>
            <p:cNvGrpSpPr>
              <a:grpSpLocks/>
            </p:cNvGrpSpPr>
            <p:nvPr/>
          </p:nvGrpSpPr>
          <p:grpSpPr bwMode="auto">
            <a:xfrm>
              <a:off x="385" y="1207"/>
              <a:ext cx="3575" cy="2438"/>
              <a:chOff x="385" y="1207"/>
              <a:chExt cx="3575" cy="2438"/>
            </a:xfrm>
          </p:grpSpPr>
          <p:sp>
            <p:nvSpPr>
              <p:cNvPr id="11271" name="Text Box 5">
                <a:extLst>
                  <a:ext uri="{FF2B5EF4-FFF2-40B4-BE49-F238E27FC236}">
                    <a16:creationId xmlns:a16="http://schemas.microsoft.com/office/drawing/2014/main" id="{8B22CA3F-C3E5-42B0-97F8-F94775E70BF2}"/>
                  </a:ext>
                </a:extLst>
              </p:cNvPr>
              <p:cNvSpPr txBox="1">
                <a:spLocks noChangeArrowheads="1"/>
              </p:cNvSpPr>
              <p:nvPr/>
            </p:nvSpPr>
            <p:spPr bwMode="auto">
              <a:xfrm>
                <a:off x="626" y="121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软件项目需求管理概述</a:t>
                </a:r>
                <a:r>
                  <a:rPr lang="zh-CN" altLang="en-US" sz="2000" b="0">
                    <a:latin typeface="Times New Roman" panose="02020603050405020304" pitchFamily="18" charset="0"/>
                  </a:rPr>
                  <a:t> </a:t>
                </a:r>
              </a:p>
            </p:txBody>
          </p:sp>
          <p:sp>
            <p:nvSpPr>
              <p:cNvPr id="11272" name="AutoShape 6">
                <a:extLst>
                  <a:ext uri="{FF2B5EF4-FFF2-40B4-BE49-F238E27FC236}">
                    <a16:creationId xmlns:a16="http://schemas.microsoft.com/office/drawing/2014/main" id="{DACB50C7-4F25-4637-8264-A9ADE56E8C92}"/>
                  </a:ext>
                </a:extLst>
              </p:cNvPr>
              <p:cNvSpPr>
                <a:spLocks noChangeArrowheads="1"/>
              </p:cNvSpPr>
              <p:nvPr/>
            </p:nvSpPr>
            <p:spPr bwMode="auto">
              <a:xfrm>
                <a:off x="464" y="1491"/>
                <a:ext cx="3493" cy="273"/>
              </a:xfrm>
              <a:prstGeom prst="homePlate">
                <a:avLst>
                  <a:gd name="adj" fmla="val 3252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273" name="Text Box 7">
                <a:extLst>
                  <a:ext uri="{FF2B5EF4-FFF2-40B4-BE49-F238E27FC236}">
                    <a16:creationId xmlns:a16="http://schemas.microsoft.com/office/drawing/2014/main" id="{A96C7A5F-C132-4E1C-941E-A6F2BDB43B32}"/>
                  </a:ext>
                </a:extLst>
              </p:cNvPr>
              <p:cNvSpPr txBox="1">
                <a:spLocks noChangeArrowheads="1"/>
              </p:cNvSpPr>
              <p:nvPr/>
            </p:nvSpPr>
            <p:spPr bwMode="auto">
              <a:xfrm>
                <a:off x="626" y="1539"/>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需求开发和管理过程</a:t>
                </a:r>
                <a:r>
                  <a:rPr lang="zh-CN" altLang="en-US" sz="2000" b="0">
                    <a:latin typeface="Times New Roman" panose="02020603050405020304" pitchFamily="18" charset="0"/>
                  </a:rPr>
                  <a:t> </a:t>
                </a:r>
              </a:p>
            </p:txBody>
          </p:sp>
          <p:sp>
            <p:nvSpPr>
              <p:cNvPr id="11274" name="AutoShape 8">
                <a:extLst>
                  <a:ext uri="{FF2B5EF4-FFF2-40B4-BE49-F238E27FC236}">
                    <a16:creationId xmlns:a16="http://schemas.microsoft.com/office/drawing/2014/main" id="{B56AC381-2F05-4900-AE9A-99253581C0D9}"/>
                  </a:ext>
                </a:extLst>
              </p:cNvPr>
              <p:cNvSpPr>
                <a:spLocks noChangeArrowheads="1"/>
              </p:cNvSpPr>
              <p:nvPr/>
            </p:nvSpPr>
            <p:spPr bwMode="auto">
              <a:xfrm>
                <a:off x="464" y="1800"/>
                <a:ext cx="3493" cy="266"/>
              </a:xfrm>
              <a:prstGeom prst="homePlate">
                <a:avLst>
                  <a:gd name="adj" fmla="val 32525"/>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275" name="Text Box 9">
                <a:extLst>
                  <a:ext uri="{FF2B5EF4-FFF2-40B4-BE49-F238E27FC236}">
                    <a16:creationId xmlns:a16="http://schemas.microsoft.com/office/drawing/2014/main" id="{FEEC7B2A-8863-4324-BF13-98B916C6EF2B}"/>
                  </a:ext>
                </a:extLst>
              </p:cNvPr>
              <p:cNvSpPr txBox="1">
                <a:spLocks noChangeArrowheads="1"/>
              </p:cNvSpPr>
              <p:nvPr/>
            </p:nvSpPr>
            <p:spPr bwMode="auto">
              <a:xfrm>
                <a:off x="626" y="184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需求获取方法</a:t>
                </a:r>
                <a:r>
                  <a:rPr lang="zh-CN" altLang="en-US" sz="2000" b="0">
                    <a:latin typeface="Times New Roman" panose="02020603050405020304" pitchFamily="18" charset="0"/>
                  </a:rPr>
                  <a:t> </a:t>
                </a:r>
              </a:p>
            </p:txBody>
          </p:sp>
          <p:sp>
            <p:nvSpPr>
              <p:cNvPr id="11276" name="Rectangle 10">
                <a:extLst>
                  <a:ext uri="{FF2B5EF4-FFF2-40B4-BE49-F238E27FC236}">
                    <a16:creationId xmlns:a16="http://schemas.microsoft.com/office/drawing/2014/main" id="{5E8CA62A-DFBB-44AA-83AC-CD9CF9DBF30C}"/>
                  </a:ext>
                </a:extLst>
              </p:cNvPr>
              <p:cNvSpPr>
                <a:spLocks noChangeArrowheads="1"/>
              </p:cNvSpPr>
              <p:nvPr/>
            </p:nvSpPr>
            <p:spPr bwMode="auto">
              <a:xfrm>
                <a:off x="385" y="1207"/>
                <a:ext cx="211" cy="164"/>
              </a:xfrm>
              <a:prstGeom prst="rect">
                <a:avLst/>
              </a:prstGeom>
              <a:solidFill>
                <a:schemeClr val="tx1"/>
              </a:solidFill>
              <a:ln w="6350">
                <a:solidFill>
                  <a:schemeClr val="tx1"/>
                </a:solidFill>
                <a:miter lim="800000"/>
                <a:headEnd/>
                <a:tailEnd/>
              </a:ln>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6.1</a:t>
                </a:r>
                <a:endParaRPr lang="en-US" altLang="zh-CN" sz="1800">
                  <a:solidFill>
                    <a:srgbClr val="000000"/>
                  </a:solidFill>
                </a:endParaRPr>
              </a:p>
            </p:txBody>
          </p:sp>
          <p:sp>
            <p:nvSpPr>
              <p:cNvPr id="11277" name="Rectangle 11">
                <a:extLst>
                  <a:ext uri="{FF2B5EF4-FFF2-40B4-BE49-F238E27FC236}">
                    <a16:creationId xmlns:a16="http://schemas.microsoft.com/office/drawing/2014/main" id="{14B31484-F4EA-4E85-872F-E8566A71D349}"/>
                  </a:ext>
                </a:extLst>
              </p:cNvPr>
              <p:cNvSpPr>
                <a:spLocks noChangeArrowheads="1"/>
              </p:cNvSpPr>
              <p:nvPr/>
            </p:nvSpPr>
            <p:spPr bwMode="auto">
              <a:xfrm>
                <a:off x="385" y="1564"/>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6.2</a:t>
                </a:r>
                <a:endParaRPr lang="en-US" altLang="zh-CN" sz="1800">
                  <a:solidFill>
                    <a:schemeClr val="bg1"/>
                  </a:solidFill>
                </a:endParaRPr>
              </a:p>
            </p:txBody>
          </p:sp>
          <p:sp>
            <p:nvSpPr>
              <p:cNvPr id="11278" name="Rectangle 12">
                <a:extLst>
                  <a:ext uri="{FF2B5EF4-FFF2-40B4-BE49-F238E27FC236}">
                    <a16:creationId xmlns:a16="http://schemas.microsoft.com/office/drawing/2014/main" id="{7E288696-0C68-412C-9C21-014AC2ED02DE}"/>
                  </a:ext>
                </a:extLst>
              </p:cNvPr>
              <p:cNvSpPr>
                <a:spLocks noChangeArrowheads="1"/>
              </p:cNvSpPr>
              <p:nvPr/>
            </p:nvSpPr>
            <p:spPr bwMode="auto">
              <a:xfrm>
                <a:off x="385" y="187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6.3</a:t>
                </a:r>
                <a:endParaRPr lang="en-US" altLang="zh-CN" sz="1800">
                  <a:solidFill>
                    <a:srgbClr val="000000"/>
                  </a:solidFill>
                </a:endParaRPr>
              </a:p>
            </p:txBody>
          </p:sp>
          <p:sp>
            <p:nvSpPr>
              <p:cNvPr id="11279" name="AutoShape 8">
                <a:extLst>
                  <a:ext uri="{FF2B5EF4-FFF2-40B4-BE49-F238E27FC236}">
                    <a16:creationId xmlns:a16="http://schemas.microsoft.com/office/drawing/2014/main" id="{6A7D9649-A56D-452F-A09F-845EDF517DDD}"/>
                  </a:ext>
                </a:extLst>
              </p:cNvPr>
              <p:cNvSpPr>
                <a:spLocks noChangeArrowheads="1"/>
              </p:cNvSpPr>
              <p:nvPr/>
            </p:nvSpPr>
            <p:spPr bwMode="auto">
              <a:xfrm>
                <a:off x="467" y="211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280" name="Text Box 9">
                <a:extLst>
                  <a:ext uri="{FF2B5EF4-FFF2-40B4-BE49-F238E27FC236}">
                    <a16:creationId xmlns:a16="http://schemas.microsoft.com/office/drawing/2014/main" id="{71071548-9AF0-4B1B-9F96-285EA17431C7}"/>
                  </a:ext>
                </a:extLst>
              </p:cNvPr>
              <p:cNvSpPr txBox="1">
                <a:spLocks noChangeArrowheads="1"/>
              </p:cNvSpPr>
              <p:nvPr/>
            </p:nvSpPr>
            <p:spPr bwMode="auto">
              <a:xfrm>
                <a:off x="629" y="216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需求分析建模方法</a:t>
                </a:r>
                <a:r>
                  <a:rPr lang="zh-CN" altLang="en-US" sz="2000" b="0">
                    <a:latin typeface="Times New Roman" panose="02020603050405020304" pitchFamily="18" charset="0"/>
                  </a:rPr>
                  <a:t> </a:t>
                </a:r>
              </a:p>
            </p:txBody>
          </p:sp>
          <p:sp>
            <p:nvSpPr>
              <p:cNvPr id="11281" name="Rectangle 12">
                <a:extLst>
                  <a:ext uri="{FF2B5EF4-FFF2-40B4-BE49-F238E27FC236}">
                    <a16:creationId xmlns:a16="http://schemas.microsoft.com/office/drawing/2014/main" id="{ECFB459C-D50A-4C02-A897-89874B3C3853}"/>
                  </a:ext>
                </a:extLst>
              </p:cNvPr>
              <p:cNvSpPr>
                <a:spLocks noChangeArrowheads="1"/>
              </p:cNvSpPr>
              <p:nvPr/>
            </p:nvSpPr>
            <p:spPr bwMode="auto">
              <a:xfrm>
                <a:off x="388" y="218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6.4</a:t>
                </a:r>
                <a:endParaRPr lang="en-US" altLang="zh-CN" sz="1800">
                  <a:solidFill>
                    <a:srgbClr val="000000"/>
                  </a:solidFill>
                </a:endParaRPr>
              </a:p>
            </p:txBody>
          </p:sp>
          <p:sp>
            <p:nvSpPr>
              <p:cNvPr id="11282" name="AutoShape 8">
                <a:extLst>
                  <a:ext uri="{FF2B5EF4-FFF2-40B4-BE49-F238E27FC236}">
                    <a16:creationId xmlns:a16="http://schemas.microsoft.com/office/drawing/2014/main" id="{2D6C1735-AF81-4785-9931-BEB8C7AF67BA}"/>
                  </a:ext>
                </a:extLst>
              </p:cNvPr>
              <p:cNvSpPr>
                <a:spLocks noChangeArrowheads="1"/>
              </p:cNvSpPr>
              <p:nvPr/>
            </p:nvSpPr>
            <p:spPr bwMode="auto">
              <a:xfrm>
                <a:off x="467" y="243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283" name="Text Box 9">
                <a:extLst>
                  <a:ext uri="{FF2B5EF4-FFF2-40B4-BE49-F238E27FC236}">
                    <a16:creationId xmlns:a16="http://schemas.microsoft.com/office/drawing/2014/main" id="{F136F62F-47F5-41FC-BDBC-E105543885C3}"/>
                  </a:ext>
                </a:extLst>
              </p:cNvPr>
              <p:cNvSpPr txBox="1">
                <a:spLocks noChangeArrowheads="1"/>
              </p:cNvSpPr>
              <p:nvPr/>
            </p:nvSpPr>
            <p:spPr bwMode="auto">
              <a:xfrm>
                <a:off x="629" y="247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需求管理工具</a:t>
                </a:r>
                <a:r>
                  <a:rPr lang="zh-CN" altLang="en-US" sz="2000" b="0">
                    <a:latin typeface="Times New Roman" panose="02020603050405020304" pitchFamily="18" charset="0"/>
                  </a:rPr>
                  <a:t> </a:t>
                </a:r>
              </a:p>
            </p:txBody>
          </p:sp>
          <p:sp>
            <p:nvSpPr>
              <p:cNvPr id="11284" name="Rectangle 12">
                <a:extLst>
                  <a:ext uri="{FF2B5EF4-FFF2-40B4-BE49-F238E27FC236}">
                    <a16:creationId xmlns:a16="http://schemas.microsoft.com/office/drawing/2014/main" id="{711ACEF1-AEAA-4DD4-AF24-DD0AE44D0EF2}"/>
                  </a:ext>
                </a:extLst>
              </p:cNvPr>
              <p:cNvSpPr>
                <a:spLocks noChangeArrowheads="1"/>
              </p:cNvSpPr>
              <p:nvPr/>
            </p:nvSpPr>
            <p:spPr bwMode="auto">
              <a:xfrm>
                <a:off x="388" y="250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6.5</a:t>
                </a:r>
                <a:endParaRPr lang="en-US" altLang="zh-CN" sz="1800">
                  <a:solidFill>
                    <a:srgbClr val="000000"/>
                  </a:solidFill>
                </a:endParaRPr>
              </a:p>
            </p:txBody>
          </p:sp>
          <p:sp>
            <p:nvSpPr>
              <p:cNvPr id="11285" name="AutoShape 8">
                <a:extLst>
                  <a:ext uri="{FF2B5EF4-FFF2-40B4-BE49-F238E27FC236}">
                    <a16:creationId xmlns:a16="http://schemas.microsoft.com/office/drawing/2014/main" id="{48D27942-092D-4B1C-AEBF-8E968D83A387}"/>
                  </a:ext>
                </a:extLst>
              </p:cNvPr>
              <p:cNvSpPr>
                <a:spLocks noChangeArrowheads="1"/>
              </p:cNvSpPr>
              <p:nvPr/>
            </p:nvSpPr>
            <p:spPr bwMode="auto">
              <a:xfrm>
                <a:off x="467" y="274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286" name="Text Box 9">
                <a:extLst>
                  <a:ext uri="{FF2B5EF4-FFF2-40B4-BE49-F238E27FC236}">
                    <a16:creationId xmlns:a16="http://schemas.microsoft.com/office/drawing/2014/main" id="{C9E7683C-DAF5-45D8-B088-D264C35F5308}"/>
                  </a:ext>
                </a:extLst>
              </p:cNvPr>
              <p:cNvSpPr txBox="1">
                <a:spLocks noChangeArrowheads="1"/>
              </p:cNvSpPr>
              <p:nvPr/>
            </p:nvSpPr>
            <p:spPr bwMode="auto">
              <a:xfrm>
                <a:off x="629" y="279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000" b="0">
                    <a:latin typeface="Times New Roman" panose="02020603050405020304" pitchFamily="18" charset="0"/>
                  </a:rPr>
                  <a:t> </a:t>
                </a:r>
              </a:p>
            </p:txBody>
          </p:sp>
          <p:sp>
            <p:nvSpPr>
              <p:cNvPr id="11287" name="Rectangle 12">
                <a:extLst>
                  <a:ext uri="{FF2B5EF4-FFF2-40B4-BE49-F238E27FC236}">
                    <a16:creationId xmlns:a16="http://schemas.microsoft.com/office/drawing/2014/main" id="{E051AFE6-491E-4D72-AB7D-56037EA0766C}"/>
                  </a:ext>
                </a:extLst>
              </p:cNvPr>
              <p:cNvSpPr>
                <a:spLocks noChangeArrowheads="1"/>
              </p:cNvSpPr>
              <p:nvPr/>
            </p:nvSpPr>
            <p:spPr bwMode="auto">
              <a:xfrm>
                <a:off x="388" y="278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6.6</a:t>
                </a:r>
                <a:endParaRPr lang="en-US" altLang="zh-CN" sz="1800">
                  <a:solidFill>
                    <a:srgbClr val="000000"/>
                  </a:solidFill>
                </a:endParaRPr>
              </a:p>
            </p:txBody>
          </p:sp>
          <p:sp>
            <p:nvSpPr>
              <p:cNvPr id="11288" name="Text Box 9">
                <a:extLst>
                  <a:ext uri="{FF2B5EF4-FFF2-40B4-BE49-F238E27FC236}">
                    <a16:creationId xmlns:a16="http://schemas.microsoft.com/office/drawing/2014/main" id="{76D32FA0-B9D9-4DCA-9C3B-C9427FE42047}"/>
                  </a:ext>
                </a:extLst>
              </p:cNvPr>
              <p:cNvSpPr txBox="1">
                <a:spLocks noChangeArrowheads="1"/>
              </p:cNvSpPr>
              <p:nvPr/>
            </p:nvSpPr>
            <p:spPr bwMode="auto">
              <a:xfrm>
                <a:off x="629" y="310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000" b="0">
                    <a:latin typeface="Times New Roman" panose="02020603050405020304" pitchFamily="18" charset="0"/>
                  </a:rPr>
                  <a:t> </a:t>
                </a:r>
              </a:p>
            </p:txBody>
          </p:sp>
          <p:sp>
            <p:nvSpPr>
              <p:cNvPr id="11289" name="Rectangle 12">
                <a:extLst>
                  <a:ext uri="{FF2B5EF4-FFF2-40B4-BE49-F238E27FC236}">
                    <a16:creationId xmlns:a16="http://schemas.microsoft.com/office/drawing/2014/main" id="{EDB22CEA-6A20-465B-87DA-AE3B42775B00}"/>
                  </a:ext>
                </a:extLst>
              </p:cNvPr>
              <p:cNvSpPr>
                <a:spLocks noChangeArrowheads="1"/>
              </p:cNvSpPr>
              <p:nvPr/>
            </p:nvSpPr>
            <p:spPr bwMode="auto">
              <a:xfrm>
                <a:off x="388" y="313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6.7</a:t>
                </a:r>
                <a:endParaRPr lang="en-US" altLang="zh-CN" sz="1800">
                  <a:solidFill>
                    <a:srgbClr val="000000"/>
                  </a:solidFill>
                </a:endParaRPr>
              </a:p>
            </p:txBody>
          </p:sp>
          <p:sp>
            <p:nvSpPr>
              <p:cNvPr id="11290" name="AutoShape 8">
                <a:extLst>
                  <a:ext uri="{FF2B5EF4-FFF2-40B4-BE49-F238E27FC236}">
                    <a16:creationId xmlns:a16="http://schemas.microsoft.com/office/drawing/2014/main" id="{26D92A5B-8CB5-482D-B4B6-7A34F3656264}"/>
                  </a:ext>
                </a:extLst>
              </p:cNvPr>
              <p:cNvSpPr>
                <a:spLocks noChangeArrowheads="1"/>
              </p:cNvSpPr>
              <p:nvPr/>
            </p:nvSpPr>
            <p:spPr bwMode="auto">
              <a:xfrm>
                <a:off x="467" y="3375"/>
                <a:ext cx="3493" cy="270"/>
              </a:xfrm>
              <a:prstGeom prst="homePlate">
                <a:avLst>
                  <a:gd name="adj" fmla="val 3252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291" name="Text Box 9">
                <a:extLst>
                  <a:ext uri="{FF2B5EF4-FFF2-40B4-BE49-F238E27FC236}">
                    <a16:creationId xmlns:a16="http://schemas.microsoft.com/office/drawing/2014/main" id="{768C4E87-04FC-45EF-A563-A9A934A79E90}"/>
                  </a:ext>
                </a:extLst>
              </p:cNvPr>
              <p:cNvSpPr txBox="1">
                <a:spLocks noChangeArrowheads="1"/>
              </p:cNvSpPr>
              <p:nvPr/>
            </p:nvSpPr>
            <p:spPr bwMode="auto">
              <a:xfrm>
                <a:off x="629" y="342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000" b="0">
                    <a:latin typeface="Times New Roman" panose="02020603050405020304" pitchFamily="18" charset="0"/>
                  </a:rPr>
                  <a:t> </a:t>
                </a:r>
              </a:p>
            </p:txBody>
          </p:sp>
          <p:sp>
            <p:nvSpPr>
              <p:cNvPr id="11292" name="Rectangle 12">
                <a:extLst>
                  <a:ext uri="{FF2B5EF4-FFF2-40B4-BE49-F238E27FC236}">
                    <a16:creationId xmlns:a16="http://schemas.microsoft.com/office/drawing/2014/main" id="{BE1C333A-7096-4180-A7EF-A64932FCB8EC}"/>
                  </a:ext>
                </a:extLst>
              </p:cNvPr>
              <p:cNvSpPr>
                <a:spLocks noChangeArrowheads="1"/>
              </p:cNvSpPr>
              <p:nvPr/>
            </p:nvSpPr>
            <p:spPr bwMode="auto">
              <a:xfrm>
                <a:off x="388" y="344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6.8</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slide(fromBottom)">
                                      <p:cBhvr>
                                        <p:cTn id="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81873DA-C2E5-4946-8DB3-E579C9C50882}"/>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aphicFrame>
        <p:nvGraphicFramePr>
          <p:cNvPr id="12291" name="Object 1">
            <a:extLst>
              <a:ext uri="{FF2B5EF4-FFF2-40B4-BE49-F238E27FC236}">
                <a16:creationId xmlns:a16="http://schemas.microsoft.com/office/drawing/2014/main" id="{E182D910-EF1E-43E0-863C-CF8D287E08DE}"/>
              </a:ext>
            </a:extLst>
          </p:cNvPr>
          <p:cNvGraphicFramePr>
            <a:graphicFrameLocks noChangeAspect="1"/>
          </p:cNvGraphicFramePr>
          <p:nvPr/>
        </p:nvGraphicFramePr>
        <p:xfrm>
          <a:off x="1928813" y="2462213"/>
          <a:ext cx="5072062" cy="4351337"/>
        </p:xfrm>
        <a:graphic>
          <a:graphicData uri="http://schemas.openxmlformats.org/presentationml/2006/ole">
            <mc:AlternateContent xmlns:mc="http://schemas.openxmlformats.org/markup-compatibility/2006">
              <mc:Choice xmlns:v="urn:schemas-microsoft-com:vml" Requires="v">
                <p:oleObj name="Visio" r:id="rId2" imgW="7864754" imgH="7684618" progId="Visio.Drawing.11">
                  <p:embed/>
                </p:oleObj>
              </mc:Choice>
              <mc:Fallback>
                <p:oleObj name="Visio" r:id="rId2" imgW="7864754" imgH="768461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813" y="2462213"/>
                        <a:ext cx="5072062"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2" name="Rectangle 3">
            <a:extLst>
              <a:ext uri="{FF2B5EF4-FFF2-40B4-BE49-F238E27FC236}">
                <a16:creationId xmlns:a16="http://schemas.microsoft.com/office/drawing/2014/main" id="{AA07A4B8-214A-4A24-B22C-1FE82CB7F3ED}"/>
              </a:ext>
            </a:extLst>
          </p:cNvPr>
          <p:cNvSpPr>
            <a:spLocks noChangeArrowheads="1"/>
          </p:cNvSpPr>
          <p:nvPr/>
        </p:nvSpPr>
        <p:spPr bwMode="auto">
          <a:xfrm>
            <a:off x="971550" y="1922463"/>
            <a:ext cx="3652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1270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2400">
                <a:solidFill>
                  <a:schemeClr val="accent1"/>
                </a:solidFill>
                <a:latin typeface="新宋体" panose="02010609030101010101" pitchFamily="49" charset="-122"/>
              </a:rPr>
              <a:t>需求过程所涉及的工作</a:t>
            </a:r>
            <a:endParaRPr lang="zh-CN" altLang="en-US" sz="2400">
              <a:solidFill>
                <a:schemeClr val="accent1"/>
              </a:solidFill>
              <a:latin typeface="Times New Roman" panose="02020603050405020304" pitchFamily="18" charset="0"/>
            </a:endParaRPr>
          </a:p>
        </p:txBody>
      </p:sp>
      <p:sp>
        <p:nvSpPr>
          <p:cNvPr id="12293" name="Rectangle 2">
            <a:extLst>
              <a:ext uri="{FF2B5EF4-FFF2-40B4-BE49-F238E27FC236}">
                <a16:creationId xmlns:a16="http://schemas.microsoft.com/office/drawing/2014/main" id="{46029D1D-7FFE-4599-B73A-F05D076C8963}"/>
              </a:ext>
            </a:extLst>
          </p:cNvPr>
          <p:cNvSpPr>
            <a:spLocks noGrp="1" noChangeArrowheads="1"/>
          </p:cNvSpPr>
          <p:nvPr>
            <p:ph type="title"/>
          </p:nvPr>
        </p:nvSpPr>
        <p:spPr>
          <a:xfrm>
            <a:off x="177800" y="1054100"/>
            <a:ext cx="8788400" cy="717550"/>
          </a:xfrm>
          <a:noFill/>
        </p:spPr>
        <p:txBody>
          <a:bodyPr/>
          <a:lstStyle/>
          <a:p>
            <a:pPr eaLnBrk="1" hangingPunct="1"/>
            <a:r>
              <a:rPr lang="en-US" altLang="zh-CN"/>
              <a:t>6.2 </a:t>
            </a:r>
            <a:r>
              <a:rPr lang="zh-CN" altLang="en-US"/>
              <a:t>需求开发和管理过程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4">
            <a:extLst>
              <a:ext uri="{FF2B5EF4-FFF2-40B4-BE49-F238E27FC236}">
                <a16:creationId xmlns:a16="http://schemas.microsoft.com/office/drawing/2014/main" id="{64AAF2A0-D495-4970-ACB5-25A243C0DDB9}"/>
              </a:ext>
            </a:extLst>
          </p:cNvPr>
          <p:cNvSpPr txBox="1">
            <a:spLocks noChangeArrowheads="1"/>
          </p:cNvSpPr>
          <p:nvPr/>
        </p:nvSpPr>
        <p:spPr bwMode="auto">
          <a:xfrm>
            <a:off x="857250" y="1844675"/>
            <a:ext cx="7929563"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Clr>
                <a:schemeClr val="accent2"/>
              </a:buClr>
              <a:buSzPct val="70000"/>
              <a:buFont typeface="Wingdings" panose="05000000000000000000" pitchFamily="2" charset="2"/>
              <a:buChar char="n"/>
            </a:pPr>
            <a:r>
              <a:rPr lang="zh-CN" altLang="en-US" sz="2400" dirty="0">
                <a:solidFill>
                  <a:schemeClr val="accent2"/>
                </a:solidFill>
                <a:latin typeface="Times New Roman" panose="02020603050405020304" pitchFamily="18" charset="0"/>
                <a:ea typeface="黑体" panose="02010609060101010101" pitchFamily="49" charset="-122"/>
              </a:rPr>
              <a:t>需求工程</a:t>
            </a:r>
            <a:r>
              <a:rPr lang="en-US" altLang="zh-CN" sz="2000" dirty="0">
                <a:solidFill>
                  <a:schemeClr val="accent2"/>
                </a:solidFill>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rPr>
              <a:t>也叫做需求过程或需求阶段，包括</a:t>
            </a:r>
            <a:r>
              <a:rPr lang="zh-CN" altLang="en-US" sz="2000" dirty="0">
                <a:solidFill>
                  <a:srgbClr val="FF0000"/>
                </a:solidFill>
                <a:latin typeface="Times New Roman" panose="02020603050405020304" pitchFamily="18" charset="0"/>
              </a:rPr>
              <a:t>需求开发</a:t>
            </a:r>
            <a:r>
              <a:rPr lang="zh-CN" altLang="en-US" sz="2000" dirty="0">
                <a:latin typeface="Times New Roman" panose="02020603050405020304" pitchFamily="18" charset="0"/>
              </a:rPr>
              <a:t>和</a:t>
            </a:r>
            <a:r>
              <a:rPr lang="zh-CN" altLang="en-US" sz="2000" dirty="0">
                <a:solidFill>
                  <a:srgbClr val="FF0000"/>
                </a:solidFill>
                <a:latin typeface="Times New Roman" panose="02020603050405020304" pitchFamily="18" charset="0"/>
              </a:rPr>
              <a:t>需  求管理</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eaLnBrk="1" hangingPunct="1">
              <a:lnSpc>
                <a:spcPct val="110000"/>
              </a:lnSpc>
              <a:spcBef>
                <a:spcPct val="0"/>
              </a:spcBef>
              <a:buClr>
                <a:schemeClr val="accent2"/>
              </a:buClr>
              <a:buSzPct val="70000"/>
              <a:buFont typeface="Wingdings" panose="05000000000000000000" pitchFamily="2" charset="2"/>
              <a:buChar char="n"/>
            </a:pPr>
            <a:r>
              <a:rPr lang="zh-CN" altLang="en-US" sz="2000" dirty="0">
                <a:solidFill>
                  <a:schemeClr val="accent2"/>
                </a:solidFill>
                <a:latin typeface="Times New Roman" panose="02020603050405020304" pitchFamily="18" charset="0"/>
                <a:ea typeface="黑体" panose="02010609060101010101" pitchFamily="49" charset="-122"/>
              </a:rPr>
              <a:t>需求开发</a:t>
            </a:r>
            <a:r>
              <a:rPr lang="en-US" altLang="zh-CN" sz="2000" dirty="0">
                <a:solidFill>
                  <a:schemeClr val="accent2"/>
                </a:solidFill>
                <a:latin typeface="Times New Roman" panose="02020603050405020304" pitchFamily="18" charset="0"/>
                <a:ea typeface="黑体" panose="02010609060101010101" pitchFamily="49" charset="-122"/>
              </a:rPr>
              <a:t>——</a:t>
            </a:r>
            <a:r>
              <a:rPr lang="zh-CN" altLang="en-US" sz="2000" dirty="0">
                <a:solidFill>
                  <a:srgbClr val="FF0000"/>
                </a:solidFill>
                <a:latin typeface="Times New Roman" panose="02020603050405020304" pitchFamily="18" charset="0"/>
              </a:rPr>
              <a:t>包括需求获取、需求分析、编写需求规格说明、验证需求</a:t>
            </a:r>
            <a:r>
              <a:rPr lang="zh-CN" altLang="en-US" sz="2000" dirty="0">
                <a:latin typeface="Times New Roman" panose="02020603050405020304" pitchFamily="18" charset="0"/>
              </a:rPr>
              <a:t>四个阶段，在这四个阶段执行以下活动：</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确定产品所期望的用户类；</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获取每个用户类的需求；</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了解实际用户任务和目标以及这些任务所支持的业务需求；</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分析源于用户的信息以区别业务需求、功能需求、质量属性、业务规则，建议解决的方法和附加的信息；</a:t>
            </a:r>
            <a:r>
              <a:rPr lang="en-US" altLang="zh-CN" sz="2000" dirty="0">
                <a:latin typeface="Times New Roman" panose="02020603050405020304" pitchFamily="18" charset="0"/>
              </a:rPr>
              <a:t> </a:t>
            </a:r>
            <a:endParaRPr lang="zh-CN" altLang="en-US" sz="2000" dirty="0">
              <a:latin typeface="Times New Roman" panose="02020603050405020304" pitchFamily="18" charset="0"/>
            </a:endParaRP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分解需求，并将需求中的一部分分配给软件组件；</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了解相关属性的重要性；</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划分实施优先级；</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编写需求规格说明和模型；</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评审需求规格，验证对用户需求的正确理解和认识。</a:t>
            </a:r>
          </a:p>
        </p:txBody>
      </p:sp>
      <p:sp>
        <p:nvSpPr>
          <p:cNvPr id="13315" name="Rectangle 2">
            <a:extLst>
              <a:ext uri="{FF2B5EF4-FFF2-40B4-BE49-F238E27FC236}">
                <a16:creationId xmlns:a16="http://schemas.microsoft.com/office/drawing/2014/main" id="{43660C71-A053-4068-97C0-54A4371A1833}"/>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需求开发和管理过程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5">
            <a:extLst>
              <a:ext uri="{FF2B5EF4-FFF2-40B4-BE49-F238E27FC236}">
                <a16:creationId xmlns:a16="http://schemas.microsoft.com/office/drawing/2014/main" id="{67F2D74B-A118-444A-B4E9-60268DE86C37}"/>
              </a:ext>
            </a:extLst>
          </p:cNvPr>
          <p:cNvSpPr txBox="1">
            <a:spLocks noChangeArrowheads="1"/>
          </p:cNvSpPr>
          <p:nvPr/>
        </p:nvSpPr>
        <p:spPr bwMode="auto">
          <a:xfrm>
            <a:off x="857250" y="1916113"/>
            <a:ext cx="7929563"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Clr>
                <a:schemeClr val="accent2"/>
              </a:buClr>
              <a:buSzPct val="70000"/>
              <a:buFont typeface="Wingdings" panose="05000000000000000000" pitchFamily="2" charset="2"/>
              <a:buChar char="n"/>
            </a:pPr>
            <a:r>
              <a:rPr lang="zh-CN" altLang="en-US" sz="2000" dirty="0">
                <a:solidFill>
                  <a:schemeClr val="accent2"/>
                </a:solidFill>
                <a:latin typeface="Times New Roman" panose="02020603050405020304" pitchFamily="18" charset="0"/>
                <a:ea typeface="黑体" panose="02010609060101010101" pitchFamily="49" charset="-122"/>
              </a:rPr>
              <a:t>需求管理</a:t>
            </a:r>
            <a:r>
              <a:rPr lang="en-US" altLang="zh-CN" sz="2000" dirty="0">
                <a:solidFill>
                  <a:schemeClr val="accent2"/>
                </a:solidFill>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rPr>
              <a:t>是一种用于</a:t>
            </a:r>
            <a:r>
              <a:rPr lang="zh-CN" altLang="en-US" sz="2000" dirty="0">
                <a:solidFill>
                  <a:srgbClr val="FF0000"/>
                </a:solidFill>
                <a:latin typeface="Times New Roman" panose="02020603050405020304" pitchFamily="18" charset="0"/>
              </a:rPr>
              <a:t>查找、记录、组织和跟踪系统需求变更</a:t>
            </a:r>
            <a:r>
              <a:rPr lang="zh-CN" altLang="en-US" sz="2000" dirty="0">
                <a:latin typeface="Times New Roman" panose="02020603050405020304" pitchFamily="18" charset="0"/>
              </a:rPr>
              <a:t>的系统化方法，可用于获取、组织和记录系统需求并使客户和项目团队在系统需求变更上保持一致。</a:t>
            </a:r>
          </a:p>
          <a:p>
            <a:pPr eaLnBrk="1" hangingPunct="1">
              <a:lnSpc>
                <a:spcPct val="110000"/>
              </a:lnSpc>
              <a:spcBef>
                <a:spcPct val="0"/>
              </a:spcBef>
              <a:buClr>
                <a:schemeClr val="accent2"/>
              </a:buClr>
              <a:buSzPct val="70000"/>
              <a:buFont typeface="Wingdings" panose="05000000000000000000" pitchFamily="2" charset="2"/>
              <a:buChar char="n"/>
            </a:pPr>
            <a:r>
              <a:rPr lang="zh-CN" altLang="en-US" sz="2000" dirty="0">
                <a:latin typeface="Times New Roman" panose="02020603050405020304" pitchFamily="18" charset="0"/>
              </a:rPr>
              <a:t>有效的需求管理在于维护清晰明确的需求阐述、每种需求类型所适用的属性，以及与其它需求和其它项目工件之间的可追踪性。</a:t>
            </a:r>
          </a:p>
          <a:p>
            <a:pPr eaLnBrk="1" hangingPunct="1">
              <a:lnSpc>
                <a:spcPct val="110000"/>
              </a:lnSpc>
              <a:spcBef>
                <a:spcPct val="0"/>
              </a:spcBef>
              <a:buClr>
                <a:schemeClr val="accent2"/>
              </a:buClr>
              <a:buSzPct val="70000"/>
              <a:buFont typeface="Wingdings" panose="05000000000000000000" pitchFamily="2" charset="2"/>
              <a:buChar char="n"/>
            </a:pPr>
            <a:r>
              <a:rPr lang="zh-CN" altLang="en-US" sz="2000" dirty="0">
                <a:solidFill>
                  <a:schemeClr val="accent2"/>
                </a:solidFill>
                <a:latin typeface="Times New Roman" panose="02020603050405020304" pitchFamily="18" charset="0"/>
                <a:ea typeface="黑体" panose="02010609060101010101" pitchFamily="49" charset="-122"/>
              </a:rPr>
              <a:t>需求管理活动包括</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定义需求基线</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评审需求变更并评估每项需求变更对软件产品的影响从而决定是否实施它。</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以一种可控制的方式将需求变更融入当前的软件项目。</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让当前的项目计划和需求保持一致。</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估计变更所产生的影响并在此基础上协商新的约定</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实现通过需求可跟踪对应的设计、源代码和测试用例。</a:t>
            </a:r>
          </a:p>
          <a:p>
            <a:pPr eaLnBrk="1" hangingPunct="1">
              <a:lnSpc>
                <a:spcPct val="110000"/>
              </a:lnSpc>
              <a:spcBef>
                <a:spcPct val="0"/>
              </a:spcBef>
              <a:buClr>
                <a:schemeClr val="accent2"/>
              </a:buClr>
              <a:buFont typeface="黑体" panose="02010609060101010101" pitchFamily="49" charset="-122"/>
              <a:buChar char="-"/>
            </a:pPr>
            <a:r>
              <a:rPr lang="zh-CN" altLang="en-US" sz="2000" dirty="0">
                <a:latin typeface="Times New Roman" panose="02020603050405020304" pitchFamily="18" charset="0"/>
              </a:rPr>
              <a:t>在整个项目过程中跟踪需求状态及其变更情况。</a:t>
            </a:r>
          </a:p>
          <a:p>
            <a:pPr eaLnBrk="1" hangingPunct="1">
              <a:spcBef>
                <a:spcPct val="0"/>
              </a:spcBef>
              <a:buClrTx/>
              <a:buFontTx/>
              <a:buNone/>
            </a:pPr>
            <a:endParaRPr lang="zh-CN" altLang="en-US" sz="2000" b="0" dirty="0">
              <a:latin typeface="Times New Roman" panose="02020603050405020304" pitchFamily="18" charset="0"/>
            </a:endParaRPr>
          </a:p>
        </p:txBody>
      </p:sp>
      <p:sp>
        <p:nvSpPr>
          <p:cNvPr id="14339" name="Rectangle 2">
            <a:extLst>
              <a:ext uri="{FF2B5EF4-FFF2-40B4-BE49-F238E27FC236}">
                <a16:creationId xmlns:a16="http://schemas.microsoft.com/office/drawing/2014/main" id="{9A461325-9035-4956-B847-A7308BFB854D}"/>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需求开发和管理过程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a:extLst>
              <a:ext uri="{FF2B5EF4-FFF2-40B4-BE49-F238E27FC236}">
                <a16:creationId xmlns:a16="http://schemas.microsoft.com/office/drawing/2014/main" id="{A0F13361-FCB6-48C1-A07D-E535337C5F44}"/>
              </a:ext>
            </a:extLst>
          </p:cNvPr>
          <p:cNvSpPr txBox="1">
            <a:spLocks noChangeArrowheads="1"/>
          </p:cNvSpPr>
          <p:nvPr/>
        </p:nvSpPr>
        <p:spPr bwMode="auto">
          <a:xfrm>
            <a:off x="1004888" y="1844675"/>
            <a:ext cx="7410450" cy="514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需求获取</a:t>
            </a:r>
          </a:p>
          <a:p>
            <a:pPr>
              <a:lnSpc>
                <a:spcPct val="110000"/>
              </a:lnSpc>
              <a:spcBef>
                <a:spcPct val="0"/>
              </a:spcBef>
              <a:buClr>
                <a:schemeClr val="accent2"/>
              </a:buClr>
              <a:buFont typeface="Wingdings" panose="05000000000000000000" pitchFamily="2" charset="2"/>
              <a:buNone/>
            </a:pPr>
            <a:r>
              <a:rPr lang="zh-CN" altLang="en-US" sz="2000" b="0" dirty="0">
                <a:latin typeface="Times New Roman" panose="02020603050405020304" pitchFamily="18" charset="0"/>
              </a:rPr>
              <a:t>        </a:t>
            </a:r>
            <a:r>
              <a:rPr lang="zh-CN" altLang="en-US" sz="2000" dirty="0">
                <a:latin typeface="Times New Roman" panose="02020603050405020304" pitchFamily="18" charset="0"/>
              </a:rPr>
              <a:t>需求获取的主要目的是从宏观上把握用户的具体需求方向和趋势，了解现有的组织架构、业务流程、系统环境等，对任务进行分析、从而</a:t>
            </a:r>
            <a:r>
              <a:rPr lang="zh-CN" altLang="en-US" sz="2000" dirty="0">
                <a:solidFill>
                  <a:srgbClr val="FF0000"/>
                </a:solidFill>
                <a:latin typeface="Times New Roman" panose="02020603050405020304" pitchFamily="18" charset="0"/>
              </a:rPr>
              <a:t>开发、捕获和修订用户的需求</a:t>
            </a:r>
            <a:r>
              <a:rPr lang="zh-CN" altLang="en-US" sz="2000" dirty="0">
                <a:latin typeface="Times New Roman" panose="02020603050405020304" pitchFamily="18" charset="0"/>
              </a:rPr>
              <a:t>，以建立良好的沟通渠道和方式。</a:t>
            </a:r>
          </a:p>
          <a:p>
            <a:pPr>
              <a:lnSpc>
                <a:spcPct val="110000"/>
              </a:lnSpc>
              <a:spcBef>
                <a:spcPct val="0"/>
              </a:spcBef>
              <a:buClrTx/>
              <a:buFontTx/>
              <a:buNone/>
            </a:pPr>
            <a:r>
              <a:rPr lang="zh-CN" altLang="en-US" sz="2000" dirty="0">
                <a:latin typeface="Times New Roman" panose="02020603050405020304" pitchFamily="18" charset="0"/>
              </a:rPr>
              <a:t>        需求获取需要执行以下活动：</a:t>
            </a:r>
          </a:p>
          <a:p>
            <a:pPr lvl="2">
              <a:lnSpc>
                <a:spcPct val="110000"/>
              </a:lnSpc>
              <a:spcBef>
                <a:spcPct val="0"/>
              </a:spcBef>
              <a:buClr>
                <a:schemeClr val="accent2"/>
              </a:buClr>
              <a:buFont typeface="黑体" panose="02010609060101010101" pitchFamily="49" charset="-122"/>
              <a:buChar char="-"/>
            </a:pPr>
            <a:r>
              <a:rPr lang="zh-CN" altLang="en-US" dirty="0">
                <a:latin typeface="Times New Roman" panose="02020603050405020304" pitchFamily="18" charset="0"/>
              </a:rPr>
              <a:t> 确定需求开发过程</a:t>
            </a:r>
            <a:endParaRPr lang="en-US" altLang="zh-CN" dirty="0">
              <a:latin typeface="Times New Roman" panose="02020603050405020304" pitchFamily="18" charset="0"/>
            </a:endParaRPr>
          </a:p>
          <a:p>
            <a:pPr lvl="2">
              <a:lnSpc>
                <a:spcPct val="110000"/>
              </a:lnSpc>
              <a:spcBef>
                <a:spcPct val="0"/>
              </a:spcBef>
              <a:buClr>
                <a:schemeClr val="accent2"/>
              </a:buClr>
              <a:buFont typeface="黑体" panose="02010609060101010101" pitchFamily="49" charset="-122"/>
              <a:buChar char="-"/>
            </a:pPr>
            <a:r>
              <a:rPr lang="zh-CN" altLang="en-US" dirty="0">
                <a:latin typeface="Times New Roman" panose="02020603050405020304" pitchFamily="18" charset="0"/>
              </a:rPr>
              <a:t> 编写项目视图和范围文档</a:t>
            </a:r>
            <a:endParaRPr lang="en-US" altLang="zh-CN" dirty="0">
              <a:latin typeface="Times New Roman" panose="02020603050405020304" pitchFamily="18" charset="0"/>
            </a:endParaRPr>
          </a:p>
          <a:p>
            <a:pPr lvl="2">
              <a:lnSpc>
                <a:spcPct val="110000"/>
              </a:lnSpc>
              <a:spcBef>
                <a:spcPct val="0"/>
              </a:spcBef>
              <a:buClr>
                <a:schemeClr val="accent2"/>
              </a:buClr>
              <a:buFont typeface="黑体" panose="02010609060101010101" pitchFamily="49" charset="-122"/>
              <a:buChar char="-"/>
            </a:pPr>
            <a:r>
              <a:rPr lang="zh-CN" altLang="en-US" dirty="0">
                <a:latin typeface="Times New Roman" panose="02020603050405020304" pitchFamily="18" charset="0"/>
              </a:rPr>
              <a:t> 获取涉众请求（用户类型分组）</a:t>
            </a:r>
            <a:endParaRPr lang="en-US" altLang="zh-CN" dirty="0">
              <a:latin typeface="Times New Roman" panose="02020603050405020304" pitchFamily="18" charset="0"/>
            </a:endParaRPr>
          </a:p>
          <a:p>
            <a:pPr lvl="2">
              <a:lnSpc>
                <a:spcPct val="110000"/>
              </a:lnSpc>
              <a:spcBef>
                <a:spcPct val="0"/>
              </a:spcBef>
              <a:buClr>
                <a:schemeClr val="accent2"/>
              </a:buClr>
              <a:buFont typeface="黑体" panose="02010609060101010101" pitchFamily="49" charset="-122"/>
              <a:buChar char="-"/>
            </a:pPr>
            <a:r>
              <a:rPr lang="zh-CN" altLang="en-US" dirty="0">
                <a:latin typeface="Times New Roman" panose="02020603050405020304" pitchFamily="18" charset="0"/>
              </a:rPr>
              <a:t> 选择每类用户的产品代表</a:t>
            </a:r>
            <a:endParaRPr lang="en-US" altLang="zh-CN" dirty="0">
              <a:latin typeface="Times New Roman" panose="02020603050405020304" pitchFamily="18" charset="0"/>
            </a:endParaRPr>
          </a:p>
          <a:p>
            <a:pPr lvl="2">
              <a:lnSpc>
                <a:spcPct val="110000"/>
              </a:lnSpc>
              <a:spcBef>
                <a:spcPct val="0"/>
              </a:spcBef>
              <a:buClr>
                <a:schemeClr val="accent2"/>
              </a:buClr>
              <a:buFont typeface="黑体" panose="02010609060101010101" pitchFamily="49" charset="-122"/>
              <a:buChar char="-"/>
            </a:pPr>
            <a:r>
              <a:rPr lang="zh-CN" altLang="en-US" dirty="0">
                <a:latin typeface="Times New Roman" panose="02020603050405020304" pitchFamily="18" charset="0"/>
              </a:rPr>
              <a:t> 建立典型的以用户为核心的队伍</a:t>
            </a:r>
            <a:endParaRPr lang="en-US" altLang="zh-CN" dirty="0">
              <a:latin typeface="Times New Roman" panose="02020603050405020304" pitchFamily="18" charset="0"/>
            </a:endParaRPr>
          </a:p>
          <a:p>
            <a:pPr lvl="2">
              <a:lnSpc>
                <a:spcPct val="110000"/>
              </a:lnSpc>
              <a:spcBef>
                <a:spcPct val="0"/>
              </a:spcBef>
              <a:buClr>
                <a:schemeClr val="accent2"/>
              </a:buClr>
              <a:buFont typeface="黑体" panose="02010609060101010101" pitchFamily="49" charset="-122"/>
              <a:buChar char="-"/>
            </a:pPr>
            <a:r>
              <a:rPr lang="zh-CN" altLang="en-US" dirty="0">
                <a:latin typeface="Times New Roman" panose="02020603050405020304" pitchFamily="18" charset="0"/>
              </a:rPr>
              <a:t> 让用户代表确定用例</a:t>
            </a:r>
            <a:endParaRPr lang="en-US" altLang="zh-CN" dirty="0">
              <a:latin typeface="Times New Roman" panose="02020603050405020304" pitchFamily="18" charset="0"/>
            </a:endParaRPr>
          </a:p>
          <a:p>
            <a:pPr lvl="2">
              <a:lnSpc>
                <a:spcPct val="110000"/>
              </a:lnSpc>
              <a:spcBef>
                <a:spcPct val="0"/>
              </a:spcBef>
              <a:buClr>
                <a:schemeClr val="accent2"/>
              </a:buClr>
              <a:buFont typeface="黑体" panose="02010609060101010101" pitchFamily="49" charset="-122"/>
              <a:buChar char="-"/>
            </a:pPr>
            <a:r>
              <a:rPr lang="zh-CN" altLang="en-US" dirty="0">
                <a:latin typeface="Times New Roman" panose="02020603050405020304" pitchFamily="18" charset="0"/>
              </a:rPr>
              <a:t> 召开应用程序开发联系会议</a:t>
            </a:r>
            <a:endParaRPr lang="en-US" altLang="zh-CN" dirty="0">
              <a:latin typeface="Times New Roman" panose="02020603050405020304" pitchFamily="18" charset="0"/>
            </a:endParaRPr>
          </a:p>
          <a:p>
            <a:pPr lvl="2">
              <a:lnSpc>
                <a:spcPct val="110000"/>
              </a:lnSpc>
              <a:spcBef>
                <a:spcPct val="0"/>
              </a:spcBef>
              <a:buClr>
                <a:schemeClr val="accent2"/>
              </a:buClr>
              <a:buFont typeface="黑体" panose="02010609060101010101" pitchFamily="49" charset="-122"/>
              <a:buChar char="-"/>
            </a:pPr>
            <a:r>
              <a:rPr lang="zh-CN" altLang="en-US" dirty="0">
                <a:latin typeface="Times New Roman" panose="02020603050405020304" pitchFamily="18" charset="0"/>
              </a:rPr>
              <a:t> 分析用户工作流程</a:t>
            </a:r>
            <a:endParaRPr lang="en-US" altLang="zh-CN" dirty="0">
              <a:latin typeface="Times New Roman" panose="02020603050405020304" pitchFamily="18" charset="0"/>
            </a:endParaRPr>
          </a:p>
          <a:p>
            <a:pPr lvl="2">
              <a:lnSpc>
                <a:spcPct val="110000"/>
              </a:lnSpc>
              <a:spcBef>
                <a:spcPct val="0"/>
              </a:spcBef>
              <a:buClr>
                <a:schemeClr val="accent2"/>
              </a:buClr>
              <a:buFont typeface="黑体" panose="02010609060101010101" pitchFamily="49" charset="-122"/>
              <a:buChar char="-"/>
            </a:pPr>
            <a:r>
              <a:rPr lang="zh-CN" altLang="en-US" dirty="0">
                <a:latin typeface="Times New Roman" panose="02020603050405020304" pitchFamily="18" charset="0"/>
              </a:rPr>
              <a:t> 确定质量属性和其它非功能需求</a:t>
            </a:r>
            <a:endParaRPr lang="en-US" altLang="zh-CN" dirty="0">
              <a:latin typeface="Times New Roman" panose="02020603050405020304" pitchFamily="18" charset="0"/>
            </a:endParaRPr>
          </a:p>
        </p:txBody>
      </p:sp>
      <p:sp>
        <p:nvSpPr>
          <p:cNvPr id="15363" name="Rectangle 2">
            <a:extLst>
              <a:ext uri="{FF2B5EF4-FFF2-40B4-BE49-F238E27FC236}">
                <a16:creationId xmlns:a16="http://schemas.microsoft.com/office/drawing/2014/main" id="{5C3A0F6B-3A92-4180-BCCF-DDAAD39B42C0}"/>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需求开发和管理过程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3">
            <a:extLst>
              <a:ext uri="{FF2B5EF4-FFF2-40B4-BE49-F238E27FC236}">
                <a16:creationId xmlns:a16="http://schemas.microsoft.com/office/drawing/2014/main" id="{AE755BCE-2204-4FDF-AB3E-415733E6B098}"/>
              </a:ext>
            </a:extLst>
          </p:cNvPr>
          <p:cNvSpPr txBox="1">
            <a:spLocks noChangeArrowheads="1"/>
          </p:cNvSpPr>
          <p:nvPr/>
        </p:nvSpPr>
        <p:spPr bwMode="auto">
          <a:xfrm>
            <a:off x="1004888" y="1916113"/>
            <a:ext cx="7410450" cy="437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需求分析</a:t>
            </a:r>
            <a:endParaRPr kumimoji="0" lang="en-US" altLang="zh-CN" sz="2400" dirty="0">
              <a:solidFill>
                <a:schemeClr val="accent2"/>
              </a:solidFill>
              <a:ea typeface="黑体" panose="02010609060101010101" pitchFamily="49" charset="-122"/>
            </a:endParaRPr>
          </a:p>
          <a:p>
            <a:pPr eaLnBrk="1" hangingPunct="1">
              <a:buClrTx/>
              <a:buFontTx/>
              <a:buNone/>
            </a:pPr>
            <a:r>
              <a:rPr lang="zh-CN" altLang="en-US" sz="2000" b="0" dirty="0">
                <a:latin typeface="Times New Roman" panose="02020603050405020304" pitchFamily="18" charset="0"/>
              </a:rPr>
              <a:t>        </a:t>
            </a:r>
            <a:r>
              <a:rPr lang="zh-CN" altLang="en-US" sz="2000" dirty="0">
                <a:latin typeface="Times New Roman" panose="02020603050405020304" pitchFamily="18" charset="0"/>
              </a:rPr>
              <a:t>需求分析包括</a:t>
            </a:r>
            <a:r>
              <a:rPr lang="zh-CN" altLang="en-US" sz="2000" dirty="0">
                <a:solidFill>
                  <a:srgbClr val="FF0000"/>
                </a:solidFill>
                <a:latin typeface="Times New Roman" panose="02020603050405020304" pitchFamily="18" charset="0"/>
              </a:rPr>
              <a:t>提炼、分析和仔细审查已收集到的需求</a:t>
            </a:r>
            <a:r>
              <a:rPr lang="zh-CN" altLang="en-US" sz="2000" dirty="0">
                <a:latin typeface="Times New Roman" panose="02020603050405020304" pitchFamily="18" charset="0"/>
              </a:rPr>
              <a:t>，为最终用户所看到的系统</a:t>
            </a:r>
            <a:r>
              <a:rPr lang="zh-CN" altLang="en-US" sz="2000" dirty="0">
                <a:solidFill>
                  <a:srgbClr val="FF0000"/>
                </a:solidFill>
                <a:latin typeface="Times New Roman" panose="02020603050405020304" pitchFamily="18" charset="0"/>
              </a:rPr>
              <a:t>建立一个概念模型</a:t>
            </a:r>
            <a:r>
              <a:rPr lang="zh-CN" altLang="en-US" sz="2000" dirty="0">
                <a:latin typeface="Times New Roman" panose="02020603050405020304" pitchFamily="18" charset="0"/>
              </a:rPr>
              <a:t>以确保所有的风险承担者都明白其含义并找出其中的错误、遗漏或其它不足的地方。</a:t>
            </a:r>
          </a:p>
          <a:p>
            <a:pPr>
              <a:spcBef>
                <a:spcPct val="0"/>
              </a:spcBef>
              <a:buClrTx/>
              <a:buFontTx/>
              <a:buNone/>
            </a:pPr>
            <a:r>
              <a:rPr lang="zh-CN" altLang="en-US" sz="2000" dirty="0">
                <a:latin typeface="Times New Roman" panose="02020603050405020304" pitchFamily="18" charset="0"/>
              </a:rPr>
              <a:t>分析用户需求应该执行以下活动：</a:t>
            </a:r>
          </a:p>
          <a:p>
            <a:pPr lvl="1"/>
            <a:r>
              <a:rPr lang="zh-CN" altLang="en-US" sz="2000" dirty="0">
                <a:latin typeface="宋体" panose="02010600030101010101" pitchFamily="2" charset="-122"/>
              </a:rPr>
              <a:t>绘制系统关联图</a:t>
            </a:r>
            <a:endParaRPr lang="en-US" altLang="zh-CN" sz="2000" dirty="0">
              <a:latin typeface="宋体" panose="02010600030101010101" pitchFamily="2" charset="-122"/>
            </a:endParaRPr>
          </a:p>
          <a:p>
            <a:pPr lvl="1"/>
            <a:r>
              <a:rPr lang="zh-CN" altLang="en-US" sz="2000" dirty="0">
                <a:latin typeface="宋体" panose="02010600030101010101" pitchFamily="2" charset="-122"/>
              </a:rPr>
              <a:t>创建用户接口原型</a:t>
            </a:r>
            <a:endParaRPr lang="en-US" altLang="zh-CN" sz="2000" dirty="0">
              <a:latin typeface="宋体" panose="02010600030101010101" pitchFamily="2" charset="-122"/>
            </a:endParaRPr>
          </a:p>
          <a:p>
            <a:pPr lvl="1"/>
            <a:r>
              <a:rPr lang="zh-CN" altLang="en-US" sz="2000" dirty="0">
                <a:latin typeface="宋体" panose="02010600030101010101" pitchFamily="2" charset="-122"/>
              </a:rPr>
              <a:t>分析需求可行性</a:t>
            </a:r>
            <a:endParaRPr lang="en-US" altLang="zh-CN" sz="2000" dirty="0">
              <a:latin typeface="宋体" panose="02010600030101010101" pitchFamily="2" charset="-122"/>
            </a:endParaRPr>
          </a:p>
          <a:p>
            <a:pPr lvl="1"/>
            <a:r>
              <a:rPr lang="zh-CN" altLang="en-US" sz="2000" dirty="0">
                <a:latin typeface="宋体" panose="02010600030101010101" pitchFamily="2" charset="-122"/>
              </a:rPr>
              <a:t>确定需求的优先级别</a:t>
            </a:r>
            <a:endParaRPr lang="en-US" altLang="zh-CN" sz="2000" dirty="0">
              <a:latin typeface="宋体" panose="02010600030101010101" pitchFamily="2" charset="-122"/>
            </a:endParaRPr>
          </a:p>
          <a:p>
            <a:pPr lvl="1"/>
            <a:r>
              <a:rPr lang="zh-CN" altLang="en-US" sz="2000" dirty="0">
                <a:latin typeface="宋体" panose="02010600030101010101" pitchFamily="2" charset="-122"/>
              </a:rPr>
              <a:t>为需求建立模型</a:t>
            </a:r>
            <a:endParaRPr lang="en-US" altLang="zh-CN" sz="2000" dirty="0">
              <a:latin typeface="宋体" panose="02010600030101010101" pitchFamily="2" charset="-122"/>
            </a:endParaRPr>
          </a:p>
          <a:p>
            <a:pPr lvl="1"/>
            <a:r>
              <a:rPr lang="zh-CN" altLang="en-US" sz="2000" dirty="0">
                <a:latin typeface="宋体" panose="02010600030101010101" pitchFamily="2" charset="-122"/>
              </a:rPr>
              <a:t>建立数据字典</a:t>
            </a:r>
            <a:endParaRPr lang="en-US" altLang="zh-CN" sz="2000" dirty="0">
              <a:latin typeface="宋体" panose="02010600030101010101" pitchFamily="2" charset="-122"/>
            </a:endParaRPr>
          </a:p>
          <a:p>
            <a:pPr lvl="1"/>
            <a:r>
              <a:rPr lang="zh-CN" altLang="en-US" sz="2000" dirty="0">
                <a:latin typeface="宋体" panose="02010600030101010101" pitchFamily="2" charset="-122"/>
              </a:rPr>
              <a:t>使用质量功能调配</a:t>
            </a:r>
            <a:endParaRPr lang="en-US" altLang="zh-CN" sz="2000" dirty="0">
              <a:latin typeface="宋体" panose="02010600030101010101" pitchFamily="2" charset="-122"/>
            </a:endParaRPr>
          </a:p>
        </p:txBody>
      </p:sp>
      <p:sp>
        <p:nvSpPr>
          <p:cNvPr id="16387" name="Rectangle 2">
            <a:extLst>
              <a:ext uri="{FF2B5EF4-FFF2-40B4-BE49-F238E27FC236}">
                <a16:creationId xmlns:a16="http://schemas.microsoft.com/office/drawing/2014/main" id="{F78F8E88-BF23-41DD-9B23-CC71BA8BE06A}"/>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需求开发和管理过程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3">
            <a:extLst>
              <a:ext uri="{FF2B5EF4-FFF2-40B4-BE49-F238E27FC236}">
                <a16:creationId xmlns:a16="http://schemas.microsoft.com/office/drawing/2014/main" id="{7E91DDF1-9197-40D3-8CF1-2D8336BC35CA}"/>
              </a:ext>
            </a:extLst>
          </p:cNvPr>
          <p:cNvSpPr txBox="1">
            <a:spLocks noChangeArrowheads="1"/>
          </p:cNvSpPr>
          <p:nvPr/>
        </p:nvSpPr>
        <p:spPr bwMode="auto">
          <a:xfrm>
            <a:off x="900113" y="1989138"/>
            <a:ext cx="7815262"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需求规格说明</a:t>
            </a:r>
            <a:endParaRPr kumimoji="0" lang="en-US" altLang="zh-CN" sz="2400" dirty="0">
              <a:solidFill>
                <a:schemeClr val="accent2"/>
              </a:solidFill>
              <a:ea typeface="黑体" panose="02010609060101010101" pitchFamily="49" charset="-122"/>
            </a:endParaRPr>
          </a:p>
          <a:p>
            <a:pPr lvl="1">
              <a:lnSpc>
                <a:spcPts val="3000"/>
              </a:lnSpc>
              <a:spcBef>
                <a:spcPct val="50000"/>
              </a:spcBef>
              <a:buClr>
                <a:schemeClr val="accent2"/>
              </a:buClr>
              <a:buSzPct val="70000"/>
              <a:buFont typeface="Wingdings" panose="05000000000000000000" pitchFamily="2" charset="2"/>
              <a:buChar char="l"/>
            </a:pPr>
            <a:r>
              <a:rPr lang="zh-CN" altLang="en-US" sz="2000" dirty="0">
                <a:solidFill>
                  <a:srgbClr val="FF0000"/>
                </a:solidFill>
                <a:latin typeface="Times New Roman" panose="02020603050405020304" pitchFamily="18" charset="0"/>
              </a:rPr>
              <a:t>软件需求规格说明</a:t>
            </a:r>
            <a:r>
              <a:rPr lang="zh-CN" altLang="en-US" sz="2000" dirty="0">
                <a:latin typeface="Times New Roman" panose="02020603050405020304" pitchFamily="18" charset="0"/>
              </a:rPr>
              <a:t>阐述一个软件系统必须提供的功能和性能以及它所要考虑的限制条件</a:t>
            </a:r>
            <a:r>
              <a:rPr lang="en-US" altLang="zh-CN" sz="2000" dirty="0">
                <a:latin typeface="Times New Roman" panose="02020603050405020304" pitchFamily="18" charset="0"/>
              </a:rPr>
              <a:t>,</a:t>
            </a:r>
            <a:r>
              <a:rPr lang="zh-CN" altLang="en-US" sz="2000" dirty="0">
                <a:latin typeface="Times New Roman" panose="02020603050405020304" pitchFamily="18" charset="0"/>
              </a:rPr>
              <a:t>它不仅</a:t>
            </a:r>
            <a:r>
              <a:rPr lang="zh-CN" altLang="en-US" sz="2000" dirty="0">
                <a:solidFill>
                  <a:srgbClr val="FF0000"/>
                </a:solidFill>
                <a:latin typeface="Times New Roman" panose="02020603050405020304" pitchFamily="18" charset="0"/>
              </a:rPr>
              <a:t>是系统测试和用户文档的基础，也是所有子系列项目规划、设计和编码的基础</a:t>
            </a:r>
            <a:r>
              <a:rPr lang="zh-CN" altLang="en-US" sz="2000" dirty="0">
                <a:latin typeface="Times New Roman" panose="02020603050405020304" pitchFamily="18" charset="0"/>
              </a:rPr>
              <a:t>。</a:t>
            </a:r>
          </a:p>
          <a:p>
            <a:pPr lvl="1">
              <a:lnSpc>
                <a:spcPts val="3000"/>
              </a:lnSpc>
              <a:spcBef>
                <a:spcPct val="500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需求分析完成的标志是提交一份完整的</a:t>
            </a:r>
            <a:r>
              <a:rPr lang="zh-CN" altLang="en-US" sz="2000" dirty="0">
                <a:solidFill>
                  <a:srgbClr val="FF0000"/>
                </a:solidFill>
                <a:latin typeface="Times New Roman" panose="02020603050405020304" pitchFamily="18" charset="0"/>
              </a:rPr>
              <a:t>软件需求规格说明书</a:t>
            </a:r>
            <a:r>
              <a:rPr lang="zh-CN" altLang="en-US" sz="2000" dirty="0">
                <a:latin typeface="Times New Roman" panose="02020603050405020304" pitchFamily="18" charset="0"/>
              </a:rPr>
              <a:t>（</a:t>
            </a:r>
            <a:r>
              <a:rPr lang="en-US" altLang="zh-CN" sz="2000" dirty="0">
                <a:latin typeface="Times New Roman" panose="02020603050405020304" pitchFamily="18" charset="0"/>
              </a:rPr>
              <a:t>SRS</a:t>
            </a:r>
            <a:r>
              <a:rPr lang="zh-CN" altLang="en-US" sz="2000" dirty="0">
                <a:latin typeface="Times New Roman" panose="02020603050405020304" pitchFamily="18" charset="0"/>
              </a:rPr>
              <a:t>）。</a:t>
            </a:r>
          </a:p>
          <a:p>
            <a:pPr lvl="1">
              <a:lnSpc>
                <a:spcPts val="3000"/>
              </a:lnSpc>
              <a:spcBef>
                <a:spcPct val="500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软件需求规格说明作为产品需求的最终成果必须包括</a:t>
            </a:r>
            <a:r>
              <a:rPr lang="zh-CN" altLang="en-US" sz="2000" dirty="0">
                <a:solidFill>
                  <a:srgbClr val="FF0000"/>
                </a:solidFill>
                <a:latin typeface="Times New Roman" panose="02020603050405020304" pitchFamily="18" charset="0"/>
              </a:rPr>
              <a:t>所有的需求</a:t>
            </a:r>
            <a:r>
              <a:rPr lang="zh-CN" altLang="en-US" sz="2000" dirty="0">
                <a:latin typeface="Times New Roman" panose="02020603050405020304" pitchFamily="18" charset="0"/>
              </a:rPr>
              <a:t>。</a:t>
            </a:r>
          </a:p>
          <a:p>
            <a:pPr lvl="1">
              <a:lnSpc>
                <a:spcPts val="3000"/>
              </a:lnSpc>
              <a:spcBef>
                <a:spcPct val="500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在开发人员的组织中要为编写软件需求文档定义一种标准模板。</a:t>
            </a:r>
            <a:endParaRPr lang="en-US" altLang="zh-CN" sz="2000" dirty="0">
              <a:latin typeface="Times New Roman" panose="02020603050405020304" pitchFamily="18" charset="0"/>
            </a:endParaRPr>
          </a:p>
        </p:txBody>
      </p:sp>
      <p:sp>
        <p:nvSpPr>
          <p:cNvPr id="17411" name="Rectangle 2">
            <a:extLst>
              <a:ext uri="{FF2B5EF4-FFF2-40B4-BE49-F238E27FC236}">
                <a16:creationId xmlns:a16="http://schemas.microsoft.com/office/drawing/2014/main" id="{48CAB97B-6910-4768-9817-8241FA3B0537}"/>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需求开发和管理过程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
            <a:extLst>
              <a:ext uri="{FF2B5EF4-FFF2-40B4-BE49-F238E27FC236}">
                <a16:creationId xmlns:a16="http://schemas.microsoft.com/office/drawing/2014/main" id="{A4337343-73DA-419C-869E-2AEECCB3382A}"/>
              </a:ext>
            </a:extLst>
          </p:cNvPr>
          <p:cNvSpPr txBox="1">
            <a:spLocks noChangeArrowheads="1"/>
          </p:cNvSpPr>
          <p:nvPr/>
        </p:nvSpPr>
        <p:spPr bwMode="auto">
          <a:xfrm>
            <a:off x="3348038" y="1736725"/>
            <a:ext cx="2995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solidFill>
                  <a:srgbClr val="7878DE"/>
                </a:solidFill>
                <a:latin typeface="Times New Roman" panose="02020603050405020304" pitchFamily="18" charset="0"/>
                <a:ea typeface="黑体" panose="02010609060101010101" pitchFamily="49" charset="-122"/>
              </a:rPr>
              <a:t>需求规格说明模板</a:t>
            </a:r>
            <a:endParaRPr kumimoji="0" lang="en-US" altLang="zh-CN" sz="2000">
              <a:solidFill>
                <a:srgbClr val="7878DE"/>
              </a:solidFill>
              <a:ea typeface="黑体" panose="02010609060101010101" pitchFamily="49" charset="-122"/>
            </a:endParaRPr>
          </a:p>
        </p:txBody>
      </p:sp>
      <p:graphicFrame>
        <p:nvGraphicFramePr>
          <p:cNvPr id="18513" name="Group 81">
            <a:extLst>
              <a:ext uri="{FF2B5EF4-FFF2-40B4-BE49-F238E27FC236}">
                <a16:creationId xmlns:a16="http://schemas.microsoft.com/office/drawing/2014/main" id="{13183EFB-D325-4DA1-ABC2-42007C77C599}"/>
              </a:ext>
            </a:extLst>
          </p:cNvPr>
          <p:cNvGraphicFramePr>
            <a:graphicFrameLocks noGrp="1"/>
          </p:cNvGraphicFramePr>
          <p:nvPr/>
        </p:nvGraphicFramePr>
        <p:xfrm>
          <a:off x="1116013" y="2205038"/>
          <a:ext cx="7632700" cy="4498976"/>
        </p:xfrm>
        <a:graphic>
          <a:graphicData uri="http://schemas.openxmlformats.org/drawingml/2006/table">
            <a:tbl>
              <a:tblPr/>
              <a:tblGrid>
                <a:gridCol w="1282700">
                  <a:extLst>
                    <a:ext uri="{9D8B030D-6E8A-4147-A177-3AD203B41FA5}">
                      <a16:colId xmlns:a16="http://schemas.microsoft.com/office/drawing/2014/main" val="20000"/>
                    </a:ext>
                  </a:extLst>
                </a:gridCol>
                <a:gridCol w="917575">
                  <a:extLst>
                    <a:ext uri="{9D8B030D-6E8A-4147-A177-3AD203B41FA5}">
                      <a16:colId xmlns:a16="http://schemas.microsoft.com/office/drawing/2014/main" val="20001"/>
                    </a:ext>
                  </a:extLst>
                </a:gridCol>
                <a:gridCol w="955675">
                  <a:extLst>
                    <a:ext uri="{9D8B030D-6E8A-4147-A177-3AD203B41FA5}">
                      <a16:colId xmlns:a16="http://schemas.microsoft.com/office/drawing/2014/main" val="20002"/>
                    </a:ext>
                  </a:extLst>
                </a:gridCol>
                <a:gridCol w="1455737">
                  <a:extLst>
                    <a:ext uri="{9D8B030D-6E8A-4147-A177-3AD203B41FA5}">
                      <a16:colId xmlns:a16="http://schemas.microsoft.com/office/drawing/2014/main" val="20003"/>
                    </a:ext>
                  </a:extLst>
                </a:gridCol>
                <a:gridCol w="647700">
                  <a:extLst>
                    <a:ext uri="{9D8B030D-6E8A-4147-A177-3AD203B41FA5}">
                      <a16:colId xmlns:a16="http://schemas.microsoft.com/office/drawing/2014/main" val="20004"/>
                    </a:ext>
                  </a:extLst>
                </a:gridCol>
                <a:gridCol w="1320800">
                  <a:extLst>
                    <a:ext uri="{9D8B030D-6E8A-4147-A177-3AD203B41FA5}">
                      <a16:colId xmlns:a16="http://schemas.microsoft.com/office/drawing/2014/main" val="20005"/>
                    </a:ext>
                  </a:extLst>
                </a:gridCol>
                <a:gridCol w="1052513">
                  <a:extLst>
                    <a:ext uri="{9D8B030D-6E8A-4147-A177-3AD203B41FA5}">
                      <a16:colId xmlns:a16="http://schemas.microsoft.com/office/drawing/2014/main" val="20006"/>
                    </a:ext>
                  </a:extLst>
                </a:gridCol>
              </a:tblGrid>
              <a:tr h="279400">
                <a:tc>
                  <a:txBody>
                    <a:bodyPr/>
                    <a:lstStyle/>
                    <a:p>
                      <a:pPr marL="0" marR="0" lvl="0" indent="127000" algn="l"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1</a:t>
                      </a:r>
                      <a:endParaRPr kumimoji="0" lang="zh-CN"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2</a:t>
                      </a:r>
                      <a:endParaRPr kumimoji="0" lang="zh-CN"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3</a:t>
                      </a:r>
                      <a:endParaRPr kumimoji="0" lang="zh-CN"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4</a:t>
                      </a:r>
                      <a:endParaRPr kumimoji="0" lang="zh-CN"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5</a:t>
                      </a:r>
                      <a:endParaRPr kumimoji="0" lang="zh-CN"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6</a:t>
                      </a:r>
                      <a:endParaRPr kumimoji="0" lang="zh-CN"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844550">
                <a:tc>
                  <a:txBody>
                    <a:bodyPr/>
                    <a:lstStyle/>
                    <a:p>
                      <a:pPr marL="0" marR="0" lvl="0" indent="13335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a.</a:t>
                      </a: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引言</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目的</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文档约定</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预期的读者和阅读建议</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产品</a:t>
                      </a:r>
                    </a:p>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的范围</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参考文献</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561975">
                <a:tc>
                  <a:txBody>
                    <a:bodyPr/>
                    <a:lstStyle/>
                    <a:p>
                      <a:pPr marL="0" marR="0" lvl="0" indent="13335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b.</a:t>
                      </a: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综合描述</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产品</a:t>
                      </a:r>
                    </a:p>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的前景</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产品</a:t>
                      </a:r>
                    </a:p>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的功能</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用户类和特征</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运行</a:t>
                      </a:r>
                    </a:p>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环境</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设计和实现上的限制</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假设和依赖附录</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563563">
                <a:tc>
                  <a:txBody>
                    <a:bodyPr/>
                    <a:lstStyle/>
                    <a:p>
                      <a:pPr marL="0" marR="0" lvl="0" indent="13335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c.</a:t>
                      </a: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外部接口需求   附录</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用户</a:t>
                      </a:r>
                    </a:p>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界面附录</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硬件接口</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软件接口</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通信</a:t>
                      </a:r>
                    </a:p>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接口</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561975">
                <a:tc>
                  <a:txBody>
                    <a:bodyPr/>
                    <a:lstStyle/>
                    <a:p>
                      <a:pPr marL="0" marR="0" lvl="0" indent="13335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d.</a:t>
                      </a: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系统特性</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说明和优先级</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激励</a:t>
                      </a:r>
                      <a:r>
                        <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rPr>
                        <a:t>/</a:t>
                      </a: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响应序列</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功能需求</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4"/>
                  </a:ext>
                </a:extLst>
              </a:tr>
              <a:tr h="842963">
                <a:tc>
                  <a:txBody>
                    <a:bodyPr/>
                    <a:lstStyle/>
                    <a:p>
                      <a:pPr marL="0" marR="0" lvl="0" indent="13335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e.</a:t>
                      </a: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其它非</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p>
                      <a:pPr marL="0" marR="0" lvl="0" indent="133350" algn="l"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功能需求</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性能需求</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安全设施需求</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安全性需求</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软件</a:t>
                      </a:r>
                    </a:p>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质量属性</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业务规则</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用户文档</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5"/>
                  </a:ext>
                </a:extLst>
              </a:tr>
              <a:tr h="282575">
                <a:tc>
                  <a:txBody>
                    <a:bodyPr/>
                    <a:lstStyle/>
                    <a:p>
                      <a:pPr marL="0" marR="0" lvl="0" indent="13335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f.</a:t>
                      </a: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其它需求</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6"/>
                  </a:ext>
                </a:extLst>
              </a:tr>
              <a:tr h="561975">
                <a:tc>
                  <a:txBody>
                    <a:bodyPr/>
                    <a:lstStyle/>
                    <a:p>
                      <a:pPr marL="0" marR="0" lvl="0" indent="133350" algn="l" defTabSz="914400" rtl="0" eaLnBrk="1" fontAlgn="base" latinLnBrk="0" hangingPunct="1">
                        <a:lnSpc>
                          <a:spcPct val="135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g.</a:t>
                      </a: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附件</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词汇表</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分析模型</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待确定</a:t>
                      </a:r>
                    </a:p>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rPr>
                        <a:t>问题的列表</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endParaRPr kumimoji="0" lang="en-US" altLang="zh-CN"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7"/>
                  </a:ext>
                </a:extLst>
              </a:tr>
            </a:tbl>
          </a:graphicData>
        </a:graphic>
      </p:graphicFrame>
      <p:sp>
        <p:nvSpPr>
          <p:cNvPr id="18509" name="Rectangle 2">
            <a:extLst>
              <a:ext uri="{FF2B5EF4-FFF2-40B4-BE49-F238E27FC236}">
                <a16:creationId xmlns:a16="http://schemas.microsoft.com/office/drawing/2014/main" id="{AF78ECF9-667A-4F25-AD56-715DAECAA26B}"/>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需求开发和管理过程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3">
            <a:extLst>
              <a:ext uri="{FF2B5EF4-FFF2-40B4-BE49-F238E27FC236}">
                <a16:creationId xmlns:a16="http://schemas.microsoft.com/office/drawing/2014/main" id="{461CE26A-C2E6-46BF-A9BC-CD7A758AE181}"/>
              </a:ext>
            </a:extLst>
          </p:cNvPr>
          <p:cNvSpPr txBox="1">
            <a:spLocks noChangeArrowheads="1"/>
          </p:cNvSpPr>
          <p:nvPr/>
        </p:nvSpPr>
        <p:spPr bwMode="auto">
          <a:xfrm>
            <a:off x="1004888" y="1916113"/>
            <a:ext cx="7410450" cy="462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需求验证</a:t>
            </a:r>
            <a:endParaRPr kumimoji="0" lang="en-US" altLang="zh-CN" sz="2400" dirty="0">
              <a:solidFill>
                <a:schemeClr val="accent2"/>
              </a:solidFill>
              <a:ea typeface="黑体" panose="02010609060101010101" pitchFamily="49" charset="-122"/>
            </a:endParaRPr>
          </a:p>
          <a:p>
            <a:pPr lvl="1">
              <a:lnSpc>
                <a:spcPct val="110000"/>
              </a:lnSpc>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验证是为了</a:t>
            </a:r>
            <a:r>
              <a:rPr lang="zh-CN" altLang="en-US" sz="2000" dirty="0">
                <a:solidFill>
                  <a:srgbClr val="FF0000"/>
                </a:solidFill>
                <a:latin typeface="Times New Roman" panose="02020603050405020304" pitchFamily="18" charset="0"/>
              </a:rPr>
              <a:t>确保需求说明准确、无二义性并完整地表达系  统功能以及必要的质量特性</a:t>
            </a:r>
            <a:r>
              <a:rPr lang="zh-CN" altLang="en-US" sz="2000" dirty="0">
                <a:latin typeface="Times New Roman" panose="02020603050405020304" pitchFamily="18" charset="0"/>
              </a:rPr>
              <a:t>。</a:t>
            </a:r>
          </a:p>
          <a:p>
            <a:pPr lvl="1">
              <a:lnSpc>
                <a:spcPct val="110000"/>
              </a:lnSpc>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需求验证要求</a:t>
            </a:r>
            <a:r>
              <a:rPr lang="zh-CN" altLang="en-US" sz="2000" dirty="0">
                <a:solidFill>
                  <a:srgbClr val="FF0000"/>
                </a:solidFill>
                <a:latin typeface="Times New Roman" panose="02020603050405020304" pitchFamily="18" charset="0"/>
              </a:rPr>
              <a:t>客户代表和开发人员共同参与</a:t>
            </a:r>
            <a:r>
              <a:rPr lang="zh-CN" altLang="en-US" sz="2000" dirty="0">
                <a:latin typeface="Times New Roman" panose="02020603050405020304" pitchFamily="18" charset="0"/>
              </a:rPr>
              <a:t>，对提交后的需求规格说明进行验证，分析需求的正确性，完整性以及可行性等等。</a:t>
            </a:r>
          </a:p>
          <a:p>
            <a:pPr lvl="1">
              <a:lnSpc>
                <a:spcPct val="110000"/>
              </a:lnSpc>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需求验证中的活动一般包括：</a:t>
            </a:r>
          </a:p>
          <a:p>
            <a:pPr lvl="2">
              <a:lnSpc>
                <a:spcPct val="110000"/>
              </a:lnSpc>
            </a:pPr>
            <a:r>
              <a:rPr lang="zh-CN" altLang="en-US" dirty="0">
                <a:latin typeface="宋体" panose="02010600030101010101" pitchFamily="2" charset="-122"/>
              </a:rPr>
              <a:t>审查需求文档</a:t>
            </a:r>
            <a:endParaRPr lang="en-US" altLang="zh-CN" dirty="0">
              <a:latin typeface="宋体" panose="02010600030101010101" pitchFamily="2" charset="-122"/>
            </a:endParaRPr>
          </a:p>
          <a:p>
            <a:pPr lvl="2">
              <a:lnSpc>
                <a:spcPct val="110000"/>
              </a:lnSpc>
            </a:pPr>
            <a:r>
              <a:rPr lang="zh-CN" altLang="en-US" dirty="0">
                <a:latin typeface="宋体" panose="02010600030101010101" pitchFamily="2" charset="-122"/>
              </a:rPr>
              <a:t>以需求为依据编写测试用例</a:t>
            </a:r>
            <a:endParaRPr lang="en-US" altLang="zh-CN" dirty="0">
              <a:latin typeface="宋体" panose="02010600030101010101" pitchFamily="2" charset="-122"/>
            </a:endParaRPr>
          </a:p>
          <a:p>
            <a:pPr lvl="2">
              <a:lnSpc>
                <a:spcPct val="110000"/>
              </a:lnSpc>
            </a:pPr>
            <a:r>
              <a:rPr lang="zh-CN" altLang="en-US" dirty="0">
                <a:latin typeface="宋体" panose="02010600030101010101" pitchFamily="2" charset="-122"/>
              </a:rPr>
              <a:t>编写用户手册</a:t>
            </a:r>
            <a:endParaRPr lang="en-US" altLang="zh-CN" dirty="0">
              <a:latin typeface="宋体" panose="02010600030101010101" pitchFamily="2" charset="-122"/>
            </a:endParaRPr>
          </a:p>
          <a:p>
            <a:pPr lvl="2">
              <a:lnSpc>
                <a:spcPct val="110000"/>
              </a:lnSpc>
            </a:pPr>
            <a:r>
              <a:rPr lang="zh-CN" altLang="en-US" dirty="0">
                <a:latin typeface="宋体" panose="02010600030101010101" pitchFamily="2" charset="-122"/>
              </a:rPr>
              <a:t>确定合格的标准</a:t>
            </a:r>
            <a:endParaRPr lang="en-US" altLang="zh-CN" dirty="0">
              <a:latin typeface="宋体" panose="02010600030101010101" pitchFamily="2" charset="-122"/>
            </a:endParaRPr>
          </a:p>
          <a:p>
            <a:pPr lvl="2">
              <a:lnSpc>
                <a:spcPct val="110000"/>
              </a:lnSpc>
            </a:pPr>
            <a:r>
              <a:rPr lang="zh-CN" altLang="en-US" dirty="0">
                <a:latin typeface="宋体" panose="02010600030101010101" pitchFamily="2" charset="-122"/>
              </a:rPr>
              <a:t>最后的签字</a:t>
            </a:r>
            <a:endParaRPr lang="en-US" altLang="zh-CN" dirty="0">
              <a:latin typeface="宋体" panose="02010600030101010101" pitchFamily="2" charset="-122"/>
            </a:endParaRPr>
          </a:p>
        </p:txBody>
      </p:sp>
      <p:sp>
        <p:nvSpPr>
          <p:cNvPr id="19459" name="Rectangle 2">
            <a:extLst>
              <a:ext uri="{FF2B5EF4-FFF2-40B4-BE49-F238E27FC236}">
                <a16:creationId xmlns:a16="http://schemas.microsoft.com/office/drawing/2014/main" id="{2B148DFD-70AF-4BA0-9F62-1875278687B8}"/>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需求开发和管理过程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3">
            <a:extLst>
              <a:ext uri="{FF2B5EF4-FFF2-40B4-BE49-F238E27FC236}">
                <a16:creationId xmlns:a16="http://schemas.microsoft.com/office/drawing/2014/main" id="{78550538-A769-4D3C-BCA3-6B420F4A364C}"/>
              </a:ext>
            </a:extLst>
          </p:cNvPr>
          <p:cNvSpPr txBox="1">
            <a:spLocks noChangeArrowheads="1"/>
          </p:cNvSpPr>
          <p:nvPr/>
        </p:nvSpPr>
        <p:spPr bwMode="auto">
          <a:xfrm>
            <a:off x="755650" y="1989138"/>
            <a:ext cx="781685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a:solidFill>
                  <a:schemeClr val="accent2"/>
                </a:solidFill>
              </a:rPr>
              <a:t> </a:t>
            </a:r>
            <a:r>
              <a:rPr kumimoji="0" lang="zh-CN" altLang="en-US" sz="2400">
                <a:solidFill>
                  <a:schemeClr val="accent2"/>
                </a:solidFill>
                <a:ea typeface="黑体" panose="02010609060101010101" pitchFamily="49" charset="-122"/>
              </a:rPr>
              <a:t>需求变更管理</a:t>
            </a:r>
            <a:endParaRPr kumimoji="0" lang="en-US" altLang="zh-CN" sz="2400">
              <a:solidFill>
                <a:schemeClr val="accent2"/>
              </a:solidFill>
              <a:ea typeface="黑体" panose="02010609060101010101" pitchFamily="49" charset="-122"/>
            </a:endParaRPr>
          </a:p>
          <a:p>
            <a:pPr>
              <a:lnSpc>
                <a:spcPct val="110000"/>
              </a:lnSpc>
              <a:spcBef>
                <a:spcPct val="20000"/>
              </a:spcBef>
              <a:buClrTx/>
              <a:buFontTx/>
              <a:buNone/>
            </a:pPr>
            <a:r>
              <a:rPr lang="zh-CN" altLang="en-US" sz="2000" b="0">
                <a:latin typeface="Times New Roman" panose="02020603050405020304" pitchFamily="18" charset="0"/>
              </a:rPr>
              <a:t>        </a:t>
            </a:r>
            <a:r>
              <a:rPr lang="zh-CN" altLang="en-US" sz="2000">
                <a:latin typeface="Times New Roman" panose="02020603050405020304" pitchFamily="18" charset="0"/>
              </a:rPr>
              <a:t>需求变更管理是项目管理中非常重要的一项工作。有效的需求变更管理能</a:t>
            </a:r>
            <a:r>
              <a:rPr lang="zh-CN" altLang="en-US" sz="2000">
                <a:solidFill>
                  <a:srgbClr val="FF0000"/>
                </a:solidFill>
                <a:latin typeface="Times New Roman" panose="02020603050405020304" pitchFamily="18" charset="0"/>
              </a:rPr>
              <a:t>对变更带来的潜在影响及可能的成本费用进行评估</a:t>
            </a:r>
            <a:r>
              <a:rPr lang="zh-CN" altLang="en-US" sz="2000">
                <a:latin typeface="Times New Roman" panose="02020603050405020304" pitchFamily="18" charset="0"/>
              </a:rPr>
              <a:t>。</a:t>
            </a:r>
            <a:endParaRPr lang="en-US" altLang="zh-CN" sz="2000">
              <a:latin typeface="Times New Roman" panose="02020603050405020304" pitchFamily="18" charset="0"/>
            </a:endParaRPr>
          </a:p>
          <a:p>
            <a:pPr>
              <a:lnSpc>
                <a:spcPct val="110000"/>
              </a:lnSpc>
              <a:spcBef>
                <a:spcPct val="0"/>
              </a:spcBef>
              <a:buClrTx/>
              <a:buFontTx/>
              <a:buNone/>
            </a:pPr>
            <a:r>
              <a:rPr lang="zh-CN" altLang="en-US" sz="2000">
                <a:latin typeface="Times New Roman" panose="02020603050405020304" pitchFamily="18" charset="0"/>
              </a:rPr>
              <a:t>需求变更管理中活动一般包括：</a:t>
            </a:r>
          </a:p>
          <a:p>
            <a:pPr lvl="1">
              <a:lnSpc>
                <a:spcPct val="110000"/>
              </a:lnSpc>
              <a:spcBef>
                <a:spcPts val="400"/>
              </a:spcBef>
            </a:pPr>
            <a:r>
              <a:rPr lang="zh-CN" altLang="en-US" sz="2000">
                <a:latin typeface="宋体" panose="02010600030101010101" pitchFamily="2" charset="-122"/>
              </a:rPr>
              <a:t>确定需求变更控制过程</a:t>
            </a:r>
            <a:endParaRPr lang="en-US" altLang="zh-CN" sz="2000">
              <a:latin typeface="宋体" panose="02010600030101010101" pitchFamily="2" charset="-122"/>
            </a:endParaRPr>
          </a:p>
          <a:p>
            <a:pPr lvl="1">
              <a:lnSpc>
                <a:spcPct val="110000"/>
              </a:lnSpc>
              <a:spcBef>
                <a:spcPts val="400"/>
              </a:spcBef>
            </a:pPr>
            <a:r>
              <a:rPr lang="zh-CN" altLang="en-US" sz="2000">
                <a:latin typeface="宋体" panose="02010600030101010101" pitchFamily="2" charset="-122"/>
              </a:rPr>
              <a:t>建立需求变更控制委员会</a:t>
            </a:r>
            <a:endParaRPr lang="en-US" altLang="zh-CN" sz="2000">
              <a:latin typeface="宋体" panose="02010600030101010101" pitchFamily="2" charset="-122"/>
            </a:endParaRPr>
          </a:p>
          <a:p>
            <a:pPr lvl="1">
              <a:lnSpc>
                <a:spcPct val="110000"/>
              </a:lnSpc>
              <a:spcBef>
                <a:spcPts val="400"/>
              </a:spcBef>
            </a:pPr>
            <a:r>
              <a:rPr lang="zh-CN" altLang="en-US" sz="2000">
                <a:latin typeface="宋体" panose="02010600030101010101" pitchFamily="2" charset="-122"/>
              </a:rPr>
              <a:t>进行需求变更影响分析</a:t>
            </a:r>
            <a:endParaRPr lang="en-US" altLang="zh-CN" sz="2000">
              <a:latin typeface="宋体" panose="02010600030101010101" pitchFamily="2" charset="-122"/>
            </a:endParaRPr>
          </a:p>
          <a:p>
            <a:pPr lvl="1">
              <a:lnSpc>
                <a:spcPct val="110000"/>
              </a:lnSpc>
              <a:spcBef>
                <a:spcPts val="400"/>
              </a:spcBef>
            </a:pPr>
            <a:r>
              <a:rPr lang="zh-CN" altLang="en-US" sz="2000">
                <a:latin typeface="宋体" panose="02010600030101010101" pitchFamily="2" charset="-122"/>
              </a:rPr>
              <a:t>建立需求基准版本和需求控制版本文档</a:t>
            </a:r>
            <a:endParaRPr lang="en-US" altLang="zh-CN" sz="2000">
              <a:latin typeface="宋体" panose="02010600030101010101" pitchFamily="2" charset="-122"/>
            </a:endParaRPr>
          </a:p>
          <a:p>
            <a:pPr lvl="1">
              <a:lnSpc>
                <a:spcPct val="110000"/>
              </a:lnSpc>
              <a:spcBef>
                <a:spcPts val="400"/>
              </a:spcBef>
            </a:pPr>
            <a:r>
              <a:rPr lang="zh-CN" altLang="en-US" sz="2000">
                <a:latin typeface="宋体" panose="02010600030101010101" pitchFamily="2" charset="-122"/>
              </a:rPr>
              <a:t>维护需求变更的历史记录</a:t>
            </a:r>
            <a:endParaRPr lang="en-US" altLang="zh-CN" sz="2000">
              <a:latin typeface="宋体" panose="02010600030101010101" pitchFamily="2" charset="-122"/>
            </a:endParaRPr>
          </a:p>
          <a:p>
            <a:pPr lvl="1">
              <a:lnSpc>
                <a:spcPct val="110000"/>
              </a:lnSpc>
              <a:spcBef>
                <a:spcPts val="400"/>
              </a:spcBef>
            </a:pPr>
            <a:r>
              <a:rPr lang="zh-CN" altLang="en-US" sz="2000">
                <a:latin typeface="宋体" panose="02010600030101010101" pitchFamily="2" charset="-122"/>
              </a:rPr>
              <a:t>跟踪每项需求的状态</a:t>
            </a:r>
            <a:endParaRPr lang="en-US" altLang="zh-CN" sz="2000">
              <a:latin typeface="宋体" panose="02010600030101010101" pitchFamily="2" charset="-122"/>
            </a:endParaRPr>
          </a:p>
          <a:p>
            <a:pPr lvl="1">
              <a:lnSpc>
                <a:spcPct val="110000"/>
              </a:lnSpc>
              <a:spcBef>
                <a:spcPts val="400"/>
              </a:spcBef>
            </a:pPr>
            <a:r>
              <a:rPr lang="zh-CN" altLang="en-US" sz="2000">
                <a:latin typeface="宋体" panose="02010600030101010101" pitchFamily="2" charset="-122"/>
              </a:rPr>
              <a:t>跟踪所有受需求变更影响的工作产品</a:t>
            </a:r>
            <a:endParaRPr lang="en-US" altLang="zh-CN" sz="2000">
              <a:latin typeface="宋体" panose="02010600030101010101" pitchFamily="2" charset="-122"/>
            </a:endParaRPr>
          </a:p>
          <a:p>
            <a:pPr lvl="1">
              <a:lnSpc>
                <a:spcPct val="110000"/>
              </a:lnSpc>
              <a:spcBef>
                <a:spcPts val="400"/>
              </a:spcBef>
            </a:pPr>
            <a:r>
              <a:rPr lang="zh-CN" altLang="en-US" sz="2000">
                <a:latin typeface="宋体" panose="02010600030101010101" pitchFamily="2" charset="-122"/>
              </a:rPr>
              <a:t>衡量需求稳定性</a:t>
            </a:r>
            <a:endParaRPr lang="en-US" altLang="zh-CN" sz="2000">
              <a:latin typeface="宋体" panose="02010600030101010101" pitchFamily="2" charset="-122"/>
            </a:endParaRPr>
          </a:p>
        </p:txBody>
      </p:sp>
      <p:sp>
        <p:nvSpPr>
          <p:cNvPr id="20483" name="Rectangle 2">
            <a:extLst>
              <a:ext uri="{FF2B5EF4-FFF2-40B4-BE49-F238E27FC236}">
                <a16:creationId xmlns:a16="http://schemas.microsoft.com/office/drawing/2014/main" id="{13907BA5-20A8-44EF-B3E0-4618DCFFA5DF}"/>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需求开发和管理过程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3">
            <a:extLst>
              <a:ext uri="{FF2B5EF4-FFF2-40B4-BE49-F238E27FC236}">
                <a16:creationId xmlns:a16="http://schemas.microsoft.com/office/drawing/2014/main" id="{C345A4FD-4C4A-479C-BDEF-D33DE935E379}"/>
              </a:ext>
            </a:extLst>
          </p:cNvPr>
          <p:cNvSpPr txBox="1">
            <a:spLocks noChangeArrowheads="1"/>
          </p:cNvSpPr>
          <p:nvPr/>
        </p:nvSpPr>
        <p:spPr bwMode="auto">
          <a:xfrm>
            <a:off x="755650" y="1989138"/>
            <a:ext cx="7816850" cy="49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可测试性需求</a:t>
            </a:r>
            <a:endParaRPr kumimoji="0" lang="en-US" altLang="zh-CN" sz="2400" dirty="0">
              <a:solidFill>
                <a:schemeClr val="accent2"/>
              </a:solidFill>
              <a:ea typeface="黑体" panose="02010609060101010101" pitchFamily="49" charset="-122"/>
            </a:endParaRPr>
          </a:p>
          <a:p>
            <a:pPr>
              <a:lnSpc>
                <a:spcPct val="110000"/>
              </a:lnSpc>
              <a:spcBef>
                <a:spcPct val="20000"/>
              </a:spcBef>
              <a:buClrTx/>
              <a:buFontTx/>
              <a:buNone/>
            </a:pPr>
            <a:r>
              <a:rPr lang="zh-CN" altLang="en-US" sz="2000" b="0" dirty="0">
                <a:latin typeface="Times New Roman" panose="02020603050405020304" pitchFamily="18" charset="0"/>
              </a:rPr>
              <a:t>        </a:t>
            </a:r>
            <a:r>
              <a:rPr lang="zh-CN" altLang="en-US" sz="2000" dirty="0">
                <a:latin typeface="Times New Roman" panose="02020603050405020304" pitchFamily="18" charset="0"/>
              </a:rPr>
              <a:t>需求是需要通过软件测试来验证的：</a:t>
            </a:r>
          </a:p>
          <a:p>
            <a:pPr lvl="1">
              <a:lnSpc>
                <a:spcPct val="110000"/>
              </a:lnSpc>
              <a:spcBef>
                <a:spcPts val="400"/>
              </a:spcBef>
            </a:pPr>
            <a:r>
              <a:rPr lang="zh-CN" altLang="en-US" sz="2000" dirty="0">
                <a:latin typeface="宋体" panose="02010600030101010101" pitchFamily="2" charset="-122"/>
              </a:rPr>
              <a:t>产品测试阶段的可测试性需求</a:t>
            </a:r>
            <a:endParaRPr lang="en-US" altLang="zh-CN" sz="2000" dirty="0">
              <a:latin typeface="宋体" panose="02010600030101010101" pitchFamily="2" charset="-122"/>
            </a:endParaRPr>
          </a:p>
          <a:p>
            <a:pPr lvl="2">
              <a:lnSpc>
                <a:spcPct val="110000"/>
              </a:lnSpc>
              <a:spcBef>
                <a:spcPts val="400"/>
              </a:spcBef>
            </a:pPr>
            <a:r>
              <a:rPr lang="zh-CN" altLang="en-US" sz="1600" dirty="0">
                <a:solidFill>
                  <a:srgbClr val="FF0000"/>
                </a:solidFill>
                <a:latin typeface="宋体" panose="02010600030101010101" pitchFamily="2" charset="-122"/>
              </a:rPr>
              <a:t>硬件模块及部件的调试</a:t>
            </a:r>
            <a:r>
              <a:rPr lang="zh-CN" altLang="en-US" sz="1600" dirty="0">
                <a:latin typeface="宋体" panose="02010600030101010101" pitchFamily="2" charset="-122"/>
              </a:rPr>
              <a:t>与测试的可测试性需求</a:t>
            </a:r>
            <a:endParaRPr lang="en-US" altLang="zh-CN" sz="1600" dirty="0">
              <a:latin typeface="宋体" panose="02010600030101010101" pitchFamily="2" charset="-122"/>
            </a:endParaRPr>
          </a:p>
          <a:p>
            <a:pPr lvl="2">
              <a:lnSpc>
                <a:spcPct val="110000"/>
              </a:lnSpc>
              <a:spcBef>
                <a:spcPts val="400"/>
              </a:spcBef>
            </a:pPr>
            <a:r>
              <a:rPr lang="zh-CN" altLang="en-US" sz="1600" dirty="0">
                <a:solidFill>
                  <a:srgbClr val="FF0000"/>
                </a:solidFill>
                <a:latin typeface="宋体" panose="02010600030101010101" pitchFamily="2" charset="-122"/>
              </a:rPr>
              <a:t>软件模块的测试</a:t>
            </a:r>
            <a:r>
              <a:rPr lang="zh-CN" altLang="en-US" sz="1600" dirty="0">
                <a:latin typeface="宋体" panose="02010600030101010101" pitchFamily="2" charset="-122"/>
              </a:rPr>
              <a:t>与测试的可测试性需求</a:t>
            </a:r>
            <a:endParaRPr lang="en-US" altLang="zh-CN" sz="1600" dirty="0">
              <a:latin typeface="宋体" panose="02010600030101010101" pitchFamily="2" charset="-122"/>
            </a:endParaRPr>
          </a:p>
          <a:p>
            <a:pPr lvl="1">
              <a:lnSpc>
                <a:spcPct val="110000"/>
              </a:lnSpc>
              <a:spcBef>
                <a:spcPts val="400"/>
              </a:spcBef>
            </a:pPr>
            <a:r>
              <a:rPr lang="zh-CN" altLang="en-US" sz="2000" dirty="0">
                <a:latin typeface="宋体" panose="02010600030101010101" pitchFamily="2" charset="-122"/>
              </a:rPr>
              <a:t>系统联调阶段的可测试性需求</a:t>
            </a:r>
            <a:endParaRPr lang="en-US" altLang="zh-CN" sz="2000" dirty="0">
              <a:latin typeface="宋体" panose="02010600030101010101" pitchFamily="2" charset="-122"/>
            </a:endParaRPr>
          </a:p>
          <a:p>
            <a:pPr lvl="2">
              <a:lnSpc>
                <a:spcPct val="110000"/>
              </a:lnSpc>
              <a:spcBef>
                <a:spcPts val="400"/>
              </a:spcBef>
            </a:pPr>
            <a:r>
              <a:rPr lang="zh-CN" altLang="en-US" sz="1600" dirty="0">
                <a:latin typeface="宋体" panose="02010600030101010101" pitchFamily="2" charset="-122"/>
              </a:rPr>
              <a:t>关键点是能提供方法来暴露问题、发现问题、定位故障原因、解决问题及验证解决效果。（子系统和模块的故障分段及定位设计等）</a:t>
            </a:r>
            <a:endParaRPr lang="en-US" altLang="zh-CN" sz="1600" dirty="0">
              <a:latin typeface="宋体" panose="02010600030101010101" pitchFamily="2" charset="-122"/>
            </a:endParaRPr>
          </a:p>
          <a:p>
            <a:pPr lvl="1">
              <a:lnSpc>
                <a:spcPct val="110000"/>
              </a:lnSpc>
              <a:spcBef>
                <a:spcPts val="400"/>
              </a:spcBef>
            </a:pPr>
            <a:r>
              <a:rPr lang="zh-CN" altLang="en-US" sz="2000" dirty="0">
                <a:latin typeface="宋体" panose="02010600030101010101" pitchFamily="2" charset="-122"/>
              </a:rPr>
              <a:t>系统验证阶段的可测试性需求</a:t>
            </a:r>
            <a:endParaRPr lang="en-US" altLang="zh-CN" sz="2000" dirty="0">
              <a:latin typeface="宋体" panose="02010600030101010101" pitchFamily="2" charset="-122"/>
            </a:endParaRPr>
          </a:p>
          <a:p>
            <a:pPr lvl="2">
              <a:lnSpc>
                <a:spcPct val="110000"/>
              </a:lnSpc>
              <a:spcBef>
                <a:spcPts val="400"/>
              </a:spcBef>
            </a:pPr>
            <a:r>
              <a:rPr lang="zh-CN" altLang="en-US" sz="1600" dirty="0">
                <a:latin typeface="宋体" panose="02010600030101010101" pitchFamily="2" charset="-122"/>
              </a:rPr>
              <a:t>关键点在于系统验证测试的各种测试项目能否方便地实现、出现问题后是否可以快速定位。（性能测试、压力负载测试）</a:t>
            </a:r>
            <a:endParaRPr lang="en-US" altLang="zh-CN" sz="1600" dirty="0">
              <a:latin typeface="宋体" panose="02010600030101010101" pitchFamily="2" charset="-122"/>
            </a:endParaRPr>
          </a:p>
          <a:p>
            <a:pPr lvl="1">
              <a:lnSpc>
                <a:spcPct val="110000"/>
              </a:lnSpc>
              <a:spcBef>
                <a:spcPts val="400"/>
              </a:spcBef>
            </a:pPr>
            <a:r>
              <a:rPr lang="zh-CN" altLang="en-US" sz="2000" dirty="0">
                <a:latin typeface="宋体" panose="02010600030101010101" pitchFamily="2" charset="-122"/>
              </a:rPr>
              <a:t>在线测试的可测试性需求</a:t>
            </a:r>
            <a:endParaRPr lang="en-US" altLang="zh-CN" sz="2000" dirty="0">
              <a:latin typeface="宋体" panose="02010600030101010101" pitchFamily="2" charset="-122"/>
            </a:endParaRPr>
          </a:p>
          <a:p>
            <a:pPr lvl="2">
              <a:lnSpc>
                <a:spcPct val="110000"/>
              </a:lnSpc>
              <a:spcBef>
                <a:spcPts val="400"/>
              </a:spcBef>
            </a:pPr>
            <a:r>
              <a:rPr lang="zh-CN" altLang="en-US" sz="1600" dirty="0">
                <a:latin typeface="宋体" panose="02010600030101010101" pitchFamily="2" charset="-122"/>
              </a:rPr>
              <a:t>测试数据源设计、测试监控。</a:t>
            </a:r>
            <a:endParaRPr lang="en-US" altLang="zh-CN" sz="1600" dirty="0">
              <a:latin typeface="宋体" panose="02010600030101010101" pitchFamily="2" charset="-122"/>
            </a:endParaRPr>
          </a:p>
          <a:p>
            <a:pPr lvl="2">
              <a:lnSpc>
                <a:spcPct val="110000"/>
              </a:lnSpc>
              <a:spcBef>
                <a:spcPts val="400"/>
              </a:spcBef>
            </a:pPr>
            <a:endParaRPr lang="en-US" altLang="zh-CN" sz="1600" dirty="0">
              <a:latin typeface="宋体" panose="02010600030101010101" pitchFamily="2" charset="-122"/>
            </a:endParaRPr>
          </a:p>
        </p:txBody>
      </p:sp>
      <p:sp>
        <p:nvSpPr>
          <p:cNvPr id="21507" name="Rectangle 2">
            <a:extLst>
              <a:ext uri="{FF2B5EF4-FFF2-40B4-BE49-F238E27FC236}">
                <a16:creationId xmlns:a16="http://schemas.microsoft.com/office/drawing/2014/main" id="{E3555BBF-6F66-449B-83FB-E92B448379E4}"/>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需求开发和管理过程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A9798A69-D562-4251-8D03-4EDC2C5F6523}"/>
              </a:ext>
            </a:extLst>
          </p:cNvPr>
          <p:cNvSpPr>
            <a:spLocks noGrp="1" noChangeArrowheads="1"/>
          </p:cNvSpPr>
          <p:nvPr>
            <p:ph type="title" idx="4294967295"/>
          </p:nvPr>
        </p:nvSpPr>
        <p:spPr>
          <a:xfrm>
            <a:off x="179388" y="1052513"/>
            <a:ext cx="8788400" cy="717550"/>
          </a:xfrm>
          <a:noFill/>
        </p:spPr>
        <p:txBody>
          <a:bodyPr/>
          <a:lstStyle/>
          <a:p>
            <a:pPr eaLnBrk="1" hangingPunct="1"/>
            <a:r>
              <a:rPr lang="zh-CN" altLang="en-US"/>
              <a:t>本章内容提要</a:t>
            </a:r>
            <a:endParaRPr lang="en-US" altLang="zh-CN"/>
          </a:p>
        </p:txBody>
      </p:sp>
      <p:grpSp>
        <p:nvGrpSpPr>
          <p:cNvPr id="22531" name="Group 3">
            <a:extLst>
              <a:ext uri="{FF2B5EF4-FFF2-40B4-BE49-F238E27FC236}">
                <a16:creationId xmlns:a16="http://schemas.microsoft.com/office/drawing/2014/main" id="{FC8B3D0E-85DF-4034-99CA-CEC002EFF4CC}"/>
              </a:ext>
            </a:extLst>
          </p:cNvPr>
          <p:cNvGrpSpPr>
            <a:grpSpLocks/>
          </p:cNvGrpSpPr>
          <p:nvPr/>
        </p:nvGrpSpPr>
        <p:grpSpPr bwMode="auto">
          <a:xfrm>
            <a:off x="1057275" y="2222500"/>
            <a:ext cx="5675313" cy="3943350"/>
            <a:chOff x="385" y="1161"/>
            <a:chExt cx="3575" cy="2484"/>
          </a:xfrm>
        </p:grpSpPr>
        <p:sp>
          <p:nvSpPr>
            <p:cNvPr id="22532" name="AutoShape 4">
              <a:extLst>
                <a:ext uri="{FF2B5EF4-FFF2-40B4-BE49-F238E27FC236}">
                  <a16:creationId xmlns:a16="http://schemas.microsoft.com/office/drawing/2014/main" id="{F67B781D-C512-419E-B3C6-7B6C5E02668A}"/>
                </a:ext>
              </a:extLst>
            </p:cNvPr>
            <p:cNvSpPr>
              <a:spLocks noChangeArrowheads="1"/>
            </p:cNvSpPr>
            <p:nvPr/>
          </p:nvSpPr>
          <p:spPr bwMode="auto">
            <a:xfrm>
              <a:off x="464" y="1161"/>
              <a:ext cx="3493" cy="279"/>
            </a:xfrm>
            <a:prstGeom prst="homePlate">
              <a:avLst>
                <a:gd name="adj" fmla="val 32516"/>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2533" name="AutoShape 8">
              <a:extLst>
                <a:ext uri="{FF2B5EF4-FFF2-40B4-BE49-F238E27FC236}">
                  <a16:creationId xmlns:a16="http://schemas.microsoft.com/office/drawing/2014/main" id="{5BDF1B58-A313-4F27-A9AC-042831284B69}"/>
                </a:ext>
              </a:extLst>
            </p:cNvPr>
            <p:cNvSpPr>
              <a:spLocks noChangeArrowheads="1"/>
            </p:cNvSpPr>
            <p:nvPr/>
          </p:nvSpPr>
          <p:spPr bwMode="auto">
            <a:xfrm>
              <a:off x="467" y="306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pSp>
          <p:nvGrpSpPr>
            <p:cNvPr id="22534" name="Group 6">
              <a:extLst>
                <a:ext uri="{FF2B5EF4-FFF2-40B4-BE49-F238E27FC236}">
                  <a16:creationId xmlns:a16="http://schemas.microsoft.com/office/drawing/2014/main" id="{264C46FC-F8AD-4A68-94ED-51CC589263D7}"/>
                </a:ext>
              </a:extLst>
            </p:cNvPr>
            <p:cNvGrpSpPr>
              <a:grpSpLocks/>
            </p:cNvGrpSpPr>
            <p:nvPr/>
          </p:nvGrpSpPr>
          <p:grpSpPr bwMode="auto">
            <a:xfrm>
              <a:off x="385" y="1207"/>
              <a:ext cx="3575" cy="2438"/>
              <a:chOff x="385" y="1207"/>
              <a:chExt cx="3575" cy="2438"/>
            </a:xfrm>
          </p:grpSpPr>
          <p:sp>
            <p:nvSpPr>
              <p:cNvPr id="22535" name="Text Box 5">
                <a:extLst>
                  <a:ext uri="{FF2B5EF4-FFF2-40B4-BE49-F238E27FC236}">
                    <a16:creationId xmlns:a16="http://schemas.microsoft.com/office/drawing/2014/main" id="{2197F95F-54E6-4838-8BF1-571C61AD2589}"/>
                  </a:ext>
                </a:extLst>
              </p:cNvPr>
              <p:cNvSpPr txBox="1">
                <a:spLocks noChangeArrowheads="1"/>
              </p:cNvSpPr>
              <p:nvPr/>
            </p:nvSpPr>
            <p:spPr bwMode="auto">
              <a:xfrm>
                <a:off x="626" y="121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软件项目需求管理概述</a:t>
                </a:r>
                <a:r>
                  <a:rPr lang="zh-CN" altLang="en-US" sz="2000" b="0">
                    <a:latin typeface="Times New Roman" panose="02020603050405020304" pitchFamily="18" charset="0"/>
                  </a:rPr>
                  <a:t> </a:t>
                </a:r>
              </a:p>
            </p:txBody>
          </p:sp>
          <p:sp>
            <p:nvSpPr>
              <p:cNvPr id="22536" name="AutoShape 6">
                <a:extLst>
                  <a:ext uri="{FF2B5EF4-FFF2-40B4-BE49-F238E27FC236}">
                    <a16:creationId xmlns:a16="http://schemas.microsoft.com/office/drawing/2014/main" id="{D02CFE33-81EE-4084-999E-999D6AD3E09B}"/>
                  </a:ext>
                </a:extLst>
              </p:cNvPr>
              <p:cNvSpPr>
                <a:spLocks noChangeArrowheads="1"/>
              </p:cNvSpPr>
              <p:nvPr/>
            </p:nvSpPr>
            <p:spPr bwMode="auto">
              <a:xfrm>
                <a:off x="464" y="1491"/>
                <a:ext cx="3493" cy="273"/>
              </a:xfrm>
              <a:prstGeom prst="homePlate">
                <a:avLst>
                  <a:gd name="adj" fmla="val 3252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2537" name="Text Box 7">
                <a:extLst>
                  <a:ext uri="{FF2B5EF4-FFF2-40B4-BE49-F238E27FC236}">
                    <a16:creationId xmlns:a16="http://schemas.microsoft.com/office/drawing/2014/main" id="{861F3BBE-6D50-4746-994C-77AE571DA7F8}"/>
                  </a:ext>
                </a:extLst>
              </p:cNvPr>
              <p:cNvSpPr txBox="1">
                <a:spLocks noChangeArrowheads="1"/>
              </p:cNvSpPr>
              <p:nvPr/>
            </p:nvSpPr>
            <p:spPr bwMode="auto">
              <a:xfrm>
                <a:off x="626" y="1539"/>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需求开发和管理过程</a:t>
                </a:r>
                <a:r>
                  <a:rPr lang="zh-CN" altLang="en-US" sz="2000" b="0">
                    <a:latin typeface="Times New Roman" panose="02020603050405020304" pitchFamily="18" charset="0"/>
                  </a:rPr>
                  <a:t> </a:t>
                </a:r>
              </a:p>
            </p:txBody>
          </p:sp>
          <p:sp>
            <p:nvSpPr>
              <p:cNvPr id="22538" name="AutoShape 8">
                <a:extLst>
                  <a:ext uri="{FF2B5EF4-FFF2-40B4-BE49-F238E27FC236}">
                    <a16:creationId xmlns:a16="http://schemas.microsoft.com/office/drawing/2014/main" id="{27D30B31-F8CF-4360-9CC8-08A3E3043D8A}"/>
                  </a:ext>
                </a:extLst>
              </p:cNvPr>
              <p:cNvSpPr>
                <a:spLocks noChangeArrowheads="1"/>
              </p:cNvSpPr>
              <p:nvPr/>
            </p:nvSpPr>
            <p:spPr bwMode="auto">
              <a:xfrm>
                <a:off x="464" y="1800"/>
                <a:ext cx="3493" cy="266"/>
              </a:xfrm>
              <a:prstGeom prst="homePlate">
                <a:avLst>
                  <a:gd name="adj" fmla="val 32525"/>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2539" name="Text Box 9">
                <a:extLst>
                  <a:ext uri="{FF2B5EF4-FFF2-40B4-BE49-F238E27FC236}">
                    <a16:creationId xmlns:a16="http://schemas.microsoft.com/office/drawing/2014/main" id="{AB1D2200-53AF-491D-9938-11C5BA5B78FF}"/>
                  </a:ext>
                </a:extLst>
              </p:cNvPr>
              <p:cNvSpPr txBox="1">
                <a:spLocks noChangeArrowheads="1"/>
              </p:cNvSpPr>
              <p:nvPr/>
            </p:nvSpPr>
            <p:spPr bwMode="auto">
              <a:xfrm>
                <a:off x="626" y="184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需求获取方法</a:t>
                </a:r>
                <a:r>
                  <a:rPr lang="zh-CN" altLang="en-US" sz="2000" b="0">
                    <a:latin typeface="Times New Roman" panose="02020603050405020304" pitchFamily="18" charset="0"/>
                  </a:rPr>
                  <a:t> </a:t>
                </a:r>
              </a:p>
            </p:txBody>
          </p:sp>
          <p:sp>
            <p:nvSpPr>
              <p:cNvPr id="22540" name="Rectangle 10">
                <a:extLst>
                  <a:ext uri="{FF2B5EF4-FFF2-40B4-BE49-F238E27FC236}">
                    <a16:creationId xmlns:a16="http://schemas.microsoft.com/office/drawing/2014/main" id="{B7A79D2B-61B0-4F96-8DF9-CF9378EF8642}"/>
                  </a:ext>
                </a:extLst>
              </p:cNvPr>
              <p:cNvSpPr>
                <a:spLocks noChangeArrowheads="1"/>
              </p:cNvSpPr>
              <p:nvPr/>
            </p:nvSpPr>
            <p:spPr bwMode="auto">
              <a:xfrm>
                <a:off x="385" y="1207"/>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6.1</a:t>
                </a:r>
                <a:endParaRPr lang="en-US" altLang="zh-CN" sz="1800">
                  <a:solidFill>
                    <a:srgbClr val="000000"/>
                  </a:solidFill>
                </a:endParaRPr>
              </a:p>
            </p:txBody>
          </p:sp>
          <p:sp>
            <p:nvSpPr>
              <p:cNvPr id="22541" name="Rectangle 11">
                <a:extLst>
                  <a:ext uri="{FF2B5EF4-FFF2-40B4-BE49-F238E27FC236}">
                    <a16:creationId xmlns:a16="http://schemas.microsoft.com/office/drawing/2014/main" id="{F827AC75-C344-40D2-8701-FA6070CFF05B}"/>
                  </a:ext>
                </a:extLst>
              </p:cNvPr>
              <p:cNvSpPr>
                <a:spLocks noChangeArrowheads="1"/>
              </p:cNvSpPr>
              <p:nvPr/>
            </p:nvSpPr>
            <p:spPr bwMode="auto">
              <a:xfrm>
                <a:off x="385" y="1564"/>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6.2</a:t>
                </a:r>
                <a:endParaRPr lang="en-US" altLang="zh-CN" sz="1800">
                  <a:solidFill>
                    <a:schemeClr val="bg1"/>
                  </a:solidFill>
                </a:endParaRPr>
              </a:p>
            </p:txBody>
          </p:sp>
          <p:sp>
            <p:nvSpPr>
              <p:cNvPr id="22542" name="Rectangle 12">
                <a:extLst>
                  <a:ext uri="{FF2B5EF4-FFF2-40B4-BE49-F238E27FC236}">
                    <a16:creationId xmlns:a16="http://schemas.microsoft.com/office/drawing/2014/main" id="{801CD25B-3B6E-40B7-A827-301F3FE14939}"/>
                  </a:ext>
                </a:extLst>
              </p:cNvPr>
              <p:cNvSpPr>
                <a:spLocks noChangeArrowheads="1"/>
              </p:cNvSpPr>
              <p:nvPr/>
            </p:nvSpPr>
            <p:spPr bwMode="auto">
              <a:xfrm>
                <a:off x="385" y="1873"/>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6.3</a:t>
                </a:r>
                <a:endParaRPr lang="en-US" altLang="zh-CN" sz="1800">
                  <a:solidFill>
                    <a:srgbClr val="000000"/>
                  </a:solidFill>
                </a:endParaRPr>
              </a:p>
            </p:txBody>
          </p:sp>
          <p:sp>
            <p:nvSpPr>
              <p:cNvPr id="22543" name="AutoShape 8">
                <a:extLst>
                  <a:ext uri="{FF2B5EF4-FFF2-40B4-BE49-F238E27FC236}">
                    <a16:creationId xmlns:a16="http://schemas.microsoft.com/office/drawing/2014/main" id="{9B6B4863-F469-412F-BB02-B26EE4E55F59}"/>
                  </a:ext>
                </a:extLst>
              </p:cNvPr>
              <p:cNvSpPr>
                <a:spLocks noChangeArrowheads="1"/>
              </p:cNvSpPr>
              <p:nvPr/>
            </p:nvSpPr>
            <p:spPr bwMode="auto">
              <a:xfrm>
                <a:off x="467" y="211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2544" name="Text Box 9">
                <a:extLst>
                  <a:ext uri="{FF2B5EF4-FFF2-40B4-BE49-F238E27FC236}">
                    <a16:creationId xmlns:a16="http://schemas.microsoft.com/office/drawing/2014/main" id="{8C4D3BE9-59BA-49B5-AA71-AAD87A3E3503}"/>
                  </a:ext>
                </a:extLst>
              </p:cNvPr>
              <p:cNvSpPr txBox="1">
                <a:spLocks noChangeArrowheads="1"/>
              </p:cNvSpPr>
              <p:nvPr/>
            </p:nvSpPr>
            <p:spPr bwMode="auto">
              <a:xfrm>
                <a:off x="629" y="216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需求分析建模方法</a:t>
                </a:r>
                <a:r>
                  <a:rPr lang="zh-CN" altLang="en-US" sz="2000" b="0">
                    <a:latin typeface="Times New Roman" panose="02020603050405020304" pitchFamily="18" charset="0"/>
                  </a:rPr>
                  <a:t> </a:t>
                </a:r>
              </a:p>
            </p:txBody>
          </p:sp>
          <p:sp>
            <p:nvSpPr>
              <p:cNvPr id="22545" name="Rectangle 12">
                <a:extLst>
                  <a:ext uri="{FF2B5EF4-FFF2-40B4-BE49-F238E27FC236}">
                    <a16:creationId xmlns:a16="http://schemas.microsoft.com/office/drawing/2014/main" id="{BFBF0975-4DD3-45DA-93A2-923EBC79265F}"/>
                  </a:ext>
                </a:extLst>
              </p:cNvPr>
              <p:cNvSpPr>
                <a:spLocks noChangeArrowheads="1"/>
              </p:cNvSpPr>
              <p:nvPr/>
            </p:nvSpPr>
            <p:spPr bwMode="auto">
              <a:xfrm>
                <a:off x="388" y="218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6.4</a:t>
                </a:r>
                <a:endParaRPr lang="en-US" altLang="zh-CN" sz="1800">
                  <a:solidFill>
                    <a:srgbClr val="000000"/>
                  </a:solidFill>
                </a:endParaRPr>
              </a:p>
            </p:txBody>
          </p:sp>
          <p:sp>
            <p:nvSpPr>
              <p:cNvPr id="22546" name="AutoShape 8">
                <a:extLst>
                  <a:ext uri="{FF2B5EF4-FFF2-40B4-BE49-F238E27FC236}">
                    <a16:creationId xmlns:a16="http://schemas.microsoft.com/office/drawing/2014/main" id="{C8C8578E-84A8-41DC-B1D1-314227CB500E}"/>
                  </a:ext>
                </a:extLst>
              </p:cNvPr>
              <p:cNvSpPr>
                <a:spLocks noChangeArrowheads="1"/>
              </p:cNvSpPr>
              <p:nvPr/>
            </p:nvSpPr>
            <p:spPr bwMode="auto">
              <a:xfrm>
                <a:off x="467" y="243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2547" name="Text Box 9">
                <a:extLst>
                  <a:ext uri="{FF2B5EF4-FFF2-40B4-BE49-F238E27FC236}">
                    <a16:creationId xmlns:a16="http://schemas.microsoft.com/office/drawing/2014/main" id="{1F0806CE-32B1-4E3B-9D73-01A2EC891C1A}"/>
                  </a:ext>
                </a:extLst>
              </p:cNvPr>
              <p:cNvSpPr txBox="1">
                <a:spLocks noChangeArrowheads="1"/>
              </p:cNvSpPr>
              <p:nvPr/>
            </p:nvSpPr>
            <p:spPr bwMode="auto">
              <a:xfrm>
                <a:off x="629" y="247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需求管理工具</a:t>
                </a:r>
                <a:r>
                  <a:rPr lang="zh-CN" altLang="en-US" sz="2000" b="0">
                    <a:latin typeface="Times New Roman" panose="02020603050405020304" pitchFamily="18" charset="0"/>
                  </a:rPr>
                  <a:t> </a:t>
                </a:r>
              </a:p>
            </p:txBody>
          </p:sp>
          <p:sp>
            <p:nvSpPr>
              <p:cNvPr id="22548" name="Rectangle 12">
                <a:extLst>
                  <a:ext uri="{FF2B5EF4-FFF2-40B4-BE49-F238E27FC236}">
                    <a16:creationId xmlns:a16="http://schemas.microsoft.com/office/drawing/2014/main" id="{6467E006-9029-4398-83ED-1B78E6872675}"/>
                  </a:ext>
                </a:extLst>
              </p:cNvPr>
              <p:cNvSpPr>
                <a:spLocks noChangeArrowheads="1"/>
              </p:cNvSpPr>
              <p:nvPr/>
            </p:nvSpPr>
            <p:spPr bwMode="auto">
              <a:xfrm>
                <a:off x="388" y="250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6.5</a:t>
                </a:r>
                <a:endParaRPr lang="en-US" altLang="zh-CN" sz="1800">
                  <a:solidFill>
                    <a:srgbClr val="000000"/>
                  </a:solidFill>
                </a:endParaRPr>
              </a:p>
            </p:txBody>
          </p:sp>
          <p:sp>
            <p:nvSpPr>
              <p:cNvPr id="22549" name="AutoShape 8">
                <a:extLst>
                  <a:ext uri="{FF2B5EF4-FFF2-40B4-BE49-F238E27FC236}">
                    <a16:creationId xmlns:a16="http://schemas.microsoft.com/office/drawing/2014/main" id="{4FF88BA0-8A8C-49E2-A009-F50B2D2E8048}"/>
                  </a:ext>
                </a:extLst>
              </p:cNvPr>
              <p:cNvSpPr>
                <a:spLocks noChangeArrowheads="1"/>
              </p:cNvSpPr>
              <p:nvPr/>
            </p:nvSpPr>
            <p:spPr bwMode="auto">
              <a:xfrm>
                <a:off x="467" y="274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2550" name="Text Box 9">
                <a:extLst>
                  <a:ext uri="{FF2B5EF4-FFF2-40B4-BE49-F238E27FC236}">
                    <a16:creationId xmlns:a16="http://schemas.microsoft.com/office/drawing/2014/main" id="{622B62F6-72FB-4E62-8BFA-F484972D8FF6}"/>
                  </a:ext>
                </a:extLst>
              </p:cNvPr>
              <p:cNvSpPr txBox="1">
                <a:spLocks noChangeArrowheads="1"/>
              </p:cNvSpPr>
              <p:nvPr/>
            </p:nvSpPr>
            <p:spPr bwMode="auto">
              <a:xfrm>
                <a:off x="629" y="279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000" b="0">
                    <a:latin typeface="Times New Roman" panose="02020603050405020304" pitchFamily="18" charset="0"/>
                  </a:rPr>
                  <a:t> </a:t>
                </a:r>
              </a:p>
            </p:txBody>
          </p:sp>
          <p:sp>
            <p:nvSpPr>
              <p:cNvPr id="22551" name="Rectangle 12">
                <a:extLst>
                  <a:ext uri="{FF2B5EF4-FFF2-40B4-BE49-F238E27FC236}">
                    <a16:creationId xmlns:a16="http://schemas.microsoft.com/office/drawing/2014/main" id="{E2B360CB-6CF4-4A17-BF2B-F95E620E7313}"/>
                  </a:ext>
                </a:extLst>
              </p:cNvPr>
              <p:cNvSpPr>
                <a:spLocks noChangeArrowheads="1"/>
              </p:cNvSpPr>
              <p:nvPr/>
            </p:nvSpPr>
            <p:spPr bwMode="auto">
              <a:xfrm>
                <a:off x="388" y="278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6.6</a:t>
                </a:r>
                <a:endParaRPr lang="en-US" altLang="zh-CN" sz="1800">
                  <a:solidFill>
                    <a:srgbClr val="000000"/>
                  </a:solidFill>
                </a:endParaRPr>
              </a:p>
            </p:txBody>
          </p:sp>
          <p:sp>
            <p:nvSpPr>
              <p:cNvPr id="22552" name="Text Box 9">
                <a:extLst>
                  <a:ext uri="{FF2B5EF4-FFF2-40B4-BE49-F238E27FC236}">
                    <a16:creationId xmlns:a16="http://schemas.microsoft.com/office/drawing/2014/main" id="{3E7BEDE0-6746-47FE-BFC9-4A72AF9779BC}"/>
                  </a:ext>
                </a:extLst>
              </p:cNvPr>
              <p:cNvSpPr txBox="1">
                <a:spLocks noChangeArrowheads="1"/>
              </p:cNvSpPr>
              <p:nvPr/>
            </p:nvSpPr>
            <p:spPr bwMode="auto">
              <a:xfrm>
                <a:off x="629" y="310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000" b="0">
                    <a:latin typeface="Times New Roman" panose="02020603050405020304" pitchFamily="18" charset="0"/>
                  </a:rPr>
                  <a:t> </a:t>
                </a:r>
              </a:p>
            </p:txBody>
          </p:sp>
          <p:sp>
            <p:nvSpPr>
              <p:cNvPr id="22553" name="Rectangle 12">
                <a:extLst>
                  <a:ext uri="{FF2B5EF4-FFF2-40B4-BE49-F238E27FC236}">
                    <a16:creationId xmlns:a16="http://schemas.microsoft.com/office/drawing/2014/main" id="{D78A6E64-3E02-4545-8D0F-1391D6E9C1C4}"/>
                  </a:ext>
                </a:extLst>
              </p:cNvPr>
              <p:cNvSpPr>
                <a:spLocks noChangeArrowheads="1"/>
              </p:cNvSpPr>
              <p:nvPr/>
            </p:nvSpPr>
            <p:spPr bwMode="auto">
              <a:xfrm>
                <a:off x="388" y="313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6.7</a:t>
                </a:r>
                <a:endParaRPr lang="en-US" altLang="zh-CN" sz="1800">
                  <a:solidFill>
                    <a:srgbClr val="000000"/>
                  </a:solidFill>
                </a:endParaRPr>
              </a:p>
            </p:txBody>
          </p:sp>
          <p:sp>
            <p:nvSpPr>
              <p:cNvPr id="22554" name="AutoShape 8">
                <a:extLst>
                  <a:ext uri="{FF2B5EF4-FFF2-40B4-BE49-F238E27FC236}">
                    <a16:creationId xmlns:a16="http://schemas.microsoft.com/office/drawing/2014/main" id="{ACF19AAD-EF07-40DE-8837-9C347463FCD8}"/>
                  </a:ext>
                </a:extLst>
              </p:cNvPr>
              <p:cNvSpPr>
                <a:spLocks noChangeArrowheads="1"/>
              </p:cNvSpPr>
              <p:nvPr/>
            </p:nvSpPr>
            <p:spPr bwMode="auto">
              <a:xfrm>
                <a:off x="467" y="3375"/>
                <a:ext cx="3493" cy="270"/>
              </a:xfrm>
              <a:prstGeom prst="homePlate">
                <a:avLst>
                  <a:gd name="adj" fmla="val 3252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2555" name="Text Box 9">
                <a:extLst>
                  <a:ext uri="{FF2B5EF4-FFF2-40B4-BE49-F238E27FC236}">
                    <a16:creationId xmlns:a16="http://schemas.microsoft.com/office/drawing/2014/main" id="{F3F1CB92-5717-4699-AE1F-DC161B55A232}"/>
                  </a:ext>
                </a:extLst>
              </p:cNvPr>
              <p:cNvSpPr txBox="1">
                <a:spLocks noChangeArrowheads="1"/>
              </p:cNvSpPr>
              <p:nvPr/>
            </p:nvSpPr>
            <p:spPr bwMode="auto">
              <a:xfrm>
                <a:off x="629" y="342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000" b="0">
                    <a:latin typeface="Times New Roman" panose="02020603050405020304" pitchFamily="18" charset="0"/>
                  </a:rPr>
                  <a:t> </a:t>
                </a:r>
              </a:p>
            </p:txBody>
          </p:sp>
          <p:sp>
            <p:nvSpPr>
              <p:cNvPr id="22556" name="Rectangle 12">
                <a:extLst>
                  <a:ext uri="{FF2B5EF4-FFF2-40B4-BE49-F238E27FC236}">
                    <a16:creationId xmlns:a16="http://schemas.microsoft.com/office/drawing/2014/main" id="{73B5EB42-148E-4A08-99F5-2FC7F4097814}"/>
                  </a:ext>
                </a:extLst>
              </p:cNvPr>
              <p:cNvSpPr>
                <a:spLocks noChangeArrowheads="1"/>
              </p:cNvSpPr>
              <p:nvPr/>
            </p:nvSpPr>
            <p:spPr bwMode="auto">
              <a:xfrm>
                <a:off x="388" y="344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6.8</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slide(fromBottom)">
                                      <p:cBhvr>
                                        <p:cTn id="7" dur="500"/>
                                        <p:tgtEl>
                                          <p:spTgt spid="2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3">
            <a:extLst>
              <a:ext uri="{FF2B5EF4-FFF2-40B4-BE49-F238E27FC236}">
                <a16:creationId xmlns:a16="http://schemas.microsoft.com/office/drawing/2014/main" id="{E1FCE0AA-4A57-40D2-931F-E2FE93AC5256}"/>
              </a:ext>
            </a:extLst>
          </p:cNvPr>
          <p:cNvSpPr txBox="1">
            <a:spLocks noChangeArrowheads="1"/>
          </p:cNvSpPr>
          <p:nvPr/>
        </p:nvSpPr>
        <p:spPr bwMode="auto">
          <a:xfrm>
            <a:off x="684213" y="1916113"/>
            <a:ext cx="7731125" cy="310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a:solidFill>
                  <a:schemeClr val="accent2"/>
                </a:solidFill>
              </a:rPr>
              <a:t> </a:t>
            </a:r>
            <a:r>
              <a:rPr kumimoji="0" lang="zh-CN" altLang="en-US" sz="2400">
                <a:solidFill>
                  <a:schemeClr val="accent2"/>
                </a:solidFill>
                <a:ea typeface="黑体" panose="02010609060101010101" pitchFamily="49" charset="-122"/>
              </a:rPr>
              <a:t>访谈和调研</a:t>
            </a:r>
            <a:endParaRPr kumimoji="0" lang="en-US" altLang="zh-CN" sz="2400">
              <a:solidFill>
                <a:schemeClr val="accent2"/>
              </a:solidFill>
              <a:ea typeface="黑体" panose="02010609060101010101" pitchFamily="49" charset="-122"/>
            </a:endParaRPr>
          </a:p>
          <a:p>
            <a:pPr lvl="1">
              <a:lnSpc>
                <a:spcPct val="110000"/>
              </a:lnSpc>
              <a:spcBef>
                <a:spcPts val="600"/>
              </a:spcBef>
              <a:buClr>
                <a:schemeClr val="accent2"/>
              </a:buClr>
              <a:buSzPct val="70000"/>
              <a:buFont typeface="Wingdings" panose="05000000000000000000" pitchFamily="2" charset="2"/>
              <a:buChar char="l"/>
            </a:pPr>
            <a:r>
              <a:rPr lang="zh-CN" altLang="en-US" sz="2000">
                <a:latin typeface="Times New Roman" panose="02020603050405020304" pitchFamily="18" charset="0"/>
              </a:rPr>
              <a:t>和用户进行访谈和调研通常是适用于任何环境下的</a:t>
            </a:r>
            <a:r>
              <a:rPr lang="zh-CN" altLang="en-US" sz="2000">
                <a:solidFill>
                  <a:srgbClr val="FF0000"/>
                </a:solidFill>
                <a:latin typeface="Times New Roman" panose="02020603050405020304" pitchFamily="18" charset="0"/>
              </a:rPr>
              <a:t>最重要最直接</a:t>
            </a:r>
            <a:r>
              <a:rPr lang="zh-CN" altLang="en-US" sz="2000">
                <a:latin typeface="Times New Roman" panose="02020603050405020304" pitchFamily="18" charset="0"/>
              </a:rPr>
              <a:t>的方法之一。</a:t>
            </a:r>
          </a:p>
          <a:p>
            <a:pPr lvl="1">
              <a:lnSpc>
                <a:spcPct val="110000"/>
              </a:lnSpc>
              <a:spcBef>
                <a:spcPts val="600"/>
              </a:spcBef>
              <a:buClr>
                <a:schemeClr val="accent2"/>
              </a:buClr>
              <a:buSzPct val="70000"/>
              <a:buFont typeface="Wingdings" panose="05000000000000000000" pitchFamily="2" charset="2"/>
              <a:buChar char="l"/>
            </a:pPr>
            <a:r>
              <a:rPr lang="zh-CN" altLang="en-US" sz="2000">
                <a:latin typeface="Times New Roman" panose="02020603050405020304" pitchFamily="18" charset="0"/>
              </a:rPr>
              <a:t>访谈的一个主要目标是</a:t>
            </a:r>
            <a:r>
              <a:rPr lang="zh-CN" altLang="en-US" sz="2000">
                <a:solidFill>
                  <a:srgbClr val="FF0000"/>
                </a:solidFill>
                <a:latin typeface="Times New Roman" panose="02020603050405020304" pitchFamily="18" charset="0"/>
              </a:rPr>
              <a:t>确保访谈者的偏见或主观意识不会干扰自由的交流</a:t>
            </a:r>
            <a:r>
              <a:rPr lang="zh-CN" altLang="en-US" sz="2000">
                <a:latin typeface="Times New Roman" panose="02020603050405020304" pitchFamily="18" charset="0"/>
              </a:rPr>
              <a:t>。</a:t>
            </a:r>
          </a:p>
          <a:p>
            <a:pPr lvl="1">
              <a:lnSpc>
                <a:spcPct val="110000"/>
              </a:lnSpc>
              <a:spcBef>
                <a:spcPts val="600"/>
              </a:spcBef>
              <a:buClr>
                <a:schemeClr val="accent2"/>
              </a:buClr>
              <a:buSzPct val="70000"/>
              <a:buFont typeface="Wingdings" panose="05000000000000000000" pitchFamily="2" charset="2"/>
              <a:buChar char="l"/>
            </a:pPr>
            <a:r>
              <a:rPr lang="en-US" altLang="en-US" sz="2000">
                <a:latin typeface="Times New Roman" panose="02020603050405020304" pitchFamily="18" charset="0"/>
              </a:rPr>
              <a:t>“</a:t>
            </a:r>
            <a:r>
              <a:rPr lang="zh-CN" altLang="en-US" sz="2000">
                <a:latin typeface="Times New Roman" panose="02020603050405020304" pitchFamily="18" charset="0"/>
              </a:rPr>
              <a:t>环境无关问题</a:t>
            </a:r>
            <a:r>
              <a:rPr lang="en-US" altLang="en-US" sz="2000">
                <a:latin typeface="Times New Roman" panose="02020603050405020304" pitchFamily="18" charset="0"/>
              </a:rPr>
              <a:t>”</a:t>
            </a:r>
            <a:r>
              <a:rPr lang="zh-CN" altLang="en-US" sz="2000">
                <a:latin typeface="Times New Roman" panose="02020603050405020304" pitchFamily="18" charset="0"/>
              </a:rPr>
              <a:t>就是不涉及任何背景的问题。</a:t>
            </a:r>
            <a:endParaRPr lang="en-US" altLang="zh-CN" sz="2000">
              <a:latin typeface="Times New Roman" panose="02020603050405020304" pitchFamily="18" charset="0"/>
            </a:endParaRPr>
          </a:p>
          <a:p>
            <a:pPr lvl="1">
              <a:lnSpc>
                <a:spcPct val="110000"/>
              </a:lnSpc>
              <a:spcBef>
                <a:spcPts val="600"/>
              </a:spcBef>
              <a:buClr>
                <a:schemeClr val="accent2"/>
              </a:buClr>
              <a:buSzPct val="70000"/>
              <a:buFont typeface="Wingdings" panose="05000000000000000000" pitchFamily="2" charset="2"/>
              <a:buChar char="l"/>
            </a:pPr>
            <a:r>
              <a:rPr lang="zh-CN" altLang="en-US" sz="2000">
                <a:latin typeface="Times New Roman" panose="02020603050405020304" pitchFamily="18" charset="0"/>
              </a:rPr>
              <a:t>通过几次这样的访谈，开发人员和系统分析员能获得一些问题域中的知识，对要解决的问题有进一步的理解。</a:t>
            </a:r>
          </a:p>
        </p:txBody>
      </p:sp>
      <p:sp>
        <p:nvSpPr>
          <p:cNvPr id="23555" name="Rectangle 2">
            <a:extLst>
              <a:ext uri="{FF2B5EF4-FFF2-40B4-BE49-F238E27FC236}">
                <a16:creationId xmlns:a16="http://schemas.microsoft.com/office/drawing/2014/main" id="{43A4CC37-8842-48AB-B569-04A2CE76D831}"/>
              </a:ext>
            </a:extLst>
          </p:cNvPr>
          <p:cNvSpPr>
            <a:spLocks noGrp="1" noChangeArrowheads="1"/>
          </p:cNvSpPr>
          <p:nvPr>
            <p:ph type="title"/>
          </p:nvPr>
        </p:nvSpPr>
        <p:spPr>
          <a:xfrm>
            <a:off x="177800" y="1054100"/>
            <a:ext cx="8788400" cy="717550"/>
          </a:xfrm>
          <a:noFill/>
        </p:spPr>
        <p:txBody>
          <a:bodyPr/>
          <a:lstStyle/>
          <a:p>
            <a:pPr eaLnBrk="1" hangingPunct="1"/>
            <a:r>
              <a:rPr lang="en-US" altLang="zh-CN"/>
              <a:t>6.3  </a:t>
            </a:r>
            <a:r>
              <a:rPr lang="zh-CN" altLang="en-US"/>
              <a:t>需求获取方法</a:t>
            </a:r>
          </a:p>
        </p:txBody>
      </p:sp>
      <p:pic>
        <p:nvPicPr>
          <p:cNvPr id="23556" name="Picture 4">
            <a:extLst>
              <a:ext uri="{FF2B5EF4-FFF2-40B4-BE49-F238E27FC236}">
                <a16:creationId xmlns:a16="http://schemas.microsoft.com/office/drawing/2014/main" id="{167272DD-A7C8-47E5-B39B-5B42B04DEC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038725"/>
            <a:ext cx="1819275"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3">
            <a:extLst>
              <a:ext uri="{FF2B5EF4-FFF2-40B4-BE49-F238E27FC236}">
                <a16:creationId xmlns:a16="http://schemas.microsoft.com/office/drawing/2014/main" id="{EC9DFA9F-D1BB-4B12-A504-72693A8C3144}"/>
              </a:ext>
            </a:extLst>
          </p:cNvPr>
          <p:cNvSpPr txBox="1">
            <a:spLocks noChangeArrowheads="1"/>
          </p:cNvSpPr>
          <p:nvPr/>
        </p:nvSpPr>
        <p:spPr bwMode="auto">
          <a:xfrm>
            <a:off x="684213" y="1989138"/>
            <a:ext cx="7920037"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a:solidFill>
                  <a:schemeClr val="accent2"/>
                </a:solidFill>
              </a:rPr>
              <a:t> </a:t>
            </a:r>
            <a:r>
              <a:rPr kumimoji="0" lang="zh-CN" altLang="en-US" sz="2400">
                <a:solidFill>
                  <a:schemeClr val="accent2"/>
                </a:solidFill>
                <a:ea typeface="黑体" panose="02010609060101010101" pitchFamily="49" charset="-122"/>
              </a:rPr>
              <a:t>专题讨论会</a:t>
            </a:r>
            <a:endParaRPr kumimoji="0" lang="en-US" altLang="zh-CN" sz="2400">
              <a:solidFill>
                <a:schemeClr val="accent2"/>
              </a:solidFill>
              <a:ea typeface="黑体" panose="02010609060101010101" pitchFamily="49" charset="-122"/>
            </a:endParaRPr>
          </a:p>
          <a:p>
            <a:pPr lvl="1">
              <a:lnSpc>
                <a:spcPct val="110000"/>
              </a:lnSpc>
              <a:spcBef>
                <a:spcPct val="30000"/>
              </a:spcBef>
              <a:buClr>
                <a:schemeClr val="accent2"/>
              </a:buClr>
              <a:buSzPct val="70000"/>
              <a:buFont typeface="Wingdings" panose="05000000000000000000" pitchFamily="2" charset="2"/>
              <a:buChar char="l"/>
            </a:pPr>
            <a:r>
              <a:rPr lang="zh-CN" altLang="en-US" sz="2000">
                <a:latin typeface="Times New Roman" panose="02020603050405020304" pitchFamily="18" charset="0"/>
              </a:rPr>
              <a:t>专题讨论会是一种可用于任何情况下的软件需求调研方法。</a:t>
            </a:r>
          </a:p>
          <a:p>
            <a:pPr lvl="1">
              <a:lnSpc>
                <a:spcPct val="110000"/>
              </a:lnSpc>
              <a:spcBef>
                <a:spcPct val="30000"/>
              </a:spcBef>
              <a:buClr>
                <a:schemeClr val="accent2"/>
              </a:buClr>
              <a:buSzPct val="70000"/>
              <a:buFont typeface="Wingdings" panose="05000000000000000000" pitchFamily="2" charset="2"/>
              <a:buChar char="l"/>
            </a:pPr>
            <a:r>
              <a:rPr lang="zh-CN" altLang="en-US" sz="2000">
                <a:latin typeface="Times New Roman" panose="02020603050405020304" pitchFamily="18" charset="0"/>
              </a:rPr>
              <a:t>专题讨论会的目的是鼓励软件需求调研并且在很短的时间内  对讨论的问题达成一致。</a:t>
            </a:r>
          </a:p>
          <a:p>
            <a:pPr lvl="1">
              <a:lnSpc>
                <a:spcPct val="110000"/>
              </a:lnSpc>
              <a:spcBef>
                <a:spcPct val="30000"/>
              </a:spcBef>
              <a:buClr>
                <a:schemeClr val="accent2"/>
              </a:buClr>
              <a:buSzPct val="70000"/>
              <a:buFont typeface="Wingdings" panose="05000000000000000000" pitchFamily="2" charset="2"/>
              <a:buChar char="l"/>
            </a:pPr>
            <a:r>
              <a:rPr lang="zh-CN" altLang="en-US" sz="2000">
                <a:latin typeface="Times New Roman" panose="02020603050405020304" pitchFamily="18" charset="0"/>
              </a:rPr>
              <a:t>专题讨论会一般由开发团队的成员主持，主要讨论系统应具备的特征或者评审系统特性。</a:t>
            </a:r>
          </a:p>
          <a:p>
            <a:pPr lvl="1">
              <a:lnSpc>
                <a:spcPct val="110000"/>
              </a:lnSpc>
              <a:spcBef>
                <a:spcPct val="30000"/>
              </a:spcBef>
              <a:buClr>
                <a:schemeClr val="accent2"/>
              </a:buClr>
              <a:buSzPct val="70000"/>
              <a:buFont typeface="Wingdings" panose="05000000000000000000" pitchFamily="2" charset="2"/>
              <a:buChar char="l"/>
            </a:pPr>
            <a:r>
              <a:rPr lang="zh-CN" altLang="en-US" sz="2000">
                <a:latin typeface="Times New Roman" panose="02020603050405020304" pitchFamily="18" charset="0"/>
              </a:rPr>
              <a:t>专题讨论会前的</a:t>
            </a:r>
            <a:r>
              <a:rPr lang="zh-CN" altLang="en-US" sz="2000">
                <a:solidFill>
                  <a:srgbClr val="FF0000"/>
                </a:solidFill>
                <a:latin typeface="Times New Roman" panose="02020603050405020304" pitchFamily="18" charset="0"/>
              </a:rPr>
              <a:t>准备工作</a:t>
            </a:r>
            <a:r>
              <a:rPr lang="zh-CN" altLang="en-US" sz="2000">
                <a:latin typeface="Times New Roman" panose="02020603050405020304" pitchFamily="18" charset="0"/>
              </a:rPr>
              <a:t>是能否成功的举行会议的关键。</a:t>
            </a:r>
          </a:p>
        </p:txBody>
      </p:sp>
      <p:sp>
        <p:nvSpPr>
          <p:cNvPr id="24579" name="Rectangle 2">
            <a:extLst>
              <a:ext uri="{FF2B5EF4-FFF2-40B4-BE49-F238E27FC236}">
                <a16:creationId xmlns:a16="http://schemas.microsoft.com/office/drawing/2014/main" id="{8AC36919-2101-4D3E-B229-0787216BC479}"/>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需求获取方法</a:t>
            </a:r>
          </a:p>
        </p:txBody>
      </p:sp>
      <p:pic>
        <p:nvPicPr>
          <p:cNvPr id="24580" name="Picture 5">
            <a:extLst>
              <a:ext uri="{FF2B5EF4-FFF2-40B4-BE49-F238E27FC236}">
                <a16:creationId xmlns:a16="http://schemas.microsoft.com/office/drawing/2014/main" id="{9D2C12D0-5E52-4C01-9495-E682F66AE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25" y="4813300"/>
            <a:ext cx="1928813" cy="192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3">
            <a:extLst>
              <a:ext uri="{FF2B5EF4-FFF2-40B4-BE49-F238E27FC236}">
                <a16:creationId xmlns:a16="http://schemas.microsoft.com/office/drawing/2014/main" id="{7900257C-A536-45F3-A7C6-E811C5B2BF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2450" y="1011238"/>
            <a:ext cx="181927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Text Box 3">
            <a:extLst>
              <a:ext uri="{FF2B5EF4-FFF2-40B4-BE49-F238E27FC236}">
                <a16:creationId xmlns:a16="http://schemas.microsoft.com/office/drawing/2014/main" id="{523621AF-25E5-4B01-AE1F-32B0BF1D00DE}"/>
              </a:ext>
            </a:extLst>
          </p:cNvPr>
          <p:cNvSpPr txBox="1">
            <a:spLocks noChangeArrowheads="1"/>
          </p:cNvSpPr>
          <p:nvPr/>
        </p:nvSpPr>
        <p:spPr bwMode="auto">
          <a:xfrm>
            <a:off x="684213" y="2011363"/>
            <a:ext cx="7731125"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脑力风暴</a:t>
            </a:r>
            <a:endParaRPr kumimoji="0" lang="en-US" altLang="zh-CN" sz="2400" dirty="0">
              <a:solidFill>
                <a:schemeClr val="accent2"/>
              </a:solidFill>
              <a:ea typeface="黑体" panose="02010609060101010101" pitchFamily="49" charset="-122"/>
            </a:endParaRPr>
          </a:p>
          <a:p>
            <a:pPr lvl="1">
              <a:spcBef>
                <a:spcPts val="600"/>
              </a:spcBef>
              <a:buClr>
                <a:schemeClr val="accent2"/>
              </a:buClr>
              <a:buSzPct val="70000"/>
              <a:buFont typeface="Wingdings" panose="05000000000000000000" pitchFamily="2" charset="2"/>
              <a:buChar char="l"/>
            </a:pPr>
            <a:r>
              <a:rPr lang="zh-CN" altLang="en-US" sz="1800" b="0" dirty="0">
                <a:latin typeface="Times New Roman" panose="02020603050405020304" pitchFamily="18" charset="0"/>
              </a:rPr>
              <a:t> </a:t>
            </a:r>
            <a:r>
              <a:rPr lang="zh-CN" altLang="en-US" sz="2000" dirty="0">
                <a:latin typeface="Times New Roman" panose="02020603050405020304" pitchFamily="18" charset="0"/>
              </a:rPr>
              <a:t>脑力风暴是一种对于获取新观点或创造性的解决方案而言非常有用的方法。</a:t>
            </a:r>
          </a:p>
          <a:p>
            <a:pPr lvl="1">
              <a:spcBef>
                <a:spcPts val="6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 通常，专题讨论会的一部分时间是用于进行脑力风暴，找出关于软件系统的新想法和新特征。</a:t>
            </a:r>
          </a:p>
          <a:p>
            <a:pPr lvl="1">
              <a:spcBef>
                <a:spcPts val="6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 脑力风暴包括两个阶段：</a:t>
            </a:r>
            <a:r>
              <a:rPr lang="zh-CN" altLang="en-US" sz="2000" dirty="0">
                <a:solidFill>
                  <a:srgbClr val="FF0000"/>
                </a:solidFill>
                <a:latin typeface="Times New Roman" panose="02020603050405020304" pitchFamily="18" charset="0"/>
              </a:rPr>
              <a:t>想法产生阶段和想法精化阶段</a:t>
            </a:r>
            <a:r>
              <a:rPr lang="zh-CN" altLang="en-US" sz="2000" dirty="0">
                <a:latin typeface="Times New Roman" panose="02020603050405020304" pitchFamily="18" charset="0"/>
              </a:rPr>
              <a:t>。</a:t>
            </a:r>
          </a:p>
        </p:txBody>
      </p:sp>
      <p:graphicFrame>
        <p:nvGraphicFramePr>
          <p:cNvPr id="24605" name="Group 29">
            <a:extLst>
              <a:ext uri="{FF2B5EF4-FFF2-40B4-BE49-F238E27FC236}">
                <a16:creationId xmlns:a16="http://schemas.microsoft.com/office/drawing/2014/main" id="{C230D57A-2B93-4F47-B632-4C9FA28ABAA3}"/>
              </a:ext>
            </a:extLst>
          </p:cNvPr>
          <p:cNvGraphicFramePr>
            <a:graphicFrameLocks noGrp="1"/>
          </p:cNvGraphicFramePr>
          <p:nvPr/>
        </p:nvGraphicFramePr>
        <p:xfrm>
          <a:off x="1130300" y="4683125"/>
          <a:ext cx="7113588" cy="2058988"/>
        </p:xfrm>
        <a:graphic>
          <a:graphicData uri="http://schemas.openxmlformats.org/drawingml/2006/table">
            <a:tbl>
              <a:tblPr/>
              <a:tblGrid>
                <a:gridCol w="1592263">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3568700">
                  <a:extLst>
                    <a:ext uri="{9D8B030D-6E8A-4147-A177-3AD203B41FA5}">
                      <a16:colId xmlns:a16="http://schemas.microsoft.com/office/drawing/2014/main" val="20002"/>
                    </a:ext>
                  </a:extLst>
                </a:gridCol>
              </a:tblGrid>
              <a:tr h="719138">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应用程序</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脑力风暴中确定的特征</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系统特征定义</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extLst>
                  <a:ext uri="{0D108BD9-81ED-4DB2-BD59-A6C34878D82A}">
                    <a16:rowId xmlns:a16="http://schemas.microsoft.com/office/drawing/2014/main" val="10000"/>
                  </a:ext>
                </a:extLst>
              </a:tr>
              <a:tr h="669925">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家用自动照明系统</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自动照明设置</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用户可以制定每天自动照明的时间计划，系统将按时间计划触发照明事件</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669925">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任务管理系统</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代理任务通知</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ct val="135000"/>
                        </a:lnSpc>
                        <a:spcBef>
                          <a:spcPct val="0"/>
                        </a:spcBef>
                        <a:spcAft>
                          <a:spcPct val="0"/>
                        </a:spcAft>
                        <a:buClrTx/>
                        <a:buSzTx/>
                        <a:buFontTx/>
                        <a:buNone/>
                        <a:tabLst/>
                      </a:pP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当用户将自己的任务代理给其他人时，系统自动发送</a:t>
                      </a:r>
                      <a:r>
                        <a:rPr kumimoji="0" lang="en-US" altLang="zh-CN"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Email</a:t>
                      </a:r>
                      <a:r>
                        <a:rPr kumimoji="0" lang="zh-CN" altLang="en-US" sz="1200" b="1" i="0" u="none" strike="noStrike" cap="none" normalizeH="0" baseline="0">
                          <a:ln>
                            <a:noFill/>
                          </a:ln>
                          <a:solidFill>
                            <a:srgbClr val="000000"/>
                          </a:solidFill>
                          <a:effectLst/>
                          <a:latin typeface="黑体" pitchFamily="2" charset="-122"/>
                          <a:ea typeface="黑体" pitchFamily="2" charset="-122"/>
                          <a:cs typeface="Times New Roman" pitchFamily="18" charset="0"/>
                        </a:rPr>
                        <a:t>通知将接手该任务的人</a:t>
                      </a:r>
                      <a:endParaRPr kumimoji="0" lang="zh-CN" altLang="en-US" sz="12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bl>
          </a:graphicData>
        </a:graphic>
      </p:graphicFrame>
      <p:sp>
        <p:nvSpPr>
          <p:cNvPr id="25622" name="矩形 4">
            <a:extLst>
              <a:ext uri="{FF2B5EF4-FFF2-40B4-BE49-F238E27FC236}">
                <a16:creationId xmlns:a16="http://schemas.microsoft.com/office/drawing/2014/main" id="{8D93D1E9-2F87-4C45-8ED8-527247B698C3}"/>
              </a:ext>
            </a:extLst>
          </p:cNvPr>
          <p:cNvSpPr>
            <a:spLocks noChangeArrowheads="1"/>
          </p:cNvSpPr>
          <p:nvPr/>
        </p:nvSpPr>
        <p:spPr bwMode="auto">
          <a:xfrm>
            <a:off x="1071563" y="4284663"/>
            <a:ext cx="43576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zh-CN" altLang="en-US" sz="1800">
                <a:solidFill>
                  <a:srgbClr val="63B4D1"/>
                </a:solidFill>
                <a:latin typeface="Times New Roman" panose="02020603050405020304" pitchFamily="18" charset="0"/>
                <a:ea typeface="黑体" panose="02010609060101010101" pitchFamily="49" charset="-122"/>
              </a:rPr>
              <a:t>脑力风暴中为确定的问题定义系统特征</a:t>
            </a:r>
          </a:p>
        </p:txBody>
      </p:sp>
      <p:sp>
        <p:nvSpPr>
          <p:cNvPr id="25623" name="Rectangle 2">
            <a:extLst>
              <a:ext uri="{FF2B5EF4-FFF2-40B4-BE49-F238E27FC236}">
                <a16:creationId xmlns:a16="http://schemas.microsoft.com/office/drawing/2014/main" id="{49252EE7-84A2-4FA4-8C24-A8E1C0538EB9}"/>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需求获取方法</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3">
            <a:extLst>
              <a:ext uri="{FF2B5EF4-FFF2-40B4-BE49-F238E27FC236}">
                <a16:creationId xmlns:a16="http://schemas.microsoft.com/office/drawing/2014/main" id="{AC4193D5-80C3-4B33-9AF5-62DA4ED97258}"/>
              </a:ext>
            </a:extLst>
          </p:cNvPr>
          <p:cNvSpPr txBox="1">
            <a:spLocks noChangeArrowheads="1"/>
          </p:cNvSpPr>
          <p:nvPr/>
        </p:nvSpPr>
        <p:spPr bwMode="auto">
          <a:xfrm>
            <a:off x="1004888" y="1989138"/>
            <a:ext cx="741045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场景串联</a:t>
            </a:r>
          </a:p>
          <a:p>
            <a:pPr lvl="1">
              <a:lnSpc>
                <a:spcPct val="130000"/>
              </a:lnSpc>
              <a:spcBef>
                <a:spcPct val="30000"/>
              </a:spcBef>
              <a:buClr>
                <a:schemeClr val="accent2"/>
              </a:buClr>
              <a:buSzPct val="70000"/>
              <a:buFont typeface="Wingdings" panose="05000000000000000000" pitchFamily="2" charset="2"/>
              <a:buChar char="l"/>
            </a:pPr>
            <a:r>
              <a:rPr lang="zh-CN" altLang="en-US" sz="1800" b="0" dirty="0">
                <a:latin typeface="Times New Roman" panose="02020603050405020304" pitchFamily="18" charset="0"/>
              </a:rPr>
              <a:t> </a:t>
            </a:r>
            <a:r>
              <a:rPr lang="zh-CN" altLang="en-US" sz="2000" dirty="0">
                <a:latin typeface="Times New Roman" panose="02020603050405020304" pitchFamily="18" charset="0"/>
              </a:rPr>
              <a:t>场景串联的目的是为了尽早的从用户那里得到用户对建议的系统功能的意见。</a:t>
            </a:r>
          </a:p>
          <a:p>
            <a:pPr lvl="1">
              <a:lnSpc>
                <a:spcPct val="130000"/>
              </a:lnSpc>
              <a:spcBef>
                <a:spcPct val="300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 场景串联提供了用户界面以说明系统操作流程，它容易创建和修改，能让用户知道系统的操作方式和流程。</a:t>
            </a:r>
          </a:p>
          <a:p>
            <a:pPr lvl="1">
              <a:lnSpc>
                <a:spcPct val="130000"/>
              </a:lnSpc>
              <a:spcBef>
                <a:spcPct val="300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 根据与用户交互的方式，场景串联被分成三种模式：</a:t>
            </a:r>
            <a:r>
              <a:rPr lang="zh-CN" altLang="en-US" sz="2000" dirty="0">
                <a:solidFill>
                  <a:srgbClr val="FF0000"/>
                </a:solidFill>
                <a:latin typeface="Times New Roman" panose="02020603050405020304" pitchFamily="18" charset="0"/>
              </a:rPr>
              <a:t>静态的场景串联、动态的场景串联以及交互的场景串联</a:t>
            </a:r>
            <a:r>
              <a:rPr lang="zh-CN" altLang="en-US" sz="2000" dirty="0">
                <a:latin typeface="Times New Roman" panose="02020603050405020304" pitchFamily="18" charset="0"/>
              </a:rPr>
              <a:t>。</a:t>
            </a:r>
          </a:p>
          <a:p>
            <a:pPr lvl="1">
              <a:lnSpc>
                <a:spcPct val="130000"/>
              </a:lnSpc>
              <a:spcBef>
                <a:spcPct val="300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 选择提供哪种场景串联是根据系统的复杂性和需求缺陷的风险来确定的。</a:t>
            </a:r>
          </a:p>
        </p:txBody>
      </p:sp>
      <p:sp>
        <p:nvSpPr>
          <p:cNvPr id="26627" name="Rectangle 2">
            <a:extLst>
              <a:ext uri="{FF2B5EF4-FFF2-40B4-BE49-F238E27FC236}">
                <a16:creationId xmlns:a16="http://schemas.microsoft.com/office/drawing/2014/main" id="{1D3AECFF-27C3-4DA9-97A9-EC79488F5010}"/>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需求获取方法</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DD97536-F785-483E-A136-A011CB2DAFE2}"/>
              </a:ext>
            </a:extLst>
          </p:cNvPr>
          <p:cNvSpPr>
            <a:spLocks noGrp="1" noChangeArrowheads="1"/>
          </p:cNvSpPr>
          <p:nvPr>
            <p:ph type="title" idx="4294967295"/>
          </p:nvPr>
        </p:nvSpPr>
        <p:spPr>
          <a:xfrm>
            <a:off x="179388" y="1052513"/>
            <a:ext cx="8788400" cy="717550"/>
          </a:xfrm>
          <a:noFill/>
        </p:spPr>
        <p:txBody>
          <a:bodyPr/>
          <a:lstStyle/>
          <a:p>
            <a:pPr eaLnBrk="1" hangingPunct="1"/>
            <a:r>
              <a:rPr lang="zh-CN" altLang="en-US"/>
              <a:t>本章内容提要</a:t>
            </a:r>
            <a:endParaRPr lang="en-US" altLang="zh-CN"/>
          </a:p>
        </p:txBody>
      </p:sp>
      <p:grpSp>
        <p:nvGrpSpPr>
          <p:cNvPr id="27651" name="Group 3">
            <a:extLst>
              <a:ext uri="{FF2B5EF4-FFF2-40B4-BE49-F238E27FC236}">
                <a16:creationId xmlns:a16="http://schemas.microsoft.com/office/drawing/2014/main" id="{FC512841-BE7A-44C1-B712-541DA170C897}"/>
              </a:ext>
            </a:extLst>
          </p:cNvPr>
          <p:cNvGrpSpPr>
            <a:grpSpLocks/>
          </p:cNvGrpSpPr>
          <p:nvPr/>
        </p:nvGrpSpPr>
        <p:grpSpPr bwMode="auto">
          <a:xfrm>
            <a:off x="1057275" y="2222500"/>
            <a:ext cx="5675313" cy="3943350"/>
            <a:chOff x="385" y="1161"/>
            <a:chExt cx="3575" cy="2484"/>
          </a:xfrm>
        </p:grpSpPr>
        <p:sp>
          <p:nvSpPr>
            <p:cNvPr id="27652" name="AutoShape 4">
              <a:extLst>
                <a:ext uri="{FF2B5EF4-FFF2-40B4-BE49-F238E27FC236}">
                  <a16:creationId xmlns:a16="http://schemas.microsoft.com/office/drawing/2014/main" id="{D9BDA653-537E-4411-AD16-E1FBC00DEB64}"/>
                </a:ext>
              </a:extLst>
            </p:cNvPr>
            <p:cNvSpPr>
              <a:spLocks noChangeArrowheads="1"/>
            </p:cNvSpPr>
            <p:nvPr/>
          </p:nvSpPr>
          <p:spPr bwMode="auto">
            <a:xfrm>
              <a:off x="464" y="1161"/>
              <a:ext cx="3493" cy="279"/>
            </a:xfrm>
            <a:prstGeom prst="homePlate">
              <a:avLst>
                <a:gd name="adj" fmla="val 32516"/>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7653" name="AutoShape 8">
              <a:extLst>
                <a:ext uri="{FF2B5EF4-FFF2-40B4-BE49-F238E27FC236}">
                  <a16:creationId xmlns:a16="http://schemas.microsoft.com/office/drawing/2014/main" id="{F328BA80-1638-4348-805A-B7E3A7A985D4}"/>
                </a:ext>
              </a:extLst>
            </p:cNvPr>
            <p:cNvSpPr>
              <a:spLocks noChangeArrowheads="1"/>
            </p:cNvSpPr>
            <p:nvPr/>
          </p:nvSpPr>
          <p:spPr bwMode="auto">
            <a:xfrm>
              <a:off x="467" y="306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pSp>
          <p:nvGrpSpPr>
            <p:cNvPr id="27654" name="Group 6">
              <a:extLst>
                <a:ext uri="{FF2B5EF4-FFF2-40B4-BE49-F238E27FC236}">
                  <a16:creationId xmlns:a16="http://schemas.microsoft.com/office/drawing/2014/main" id="{D804B609-E7BC-48D3-AE03-5AB3E40B7B22}"/>
                </a:ext>
              </a:extLst>
            </p:cNvPr>
            <p:cNvGrpSpPr>
              <a:grpSpLocks/>
            </p:cNvGrpSpPr>
            <p:nvPr/>
          </p:nvGrpSpPr>
          <p:grpSpPr bwMode="auto">
            <a:xfrm>
              <a:off x="385" y="1207"/>
              <a:ext cx="3575" cy="2438"/>
              <a:chOff x="385" y="1207"/>
              <a:chExt cx="3575" cy="2438"/>
            </a:xfrm>
          </p:grpSpPr>
          <p:sp>
            <p:nvSpPr>
              <p:cNvPr id="27655" name="Text Box 5">
                <a:extLst>
                  <a:ext uri="{FF2B5EF4-FFF2-40B4-BE49-F238E27FC236}">
                    <a16:creationId xmlns:a16="http://schemas.microsoft.com/office/drawing/2014/main" id="{D1037232-D09E-40FF-859E-4C392F10751C}"/>
                  </a:ext>
                </a:extLst>
              </p:cNvPr>
              <p:cNvSpPr txBox="1">
                <a:spLocks noChangeArrowheads="1"/>
              </p:cNvSpPr>
              <p:nvPr/>
            </p:nvSpPr>
            <p:spPr bwMode="auto">
              <a:xfrm>
                <a:off x="626" y="121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软件项目需求管理概述</a:t>
                </a:r>
                <a:r>
                  <a:rPr lang="zh-CN" altLang="en-US" sz="2000" b="0">
                    <a:latin typeface="Times New Roman" panose="02020603050405020304" pitchFamily="18" charset="0"/>
                  </a:rPr>
                  <a:t> </a:t>
                </a:r>
              </a:p>
            </p:txBody>
          </p:sp>
          <p:sp>
            <p:nvSpPr>
              <p:cNvPr id="27656" name="AutoShape 6">
                <a:extLst>
                  <a:ext uri="{FF2B5EF4-FFF2-40B4-BE49-F238E27FC236}">
                    <a16:creationId xmlns:a16="http://schemas.microsoft.com/office/drawing/2014/main" id="{39FC6029-5814-4090-A55B-70EF9AA86DA3}"/>
                  </a:ext>
                </a:extLst>
              </p:cNvPr>
              <p:cNvSpPr>
                <a:spLocks noChangeArrowheads="1"/>
              </p:cNvSpPr>
              <p:nvPr/>
            </p:nvSpPr>
            <p:spPr bwMode="auto">
              <a:xfrm>
                <a:off x="464" y="1491"/>
                <a:ext cx="3493" cy="273"/>
              </a:xfrm>
              <a:prstGeom prst="homePlate">
                <a:avLst>
                  <a:gd name="adj" fmla="val 3252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7657" name="Text Box 7">
                <a:extLst>
                  <a:ext uri="{FF2B5EF4-FFF2-40B4-BE49-F238E27FC236}">
                    <a16:creationId xmlns:a16="http://schemas.microsoft.com/office/drawing/2014/main" id="{451A0637-52A0-4D3A-AD64-9AC812F22073}"/>
                  </a:ext>
                </a:extLst>
              </p:cNvPr>
              <p:cNvSpPr txBox="1">
                <a:spLocks noChangeArrowheads="1"/>
              </p:cNvSpPr>
              <p:nvPr/>
            </p:nvSpPr>
            <p:spPr bwMode="auto">
              <a:xfrm>
                <a:off x="626" y="1539"/>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需求开发和管理过程</a:t>
                </a:r>
                <a:r>
                  <a:rPr lang="zh-CN" altLang="en-US" sz="2000" b="0">
                    <a:latin typeface="Times New Roman" panose="02020603050405020304" pitchFamily="18" charset="0"/>
                  </a:rPr>
                  <a:t> </a:t>
                </a:r>
              </a:p>
            </p:txBody>
          </p:sp>
          <p:sp>
            <p:nvSpPr>
              <p:cNvPr id="27658" name="AutoShape 8">
                <a:extLst>
                  <a:ext uri="{FF2B5EF4-FFF2-40B4-BE49-F238E27FC236}">
                    <a16:creationId xmlns:a16="http://schemas.microsoft.com/office/drawing/2014/main" id="{4C4A6BFF-26A2-4919-A4EF-9388473FC798}"/>
                  </a:ext>
                </a:extLst>
              </p:cNvPr>
              <p:cNvSpPr>
                <a:spLocks noChangeArrowheads="1"/>
              </p:cNvSpPr>
              <p:nvPr/>
            </p:nvSpPr>
            <p:spPr bwMode="auto">
              <a:xfrm>
                <a:off x="464" y="1800"/>
                <a:ext cx="3493" cy="266"/>
              </a:xfrm>
              <a:prstGeom prst="homePlate">
                <a:avLst>
                  <a:gd name="adj" fmla="val 32525"/>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7659" name="Text Box 9">
                <a:extLst>
                  <a:ext uri="{FF2B5EF4-FFF2-40B4-BE49-F238E27FC236}">
                    <a16:creationId xmlns:a16="http://schemas.microsoft.com/office/drawing/2014/main" id="{AA71A848-A506-4597-917D-3D04CE04C1DD}"/>
                  </a:ext>
                </a:extLst>
              </p:cNvPr>
              <p:cNvSpPr txBox="1">
                <a:spLocks noChangeArrowheads="1"/>
              </p:cNvSpPr>
              <p:nvPr/>
            </p:nvSpPr>
            <p:spPr bwMode="auto">
              <a:xfrm>
                <a:off x="626" y="184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需求获取方法</a:t>
                </a:r>
                <a:r>
                  <a:rPr lang="zh-CN" altLang="en-US" sz="2000" b="0">
                    <a:latin typeface="Times New Roman" panose="02020603050405020304" pitchFamily="18" charset="0"/>
                  </a:rPr>
                  <a:t> </a:t>
                </a:r>
              </a:p>
            </p:txBody>
          </p:sp>
          <p:sp>
            <p:nvSpPr>
              <p:cNvPr id="27660" name="Rectangle 10">
                <a:extLst>
                  <a:ext uri="{FF2B5EF4-FFF2-40B4-BE49-F238E27FC236}">
                    <a16:creationId xmlns:a16="http://schemas.microsoft.com/office/drawing/2014/main" id="{6DADF5EB-6AFF-45CE-8CC0-A38B70E0C830}"/>
                  </a:ext>
                </a:extLst>
              </p:cNvPr>
              <p:cNvSpPr>
                <a:spLocks noChangeArrowheads="1"/>
              </p:cNvSpPr>
              <p:nvPr/>
            </p:nvSpPr>
            <p:spPr bwMode="auto">
              <a:xfrm>
                <a:off x="385" y="1207"/>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6.1</a:t>
                </a:r>
                <a:endParaRPr lang="en-US" altLang="zh-CN" sz="1800">
                  <a:solidFill>
                    <a:srgbClr val="000000"/>
                  </a:solidFill>
                </a:endParaRPr>
              </a:p>
            </p:txBody>
          </p:sp>
          <p:sp>
            <p:nvSpPr>
              <p:cNvPr id="27661" name="Rectangle 11">
                <a:extLst>
                  <a:ext uri="{FF2B5EF4-FFF2-40B4-BE49-F238E27FC236}">
                    <a16:creationId xmlns:a16="http://schemas.microsoft.com/office/drawing/2014/main" id="{CE55908F-A615-4030-938B-5F62D656B854}"/>
                  </a:ext>
                </a:extLst>
              </p:cNvPr>
              <p:cNvSpPr>
                <a:spLocks noChangeArrowheads="1"/>
              </p:cNvSpPr>
              <p:nvPr/>
            </p:nvSpPr>
            <p:spPr bwMode="auto">
              <a:xfrm>
                <a:off x="385" y="1564"/>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6.2</a:t>
                </a:r>
                <a:endParaRPr lang="en-US" altLang="zh-CN" sz="1800">
                  <a:solidFill>
                    <a:schemeClr val="bg1"/>
                  </a:solidFill>
                </a:endParaRPr>
              </a:p>
            </p:txBody>
          </p:sp>
          <p:sp>
            <p:nvSpPr>
              <p:cNvPr id="27662" name="Rectangle 12">
                <a:extLst>
                  <a:ext uri="{FF2B5EF4-FFF2-40B4-BE49-F238E27FC236}">
                    <a16:creationId xmlns:a16="http://schemas.microsoft.com/office/drawing/2014/main" id="{87CBF9F8-AC0E-4D36-B87F-3250ABA78BEB}"/>
                  </a:ext>
                </a:extLst>
              </p:cNvPr>
              <p:cNvSpPr>
                <a:spLocks noChangeArrowheads="1"/>
              </p:cNvSpPr>
              <p:nvPr/>
            </p:nvSpPr>
            <p:spPr bwMode="auto">
              <a:xfrm>
                <a:off x="385" y="187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6.3</a:t>
                </a:r>
                <a:endParaRPr lang="en-US" altLang="zh-CN" sz="1800">
                  <a:solidFill>
                    <a:srgbClr val="000000"/>
                  </a:solidFill>
                </a:endParaRPr>
              </a:p>
            </p:txBody>
          </p:sp>
          <p:sp>
            <p:nvSpPr>
              <p:cNvPr id="27663" name="AutoShape 8">
                <a:extLst>
                  <a:ext uri="{FF2B5EF4-FFF2-40B4-BE49-F238E27FC236}">
                    <a16:creationId xmlns:a16="http://schemas.microsoft.com/office/drawing/2014/main" id="{F250AA9B-329D-4522-A343-695AC12C8D11}"/>
                  </a:ext>
                </a:extLst>
              </p:cNvPr>
              <p:cNvSpPr>
                <a:spLocks noChangeArrowheads="1"/>
              </p:cNvSpPr>
              <p:nvPr/>
            </p:nvSpPr>
            <p:spPr bwMode="auto">
              <a:xfrm>
                <a:off x="467" y="211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7664" name="Text Box 9">
                <a:extLst>
                  <a:ext uri="{FF2B5EF4-FFF2-40B4-BE49-F238E27FC236}">
                    <a16:creationId xmlns:a16="http://schemas.microsoft.com/office/drawing/2014/main" id="{976A7864-7C1B-4A5B-A1E6-595245597FB3}"/>
                  </a:ext>
                </a:extLst>
              </p:cNvPr>
              <p:cNvSpPr txBox="1">
                <a:spLocks noChangeArrowheads="1"/>
              </p:cNvSpPr>
              <p:nvPr/>
            </p:nvSpPr>
            <p:spPr bwMode="auto">
              <a:xfrm>
                <a:off x="629" y="216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需求分析建模方法</a:t>
                </a:r>
                <a:r>
                  <a:rPr lang="zh-CN" altLang="en-US" sz="2000" b="0">
                    <a:latin typeface="Times New Roman" panose="02020603050405020304" pitchFamily="18" charset="0"/>
                  </a:rPr>
                  <a:t> </a:t>
                </a:r>
              </a:p>
            </p:txBody>
          </p:sp>
          <p:sp>
            <p:nvSpPr>
              <p:cNvPr id="27665" name="Rectangle 12">
                <a:extLst>
                  <a:ext uri="{FF2B5EF4-FFF2-40B4-BE49-F238E27FC236}">
                    <a16:creationId xmlns:a16="http://schemas.microsoft.com/office/drawing/2014/main" id="{3C03A563-0498-40CD-A29F-1C80D6DBEC58}"/>
                  </a:ext>
                </a:extLst>
              </p:cNvPr>
              <p:cNvSpPr>
                <a:spLocks noChangeArrowheads="1"/>
              </p:cNvSpPr>
              <p:nvPr/>
            </p:nvSpPr>
            <p:spPr bwMode="auto">
              <a:xfrm>
                <a:off x="388" y="2188"/>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6.4</a:t>
                </a:r>
                <a:endParaRPr lang="en-US" altLang="zh-CN" sz="1800">
                  <a:solidFill>
                    <a:srgbClr val="000000"/>
                  </a:solidFill>
                </a:endParaRPr>
              </a:p>
            </p:txBody>
          </p:sp>
          <p:sp>
            <p:nvSpPr>
              <p:cNvPr id="27666" name="AutoShape 8">
                <a:extLst>
                  <a:ext uri="{FF2B5EF4-FFF2-40B4-BE49-F238E27FC236}">
                    <a16:creationId xmlns:a16="http://schemas.microsoft.com/office/drawing/2014/main" id="{98DF90D8-BA8B-4878-99C9-293D4FCF2F39}"/>
                  </a:ext>
                </a:extLst>
              </p:cNvPr>
              <p:cNvSpPr>
                <a:spLocks noChangeArrowheads="1"/>
              </p:cNvSpPr>
              <p:nvPr/>
            </p:nvSpPr>
            <p:spPr bwMode="auto">
              <a:xfrm>
                <a:off x="467" y="243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7667" name="Text Box 9">
                <a:extLst>
                  <a:ext uri="{FF2B5EF4-FFF2-40B4-BE49-F238E27FC236}">
                    <a16:creationId xmlns:a16="http://schemas.microsoft.com/office/drawing/2014/main" id="{9D46DB21-95C0-46BB-B33C-97208D1CA77E}"/>
                  </a:ext>
                </a:extLst>
              </p:cNvPr>
              <p:cNvSpPr txBox="1">
                <a:spLocks noChangeArrowheads="1"/>
              </p:cNvSpPr>
              <p:nvPr/>
            </p:nvSpPr>
            <p:spPr bwMode="auto">
              <a:xfrm>
                <a:off x="629" y="247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需求管理工具</a:t>
                </a:r>
                <a:r>
                  <a:rPr lang="zh-CN" altLang="en-US" sz="2000" b="0">
                    <a:latin typeface="Times New Roman" panose="02020603050405020304" pitchFamily="18" charset="0"/>
                  </a:rPr>
                  <a:t> </a:t>
                </a:r>
              </a:p>
            </p:txBody>
          </p:sp>
          <p:sp>
            <p:nvSpPr>
              <p:cNvPr id="27668" name="Rectangle 12">
                <a:extLst>
                  <a:ext uri="{FF2B5EF4-FFF2-40B4-BE49-F238E27FC236}">
                    <a16:creationId xmlns:a16="http://schemas.microsoft.com/office/drawing/2014/main" id="{C81D83AD-DF47-42E3-960C-AB003055EEBB}"/>
                  </a:ext>
                </a:extLst>
              </p:cNvPr>
              <p:cNvSpPr>
                <a:spLocks noChangeArrowheads="1"/>
              </p:cNvSpPr>
              <p:nvPr/>
            </p:nvSpPr>
            <p:spPr bwMode="auto">
              <a:xfrm>
                <a:off x="388" y="250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6.5</a:t>
                </a:r>
                <a:endParaRPr lang="en-US" altLang="zh-CN" sz="1800">
                  <a:solidFill>
                    <a:srgbClr val="000000"/>
                  </a:solidFill>
                </a:endParaRPr>
              </a:p>
            </p:txBody>
          </p:sp>
          <p:sp>
            <p:nvSpPr>
              <p:cNvPr id="27669" name="AutoShape 8">
                <a:extLst>
                  <a:ext uri="{FF2B5EF4-FFF2-40B4-BE49-F238E27FC236}">
                    <a16:creationId xmlns:a16="http://schemas.microsoft.com/office/drawing/2014/main" id="{2B804339-E3E0-48EB-A8F2-8A48AB3F033D}"/>
                  </a:ext>
                </a:extLst>
              </p:cNvPr>
              <p:cNvSpPr>
                <a:spLocks noChangeArrowheads="1"/>
              </p:cNvSpPr>
              <p:nvPr/>
            </p:nvSpPr>
            <p:spPr bwMode="auto">
              <a:xfrm>
                <a:off x="467" y="274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7670" name="Text Box 9">
                <a:extLst>
                  <a:ext uri="{FF2B5EF4-FFF2-40B4-BE49-F238E27FC236}">
                    <a16:creationId xmlns:a16="http://schemas.microsoft.com/office/drawing/2014/main" id="{56FC23E2-BECD-4F4B-BEDC-FBF6D4BB1DF9}"/>
                  </a:ext>
                </a:extLst>
              </p:cNvPr>
              <p:cNvSpPr txBox="1">
                <a:spLocks noChangeArrowheads="1"/>
              </p:cNvSpPr>
              <p:nvPr/>
            </p:nvSpPr>
            <p:spPr bwMode="auto">
              <a:xfrm>
                <a:off x="629" y="279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000" b="0">
                    <a:latin typeface="Times New Roman" panose="02020603050405020304" pitchFamily="18" charset="0"/>
                  </a:rPr>
                  <a:t> </a:t>
                </a:r>
              </a:p>
            </p:txBody>
          </p:sp>
          <p:sp>
            <p:nvSpPr>
              <p:cNvPr id="27671" name="Rectangle 12">
                <a:extLst>
                  <a:ext uri="{FF2B5EF4-FFF2-40B4-BE49-F238E27FC236}">
                    <a16:creationId xmlns:a16="http://schemas.microsoft.com/office/drawing/2014/main" id="{AC60BBD0-A983-45B2-9273-A6004E683F57}"/>
                  </a:ext>
                </a:extLst>
              </p:cNvPr>
              <p:cNvSpPr>
                <a:spLocks noChangeArrowheads="1"/>
              </p:cNvSpPr>
              <p:nvPr/>
            </p:nvSpPr>
            <p:spPr bwMode="auto">
              <a:xfrm>
                <a:off x="388" y="278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6.6</a:t>
                </a:r>
                <a:endParaRPr lang="en-US" altLang="zh-CN" sz="1800">
                  <a:solidFill>
                    <a:srgbClr val="000000"/>
                  </a:solidFill>
                </a:endParaRPr>
              </a:p>
            </p:txBody>
          </p:sp>
          <p:sp>
            <p:nvSpPr>
              <p:cNvPr id="27672" name="Text Box 9">
                <a:extLst>
                  <a:ext uri="{FF2B5EF4-FFF2-40B4-BE49-F238E27FC236}">
                    <a16:creationId xmlns:a16="http://schemas.microsoft.com/office/drawing/2014/main" id="{6BDB6BD6-1555-4B1E-90EF-857219BC6349}"/>
                  </a:ext>
                </a:extLst>
              </p:cNvPr>
              <p:cNvSpPr txBox="1">
                <a:spLocks noChangeArrowheads="1"/>
              </p:cNvSpPr>
              <p:nvPr/>
            </p:nvSpPr>
            <p:spPr bwMode="auto">
              <a:xfrm>
                <a:off x="629" y="310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000" b="0">
                    <a:latin typeface="Times New Roman" panose="02020603050405020304" pitchFamily="18" charset="0"/>
                  </a:rPr>
                  <a:t> </a:t>
                </a:r>
              </a:p>
            </p:txBody>
          </p:sp>
          <p:sp>
            <p:nvSpPr>
              <p:cNvPr id="27673" name="Rectangle 12">
                <a:extLst>
                  <a:ext uri="{FF2B5EF4-FFF2-40B4-BE49-F238E27FC236}">
                    <a16:creationId xmlns:a16="http://schemas.microsoft.com/office/drawing/2014/main" id="{FC8040EC-9729-43E9-B5D3-AB333BDCCDD7}"/>
                  </a:ext>
                </a:extLst>
              </p:cNvPr>
              <p:cNvSpPr>
                <a:spLocks noChangeArrowheads="1"/>
              </p:cNvSpPr>
              <p:nvPr/>
            </p:nvSpPr>
            <p:spPr bwMode="auto">
              <a:xfrm>
                <a:off x="388" y="313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6.7</a:t>
                </a:r>
                <a:endParaRPr lang="en-US" altLang="zh-CN" sz="1800">
                  <a:solidFill>
                    <a:srgbClr val="000000"/>
                  </a:solidFill>
                </a:endParaRPr>
              </a:p>
            </p:txBody>
          </p:sp>
          <p:sp>
            <p:nvSpPr>
              <p:cNvPr id="27674" name="AutoShape 8">
                <a:extLst>
                  <a:ext uri="{FF2B5EF4-FFF2-40B4-BE49-F238E27FC236}">
                    <a16:creationId xmlns:a16="http://schemas.microsoft.com/office/drawing/2014/main" id="{FA4F2F21-39EC-4BB0-9165-E4C129AEF9CE}"/>
                  </a:ext>
                </a:extLst>
              </p:cNvPr>
              <p:cNvSpPr>
                <a:spLocks noChangeArrowheads="1"/>
              </p:cNvSpPr>
              <p:nvPr/>
            </p:nvSpPr>
            <p:spPr bwMode="auto">
              <a:xfrm>
                <a:off x="467" y="3375"/>
                <a:ext cx="3493" cy="270"/>
              </a:xfrm>
              <a:prstGeom prst="homePlate">
                <a:avLst>
                  <a:gd name="adj" fmla="val 3252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7675" name="Text Box 9">
                <a:extLst>
                  <a:ext uri="{FF2B5EF4-FFF2-40B4-BE49-F238E27FC236}">
                    <a16:creationId xmlns:a16="http://schemas.microsoft.com/office/drawing/2014/main" id="{9393504C-E19E-470D-B087-11CFA657254A}"/>
                  </a:ext>
                </a:extLst>
              </p:cNvPr>
              <p:cNvSpPr txBox="1">
                <a:spLocks noChangeArrowheads="1"/>
              </p:cNvSpPr>
              <p:nvPr/>
            </p:nvSpPr>
            <p:spPr bwMode="auto">
              <a:xfrm>
                <a:off x="629" y="342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000" b="0">
                    <a:latin typeface="Times New Roman" panose="02020603050405020304" pitchFamily="18" charset="0"/>
                  </a:rPr>
                  <a:t> </a:t>
                </a:r>
              </a:p>
            </p:txBody>
          </p:sp>
          <p:sp>
            <p:nvSpPr>
              <p:cNvPr id="27676" name="Rectangle 12">
                <a:extLst>
                  <a:ext uri="{FF2B5EF4-FFF2-40B4-BE49-F238E27FC236}">
                    <a16:creationId xmlns:a16="http://schemas.microsoft.com/office/drawing/2014/main" id="{B1FE5653-12B1-4A20-BE49-28A128797E62}"/>
                  </a:ext>
                </a:extLst>
              </p:cNvPr>
              <p:cNvSpPr>
                <a:spLocks noChangeArrowheads="1"/>
              </p:cNvSpPr>
              <p:nvPr/>
            </p:nvSpPr>
            <p:spPr bwMode="auto">
              <a:xfrm>
                <a:off x="388" y="344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6.8</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slide(fromBottom)">
                                      <p:cBhvr>
                                        <p:cTn id="7" dur="500"/>
                                        <p:tgtEl>
                                          <p:spTgt spid="26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
            <a:extLst>
              <a:ext uri="{FF2B5EF4-FFF2-40B4-BE49-F238E27FC236}">
                <a16:creationId xmlns:a16="http://schemas.microsoft.com/office/drawing/2014/main" id="{FC323CD9-38BA-46BD-96FE-1949574291D0}"/>
              </a:ext>
            </a:extLst>
          </p:cNvPr>
          <p:cNvSpPr txBox="1">
            <a:spLocks noChangeArrowheads="1"/>
          </p:cNvSpPr>
          <p:nvPr/>
        </p:nvSpPr>
        <p:spPr bwMode="auto">
          <a:xfrm>
            <a:off x="611188" y="1976438"/>
            <a:ext cx="8032750"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用例分析方法</a:t>
            </a:r>
            <a:endParaRPr kumimoji="0" lang="en-US" altLang="zh-CN" sz="2400" dirty="0">
              <a:solidFill>
                <a:schemeClr val="accent2"/>
              </a:solidFill>
              <a:ea typeface="黑体" panose="02010609060101010101" pitchFamily="49" charset="-122"/>
            </a:endParaRPr>
          </a:p>
          <a:p>
            <a:pPr lvl="1">
              <a:spcBef>
                <a:spcPct val="50000"/>
              </a:spcBef>
              <a:buClr>
                <a:schemeClr val="accent2"/>
              </a:buClr>
              <a:buSzPct val="70000"/>
              <a:buFont typeface="Wingdings" panose="05000000000000000000" pitchFamily="2" charset="2"/>
              <a:buChar char="l"/>
            </a:pPr>
            <a:r>
              <a:rPr lang="zh-CN" altLang="en-US" sz="2000" b="0" dirty="0">
                <a:latin typeface="Times New Roman" panose="02020603050405020304" pitchFamily="18" charset="0"/>
              </a:rPr>
              <a:t> </a:t>
            </a:r>
            <a:r>
              <a:rPr lang="zh-CN" altLang="en-US" sz="2000" dirty="0">
                <a:latin typeface="Times New Roman" panose="02020603050405020304" pitchFamily="18" charset="0"/>
              </a:rPr>
              <a:t>简介</a:t>
            </a:r>
            <a:endParaRPr lang="en-US" altLang="zh-CN" sz="2000" dirty="0">
              <a:latin typeface="Times New Roman" panose="02020603050405020304" pitchFamily="18" charset="0"/>
            </a:endParaRPr>
          </a:p>
          <a:p>
            <a:pPr lvl="2">
              <a:lnSpc>
                <a:spcPct val="120000"/>
              </a:lnSpc>
              <a:spcBef>
                <a:spcPts val="400"/>
              </a:spcBef>
            </a:pPr>
            <a:r>
              <a:rPr lang="zh-CN" altLang="en-US" dirty="0">
                <a:latin typeface="宋体" panose="02010600030101010101" pitchFamily="2" charset="-122"/>
              </a:rPr>
              <a:t>软件需求分析者利用场景或经历来描述用户和软件系统的交互方式，并以此来获取软件需求。</a:t>
            </a:r>
            <a:endParaRPr lang="en-US" altLang="zh-CN" dirty="0">
              <a:latin typeface="宋体" panose="02010600030101010101" pitchFamily="2" charset="-122"/>
            </a:endParaRPr>
          </a:p>
          <a:p>
            <a:pPr lvl="2">
              <a:lnSpc>
                <a:spcPct val="120000"/>
              </a:lnSpc>
              <a:spcBef>
                <a:spcPts val="400"/>
              </a:spcBef>
            </a:pPr>
            <a:r>
              <a:rPr lang="zh-CN" altLang="en-US" dirty="0">
                <a:solidFill>
                  <a:srgbClr val="FF0000"/>
                </a:solidFill>
                <a:latin typeface="宋体" panose="02010600030101010101" pitchFamily="2" charset="-122"/>
              </a:rPr>
              <a:t>使用用例的分析方法来源于面向对象的思想</a:t>
            </a:r>
            <a:r>
              <a:rPr lang="zh-CN" altLang="en-US" dirty="0">
                <a:latin typeface="宋体" panose="02010600030101010101" pitchFamily="2" charset="-122"/>
              </a:rPr>
              <a:t>。</a:t>
            </a:r>
          </a:p>
          <a:p>
            <a:pPr lvl="2">
              <a:lnSpc>
                <a:spcPct val="120000"/>
              </a:lnSpc>
              <a:spcBef>
                <a:spcPts val="400"/>
              </a:spcBef>
            </a:pPr>
            <a:r>
              <a:rPr lang="zh-CN" altLang="en-US" dirty="0">
                <a:latin typeface="宋体" panose="02010600030101010101" pitchFamily="2" charset="-122"/>
              </a:rPr>
              <a:t>用例分析方法最大的特点在于面向用例，在对用例的描述中引入了外部角色的概念。</a:t>
            </a:r>
            <a:endParaRPr lang="en-US" altLang="zh-CN" dirty="0">
              <a:latin typeface="宋体" panose="02010600030101010101" pitchFamily="2" charset="-122"/>
            </a:endParaRPr>
          </a:p>
          <a:p>
            <a:pPr lvl="1">
              <a:spcBef>
                <a:spcPts val="6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 相关技术</a:t>
            </a:r>
            <a:endParaRPr lang="en-US" altLang="zh-CN" sz="2000" dirty="0">
              <a:latin typeface="Times New Roman" panose="02020603050405020304" pitchFamily="18" charset="0"/>
            </a:endParaRPr>
          </a:p>
          <a:p>
            <a:pPr lvl="2">
              <a:lnSpc>
                <a:spcPct val="120000"/>
              </a:lnSpc>
              <a:spcBef>
                <a:spcPts val="400"/>
              </a:spcBef>
            </a:pPr>
            <a:r>
              <a:rPr lang="zh-CN" altLang="en-US" dirty="0">
                <a:latin typeface="宋体" panose="02010600030101010101" pitchFamily="2" charset="-122"/>
              </a:rPr>
              <a:t>用例需求分析常常采用</a:t>
            </a:r>
            <a:r>
              <a:rPr lang="en-US" altLang="en-US" dirty="0">
                <a:latin typeface="宋体" panose="02010600030101010101" pitchFamily="2" charset="-122"/>
              </a:rPr>
              <a:t>UML</a:t>
            </a:r>
            <a:r>
              <a:rPr lang="zh-CN" altLang="en-US" dirty="0">
                <a:latin typeface="宋体" panose="02010600030101010101" pitchFamily="2" charset="-122"/>
              </a:rPr>
              <a:t>（</a:t>
            </a:r>
            <a:r>
              <a:rPr lang="en-US" altLang="en-US" dirty="0">
                <a:latin typeface="宋体" panose="02010600030101010101" pitchFamily="2" charset="-122"/>
              </a:rPr>
              <a:t>Unified Modeling Language</a:t>
            </a:r>
            <a:r>
              <a:rPr lang="zh-CN" altLang="en-US" dirty="0">
                <a:latin typeface="宋体" panose="02010600030101010101" pitchFamily="2" charset="-122"/>
              </a:rPr>
              <a:t>，统一建模语言）技术，</a:t>
            </a:r>
            <a:r>
              <a:rPr lang="en-US" altLang="en-US" dirty="0">
                <a:latin typeface="宋体" panose="02010600030101010101" pitchFamily="2" charset="-122"/>
              </a:rPr>
              <a:t>UML</a:t>
            </a:r>
            <a:r>
              <a:rPr lang="zh-CN" altLang="en-US" dirty="0">
                <a:latin typeface="宋体" panose="02010600030101010101" pitchFamily="2" charset="-122"/>
              </a:rPr>
              <a:t>是一种面向对象的建模语言。</a:t>
            </a:r>
            <a:endParaRPr lang="en-US" altLang="zh-CN" dirty="0">
              <a:latin typeface="宋体" panose="02010600030101010101" pitchFamily="2" charset="-122"/>
            </a:endParaRPr>
          </a:p>
        </p:txBody>
      </p:sp>
      <p:sp>
        <p:nvSpPr>
          <p:cNvPr id="28675" name="Rectangle 2">
            <a:extLst>
              <a:ext uri="{FF2B5EF4-FFF2-40B4-BE49-F238E27FC236}">
                <a16:creationId xmlns:a16="http://schemas.microsoft.com/office/drawing/2014/main" id="{0260C417-D536-465E-9B1F-3836AB4E876F}"/>
              </a:ext>
            </a:extLst>
          </p:cNvPr>
          <p:cNvSpPr>
            <a:spLocks noGrp="1" noChangeArrowheads="1"/>
          </p:cNvSpPr>
          <p:nvPr>
            <p:ph type="title"/>
          </p:nvPr>
        </p:nvSpPr>
        <p:spPr>
          <a:xfrm>
            <a:off x="177800" y="1054100"/>
            <a:ext cx="8788400" cy="717550"/>
          </a:xfrm>
          <a:noFill/>
        </p:spPr>
        <p:txBody>
          <a:bodyPr/>
          <a:lstStyle/>
          <a:p>
            <a:pPr eaLnBrk="1" hangingPunct="1"/>
            <a:r>
              <a:rPr lang="en-US" altLang="zh-CN"/>
              <a:t>6.4  </a:t>
            </a:r>
            <a:r>
              <a:rPr lang="zh-CN" altLang="en-US"/>
              <a:t>需求分析建模方法</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3">
            <a:extLst>
              <a:ext uri="{FF2B5EF4-FFF2-40B4-BE49-F238E27FC236}">
                <a16:creationId xmlns:a16="http://schemas.microsoft.com/office/drawing/2014/main" id="{F3EAAC3B-CD26-4488-A479-C34EE7A2D617}"/>
              </a:ext>
            </a:extLst>
          </p:cNvPr>
          <p:cNvSpPr txBox="1">
            <a:spLocks noChangeArrowheads="1"/>
          </p:cNvSpPr>
          <p:nvPr/>
        </p:nvSpPr>
        <p:spPr bwMode="auto">
          <a:xfrm>
            <a:off x="1004888" y="2060575"/>
            <a:ext cx="741045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原型分析方法</a:t>
            </a:r>
            <a:endParaRPr kumimoji="0" lang="en-US" altLang="zh-CN" sz="2400" dirty="0">
              <a:solidFill>
                <a:schemeClr val="accent2"/>
              </a:solidFill>
              <a:ea typeface="黑体" panose="02010609060101010101" pitchFamily="49" charset="-122"/>
            </a:endParaRPr>
          </a:p>
          <a:p>
            <a:pPr lvl="1">
              <a:lnSpc>
                <a:spcPct val="120000"/>
              </a:lnSpc>
              <a:spcBef>
                <a:spcPts val="12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原型法是为了快速开发系统而推出的一种开发模式，旨在改进传统的结构化生命周期法的不足，缩短开发周期，减少开发风险。</a:t>
            </a:r>
          </a:p>
          <a:p>
            <a:pPr lvl="1">
              <a:lnSpc>
                <a:spcPct val="120000"/>
              </a:lnSpc>
              <a:spcBef>
                <a:spcPts val="12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原型法的理念：在获取一组基本需求之后，快速地高走出一个能够反映用户需求的初始系统原型，让用户看到未来系统的概貌，以便判断哪些功能是符合要求的，哪些方面还需要改进，不断地对这些需求进行进一步补充、细化和修改，依此类推，反复进行，直到用户满意为止并由此开发出完整的系统</a:t>
            </a:r>
          </a:p>
        </p:txBody>
      </p:sp>
      <p:sp>
        <p:nvSpPr>
          <p:cNvPr id="29699" name="Rectangle 2">
            <a:extLst>
              <a:ext uri="{FF2B5EF4-FFF2-40B4-BE49-F238E27FC236}">
                <a16:creationId xmlns:a16="http://schemas.microsoft.com/office/drawing/2014/main" id="{32143840-56F9-4695-89A0-682CDFD58992}"/>
              </a:ext>
            </a:extLst>
          </p:cNvPr>
          <p:cNvSpPr>
            <a:spLocks noGrp="1" noChangeArrowheads="1"/>
          </p:cNvSpPr>
          <p:nvPr>
            <p:ph type="title"/>
          </p:nvPr>
        </p:nvSpPr>
        <p:spPr>
          <a:xfrm>
            <a:off x="179388" y="1052513"/>
            <a:ext cx="8788400" cy="717550"/>
          </a:xfrm>
          <a:noFill/>
        </p:spPr>
        <p:txBody>
          <a:bodyPr/>
          <a:lstStyle/>
          <a:p>
            <a:pPr eaLnBrk="1" hangingPunct="1"/>
            <a:r>
              <a:rPr lang="zh-CN" altLang="en-US"/>
              <a:t>需求分析建模方法</a:t>
            </a:r>
          </a:p>
        </p:txBody>
      </p:sp>
      <p:pic>
        <p:nvPicPr>
          <p:cNvPr id="29700" name="Picture 4">
            <a:extLst>
              <a:ext uri="{FF2B5EF4-FFF2-40B4-BE49-F238E27FC236}">
                <a16:creationId xmlns:a16="http://schemas.microsoft.com/office/drawing/2014/main" id="{FB823ABD-ED8C-45B3-849E-CFAB44F2AE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688" y="5724525"/>
            <a:ext cx="18288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3">
            <a:extLst>
              <a:ext uri="{FF2B5EF4-FFF2-40B4-BE49-F238E27FC236}">
                <a16:creationId xmlns:a16="http://schemas.microsoft.com/office/drawing/2014/main" id="{521522B4-BD6D-48A9-8E1B-028406D38996}"/>
              </a:ext>
            </a:extLst>
          </p:cNvPr>
          <p:cNvSpPr txBox="1">
            <a:spLocks noChangeArrowheads="1"/>
          </p:cNvSpPr>
          <p:nvPr/>
        </p:nvSpPr>
        <p:spPr bwMode="auto">
          <a:xfrm>
            <a:off x="1004888" y="2060575"/>
            <a:ext cx="741045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a:solidFill>
                  <a:schemeClr val="accent2"/>
                </a:solidFill>
              </a:rPr>
              <a:t> </a:t>
            </a:r>
            <a:r>
              <a:rPr kumimoji="0" lang="zh-CN" altLang="en-US" sz="2400">
                <a:solidFill>
                  <a:schemeClr val="accent2"/>
                </a:solidFill>
                <a:ea typeface="黑体" panose="02010609060101010101" pitchFamily="49" charset="-122"/>
              </a:rPr>
              <a:t>原型分析方法</a:t>
            </a:r>
            <a:endParaRPr kumimoji="0" lang="en-US" altLang="zh-CN" sz="2400">
              <a:solidFill>
                <a:schemeClr val="accent2"/>
              </a:solidFill>
              <a:ea typeface="黑体" panose="02010609060101010101" pitchFamily="49" charset="-122"/>
            </a:endParaRPr>
          </a:p>
          <a:p>
            <a:pPr lvl="1">
              <a:lnSpc>
                <a:spcPct val="120000"/>
              </a:lnSpc>
              <a:spcBef>
                <a:spcPts val="1200"/>
              </a:spcBef>
              <a:buClr>
                <a:schemeClr val="accent2"/>
              </a:buClr>
              <a:buSzPct val="70000"/>
              <a:buFont typeface="Wingdings" panose="05000000000000000000" pitchFamily="2" charset="2"/>
              <a:buChar char="l"/>
            </a:pPr>
            <a:r>
              <a:rPr lang="zh-CN" altLang="en-US" sz="2000">
                <a:latin typeface="Times New Roman" panose="02020603050405020304" pitchFamily="18" charset="0"/>
              </a:rPr>
              <a:t>对原型的基本要求：体现系统主要的功能；提供基本的界面风格；展示比较模糊的部分以便于确认或进一步明确；原型最好是可运行的，至少在各主要功能模块之间能够相互连接。</a:t>
            </a:r>
            <a:endParaRPr lang="zh-CN" altLang="en-US">
              <a:latin typeface="Times New Roman" panose="02020603050405020304" pitchFamily="18" charset="0"/>
            </a:endParaRPr>
          </a:p>
          <a:p>
            <a:pPr lvl="1">
              <a:lnSpc>
                <a:spcPct val="120000"/>
              </a:lnSpc>
              <a:spcBef>
                <a:spcPts val="1200"/>
              </a:spcBef>
              <a:buClr>
                <a:schemeClr val="accent2"/>
              </a:buClr>
              <a:buSzPct val="70000"/>
              <a:buFont typeface="Wingdings" panose="05000000000000000000" pitchFamily="2" charset="2"/>
              <a:buChar char="l"/>
            </a:pPr>
            <a:r>
              <a:rPr lang="zh-CN" altLang="en-US" sz="2000">
                <a:latin typeface="Times New Roman" panose="02020603050405020304" pitchFamily="18" charset="0"/>
              </a:rPr>
              <a:t>原型法进行软件需求分析的过程：</a:t>
            </a:r>
            <a:endParaRPr lang="en-US" altLang="zh-CN" sz="2000">
              <a:latin typeface="Times New Roman" panose="02020603050405020304" pitchFamily="18" charset="0"/>
            </a:endParaRPr>
          </a:p>
          <a:p>
            <a:pPr lvl="2">
              <a:lnSpc>
                <a:spcPct val="120000"/>
              </a:lnSpc>
              <a:spcBef>
                <a:spcPts val="1200"/>
              </a:spcBef>
              <a:buClr>
                <a:schemeClr val="accent2"/>
              </a:buClr>
              <a:buSzPct val="70000"/>
              <a:buFont typeface="Wingdings" panose="05000000000000000000" pitchFamily="2" charset="2"/>
              <a:buChar char="l"/>
            </a:pPr>
            <a:r>
              <a:rPr lang="zh-CN" altLang="en-US" sz="1600">
                <a:latin typeface="Times New Roman" panose="02020603050405020304" pitchFamily="18" charset="0"/>
              </a:rPr>
              <a:t>首先快速分析，弄清用户</a:t>
            </a:r>
            <a:r>
              <a:rPr lang="en-US" altLang="zh-CN" sz="1600">
                <a:latin typeface="Times New Roman" panose="02020603050405020304" pitchFamily="18" charset="0"/>
              </a:rPr>
              <a:t>/</a:t>
            </a:r>
            <a:r>
              <a:rPr lang="zh-CN" altLang="en-US" sz="1600">
                <a:latin typeface="Times New Roman" panose="02020603050405020304" pitchFamily="18" charset="0"/>
              </a:rPr>
              <a:t>设计者的基本需求</a:t>
            </a:r>
            <a:endParaRPr lang="en-US" altLang="zh-CN" sz="1600">
              <a:latin typeface="Times New Roman" panose="02020603050405020304" pitchFamily="18" charset="0"/>
            </a:endParaRPr>
          </a:p>
          <a:p>
            <a:pPr lvl="2">
              <a:lnSpc>
                <a:spcPct val="120000"/>
              </a:lnSpc>
              <a:spcBef>
                <a:spcPts val="1200"/>
              </a:spcBef>
              <a:buClr>
                <a:schemeClr val="accent2"/>
              </a:buClr>
              <a:buSzPct val="70000"/>
              <a:buFont typeface="Wingdings" panose="05000000000000000000" pitchFamily="2" charset="2"/>
              <a:buChar char="l"/>
            </a:pPr>
            <a:r>
              <a:rPr lang="zh-CN" altLang="en-US" sz="1600">
                <a:latin typeface="Times New Roman" panose="02020603050405020304" pitchFamily="18" charset="0"/>
              </a:rPr>
              <a:t>其次构造原型，开发初始原型系统；</a:t>
            </a:r>
            <a:endParaRPr lang="en-US" altLang="zh-CN" sz="1600">
              <a:latin typeface="Times New Roman" panose="02020603050405020304" pitchFamily="18" charset="0"/>
            </a:endParaRPr>
          </a:p>
          <a:p>
            <a:pPr lvl="2">
              <a:lnSpc>
                <a:spcPct val="120000"/>
              </a:lnSpc>
              <a:spcBef>
                <a:spcPts val="1200"/>
              </a:spcBef>
              <a:buClr>
                <a:schemeClr val="accent2"/>
              </a:buClr>
              <a:buSzPct val="70000"/>
              <a:buFont typeface="Wingdings" panose="05000000000000000000" pitchFamily="2" charset="2"/>
              <a:buChar char="l"/>
            </a:pPr>
            <a:r>
              <a:rPr lang="zh-CN" altLang="en-US" sz="1600">
                <a:latin typeface="Times New Roman" panose="02020603050405020304" pitchFamily="18" charset="0"/>
              </a:rPr>
              <a:t>再次，用户和系统开发人员使用并评价原型</a:t>
            </a:r>
            <a:endParaRPr lang="en-US" altLang="zh-CN" sz="1600">
              <a:latin typeface="Times New Roman" panose="02020603050405020304" pitchFamily="18" charset="0"/>
            </a:endParaRPr>
          </a:p>
          <a:p>
            <a:pPr lvl="2">
              <a:lnSpc>
                <a:spcPct val="120000"/>
              </a:lnSpc>
              <a:spcBef>
                <a:spcPts val="1200"/>
              </a:spcBef>
              <a:buClr>
                <a:schemeClr val="accent2"/>
              </a:buClr>
              <a:buSzPct val="70000"/>
              <a:buFont typeface="Wingdings" panose="05000000000000000000" pitchFamily="2" charset="2"/>
              <a:buChar char="l"/>
            </a:pPr>
            <a:r>
              <a:rPr lang="zh-CN" altLang="en-US" sz="1600">
                <a:latin typeface="Times New Roman" panose="02020603050405020304" pitchFamily="18" charset="0"/>
              </a:rPr>
              <a:t>最后，系统开发人员修改和完善原型系统。</a:t>
            </a:r>
          </a:p>
        </p:txBody>
      </p:sp>
      <p:sp>
        <p:nvSpPr>
          <p:cNvPr id="30723" name="Rectangle 2">
            <a:extLst>
              <a:ext uri="{FF2B5EF4-FFF2-40B4-BE49-F238E27FC236}">
                <a16:creationId xmlns:a16="http://schemas.microsoft.com/office/drawing/2014/main" id="{73072183-FFFC-45F0-A704-8205544AA314}"/>
              </a:ext>
            </a:extLst>
          </p:cNvPr>
          <p:cNvSpPr>
            <a:spLocks noGrp="1" noChangeArrowheads="1"/>
          </p:cNvSpPr>
          <p:nvPr>
            <p:ph type="title"/>
          </p:nvPr>
        </p:nvSpPr>
        <p:spPr>
          <a:xfrm>
            <a:off x="179388" y="1052513"/>
            <a:ext cx="8788400" cy="717550"/>
          </a:xfrm>
        </p:spPr>
        <p:txBody>
          <a:bodyPr/>
          <a:lstStyle/>
          <a:p>
            <a:pPr eaLnBrk="1" hangingPunct="1"/>
            <a:r>
              <a:rPr lang="zh-CN" altLang="en-US"/>
              <a:t>需求分析建模方法</a:t>
            </a:r>
          </a:p>
        </p:txBody>
      </p:sp>
      <p:pic>
        <p:nvPicPr>
          <p:cNvPr id="30724" name="Picture 4">
            <a:extLst>
              <a:ext uri="{FF2B5EF4-FFF2-40B4-BE49-F238E27FC236}">
                <a16:creationId xmlns:a16="http://schemas.microsoft.com/office/drawing/2014/main" id="{F6591A56-72D7-4BB3-8818-50DA91A3AB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7938" y="4429125"/>
            <a:ext cx="18288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3">
            <a:extLst>
              <a:ext uri="{FF2B5EF4-FFF2-40B4-BE49-F238E27FC236}">
                <a16:creationId xmlns:a16="http://schemas.microsoft.com/office/drawing/2014/main" id="{290FD1CC-A5C9-4728-ABD6-5EEA98E55C3C}"/>
              </a:ext>
            </a:extLst>
          </p:cNvPr>
          <p:cNvSpPr txBox="1">
            <a:spLocks noChangeArrowheads="1"/>
          </p:cNvSpPr>
          <p:nvPr/>
        </p:nvSpPr>
        <p:spPr bwMode="auto">
          <a:xfrm>
            <a:off x="1004888" y="2060575"/>
            <a:ext cx="7410450" cy="2411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原型分析方法</a:t>
            </a:r>
            <a:endParaRPr kumimoji="0" lang="en-US" altLang="zh-CN" sz="2400" dirty="0">
              <a:solidFill>
                <a:schemeClr val="accent2"/>
              </a:solidFill>
              <a:ea typeface="黑体" panose="02010609060101010101" pitchFamily="49" charset="-122"/>
            </a:endParaRPr>
          </a:p>
          <a:p>
            <a:pPr lvl="1">
              <a:lnSpc>
                <a:spcPct val="120000"/>
              </a:lnSpc>
              <a:spcBef>
                <a:spcPts val="12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原型法的适用范围：</a:t>
            </a:r>
            <a:endParaRPr lang="en-US" altLang="zh-CN" sz="2000" dirty="0">
              <a:latin typeface="Times New Roman" panose="02020603050405020304" pitchFamily="18" charset="0"/>
            </a:endParaRPr>
          </a:p>
          <a:p>
            <a:pPr lvl="2">
              <a:lnSpc>
                <a:spcPct val="120000"/>
              </a:lnSpc>
              <a:spcBef>
                <a:spcPts val="1200"/>
              </a:spcBef>
              <a:buClr>
                <a:schemeClr val="accent2"/>
              </a:buClr>
              <a:buSzPct val="70000"/>
              <a:buFont typeface="Wingdings" panose="05000000000000000000" pitchFamily="2" charset="2"/>
              <a:buChar char="l"/>
            </a:pPr>
            <a:r>
              <a:rPr lang="zh-CN" altLang="en-US" sz="1800" dirty="0">
                <a:latin typeface="Times New Roman" panose="02020603050405020304" pitchFamily="18" charset="0"/>
              </a:rPr>
              <a:t>用户需求不清，管理及业务不稳定，需求经常变化</a:t>
            </a:r>
            <a:endParaRPr lang="en-US" altLang="zh-CN" sz="1800" dirty="0">
              <a:latin typeface="Times New Roman" panose="02020603050405020304" pitchFamily="18" charset="0"/>
            </a:endParaRPr>
          </a:p>
          <a:p>
            <a:pPr lvl="2">
              <a:lnSpc>
                <a:spcPct val="120000"/>
              </a:lnSpc>
              <a:spcBef>
                <a:spcPts val="1200"/>
              </a:spcBef>
              <a:buClr>
                <a:schemeClr val="accent2"/>
              </a:buClr>
              <a:buSzPct val="70000"/>
              <a:buFont typeface="Wingdings" panose="05000000000000000000" pitchFamily="2" charset="2"/>
              <a:buChar char="l"/>
            </a:pPr>
            <a:r>
              <a:rPr lang="zh-CN" altLang="en-US" sz="1800" dirty="0">
                <a:latin typeface="Times New Roman" panose="02020603050405020304" pitchFamily="18" charset="0"/>
              </a:rPr>
              <a:t>规模小，不太复杂</a:t>
            </a:r>
            <a:endParaRPr lang="en-US" altLang="zh-CN" sz="1800" dirty="0">
              <a:latin typeface="Times New Roman" panose="02020603050405020304" pitchFamily="18" charset="0"/>
            </a:endParaRPr>
          </a:p>
          <a:p>
            <a:pPr lvl="2">
              <a:lnSpc>
                <a:spcPct val="120000"/>
              </a:lnSpc>
              <a:spcBef>
                <a:spcPts val="1200"/>
              </a:spcBef>
              <a:buClr>
                <a:schemeClr val="accent2"/>
              </a:buClr>
              <a:buSzPct val="70000"/>
              <a:buFont typeface="Wingdings" panose="05000000000000000000" pitchFamily="2" charset="2"/>
              <a:buChar char="l"/>
            </a:pPr>
            <a:r>
              <a:rPr lang="zh-CN" altLang="en-US" sz="1800" dirty="0">
                <a:latin typeface="Times New Roman" panose="02020603050405020304" pitchFamily="18" charset="0"/>
              </a:rPr>
              <a:t>开发信息系统的最终用户界面</a:t>
            </a:r>
          </a:p>
        </p:txBody>
      </p:sp>
      <p:sp>
        <p:nvSpPr>
          <p:cNvPr id="31747" name="Rectangle 2">
            <a:extLst>
              <a:ext uri="{FF2B5EF4-FFF2-40B4-BE49-F238E27FC236}">
                <a16:creationId xmlns:a16="http://schemas.microsoft.com/office/drawing/2014/main" id="{4C448E5B-169E-47F5-9A3E-6B7D3B12B67E}"/>
              </a:ext>
            </a:extLst>
          </p:cNvPr>
          <p:cNvSpPr>
            <a:spLocks noGrp="1" noChangeArrowheads="1"/>
          </p:cNvSpPr>
          <p:nvPr>
            <p:ph type="title"/>
          </p:nvPr>
        </p:nvSpPr>
        <p:spPr>
          <a:xfrm>
            <a:off x="179388" y="1052513"/>
            <a:ext cx="8788400" cy="717550"/>
          </a:xfrm>
        </p:spPr>
        <p:txBody>
          <a:bodyPr/>
          <a:lstStyle/>
          <a:p>
            <a:pPr eaLnBrk="1" hangingPunct="1"/>
            <a:r>
              <a:rPr lang="zh-CN" altLang="en-US"/>
              <a:t>需求分析建模方法</a:t>
            </a:r>
          </a:p>
        </p:txBody>
      </p:sp>
      <p:pic>
        <p:nvPicPr>
          <p:cNvPr id="31748" name="Picture 4">
            <a:extLst>
              <a:ext uri="{FF2B5EF4-FFF2-40B4-BE49-F238E27FC236}">
                <a16:creationId xmlns:a16="http://schemas.microsoft.com/office/drawing/2014/main" id="{F41B7559-E367-42F5-BF58-B1C614A9A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00" y="4763017"/>
            <a:ext cx="18288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3">
            <a:extLst>
              <a:ext uri="{FF2B5EF4-FFF2-40B4-BE49-F238E27FC236}">
                <a16:creationId xmlns:a16="http://schemas.microsoft.com/office/drawing/2014/main" id="{900F44FD-F324-4D1C-99B2-FD6D0DE489FC}"/>
              </a:ext>
            </a:extLst>
          </p:cNvPr>
          <p:cNvSpPr txBox="1">
            <a:spLocks noChangeArrowheads="1"/>
          </p:cNvSpPr>
          <p:nvPr/>
        </p:nvSpPr>
        <p:spPr bwMode="auto">
          <a:xfrm>
            <a:off x="1004888" y="2060575"/>
            <a:ext cx="7410450" cy="414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结构化分析方法</a:t>
            </a:r>
            <a:endParaRPr kumimoji="0" lang="en-US" altLang="zh-CN" sz="2400" dirty="0">
              <a:solidFill>
                <a:schemeClr val="accent2"/>
              </a:solidFill>
              <a:ea typeface="黑体" panose="02010609060101010101" pitchFamily="49" charset="-122"/>
            </a:endParaRPr>
          </a:p>
          <a:p>
            <a:pPr lvl="1">
              <a:spcBef>
                <a:spcPts val="1200"/>
              </a:spcBef>
              <a:buClr>
                <a:schemeClr val="accent2"/>
              </a:buClr>
              <a:buSzPct val="70000"/>
              <a:buFont typeface="Wingdings" panose="05000000000000000000" pitchFamily="2" charset="2"/>
              <a:buChar char="l"/>
            </a:pPr>
            <a:r>
              <a:rPr lang="en-US" altLang="en-US" sz="2000" dirty="0" err="1">
                <a:latin typeface="Times New Roman" panose="02020603050405020304" pitchFamily="18" charset="0"/>
              </a:rPr>
              <a:t>结构化分析方法</a:t>
            </a:r>
            <a:r>
              <a:rPr lang="en-US" altLang="en-US" sz="2000" dirty="0">
                <a:latin typeface="Times New Roman" panose="02020603050405020304" pitchFamily="18" charset="0"/>
              </a:rPr>
              <a:t>(Structured Method</a:t>
            </a:r>
            <a:r>
              <a:rPr lang="zh-CN" altLang="en-US" sz="2000" dirty="0">
                <a:latin typeface="Times New Roman" panose="02020603050405020304" pitchFamily="18" charset="0"/>
              </a:rPr>
              <a:t>，</a:t>
            </a:r>
            <a:r>
              <a:rPr lang="en-US" altLang="en-US" sz="2000" dirty="0" err="1">
                <a:latin typeface="Times New Roman" panose="02020603050405020304" pitchFamily="18" charset="0"/>
              </a:rPr>
              <a:t>结构化方法</a:t>
            </a:r>
            <a:r>
              <a:rPr lang="en-US" altLang="en-US" sz="2000" dirty="0">
                <a:latin typeface="Times New Roman" panose="02020603050405020304" pitchFamily="18" charset="0"/>
              </a:rPr>
              <a:t>)</a:t>
            </a:r>
            <a:r>
              <a:rPr lang="zh-CN" altLang="en-US" sz="2000" dirty="0">
                <a:latin typeface="Times New Roman" panose="02020603050405020304" pitchFamily="18" charset="0"/>
              </a:rPr>
              <a:t>是强调开发方法的结构合理性以及所开发</a:t>
            </a:r>
            <a:r>
              <a:rPr lang="en-US" altLang="en-US" sz="2000" dirty="0" err="1">
                <a:latin typeface="Times New Roman" panose="02020603050405020304" pitchFamily="18" charset="0"/>
              </a:rPr>
              <a:t>软件</a:t>
            </a:r>
            <a:r>
              <a:rPr lang="zh-CN" altLang="en-US" sz="2000" dirty="0">
                <a:latin typeface="Times New Roman" panose="02020603050405020304" pitchFamily="18" charset="0"/>
              </a:rPr>
              <a:t>的结构合理性的</a:t>
            </a:r>
            <a:r>
              <a:rPr lang="en-US" altLang="en-US" sz="2000" dirty="0" err="1">
                <a:latin typeface="Times New Roman" panose="02020603050405020304" pitchFamily="18" charset="0"/>
              </a:rPr>
              <a:t>软件开发</a:t>
            </a:r>
            <a:r>
              <a:rPr lang="zh-CN" altLang="en-US" sz="2000" dirty="0">
                <a:latin typeface="Times New Roman" panose="02020603050405020304" pitchFamily="18" charset="0"/>
              </a:rPr>
              <a:t>方法。</a:t>
            </a:r>
          </a:p>
          <a:p>
            <a:pPr lvl="1">
              <a:spcBef>
                <a:spcPts val="12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结构化的分析方法的基本步骤为：</a:t>
            </a:r>
            <a:r>
              <a:rPr lang="en-US" altLang="en-US" sz="2000" dirty="0">
                <a:latin typeface="Times New Roman" panose="02020603050405020304" pitchFamily="18" charset="0"/>
              </a:rPr>
              <a:t> </a:t>
            </a:r>
          </a:p>
          <a:p>
            <a:pPr lvl="2">
              <a:lnSpc>
                <a:spcPct val="120000"/>
              </a:lnSpc>
              <a:spcBef>
                <a:spcPts val="400"/>
              </a:spcBef>
            </a:pPr>
            <a:r>
              <a:rPr lang="zh-CN" altLang="en-US" dirty="0">
                <a:solidFill>
                  <a:srgbClr val="FF0000"/>
                </a:solidFill>
                <a:latin typeface="宋体" panose="02010600030101010101" pitchFamily="2" charset="-122"/>
              </a:rPr>
              <a:t>需求分析</a:t>
            </a:r>
            <a:endParaRPr lang="en-US" altLang="en-US" dirty="0">
              <a:solidFill>
                <a:srgbClr val="FF0000"/>
              </a:solidFill>
              <a:latin typeface="宋体" panose="02010600030101010101" pitchFamily="2" charset="-122"/>
            </a:endParaRPr>
          </a:p>
          <a:p>
            <a:pPr lvl="2">
              <a:lnSpc>
                <a:spcPct val="120000"/>
              </a:lnSpc>
              <a:spcBef>
                <a:spcPts val="400"/>
              </a:spcBef>
            </a:pPr>
            <a:r>
              <a:rPr lang="zh-CN" altLang="en-US" dirty="0">
                <a:solidFill>
                  <a:srgbClr val="FF0000"/>
                </a:solidFill>
                <a:latin typeface="宋体" panose="02010600030101010101" pitchFamily="2" charset="-122"/>
              </a:rPr>
              <a:t>业务流程分析</a:t>
            </a:r>
            <a:endParaRPr lang="en-US" altLang="en-US" dirty="0">
              <a:solidFill>
                <a:srgbClr val="FF0000"/>
              </a:solidFill>
              <a:latin typeface="宋体" panose="02010600030101010101" pitchFamily="2" charset="-122"/>
            </a:endParaRPr>
          </a:p>
          <a:p>
            <a:pPr lvl="2">
              <a:lnSpc>
                <a:spcPct val="120000"/>
              </a:lnSpc>
              <a:spcBef>
                <a:spcPts val="400"/>
              </a:spcBef>
            </a:pPr>
            <a:r>
              <a:rPr lang="zh-CN" altLang="en-US" dirty="0">
                <a:solidFill>
                  <a:srgbClr val="FF0000"/>
                </a:solidFill>
                <a:latin typeface="宋体" panose="02010600030101010101" pitchFamily="2" charset="-122"/>
              </a:rPr>
              <a:t>数据流程分析</a:t>
            </a:r>
            <a:endParaRPr lang="en-US" altLang="en-US" dirty="0">
              <a:solidFill>
                <a:srgbClr val="FF0000"/>
              </a:solidFill>
              <a:latin typeface="宋体" panose="02010600030101010101" pitchFamily="2" charset="-122"/>
            </a:endParaRPr>
          </a:p>
          <a:p>
            <a:pPr lvl="2">
              <a:lnSpc>
                <a:spcPct val="120000"/>
              </a:lnSpc>
              <a:spcBef>
                <a:spcPts val="400"/>
              </a:spcBef>
            </a:pPr>
            <a:r>
              <a:rPr lang="zh-CN" altLang="en-US" dirty="0">
                <a:solidFill>
                  <a:srgbClr val="FF0000"/>
                </a:solidFill>
                <a:latin typeface="宋体" panose="02010600030101010101" pitchFamily="2" charset="-122"/>
              </a:rPr>
              <a:t>编制数据字典</a:t>
            </a:r>
          </a:p>
          <a:p>
            <a:pPr lvl="1">
              <a:spcBef>
                <a:spcPts val="12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结构化分析方法的优点与局限性。</a:t>
            </a:r>
            <a:endParaRPr lang="en-US" altLang="zh-CN" sz="2000" dirty="0">
              <a:latin typeface="Times New Roman" panose="02020603050405020304" pitchFamily="18" charset="0"/>
            </a:endParaRPr>
          </a:p>
        </p:txBody>
      </p:sp>
      <p:sp>
        <p:nvSpPr>
          <p:cNvPr id="32771" name="Rectangle 2">
            <a:extLst>
              <a:ext uri="{FF2B5EF4-FFF2-40B4-BE49-F238E27FC236}">
                <a16:creationId xmlns:a16="http://schemas.microsoft.com/office/drawing/2014/main" id="{F6811496-2487-4E74-96F8-B4123D7BE80C}"/>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需求分析建模方法</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3">
            <a:extLst>
              <a:ext uri="{FF2B5EF4-FFF2-40B4-BE49-F238E27FC236}">
                <a16:creationId xmlns:a16="http://schemas.microsoft.com/office/drawing/2014/main" id="{900F44FD-F324-4D1C-99B2-FD6D0DE489FC}"/>
              </a:ext>
            </a:extLst>
          </p:cNvPr>
          <p:cNvSpPr txBox="1">
            <a:spLocks noChangeArrowheads="1"/>
          </p:cNvSpPr>
          <p:nvPr/>
        </p:nvSpPr>
        <p:spPr bwMode="auto">
          <a:xfrm>
            <a:off x="395536" y="1844824"/>
            <a:ext cx="8788400" cy="4616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rPr>
              <a:t> </a:t>
            </a:r>
            <a:r>
              <a:rPr kumimoji="0" lang="zh-CN" altLang="en-US" sz="2400" dirty="0">
                <a:solidFill>
                  <a:schemeClr val="accent2"/>
                </a:solidFill>
                <a:ea typeface="黑体" panose="02010609060101010101" pitchFamily="49" charset="-122"/>
              </a:rPr>
              <a:t>结构化分析方法</a:t>
            </a:r>
            <a:endParaRPr kumimoji="0" lang="en-US" altLang="zh-CN" sz="2400" dirty="0">
              <a:solidFill>
                <a:schemeClr val="accent2"/>
              </a:solidFill>
              <a:ea typeface="黑体" panose="02010609060101010101" pitchFamily="49" charset="-122"/>
            </a:endParaRPr>
          </a:p>
          <a:p>
            <a:pPr lvl="1">
              <a:spcBef>
                <a:spcPts val="1200"/>
              </a:spcBef>
              <a:buClr>
                <a:schemeClr val="accent2"/>
              </a:buClr>
              <a:buSzPct val="70000"/>
              <a:buFont typeface="Wingdings" panose="05000000000000000000" pitchFamily="2" charset="2"/>
              <a:buChar char="l"/>
            </a:pPr>
            <a:r>
              <a:rPr lang="zh-CN" altLang="en-US" sz="2000" dirty="0">
                <a:latin typeface="Times New Roman" panose="02020603050405020304" pitchFamily="18" charset="0"/>
              </a:rPr>
              <a:t>结构化分析方法的优点与局限性。</a:t>
            </a:r>
            <a:endParaRPr lang="en-US" altLang="zh-CN" sz="2000" dirty="0">
              <a:latin typeface="Times New Roman" panose="02020603050405020304" pitchFamily="18" charset="0"/>
            </a:endParaRPr>
          </a:p>
          <a:p>
            <a:pPr lvl="2">
              <a:spcBef>
                <a:spcPts val="1200"/>
              </a:spcBef>
              <a:buClr>
                <a:schemeClr val="accent2"/>
              </a:buClr>
              <a:buSzPct val="70000"/>
              <a:buFont typeface="Wingdings" panose="05000000000000000000" pitchFamily="2" charset="2"/>
              <a:buChar char="l"/>
            </a:pPr>
            <a:r>
              <a:rPr lang="en-US" altLang="zh-CN" sz="1800" dirty="0">
                <a:latin typeface="Times New Roman" panose="02020603050405020304" pitchFamily="18" charset="0"/>
              </a:rPr>
              <a:t>1.</a:t>
            </a:r>
            <a:r>
              <a:rPr lang="zh-CN" altLang="en-US" sz="1800" dirty="0">
                <a:latin typeface="Times New Roman" panose="02020603050405020304" pitchFamily="18" charset="0"/>
              </a:rPr>
              <a:t>简单、清晰，易于学习和掌握</a:t>
            </a:r>
            <a:endParaRPr lang="en-US" altLang="zh-CN" sz="1800" dirty="0">
              <a:latin typeface="Times New Roman" panose="02020603050405020304" pitchFamily="18" charset="0"/>
            </a:endParaRPr>
          </a:p>
          <a:p>
            <a:pPr lvl="2">
              <a:spcBef>
                <a:spcPts val="1200"/>
              </a:spcBef>
              <a:buClr>
                <a:schemeClr val="accent2"/>
              </a:buClr>
              <a:buSzPct val="70000"/>
              <a:buFont typeface="Wingdings" panose="05000000000000000000" pitchFamily="2" charset="2"/>
              <a:buChar char="l"/>
            </a:pPr>
            <a:r>
              <a:rPr lang="en-US" altLang="zh-CN" sz="1800" dirty="0">
                <a:latin typeface="Times New Roman" panose="02020603050405020304" pitchFamily="18" charset="0"/>
              </a:rPr>
              <a:t>2.</a:t>
            </a:r>
            <a:r>
              <a:rPr lang="zh-CN" altLang="en-US" sz="1800" dirty="0">
                <a:latin typeface="Times New Roman" panose="02020603050405020304" pitchFamily="18" charset="0"/>
              </a:rPr>
              <a:t>在已存在的人工系统上开发目标系统，符合人们认识世界、改造世界的一般规律，大大降低了问题的复杂程度。</a:t>
            </a:r>
            <a:endParaRPr lang="en-US" altLang="zh-CN" sz="1800" dirty="0">
              <a:latin typeface="Times New Roman" panose="02020603050405020304" pitchFamily="18" charset="0"/>
            </a:endParaRPr>
          </a:p>
          <a:p>
            <a:pPr lvl="2">
              <a:spcBef>
                <a:spcPts val="1200"/>
              </a:spcBef>
              <a:buClr>
                <a:schemeClr val="accent2"/>
              </a:buClr>
              <a:buSzPct val="70000"/>
              <a:buFont typeface="Wingdings" panose="05000000000000000000" pitchFamily="2" charset="2"/>
              <a:buChar char="l"/>
            </a:pPr>
            <a:r>
              <a:rPr lang="en-US" altLang="zh-CN" sz="1800" dirty="0">
                <a:latin typeface="Times New Roman" panose="02020603050405020304" pitchFamily="18" charset="0"/>
              </a:rPr>
              <a:t>3.</a:t>
            </a:r>
            <a:r>
              <a:rPr lang="zh-CN" altLang="en-US" sz="1800" dirty="0">
                <a:latin typeface="Times New Roman" panose="02020603050405020304" pitchFamily="18" charset="0"/>
              </a:rPr>
              <a:t>采用了图形描述方式，用数据流图为即将开发的系统描述了一个可见的模型，也为相同的审查和评价提供了有利的条件。</a:t>
            </a:r>
            <a:endParaRPr lang="en-US" altLang="zh-CN" sz="1800" dirty="0">
              <a:latin typeface="Times New Roman" panose="02020603050405020304" pitchFamily="18" charset="0"/>
            </a:endParaRPr>
          </a:p>
          <a:p>
            <a:pPr lvl="2">
              <a:spcBef>
                <a:spcPts val="1200"/>
              </a:spcBef>
              <a:buClr>
                <a:schemeClr val="accent2"/>
              </a:buClr>
              <a:buSzPct val="70000"/>
              <a:buFont typeface="Wingdings" panose="05000000000000000000" pitchFamily="2" charset="2"/>
              <a:buChar char="l"/>
            </a:pPr>
            <a:r>
              <a:rPr lang="en-US" altLang="zh-CN" sz="1800" dirty="0">
                <a:latin typeface="Times New Roman" panose="02020603050405020304" pitchFamily="18" charset="0"/>
              </a:rPr>
              <a:t>4.</a:t>
            </a:r>
            <a:r>
              <a:rPr lang="zh-CN" altLang="en-US" sz="1800" dirty="0">
                <a:latin typeface="Times New Roman" panose="02020603050405020304" pitchFamily="18" charset="0"/>
              </a:rPr>
              <a:t>所需文档资料数量大。</a:t>
            </a:r>
            <a:endParaRPr lang="en-US" altLang="zh-CN" sz="1800" dirty="0">
              <a:latin typeface="Times New Roman" panose="02020603050405020304" pitchFamily="18" charset="0"/>
            </a:endParaRPr>
          </a:p>
          <a:p>
            <a:pPr lvl="2">
              <a:spcBef>
                <a:spcPts val="1200"/>
              </a:spcBef>
              <a:buClr>
                <a:schemeClr val="accent2"/>
              </a:buClr>
              <a:buSzPct val="70000"/>
              <a:buFont typeface="Wingdings" panose="05000000000000000000" pitchFamily="2" charset="2"/>
              <a:buChar char="l"/>
            </a:pPr>
            <a:r>
              <a:rPr lang="en-US" altLang="zh-CN" sz="1800" dirty="0">
                <a:latin typeface="Times New Roman" panose="02020603050405020304" pitchFamily="18" charset="0"/>
              </a:rPr>
              <a:t>5.</a:t>
            </a:r>
            <a:r>
              <a:rPr lang="zh-CN" altLang="en-US" sz="1800" dirty="0">
                <a:latin typeface="Times New Roman" panose="02020603050405020304" pitchFamily="18" charset="0"/>
              </a:rPr>
              <a:t>在理解、表达人机界面方面是很差的，数据流图描述和逐步分解技术在这里发挥不了特长。</a:t>
            </a:r>
            <a:endParaRPr lang="en-US" altLang="zh-CN" sz="1800" dirty="0">
              <a:latin typeface="Times New Roman" panose="02020603050405020304" pitchFamily="18" charset="0"/>
            </a:endParaRPr>
          </a:p>
          <a:p>
            <a:pPr lvl="2">
              <a:spcBef>
                <a:spcPts val="1200"/>
              </a:spcBef>
              <a:buClr>
                <a:schemeClr val="accent2"/>
              </a:buClr>
              <a:buSzPct val="70000"/>
              <a:buFont typeface="Wingdings" panose="05000000000000000000" pitchFamily="2" charset="2"/>
              <a:buChar char="l"/>
            </a:pPr>
            <a:r>
              <a:rPr lang="en-US" altLang="zh-CN" sz="1800" dirty="0">
                <a:latin typeface="Times New Roman" panose="02020603050405020304" pitchFamily="18" charset="0"/>
              </a:rPr>
              <a:t>6.</a:t>
            </a:r>
            <a:r>
              <a:rPr lang="zh-CN" altLang="en-US" sz="1800" dirty="0">
                <a:latin typeface="Times New Roman" panose="02020603050405020304" pitchFamily="18" charset="0"/>
              </a:rPr>
              <a:t>模型仅仅是书面的，只能供人们阅读而不能运行和试用，因此在澄清和确定用户需求方面起的作用毕竟是有限的。</a:t>
            </a:r>
            <a:endParaRPr lang="en-US" altLang="zh-CN" sz="1800" dirty="0">
              <a:latin typeface="Times New Roman" panose="02020603050405020304" pitchFamily="18" charset="0"/>
            </a:endParaRPr>
          </a:p>
        </p:txBody>
      </p:sp>
      <p:sp>
        <p:nvSpPr>
          <p:cNvPr id="32771" name="Rectangle 2">
            <a:extLst>
              <a:ext uri="{FF2B5EF4-FFF2-40B4-BE49-F238E27FC236}">
                <a16:creationId xmlns:a16="http://schemas.microsoft.com/office/drawing/2014/main" id="{F6811496-2487-4E74-96F8-B4123D7BE80C}"/>
              </a:ext>
            </a:extLst>
          </p:cNvPr>
          <p:cNvSpPr>
            <a:spLocks noGrp="1" noChangeArrowheads="1"/>
          </p:cNvSpPr>
          <p:nvPr>
            <p:ph type="title"/>
          </p:nvPr>
        </p:nvSpPr>
        <p:spPr>
          <a:xfrm>
            <a:off x="177800" y="1054100"/>
            <a:ext cx="8788400" cy="717550"/>
          </a:xfrm>
          <a:noFill/>
        </p:spPr>
        <p:txBody>
          <a:bodyPr/>
          <a:lstStyle/>
          <a:p>
            <a:pPr eaLnBrk="1" hangingPunct="1"/>
            <a:r>
              <a:rPr lang="zh-CN" altLang="en-US"/>
              <a:t>需求分析建模方法</a:t>
            </a:r>
          </a:p>
        </p:txBody>
      </p:sp>
    </p:spTree>
    <p:extLst>
      <p:ext uri="{BB962C8B-B14F-4D97-AF65-F5344CB8AC3E}">
        <p14:creationId xmlns:p14="http://schemas.microsoft.com/office/powerpoint/2010/main" val="7991294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542B56C-CB54-4E06-84E8-48F8DCE15CE7}"/>
              </a:ext>
            </a:extLst>
          </p:cNvPr>
          <p:cNvSpPr>
            <a:spLocks noGrp="1" noChangeArrowheads="1"/>
          </p:cNvSpPr>
          <p:nvPr>
            <p:ph type="title" idx="4294967295"/>
          </p:nvPr>
        </p:nvSpPr>
        <p:spPr>
          <a:xfrm>
            <a:off x="179388" y="1052513"/>
            <a:ext cx="8788400" cy="717550"/>
          </a:xfrm>
          <a:noFill/>
        </p:spPr>
        <p:txBody>
          <a:bodyPr/>
          <a:lstStyle/>
          <a:p>
            <a:pPr eaLnBrk="1" hangingPunct="1"/>
            <a:r>
              <a:rPr lang="zh-CN" altLang="en-US"/>
              <a:t>本章内容提要</a:t>
            </a:r>
            <a:endParaRPr lang="en-US" altLang="zh-CN"/>
          </a:p>
        </p:txBody>
      </p:sp>
      <p:grpSp>
        <p:nvGrpSpPr>
          <p:cNvPr id="33795" name="Group 3">
            <a:extLst>
              <a:ext uri="{FF2B5EF4-FFF2-40B4-BE49-F238E27FC236}">
                <a16:creationId xmlns:a16="http://schemas.microsoft.com/office/drawing/2014/main" id="{AF966ED8-6CC2-442E-9AFE-48A7A42FC6EA}"/>
              </a:ext>
            </a:extLst>
          </p:cNvPr>
          <p:cNvGrpSpPr>
            <a:grpSpLocks/>
          </p:cNvGrpSpPr>
          <p:nvPr/>
        </p:nvGrpSpPr>
        <p:grpSpPr bwMode="auto">
          <a:xfrm>
            <a:off x="1057275" y="2222500"/>
            <a:ext cx="5675313" cy="3943350"/>
            <a:chOff x="385" y="1161"/>
            <a:chExt cx="3575" cy="2484"/>
          </a:xfrm>
        </p:grpSpPr>
        <p:sp>
          <p:nvSpPr>
            <p:cNvPr id="33796" name="AutoShape 4">
              <a:extLst>
                <a:ext uri="{FF2B5EF4-FFF2-40B4-BE49-F238E27FC236}">
                  <a16:creationId xmlns:a16="http://schemas.microsoft.com/office/drawing/2014/main" id="{C4109B56-CA10-4112-A7C2-C47D5EA620C0}"/>
                </a:ext>
              </a:extLst>
            </p:cNvPr>
            <p:cNvSpPr>
              <a:spLocks noChangeArrowheads="1"/>
            </p:cNvSpPr>
            <p:nvPr/>
          </p:nvSpPr>
          <p:spPr bwMode="auto">
            <a:xfrm>
              <a:off x="464" y="1161"/>
              <a:ext cx="3493" cy="279"/>
            </a:xfrm>
            <a:prstGeom prst="homePlate">
              <a:avLst>
                <a:gd name="adj" fmla="val 32516"/>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3797" name="AutoShape 8">
              <a:extLst>
                <a:ext uri="{FF2B5EF4-FFF2-40B4-BE49-F238E27FC236}">
                  <a16:creationId xmlns:a16="http://schemas.microsoft.com/office/drawing/2014/main" id="{874345A5-59B3-47F5-BCC4-FBF49007CB82}"/>
                </a:ext>
              </a:extLst>
            </p:cNvPr>
            <p:cNvSpPr>
              <a:spLocks noChangeArrowheads="1"/>
            </p:cNvSpPr>
            <p:nvPr/>
          </p:nvSpPr>
          <p:spPr bwMode="auto">
            <a:xfrm>
              <a:off x="467" y="306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pSp>
          <p:nvGrpSpPr>
            <p:cNvPr id="33798" name="Group 6">
              <a:extLst>
                <a:ext uri="{FF2B5EF4-FFF2-40B4-BE49-F238E27FC236}">
                  <a16:creationId xmlns:a16="http://schemas.microsoft.com/office/drawing/2014/main" id="{C3E640E2-8A9F-4D98-8D1E-796B0529AD7D}"/>
                </a:ext>
              </a:extLst>
            </p:cNvPr>
            <p:cNvGrpSpPr>
              <a:grpSpLocks/>
            </p:cNvGrpSpPr>
            <p:nvPr/>
          </p:nvGrpSpPr>
          <p:grpSpPr bwMode="auto">
            <a:xfrm>
              <a:off x="385" y="1207"/>
              <a:ext cx="3575" cy="2438"/>
              <a:chOff x="385" y="1207"/>
              <a:chExt cx="3575" cy="2438"/>
            </a:xfrm>
          </p:grpSpPr>
          <p:sp>
            <p:nvSpPr>
              <p:cNvPr id="33799" name="Text Box 5">
                <a:extLst>
                  <a:ext uri="{FF2B5EF4-FFF2-40B4-BE49-F238E27FC236}">
                    <a16:creationId xmlns:a16="http://schemas.microsoft.com/office/drawing/2014/main" id="{C80146B4-DF5B-49AF-B513-F82DCE54A501}"/>
                  </a:ext>
                </a:extLst>
              </p:cNvPr>
              <p:cNvSpPr txBox="1">
                <a:spLocks noChangeArrowheads="1"/>
              </p:cNvSpPr>
              <p:nvPr/>
            </p:nvSpPr>
            <p:spPr bwMode="auto">
              <a:xfrm>
                <a:off x="626" y="121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软件项目需求管理概述</a:t>
                </a:r>
                <a:r>
                  <a:rPr lang="zh-CN" altLang="en-US" sz="2000" b="0">
                    <a:latin typeface="Times New Roman" panose="02020603050405020304" pitchFamily="18" charset="0"/>
                  </a:rPr>
                  <a:t> </a:t>
                </a:r>
              </a:p>
            </p:txBody>
          </p:sp>
          <p:sp>
            <p:nvSpPr>
              <p:cNvPr id="33800" name="AutoShape 6">
                <a:extLst>
                  <a:ext uri="{FF2B5EF4-FFF2-40B4-BE49-F238E27FC236}">
                    <a16:creationId xmlns:a16="http://schemas.microsoft.com/office/drawing/2014/main" id="{9EC10F7D-15A2-4DDD-B4E7-D039E1C0D246}"/>
                  </a:ext>
                </a:extLst>
              </p:cNvPr>
              <p:cNvSpPr>
                <a:spLocks noChangeArrowheads="1"/>
              </p:cNvSpPr>
              <p:nvPr/>
            </p:nvSpPr>
            <p:spPr bwMode="auto">
              <a:xfrm>
                <a:off x="464" y="1491"/>
                <a:ext cx="3493" cy="273"/>
              </a:xfrm>
              <a:prstGeom prst="homePlate">
                <a:avLst>
                  <a:gd name="adj" fmla="val 3252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3801" name="Text Box 7">
                <a:extLst>
                  <a:ext uri="{FF2B5EF4-FFF2-40B4-BE49-F238E27FC236}">
                    <a16:creationId xmlns:a16="http://schemas.microsoft.com/office/drawing/2014/main" id="{61C4E015-2D0E-4E3E-9741-6D6A09BC60E3}"/>
                  </a:ext>
                </a:extLst>
              </p:cNvPr>
              <p:cNvSpPr txBox="1">
                <a:spLocks noChangeArrowheads="1"/>
              </p:cNvSpPr>
              <p:nvPr/>
            </p:nvSpPr>
            <p:spPr bwMode="auto">
              <a:xfrm>
                <a:off x="626" y="1539"/>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需求开发和管理过程</a:t>
                </a:r>
                <a:r>
                  <a:rPr lang="zh-CN" altLang="en-US" sz="2000" b="0">
                    <a:latin typeface="Times New Roman" panose="02020603050405020304" pitchFamily="18" charset="0"/>
                  </a:rPr>
                  <a:t> </a:t>
                </a:r>
              </a:p>
            </p:txBody>
          </p:sp>
          <p:sp>
            <p:nvSpPr>
              <p:cNvPr id="33802" name="AutoShape 8">
                <a:extLst>
                  <a:ext uri="{FF2B5EF4-FFF2-40B4-BE49-F238E27FC236}">
                    <a16:creationId xmlns:a16="http://schemas.microsoft.com/office/drawing/2014/main" id="{AD0B6864-78C2-42E9-A485-334E8C08B97F}"/>
                  </a:ext>
                </a:extLst>
              </p:cNvPr>
              <p:cNvSpPr>
                <a:spLocks noChangeArrowheads="1"/>
              </p:cNvSpPr>
              <p:nvPr/>
            </p:nvSpPr>
            <p:spPr bwMode="auto">
              <a:xfrm>
                <a:off x="464" y="1800"/>
                <a:ext cx="3493" cy="266"/>
              </a:xfrm>
              <a:prstGeom prst="homePlate">
                <a:avLst>
                  <a:gd name="adj" fmla="val 32525"/>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3803" name="Text Box 9">
                <a:extLst>
                  <a:ext uri="{FF2B5EF4-FFF2-40B4-BE49-F238E27FC236}">
                    <a16:creationId xmlns:a16="http://schemas.microsoft.com/office/drawing/2014/main" id="{1AD4E4A6-83E2-4C67-B657-343EF16934AC}"/>
                  </a:ext>
                </a:extLst>
              </p:cNvPr>
              <p:cNvSpPr txBox="1">
                <a:spLocks noChangeArrowheads="1"/>
              </p:cNvSpPr>
              <p:nvPr/>
            </p:nvSpPr>
            <p:spPr bwMode="auto">
              <a:xfrm>
                <a:off x="626" y="184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需求获取方法</a:t>
                </a:r>
                <a:r>
                  <a:rPr lang="zh-CN" altLang="en-US" sz="2000" b="0">
                    <a:latin typeface="Times New Roman" panose="02020603050405020304" pitchFamily="18" charset="0"/>
                  </a:rPr>
                  <a:t> </a:t>
                </a:r>
              </a:p>
            </p:txBody>
          </p:sp>
          <p:sp>
            <p:nvSpPr>
              <p:cNvPr id="33804" name="Rectangle 10">
                <a:extLst>
                  <a:ext uri="{FF2B5EF4-FFF2-40B4-BE49-F238E27FC236}">
                    <a16:creationId xmlns:a16="http://schemas.microsoft.com/office/drawing/2014/main" id="{6F9356B5-42B4-49D0-B3DC-A438BE2D435E}"/>
                  </a:ext>
                </a:extLst>
              </p:cNvPr>
              <p:cNvSpPr>
                <a:spLocks noChangeArrowheads="1"/>
              </p:cNvSpPr>
              <p:nvPr/>
            </p:nvSpPr>
            <p:spPr bwMode="auto">
              <a:xfrm>
                <a:off x="385" y="1207"/>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6.1</a:t>
                </a:r>
                <a:endParaRPr lang="en-US" altLang="zh-CN" sz="1800">
                  <a:solidFill>
                    <a:srgbClr val="000000"/>
                  </a:solidFill>
                </a:endParaRPr>
              </a:p>
            </p:txBody>
          </p:sp>
          <p:sp>
            <p:nvSpPr>
              <p:cNvPr id="33805" name="Rectangle 11">
                <a:extLst>
                  <a:ext uri="{FF2B5EF4-FFF2-40B4-BE49-F238E27FC236}">
                    <a16:creationId xmlns:a16="http://schemas.microsoft.com/office/drawing/2014/main" id="{DB10C33C-F09A-4694-A6FF-BA5BE3457BD6}"/>
                  </a:ext>
                </a:extLst>
              </p:cNvPr>
              <p:cNvSpPr>
                <a:spLocks noChangeArrowheads="1"/>
              </p:cNvSpPr>
              <p:nvPr/>
            </p:nvSpPr>
            <p:spPr bwMode="auto">
              <a:xfrm>
                <a:off x="385" y="1564"/>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6.2</a:t>
                </a:r>
                <a:endParaRPr lang="en-US" altLang="zh-CN" sz="1800">
                  <a:solidFill>
                    <a:schemeClr val="bg1"/>
                  </a:solidFill>
                </a:endParaRPr>
              </a:p>
            </p:txBody>
          </p:sp>
          <p:sp>
            <p:nvSpPr>
              <p:cNvPr id="33806" name="Rectangle 12">
                <a:extLst>
                  <a:ext uri="{FF2B5EF4-FFF2-40B4-BE49-F238E27FC236}">
                    <a16:creationId xmlns:a16="http://schemas.microsoft.com/office/drawing/2014/main" id="{2F1DD7B8-F089-4B7C-A57B-C24FF4B0B566}"/>
                  </a:ext>
                </a:extLst>
              </p:cNvPr>
              <p:cNvSpPr>
                <a:spLocks noChangeArrowheads="1"/>
              </p:cNvSpPr>
              <p:nvPr/>
            </p:nvSpPr>
            <p:spPr bwMode="auto">
              <a:xfrm>
                <a:off x="385" y="187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6.3</a:t>
                </a:r>
                <a:endParaRPr lang="en-US" altLang="zh-CN" sz="1800">
                  <a:solidFill>
                    <a:srgbClr val="000000"/>
                  </a:solidFill>
                </a:endParaRPr>
              </a:p>
            </p:txBody>
          </p:sp>
          <p:sp>
            <p:nvSpPr>
              <p:cNvPr id="33807" name="AutoShape 8">
                <a:extLst>
                  <a:ext uri="{FF2B5EF4-FFF2-40B4-BE49-F238E27FC236}">
                    <a16:creationId xmlns:a16="http://schemas.microsoft.com/office/drawing/2014/main" id="{FA0241E0-0F50-4185-94CE-DB5823F8046B}"/>
                  </a:ext>
                </a:extLst>
              </p:cNvPr>
              <p:cNvSpPr>
                <a:spLocks noChangeArrowheads="1"/>
              </p:cNvSpPr>
              <p:nvPr/>
            </p:nvSpPr>
            <p:spPr bwMode="auto">
              <a:xfrm>
                <a:off x="467" y="211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3808" name="Text Box 9">
                <a:extLst>
                  <a:ext uri="{FF2B5EF4-FFF2-40B4-BE49-F238E27FC236}">
                    <a16:creationId xmlns:a16="http://schemas.microsoft.com/office/drawing/2014/main" id="{619226AF-DEA1-44FE-8EB4-2602C67BC750}"/>
                  </a:ext>
                </a:extLst>
              </p:cNvPr>
              <p:cNvSpPr txBox="1">
                <a:spLocks noChangeArrowheads="1"/>
              </p:cNvSpPr>
              <p:nvPr/>
            </p:nvSpPr>
            <p:spPr bwMode="auto">
              <a:xfrm>
                <a:off x="629" y="216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需求分析建模方法</a:t>
                </a:r>
                <a:r>
                  <a:rPr lang="zh-CN" altLang="en-US" sz="2000" b="0">
                    <a:latin typeface="Times New Roman" panose="02020603050405020304" pitchFamily="18" charset="0"/>
                  </a:rPr>
                  <a:t> </a:t>
                </a:r>
              </a:p>
            </p:txBody>
          </p:sp>
          <p:sp>
            <p:nvSpPr>
              <p:cNvPr id="33809" name="Rectangle 12">
                <a:extLst>
                  <a:ext uri="{FF2B5EF4-FFF2-40B4-BE49-F238E27FC236}">
                    <a16:creationId xmlns:a16="http://schemas.microsoft.com/office/drawing/2014/main" id="{058DD788-F211-4BF8-9BAF-2A81ECA18132}"/>
                  </a:ext>
                </a:extLst>
              </p:cNvPr>
              <p:cNvSpPr>
                <a:spLocks noChangeArrowheads="1"/>
              </p:cNvSpPr>
              <p:nvPr/>
            </p:nvSpPr>
            <p:spPr bwMode="auto">
              <a:xfrm>
                <a:off x="388" y="218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6.4</a:t>
                </a:r>
                <a:endParaRPr lang="en-US" altLang="zh-CN" sz="1800">
                  <a:solidFill>
                    <a:srgbClr val="000000"/>
                  </a:solidFill>
                </a:endParaRPr>
              </a:p>
            </p:txBody>
          </p:sp>
          <p:sp>
            <p:nvSpPr>
              <p:cNvPr id="33810" name="AutoShape 8">
                <a:extLst>
                  <a:ext uri="{FF2B5EF4-FFF2-40B4-BE49-F238E27FC236}">
                    <a16:creationId xmlns:a16="http://schemas.microsoft.com/office/drawing/2014/main" id="{52F84835-3F77-470B-B46A-8D710CB4A488}"/>
                  </a:ext>
                </a:extLst>
              </p:cNvPr>
              <p:cNvSpPr>
                <a:spLocks noChangeArrowheads="1"/>
              </p:cNvSpPr>
              <p:nvPr/>
            </p:nvSpPr>
            <p:spPr bwMode="auto">
              <a:xfrm>
                <a:off x="467" y="243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3811" name="Text Box 9">
                <a:extLst>
                  <a:ext uri="{FF2B5EF4-FFF2-40B4-BE49-F238E27FC236}">
                    <a16:creationId xmlns:a16="http://schemas.microsoft.com/office/drawing/2014/main" id="{5FF0E776-D64D-4C17-88A7-FADB202F1724}"/>
                  </a:ext>
                </a:extLst>
              </p:cNvPr>
              <p:cNvSpPr txBox="1">
                <a:spLocks noChangeArrowheads="1"/>
              </p:cNvSpPr>
              <p:nvPr/>
            </p:nvSpPr>
            <p:spPr bwMode="auto">
              <a:xfrm>
                <a:off x="629" y="247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需求管理工具</a:t>
                </a:r>
                <a:r>
                  <a:rPr lang="zh-CN" altLang="en-US" sz="2000" b="0">
                    <a:latin typeface="Times New Roman" panose="02020603050405020304" pitchFamily="18" charset="0"/>
                  </a:rPr>
                  <a:t> </a:t>
                </a:r>
              </a:p>
            </p:txBody>
          </p:sp>
          <p:sp>
            <p:nvSpPr>
              <p:cNvPr id="33812" name="Rectangle 12">
                <a:extLst>
                  <a:ext uri="{FF2B5EF4-FFF2-40B4-BE49-F238E27FC236}">
                    <a16:creationId xmlns:a16="http://schemas.microsoft.com/office/drawing/2014/main" id="{F71CD54F-4301-4D1C-A0AD-07AD33D8F6DE}"/>
                  </a:ext>
                </a:extLst>
              </p:cNvPr>
              <p:cNvSpPr>
                <a:spLocks noChangeArrowheads="1"/>
              </p:cNvSpPr>
              <p:nvPr/>
            </p:nvSpPr>
            <p:spPr bwMode="auto">
              <a:xfrm>
                <a:off x="388" y="2503"/>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6.5</a:t>
                </a:r>
                <a:endParaRPr lang="en-US" altLang="zh-CN" sz="1800">
                  <a:solidFill>
                    <a:srgbClr val="000000"/>
                  </a:solidFill>
                </a:endParaRPr>
              </a:p>
            </p:txBody>
          </p:sp>
          <p:sp>
            <p:nvSpPr>
              <p:cNvPr id="33813" name="AutoShape 8">
                <a:extLst>
                  <a:ext uri="{FF2B5EF4-FFF2-40B4-BE49-F238E27FC236}">
                    <a16:creationId xmlns:a16="http://schemas.microsoft.com/office/drawing/2014/main" id="{041D0E95-4CC7-44D9-8E0E-386081C97EF2}"/>
                  </a:ext>
                </a:extLst>
              </p:cNvPr>
              <p:cNvSpPr>
                <a:spLocks noChangeArrowheads="1"/>
              </p:cNvSpPr>
              <p:nvPr/>
            </p:nvSpPr>
            <p:spPr bwMode="auto">
              <a:xfrm>
                <a:off x="467" y="274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3814" name="Text Box 9">
                <a:extLst>
                  <a:ext uri="{FF2B5EF4-FFF2-40B4-BE49-F238E27FC236}">
                    <a16:creationId xmlns:a16="http://schemas.microsoft.com/office/drawing/2014/main" id="{F6E710D4-3CCC-40F3-B315-7225B51D3F67}"/>
                  </a:ext>
                </a:extLst>
              </p:cNvPr>
              <p:cNvSpPr txBox="1">
                <a:spLocks noChangeArrowheads="1"/>
              </p:cNvSpPr>
              <p:nvPr/>
            </p:nvSpPr>
            <p:spPr bwMode="auto">
              <a:xfrm>
                <a:off x="629" y="279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000" b="0">
                    <a:latin typeface="Times New Roman" panose="02020603050405020304" pitchFamily="18" charset="0"/>
                  </a:rPr>
                  <a:t> </a:t>
                </a:r>
              </a:p>
            </p:txBody>
          </p:sp>
          <p:sp>
            <p:nvSpPr>
              <p:cNvPr id="33815" name="Rectangle 12">
                <a:extLst>
                  <a:ext uri="{FF2B5EF4-FFF2-40B4-BE49-F238E27FC236}">
                    <a16:creationId xmlns:a16="http://schemas.microsoft.com/office/drawing/2014/main" id="{088E9B1A-17AB-485A-9628-42532EF86D84}"/>
                  </a:ext>
                </a:extLst>
              </p:cNvPr>
              <p:cNvSpPr>
                <a:spLocks noChangeArrowheads="1"/>
              </p:cNvSpPr>
              <p:nvPr/>
            </p:nvSpPr>
            <p:spPr bwMode="auto">
              <a:xfrm>
                <a:off x="388" y="278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6.6</a:t>
                </a:r>
                <a:endParaRPr lang="en-US" altLang="zh-CN" sz="1800">
                  <a:solidFill>
                    <a:srgbClr val="000000"/>
                  </a:solidFill>
                </a:endParaRPr>
              </a:p>
            </p:txBody>
          </p:sp>
          <p:sp>
            <p:nvSpPr>
              <p:cNvPr id="33816" name="Text Box 9">
                <a:extLst>
                  <a:ext uri="{FF2B5EF4-FFF2-40B4-BE49-F238E27FC236}">
                    <a16:creationId xmlns:a16="http://schemas.microsoft.com/office/drawing/2014/main" id="{09FBC643-03BA-4AF0-B88D-6F77BDF4D4D3}"/>
                  </a:ext>
                </a:extLst>
              </p:cNvPr>
              <p:cNvSpPr txBox="1">
                <a:spLocks noChangeArrowheads="1"/>
              </p:cNvSpPr>
              <p:nvPr/>
            </p:nvSpPr>
            <p:spPr bwMode="auto">
              <a:xfrm>
                <a:off x="629" y="310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000" b="0">
                    <a:latin typeface="Times New Roman" panose="02020603050405020304" pitchFamily="18" charset="0"/>
                  </a:rPr>
                  <a:t> </a:t>
                </a:r>
              </a:p>
            </p:txBody>
          </p:sp>
          <p:sp>
            <p:nvSpPr>
              <p:cNvPr id="33817" name="Rectangle 12">
                <a:extLst>
                  <a:ext uri="{FF2B5EF4-FFF2-40B4-BE49-F238E27FC236}">
                    <a16:creationId xmlns:a16="http://schemas.microsoft.com/office/drawing/2014/main" id="{95E508CA-ABE1-42B8-A1D9-29ED729FD8F4}"/>
                  </a:ext>
                </a:extLst>
              </p:cNvPr>
              <p:cNvSpPr>
                <a:spLocks noChangeArrowheads="1"/>
              </p:cNvSpPr>
              <p:nvPr/>
            </p:nvSpPr>
            <p:spPr bwMode="auto">
              <a:xfrm>
                <a:off x="388" y="313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6.7</a:t>
                </a:r>
                <a:endParaRPr lang="en-US" altLang="zh-CN" sz="1800">
                  <a:solidFill>
                    <a:srgbClr val="000000"/>
                  </a:solidFill>
                </a:endParaRPr>
              </a:p>
            </p:txBody>
          </p:sp>
          <p:sp>
            <p:nvSpPr>
              <p:cNvPr id="33818" name="AutoShape 8">
                <a:extLst>
                  <a:ext uri="{FF2B5EF4-FFF2-40B4-BE49-F238E27FC236}">
                    <a16:creationId xmlns:a16="http://schemas.microsoft.com/office/drawing/2014/main" id="{B135BD0B-868A-4392-9FB0-CED1A43F8B2E}"/>
                  </a:ext>
                </a:extLst>
              </p:cNvPr>
              <p:cNvSpPr>
                <a:spLocks noChangeArrowheads="1"/>
              </p:cNvSpPr>
              <p:nvPr/>
            </p:nvSpPr>
            <p:spPr bwMode="auto">
              <a:xfrm>
                <a:off x="467" y="3375"/>
                <a:ext cx="3493" cy="270"/>
              </a:xfrm>
              <a:prstGeom prst="homePlate">
                <a:avLst>
                  <a:gd name="adj" fmla="val 3252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3819" name="Text Box 9">
                <a:extLst>
                  <a:ext uri="{FF2B5EF4-FFF2-40B4-BE49-F238E27FC236}">
                    <a16:creationId xmlns:a16="http://schemas.microsoft.com/office/drawing/2014/main" id="{B7F15BB9-4085-4B74-99AA-71E11046C80C}"/>
                  </a:ext>
                </a:extLst>
              </p:cNvPr>
              <p:cNvSpPr txBox="1">
                <a:spLocks noChangeArrowheads="1"/>
              </p:cNvSpPr>
              <p:nvPr/>
            </p:nvSpPr>
            <p:spPr bwMode="auto">
              <a:xfrm>
                <a:off x="629" y="342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000" b="0">
                    <a:latin typeface="Times New Roman" panose="02020603050405020304" pitchFamily="18" charset="0"/>
                  </a:rPr>
                  <a:t> </a:t>
                </a:r>
              </a:p>
            </p:txBody>
          </p:sp>
          <p:sp>
            <p:nvSpPr>
              <p:cNvPr id="33820" name="Rectangle 12">
                <a:extLst>
                  <a:ext uri="{FF2B5EF4-FFF2-40B4-BE49-F238E27FC236}">
                    <a16:creationId xmlns:a16="http://schemas.microsoft.com/office/drawing/2014/main" id="{B67571A0-2B9D-4353-BBEF-1D362D0F8A15}"/>
                  </a:ext>
                </a:extLst>
              </p:cNvPr>
              <p:cNvSpPr>
                <a:spLocks noChangeArrowheads="1"/>
              </p:cNvSpPr>
              <p:nvPr/>
            </p:nvSpPr>
            <p:spPr bwMode="auto">
              <a:xfrm>
                <a:off x="388" y="344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6.8</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slide(fromBottom)">
                                      <p:cBhvr>
                                        <p:cTn id="7" dur="500"/>
                                        <p:tgtEl>
                                          <p:spTgt spid="30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3">
            <a:extLst>
              <a:ext uri="{FF2B5EF4-FFF2-40B4-BE49-F238E27FC236}">
                <a16:creationId xmlns:a16="http://schemas.microsoft.com/office/drawing/2014/main" id="{0C082E31-6A33-4F60-AE0F-9A724424BE2E}"/>
              </a:ext>
            </a:extLst>
          </p:cNvPr>
          <p:cNvSpPr txBox="1">
            <a:spLocks noChangeArrowheads="1"/>
          </p:cNvSpPr>
          <p:nvPr/>
        </p:nvSpPr>
        <p:spPr bwMode="auto">
          <a:xfrm>
            <a:off x="1724025" y="2492375"/>
            <a:ext cx="4287838"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ts val="2400"/>
              </a:spcBef>
              <a:buClr>
                <a:schemeClr val="accent2"/>
              </a:buClr>
              <a:buSzPct val="70000"/>
              <a:buFont typeface="Wingdings" panose="05000000000000000000" pitchFamily="2" charset="2"/>
              <a:buChar char="l"/>
            </a:pPr>
            <a:r>
              <a:rPr lang="en-US" altLang="en-US" sz="2000">
                <a:latin typeface="Times New Roman" panose="02020603050405020304" pitchFamily="18" charset="0"/>
              </a:rPr>
              <a:t>Rational RequisitePro</a:t>
            </a:r>
            <a:endParaRPr lang="en-US" altLang="zh-CN" sz="2000">
              <a:latin typeface="Times New Roman" panose="02020603050405020304" pitchFamily="18" charset="0"/>
            </a:endParaRPr>
          </a:p>
          <a:p>
            <a:pPr>
              <a:spcBef>
                <a:spcPts val="2400"/>
              </a:spcBef>
              <a:buClr>
                <a:schemeClr val="accent2"/>
              </a:buClr>
              <a:buSzPct val="70000"/>
              <a:buFont typeface="Wingdings" panose="05000000000000000000" pitchFamily="2" charset="2"/>
              <a:buChar char="l"/>
            </a:pPr>
            <a:r>
              <a:rPr lang="en-US" altLang="en-US" sz="2000">
                <a:latin typeface="Times New Roman" panose="02020603050405020304" pitchFamily="18" charset="0"/>
              </a:rPr>
              <a:t>Borland Caliber</a:t>
            </a:r>
            <a:endParaRPr kumimoji="0" lang="en-US" altLang="zh-CN" sz="2000"/>
          </a:p>
          <a:p>
            <a:pPr>
              <a:spcBef>
                <a:spcPts val="2400"/>
              </a:spcBef>
              <a:buClr>
                <a:schemeClr val="accent2"/>
              </a:buClr>
              <a:buSzPct val="70000"/>
              <a:buFont typeface="Wingdings" panose="05000000000000000000" pitchFamily="2" charset="2"/>
              <a:buChar char="l"/>
            </a:pPr>
            <a:r>
              <a:rPr lang="en-US" altLang="en-US" sz="2000">
                <a:latin typeface="Times New Roman" panose="02020603050405020304" pitchFamily="18" charset="0"/>
              </a:rPr>
              <a:t>Rational Rose</a:t>
            </a:r>
            <a:endParaRPr lang="en-US" altLang="zh-CN" sz="2000">
              <a:latin typeface="Times New Roman" panose="02020603050405020304" pitchFamily="18" charset="0"/>
            </a:endParaRPr>
          </a:p>
          <a:p>
            <a:pPr>
              <a:spcBef>
                <a:spcPts val="2400"/>
              </a:spcBef>
              <a:buClr>
                <a:schemeClr val="accent2"/>
              </a:buClr>
              <a:buSzPct val="70000"/>
              <a:buFont typeface="Wingdings" panose="05000000000000000000" pitchFamily="2" charset="2"/>
              <a:buChar char="l"/>
            </a:pPr>
            <a:r>
              <a:rPr lang="en-US" altLang="en-US" sz="2000">
                <a:latin typeface="Times New Roman" panose="02020603050405020304" pitchFamily="18" charset="0"/>
              </a:rPr>
              <a:t>Rational XDE</a:t>
            </a:r>
            <a:endParaRPr lang="en-US" altLang="zh-CN" sz="2000">
              <a:latin typeface="Times New Roman" panose="02020603050405020304" pitchFamily="18" charset="0"/>
            </a:endParaRPr>
          </a:p>
          <a:p>
            <a:pPr>
              <a:spcBef>
                <a:spcPts val="2400"/>
              </a:spcBef>
              <a:buClr>
                <a:schemeClr val="accent2"/>
              </a:buClr>
              <a:buSzPct val="70000"/>
              <a:buFont typeface="Wingdings" panose="05000000000000000000" pitchFamily="2" charset="2"/>
              <a:buChar char="l"/>
            </a:pPr>
            <a:r>
              <a:rPr lang="en-US" altLang="en-US" sz="2000">
                <a:latin typeface="Times New Roman" panose="02020603050405020304" pitchFamily="18" charset="0"/>
              </a:rPr>
              <a:t>Rational ClearCase</a:t>
            </a:r>
            <a:r>
              <a:rPr lang="zh-CN" altLang="en-US" sz="2000">
                <a:latin typeface="Times New Roman" panose="02020603050405020304" pitchFamily="18" charset="0"/>
              </a:rPr>
              <a:t> </a:t>
            </a:r>
            <a:endParaRPr lang="en-US" altLang="zh-CN" sz="2000">
              <a:latin typeface="Times New Roman" panose="02020603050405020304" pitchFamily="18" charset="0"/>
            </a:endParaRPr>
          </a:p>
        </p:txBody>
      </p:sp>
      <p:sp>
        <p:nvSpPr>
          <p:cNvPr id="34819" name="Rectangle 2">
            <a:extLst>
              <a:ext uri="{FF2B5EF4-FFF2-40B4-BE49-F238E27FC236}">
                <a16:creationId xmlns:a16="http://schemas.microsoft.com/office/drawing/2014/main" id="{67B66515-94D9-465D-9554-3CFEBC0795E7}"/>
              </a:ext>
            </a:extLst>
          </p:cNvPr>
          <p:cNvSpPr>
            <a:spLocks noGrp="1" noChangeArrowheads="1"/>
          </p:cNvSpPr>
          <p:nvPr>
            <p:ph type="title"/>
          </p:nvPr>
        </p:nvSpPr>
        <p:spPr>
          <a:xfrm>
            <a:off x="177800" y="1054100"/>
            <a:ext cx="8788400" cy="717550"/>
          </a:xfrm>
          <a:noFill/>
        </p:spPr>
        <p:txBody>
          <a:bodyPr/>
          <a:lstStyle/>
          <a:p>
            <a:pPr eaLnBrk="1" hangingPunct="1"/>
            <a:r>
              <a:rPr lang="en-US" altLang="zh-CN"/>
              <a:t>6.5  </a:t>
            </a:r>
            <a:r>
              <a:rPr lang="zh-CN" altLang="en-US"/>
              <a:t>需求管理工具</a:t>
            </a:r>
          </a:p>
        </p:txBody>
      </p:sp>
      <p:pic>
        <p:nvPicPr>
          <p:cNvPr id="34820" name="Picture 4">
            <a:extLst>
              <a:ext uri="{FF2B5EF4-FFF2-40B4-BE49-F238E27FC236}">
                <a16:creationId xmlns:a16="http://schemas.microsoft.com/office/drawing/2014/main" id="{4489174D-BDF9-4A8C-B4F9-B86131E9A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1738" y="4357688"/>
            <a:ext cx="18192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59DF62C9-5C40-4753-9050-E7B6FB3FFD7E}"/>
              </a:ext>
            </a:extLst>
          </p:cNvPr>
          <p:cNvSpPr>
            <a:spLocks noGrp="1" noChangeArrowheads="1"/>
          </p:cNvSpPr>
          <p:nvPr>
            <p:ph type="title" idx="4294967295"/>
          </p:nvPr>
        </p:nvSpPr>
        <p:spPr>
          <a:xfrm>
            <a:off x="179388" y="1052513"/>
            <a:ext cx="8788400" cy="717550"/>
          </a:xfrm>
          <a:noFill/>
        </p:spPr>
        <p:txBody>
          <a:bodyPr/>
          <a:lstStyle/>
          <a:p>
            <a:pPr eaLnBrk="1" hangingPunct="1"/>
            <a:r>
              <a:rPr lang="zh-CN" altLang="en-US"/>
              <a:t>本章内容提要</a:t>
            </a:r>
            <a:endParaRPr lang="en-US" altLang="zh-CN"/>
          </a:p>
        </p:txBody>
      </p:sp>
      <p:grpSp>
        <p:nvGrpSpPr>
          <p:cNvPr id="35843" name="Group 3">
            <a:extLst>
              <a:ext uri="{FF2B5EF4-FFF2-40B4-BE49-F238E27FC236}">
                <a16:creationId xmlns:a16="http://schemas.microsoft.com/office/drawing/2014/main" id="{4CF902D2-881A-4939-A177-0A87C2B9FD92}"/>
              </a:ext>
            </a:extLst>
          </p:cNvPr>
          <p:cNvGrpSpPr>
            <a:grpSpLocks/>
          </p:cNvGrpSpPr>
          <p:nvPr/>
        </p:nvGrpSpPr>
        <p:grpSpPr bwMode="auto">
          <a:xfrm>
            <a:off x="1057275" y="2222500"/>
            <a:ext cx="5675313" cy="3943350"/>
            <a:chOff x="385" y="1161"/>
            <a:chExt cx="3575" cy="2484"/>
          </a:xfrm>
        </p:grpSpPr>
        <p:sp>
          <p:nvSpPr>
            <p:cNvPr id="35844" name="AutoShape 4">
              <a:extLst>
                <a:ext uri="{FF2B5EF4-FFF2-40B4-BE49-F238E27FC236}">
                  <a16:creationId xmlns:a16="http://schemas.microsoft.com/office/drawing/2014/main" id="{541653D2-1EAF-43F4-93F2-D75D955BFAE6}"/>
                </a:ext>
              </a:extLst>
            </p:cNvPr>
            <p:cNvSpPr>
              <a:spLocks noChangeArrowheads="1"/>
            </p:cNvSpPr>
            <p:nvPr/>
          </p:nvSpPr>
          <p:spPr bwMode="auto">
            <a:xfrm>
              <a:off x="464" y="1161"/>
              <a:ext cx="3493" cy="279"/>
            </a:xfrm>
            <a:prstGeom prst="homePlate">
              <a:avLst>
                <a:gd name="adj" fmla="val 32516"/>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5845" name="AutoShape 8">
              <a:extLst>
                <a:ext uri="{FF2B5EF4-FFF2-40B4-BE49-F238E27FC236}">
                  <a16:creationId xmlns:a16="http://schemas.microsoft.com/office/drawing/2014/main" id="{7F64B733-A9E6-4850-BBD2-DEF57E758C8D}"/>
                </a:ext>
              </a:extLst>
            </p:cNvPr>
            <p:cNvSpPr>
              <a:spLocks noChangeArrowheads="1"/>
            </p:cNvSpPr>
            <p:nvPr/>
          </p:nvSpPr>
          <p:spPr bwMode="auto">
            <a:xfrm>
              <a:off x="467" y="306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pSp>
          <p:nvGrpSpPr>
            <p:cNvPr id="35846" name="Group 6">
              <a:extLst>
                <a:ext uri="{FF2B5EF4-FFF2-40B4-BE49-F238E27FC236}">
                  <a16:creationId xmlns:a16="http://schemas.microsoft.com/office/drawing/2014/main" id="{4D140C27-D19D-48FA-B98E-A498339524D1}"/>
                </a:ext>
              </a:extLst>
            </p:cNvPr>
            <p:cNvGrpSpPr>
              <a:grpSpLocks/>
            </p:cNvGrpSpPr>
            <p:nvPr/>
          </p:nvGrpSpPr>
          <p:grpSpPr bwMode="auto">
            <a:xfrm>
              <a:off x="385" y="1207"/>
              <a:ext cx="3575" cy="2438"/>
              <a:chOff x="385" y="1207"/>
              <a:chExt cx="3575" cy="2438"/>
            </a:xfrm>
          </p:grpSpPr>
          <p:sp>
            <p:nvSpPr>
              <p:cNvPr id="35847" name="Text Box 5">
                <a:extLst>
                  <a:ext uri="{FF2B5EF4-FFF2-40B4-BE49-F238E27FC236}">
                    <a16:creationId xmlns:a16="http://schemas.microsoft.com/office/drawing/2014/main" id="{BF56867F-244C-419D-AB6D-13BFDFED888A}"/>
                  </a:ext>
                </a:extLst>
              </p:cNvPr>
              <p:cNvSpPr txBox="1">
                <a:spLocks noChangeArrowheads="1"/>
              </p:cNvSpPr>
              <p:nvPr/>
            </p:nvSpPr>
            <p:spPr bwMode="auto">
              <a:xfrm>
                <a:off x="626" y="121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软件项目需求管理概述</a:t>
                </a:r>
                <a:r>
                  <a:rPr lang="zh-CN" altLang="en-US" sz="2000" b="0">
                    <a:latin typeface="Times New Roman" panose="02020603050405020304" pitchFamily="18" charset="0"/>
                  </a:rPr>
                  <a:t> </a:t>
                </a:r>
              </a:p>
            </p:txBody>
          </p:sp>
          <p:sp>
            <p:nvSpPr>
              <p:cNvPr id="35848" name="AutoShape 6">
                <a:extLst>
                  <a:ext uri="{FF2B5EF4-FFF2-40B4-BE49-F238E27FC236}">
                    <a16:creationId xmlns:a16="http://schemas.microsoft.com/office/drawing/2014/main" id="{2705EBF0-6B28-4D33-B2CB-202C350B8148}"/>
                  </a:ext>
                </a:extLst>
              </p:cNvPr>
              <p:cNvSpPr>
                <a:spLocks noChangeArrowheads="1"/>
              </p:cNvSpPr>
              <p:nvPr/>
            </p:nvSpPr>
            <p:spPr bwMode="auto">
              <a:xfrm>
                <a:off x="464" y="1491"/>
                <a:ext cx="3493" cy="273"/>
              </a:xfrm>
              <a:prstGeom prst="homePlate">
                <a:avLst>
                  <a:gd name="adj" fmla="val 3252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5849" name="Text Box 7">
                <a:extLst>
                  <a:ext uri="{FF2B5EF4-FFF2-40B4-BE49-F238E27FC236}">
                    <a16:creationId xmlns:a16="http://schemas.microsoft.com/office/drawing/2014/main" id="{8DC3C7E4-AF63-4F69-8392-2F208C3CF8B7}"/>
                  </a:ext>
                </a:extLst>
              </p:cNvPr>
              <p:cNvSpPr txBox="1">
                <a:spLocks noChangeArrowheads="1"/>
              </p:cNvSpPr>
              <p:nvPr/>
            </p:nvSpPr>
            <p:spPr bwMode="auto">
              <a:xfrm>
                <a:off x="626" y="1539"/>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需求开发和管理过程</a:t>
                </a:r>
                <a:r>
                  <a:rPr lang="zh-CN" altLang="en-US" sz="2000" b="0">
                    <a:latin typeface="Times New Roman" panose="02020603050405020304" pitchFamily="18" charset="0"/>
                  </a:rPr>
                  <a:t> </a:t>
                </a:r>
              </a:p>
            </p:txBody>
          </p:sp>
          <p:sp>
            <p:nvSpPr>
              <p:cNvPr id="35850" name="AutoShape 8">
                <a:extLst>
                  <a:ext uri="{FF2B5EF4-FFF2-40B4-BE49-F238E27FC236}">
                    <a16:creationId xmlns:a16="http://schemas.microsoft.com/office/drawing/2014/main" id="{87330207-1235-4E53-A6F1-AACB29304771}"/>
                  </a:ext>
                </a:extLst>
              </p:cNvPr>
              <p:cNvSpPr>
                <a:spLocks noChangeArrowheads="1"/>
              </p:cNvSpPr>
              <p:nvPr/>
            </p:nvSpPr>
            <p:spPr bwMode="auto">
              <a:xfrm>
                <a:off x="464" y="1800"/>
                <a:ext cx="3493" cy="266"/>
              </a:xfrm>
              <a:prstGeom prst="homePlate">
                <a:avLst>
                  <a:gd name="adj" fmla="val 32525"/>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5851" name="Text Box 9">
                <a:extLst>
                  <a:ext uri="{FF2B5EF4-FFF2-40B4-BE49-F238E27FC236}">
                    <a16:creationId xmlns:a16="http://schemas.microsoft.com/office/drawing/2014/main" id="{44CB782A-D473-4C52-AADB-862FF1317A4D}"/>
                  </a:ext>
                </a:extLst>
              </p:cNvPr>
              <p:cNvSpPr txBox="1">
                <a:spLocks noChangeArrowheads="1"/>
              </p:cNvSpPr>
              <p:nvPr/>
            </p:nvSpPr>
            <p:spPr bwMode="auto">
              <a:xfrm>
                <a:off x="626" y="184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需求获取方法</a:t>
                </a:r>
                <a:r>
                  <a:rPr lang="zh-CN" altLang="en-US" sz="2000" b="0">
                    <a:latin typeface="Times New Roman" panose="02020603050405020304" pitchFamily="18" charset="0"/>
                  </a:rPr>
                  <a:t> </a:t>
                </a:r>
              </a:p>
            </p:txBody>
          </p:sp>
          <p:sp>
            <p:nvSpPr>
              <p:cNvPr id="35852" name="Rectangle 10">
                <a:extLst>
                  <a:ext uri="{FF2B5EF4-FFF2-40B4-BE49-F238E27FC236}">
                    <a16:creationId xmlns:a16="http://schemas.microsoft.com/office/drawing/2014/main" id="{AE33BE09-B666-49A2-98BC-AC25D172429A}"/>
                  </a:ext>
                </a:extLst>
              </p:cNvPr>
              <p:cNvSpPr>
                <a:spLocks noChangeArrowheads="1"/>
              </p:cNvSpPr>
              <p:nvPr/>
            </p:nvSpPr>
            <p:spPr bwMode="auto">
              <a:xfrm>
                <a:off x="385" y="1207"/>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6.1</a:t>
                </a:r>
                <a:endParaRPr lang="en-US" altLang="zh-CN" sz="1800">
                  <a:solidFill>
                    <a:srgbClr val="000000"/>
                  </a:solidFill>
                </a:endParaRPr>
              </a:p>
            </p:txBody>
          </p:sp>
          <p:sp>
            <p:nvSpPr>
              <p:cNvPr id="35853" name="Rectangle 11">
                <a:extLst>
                  <a:ext uri="{FF2B5EF4-FFF2-40B4-BE49-F238E27FC236}">
                    <a16:creationId xmlns:a16="http://schemas.microsoft.com/office/drawing/2014/main" id="{74E9551D-F289-4FA7-ACC1-953ADB68D6AA}"/>
                  </a:ext>
                </a:extLst>
              </p:cNvPr>
              <p:cNvSpPr>
                <a:spLocks noChangeArrowheads="1"/>
              </p:cNvSpPr>
              <p:nvPr/>
            </p:nvSpPr>
            <p:spPr bwMode="auto">
              <a:xfrm>
                <a:off x="385" y="1564"/>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6.2</a:t>
                </a:r>
                <a:endParaRPr lang="en-US" altLang="zh-CN" sz="1800">
                  <a:solidFill>
                    <a:schemeClr val="bg1"/>
                  </a:solidFill>
                </a:endParaRPr>
              </a:p>
            </p:txBody>
          </p:sp>
          <p:sp>
            <p:nvSpPr>
              <p:cNvPr id="35854" name="Rectangle 12">
                <a:extLst>
                  <a:ext uri="{FF2B5EF4-FFF2-40B4-BE49-F238E27FC236}">
                    <a16:creationId xmlns:a16="http://schemas.microsoft.com/office/drawing/2014/main" id="{454AD9B7-0AE4-47E5-977C-680AC1BF37F6}"/>
                  </a:ext>
                </a:extLst>
              </p:cNvPr>
              <p:cNvSpPr>
                <a:spLocks noChangeArrowheads="1"/>
              </p:cNvSpPr>
              <p:nvPr/>
            </p:nvSpPr>
            <p:spPr bwMode="auto">
              <a:xfrm>
                <a:off x="385" y="187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6.3</a:t>
                </a:r>
                <a:endParaRPr lang="en-US" altLang="zh-CN" sz="1800">
                  <a:solidFill>
                    <a:srgbClr val="000000"/>
                  </a:solidFill>
                </a:endParaRPr>
              </a:p>
            </p:txBody>
          </p:sp>
          <p:sp>
            <p:nvSpPr>
              <p:cNvPr id="35855" name="AutoShape 8">
                <a:extLst>
                  <a:ext uri="{FF2B5EF4-FFF2-40B4-BE49-F238E27FC236}">
                    <a16:creationId xmlns:a16="http://schemas.microsoft.com/office/drawing/2014/main" id="{7DE455D9-55DD-461C-95F8-542A3EA1F4FE}"/>
                  </a:ext>
                </a:extLst>
              </p:cNvPr>
              <p:cNvSpPr>
                <a:spLocks noChangeArrowheads="1"/>
              </p:cNvSpPr>
              <p:nvPr/>
            </p:nvSpPr>
            <p:spPr bwMode="auto">
              <a:xfrm>
                <a:off x="467" y="211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5856" name="Text Box 9">
                <a:extLst>
                  <a:ext uri="{FF2B5EF4-FFF2-40B4-BE49-F238E27FC236}">
                    <a16:creationId xmlns:a16="http://schemas.microsoft.com/office/drawing/2014/main" id="{28012113-7F5F-4E4E-8360-BAC8C06F7711}"/>
                  </a:ext>
                </a:extLst>
              </p:cNvPr>
              <p:cNvSpPr txBox="1">
                <a:spLocks noChangeArrowheads="1"/>
              </p:cNvSpPr>
              <p:nvPr/>
            </p:nvSpPr>
            <p:spPr bwMode="auto">
              <a:xfrm>
                <a:off x="629" y="216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需求分析建模方法</a:t>
                </a:r>
                <a:r>
                  <a:rPr lang="zh-CN" altLang="en-US" sz="2000" b="0">
                    <a:latin typeface="Times New Roman" panose="02020603050405020304" pitchFamily="18" charset="0"/>
                  </a:rPr>
                  <a:t> </a:t>
                </a:r>
              </a:p>
            </p:txBody>
          </p:sp>
          <p:sp>
            <p:nvSpPr>
              <p:cNvPr id="35857" name="Rectangle 12">
                <a:extLst>
                  <a:ext uri="{FF2B5EF4-FFF2-40B4-BE49-F238E27FC236}">
                    <a16:creationId xmlns:a16="http://schemas.microsoft.com/office/drawing/2014/main" id="{A0813DA3-EE78-44B0-B1E1-C4D783C1C520}"/>
                  </a:ext>
                </a:extLst>
              </p:cNvPr>
              <p:cNvSpPr>
                <a:spLocks noChangeArrowheads="1"/>
              </p:cNvSpPr>
              <p:nvPr/>
            </p:nvSpPr>
            <p:spPr bwMode="auto">
              <a:xfrm>
                <a:off x="388" y="218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6.4</a:t>
                </a:r>
                <a:endParaRPr lang="en-US" altLang="zh-CN" sz="1800">
                  <a:solidFill>
                    <a:srgbClr val="000000"/>
                  </a:solidFill>
                </a:endParaRPr>
              </a:p>
            </p:txBody>
          </p:sp>
          <p:sp>
            <p:nvSpPr>
              <p:cNvPr id="35858" name="AutoShape 8">
                <a:extLst>
                  <a:ext uri="{FF2B5EF4-FFF2-40B4-BE49-F238E27FC236}">
                    <a16:creationId xmlns:a16="http://schemas.microsoft.com/office/drawing/2014/main" id="{8AC3C075-D505-4853-A8CF-40E41B71F8B7}"/>
                  </a:ext>
                </a:extLst>
              </p:cNvPr>
              <p:cNvSpPr>
                <a:spLocks noChangeArrowheads="1"/>
              </p:cNvSpPr>
              <p:nvPr/>
            </p:nvSpPr>
            <p:spPr bwMode="auto">
              <a:xfrm>
                <a:off x="467" y="243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5859" name="Text Box 9">
                <a:extLst>
                  <a:ext uri="{FF2B5EF4-FFF2-40B4-BE49-F238E27FC236}">
                    <a16:creationId xmlns:a16="http://schemas.microsoft.com/office/drawing/2014/main" id="{3AFADEC6-A301-463F-89AD-4683A626E9F0}"/>
                  </a:ext>
                </a:extLst>
              </p:cNvPr>
              <p:cNvSpPr txBox="1">
                <a:spLocks noChangeArrowheads="1"/>
              </p:cNvSpPr>
              <p:nvPr/>
            </p:nvSpPr>
            <p:spPr bwMode="auto">
              <a:xfrm>
                <a:off x="629" y="247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需求管理工具</a:t>
                </a:r>
                <a:r>
                  <a:rPr lang="zh-CN" altLang="en-US" sz="2000" b="0">
                    <a:latin typeface="Times New Roman" panose="02020603050405020304" pitchFamily="18" charset="0"/>
                  </a:rPr>
                  <a:t> </a:t>
                </a:r>
              </a:p>
            </p:txBody>
          </p:sp>
          <p:sp>
            <p:nvSpPr>
              <p:cNvPr id="35860" name="Rectangle 12">
                <a:extLst>
                  <a:ext uri="{FF2B5EF4-FFF2-40B4-BE49-F238E27FC236}">
                    <a16:creationId xmlns:a16="http://schemas.microsoft.com/office/drawing/2014/main" id="{DAEBC8AE-2291-45FC-9635-6BDB4B52001E}"/>
                  </a:ext>
                </a:extLst>
              </p:cNvPr>
              <p:cNvSpPr>
                <a:spLocks noChangeArrowheads="1"/>
              </p:cNvSpPr>
              <p:nvPr/>
            </p:nvSpPr>
            <p:spPr bwMode="auto">
              <a:xfrm>
                <a:off x="388" y="250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6.5</a:t>
                </a:r>
                <a:endParaRPr lang="en-US" altLang="zh-CN" sz="1800">
                  <a:solidFill>
                    <a:srgbClr val="000000"/>
                  </a:solidFill>
                </a:endParaRPr>
              </a:p>
            </p:txBody>
          </p:sp>
          <p:sp>
            <p:nvSpPr>
              <p:cNvPr id="35861" name="AutoShape 8">
                <a:extLst>
                  <a:ext uri="{FF2B5EF4-FFF2-40B4-BE49-F238E27FC236}">
                    <a16:creationId xmlns:a16="http://schemas.microsoft.com/office/drawing/2014/main" id="{556A330E-B83A-410F-A2D7-0FADDFC2675B}"/>
                  </a:ext>
                </a:extLst>
              </p:cNvPr>
              <p:cNvSpPr>
                <a:spLocks noChangeArrowheads="1"/>
              </p:cNvSpPr>
              <p:nvPr/>
            </p:nvSpPr>
            <p:spPr bwMode="auto">
              <a:xfrm>
                <a:off x="467" y="274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5862" name="Text Box 9">
                <a:extLst>
                  <a:ext uri="{FF2B5EF4-FFF2-40B4-BE49-F238E27FC236}">
                    <a16:creationId xmlns:a16="http://schemas.microsoft.com/office/drawing/2014/main" id="{62B1657C-01EE-497F-872D-8095E22B44DE}"/>
                  </a:ext>
                </a:extLst>
              </p:cNvPr>
              <p:cNvSpPr txBox="1">
                <a:spLocks noChangeArrowheads="1"/>
              </p:cNvSpPr>
              <p:nvPr/>
            </p:nvSpPr>
            <p:spPr bwMode="auto">
              <a:xfrm>
                <a:off x="629" y="279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000" b="0">
                    <a:latin typeface="Times New Roman" panose="02020603050405020304" pitchFamily="18" charset="0"/>
                  </a:rPr>
                  <a:t> </a:t>
                </a:r>
              </a:p>
            </p:txBody>
          </p:sp>
          <p:sp>
            <p:nvSpPr>
              <p:cNvPr id="35863" name="Rectangle 12">
                <a:extLst>
                  <a:ext uri="{FF2B5EF4-FFF2-40B4-BE49-F238E27FC236}">
                    <a16:creationId xmlns:a16="http://schemas.microsoft.com/office/drawing/2014/main" id="{6791B7F4-8BD3-4550-BD22-AC6E556B187C}"/>
                  </a:ext>
                </a:extLst>
              </p:cNvPr>
              <p:cNvSpPr>
                <a:spLocks noChangeArrowheads="1"/>
              </p:cNvSpPr>
              <p:nvPr/>
            </p:nvSpPr>
            <p:spPr bwMode="auto">
              <a:xfrm>
                <a:off x="388" y="2783"/>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6.6</a:t>
                </a:r>
                <a:endParaRPr lang="en-US" altLang="zh-CN" sz="1800">
                  <a:solidFill>
                    <a:srgbClr val="000000"/>
                  </a:solidFill>
                </a:endParaRPr>
              </a:p>
            </p:txBody>
          </p:sp>
          <p:sp>
            <p:nvSpPr>
              <p:cNvPr id="35864" name="Text Box 9">
                <a:extLst>
                  <a:ext uri="{FF2B5EF4-FFF2-40B4-BE49-F238E27FC236}">
                    <a16:creationId xmlns:a16="http://schemas.microsoft.com/office/drawing/2014/main" id="{29FD77EA-16E7-4611-B1FC-FEB1A61ACCF0}"/>
                  </a:ext>
                </a:extLst>
              </p:cNvPr>
              <p:cNvSpPr txBox="1">
                <a:spLocks noChangeArrowheads="1"/>
              </p:cNvSpPr>
              <p:nvPr/>
            </p:nvSpPr>
            <p:spPr bwMode="auto">
              <a:xfrm>
                <a:off x="629" y="310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000" b="0">
                    <a:latin typeface="Times New Roman" panose="02020603050405020304" pitchFamily="18" charset="0"/>
                  </a:rPr>
                  <a:t> </a:t>
                </a:r>
              </a:p>
            </p:txBody>
          </p:sp>
          <p:sp>
            <p:nvSpPr>
              <p:cNvPr id="35865" name="Rectangle 12">
                <a:extLst>
                  <a:ext uri="{FF2B5EF4-FFF2-40B4-BE49-F238E27FC236}">
                    <a16:creationId xmlns:a16="http://schemas.microsoft.com/office/drawing/2014/main" id="{39D83C7C-B753-4342-B88A-7B3EAE080566}"/>
                  </a:ext>
                </a:extLst>
              </p:cNvPr>
              <p:cNvSpPr>
                <a:spLocks noChangeArrowheads="1"/>
              </p:cNvSpPr>
              <p:nvPr/>
            </p:nvSpPr>
            <p:spPr bwMode="auto">
              <a:xfrm>
                <a:off x="388" y="313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6.7</a:t>
                </a:r>
                <a:endParaRPr lang="en-US" altLang="zh-CN" sz="1800">
                  <a:solidFill>
                    <a:srgbClr val="000000"/>
                  </a:solidFill>
                </a:endParaRPr>
              </a:p>
            </p:txBody>
          </p:sp>
          <p:sp>
            <p:nvSpPr>
              <p:cNvPr id="35866" name="AutoShape 8">
                <a:extLst>
                  <a:ext uri="{FF2B5EF4-FFF2-40B4-BE49-F238E27FC236}">
                    <a16:creationId xmlns:a16="http://schemas.microsoft.com/office/drawing/2014/main" id="{001D5068-8D47-481A-8F77-DA84AAF2A295}"/>
                  </a:ext>
                </a:extLst>
              </p:cNvPr>
              <p:cNvSpPr>
                <a:spLocks noChangeArrowheads="1"/>
              </p:cNvSpPr>
              <p:nvPr/>
            </p:nvSpPr>
            <p:spPr bwMode="auto">
              <a:xfrm>
                <a:off x="467" y="3375"/>
                <a:ext cx="3493" cy="270"/>
              </a:xfrm>
              <a:prstGeom prst="homePlate">
                <a:avLst>
                  <a:gd name="adj" fmla="val 3252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5867" name="Text Box 9">
                <a:extLst>
                  <a:ext uri="{FF2B5EF4-FFF2-40B4-BE49-F238E27FC236}">
                    <a16:creationId xmlns:a16="http://schemas.microsoft.com/office/drawing/2014/main" id="{0FA8F036-3EBD-40F6-B128-0D416C931017}"/>
                  </a:ext>
                </a:extLst>
              </p:cNvPr>
              <p:cNvSpPr txBox="1">
                <a:spLocks noChangeArrowheads="1"/>
              </p:cNvSpPr>
              <p:nvPr/>
            </p:nvSpPr>
            <p:spPr bwMode="auto">
              <a:xfrm>
                <a:off x="629" y="342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000" b="0">
                    <a:latin typeface="Times New Roman" panose="02020603050405020304" pitchFamily="18" charset="0"/>
                  </a:rPr>
                  <a:t> </a:t>
                </a:r>
              </a:p>
            </p:txBody>
          </p:sp>
          <p:sp>
            <p:nvSpPr>
              <p:cNvPr id="35868" name="Rectangle 12">
                <a:extLst>
                  <a:ext uri="{FF2B5EF4-FFF2-40B4-BE49-F238E27FC236}">
                    <a16:creationId xmlns:a16="http://schemas.microsoft.com/office/drawing/2014/main" id="{B9490969-AD62-4FF4-9B9F-6B1C0E8EE67F}"/>
                  </a:ext>
                </a:extLst>
              </p:cNvPr>
              <p:cNvSpPr>
                <a:spLocks noChangeArrowheads="1"/>
              </p:cNvSpPr>
              <p:nvPr/>
            </p:nvSpPr>
            <p:spPr bwMode="auto">
              <a:xfrm>
                <a:off x="388" y="344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6.8</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slide(fromBottom)">
                                      <p:cBhvr>
                                        <p:cTn id="7" dur="500"/>
                                        <p:tgtEl>
                                          <p:spTgt spid="32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3">
            <a:extLst>
              <a:ext uri="{FF2B5EF4-FFF2-40B4-BE49-F238E27FC236}">
                <a16:creationId xmlns:a16="http://schemas.microsoft.com/office/drawing/2014/main" id="{901932C7-8770-4679-9BA1-DEA56A72B839}"/>
              </a:ext>
            </a:extLst>
          </p:cNvPr>
          <p:cNvSpPr txBox="1">
            <a:spLocks noChangeArrowheads="1"/>
          </p:cNvSpPr>
          <p:nvPr/>
        </p:nvSpPr>
        <p:spPr bwMode="auto">
          <a:xfrm>
            <a:off x="971550" y="2349500"/>
            <a:ext cx="65913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0"/>
              </a:spcBef>
              <a:buClrTx/>
              <a:buFontTx/>
              <a:buNone/>
            </a:pPr>
            <a:r>
              <a:rPr lang="zh-CN" altLang="en-US" sz="2000">
                <a:latin typeface="Times New Roman" panose="02020603050405020304" pitchFamily="18" charset="0"/>
              </a:rPr>
              <a:t>本节以</a:t>
            </a:r>
            <a:r>
              <a:rPr lang="en-US" altLang="zh-CN" sz="2000">
                <a:latin typeface="Times New Roman" panose="02020603050405020304" pitchFamily="18" charset="0"/>
              </a:rPr>
              <a:t>HRMS</a:t>
            </a:r>
            <a:r>
              <a:rPr lang="zh-CN" altLang="en-US" sz="2000">
                <a:latin typeface="Times New Roman" panose="02020603050405020304" pitchFamily="18" charset="0"/>
              </a:rPr>
              <a:t>（</a:t>
            </a:r>
            <a:r>
              <a:rPr lang="en-US" altLang="zh-CN" sz="2000">
                <a:latin typeface="Times New Roman" panose="02020603050405020304" pitchFamily="18" charset="0"/>
              </a:rPr>
              <a:t>Human Resource Manage System</a:t>
            </a:r>
            <a:r>
              <a:rPr lang="zh-CN" altLang="en-US" sz="2000">
                <a:latin typeface="Times New Roman" panose="02020603050405020304" pitchFamily="18" charset="0"/>
              </a:rPr>
              <a:t>）的系统为例，介绍需求的开发和管理过程。</a:t>
            </a:r>
            <a:endParaRPr lang="en-US" altLang="zh-CN" sz="2000">
              <a:latin typeface="Times New Roman" panose="02020603050405020304" pitchFamily="18" charset="0"/>
            </a:endParaRPr>
          </a:p>
          <a:p>
            <a:pPr>
              <a:spcBef>
                <a:spcPct val="0"/>
              </a:spcBef>
              <a:buClrTx/>
              <a:buFontTx/>
              <a:buNone/>
            </a:pPr>
            <a:endParaRPr lang="zh-CN" altLang="en-US" sz="2400" b="0">
              <a:latin typeface="Times New Roman" panose="02020603050405020304" pitchFamily="18" charset="0"/>
            </a:endParaRPr>
          </a:p>
          <a:p>
            <a:pPr>
              <a:spcBef>
                <a:spcPct val="0"/>
              </a:spcBef>
              <a:buClr>
                <a:schemeClr val="accent2"/>
              </a:buClr>
              <a:buSzPct val="70000"/>
              <a:buFont typeface="Wingdings" panose="05000000000000000000" pitchFamily="2" charset="2"/>
              <a:buChar char="n"/>
            </a:pPr>
            <a:r>
              <a:rPr kumimoji="0" lang="zh-CN" altLang="en-US" sz="2000">
                <a:solidFill>
                  <a:schemeClr val="accent2"/>
                </a:solidFill>
                <a:ea typeface="黑体" panose="02010609060101010101" pitchFamily="49" charset="-122"/>
              </a:rPr>
              <a:t>需求开发</a:t>
            </a:r>
            <a:endParaRPr kumimoji="0" lang="en-US" altLang="zh-CN" sz="2000">
              <a:solidFill>
                <a:schemeClr val="accent2"/>
              </a:solidFill>
              <a:ea typeface="黑体" panose="02010609060101010101" pitchFamily="49" charset="-122"/>
            </a:endParaRPr>
          </a:p>
          <a:p>
            <a:pPr>
              <a:spcBef>
                <a:spcPts val="1200"/>
              </a:spcBef>
              <a:buClr>
                <a:schemeClr val="accent2"/>
              </a:buClr>
              <a:buSzPct val="70000"/>
              <a:buFont typeface="Wingdings" panose="05000000000000000000" pitchFamily="2" charset="2"/>
              <a:buChar char="l"/>
            </a:pPr>
            <a:r>
              <a:rPr lang="zh-CN" altLang="en-US" sz="2000">
                <a:latin typeface="Times New Roman" panose="02020603050405020304" pitchFamily="18" charset="0"/>
                <a:ea typeface="黑体" panose="02010609060101010101" pitchFamily="49" charset="-122"/>
              </a:rPr>
              <a:t>需求获取</a:t>
            </a:r>
            <a:endParaRPr lang="en-US" altLang="zh-CN" sz="2000">
              <a:latin typeface="Times New Roman" panose="02020603050405020304" pitchFamily="18" charset="0"/>
              <a:ea typeface="黑体" panose="02010609060101010101" pitchFamily="49" charset="-122"/>
            </a:endParaRPr>
          </a:p>
        </p:txBody>
      </p:sp>
      <p:sp>
        <p:nvSpPr>
          <p:cNvPr id="36867" name="Rectangle 2">
            <a:extLst>
              <a:ext uri="{FF2B5EF4-FFF2-40B4-BE49-F238E27FC236}">
                <a16:creationId xmlns:a16="http://schemas.microsoft.com/office/drawing/2014/main" id="{2DA9896F-92D1-41BC-B952-B9A96D4996DA}"/>
              </a:ext>
            </a:extLst>
          </p:cNvPr>
          <p:cNvSpPr>
            <a:spLocks noGrp="1" noChangeArrowheads="1"/>
          </p:cNvSpPr>
          <p:nvPr>
            <p:ph type="title"/>
          </p:nvPr>
        </p:nvSpPr>
        <p:spPr>
          <a:xfrm>
            <a:off x="177800" y="1054100"/>
            <a:ext cx="8788400" cy="717550"/>
          </a:xfrm>
          <a:noFill/>
        </p:spPr>
        <p:txBody>
          <a:bodyPr/>
          <a:lstStyle/>
          <a:p>
            <a:pPr eaLnBrk="1" hangingPunct="1"/>
            <a:r>
              <a:rPr lang="en-US" altLang="zh-CN"/>
              <a:t>6.6  </a:t>
            </a:r>
            <a:r>
              <a:rPr lang="zh-CN" altLang="en-US"/>
              <a:t>案例分析</a:t>
            </a:r>
          </a:p>
        </p:txBody>
      </p:sp>
      <p:pic>
        <p:nvPicPr>
          <p:cNvPr id="36868" name="Picture 5">
            <a:extLst>
              <a:ext uri="{FF2B5EF4-FFF2-40B4-BE49-F238E27FC236}">
                <a16:creationId xmlns:a16="http://schemas.microsoft.com/office/drawing/2014/main" id="{A48E3F2B-EF51-49E3-A08A-2A1BCFACCB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863" y="4365625"/>
            <a:ext cx="179070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920" name="Group 104">
            <a:extLst>
              <a:ext uri="{FF2B5EF4-FFF2-40B4-BE49-F238E27FC236}">
                <a16:creationId xmlns:a16="http://schemas.microsoft.com/office/drawing/2014/main" id="{DF04A057-06D5-47C2-8C15-7689F4433E0F}"/>
              </a:ext>
            </a:extLst>
          </p:cNvPr>
          <p:cNvGraphicFramePr>
            <a:graphicFrameLocks noGrp="1"/>
          </p:cNvGraphicFramePr>
          <p:nvPr/>
        </p:nvGraphicFramePr>
        <p:xfrm>
          <a:off x="285750" y="2133600"/>
          <a:ext cx="4286250" cy="4089402"/>
        </p:xfrm>
        <a:graphic>
          <a:graphicData uri="http://schemas.openxmlformats.org/drawingml/2006/table">
            <a:tbl>
              <a:tblPr/>
              <a:tblGrid>
                <a:gridCol w="785813">
                  <a:extLst>
                    <a:ext uri="{9D8B030D-6E8A-4147-A177-3AD203B41FA5}">
                      <a16:colId xmlns:a16="http://schemas.microsoft.com/office/drawing/2014/main" val="20000"/>
                    </a:ext>
                  </a:extLst>
                </a:gridCol>
                <a:gridCol w="419100">
                  <a:extLst>
                    <a:ext uri="{9D8B030D-6E8A-4147-A177-3AD203B41FA5}">
                      <a16:colId xmlns:a16="http://schemas.microsoft.com/office/drawing/2014/main" val="20001"/>
                    </a:ext>
                  </a:extLst>
                </a:gridCol>
                <a:gridCol w="3081337">
                  <a:extLst>
                    <a:ext uri="{9D8B030D-6E8A-4147-A177-3AD203B41FA5}">
                      <a16:colId xmlns:a16="http://schemas.microsoft.com/office/drawing/2014/main" val="20002"/>
                    </a:ext>
                  </a:extLst>
                </a:gridCol>
              </a:tblGrid>
              <a:tr h="480778">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需求分类</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编号</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系统典型需求</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0"/>
                  </a:ext>
                </a:extLst>
              </a:tr>
              <a:tr h="219999">
                <a:tc rowSpan="6">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功能需求</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Functional</a:t>
                      </a: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1</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招聘人员：用户可以通过招聘人员</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1"/>
                  </a:ext>
                </a:extLst>
              </a:tr>
              <a:tr h="219999">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2</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申请职位：</a:t>
                      </a: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Web</a:t>
                      </a: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用户可以填写信息申请职位</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2"/>
                  </a:ext>
                </a:extLst>
              </a:tr>
              <a:tr h="480778">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3</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查看职位申请信息：</a:t>
                      </a: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Web</a:t>
                      </a: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用户可以查看职位申请信息</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3"/>
                  </a:ext>
                </a:extLst>
              </a:tr>
              <a:tr h="219999">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4</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处理职位申请：管理员可以处理职位申请</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4"/>
                  </a:ext>
                </a:extLst>
              </a:tr>
              <a:tr h="423609">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5</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修改申请人信息：管理员可以修改申请人的信息</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5"/>
                  </a:ext>
                </a:extLst>
              </a:tr>
              <a:tr h="227822">
                <a:tc vMerge="1">
                  <a:txBody>
                    <a:bodyPr/>
                    <a:lstStyle/>
                    <a:p>
                      <a:endParaRPr lang="zh-CN" altLang="en-US"/>
                    </a:p>
                  </a:txBody>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endPar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Times New Roman"/>
                          <a:ea typeface="黑体" pitchFamily="2" charset="-122"/>
                          <a:cs typeface="Times New Roman" pitchFamily="18" charset="0"/>
                        </a:rPr>
                        <a:t>……</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6"/>
                  </a:ext>
                </a:extLst>
              </a:tr>
              <a:tr h="219999">
                <a:tc rowSpan="4">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可用性</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Usability</a:t>
                      </a: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1</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对于熟悉公司原系统的用户新系统应易于操作</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7"/>
                  </a:ext>
                </a:extLst>
              </a:tr>
              <a:tr h="219999">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2</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系统应支持</a:t>
                      </a: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Internet</a:t>
                      </a: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环境</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8"/>
                  </a:ext>
                </a:extLst>
              </a:tr>
              <a:tr h="219999">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3</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系统应给用户提供在线指南</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9"/>
                  </a:ext>
                </a:extLst>
              </a:tr>
              <a:tr h="227822">
                <a:tc vMerge="1">
                  <a:txBody>
                    <a:bodyPr/>
                    <a:lstStyle/>
                    <a:p>
                      <a:endParaRPr lang="zh-CN" altLang="en-US"/>
                    </a:p>
                  </a:txBody>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endPar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Times New Roman"/>
                          <a:ea typeface="黑体" pitchFamily="2" charset="-122"/>
                          <a:cs typeface="Times New Roman" pitchFamily="18" charset="0"/>
                        </a:rPr>
                        <a:t>……</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10"/>
                  </a:ext>
                </a:extLst>
              </a:tr>
              <a:tr h="480778">
                <a:tc rowSpan="3">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可靠性</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Reliability</a:t>
                      </a: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1</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系统应该在任何时间都能工作，若是出现故障，必须要在一个小时之内修复</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11"/>
                  </a:ext>
                </a:extLst>
              </a:tr>
              <a:tr h="219999">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2</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黑体" pitchFamily="2" charset="-122"/>
                          <a:ea typeface="黑体" pitchFamily="2" charset="-122"/>
                          <a:cs typeface="Times New Roman" pitchFamily="18" charset="0"/>
                        </a:rPr>
                        <a:t>系统应能支持用户在指定的时间备份资料</a:t>
                      </a:r>
                      <a:endParaRPr kumimoji="0" lang="zh-CN" altLang="en-US"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12"/>
                  </a:ext>
                </a:extLst>
              </a:tr>
              <a:tr h="227822">
                <a:tc vMerge="1">
                  <a:txBody>
                    <a:bodyPr/>
                    <a:lstStyle/>
                    <a:p>
                      <a:endParaRPr lang="zh-CN" altLang="en-US"/>
                    </a:p>
                  </a:txBody>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endParaRPr kumimoji="0" lang="en-US" altLang="zh-CN" sz="1100" b="1" i="0" u="none" strike="noStrike" cap="none" normalizeH="0" baseline="0">
                        <a:ln>
                          <a:noFill/>
                        </a:ln>
                        <a:solidFill>
                          <a:srgbClr val="000000"/>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r>
                        <a:rPr kumimoji="0" lang="en-US" altLang="zh-CN" sz="1100" b="1" i="0" u="none" strike="noStrike" cap="none" normalizeH="0" baseline="0">
                          <a:ln>
                            <a:noFill/>
                          </a:ln>
                          <a:solidFill>
                            <a:srgbClr val="000000"/>
                          </a:solidFill>
                          <a:effectLst/>
                          <a:latin typeface="Times New Roman"/>
                          <a:ea typeface="黑体" pitchFamily="2" charset="-122"/>
                          <a:cs typeface="Times New Roman" pitchFamily="18" charset="0"/>
                        </a:rPr>
                        <a:t>……</a:t>
                      </a:r>
                      <a:endParaRPr kumimoji="0" lang="zh-CN" altLang="zh-CN" sz="11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13"/>
                  </a:ext>
                </a:extLst>
              </a:tr>
            </a:tbl>
          </a:graphicData>
        </a:graphic>
      </p:graphicFrame>
      <p:graphicFrame>
        <p:nvGraphicFramePr>
          <p:cNvPr id="34921" name="Group 105">
            <a:extLst>
              <a:ext uri="{FF2B5EF4-FFF2-40B4-BE49-F238E27FC236}">
                <a16:creationId xmlns:a16="http://schemas.microsoft.com/office/drawing/2014/main" id="{14D0FF8C-7933-4443-A556-B0A7881DFD21}"/>
              </a:ext>
            </a:extLst>
          </p:cNvPr>
          <p:cNvGraphicFramePr>
            <a:graphicFrameLocks noGrp="1"/>
          </p:cNvGraphicFramePr>
          <p:nvPr/>
        </p:nvGraphicFramePr>
        <p:xfrm>
          <a:off x="4643438" y="2133600"/>
          <a:ext cx="4286250" cy="4051303"/>
        </p:xfrm>
        <a:graphic>
          <a:graphicData uri="http://schemas.openxmlformats.org/drawingml/2006/table">
            <a:tbl>
              <a:tblPr/>
              <a:tblGrid>
                <a:gridCol w="785812">
                  <a:extLst>
                    <a:ext uri="{9D8B030D-6E8A-4147-A177-3AD203B41FA5}">
                      <a16:colId xmlns:a16="http://schemas.microsoft.com/office/drawing/2014/main" val="20000"/>
                    </a:ext>
                  </a:extLst>
                </a:gridCol>
                <a:gridCol w="354013">
                  <a:extLst>
                    <a:ext uri="{9D8B030D-6E8A-4147-A177-3AD203B41FA5}">
                      <a16:colId xmlns:a16="http://schemas.microsoft.com/office/drawing/2014/main" val="20001"/>
                    </a:ext>
                  </a:extLst>
                </a:gridCol>
                <a:gridCol w="3146425">
                  <a:extLst>
                    <a:ext uri="{9D8B030D-6E8A-4147-A177-3AD203B41FA5}">
                      <a16:colId xmlns:a16="http://schemas.microsoft.com/office/drawing/2014/main" val="20002"/>
                    </a:ext>
                  </a:extLst>
                </a:gridCol>
              </a:tblGrid>
              <a:tr h="596900">
                <a:tc rowSpan="3">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性能需求</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Performance</a:t>
                      </a: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1</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管理系统必须支持公司内部员工和</a:t>
                      </a: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web</a:t>
                      </a: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用户同时访问，并且支持同时在线人数不低于</a:t>
                      </a: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100</a:t>
                      </a: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人</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293688">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2</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系统的响应时间不超过</a:t>
                      </a: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4</a:t>
                      </a: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秒</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304800">
                <a:tc vMerge="1">
                  <a:txBody>
                    <a:bodyPr/>
                    <a:lstStyle/>
                    <a:p>
                      <a:endParaRPr lang="zh-CN" altLang="en-US"/>
                    </a:p>
                  </a:txBody>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endPar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a:ea typeface="黑体" pitchFamily="2" charset="-122"/>
                          <a:cs typeface="Times New Roman" pitchFamily="18" charset="0"/>
                        </a:rPr>
                        <a:t>……</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293688">
                <a:tc rowSpan="5">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安全性需求</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Security</a:t>
                      </a: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1</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支持多用户访问系统</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474663">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2</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一般用户只能查看和修改自己的信息不能看到其他人的信息</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4"/>
                  </a:ext>
                </a:extLst>
              </a:tr>
              <a:tr h="293688">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3</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公司的下级员工不能查看上级员工的信息</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5"/>
                  </a:ext>
                </a:extLst>
              </a:tr>
              <a:tr h="457200">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4</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公司的上级员工可以查看下级员工的信息而不能修改</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6"/>
                  </a:ext>
                </a:extLst>
              </a:tr>
              <a:tr h="293688">
                <a:tc vMerge="1">
                  <a:txBody>
                    <a:bodyPr/>
                    <a:lstStyle/>
                    <a:p>
                      <a:endParaRPr lang="zh-CN" altLang="en-US"/>
                    </a:p>
                  </a:txBody>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endPar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a:ea typeface="黑体" pitchFamily="2" charset="-122"/>
                          <a:cs typeface="Times New Roman" pitchFamily="18" charset="0"/>
                        </a:rPr>
                        <a:t>……</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7"/>
                  </a:ext>
                </a:extLst>
              </a:tr>
              <a:tr h="292100">
                <a:tc rowSpan="3">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可支持性（</a:t>
                      </a: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Supportability</a:t>
                      </a: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1</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系统采用</a:t>
                      </a: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B/S</a:t>
                      </a: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结构，用户可以通过</a:t>
                      </a: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Internet</a:t>
                      </a: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访问系统</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8"/>
                  </a:ext>
                </a:extLst>
              </a:tr>
              <a:tr h="476250">
                <a:tc vMerge="1">
                  <a:txBody>
                    <a:bodyPr/>
                    <a:lstStyle/>
                    <a:p>
                      <a:endParaRPr lang="zh-CN" altLang="en-US"/>
                    </a:p>
                  </a:txBody>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2</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127000" algn="ctr" defTabSz="914400" rtl="0" eaLnBrk="1" fontAlgn="base" latinLnBrk="0" hangingPunct="1">
                        <a:lnSpc>
                          <a:spcPts val="1800"/>
                        </a:lnSpc>
                        <a:spcBef>
                          <a:spcPct val="0"/>
                        </a:spcBef>
                        <a:spcAft>
                          <a:spcPct val="0"/>
                        </a:spcAft>
                        <a:buClrTx/>
                        <a:buSzTx/>
                        <a:buFontTx/>
                        <a:buNone/>
                        <a:tabLst/>
                      </a:pP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培训系统可以在所有流行的浏览器（如</a:t>
                      </a:r>
                      <a:r>
                        <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Navigation,IE</a:t>
                      </a:r>
                      <a:r>
                        <a:rPr kumimoji="0" lang="zh-CN" altLang="en-US" sz="1000" b="1" i="0" u="none" strike="noStrike" cap="none" normalizeH="0" baseline="0">
                          <a:ln>
                            <a:noFill/>
                          </a:ln>
                          <a:solidFill>
                            <a:srgbClr val="000000"/>
                          </a:solidFill>
                          <a:effectLst/>
                          <a:latin typeface="黑体" pitchFamily="2" charset="-122"/>
                          <a:ea typeface="黑体" pitchFamily="2" charset="-122"/>
                          <a:cs typeface="Times New Roman" pitchFamily="18" charset="0"/>
                        </a:rPr>
                        <a:t>）上正常显示</a:t>
                      </a:r>
                      <a:endParaRPr kumimoji="0" lang="zh-CN" altLang="en-US"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9"/>
                  </a:ext>
                </a:extLst>
              </a:tr>
              <a:tr h="274638">
                <a:tc vMerge="1">
                  <a:txBody>
                    <a:bodyPr/>
                    <a:lstStyle/>
                    <a:p>
                      <a:endParaRPr lang="zh-CN" altLang="en-US"/>
                    </a:p>
                  </a:txBody>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endParaRPr kumimoji="0" lang="en-US" altLang="zh-CN" sz="1000" b="1" i="0" u="none" strike="noStrike" cap="none" normalizeH="0" baseline="0">
                        <a:ln>
                          <a:noFill/>
                        </a:ln>
                        <a:solidFill>
                          <a:srgbClr val="000000"/>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266700" algn="ctr" defTabSz="914400" rtl="0" eaLnBrk="1" fontAlgn="base" latinLnBrk="0" hangingPunct="1">
                        <a:lnSpc>
                          <a:spcPts val="1800"/>
                        </a:lnSpc>
                        <a:spcBef>
                          <a:spcPct val="0"/>
                        </a:spcBef>
                        <a:spcAft>
                          <a:spcPct val="0"/>
                        </a:spcAft>
                        <a:buClrTx/>
                        <a:buSzTx/>
                        <a:buFontTx/>
                        <a:buNone/>
                        <a:tabLst/>
                      </a:pPr>
                      <a:r>
                        <a:rPr kumimoji="0" lang="en-US" altLang="zh-CN" sz="1000" b="1" i="0" u="none" strike="noStrike" cap="none" normalizeH="0" baseline="0">
                          <a:ln>
                            <a:noFill/>
                          </a:ln>
                          <a:solidFill>
                            <a:srgbClr val="000000"/>
                          </a:solidFill>
                          <a:effectLst/>
                          <a:latin typeface="Times New Roman"/>
                          <a:ea typeface="黑体" pitchFamily="2" charset="-122"/>
                          <a:cs typeface="Times New Roman" pitchFamily="18" charset="0"/>
                        </a:rPr>
                        <a:t>……</a:t>
                      </a:r>
                      <a:endParaRPr kumimoji="0" lang="zh-CN" altLang="zh-CN" sz="1000" b="1" i="0" u="none" strike="noStrike" cap="none" normalizeH="0" baseline="0">
                        <a:ln>
                          <a:noFill/>
                        </a:ln>
                        <a:solidFill>
                          <a:schemeClr val="tx1"/>
                        </a:solidFill>
                        <a:effectLst/>
                        <a:latin typeface="黑体" pitchFamily="2" charset="-122"/>
                        <a:ea typeface="黑体" pitchFamily="2" charset="-122"/>
                        <a:cs typeface="Times New Roman" pitchFamily="18" charset="0"/>
                      </a:endParaRPr>
                    </a:p>
                  </a:txBody>
                  <a:tcPr marL="49651" marR="4965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0"/>
                  </a:ext>
                </a:extLst>
              </a:tr>
            </a:tbl>
          </a:graphicData>
        </a:graphic>
      </p:graphicFrame>
      <p:sp>
        <p:nvSpPr>
          <p:cNvPr id="37984" name="Rectangle 2">
            <a:extLst>
              <a:ext uri="{FF2B5EF4-FFF2-40B4-BE49-F238E27FC236}">
                <a16:creationId xmlns:a16="http://schemas.microsoft.com/office/drawing/2014/main" id="{CFBC1C72-E978-445D-9973-2F686AE105BD}"/>
              </a:ext>
            </a:extLst>
          </p:cNvPr>
          <p:cNvSpPr>
            <a:spLocks noChangeArrowheads="1"/>
          </p:cNvSpPr>
          <p:nvPr/>
        </p:nvSpPr>
        <p:spPr bwMode="auto">
          <a:xfrm>
            <a:off x="2571750" y="6019800"/>
            <a:ext cx="4000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1270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600" b="0">
                <a:solidFill>
                  <a:srgbClr val="000000"/>
                </a:solidFill>
                <a:latin typeface="Times New Roman" panose="02020603050405020304" pitchFamily="18" charset="0"/>
              </a:rPr>
              <a:t>  HRMS</a:t>
            </a:r>
            <a:r>
              <a:rPr lang="zh-CN" altLang="en-US" sz="1600" b="0">
                <a:solidFill>
                  <a:srgbClr val="000000"/>
                </a:solidFill>
                <a:latin typeface="Times New Roman" panose="02020603050405020304" pitchFamily="18" charset="0"/>
              </a:rPr>
              <a:t>系统中的需求分类</a:t>
            </a:r>
            <a:endParaRPr lang="zh-CN" altLang="en-US" sz="1600" b="0">
              <a:latin typeface="Times New Roman" panose="02020603050405020304" pitchFamily="18" charset="0"/>
            </a:endParaRPr>
          </a:p>
        </p:txBody>
      </p:sp>
      <p:sp>
        <p:nvSpPr>
          <p:cNvPr id="37985" name="Rectangle 2">
            <a:extLst>
              <a:ext uri="{FF2B5EF4-FFF2-40B4-BE49-F238E27FC236}">
                <a16:creationId xmlns:a16="http://schemas.microsoft.com/office/drawing/2014/main" id="{C7E9D002-63C3-41B1-A841-E17B47E6094C}"/>
              </a:ext>
            </a:extLst>
          </p:cNvPr>
          <p:cNvSpPr>
            <a:spLocks noGrp="1" noChangeArrowheads="1"/>
          </p:cNvSpPr>
          <p:nvPr>
            <p:ph type="title"/>
          </p:nvPr>
        </p:nvSpPr>
        <p:spPr>
          <a:xfrm>
            <a:off x="177800" y="1054100"/>
            <a:ext cx="8788400" cy="717550"/>
          </a:xfrm>
          <a:noFill/>
        </p:spPr>
        <p:txBody>
          <a:bodyPr/>
          <a:lstStyle/>
          <a:p>
            <a:pPr eaLnBrk="1" hangingPunct="1"/>
            <a:r>
              <a:rPr lang="zh-CN" altLang="en-US"/>
              <a:t>案例分析</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3">
            <a:extLst>
              <a:ext uri="{FF2B5EF4-FFF2-40B4-BE49-F238E27FC236}">
                <a16:creationId xmlns:a16="http://schemas.microsoft.com/office/drawing/2014/main" id="{7077C0BC-C5EF-4787-BBB8-7777C98F422B}"/>
              </a:ext>
            </a:extLst>
          </p:cNvPr>
          <p:cNvSpPr txBox="1">
            <a:spLocks noChangeArrowheads="1"/>
          </p:cNvSpPr>
          <p:nvPr/>
        </p:nvSpPr>
        <p:spPr bwMode="auto">
          <a:xfrm>
            <a:off x="755650" y="1916113"/>
            <a:ext cx="7659688"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ts val="1200"/>
              </a:spcBef>
              <a:buClr>
                <a:schemeClr val="accent2"/>
              </a:buClr>
              <a:buSzPct val="70000"/>
              <a:buFont typeface="Wingdings" panose="05000000000000000000" pitchFamily="2" charset="2"/>
              <a:buChar char="l"/>
            </a:pPr>
            <a:r>
              <a:rPr lang="zh-CN" altLang="en-US" sz="2000">
                <a:latin typeface="Times New Roman" panose="02020603050405020304" pitchFamily="18" charset="0"/>
                <a:ea typeface="黑体" panose="02010609060101010101" pitchFamily="49" charset="-122"/>
              </a:rPr>
              <a:t>需求分析</a:t>
            </a:r>
            <a:endParaRPr lang="en-US" altLang="zh-CN" sz="2000">
              <a:latin typeface="Times New Roman" panose="02020603050405020304" pitchFamily="18" charset="0"/>
              <a:ea typeface="黑体" panose="02010609060101010101" pitchFamily="49" charset="-122"/>
            </a:endParaRPr>
          </a:p>
          <a:p>
            <a:pPr eaLnBrk="1" hangingPunct="1">
              <a:lnSpc>
                <a:spcPts val="3000"/>
              </a:lnSpc>
              <a:spcBef>
                <a:spcPct val="20000"/>
              </a:spcBef>
              <a:buClrTx/>
              <a:buFontTx/>
              <a:buNone/>
            </a:pPr>
            <a:r>
              <a:rPr lang="zh-CN" altLang="en-US" sz="2000">
                <a:latin typeface="Times New Roman" panose="02020603050405020304" pitchFamily="18" charset="0"/>
              </a:rPr>
              <a:t>本项目采用原型分析方法和用例分析方法相结合来进行需求分析，以用例分析方法为主，对于每个</a:t>
            </a:r>
            <a:r>
              <a:rPr lang="en-US" altLang="zh-CN" sz="2000">
                <a:latin typeface="Times New Roman" panose="02020603050405020304" pitchFamily="18" charset="0"/>
              </a:rPr>
              <a:t>Use Case</a:t>
            </a:r>
            <a:r>
              <a:rPr lang="zh-CN" altLang="en-US" sz="2000">
                <a:latin typeface="Times New Roman" panose="02020603050405020304" pitchFamily="18" charset="0"/>
              </a:rPr>
              <a:t>，创建用户接口说明文档和</a:t>
            </a:r>
            <a:r>
              <a:rPr lang="en-US" altLang="zh-CN" sz="2000">
                <a:latin typeface="Times New Roman" panose="02020603050405020304" pitchFamily="18" charset="0"/>
              </a:rPr>
              <a:t>Use case</a:t>
            </a:r>
            <a:r>
              <a:rPr lang="zh-CN" altLang="en-US" sz="2000">
                <a:latin typeface="Times New Roman" panose="02020603050405020304" pitchFamily="18" charset="0"/>
              </a:rPr>
              <a:t>报告，同时建立这个用例的原型。</a:t>
            </a:r>
          </a:p>
          <a:p>
            <a:pPr eaLnBrk="1" hangingPunct="1">
              <a:lnSpc>
                <a:spcPts val="3000"/>
              </a:lnSpc>
              <a:spcBef>
                <a:spcPct val="20000"/>
              </a:spcBef>
              <a:buClrTx/>
              <a:buFontTx/>
              <a:buNone/>
            </a:pPr>
            <a:r>
              <a:rPr lang="zh-CN" altLang="en-US" sz="2000">
                <a:latin typeface="Times New Roman" panose="02020603050405020304" pitchFamily="18" charset="0"/>
              </a:rPr>
              <a:t>此系统的角色定义如图所示。</a:t>
            </a:r>
          </a:p>
        </p:txBody>
      </p:sp>
      <p:pic>
        <p:nvPicPr>
          <p:cNvPr id="38915" name="图片 4">
            <a:extLst>
              <a:ext uri="{FF2B5EF4-FFF2-40B4-BE49-F238E27FC236}">
                <a16:creationId xmlns:a16="http://schemas.microsoft.com/office/drawing/2014/main" id="{CA0075B6-BA5D-4B46-8A0C-22D1F5A769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4054475"/>
            <a:ext cx="7200900" cy="1895475"/>
          </a:xfrm>
          <a:prstGeom prst="rect">
            <a:avLst/>
          </a:prstGeom>
          <a:solidFill>
            <a:schemeClr val="bg1"/>
          </a:solidFill>
          <a:ln w="9525">
            <a:solidFill>
              <a:schemeClr val="bg1"/>
            </a:solidFill>
            <a:miter lim="800000"/>
            <a:headEnd/>
            <a:tailEnd/>
          </a:ln>
        </p:spPr>
      </p:pic>
      <p:sp>
        <p:nvSpPr>
          <p:cNvPr id="38916" name="Rectangle 3">
            <a:extLst>
              <a:ext uri="{FF2B5EF4-FFF2-40B4-BE49-F238E27FC236}">
                <a16:creationId xmlns:a16="http://schemas.microsoft.com/office/drawing/2014/main" id="{94A7B89D-BAA8-4C59-8611-145B5AE8CC20}"/>
              </a:ext>
            </a:extLst>
          </p:cNvPr>
          <p:cNvSpPr>
            <a:spLocks noChangeArrowheads="1"/>
          </p:cNvSpPr>
          <p:nvPr/>
        </p:nvSpPr>
        <p:spPr bwMode="auto">
          <a:xfrm>
            <a:off x="2571750" y="6043613"/>
            <a:ext cx="3857625"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1270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600">
                <a:solidFill>
                  <a:srgbClr val="000000"/>
                </a:solidFill>
                <a:latin typeface="Times New Roman" panose="02020603050405020304" pitchFamily="18" charset="0"/>
              </a:rPr>
              <a:t>HMS</a:t>
            </a:r>
            <a:r>
              <a:rPr lang="zh-CN" altLang="en-US" sz="1600">
                <a:solidFill>
                  <a:srgbClr val="000000"/>
                </a:solidFill>
                <a:latin typeface="Times New Roman" panose="02020603050405020304" pitchFamily="18" charset="0"/>
              </a:rPr>
              <a:t>中的角色</a:t>
            </a:r>
            <a:endParaRPr lang="zh-CN" altLang="en-US" sz="1600">
              <a:latin typeface="Times New Roman" panose="02020603050405020304" pitchFamily="18" charset="0"/>
            </a:endParaRPr>
          </a:p>
        </p:txBody>
      </p:sp>
      <p:sp>
        <p:nvSpPr>
          <p:cNvPr id="38917" name="Rectangle 2">
            <a:extLst>
              <a:ext uri="{FF2B5EF4-FFF2-40B4-BE49-F238E27FC236}">
                <a16:creationId xmlns:a16="http://schemas.microsoft.com/office/drawing/2014/main" id="{472BF563-82CD-48D3-A1AB-EA8CB7AB81E6}"/>
              </a:ext>
            </a:extLst>
          </p:cNvPr>
          <p:cNvSpPr>
            <a:spLocks noGrp="1" noChangeArrowheads="1"/>
          </p:cNvSpPr>
          <p:nvPr>
            <p:ph type="title"/>
          </p:nvPr>
        </p:nvSpPr>
        <p:spPr>
          <a:xfrm>
            <a:off x="177800" y="1054100"/>
            <a:ext cx="8788400" cy="717550"/>
          </a:xfrm>
          <a:noFill/>
        </p:spPr>
        <p:txBody>
          <a:bodyPr/>
          <a:lstStyle/>
          <a:p>
            <a:pPr eaLnBrk="1" hangingPunct="1"/>
            <a:r>
              <a:rPr lang="zh-CN" altLang="en-US"/>
              <a:t>案例分析</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3">
            <a:extLst>
              <a:ext uri="{FF2B5EF4-FFF2-40B4-BE49-F238E27FC236}">
                <a16:creationId xmlns:a16="http://schemas.microsoft.com/office/drawing/2014/main" id="{D4C27FDB-5FCB-444B-932F-F5162C07E6A9}"/>
              </a:ext>
            </a:extLst>
          </p:cNvPr>
          <p:cNvSpPr txBox="1">
            <a:spLocks noChangeArrowheads="1"/>
          </p:cNvSpPr>
          <p:nvPr/>
        </p:nvSpPr>
        <p:spPr bwMode="auto">
          <a:xfrm>
            <a:off x="1019175" y="1989138"/>
            <a:ext cx="7839075" cy="455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zh-CN" altLang="en-US" sz="2000" dirty="0">
                <a:solidFill>
                  <a:schemeClr val="accent1"/>
                </a:solidFill>
                <a:latin typeface="Times New Roman" panose="02020603050405020304" pitchFamily="18" charset="0"/>
                <a:ea typeface="黑体" panose="02010609060101010101" pitchFamily="49" charset="-122"/>
              </a:rPr>
              <a:t>其中各个角色描述如下：</a:t>
            </a:r>
          </a:p>
          <a:p>
            <a:pPr lvl="1">
              <a:lnSpc>
                <a:spcPct val="120000"/>
              </a:lnSpc>
              <a:spcBef>
                <a:spcPts val="400"/>
              </a:spcBef>
            </a:pPr>
            <a:r>
              <a:rPr lang="zh-CN" altLang="en-US" sz="2000" dirty="0">
                <a:latin typeface="宋体" panose="02010600030101010101" pitchFamily="2" charset="-122"/>
              </a:rPr>
              <a:t>角色</a:t>
            </a:r>
            <a:r>
              <a:rPr lang="en-US" altLang="zh-CN" sz="2000" dirty="0">
                <a:latin typeface="宋体" panose="02010600030101010101" pitchFamily="2" charset="-122"/>
              </a:rPr>
              <a:t>1: </a:t>
            </a:r>
            <a:r>
              <a:rPr lang="zh-CN" altLang="en-US" sz="2000" dirty="0">
                <a:latin typeface="宋体" panose="02010600030101010101" pitchFamily="2" charset="-122"/>
              </a:rPr>
              <a:t>员工（</a:t>
            </a:r>
            <a:r>
              <a:rPr lang="en-US" altLang="zh-CN" sz="2000" dirty="0">
                <a:latin typeface="宋体" panose="02010600030101010101" pitchFamily="2" charset="-122"/>
              </a:rPr>
              <a:t>Employee</a:t>
            </a:r>
            <a:r>
              <a:rPr lang="zh-CN" altLang="en-US" sz="2000" dirty="0">
                <a:latin typeface="宋体" panose="02010600030101010101" pitchFamily="2" charset="-122"/>
              </a:rPr>
              <a:t>）</a:t>
            </a:r>
          </a:p>
          <a:p>
            <a:pPr lvl="1">
              <a:lnSpc>
                <a:spcPct val="120000"/>
              </a:lnSpc>
              <a:spcBef>
                <a:spcPts val="400"/>
              </a:spcBef>
            </a:pPr>
            <a:r>
              <a:rPr lang="zh-CN" altLang="en-US" sz="2000" dirty="0">
                <a:latin typeface="宋体" panose="02010600030101010101" pitchFamily="2" charset="-122"/>
              </a:rPr>
              <a:t>角色</a:t>
            </a:r>
            <a:r>
              <a:rPr lang="en-US" altLang="zh-CN" sz="2000" dirty="0">
                <a:latin typeface="宋体" panose="02010600030101010101" pitchFamily="2" charset="-122"/>
              </a:rPr>
              <a:t>2: </a:t>
            </a:r>
            <a:r>
              <a:rPr lang="zh-CN" altLang="en-US" sz="2000" dirty="0">
                <a:latin typeface="宋体" panose="02010600030101010101" pitchFamily="2" charset="-122"/>
              </a:rPr>
              <a:t>雇用经理（</a:t>
            </a:r>
            <a:r>
              <a:rPr lang="en-US" altLang="zh-CN" sz="2000" dirty="0">
                <a:latin typeface="宋体" panose="02010600030101010101" pitchFamily="2" charset="-122"/>
              </a:rPr>
              <a:t>Hiring Manager</a:t>
            </a:r>
            <a:r>
              <a:rPr lang="zh-CN" altLang="en-US" sz="2000" dirty="0">
                <a:latin typeface="宋体" panose="02010600030101010101" pitchFamily="2" charset="-122"/>
              </a:rPr>
              <a:t>）</a:t>
            </a:r>
          </a:p>
          <a:p>
            <a:pPr lvl="1">
              <a:lnSpc>
                <a:spcPct val="120000"/>
              </a:lnSpc>
              <a:spcBef>
                <a:spcPts val="400"/>
              </a:spcBef>
            </a:pPr>
            <a:r>
              <a:rPr lang="zh-CN" altLang="en-US" sz="2000" dirty="0">
                <a:latin typeface="宋体" panose="02010600030101010101" pitchFamily="2" charset="-122"/>
              </a:rPr>
              <a:t>角色</a:t>
            </a:r>
            <a:r>
              <a:rPr lang="en-US" altLang="zh-CN" sz="2000" dirty="0">
                <a:latin typeface="宋体" panose="02010600030101010101" pitchFamily="2" charset="-122"/>
              </a:rPr>
              <a:t>3: </a:t>
            </a:r>
            <a:r>
              <a:rPr lang="zh-CN" altLang="en-US" sz="2000" dirty="0">
                <a:latin typeface="宋体" panose="02010600030101010101" pitchFamily="2" charset="-122"/>
              </a:rPr>
              <a:t>部门经理（</a:t>
            </a:r>
            <a:r>
              <a:rPr lang="en-US" altLang="zh-CN" sz="2000" dirty="0">
                <a:latin typeface="宋体" panose="02010600030101010101" pitchFamily="2" charset="-122"/>
              </a:rPr>
              <a:t>Department Manager</a:t>
            </a:r>
            <a:r>
              <a:rPr lang="zh-CN" altLang="en-US" sz="2000" dirty="0">
                <a:latin typeface="宋体" panose="02010600030101010101" pitchFamily="2" charset="-122"/>
              </a:rPr>
              <a:t>）</a:t>
            </a:r>
          </a:p>
          <a:p>
            <a:pPr lvl="1">
              <a:lnSpc>
                <a:spcPct val="120000"/>
              </a:lnSpc>
              <a:spcBef>
                <a:spcPts val="400"/>
              </a:spcBef>
            </a:pPr>
            <a:r>
              <a:rPr lang="zh-CN" altLang="en-US" sz="2000" dirty="0">
                <a:latin typeface="宋体" panose="02010600030101010101" pitchFamily="2" charset="-122"/>
              </a:rPr>
              <a:t>角色</a:t>
            </a:r>
            <a:r>
              <a:rPr lang="en-US" altLang="zh-CN" sz="2000" dirty="0">
                <a:latin typeface="宋体" panose="02010600030101010101" pitchFamily="2" charset="-122"/>
              </a:rPr>
              <a:t>4: </a:t>
            </a:r>
            <a:r>
              <a:rPr lang="zh-CN" altLang="en-US" sz="2000" dirty="0">
                <a:latin typeface="宋体" panose="02010600030101010101" pitchFamily="2" charset="-122"/>
              </a:rPr>
              <a:t>上级（</a:t>
            </a:r>
            <a:r>
              <a:rPr lang="en-US" altLang="zh-CN" sz="2000" dirty="0">
                <a:latin typeface="宋体" panose="02010600030101010101" pitchFamily="2" charset="-122"/>
              </a:rPr>
              <a:t>Superior</a:t>
            </a:r>
            <a:r>
              <a:rPr lang="zh-CN" altLang="en-US" sz="2000" dirty="0">
                <a:latin typeface="宋体" panose="02010600030101010101" pitchFamily="2" charset="-122"/>
              </a:rPr>
              <a:t>）</a:t>
            </a:r>
          </a:p>
          <a:p>
            <a:pPr lvl="1">
              <a:lnSpc>
                <a:spcPct val="120000"/>
              </a:lnSpc>
              <a:spcBef>
                <a:spcPts val="400"/>
              </a:spcBef>
            </a:pPr>
            <a:r>
              <a:rPr lang="zh-CN" altLang="en-US" sz="2000" dirty="0">
                <a:latin typeface="宋体" panose="02010600030101010101" pitchFamily="2" charset="-122"/>
              </a:rPr>
              <a:t>角色</a:t>
            </a:r>
            <a:r>
              <a:rPr lang="en-US" altLang="zh-CN" sz="2000" dirty="0">
                <a:latin typeface="宋体" panose="02010600030101010101" pitchFamily="2" charset="-122"/>
              </a:rPr>
              <a:t>5: </a:t>
            </a:r>
            <a:r>
              <a:rPr lang="zh-CN" altLang="en-US" sz="2000" dirty="0">
                <a:latin typeface="宋体" panose="02010600030101010101" pitchFamily="2" charset="-122"/>
              </a:rPr>
              <a:t>分区经理（</a:t>
            </a:r>
            <a:r>
              <a:rPr lang="en-US" altLang="zh-CN" sz="2000" dirty="0">
                <a:latin typeface="宋体" panose="02010600030101010101" pitchFamily="2" charset="-122"/>
              </a:rPr>
              <a:t>Division Manager</a:t>
            </a:r>
            <a:r>
              <a:rPr lang="zh-CN" altLang="en-US" sz="2000" dirty="0">
                <a:latin typeface="宋体" panose="02010600030101010101" pitchFamily="2" charset="-122"/>
              </a:rPr>
              <a:t>）</a:t>
            </a:r>
          </a:p>
          <a:p>
            <a:pPr lvl="1">
              <a:lnSpc>
                <a:spcPct val="120000"/>
              </a:lnSpc>
              <a:spcBef>
                <a:spcPts val="400"/>
              </a:spcBef>
            </a:pPr>
            <a:r>
              <a:rPr lang="zh-CN" altLang="en-US" sz="2000" dirty="0">
                <a:latin typeface="宋体" panose="02010600030101010101" pitchFamily="2" charset="-122"/>
              </a:rPr>
              <a:t>角色</a:t>
            </a:r>
            <a:r>
              <a:rPr lang="en-US" altLang="zh-CN" sz="2000" dirty="0">
                <a:latin typeface="宋体" panose="02010600030101010101" pitchFamily="2" charset="-122"/>
              </a:rPr>
              <a:t>6: </a:t>
            </a:r>
            <a:r>
              <a:rPr lang="zh-CN" altLang="en-US" sz="2000" dirty="0">
                <a:latin typeface="宋体" panose="02010600030101010101" pitchFamily="2" charset="-122"/>
              </a:rPr>
              <a:t>运行官（</a:t>
            </a:r>
            <a:r>
              <a:rPr lang="en-US" altLang="zh-CN" sz="2000" dirty="0">
                <a:latin typeface="宋体" panose="02010600030101010101" pitchFamily="2" charset="-122"/>
              </a:rPr>
              <a:t>Operation Head</a:t>
            </a:r>
            <a:r>
              <a:rPr lang="zh-CN" altLang="en-US" sz="2000" dirty="0">
                <a:latin typeface="宋体" panose="02010600030101010101" pitchFamily="2" charset="-122"/>
              </a:rPr>
              <a:t>）</a:t>
            </a:r>
          </a:p>
          <a:p>
            <a:pPr lvl="1">
              <a:lnSpc>
                <a:spcPct val="120000"/>
              </a:lnSpc>
              <a:spcBef>
                <a:spcPts val="400"/>
              </a:spcBef>
            </a:pPr>
            <a:r>
              <a:rPr lang="zh-CN" altLang="en-US" sz="2000" dirty="0">
                <a:latin typeface="宋体" panose="02010600030101010101" pitchFamily="2" charset="-122"/>
              </a:rPr>
              <a:t>角色</a:t>
            </a:r>
            <a:r>
              <a:rPr lang="en-US" altLang="zh-CN" sz="2000" dirty="0">
                <a:latin typeface="宋体" panose="02010600030101010101" pitchFamily="2" charset="-122"/>
              </a:rPr>
              <a:t>7: </a:t>
            </a:r>
            <a:r>
              <a:rPr lang="zh-CN" altLang="en-US" sz="2000" dirty="0">
                <a:latin typeface="宋体" panose="02010600030101010101" pitchFamily="2" charset="-122"/>
              </a:rPr>
              <a:t>申请人（</a:t>
            </a:r>
            <a:r>
              <a:rPr lang="en-US" altLang="zh-CN" sz="2000" dirty="0">
                <a:latin typeface="宋体" panose="02010600030101010101" pitchFamily="2" charset="-122"/>
              </a:rPr>
              <a:t>Applicant</a:t>
            </a:r>
            <a:r>
              <a:rPr lang="zh-CN" altLang="en-US" sz="2000" dirty="0">
                <a:latin typeface="宋体" panose="02010600030101010101" pitchFamily="2" charset="-122"/>
              </a:rPr>
              <a:t>）</a:t>
            </a:r>
            <a:r>
              <a:rPr lang="en-US" altLang="en-US" sz="2000" dirty="0">
                <a:latin typeface="宋体" panose="02010600030101010101" pitchFamily="2" charset="-122"/>
              </a:rPr>
              <a:t> </a:t>
            </a:r>
            <a:endParaRPr lang="zh-CN" altLang="en-US" sz="2000" dirty="0">
              <a:latin typeface="宋体" panose="02010600030101010101" pitchFamily="2" charset="-122"/>
            </a:endParaRPr>
          </a:p>
          <a:p>
            <a:pPr lvl="1">
              <a:lnSpc>
                <a:spcPct val="120000"/>
              </a:lnSpc>
              <a:spcBef>
                <a:spcPts val="400"/>
              </a:spcBef>
            </a:pPr>
            <a:r>
              <a:rPr lang="zh-CN" altLang="en-US" sz="2000" dirty="0">
                <a:latin typeface="宋体" panose="02010600030101010101" pitchFamily="2" charset="-122"/>
              </a:rPr>
              <a:t>角色</a:t>
            </a:r>
            <a:r>
              <a:rPr lang="en-US" altLang="zh-CN" sz="2000" dirty="0">
                <a:latin typeface="宋体" panose="02010600030101010101" pitchFamily="2" charset="-122"/>
              </a:rPr>
              <a:t>8: </a:t>
            </a:r>
            <a:r>
              <a:rPr lang="zh-CN" altLang="en-US" sz="2000" dirty="0">
                <a:latin typeface="宋体" panose="02010600030101010101" pitchFamily="2" charset="-122"/>
              </a:rPr>
              <a:t>人力资源经理（</a:t>
            </a:r>
            <a:r>
              <a:rPr lang="en-US" altLang="zh-CN" sz="2000" dirty="0">
                <a:latin typeface="宋体" panose="02010600030101010101" pitchFamily="2" charset="-122"/>
              </a:rPr>
              <a:t>HR Manager</a:t>
            </a:r>
            <a:r>
              <a:rPr lang="zh-CN" altLang="en-US" sz="2000" dirty="0">
                <a:latin typeface="宋体" panose="02010600030101010101" pitchFamily="2" charset="-122"/>
              </a:rPr>
              <a:t>）</a:t>
            </a:r>
          </a:p>
          <a:p>
            <a:pPr lvl="1">
              <a:lnSpc>
                <a:spcPct val="120000"/>
              </a:lnSpc>
              <a:spcBef>
                <a:spcPts val="400"/>
              </a:spcBef>
            </a:pPr>
            <a:r>
              <a:rPr lang="zh-CN" altLang="en-US" sz="2000" dirty="0">
                <a:latin typeface="宋体" panose="02010600030101010101" pitchFamily="2" charset="-122"/>
              </a:rPr>
              <a:t>角色</a:t>
            </a:r>
            <a:r>
              <a:rPr lang="en-US" altLang="zh-CN" sz="2000" dirty="0">
                <a:latin typeface="宋体" panose="02010600030101010101" pitchFamily="2" charset="-122"/>
              </a:rPr>
              <a:t>9: </a:t>
            </a:r>
            <a:r>
              <a:rPr lang="zh-CN" altLang="en-US" sz="2000" dirty="0">
                <a:latin typeface="宋体" panose="02010600030101010101" pitchFamily="2" charset="-122"/>
              </a:rPr>
              <a:t>培训经理（</a:t>
            </a:r>
            <a:r>
              <a:rPr lang="en-US" altLang="zh-CN" sz="2000" dirty="0">
                <a:latin typeface="宋体" panose="02010600030101010101" pitchFamily="2" charset="-122"/>
              </a:rPr>
              <a:t>Training Administrator</a:t>
            </a:r>
            <a:r>
              <a:rPr lang="zh-CN" altLang="en-US" sz="2000" dirty="0">
                <a:latin typeface="宋体" panose="02010600030101010101" pitchFamily="2" charset="-122"/>
              </a:rPr>
              <a:t>）</a:t>
            </a:r>
            <a:r>
              <a:rPr lang="en-US" altLang="en-US" sz="2000" dirty="0">
                <a:latin typeface="宋体" panose="02010600030101010101" pitchFamily="2" charset="-122"/>
              </a:rPr>
              <a:t> </a:t>
            </a:r>
            <a:endParaRPr lang="zh-CN" altLang="en-US" sz="2000" dirty="0">
              <a:latin typeface="宋体" panose="02010600030101010101" pitchFamily="2" charset="-122"/>
            </a:endParaRPr>
          </a:p>
          <a:p>
            <a:pPr lvl="1">
              <a:lnSpc>
                <a:spcPct val="120000"/>
              </a:lnSpc>
              <a:spcBef>
                <a:spcPts val="400"/>
              </a:spcBef>
            </a:pPr>
            <a:r>
              <a:rPr lang="zh-CN" altLang="en-US" sz="2000" dirty="0">
                <a:latin typeface="宋体" panose="02010600030101010101" pitchFamily="2" charset="-122"/>
              </a:rPr>
              <a:t>角色</a:t>
            </a:r>
            <a:r>
              <a:rPr lang="en-US" altLang="zh-CN" sz="2000" dirty="0">
                <a:latin typeface="宋体" panose="02010600030101010101" pitchFamily="2" charset="-122"/>
              </a:rPr>
              <a:t>10: </a:t>
            </a:r>
            <a:r>
              <a:rPr lang="zh-CN" altLang="en-US" sz="2000" dirty="0">
                <a:latin typeface="宋体" panose="02010600030101010101" pitchFamily="2" charset="-122"/>
              </a:rPr>
              <a:t>培训中心经理（</a:t>
            </a:r>
            <a:r>
              <a:rPr lang="en-US" altLang="zh-CN" sz="2000" dirty="0">
                <a:latin typeface="宋体" panose="02010600030101010101" pitchFamily="2" charset="-122"/>
              </a:rPr>
              <a:t>Training Center Administrator</a:t>
            </a:r>
            <a:r>
              <a:rPr lang="zh-CN" altLang="en-US" sz="2000" dirty="0">
                <a:latin typeface="宋体" panose="02010600030101010101" pitchFamily="2" charset="-122"/>
              </a:rPr>
              <a:t>）  </a:t>
            </a:r>
          </a:p>
        </p:txBody>
      </p:sp>
      <p:sp>
        <p:nvSpPr>
          <p:cNvPr id="39939" name="Rectangle 2">
            <a:extLst>
              <a:ext uri="{FF2B5EF4-FFF2-40B4-BE49-F238E27FC236}">
                <a16:creationId xmlns:a16="http://schemas.microsoft.com/office/drawing/2014/main" id="{C476DA0B-EF62-48B2-A896-48FE258A057B}"/>
              </a:ext>
            </a:extLst>
          </p:cNvPr>
          <p:cNvSpPr>
            <a:spLocks noGrp="1" noChangeArrowheads="1"/>
          </p:cNvSpPr>
          <p:nvPr>
            <p:ph type="title"/>
          </p:nvPr>
        </p:nvSpPr>
        <p:spPr>
          <a:xfrm>
            <a:off x="177800" y="1054100"/>
            <a:ext cx="8788400" cy="717550"/>
          </a:xfrm>
          <a:noFill/>
        </p:spPr>
        <p:txBody>
          <a:bodyPr/>
          <a:lstStyle/>
          <a:p>
            <a:pPr eaLnBrk="1" hangingPunct="1"/>
            <a:r>
              <a:rPr lang="zh-CN" altLang="en-US"/>
              <a:t>案例分析</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3">
            <a:extLst>
              <a:ext uri="{FF2B5EF4-FFF2-40B4-BE49-F238E27FC236}">
                <a16:creationId xmlns:a16="http://schemas.microsoft.com/office/drawing/2014/main" id="{0B30AB51-C20E-49BC-82AA-2EA1ABC422B3}"/>
              </a:ext>
            </a:extLst>
          </p:cNvPr>
          <p:cNvSpPr txBox="1">
            <a:spLocks noChangeArrowheads="1"/>
          </p:cNvSpPr>
          <p:nvPr/>
        </p:nvSpPr>
        <p:spPr bwMode="auto">
          <a:xfrm>
            <a:off x="1019175" y="2220913"/>
            <a:ext cx="7410450" cy="336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1">
              <a:lnSpc>
                <a:spcPct val="120000"/>
              </a:lnSpc>
              <a:spcBef>
                <a:spcPts val="400"/>
              </a:spcBef>
            </a:pPr>
            <a:r>
              <a:rPr lang="zh-CN" altLang="en-US" sz="2000">
                <a:latin typeface="宋体" panose="02010600030101010101" pitchFamily="2" charset="-122"/>
              </a:rPr>
              <a:t>用例</a:t>
            </a:r>
            <a:r>
              <a:rPr lang="en-US" altLang="zh-CN" sz="2000">
                <a:latin typeface="宋体" panose="02010600030101010101" pitchFamily="2" charset="-122"/>
              </a:rPr>
              <a:t>1</a:t>
            </a:r>
            <a:r>
              <a:rPr lang="zh-CN" altLang="en-US" sz="2000">
                <a:latin typeface="宋体" panose="02010600030101010101" pitchFamily="2" charset="-122"/>
              </a:rPr>
              <a:t>：招聘员工（</a:t>
            </a:r>
            <a:r>
              <a:rPr lang="en-US" altLang="zh-CN" sz="2000">
                <a:latin typeface="宋体" panose="02010600030101010101" pitchFamily="2" charset="-122"/>
              </a:rPr>
              <a:t>Recruit Employee</a:t>
            </a:r>
            <a:r>
              <a:rPr lang="zh-CN" altLang="en-US" sz="2000">
                <a:latin typeface="宋体" panose="02010600030101010101" pitchFamily="2" charset="-122"/>
              </a:rPr>
              <a:t>）</a:t>
            </a:r>
          </a:p>
          <a:p>
            <a:pPr lvl="1">
              <a:lnSpc>
                <a:spcPct val="120000"/>
              </a:lnSpc>
              <a:spcBef>
                <a:spcPts val="400"/>
              </a:spcBef>
            </a:pPr>
            <a:r>
              <a:rPr lang="zh-CN" altLang="en-US" sz="2000">
                <a:latin typeface="宋体" panose="02010600030101010101" pitchFamily="2" charset="-122"/>
              </a:rPr>
              <a:t>用例</a:t>
            </a:r>
            <a:r>
              <a:rPr lang="en-US" altLang="zh-CN" sz="2000">
                <a:latin typeface="宋体" panose="02010600030101010101" pitchFamily="2" charset="-122"/>
              </a:rPr>
              <a:t>2</a:t>
            </a:r>
            <a:r>
              <a:rPr lang="zh-CN" altLang="en-US" sz="2000">
                <a:latin typeface="宋体" panose="02010600030101010101" pitchFamily="2" charset="-122"/>
              </a:rPr>
              <a:t>：候选人分类（</a:t>
            </a:r>
            <a:r>
              <a:rPr lang="en-US" altLang="zh-CN" sz="2000">
                <a:latin typeface="宋体" panose="02010600030101010101" pitchFamily="2" charset="-122"/>
              </a:rPr>
              <a:t>Categorize Candidate</a:t>
            </a:r>
            <a:r>
              <a:rPr lang="zh-CN" altLang="en-US" sz="2000">
                <a:latin typeface="宋体" panose="02010600030101010101" pitchFamily="2" charset="-122"/>
              </a:rPr>
              <a:t>）</a:t>
            </a:r>
          </a:p>
          <a:p>
            <a:pPr lvl="1">
              <a:lnSpc>
                <a:spcPct val="120000"/>
              </a:lnSpc>
              <a:spcBef>
                <a:spcPts val="400"/>
              </a:spcBef>
            </a:pPr>
            <a:r>
              <a:rPr lang="zh-CN" altLang="en-US" sz="2000">
                <a:latin typeface="宋体" panose="02010600030101010101" pitchFamily="2" charset="-122"/>
              </a:rPr>
              <a:t>用例</a:t>
            </a:r>
            <a:r>
              <a:rPr lang="en-US" altLang="zh-CN" sz="2000">
                <a:latin typeface="宋体" panose="02010600030101010101" pitchFamily="2" charset="-122"/>
              </a:rPr>
              <a:t>3</a:t>
            </a:r>
            <a:r>
              <a:rPr lang="zh-CN" altLang="en-US" sz="2000">
                <a:latin typeface="宋体" panose="02010600030101010101" pitchFamily="2" charset="-122"/>
              </a:rPr>
              <a:t>：更新面试信息（</a:t>
            </a:r>
            <a:r>
              <a:rPr lang="en-US" altLang="zh-CN" sz="2000">
                <a:latin typeface="宋体" panose="02010600030101010101" pitchFamily="2" charset="-122"/>
              </a:rPr>
              <a:t>Update Interview</a:t>
            </a:r>
            <a:r>
              <a:rPr lang="zh-CN" altLang="en-US" sz="2000">
                <a:latin typeface="宋体" panose="02010600030101010101" pitchFamily="2" charset="-122"/>
              </a:rPr>
              <a:t>）</a:t>
            </a:r>
          </a:p>
          <a:p>
            <a:pPr lvl="1">
              <a:lnSpc>
                <a:spcPct val="120000"/>
              </a:lnSpc>
              <a:spcBef>
                <a:spcPts val="400"/>
              </a:spcBef>
            </a:pPr>
            <a:r>
              <a:rPr lang="zh-CN" altLang="en-US" sz="2000">
                <a:latin typeface="宋体" panose="02010600030101010101" pitchFamily="2" charset="-122"/>
              </a:rPr>
              <a:t>用例</a:t>
            </a:r>
            <a:r>
              <a:rPr lang="en-US" altLang="zh-CN" sz="2000">
                <a:latin typeface="宋体" panose="02010600030101010101" pitchFamily="2" charset="-122"/>
              </a:rPr>
              <a:t>4</a:t>
            </a:r>
            <a:r>
              <a:rPr lang="zh-CN" altLang="en-US" sz="2000">
                <a:latin typeface="宋体" panose="02010600030101010101" pitchFamily="2" charset="-122"/>
              </a:rPr>
              <a:t>：确认候选人（</a:t>
            </a:r>
            <a:r>
              <a:rPr lang="en-US" altLang="zh-CN" sz="2000">
                <a:latin typeface="宋体" panose="02010600030101010101" pitchFamily="2" charset="-122"/>
              </a:rPr>
              <a:t>Confirm Candidate</a:t>
            </a:r>
            <a:r>
              <a:rPr lang="zh-CN" altLang="en-US" sz="2000">
                <a:latin typeface="宋体" panose="02010600030101010101" pitchFamily="2" charset="-122"/>
              </a:rPr>
              <a:t>）</a:t>
            </a:r>
          </a:p>
          <a:p>
            <a:pPr lvl="1">
              <a:lnSpc>
                <a:spcPct val="120000"/>
              </a:lnSpc>
              <a:spcBef>
                <a:spcPts val="400"/>
              </a:spcBef>
            </a:pPr>
            <a:r>
              <a:rPr lang="zh-CN" altLang="en-US" sz="2000">
                <a:latin typeface="宋体" panose="02010600030101010101" pitchFamily="2" charset="-122"/>
              </a:rPr>
              <a:t>用例</a:t>
            </a:r>
            <a:r>
              <a:rPr lang="en-US" altLang="zh-CN" sz="2000">
                <a:latin typeface="宋体" panose="02010600030101010101" pitchFamily="2" charset="-122"/>
              </a:rPr>
              <a:t>5</a:t>
            </a:r>
            <a:r>
              <a:rPr lang="zh-CN" altLang="en-US" sz="2000">
                <a:latin typeface="宋体" panose="02010600030101010101" pitchFamily="2" charset="-122"/>
              </a:rPr>
              <a:t>：管理申请（</a:t>
            </a:r>
            <a:r>
              <a:rPr lang="en-US" altLang="zh-CN" sz="2000">
                <a:latin typeface="宋体" panose="02010600030101010101" pitchFamily="2" charset="-122"/>
              </a:rPr>
              <a:t>Manage Requisition</a:t>
            </a:r>
            <a:r>
              <a:rPr lang="zh-CN" altLang="en-US" sz="2000">
                <a:latin typeface="宋体" panose="02010600030101010101" pitchFamily="2" charset="-122"/>
              </a:rPr>
              <a:t>）</a:t>
            </a:r>
            <a:r>
              <a:rPr lang="en-US" altLang="en-US" sz="2000">
                <a:latin typeface="宋体" panose="02010600030101010101" pitchFamily="2" charset="-122"/>
              </a:rPr>
              <a:t> </a:t>
            </a:r>
            <a:endParaRPr lang="zh-CN" altLang="en-US" sz="2000">
              <a:latin typeface="宋体" panose="02010600030101010101" pitchFamily="2" charset="-122"/>
            </a:endParaRPr>
          </a:p>
          <a:p>
            <a:pPr lvl="1">
              <a:lnSpc>
                <a:spcPct val="120000"/>
              </a:lnSpc>
              <a:spcBef>
                <a:spcPts val="400"/>
              </a:spcBef>
            </a:pPr>
            <a:r>
              <a:rPr lang="zh-CN" altLang="en-US" sz="2000">
                <a:latin typeface="宋体" panose="02010600030101010101" pitchFamily="2" charset="-122"/>
              </a:rPr>
              <a:t>用例</a:t>
            </a:r>
            <a:r>
              <a:rPr lang="en-US" altLang="zh-CN" sz="2000">
                <a:latin typeface="宋体" panose="02010600030101010101" pitchFamily="2" charset="-122"/>
              </a:rPr>
              <a:t>6</a:t>
            </a:r>
            <a:r>
              <a:rPr lang="zh-CN" altLang="en-US" sz="2000">
                <a:latin typeface="宋体" panose="02010600030101010101" pitchFamily="2" charset="-122"/>
              </a:rPr>
              <a:t>：记录申请者信息（</a:t>
            </a:r>
            <a:r>
              <a:rPr lang="en-US" altLang="zh-CN" sz="2000">
                <a:latin typeface="宋体" panose="02010600030101010101" pitchFamily="2" charset="-122"/>
              </a:rPr>
              <a:t>Register Applicant Data</a:t>
            </a:r>
            <a:r>
              <a:rPr lang="zh-CN" altLang="en-US" sz="2000">
                <a:latin typeface="宋体" panose="02010600030101010101" pitchFamily="2" charset="-122"/>
              </a:rPr>
              <a:t>）</a:t>
            </a:r>
          </a:p>
          <a:p>
            <a:pPr lvl="1">
              <a:lnSpc>
                <a:spcPct val="120000"/>
              </a:lnSpc>
              <a:spcBef>
                <a:spcPts val="400"/>
              </a:spcBef>
            </a:pPr>
            <a:r>
              <a:rPr lang="zh-CN" altLang="en-US" sz="2000">
                <a:latin typeface="宋体" panose="02010600030101010101" pitchFamily="2" charset="-122"/>
              </a:rPr>
              <a:t>用例</a:t>
            </a:r>
            <a:r>
              <a:rPr lang="en-US" altLang="zh-CN" sz="2000">
                <a:latin typeface="宋体" panose="02010600030101010101" pitchFamily="2" charset="-122"/>
              </a:rPr>
              <a:t>7</a:t>
            </a:r>
            <a:r>
              <a:rPr lang="zh-CN" altLang="en-US" sz="2000">
                <a:latin typeface="宋体" panose="02010600030101010101" pitchFamily="2" charset="-122"/>
              </a:rPr>
              <a:t>：修改申请者信息（</a:t>
            </a:r>
            <a:r>
              <a:rPr lang="en-US" altLang="zh-CN" sz="2000">
                <a:latin typeface="宋体" panose="02010600030101010101" pitchFamily="2" charset="-122"/>
              </a:rPr>
              <a:t>Modify Applicant Data</a:t>
            </a:r>
            <a:r>
              <a:rPr lang="zh-CN" altLang="en-US" sz="2000">
                <a:latin typeface="宋体" panose="02010600030101010101" pitchFamily="2" charset="-122"/>
              </a:rPr>
              <a:t>）</a:t>
            </a:r>
          </a:p>
          <a:p>
            <a:pPr lvl="1">
              <a:lnSpc>
                <a:spcPct val="120000"/>
              </a:lnSpc>
              <a:spcBef>
                <a:spcPts val="400"/>
              </a:spcBef>
            </a:pPr>
            <a:r>
              <a:rPr lang="zh-CN" altLang="en-US" sz="2000">
                <a:latin typeface="宋体" panose="02010600030101010101" pitchFamily="2" charset="-122"/>
              </a:rPr>
              <a:t>用例</a:t>
            </a:r>
            <a:r>
              <a:rPr lang="en-US" altLang="zh-CN" sz="2000">
                <a:latin typeface="宋体" panose="02010600030101010101" pitchFamily="2" charset="-122"/>
              </a:rPr>
              <a:t>8</a:t>
            </a:r>
            <a:r>
              <a:rPr lang="zh-CN" altLang="en-US" sz="2000">
                <a:latin typeface="宋体" panose="02010600030101010101" pitchFamily="2" charset="-122"/>
              </a:rPr>
              <a:t>：确认申请信息（</a:t>
            </a:r>
            <a:r>
              <a:rPr lang="en-US" altLang="zh-CN" sz="2000">
                <a:latin typeface="宋体" panose="02010600030101010101" pitchFamily="2" charset="-122"/>
              </a:rPr>
              <a:t>Validate Application</a:t>
            </a:r>
            <a:r>
              <a:rPr lang="zh-CN" altLang="en-US" sz="2000">
                <a:latin typeface="宋体" panose="02010600030101010101" pitchFamily="2" charset="-122"/>
              </a:rPr>
              <a:t>）</a:t>
            </a:r>
          </a:p>
        </p:txBody>
      </p:sp>
      <p:sp>
        <p:nvSpPr>
          <p:cNvPr id="41987" name="Rectangle 2">
            <a:extLst>
              <a:ext uri="{FF2B5EF4-FFF2-40B4-BE49-F238E27FC236}">
                <a16:creationId xmlns:a16="http://schemas.microsoft.com/office/drawing/2014/main" id="{CBBC0146-0B11-498A-83AF-DFFC31EA5751}"/>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1988" name="Rectangle 2">
            <a:extLst>
              <a:ext uri="{FF2B5EF4-FFF2-40B4-BE49-F238E27FC236}">
                <a16:creationId xmlns:a16="http://schemas.microsoft.com/office/drawing/2014/main" id="{ED0E4F17-B4F4-49D8-86DF-C1BF519AD250}"/>
              </a:ext>
            </a:extLst>
          </p:cNvPr>
          <p:cNvSpPr>
            <a:spLocks noGrp="1" noChangeArrowheads="1"/>
          </p:cNvSpPr>
          <p:nvPr>
            <p:ph type="title"/>
          </p:nvPr>
        </p:nvSpPr>
        <p:spPr>
          <a:xfrm>
            <a:off x="177800" y="1054100"/>
            <a:ext cx="8788400" cy="717550"/>
          </a:xfrm>
          <a:noFill/>
        </p:spPr>
        <p:txBody>
          <a:bodyPr/>
          <a:lstStyle/>
          <a:p>
            <a:pPr eaLnBrk="1" hangingPunct="1"/>
            <a:r>
              <a:rPr lang="zh-CN" altLang="en-US"/>
              <a:t>案例分析</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3">
            <a:extLst>
              <a:ext uri="{FF2B5EF4-FFF2-40B4-BE49-F238E27FC236}">
                <a16:creationId xmlns:a16="http://schemas.microsoft.com/office/drawing/2014/main" id="{2D711940-F1A6-430D-8B26-F4E622AA2368}"/>
              </a:ext>
            </a:extLst>
          </p:cNvPr>
          <p:cNvSpPr txBox="1">
            <a:spLocks noChangeArrowheads="1"/>
          </p:cNvSpPr>
          <p:nvPr/>
        </p:nvSpPr>
        <p:spPr bwMode="auto">
          <a:xfrm>
            <a:off x="395288" y="1844675"/>
            <a:ext cx="7410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zh-CN" altLang="en-US" sz="2000" b="0">
                <a:solidFill>
                  <a:schemeClr val="accent1"/>
                </a:solidFill>
                <a:latin typeface="Times New Roman" panose="02020603050405020304" pitchFamily="18" charset="0"/>
                <a:ea typeface="黑体" panose="02010609060101010101" pitchFamily="49" charset="-122"/>
              </a:rPr>
              <a:t>用例分析</a:t>
            </a:r>
          </a:p>
        </p:txBody>
      </p:sp>
      <p:sp>
        <p:nvSpPr>
          <p:cNvPr id="40963" name="Rectangle 2">
            <a:extLst>
              <a:ext uri="{FF2B5EF4-FFF2-40B4-BE49-F238E27FC236}">
                <a16:creationId xmlns:a16="http://schemas.microsoft.com/office/drawing/2014/main" id="{951D7269-6426-462B-9E66-7445EE795C8C}"/>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pic>
        <p:nvPicPr>
          <p:cNvPr id="40964" name="图片 5">
            <a:extLst>
              <a:ext uri="{FF2B5EF4-FFF2-40B4-BE49-F238E27FC236}">
                <a16:creationId xmlns:a16="http://schemas.microsoft.com/office/drawing/2014/main" id="{44980159-E739-4A01-9117-4A1CB9DCAC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1989138"/>
            <a:ext cx="684053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3">
            <a:extLst>
              <a:ext uri="{FF2B5EF4-FFF2-40B4-BE49-F238E27FC236}">
                <a16:creationId xmlns:a16="http://schemas.microsoft.com/office/drawing/2014/main" id="{B30FBB65-1C11-4271-81B6-B36D42312888}"/>
              </a:ext>
            </a:extLst>
          </p:cNvPr>
          <p:cNvSpPr>
            <a:spLocks noChangeArrowheads="1"/>
          </p:cNvSpPr>
          <p:nvPr/>
        </p:nvSpPr>
        <p:spPr bwMode="auto">
          <a:xfrm>
            <a:off x="3071813" y="6475413"/>
            <a:ext cx="38576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1270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600" b="0">
                <a:solidFill>
                  <a:srgbClr val="000000"/>
                </a:solidFill>
                <a:latin typeface="Times New Roman" panose="02020603050405020304" pitchFamily="18" charset="0"/>
              </a:rPr>
              <a:t> </a:t>
            </a:r>
            <a:r>
              <a:rPr lang="en-US" altLang="zh-CN" sz="1600">
                <a:solidFill>
                  <a:srgbClr val="000000"/>
                </a:solidFill>
                <a:latin typeface="Times New Roman" panose="02020603050405020304" pitchFamily="18" charset="0"/>
              </a:rPr>
              <a:t>HRMS</a:t>
            </a:r>
            <a:r>
              <a:rPr lang="zh-CN" altLang="en-US" sz="1600">
                <a:solidFill>
                  <a:srgbClr val="000000"/>
                </a:solidFill>
                <a:latin typeface="Times New Roman" panose="02020603050405020304" pitchFamily="18" charset="0"/>
              </a:rPr>
              <a:t>中的用例图</a:t>
            </a:r>
            <a:endParaRPr lang="zh-CN" altLang="en-US" sz="1600">
              <a:latin typeface="Times New Roman" panose="02020603050405020304" pitchFamily="18" charset="0"/>
            </a:endParaRPr>
          </a:p>
        </p:txBody>
      </p:sp>
      <p:sp>
        <p:nvSpPr>
          <p:cNvPr id="40966" name="Rectangle 2">
            <a:extLst>
              <a:ext uri="{FF2B5EF4-FFF2-40B4-BE49-F238E27FC236}">
                <a16:creationId xmlns:a16="http://schemas.microsoft.com/office/drawing/2014/main" id="{F0D9E003-8300-4F5A-BFE7-21C3B66FD42D}"/>
              </a:ext>
            </a:extLst>
          </p:cNvPr>
          <p:cNvSpPr>
            <a:spLocks noGrp="1" noChangeArrowheads="1"/>
          </p:cNvSpPr>
          <p:nvPr>
            <p:ph type="title"/>
          </p:nvPr>
        </p:nvSpPr>
        <p:spPr>
          <a:xfrm>
            <a:off x="177800" y="1054100"/>
            <a:ext cx="8788400" cy="717550"/>
          </a:xfrm>
          <a:noFill/>
        </p:spPr>
        <p:txBody>
          <a:bodyPr/>
          <a:lstStyle/>
          <a:p>
            <a:pPr eaLnBrk="1" hangingPunct="1"/>
            <a:r>
              <a:rPr lang="zh-CN" altLang="en-US"/>
              <a:t>案例分析</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431A11A-3696-40AF-9444-34FC36F0C8E8}"/>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3011" name="TextBox 3">
            <a:extLst>
              <a:ext uri="{FF2B5EF4-FFF2-40B4-BE49-F238E27FC236}">
                <a16:creationId xmlns:a16="http://schemas.microsoft.com/office/drawing/2014/main" id="{71668A10-26D2-4A4B-AE8B-4D791A74EB8D}"/>
              </a:ext>
            </a:extLst>
          </p:cNvPr>
          <p:cNvSpPr txBox="1">
            <a:spLocks noChangeArrowheads="1"/>
          </p:cNvSpPr>
          <p:nvPr/>
        </p:nvSpPr>
        <p:spPr bwMode="auto">
          <a:xfrm>
            <a:off x="1071563" y="1989138"/>
            <a:ext cx="7072312" cy="488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ts val="1200"/>
              </a:spcBef>
              <a:buClr>
                <a:schemeClr val="accent2"/>
              </a:buClr>
              <a:buSzPct val="70000"/>
              <a:buFont typeface="Wingdings" panose="05000000000000000000" pitchFamily="2" charset="2"/>
              <a:buChar char="l"/>
            </a:pPr>
            <a:r>
              <a:rPr lang="zh-CN" altLang="en-US" sz="2000">
                <a:latin typeface="黑体" panose="02010609060101010101" pitchFamily="49" charset="-122"/>
                <a:ea typeface="黑体" panose="02010609060101010101" pitchFamily="49" charset="-122"/>
              </a:rPr>
              <a:t>编写</a:t>
            </a:r>
            <a:r>
              <a:rPr lang="en-US" altLang="en-US" sz="2000">
                <a:latin typeface="黑体" panose="02010609060101010101" pitchFamily="49" charset="-122"/>
                <a:ea typeface="黑体" panose="02010609060101010101" pitchFamily="49" charset="-122"/>
              </a:rPr>
              <a:t>Use Case</a:t>
            </a:r>
            <a:r>
              <a:rPr lang="zh-CN" altLang="en-US" sz="2000">
                <a:latin typeface="黑体" panose="02010609060101010101" pitchFamily="49" charset="-122"/>
                <a:ea typeface="黑体" panose="02010609060101010101" pitchFamily="49" charset="-122"/>
              </a:rPr>
              <a:t>报告</a:t>
            </a:r>
            <a:endParaRPr lang="en-US" altLang="zh-CN" sz="2000">
              <a:latin typeface="黑体" panose="02010609060101010101" pitchFamily="49" charset="-122"/>
              <a:ea typeface="黑体" panose="02010609060101010101" pitchFamily="49" charset="-122"/>
            </a:endParaRPr>
          </a:p>
          <a:p>
            <a:pPr eaLnBrk="1" hangingPunct="1">
              <a:lnSpc>
                <a:spcPts val="3000"/>
              </a:lnSpc>
              <a:spcBef>
                <a:spcPct val="10000"/>
              </a:spcBef>
              <a:buClrTx/>
              <a:buFontTx/>
              <a:buNone/>
            </a:pPr>
            <a:r>
              <a:rPr lang="zh-CN" altLang="en-US" sz="2000">
                <a:latin typeface="Times New Roman" panose="02020603050405020304" pitchFamily="18" charset="0"/>
              </a:rPr>
              <a:t>为系统中的每个用例编写</a:t>
            </a:r>
            <a:r>
              <a:rPr lang="en-US" altLang="zh-CN" sz="2000">
                <a:latin typeface="Times New Roman" panose="02020603050405020304" pitchFamily="18" charset="0"/>
              </a:rPr>
              <a:t>Use Case</a:t>
            </a:r>
            <a:r>
              <a:rPr lang="zh-CN" altLang="en-US" sz="2000">
                <a:latin typeface="Times New Roman" panose="02020603050405020304" pitchFamily="18" charset="0"/>
              </a:rPr>
              <a:t>报告，则系统分析与设计人员可以更加清晰的掌握系统架构。</a:t>
            </a:r>
            <a:endParaRPr lang="en-US" altLang="zh-CN" sz="2000">
              <a:latin typeface="Times New Roman" panose="02020603050405020304" pitchFamily="18" charset="0"/>
            </a:endParaRPr>
          </a:p>
          <a:p>
            <a:pPr eaLnBrk="1" hangingPunct="1">
              <a:lnSpc>
                <a:spcPts val="3000"/>
              </a:lnSpc>
              <a:spcBef>
                <a:spcPct val="10000"/>
              </a:spcBef>
              <a:buClrTx/>
              <a:buFontTx/>
              <a:buNone/>
            </a:pPr>
            <a:r>
              <a:rPr lang="zh-CN" altLang="en-US" sz="2000">
                <a:latin typeface="Times New Roman" panose="02020603050405020304" pitchFamily="18" charset="0"/>
              </a:rPr>
              <a:t>格式如下：</a:t>
            </a:r>
          </a:p>
          <a:p>
            <a:pPr eaLnBrk="1" hangingPunct="1">
              <a:lnSpc>
                <a:spcPts val="3000"/>
              </a:lnSpc>
              <a:spcBef>
                <a:spcPct val="10000"/>
              </a:spcBef>
              <a:buClrTx/>
              <a:buFontTx/>
              <a:buNone/>
            </a:pPr>
            <a:r>
              <a:rPr lang="en-US" altLang="zh-CN" sz="2000">
                <a:latin typeface="Times New Roman" panose="02020603050405020304" pitchFamily="18" charset="0"/>
              </a:rPr>
              <a:t>Use Case Report: </a:t>
            </a:r>
            <a:r>
              <a:rPr lang="zh-CN" altLang="en-US" sz="2000">
                <a:latin typeface="Times New Roman" panose="02020603050405020304" pitchFamily="18" charset="0"/>
              </a:rPr>
              <a:t>创建员工记录</a:t>
            </a:r>
          </a:p>
          <a:p>
            <a:pPr eaLnBrk="1" hangingPunct="1">
              <a:lnSpc>
                <a:spcPts val="3000"/>
              </a:lnSpc>
              <a:spcBef>
                <a:spcPct val="10000"/>
              </a:spcBef>
              <a:buClrTx/>
              <a:buFontTx/>
              <a:buNone/>
            </a:pPr>
            <a:r>
              <a:rPr lang="en-US" altLang="zh-CN" sz="2000">
                <a:latin typeface="Times New Roman" panose="02020603050405020304" pitchFamily="18" charset="0"/>
              </a:rPr>
              <a:t>【</a:t>
            </a:r>
            <a:r>
              <a:rPr lang="zh-CN" altLang="en-US" sz="2000">
                <a:latin typeface="Times New Roman" panose="02020603050405020304" pitchFamily="18" charset="0"/>
              </a:rPr>
              <a:t>简短描述</a:t>
            </a:r>
            <a:r>
              <a:rPr lang="en-US" altLang="zh-CN" sz="2000">
                <a:latin typeface="Times New Roman" panose="02020603050405020304" pitchFamily="18" charset="0"/>
              </a:rPr>
              <a:t>】</a:t>
            </a:r>
          </a:p>
          <a:p>
            <a:pPr eaLnBrk="1" hangingPunct="1">
              <a:lnSpc>
                <a:spcPts val="3000"/>
              </a:lnSpc>
              <a:spcBef>
                <a:spcPct val="10000"/>
              </a:spcBef>
              <a:buClrTx/>
              <a:buFontTx/>
              <a:buNone/>
            </a:pPr>
            <a:r>
              <a:rPr lang="en-US" altLang="zh-CN" sz="2000">
                <a:latin typeface="Times New Roman" panose="02020603050405020304" pitchFamily="18" charset="0"/>
              </a:rPr>
              <a:t>【</a:t>
            </a:r>
            <a:r>
              <a:rPr lang="zh-CN" altLang="en-US" sz="2000">
                <a:latin typeface="Times New Roman" panose="02020603050405020304" pitchFamily="18" charset="0"/>
              </a:rPr>
              <a:t>事件流</a:t>
            </a:r>
            <a:r>
              <a:rPr lang="en-US" altLang="zh-CN" sz="2000">
                <a:latin typeface="Times New Roman" panose="02020603050405020304" pitchFamily="18" charset="0"/>
              </a:rPr>
              <a:t>】</a:t>
            </a:r>
          </a:p>
          <a:p>
            <a:pPr eaLnBrk="1" hangingPunct="1">
              <a:lnSpc>
                <a:spcPts val="3000"/>
              </a:lnSpc>
              <a:spcBef>
                <a:spcPct val="10000"/>
              </a:spcBef>
              <a:buClrTx/>
              <a:buFontTx/>
              <a:buNone/>
            </a:pPr>
            <a:r>
              <a:rPr lang="en-US" altLang="zh-CN" sz="2000">
                <a:latin typeface="Times New Roman" panose="02020603050405020304" pitchFamily="18" charset="0"/>
              </a:rPr>
              <a:t>【</a:t>
            </a:r>
            <a:r>
              <a:rPr lang="zh-CN" altLang="en-US" sz="2000">
                <a:latin typeface="Times New Roman" panose="02020603050405020304" pitchFamily="18" charset="0"/>
              </a:rPr>
              <a:t>特殊需求</a:t>
            </a:r>
            <a:r>
              <a:rPr lang="en-US" altLang="zh-CN" sz="2000">
                <a:latin typeface="Times New Roman" panose="02020603050405020304" pitchFamily="18" charset="0"/>
              </a:rPr>
              <a:t>】</a:t>
            </a:r>
            <a:endParaRPr lang="zh-CN" altLang="en-US" sz="2000">
              <a:latin typeface="Times New Roman" panose="02020603050405020304" pitchFamily="18" charset="0"/>
            </a:endParaRPr>
          </a:p>
          <a:p>
            <a:pPr eaLnBrk="1" hangingPunct="1">
              <a:lnSpc>
                <a:spcPts val="3000"/>
              </a:lnSpc>
              <a:spcBef>
                <a:spcPct val="10000"/>
              </a:spcBef>
              <a:buClrTx/>
              <a:buFontTx/>
              <a:buNone/>
            </a:pPr>
            <a:r>
              <a:rPr lang="en-US" altLang="zh-CN" sz="2000">
                <a:latin typeface="Times New Roman" panose="02020603050405020304" pitchFamily="18" charset="0"/>
              </a:rPr>
              <a:t>【</a:t>
            </a:r>
            <a:r>
              <a:rPr lang="zh-CN" altLang="en-US" sz="2000">
                <a:latin typeface="Times New Roman" panose="02020603050405020304" pitchFamily="18" charset="0"/>
              </a:rPr>
              <a:t>执行前条件</a:t>
            </a:r>
            <a:r>
              <a:rPr lang="en-US" altLang="zh-CN" sz="2000">
                <a:latin typeface="Times New Roman" panose="02020603050405020304" pitchFamily="18" charset="0"/>
              </a:rPr>
              <a:t>】</a:t>
            </a:r>
          </a:p>
          <a:p>
            <a:pPr eaLnBrk="1" hangingPunct="1">
              <a:lnSpc>
                <a:spcPts val="3000"/>
              </a:lnSpc>
              <a:spcBef>
                <a:spcPct val="10000"/>
              </a:spcBef>
              <a:buClrTx/>
              <a:buFontTx/>
              <a:buNone/>
            </a:pPr>
            <a:r>
              <a:rPr lang="en-US" altLang="zh-CN" sz="2000">
                <a:latin typeface="Times New Roman" panose="02020603050405020304" pitchFamily="18" charset="0"/>
              </a:rPr>
              <a:t>【</a:t>
            </a:r>
            <a:r>
              <a:rPr lang="zh-CN" altLang="en-US" sz="2000">
                <a:latin typeface="Times New Roman" panose="02020603050405020304" pitchFamily="18" charset="0"/>
              </a:rPr>
              <a:t>执行后结果</a:t>
            </a:r>
            <a:r>
              <a:rPr lang="en-US" altLang="zh-CN" sz="2000">
                <a:latin typeface="Times New Roman" panose="02020603050405020304" pitchFamily="18" charset="0"/>
              </a:rPr>
              <a:t>】</a:t>
            </a:r>
          </a:p>
          <a:p>
            <a:pPr eaLnBrk="1" hangingPunct="1">
              <a:lnSpc>
                <a:spcPts val="3000"/>
              </a:lnSpc>
              <a:spcBef>
                <a:spcPct val="10000"/>
              </a:spcBef>
              <a:buClrTx/>
              <a:buFontTx/>
              <a:buNone/>
            </a:pPr>
            <a:r>
              <a:rPr lang="zh-CN" altLang="zh-CN" sz="2000">
                <a:solidFill>
                  <a:srgbClr val="000000"/>
                </a:solidFill>
                <a:latin typeface="Times New Roman" panose="02020603050405020304" pitchFamily="18" charset="0"/>
              </a:rPr>
              <a:t>【</a:t>
            </a:r>
            <a:r>
              <a:rPr lang="en-US" altLang="zh-CN" sz="2000">
                <a:solidFill>
                  <a:srgbClr val="000000"/>
                </a:solidFill>
                <a:latin typeface="Times New Roman" panose="02020603050405020304" pitchFamily="18" charset="0"/>
              </a:rPr>
              <a:t>Use case</a:t>
            </a:r>
            <a:r>
              <a:rPr lang="zh-CN" altLang="en-US" sz="2000">
                <a:solidFill>
                  <a:srgbClr val="000000"/>
                </a:solidFill>
                <a:latin typeface="Times New Roman" panose="02020603050405020304" pitchFamily="18" charset="0"/>
              </a:rPr>
              <a:t>图</a:t>
            </a:r>
            <a:r>
              <a:rPr lang="en-US" altLang="zh-CN" sz="2000">
                <a:solidFill>
                  <a:srgbClr val="000000"/>
                </a:solidFill>
                <a:latin typeface="Times New Roman" panose="02020603050405020304" pitchFamily="18" charset="0"/>
              </a:rPr>
              <a:t>】</a:t>
            </a:r>
            <a:endParaRPr lang="en-US" altLang="zh-CN" sz="2000">
              <a:latin typeface="Times New Roman" panose="02020603050405020304" pitchFamily="18" charset="0"/>
            </a:endParaRPr>
          </a:p>
          <a:p>
            <a:pPr eaLnBrk="1" hangingPunct="1">
              <a:lnSpc>
                <a:spcPts val="3000"/>
              </a:lnSpc>
              <a:spcBef>
                <a:spcPct val="10000"/>
              </a:spcBef>
              <a:buClrTx/>
              <a:buFontTx/>
              <a:buNone/>
            </a:pPr>
            <a:r>
              <a:rPr lang="en-US" altLang="zh-CN" sz="2000">
                <a:latin typeface="Times New Roman" panose="02020603050405020304" pitchFamily="18" charset="0"/>
              </a:rPr>
              <a:t>【</a:t>
            </a:r>
            <a:r>
              <a:rPr lang="zh-CN" altLang="en-US" sz="2000">
                <a:latin typeface="Times New Roman" panose="02020603050405020304" pitchFamily="18" charset="0"/>
              </a:rPr>
              <a:t>场景</a:t>
            </a:r>
            <a:r>
              <a:rPr lang="en-US" altLang="zh-CN" sz="2000">
                <a:latin typeface="Times New Roman" panose="02020603050405020304" pitchFamily="18" charset="0"/>
              </a:rPr>
              <a:t>】</a:t>
            </a:r>
          </a:p>
        </p:txBody>
      </p:sp>
      <p:sp>
        <p:nvSpPr>
          <p:cNvPr id="43012" name="Rectangle 2">
            <a:extLst>
              <a:ext uri="{FF2B5EF4-FFF2-40B4-BE49-F238E27FC236}">
                <a16:creationId xmlns:a16="http://schemas.microsoft.com/office/drawing/2014/main" id="{D57B6356-3126-4588-8590-0CE61FF03A1A}"/>
              </a:ext>
            </a:extLst>
          </p:cNvPr>
          <p:cNvSpPr>
            <a:spLocks noGrp="1" noChangeArrowheads="1"/>
          </p:cNvSpPr>
          <p:nvPr>
            <p:ph type="title"/>
          </p:nvPr>
        </p:nvSpPr>
        <p:spPr>
          <a:xfrm>
            <a:off x="177800" y="1054100"/>
            <a:ext cx="8788400" cy="717550"/>
          </a:xfrm>
          <a:noFill/>
        </p:spPr>
        <p:txBody>
          <a:bodyPr/>
          <a:lstStyle/>
          <a:p>
            <a:pPr eaLnBrk="1" hangingPunct="1"/>
            <a:r>
              <a:rPr lang="zh-CN" altLang="en-US"/>
              <a:t>案例分析</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AED0778-36DD-495F-9133-BCFFD7F85C33}"/>
              </a:ext>
            </a:extLst>
          </p:cNvPr>
          <p:cNvSpPr>
            <a:spLocks noChangeArrowheads="1"/>
          </p:cNvSpPr>
          <p:nvPr/>
        </p:nvSpPr>
        <p:spPr bwMode="auto">
          <a:xfrm>
            <a:off x="506413" y="1949450"/>
            <a:ext cx="65897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1270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solidFill>
                  <a:schemeClr val="accent1"/>
                </a:solidFill>
                <a:latin typeface="黑体" panose="02010609060101010101" pitchFamily="49" charset="-122"/>
                <a:ea typeface="黑体" panose="02010609060101010101" pitchFamily="49" charset="-122"/>
              </a:rPr>
              <a:t>下表描述了该用例和主角与其他</a:t>
            </a:r>
            <a:r>
              <a:rPr lang="en-US" altLang="zh-CN" sz="2000">
                <a:solidFill>
                  <a:schemeClr val="accent1"/>
                </a:solidFill>
                <a:latin typeface="黑体" panose="02010609060101010101" pitchFamily="49" charset="-122"/>
                <a:ea typeface="黑体" panose="02010609060101010101" pitchFamily="49" charset="-122"/>
              </a:rPr>
              <a:t>use case</a:t>
            </a:r>
            <a:r>
              <a:rPr lang="zh-CN" altLang="en-US" sz="2000">
                <a:solidFill>
                  <a:schemeClr val="accent1"/>
                </a:solidFill>
                <a:latin typeface="黑体" panose="02010609060101010101" pitchFamily="49" charset="-122"/>
                <a:ea typeface="黑体" panose="02010609060101010101" pitchFamily="49" charset="-122"/>
              </a:rPr>
              <a:t>的关系。</a:t>
            </a:r>
          </a:p>
        </p:txBody>
      </p:sp>
      <p:pic>
        <p:nvPicPr>
          <p:cNvPr id="44035" name="图片 6">
            <a:extLst>
              <a:ext uri="{FF2B5EF4-FFF2-40B4-BE49-F238E27FC236}">
                <a16:creationId xmlns:a16="http://schemas.microsoft.com/office/drawing/2014/main" id="{B1ACAD2B-823E-4520-AF9C-C06F164518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833" b="10417"/>
          <a:stretch>
            <a:fillRect/>
          </a:stretch>
        </p:blipFill>
        <p:spPr bwMode="auto">
          <a:xfrm>
            <a:off x="971550" y="2500313"/>
            <a:ext cx="7777163"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Rectangle 3">
            <a:extLst>
              <a:ext uri="{FF2B5EF4-FFF2-40B4-BE49-F238E27FC236}">
                <a16:creationId xmlns:a16="http://schemas.microsoft.com/office/drawing/2014/main" id="{33B17146-2E41-422A-AC20-939933AF9EA6}"/>
              </a:ext>
            </a:extLst>
          </p:cNvPr>
          <p:cNvSpPr>
            <a:spLocks noChangeArrowheads="1"/>
          </p:cNvSpPr>
          <p:nvPr/>
        </p:nvSpPr>
        <p:spPr bwMode="auto">
          <a:xfrm>
            <a:off x="2286000" y="6215063"/>
            <a:ext cx="46434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1270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600" b="0">
                <a:solidFill>
                  <a:srgbClr val="000000"/>
                </a:solidFill>
                <a:latin typeface="Times New Roman" panose="02020603050405020304" pitchFamily="18" charset="0"/>
              </a:rPr>
              <a:t> </a:t>
            </a:r>
            <a:r>
              <a:rPr lang="en-US" altLang="zh-CN" sz="1600">
                <a:solidFill>
                  <a:srgbClr val="000000"/>
                </a:solidFill>
                <a:latin typeface="Times New Roman" panose="02020603050405020304" pitchFamily="18" charset="0"/>
              </a:rPr>
              <a:t>HRMS</a:t>
            </a:r>
            <a:r>
              <a:rPr lang="zh-CN" altLang="en-US" sz="1600">
                <a:solidFill>
                  <a:srgbClr val="000000"/>
                </a:solidFill>
                <a:latin typeface="Times New Roman" panose="02020603050405020304" pitchFamily="18" charset="0"/>
              </a:rPr>
              <a:t>中的用例图</a:t>
            </a:r>
            <a:endParaRPr lang="zh-CN" altLang="en-US" sz="1600">
              <a:latin typeface="Times New Roman" panose="02020603050405020304" pitchFamily="18" charset="0"/>
            </a:endParaRPr>
          </a:p>
        </p:txBody>
      </p:sp>
      <p:sp>
        <p:nvSpPr>
          <p:cNvPr id="44037" name="Rectangle 2">
            <a:extLst>
              <a:ext uri="{FF2B5EF4-FFF2-40B4-BE49-F238E27FC236}">
                <a16:creationId xmlns:a16="http://schemas.microsoft.com/office/drawing/2014/main" id="{F2431A6C-F9D7-4A2A-B57F-F07C32FFEE04}"/>
              </a:ext>
            </a:extLst>
          </p:cNvPr>
          <p:cNvSpPr>
            <a:spLocks noGrp="1" noChangeArrowheads="1"/>
          </p:cNvSpPr>
          <p:nvPr>
            <p:ph type="title"/>
          </p:nvPr>
        </p:nvSpPr>
        <p:spPr>
          <a:xfrm>
            <a:off x="177800" y="1054100"/>
            <a:ext cx="8788400" cy="717550"/>
          </a:xfrm>
          <a:noFill/>
        </p:spPr>
        <p:txBody>
          <a:bodyPr/>
          <a:lstStyle/>
          <a:p>
            <a:pPr eaLnBrk="1" hangingPunct="1"/>
            <a:r>
              <a:rPr lang="zh-CN" altLang="en-US"/>
              <a:t>案例分析</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3">
            <a:extLst>
              <a:ext uri="{FF2B5EF4-FFF2-40B4-BE49-F238E27FC236}">
                <a16:creationId xmlns:a16="http://schemas.microsoft.com/office/drawing/2014/main" id="{7F9870AA-E266-4623-B827-04245A49F21B}"/>
              </a:ext>
            </a:extLst>
          </p:cNvPr>
          <p:cNvSpPr txBox="1">
            <a:spLocks noChangeArrowheads="1"/>
          </p:cNvSpPr>
          <p:nvPr/>
        </p:nvSpPr>
        <p:spPr bwMode="auto">
          <a:xfrm>
            <a:off x="1000125" y="1916113"/>
            <a:ext cx="7748588"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chemeClr val="accent2"/>
              </a:buClr>
              <a:buSzPct val="70000"/>
              <a:buFont typeface="Wingdings" panose="05000000000000000000" pitchFamily="2" charset="2"/>
              <a:buChar char="n"/>
            </a:pPr>
            <a:r>
              <a:rPr kumimoji="0" lang="zh-CN" altLang="en-US" sz="2400" dirty="0">
                <a:solidFill>
                  <a:schemeClr val="accent2"/>
                </a:solidFill>
                <a:ea typeface="黑体" panose="02010609060101010101" pitchFamily="49" charset="-122"/>
              </a:rPr>
              <a:t> 需求变更管理</a:t>
            </a:r>
            <a:endParaRPr kumimoji="0" lang="en-US" altLang="zh-CN" sz="2400" dirty="0">
              <a:solidFill>
                <a:schemeClr val="accent2"/>
              </a:solidFill>
              <a:ea typeface="黑体" panose="02010609060101010101" pitchFamily="49" charset="-122"/>
            </a:endParaRPr>
          </a:p>
          <a:p>
            <a:pPr eaLnBrk="1" hangingPunct="1">
              <a:lnSpc>
                <a:spcPts val="3000"/>
              </a:lnSpc>
              <a:spcBef>
                <a:spcPct val="0"/>
              </a:spcBef>
              <a:buClrTx/>
              <a:buFontTx/>
              <a:buNone/>
            </a:pPr>
            <a:r>
              <a:rPr lang="zh-CN" altLang="en-US" sz="2000" b="0" dirty="0">
                <a:latin typeface="Times New Roman" panose="02020603050405020304" pitchFamily="18" charset="0"/>
              </a:rPr>
              <a:t>        </a:t>
            </a:r>
            <a:r>
              <a:rPr lang="zh-CN" altLang="en-US" sz="2000" dirty="0">
                <a:latin typeface="Times New Roman" panose="02020603050405020304" pitchFamily="18" charset="0"/>
              </a:rPr>
              <a:t>建立需求基准版本和需求控制版本文档。所有的需求文档都要进行版本控制，文档要包含文档类型、名称、创建者、创建时间、修改者、修改时间、版本号、评审人员等信息。</a:t>
            </a:r>
          </a:p>
          <a:p>
            <a:pPr eaLnBrk="1" hangingPunct="1">
              <a:lnSpc>
                <a:spcPts val="3000"/>
              </a:lnSpc>
              <a:spcBef>
                <a:spcPct val="0"/>
              </a:spcBef>
              <a:buClrTx/>
              <a:buFontTx/>
              <a:buNone/>
            </a:pPr>
            <a:r>
              <a:rPr lang="zh-CN" altLang="en-US" sz="2000" dirty="0">
                <a:latin typeface="Times New Roman" panose="02020603050405020304" pitchFamily="18" charset="0"/>
              </a:rPr>
              <a:t>        在开发</a:t>
            </a:r>
            <a:r>
              <a:rPr lang="en-US" altLang="zh-CN" sz="2000" dirty="0">
                <a:latin typeface="Times New Roman" panose="02020603050405020304" pitchFamily="18" charset="0"/>
              </a:rPr>
              <a:t>HRMS</a:t>
            </a:r>
            <a:r>
              <a:rPr lang="zh-CN" altLang="en-US" sz="2000" dirty="0">
                <a:latin typeface="Times New Roman" panose="02020603050405020304" pitchFamily="18" charset="0"/>
              </a:rPr>
              <a:t>中，提交的需求文档包括用户界面说明文档、</a:t>
            </a:r>
            <a:r>
              <a:rPr lang="en-US" altLang="zh-CN" sz="2000" dirty="0">
                <a:latin typeface="Times New Roman" panose="02020603050405020304" pitchFamily="18" charset="0"/>
              </a:rPr>
              <a:t>Use Case</a:t>
            </a:r>
            <a:r>
              <a:rPr lang="zh-CN" altLang="en-US" sz="2000" dirty="0">
                <a:latin typeface="Times New Roman" panose="02020603050405020304" pitchFamily="18" charset="0"/>
              </a:rPr>
              <a:t>报告、</a:t>
            </a:r>
            <a:r>
              <a:rPr lang="en-US" altLang="zh-CN" sz="2000" dirty="0">
                <a:latin typeface="Times New Roman" panose="02020603050405020304" pitchFamily="18" charset="0"/>
              </a:rPr>
              <a:t>Glossary</a:t>
            </a:r>
            <a:r>
              <a:rPr lang="zh-CN" altLang="en-US" sz="2000" dirty="0">
                <a:latin typeface="Times New Roman" panose="02020603050405020304" pitchFamily="18" charset="0"/>
              </a:rPr>
              <a:t>文档、软件开发计划、</a:t>
            </a:r>
            <a:r>
              <a:rPr lang="en-US" altLang="zh-CN" sz="2000" dirty="0">
                <a:latin typeface="Times New Roman" panose="02020603050405020304" pitchFamily="18" charset="0"/>
              </a:rPr>
              <a:t>Use Case</a:t>
            </a:r>
            <a:r>
              <a:rPr lang="zh-CN" altLang="en-US" sz="2000" dirty="0">
                <a:latin typeface="Times New Roman" panose="02020603050405020304" pitchFamily="18" charset="0"/>
              </a:rPr>
              <a:t>模型调研以及补充说明。所有的文档采用统一的编号规则和命名规则。</a:t>
            </a:r>
            <a:endParaRPr lang="en-US" altLang="zh-CN" sz="2000" dirty="0">
              <a:latin typeface="Times New Roman" panose="02020603050405020304" pitchFamily="18" charset="0"/>
            </a:endParaRPr>
          </a:p>
          <a:p>
            <a:pPr lvl="1" eaLnBrk="1" hangingPunct="1">
              <a:lnSpc>
                <a:spcPts val="3000"/>
              </a:lnSpc>
              <a:spcBef>
                <a:spcPct val="0"/>
              </a:spcBef>
              <a:buClr>
                <a:schemeClr val="accent2"/>
              </a:buClr>
              <a:buSzPct val="70000"/>
              <a:buFont typeface="Wingdings" panose="05000000000000000000" pitchFamily="2" charset="2"/>
              <a:buChar char="l"/>
            </a:pPr>
            <a:r>
              <a:rPr lang="en-US" altLang="zh-CN" sz="2000" dirty="0">
                <a:latin typeface="Times New Roman" panose="02020603050405020304" pitchFamily="18" charset="0"/>
              </a:rPr>
              <a:t> </a:t>
            </a:r>
            <a:r>
              <a:rPr lang="zh-CN" altLang="en-US" sz="2000" dirty="0">
                <a:solidFill>
                  <a:schemeClr val="accent2"/>
                </a:solidFill>
                <a:latin typeface="Times New Roman" panose="02020603050405020304" pitchFamily="18" charset="0"/>
                <a:ea typeface="黑体" panose="02010609060101010101" pitchFamily="49" charset="-122"/>
              </a:rPr>
              <a:t>文档编号规则</a:t>
            </a:r>
            <a:endParaRPr lang="zh-CN" altLang="en-US" sz="2000" dirty="0">
              <a:latin typeface="Times New Roman" panose="02020603050405020304" pitchFamily="18" charset="0"/>
            </a:endParaRPr>
          </a:p>
          <a:p>
            <a:pPr eaLnBrk="1" hangingPunct="1">
              <a:lnSpc>
                <a:spcPts val="3000"/>
              </a:lnSpc>
              <a:spcBef>
                <a:spcPct val="0"/>
              </a:spcBef>
              <a:buClrTx/>
              <a:buFontTx/>
              <a:buNone/>
            </a:pPr>
            <a:r>
              <a:rPr lang="zh-CN" altLang="en-US" sz="2000" dirty="0">
                <a:latin typeface="Times New Roman" panose="02020603050405020304" pitchFamily="18" charset="0"/>
              </a:rPr>
              <a:t>        系统名缩写＋</a:t>
            </a:r>
            <a:r>
              <a:rPr lang="en-US" altLang="zh-CN" sz="2000" dirty="0">
                <a:latin typeface="Times New Roman" panose="02020603050405020304" pitchFamily="18" charset="0"/>
              </a:rPr>
              <a:t>“_”</a:t>
            </a:r>
            <a:r>
              <a:rPr lang="zh-CN" altLang="en-US" sz="2000" dirty="0">
                <a:latin typeface="Times New Roman" panose="02020603050405020304" pitchFamily="18" charset="0"/>
              </a:rPr>
              <a:t>＋文档类型缩写＋</a:t>
            </a:r>
            <a:r>
              <a:rPr lang="en-US" altLang="zh-CN" sz="2000" dirty="0">
                <a:latin typeface="Times New Roman" panose="02020603050405020304" pitchFamily="18" charset="0"/>
              </a:rPr>
              <a:t>_</a:t>
            </a:r>
            <a:r>
              <a:rPr lang="zh-CN" altLang="en-US" sz="2000" dirty="0">
                <a:latin typeface="Times New Roman" panose="02020603050405020304" pitchFamily="18" charset="0"/>
              </a:rPr>
              <a:t>＋模块名缩写＋</a:t>
            </a:r>
            <a:r>
              <a:rPr lang="en-US" altLang="zh-CN" sz="2000" dirty="0">
                <a:latin typeface="Times New Roman" panose="02020603050405020304" pitchFamily="18" charset="0"/>
              </a:rPr>
              <a:t>“_”</a:t>
            </a:r>
            <a:r>
              <a:rPr lang="zh-CN" altLang="en-US" sz="2000" dirty="0">
                <a:latin typeface="Times New Roman" panose="02020603050405020304" pitchFamily="18" charset="0"/>
              </a:rPr>
              <a:t>＋编号</a:t>
            </a:r>
            <a:r>
              <a:rPr lang="zh-CN" altLang="en-US" sz="2000">
                <a:latin typeface="Times New Roman" panose="02020603050405020304" pitchFamily="18" charset="0"/>
              </a:rPr>
              <a:t>＋版本号。</a:t>
            </a:r>
            <a:endParaRPr lang="zh-CN" altLang="en-US" sz="2000" dirty="0">
              <a:latin typeface="Times New Roman" panose="02020603050405020304" pitchFamily="18" charset="0"/>
            </a:endParaRPr>
          </a:p>
          <a:p>
            <a:pPr lvl="1" eaLnBrk="1" hangingPunct="1">
              <a:lnSpc>
                <a:spcPts val="3000"/>
              </a:lnSpc>
              <a:spcBef>
                <a:spcPct val="0"/>
              </a:spcBef>
              <a:buClr>
                <a:schemeClr val="accent2"/>
              </a:buClr>
              <a:buSzPct val="70000"/>
              <a:buFont typeface="Wingdings" panose="05000000000000000000" pitchFamily="2" charset="2"/>
              <a:buChar char="l"/>
            </a:pPr>
            <a:r>
              <a:rPr lang="en-US" altLang="zh-CN" sz="2000" dirty="0">
                <a:latin typeface="Times New Roman" panose="02020603050405020304" pitchFamily="18" charset="0"/>
              </a:rPr>
              <a:t> </a:t>
            </a:r>
            <a:r>
              <a:rPr lang="zh-CN" altLang="en-US" sz="2000" dirty="0">
                <a:solidFill>
                  <a:schemeClr val="accent2"/>
                </a:solidFill>
                <a:latin typeface="Times New Roman" panose="02020603050405020304" pitchFamily="18" charset="0"/>
                <a:ea typeface="黑体" panose="02010609060101010101" pitchFamily="49" charset="-122"/>
              </a:rPr>
              <a:t>文档命名规则</a:t>
            </a:r>
            <a:endParaRPr lang="zh-CN" altLang="en-US" sz="2000" dirty="0">
              <a:latin typeface="Times New Roman" panose="02020603050405020304" pitchFamily="18" charset="0"/>
            </a:endParaRPr>
          </a:p>
          <a:p>
            <a:pPr eaLnBrk="1" hangingPunct="1">
              <a:lnSpc>
                <a:spcPts val="3000"/>
              </a:lnSpc>
              <a:spcBef>
                <a:spcPct val="0"/>
              </a:spcBef>
              <a:buClrTx/>
              <a:buFontTx/>
              <a:buNone/>
            </a:pPr>
            <a:r>
              <a:rPr lang="zh-CN" altLang="en-US" sz="2000" dirty="0">
                <a:latin typeface="Times New Roman" panose="02020603050405020304" pitchFamily="18" charset="0"/>
              </a:rPr>
              <a:t>        文档类型＋</a:t>
            </a:r>
            <a:r>
              <a:rPr lang="en-US" altLang="zh-CN" sz="2000" dirty="0">
                <a:latin typeface="Times New Roman" panose="02020603050405020304" pitchFamily="18" charset="0"/>
              </a:rPr>
              <a:t>“_”+</a:t>
            </a:r>
            <a:r>
              <a:rPr lang="zh-CN" altLang="en-US" sz="2000" dirty="0">
                <a:latin typeface="Times New Roman" panose="02020603050405020304" pitchFamily="18" charset="0"/>
              </a:rPr>
              <a:t>文档名</a:t>
            </a:r>
            <a:r>
              <a:rPr lang="en-US" altLang="zh-CN" sz="2000" dirty="0">
                <a:latin typeface="Times New Roman" panose="02020603050405020304" pitchFamily="18" charset="0"/>
              </a:rPr>
              <a:t>“_”</a:t>
            </a:r>
            <a:r>
              <a:rPr lang="zh-CN" altLang="en-US" sz="2000" dirty="0">
                <a:latin typeface="Times New Roman" panose="02020603050405020304" pitchFamily="18" charset="0"/>
              </a:rPr>
              <a:t>＋版本号。</a:t>
            </a:r>
          </a:p>
        </p:txBody>
      </p:sp>
      <p:sp>
        <p:nvSpPr>
          <p:cNvPr id="45059" name="Rectangle 2">
            <a:extLst>
              <a:ext uri="{FF2B5EF4-FFF2-40B4-BE49-F238E27FC236}">
                <a16:creationId xmlns:a16="http://schemas.microsoft.com/office/drawing/2014/main" id="{13CA0889-B099-4873-8A47-4C559BFD7D2C}"/>
              </a:ext>
            </a:extLst>
          </p:cNvPr>
          <p:cNvSpPr>
            <a:spLocks noGrp="1" noChangeArrowheads="1"/>
          </p:cNvSpPr>
          <p:nvPr>
            <p:ph type="title"/>
          </p:nvPr>
        </p:nvSpPr>
        <p:spPr>
          <a:xfrm>
            <a:off x="177800" y="1054100"/>
            <a:ext cx="8788400" cy="717550"/>
          </a:xfrm>
          <a:noFill/>
        </p:spPr>
        <p:txBody>
          <a:bodyPr/>
          <a:lstStyle/>
          <a:p>
            <a:pPr eaLnBrk="1" hangingPunct="1"/>
            <a:r>
              <a:rPr lang="zh-CN" altLang="en-US"/>
              <a:t>案例分析</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9A3E122-CA0F-470E-A04D-C248581AA09E}"/>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aphicFrame>
        <p:nvGraphicFramePr>
          <p:cNvPr id="46083" name="Object 1">
            <a:extLst>
              <a:ext uri="{FF2B5EF4-FFF2-40B4-BE49-F238E27FC236}">
                <a16:creationId xmlns:a16="http://schemas.microsoft.com/office/drawing/2014/main" id="{F4082DD0-3E03-497A-AF4C-5093338C58B2}"/>
              </a:ext>
            </a:extLst>
          </p:cNvPr>
          <p:cNvGraphicFramePr>
            <a:graphicFrameLocks noChangeAspect="1"/>
          </p:cNvGraphicFramePr>
          <p:nvPr/>
        </p:nvGraphicFramePr>
        <p:xfrm>
          <a:off x="1692275" y="1876425"/>
          <a:ext cx="5759450" cy="4505325"/>
        </p:xfrm>
        <a:graphic>
          <a:graphicData uri="http://schemas.openxmlformats.org/presentationml/2006/ole">
            <mc:AlternateContent xmlns:mc="http://schemas.openxmlformats.org/markup-compatibility/2006">
              <mc:Choice xmlns:v="urn:schemas-microsoft-com:vml" Requires="v">
                <p:oleObj name="Visio" r:id="rId2" imgW="4881677" imgH="5974690" progId="Visio.Drawing.11">
                  <p:embed/>
                </p:oleObj>
              </mc:Choice>
              <mc:Fallback>
                <p:oleObj name="Visio" r:id="rId2" imgW="4881677" imgH="597469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876425"/>
                        <a:ext cx="5759450"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4" name="Rectangle 3">
            <a:extLst>
              <a:ext uri="{FF2B5EF4-FFF2-40B4-BE49-F238E27FC236}">
                <a16:creationId xmlns:a16="http://schemas.microsoft.com/office/drawing/2014/main" id="{7D1CB28D-8BF8-4DA7-BA9B-A1CD6FCA9A31}"/>
              </a:ext>
            </a:extLst>
          </p:cNvPr>
          <p:cNvSpPr>
            <a:spLocks noChangeArrowheads="1"/>
          </p:cNvSpPr>
          <p:nvPr/>
        </p:nvSpPr>
        <p:spPr bwMode="auto">
          <a:xfrm>
            <a:off x="2928938" y="6475413"/>
            <a:ext cx="31432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1270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b="0">
                <a:solidFill>
                  <a:srgbClr val="000000"/>
                </a:solidFill>
                <a:latin typeface="Times New Roman" panose="02020603050405020304" pitchFamily="18" charset="0"/>
                <a:ea typeface="黑体" panose="02010609060101010101" pitchFamily="49" charset="-122"/>
              </a:rPr>
              <a:t>需求变更管理流程</a:t>
            </a:r>
            <a:endParaRPr lang="zh-CN" altLang="en-US" sz="1600" b="0">
              <a:latin typeface="Times New Roman" panose="02020603050405020304" pitchFamily="18" charset="0"/>
              <a:ea typeface="黑体" panose="02010609060101010101" pitchFamily="49" charset="-122"/>
            </a:endParaRPr>
          </a:p>
        </p:txBody>
      </p:sp>
      <p:sp>
        <p:nvSpPr>
          <p:cNvPr id="46085" name="Rectangle 2">
            <a:extLst>
              <a:ext uri="{FF2B5EF4-FFF2-40B4-BE49-F238E27FC236}">
                <a16:creationId xmlns:a16="http://schemas.microsoft.com/office/drawing/2014/main" id="{B6259280-82C6-46BA-88D6-1F9316A7A355}"/>
              </a:ext>
            </a:extLst>
          </p:cNvPr>
          <p:cNvSpPr>
            <a:spLocks noGrp="1" noChangeArrowheads="1"/>
          </p:cNvSpPr>
          <p:nvPr>
            <p:ph type="title"/>
          </p:nvPr>
        </p:nvSpPr>
        <p:spPr>
          <a:xfrm>
            <a:off x="177800" y="1054100"/>
            <a:ext cx="8788400" cy="717550"/>
          </a:xfrm>
          <a:noFill/>
        </p:spPr>
        <p:txBody>
          <a:bodyPr/>
          <a:lstStyle/>
          <a:p>
            <a:pPr eaLnBrk="1" hangingPunct="1"/>
            <a:r>
              <a:rPr lang="zh-CN" altLang="en-US"/>
              <a:t>案例分析</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9DBAA4E-D7D8-4DDA-B676-930B37C5A374}"/>
              </a:ext>
            </a:extLst>
          </p:cNvPr>
          <p:cNvSpPr>
            <a:spLocks noGrp="1" noChangeArrowheads="1"/>
          </p:cNvSpPr>
          <p:nvPr>
            <p:ph type="title" idx="4294967295"/>
          </p:nvPr>
        </p:nvSpPr>
        <p:spPr>
          <a:xfrm>
            <a:off x="179388" y="1052513"/>
            <a:ext cx="8788400" cy="717550"/>
          </a:xfrm>
          <a:noFill/>
        </p:spPr>
        <p:txBody>
          <a:bodyPr/>
          <a:lstStyle/>
          <a:p>
            <a:pPr eaLnBrk="1" hangingPunct="1"/>
            <a:r>
              <a:rPr lang="zh-CN" altLang="en-US"/>
              <a:t>本章内容提要</a:t>
            </a:r>
            <a:endParaRPr lang="en-US" altLang="zh-CN"/>
          </a:p>
        </p:txBody>
      </p:sp>
      <p:grpSp>
        <p:nvGrpSpPr>
          <p:cNvPr id="47107" name="Group 3">
            <a:extLst>
              <a:ext uri="{FF2B5EF4-FFF2-40B4-BE49-F238E27FC236}">
                <a16:creationId xmlns:a16="http://schemas.microsoft.com/office/drawing/2014/main" id="{C5F6BF5D-6778-49C8-B031-AEF76B7E9EE4}"/>
              </a:ext>
            </a:extLst>
          </p:cNvPr>
          <p:cNvGrpSpPr>
            <a:grpSpLocks/>
          </p:cNvGrpSpPr>
          <p:nvPr/>
        </p:nvGrpSpPr>
        <p:grpSpPr bwMode="auto">
          <a:xfrm>
            <a:off x="1057275" y="2222500"/>
            <a:ext cx="5675313" cy="3943350"/>
            <a:chOff x="385" y="1161"/>
            <a:chExt cx="3575" cy="2484"/>
          </a:xfrm>
        </p:grpSpPr>
        <p:sp>
          <p:nvSpPr>
            <p:cNvPr id="47108" name="AutoShape 4">
              <a:extLst>
                <a:ext uri="{FF2B5EF4-FFF2-40B4-BE49-F238E27FC236}">
                  <a16:creationId xmlns:a16="http://schemas.microsoft.com/office/drawing/2014/main" id="{6550F9E8-35DE-4C02-B91C-79A266E13B4E}"/>
                </a:ext>
              </a:extLst>
            </p:cNvPr>
            <p:cNvSpPr>
              <a:spLocks noChangeArrowheads="1"/>
            </p:cNvSpPr>
            <p:nvPr/>
          </p:nvSpPr>
          <p:spPr bwMode="auto">
            <a:xfrm>
              <a:off x="464" y="1161"/>
              <a:ext cx="3493" cy="279"/>
            </a:xfrm>
            <a:prstGeom prst="homePlate">
              <a:avLst>
                <a:gd name="adj" fmla="val 32516"/>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7109" name="AutoShape 8">
              <a:extLst>
                <a:ext uri="{FF2B5EF4-FFF2-40B4-BE49-F238E27FC236}">
                  <a16:creationId xmlns:a16="http://schemas.microsoft.com/office/drawing/2014/main" id="{F087F3E7-5DBA-4DD3-B306-EAA74FF91577}"/>
                </a:ext>
              </a:extLst>
            </p:cNvPr>
            <p:cNvSpPr>
              <a:spLocks noChangeArrowheads="1"/>
            </p:cNvSpPr>
            <p:nvPr/>
          </p:nvSpPr>
          <p:spPr bwMode="auto">
            <a:xfrm>
              <a:off x="467" y="306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pSp>
          <p:nvGrpSpPr>
            <p:cNvPr id="47110" name="Group 6">
              <a:extLst>
                <a:ext uri="{FF2B5EF4-FFF2-40B4-BE49-F238E27FC236}">
                  <a16:creationId xmlns:a16="http://schemas.microsoft.com/office/drawing/2014/main" id="{1C1A6A30-87DA-4A25-A648-0823AD68F1A3}"/>
                </a:ext>
              </a:extLst>
            </p:cNvPr>
            <p:cNvGrpSpPr>
              <a:grpSpLocks/>
            </p:cNvGrpSpPr>
            <p:nvPr/>
          </p:nvGrpSpPr>
          <p:grpSpPr bwMode="auto">
            <a:xfrm>
              <a:off x="385" y="1207"/>
              <a:ext cx="3575" cy="2438"/>
              <a:chOff x="385" y="1207"/>
              <a:chExt cx="3575" cy="2438"/>
            </a:xfrm>
          </p:grpSpPr>
          <p:sp>
            <p:nvSpPr>
              <p:cNvPr id="47111" name="Text Box 5">
                <a:extLst>
                  <a:ext uri="{FF2B5EF4-FFF2-40B4-BE49-F238E27FC236}">
                    <a16:creationId xmlns:a16="http://schemas.microsoft.com/office/drawing/2014/main" id="{DCF173EF-9B6E-4444-8DC7-7F7BD431B540}"/>
                  </a:ext>
                </a:extLst>
              </p:cNvPr>
              <p:cNvSpPr txBox="1">
                <a:spLocks noChangeArrowheads="1"/>
              </p:cNvSpPr>
              <p:nvPr/>
            </p:nvSpPr>
            <p:spPr bwMode="auto">
              <a:xfrm>
                <a:off x="626" y="121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软件项目需求管理概述</a:t>
                </a:r>
                <a:r>
                  <a:rPr lang="zh-CN" altLang="en-US" sz="2000" b="0">
                    <a:latin typeface="Times New Roman" panose="02020603050405020304" pitchFamily="18" charset="0"/>
                  </a:rPr>
                  <a:t> </a:t>
                </a:r>
              </a:p>
            </p:txBody>
          </p:sp>
          <p:sp>
            <p:nvSpPr>
              <p:cNvPr id="47112" name="AutoShape 6">
                <a:extLst>
                  <a:ext uri="{FF2B5EF4-FFF2-40B4-BE49-F238E27FC236}">
                    <a16:creationId xmlns:a16="http://schemas.microsoft.com/office/drawing/2014/main" id="{7DAE627F-2879-4995-A326-6860F74B84ED}"/>
                  </a:ext>
                </a:extLst>
              </p:cNvPr>
              <p:cNvSpPr>
                <a:spLocks noChangeArrowheads="1"/>
              </p:cNvSpPr>
              <p:nvPr/>
            </p:nvSpPr>
            <p:spPr bwMode="auto">
              <a:xfrm>
                <a:off x="464" y="1491"/>
                <a:ext cx="3493" cy="273"/>
              </a:xfrm>
              <a:prstGeom prst="homePlate">
                <a:avLst>
                  <a:gd name="adj" fmla="val 3252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7113" name="Text Box 7">
                <a:extLst>
                  <a:ext uri="{FF2B5EF4-FFF2-40B4-BE49-F238E27FC236}">
                    <a16:creationId xmlns:a16="http://schemas.microsoft.com/office/drawing/2014/main" id="{9BBDCF1F-C3D1-42F8-865F-FB91DCA8ECB8}"/>
                  </a:ext>
                </a:extLst>
              </p:cNvPr>
              <p:cNvSpPr txBox="1">
                <a:spLocks noChangeArrowheads="1"/>
              </p:cNvSpPr>
              <p:nvPr/>
            </p:nvSpPr>
            <p:spPr bwMode="auto">
              <a:xfrm>
                <a:off x="626" y="1539"/>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需求开发和管理过程</a:t>
                </a:r>
                <a:r>
                  <a:rPr lang="zh-CN" altLang="en-US" sz="2000" b="0">
                    <a:latin typeface="Times New Roman" panose="02020603050405020304" pitchFamily="18" charset="0"/>
                  </a:rPr>
                  <a:t> </a:t>
                </a:r>
              </a:p>
            </p:txBody>
          </p:sp>
          <p:sp>
            <p:nvSpPr>
              <p:cNvPr id="47114" name="AutoShape 8">
                <a:extLst>
                  <a:ext uri="{FF2B5EF4-FFF2-40B4-BE49-F238E27FC236}">
                    <a16:creationId xmlns:a16="http://schemas.microsoft.com/office/drawing/2014/main" id="{0289A2EE-D745-4FDA-BB85-8A2BFFA2E713}"/>
                  </a:ext>
                </a:extLst>
              </p:cNvPr>
              <p:cNvSpPr>
                <a:spLocks noChangeArrowheads="1"/>
              </p:cNvSpPr>
              <p:nvPr/>
            </p:nvSpPr>
            <p:spPr bwMode="auto">
              <a:xfrm>
                <a:off x="464" y="1800"/>
                <a:ext cx="3493" cy="266"/>
              </a:xfrm>
              <a:prstGeom prst="homePlate">
                <a:avLst>
                  <a:gd name="adj" fmla="val 32525"/>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7115" name="Text Box 9">
                <a:extLst>
                  <a:ext uri="{FF2B5EF4-FFF2-40B4-BE49-F238E27FC236}">
                    <a16:creationId xmlns:a16="http://schemas.microsoft.com/office/drawing/2014/main" id="{4F4B57F2-8117-4918-B220-AC4863C2B157}"/>
                  </a:ext>
                </a:extLst>
              </p:cNvPr>
              <p:cNvSpPr txBox="1">
                <a:spLocks noChangeArrowheads="1"/>
              </p:cNvSpPr>
              <p:nvPr/>
            </p:nvSpPr>
            <p:spPr bwMode="auto">
              <a:xfrm>
                <a:off x="626" y="184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需求获取方法</a:t>
                </a:r>
                <a:r>
                  <a:rPr lang="zh-CN" altLang="en-US" sz="2000" b="0">
                    <a:latin typeface="Times New Roman" panose="02020603050405020304" pitchFamily="18" charset="0"/>
                  </a:rPr>
                  <a:t> </a:t>
                </a:r>
              </a:p>
            </p:txBody>
          </p:sp>
          <p:sp>
            <p:nvSpPr>
              <p:cNvPr id="47116" name="Rectangle 10">
                <a:extLst>
                  <a:ext uri="{FF2B5EF4-FFF2-40B4-BE49-F238E27FC236}">
                    <a16:creationId xmlns:a16="http://schemas.microsoft.com/office/drawing/2014/main" id="{BB2D5506-355A-4A27-B52A-3719CF8938AE}"/>
                  </a:ext>
                </a:extLst>
              </p:cNvPr>
              <p:cNvSpPr>
                <a:spLocks noChangeArrowheads="1"/>
              </p:cNvSpPr>
              <p:nvPr/>
            </p:nvSpPr>
            <p:spPr bwMode="auto">
              <a:xfrm>
                <a:off x="385" y="1207"/>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6.1</a:t>
                </a:r>
                <a:endParaRPr lang="en-US" altLang="zh-CN" sz="1800">
                  <a:solidFill>
                    <a:srgbClr val="000000"/>
                  </a:solidFill>
                </a:endParaRPr>
              </a:p>
            </p:txBody>
          </p:sp>
          <p:sp>
            <p:nvSpPr>
              <p:cNvPr id="47117" name="Rectangle 11">
                <a:extLst>
                  <a:ext uri="{FF2B5EF4-FFF2-40B4-BE49-F238E27FC236}">
                    <a16:creationId xmlns:a16="http://schemas.microsoft.com/office/drawing/2014/main" id="{A7B685F4-B8DA-49B1-B7CF-46B38ADBB51D}"/>
                  </a:ext>
                </a:extLst>
              </p:cNvPr>
              <p:cNvSpPr>
                <a:spLocks noChangeArrowheads="1"/>
              </p:cNvSpPr>
              <p:nvPr/>
            </p:nvSpPr>
            <p:spPr bwMode="auto">
              <a:xfrm>
                <a:off x="385" y="1564"/>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6.2</a:t>
                </a:r>
                <a:endParaRPr lang="en-US" altLang="zh-CN" sz="1800">
                  <a:solidFill>
                    <a:schemeClr val="bg1"/>
                  </a:solidFill>
                </a:endParaRPr>
              </a:p>
            </p:txBody>
          </p:sp>
          <p:sp>
            <p:nvSpPr>
              <p:cNvPr id="47118" name="Rectangle 12">
                <a:extLst>
                  <a:ext uri="{FF2B5EF4-FFF2-40B4-BE49-F238E27FC236}">
                    <a16:creationId xmlns:a16="http://schemas.microsoft.com/office/drawing/2014/main" id="{2DFBBC6D-4466-4B78-BD45-D34D18124DBE}"/>
                  </a:ext>
                </a:extLst>
              </p:cNvPr>
              <p:cNvSpPr>
                <a:spLocks noChangeArrowheads="1"/>
              </p:cNvSpPr>
              <p:nvPr/>
            </p:nvSpPr>
            <p:spPr bwMode="auto">
              <a:xfrm>
                <a:off x="385" y="187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6.3</a:t>
                </a:r>
                <a:endParaRPr lang="en-US" altLang="zh-CN" sz="1800">
                  <a:solidFill>
                    <a:srgbClr val="000000"/>
                  </a:solidFill>
                </a:endParaRPr>
              </a:p>
            </p:txBody>
          </p:sp>
          <p:sp>
            <p:nvSpPr>
              <p:cNvPr id="47119" name="AutoShape 8">
                <a:extLst>
                  <a:ext uri="{FF2B5EF4-FFF2-40B4-BE49-F238E27FC236}">
                    <a16:creationId xmlns:a16="http://schemas.microsoft.com/office/drawing/2014/main" id="{30E9F40F-401F-4796-BE0C-493339D74B29}"/>
                  </a:ext>
                </a:extLst>
              </p:cNvPr>
              <p:cNvSpPr>
                <a:spLocks noChangeArrowheads="1"/>
              </p:cNvSpPr>
              <p:nvPr/>
            </p:nvSpPr>
            <p:spPr bwMode="auto">
              <a:xfrm>
                <a:off x="467" y="211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7120" name="Text Box 9">
                <a:extLst>
                  <a:ext uri="{FF2B5EF4-FFF2-40B4-BE49-F238E27FC236}">
                    <a16:creationId xmlns:a16="http://schemas.microsoft.com/office/drawing/2014/main" id="{AA29E203-4AB3-41D0-ABB6-95CAC775FF97}"/>
                  </a:ext>
                </a:extLst>
              </p:cNvPr>
              <p:cNvSpPr txBox="1">
                <a:spLocks noChangeArrowheads="1"/>
              </p:cNvSpPr>
              <p:nvPr/>
            </p:nvSpPr>
            <p:spPr bwMode="auto">
              <a:xfrm>
                <a:off x="629" y="216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需求分析建模方法</a:t>
                </a:r>
                <a:r>
                  <a:rPr lang="zh-CN" altLang="en-US" sz="2000" b="0">
                    <a:latin typeface="Times New Roman" panose="02020603050405020304" pitchFamily="18" charset="0"/>
                  </a:rPr>
                  <a:t> </a:t>
                </a:r>
              </a:p>
            </p:txBody>
          </p:sp>
          <p:sp>
            <p:nvSpPr>
              <p:cNvPr id="47121" name="Rectangle 12">
                <a:extLst>
                  <a:ext uri="{FF2B5EF4-FFF2-40B4-BE49-F238E27FC236}">
                    <a16:creationId xmlns:a16="http://schemas.microsoft.com/office/drawing/2014/main" id="{F9170740-9550-46DC-9EA6-A0EA9AA2A251}"/>
                  </a:ext>
                </a:extLst>
              </p:cNvPr>
              <p:cNvSpPr>
                <a:spLocks noChangeArrowheads="1"/>
              </p:cNvSpPr>
              <p:nvPr/>
            </p:nvSpPr>
            <p:spPr bwMode="auto">
              <a:xfrm>
                <a:off x="388" y="218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6.4</a:t>
                </a:r>
                <a:endParaRPr lang="en-US" altLang="zh-CN" sz="1800">
                  <a:solidFill>
                    <a:srgbClr val="000000"/>
                  </a:solidFill>
                </a:endParaRPr>
              </a:p>
            </p:txBody>
          </p:sp>
          <p:sp>
            <p:nvSpPr>
              <p:cNvPr id="47122" name="AutoShape 8">
                <a:extLst>
                  <a:ext uri="{FF2B5EF4-FFF2-40B4-BE49-F238E27FC236}">
                    <a16:creationId xmlns:a16="http://schemas.microsoft.com/office/drawing/2014/main" id="{6889BBDD-3C70-4094-91BE-85DA9893B3A3}"/>
                  </a:ext>
                </a:extLst>
              </p:cNvPr>
              <p:cNvSpPr>
                <a:spLocks noChangeArrowheads="1"/>
              </p:cNvSpPr>
              <p:nvPr/>
            </p:nvSpPr>
            <p:spPr bwMode="auto">
              <a:xfrm>
                <a:off x="467" y="243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7123" name="Text Box 9">
                <a:extLst>
                  <a:ext uri="{FF2B5EF4-FFF2-40B4-BE49-F238E27FC236}">
                    <a16:creationId xmlns:a16="http://schemas.microsoft.com/office/drawing/2014/main" id="{6D4ED2E7-9DCA-4498-9353-85C75C7B2414}"/>
                  </a:ext>
                </a:extLst>
              </p:cNvPr>
              <p:cNvSpPr txBox="1">
                <a:spLocks noChangeArrowheads="1"/>
              </p:cNvSpPr>
              <p:nvPr/>
            </p:nvSpPr>
            <p:spPr bwMode="auto">
              <a:xfrm>
                <a:off x="629" y="247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需求管理工具</a:t>
                </a:r>
                <a:r>
                  <a:rPr lang="zh-CN" altLang="en-US" sz="2000" b="0">
                    <a:latin typeface="Times New Roman" panose="02020603050405020304" pitchFamily="18" charset="0"/>
                  </a:rPr>
                  <a:t> </a:t>
                </a:r>
              </a:p>
            </p:txBody>
          </p:sp>
          <p:sp>
            <p:nvSpPr>
              <p:cNvPr id="47124" name="Rectangle 12">
                <a:extLst>
                  <a:ext uri="{FF2B5EF4-FFF2-40B4-BE49-F238E27FC236}">
                    <a16:creationId xmlns:a16="http://schemas.microsoft.com/office/drawing/2014/main" id="{AD89A58F-BAA6-49F8-885B-204E518BCEF7}"/>
                  </a:ext>
                </a:extLst>
              </p:cNvPr>
              <p:cNvSpPr>
                <a:spLocks noChangeArrowheads="1"/>
              </p:cNvSpPr>
              <p:nvPr/>
            </p:nvSpPr>
            <p:spPr bwMode="auto">
              <a:xfrm>
                <a:off x="388" y="250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6.5</a:t>
                </a:r>
                <a:endParaRPr lang="en-US" altLang="zh-CN" sz="1800">
                  <a:solidFill>
                    <a:srgbClr val="000000"/>
                  </a:solidFill>
                </a:endParaRPr>
              </a:p>
            </p:txBody>
          </p:sp>
          <p:sp>
            <p:nvSpPr>
              <p:cNvPr id="47125" name="AutoShape 8">
                <a:extLst>
                  <a:ext uri="{FF2B5EF4-FFF2-40B4-BE49-F238E27FC236}">
                    <a16:creationId xmlns:a16="http://schemas.microsoft.com/office/drawing/2014/main" id="{C00C2038-7341-49DE-A2ED-EC645E70F9CA}"/>
                  </a:ext>
                </a:extLst>
              </p:cNvPr>
              <p:cNvSpPr>
                <a:spLocks noChangeArrowheads="1"/>
              </p:cNvSpPr>
              <p:nvPr/>
            </p:nvSpPr>
            <p:spPr bwMode="auto">
              <a:xfrm>
                <a:off x="467" y="274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7126" name="Text Box 9">
                <a:extLst>
                  <a:ext uri="{FF2B5EF4-FFF2-40B4-BE49-F238E27FC236}">
                    <a16:creationId xmlns:a16="http://schemas.microsoft.com/office/drawing/2014/main" id="{90539814-D1AF-40CD-9B1D-95565054BE56}"/>
                  </a:ext>
                </a:extLst>
              </p:cNvPr>
              <p:cNvSpPr txBox="1">
                <a:spLocks noChangeArrowheads="1"/>
              </p:cNvSpPr>
              <p:nvPr/>
            </p:nvSpPr>
            <p:spPr bwMode="auto">
              <a:xfrm>
                <a:off x="629" y="279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000" b="0">
                    <a:latin typeface="Times New Roman" panose="02020603050405020304" pitchFamily="18" charset="0"/>
                  </a:rPr>
                  <a:t> </a:t>
                </a:r>
              </a:p>
            </p:txBody>
          </p:sp>
          <p:sp>
            <p:nvSpPr>
              <p:cNvPr id="47127" name="Rectangle 12">
                <a:extLst>
                  <a:ext uri="{FF2B5EF4-FFF2-40B4-BE49-F238E27FC236}">
                    <a16:creationId xmlns:a16="http://schemas.microsoft.com/office/drawing/2014/main" id="{EF66ECDF-3DC9-4912-B928-5B0C5C24CC2C}"/>
                  </a:ext>
                </a:extLst>
              </p:cNvPr>
              <p:cNvSpPr>
                <a:spLocks noChangeArrowheads="1"/>
              </p:cNvSpPr>
              <p:nvPr/>
            </p:nvSpPr>
            <p:spPr bwMode="auto">
              <a:xfrm>
                <a:off x="388" y="278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6.6</a:t>
                </a:r>
                <a:endParaRPr lang="en-US" altLang="zh-CN" sz="1800">
                  <a:solidFill>
                    <a:srgbClr val="000000"/>
                  </a:solidFill>
                </a:endParaRPr>
              </a:p>
            </p:txBody>
          </p:sp>
          <p:sp>
            <p:nvSpPr>
              <p:cNvPr id="47128" name="Text Box 9">
                <a:extLst>
                  <a:ext uri="{FF2B5EF4-FFF2-40B4-BE49-F238E27FC236}">
                    <a16:creationId xmlns:a16="http://schemas.microsoft.com/office/drawing/2014/main" id="{CFEECFE7-05AA-434F-9B90-9E9ACA103E3F}"/>
                  </a:ext>
                </a:extLst>
              </p:cNvPr>
              <p:cNvSpPr txBox="1">
                <a:spLocks noChangeArrowheads="1"/>
              </p:cNvSpPr>
              <p:nvPr/>
            </p:nvSpPr>
            <p:spPr bwMode="auto">
              <a:xfrm>
                <a:off x="629" y="310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000" b="0">
                    <a:latin typeface="Times New Roman" panose="02020603050405020304" pitchFamily="18" charset="0"/>
                  </a:rPr>
                  <a:t> </a:t>
                </a:r>
              </a:p>
            </p:txBody>
          </p:sp>
          <p:sp>
            <p:nvSpPr>
              <p:cNvPr id="47129" name="Rectangle 12">
                <a:extLst>
                  <a:ext uri="{FF2B5EF4-FFF2-40B4-BE49-F238E27FC236}">
                    <a16:creationId xmlns:a16="http://schemas.microsoft.com/office/drawing/2014/main" id="{BE5407D9-3E5A-46F3-98C8-7C845D73701B}"/>
                  </a:ext>
                </a:extLst>
              </p:cNvPr>
              <p:cNvSpPr>
                <a:spLocks noChangeArrowheads="1"/>
              </p:cNvSpPr>
              <p:nvPr/>
            </p:nvSpPr>
            <p:spPr bwMode="auto">
              <a:xfrm>
                <a:off x="388" y="3133"/>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6.7</a:t>
                </a:r>
                <a:endParaRPr lang="en-US" altLang="zh-CN" sz="1800">
                  <a:solidFill>
                    <a:srgbClr val="000000"/>
                  </a:solidFill>
                </a:endParaRPr>
              </a:p>
            </p:txBody>
          </p:sp>
          <p:sp>
            <p:nvSpPr>
              <p:cNvPr id="47130" name="AutoShape 8">
                <a:extLst>
                  <a:ext uri="{FF2B5EF4-FFF2-40B4-BE49-F238E27FC236}">
                    <a16:creationId xmlns:a16="http://schemas.microsoft.com/office/drawing/2014/main" id="{57FD7431-275A-4B63-B83A-8B5A74AAB47D}"/>
                  </a:ext>
                </a:extLst>
              </p:cNvPr>
              <p:cNvSpPr>
                <a:spLocks noChangeArrowheads="1"/>
              </p:cNvSpPr>
              <p:nvPr/>
            </p:nvSpPr>
            <p:spPr bwMode="auto">
              <a:xfrm>
                <a:off x="467" y="3375"/>
                <a:ext cx="3493" cy="270"/>
              </a:xfrm>
              <a:prstGeom prst="homePlate">
                <a:avLst>
                  <a:gd name="adj" fmla="val 3252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7131" name="Text Box 9">
                <a:extLst>
                  <a:ext uri="{FF2B5EF4-FFF2-40B4-BE49-F238E27FC236}">
                    <a16:creationId xmlns:a16="http://schemas.microsoft.com/office/drawing/2014/main" id="{411DED85-81E2-48AC-9082-AF8E3A5C6114}"/>
                  </a:ext>
                </a:extLst>
              </p:cNvPr>
              <p:cNvSpPr txBox="1">
                <a:spLocks noChangeArrowheads="1"/>
              </p:cNvSpPr>
              <p:nvPr/>
            </p:nvSpPr>
            <p:spPr bwMode="auto">
              <a:xfrm>
                <a:off x="629" y="342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000" b="0">
                    <a:latin typeface="Times New Roman" panose="02020603050405020304" pitchFamily="18" charset="0"/>
                  </a:rPr>
                  <a:t> </a:t>
                </a:r>
              </a:p>
            </p:txBody>
          </p:sp>
          <p:sp>
            <p:nvSpPr>
              <p:cNvPr id="47132" name="Rectangle 12">
                <a:extLst>
                  <a:ext uri="{FF2B5EF4-FFF2-40B4-BE49-F238E27FC236}">
                    <a16:creationId xmlns:a16="http://schemas.microsoft.com/office/drawing/2014/main" id="{9548181B-B582-4DA1-B99F-E5DF26653A9E}"/>
                  </a:ext>
                </a:extLst>
              </p:cNvPr>
              <p:cNvSpPr>
                <a:spLocks noChangeArrowheads="1"/>
              </p:cNvSpPr>
              <p:nvPr/>
            </p:nvSpPr>
            <p:spPr bwMode="auto">
              <a:xfrm>
                <a:off x="388" y="344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6.8</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slide(fromBottom)">
                                      <p:cBhvr>
                                        <p:cTn id="7" dur="500"/>
                                        <p:tgtEl>
                                          <p:spTgt spid="43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AB6030B-8714-4C64-8927-CBD6E2E1BD22}"/>
              </a:ext>
            </a:extLst>
          </p:cNvPr>
          <p:cNvSpPr>
            <a:spLocks noGrp="1" noChangeArrowheads="1"/>
          </p:cNvSpPr>
          <p:nvPr>
            <p:ph type="title"/>
          </p:nvPr>
        </p:nvSpPr>
        <p:spPr>
          <a:xfrm>
            <a:off x="177800" y="1054100"/>
            <a:ext cx="8788400" cy="717550"/>
          </a:xfrm>
          <a:noFill/>
        </p:spPr>
        <p:txBody>
          <a:bodyPr/>
          <a:lstStyle/>
          <a:p>
            <a:pPr eaLnBrk="1" hangingPunct="1"/>
            <a:r>
              <a:rPr lang="en-US" altLang="zh-CN"/>
              <a:t>6.7 </a:t>
            </a:r>
            <a:r>
              <a:rPr lang="zh-CN" altLang="en-US"/>
              <a:t>本章小结</a:t>
            </a:r>
          </a:p>
        </p:txBody>
      </p:sp>
      <p:sp>
        <p:nvSpPr>
          <p:cNvPr id="48131" name="Rectangle 5">
            <a:extLst>
              <a:ext uri="{FF2B5EF4-FFF2-40B4-BE49-F238E27FC236}">
                <a16:creationId xmlns:a16="http://schemas.microsoft.com/office/drawing/2014/main" id="{1A2F6882-CE43-434F-BFB7-11E79A80968B}"/>
              </a:ext>
            </a:extLst>
          </p:cNvPr>
          <p:cNvSpPr>
            <a:spLocks noChangeArrowheads="1"/>
          </p:cNvSpPr>
          <p:nvPr/>
        </p:nvSpPr>
        <p:spPr bwMode="auto">
          <a:xfrm>
            <a:off x="442913" y="1900238"/>
            <a:ext cx="4316412" cy="4471987"/>
          </a:xfrm>
          <a:prstGeom prst="rect">
            <a:avLst/>
          </a:prstGeom>
          <a:solidFill>
            <a:srgbClr val="FFFF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sz="1600">
                <a:solidFill>
                  <a:srgbClr val="C45908"/>
                </a:solidFill>
              </a:rPr>
              <a:t>本章讲述了软件项目需求管理的基本概念、特点、过程，通过本章的学习，大家应该了解软件需求管理在软件项目管理中的作用与重要性，并熟悉其基本的方法。</a:t>
            </a:r>
            <a:endParaRPr kumimoji="0" lang="zh-CN" altLang="en-US" sz="1600">
              <a:solidFill>
                <a:srgbClr val="C45908"/>
              </a:solidFill>
            </a:endParaRPr>
          </a:p>
          <a:p>
            <a:pPr>
              <a:lnSpc>
                <a:spcPct val="130000"/>
              </a:lnSpc>
            </a:pPr>
            <a:r>
              <a:rPr lang="zh-CN" altLang="en-US" sz="1600">
                <a:solidFill>
                  <a:srgbClr val="C45908"/>
                </a:solidFill>
              </a:rPr>
              <a:t>软件需求包括以下几个层次：业务需求、用户需求和功能需求，也包括非功能需求、软件需求规格说明等。</a:t>
            </a:r>
            <a:endParaRPr kumimoji="0" lang="zh-CN" altLang="en-US" sz="1600">
              <a:solidFill>
                <a:srgbClr val="C45908"/>
              </a:solidFill>
            </a:endParaRPr>
          </a:p>
          <a:p>
            <a:pPr>
              <a:lnSpc>
                <a:spcPct val="130000"/>
              </a:lnSpc>
            </a:pPr>
            <a:r>
              <a:rPr lang="zh-CN" altLang="en-US" sz="1600">
                <a:solidFill>
                  <a:srgbClr val="C45908"/>
                </a:solidFill>
              </a:rPr>
              <a:t>需求过程包括需求开发和需求管理。而需求开发又包括需求获取、需求分析、编写需求规格说明、验证需求四个阶段。</a:t>
            </a:r>
          </a:p>
          <a:p>
            <a:pPr>
              <a:lnSpc>
                <a:spcPct val="130000"/>
              </a:lnSpc>
            </a:pPr>
            <a:r>
              <a:rPr lang="zh-CN" altLang="en-US" sz="1600">
                <a:solidFill>
                  <a:srgbClr val="C45908"/>
                </a:solidFill>
              </a:rPr>
              <a:t>需求获取是为了与客户建立良好的沟通渠道和方式。方法主要包括：访谈和调研、专题讨论会、脑力风暴、场景串联等。</a:t>
            </a:r>
          </a:p>
        </p:txBody>
      </p:sp>
      <p:sp>
        <p:nvSpPr>
          <p:cNvPr id="48132" name="Rectangle 6">
            <a:extLst>
              <a:ext uri="{FF2B5EF4-FFF2-40B4-BE49-F238E27FC236}">
                <a16:creationId xmlns:a16="http://schemas.microsoft.com/office/drawing/2014/main" id="{0570CED8-30B7-494F-8B23-3D84FDA29E2D}"/>
              </a:ext>
            </a:extLst>
          </p:cNvPr>
          <p:cNvSpPr>
            <a:spLocks noChangeArrowheads="1"/>
          </p:cNvSpPr>
          <p:nvPr/>
        </p:nvSpPr>
        <p:spPr bwMode="auto">
          <a:xfrm>
            <a:off x="4643438" y="1916113"/>
            <a:ext cx="4321175" cy="4465637"/>
          </a:xfrm>
          <a:prstGeom prst="rect">
            <a:avLst/>
          </a:prstGeom>
          <a:solidFill>
            <a:srgbClr val="FFFF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sz="1600">
                <a:solidFill>
                  <a:srgbClr val="4D48B8"/>
                </a:solidFill>
              </a:rPr>
              <a:t>需求分析包括提炼、分析和仔细审查已收集到的需求。</a:t>
            </a:r>
          </a:p>
          <a:p>
            <a:pPr>
              <a:lnSpc>
                <a:spcPct val="130000"/>
              </a:lnSpc>
            </a:pPr>
            <a:r>
              <a:rPr lang="zh-CN" altLang="en-US" sz="1600">
                <a:solidFill>
                  <a:srgbClr val="4D48B8"/>
                </a:solidFill>
              </a:rPr>
              <a:t>需求验证是为了确保需求说明准确、无二义性并完整地表达系统功能以及必要的质量特性。</a:t>
            </a:r>
            <a:endParaRPr kumimoji="0" lang="zh-CN" altLang="en-US" sz="1600">
              <a:solidFill>
                <a:srgbClr val="4D48B8"/>
              </a:solidFill>
            </a:endParaRPr>
          </a:p>
          <a:p>
            <a:pPr>
              <a:lnSpc>
                <a:spcPct val="130000"/>
              </a:lnSpc>
            </a:pPr>
            <a:r>
              <a:rPr lang="zh-CN" altLang="en-US" sz="1600">
                <a:solidFill>
                  <a:srgbClr val="4D48B8"/>
                </a:solidFill>
              </a:rPr>
              <a:t>常用的需求分析建模方法有用例分析方法、原型分析方法、结构化分析方法、功能列表方法等等。</a:t>
            </a:r>
          </a:p>
          <a:p>
            <a:pPr>
              <a:lnSpc>
                <a:spcPct val="130000"/>
              </a:lnSpc>
            </a:pPr>
            <a:r>
              <a:rPr lang="zh-CN" altLang="en-US" sz="1600">
                <a:solidFill>
                  <a:srgbClr val="4D48B8"/>
                </a:solidFill>
              </a:rPr>
              <a:t>需求管理工具中具有代表性的包括</a:t>
            </a:r>
            <a:r>
              <a:rPr lang="en-US" altLang="zh-CN" sz="1600">
                <a:solidFill>
                  <a:srgbClr val="4D48B8"/>
                </a:solidFill>
              </a:rPr>
              <a:t>CaliberRM</a:t>
            </a:r>
            <a:r>
              <a:rPr lang="zh-CN" altLang="en-US" sz="1600">
                <a:solidFill>
                  <a:srgbClr val="4D48B8"/>
                </a:solidFill>
              </a:rPr>
              <a:t>，</a:t>
            </a:r>
            <a:r>
              <a:rPr lang="en-US" altLang="zh-CN" sz="1600">
                <a:solidFill>
                  <a:srgbClr val="4D48B8"/>
                </a:solidFill>
              </a:rPr>
              <a:t>DOORS</a:t>
            </a:r>
            <a:r>
              <a:rPr lang="zh-CN" altLang="en-US" sz="1600">
                <a:solidFill>
                  <a:srgbClr val="4D48B8"/>
                </a:solidFill>
              </a:rPr>
              <a:t>，</a:t>
            </a:r>
            <a:r>
              <a:rPr lang="en-US" altLang="zh-CN" sz="1600">
                <a:solidFill>
                  <a:srgbClr val="4D48B8"/>
                </a:solidFill>
              </a:rPr>
              <a:t>RTM</a:t>
            </a:r>
            <a:r>
              <a:rPr lang="zh-CN" altLang="en-US" sz="1600">
                <a:solidFill>
                  <a:srgbClr val="4D48B8"/>
                </a:solidFill>
              </a:rPr>
              <a:t>，</a:t>
            </a:r>
            <a:r>
              <a:rPr lang="en-US" altLang="zh-CN" sz="1600">
                <a:solidFill>
                  <a:srgbClr val="4D48B8"/>
                </a:solidFill>
              </a:rPr>
              <a:t>Rational RequisitePro</a:t>
            </a:r>
            <a:r>
              <a:rPr lang="zh-CN" altLang="en-US" sz="1600">
                <a:solidFill>
                  <a:srgbClr val="4D48B8"/>
                </a:solidFill>
              </a:rPr>
              <a:t>等</a:t>
            </a:r>
            <a:r>
              <a:rPr lang="zh-CN" altLang="en-US" sz="1600" b="0">
                <a:solidFill>
                  <a:srgbClr val="4D48B8"/>
                </a:solidFill>
              </a:rPr>
              <a:t>。</a:t>
            </a:r>
            <a:endParaRPr kumimoji="0" lang="zh-CN" altLang="en-US" sz="1600">
              <a:solidFill>
                <a:srgbClr val="4D48B8"/>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00705D1-9C8F-4DE4-96AE-35D95B670A39}"/>
              </a:ext>
            </a:extLst>
          </p:cNvPr>
          <p:cNvSpPr>
            <a:spLocks noGrp="1" noChangeArrowheads="1"/>
          </p:cNvSpPr>
          <p:nvPr>
            <p:ph type="title" idx="4294967295"/>
          </p:nvPr>
        </p:nvSpPr>
        <p:spPr>
          <a:xfrm>
            <a:off x="179388" y="1052513"/>
            <a:ext cx="8788400" cy="717550"/>
          </a:xfrm>
          <a:noFill/>
        </p:spPr>
        <p:txBody>
          <a:bodyPr/>
          <a:lstStyle/>
          <a:p>
            <a:pPr eaLnBrk="1" hangingPunct="1"/>
            <a:r>
              <a:rPr lang="zh-CN" altLang="en-US"/>
              <a:t>本章内容提要</a:t>
            </a:r>
            <a:endParaRPr lang="en-US" altLang="zh-CN"/>
          </a:p>
        </p:txBody>
      </p:sp>
      <p:grpSp>
        <p:nvGrpSpPr>
          <p:cNvPr id="49155" name="Group 3">
            <a:extLst>
              <a:ext uri="{FF2B5EF4-FFF2-40B4-BE49-F238E27FC236}">
                <a16:creationId xmlns:a16="http://schemas.microsoft.com/office/drawing/2014/main" id="{4375F134-8E70-4F9E-8743-FF8AE14774E6}"/>
              </a:ext>
            </a:extLst>
          </p:cNvPr>
          <p:cNvGrpSpPr>
            <a:grpSpLocks/>
          </p:cNvGrpSpPr>
          <p:nvPr/>
        </p:nvGrpSpPr>
        <p:grpSpPr bwMode="auto">
          <a:xfrm>
            <a:off x="1057275" y="2222500"/>
            <a:ext cx="5675313" cy="3943350"/>
            <a:chOff x="385" y="1161"/>
            <a:chExt cx="3575" cy="2484"/>
          </a:xfrm>
        </p:grpSpPr>
        <p:sp>
          <p:nvSpPr>
            <p:cNvPr id="49156" name="AutoShape 4">
              <a:extLst>
                <a:ext uri="{FF2B5EF4-FFF2-40B4-BE49-F238E27FC236}">
                  <a16:creationId xmlns:a16="http://schemas.microsoft.com/office/drawing/2014/main" id="{7E8E785A-26BA-4D38-AD2C-26AF1408709A}"/>
                </a:ext>
              </a:extLst>
            </p:cNvPr>
            <p:cNvSpPr>
              <a:spLocks noChangeArrowheads="1"/>
            </p:cNvSpPr>
            <p:nvPr/>
          </p:nvSpPr>
          <p:spPr bwMode="auto">
            <a:xfrm>
              <a:off x="464" y="1161"/>
              <a:ext cx="3493" cy="279"/>
            </a:xfrm>
            <a:prstGeom prst="homePlate">
              <a:avLst>
                <a:gd name="adj" fmla="val 32516"/>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9157" name="AutoShape 8">
              <a:extLst>
                <a:ext uri="{FF2B5EF4-FFF2-40B4-BE49-F238E27FC236}">
                  <a16:creationId xmlns:a16="http://schemas.microsoft.com/office/drawing/2014/main" id="{8A7E6644-6CF3-4CC9-92DF-0A78E6B7BD6C}"/>
                </a:ext>
              </a:extLst>
            </p:cNvPr>
            <p:cNvSpPr>
              <a:spLocks noChangeArrowheads="1"/>
            </p:cNvSpPr>
            <p:nvPr/>
          </p:nvSpPr>
          <p:spPr bwMode="auto">
            <a:xfrm>
              <a:off x="467" y="306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pSp>
          <p:nvGrpSpPr>
            <p:cNvPr id="49158" name="Group 6">
              <a:extLst>
                <a:ext uri="{FF2B5EF4-FFF2-40B4-BE49-F238E27FC236}">
                  <a16:creationId xmlns:a16="http://schemas.microsoft.com/office/drawing/2014/main" id="{F6069953-92D9-4A5F-A837-3572BAB27B2F}"/>
                </a:ext>
              </a:extLst>
            </p:cNvPr>
            <p:cNvGrpSpPr>
              <a:grpSpLocks/>
            </p:cNvGrpSpPr>
            <p:nvPr/>
          </p:nvGrpSpPr>
          <p:grpSpPr bwMode="auto">
            <a:xfrm>
              <a:off x="385" y="1207"/>
              <a:ext cx="3575" cy="2438"/>
              <a:chOff x="385" y="1207"/>
              <a:chExt cx="3575" cy="2438"/>
            </a:xfrm>
          </p:grpSpPr>
          <p:sp>
            <p:nvSpPr>
              <p:cNvPr id="49159" name="Text Box 5">
                <a:extLst>
                  <a:ext uri="{FF2B5EF4-FFF2-40B4-BE49-F238E27FC236}">
                    <a16:creationId xmlns:a16="http://schemas.microsoft.com/office/drawing/2014/main" id="{EFE65EA1-F4AA-438A-9E52-3A0F322A3334}"/>
                  </a:ext>
                </a:extLst>
              </p:cNvPr>
              <p:cNvSpPr txBox="1">
                <a:spLocks noChangeArrowheads="1"/>
              </p:cNvSpPr>
              <p:nvPr/>
            </p:nvSpPr>
            <p:spPr bwMode="auto">
              <a:xfrm>
                <a:off x="626" y="121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软件项目需求管理概述</a:t>
                </a:r>
                <a:r>
                  <a:rPr lang="zh-CN" altLang="en-US" sz="2000" b="0">
                    <a:latin typeface="Times New Roman" panose="02020603050405020304" pitchFamily="18" charset="0"/>
                  </a:rPr>
                  <a:t> </a:t>
                </a:r>
              </a:p>
            </p:txBody>
          </p:sp>
          <p:sp>
            <p:nvSpPr>
              <p:cNvPr id="49160" name="AutoShape 6">
                <a:extLst>
                  <a:ext uri="{FF2B5EF4-FFF2-40B4-BE49-F238E27FC236}">
                    <a16:creationId xmlns:a16="http://schemas.microsoft.com/office/drawing/2014/main" id="{D11EAA03-5415-4B76-AD2A-36B3354BB04A}"/>
                  </a:ext>
                </a:extLst>
              </p:cNvPr>
              <p:cNvSpPr>
                <a:spLocks noChangeArrowheads="1"/>
              </p:cNvSpPr>
              <p:nvPr/>
            </p:nvSpPr>
            <p:spPr bwMode="auto">
              <a:xfrm>
                <a:off x="464" y="1491"/>
                <a:ext cx="3493" cy="273"/>
              </a:xfrm>
              <a:prstGeom prst="homePlate">
                <a:avLst>
                  <a:gd name="adj" fmla="val 3252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9161" name="Text Box 7">
                <a:extLst>
                  <a:ext uri="{FF2B5EF4-FFF2-40B4-BE49-F238E27FC236}">
                    <a16:creationId xmlns:a16="http://schemas.microsoft.com/office/drawing/2014/main" id="{D1456421-5E63-4258-9311-D1B645F03123}"/>
                  </a:ext>
                </a:extLst>
              </p:cNvPr>
              <p:cNvSpPr txBox="1">
                <a:spLocks noChangeArrowheads="1"/>
              </p:cNvSpPr>
              <p:nvPr/>
            </p:nvSpPr>
            <p:spPr bwMode="auto">
              <a:xfrm>
                <a:off x="626" y="1539"/>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需求开发和管理过程</a:t>
                </a:r>
                <a:r>
                  <a:rPr lang="zh-CN" altLang="en-US" sz="2000" b="0">
                    <a:latin typeface="Times New Roman" panose="02020603050405020304" pitchFamily="18" charset="0"/>
                  </a:rPr>
                  <a:t> </a:t>
                </a:r>
              </a:p>
            </p:txBody>
          </p:sp>
          <p:sp>
            <p:nvSpPr>
              <p:cNvPr id="49162" name="AutoShape 8">
                <a:extLst>
                  <a:ext uri="{FF2B5EF4-FFF2-40B4-BE49-F238E27FC236}">
                    <a16:creationId xmlns:a16="http://schemas.microsoft.com/office/drawing/2014/main" id="{61818907-0F93-4FC6-82F5-431C53585746}"/>
                  </a:ext>
                </a:extLst>
              </p:cNvPr>
              <p:cNvSpPr>
                <a:spLocks noChangeArrowheads="1"/>
              </p:cNvSpPr>
              <p:nvPr/>
            </p:nvSpPr>
            <p:spPr bwMode="auto">
              <a:xfrm>
                <a:off x="464" y="1800"/>
                <a:ext cx="3493" cy="266"/>
              </a:xfrm>
              <a:prstGeom prst="homePlate">
                <a:avLst>
                  <a:gd name="adj" fmla="val 32525"/>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9163" name="Text Box 9">
                <a:extLst>
                  <a:ext uri="{FF2B5EF4-FFF2-40B4-BE49-F238E27FC236}">
                    <a16:creationId xmlns:a16="http://schemas.microsoft.com/office/drawing/2014/main" id="{23195B76-9932-4474-8E1B-674E59D9E27D}"/>
                  </a:ext>
                </a:extLst>
              </p:cNvPr>
              <p:cNvSpPr txBox="1">
                <a:spLocks noChangeArrowheads="1"/>
              </p:cNvSpPr>
              <p:nvPr/>
            </p:nvSpPr>
            <p:spPr bwMode="auto">
              <a:xfrm>
                <a:off x="626" y="184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需求获取方法</a:t>
                </a:r>
                <a:r>
                  <a:rPr lang="zh-CN" altLang="en-US" sz="2000" b="0">
                    <a:latin typeface="Times New Roman" panose="02020603050405020304" pitchFamily="18" charset="0"/>
                  </a:rPr>
                  <a:t> </a:t>
                </a:r>
              </a:p>
            </p:txBody>
          </p:sp>
          <p:sp>
            <p:nvSpPr>
              <p:cNvPr id="49164" name="Rectangle 10">
                <a:extLst>
                  <a:ext uri="{FF2B5EF4-FFF2-40B4-BE49-F238E27FC236}">
                    <a16:creationId xmlns:a16="http://schemas.microsoft.com/office/drawing/2014/main" id="{06F97476-DFCB-4D47-A457-26CFE6555D13}"/>
                  </a:ext>
                </a:extLst>
              </p:cNvPr>
              <p:cNvSpPr>
                <a:spLocks noChangeArrowheads="1"/>
              </p:cNvSpPr>
              <p:nvPr/>
            </p:nvSpPr>
            <p:spPr bwMode="auto">
              <a:xfrm>
                <a:off x="385" y="1207"/>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6.1</a:t>
                </a:r>
                <a:endParaRPr lang="en-US" altLang="zh-CN" sz="1800">
                  <a:solidFill>
                    <a:srgbClr val="000000"/>
                  </a:solidFill>
                </a:endParaRPr>
              </a:p>
            </p:txBody>
          </p:sp>
          <p:sp>
            <p:nvSpPr>
              <p:cNvPr id="49165" name="Rectangle 11">
                <a:extLst>
                  <a:ext uri="{FF2B5EF4-FFF2-40B4-BE49-F238E27FC236}">
                    <a16:creationId xmlns:a16="http://schemas.microsoft.com/office/drawing/2014/main" id="{8E88F12F-9BC6-41D4-BD40-4DC0DE5492B9}"/>
                  </a:ext>
                </a:extLst>
              </p:cNvPr>
              <p:cNvSpPr>
                <a:spLocks noChangeArrowheads="1"/>
              </p:cNvSpPr>
              <p:nvPr/>
            </p:nvSpPr>
            <p:spPr bwMode="auto">
              <a:xfrm>
                <a:off x="385" y="1564"/>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5.2</a:t>
                </a:r>
                <a:endParaRPr lang="en-US" altLang="zh-CN" sz="1800">
                  <a:solidFill>
                    <a:schemeClr val="bg1"/>
                  </a:solidFill>
                </a:endParaRPr>
              </a:p>
            </p:txBody>
          </p:sp>
          <p:sp>
            <p:nvSpPr>
              <p:cNvPr id="49166" name="Rectangle 12">
                <a:extLst>
                  <a:ext uri="{FF2B5EF4-FFF2-40B4-BE49-F238E27FC236}">
                    <a16:creationId xmlns:a16="http://schemas.microsoft.com/office/drawing/2014/main" id="{DB708684-823F-49BA-B601-D22DB78AEFCA}"/>
                  </a:ext>
                </a:extLst>
              </p:cNvPr>
              <p:cNvSpPr>
                <a:spLocks noChangeArrowheads="1"/>
              </p:cNvSpPr>
              <p:nvPr/>
            </p:nvSpPr>
            <p:spPr bwMode="auto">
              <a:xfrm>
                <a:off x="385" y="187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6.3</a:t>
                </a:r>
                <a:endParaRPr lang="en-US" altLang="zh-CN" sz="1800">
                  <a:solidFill>
                    <a:srgbClr val="000000"/>
                  </a:solidFill>
                </a:endParaRPr>
              </a:p>
            </p:txBody>
          </p:sp>
          <p:sp>
            <p:nvSpPr>
              <p:cNvPr id="49167" name="AutoShape 8">
                <a:extLst>
                  <a:ext uri="{FF2B5EF4-FFF2-40B4-BE49-F238E27FC236}">
                    <a16:creationId xmlns:a16="http://schemas.microsoft.com/office/drawing/2014/main" id="{16F7FE9F-2BE4-47EF-A111-2A2EBFB884A7}"/>
                  </a:ext>
                </a:extLst>
              </p:cNvPr>
              <p:cNvSpPr>
                <a:spLocks noChangeArrowheads="1"/>
              </p:cNvSpPr>
              <p:nvPr/>
            </p:nvSpPr>
            <p:spPr bwMode="auto">
              <a:xfrm>
                <a:off x="467" y="211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9168" name="Text Box 9">
                <a:extLst>
                  <a:ext uri="{FF2B5EF4-FFF2-40B4-BE49-F238E27FC236}">
                    <a16:creationId xmlns:a16="http://schemas.microsoft.com/office/drawing/2014/main" id="{607CFE21-872D-4A1B-9FDC-B7E6BDC5F9E9}"/>
                  </a:ext>
                </a:extLst>
              </p:cNvPr>
              <p:cNvSpPr txBox="1">
                <a:spLocks noChangeArrowheads="1"/>
              </p:cNvSpPr>
              <p:nvPr/>
            </p:nvSpPr>
            <p:spPr bwMode="auto">
              <a:xfrm>
                <a:off x="629" y="216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需求分析建模方法</a:t>
                </a:r>
                <a:r>
                  <a:rPr lang="zh-CN" altLang="en-US" sz="2000" b="0">
                    <a:latin typeface="Times New Roman" panose="02020603050405020304" pitchFamily="18" charset="0"/>
                  </a:rPr>
                  <a:t> </a:t>
                </a:r>
              </a:p>
            </p:txBody>
          </p:sp>
          <p:sp>
            <p:nvSpPr>
              <p:cNvPr id="49169" name="Rectangle 12">
                <a:extLst>
                  <a:ext uri="{FF2B5EF4-FFF2-40B4-BE49-F238E27FC236}">
                    <a16:creationId xmlns:a16="http://schemas.microsoft.com/office/drawing/2014/main" id="{A52D0196-1B6A-4A2B-AB3C-850430A65684}"/>
                  </a:ext>
                </a:extLst>
              </p:cNvPr>
              <p:cNvSpPr>
                <a:spLocks noChangeArrowheads="1"/>
              </p:cNvSpPr>
              <p:nvPr/>
            </p:nvSpPr>
            <p:spPr bwMode="auto">
              <a:xfrm>
                <a:off x="388" y="2188"/>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6.4</a:t>
                </a:r>
                <a:endParaRPr lang="en-US" altLang="zh-CN" sz="1800">
                  <a:solidFill>
                    <a:srgbClr val="000000"/>
                  </a:solidFill>
                </a:endParaRPr>
              </a:p>
            </p:txBody>
          </p:sp>
          <p:sp>
            <p:nvSpPr>
              <p:cNvPr id="49170" name="AutoShape 8">
                <a:extLst>
                  <a:ext uri="{FF2B5EF4-FFF2-40B4-BE49-F238E27FC236}">
                    <a16:creationId xmlns:a16="http://schemas.microsoft.com/office/drawing/2014/main" id="{D8131707-43FD-49F6-AFB1-07C11C72D3FB}"/>
                  </a:ext>
                </a:extLst>
              </p:cNvPr>
              <p:cNvSpPr>
                <a:spLocks noChangeArrowheads="1"/>
              </p:cNvSpPr>
              <p:nvPr/>
            </p:nvSpPr>
            <p:spPr bwMode="auto">
              <a:xfrm>
                <a:off x="467" y="2430"/>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9171" name="Text Box 9">
                <a:extLst>
                  <a:ext uri="{FF2B5EF4-FFF2-40B4-BE49-F238E27FC236}">
                    <a16:creationId xmlns:a16="http://schemas.microsoft.com/office/drawing/2014/main" id="{0984743E-C2C2-4A5F-AAF6-F9633D41C528}"/>
                  </a:ext>
                </a:extLst>
              </p:cNvPr>
              <p:cNvSpPr txBox="1">
                <a:spLocks noChangeArrowheads="1"/>
              </p:cNvSpPr>
              <p:nvPr/>
            </p:nvSpPr>
            <p:spPr bwMode="auto">
              <a:xfrm>
                <a:off x="629" y="247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需求管理工具</a:t>
                </a:r>
                <a:r>
                  <a:rPr lang="zh-CN" altLang="en-US" sz="2000" b="0">
                    <a:latin typeface="Times New Roman" panose="02020603050405020304" pitchFamily="18" charset="0"/>
                  </a:rPr>
                  <a:t> </a:t>
                </a:r>
              </a:p>
            </p:txBody>
          </p:sp>
          <p:sp>
            <p:nvSpPr>
              <p:cNvPr id="49172" name="Rectangle 12">
                <a:extLst>
                  <a:ext uri="{FF2B5EF4-FFF2-40B4-BE49-F238E27FC236}">
                    <a16:creationId xmlns:a16="http://schemas.microsoft.com/office/drawing/2014/main" id="{DF374C01-6AC4-465C-AB9B-09888F679164}"/>
                  </a:ext>
                </a:extLst>
              </p:cNvPr>
              <p:cNvSpPr>
                <a:spLocks noChangeArrowheads="1"/>
              </p:cNvSpPr>
              <p:nvPr/>
            </p:nvSpPr>
            <p:spPr bwMode="auto">
              <a:xfrm>
                <a:off x="388" y="250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6.5</a:t>
                </a:r>
                <a:endParaRPr lang="en-US" altLang="zh-CN" sz="1800">
                  <a:solidFill>
                    <a:srgbClr val="000000"/>
                  </a:solidFill>
                </a:endParaRPr>
              </a:p>
            </p:txBody>
          </p:sp>
          <p:sp>
            <p:nvSpPr>
              <p:cNvPr id="49173" name="AutoShape 8">
                <a:extLst>
                  <a:ext uri="{FF2B5EF4-FFF2-40B4-BE49-F238E27FC236}">
                    <a16:creationId xmlns:a16="http://schemas.microsoft.com/office/drawing/2014/main" id="{EB002378-617E-4EC4-B337-27DA4DB96EC5}"/>
                  </a:ext>
                </a:extLst>
              </p:cNvPr>
              <p:cNvSpPr>
                <a:spLocks noChangeArrowheads="1"/>
              </p:cNvSpPr>
              <p:nvPr/>
            </p:nvSpPr>
            <p:spPr bwMode="auto">
              <a:xfrm>
                <a:off x="467" y="2745"/>
                <a:ext cx="3493" cy="263"/>
              </a:xfrm>
              <a:prstGeom prst="homePlate">
                <a:avLst>
                  <a:gd name="adj" fmla="val 32527"/>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9174" name="Text Box 9">
                <a:extLst>
                  <a:ext uri="{FF2B5EF4-FFF2-40B4-BE49-F238E27FC236}">
                    <a16:creationId xmlns:a16="http://schemas.microsoft.com/office/drawing/2014/main" id="{4ADD2D5E-9AF5-4133-BDF4-8C611BAE1B25}"/>
                  </a:ext>
                </a:extLst>
              </p:cNvPr>
              <p:cNvSpPr txBox="1">
                <a:spLocks noChangeArrowheads="1"/>
              </p:cNvSpPr>
              <p:nvPr/>
            </p:nvSpPr>
            <p:spPr bwMode="auto">
              <a:xfrm>
                <a:off x="629" y="279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案例分析</a:t>
                </a:r>
                <a:r>
                  <a:rPr lang="zh-CN" altLang="en-US" sz="2000" b="0">
                    <a:latin typeface="Times New Roman" panose="02020603050405020304" pitchFamily="18" charset="0"/>
                  </a:rPr>
                  <a:t> </a:t>
                </a:r>
              </a:p>
            </p:txBody>
          </p:sp>
          <p:sp>
            <p:nvSpPr>
              <p:cNvPr id="49175" name="Rectangle 12">
                <a:extLst>
                  <a:ext uri="{FF2B5EF4-FFF2-40B4-BE49-F238E27FC236}">
                    <a16:creationId xmlns:a16="http://schemas.microsoft.com/office/drawing/2014/main" id="{15886A6E-3264-4324-AFD0-B3B698F6A9C3}"/>
                  </a:ext>
                </a:extLst>
              </p:cNvPr>
              <p:cNvSpPr>
                <a:spLocks noChangeArrowheads="1"/>
              </p:cNvSpPr>
              <p:nvPr/>
            </p:nvSpPr>
            <p:spPr bwMode="auto">
              <a:xfrm>
                <a:off x="388" y="278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6.6</a:t>
                </a:r>
                <a:endParaRPr lang="en-US" altLang="zh-CN" sz="1800">
                  <a:solidFill>
                    <a:srgbClr val="000000"/>
                  </a:solidFill>
                </a:endParaRPr>
              </a:p>
            </p:txBody>
          </p:sp>
          <p:sp>
            <p:nvSpPr>
              <p:cNvPr id="49176" name="Text Box 9">
                <a:extLst>
                  <a:ext uri="{FF2B5EF4-FFF2-40B4-BE49-F238E27FC236}">
                    <a16:creationId xmlns:a16="http://schemas.microsoft.com/office/drawing/2014/main" id="{4880C438-617F-4318-80B7-06552DE2B337}"/>
                  </a:ext>
                </a:extLst>
              </p:cNvPr>
              <p:cNvSpPr txBox="1">
                <a:spLocks noChangeArrowheads="1"/>
              </p:cNvSpPr>
              <p:nvPr/>
            </p:nvSpPr>
            <p:spPr bwMode="auto">
              <a:xfrm>
                <a:off x="629" y="3105"/>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本章小结</a:t>
                </a:r>
                <a:r>
                  <a:rPr lang="zh-CN" altLang="en-US" sz="2000" b="0">
                    <a:latin typeface="Times New Roman" panose="02020603050405020304" pitchFamily="18" charset="0"/>
                  </a:rPr>
                  <a:t> </a:t>
                </a:r>
              </a:p>
            </p:txBody>
          </p:sp>
          <p:sp>
            <p:nvSpPr>
              <p:cNvPr id="49177" name="Rectangle 12">
                <a:extLst>
                  <a:ext uri="{FF2B5EF4-FFF2-40B4-BE49-F238E27FC236}">
                    <a16:creationId xmlns:a16="http://schemas.microsoft.com/office/drawing/2014/main" id="{940C4424-A8D1-4536-B9D2-0E536741C272}"/>
                  </a:ext>
                </a:extLst>
              </p:cNvPr>
              <p:cNvSpPr>
                <a:spLocks noChangeArrowheads="1"/>
              </p:cNvSpPr>
              <p:nvPr/>
            </p:nvSpPr>
            <p:spPr bwMode="auto">
              <a:xfrm>
                <a:off x="388" y="3133"/>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6.7</a:t>
                </a:r>
                <a:endParaRPr lang="en-US" altLang="zh-CN" sz="1800">
                  <a:solidFill>
                    <a:srgbClr val="000000"/>
                  </a:solidFill>
                </a:endParaRPr>
              </a:p>
            </p:txBody>
          </p:sp>
          <p:sp>
            <p:nvSpPr>
              <p:cNvPr id="49178" name="AutoShape 8">
                <a:extLst>
                  <a:ext uri="{FF2B5EF4-FFF2-40B4-BE49-F238E27FC236}">
                    <a16:creationId xmlns:a16="http://schemas.microsoft.com/office/drawing/2014/main" id="{4C4F30E7-9D29-420E-99C8-6D95CEFAC02B}"/>
                  </a:ext>
                </a:extLst>
              </p:cNvPr>
              <p:cNvSpPr>
                <a:spLocks noChangeArrowheads="1"/>
              </p:cNvSpPr>
              <p:nvPr/>
            </p:nvSpPr>
            <p:spPr bwMode="auto">
              <a:xfrm>
                <a:off x="467" y="3375"/>
                <a:ext cx="3493" cy="270"/>
              </a:xfrm>
              <a:prstGeom prst="homePlate">
                <a:avLst>
                  <a:gd name="adj" fmla="val 3252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9179" name="Text Box 9">
                <a:extLst>
                  <a:ext uri="{FF2B5EF4-FFF2-40B4-BE49-F238E27FC236}">
                    <a16:creationId xmlns:a16="http://schemas.microsoft.com/office/drawing/2014/main" id="{A1034E54-FFAC-49FD-89FC-094BA230200C}"/>
                  </a:ext>
                </a:extLst>
              </p:cNvPr>
              <p:cNvSpPr txBox="1">
                <a:spLocks noChangeArrowheads="1"/>
              </p:cNvSpPr>
              <p:nvPr/>
            </p:nvSpPr>
            <p:spPr bwMode="auto">
              <a:xfrm>
                <a:off x="629" y="3420"/>
                <a:ext cx="309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000" b="0">
                    <a:latin typeface="Times New Roman" panose="02020603050405020304" pitchFamily="18" charset="0"/>
                  </a:rPr>
                  <a:t> </a:t>
                </a:r>
              </a:p>
            </p:txBody>
          </p:sp>
          <p:sp>
            <p:nvSpPr>
              <p:cNvPr id="49180" name="Rectangle 12">
                <a:extLst>
                  <a:ext uri="{FF2B5EF4-FFF2-40B4-BE49-F238E27FC236}">
                    <a16:creationId xmlns:a16="http://schemas.microsoft.com/office/drawing/2014/main" id="{5C4FAD93-4F6B-4F1F-AC50-A4750A783779}"/>
                  </a:ext>
                </a:extLst>
              </p:cNvPr>
              <p:cNvSpPr>
                <a:spLocks noChangeArrowheads="1"/>
              </p:cNvSpPr>
              <p:nvPr/>
            </p:nvSpPr>
            <p:spPr bwMode="auto">
              <a:xfrm>
                <a:off x="388" y="3448"/>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6.8</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slide(fromBottom)">
                                      <p:cBhvr>
                                        <p:cTn id="7" dur="500"/>
                                        <p:tgtEl>
                                          <p:spTgt spid="45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EF69837F-5954-44DA-A2F8-27D2AFB3A246}"/>
              </a:ext>
            </a:extLst>
          </p:cNvPr>
          <p:cNvSpPr>
            <a:spLocks noGrp="1" noChangeArrowheads="1"/>
          </p:cNvSpPr>
          <p:nvPr>
            <p:ph type="title"/>
          </p:nvPr>
        </p:nvSpPr>
        <p:spPr>
          <a:xfrm>
            <a:off x="468313" y="1054100"/>
            <a:ext cx="8497887" cy="717550"/>
          </a:xfrm>
          <a:noFill/>
        </p:spPr>
        <p:txBody>
          <a:bodyPr/>
          <a:lstStyle/>
          <a:p>
            <a:pPr eaLnBrk="1" hangingPunct="1"/>
            <a:r>
              <a:rPr lang="en-US" altLang="zh-CN"/>
              <a:t>6.8 </a:t>
            </a:r>
            <a:r>
              <a:rPr lang="zh-CN" altLang="en-US"/>
              <a:t>复习思考题</a:t>
            </a:r>
          </a:p>
        </p:txBody>
      </p:sp>
      <p:sp>
        <p:nvSpPr>
          <p:cNvPr id="50179" name="TextBox 4">
            <a:extLst>
              <a:ext uri="{FF2B5EF4-FFF2-40B4-BE49-F238E27FC236}">
                <a16:creationId xmlns:a16="http://schemas.microsoft.com/office/drawing/2014/main" id="{D661F3FF-EE1C-44BB-AC31-F005A3603830}"/>
              </a:ext>
            </a:extLst>
          </p:cNvPr>
          <p:cNvSpPr txBox="1">
            <a:spLocks noChangeArrowheads="1"/>
          </p:cNvSpPr>
          <p:nvPr/>
        </p:nvSpPr>
        <p:spPr bwMode="auto">
          <a:xfrm>
            <a:off x="714375" y="2133600"/>
            <a:ext cx="8072438" cy="394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ts val="3000"/>
              </a:lnSpc>
              <a:spcBef>
                <a:spcPct val="20000"/>
              </a:spcBef>
              <a:buClrTx/>
              <a:buFontTx/>
              <a:buAutoNum type="arabicPeriod"/>
            </a:pPr>
            <a:r>
              <a:rPr lang="zh-CN" altLang="en-US" sz="2000">
                <a:latin typeface="宋体" panose="02010600030101010101" pitchFamily="2" charset="-122"/>
              </a:rPr>
              <a:t>什么是软件需求？什么是软件需求管理？</a:t>
            </a:r>
          </a:p>
          <a:p>
            <a:pPr eaLnBrk="1" hangingPunct="1">
              <a:lnSpc>
                <a:spcPts val="3000"/>
              </a:lnSpc>
              <a:spcBef>
                <a:spcPct val="20000"/>
              </a:spcBef>
              <a:buClrTx/>
              <a:buFontTx/>
              <a:buAutoNum type="arabicPeriod"/>
            </a:pPr>
            <a:r>
              <a:rPr lang="zh-CN" altLang="en-US" sz="2000">
                <a:latin typeface="宋体" panose="02010600030101010101" pitchFamily="2" charset="-122"/>
              </a:rPr>
              <a:t>软件需求包括哪些层次？软件需求根据</a:t>
            </a:r>
            <a:r>
              <a:rPr lang="en-US" altLang="zh-CN" sz="2000">
                <a:latin typeface="Times New Roman" panose="02020603050405020304" pitchFamily="18" charset="0"/>
              </a:rPr>
              <a:t>FURPS+</a:t>
            </a:r>
            <a:r>
              <a:rPr lang="zh-CN" altLang="en-US" sz="2000">
                <a:latin typeface="宋体" panose="02010600030101010101" pitchFamily="2" charset="-122"/>
              </a:rPr>
              <a:t>模型是如何来分类的？</a:t>
            </a:r>
          </a:p>
          <a:p>
            <a:pPr eaLnBrk="1" hangingPunct="1">
              <a:lnSpc>
                <a:spcPts val="3000"/>
              </a:lnSpc>
              <a:spcBef>
                <a:spcPct val="20000"/>
              </a:spcBef>
              <a:buClrTx/>
              <a:buFontTx/>
              <a:buAutoNum type="arabicPeriod"/>
            </a:pPr>
            <a:r>
              <a:rPr lang="zh-CN" altLang="en-US" sz="2000">
                <a:latin typeface="宋体" panose="02010600030101010101" pitchFamily="2" charset="-122"/>
              </a:rPr>
              <a:t>软件需求开发包括哪四个阶段，在这四个阶段执行哪些活动？</a:t>
            </a:r>
          </a:p>
          <a:p>
            <a:pPr eaLnBrk="1" hangingPunct="1">
              <a:lnSpc>
                <a:spcPts val="3000"/>
              </a:lnSpc>
              <a:spcBef>
                <a:spcPct val="20000"/>
              </a:spcBef>
              <a:buClrTx/>
              <a:buFontTx/>
              <a:buAutoNum type="arabicPeriod"/>
            </a:pPr>
            <a:r>
              <a:rPr lang="zh-CN" altLang="en-US" sz="2000">
                <a:latin typeface="宋体" panose="02010600030101010101" pitchFamily="2" charset="-122"/>
              </a:rPr>
              <a:t>什么是软件需求规格说明？应如何编写？。</a:t>
            </a:r>
          </a:p>
          <a:p>
            <a:pPr eaLnBrk="1" hangingPunct="1">
              <a:lnSpc>
                <a:spcPts val="3000"/>
              </a:lnSpc>
              <a:spcBef>
                <a:spcPct val="20000"/>
              </a:spcBef>
              <a:buClrTx/>
              <a:buFontTx/>
              <a:buAutoNum type="arabicPeriod"/>
            </a:pPr>
            <a:r>
              <a:rPr lang="zh-CN" altLang="en-US" sz="2000">
                <a:latin typeface="宋体" panose="02010600030101010101" pitchFamily="2" charset="-122"/>
              </a:rPr>
              <a:t>什么是在软件需求变更管理，需求变更管理中有哪些活动？</a:t>
            </a:r>
          </a:p>
          <a:p>
            <a:pPr eaLnBrk="1" hangingPunct="1">
              <a:lnSpc>
                <a:spcPts val="3000"/>
              </a:lnSpc>
              <a:spcBef>
                <a:spcPct val="20000"/>
              </a:spcBef>
              <a:buClrTx/>
              <a:buFontTx/>
              <a:buAutoNum type="arabicPeriod"/>
            </a:pPr>
            <a:r>
              <a:rPr lang="zh-CN" altLang="en-US" sz="2000">
                <a:latin typeface="宋体" panose="02010600030101010101" pitchFamily="2" charset="-122"/>
              </a:rPr>
              <a:t>试分析需求分析建模方法的几种方法，并比较它们的优缺点。</a:t>
            </a:r>
          </a:p>
          <a:p>
            <a:pPr eaLnBrk="1" hangingPunct="1">
              <a:lnSpc>
                <a:spcPts val="3000"/>
              </a:lnSpc>
              <a:spcBef>
                <a:spcPct val="20000"/>
              </a:spcBef>
              <a:buClrTx/>
              <a:buFontTx/>
              <a:buAutoNum type="arabicPeriod"/>
            </a:pPr>
            <a:r>
              <a:rPr lang="zh-CN" altLang="en-US" sz="2000">
                <a:latin typeface="宋体" panose="02010600030101010101" pitchFamily="2" charset="-122"/>
              </a:rPr>
              <a:t>什么是需求管理工具？试述几种需求管理工具的用法。</a:t>
            </a:r>
          </a:p>
          <a:p>
            <a:pPr eaLnBrk="1" hangingPunct="1">
              <a:lnSpc>
                <a:spcPts val="3000"/>
              </a:lnSpc>
              <a:spcBef>
                <a:spcPct val="20000"/>
              </a:spcBef>
              <a:buClrTx/>
              <a:buFontTx/>
              <a:buAutoNum type="arabicPeriod"/>
            </a:pPr>
            <a:r>
              <a:rPr lang="zh-CN" altLang="en-US" sz="2000">
                <a:latin typeface="宋体" panose="02010600030101010101" pitchFamily="2" charset="-122"/>
              </a:rPr>
              <a:t>说说在以后的项目管理中，你将如何进行需求管理。</a:t>
            </a:r>
          </a:p>
        </p:txBody>
      </p:sp>
    </p:spTree>
  </p:cSld>
  <p:clrMapOvr>
    <a:masterClrMapping/>
  </p:clrMapOvr>
</p:sld>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2136</TotalTime>
  <Words>3905</Words>
  <Application>Microsoft Office PowerPoint</Application>
  <PresentationFormat>全屏显示(4:3)</PresentationFormat>
  <Paragraphs>529</Paragraphs>
  <Slides>47</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57" baseType="lpstr">
      <vt:lpstr>黑体</vt:lpstr>
      <vt:lpstr>宋体</vt:lpstr>
      <vt:lpstr>新宋体</vt:lpstr>
      <vt:lpstr>Arial</vt:lpstr>
      <vt:lpstr>Comic Sans MS</vt:lpstr>
      <vt:lpstr>Times New Roman</vt:lpstr>
      <vt:lpstr>Wingdings</vt:lpstr>
      <vt:lpstr>Wingdings 2</vt:lpstr>
      <vt:lpstr>1_默认设计模板</vt:lpstr>
      <vt:lpstr>Visio</vt:lpstr>
      <vt:lpstr>第 6 章   软件项目需求管理 </vt:lpstr>
      <vt:lpstr>本章内容提要</vt:lpstr>
      <vt:lpstr>6.1 软件项目需求管理概述</vt:lpstr>
      <vt:lpstr>软件项目需求管理概述</vt:lpstr>
      <vt:lpstr>软件项目需求管理概述</vt:lpstr>
      <vt:lpstr>软件项目需求管理概述</vt:lpstr>
      <vt:lpstr>软件项目需求管理概述</vt:lpstr>
      <vt:lpstr>本章内容提要</vt:lpstr>
      <vt:lpstr>6.2 需求开发和管理过程</vt:lpstr>
      <vt:lpstr>需求开发和管理过程</vt:lpstr>
      <vt:lpstr>需求开发和管理过程</vt:lpstr>
      <vt:lpstr>需求开发和管理过程</vt:lpstr>
      <vt:lpstr>需求开发和管理过程</vt:lpstr>
      <vt:lpstr>需求开发和管理过程</vt:lpstr>
      <vt:lpstr>需求开发和管理过程</vt:lpstr>
      <vt:lpstr>需求开发和管理过程</vt:lpstr>
      <vt:lpstr>需求开发和管理过程</vt:lpstr>
      <vt:lpstr>需求开发和管理过程</vt:lpstr>
      <vt:lpstr>本章内容提要</vt:lpstr>
      <vt:lpstr>6.3  需求获取方法</vt:lpstr>
      <vt:lpstr>需求获取方法</vt:lpstr>
      <vt:lpstr>需求获取方法</vt:lpstr>
      <vt:lpstr>需求获取方法</vt:lpstr>
      <vt:lpstr>本章内容提要</vt:lpstr>
      <vt:lpstr>6.4  需求分析建模方法</vt:lpstr>
      <vt:lpstr>需求分析建模方法</vt:lpstr>
      <vt:lpstr>需求分析建模方法</vt:lpstr>
      <vt:lpstr>需求分析建模方法</vt:lpstr>
      <vt:lpstr>需求分析建模方法</vt:lpstr>
      <vt:lpstr>需求分析建模方法</vt:lpstr>
      <vt:lpstr>本章内容提要</vt:lpstr>
      <vt:lpstr>6.5  需求管理工具</vt:lpstr>
      <vt:lpstr>本章内容提要</vt:lpstr>
      <vt:lpstr>6.6  案例分析</vt:lpstr>
      <vt:lpstr>案例分析</vt:lpstr>
      <vt:lpstr>案例分析</vt:lpstr>
      <vt:lpstr>案例分析</vt:lpstr>
      <vt:lpstr>案例分析</vt:lpstr>
      <vt:lpstr>案例分析</vt:lpstr>
      <vt:lpstr>案例分析</vt:lpstr>
      <vt:lpstr>案例分析</vt:lpstr>
      <vt:lpstr>案例分析</vt:lpstr>
      <vt:lpstr>案例分析</vt:lpstr>
      <vt:lpstr>本章内容提要</vt:lpstr>
      <vt:lpstr>6.7 本章小结</vt:lpstr>
      <vt:lpstr>本章内容提要</vt:lpstr>
      <vt:lpstr>6.8 复习思考题</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软件项目需求管理概述</dc:title>
  <dc:subject>软件项目需求管理概述</dc:subject>
  <dc:creator>陈震</dc:creator>
  <cp:lastModifiedBy>Mingjian Jiang</cp:lastModifiedBy>
  <cp:revision>357</cp:revision>
  <dcterms:created xsi:type="dcterms:W3CDTF">2005-05-27T08:51:01Z</dcterms:created>
  <dcterms:modified xsi:type="dcterms:W3CDTF">2024-09-09T07:29:34Z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