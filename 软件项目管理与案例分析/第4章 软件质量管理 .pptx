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13"/>
  </p:notesMasterIdLst>
  <p:sldIdLst>
    <p:sldId id="256" r:id="rId2"/>
    <p:sldId id="260" r:id="rId3"/>
    <p:sldId id="298" r:id="rId4"/>
    <p:sldId id="329" r:id="rId5"/>
    <p:sldId id="303" r:id="rId6"/>
    <p:sldId id="332" r:id="rId7"/>
    <p:sldId id="300" r:id="rId8"/>
    <p:sldId id="304" r:id="rId9"/>
    <p:sldId id="330" r:id="rId10"/>
    <p:sldId id="331" r:id="rId11"/>
    <p:sldId id="281" r:id="rId12"/>
    <p:sldId id="333" r:id="rId13"/>
    <p:sldId id="334" r:id="rId14"/>
    <p:sldId id="335" r:id="rId15"/>
    <p:sldId id="319" r:id="rId16"/>
    <p:sldId id="336" r:id="rId17"/>
    <p:sldId id="408" r:id="rId18"/>
    <p:sldId id="338" r:id="rId19"/>
    <p:sldId id="339" r:id="rId20"/>
    <p:sldId id="342" r:id="rId21"/>
    <p:sldId id="345" r:id="rId22"/>
    <p:sldId id="347" r:id="rId23"/>
    <p:sldId id="443" r:id="rId24"/>
    <p:sldId id="351" r:id="rId25"/>
    <p:sldId id="350" r:id="rId26"/>
    <p:sldId id="352" r:id="rId27"/>
    <p:sldId id="353" r:id="rId28"/>
    <p:sldId id="355" r:id="rId29"/>
    <p:sldId id="357" r:id="rId30"/>
    <p:sldId id="359" r:id="rId31"/>
    <p:sldId id="360" r:id="rId32"/>
    <p:sldId id="361" r:id="rId33"/>
    <p:sldId id="362" r:id="rId34"/>
    <p:sldId id="444" r:id="rId35"/>
    <p:sldId id="363" r:id="rId36"/>
    <p:sldId id="364" r:id="rId37"/>
    <p:sldId id="365" r:id="rId38"/>
    <p:sldId id="366" r:id="rId39"/>
    <p:sldId id="367" r:id="rId40"/>
    <p:sldId id="445" r:id="rId41"/>
    <p:sldId id="377" r:id="rId42"/>
    <p:sldId id="378" r:id="rId43"/>
    <p:sldId id="379" r:id="rId44"/>
    <p:sldId id="380" r:id="rId45"/>
    <p:sldId id="381" r:id="rId46"/>
    <p:sldId id="382" r:id="rId47"/>
    <p:sldId id="383" r:id="rId48"/>
    <p:sldId id="446" r:id="rId49"/>
    <p:sldId id="384" r:id="rId50"/>
    <p:sldId id="447" r:id="rId51"/>
    <p:sldId id="385" r:id="rId52"/>
    <p:sldId id="386" r:id="rId53"/>
    <p:sldId id="387" r:id="rId54"/>
    <p:sldId id="388" r:id="rId55"/>
    <p:sldId id="389" r:id="rId56"/>
    <p:sldId id="390" r:id="rId57"/>
    <p:sldId id="391" r:id="rId58"/>
    <p:sldId id="392" r:id="rId59"/>
    <p:sldId id="393" r:id="rId60"/>
    <p:sldId id="394" r:id="rId61"/>
    <p:sldId id="395" r:id="rId62"/>
    <p:sldId id="400" r:id="rId63"/>
    <p:sldId id="401" r:id="rId64"/>
    <p:sldId id="402" r:id="rId65"/>
    <p:sldId id="399" r:id="rId66"/>
    <p:sldId id="396" r:id="rId67"/>
    <p:sldId id="403" r:id="rId68"/>
    <p:sldId id="397" r:id="rId69"/>
    <p:sldId id="404" r:id="rId70"/>
    <p:sldId id="398" r:id="rId71"/>
    <p:sldId id="405" r:id="rId72"/>
    <p:sldId id="406" r:id="rId73"/>
    <p:sldId id="407" r:id="rId74"/>
    <p:sldId id="410" r:id="rId75"/>
    <p:sldId id="409" r:id="rId76"/>
    <p:sldId id="411" r:id="rId77"/>
    <p:sldId id="412" r:id="rId78"/>
    <p:sldId id="413" r:id="rId79"/>
    <p:sldId id="414" r:id="rId80"/>
    <p:sldId id="433" r:id="rId81"/>
    <p:sldId id="415" r:id="rId82"/>
    <p:sldId id="416" r:id="rId83"/>
    <p:sldId id="434" r:id="rId84"/>
    <p:sldId id="417" r:id="rId85"/>
    <p:sldId id="435" r:id="rId86"/>
    <p:sldId id="436" r:id="rId87"/>
    <p:sldId id="419" r:id="rId88"/>
    <p:sldId id="421" r:id="rId89"/>
    <p:sldId id="370" r:id="rId90"/>
    <p:sldId id="423" r:id="rId91"/>
    <p:sldId id="425" r:id="rId92"/>
    <p:sldId id="426" r:id="rId93"/>
    <p:sldId id="437" r:id="rId94"/>
    <p:sldId id="427" r:id="rId95"/>
    <p:sldId id="438" r:id="rId96"/>
    <p:sldId id="428" r:id="rId97"/>
    <p:sldId id="439" r:id="rId98"/>
    <p:sldId id="429" r:id="rId99"/>
    <p:sldId id="430" r:id="rId100"/>
    <p:sldId id="431" r:id="rId101"/>
    <p:sldId id="440" r:id="rId102"/>
    <p:sldId id="442" r:id="rId103"/>
    <p:sldId id="441" r:id="rId104"/>
    <p:sldId id="432" r:id="rId105"/>
    <p:sldId id="422" r:id="rId106"/>
    <p:sldId id="307" r:id="rId107"/>
    <p:sldId id="328" r:id="rId108"/>
    <p:sldId id="369" r:id="rId109"/>
    <p:sldId id="280" r:id="rId110"/>
    <p:sldId id="368" r:id="rId111"/>
    <p:sldId id="449" r:id="rId112"/>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3366CC"/>
    <a:srgbClr val="00FF00"/>
    <a:srgbClr val="CC3300"/>
    <a:srgbClr val="FFCC99"/>
    <a:srgbClr val="FFFFCC"/>
    <a:srgbClr val="FF996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424" autoAdjust="0"/>
  </p:normalViewPr>
  <p:slideViewPr>
    <p:cSldViewPr>
      <p:cViewPr varScale="1">
        <p:scale>
          <a:sx n="115" d="100"/>
          <a:sy n="115" d="100"/>
        </p:scale>
        <p:origin x="1618"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48B2646-9323-D4AF-011F-627657F6A0C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5843" name="Rectangle 3">
            <a:extLst>
              <a:ext uri="{FF2B5EF4-FFF2-40B4-BE49-F238E27FC236}">
                <a16:creationId xmlns:a16="http://schemas.microsoft.com/office/drawing/2014/main" id="{268A6DB7-50ED-8D10-F712-B3BD6E30B98C}"/>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0D4B12DB-31CD-4556-8061-D37C86BF9C7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B1483CB8-57A8-8E83-2D11-FDE51225B92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2159692D-2D49-4741-643C-D42173DDFC2A}"/>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5847" name="Rectangle 7">
            <a:extLst>
              <a:ext uri="{FF2B5EF4-FFF2-40B4-BE49-F238E27FC236}">
                <a16:creationId xmlns:a16="http://schemas.microsoft.com/office/drawing/2014/main" id="{B176119F-8897-F2FA-CCB2-87E0E9CF97DC}"/>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5A3FB70-4C90-4453-9CB5-43AE5A74AEC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3DB2D2B0-0C97-357F-D20B-9E5F607D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p:spPr>
        <p:txBody>
          <a:bodyPr/>
          <a:lstStyle>
            <a:lvl1pPr marL="0" indent="0" algn="r">
              <a:defRPr sz="3600">
                <a:solidFill>
                  <a:srgbClr val="FFFF00"/>
                </a:solidFill>
              </a:defRPr>
            </a:lvl1pPr>
          </a:lstStyle>
          <a:p>
            <a:pPr lvl="0"/>
            <a:r>
              <a:rPr lang="zh-CN" altLang="en-US" noProof="0"/>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anose="05020102010507070707" pitchFamily="18" charset="2"/>
              <a:buNone/>
              <a:defRPr>
                <a:solidFill>
                  <a:schemeClr val="bg1"/>
                </a:solidFill>
              </a:defRPr>
            </a:lvl1pPr>
          </a:lstStyle>
          <a:p>
            <a:pPr lvl="0"/>
            <a:r>
              <a:rPr lang="zh-CN" altLang="en-US" noProof="0"/>
              <a:t>单击此处编辑母版副标题样式</a:t>
            </a:r>
          </a:p>
        </p:txBody>
      </p:sp>
    </p:spTree>
    <p:extLst>
      <p:ext uri="{BB962C8B-B14F-4D97-AF65-F5344CB8AC3E}">
        <p14:creationId xmlns:p14="http://schemas.microsoft.com/office/powerpoint/2010/main" val="2913664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27280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2389919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8003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355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29078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2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992387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098425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66776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226807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表格占位符 2"/>
          <p:cNvSpPr>
            <a:spLocks noGrp="1"/>
          </p:cNvSpPr>
          <p:nvPr>
            <p:ph type="tbl" idx="1"/>
          </p:nvPr>
        </p:nvSpPr>
        <p:spPr>
          <a:xfrm>
            <a:off x="179388" y="1773238"/>
            <a:ext cx="8785225" cy="5084762"/>
          </a:xfrm>
        </p:spPr>
        <p:txBody>
          <a:bodyPr/>
          <a:lstStyle/>
          <a:p>
            <a:pPr lvl="0"/>
            <a:endParaRPr lang="zh-CN" altLang="en-US" noProof="0"/>
          </a:p>
        </p:txBody>
      </p:sp>
    </p:spTree>
    <p:extLst>
      <p:ext uri="{BB962C8B-B14F-4D97-AF65-F5344CB8AC3E}">
        <p14:creationId xmlns:p14="http://schemas.microsoft.com/office/powerpoint/2010/main" val="666836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4FF2472-D8D4-F58B-249F-D0A11CC906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818717EF-B8A4-91D4-946B-587BA63CBB31}"/>
              </a:ext>
            </a:extLst>
          </p:cNvPr>
          <p:cNvSpPr txBox="1">
            <a:spLocks noChangeArrowheads="1"/>
          </p:cNvSpPr>
          <p:nvPr/>
        </p:nvSpPr>
        <p:spPr bwMode="auto">
          <a:xfrm>
            <a:off x="8412163" y="6624638"/>
            <a:ext cx="500062" cy="274637"/>
          </a:xfrm>
          <a:prstGeom prst="rect">
            <a:avLst/>
          </a:prstGeom>
          <a:noFill/>
          <a:ln>
            <a:noFill/>
          </a:ln>
          <a:effec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defRPr/>
            </a:pPr>
            <a:fld id="{516DB2E4-161E-4834-B9AD-267862D58C3F}" type="slidenum">
              <a:rPr kumimoji="0" lang="en-US" altLang="zh-CN" sz="1200" b="1" smtClean="0">
                <a:solidFill>
                  <a:schemeClr val="tx2"/>
                </a:solidFill>
                <a:latin typeface="Comic Sans MS" panose="030F0702030302020204" pitchFamily="66" charset="0"/>
                <a:cs typeface="Times New Roman" panose="02020603050405020304" pitchFamily="18" charset="0"/>
              </a:rPr>
              <a:pPr algn="r" eaLnBrk="1" hangingPunct="1">
                <a:defRPr/>
              </a:pPr>
              <a:t>‹#›</a:t>
            </a:fld>
            <a:endParaRPr kumimoji="0" lang="en-US" altLang="zh-CN" sz="1200" b="1">
              <a:solidFill>
                <a:schemeClr val="tx2"/>
              </a:solidFill>
              <a:latin typeface="Comic Sans MS" panose="030F0702030302020204" pitchFamily="66" charset="0"/>
              <a:cs typeface="Times New Roman" panose="02020603050405020304" pitchFamily="18" charset="0"/>
            </a:endParaRPr>
          </a:p>
        </p:txBody>
      </p:sp>
      <p:sp>
        <p:nvSpPr>
          <p:cNvPr id="1028" name="Rectangle 4">
            <a:extLst>
              <a:ext uri="{FF2B5EF4-FFF2-40B4-BE49-F238E27FC236}">
                <a16:creationId xmlns:a16="http://schemas.microsoft.com/office/drawing/2014/main" id="{8AF7692A-3481-EA40-59AA-EA9E0D1CB211}"/>
              </a:ext>
            </a:extLst>
          </p:cNvPr>
          <p:cNvSpPr>
            <a:spLocks noGrp="1" noChangeArrowheads="1"/>
          </p:cNvSpPr>
          <p:nvPr>
            <p:ph type="title"/>
          </p:nvPr>
        </p:nvSpPr>
        <p:spPr bwMode="auto">
          <a:xfrm>
            <a:off x="179388" y="1052513"/>
            <a:ext cx="8785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9" name="Rectangle 5">
            <a:extLst>
              <a:ext uri="{FF2B5EF4-FFF2-40B4-BE49-F238E27FC236}">
                <a16:creationId xmlns:a16="http://schemas.microsoft.com/office/drawing/2014/main" id="{7DEADF18-7017-986E-0898-068D7AF022D7}"/>
              </a:ext>
            </a:extLst>
          </p:cNvPr>
          <p:cNvSpPr>
            <a:spLocks noGrp="1" noChangeArrowheads="1"/>
          </p:cNvSpPr>
          <p:nvPr>
            <p:ph type="body" idx="1"/>
          </p:nvPr>
        </p:nvSpPr>
        <p:spPr bwMode="auto">
          <a:xfrm>
            <a:off x="179388" y="1773238"/>
            <a:ext cx="878522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DC6D75FD-9D1A-2E29-7BC0-855D3DE99DDF}"/>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2" name="矩形 1">
            <a:extLst>
              <a:ext uri="{FF2B5EF4-FFF2-40B4-BE49-F238E27FC236}">
                <a16:creationId xmlns:a16="http://schemas.microsoft.com/office/drawing/2014/main" id="{2DA238DC-C769-5724-8C43-97BAF1B98734}"/>
              </a:ext>
            </a:extLst>
          </p:cNvPr>
          <p:cNvSpPr/>
          <p:nvPr userDrawn="1"/>
        </p:nvSpPr>
        <p:spPr bwMode="auto">
          <a:xfrm>
            <a:off x="0" y="5805488"/>
            <a:ext cx="1042988" cy="1008062"/>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a:lstStyle/>
          <a:p>
            <a:pPr eaLnBrk="1" hangingPunct="1">
              <a:defRPr/>
            </a:pPr>
            <a:endParaRPr lang="zh-CN" altLang="en-US">
              <a:solidFill>
                <a:schemeClr val="tx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916"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 grpId="0" animBg="1"/>
    </p:bldLst>
  </p:timing>
  <p:txStyles>
    <p:titleStyle>
      <a:lvl1pPr marL="342900" indent="-342900" algn="l" rtl="0" eaLnBrk="0" fontAlgn="base" hangingPunct="0">
        <a:spcBef>
          <a:spcPct val="20000"/>
        </a:spcBef>
        <a:spcAft>
          <a:spcPct val="0"/>
        </a:spcAft>
        <a:defRPr sz="2800" b="1" kern="1200">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2pPr>
      <a:lvl3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3pPr>
      <a:lvl4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4pPr>
      <a:lvl5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5pPr>
      <a:lvl6pPr marL="8001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6pPr>
      <a:lvl7pPr marL="12573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7pPr>
      <a:lvl8pPr marL="17145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8pPr>
      <a:lvl9pPr marL="21717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kern="1200">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kern="1200">
          <a:solidFill>
            <a:schemeClr val="tx1"/>
          </a:solidFill>
          <a:latin typeface="+mn-lt"/>
          <a:ea typeface="+mn-ea"/>
          <a:cs typeface="+mn-cs"/>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hyperlink" Target="&#19968;&#20010;&#20856;&#22411;&#30340;&#36136;&#37327;&#20445;&#35777;&#35745;&#21010;&#33539;&#20363;.pdf"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E9798438-771C-DE09-84D2-3C690FF9A138}"/>
              </a:ext>
            </a:extLst>
          </p:cNvPr>
          <p:cNvSpPr>
            <a:spLocks noGrp="1" noChangeArrowheads="1"/>
          </p:cNvSpPr>
          <p:nvPr>
            <p:ph type="ctrTitle"/>
          </p:nvPr>
        </p:nvSpPr>
        <p:spPr>
          <a:noFill/>
        </p:spPr>
        <p:txBody>
          <a:bodyPr/>
          <a:lstStyle/>
          <a:p>
            <a:pPr algn="ctr" eaLnBrk="1" hangingPunct="1"/>
            <a:r>
              <a:rPr lang="zh-CN" altLang="en-US"/>
              <a:t>第 </a:t>
            </a:r>
            <a:r>
              <a:rPr lang="en-US" altLang="zh-CN"/>
              <a:t>4 </a:t>
            </a:r>
            <a:r>
              <a:rPr lang="zh-CN" altLang="en-US"/>
              <a:t>章   软件质量管理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3D8F6D8-AA6E-4437-8707-F7B20F03A5C0}"/>
              </a:ext>
            </a:extLst>
          </p:cNvPr>
          <p:cNvSpPr>
            <a:spLocks noGrp="1" noChangeArrowheads="1"/>
          </p:cNvSpPr>
          <p:nvPr>
            <p:ph type="title"/>
          </p:nvPr>
        </p:nvSpPr>
        <p:spPr/>
        <p:txBody>
          <a:bodyPr/>
          <a:lstStyle/>
          <a:p>
            <a:pPr eaLnBrk="1" hangingPunct="1"/>
            <a:r>
              <a:rPr lang="zh-CN" altLang="en-US"/>
              <a:t>本章内容提要</a:t>
            </a:r>
          </a:p>
        </p:txBody>
      </p:sp>
      <p:grpSp>
        <p:nvGrpSpPr>
          <p:cNvPr id="5123" name="组合 24">
            <a:extLst>
              <a:ext uri="{FF2B5EF4-FFF2-40B4-BE49-F238E27FC236}">
                <a16:creationId xmlns:a16="http://schemas.microsoft.com/office/drawing/2014/main" id="{22A4CCDD-D101-3F81-B1E0-3448718120FF}"/>
              </a:ext>
            </a:extLst>
          </p:cNvPr>
          <p:cNvGrpSpPr>
            <a:grpSpLocks/>
          </p:cNvGrpSpPr>
          <p:nvPr/>
        </p:nvGrpSpPr>
        <p:grpSpPr bwMode="auto">
          <a:xfrm>
            <a:off x="604838" y="2205038"/>
            <a:ext cx="5695950" cy="3797300"/>
            <a:chOff x="604838" y="2204864"/>
            <a:chExt cx="5695950" cy="3797300"/>
          </a:xfrm>
        </p:grpSpPr>
        <p:sp>
          <p:nvSpPr>
            <p:cNvPr id="5124" name="AutoShape 4">
              <a:extLst>
                <a:ext uri="{FF2B5EF4-FFF2-40B4-BE49-F238E27FC236}">
                  <a16:creationId xmlns:a16="http://schemas.microsoft.com/office/drawing/2014/main" id="{C3895616-321A-66A4-4EB1-9C5D0325705E}"/>
                </a:ext>
              </a:extLst>
            </p:cNvPr>
            <p:cNvSpPr>
              <a:spLocks noChangeArrowheads="1"/>
            </p:cNvSpPr>
            <p:nvPr/>
          </p:nvSpPr>
          <p:spPr bwMode="auto">
            <a:xfrm>
              <a:off x="736600" y="2204864"/>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5" name="Text Box 5">
              <a:extLst>
                <a:ext uri="{FF2B5EF4-FFF2-40B4-BE49-F238E27FC236}">
                  <a16:creationId xmlns:a16="http://schemas.microsoft.com/office/drawing/2014/main" id="{155B1002-85EC-5490-C1AC-39394E31383E}"/>
                </a:ext>
              </a:extLst>
            </p:cNvPr>
            <p:cNvSpPr txBox="1">
              <a:spLocks noChangeArrowheads="1"/>
            </p:cNvSpPr>
            <p:nvPr/>
          </p:nvSpPr>
          <p:spPr bwMode="auto">
            <a:xfrm>
              <a:off x="993775" y="2250902"/>
              <a:ext cx="4919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软件质量与质量保证概述</a:t>
              </a:r>
              <a:r>
                <a:rPr lang="en-US" altLang="zh-CN" sz="2200">
                  <a:latin typeface="Times New Roman" panose="02020603050405020304" pitchFamily="18" charset="0"/>
                  <a:ea typeface="黑体" panose="02010609060101010101" pitchFamily="49" charset="-122"/>
                </a:rPr>
                <a:t> </a:t>
              </a:r>
            </a:p>
          </p:txBody>
        </p:sp>
        <p:sp>
          <p:nvSpPr>
            <p:cNvPr id="5126" name="AutoShape 6">
              <a:extLst>
                <a:ext uri="{FF2B5EF4-FFF2-40B4-BE49-F238E27FC236}">
                  <a16:creationId xmlns:a16="http://schemas.microsoft.com/office/drawing/2014/main" id="{FDE2FB93-D452-FF7E-06B1-3A55166E400B}"/>
                </a:ext>
              </a:extLst>
            </p:cNvPr>
            <p:cNvSpPr>
              <a:spLocks noChangeArrowheads="1"/>
            </p:cNvSpPr>
            <p:nvPr/>
          </p:nvSpPr>
          <p:spPr bwMode="auto">
            <a:xfrm>
              <a:off x="747713" y="2752552"/>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7" name="Text Box 7">
              <a:extLst>
                <a:ext uri="{FF2B5EF4-FFF2-40B4-BE49-F238E27FC236}">
                  <a16:creationId xmlns:a16="http://schemas.microsoft.com/office/drawing/2014/main" id="{F6DA2826-28CA-BCDB-EAA3-C8B9A2F3E704}"/>
                </a:ext>
              </a:extLst>
            </p:cNvPr>
            <p:cNvSpPr txBox="1">
              <a:spLocks noChangeArrowheads="1"/>
            </p:cNvSpPr>
            <p:nvPr/>
          </p:nvSpPr>
          <p:spPr bwMode="auto">
            <a:xfrm>
              <a:off x="1004888" y="2792239"/>
              <a:ext cx="4919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dirty="0">
                  <a:latin typeface="Times New Roman" panose="02020603050405020304" pitchFamily="18" charset="0"/>
                  <a:ea typeface="黑体" panose="02010609060101010101" pitchFamily="49" charset="-122"/>
                </a:rPr>
                <a:t>软件质量度量</a:t>
              </a:r>
              <a:r>
                <a:rPr lang="zh-CN" altLang="en-US" sz="2400" b="0" dirty="0">
                  <a:latin typeface="Times New Roman" panose="02020603050405020304" pitchFamily="18" charset="0"/>
                </a:rPr>
                <a:t> </a:t>
              </a:r>
            </a:p>
          </p:txBody>
        </p:sp>
        <p:sp>
          <p:nvSpPr>
            <p:cNvPr id="5128" name="AutoShape 8">
              <a:extLst>
                <a:ext uri="{FF2B5EF4-FFF2-40B4-BE49-F238E27FC236}">
                  <a16:creationId xmlns:a16="http://schemas.microsoft.com/office/drawing/2014/main" id="{CB081A88-E50C-371A-95FF-2AFF2091F10C}"/>
                </a:ext>
              </a:extLst>
            </p:cNvPr>
            <p:cNvSpPr>
              <a:spLocks noChangeArrowheads="1"/>
            </p:cNvSpPr>
            <p:nvPr/>
          </p:nvSpPr>
          <p:spPr bwMode="auto">
            <a:xfrm>
              <a:off x="747713" y="3301827"/>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9" name="Text Box 9">
              <a:extLst>
                <a:ext uri="{FF2B5EF4-FFF2-40B4-BE49-F238E27FC236}">
                  <a16:creationId xmlns:a16="http://schemas.microsoft.com/office/drawing/2014/main" id="{24133D2B-E5CC-4FAB-288B-2F2DBDBB65AA}"/>
                </a:ext>
              </a:extLst>
            </p:cNvPr>
            <p:cNvSpPr txBox="1">
              <a:spLocks noChangeArrowheads="1"/>
            </p:cNvSpPr>
            <p:nvPr/>
          </p:nvSpPr>
          <p:spPr bwMode="auto">
            <a:xfrm>
              <a:off x="1004888" y="3385964"/>
              <a:ext cx="49196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dirty="0">
                  <a:latin typeface="Times New Roman" panose="02020603050405020304" pitchFamily="18" charset="0"/>
                  <a:ea typeface="黑体" panose="02010609060101010101" pitchFamily="49" charset="-122"/>
                </a:rPr>
                <a:t>软件质量保证的措施</a:t>
              </a:r>
              <a:endParaRPr lang="zh-CN" altLang="en-US" sz="2400" b="0" dirty="0">
                <a:latin typeface="Times New Roman" panose="02020603050405020304" pitchFamily="18" charset="0"/>
              </a:endParaRPr>
            </a:p>
          </p:txBody>
        </p:sp>
        <p:sp>
          <p:nvSpPr>
            <p:cNvPr id="5130" name="Rectangle 10">
              <a:extLst>
                <a:ext uri="{FF2B5EF4-FFF2-40B4-BE49-F238E27FC236}">
                  <a16:creationId xmlns:a16="http://schemas.microsoft.com/office/drawing/2014/main" id="{F5417CC3-9BA4-4F82-C8AE-55345C2B3E5F}"/>
                </a:ext>
              </a:extLst>
            </p:cNvPr>
            <p:cNvSpPr>
              <a:spLocks noChangeArrowheads="1"/>
            </p:cNvSpPr>
            <p:nvPr/>
          </p:nvSpPr>
          <p:spPr bwMode="auto">
            <a:xfrm>
              <a:off x="611188" y="2293764"/>
              <a:ext cx="334962" cy="260350"/>
            </a:xfrm>
            <a:prstGeom prst="rect">
              <a:avLst/>
            </a:prstGeom>
            <a:solidFill>
              <a:srgbClr val="0000FF"/>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4.1</a:t>
              </a:r>
              <a:endParaRPr lang="en-US" altLang="zh-CN" sz="1800">
                <a:solidFill>
                  <a:srgbClr val="000000"/>
                </a:solidFill>
              </a:endParaRPr>
            </a:p>
          </p:txBody>
        </p:sp>
        <p:sp>
          <p:nvSpPr>
            <p:cNvPr id="5131" name="AutoShape 13">
              <a:extLst>
                <a:ext uri="{FF2B5EF4-FFF2-40B4-BE49-F238E27FC236}">
                  <a16:creationId xmlns:a16="http://schemas.microsoft.com/office/drawing/2014/main" id="{E637C1E2-5752-514A-9D45-5352871876CD}"/>
                </a:ext>
              </a:extLst>
            </p:cNvPr>
            <p:cNvSpPr>
              <a:spLocks noChangeArrowheads="1"/>
            </p:cNvSpPr>
            <p:nvPr/>
          </p:nvSpPr>
          <p:spPr bwMode="auto">
            <a:xfrm>
              <a:off x="752475" y="3854277"/>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2" name="Text Box 14">
              <a:extLst>
                <a:ext uri="{FF2B5EF4-FFF2-40B4-BE49-F238E27FC236}">
                  <a16:creationId xmlns:a16="http://schemas.microsoft.com/office/drawing/2014/main" id="{CB96FE04-D225-CCA5-5273-B82A92E90CF6}"/>
                </a:ext>
              </a:extLst>
            </p:cNvPr>
            <p:cNvSpPr txBox="1">
              <a:spLocks noChangeArrowheads="1"/>
            </p:cNvSpPr>
            <p:nvPr/>
          </p:nvSpPr>
          <p:spPr bwMode="auto">
            <a:xfrm>
              <a:off x="1009650" y="3900314"/>
              <a:ext cx="49196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软件测试过程管理</a:t>
              </a:r>
              <a:endParaRPr lang="zh-CN" altLang="en-US" sz="2400" b="0">
                <a:latin typeface="Times New Roman" panose="02020603050405020304" pitchFamily="18" charset="0"/>
              </a:endParaRPr>
            </a:p>
          </p:txBody>
        </p:sp>
        <p:sp>
          <p:nvSpPr>
            <p:cNvPr id="5133" name="Rectangle 15">
              <a:extLst>
                <a:ext uri="{FF2B5EF4-FFF2-40B4-BE49-F238E27FC236}">
                  <a16:creationId xmlns:a16="http://schemas.microsoft.com/office/drawing/2014/main" id="{9F5E7E9C-7CA9-8BCB-0A13-C974A7E62058}"/>
                </a:ext>
              </a:extLst>
            </p:cNvPr>
            <p:cNvSpPr>
              <a:spLocks noChangeArrowheads="1"/>
            </p:cNvSpPr>
            <p:nvPr/>
          </p:nvSpPr>
          <p:spPr bwMode="auto">
            <a:xfrm>
              <a:off x="627063" y="3943177"/>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4.4</a:t>
              </a:r>
              <a:endParaRPr lang="en-US" altLang="zh-CN" sz="1800">
                <a:solidFill>
                  <a:srgbClr val="000000"/>
                </a:solidFill>
              </a:endParaRPr>
            </a:p>
          </p:txBody>
        </p:sp>
        <p:sp>
          <p:nvSpPr>
            <p:cNvPr id="5134" name="AutoShape 22">
              <a:extLst>
                <a:ext uri="{FF2B5EF4-FFF2-40B4-BE49-F238E27FC236}">
                  <a16:creationId xmlns:a16="http://schemas.microsoft.com/office/drawing/2014/main" id="{070BBF00-683A-190A-6ED1-D6BF8D7303FB}"/>
                </a:ext>
              </a:extLst>
            </p:cNvPr>
            <p:cNvSpPr>
              <a:spLocks noChangeArrowheads="1"/>
            </p:cNvSpPr>
            <p:nvPr/>
          </p:nvSpPr>
          <p:spPr bwMode="auto">
            <a:xfrm>
              <a:off x="750888" y="4408314"/>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5" name="Text Box 23">
              <a:extLst>
                <a:ext uri="{FF2B5EF4-FFF2-40B4-BE49-F238E27FC236}">
                  <a16:creationId xmlns:a16="http://schemas.microsoft.com/office/drawing/2014/main" id="{6CE0675D-E530-C5D9-F722-2ADCEE03720F}"/>
                </a:ext>
              </a:extLst>
            </p:cNvPr>
            <p:cNvSpPr txBox="1">
              <a:spLocks noChangeArrowheads="1"/>
            </p:cNvSpPr>
            <p:nvPr/>
          </p:nvSpPr>
          <p:spPr bwMode="auto">
            <a:xfrm>
              <a:off x="1008063" y="4455939"/>
              <a:ext cx="4919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5136" name="Rectangle 24">
              <a:extLst>
                <a:ext uri="{FF2B5EF4-FFF2-40B4-BE49-F238E27FC236}">
                  <a16:creationId xmlns:a16="http://schemas.microsoft.com/office/drawing/2014/main" id="{1ED93970-6D41-5679-02C0-CE07AF55A6C5}"/>
                </a:ext>
              </a:extLst>
            </p:cNvPr>
            <p:cNvSpPr>
              <a:spLocks noChangeArrowheads="1"/>
            </p:cNvSpPr>
            <p:nvPr/>
          </p:nvSpPr>
          <p:spPr bwMode="auto">
            <a:xfrm>
              <a:off x="625475" y="4497214"/>
              <a:ext cx="334963"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4.5</a:t>
              </a:r>
              <a:endParaRPr lang="en-US" altLang="zh-CN" sz="1800">
                <a:solidFill>
                  <a:srgbClr val="000000"/>
                </a:solidFill>
              </a:endParaRPr>
            </a:p>
          </p:txBody>
        </p:sp>
        <p:sp>
          <p:nvSpPr>
            <p:cNvPr id="5137" name="AutoShape 25">
              <a:extLst>
                <a:ext uri="{FF2B5EF4-FFF2-40B4-BE49-F238E27FC236}">
                  <a16:creationId xmlns:a16="http://schemas.microsoft.com/office/drawing/2014/main" id="{42E71590-4946-666B-AABA-2F5FAF5819C9}"/>
                </a:ext>
              </a:extLst>
            </p:cNvPr>
            <p:cNvSpPr>
              <a:spLocks noChangeArrowheads="1"/>
            </p:cNvSpPr>
            <p:nvPr/>
          </p:nvSpPr>
          <p:spPr bwMode="auto">
            <a:xfrm>
              <a:off x="755650" y="4968702"/>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8" name="Text Box 26">
              <a:extLst>
                <a:ext uri="{FF2B5EF4-FFF2-40B4-BE49-F238E27FC236}">
                  <a16:creationId xmlns:a16="http://schemas.microsoft.com/office/drawing/2014/main" id="{4CE5A9E7-CA85-AA1A-CDB8-F3CC8BE05580}"/>
                </a:ext>
              </a:extLst>
            </p:cNvPr>
            <p:cNvSpPr txBox="1">
              <a:spLocks noChangeArrowheads="1"/>
            </p:cNvSpPr>
            <p:nvPr/>
          </p:nvSpPr>
          <p:spPr bwMode="auto">
            <a:xfrm>
              <a:off x="1012825" y="5002039"/>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5139" name="Rectangle 27">
              <a:extLst>
                <a:ext uri="{FF2B5EF4-FFF2-40B4-BE49-F238E27FC236}">
                  <a16:creationId xmlns:a16="http://schemas.microsoft.com/office/drawing/2014/main" id="{B37762E1-5E2E-FEDD-8F3E-008A7E43F880}"/>
                </a:ext>
              </a:extLst>
            </p:cNvPr>
            <p:cNvSpPr>
              <a:spLocks noChangeArrowheads="1"/>
            </p:cNvSpPr>
            <p:nvPr/>
          </p:nvSpPr>
          <p:spPr bwMode="auto">
            <a:xfrm>
              <a:off x="630238" y="5057602"/>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4.6</a:t>
              </a:r>
              <a:endParaRPr lang="en-US" altLang="zh-CN" sz="1800">
                <a:solidFill>
                  <a:srgbClr val="000000"/>
                </a:solidFill>
              </a:endParaRPr>
            </a:p>
          </p:txBody>
        </p:sp>
        <p:sp>
          <p:nvSpPr>
            <p:cNvPr id="5140" name="AutoShape 28">
              <a:extLst>
                <a:ext uri="{FF2B5EF4-FFF2-40B4-BE49-F238E27FC236}">
                  <a16:creationId xmlns:a16="http://schemas.microsoft.com/office/drawing/2014/main" id="{C1C409E5-4D54-AFA3-C227-711D09F0D37F}"/>
                </a:ext>
              </a:extLst>
            </p:cNvPr>
            <p:cNvSpPr>
              <a:spLocks noChangeArrowheads="1"/>
            </p:cNvSpPr>
            <p:nvPr/>
          </p:nvSpPr>
          <p:spPr bwMode="auto">
            <a:xfrm>
              <a:off x="755650" y="5513214"/>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41" name="Text Box 29">
              <a:extLst>
                <a:ext uri="{FF2B5EF4-FFF2-40B4-BE49-F238E27FC236}">
                  <a16:creationId xmlns:a16="http://schemas.microsoft.com/office/drawing/2014/main" id="{07A8EEC0-2FBA-F41C-DA1F-7593806E3B81}"/>
                </a:ext>
              </a:extLst>
            </p:cNvPr>
            <p:cNvSpPr txBox="1">
              <a:spLocks noChangeArrowheads="1"/>
            </p:cNvSpPr>
            <p:nvPr/>
          </p:nvSpPr>
          <p:spPr bwMode="auto">
            <a:xfrm>
              <a:off x="1012825" y="5546552"/>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5142" name="Rectangle 30">
              <a:extLst>
                <a:ext uri="{FF2B5EF4-FFF2-40B4-BE49-F238E27FC236}">
                  <a16:creationId xmlns:a16="http://schemas.microsoft.com/office/drawing/2014/main" id="{7CEF082A-9199-09CC-8176-F5663FC32CF7}"/>
                </a:ext>
              </a:extLst>
            </p:cNvPr>
            <p:cNvSpPr>
              <a:spLocks noChangeArrowheads="1"/>
            </p:cNvSpPr>
            <p:nvPr/>
          </p:nvSpPr>
          <p:spPr bwMode="auto">
            <a:xfrm>
              <a:off x="630238" y="5602114"/>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4.7</a:t>
              </a:r>
              <a:endParaRPr lang="en-US" altLang="zh-CN" sz="1800">
                <a:solidFill>
                  <a:srgbClr val="000000"/>
                </a:solidFill>
              </a:endParaRPr>
            </a:p>
          </p:txBody>
        </p:sp>
        <p:sp>
          <p:nvSpPr>
            <p:cNvPr id="5143" name="Rectangle 31">
              <a:extLst>
                <a:ext uri="{FF2B5EF4-FFF2-40B4-BE49-F238E27FC236}">
                  <a16:creationId xmlns:a16="http://schemas.microsoft.com/office/drawing/2014/main" id="{B338EFF5-564F-9D6A-04A6-0FB03192B560}"/>
                </a:ext>
              </a:extLst>
            </p:cNvPr>
            <p:cNvSpPr>
              <a:spLocks noChangeArrowheads="1"/>
            </p:cNvSpPr>
            <p:nvPr/>
          </p:nvSpPr>
          <p:spPr bwMode="auto">
            <a:xfrm>
              <a:off x="604838" y="2854152"/>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4.2</a:t>
              </a:r>
            </a:p>
          </p:txBody>
        </p:sp>
        <p:sp>
          <p:nvSpPr>
            <p:cNvPr id="5144" name="Rectangle 32">
              <a:extLst>
                <a:ext uri="{FF2B5EF4-FFF2-40B4-BE49-F238E27FC236}">
                  <a16:creationId xmlns:a16="http://schemas.microsoft.com/office/drawing/2014/main" id="{832D0448-02EA-A8BD-08F6-DC5DBFF48F25}"/>
                </a:ext>
              </a:extLst>
            </p:cNvPr>
            <p:cNvSpPr>
              <a:spLocks noChangeArrowheads="1"/>
            </p:cNvSpPr>
            <p:nvPr/>
          </p:nvSpPr>
          <p:spPr bwMode="auto">
            <a:xfrm>
              <a:off x="604838" y="3398664"/>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4.3</a:t>
              </a:r>
              <a:endParaRPr lang="en-US" altLang="zh-CN" sz="1800">
                <a:solidFill>
                  <a:srgbClr val="000000"/>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ADE4988A-7A40-1A97-6DDC-A894FA9BE099}"/>
              </a:ext>
            </a:extLst>
          </p:cNvPr>
          <p:cNvSpPr>
            <a:spLocks noGrp="1" noChangeArrowheads="1"/>
          </p:cNvSpPr>
          <p:nvPr>
            <p:ph type="title"/>
          </p:nvPr>
        </p:nvSpPr>
        <p:spPr>
          <a:noFill/>
        </p:spPr>
        <p:txBody>
          <a:bodyPr/>
          <a:lstStyle/>
          <a:p>
            <a:pPr eaLnBrk="1" hangingPunct="1"/>
            <a:r>
              <a:rPr lang="en-US" altLang="zh-CN"/>
              <a:t>4.1  </a:t>
            </a:r>
            <a:r>
              <a:rPr lang="zh-CN" altLang="en-US"/>
              <a:t>软件质量与质量保证概述</a:t>
            </a:r>
            <a:endParaRPr kumimoji="1" lang="en-US" altLang="zh-CN"/>
          </a:p>
        </p:txBody>
      </p:sp>
      <p:sp>
        <p:nvSpPr>
          <p:cNvPr id="6147" name="内容占位符 9">
            <a:extLst>
              <a:ext uri="{FF2B5EF4-FFF2-40B4-BE49-F238E27FC236}">
                <a16:creationId xmlns:a16="http://schemas.microsoft.com/office/drawing/2014/main" id="{53ECD3AA-8E9B-9E7D-C108-182A18DBDFED}"/>
              </a:ext>
            </a:extLst>
          </p:cNvPr>
          <p:cNvSpPr>
            <a:spLocks noGrp="1" noChangeArrowheads="1"/>
          </p:cNvSpPr>
          <p:nvPr>
            <p:ph idx="1"/>
          </p:nvPr>
        </p:nvSpPr>
        <p:spPr>
          <a:xfrm>
            <a:off x="684213" y="2420938"/>
            <a:ext cx="7127875" cy="3311525"/>
          </a:xfrm>
        </p:spPr>
        <p:txBody>
          <a:bodyPr/>
          <a:lstStyle/>
          <a:p>
            <a:pPr eaLnBrk="1" hangingPunct="1">
              <a:spcBef>
                <a:spcPct val="50000"/>
              </a:spcBef>
              <a:buSzPct val="70000"/>
              <a:buFont typeface="Wingdings" panose="05000000000000000000" pitchFamily="2" charset="2"/>
              <a:buChar char="n"/>
            </a:pPr>
            <a:r>
              <a:rPr lang="en-US" altLang="zh-CN" dirty="0">
                <a:solidFill>
                  <a:schemeClr val="accent2"/>
                </a:solidFill>
                <a:ea typeface="黑体" panose="02010609060101010101" pitchFamily="49" charset="-122"/>
              </a:rPr>
              <a:t> </a:t>
            </a:r>
            <a:r>
              <a:rPr lang="zh-CN" altLang="en-US" dirty="0">
                <a:solidFill>
                  <a:schemeClr val="accent2"/>
                </a:solidFill>
                <a:ea typeface="黑体" panose="02010609060101010101" pitchFamily="49" charset="-122"/>
              </a:rPr>
              <a:t>软件质量</a:t>
            </a:r>
            <a:endParaRPr lang="en-US" altLang="zh-CN" dirty="0">
              <a:solidFill>
                <a:schemeClr val="accent2"/>
              </a:solidFill>
              <a:ea typeface="黑体" panose="02010609060101010101" pitchFamily="49" charset="-122"/>
            </a:endParaRPr>
          </a:p>
          <a:p>
            <a:pPr eaLnBrk="1" hangingPunct="1">
              <a:spcBef>
                <a:spcPct val="50000"/>
              </a:spcBef>
              <a:buSzPct val="70000"/>
              <a:buFont typeface="Wingdings" panose="05000000000000000000" pitchFamily="2" charset="2"/>
              <a:buChar char="n"/>
            </a:pPr>
            <a:r>
              <a:rPr lang="en-US" altLang="zh-CN" dirty="0">
                <a:solidFill>
                  <a:schemeClr val="accent2"/>
                </a:solidFill>
                <a:ea typeface="黑体" panose="02010609060101010101" pitchFamily="49" charset="-122"/>
              </a:rPr>
              <a:t> </a:t>
            </a:r>
            <a:r>
              <a:rPr lang="zh-CN" altLang="en-US" dirty="0">
                <a:solidFill>
                  <a:schemeClr val="accent2"/>
                </a:solidFill>
                <a:ea typeface="黑体" panose="02010609060101010101" pitchFamily="49" charset="-122"/>
              </a:rPr>
              <a:t>软件质量工作</a:t>
            </a:r>
            <a:endParaRPr lang="en-US" altLang="zh-CN" dirty="0">
              <a:solidFill>
                <a:schemeClr val="accent2"/>
              </a:solidFill>
              <a:ea typeface="黑体" panose="02010609060101010101" pitchFamily="49" charset="-122"/>
            </a:endParaRPr>
          </a:p>
          <a:p>
            <a:pPr eaLnBrk="1" hangingPunct="1">
              <a:spcBef>
                <a:spcPct val="50000"/>
              </a:spcBef>
              <a:buSzPct val="70000"/>
              <a:buFont typeface="Wingdings" panose="05000000000000000000" pitchFamily="2" charset="2"/>
              <a:buChar char="n"/>
            </a:pPr>
            <a:r>
              <a:rPr lang="en-US" altLang="zh-CN" dirty="0">
                <a:solidFill>
                  <a:schemeClr val="accent2"/>
                </a:solidFill>
                <a:ea typeface="黑体" panose="02010609060101010101" pitchFamily="49" charset="-122"/>
              </a:rPr>
              <a:t> </a:t>
            </a:r>
            <a:r>
              <a:rPr lang="zh-CN" altLang="en-US" dirty="0">
                <a:solidFill>
                  <a:schemeClr val="accent2"/>
                </a:solidFill>
                <a:ea typeface="黑体" panose="02010609060101010101" pitchFamily="49" charset="-122"/>
              </a:rPr>
              <a:t>软件质量保证</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6">
            <a:extLst>
              <a:ext uri="{FF2B5EF4-FFF2-40B4-BE49-F238E27FC236}">
                <a16:creationId xmlns:a16="http://schemas.microsoft.com/office/drawing/2014/main" id="{9E0AD63D-DC26-9D28-BF0B-D5571377FCB9}"/>
              </a:ext>
            </a:extLst>
          </p:cNvPr>
          <p:cNvSpPr txBox="1">
            <a:spLocks noChangeArrowheads="1"/>
          </p:cNvSpPr>
          <p:nvPr/>
        </p:nvSpPr>
        <p:spPr bwMode="auto">
          <a:xfrm>
            <a:off x="971550" y="1778000"/>
            <a:ext cx="76327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Pct val="70000"/>
              <a:buFont typeface="Wingdings" panose="05000000000000000000" pitchFamily="2" charset="2"/>
              <a:buChar char="n"/>
            </a:pPr>
            <a:r>
              <a:rPr lang="en-US" altLang="zh-CN" sz="2400">
                <a:solidFill>
                  <a:schemeClr val="accent2"/>
                </a:solidFill>
                <a:latin typeface="Times New Roman" panose="02020603050405020304" pitchFamily="18" charset="0"/>
                <a:ea typeface="黑体" panose="02010609060101010101" pitchFamily="49" charset="-122"/>
              </a:rPr>
              <a:t>  </a:t>
            </a:r>
            <a:r>
              <a:rPr lang="zh-CN" altLang="en-US" sz="2400">
                <a:solidFill>
                  <a:schemeClr val="accent2"/>
                </a:solidFill>
                <a:latin typeface="Times New Roman" panose="02020603050405020304" pitchFamily="18" charset="0"/>
                <a:ea typeface="黑体" panose="02010609060101010101" pitchFamily="49" charset="-122"/>
              </a:rPr>
              <a:t>质量的定义</a:t>
            </a:r>
            <a:endParaRPr lang="zh-CN" altLang="en-US" sz="2400">
              <a:solidFill>
                <a:schemeClr val="accent2"/>
              </a:solidFill>
              <a:latin typeface="Times New Roman" panose="02020603050405020304" pitchFamily="18" charset="0"/>
            </a:endParaRPr>
          </a:p>
          <a:p>
            <a:pPr eaLnBrk="1" hangingPunct="1">
              <a:spcBef>
                <a:spcPct val="50000"/>
              </a:spcBef>
              <a:buClrTx/>
              <a:buSzPct val="50000"/>
              <a:buFont typeface="Wingdings" panose="05000000000000000000" pitchFamily="2" charset="2"/>
              <a:buNone/>
            </a:pPr>
            <a:r>
              <a:rPr lang="zh-CN" altLang="en-US" sz="2000">
                <a:latin typeface="Times New Roman" panose="02020603050405020304" pitchFamily="18" charset="0"/>
              </a:rPr>
              <a:t>　　</a:t>
            </a:r>
            <a:r>
              <a:rPr lang="zh-CN" altLang="zh-CN" sz="2000">
                <a:latin typeface="Times New Roman" panose="02020603050405020304" pitchFamily="18" charset="0"/>
              </a:rPr>
              <a:t>《辞海》</a:t>
            </a:r>
            <a:r>
              <a:rPr lang="zh-CN" altLang="en-US" sz="2000">
                <a:latin typeface="Times New Roman" panose="02020603050405020304" pitchFamily="18" charset="0"/>
              </a:rPr>
              <a:t>：</a:t>
            </a:r>
            <a:r>
              <a:rPr lang="zh-CN" altLang="zh-CN" sz="2000">
                <a:latin typeface="Times New Roman" panose="02020603050405020304" pitchFamily="18" charset="0"/>
              </a:rPr>
              <a:t>质量是产品或工作的优劣程度。</a:t>
            </a:r>
            <a:endParaRPr lang="en-US" altLang="zh-CN" sz="2000">
              <a:latin typeface="Times New Roman" panose="02020603050405020304" pitchFamily="18" charset="0"/>
            </a:endParaRPr>
          </a:p>
          <a:p>
            <a:pPr eaLnBrk="1" hangingPunct="1">
              <a:spcBef>
                <a:spcPct val="50000"/>
              </a:spcBef>
              <a:buClrTx/>
              <a:buSzPct val="50000"/>
              <a:buFont typeface="Wingdings" panose="05000000000000000000" pitchFamily="2" charset="2"/>
              <a:buNone/>
            </a:pPr>
            <a:r>
              <a:rPr lang="en-US" altLang="zh-CN" sz="2000">
                <a:latin typeface="Times New Roman" panose="02020603050405020304" pitchFamily="18" charset="0"/>
              </a:rPr>
              <a:t>         ISO8492</a:t>
            </a:r>
            <a:r>
              <a:rPr lang="zh-CN" altLang="en-US" sz="2000">
                <a:latin typeface="Times New Roman" panose="02020603050405020304" pitchFamily="18" charset="0"/>
              </a:rPr>
              <a:t>（</a:t>
            </a:r>
            <a:r>
              <a:rPr lang="en-US" altLang="zh-CN" sz="2000">
                <a:latin typeface="Times New Roman" panose="02020603050405020304" pitchFamily="18" charset="0"/>
              </a:rPr>
              <a:t>1986</a:t>
            </a:r>
            <a:r>
              <a:rPr lang="zh-CN" altLang="en-US" sz="2000">
                <a:latin typeface="Times New Roman" panose="02020603050405020304" pitchFamily="18" charset="0"/>
              </a:rPr>
              <a:t>）：</a:t>
            </a:r>
            <a:r>
              <a:rPr lang="zh-CN" altLang="zh-CN" sz="2000">
                <a:latin typeface="Times New Roman" panose="02020603050405020304" pitchFamily="18" charset="0"/>
              </a:rPr>
              <a:t>质量是产品或服务满足</a:t>
            </a:r>
            <a:r>
              <a:rPr lang="zh-CN" altLang="zh-CN" sz="2000">
                <a:solidFill>
                  <a:srgbClr val="FF0000"/>
                </a:solidFill>
                <a:latin typeface="Times New Roman" panose="02020603050405020304" pitchFamily="18" charset="0"/>
              </a:rPr>
              <a:t>明示</a:t>
            </a:r>
            <a:r>
              <a:rPr lang="zh-CN" altLang="zh-CN" sz="2000">
                <a:latin typeface="Times New Roman" panose="02020603050405020304" pitchFamily="18" charset="0"/>
              </a:rPr>
              <a:t>或者</a:t>
            </a:r>
            <a:r>
              <a:rPr lang="zh-CN" altLang="zh-CN" sz="2000">
                <a:solidFill>
                  <a:srgbClr val="FF0000"/>
                </a:solidFill>
                <a:latin typeface="Times New Roman" panose="02020603050405020304" pitchFamily="18" charset="0"/>
              </a:rPr>
              <a:t>暗示</a:t>
            </a:r>
            <a:r>
              <a:rPr lang="zh-CN" altLang="zh-CN" sz="2000">
                <a:latin typeface="Times New Roman" panose="02020603050405020304" pitchFamily="18" charset="0"/>
              </a:rPr>
              <a:t>需求能力的特性和特征的集合。</a:t>
            </a:r>
            <a:endParaRPr lang="en-US" altLang="zh-CN" sz="2000">
              <a:latin typeface="Times New Roman" panose="02020603050405020304" pitchFamily="18" charset="0"/>
            </a:endParaRPr>
          </a:p>
          <a:p>
            <a:pPr eaLnBrk="1" hangingPunct="1">
              <a:spcBef>
                <a:spcPct val="50000"/>
              </a:spcBef>
              <a:buClrTx/>
              <a:buSzPct val="50000"/>
              <a:buFont typeface="Wingdings" panose="05000000000000000000" pitchFamily="2" charset="2"/>
              <a:buNone/>
            </a:pPr>
            <a:r>
              <a:rPr lang="en-US" altLang="zh-CN" sz="2000">
                <a:latin typeface="Times New Roman" panose="02020603050405020304" pitchFamily="18" charset="0"/>
              </a:rPr>
              <a:t>         Crosby</a:t>
            </a:r>
            <a:r>
              <a:rPr lang="zh-CN" altLang="zh-CN" sz="2000">
                <a:latin typeface="Times New Roman" panose="02020603050405020304" pitchFamily="18" charset="0"/>
              </a:rPr>
              <a:t>：质量就是满足需求，即与客户需求的一致性</a:t>
            </a:r>
            <a:endParaRPr lang="zh-CN" altLang="en-US" sz="2000">
              <a:latin typeface="Times New Roman" panose="02020603050405020304" pitchFamily="18" charset="0"/>
            </a:endParaRPr>
          </a:p>
          <a:p>
            <a:pPr eaLnBrk="1" hangingPunct="1">
              <a:spcBef>
                <a:spcPct val="50000"/>
              </a:spcBef>
              <a:buClrTx/>
              <a:buSzPct val="70000"/>
              <a:buFont typeface="Wingdings" panose="05000000000000000000" pitchFamily="2" charset="2"/>
              <a:buChar char="n"/>
            </a:pPr>
            <a:r>
              <a:rPr lang="zh-CN" altLang="en-US" sz="2400">
                <a:solidFill>
                  <a:schemeClr val="accent2"/>
                </a:solidFill>
                <a:latin typeface="Times New Roman" panose="02020603050405020304" pitchFamily="18" charset="0"/>
                <a:ea typeface="黑体" panose="02010609060101010101" pitchFamily="49" charset="-122"/>
              </a:rPr>
              <a:t>  产品开发过程</a:t>
            </a:r>
            <a:endParaRPr lang="zh-CN" altLang="en-US" sz="2000">
              <a:latin typeface="Times New Roman" panose="02020603050405020304" pitchFamily="18" charset="0"/>
            </a:endParaRPr>
          </a:p>
        </p:txBody>
      </p:sp>
      <p:sp>
        <p:nvSpPr>
          <p:cNvPr id="7171" name="Rectangle 7">
            <a:extLst>
              <a:ext uri="{FF2B5EF4-FFF2-40B4-BE49-F238E27FC236}">
                <a16:creationId xmlns:a16="http://schemas.microsoft.com/office/drawing/2014/main" id="{C82D6C2D-6756-6AFE-1191-E4C49B52F5F1}"/>
              </a:ext>
            </a:extLst>
          </p:cNvPr>
          <p:cNvSpPr>
            <a:spLocks noGrp="1" noChangeArrowheads="1"/>
          </p:cNvSpPr>
          <p:nvPr>
            <p:ph type="title"/>
          </p:nvPr>
        </p:nvSpPr>
        <p:spPr>
          <a:xfrm>
            <a:off x="177800" y="1054100"/>
            <a:ext cx="8788400" cy="717550"/>
          </a:xfrm>
          <a:noFill/>
        </p:spPr>
        <p:txBody>
          <a:bodyPr/>
          <a:lstStyle/>
          <a:p>
            <a:pPr eaLnBrk="1" hangingPunct="1"/>
            <a:r>
              <a:rPr lang="en-US" altLang="zh-CN"/>
              <a:t>4.1.1  </a:t>
            </a:r>
            <a:r>
              <a:rPr lang="zh-CN" altLang="en-US"/>
              <a:t>软件质量</a:t>
            </a:r>
            <a:endParaRPr kumimoji="1" lang="en-US" altLang="zh-CN"/>
          </a:p>
        </p:txBody>
      </p:sp>
      <p:sp>
        <p:nvSpPr>
          <p:cNvPr id="4" name="AutoShape 153">
            <a:extLst>
              <a:ext uri="{FF2B5EF4-FFF2-40B4-BE49-F238E27FC236}">
                <a16:creationId xmlns:a16="http://schemas.microsoft.com/office/drawing/2014/main" id="{72949D87-EE82-EEDA-D9F1-D51BA71A52FF}"/>
              </a:ext>
            </a:extLst>
          </p:cNvPr>
          <p:cNvSpPr>
            <a:spLocks noChangeArrowheads="1"/>
          </p:cNvSpPr>
          <p:nvPr/>
        </p:nvSpPr>
        <p:spPr bwMode="auto">
          <a:xfrm>
            <a:off x="323850" y="4602163"/>
            <a:ext cx="1770063" cy="1050925"/>
          </a:xfrm>
          <a:prstGeom prst="cube">
            <a:avLst>
              <a:gd name="adj" fmla="val 25000"/>
            </a:avLst>
          </a:prstGeom>
          <a:solidFill>
            <a:srgbClr val="FF00FF"/>
          </a:solidFill>
          <a:ln w="9525">
            <a:solidFill>
              <a:schemeClr val="tx1"/>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600" b="0"/>
              <a:t>1 </a:t>
            </a:r>
            <a:r>
              <a:rPr kumimoji="0" lang="zh-CN" altLang="en-US" sz="1600" b="0"/>
              <a:t>客户</a:t>
            </a:r>
            <a:endParaRPr kumimoji="0" lang="en-US" altLang="zh-CN" sz="1600" b="0"/>
          </a:p>
          <a:p>
            <a:pPr algn="ctr" eaLnBrk="1" hangingPunct="1">
              <a:spcBef>
                <a:spcPct val="0"/>
              </a:spcBef>
              <a:buClrTx/>
              <a:buFontTx/>
              <a:buNone/>
            </a:pPr>
            <a:r>
              <a:rPr kumimoji="0" lang="zh-CN" altLang="en-US" sz="1600" b="0"/>
              <a:t>提出需求</a:t>
            </a:r>
          </a:p>
        </p:txBody>
      </p:sp>
      <p:sp>
        <p:nvSpPr>
          <p:cNvPr id="5" name="AutoShape 154">
            <a:extLst>
              <a:ext uri="{FF2B5EF4-FFF2-40B4-BE49-F238E27FC236}">
                <a16:creationId xmlns:a16="http://schemas.microsoft.com/office/drawing/2014/main" id="{C2858630-824C-D7C7-E448-49423857108F}"/>
              </a:ext>
            </a:extLst>
          </p:cNvPr>
          <p:cNvSpPr>
            <a:spLocks noChangeArrowheads="1"/>
          </p:cNvSpPr>
          <p:nvPr/>
        </p:nvSpPr>
        <p:spPr bwMode="auto">
          <a:xfrm>
            <a:off x="3673475" y="4591050"/>
            <a:ext cx="1771650" cy="1054100"/>
          </a:xfrm>
          <a:prstGeom prst="cube">
            <a:avLst>
              <a:gd name="adj" fmla="val 25000"/>
            </a:avLst>
          </a:prstGeom>
          <a:solidFill>
            <a:srgbClr val="FAA000"/>
          </a:solidFill>
          <a:ln w="9525">
            <a:solidFill>
              <a:schemeClr val="tx1"/>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600" b="0"/>
              <a:t>2 </a:t>
            </a:r>
            <a:r>
              <a:rPr kumimoji="0" lang="zh-CN" altLang="en-US" sz="1600" b="0"/>
              <a:t>开发者：</a:t>
            </a:r>
            <a:endParaRPr kumimoji="0" lang="en-US" altLang="zh-CN" sz="1600" b="0"/>
          </a:p>
          <a:p>
            <a:pPr algn="ctr" eaLnBrk="1" hangingPunct="1">
              <a:spcBef>
                <a:spcPct val="0"/>
              </a:spcBef>
              <a:buClrTx/>
              <a:buFontTx/>
              <a:buNone/>
            </a:pPr>
            <a:r>
              <a:rPr lang="zh-CN" altLang="zh-CN" sz="1600" b="0">
                <a:latin typeface="Times New Roman" panose="02020603050405020304" pitchFamily="18" charset="0"/>
              </a:rPr>
              <a:t>设计和开发产品</a:t>
            </a:r>
            <a:endParaRPr kumimoji="0" lang="zh-CN" altLang="en-US" sz="1600" b="0"/>
          </a:p>
        </p:txBody>
      </p:sp>
      <p:sp>
        <p:nvSpPr>
          <p:cNvPr id="6" name="AutoShape 158">
            <a:extLst>
              <a:ext uri="{FF2B5EF4-FFF2-40B4-BE49-F238E27FC236}">
                <a16:creationId xmlns:a16="http://schemas.microsoft.com/office/drawing/2014/main" id="{A44F3070-577F-5EBE-53B2-372080886571}"/>
              </a:ext>
            </a:extLst>
          </p:cNvPr>
          <p:cNvSpPr>
            <a:spLocks noChangeArrowheads="1"/>
          </p:cNvSpPr>
          <p:nvPr/>
        </p:nvSpPr>
        <p:spPr bwMode="auto">
          <a:xfrm>
            <a:off x="2408238" y="4895850"/>
            <a:ext cx="950912" cy="457200"/>
          </a:xfrm>
          <a:prstGeom prst="rightArrow">
            <a:avLst>
              <a:gd name="adj1" fmla="val 50000"/>
              <a:gd name="adj2" fmla="val 84148"/>
            </a:avLst>
          </a:prstGeom>
          <a:solidFill>
            <a:srgbClr val="00BCFF"/>
          </a:solidFill>
          <a:ln w="9525">
            <a:solidFill>
              <a:schemeClr val="tx1"/>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 name="AutoShape 154">
            <a:extLst>
              <a:ext uri="{FF2B5EF4-FFF2-40B4-BE49-F238E27FC236}">
                <a16:creationId xmlns:a16="http://schemas.microsoft.com/office/drawing/2014/main" id="{03B09B7C-6785-5E48-91E3-8B3DE4086E73}"/>
              </a:ext>
            </a:extLst>
          </p:cNvPr>
          <p:cNvSpPr>
            <a:spLocks noChangeArrowheads="1"/>
          </p:cNvSpPr>
          <p:nvPr/>
        </p:nvSpPr>
        <p:spPr bwMode="auto">
          <a:xfrm>
            <a:off x="7024688" y="4581525"/>
            <a:ext cx="1771650" cy="1054100"/>
          </a:xfrm>
          <a:prstGeom prst="cube">
            <a:avLst>
              <a:gd name="adj" fmla="val 25000"/>
            </a:avLst>
          </a:prstGeom>
          <a:solidFill>
            <a:srgbClr val="00FF00"/>
          </a:solidFill>
          <a:ln w="9525">
            <a:solidFill>
              <a:schemeClr val="tx1"/>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600" b="0"/>
              <a:t>3 </a:t>
            </a:r>
            <a:r>
              <a:rPr kumimoji="0" lang="zh-CN" altLang="en-US" sz="1600" b="0"/>
              <a:t>开发者：</a:t>
            </a:r>
            <a:endParaRPr kumimoji="0" lang="en-US" altLang="zh-CN" sz="1600" b="0"/>
          </a:p>
          <a:p>
            <a:pPr algn="ctr" eaLnBrk="1" hangingPunct="1">
              <a:spcBef>
                <a:spcPct val="0"/>
              </a:spcBef>
              <a:buClrTx/>
              <a:buFontTx/>
              <a:buNone/>
            </a:pPr>
            <a:r>
              <a:rPr lang="zh-CN" altLang="en-US" sz="1600" b="0">
                <a:latin typeface="Times New Roman" panose="02020603050405020304" pitchFamily="18" charset="0"/>
              </a:rPr>
              <a:t>提供良好服务</a:t>
            </a:r>
            <a:endParaRPr kumimoji="0" lang="zh-CN" altLang="en-US" sz="1600" b="0"/>
          </a:p>
        </p:txBody>
      </p:sp>
      <p:sp>
        <p:nvSpPr>
          <p:cNvPr id="8" name="AutoShape 158">
            <a:extLst>
              <a:ext uri="{FF2B5EF4-FFF2-40B4-BE49-F238E27FC236}">
                <a16:creationId xmlns:a16="http://schemas.microsoft.com/office/drawing/2014/main" id="{119978AC-3F5D-F193-8801-570D94E252C2}"/>
              </a:ext>
            </a:extLst>
          </p:cNvPr>
          <p:cNvSpPr>
            <a:spLocks noChangeArrowheads="1"/>
          </p:cNvSpPr>
          <p:nvPr/>
        </p:nvSpPr>
        <p:spPr bwMode="auto">
          <a:xfrm>
            <a:off x="5759450" y="4886325"/>
            <a:ext cx="950913" cy="457200"/>
          </a:xfrm>
          <a:prstGeom prst="rightArrow">
            <a:avLst>
              <a:gd name="adj1" fmla="val 50000"/>
              <a:gd name="adj2" fmla="val 84148"/>
            </a:avLst>
          </a:prstGeom>
          <a:solidFill>
            <a:srgbClr val="00BCFF"/>
          </a:solidFill>
          <a:ln w="9525">
            <a:solidFill>
              <a:schemeClr val="tx1"/>
            </a:solidFill>
            <a:miter lim="800000"/>
            <a:headEnd/>
            <a:tailEnd/>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 name="AutoShape 162">
            <a:extLst>
              <a:ext uri="{FF2B5EF4-FFF2-40B4-BE49-F238E27FC236}">
                <a16:creationId xmlns:a16="http://schemas.microsoft.com/office/drawing/2014/main" id="{B9F91563-417C-93E9-BB48-C609D5F91584}"/>
              </a:ext>
            </a:extLst>
          </p:cNvPr>
          <p:cNvSpPr>
            <a:spLocks noChangeArrowheads="1"/>
          </p:cNvSpPr>
          <p:nvPr/>
        </p:nvSpPr>
        <p:spPr bwMode="auto">
          <a:xfrm>
            <a:off x="3667125" y="5946775"/>
            <a:ext cx="1752600" cy="706438"/>
          </a:xfrm>
          <a:prstGeom prst="wedgeRectCallout">
            <a:avLst>
              <a:gd name="adj1" fmla="val -24278"/>
              <a:gd name="adj2" fmla="val -86310"/>
            </a:avLst>
          </a:prstGeom>
          <a:solidFill>
            <a:schemeClr val="accent1"/>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800" b="0">
                <a:latin typeface="Times New Roman" panose="02020603050405020304" pitchFamily="18" charset="0"/>
              </a:rPr>
              <a:t>产品应</a:t>
            </a:r>
            <a:r>
              <a:rPr lang="zh-CN" altLang="zh-CN" sz="1800" b="0">
                <a:latin typeface="Times New Roman" panose="02020603050405020304" pitchFamily="18" charset="0"/>
              </a:rPr>
              <a:t>符合客户需求</a:t>
            </a:r>
            <a:endParaRPr kumimoji="0" lang="zh-CN" altLang="en-US" sz="1800" b="0"/>
          </a:p>
        </p:txBody>
      </p:sp>
      <p:sp>
        <p:nvSpPr>
          <p:cNvPr id="11" name="AutoShape 162">
            <a:extLst>
              <a:ext uri="{FF2B5EF4-FFF2-40B4-BE49-F238E27FC236}">
                <a16:creationId xmlns:a16="http://schemas.microsoft.com/office/drawing/2014/main" id="{81A21BF4-2ACF-C70D-2764-62A1CFF37CA9}"/>
              </a:ext>
            </a:extLst>
          </p:cNvPr>
          <p:cNvSpPr>
            <a:spLocks noChangeArrowheads="1"/>
          </p:cNvSpPr>
          <p:nvPr/>
        </p:nvSpPr>
        <p:spPr bwMode="auto">
          <a:xfrm>
            <a:off x="7050088" y="5927725"/>
            <a:ext cx="1752600" cy="706438"/>
          </a:xfrm>
          <a:prstGeom prst="wedgeRectCallout">
            <a:avLst>
              <a:gd name="adj1" fmla="val -24278"/>
              <a:gd name="adj2" fmla="val -86310"/>
            </a:avLst>
          </a:prstGeom>
          <a:solidFill>
            <a:schemeClr val="accent1"/>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800" b="0">
                <a:latin typeface="Times New Roman" panose="02020603050405020304" pitchFamily="18" charset="0"/>
              </a:rPr>
              <a:t>产品</a:t>
            </a:r>
            <a:r>
              <a:rPr lang="zh-CN" altLang="zh-CN" sz="1800" b="0">
                <a:latin typeface="Times New Roman" panose="02020603050405020304" pitchFamily="18" charset="0"/>
              </a:rPr>
              <a:t>达到总体客户满意度</a:t>
            </a:r>
            <a:endParaRPr kumimoji="0" lang="zh-CN" altLang="en-US" sz="1800"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nodeType="afterGroup">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par>
                          <p:cTn id="30" fill="hold" nodeType="afterGroup">
                            <p:stCondLst>
                              <p:cond delay="1000"/>
                            </p:stCondLst>
                            <p:childTnLst>
                              <p:par>
                                <p:cTn id="31" presetID="3" presetClass="entr" presetSubtype="1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linds(horizontal)">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autoUpdateAnimBg="0"/>
      <p:bldP spid="11"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15C29EB-3CA3-02F6-9A2B-29F36D2DAE7E}"/>
              </a:ext>
            </a:extLst>
          </p:cNvPr>
          <p:cNvSpPr>
            <a:spLocks noGrp="1" noChangeArrowheads="1"/>
          </p:cNvSpPr>
          <p:nvPr>
            <p:ph type="title"/>
          </p:nvPr>
        </p:nvSpPr>
        <p:spPr>
          <a:xfrm>
            <a:off x="177800" y="1054100"/>
            <a:ext cx="8788400" cy="717550"/>
          </a:xfrm>
          <a:noFill/>
        </p:spPr>
        <p:txBody>
          <a:bodyPr/>
          <a:lstStyle/>
          <a:p>
            <a:pPr eaLnBrk="1" hangingPunct="1"/>
            <a:r>
              <a:rPr lang="en-US" altLang="zh-CN"/>
              <a:t>4.1.1  </a:t>
            </a:r>
            <a:r>
              <a:rPr lang="zh-CN" altLang="en-US"/>
              <a:t>软件质量</a:t>
            </a:r>
            <a:r>
              <a:rPr lang="en-US" altLang="zh-CN"/>
              <a:t> </a:t>
            </a:r>
          </a:p>
        </p:txBody>
      </p:sp>
      <p:sp>
        <p:nvSpPr>
          <p:cNvPr id="8195" name="Text Box 3">
            <a:extLst>
              <a:ext uri="{FF2B5EF4-FFF2-40B4-BE49-F238E27FC236}">
                <a16:creationId xmlns:a16="http://schemas.microsoft.com/office/drawing/2014/main" id="{EF8F9BF9-2295-E6CB-83D2-45B2E59BCC13}"/>
              </a:ext>
            </a:extLst>
          </p:cNvPr>
          <p:cNvSpPr txBox="1">
            <a:spLocks noChangeArrowheads="1"/>
          </p:cNvSpPr>
          <p:nvPr/>
        </p:nvSpPr>
        <p:spPr bwMode="auto">
          <a:xfrm>
            <a:off x="684213" y="2311400"/>
            <a:ext cx="7632700"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  </a:t>
            </a:r>
            <a:r>
              <a:rPr kumimoji="0" lang="zh-CN" altLang="en-US" sz="2400" dirty="0">
                <a:solidFill>
                  <a:schemeClr val="accent2"/>
                </a:solidFill>
                <a:latin typeface="黑体" panose="02010609060101010101" pitchFamily="49" charset="-122"/>
                <a:ea typeface="黑体" panose="02010609060101010101" pitchFamily="49" charset="-122"/>
              </a:rPr>
              <a:t>质量的定义</a:t>
            </a:r>
            <a:endParaRPr kumimoji="0" lang="en-US" altLang="zh-CN" sz="2400" dirty="0">
              <a:solidFill>
                <a:schemeClr val="accent2"/>
              </a:solidFill>
              <a:latin typeface="黑体" panose="02010609060101010101" pitchFamily="49" charset="-122"/>
              <a:ea typeface="黑体" panose="02010609060101010101" pitchFamily="49" charset="-122"/>
            </a:endParaRPr>
          </a:p>
          <a:p>
            <a:pPr eaLnBrk="1" hangingPunct="1">
              <a:spcBef>
                <a:spcPct val="0"/>
              </a:spcBef>
              <a:buSzPct val="70000"/>
              <a:buFont typeface="Wingdings" panose="05000000000000000000" pitchFamily="2" charset="2"/>
              <a:buNone/>
            </a:pPr>
            <a:endParaRPr kumimoji="0" lang="en-US" altLang="zh-CN" sz="900" dirty="0">
              <a:latin typeface="黑体" panose="02010609060101010101" pitchFamily="49" charset="-122"/>
              <a:ea typeface="黑体" panose="02010609060101010101" pitchFamily="49" charset="-122"/>
            </a:endParaRPr>
          </a:p>
          <a:p>
            <a:pPr lvl="1" eaLnBrk="1" hangingPunct="1">
              <a:lnSpc>
                <a:spcPct val="150000"/>
              </a:lnSpc>
              <a:spcBef>
                <a:spcPts val="1200"/>
              </a:spcBef>
              <a:buClrTx/>
              <a:buFont typeface="Wingdings" panose="05000000000000000000" pitchFamily="2" charset="2"/>
              <a:buChar char="ü"/>
            </a:pPr>
            <a:r>
              <a:rPr kumimoji="0" lang="zh-CN" altLang="en-US" sz="2000" dirty="0">
                <a:latin typeface="Times New Roman" panose="02020603050405020304" pitchFamily="18" charset="0"/>
              </a:rPr>
              <a:t>软件</a:t>
            </a:r>
            <a:r>
              <a:rPr kumimoji="0" lang="zh-CN" altLang="zh-CN" sz="2000" dirty="0">
                <a:latin typeface="Times New Roman" panose="02020603050405020304" pitchFamily="18" charset="0"/>
              </a:rPr>
              <a:t>内在质量，即产品本身的</a:t>
            </a:r>
            <a:r>
              <a:rPr kumimoji="0" lang="zh-CN" altLang="zh-CN" sz="2000" dirty="0">
                <a:solidFill>
                  <a:srgbClr val="FF0000"/>
                </a:solidFill>
                <a:latin typeface="Times New Roman" panose="02020603050405020304" pitchFamily="18" charset="0"/>
              </a:rPr>
              <a:t>缺陷率和可靠性</a:t>
            </a:r>
            <a:r>
              <a:rPr kumimoji="0" lang="zh-CN" altLang="zh-CN" sz="2000" dirty="0">
                <a:latin typeface="Times New Roman" panose="02020603050405020304" pitchFamily="18" charset="0"/>
              </a:rPr>
              <a:t>。</a:t>
            </a:r>
            <a:endParaRPr kumimoji="0" lang="en-US" altLang="zh-CN" sz="2000" dirty="0">
              <a:latin typeface="Times New Roman" panose="02020603050405020304" pitchFamily="18" charset="0"/>
            </a:endParaRPr>
          </a:p>
          <a:p>
            <a:pPr lvl="1" eaLnBrk="1" hangingPunct="1">
              <a:lnSpc>
                <a:spcPct val="150000"/>
              </a:lnSpc>
              <a:spcBef>
                <a:spcPct val="0"/>
              </a:spcBef>
              <a:buClrTx/>
              <a:buFont typeface="Wingdings" panose="05000000000000000000" pitchFamily="2" charset="2"/>
              <a:buChar char="ü"/>
            </a:pPr>
            <a:r>
              <a:rPr kumimoji="0" lang="zh-CN" altLang="zh-CN" sz="2000" dirty="0">
                <a:latin typeface="Times New Roman" panose="02020603050405020304" pitchFamily="18" charset="0"/>
              </a:rPr>
              <a:t>客户满意度，即产品与用户需求的</a:t>
            </a:r>
            <a:r>
              <a:rPr kumimoji="0" lang="zh-CN" altLang="zh-CN" sz="2000" dirty="0">
                <a:solidFill>
                  <a:srgbClr val="FF0000"/>
                </a:solidFill>
                <a:latin typeface="Times New Roman" panose="02020603050405020304" pitchFamily="18" charset="0"/>
              </a:rPr>
              <a:t>一致性</a:t>
            </a:r>
            <a:r>
              <a:rPr kumimoji="0" lang="zh-CN" altLang="zh-CN" sz="2000" dirty="0">
                <a:latin typeface="Times New Roman" panose="02020603050405020304" pitchFamily="18" charset="0"/>
              </a:rPr>
              <a:t>。</a:t>
            </a:r>
            <a:endParaRPr kumimoji="0" lang="en-US" altLang="zh-CN" sz="2000" dirty="0">
              <a:latin typeface="Times New Roman" panose="02020603050405020304" pitchFamily="18" charset="0"/>
            </a:endParaRPr>
          </a:p>
          <a:p>
            <a:pPr lvl="1" eaLnBrk="1" hangingPunct="1">
              <a:lnSpc>
                <a:spcPct val="150000"/>
              </a:lnSpc>
              <a:spcBef>
                <a:spcPct val="0"/>
              </a:spcBef>
              <a:buClrTx/>
              <a:buFont typeface="Wingdings" panose="05000000000000000000" pitchFamily="2" charset="2"/>
              <a:buChar char="ü"/>
            </a:pPr>
            <a:r>
              <a:rPr kumimoji="0" lang="zh-CN" altLang="zh-CN" sz="2000" dirty="0">
                <a:latin typeface="Times New Roman" panose="02020603050405020304" pitchFamily="18" charset="0"/>
              </a:rPr>
              <a:t>过程质量，即为了确保产品的内在质量和客户满意度，而对产品的设计与开发过程中所进行的</a:t>
            </a:r>
            <a:r>
              <a:rPr kumimoji="0" lang="zh-CN" altLang="zh-CN" sz="2000" dirty="0">
                <a:solidFill>
                  <a:srgbClr val="FF0000"/>
                </a:solidFill>
                <a:latin typeface="Times New Roman" panose="02020603050405020304" pitchFamily="18" charset="0"/>
              </a:rPr>
              <a:t>监管和改进措施的效果</a:t>
            </a:r>
            <a:r>
              <a:rPr kumimoji="0" lang="zh-CN" altLang="en-US" sz="2000" dirty="0">
                <a:latin typeface="Times New Roman" panose="02020603050405020304" pitchFamily="18" charset="0"/>
              </a:rPr>
              <a:t>。</a:t>
            </a:r>
          </a:p>
          <a:p>
            <a:pPr eaLnBrk="1" hangingPunct="1">
              <a:spcBef>
                <a:spcPts val="1200"/>
              </a:spcBef>
              <a:buClrTx/>
              <a:buFontTx/>
              <a:buNone/>
            </a:pPr>
            <a:endParaRPr kumimoji="0" lang="zh-CN" altLang="en-US" sz="2000" dirty="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723B90A-AFCD-ACFD-6F0B-5C4F5A54DD70}"/>
              </a:ext>
            </a:extLst>
          </p:cNvPr>
          <p:cNvSpPr>
            <a:spLocks noGrp="1" noChangeArrowheads="1"/>
          </p:cNvSpPr>
          <p:nvPr>
            <p:ph type="title"/>
          </p:nvPr>
        </p:nvSpPr>
        <p:spPr>
          <a:xfrm>
            <a:off x="177800" y="1054100"/>
            <a:ext cx="8788400" cy="717550"/>
          </a:xfrm>
          <a:noFill/>
        </p:spPr>
        <p:txBody>
          <a:bodyPr/>
          <a:lstStyle/>
          <a:p>
            <a:pPr eaLnBrk="1" hangingPunct="1"/>
            <a:r>
              <a:rPr lang="en-US" altLang="zh-CN"/>
              <a:t>4.1.1  </a:t>
            </a:r>
            <a:r>
              <a:rPr lang="zh-CN" altLang="en-US"/>
              <a:t>软件质量</a:t>
            </a:r>
            <a:r>
              <a:rPr lang="en-US" altLang="zh-CN"/>
              <a:t> </a:t>
            </a:r>
          </a:p>
        </p:txBody>
      </p:sp>
      <p:sp>
        <p:nvSpPr>
          <p:cNvPr id="9219" name="Text Box 3">
            <a:extLst>
              <a:ext uri="{FF2B5EF4-FFF2-40B4-BE49-F238E27FC236}">
                <a16:creationId xmlns:a16="http://schemas.microsoft.com/office/drawing/2014/main" id="{4CFE809A-C442-EA45-922A-C1F87AF3017A}"/>
              </a:ext>
            </a:extLst>
          </p:cNvPr>
          <p:cNvSpPr txBox="1">
            <a:spLocks noChangeArrowheads="1"/>
          </p:cNvSpPr>
          <p:nvPr/>
        </p:nvSpPr>
        <p:spPr bwMode="auto">
          <a:xfrm>
            <a:off x="971550" y="1922463"/>
            <a:ext cx="76327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  </a:t>
            </a:r>
            <a:r>
              <a:rPr kumimoji="0" lang="zh-CN" altLang="en-US" sz="2400" dirty="0">
                <a:solidFill>
                  <a:schemeClr val="accent2"/>
                </a:solidFill>
                <a:latin typeface="黑体" panose="02010609060101010101" pitchFamily="49" charset="-122"/>
                <a:ea typeface="黑体" panose="02010609060101010101" pitchFamily="49" charset="-122"/>
              </a:rPr>
              <a:t>软件质量的定义尚无统一认识</a:t>
            </a:r>
            <a:endParaRPr kumimoji="0" lang="en-US" altLang="zh-CN" sz="2400" dirty="0">
              <a:solidFill>
                <a:schemeClr val="accent2"/>
              </a:solidFill>
              <a:latin typeface="黑体" panose="02010609060101010101" pitchFamily="49" charset="-122"/>
              <a:ea typeface="黑体" panose="02010609060101010101" pitchFamily="49" charset="-122"/>
            </a:endParaRPr>
          </a:p>
          <a:p>
            <a:pPr eaLnBrk="1" hangingPunct="1">
              <a:spcBef>
                <a:spcPct val="0"/>
              </a:spcBef>
              <a:buSzPct val="70000"/>
              <a:buFont typeface="Wingdings" panose="05000000000000000000" pitchFamily="2" charset="2"/>
              <a:buNone/>
            </a:pPr>
            <a:endParaRPr kumimoji="0" lang="en-US" altLang="zh-CN" sz="900" dirty="0">
              <a:solidFill>
                <a:schemeClr val="accent2"/>
              </a:solidFill>
              <a:latin typeface="黑体" panose="02010609060101010101" pitchFamily="49" charset="-122"/>
              <a:ea typeface="黑体" panose="02010609060101010101" pitchFamily="49" charset="-122"/>
            </a:endParaRPr>
          </a:p>
          <a:p>
            <a:pPr eaLnBrk="1" hangingPunct="1">
              <a:spcBef>
                <a:spcPts val="1200"/>
              </a:spcBef>
              <a:buClrTx/>
              <a:buFontTx/>
              <a:buNone/>
            </a:pPr>
            <a:r>
              <a:rPr kumimoji="0" lang="zh-CN" altLang="en-US" sz="2000" dirty="0">
                <a:latin typeface="Times New Roman" panose="02020603050405020304" pitchFamily="18" charset="0"/>
              </a:rPr>
              <a:t>　　</a:t>
            </a:r>
            <a:r>
              <a:rPr kumimoji="0" lang="en-US" altLang="zh-CN" sz="2000" dirty="0">
                <a:latin typeface="Times New Roman" panose="02020603050405020304" pitchFamily="18" charset="0"/>
              </a:rPr>
              <a:t>Donald </a:t>
            </a:r>
            <a:r>
              <a:rPr kumimoji="0" lang="en-US" altLang="zh-CN" sz="2000" dirty="0" err="1">
                <a:latin typeface="Times New Roman" panose="02020603050405020304" pitchFamily="18" charset="0"/>
              </a:rPr>
              <a:t>Reifer</a:t>
            </a:r>
            <a:r>
              <a:rPr kumimoji="0" lang="zh-CN" altLang="zh-CN" sz="2000" dirty="0">
                <a:latin typeface="Times New Roman" panose="02020603050405020304" pitchFamily="18" charset="0"/>
              </a:rPr>
              <a:t>：软件质量就是软件产品满足明示需求程度的一组属性的集合。</a:t>
            </a:r>
            <a:r>
              <a:rPr kumimoji="0" lang="en-US" altLang="zh-CN" sz="2000" dirty="0">
                <a:latin typeface="Times New Roman" panose="02020603050405020304" pitchFamily="18" charset="0"/>
              </a:rPr>
              <a:t>	</a:t>
            </a:r>
          </a:p>
          <a:p>
            <a:pPr eaLnBrk="1" hangingPunct="1">
              <a:spcBef>
                <a:spcPts val="1200"/>
              </a:spcBef>
              <a:buClrTx/>
              <a:buFontTx/>
              <a:buNone/>
            </a:pPr>
            <a:r>
              <a:rPr kumimoji="0" lang="en-US" altLang="zh-CN" sz="2000" dirty="0">
                <a:latin typeface="Times New Roman" panose="02020603050405020304" pitchFamily="18" charset="0"/>
              </a:rPr>
              <a:t>        Norman E. Fenton</a:t>
            </a:r>
            <a:r>
              <a:rPr kumimoji="0" lang="zh-CN" altLang="en-US" sz="2000" dirty="0">
                <a:latin typeface="Times New Roman" panose="02020603050405020304" pitchFamily="18" charset="0"/>
              </a:rPr>
              <a:t>：</a:t>
            </a:r>
            <a:r>
              <a:rPr kumimoji="0" lang="zh-CN" altLang="zh-CN" sz="2000" dirty="0">
                <a:latin typeface="Times New Roman" panose="02020603050405020304" pitchFamily="18" charset="0"/>
              </a:rPr>
              <a:t>软件质量是软件产品满足明示或暗示需求能力的特性和特征的集合，该定义不仅关注明示需求，还要求关注暗示需求。</a:t>
            </a:r>
          </a:p>
          <a:p>
            <a:pPr eaLnBrk="1" hangingPunct="1">
              <a:spcBef>
                <a:spcPts val="1200"/>
              </a:spcBef>
              <a:buClrTx/>
              <a:buFontTx/>
              <a:buNone/>
            </a:pPr>
            <a:r>
              <a:rPr kumimoji="0" lang="en-US" altLang="zh-CN" sz="2000" dirty="0">
                <a:latin typeface="Times New Roman" panose="02020603050405020304" pitchFamily="18" charset="0"/>
              </a:rPr>
              <a:t>        IEEE Std729-1983</a:t>
            </a:r>
            <a:r>
              <a:rPr kumimoji="0" lang="zh-CN" altLang="zh-CN" sz="2000" dirty="0">
                <a:latin typeface="Times New Roman" panose="02020603050405020304" pitchFamily="18" charset="0"/>
              </a:rPr>
              <a:t>：软件质量是与软件产品满足规定的和隐含的需求的能力有关的特征或特征的集合。</a:t>
            </a:r>
            <a:endParaRPr kumimoji="0" lang="zh-CN" altLang="en-US" sz="2000" dirty="0">
              <a:latin typeface="Times New Roman" panose="02020603050405020304" pitchFamily="18" charset="0"/>
            </a:endParaRPr>
          </a:p>
        </p:txBody>
      </p:sp>
      <p:sp>
        <p:nvSpPr>
          <p:cNvPr id="2" name="圆角矩形 1">
            <a:extLst>
              <a:ext uri="{FF2B5EF4-FFF2-40B4-BE49-F238E27FC236}">
                <a16:creationId xmlns:a16="http://schemas.microsoft.com/office/drawing/2014/main" id="{BDB978A3-C030-6F49-954C-BDF875DA3B43}"/>
              </a:ext>
            </a:extLst>
          </p:cNvPr>
          <p:cNvSpPr>
            <a:spLocks noChangeArrowheads="1"/>
          </p:cNvSpPr>
          <p:nvPr/>
        </p:nvSpPr>
        <p:spPr bwMode="auto">
          <a:xfrm>
            <a:off x="1730375" y="5445125"/>
            <a:ext cx="6048375" cy="1008063"/>
          </a:xfrm>
          <a:prstGeom prst="roundRect">
            <a:avLst>
              <a:gd name="adj" fmla="val 16667"/>
            </a:avLst>
          </a:prstGeom>
          <a:solidFill>
            <a:schemeClr val="accent1"/>
          </a:solidFill>
          <a:ln w="9525" algn="ctr">
            <a:solidFill>
              <a:schemeClr val="tx1"/>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zh-CN" sz="2400" b="0">
                <a:latin typeface="黑体" panose="02010609060101010101" pitchFamily="49" charset="-122"/>
                <a:ea typeface="黑体" panose="02010609060101010101" pitchFamily="49" charset="-122"/>
              </a:rPr>
              <a:t>软件质量等于软件内在质量、过程质量与客户满意度的总和</a:t>
            </a:r>
            <a:endParaRPr lang="zh-CN" altLang="en-US" sz="2400" b="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D387FEC-D899-E18D-40D0-3676BEE0B0C7}"/>
              </a:ext>
            </a:extLst>
          </p:cNvPr>
          <p:cNvSpPr>
            <a:spLocks noGrp="1" noChangeArrowheads="1"/>
          </p:cNvSpPr>
          <p:nvPr>
            <p:ph type="title"/>
          </p:nvPr>
        </p:nvSpPr>
        <p:spPr>
          <a:xfrm>
            <a:off x="177800" y="1054100"/>
            <a:ext cx="8788400" cy="717550"/>
          </a:xfrm>
          <a:noFill/>
        </p:spPr>
        <p:txBody>
          <a:bodyPr/>
          <a:lstStyle/>
          <a:p>
            <a:pPr eaLnBrk="1" hangingPunct="1"/>
            <a:r>
              <a:rPr lang="en-US" altLang="zh-CN"/>
              <a:t>4.1.1  </a:t>
            </a:r>
            <a:r>
              <a:rPr lang="zh-CN" altLang="en-US"/>
              <a:t>软件质量</a:t>
            </a:r>
            <a:r>
              <a:rPr lang="en-US" altLang="zh-CN"/>
              <a:t> </a:t>
            </a:r>
          </a:p>
        </p:txBody>
      </p:sp>
      <p:sp>
        <p:nvSpPr>
          <p:cNvPr id="10243" name="Text Box 3">
            <a:extLst>
              <a:ext uri="{FF2B5EF4-FFF2-40B4-BE49-F238E27FC236}">
                <a16:creationId xmlns:a16="http://schemas.microsoft.com/office/drawing/2014/main" id="{AA0D6865-B038-3DD5-956C-7D0423B18489}"/>
              </a:ext>
            </a:extLst>
          </p:cNvPr>
          <p:cNvSpPr txBox="1">
            <a:spLocks noChangeArrowheads="1"/>
          </p:cNvSpPr>
          <p:nvPr/>
        </p:nvSpPr>
        <p:spPr bwMode="auto">
          <a:xfrm>
            <a:off x="938213" y="1922463"/>
            <a:ext cx="7632700"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kumimoji="0" lang="en-US" altLang="zh-CN" sz="2400">
                <a:solidFill>
                  <a:schemeClr val="accent2"/>
                </a:solidFill>
                <a:latin typeface="黑体" panose="02010609060101010101" pitchFamily="49" charset="-122"/>
                <a:ea typeface="黑体" panose="02010609060101010101" pitchFamily="49" charset="-122"/>
              </a:rPr>
              <a:t>  </a:t>
            </a:r>
            <a:r>
              <a:rPr kumimoji="0" lang="zh-CN" altLang="en-US" sz="2400">
                <a:solidFill>
                  <a:schemeClr val="accent2"/>
                </a:solidFill>
                <a:latin typeface="黑体" panose="02010609060101010101" pitchFamily="49" charset="-122"/>
                <a:ea typeface="黑体" panose="02010609060101010101" pitchFamily="49" charset="-122"/>
              </a:rPr>
              <a:t>软件质量反映三个方面的问题</a:t>
            </a:r>
            <a:endParaRPr kumimoji="0" lang="en-US" altLang="zh-CN" sz="2400">
              <a:solidFill>
                <a:schemeClr val="accent2"/>
              </a:solidFill>
              <a:latin typeface="黑体" panose="02010609060101010101" pitchFamily="49" charset="-122"/>
              <a:ea typeface="黑体" panose="02010609060101010101" pitchFamily="49" charset="-122"/>
            </a:endParaRPr>
          </a:p>
          <a:p>
            <a:pPr eaLnBrk="1" hangingPunct="1">
              <a:spcBef>
                <a:spcPct val="0"/>
              </a:spcBef>
              <a:buSzPct val="70000"/>
              <a:buFont typeface="Wingdings" panose="05000000000000000000" pitchFamily="2" charset="2"/>
              <a:buNone/>
            </a:pPr>
            <a:endParaRPr kumimoji="0" lang="en-US" altLang="zh-CN" sz="900">
              <a:solidFill>
                <a:schemeClr val="accent2"/>
              </a:solidFill>
              <a:latin typeface="黑体" panose="02010609060101010101" pitchFamily="49" charset="-122"/>
              <a:ea typeface="黑体" panose="02010609060101010101" pitchFamily="49" charset="-122"/>
            </a:endParaRPr>
          </a:p>
          <a:p>
            <a:pPr eaLnBrk="1" hangingPunct="1">
              <a:spcBef>
                <a:spcPts val="1200"/>
              </a:spcBef>
              <a:buClrTx/>
              <a:buFontTx/>
              <a:buNone/>
            </a:pPr>
            <a:r>
              <a:rPr kumimoji="0" lang="zh-CN" altLang="en-US" sz="2000">
                <a:latin typeface="Times New Roman" panose="02020603050405020304" pitchFamily="18" charset="0"/>
              </a:rPr>
              <a:t>　　</a:t>
            </a:r>
            <a:r>
              <a:rPr kumimoji="0" lang="zh-CN" altLang="zh-CN" sz="2000">
                <a:latin typeface="Times New Roman" panose="02020603050405020304" pitchFamily="18" charset="0"/>
              </a:rPr>
              <a:t>软件需求是度量软件质量的基础，</a:t>
            </a:r>
            <a:r>
              <a:rPr kumimoji="0" lang="zh-CN" altLang="zh-CN" sz="2000">
                <a:solidFill>
                  <a:schemeClr val="accent2"/>
                </a:solidFill>
                <a:latin typeface="Times New Roman" panose="02020603050405020304" pitchFamily="18" charset="0"/>
              </a:rPr>
              <a:t>不符合需求的软件就不具备质量</a:t>
            </a:r>
            <a:r>
              <a:rPr kumimoji="0" lang="zh-CN" altLang="zh-CN" sz="2000">
                <a:latin typeface="Times New Roman" panose="02020603050405020304" pitchFamily="18" charset="0"/>
              </a:rPr>
              <a:t>。</a:t>
            </a:r>
            <a:r>
              <a:rPr kumimoji="0" lang="en-US" altLang="zh-CN" sz="2000">
                <a:latin typeface="Times New Roman" panose="02020603050405020304" pitchFamily="18" charset="0"/>
              </a:rPr>
              <a:t>	</a:t>
            </a:r>
          </a:p>
          <a:p>
            <a:pPr eaLnBrk="1" hangingPunct="1">
              <a:spcBef>
                <a:spcPts val="1200"/>
              </a:spcBef>
              <a:buClrTx/>
              <a:buFontTx/>
              <a:buNone/>
            </a:pPr>
            <a:r>
              <a:rPr kumimoji="0" lang="en-US" altLang="zh-CN" sz="2000">
                <a:latin typeface="Times New Roman" panose="02020603050405020304" pitchFamily="18" charset="0"/>
              </a:rPr>
              <a:t>        </a:t>
            </a:r>
            <a:r>
              <a:rPr kumimoji="0" lang="zh-CN" altLang="zh-CN" sz="2000">
                <a:solidFill>
                  <a:schemeClr val="accent2"/>
                </a:solidFill>
                <a:latin typeface="Times New Roman" panose="02020603050405020304" pitchFamily="18" charset="0"/>
              </a:rPr>
              <a:t>应在各种标准中定义开发准则</a:t>
            </a:r>
            <a:r>
              <a:rPr kumimoji="0" lang="zh-CN" altLang="zh-CN" sz="2000">
                <a:latin typeface="Times New Roman" panose="02020603050405020304" pitchFamily="18" charset="0"/>
              </a:rPr>
              <a:t>，用于指导软件人员采用工程化的方法来开发软件产品</a:t>
            </a:r>
            <a:r>
              <a:rPr kumimoji="0" lang="en-US" altLang="zh-CN" sz="2000">
                <a:latin typeface="Times New Roman" panose="02020603050405020304" pitchFamily="18" charset="0"/>
              </a:rPr>
              <a:t>.</a:t>
            </a:r>
            <a:endParaRPr kumimoji="0" lang="zh-CN" altLang="zh-CN" sz="2000">
              <a:latin typeface="Times New Roman" panose="02020603050405020304" pitchFamily="18" charset="0"/>
            </a:endParaRPr>
          </a:p>
          <a:p>
            <a:pPr eaLnBrk="1" hangingPunct="1">
              <a:spcBef>
                <a:spcPts val="1200"/>
              </a:spcBef>
              <a:buClrTx/>
              <a:buFontTx/>
              <a:buNone/>
            </a:pPr>
            <a:r>
              <a:rPr kumimoji="0" lang="en-US" altLang="zh-CN" sz="2000">
                <a:latin typeface="Times New Roman" panose="02020603050405020304" pitchFamily="18" charset="0"/>
              </a:rPr>
              <a:t>        </a:t>
            </a:r>
            <a:r>
              <a:rPr kumimoji="0" lang="zh-CN" altLang="zh-CN" sz="2000">
                <a:latin typeface="Times New Roman" panose="02020603050405020304" pitchFamily="18" charset="0"/>
              </a:rPr>
              <a:t>往往会有一些隐含的需求没有明确地提出来，若</a:t>
            </a:r>
            <a:r>
              <a:rPr kumimoji="0" lang="zh-CN" altLang="zh-CN" sz="2000">
                <a:solidFill>
                  <a:schemeClr val="accent2"/>
                </a:solidFill>
                <a:latin typeface="Times New Roman" panose="02020603050405020304" pitchFamily="18" charset="0"/>
              </a:rPr>
              <a:t>忽略了这些隐含需求将无法保证软件的质量</a:t>
            </a:r>
            <a:r>
              <a:rPr kumimoji="0" lang="zh-CN" altLang="zh-CN" sz="2000">
                <a:latin typeface="Times New Roman" panose="02020603050405020304" pitchFamily="18" charset="0"/>
              </a:rPr>
              <a:t>。</a:t>
            </a:r>
            <a:endParaRPr kumimoji="0" lang="zh-CN" altLang="en-US" sz="2000">
              <a:latin typeface="Times New Roman" panose="02020603050405020304" pitchFamily="18" charset="0"/>
            </a:endParaRPr>
          </a:p>
        </p:txBody>
      </p:sp>
      <p:sp>
        <p:nvSpPr>
          <p:cNvPr id="5" name="圆角矩形 4">
            <a:extLst>
              <a:ext uri="{FF2B5EF4-FFF2-40B4-BE49-F238E27FC236}">
                <a16:creationId xmlns:a16="http://schemas.microsoft.com/office/drawing/2014/main" id="{438249CC-B50F-C90A-C910-73EE78AEBE60}"/>
              </a:ext>
            </a:extLst>
          </p:cNvPr>
          <p:cNvSpPr>
            <a:spLocks noChangeArrowheads="1"/>
          </p:cNvSpPr>
          <p:nvPr/>
        </p:nvSpPr>
        <p:spPr bwMode="auto">
          <a:xfrm>
            <a:off x="1730375" y="5445125"/>
            <a:ext cx="6048375" cy="1008063"/>
          </a:xfrm>
          <a:prstGeom prst="roundRect">
            <a:avLst>
              <a:gd name="adj" fmla="val 16667"/>
            </a:avLst>
          </a:prstGeom>
          <a:solidFill>
            <a:schemeClr val="accent1"/>
          </a:solidFill>
          <a:ln w="9525" algn="ctr">
            <a:solidFill>
              <a:schemeClr val="tx1"/>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zh-CN" sz="2400" b="0">
                <a:latin typeface="黑体" panose="02010609060101010101" pitchFamily="49" charset="-122"/>
                <a:ea typeface="黑体" panose="02010609060101010101" pitchFamily="49" charset="-122"/>
              </a:rPr>
              <a:t>软件质量</a:t>
            </a:r>
            <a:r>
              <a:rPr lang="zh-CN" altLang="en-US" sz="2400" b="0">
                <a:latin typeface="黑体" panose="02010609060101010101" pitchFamily="49" charset="-122"/>
                <a:ea typeface="黑体" panose="02010609060101010101" pitchFamily="49" charset="-122"/>
              </a:rPr>
              <a:t>的</a:t>
            </a:r>
            <a:r>
              <a:rPr lang="zh-CN" altLang="zh-CN" sz="2400" b="0">
                <a:latin typeface="黑体" panose="02010609060101010101" pitchFamily="49" charset="-122"/>
                <a:ea typeface="黑体" panose="02010609060101010101" pitchFamily="49" charset="-122"/>
              </a:rPr>
              <a:t>核心是</a:t>
            </a:r>
            <a:r>
              <a:rPr lang="zh-CN" altLang="en-US" sz="2400" b="0">
                <a:latin typeface="黑体" panose="02010609060101010101" pitchFamily="49" charset="-122"/>
                <a:ea typeface="黑体" panose="02010609060101010101" pitchFamily="49" charset="-122"/>
              </a:rPr>
              <a:t>：</a:t>
            </a:r>
            <a:r>
              <a:rPr lang="zh-CN" altLang="zh-CN" sz="2400" b="0">
                <a:solidFill>
                  <a:srgbClr val="C00000"/>
                </a:solidFill>
                <a:latin typeface="黑体" panose="02010609060101010101" pitchFamily="49" charset="-122"/>
                <a:ea typeface="黑体" panose="02010609060101010101" pitchFamily="49" charset="-122"/>
              </a:rPr>
              <a:t>需求</a:t>
            </a:r>
            <a:r>
              <a:rPr lang="en-US" altLang="zh-CN" sz="2400" b="0">
                <a:latin typeface="黑体" panose="02010609060101010101" pitchFamily="49" charset="-122"/>
                <a:ea typeface="黑体" panose="02010609060101010101" pitchFamily="49" charset="-122"/>
              </a:rPr>
              <a:t> </a:t>
            </a:r>
            <a:r>
              <a:rPr lang="zh-CN" altLang="zh-CN" sz="2400" b="0">
                <a:latin typeface="黑体" panose="02010609060101010101" pitchFamily="49" charset="-122"/>
                <a:ea typeface="黑体" panose="02010609060101010101" pitchFamily="49" charset="-122"/>
              </a:rPr>
              <a:t>和</a:t>
            </a:r>
            <a:r>
              <a:rPr lang="en-US" altLang="zh-CN" sz="2400" b="0">
                <a:latin typeface="黑体" panose="02010609060101010101" pitchFamily="49" charset="-122"/>
                <a:ea typeface="黑体" panose="02010609060101010101" pitchFamily="49" charset="-122"/>
              </a:rPr>
              <a:t> </a:t>
            </a:r>
            <a:r>
              <a:rPr lang="zh-CN" altLang="zh-CN" sz="2400" b="0">
                <a:solidFill>
                  <a:srgbClr val="C00000"/>
                </a:solidFill>
                <a:latin typeface="黑体" panose="02010609060101010101" pitchFamily="49" charset="-122"/>
                <a:ea typeface="黑体" panose="02010609060101010101" pitchFamily="49" charset="-122"/>
              </a:rPr>
              <a:t>标准</a:t>
            </a:r>
            <a:endParaRPr lang="zh-CN" altLang="en-US" sz="2400" b="0">
              <a:solidFill>
                <a:srgbClr val="C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3738416-C4DA-FA23-E08D-5707A915C7B6}"/>
              </a:ext>
            </a:extLst>
          </p:cNvPr>
          <p:cNvSpPr>
            <a:spLocks noGrp="1" noChangeArrowheads="1"/>
          </p:cNvSpPr>
          <p:nvPr>
            <p:ph type="title"/>
          </p:nvPr>
        </p:nvSpPr>
        <p:spPr>
          <a:xfrm>
            <a:off x="177800" y="1054100"/>
            <a:ext cx="8788400" cy="717550"/>
          </a:xfrm>
          <a:noFill/>
        </p:spPr>
        <p:txBody>
          <a:bodyPr/>
          <a:lstStyle/>
          <a:p>
            <a:pPr eaLnBrk="1" hangingPunct="1"/>
            <a:r>
              <a:rPr lang="en-US" altLang="zh-CN"/>
              <a:t>4.1.1  </a:t>
            </a:r>
            <a:r>
              <a:rPr lang="zh-CN" altLang="en-US"/>
              <a:t>软件质量</a:t>
            </a:r>
            <a:r>
              <a:rPr lang="en-US" altLang="zh-CN"/>
              <a:t> </a:t>
            </a:r>
          </a:p>
        </p:txBody>
      </p:sp>
      <p:sp>
        <p:nvSpPr>
          <p:cNvPr id="11267" name="Text Box 3">
            <a:extLst>
              <a:ext uri="{FF2B5EF4-FFF2-40B4-BE49-F238E27FC236}">
                <a16:creationId xmlns:a16="http://schemas.microsoft.com/office/drawing/2014/main" id="{6101E893-03AC-10C8-807D-1A5DD8A07B3B}"/>
              </a:ext>
            </a:extLst>
          </p:cNvPr>
          <p:cNvSpPr txBox="1">
            <a:spLocks noChangeArrowheads="1"/>
          </p:cNvSpPr>
          <p:nvPr/>
        </p:nvSpPr>
        <p:spPr bwMode="auto">
          <a:xfrm>
            <a:off x="684213" y="2522538"/>
            <a:ext cx="74104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b="0">
                <a:latin typeface="Times New Roman" panose="02020603050405020304" pitchFamily="18" charset="0"/>
              </a:rPr>
              <a:t>    </a:t>
            </a:r>
            <a:r>
              <a:rPr kumimoji="0" lang="zh-CN" altLang="zh-CN" sz="2400">
                <a:solidFill>
                  <a:schemeClr val="accent2"/>
                </a:solidFill>
                <a:latin typeface="黑体" panose="02010609060101010101" pitchFamily="49" charset="-122"/>
                <a:ea typeface="黑体" panose="02010609060101010101" pitchFamily="49" charset="-122"/>
              </a:rPr>
              <a:t>软件质量及相关控制和管理工作</a:t>
            </a:r>
            <a:r>
              <a:rPr kumimoji="0" lang="zh-CN" altLang="en-US" sz="2400">
                <a:solidFill>
                  <a:schemeClr val="accent2"/>
                </a:solidFill>
                <a:latin typeface="黑体" panose="02010609060101010101" pitchFamily="49" charset="-122"/>
                <a:ea typeface="黑体" panose="02010609060101010101" pitchFamily="49" charset="-122"/>
              </a:rPr>
              <a:t>非常</a:t>
            </a:r>
            <a:r>
              <a:rPr kumimoji="0" lang="zh-CN" altLang="zh-CN" sz="2400">
                <a:solidFill>
                  <a:schemeClr val="accent2"/>
                </a:solidFill>
                <a:latin typeface="黑体" panose="02010609060101010101" pitchFamily="49" charset="-122"/>
                <a:ea typeface="黑体" panose="02010609060101010101" pitchFamily="49" charset="-122"/>
              </a:rPr>
              <a:t>复杂</a:t>
            </a:r>
            <a:endParaRPr kumimoji="0" lang="zh-CN" altLang="en-US" sz="2400">
              <a:solidFill>
                <a:schemeClr val="accent2"/>
              </a:solidFill>
              <a:latin typeface="黑体" panose="02010609060101010101" pitchFamily="49" charset="-122"/>
              <a:ea typeface="黑体" panose="02010609060101010101" pitchFamily="49" charset="-122"/>
            </a:endParaRPr>
          </a:p>
          <a:p>
            <a:pPr lvl="1">
              <a:lnSpc>
                <a:spcPts val="3000"/>
              </a:lnSpc>
              <a:spcBef>
                <a:spcPts val="1200"/>
              </a:spcBef>
              <a:buSzPct val="70000"/>
              <a:buFont typeface="Wingdings" panose="05000000000000000000" pitchFamily="2" charset="2"/>
              <a:buChar char="n"/>
            </a:pPr>
            <a:r>
              <a:rPr kumimoji="0" lang="zh-CN" altLang="zh-CN" sz="2000">
                <a:latin typeface="Times New Roman" panose="02020603050405020304" pitchFamily="18" charset="0"/>
              </a:rPr>
              <a:t>理解用户的需求难度很大</a:t>
            </a:r>
            <a:endParaRPr kumimoji="0" lang="en-US" altLang="zh-CN" sz="2000">
              <a:latin typeface="Times New Roman" panose="02020603050405020304" pitchFamily="18" charset="0"/>
            </a:endParaRPr>
          </a:p>
          <a:p>
            <a:pPr lvl="1">
              <a:lnSpc>
                <a:spcPts val="3000"/>
              </a:lnSpc>
              <a:spcBef>
                <a:spcPts val="1200"/>
              </a:spcBef>
              <a:buSzPct val="70000"/>
              <a:buFont typeface="Wingdings" panose="05000000000000000000" pitchFamily="2" charset="2"/>
              <a:buChar char="n"/>
            </a:pPr>
            <a:r>
              <a:rPr kumimoji="0" lang="zh-CN" altLang="zh-CN" sz="2000">
                <a:latin typeface="Times New Roman" panose="02020603050405020304" pitchFamily="18" charset="0"/>
              </a:rPr>
              <a:t>制定和遵循标准的难度很大</a:t>
            </a:r>
            <a:endParaRPr kumimoji="0" lang="zh-CN" altLang="en-US" sz="200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60478B6-F597-53D5-8BFC-C8E1F3D26D48}"/>
              </a:ext>
            </a:extLst>
          </p:cNvPr>
          <p:cNvSpPr>
            <a:spLocks noGrp="1" noChangeArrowheads="1"/>
          </p:cNvSpPr>
          <p:nvPr>
            <p:ph type="title"/>
          </p:nvPr>
        </p:nvSpPr>
        <p:spPr>
          <a:xfrm>
            <a:off x="177800" y="1054100"/>
            <a:ext cx="8788400" cy="717550"/>
          </a:xfrm>
          <a:noFill/>
        </p:spPr>
        <p:txBody>
          <a:bodyPr/>
          <a:lstStyle/>
          <a:p>
            <a:pPr eaLnBrk="1" hangingPunct="1"/>
            <a:r>
              <a:rPr lang="en-US" altLang="zh-CN"/>
              <a:t>4.1.1  </a:t>
            </a:r>
            <a:r>
              <a:rPr lang="zh-CN" altLang="en-US"/>
              <a:t>软件质量</a:t>
            </a:r>
            <a:r>
              <a:rPr lang="en-US" altLang="zh-CN"/>
              <a:t> </a:t>
            </a:r>
          </a:p>
        </p:txBody>
      </p:sp>
      <p:sp>
        <p:nvSpPr>
          <p:cNvPr id="12291" name="Text Box 3">
            <a:extLst>
              <a:ext uri="{FF2B5EF4-FFF2-40B4-BE49-F238E27FC236}">
                <a16:creationId xmlns:a16="http://schemas.microsoft.com/office/drawing/2014/main" id="{BA2FC23F-9951-A89B-3405-B5EFE2D5C9D2}"/>
              </a:ext>
            </a:extLst>
          </p:cNvPr>
          <p:cNvSpPr txBox="1">
            <a:spLocks noChangeArrowheads="1"/>
          </p:cNvSpPr>
          <p:nvPr/>
        </p:nvSpPr>
        <p:spPr bwMode="auto">
          <a:xfrm>
            <a:off x="1004888" y="2179638"/>
            <a:ext cx="741045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257300" indent="-3429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b="0" dirty="0">
                <a:latin typeface="Times New Roman" panose="02020603050405020304" pitchFamily="18" charset="0"/>
              </a:rPr>
              <a:t>    </a:t>
            </a:r>
            <a:r>
              <a:rPr kumimoji="0" lang="zh-CN" altLang="zh-CN" sz="2400" dirty="0">
                <a:solidFill>
                  <a:schemeClr val="accent2"/>
                </a:solidFill>
                <a:latin typeface="黑体" panose="02010609060101010101" pitchFamily="49" charset="-122"/>
                <a:ea typeface="黑体" panose="02010609060101010101" pitchFamily="49" charset="-122"/>
              </a:rPr>
              <a:t>软件质量及相关控制和管理工作</a:t>
            </a:r>
            <a:r>
              <a:rPr kumimoji="0" lang="zh-CN" altLang="en-US" sz="2400" dirty="0">
                <a:solidFill>
                  <a:schemeClr val="accent2"/>
                </a:solidFill>
                <a:latin typeface="黑体" panose="02010609060101010101" pitchFamily="49" charset="-122"/>
                <a:ea typeface="黑体" panose="02010609060101010101" pitchFamily="49" charset="-122"/>
              </a:rPr>
              <a:t>非常</a:t>
            </a:r>
            <a:r>
              <a:rPr kumimoji="0" lang="zh-CN" altLang="zh-CN" sz="2400" dirty="0">
                <a:solidFill>
                  <a:schemeClr val="accent2"/>
                </a:solidFill>
                <a:latin typeface="黑体" panose="02010609060101010101" pitchFamily="49" charset="-122"/>
                <a:ea typeface="黑体" panose="02010609060101010101" pitchFamily="49" charset="-122"/>
              </a:rPr>
              <a:t>复杂</a:t>
            </a:r>
            <a:endParaRPr kumimoji="0" lang="zh-CN" altLang="en-US" sz="2400" dirty="0">
              <a:solidFill>
                <a:schemeClr val="accent2"/>
              </a:solidFill>
              <a:latin typeface="黑体" panose="02010609060101010101" pitchFamily="49" charset="-122"/>
              <a:ea typeface="黑体" panose="02010609060101010101" pitchFamily="49" charset="-122"/>
            </a:endParaRPr>
          </a:p>
          <a:p>
            <a:pPr lvl="1">
              <a:lnSpc>
                <a:spcPts val="3000"/>
              </a:lnSpc>
              <a:spcBef>
                <a:spcPts val="1200"/>
              </a:spcBef>
              <a:buSzPct val="70000"/>
              <a:buFont typeface="Wingdings" panose="05000000000000000000" pitchFamily="2" charset="2"/>
              <a:buChar char="n"/>
            </a:pPr>
            <a:r>
              <a:rPr kumimoji="0" lang="en-US" altLang="zh-CN" sz="2000" dirty="0">
                <a:solidFill>
                  <a:srgbClr val="FF0000"/>
                </a:solidFill>
                <a:latin typeface="Times New Roman" panose="02020603050405020304" pitchFamily="18" charset="0"/>
              </a:rPr>
              <a:t>1. </a:t>
            </a:r>
            <a:r>
              <a:rPr kumimoji="0" lang="zh-CN" altLang="zh-CN" sz="2000" dirty="0">
                <a:solidFill>
                  <a:srgbClr val="FF0000"/>
                </a:solidFill>
                <a:latin typeface="Times New Roman" panose="02020603050405020304" pitchFamily="18" charset="0"/>
              </a:rPr>
              <a:t>理解用户的需求难度很大</a:t>
            </a:r>
            <a:endParaRPr kumimoji="0" lang="en-US" altLang="zh-CN" sz="2000" dirty="0">
              <a:solidFill>
                <a:srgbClr val="FF0000"/>
              </a:solidFill>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zh-CN" dirty="0">
                <a:latin typeface="Times New Roman" panose="02020603050405020304" pitchFamily="18" charset="0"/>
              </a:rPr>
              <a:t>用户</a:t>
            </a:r>
            <a:r>
              <a:rPr kumimoji="0" lang="zh-CN" altLang="en-US" dirty="0">
                <a:latin typeface="Times New Roman" panose="02020603050405020304" pitchFamily="18" charset="0"/>
              </a:rPr>
              <a:t>未</a:t>
            </a:r>
            <a:r>
              <a:rPr kumimoji="0" lang="zh-CN" altLang="zh-CN" dirty="0">
                <a:latin typeface="Times New Roman" panose="02020603050405020304" pitchFamily="18" charset="0"/>
              </a:rPr>
              <a:t>发现自己真正的需求</a:t>
            </a:r>
            <a:endParaRPr kumimoji="0" lang="en-US" altLang="zh-CN" dirty="0">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zh-CN" dirty="0">
                <a:latin typeface="Times New Roman" panose="02020603050405020304" pitchFamily="18" charset="0"/>
              </a:rPr>
              <a:t>用户需求</a:t>
            </a:r>
            <a:r>
              <a:rPr kumimoji="0" lang="zh-CN" altLang="en-US" dirty="0">
                <a:latin typeface="Times New Roman" panose="02020603050405020304" pitchFamily="18" charset="0"/>
              </a:rPr>
              <a:t>多为</a:t>
            </a:r>
            <a:r>
              <a:rPr kumimoji="0" lang="zh-CN" altLang="zh-CN" dirty="0">
                <a:latin typeface="Times New Roman" panose="02020603050405020304" pitchFamily="18" charset="0"/>
              </a:rPr>
              <a:t>隐形需求</a:t>
            </a:r>
            <a:endParaRPr kumimoji="0" lang="en-US" altLang="zh-CN" dirty="0">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zh-CN" dirty="0">
                <a:latin typeface="Times New Roman" panose="02020603050405020304" pitchFamily="18" charset="0"/>
              </a:rPr>
              <a:t>用户需求多样化</a:t>
            </a:r>
            <a:endParaRPr kumimoji="0" lang="en-US" altLang="zh-CN" dirty="0">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zh-CN" dirty="0">
                <a:latin typeface="Times New Roman" panose="02020603050405020304" pitchFamily="18" charset="0"/>
              </a:rPr>
              <a:t>用户需求</a:t>
            </a:r>
            <a:r>
              <a:rPr kumimoji="0" lang="zh-CN" altLang="en-US" dirty="0">
                <a:latin typeface="Times New Roman" panose="02020603050405020304" pitchFamily="18" charset="0"/>
              </a:rPr>
              <a:t>不断变化</a:t>
            </a:r>
            <a:endParaRPr kumimoji="0" lang="en-US" altLang="zh-CN" dirty="0">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zh-CN" dirty="0">
                <a:latin typeface="Times New Roman" panose="02020603050405020304" pitchFamily="18" charset="0"/>
              </a:rPr>
              <a:t>软件研发人员需跨行业学习和理解软件产品使用领域的相关行业知识</a:t>
            </a:r>
            <a:endParaRPr kumimoji="0" lang="zh-CN" altLang="en-US"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6A52EE3-0D79-896A-8BA9-A6DB8EFC0F04}"/>
              </a:ext>
            </a:extLst>
          </p:cNvPr>
          <p:cNvSpPr>
            <a:spLocks noGrp="1" noChangeArrowheads="1"/>
          </p:cNvSpPr>
          <p:nvPr>
            <p:ph type="title"/>
          </p:nvPr>
        </p:nvSpPr>
        <p:spPr>
          <a:xfrm>
            <a:off x="177800" y="1054100"/>
            <a:ext cx="8788400" cy="717550"/>
          </a:xfrm>
          <a:noFill/>
        </p:spPr>
        <p:txBody>
          <a:bodyPr/>
          <a:lstStyle/>
          <a:p>
            <a:pPr eaLnBrk="1" hangingPunct="1"/>
            <a:r>
              <a:rPr lang="en-US" altLang="zh-CN"/>
              <a:t>4.1.1  </a:t>
            </a:r>
            <a:r>
              <a:rPr lang="zh-CN" altLang="en-US"/>
              <a:t>软件质量</a:t>
            </a:r>
            <a:r>
              <a:rPr lang="en-US" altLang="zh-CN"/>
              <a:t> </a:t>
            </a:r>
          </a:p>
        </p:txBody>
      </p:sp>
      <p:sp>
        <p:nvSpPr>
          <p:cNvPr id="13315" name="Text Box 3">
            <a:extLst>
              <a:ext uri="{FF2B5EF4-FFF2-40B4-BE49-F238E27FC236}">
                <a16:creationId xmlns:a16="http://schemas.microsoft.com/office/drawing/2014/main" id="{32165367-E474-C8FF-5F3C-882B9ABA2136}"/>
              </a:ext>
            </a:extLst>
          </p:cNvPr>
          <p:cNvSpPr txBox="1">
            <a:spLocks noChangeArrowheads="1"/>
          </p:cNvSpPr>
          <p:nvPr/>
        </p:nvSpPr>
        <p:spPr bwMode="auto">
          <a:xfrm>
            <a:off x="1004888" y="2179638"/>
            <a:ext cx="7410450"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257300" indent="-3429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b="0" dirty="0">
                <a:latin typeface="Times New Roman" panose="02020603050405020304" pitchFamily="18" charset="0"/>
              </a:rPr>
              <a:t>    </a:t>
            </a:r>
            <a:r>
              <a:rPr kumimoji="0" lang="zh-CN" altLang="zh-CN" sz="2400" dirty="0">
                <a:solidFill>
                  <a:schemeClr val="accent2"/>
                </a:solidFill>
                <a:latin typeface="黑体" panose="02010609060101010101" pitchFamily="49" charset="-122"/>
                <a:ea typeface="黑体" panose="02010609060101010101" pitchFamily="49" charset="-122"/>
              </a:rPr>
              <a:t>软件质量及相关控制和管理工作</a:t>
            </a:r>
            <a:r>
              <a:rPr kumimoji="0" lang="zh-CN" altLang="en-US" sz="2400" dirty="0">
                <a:solidFill>
                  <a:schemeClr val="accent2"/>
                </a:solidFill>
                <a:latin typeface="黑体" panose="02010609060101010101" pitchFamily="49" charset="-122"/>
                <a:ea typeface="黑体" panose="02010609060101010101" pitchFamily="49" charset="-122"/>
              </a:rPr>
              <a:t>非常</a:t>
            </a:r>
            <a:r>
              <a:rPr kumimoji="0" lang="zh-CN" altLang="zh-CN" sz="2400" dirty="0">
                <a:solidFill>
                  <a:schemeClr val="accent2"/>
                </a:solidFill>
                <a:latin typeface="黑体" panose="02010609060101010101" pitchFamily="49" charset="-122"/>
                <a:ea typeface="黑体" panose="02010609060101010101" pitchFamily="49" charset="-122"/>
              </a:rPr>
              <a:t>复杂</a:t>
            </a:r>
            <a:endParaRPr kumimoji="0" lang="zh-CN" altLang="en-US" sz="2400" dirty="0">
              <a:solidFill>
                <a:schemeClr val="accent2"/>
              </a:solidFill>
              <a:latin typeface="黑体" panose="02010609060101010101" pitchFamily="49" charset="-122"/>
              <a:ea typeface="黑体" panose="02010609060101010101" pitchFamily="49" charset="-122"/>
            </a:endParaRPr>
          </a:p>
          <a:p>
            <a:pPr lvl="1">
              <a:lnSpc>
                <a:spcPts val="3000"/>
              </a:lnSpc>
              <a:spcBef>
                <a:spcPts val="1200"/>
              </a:spcBef>
              <a:buSzPct val="70000"/>
              <a:buFont typeface="Wingdings" panose="05000000000000000000" pitchFamily="2" charset="2"/>
              <a:buChar char="n"/>
            </a:pPr>
            <a:r>
              <a:rPr kumimoji="0" lang="en-US" altLang="zh-CN" sz="2000" dirty="0">
                <a:solidFill>
                  <a:srgbClr val="FF0000"/>
                </a:solidFill>
                <a:latin typeface="Times New Roman" panose="02020603050405020304" pitchFamily="18" charset="0"/>
              </a:rPr>
              <a:t>2. </a:t>
            </a:r>
            <a:r>
              <a:rPr kumimoji="0" lang="zh-CN" altLang="zh-CN" sz="2000" dirty="0">
                <a:solidFill>
                  <a:srgbClr val="FF0000"/>
                </a:solidFill>
                <a:latin typeface="Times New Roman" panose="02020603050405020304" pitchFamily="18" charset="0"/>
              </a:rPr>
              <a:t>制定和遵循标准的难度很大</a:t>
            </a:r>
            <a:endParaRPr kumimoji="0" lang="en-US" altLang="zh-CN" sz="2000" dirty="0">
              <a:solidFill>
                <a:srgbClr val="FF0000"/>
              </a:solidFill>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zh-CN" dirty="0">
                <a:latin typeface="Times New Roman" panose="02020603050405020304" pitchFamily="18" charset="0"/>
              </a:rPr>
              <a:t>知识密集型行业，难以</a:t>
            </a:r>
            <a:r>
              <a:rPr kumimoji="0" lang="zh-CN" altLang="en-US" dirty="0">
                <a:latin typeface="Times New Roman" panose="02020603050405020304" pitchFamily="18" charset="0"/>
              </a:rPr>
              <a:t>实现大规模流水线生产</a:t>
            </a:r>
            <a:endParaRPr kumimoji="0" lang="en-US" altLang="zh-CN" dirty="0">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en-US" dirty="0">
                <a:latin typeface="Times New Roman" panose="02020603050405020304" pitchFamily="18" charset="0"/>
              </a:rPr>
              <a:t>不重视文档，</a:t>
            </a:r>
            <a:r>
              <a:rPr kumimoji="0" lang="zh-CN" altLang="zh-CN" dirty="0">
                <a:latin typeface="Times New Roman" panose="02020603050405020304" pitchFamily="18" charset="0"/>
              </a:rPr>
              <a:t>缺乏规范和足够的文档</a:t>
            </a:r>
            <a:endParaRPr kumimoji="0" lang="en-US" altLang="zh-CN" dirty="0">
              <a:latin typeface="Times New Roman" panose="02020603050405020304" pitchFamily="18" charset="0"/>
            </a:endParaRPr>
          </a:p>
          <a:p>
            <a:pPr lvl="2">
              <a:lnSpc>
                <a:spcPts val="3000"/>
              </a:lnSpc>
              <a:spcBef>
                <a:spcPts val="1200"/>
              </a:spcBef>
              <a:buSzPct val="70000"/>
              <a:buFont typeface="Wingdings" panose="05000000000000000000" pitchFamily="2" charset="2"/>
              <a:buChar char="ü"/>
            </a:pPr>
            <a:r>
              <a:rPr kumimoji="0" lang="zh-CN" altLang="en-US" dirty="0">
                <a:latin typeface="Times New Roman" panose="02020603050405020304" pitchFamily="18" charset="0"/>
              </a:rPr>
              <a:t>不重视单元测试，单元代码质量不高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7316307-3673-02DE-FE78-33354F1C9F7A}"/>
              </a:ext>
            </a:extLst>
          </p:cNvPr>
          <p:cNvSpPr>
            <a:spLocks noGrp="1" noChangeArrowheads="1"/>
          </p:cNvSpPr>
          <p:nvPr>
            <p:ph type="title"/>
          </p:nvPr>
        </p:nvSpPr>
        <p:spPr>
          <a:xfrm>
            <a:off x="177800" y="1054100"/>
            <a:ext cx="8788400" cy="717550"/>
          </a:xfrm>
          <a:noFill/>
        </p:spPr>
        <p:txBody>
          <a:bodyPr/>
          <a:lstStyle/>
          <a:p>
            <a:pPr eaLnBrk="1" hangingPunct="1"/>
            <a:r>
              <a:rPr lang="en-US" altLang="zh-CN"/>
              <a:t>4.1.2  </a:t>
            </a:r>
            <a:r>
              <a:rPr lang="zh-CN" altLang="en-US"/>
              <a:t>软件质量工作</a:t>
            </a:r>
            <a:endParaRPr kumimoji="1" lang="zh-CN" altLang="en-US"/>
          </a:p>
        </p:txBody>
      </p:sp>
      <p:sp>
        <p:nvSpPr>
          <p:cNvPr id="14339" name="Text Box 51">
            <a:extLst>
              <a:ext uri="{FF2B5EF4-FFF2-40B4-BE49-F238E27FC236}">
                <a16:creationId xmlns:a16="http://schemas.microsoft.com/office/drawing/2014/main" id="{B801DBE0-682E-33BB-DDF5-1E4846C084DC}"/>
              </a:ext>
            </a:extLst>
          </p:cNvPr>
          <p:cNvSpPr txBox="1">
            <a:spLocks noChangeArrowheads="1"/>
          </p:cNvSpPr>
          <p:nvPr/>
        </p:nvSpPr>
        <p:spPr bwMode="auto">
          <a:xfrm>
            <a:off x="611188" y="2382838"/>
            <a:ext cx="7921625"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SzPct val="70000"/>
              <a:buFont typeface="Wingdings" panose="05000000000000000000" pitchFamily="2" charset="2"/>
              <a:buChar char="n"/>
            </a:pPr>
            <a:r>
              <a:rPr lang="zh-CN" altLang="zh-CN" sz="2400" dirty="0">
                <a:solidFill>
                  <a:schemeClr val="accent2"/>
                </a:solidFill>
                <a:latin typeface="黑体" panose="02010609060101010101" pitchFamily="49" charset="-122"/>
                <a:ea typeface="黑体" panose="02010609060101010101" pitchFamily="49" charset="-122"/>
              </a:rPr>
              <a:t>与软件质量相关的工作内容应紧紧</a:t>
            </a:r>
            <a:r>
              <a:rPr lang="zh-CN" altLang="zh-CN" sz="2400" dirty="0">
                <a:solidFill>
                  <a:srgbClr val="FF0000"/>
                </a:solidFill>
                <a:latin typeface="黑体" panose="02010609060101010101" pitchFamily="49" charset="-122"/>
                <a:ea typeface="黑体" panose="02010609060101010101" pitchFamily="49" charset="-122"/>
              </a:rPr>
              <a:t>围绕需求和标准</a:t>
            </a:r>
            <a:r>
              <a:rPr lang="zh-CN" altLang="zh-CN" sz="2400" dirty="0">
                <a:solidFill>
                  <a:schemeClr val="accent2"/>
                </a:solidFill>
                <a:latin typeface="黑体" panose="02010609060101010101" pitchFamily="49" charset="-122"/>
                <a:ea typeface="黑体" panose="02010609060101010101" pitchFamily="49" charset="-122"/>
              </a:rPr>
              <a:t>这两大核心问题而展开</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ct val="150000"/>
              </a:lnSpc>
              <a:spcBef>
                <a:spcPct val="0"/>
              </a:spcBef>
              <a:buSzPct val="70000"/>
              <a:buFont typeface="Wingdings" panose="05000000000000000000" pitchFamily="2" charset="2"/>
              <a:buChar char="n"/>
            </a:pPr>
            <a:r>
              <a:rPr lang="zh-CN" altLang="en-US" sz="1600" dirty="0">
                <a:latin typeface="黑体" panose="02010609060101010101" pitchFamily="49" charset="-122"/>
                <a:ea typeface="黑体" panose="02010609060101010101" pitchFamily="49" charset="-122"/>
              </a:rPr>
              <a:t>（</a:t>
            </a:r>
            <a:r>
              <a:rPr lang="en-US" altLang="zh-CN" sz="1600" dirty="0">
                <a:latin typeface="黑体" panose="02010609060101010101" pitchFamily="49" charset="-122"/>
                <a:ea typeface="黑体" panose="02010609060101010101" pitchFamily="49" charset="-122"/>
              </a:rPr>
              <a:t>1</a:t>
            </a:r>
            <a:r>
              <a:rPr lang="zh-CN" altLang="en-US" sz="1600" dirty="0">
                <a:latin typeface="黑体" panose="02010609060101010101" pitchFamily="49" charset="-122"/>
                <a:ea typeface="黑体" panose="02010609060101010101" pitchFamily="49" charset="-122"/>
              </a:rPr>
              <a:t>）</a:t>
            </a:r>
            <a:r>
              <a:rPr lang="zh-CN" altLang="en-US" sz="1600" dirty="0">
                <a:solidFill>
                  <a:srgbClr val="FF0000"/>
                </a:solidFill>
                <a:latin typeface="黑体" panose="02010609060101010101" pitchFamily="49" charset="-122"/>
                <a:ea typeface="黑体" panose="02010609060101010101" pitchFamily="49" charset="-122"/>
              </a:rPr>
              <a:t>建立软件质量模型</a:t>
            </a:r>
            <a:r>
              <a:rPr lang="zh-CN" altLang="en-US" sz="1600" dirty="0">
                <a:latin typeface="黑体" panose="02010609060101010101" pitchFamily="49" charset="-122"/>
                <a:ea typeface="黑体" panose="02010609060101010101" pitchFamily="49" charset="-122"/>
              </a:rPr>
              <a:t>，并使用工具对软件质量</a:t>
            </a:r>
            <a:r>
              <a:rPr lang="zh-CN" altLang="en-US" sz="1600" dirty="0">
                <a:solidFill>
                  <a:srgbClr val="FF0000"/>
                </a:solidFill>
                <a:latin typeface="黑体" panose="02010609060101010101" pitchFamily="49" charset="-122"/>
                <a:ea typeface="黑体" panose="02010609060101010101" pitchFamily="49" charset="-122"/>
              </a:rPr>
              <a:t>进行有效的度量</a:t>
            </a:r>
            <a:r>
              <a:rPr lang="zh-CN" altLang="en-US" sz="1600" dirty="0">
                <a:latin typeface="黑体" panose="02010609060101010101" pitchFamily="49" charset="-122"/>
                <a:ea typeface="黑体" panose="02010609060101010101" pitchFamily="49" charset="-122"/>
              </a:rPr>
              <a:t>，形成标准和规范。</a:t>
            </a:r>
            <a:endParaRPr lang="en-US" altLang="zh-CN" sz="1600" dirty="0">
              <a:latin typeface="黑体" panose="02010609060101010101" pitchFamily="49" charset="-122"/>
              <a:ea typeface="黑体" panose="02010609060101010101" pitchFamily="49" charset="-122"/>
            </a:endParaRPr>
          </a:p>
          <a:p>
            <a:pPr lvl="1" eaLnBrk="1" hangingPunct="1">
              <a:lnSpc>
                <a:spcPct val="150000"/>
              </a:lnSpc>
              <a:spcBef>
                <a:spcPct val="0"/>
              </a:spcBef>
              <a:buSzPct val="70000"/>
              <a:buFont typeface="Wingdings" panose="05000000000000000000" pitchFamily="2" charset="2"/>
              <a:buChar char="n"/>
            </a:pPr>
            <a:r>
              <a:rPr lang="zh-CN" altLang="en-US" sz="1600" dirty="0">
                <a:latin typeface="黑体" panose="02010609060101010101" pitchFamily="49" charset="-122"/>
                <a:ea typeface="黑体" panose="02010609060101010101" pitchFamily="49" charset="-122"/>
              </a:rPr>
              <a:t>（</a:t>
            </a:r>
            <a:r>
              <a:rPr lang="en-US" altLang="zh-CN" sz="1600" dirty="0">
                <a:latin typeface="黑体" panose="02010609060101010101" pitchFamily="49" charset="-122"/>
                <a:ea typeface="黑体" panose="02010609060101010101" pitchFamily="49" charset="-122"/>
              </a:rPr>
              <a:t>2</a:t>
            </a:r>
            <a:r>
              <a:rPr lang="zh-CN" altLang="en-US" sz="1600" dirty="0">
                <a:latin typeface="黑体" panose="02010609060101010101" pitchFamily="49" charset="-122"/>
                <a:ea typeface="黑体" panose="02010609060101010101" pitchFamily="49" charset="-122"/>
              </a:rPr>
              <a:t>）基于质量模型中的度量指标，</a:t>
            </a:r>
            <a:r>
              <a:rPr lang="zh-CN" altLang="en-US" sz="1600" dirty="0">
                <a:solidFill>
                  <a:srgbClr val="FF0000"/>
                </a:solidFill>
                <a:latin typeface="黑体" panose="02010609060101010101" pitchFamily="49" charset="-122"/>
                <a:ea typeface="黑体" panose="02010609060101010101" pitchFamily="49" charset="-122"/>
              </a:rPr>
              <a:t>不断检查和识别软件产品本身以及产品开发过程中那些不符合软件质量要求的项</a:t>
            </a:r>
            <a:r>
              <a:rPr lang="zh-CN" altLang="en-US" sz="1600" dirty="0">
                <a:latin typeface="黑体" panose="02010609060101010101" pitchFamily="49" charset="-122"/>
                <a:ea typeface="黑体" panose="02010609060101010101" pitchFamily="49" charset="-122"/>
              </a:rPr>
              <a:t>，并记录下来。</a:t>
            </a:r>
            <a:endParaRPr lang="en-US" altLang="zh-CN" sz="1600" dirty="0">
              <a:latin typeface="黑体" panose="02010609060101010101" pitchFamily="49" charset="-122"/>
              <a:ea typeface="黑体" panose="02010609060101010101" pitchFamily="49" charset="-122"/>
            </a:endParaRPr>
          </a:p>
          <a:p>
            <a:pPr lvl="1" eaLnBrk="1" hangingPunct="1">
              <a:lnSpc>
                <a:spcPct val="150000"/>
              </a:lnSpc>
              <a:spcBef>
                <a:spcPct val="0"/>
              </a:spcBef>
              <a:buSzPct val="70000"/>
              <a:buFont typeface="Wingdings" panose="05000000000000000000" pitchFamily="2" charset="2"/>
              <a:buChar char="n"/>
            </a:pPr>
            <a:r>
              <a:rPr lang="zh-CN" altLang="en-US" sz="1600" dirty="0">
                <a:latin typeface="黑体" panose="02010609060101010101" pitchFamily="49" charset="-122"/>
                <a:ea typeface="黑体" panose="02010609060101010101" pitchFamily="49" charset="-122"/>
              </a:rPr>
              <a:t>（</a:t>
            </a:r>
            <a:r>
              <a:rPr lang="en-US" altLang="zh-CN" sz="1600" dirty="0">
                <a:latin typeface="黑体" panose="02010609060101010101" pitchFamily="49" charset="-122"/>
                <a:ea typeface="黑体" panose="02010609060101010101" pitchFamily="49" charset="-122"/>
              </a:rPr>
              <a:t>3</a:t>
            </a:r>
            <a:r>
              <a:rPr lang="zh-CN" altLang="en-US" sz="1600" dirty="0">
                <a:latin typeface="黑体" panose="02010609060101010101" pitchFamily="49" charset="-122"/>
                <a:ea typeface="黑体" panose="02010609060101010101" pitchFamily="49" charset="-122"/>
              </a:rPr>
              <a:t>）就不符合项及时与当事人进行沟通，</a:t>
            </a:r>
            <a:r>
              <a:rPr lang="zh-CN" altLang="en-US" sz="1600" dirty="0">
                <a:solidFill>
                  <a:srgbClr val="FF0000"/>
                </a:solidFill>
                <a:latin typeface="黑体" panose="02010609060101010101" pitchFamily="49" charset="-122"/>
                <a:ea typeface="黑体" panose="02010609060101010101" pitchFamily="49" charset="-122"/>
              </a:rPr>
              <a:t>对软件产品的内在质量和过程加以改进</a:t>
            </a:r>
            <a:r>
              <a:rPr lang="zh-CN" altLang="en-US" sz="1600" dirty="0">
                <a:latin typeface="黑体" panose="02010609060101010101" pitchFamily="49" charset="-122"/>
                <a:ea typeface="黑体" panose="02010609060101010101" pitchFamily="49" charset="-122"/>
              </a:rPr>
              <a:t>，努力提高总体客户满意度。</a:t>
            </a:r>
            <a:endParaRPr lang="en-US" altLang="zh-CN" sz="1600" dirty="0">
              <a:latin typeface="黑体" panose="02010609060101010101" pitchFamily="49" charset="-122"/>
              <a:ea typeface="黑体" panose="02010609060101010101" pitchFamily="49" charset="-122"/>
            </a:endParaRPr>
          </a:p>
          <a:p>
            <a:pPr lvl="1" eaLnBrk="1" hangingPunct="1">
              <a:lnSpc>
                <a:spcPct val="150000"/>
              </a:lnSpc>
              <a:spcBef>
                <a:spcPct val="0"/>
              </a:spcBef>
              <a:buSzPct val="70000"/>
              <a:buFont typeface="Wingdings" panose="05000000000000000000" pitchFamily="2" charset="2"/>
              <a:buChar char="n"/>
            </a:pPr>
            <a:r>
              <a:rPr lang="zh-CN" altLang="en-US" sz="1600" dirty="0">
                <a:latin typeface="Times New Roman" panose="02020603050405020304" pitchFamily="18" charset="0"/>
              </a:rPr>
              <a:t>质量活动可按从下到上的次序分为三个层次，即软件质量控制（</a:t>
            </a:r>
            <a:r>
              <a:rPr lang="en-US" altLang="zh-CN" sz="1600" dirty="0">
                <a:latin typeface="Times New Roman" panose="02020603050405020304" pitchFamily="18" charset="0"/>
              </a:rPr>
              <a:t>SQC</a:t>
            </a:r>
            <a:r>
              <a:rPr lang="zh-CN" altLang="en-US" sz="1600" dirty="0">
                <a:latin typeface="Times New Roman" panose="02020603050405020304" pitchFamily="18" charset="0"/>
              </a:rPr>
              <a:t>）、软件质量保证（</a:t>
            </a:r>
            <a:r>
              <a:rPr lang="en-US" altLang="zh-CN" sz="1600" dirty="0">
                <a:latin typeface="Times New Roman" panose="02020603050405020304" pitchFamily="18" charset="0"/>
              </a:rPr>
              <a:t>SQA</a:t>
            </a:r>
            <a:r>
              <a:rPr lang="zh-CN" altLang="en-US" sz="1600" dirty="0">
                <a:latin typeface="Times New Roman" panose="02020603050405020304" pitchFamily="18" charset="0"/>
              </a:rPr>
              <a:t>）和软件质量管理（</a:t>
            </a:r>
            <a:r>
              <a:rPr lang="en-US" altLang="zh-CN" sz="1600" dirty="0">
                <a:latin typeface="Times New Roman" panose="02020603050405020304" pitchFamily="18" charset="0"/>
              </a:rPr>
              <a:t>SQM</a:t>
            </a:r>
            <a:r>
              <a:rPr lang="zh-CN" altLang="en-US" sz="1600" dirty="0">
                <a:latin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1">
            <a:extLst>
              <a:ext uri="{FF2B5EF4-FFF2-40B4-BE49-F238E27FC236}">
                <a16:creationId xmlns:a16="http://schemas.microsoft.com/office/drawing/2014/main" id="{C79298F9-5DA1-6815-D4EC-82661F2DB9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90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C6A5D82-A774-E243-AB7B-2826F2F901A8}"/>
              </a:ext>
            </a:extLst>
          </p:cNvPr>
          <p:cNvSpPr>
            <a:spLocks noGrp="1" noChangeArrowheads="1"/>
          </p:cNvSpPr>
          <p:nvPr>
            <p:ph type="title"/>
          </p:nvPr>
        </p:nvSpPr>
        <p:spPr>
          <a:xfrm>
            <a:off x="177800" y="1054100"/>
            <a:ext cx="8788400" cy="717550"/>
          </a:xfrm>
          <a:noFill/>
        </p:spPr>
        <p:txBody>
          <a:bodyPr/>
          <a:lstStyle/>
          <a:p>
            <a:pPr eaLnBrk="1" hangingPunct="1"/>
            <a:r>
              <a:rPr lang="en-US" altLang="zh-CN"/>
              <a:t>4.1.3  </a:t>
            </a:r>
            <a:r>
              <a:rPr lang="zh-CN" altLang="en-US"/>
              <a:t>软件质量保证</a:t>
            </a:r>
            <a:endParaRPr kumimoji="1" lang="zh-CN" altLang="en-US"/>
          </a:p>
        </p:txBody>
      </p:sp>
      <p:sp>
        <p:nvSpPr>
          <p:cNvPr id="98355" name="Text Box 51">
            <a:extLst>
              <a:ext uri="{FF2B5EF4-FFF2-40B4-BE49-F238E27FC236}">
                <a16:creationId xmlns:a16="http://schemas.microsoft.com/office/drawing/2014/main" id="{AB72D71A-0A3B-513E-00F6-5A20CEBE532C}"/>
              </a:ext>
            </a:extLst>
          </p:cNvPr>
          <p:cNvSpPr txBox="1">
            <a:spLocks noChangeArrowheads="1"/>
          </p:cNvSpPr>
          <p:nvPr/>
        </p:nvSpPr>
        <p:spPr bwMode="auto">
          <a:xfrm>
            <a:off x="979488" y="2133600"/>
            <a:ext cx="7921625" cy="370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zh-CN" altLang="en-US" sz="2400" dirty="0">
                <a:solidFill>
                  <a:schemeClr val="accent2"/>
                </a:solidFill>
                <a:latin typeface="黑体" panose="02010609060101010101" pitchFamily="49" charset="-122"/>
                <a:ea typeface="黑体" panose="02010609060101010101" pitchFamily="49" charset="-122"/>
              </a:rPr>
              <a:t>软件质量保证的定义</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ts val="3000"/>
              </a:lnSpc>
              <a:spcBef>
                <a:spcPts val="1200"/>
              </a:spcBef>
              <a:buFontTx/>
              <a:buNone/>
            </a:pPr>
            <a:r>
              <a:rPr lang="en-US" altLang="zh-CN" sz="2000" dirty="0">
                <a:latin typeface="Times New Roman" panose="02020603050405020304" pitchFamily="18" charset="0"/>
              </a:rPr>
              <a:t>IEEE</a:t>
            </a:r>
            <a:r>
              <a:rPr lang="zh-CN" altLang="zh-CN" sz="2000" dirty="0">
                <a:latin typeface="Times New Roman" panose="02020603050405020304" pitchFamily="18" charset="0"/>
              </a:rPr>
              <a:t>：软件质量保证是一种有计划的、系统化的行动模式，是设计用来评价开发或制造产品过程的一组活动</a:t>
            </a:r>
            <a:endParaRPr lang="en-US" altLang="zh-CN" sz="2000" dirty="0">
              <a:latin typeface="Times New Roman" panose="02020603050405020304" pitchFamily="18" charset="0"/>
            </a:endParaRPr>
          </a:p>
          <a:p>
            <a:pPr lvl="1" eaLnBrk="1" hangingPunct="1">
              <a:lnSpc>
                <a:spcPts val="3000"/>
              </a:lnSpc>
              <a:spcBef>
                <a:spcPts val="1200"/>
              </a:spcBef>
              <a:buFontTx/>
              <a:buNone/>
            </a:pPr>
            <a:r>
              <a:rPr lang="en-US" altLang="zh-CN" sz="2000" dirty="0" err="1">
                <a:latin typeface="Times New Roman" panose="02020603050405020304" pitchFamily="18" charset="0"/>
              </a:rPr>
              <a:t>Faidey</a:t>
            </a:r>
            <a:r>
              <a:rPr lang="zh-CN" altLang="zh-CN" sz="2000" dirty="0">
                <a:latin typeface="Times New Roman" panose="02020603050405020304" pitchFamily="18" charset="0"/>
              </a:rPr>
              <a:t>：软件质量保证包括过程和产品的保证，其基本任务是保证项目履行其对产品和过程的承诺</a:t>
            </a:r>
            <a:endParaRPr lang="en-US" altLang="zh-CN" sz="2000" dirty="0">
              <a:latin typeface="Times New Roman" panose="02020603050405020304" pitchFamily="18" charset="0"/>
            </a:endParaRPr>
          </a:p>
          <a:p>
            <a:pPr eaLnBrk="1" hangingPunct="1">
              <a:lnSpc>
                <a:spcPct val="120000"/>
              </a:lnSpc>
              <a:spcBef>
                <a:spcPct val="0"/>
              </a:spcBef>
              <a:buSzPct val="70000"/>
              <a:buFont typeface="Wingdings" panose="05000000000000000000" pitchFamily="2" charset="2"/>
              <a:buChar char="n"/>
            </a:pPr>
            <a:r>
              <a:rPr lang="zh-CN" altLang="en-US" sz="2400" dirty="0">
                <a:solidFill>
                  <a:schemeClr val="accent2"/>
                </a:solidFill>
                <a:latin typeface="黑体" panose="02010609060101010101" pitchFamily="49" charset="-122"/>
                <a:ea typeface="黑体" panose="02010609060101010101" pitchFamily="49" charset="-122"/>
              </a:rPr>
              <a:t>软件质量保证是</a:t>
            </a:r>
            <a:r>
              <a:rPr lang="zh-CN" altLang="zh-CN" sz="2400" dirty="0">
                <a:solidFill>
                  <a:schemeClr val="accent2"/>
                </a:solidFill>
                <a:latin typeface="黑体" panose="02010609060101010101" pitchFamily="49" charset="-122"/>
                <a:ea typeface="黑体" panose="02010609060101010101" pitchFamily="49" charset="-122"/>
              </a:rPr>
              <a:t>为了提供信用，从而证明项目将会达到有关质量标准，而在质量体系中开发的有计划、有组织的工作活动</a:t>
            </a:r>
            <a:endParaRPr lang="en-US" altLang="zh-CN" sz="24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8355">
                                            <p:txEl>
                                              <p:pRg st="3" end="3"/>
                                            </p:txEl>
                                          </p:spTgt>
                                        </p:tgtEl>
                                        <p:attrNameLst>
                                          <p:attrName>style.visibility</p:attrName>
                                        </p:attrNameLst>
                                      </p:cBhvr>
                                      <p:to>
                                        <p:strVal val="visible"/>
                                      </p:to>
                                    </p:set>
                                    <p:anim calcmode="lin" valueType="num">
                                      <p:cBhvr additive="base">
                                        <p:cTn id="7" dur="500" fill="hold"/>
                                        <p:tgtEl>
                                          <p:spTgt spid="9835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35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54A38CB-1A41-900A-7D90-D11F38C08A95}"/>
              </a:ext>
            </a:extLst>
          </p:cNvPr>
          <p:cNvSpPr>
            <a:spLocks noGrp="1" noChangeArrowheads="1"/>
          </p:cNvSpPr>
          <p:nvPr>
            <p:ph type="title"/>
          </p:nvPr>
        </p:nvSpPr>
        <p:spPr>
          <a:xfrm>
            <a:off x="177800" y="1054100"/>
            <a:ext cx="8788400" cy="717550"/>
          </a:xfrm>
          <a:noFill/>
        </p:spPr>
        <p:txBody>
          <a:bodyPr/>
          <a:lstStyle/>
          <a:p>
            <a:pPr eaLnBrk="1" hangingPunct="1"/>
            <a:r>
              <a:rPr lang="en-US" altLang="zh-CN"/>
              <a:t>4.1.3  </a:t>
            </a:r>
            <a:r>
              <a:rPr lang="zh-CN" altLang="en-US"/>
              <a:t>软件质量保证</a:t>
            </a:r>
            <a:endParaRPr kumimoji="1" lang="zh-CN" altLang="en-US"/>
          </a:p>
        </p:txBody>
      </p:sp>
      <p:sp>
        <p:nvSpPr>
          <p:cNvPr id="17411" name="Text Box 51">
            <a:extLst>
              <a:ext uri="{FF2B5EF4-FFF2-40B4-BE49-F238E27FC236}">
                <a16:creationId xmlns:a16="http://schemas.microsoft.com/office/drawing/2014/main" id="{DFF6F9E3-A36E-4558-6824-A3A45278D842}"/>
              </a:ext>
            </a:extLst>
          </p:cNvPr>
          <p:cNvSpPr txBox="1">
            <a:spLocks noChangeArrowheads="1"/>
          </p:cNvSpPr>
          <p:nvPr/>
        </p:nvSpPr>
        <p:spPr bwMode="auto">
          <a:xfrm>
            <a:off x="979488" y="2133600"/>
            <a:ext cx="7921625"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zh-CN" altLang="en-US" sz="2400" dirty="0">
                <a:solidFill>
                  <a:schemeClr val="accent2"/>
                </a:solidFill>
                <a:latin typeface="黑体" panose="02010609060101010101" pitchFamily="49" charset="-122"/>
                <a:ea typeface="黑体" panose="02010609060101010101" pitchFamily="49" charset="-122"/>
              </a:rPr>
              <a:t>软件质量保证的目标</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ts val="3000"/>
              </a:lnSpc>
              <a:spcBef>
                <a:spcPts val="1200"/>
              </a:spcBef>
              <a:buFont typeface="Wingdings" panose="05000000000000000000" pitchFamily="2" charset="2"/>
              <a:buChar char="ü"/>
            </a:pPr>
            <a:r>
              <a:rPr lang="zh-CN" altLang="zh-CN" sz="2000" dirty="0">
                <a:latin typeface="Times New Roman" panose="02020603050405020304" pitchFamily="18" charset="0"/>
              </a:rPr>
              <a:t>合理监控软件和软件开发过程，来保证产品质量</a:t>
            </a:r>
            <a:endParaRPr lang="en-US" altLang="zh-CN" sz="2000" dirty="0">
              <a:latin typeface="Times New Roman" panose="02020603050405020304" pitchFamily="18" charset="0"/>
            </a:endParaRPr>
          </a:p>
          <a:p>
            <a:pPr lvl="1" eaLnBrk="1" hangingPunct="1">
              <a:lnSpc>
                <a:spcPts val="3000"/>
              </a:lnSpc>
              <a:spcBef>
                <a:spcPts val="1200"/>
              </a:spcBef>
              <a:buFont typeface="Wingdings" panose="05000000000000000000" pitchFamily="2" charset="2"/>
              <a:buChar char="ü"/>
            </a:pPr>
            <a:r>
              <a:rPr lang="zh-CN" altLang="zh-CN" sz="2000" dirty="0">
                <a:latin typeface="Times New Roman" panose="02020603050405020304" pitchFamily="18" charset="0"/>
              </a:rPr>
              <a:t>保证软件和软件开发过程完全遵循建立的相关标准和规范</a:t>
            </a:r>
            <a:endParaRPr lang="en-US" altLang="zh-CN" sz="2000" dirty="0">
              <a:latin typeface="Times New Roman" panose="02020603050405020304" pitchFamily="18" charset="0"/>
            </a:endParaRPr>
          </a:p>
          <a:p>
            <a:pPr lvl="1" eaLnBrk="1" hangingPunct="1">
              <a:lnSpc>
                <a:spcPts val="3000"/>
              </a:lnSpc>
              <a:spcBef>
                <a:spcPts val="1200"/>
              </a:spcBef>
              <a:buFont typeface="Wingdings" panose="05000000000000000000" pitchFamily="2" charset="2"/>
              <a:buChar char="ü"/>
            </a:pPr>
            <a:r>
              <a:rPr lang="zh-CN" altLang="zh-CN" sz="2000" dirty="0">
                <a:latin typeface="Times New Roman" panose="02020603050405020304" pitchFamily="18" charset="0"/>
              </a:rPr>
              <a:t>保证软件产品、开发过程和标准中的不足能引起管理部门的充分注意，并得到及时处理</a:t>
            </a:r>
            <a:endParaRPr lang="en-US" altLang="zh-CN" sz="2000" dirty="0">
              <a:latin typeface="Times New Roman" panose="02020603050405020304" pitchFamily="18" charset="0"/>
            </a:endParaRPr>
          </a:p>
          <a:p>
            <a:pPr lvl="1" eaLnBrk="1" hangingPunct="1">
              <a:lnSpc>
                <a:spcPts val="3000"/>
              </a:lnSpc>
              <a:spcBef>
                <a:spcPts val="1200"/>
              </a:spcBef>
              <a:buFont typeface="Wingdings" panose="05000000000000000000" pitchFamily="2" charset="2"/>
              <a:buChar char="ü"/>
            </a:pPr>
            <a:r>
              <a:rPr lang="zh-CN" altLang="zh-CN" sz="2000" dirty="0">
                <a:latin typeface="Times New Roman" panose="02020603050405020304" pitchFamily="18" charset="0"/>
              </a:rPr>
              <a:t>保证项目组制定的计划、相关标准和规范符合项目组的需要</a:t>
            </a:r>
            <a:endParaRPr lang="en-US" altLang="zh-CN" sz="2000" dirty="0">
              <a:latin typeface="Times New Roman" panose="02020603050405020304" pitchFamily="18" charset="0"/>
            </a:endParaRPr>
          </a:p>
          <a:p>
            <a:pPr lvl="1" eaLnBrk="1" hangingPunct="1">
              <a:lnSpc>
                <a:spcPts val="3000"/>
              </a:lnSpc>
              <a:spcBef>
                <a:spcPts val="1200"/>
              </a:spcBef>
              <a:buFont typeface="Wingdings" panose="05000000000000000000" pitchFamily="2" charset="2"/>
              <a:buChar char="ü"/>
            </a:pPr>
            <a:r>
              <a:rPr lang="zh-CN" altLang="zh-CN" sz="2000" dirty="0">
                <a:latin typeface="Times New Roman" panose="02020603050405020304" pitchFamily="18" charset="0"/>
              </a:rPr>
              <a:t>收集项目开发中的经验和教训，为企业内部软件开发的整体标准和规范提供依据，并为其他项目组的开发过程提供先进方法和范例</a:t>
            </a:r>
            <a:endParaRPr lang="en-US" altLang="zh-CN" sz="2000" dirty="0">
              <a:latin typeface="Times New Roman" panose="02020603050405020304" pitchFamily="18" charset="0"/>
            </a:endParaRPr>
          </a:p>
        </p:txBody>
      </p:sp>
      <p:sp>
        <p:nvSpPr>
          <p:cNvPr id="4" name="圆角矩形 3">
            <a:extLst>
              <a:ext uri="{FF2B5EF4-FFF2-40B4-BE49-F238E27FC236}">
                <a16:creationId xmlns:a16="http://schemas.microsoft.com/office/drawing/2014/main" id="{FE6C9EE8-AF8B-9059-8E95-FEBDD69DEEEB}"/>
              </a:ext>
            </a:extLst>
          </p:cNvPr>
          <p:cNvSpPr>
            <a:spLocks noChangeArrowheads="1"/>
          </p:cNvSpPr>
          <p:nvPr/>
        </p:nvSpPr>
        <p:spPr bwMode="auto">
          <a:xfrm>
            <a:off x="1547813" y="692150"/>
            <a:ext cx="5688012" cy="1008063"/>
          </a:xfrm>
          <a:prstGeom prst="roundRect">
            <a:avLst>
              <a:gd name="adj" fmla="val 16667"/>
            </a:avLst>
          </a:prstGeom>
          <a:solidFill>
            <a:schemeClr val="accent1"/>
          </a:solidFill>
          <a:ln w="9525" algn="ctr">
            <a:solidFill>
              <a:schemeClr val="tx1"/>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zh-CN" sz="2400" b="0">
                <a:latin typeface="黑体" panose="02010609060101010101" pitchFamily="49" charset="-122"/>
                <a:ea typeface="黑体" panose="02010609060101010101" pitchFamily="49" charset="-122"/>
              </a:rPr>
              <a:t>软件质量保证人员的工作应与软件开发人员的工作紧密结合</a:t>
            </a:r>
            <a:endParaRPr lang="zh-CN" altLang="en-US" sz="2400" b="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C5CF10A-D781-3BDF-7493-6EC79B0C6185}"/>
              </a:ext>
            </a:extLst>
          </p:cNvPr>
          <p:cNvSpPr>
            <a:spLocks noGrp="1" noChangeArrowheads="1"/>
          </p:cNvSpPr>
          <p:nvPr>
            <p:ph type="title"/>
          </p:nvPr>
        </p:nvSpPr>
        <p:spPr/>
        <p:txBody>
          <a:bodyPr/>
          <a:lstStyle/>
          <a:p>
            <a:pPr eaLnBrk="1" hangingPunct="1"/>
            <a:r>
              <a:rPr lang="zh-CN" altLang="en-US"/>
              <a:t>本章内容提要</a:t>
            </a:r>
          </a:p>
        </p:txBody>
      </p:sp>
      <p:grpSp>
        <p:nvGrpSpPr>
          <p:cNvPr id="18435" name="组合 23">
            <a:extLst>
              <a:ext uri="{FF2B5EF4-FFF2-40B4-BE49-F238E27FC236}">
                <a16:creationId xmlns:a16="http://schemas.microsoft.com/office/drawing/2014/main" id="{36C2FA51-1FE1-8525-0220-B809D46E96EE}"/>
              </a:ext>
            </a:extLst>
          </p:cNvPr>
          <p:cNvGrpSpPr>
            <a:grpSpLocks/>
          </p:cNvGrpSpPr>
          <p:nvPr/>
        </p:nvGrpSpPr>
        <p:grpSpPr bwMode="auto">
          <a:xfrm>
            <a:off x="604838" y="2133600"/>
            <a:ext cx="5695950" cy="3797300"/>
            <a:chOff x="604838" y="2343150"/>
            <a:chExt cx="5695950" cy="3797300"/>
          </a:xfrm>
        </p:grpSpPr>
        <p:sp>
          <p:nvSpPr>
            <p:cNvPr id="18436" name="AutoShape 3">
              <a:extLst>
                <a:ext uri="{FF2B5EF4-FFF2-40B4-BE49-F238E27FC236}">
                  <a16:creationId xmlns:a16="http://schemas.microsoft.com/office/drawing/2014/main" id="{65691771-DD57-133B-8066-5FE45C2A4EB7}"/>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8437" name="Text Box 4">
              <a:extLst>
                <a:ext uri="{FF2B5EF4-FFF2-40B4-BE49-F238E27FC236}">
                  <a16:creationId xmlns:a16="http://schemas.microsoft.com/office/drawing/2014/main" id="{ADB6C8E7-76A9-A826-59A1-91CACE86E436}"/>
                </a:ext>
              </a:extLst>
            </p:cNvPr>
            <p:cNvSpPr txBox="1">
              <a:spLocks noChangeArrowheads="1"/>
            </p:cNvSpPr>
            <p:nvPr/>
          </p:nvSpPr>
          <p:spPr bwMode="auto">
            <a:xfrm>
              <a:off x="993775" y="2389188"/>
              <a:ext cx="49196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软件质量与质量保证概述</a:t>
              </a:r>
              <a:endParaRPr lang="en-US" altLang="zh-CN" sz="2400" b="0">
                <a:latin typeface="Times New Roman" panose="02020603050405020304" pitchFamily="18" charset="0"/>
              </a:endParaRPr>
            </a:p>
          </p:txBody>
        </p:sp>
        <p:sp>
          <p:nvSpPr>
            <p:cNvPr id="18438" name="AutoShape 5">
              <a:extLst>
                <a:ext uri="{FF2B5EF4-FFF2-40B4-BE49-F238E27FC236}">
                  <a16:creationId xmlns:a16="http://schemas.microsoft.com/office/drawing/2014/main" id="{7F2E2BE8-EEED-A71B-AD6D-9646D8E5999D}"/>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8439" name="Text Box 6">
              <a:extLst>
                <a:ext uri="{FF2B5EF4-FFF2-40B4-BE49-F238E27FC236}">
                  <a16:creationId xmlns:a16="http://schemas.microsoft.com/office/drawing/2014/main" id="{FA4C25AC-F078-A342-04D0-1B6D9A6A169B}"/>
                </a:ext>
              </a:extLst>
            </p:cNvPr>
            <p:cNvSpPr txBox="1">
              <a:spLocks noChangeArrowheads="1"/>
            </p:cNvSpPr>
            <p:nvPr/>
          </p:nvSpPr>
          <p:spPr bwMode="auto">
            <a:xfrm>
              <a:off x="1004888" y="2944813"/>
              <a:ext cx="49196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软件质量度量</a:t>
              </a:r>
            </a:p>
          </p:txBody>
        </p:sp>
        <p:sp>
          <p:nvSpPr>
            <p:cNvPr id="18440" name="AutoShape 7">
              <a:extLst>
                <a:ext uri="{FF2B5EF4-FFF2-40B4-BE49-F238E27FC236}">
                  <a16:creationId xmlns:a16="http://schemas.microsoft.com/office/drawing/2014/main" id="{0AD29CD3-8C0C-C07E-31E6-88E3BA31A7F0}"/>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8441" name="Text Box 8">
              <a:extLst>
                <a:ext uri="{FF2B5EF4-FFF2-40B4-BE49-F238E27FC236}">
                  <a16:creationId xmlns:a16="http://schemas.microsoft.com/office/drawing/2014/main" id="{FDA65CD6-946C-6B1B-6CE6-60F9822E8E6F}"/>
                </a:ext>
              </a:extLst>
            </p:cNvPr>
            <p:cNvSpPr txBox="1">
              <a:spLocks noChangeArrowheads="1"/>
            </p:cNvSpPr>
            <p:nvPr/>
          </p:nvSpPr>
          <p:spPr bwMode="auto">
            <a:xfrm>
              <a:off x="1004888" y="3524250"/>
              <a:ext cx="49196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软件质量保证的措施</a:t>
              </a:r>
              <a:endParaRPr lang="zh-CN" altLang="en-US" sz="2400" b="0">
                <a:latin typeface="Times New Roman" panose="02020603050405020304" pitchFamily="18" charset="0"/>
              </a:endParaRPr>
            </a:p>
          </p:txBody>
        </p:sp>
        <p:sp>
          <p:nvSpPr>
            <p:cNvPr id="18442" name="Rectangle 9">
              <a:extLst>
                <a:ext uri="{FF2B5EF4-FFF2-40B4-BE49-F238E27FC236}">
                  <a16:creationId xmlns:a16="http://schemas.microsoft.com/office/drawing/2014/main" id="{BCA2147B-54C4-F76C-BE2A-80D9BD0FCB17}"/>
                </a:ext>
              </a:extLst>
            </p:cNvPr>
            <p:cNvSpPr>
              <a:spLocks noChangeArrowheads="1"/>
            </p:cNvSpPr>
            <p:nvPr/>
          </p:nvSpPr>
          <p:spPr bwMode="auto">
            <a:xfrm>
              <a:off x="611188" y="243205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4.1</a:t>
              </a:r>
              <a:endParaRPr lang="en-US" altLang="zh-CN" sz="1800">
                <a:solidFill>
                  <a:srgbClr val="000000"/>
                </a:solidFill>
              </a:endParaRPr>
            </a:p>
          </p:txBody>
        </p:sp>
        <p:sp>
          <p:nvSpPr>
            <p:cNvPr id="18443" name="AutoShape 10">
              <a:extLst>
                <a:ext uri="{FF2B5EF4-FFF2-40B4-BE49-F238E27FC236}">
                  <a16:creationId xmlns:a16="http://schemas.microsoft.com/office/drawing/2014/main" id="{4B8FD789-FDCC-7C0C-B91C-2A2CB13D3626}"/>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8444" name="Text Box 11">
              <a:extLst>
                <a:ext uri="{FF2B5EF4-FFF2-40B4-BE49-F238E27FC236}">
                  <a16:creationId xmlns:a16="http://schemas.microsoft.com/office/drawing/2014/main" id="{C84BB493-E7E9-A77C-D15A-3787CF5A3960}"/>
                </a:ext>
              </a:extLst>
            </p:cNvPr>
            <p:cNvSpPr txBox="1">
              <a:spLocks noChangeArrowheads="1"/>
            </p:cNvSpPr>
            <p:nvPr/>
          </p:nvSpPr>
          <p:spPr bwMode="auto">
            <a:xfrm>
              <a:off x="1009650" y="4024313"/>
              <a:ext cx="49196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软件测试过程管理</a:t>
              </a:r>
              <a:r>
                <a:rPr lang="zh-CN" altLang="en-US" sz="2400" b="0">
                  <a:latin typeface="Times New Roman" panose="02020603050405020304" pitchFamily="18" charset="0"/>
                </a:rPr>
                <a:t> </a:t>
              </a:r>
            </a:p>
          </p:txBody>
        </p:sp>
        <p:sp>
          <p:nvSpPr>
            <p:cNvPr id="18445" name="Rectangle 12">
              <a:extLst>
                <a:ext uri="{FF2B5EF4-FFF2-40B4-BE49-F238E27FC236}">
                  <a16:creationId xmlns:a16="http://schemas.microsoft.com/office/drawing/2014/main" id="{55085D52-7D8E-9D9C-5745-16407419BB36}"/>
                </a:ext>
              </a:extLst>
            </p:cNvPr>
            <p:cNvSpPr>
              <a:spLocks noChangeArrowheads="1"/>
            </p:cNvSpPr>
            <p:nvPr/>
          </p:nvSpPr>
          <p:spPr bwMode="auto">
            <a:xfrm>
              <a:off x="627063" y="4081463"/>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4.4</a:t>
              </a:r>
              <a:endParaRPr lang="en-US" altLang="zh-CN" sz="1800">
                <a:solidFill>
                  <a:srgbClr val="000000"/>
                </a:solidFill>
              </a:endParaRPr>
            </a:p>
          </p:txBody>
        </p:sp>
        <p:sp>
          <p:nvSpPr>
            <p:cNvPr id="18446" name="AutoShape 13">
              <a:extLst>
                <a:ext uri="{FF2B5EF4-FFF2-40B4-BE49-F238E27FC236}">
                  <a16:creationId xmlns:a16="http://schemas.microsoft.com/office/drawing/2014/main" id="{C20B0272-EFA3-8159-254B-05EDC8B6C83B}"/>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8447" name="Text Box 14">
              <a:extLst>
                <a:ext uri="{FF2B5EF4-FFF2-40B4-BE49-F238E27FC236}">
                  <a16:creationId xmlns:a16="http://schemas.microsoft.com/office/drawing/2014/main" id="{B546D4FB-29D7-6B06-37C6-A9BAD7A9584D}"/>
                </a:ext>
              </a:extLst>
            </p:cNvPr>
            <p:cNvSpPr txBox="1">
              <a:spLocks noChangeArrowheads="1"/>
            </p:cNvSpPr>
            <p:nvPr/>
          </p:nvSpPr>
          <p:spPr bwMode="auto">
            <a:xfrm>
              <a:off x="1008063" y="4594225"/>
              <a:ext cx="4919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18448" name="Rectangle 15">
              <a:extLst>
                <a:ext uri="{FF2B5EF4-FFF2-40B4-BE49-F238E27FC236}">
                  <a16:creationId xmlns:a16="http://schemas.microsoft.com/office/drawing/2014/main" id="{86E4C338-573E-1028-F75F-0705B8E5C22A}"/>
                </a:ext>
              </a:extLst>
            </p:cNvPr>
            <p:cNvSpPr>
              <a:spLocks noChangeArrowheads="1"/>
            </p:cNvSpPr>
            <p:nvPr/>
          </p:nvSpPr>
          <p:spPr bwMode="auto">
            <a:xfrm>
              <a:off x="625475" y="4635500"/>
              <a:ext cx="334963"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4.5</a:t>
              </a:r>
              <a:endParaRPr lang="en-US" altLang="zh-CN" sz="1800">
                <a:solidFill>
                  <a:srgbClr val="000000"/>
                </a:solidFill>
              </a:endParaRPr>
            </a:p>
          </p:txBody>
        </p:sp>
        <p:sp>
          <p:nvSpPr>
            <p:cNvPr id="18449" name="AutoShape 16">
              <a:extLst>
                <a:ext uri="{FF2B5EF4-FFF2-40B4-BE49-F238E27FC236}">
                  <a16:creationId xmlns:a16="http://schemas.microsoft.com/office/drawing/2014/main" id="{70499DFA-8EB3-2C1A-E0A3-42857B70C4AB}"/>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8450" name="Text Box 17">
              <a:extLst>
                <a:ext uri="{FF2B5EF4-FFF2-40B4-BE49-F238E27FC236}">
                  <a16:creationId xmlns:a16="http://schemas.microsoft.com/office/drawing/2014/main" id="{F8136330-FA3B-AB6F-C31A-A82DF1A4DD85}"/>
                </a:ext>
              </a:extLst>
            </p:cNvPr>
            <p:cNvSpPr txBox="1">
              <a:spLocks noChangeArrowheads="1"/>
            </p:cNvSpPr>
            <p:nvPr/>
          </p:nvSpPr>
          <p:spPr bwMode="auto">
            <a:xfrm>
              <a:off x="1012825" y="5140325"/>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18451" name="Rectangle 18">
              <a:extLst>
                <a:ext uri="{FF2B5EF4-FFF2-40B4-BE49-F238E27FC236}">
                  <a16:creationId xmlns:a16="http://schemas.microsoft.com/office/drawing/2014/main" id="{8A3CC705-1D14-232A-6FC6-A4827EEF4DDE}"/>
                </a:ext>
              </a:extLst>
            </p:cNvPr>
            <p:cNvSpPr>
              <a:spLocks noChangeArrowheads="1"/>
            </p:cNvSpPr>
            <p:nvPr/>
          </p:nvSpPr>
          <p:spPr bwMode="auto">
            <a:xfrm>
              <a:off x="630238" y="519588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4.6</a:t>
              </a:r>
              <a:endParaRPr lang="en-US" altLang="zh-CN" sz="1800">
                <a:solidFill>
                  <a:srgbClr val="000000"/>
                </a:solidFill>
              </a:endParaRPr>
            </a:p>
          </p:txBody>
        </p:sp>
        <p:sp>
          <p:nvSpPr>
            <p:cNvPr id="18452" name="AutoShape 19">
              <a:extLst>
                <a:ext uri="{FF2B5EF4-FFF2-40B4-BE49-F238E27FC236}">
                  <a16:creationId xmlns:a16="http://schemas.microsoft.com/office/drawing/2014/main" id="{9C21D172-B2D3-9A13-2BE5-EB2139E1C352}"/>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8453" name="Text Box 20">
              <a:extLst>
                <a:ext uri="{FF2B5EF4-FFF2-40B4-BE49-F238E27FC236}">
                  <a16:creationId xmlns:a16="http://schemas.microsoft.com/office/drawing/2014/main" id="{15561231-4320-78CC-2C36-43E3CC2CAA95}"/>
                </a:ext>
              </a:extLst>
            </p:cNvPr>
            <p:cNvSpPr txBox="1">
              <a:spLocks noChangeArrowheads="1"/>
            </p:cNvSpPr>
            <p:nvPr/>
          </p:nvSpPr>
          <p:spPr bwMode="auto">
            <a:xfrm>
              <a:off x="1012825" y="5684838"/>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18454" name="Rectangle 21">
              <a:extLst>
                <a:ext uri="{FF2B5EF4-FFF2-40B4-BE49-F238E27FC236}">
                  <a16:creationId xmlns:a16="http://schemas.microsoft.com/office/drawing/2014/main" id="{641FBCC6-6D4E-403A-5898-D92C46920510}"/>
                </a:ext>
              </a:extLst>
            </p:cNvPr>
            <p:cNvSpPr>
              <a:spLocks noChangeArrowheads="1"/>
            </p:cNvSpPr>
            <p:nvPr/>
          </p:nvSpPr>
          <p:spPr bwMode="auto">
            <a:xfrm>
              <a:off x="630238" y="574040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4.7</a:t>
              </a:r>
              <a:endParaRPr lang="en-US" altLang="zh-CN" sz="1800">
                <a:solidFill>
                  <a:srgbClr val="000000"/>
                </a:solidFill>
              </a:endParaRPr>
            </a:p>
          </p:txBody>
        </p:sp>
        <p:sp>
          <p:nvSpPr>
            <p:cNvPr id="18455" name="Rectangle 22">
              <a:extLst>
                <a:ext uri="{FF2B5EF4-FFF2-40B4-BE49-F238E27FC236}">
                  <a16:creationId xmlns:a16="http://schemas.microsoft.com/office/drawing/2014/main" id="{A2AEC5E9-A59B-6026-405B-82E04D81A660}"/>
                </a:ext>
              </a:extLst>
            </p:cNvPr>
            <p:cNvSpPr>
              <a:spLocks noChangeArrowheads="1"/>
            </p:cNvSpPr>
            <p:nvPr/>
          </p:nvSpPr>
          <p:spPr bwMode="auto">
            <a:xfrm>
              <a:off x="604838" y="2992438"/>
              <a:ext cx="334962" cy="260350"/>
            </a:xfrm>
            <a:prstGeom prst="rect">
              <a:avLst/>
            </a:prstGeom>
            <a:solidFill>
              <a:srgbClr val="0000FF"/>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4.2</a:t>
              </a:r>
            </a:p>
          </p:txBody>
        </p:sp>
        <p:sp>
          <p:nvSpPr>
            <p:cNvPr id="18456" name="Rectangle 23">
              <a:extLst>
                <a:ext uri="{FF2B5EF4-FFF2-40B4-BE49-F238E27FC236}">
                  <a16:creationId xmlns:a16="http://schemas.microsoft.com/office/drawing/2014/main" id="{A736949D-CB1E-A8CF-908E-BEB86D2DD422}"/>
                </a:ext>
              </a:extLst>
            </p:cNvPr>
            <p:cNvSpPr>
              <a:spLocks noChangeArrowheads="1"/>
            </p:cNvSpPr>
            <p:nvPr/>
          </p:nvSpPr>
          <p:spPr bwMode="auto">
            <a:xfrm>
              <a:off x="604838" y="353695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4.3</a:t>
              </a:r>
              <a:endParaRPr lang="en-US" altLang="zh-CN" sz="1800">
                <a:solidFill>
                  <a:srgbClr val="000000"/>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EA6F4B6-A62E-3B80-3D95-554CE4F67BA3}"/>
              </a:ext>
            </a:extLst>
          </p:cNvPr>
          <p:cNvSpPr>
            <a:spLocks noGrp="1" noChangeArrowheads="1"/>
          </p:cNvSpPr>
          <p:nvPr>
            <p:ph type="title"/>
          </p:nvPr>
        </p:nvSpPr>
        <p:spPr>
          <a:xfrm>
            <a:off x="177800" y="1054100"/>
            <a:ext cx="8788400" cy="717550"/>
          </a:xfrm>
          <a:noFill/>
        </p:spPr>
        <p:txBody>
          <a:bodyPr/>
          <a:lstStyle/>
          <a:p>
            <a:pPr eaLnBrk="1" hangingPunct="1"/>
            <a:r>
              <a:rPr lang="en-US" altLang="zh-CN"/>
              <a:t>4.2  </a:t>
            </a:r>
            <a:r>
              <a:rPr lang="zh-CN" altLang="en-US"/>
              <a:t>软件质量度量</a:t>
            </a:r>
            <a:endParaRPr kumimoji="1" lang="zh-CN" altLang="en-US"/>
          </a:p>
        </p:txBody>
      </p:sp>
      <p:sp>
        <p:nvSpPr>
          <p:cNvPr id="19459" name="Text Box 51">
            <a:extLst>
              <a:ext uri="{FF2B5EF4-FFF2-40B4-BE49-F238E27FC236}">
                <a16:creationId xmlns:a16="http://schemas.microsoft.com/office/drawing/2014/main" id="{B2338541-4034-1FE9-1AEF-E1C8D515E37B}"/>
              </a:ext>
            </a:extLst>
          </p:cNvPr>
          <p:cNvSpPr txBox="1">
            <a:spLocks noChangeArrowheads="1"/>
          </p:cNvSpPr>
          <p:nvPr/>
        </p:nvSpPr>
        <p:spPr bwMode="auto">
          <a:xfrm>
            <a:off x="755650" y="2344738"/>
            <a:ext cx="7264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zh-CN" altLang="en-US" sz="2400">
                <a:solidFill>
                  <a:schemeClr val="accent2"/>
                </a:solidFill>
                <a:latin typeface="黑体" panose="02010609060101010101" pitchFamily="49" charset="-122"/>
                <a:ea typeface="黑体" panose="02010609060101010101" pitchFamily="49" charset="-122"/>
              </a:rPr>
              <a:t>一般过程</a:t>
            </a:r>
            <a:endParaRPr lang="en-US" altLang="zh-CN" sz="2400">
              <a:solidFill>
                <a:schemeClr val="accent2"/>
              </a:solidFill>
              <a:latin typeface="黑体" panose="02010609060101010101" pitchFamily="49" charset="-122"/>
              <a:ea typeface="黑体" panose="02010609060101010101" pitchFamily="49" charset="-122"/>
            </a:endParaRPr>
          </a:p>
          <a:p>
            <a:pPr lvl="1" eaLnBrk="1" hangingPunct="1">
              <a:spcBef>
                <a:spcPts val="1200"/>
              </a:spcBef>
              <a:buFont typeface="Wingdings" panose="05000000000000000000" pitchFamily="2" charset="2"/>
              <a:buChar char="ü"/>
            </a:pPr>
            <a:r>
              <a:rPr lang="zh-CN" altLang="zh-CN" sz="2000">
                <a:latin typeface="Times New Roman" panose="02020603050405020304" pitchFamily="18" charset="0"/>
              </a:rPr>
              <a:t>获取数据。</a:t>
            </a:r>
            <a:endParaRPr lang="en-US" altLang="zh-CN" sz="20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000">
                <a:latin typeface="Times New Roman" panose="02020603050405020304" pitchFamily="18" charset="0"/>
              </a:rPr>
              <a:t>值转换。</a:t>
            </a:r>
            <a:endParaRPr lang="en-US" altLang="zh-CN" sz="20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000">
                <a:latin typeface="Times New Roman" panose="02020603050405020304" pitchFamily="18" charset="0"/>
              </a:rPr>
              <a:t>解释。</a:t>
            </a:r>
            <a:endParaRPr lang="en-US" altLang="zh-CN" sz="20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000">
                <a:latin typeface="Times New Roman" panose="02020603050405020304" pitchFamily="18" charset="0"/>
              </a:rPr>
              <a:t>决策分析。</a:t>
            </a:r>
            <a:endParaRPr lang="en-US" altLang="zh-CN" sz="20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F7E067EE-FFB5-F9F0-AA97-9696905B7852}"/>
              </a:ext>
            </a:extLst>
          </p:cNvPr>
          <p:cNvSpPr>
            <a:spLocks noGrp="1" noChangeArrowheads="1"/>
          </p:cNvSpPr>
          <p:nvPr>
            <p:ph type="title"/>
          </p:nvPr>
        </p:nvSpPr>
        <p:spPr>
          <a:noFill/>
        </p:spPr>
        <p:txBody>
          <a:bodyPr/>
          <a:lstStyle/>
          <a:p>
            <a:pPr eaLnBrk="1" hangingPunct="1"/>
            <a:r>
              <a:rPr lang="en-US" altLang="zh-CN"/>
              <a:t>4.2  </a:t>
            </a:r>
            <a:r>
              <a:rPr lang="zh-CN" altLang="en-US"/>
              <a:t>软件质量度量</a:t>
            </a:r>
            <a:endParaRPr kumimoji="1" lang="en-US" altLang="zh-CN"/>
          </a:p>
        </p:txBody>
      </p:sp>
      <p:sp>
        <p:nvSpPr>
          <p:cNvPr id="20483" name="内容占位符 9">
            <a:extLst>
              <a:ext uri="{FF2B5EF4-FFF2-40B4-BE49-F238E27FC236}">
                <a16:creationId xmlns:a16="http://schemas.microsoft.com/office/drawing/2014/main" id="{3A4F2C7B-6D5A-A58C-844F-F6B80FCE2E54}"/>
              </a:ext>
            </a:extLst>
          </p:cNvPr>
          <p:cNvSpPr>
            <a:spLocks noGrp="1" noChangeArrowheads="1"/>
          </p:cNvSpPr>
          <p:nvPr>
            <p:ph idx="1"/>
          </p:nvPr>
        </p:nvSpPr>
        <p:spPr>
          <a:xfrm>
            <a:off x="755650" y="2349500"/>
            <a:ext cx="7561263" cy="3240088"/>
          </a:xfrm>
        </p:spPr>
        <p:txBody>
          <a:bodyPr/>
          <a:lstStyle/>
          <a:p>
            <a:pPr eaLnBrk="1" hangingPunct="1">
              <a:spcBef>
                <a:spcPct val="50000"/>
              </a:spcBef>
              <a:buSzPct val="70000"/>
              <a:buFont typeface="Wingdings" panose="05000000000000000000" pitchFamily="2" charset="2"/>
              <a:buChar char="n"/>
            </a:pP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rPr>
              <a:t>软件质量模型</a:t>
            </a:r>
            <a:endParaRPr lang="en-US" altLang="zh-CN">
              <a:solidFill>
                <a:schemeClr val="accent2"/>
              </a:solidFill>
              <a:ea typeface="黑体" panose="02010609060101010101" pitchFamily="49" charset="-122"/>
            </a:endParaRPr>
          </a:p>
          <a:p>
            <a:pPr eaLnBrk="1" hangingPunct="1">
              <a:spcBef>
                <a:spcPct val="50000"/>
              </a:spcBef>
              <a:buSzPct val="70000"/>
              <a:buFont typeface="Wingdings" panose="05000000000000000000" pitchFamily="2" charset="2"/>
              <a:buChar char="n"/>
            </a:pP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rPr>
              <a:t>软件质量度量的内容</a:t>
            </a:r>
            <a:endParaRPr lang="en-US" altLang="zh-CN">
              <a:solidFill>
                <a:schemeClr val="accent2"/>
              </a:solidFill>
              <a:ea typeface="黑体" panose="02010609060101010101" pitchFamily="49" charset="-122"/>
            </a:endParaRPr>
          </a:p>
          <a:p>
            <a:pPr eaLnBrk="1" hangingPunct="1">
              <a:spcBef>
                <a:spcPct val="50000"/>
              </a:spcBef>
              <a:buSzPct val="70000"/>
              <a:buFont typeface="Wingdings" panose="05000000000000000000" pitchFamily="2" charset="2"/>
              <a:buChar char="n"/>
            </a:pP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rPr>
              <a:t>软件质量工具</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2070E5C-E0FF-6DA6-4BA0-EB18158DE6D0}"/>
              </a:ext>
            </a:extLst>
          </p:cNvPr>
          <p:cNvSpPr>
            <a:spLocks noGrp="1" noChangeArrowheads="1"/>
          </p:cNvSpPr>
          <p:nvPr>
            <p:ph type="title"/>
          </p:nvPr>
        </p:nvSpPr>
        <p:spPr>
          <a:xfrm>
            <a:off x="177800" y="1054100"/>
            <a:ext cx="8788400" cy="717550"/>
          </a:xfrm>
          <a:noFill/>
        </p:spPr>
        <p:txBody>
          <a:bodyPr/>
          <a:lstStyle/>
          <a:p>
            <a:pPr eaLnBrk="1" hangingPunct="1"/>
            <a:r>
              <a:rPr lang="en-US" altLang="zh-CN"/>
              <a:t>4.2.1  </a:t>
            </a:r>
            <a:r>
              <a:rPr lang="zh-CN" altLang="en-US"/>
              <a:t>软件质量模型</a:t>
            </a:r>
            <a:endParaRPr kumimoji="1" lang="zh-CN" altLang="en-US"/>
          </a:p>
        </p:txBody>
      </p:sp>
      <p:sp>
        <p:nvSpPr>
          <p:cNvPr id="21507" name="Text Box 51">
            <a:extLst>
              <a:ext uri="{FF2B5EF4-FFF2-40B4-BE49-F238E27FC236}">
                <a16:creationId xmlns:a16="http://schemas.microsoft.com/office/drawing/2014/main" id="{5D91C050-6CD7-350A-D4C3-99C14F43BA2D}"/>
              </a:ext>
            </a:extLst>
          </p:cNvPr>
          <p:cNvSpPr txBox="1">
            <a:spLocks noChangeArrowheads="1"/>
          </p:cNvSpPr>
          <p:nvPr/>
        </p:nvSpPr>
        <p:spPr bwMode="auto">
          <a:xfrm>
            <a:off x="682625" y="2252663"/>
            <a:ext cx="7921625"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371600" indent="-4572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zh-CN" altLang="en-US" sz="2400">
                <a:solidFill>
                  <a:schemeClr val="accent2"/>
                </a:solidFill>
                <a:latin typeface="黑体" panose="02010609060101010101" pitchFamily="49" charset="-122"/>
                <a:ea typeface="黑体" panose="02010609060101010101" pitchFamily="49" charset="-122"/>
              </a:rPr>
              <a:t>模型分类</a:t>
            </a:r>
            <a:endParaRPr lang="en-US" altLang="zh-CN" sz="2400">
              <a:solidFill>
                <a:schemeClr val="accent2"/>
              </a:solidFill>
              <a:latin typeface="黑体" panose="02010609060101010101" pitchFamily="49" charset="-122"/>
              <a:ea typeface="黑体" panose="02010609060101010101" pitchFamily="49" charset="-122"/>
            </a:endParaRPr>
          </a:p>
          <a:p>
            <a:pPr lvl="1" eaLnBrk="1" hangingPunct="1">
              <a:spcBef>
                <a:spcPts val="1200"/>
              </a:spcBef>
              <a:buFont typeface="Wingdings" panose="05000000000000000000" pitchFamily="2" charset="2"/>
              <a:buChar char="ü"/>
            </a:pPr>
            <a:r>
              <a:rPr lang="zh-CN" altLang="zh-CN" sz="2200">
                <a:latin typeface="Times New Roman" panose="02020603050405020304" pitchFamily="18" charset="0"/>
              </a:rPr>
              <a:t>基于经验的模型</a:t>
            </a:r>
            <a:endParaRPr lang="en-US" altLang="zh-CN" sz="2200">
              <a:latin typeface="Times New Roman" panose="02020603050405020304" pitchFamily="18" charset="0"/>
            </a:endParaRPr>
          </a:p>
          <a:p>
            <a:pPr lvl="2" eaLnBrk="1" hangingPunct="1">
              <a:spcBef>
                <a:spcPts val="1200"/>
              </a:spcBef>
              <a:buFont typeface="Arial" panose="020B0604020202020204" pitchFamily="34" charset="0"/>
              <a:buChar char="•"/>
            </a:pPr>
            <a:r>
              <a:rPr lang="zh-CN" altLang="zh-CN">
                <a:latin typeface="Times New Roman" panose="02020603050405020304" pitchFamily="18" charset="0"/>
              </a:rPr>
              <a:t>层次模型</a:t>
            </a:r>
            <a:r>
              <a:rPr lang="zh-CN" altLang="en-US">
                <a:latin typeface="Times New Roman" panose="02020603050405020304" pitchFamily="18" charset="0"/>
              </a:rPr>
              <a:t>：</a:t>
            </a:r>
            <a:r>
              <a:rPr lang="en-US" altLang="zh-CN">
                <a:latin typeface="Times New Roman" panose="02020603050405020304" pitchFamily="18" charset="0"/>
              </a:rPr>
              <a:t>McCall</a:t>
            </a:r>
            <a:r>
              <a:rPr lang="zh-CN" altLang="en-US">
                <a:latin typeface="Times New Roman" panose="02020603050405020304" pitchFamily="18" charset="0"/>
              </a:rPr>
              <a:t>模型，</a:t>
            </a:r>
            <a:r>
              <a:rPr lang="en-US" altLang="zh-CN">
                <a:latin typeface="Times New Roman" panose="02020603050405020304" pitchFamily="18" charset="0"/>
              </a:rPr>
              <a:t>Boehm</a:t>
            </a:r>
            <a:r>
              <a:rPr lang="zh-CN" altLang="en-US">
                <a:latin typeface="Times New Roman" panose="02020603050405020304" pitchFamily="18" charset="0"/>
              </a:rPr>
              <a:t>模型，</a:t>
            </a:r>
            <a:r>
              <a:rPr lang="en-US" altLang="zh-CN">
                <a:latin typeface="Times New Roman" panose="02020603050405020304" pitchFamily="18" charset="0"/>
              </a:rPr>
              <a:t>ISO9126</a:t>
            </a:r>
            <a:r>
              <a:rPr lang="zh-CN" altLang="en-US">
                <a:latin typeface="Times New Roman" panose="02020603050405020304" pitchFamily="18" charset="0"/>
              </a:rPr>
              <a:t>模型</a:t>
            </a:r>
            <a:endParaRPr lang="en-US" altLang="zh-CN">
              <a:latin typeface="Times New Roman" panose="02020603050405020304" pitchFamily="18" charset="0"/>
            </a:endParaRPr>
          </a:p>
          <a:p>
            <a:pPr lvl="2" eaLnBrk="1" hangingPunct="1">
              <a:spcBef>
                <a:spcPts val="1200"/>
              </a:spcBef>
              <a:buFont typeface="Arial" panose="020B0604020202020204" pitchFamily="34" charset="0"/>
              <a:buChar char="•"/>
            </a:pPr>
            <a:r>
              <a:rPr lang="zh-CN" altLang="zh-CN">
                <a:latin typeface="Times New Roman" panose="02020603050405020304" pitchFamily="18" charset="0"/>
              </a:rPr>
              <a:t>关系模型</a:t>
            </a:r>
            <a:r>
              <a:rPr lang="zh-CN" altLang="en-US">
                <a:latin typeface="Times New Roman" panose="02020603050405020304" pitchFamily="18" charset="0"/>
              </a:rPr>
              <a:t>：</a:t>
            </a:r>
            <a:r>
              <a:rPr lang="en-US" altLang="zh-CN">
                <a:latin typeface="Times New Roman" panose="02020603050405020304" pitchFamily="18" charset="0"/>
              </a:rPr>
              <a:t>Perry</a:t>
            </a:r>
            <a:r>
              <a:rPr lang="zh-CN" altLang="en-US">
                <a:latin typeface="Times New Roman" panose="02020603050405020304" pitchFamily="18" charset="0"/>
              </a:rPr>
              <a:t>模型</a:t>
            </a:r>
            <a:endParaRPr lang="en-US" altLang="zh-CN">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en-US" sz="2200">
                <a:latin typeface="Times New Roman" panose="02020603050405020304" pitchFamily="18" charset="0"/>
              </a:rPr>
              <a:t>基于构建的模型</a:t>
            </a:r>
            <a:endParaRPr lang="en-US" altLang="zh-CN" sz="2200">
              <a:latin typeface="Times New Roman" panose="02020603050405020304" pitchFamily="18" charset="0"/>
            </a:endParaRPr>
          </a:p>
          <a:p>
            <a:pPr lvl="2" eaLnBrk="1" hangingPunct="1">
              <a:spcBef>
                <a:spcPts val="1200"/>
              </a:spcBef>
              <a:buFont typeface="Arial" panose="020B0604020202020204" pitchFamily="34" charset="0"/>
              <a:buChar char="•"/>
            </a:pPr>
            <a:r>
              <a:rPr lang="en-US" altLang="zh-CN">
                <a:latin typeface="Times New Roman" panose="02020603050405020304" pitchFamily="18" charset="0"/>
              </a:rPr>
              <a:t>Dromey</a:t>
            </a:r>
            <a:r>
              <a:rPr lang="zh-CN" altLang="en-US">
                <a:latin typeface="Times New Roman" panose="02020603050405020304" pitchFamily="18" charset="0"/>
              </a:rPr>
              <a:t>模型</a:t>
            </a:r>
            <a:endParaRPr lang="en-US" altLang="zh-CN">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512E9BF-52B3-F859-11FD-B03DBED60C43}"/>
              </a:ext>
            </a:extLst>
          </p:cNvPr>
          <p:cNvSpPr>
            <a:spLocks noGrp="1" noChangeArrowheads="1"/>
          </p:cNvSpPr>
          <p:nvPr>
            <p:ph type="title"/>
          </p:nvPr>
        </p:nvSpPr>
        <p:spPr>
          <a:xfrm>
            <a:off x="177800" y="1054100"/>
            <a:ext cx="8788400" cy="717550"/>
          </a:xfrm>
          <a:noFill/>
        </p:spPr>
        <p:txBody>
          <a:bodyPr/>
          <a:lstStyle/>
          <a:p>
            <a:pPr eaLnBrk="1" hangingPunct="1"/>
            <a:r>
              <a:rPr lang="en-US" altLang="zh-CN"/>
              <a:t>4.2.1  </a:t>
            </a:r>
            <a:r>
              <a:rPr lang="zh-CN" altLang="en-US"/>
              <a:t>软件质量模型</a:t>
            </a:r>
            <a:endParaRPr kumimoji="1" lang="zh-CN" altLang="en-US"/>
          </a:p>
        </p:txBody>
      </p:sp>
      <p:sp>
        <p:nvSpPr>
          <p:cNvPr id="22531" name="Text Box 51">
            <a:extLst>
              <a:ext uri="{FF2B5EF4-FFF2-40B4-BE49-F238E27FC236}">
                <a16:creationId xmlns:a16="http://schemas.microsoft.com/office/drawing/2014/main" id="{7FC4B0A5-99CC-24BA-D2FD-694AE7F159F2}"/>
              </a:ext>
            </a:extLst>
          </p:cNvPr>
          <p:cNvSpPr txBox="1">
            <a:spLocks noChangeArrowheads="1"/>
          </p:cNvSpPr>
          <p:nvPr/>
        </p:nvSpPr>
        <p:spPr bwMode="auto">
          <a:xfrm>
            <a:off x="611188" y="2060575"/>
            <a:ext cx="7921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en-US" altLang="zh-CN" sz="2400" dirty="0">
                <a:solidFill>
                  <a:schemeClr val="accent2"/>
                </a:solidFill>
                <a:latin typeface="黑体" panose="02010609060101010101" pitchFamily="49" charset="-122"/>
                <a:ea typeface="黑体" panose="02010609060101010101" pitchFamily="49" charset="-122"/>
              </a:rPr>
              <a:t>(1)McCall</a:t>
            </a:r>
            <a:r>
              <a:rPr lang="zh-CN" altLang="zh-CN" sz="2400" dirty="0">
                <a:solidFill>
                  <a:schemeClr val="accent2"/>
                </a:solidFill>
                <a:latin typeface="黑体" panose="02010609060101010101" pitchFamily="49" charset="-122"/>
                <a:ea typeface="黑体" panose="02010609060101010101" pitchFamily="49" charset="-122"/>
              </a:rPr>
              <a:t>质量模型</a:t>
            </a:r>
            <a:endParaRPr lang="en-US" altLang="zh-CN" sz="2200" dirty="0">
              <a:latin typeface="Times New Roman" panose="02020603050405020304" pitchFamily="18" charset="0"/>
            </a:endParaRPr>
          </a:p>
        </p:txBody>
      </p:sp>
      <p:pic>
        <p:nvPicPr>
          <p:cNvPr id="22532" name="图片 1">
            <a:extLst>
              <a:ext uri="{FF2B5EF4-FFF2-40B4-BE49-F238E27FC236}">
                <a16:creationId xmlns:a16="http://schemas.microsoft.com/office/drawing/2014/main" id="{925F66E4-9630-6E94-1F76-D26876CA563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9438" y="2565400"/>
            <a:ext cx="795337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文本框 2">
            <a:extLst>
              <a:ext uri="{FF2B5EF4-FFF2-40B4-BE49-F238E27FC236}">
                <a16:creationId xmlns:a16="http://schemas.microsoft.com/office/drawing/2014/main" id="{48D28930-BFEE-FD0A-C42F-B229012B38AE}"/>
              </a:ext>
            </a:extLst>
          </p:cNvPr>
          <p:cNvSpPr txBox="1">
            <a:spLocks noChangeArrowheads="1"/>
          </p:cNvSpPr>
          <p:nvPr/>
        </p:nvSpPr>
        <p:spPr bwMode="auto">
          <a:xfrm>
            <a:off x="2771775" y="5876925"/>
            <a:ext cx="3384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2400" b="0">
                <a:latin typeface="Times New Roman" panose="02020603050405020304" pitchFamily="18" charset="0"/>
              </a:rPr>
              <a:t>McCall</a:t>
            </a:r>
            <a:r>
              <a:rPr lang="zh-CN" altLang="zh-CN" sz="2400" b="0">
                <a:latin typeface="Times New Roman" panose="02020603050405020304" pitchFamily="18" charset="0"/>
              </a:rPr>
              <a:t>三层模型框架</a:t>
            </a:r>
            <a:endParaRPr lang="zh-CN" altLang="en-US" sz="2400" b="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6E71FF3-4357-6C7E-EBBD-465A5D6ED037}"/>
              </a:ext>
            </a:extLst>
          </p:cNvPr>
          <p:cNvSpPr>
            <a:spLocks noGrp="1" noChangeArrowheads="1"/>
          </p:cNvSpPr>
          <p:nvPr>
            <p:ph type="title"/>
          </p:nvPr>
        </p:nvSpPr>
        <p:spPr>
          <a:xfrm>
            <a:off x="177800" y="1054100"/>
            <a:ext cx="8788400" cy="717550"/>
          </a:xfrm>
          <a:noFill/>
        </p:spPr>
        <p:txBody>
          <a:bodyPr/>
          <a:lstStyle/>
          <a:p>
            <a:pPr eaLnBrk="1" hangingPunct="1"/>
            <a:r>
              <a:rPr lang="en-US" altLang="zh-CN"/>
              <a:t>4.2.1  </a:t>
            </a:r>
            <a:r>
              <a:rPr lang="zh-CN" altLang="en-US"/>
              <a:t>软件质量模型</a:t>
            </a:r>
            <a:endParaRPr kumimoji="1" lang="zh-CN" altLang="en-US"/>
          </a:p>
        </p:txBody>
      </p:sp>
      <p:sp>
        <p:nvSpPr>
          <p:cNvPr id="23555" name="Text Box 51">
            <a:extLst>
              <a:ext uri="{FF2B5EF4-FFF2-40B4-BE49-F238E27FC236}">
                <a16:creationId xmlns:a16="http://schemas.microsoft.com/office/drawing/2014/main" id="{EC340A90-0507-E41F-CBEC-1786BC02C494}"/>
              </a:ext>
            </a:extLst>
          </p:cNvPr>
          <p:cNvSpPr txBox="1">
            <a:spLocks noChangeArrowheads="1"/>
          </p:cNvSpPr>
          <p:nvPr/>
        </p:nvSpPr>
        <p:spPr bwMode="auto">
          <a:xfrm>
            <a:off x="755650" y="2133600"/>
            <a:ext cx="7921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en-US" altLang="zh-CN" sz="2400">
                <a:solidFill>
                  <a:schemeClr val="accent2"/>
                </a:solidFill>
                <a:latin typeface="黑体" panose="02010609060101010101" pitchFamily="49" charset="-122"/>
                <a:ea typeface="黑体" panose="02010609060101010101" pitchFamily="49" charset="-122"/>
              </a:rPr>
              <a:t>McCall</a:t>
            </a:r>
            <a:r>
              <a:rPr lang="zh-CN" altLang="zh-CN" sz="2400">
                <a:solidFill>
                  <a:schemeClr val="accent2"/>
                </a:solidFill>
                <a:latin typeface="黑体" panose="02010609060101010101" pitchFamily="49" charset="-122"/>
                <a:ea typeface="黑体" panose="02010609060101010101" pitchFamily="49" charset="-122"/>
              </a:rPr>
              <a:t>质量模型</a:t>
            </a:r>
            <a:endParaRPr lang="en-US" altLang="zh-CN" sz="2200">
              <a:latin typeface="Times New Roman" panose="02020603050405020304" pitchFamily="18" charset="0"/>
            </a:endParaRPr>
          </a:p>
        </p:txBody>
      </p:sp>
      <p:pic>
        <p:nvPicPr>
          <p:cNvPr id="23556" name="图片 6">
            <a:extLst>
              <a:ext uri="{FF2B5EF4-FFF2-40B4-BE49-F238E27FC236}">
                <a16:creationId xmlns:a16="http://schemas.microsoft.com/office/drawing/2014/main" id="{8EBDDD82-F1CE-4E48-7F01-507EDFC7606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2636838"/>
            <a:ext cx="3946525" cy="401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8A96A03-3695-84BB-DFFC-DCB59F1BB1F6}"/>
              </a:ext>
            </a:extLst>
          </p:cNvPr>
          <p:cNvSpPr>
            <a:spLocks noGrp="1" noChangeArrowheads="1"/>
          </p:cNvSpPr>
          <p:nvPr>
            <p:ph type="title"/>
          </p:nvPr>
        </p:nvSpPr>
        <p:spPr>
          <a:xfrm>
            <a:off x="177800" y="1054100"/>
            <a:ext cx="8788400" cy="717550"/>
          </a:xfrm>
          <a:noFill/>
        </p:spPr>
        <p:txBody>
          <a:bodyPr/>
          <a:lstStyle/>
          <a:p>
            <a:pPr eaLnBrk="1" hangingPunct="1"/>
            <a:r>
              <a:rPr lang="en-US" altLang="zh-CN"/>
              <a:t>4.2.1  </a:t>
            </a:r>
            <a:r>
              <a:rPr lang="zh-CN" altLang="en-US"/>
              <a:t>软件质量模型</a:t>
            </a:r>
            <a:endParaRPr kumimoji="1" lang="zh-CN" altLang="en-US"/>
          </a:p>
        </p:txBody>
      </p:sp>
      <p:sp>
        <p:nvSpPr>
          <p:cNvPr id="24579" name="Text Box 51">
            <a:extLst>
              <a:ext uri="{FF2B5EF4-FFF2-40B4-BE49-F238E27FC236}">
                <a16:creationId xmlns:a16="http://schemas.microsoft.com/office/drawing/2014/main" id="{6F5CC56A-1416-F874-0BE1-14D3C5877F36}"/>
              </a:ext>
            </a:extLst>
          </p:cNvPr>
          <p:cNvSpPr txBox="1">
            <a:spLocks noChangeArrowheads="1"/>
          </p:cNvSpPr>
          <p:nvPr/>
        </p:nvSpPr>
        <p:spPr bwMode="auto">
          <a:xfrm>
            <a:off x="684213" y="2133600"/>
            <a:ext cx="792162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en-US" altLang="zh-CN" sz="2400">
                <a:solidFill>
                  <a:schemeClr val="accent2"/>
                </a:solidFill>
                <a:latin typeface="黑体" panose="02010609060101010101" pitchFamily="49" charset="-122"/>
                <a:ea typeface="黑体" panose="02010609060101010101" pitchFamily="49" charset="-122"/>
              </a:rPr>
              <a:t>McCall</a:t>
            </a:r>
            <a:r>
              <a:rPr lang="zh-CN" altLang="zh-CN" sz="2400">
                <a:solidFill>
                  <a:schemeClr val="accent2"/>
                </a:solidFill>
                <a:latin typeface="黑体" panose="02010609060101010101" pitchFamily="49" charset="-122"/>
                <a:ea typeface="黑体" panose="02010609060101010101" pitchFamily="49" charset="-122"/>
              </a:rPr>
              <a:t>质量模型中的</a:t>
            </a:r>
            <a:r>
              <a:rPr lang="en-US" altLang="zh-CN" sz="2400">
                <a:solidFill>
                  <a:schemeClr val="accent2"/>
                </a:solidFill>
                <a:latin typeface="黑体" panose="02010609060101010101" pitchFamily="49" charset="-122"/>
                <a:ea typeface="黑体" panose="02010609060101010101" pitchFamily="49" charset="-122"/>
              </a:rPr>
              <a:t>11</a:t>
            </a:r>
            <a:r>
              <a:rPr lang="zh-CN" altLang="zh-CN" sz="2400">
                <a:solidFill>
                  <a:schemeClr val="accent2"/>
                </a:solidFill>
                <a:latin typeface="黑体" panose="02010609060101010101" pitchFamily="49" charset="-122"/>
                <a:ea typeface="黑体" panose="02010609060101010101" pitchFamily="49" charset="-122"/>
              </a:rPr>
              <a:t>个外部质量特性</a:t>
            </a:r>
            <a:endParaRPr lang="en-US" altLang="zh-CN" sz="2400">
              <a:solidFill>
                <a:schemeClr val="accent2"/>
              </a:solidFill>
              <a:latin typeface="黑体" panose="02010609060101010101" pitchFamily="49" charset="-122"/>
              <a:ea typeface="黑体" panose="02010609060101010101" pitchFamily="49" charset="-122"/>
            </a:endParaRPr>
          </a:p>
          <a:p>
            <a:pPr lvl="1" eaLnBrk="1" hangingPunct="1">
              <a:spcBef>
                <a:spcPts val="1200"/>
              </a:spcBef>
              <a:buFont typeface="Wingdings" panose="05000000000000000000" pitchFamily="2" charset="2"/>
              <a:buChar char="ü"/>
            </a:pPr>
            <a:r>
              <a:rPr lang="zh-CN" altLang="zh-CN" sz="2200">
                <a:latin typeface="Times New Roman" panose="02020603050405020304" pitchFamily="18" charset="0"/>
              </a:rPr>
              <a:t>正确性（</a:t>
            </a:r>
            <a:r>
              <a:rPr lang="en-US" altLang="zh-CN" sz="2200">
                <a:latin typeface="Times New Roman" panose="02020603050405020304" pitchFamily="18" charset="0"/>
              </a:rPr>
              <a:t>Correctness</a:t>
            </a:r>
            <a:r>
              <a:rPr lang="zh-CN" altLang="zh-CN" sz="2200">
                <a:latin typeface="Times New Roman" panose="02020603050405020304" pitchFamily="18" charset="0"/>
              </a:rPr>
              <a:t>）</a:t>
            </a:r>
            <a:endParaRPr lang="en-US" altLang="zh-CN" sz="22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200">
                <a:latin typeface="Times New Roman" panose="02020603050405020304" pitchFamily="18" charset="0"/>
              </a:rPr>
              <a:t>完整性（</a:t>
            </a:r>
            <a:r>
              <a:rPr lang="en-US" altLang="zh-CN" sz="2200">
                <a:latin typeface="Times New Roman" panose="02020603050405020304" pitchFamily="18" charset="0"/>
              </a:rPr>
              <a:t>Integrity</a:t>
            </a:r>
            <a:r>
              <a:rPr lang="zh-CN" altLang="zh-CN" sz="2200">
                <a:latin typeface="Times New Roman" panose="02020603050405020304" pitchFamily="18" charset="0"/>
              </a:rPr>
              <a:t>）</a:t>
            </a:r>
            <a:endParaRPr lang="en-US" altLang="zh-CN" sz="22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200">
                <a:latin typeface="Times New Roman" panose="02020603050405020304" pitchFamily="18" charset="0"/>
              </a:rPr>
              <a:t>可靠性（</a:t>
            </a:r>
            <a:r>
              <a:rPr lang="en-US" altLang="zh-CN" sz="2200">
                <a:latin typeface="Times New Roman" panose="02020603050405020304" pitchFamily="18" charset="0"/>
              </a:rPr>
              <a:t>Reliability</a:t>
            </a:r>
            <a:r>
              <a:rPr lang="zh-CN" altLang="zh-CN" sz="2200">
                <a:latin typeface="Times New Roman" panose="02020603050405020304" pitchFamily="18" charset="0"/>
              </a:rPr>
              <a:t>）</a:t>
            </a:r>
            <a:endParaRPr lang="en-US" altLang="zh-CN" sz="22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000">
                <a:latin typeface="Times New Roman" panose="02020603050405020304" pitchFamily="18" charset="0"/>
              </a:rPr>
              <a:t>可用性（</a:t>
            </a:r>
            <a:r>
              <a:rPr lang="en-US" altLang="zh-CN" sz="2000">
                <a:latin typeface="Times New Roman" panose="02020603050405020304" pitchFamily="18" charset="0"/>
              </a:rPr>
              <a:t>Usability</a:t>
            </a:r>
            <a:r>
              <a:rPr lang="zh-CN" altLang="zh-CN" sz="2000">
                <a:latin typeface="Times New Roman" panose="02020603050405020304" pitchFamily="18" charset="0"/>
              </a:rPr>
              <a:t>）</a:t>
            </a:r>
            <a:endParaRPr lang="en-US" altLang="zh-CN" sz="20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000">
                <a:latin typeface="Times New Roman" panose="02020603050405020304" pitchFamily="18" charset="0"/>
              </a:rPr>
              <a:t>效率（</a:t>
            </a:r>
            <a:r>
              <a:rPr lang="en-US" altLang="zh-CN" sz="2000">
                <a:latin typeface="Times New Roman" panose="02020603050405020304" pitchFamily="18" charset="0"/>
              </a:rPr>
              <a:t>Efficiency</a:t>
            </a:r>
            <a:r>
              <a:rPr lang="zh-CN" altLang="zh-CN" sz="2000">
                <a:latin typeface="Times New Roman" panose="02020603050405020304" pitchFamily="18" charset="0"/>
              </a:rPr>
              <a:t>）</a:t>
            </a:r>
            <a:endParaRPr lang="en-US" altLang="zh-CN" sz="200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000">
                <a:latin typeface="Times New Roman" panose="02020603050405020304" pitchFamily="18" charset="0"/>
              </a:rPr>
              <a:t>可维护性（</a:t>
            </a:r>
            <a:r>
              <a:rPr lang="en-US" altLang="zh-CN" sz="2000">
                <a:latin typeface="Times New Roman" panose="02020603050405020304" pitchFamily="18" charset="0"/>
              </a:rPr>
              <a:t>Maintainability</a:t>
            </a:r>
            <a:r>
              <a:rPr lang="zh-CN" altLang="zh-CN" sz="2000">
                <a:latin typeface="Times New Roman" panose="02020603050405020304" pitchFamily="18" charset="0"/>
              </a:rPr>
              <a:t>）</a:t>
            </a:r>
            <a:endParaRPr lang="en-US" altLang="zh-CN" sz="20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9F0516D-EE57-CDDF-2E1F-5AE4F090DB39}"/>
              </a:ext>
            </a:extLst>
          </p:cNvPr>
          <p:cNvSpPr>
            <a:spLocks noGrp="1" noChangeArrowheads="1"/>
          </p:cNvSpPr>
          <p:nvPr>
            <p:ph type="title"/>
          </p:nvPr>
        </p:nvSpPr>
        <p:spPr>
          <a:xfrm>
            <a:off x="177800" y="1054100"/>
            <a:ext cx="8788400" cy="717550"/>
          </a:xfrm>
          <a:noFill/>
        </p:spPr>
        <p:txBody>
          <a:bodyPr/>
          <a:lstStyle/>
          <a:p>
            <a:pPr eaLnBrk="1" hangingPunct="1"/>
            <a:r>
              <a:rPr lang="en-US" altLang="zh-CN"/>
              <a:t>4.2.1  </a:t>
            </a:r>
            <a:r>
              <a:rPr lang="zh-CN" altLang="en-US"/>
              <a:t>软件质量模型</a:t>
            </a:r>
            <a:endParaRPr kumimoji="1" lang="zh-CN" altLang="en-US"/>
          </a:p>
        </p:txBody>
      </p:sp>
      <p:sp>
        <p:nvSpPr>
          <p:cNvPr id="25603" name="Text Box 51">
            <a:extLst>
              <a:ext uri="{FF2B5EF4-FFF2-40B4-BE49-F238E27FC236}">
                <a16:creationId xmlns:a16="http://schemas.microsoft.com/office/drawing/2014/main" id="{3E2A0296-AFFE-9A04-49D1-D7427067EFD5}"/>
              </a:ext>
            </a:extLst>
          </p:cNvPr>
          <p:cNvSpPr txBox="1">
            <a:spLocks noChangeArrowheads="1"/>
          </p:cNvSpPr>
          <p:nvPr/>
        </p:nvSpPr>
        <p:spPr bwMode="auto">
          <a:xfrm>
            <a:off x="755650" y="2133600"/>
            <a:ext cx="7921625"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en-US" altLang="zh-CN" sz="2400" dirty="0">
                <a:solidFill>
                  <a:schemeClr val="accent2"/>
                </a:solidFill>
                <a:latin typeface="黑体" panose="02010609060101010101" pitchFamily="49" charset="-122"/>
                <a:ea typeface="黑体" panose="02010609060101010101" pitchFamily="49" charset="-122"/>
              </a:rPr>
              <a:t>McCall</a:t>
            </a:r>
            <a:r>
              <a:rPr lang="zh-CN" altLang="zh-CN" sz="2400" dirty="0">
                <a:solidFill>
                  <a:schemeClr val="accent2"/>
                </a:solidFill>
                <a:latin typeface="黑体" panose="02010609060101010101" pitchFamily="49" charset="-122"/>
                <a:ea typeface="黑体" panose="02010609060101010101" pitchFamily="49" charset="-122"/>
              </a:rPr>
              <a:t>质量模型中的</a:t>
            </a:r>
            <a:r>
              <a:rPr lang="en-US" altLang="zh-CN" sz="2400" dirty="0">
                <a:solidFill>
                  <a:schemeClr val="accent2"/>
                </a:solidFill>
                <a:latin typeface="黑体" panose="02010609060101010101" pitchFamily="49" charset="-122"/>
                <a:ea typeface="黑体" panose="02010609060101010101" pitchFamily="49" charset="-122"/>
              </a:rPr>
              <a:t>11</a:t>
            </a:r>
            <a:r>
              <a:rPr lang="zh-CN" altLang="zh-CN" sz="2400" dirty="0">
                <a:solidFill>
                  <a:schemeClr val="accent2"/>
                </a:solidFill>
                <a:latin typeface="黑体" panose="02010609060101010101" pitchFamily="49" charset="-122"/>
                <a:ea typeface="黑体" panose="02010609060101010101" pitchFamily="49" charset="-122"/>
              </a:rPr>
              <a:t>个外部质量特性</a:t>
            </a:r>
            <a:r>
              <a:rPr lang="zh-CN" altLang="en-US" sz="2400" dirty="0">
                <a:solidFill>
                  <a:schemeClr val="accent2"/>
                </a:solidFill>
                <a:latin typeface="黑体" panose="02010609060101010101" pitchFamily="49" charset="-122"/>
                <a:ea typeface="黑体" panose="02010609060101010101" pitchFamily="49" charset="-122"/>
              </a:rPr>
              <a:t>（续）</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spcBef>
                <a:spcPts val="1200"/>
              </a:spcBef>
              <a:buFont typeface="Wingdings" panose="05000000000000000000" pitchFamily="2" charset="2"/>
              <a:buChar char="ü"/>
            </a:pPr>
            <a:r>
              <a:rPr lang="zh-CN" altLang="zh-CN" sz="2200" dirty="0">
                <a:latin typeface="Times New Roman" panose="02020603050405020304" pitchFamily="18" charset="0"/>
              </a:rPr>
              <a:t>灵活性（</a:t>
            </a:r>
            <a:r>
              <a:rPr lang="en-US" altLang="zh-CN" sz="2200" dirty="0">
                <a:latin typeface="Times New Roman" panose="02020603050405020304" pitchFamily="18" charset="0"/>
              </a:rPr>
              <a:t>Flexibility</a:t>
            </a:r>
            <a:r>
              <a:rPr lang="zh-CN" altLang="zh-CN" sz="2200" dirty="0">
                <a:latin typeface="Times New Roman" panose="02020603050405020304" pitchFamily="18" charset="0"/>
              </a:rPr>
              <a:t>）</a:t>
            </a:r>
            <a:endParaRPr lang="en-US" altLang="zh-CN" sz="2200" dirty="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200" dirty="0">
                <a:latin typeface="Times New Roman" panose="02020603050405020304" pitchFamily="18" charset="0"/>
              </a:rPr>
              <a:t>可测试性（</a:t>
            </a:r>
            <a:r>
              <a:rPr lang="en-US" altLang="zh-CN" sz="2200" dirty="0">
                <a:latin typeface="Times New Roman" panose="02020603050405020304" pitchFamily="18" charset="0"/>
              </a:rPr>
              <a:t>Testability</a:t>
            </a:r>
            <a:r>
              <a:rPr lang="zh-CN" altLang="zh-CN" sz="2200" dirty="0">
                <a:latin typeface="Times New Roman" panose="02020603050405020304" pitchFamily="18" charset="0"/>
              </a:rPr>
              <a:t>）</a:t>
            </a:r>
            <a:endParaRPr lang="en-US" altLang="zh-CN" sz="2200" dirty="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200" dirty="0">
                <a:latin typeface="Times New Roman" panose="02020603050405020304" pitchFamily="18" charset="0"/>
              </a:rPr>
              <a:t>可移植性（</a:t>
            </a:r>
            <a:r>
              <a:rPr lang="en-US" altLang="zh-CN" sz="2200" dirty="0">
                <a:latin typeface="Times New Roman" panose="02020603050405020304" pitchFamily="18" charset="0"/>
              </a:rPr>
              <a:t>Portability</a:t>
            </a:r>
            <a:r>
              <a:rPr lang="zh-CN" altLang="zh-CN" sz="2200" dirty="0">
                <a:latin typeface="Times New Roman" panose="02020603050405020304" pitchFamily="18" charset="0"/>
              </a:rPr>
              <a:t>）</a:t>
            </a:r>
            <a:endParaRPr lang="en-US" altLang="zh-CN" sz="2200" dirty="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200" dirty="0">
                <a:latin typeface="Times New Roman" panose="02020603050405020304" pitchFamily="18" charset="0"/>
              </a:rPr>
              <a:t>可重用性（</a:t>
            </a:r>
            <a:r>
              <a:rPr lang="en-US" altLang="zh-CN" sz="2200" dirty="0">
                <a:latin typeface="Times New Roman" panose="02020603050405020304" pitchFamily="18" charset="0"/>
              </a:rPr>
              <a:t>Reusability</a:t>
            </a:r>
            <a:r>
              <a:rPr lang="zh-CN" altLang="zh-CN" sz="2200" dirty="0">
                <a:latin typeface="Times New Roman" panose="02020603050405020304" pitchFamily="18" charset="0"/>
              </a:rPr>
              <a:t>）</a:t>
            </a:r>
            <a:endParaRPr lang="en-US" altLang="zh-CN" sz="2200" dirty="0">
              <a:latin typeface="Times New Roman" panose="02020603050405020304" pitchFamily="18" charset="0"/>
            </a:endParaRPr>
          </a:p>
          <a:p>
            <a:pPr lvl="1" eaLnBrk="1" hangingPunct="1">
              <a:spcBef>
                <a:spcPts val="1200"/>
              </a:spcBef>
              <a:buFont typeface="Wingdings" panose="05000000000000000000" pitchFamily="2" charset="2"/>
              <a:buChar char="ü"/>
            </a:pPr>
            <a:r>
              <a:rPr lang="zh-CN" altLang="zh-CN" sz="2000" dirty="0">
                <a:latin typeface="Times New Roman" panose="02020603050405020304" pitchFamily="18" charset="0"/>
              </a:rPr>
              <a:t>可互操作性（</a:t>
            </a:r>
            <a:r>
              <a:rPr lang="en-US" altLang="zh-CN" sz="2000" dirty="0">
                <a:latin typeface="Times New Roman" panose="02020603050405020304" pitchFamily="18" charset="0"/>
              </a:rPr>
              <a:t>Interoperability</a:t>
            </a:r>
            <a:r>
              <a:rPr lang="zh-CN" altLang="zh-CN" sz="2000" dirty="0">
                <a:latin typeface="Times New Roman" panose="02020603050405020304" pitchFamily="18" charset="0"/>
              </a:rPr>
              <a:t>）</a:t>
            </a:r>
            <a:endParaRPr lang="en-US" altLang="zh-CN" sz="2000" dirty="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4AD01AC-1E2F-836B-2DF6-76A2D0CD04FA}"/>
              </a:ext>
            </a:extLst>
          </p:cNvPr>
          <p:cNvSpPr>
            <a:spLocks noGrp="1" noChangeArrowheads="1"/>
          </p:cNvSpPr>
          <p:nvPr>
            <p:ph type="title"/>
          </p:nvPr>
        </p:nvSpPr>
        <p:spPr>
          <a:xfrm>
            <a:off x="177800" y="1054100"/>
            <a:ext cx="8788400" cy="717550"/>
          </a:xfrm>
        </p:spPr>
        <p:txBody>
          <a:bodyPr/>
          <a:lstStyle/>
          <a:p>
            <a:pPr eaLnBrk="1" hangingPunct="1"/>
            <a:r>
              <a:rPr lang="en-US" altLang="zh-CN"/>
              <a:t>4.2.1  </a:t>
            </a:r>
            <a:r>
              <a:rPr lang="zh-CN" altLang="en-US"/>
              <a:t>软件质量模型</a:t>
            </a:r>
            <a:endParaRPr kumimoji="1" lang="zh-CN" altLang="en-US"/>
          </a:p>
        </p:txBody>
      </p:sp>
      <p:sp>
        <p:nvSpPr>
          <p:cNvPr id="26627" name="Text Box 51">
            <a:extLst>
              <a:ext uri="{FF2B5EF4-FFF2-40B4-BE49-F238E27FC236}">
                <a16:creationId xmlns:a16="http://schemas.microsoft.com/office/drawing/2014/main" id="{1D603062-B109-5384-FBD3-D5411C2D5CFD}"/>
              </a:ext>
            </a:extLst>
          </p:cNvPr>
          <p:cNvSpPr txBox="1">
            <a:spLocks noChangeArrowheads="1"/>
          </p:cNvSpPr>
          <p:nvPr/>
        </p:nvSpPr>
        <p:spPr bwMode="auto">
          <a:xfrm>
            <a:off x="468313" y="2852738"/>
            <a:ext cx="792162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lang="en-US" altLang="zh-CN" sz="2400" dirty="0">
                <a:solidFill>
                  <a:schemeClr val="accent2"/>
                </a:solidFill>
                <a:latin typeface="黑体" panose="02010609060101010101" pitchFamily="49" charset="-122"/>
                <a:ea typeface="黑体" panose="02010609060101010101" pitchFamily="49" charset="-122"/>
              </a:rPr>
              <a:t>McCall</a:t>
            </a:r>
            <a:r>
              <a:rPr lang="zh-CN" altLang="zh-CN" sz="2400" dirty="0">
                <a:solidFill>
                  <a:schemeClr val="accent2"/>
                </a:solidFill>
                <a:latin typeface="黑体" panose="02010609060101010101" pitchFamily="49" charset="-122"/>
                <a:ea typeface="黑体" panose="02010609060101010101" pitchFamily="49" charset="-122"/>
              </a:rPr>
              <a:t>质量模型</a:t>
            </a:r>
            <a:r>
              <a:rPr lang="zh-CN" altLang="en-US" sz="2400" dirty="0">
                <a:solidFill>
                  <a:schemeClr val="accent2"/>
                </a:solidFill>
                <a:latin typeface="黑体" panose="02010609060101010101" pitchFamily="49" charset="-122"/>
                <a:ea typeface="黑体" panose="02010609060101010101" pitchFamily="49" charset="-122"/>
              </a:rPr>
              <a:t>总结：</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spcBef>
                <a:spcPct val="0"/>
              </a:spcBef>
              <a:buSzPct val="70000"/>
              <a:buFont typeface="Wingdings" panose="05000000000000000000" pitchFamily="2" charset="2"/>
              <a:buChar char="n"/>
            </a:pPr>
            <a:r>
              <a:rPr lang="en-US" altLang="zh-CN" sz="2000" dirty="0">
                <a:latin typeface="黑体" panose="02010609060101010101" pitchFamily="49" charset="-122"/>
                <a:ea typeface="黑体" panose="02010609060101010101" pitchFamily="49" charset="-122"/>
              </a:rPr>
              <a:t>McCall</a:t>
            </a:r>
            <a:r>
              <a:rPr lang="zh-CN" altLang="en-US" sz="2000" dirty="0">
                <a:latin typeface="黑体" panose="02010609060101010101" pitchFamily="49" charset="-122"/>
                <a:ea typeface="黑体" panose="02010609060101010101" pitchFamily="49" charset="-122"/>
              </a:rPr>
              <a:t>模型首先将人们对软件质量的主观认识转化为一定程度的量化指标，支持软件开发过程中的质量标准和质量保证。</a:t>
            </a:r>
            <a:endParaRPr lang="en-US" altLang="zh-CN" sz="2000" dirty="0">
              <a:latin typeface="黑体" panose="02010609060101010101" pitchFamily="49" charset="-122"/>
              <a:ea typeface="黑体" panose="02010609060101010101" pitchFamily="49" charset="-122"/>
            </a:endParaRPr>
          </a:p>
          <a:p>
            <a:pPr lvl="1" eaLnBrk="1" hangingPunct="1">
              <a:spcBef>
                <a:spcPct val="0"/>
              </a:spcBef>
              <a:buSzPct val="70000"/>
              <a:buFont typeface="Wingdings" panose="05000000000000000000" pitchFamily="2" charset="2"/>
              <a:buChar char="n"/>
            </a:pPr>
            <a:r>
              <a:rPr lang="zh-CN" altLang="en-US" sz="2000" dirty="0">
                <a:latin typeface="黑体" panose="02010609060101010101" pitchFamily="49" charset="-122"/>
                <a:ea typeface="黑体" panose="02010609060101010101" pitchFamily="49" charset="-122"/>
              </a:rPr>
              <a:t>但其建议的度量指标多依据主观判断，</a:t>
            </a:r>
            <a:r>
              <a:rPr lang="zh-CN" altLang="en-US" sz="2000" dirty="0">
                <a:solidFill>
                  <a:srgbClr val="FF0000"/>
                </a:solidFill>
                <a:latin typeface="黑体" panose="02010609060101010101" pitchFamily="49" charset="-122"/>
                <a:ea typeface="黑体" panose="02010609060101010101" pitchFamily="49" charset="-122"/>
              </a:rPr>
              <a:t>主观性仍然较强</a:t>
            </a:r>
            <a:r>
              <a:rPr lang="zh-CN" altLang="en-US" sz="2000" dirty="0">
                <a:latin typeface="黑体" panose="02010609060101010101" pitchFamily="49" charset="-122"/>
                <a:ea typeface="黑体" panose="02010609060101010101" pitchFamily="49" charset="-122"/>
              </a:rPr>
              <a:t>，且质量准则间存在较大交叉，评估结果会受到较大影响。</a:t>
            </a:r>
            <a:endParaRPr lang="en-US" altLang="zh-CN" sz="2000" dirty="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7B2C3DC-2474-F481-975D-650FD7B22A75}"/>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28675" name="内容占位符 1">
            <a:extLst>
              <a:ext uri="{FF2B5EF4-FFF2-40B4-BE49-F238E27FC236}">
                <a16:creationId xmlns:a16="http://schemas.microsoft.com/office/drawing/2014/main" id="{E5DFA3BF-F672-A0DA-6CD8-60676BD508DB}"/>
              </a:ext>
            </a:extLst>
          </p:cNvPr>
          <p:cNvSpPr>
            <a:spLocks noGrp="1" noChangeArrowheads="1"/>
          </p:cNvSpPr>
          <p:nvPr>
            <p:ph idx="1"/>
          </p:nvPr>
        </p:nvSpPr>
        <p:spPr>
          <a:xfrm>
            <a:off x="684213" y="2205038"/>
            <a:ext cx="8280400" cy="3600450"/>
          </a:xfrm>
        </p:spPr>
        <p:txBody>
          <a:bodyPr/>
          <a:lstStyle/>
          <a:p>
            <a:pPr algn="just" eaLnBrk="1" hangingPunct="1">
              <a:spcBef>
                <a:spcPts val="1200"/>
              </a:spcBef>
              <a:buSzPct val="70000"/>
              <a:buFont typeface="Wingdings" panose="05000000000000000000" pitchFamily="2" charset="2"/>
              <a:buChar char="n"/>
            </a:pPr>
            <a:r>
              <a:rPr kumimoji="1" lang="en-US" altLang="zh-CN" sz="2400" dirty="0">
                <a:solidFill>
                  <a:schemeClr val="accent2"/>
                </a:solidFill>
                <a:latin typeface="黑体" panose="02010609060101010101" pitchFamily="49" charset="-122"/>
                <a:ea typeface="黑体" panose="02010609060101010101" pitchFamily="49" charset="-122"/>
              </a:rPr>
              <a:t>(2)Boehm</a:t>
            </a:r>
            <a:r>
              <a:rPr kumimoji="1" lang="zh-CN" altLang="zh-CN" sz="2400" dirty="0">
                <a:solidFill>
                  <a:schemeClr val="accent2"/>
                </a:solidFill>
                <a:latin typeface="黑体" panose="02010609060101010101" pitchFamily="49" charset="-122"/>
                <a:ea typeface="黑体" panose="02010609060101010101" pitchFamily="49" charset="-122"/>
              </a:rPr>
              <a:t>质量模型</a:t>
            </a:r>
            <a:endParaRPr kumimoji="1" lang="en-US" altLang="zh-CN" sz="2400" dirty="0">
              <a:solidFill>
                <a:schemeClr val="accent2"/>
              </a:solidFill>
              <a:latin typeface="黑体" panose="02010609060101010101" pitchFamily="49" charset="-122"/>
              <a:ea typeface="黑体" panose="02010609060101010101" pitchFamily="49" charset="-122"/>
            </a:endParaRPr>
          </a:p>
          <a:p>
            <a:pPr algn="just" eaLnBrk="1" hangingPunct="1">
              <a:spcBef>
                <a:spcPts val="1200"/>
              </a:spcBef>
              <a:buSzPct val="70000"/>
              <a:buFont typeface="Wingdings" panose="05000000000000000000" pitchFamily="2" charset="2"/>
              <a:buChar char="n"/>
            </a:pPr>
            <a:r>
              <a:rPr kumimoji="1" lang="zh-CN" altLang="zh-CN" sz="2400" dirty="0">
                <a:solidFill>
                  <a:schemeClr val="accent2"/>
                </a:solidFill>
                <a:latin typeface="黑体" panose="02010609060101010101" pitchFamily="49" charset="-122"/>
                <a:ea typeface="黑体" panose="02010609060101010101" pitchFamily="49" charset="-122"/>
              </a:rPr>
              <a:t>从软件相关的所有使用者的角度来描述软件的质量要求</a:t>
            </a:r>
            <a:endParaRPr kumimoji="1" lang="en-US" altLang="zh-CN" sz="2400" dirty="0">
              <a:solidFill>
                <a:schemeClr val="accent2"/>
              </a:solidFill>
              <a:latin typeface="黑体" panose="02010609060101010101" pitchFamily="49" charset="-122"/>
              <a:ea typeface="黑体" panose="02010609060101010101" pitchFamily="49" charset="-122"/>
            </a:endParaRPr>
          </a:p>
          <a:p>
            <a:r>
              <a:rPr lang="zh-CN" altLang="en-US" sz="2400" dirty="0"/>
              <a:t>用户类型包括</a:t>
            </a:r>
            <a:endParaRPr lang="en-US" altLang="zh-CN" sz="2400" dirty="0"/>
          </a:p>
          <a:p>
            <a:pPr lvl="1">
              <a:buFont typeface="Wingdings" panose="05000000000000000000" pitchFamily="2" charset="2"/>
              <a:buChar char="ü"/>
            </a:pPr>
            <a:r>
              <a:rPr lang="zh-CN" altLang="zh-CN" sz="2000" dirty="0"/>
              <a:t>初始用户</a:t>
            </a:r>
          </a:p>
          <a:p>
            <a:pPr lvl="1">
              <a:buFont typeface="Wingdings" panose="05000000000000000000" pitchFamily="2" charset="2"/>
              <a:buChar char="ü"/>
            </a:pPr>
            <a:r>
              <a:rPr lang="zh-CN" altLang="zh-CN" sz="2000" dirty="0"/>
              <a:t>其他用户</a:t>
            </a:r>
          </a:p>
          <a:p>
            <a:pPr lvl="1">
              <a:buFont typeface="Wingdings" panose="05000000000000000000" pitchFamily="2" charset="2"/>
              <a:buChar char="ü"/>
            </a:pPr>
            <a:r>
              <a:rPr lang="zh-CN" altLang="zh-CN" sz="2000" dirty="0"/>
              <a:t>系统维护人员</a:t>
            </a:r>
            <a:endParaRPr kumimoji="1" lang="zh-CN" altLang="en-US"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72091F9-1808-81FA-D439-7234C8840F3F}"/>
              </a:ext>
            </a:extLst>
          </p:cNvPr>
          <p:cNvSpPr>
            <a:spLocks noGrp="1" noChangeArrowheads="1"/>
          </p:cNvSpPr>
          <p:nvPr>
            <p:ph type="title"/>
          </p:nvPr>
        </p:nvSpPr>
        <p:spPr>
          <a:xfrm>
            <a:off x="177800" y="1054100"/>
            <a:ext cx="8788400" cy="717550"/>
          </a:xfrm>
          <a:noFill/>
        </p:spPr>
        <p:txBody>
          <a:bodyPr/>
          <a:lstStyle/>
          <a:p>
            <a:pPr eaLnBrk="1" hangingPunct="1"/>
            <a:r>
              <a:rPr lang="en-US" altLang="zh-CN"/>
              <a:t>4.2.1  </a:t>
            </a:r>
            <a:r>
              <a:rPr lang="zh-CN" altLang="en-US"/>
              <a:t>软件质量模型</a:t>
            </a:r>
            <a:endParaRPr kumimoji="1" lang="zh-CN" altLang="en-US"/>
          </a:p>
        </p:txBody>
      </p:sp>
      <p:sp>
        <p:nvSpPr>
          <p:cNvPr id="27651" name="Text Box 51">
            <a:extLst>
              <a:ext uri="{FF2B5EF4-FFF2-40B4-BE49-F238E27FC236}">
                <a16:creationId xmlns:a16="http://schemas.microsoft.com/office/drawing/2014/main" id="{4D2908EB-6290-3D3B-8856-B070965C5651}"/>
              </a:ext>
            </a:extLst>
          </p:cNvPr>
          <p:cNvSpPr txBox="1">
            <a:spLocks noChangeArrowheads="1"/>
          </p:cNvSpPr>
          <p:nvPr/>
        </p:nvSpPr>
        <p:spPr bwMode="auto">
          <a:xfrm>
            <a:off x="611188" y="2290763"/>
            <a:ext cx="323215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ts val="1200"/>
              </a:spcBef>
              <a:buSzPct val="70000"/>
              <a:buFont typeface="Wingdings" panose="05000000000000000000" pitchFamily="2" charset="2"/>
              <a:buChar char="n"/>
            </a:pPr>
            <a:r>
              <a:rPr lang="en-US" altLang="zh-CN" sz="2400">
                <a:solidFill>
                  <a:schemeClr val="accent2"/>
                </a:solidFill>
                <a:latin typeface="黑体" panose="02010609060101010101" pitchFamily="49" charset="-122"/>
                <a:ea typeface="黑体" panose="02010609060101010101" pitchFamily="49" charset="-122"/>
              </a:rPr>
              <a:t>(2)Boehm</a:t>
            </a:r>
            <a:r>
              <a:rPr lang="zh-CN" altLang="zh-CN" sz="2400">
                <a:solidFill>
                  <a:schemeClr val="accent2"/>
                </a:solidFill>
                <a:latin typeface="黑体" panose="02010609060101010101" pitchFamily="49" charset="-122"/>
                <a:ea typeface="黑体" panose="02010609060101010101" pitchFamily="49" charset="-122"/>
              </a:rPr>
              <a:t>质量模型</a:t>
            </a:r>
            <a:endParaRPr lang="en-US" altLang="zh-CN" sz="2400">
              <a:solidFill>
                <a:schemeClr val="accent2"/>
              </a:solidFill>
              <a:latin typeface="黑体" panose="02010609060101010101" pitchFamily="49" charset="-122"/>
              <a:ea typeface="黑体" panose="02010609060101010101" pitchFamily="49" charset="-122"/>
            </a:endParaRPr>
          </a:p>
          <a:p>
            <a:pPr algn="just" eaLnBrk="1" hangingPunct="1">
              <a:spcBef>
                <a:spcPts val="1200"/>
              </a:spcBef>
              <a:buSzPct val="70000"/>
              <a:buFont typeface="Wingdings" panose="05000000000000000000" pitchFamily="2" charset="2"/>
              <a:buChar char="n"/>
            </a:pPr>
            <a:r>
              <a:rPr lang="zh-CN" altLang="zh-CN" sz="2400">
                <a:solidFill>
                  <a:schemeClr val="accent2"/>
                </a:solidFill>
                <a:latin typeface="黑体" panose="02010609060101010101" pitchFamily="49" charset="-122"/>
                <a:ea typeface="黑体" panose="02010609060101010101" pitchFamily="49" charset="-122"/>
              </a:rPr>
              <a:t>基本思想与</a:t>
            </a:r>
            <a:r>
              <a:rPr lang="en-US" altLang="zh-CN" sz="2400">
                <a:solidFill>
                  <a:schemeClr val="accent2"/>
                </a:solidFill>
                <a:latin typeface="黑体" panose="02010609060101010101" pitchFamily="49" charset="-122"/>
                <a:ea typeface="黑体" panose="02010609060101010101" pitchFamily="49" charset="-122"/>
              </a:rPr>
              <a:t>McCall</a:t>
            </a:r>
            <a:r>
              <a:rPr lang="zh-CN" altLang="zh-CN" sz="2400">
                <a:solidFill>
                  <a:schemeClr val="accent2"/>
                </a:solidFill>
                <a:latin typeface="黑体" panose="02010609060101010101" pitchFamily="49" charset="-122"/>
                <a:ea typeface="黑体" panose="02010609060101010101" pitchFamily="49" charset="-122"/>
              </a:rPr>
              <a:t>模型相似</a:t>
            </a:r>
            <a:endParaRPr lang="en-US" altLang="zh-CN" sz="2400">
              <a:solidFill>
                <a:schemeClr val="accent2"/>
              </a:solidFill>
              <a:latin typeface="黑体" panose="02010609060101010101" pitchFamily="49" charset="-122"/>
              <a:ea typeface="黑体" panose="02010609060101010101" pitchFamily="49" charset="-122"/>
            </a:endParaRPr>
          </a:p>
        </p:txBody>
      </p:sp>
      <p:pic>
        <p:nvPicPr>
          <p:cNvPr id="27652" name="图片 6">
            <a:extLst>
              <a:ext uri="{FF2B5EF4-FFF2-40B4-BE49-F238E27FC236}">
                <a16:creationId xmlns:a16="http://schemas.microsoft.com/office/drawing/2014/main" id="{761BBF12-6435-87BE-28B8-2E160E6AEE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1071563"/>
            <a:ext cx="4689475" cy="559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8777BDB-0C51-D1B5-45EF-E9CA9B2344B6}"/>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29699" name="内容占位符 1">
            <a:extLst>
              <a:ext uri="{FF2B5EF4-FFF2-40B4-BE49-F238E27FC236}">
                <a16:creationId xmlns:a16="http://schemas.microsoft.com/office/drawing/2014/main" id="{F27175D5-144C-4B22-7F7B-5B029553B2A2}"/>
              </a:ext>
            </a:extLst>
          </p:cNvPr>
          <p:cNvSpPr>
            <a:spLocks noGrp="1" noChangeArrowheads="1"/>
          </p:cNvSpPr>
          <p:nvPr>
            <p:ph idx="1"/>
          </p:nvPr>
        </p:nvSpPr>
        <p:spPr>
          <a:xfrm>
            <a:off x="755650" y="2349500"/>
            <a:ext cx="7416800" cy="3095625"/>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(2)Boehm</a:t>
            </a:r>
            <a:r>
              <a:rPr kumimoji="1" lang="zh-CN" altLang="zh-CN" sz="2400">
                <a:solidFill>
                  <a:schemeClr val="accent2"/>
                </a:solidFill>
                <a:latin typeface="黑体" panose="02010609060101010101" pitchFamily="49" charset="-122"/>
                <a:ea typeface="黑体" panose="02010609060101010101" pitchFamily="49" charset="-122"/>
              </a:rPr>
              <a:t>质量模型</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spcBef>
                <a:spcPts val="1200"/>
              </a:spcBef>
              <a:buSzPct val="70000"/>
              <a:buFont typeface="Wingdings" panose="05000000000000000000" pitchFamily="2" charset="2"/>
              <a:buChar char="n"/>
            </a:pPr>
            <a:r>
              <a:rPr kumimoji="1" lang="zh-CN" altLang="en-US" sz="2400">
                <a:solidFill>
                  <a:schemeClr val="accent2"/>
                </a:solidFill>
                <a:latin typeface="黑体" panose="02010609060101010101" pitchFamily="49" charset="-122"/>
                <a:ea typeface="黑体" panose="02010609060101010101" pitchFamily="49" charset="-122"/>
              </a:rPr>
              <a:t>模型的不足</a:t>
            </a:r>
            <a:endParaRPr lang="en-US" altLang="zh-CN" sz="2400"/>
          </a:p>
          <a:p>
            <a:pPr lvl="1">
              <a:spcBef>
                <a:spcPts val="1200"/>
              </a:spcBef>
              <a:buFont typeface="Wingdings" panose="05000000000000000000" pitchFamily="2" charset="2"/>
              <a:buChar char="ü"/>
            </a:pPr>
            <a:r>
              <a:rPr lang="zh-CN" altLang="zh-CN" sz="2200"/>
              <a:t>没有解决</a:t>
            </a:r>
            <a:r>
              <a:rPr lang="en-US" altLang="zh-CN" sz="2200"/>
              <a:t>McCall</a:t>
            </a:r>
            <a:r>
              <a:rPr lang="zh-CN" altLang="zh-CN" sz="2200"/>
              <a:t>质量模型的根本问题</a:t>
            </a:r>
            <a:endParaRPr kumimoji="1" lang="zh-CN" altLang="en-US" sz="22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1D005E5-7EFD-05C4-D154-E802C9E0EE6F}"/>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0723" name="内容占位符 1">
            <a:extLst>
              <a:ext uri="{FF2B5EF4-FFF2-40B4-BE49-F238E27FC236}">
                <a16:creationId xmlns:a16="http://schemas.microsoft.com/office/drawing/2014/main" id="{DCF90374-7B40-8E2F-A194-3C227E070AC7}"/>
              </a:ext>
            </a:extLst>
          </p:cNvPr>
          <p:cNvSpPr>
            <a:spLocks noGrp="1" noChangeArrowheads="1"/>
          </p:cNvSpPr>
          <p:nvPr>
            <p:ph idx="1"/>
          </p:nvPr>
        </p:nvSpPr>
        <p:spPr>
          <a:xfrm>
            <a:off x="755650" y="2420938"/>
            <a:ext cx="7561263" cy="3384550"/>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(3)ISO9126</a:t>
            </a:r>
            <a:r>
              <a:rPr kumimoji="1" lang="zh-CN" altLang="zh-CN" sz="2400">
                <a:solidFill>
                  <a:schemeClr val="accent2"/>
                </a:solidFill>
                <a:latin typeface="黑体" panose="02010609060101010101" pitchFamily="49" charset="-122"/>
                <a:ea typeface="黑体" panose="02010609060101010101" pitchFamily="49" charset="-122"/>
              </a:rPr>
              <a:t>质量模型</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spcBef>
                <a:spcPts val="1200"/>
              </a:spcBef>
              <a:buSzPct val="70000"/>
              <a:buFont typeface="Wingdings" panose="05000000000000000000" pitchFamily="2" charset="2"/>
              <a:buChar char="n"/>
            </a:pPr>
            <a:r>
              <a:rPr kumimoji="1" lang="zh-CN" altLang="en-US" sz="2400">
                <a:solidFill>
                  <a:schemeClr val="accent2"/>
                </a:solidFill>
                <a:latin typeface="黑体" panose="02010609060101010101" pitchFamily="49" charset="-122"/>
                <a:ea typeface="黑体" panose="02010609060101010101" pitchFamily="49" charset="-122"/>
              </a:rPr>
              <a:t>包括三个部分</a:t>
            </a:r>
            <a:endParaRPr kumimoji="1" lang="en-US" altLang="zh-CN" sz="2400">
              <a:solidFill>
                <a:schemeClr val="accent2"/>
              </a:solidFill>
              <a:latin typeface="黑体" panose="02010609060101010101" pitchFamily="49" charset="-122"/>
              <a:ea typeface="黑体" panose="02010609060101010101" pitchFamily="49" charset="-122"/>
            </a:endParaRPr>
          </a:p>
          <a:p>
            <a:pPr lvl="1" algn="just" eaLnBrk="1" hangingPunct="1">
              <a:spcBef>
                <a:spcPts val="1200"/>
              </a:spcBef>
              <a:buSzPct val="70000"/>
              <a:buFont typeface="Wingdings" panose="05000000000000000000" pitchFamily="2" charset="2"/>
              <a:buChar char="ü"/>
            </a:pPr>
            <a:r>
              <a:rPr lang="zh-CN" altLang="en-US" sz="2200"/>
              <a:t>外部</a:t>
            </a:r>
            <a:r>
              <a:rPr lang="zh-CN" altLang="zh-CN" sz="2200"/>
              <a:t>质量模型</a:t>
            </a:r>
            <a:endParaRPr lang="en-US" altLang="zh-CN" sz="2200"/>
          </a:p>
          <a:p>
            <a:pPr lvl="1" algn="just" eaLnBrk="1" hangingPunct="1">
              <a:spcBef>
                <a:spcPts val="1200"/>
              </a:spcBef>
              <a:buSzPct val="70000"/>
              <a:buFont typeface="Wingdings" panose="05000000000000000000" pitchFamily="2" charset="2"/>
              <a:buChar char="ü"/>
            </a:pPr>
            <a:r>
              <a:rPr lang="zh-CN" altLang="zh-CN" sz="2200"/>
              <a:t>内部</a:t>
            </a:r>
            <a:r>
              <a:rPr lang="zh-CN" altLang="en-US" sz="2200"/>
              <a:t>质量模型</a:t>
            </a:r>
            <a:endParaRPr lang="en-US" altLang="zh-CN" sz="2200"/>
          </a:p>
          <a:p>
            <a:pPr lvl="1" algn="just" eaLnBrk="1" hangingPunct="1">
              <a:spcBef>
                <a:spcPts val="1200"/>
              </a:spcBef>
              <a:buSzPct val="70000"/>
              <a:buFont typeface="Wingdings" panose="05000000000000000000" pitchFamily="2" charset="2"/>
              <a:buChar char="ü"/>
            </a:pPr>
            <a:r>
              <a:rPr lang="zh-CN" altLang="zh-CN" sz="2200"/>
              <a:t>使用</a:t>
            </a:r>
            <a:r>
              <a:rPr lang="zh-CN" altLang="en-US" sz="2200"/>
              <a:t>中</a:t>
            </a:r>
            <a:r>
              <a:rPr lang="zh-CN" altLang="zh-CN" sz="2200"/>
              <a:t>质量</a:t>
            </a:r>
            <a:r>
              <a:rPr lang="zh-CN" altLang="en-US" sz="2200"/>
              <a:t>模型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6B060B9-7F10-BA8B-CAF5-856BA3CF253D}"/>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1747" name="内容占位符 1">
            <a:extLst>
              <a:ext uri="{FF2B5EF4-FFF2-40B4-BE49-F238E27FC236}">
                <a16:creationId xmlns:a16="http://schemas.microsoft.com/office/drawing/2014/main" id="{0A3C192C-8F77-FD0B-CC02-B305FEEA8EE6}"/>
              </a:ext>
            </a:extLst>
          </p:cNvPr>
          <p:cNvSpPr>
            <a:spLocks noGrp="1" noChangeArrowheads="1"/>
          </p:cNvSpPr>
          <p:nvPr>
            <p:ph idx="1"/>
          </p:nvPr>
        </p:nvSpPr>
        <p:spPr>
          <a:xfrm>
            <a:off x="684213" y="1989138"/>
            <a:ext cx="7991475" cy="4392612"/>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(3)ISO9126</a:t>
            </a:r>
            <a:r>
              <a:rPr kumimoji="1" lang="zh-CN" altLang="zh-CN" sz="2400">
                <a:solidFill>
                  <a:schemeClr val="accent2"/>
                </a:solidFill>
                <a:latin typeface="黑体" panose="02010609060101010101" pitchFamily="49" charset="-122"/>
                <a:ea typeface="黑体" panose="02010609060101010101" pitchFamily="49" charset="-122"/>
              </a:rPr>
              <a:t>质量模型</a:t>
            </a:r>
            <a:endParaRPr lang="zh-CN" altLang="en-US" sz="2200"/>
          </a:p>
        </p:txBody>
      </p:sp>
      <p:pic>
        <p:nvPicPr>
          <p:cNvPr id="31748" name="图片 4">
            <a:extLst>
              <a:ext uri="{FF2B5EF4-FFF2-40B4-BE49-F238E27FC236}">
                <a16:creationId xmlns:a16="http://schemas.microsoft.com/office/drawing/2014/main" id="{76905AFC-70FD-ED12-F81C-707B334AA7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489200"/>
            <a:ext cx="7439025"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文本框 2">
            <a:extLst>
              <a:ext uri="{FF2B5EF4-FFF2-40B4-BE49-F238E27FC236}">
                <a16:creationId xmlns:a16="http://schemas.microsoft.com/office/drawing/2014/main" id="{32378DAA-CBAB-62BE-D27A-8C9885AA2917}"/>
              </a:ext>
            </a:extLst>
          </p:cNvPr>
          <p:cNvSpPr txBox="1">
            <a:spLocks noChangeArrowheads="1"/>
          </p:cNvSpPr>
          <p:nvPr/>
        </p:nvSpPr>
        <p:spPr bwMode="auto">
          <a:xfrm>
            <a:off x="1968500" y="5921375"/>
            <a:ext cx="4679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2400" b="0">
                <a:latin typeface="Times New Roman" panose="02020603050405020304" pitchFamily="18" charset="0"/>
              </a:rPr>
              <a:t>ISO9126</a:t>
            </a:r>
            <a:r>
              <a:rPr lang="zh-CN" altLang="zh-CN" sz="2400" b="0">
                <a:latin typeface="Times New Roman" panose="02020603050405020304" pitchFamily="18" charset="0"/>
              </a:rPr>
              <a:t>外部和内部质量模型</a:t>
            </a:r>
            <a:endParaRPr lang="zh-CN" altLang="en-US" sz="2400" b="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17CB568-B6D6-30B2-DDAA-53455BF8C707}"/>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2771" name="内容占位符 1">
            <a:extLst>
              <a:ext uri="{FF2B5EF4-FFF2-40B4-BE49-F238E27FC236}">
                <a16:creationId xmlns:a16="http://schemas.microsoft.com/office/drawing/2014/main" id="{52B7EC55-F170-B3A8-DA77-A679D1C31846}"/>
              </a:ext>
            </a:extLst>
          </p:cNvPr>
          <p:cNvSpPr>
            <a:spLocks noGrp="1" noChangeArrowheads="1"/>
          </p:cNvSpPr>
          <p:nvPr>
            <p:ph idx="1"/>
          </p:nvPr>
        </p:nvSpPr>
        <p:spPr>
          <a:xfrm>
            <a:off x="755650" y="2133600"/>
            <a:ext cx="7848600" cy="4175125"/>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(3)ISO9126</a:t>
            </a:r>
            <a:r>
              <a:rPr kumimoji="1" lang="zh-CN" altLang="zh-CN" sz="2400">
                <a:solidFill>
                  <a:schemeClr val="accent2"/>
                </a:solidFill>
                <a:latin typeface="黑体" panose="02010609060101010101" pitchFamily="49" charset="-122"/>
                <a:ea typeface="黑体" panose="02010609060101010101" pitchFamily="49" charset="-122"/>
              </a:rPr>
              <a:t>质量模型</a:t>
            </a:r>
            <a:endParaRPr lang="zh-CN" altLang="en-US" sz="2200"/>
          </a:p>
        </p:txBody>
      </p:sp>
      <p:sp>
        <p:nvSpPr>
          <p:cNvPr id="32772" name="文本框 2">
            <a:extLst>
              <a:ext uri="{FF2B5EF4-FFF2-40B4-BE49-F238E27FC236}">
                <a16:creationId xmlns:a16="http://schemas.microsoft.com/office/drawing/2014/main" id="{EC0CF013-77EB-045A-0222-D0789E25EC73}"/>
              </a:ext>
            </a:extLst>
          </p:cNvPr>
          <p:cNvSpPr txBox="1">
            <a:spLocks noChangeArrowheads="1"/>
          </p:cNvSpPr>
          <p:nvPr/>
        </p:nvSpPr>
        <p:spPr bwMode="auto">
          <a:xfrm>
            <a:off x="1968500" y="5445125"/>
            <a:ext cx="4679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2400" b="0">
                <a:latin typeface="Times New Roman" panose="02020603050405020304" pitchFamily="18" charset="0"/>
              </a:rPr>
              <a:t>ISO9126</a:t>
            </a:r>
            <a:r>
              <a:rPr lang="zh-CN" altLang="en-US" sz="2400" b="0">
                <a:latin typeface="Times New Roman" panose="02020603050405020304" pitchFamily="18" charset="0"/>
              </a:rPr>
              <a:t>使用中</a:t>
            </a:r>
            <a:r>
              <a:rPr lang="zh-CN" altLang="zh-CN" sz="2400" b="0">
                <a:latin typeface="Times New Roman" panose="02020603050405020304" pitchFamily="18" charset="0"/>
              </a:rPr>
              <a:t>质量模型</a:t>
            </a:r>
            <a:endParaRPr lang="zh-CN" altLang="en-US" sz="2400" b="0">
              <a:latin typeface="Times New Roman" panose="02020603050405020304" pitchFamily="18" charset="0"/>
            </a:endParaRPr>
          </a:p>
        </p:txBody>
      </p:sp>
      <p:pic>
        <p:nvPicPr>
          <p:cNvPr id="32773" name="图片 3">
            <a:extLst>
              <a:ext uri="{FF2B5EF4-FFF2-40B4-BE49-F238E27FC236}">
                <a16:creationId xmlns:a16="http://schemas.microsoft.com/office/drawing/2014/main" id="{389A6582-92C9-9FE0-6381-5B94E15A7F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997200"/>
            <a:ext cx="6856412"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79C4571-407D-1538-EBE1-5E3A8DA57C69}"/>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3795" name="内容占位符 1">
            <a:extLst>
              <a:ext uri="{FF2B5EF4-FFF2-40B4-BE49-F238E27FC236}">
                <a16:creationId xmlns:a16="http://schemas.microsoft.com/office/drawing/2014/main" id="{4041D9E0-E306-F42C-9F04-7566B2BA8500}"/>
              </a:ext>
            </a:extLst>
          </p:cNvPr>
          <p:cNvSpPr>
            <a:spLocks noGrp="1" noChangeArrowheads="1"/>
          </p:cNvSpPr>
          <p:nvPr>
            <p:ph idx="1"/>
          </p:nvPr>
        </p:nvSpPr>
        <p:spPr>
          <a:xfrm>
            <a:off x="684213" y="2133600"/>
            <a:ext cx="7920037" cy="3311525"/>
          </a:xfrm>
        </p:spPr>
        <p:txBody>
          <a:bodyPr/>
          <a:lstStyle/>
          <a:p>
            <a:pPr algn="just" eaLnBrk="1" hangingPunct="1">
              <a:lnSpc>
                <a:spcPct val="150000"/>
              </a:lnSpc>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(3)ISO9126</a:t>
            </a:r>
            <a:r>
              <a:rPr kumimoji="1" lang="zh-CN" altLang="zh-CN" sz="2400">
                <a:solidFill>
                  <a:schemeClr val="accent2"/>
                </a:solidFill>
                <a:latin typeface="黑体" panose="02010609060101010101" pitchFamily="49" charset="-122"/>
                <a:ea typeface="黑体" panose="02010609060101010101" pitchFamily="49" charset="-122"/>
              </a:rPr>
              <a:t>质量模型</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lnSpc>
                <a:spcPct val="150000"/>
              </a:lnSpc>
              <a:spcBef>
                <a:spcPts val="1200"/>
              </a:spcBef>
              <a:buSzPct val="70000"/>
              <a:buFont typeface="Wingdings" panose="05000000000000000000" pitchFamily="2" charset="2"/>
              <a:buChar char="n"/>
            </a:pPr>
            <a:r>
              <a:rPr lang="zh-CN" altLang="zh-CN" sz="1800"/>
              <a:t>基本出发点是保证软件最大限度地满足用户明确和隐含的需求</a:t>
            </a:r>
            <a:endParaRPr lang="en-US" altLang="zh-CN" sz="1800"/>
          </a:p>
          <a:p>
            <a:pPr algn="just" eaLnBrk="1" hangingPunct="1">
              <a:lnSpc>
                <a:spcPct val="150000"/>
              </a:lnSpc>
              <a:spcBef>
                <a:spcPts val="1200"/>
              </a:spcBef>
              <a:buSzPct val="70000"/>
              <a:buFont typeface="Wingdings" panose="05000000000000000000" pitchFamily="2" charset="2"/>
              <a:buChar char="n"/>
            </a:pPr>
            <a:r>
              <a:rPr lang="zh-CN" altLang="zh-CN" sz="1800"/>
              <a:t>该模型分别从</a:t>
            </a:r>
            <a:r>
              <a:rPr lang="zh-CN" altLang="zh-CN" sz="1800">
                <a:solidFill>
                  <a:srgbClr val="FF0000"/>
                </a:solidFill>
              </a:rPr>
              <a:t>用户、开发人员和管理人员</a:t>
            </a:r>
            <a:r>
              <a:rPr lang="zh-CN" altLang="zh-CN" sz="1800"/>
              <a:t>三个不同角度全方面出发来定义质量特性和质量子特性</a:t>
            </a:r>
            <a:endParaRPr lang="en-US" altLang="zh-CN" sz="1800"/>
          </a:p>
          <a:p>
            <a:pPr algn="just" eaLnBrk="1" hangingPunct="1">
              <a:lnSpc>
                <a:spcPct val="150000"/>
              </a:lnSpc>
              <a:spcBef>
                <a:spcPts val="1200"/>
              </a:spcBef>
              <a:buSzPct val="70000"/>
              <a:buFont typeface="Wingdings" panose="05000000000000000000" pitchFamily="2" charset="2"/>
              <a:buChar char="n"/>
            </a:pPr>
            <a:r>
              <a:rPr lang="zh-CN" altLang="en-US" sz="1800"/>
              <a:t>且选择最能代表软件质量固有的、可区分的特征来描述软件产品质量的各个方面，保证质量特性不仅能最大程度覆盖其他早期质量模型中所有的质量因素，而且各质量因素之间彼此交叉最小。</a:t>
            </a:r>
            <a:endParaRPr lang="en-US" altLang="zh-CN" sz="1800"/>
          </a:p>
          <a:p>
            <a:pPr algn="just" eaLnBrk="1" hangingPunct="1">
              <a:lnSpc>
                <a:spcPct val="150000"/>
              </a:lnSpc>
              <a:spcBef>
                <a:spcPts val="1200"/>
              </a:spcBef>
              <a:buSzPct val="70000"/>
              <a:buFont typeface="Wingdings" panose="05000000000000000000" pitchFamily="2" charset="2"/>
              <a:buChar char="n"/>
            </a:pPr>
            <a:r>
              <a:rPr lang="zh-CN" altLang="en-US" sz="1800"/>
              <a:t>因此，该模型可称为当时最先进和最严格的软件质量模型。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22EBD6B-B30E-E999-8B5D-9A10DBD39992}"/>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4819" name="内容占位符 1">
            <a:extLst>
              <a:ext uri="{FF2B5EF4-FFF2-40B4-BE49-F238E27FC236}">
                <a16:creationId xmlns:a16="http://schemas.microsoft.com/office/drawing/2014/main" id="{C1EB602F-B736-69FA-A84C-4609E902E9D3}"/>
              </a:ext>
            </a:extLst>
          </p:cNvPr>
          <p:cNvSpPr>
            <a:spLocks noGrp="1" noChangeArrowheads="1"/>
          </p:cNvSpPr>
          <p:nvPr>
            <p:ph idx="1"/>
          </p:nvPr>
        </p:nvSpPr>
        <p:spPr>
          <a:xfrm>
            <a:off x="684213" y="1873250"/>
            <a:ext cx="8064500" cy="5084763"/>
          </a:xfrm>
        </p:spPr>
        <p:txBody>
          <a:bodyPr/>
          <a:lstStyle/>
          <a:p>
            <a:pPr algn="just" eaLnBrk="1" hangingPunct="1">
              <a:spcBef>
                <a:spcPts val="1200"/>
              </a:spcBef>
              <a:buSzPct val="70000"/>
              <a:buFont typeface="Wingdings" panose="05000000000000000000" pitchFamily="2" charset="2"/>
              <a:buChar char="n"/>
            </a:pPr>
            <a:r>
              <a:rPr lang="zh-CN" altLang="zh-CN" sz="2400"/>
              <a:t>层次模型</a:t>
            </a:r>
            <a:endParaRPr lang="en-US" altLang="zh-CN" sz="2400"/>
          </a:p>
          <a:p>
            <a:pPr algn="just" eaLnBrk="1" hangingPunct="1">
              <a:spcBef>
                <a:spcPts val="1200"/>
              </a:spcBef>
              <a:buSzPct val="70000"/>
              <a:buFont typeface="Wingdings" panose="05000000000000000000" pitchFamily="2" charset="2"/>
              <a:buChar char="n"/>
            </a:pPr>
            <a:r>
              <a:rPr lang="zh-CN" altLang="en-US" sz="2400"/>
              <a:t>典型代表：</a:t>
            </a:r>
            <a:r>
              <a:rPr lang="en-US" altLang="zh-CN" sz="2400"/>
              <a:t> McCall</a:t>
            </a:r>
            <a:r>
              <a:rPr lang="zh-CN" altLang="zh-CN" sz="2400"/>
              <a:t>质量模型</a:t>
            </a:r>
            <a:r>
              <a:rPr lang="zh-CN" altLang="en-US" sz="2400"/>
              <a:t>，</a:t>
            </a:r>
            <a:r>
              <a:rPr lang="en-US" altLang="zh-CN" sz="2400"/>
              <a:t>Boehm</a:t>
            </a:r>
            <a:r>
              <a:rPr lang="zh-CN" altLang="en-US" sz="2400"/>
              <a:t>质量模型，</a:t>
            </a:r>
            <a:r>
              <a:rPr lang="en-US" altLang="zh-CN" sz="2400"/>
              <a:t>ISO9126</a:t>
            </a:r>
            <a:r>
              <a:rPr lang="zh-CN" altLang="en-US" sz="2400"/>
              <a:t>质量模型</a:t>
            </a:r>
            <a:endParaRPr lang="en-US" altLang="zh-CN" sz="2400"/>
          </a:p>
          <a:p>
            <a:pPr algn="just" eaLnBrk="1" hangingPunct="1">
              <a:spcBef>
                <a:spcPts val="1200"/>
              </a:spcBef>
              <a:buSzPct val="70000"/>
              <a:buFont typeface="Wingdings" panose="05000000000000000000" pitchFamily="2" charset="2"/>
              <a:buChar char="n"/>
            </a:pPr>
            <a:r>
              <a:rPr lang="zh-CN" altLang="zh-CN" sz="2400"/>
              <a:t>基本思想</a:t>
            </a:r>
            <a:r>
              <a:rPr lang="zh-CN" altLang="en-US" sz="2400"/>
              <a:t>：</a:t>
            </a:r>
            <a:r>
              <a:rPr lang="zh-CN" altLang="zh-CN" sz="2400"/>
              <a:t>利用质量因素、准则和度量由上而下构成一个三层结构，然后</a:t>
            </a:r>
            <a:r>
              <a:rPr lang="zh-CN" altLang="zh-CN" sz="2400">
                <a:solidFill>
                  <a:srgbClr val="FF0000"/>
                </a:solidFill>
              </a:rPr>
              <a:t>根据经验</a:t>
            </a:r>
            <a:r>
              <a:rPr lang="zh-CN" altLang="zh-CN" sz="2400"/>
              <a:t>总结出能反映软件质量的属性、准则和度量。</a:t>
            </a:r>
            <a:endParaRPr lang="en-US" altLang="zh-CN" sz="2400"/>
          </a:p>
          <a:p>
            <a:pPr algn="just" eaLnBrk="1" hangingPunct="1">
              <a:spcBef>
                <a:spcPts val="1200"/>
              </a:spcBef>
              <a:buSzPct val="70000"/>
              <a:buFont typeface="Wingdings" panose="05000000000000000000" pitchFamily="2" charset="2"/>
              <a:buChar char="n"/>
            </a:pPr>
            <a:r>
              <a:rPr lang="zh-CN" altLang="zh-CN" sz="2400"/>
              <a:t>优势</a:t>
            </a:r>
            <a:r>
              <a:rPr lang="zh-CN" altLang="en-US" sz="2400"/>
              <a:t>：</a:t>
            </a:r>
            <a:r>
              <a:rPr lang="zh-CN" altLang="zh-CN" sz="2400"/>
              <a:t>能为软件产品质量提供一致的术语、为制定软件质量需求和确定软件性能的平衡点指定一个可行的框架。</a:t>
            </a:r>
            <a:endParaRPr lang="en-US" altLang="zh-CN" sz="2400"/>
          </a:p>
          <a:p>
            <a:pPr algn="just" eaLnBrk="1" hangingPunct="1">
              <a:spcBef>
                <a:spcPts val="1200"/>
              </a:spcBef>
              <a:buSzPct val="70000"/>
              <a:buFont typeface="Wingdings" panose="05000000000000000000" pitchFamily="2" charset="2"/>
              <a:buChar char="n"/>
            </a:pPr>
            <a:r>
              <a:rPr lang="zh-CN" altLang="en-US" sz="2400"/>
              <a:t>不足：</a:t>
            </a:r>
            <a:r>
              <a:rPr lang="zh-CN" altLang="zh-CN" sz="2400"/>
              <a:t>只能描述质量属性之间的有利影响关系（即正面关系），</a:t>
            </a:r>
            <a:r>
              <a:rPr lang="zh-CN" altLang="en-US" sz="2400"/>
              <a:t>无法表述</a:t>
            </a:r>
            <a:r>
              <a:rPr lang="zh-CN" altLang="zh-CN" sz="2400"/>
              <a:t>更加复杂的关系（如质量属性间的负面或中立影响）</a:t>
            </a:r>
            <a:endParaRPr lang="zh-CN" altLang="en-US" sz="2400"/>
          </a:p>
        </p:txBody>
      </p:sp>
      <p:sp>
        <p:nvSpPr>
          <p:cNvPr id="3" name="云形标注 2">
            <a:extLst>
              <a:ext uri="{FF2B5EF4-FFF2-40B4-BE49-F238E27FC236}">
                <a16:creationId xmlns:a16="http://schemas.microsoft.com/office/drawing/2014/main" id="{8FADDE75-F9A1-37B7-D59F-3F268E2790AB}"/>
              </a:ext>
            </a:extLst>
          </p:cNvPr>
          <p:cNvSpPr>
            <a:spLocks noChangeArrowheads="1"/>
          </p:cNvSpPr>
          <p:nvPr/>
        </p:nvSpPr>
        <p:spPr bwMode="auto">
          <a:xfrm>
            <a:off x="5580063" y="260350"/>
            <a:ext cx="2879725" cy="1368425"/>
          </a:xfrm>
          <a:prstGeom prst="cloudCallout">
            <a:avLst>
              <a:gd name="adj1" fmla="val -20833"/>
              <a:gd name="adj2" fmla="val 62500"/>
            </a:avLst>
          </a:prstGeom>
          <a:solidFill>
            <a:schemeClr val="accent1"/>
          </a:solidFill>
          <a:ln w="9525" algn="ctr">
            <a:solidFill>
              <a:schemeClr val="tx1"/>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2400" b="0">
                <a:latin typeface="Times New Roman" panose="02020603050405020304" pitchFamily="18" charset="0"/>
              </a:rPr>
              <a:t>如何解决？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2858E73-CF4E-2A03-88AB-BFEB2EB1F9D4}"/>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5843" name="内容占位符 1">
            <a:extLst>
              <a:ext uri="{FF2B5EF4-FFF2-40B4-BE49-F238E27FC236}">
                <a16:creationId xmlns:a16="http://schemas.microsoft.com/office/drawing/2014/main" id="{D69F14B4-4FDE-E054-6DE2-9239E8C9EDF3}"/>
              </a:ext>
            </a:extLst>
          </p:cNvPr>
          <p:cNvSpPr>
            <a:spLocks noGrp="1" noChangeArrowheads="1"/>
          </p:cNvSpPr>
          <p:nvPr>
            <p:ph idx="1"/>
          </p:nvPr>
        </p:nvSpPr>
        <p:spPr>
          <a:xfrm>
            <a:off x="684213" y="2492375"/>
            <a:ext cx="7775575" cy="2808288"/>
          </a:xfrm>
        </p:spPr>
        <p:txBody>
          <a:bodyPr/>
          <a:lstStyle/>
          <a:p>
            <a:pPr algn="just" eaLnBrk="1" hangingPunct="1">
              <a:lnSpc>
                <a:spcPct val="150000"/>
              </a:lnSpc>
              <a:spcBef>
                <a:spcPts val="1200"/>
              </a:spcBef>
              <a:buSzPct val="70000"/>
              <a:buFont typeface="Wingdings" panose="05000000000000000000" pitchFamily="2" charset="2"/>
              <a:buChar char="n"/>
            </a:pPr>
            <a:r>
              <a:rPr lang="zh-CN" altLang="zh-CN" sz="2400"/>
              <a:t>关系模型</a:t>
            </a:r>
            <a:r>
              <a:rPr lang="zh-CN" altLang="en-US" sz="2400"/>
              <a:t>：</a:t>
            </a:r>
            <a:r>
              <a:rPr lang="zh-CN" altLang="zh-CN" sz="2400"/>
              <a:t>能同时对质量属性之间的正面、负面及中立影响进行有效的表达</a:t>
            </a:r>
            <a:endParaRPr lang="zh-CN" altLang="en-US" sz="2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A1CECC2-1499-9463-6FCC-570753556C12}"/>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6867" name="内容占位符 1">
            <a:extLst>
              <a:ext uri="{FF2B5EF4-FFF2-40B4-BE49-F238E27FC236}">
                <a16:creationId xmlns:a16="http://schemas.microsoft.com/office/drawing/2014/main" id="{983D008A-7F74-091C-1556-2A9DF7C45C4B}"/>
              </a:ext>
            </a:extLst>
          </p:cNvPr>
          <p:cNvSpPr>
            <a:spLocks noGrp="1" noChangeArrowheads="1"/>
          </p:cNvSpPr>
          <p:nvPr>
            <p:ph idx="1"/>
          </p:nvPr>
        </p:nvSpPr>
        <p:spPr>
          <a:xfrm>
            <a:off x="250825" y="1916113"/>
            <a:ext cx="8713788" cy="5084762"/>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(4)Perry</a:t>
            </a:r>
            <a:r>
              <a:rPr kumimoji="1" lang="zh-CN" altLang="zh-CN" sz="2400">
                <a:solidFill>
                  <a:schemeClr val="accent2"/>
                </a:solidFill>
                <a:latin typeface="黑体" panose="02010609060101010101" pitchFamily="49" charset="-122"/>
                <a:ea typeface="黑体" panose="02010609060101010101" pitchFamily="49" charset="-122"/>
              </a:rPr>
              <a:t>质量模型</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lnSpc>
                <a:spcPct val="120000"/>
              </a:lnSpc>
              <a:spcBef>
                <a:spcPts val="1200"/>
              </a:spcBef>
              <a:buSzPct val="70000"/>
              <a:buFont typeface="Wingdings" panose="05000000000000000000" pitchFamily="2" charset="2"/>
              <a:buChar char="n"/>
            </a:pPr>
            <a:r>
              <a:rPr lang="zh-CN" altLang="zh-CN" sz="2400"/>
              <a:t>使用一张二维表格来表达各个质量属性以及这些质量属性之间的关系</a:t>
            </a:r>
            <a:endParaRPr lang="zh-CN" altLang="en-US" sz="2200"/>
          </a:p>
        </p:txBody>
      </p:sp>
      <p:pic>
        <p:nvPicPr>
          <p:cNvPr id="36868" name="图片 3">
            <a:extLst>
              <a:ext uri="{FF2B5EF4-FFF2-40B4-BE49-F238E27FC236}">
                <a16:creationId xmlns:a16="http://schemas.microsoft.com/office/drawing/2014/main" id="{19404F43-6B26-E634-42D5-EC0994984F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675" y="3355975"/>
            <a:ext cx="85725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CEC4432-AB41-F8BA-F6A2-17A10BAE6704}"/>
              </a:ext>
            </a:extLst>
          </p:cNvPr>
          <p:cNvSpPr>
            <a:spLocks noGrp="1" noChangeArrowheads="1"/>
          </p:cNvSpPr>
          <p:nvPr>
            <p:ph type="title"/>
          </p:nvPr>
        </p:nvSpPr>
        <p:spPr/>
        <p:txBody>
          <a:bodyPr/>
          <a:lstStyle/>
          <a:p>
            <a:pPr eaLnBrk="1" hangingPunct="1"/>
            <a:r>
              <a:rPr lang="en-US" altLang="zh-CN"/>
              <a:t>4.2.1  </a:t>
            </a:r>
            <a:r>
              <a:rPr lang="zh-CN" altLang="en-US"/>
              <a:t>软件质量模型</a:t>
            </a:r>
            <a:endParaRPr kumimoji="1" lang="zh-CN" altLang="en-US"/>
          </a:p>
        </p:txBody>
      </p:sp>
      <p:sp>
        <p:nvSpPr>
          <p:cNvPr id="35843" name="内容占位符 1">
            <a:extLst>
              <a:ext uri="{FF2B5EF4-FFF2-40B4-BE49-F238E27FC236}">
                <a16:creationId xmlns:a16="http://schemas.microsoft.com/office/drawing/2014/main" id="{60B17D1A-9E02-3311-0E4D-9C64DAECE8D4}"/>
              </a:ext>
            </a:extLst>
          </p:cNvPr>
          <p:cNvSpPr>
            <a:spLocks noGrp="1"/>
          </p:cNvSpPr>
          <p:nvPr>
            <p:ph idx="1"/>
          </p:nvPr>
        </p:nvSpPr>
        <p:spPr>
          <a:xfrm>
            <a:off x="250825" y="1916113"/>
            <a:ext cx="8713788" cy="5084762"/>
          </a:xfrm>
        </p:spPr>
        <p:txBody>
          <a:bodyPr/>
          <a:lstStyle/>
          <a:p>
            <a:pPr algn="just" eaLnBrk="1" hangingPunct="1">
              <a:spcBef>
                <a:spcPts val="1200"/>
              </a:spcBef>
              <a:buSzPct val="70000"/>
              <a:buFont typeface="Wingdings" panose="05000000000000000000" pitchFamily="2" charset="2"/>
              <a:buChar char="n"/>
              <a:defRPr/>
            </a:pPr>
            <a:r>
              <a:rPr kumimoji="1" lang="en-US" altLang="zh-CN" sz="2400" dirty="0">
                <a:solidFill>
                  <a:schemeClr val="accent2"/>
                </a:solidFill>
                <a:latin typeface="黑体" panose="02010609060101010101" pitchFamily="49" charset="-122"/>
                <a:ea typeface="黑体" panose="02010609060101010101" pitchFamily="49" charset="-122"/>
              </a:rPr>
              <a:t>(4)Perry</a:t>
            </a:r>
            <a:r>
              <a:rPr kumimoji="1" lang="zh-CN" altLang="zh-CN" sz="2400" dirty="0">
                <a:solidFill>
                  <a:schemeClr val="accent2"/>
                </a:solidFill>
                <a:latin typeface="黑体" panose="02010609060101010101" pitchFamily="49" charset="-122"/>
                <a:ea typeface="黑体" panose="02010609060101010101" pitchFamily="49" charset="-122"/>
              </a:rPr>
              <a:t>质量模型</a:t>
            </a:r>
            <a:endParaRPr kumimoji="1" lang="en-US" altLang="zh-CN" sz="2400" dirty="0">
              <a:solidFill>
                <a:schemeClr val="accent2"/>
              </a:solidFill>
              <a:latin typeface="黑体" panose="02010609060101010101" pitchFamily="49" charset="-122"/>
              <a:ea typeface="黑体" panose="02010609060101010101" pitchFamily="49" charset="-122"/>
            </a:endParaRPr>
          </a:p>
          <a:p>
            <a:pPr algn="just" eaLnBrk="1" hangingPunct="1">
              <a:lnSpc>
                <a:spcPct val="120000"/>
              </a:lnSpc>
              <a:spcBef>
                <a:spcPts val="1200"/>
              </a:spcBef>
              <a:buSzPct val="70000"/>
              <a:buFont typeface="Wingdings" panose="05000000000000000000" pitchFamily="2" charset="2"/>
              <a:buChar char="n"/>
              <a:defRPr/>
            </a:pPr>
            <a:r>
              <a:rPr lang="zh-CN" altLang="zh-CN" sz="2400" dirty="0"/>
              <a:t>使用一张二维表格来表达各个质量属性以及这些质量属性之间的关系</a:t>
            </a:r>
            <a:endParaRPr lang="en-US" altLang="zh-CN" sz="2400" dirty="0"/>
          </a:p>
          <a:p>
            <a:pPr lvl="1" algn="just" eaLnBrk="1" hangingPunct="1">
              <a:lnSpc>
                <a:spcPct val="120000"/>
              </a:lnSpc>
              <a:spcBef>
                <a:spcPts val="1200"/>
              </a:spcBef>
              <a:buSzPct val="70000"/>
              <a:buFont typeface="Wingdings" panose="05000000000000000000" pitchFamily="2" charset="2"/>
              <a:buChar char="n"/>
              <a:defRPr/>
            </a:pPr>
            <a:r>
              <a:rPr lang="zh-CN" altLang="en-US" sz="1800" dirty="0"/>
              <a:t>“</a:t>
            </a:r>
            <a:r>
              <a:rPr lang="en-US" altLang="zh-CN" sz="1800" dirty="0"/>
              <a:t>X</a:t>
            </a:r>
            <a:r>
              <a:rPr lang="zh-CN" altLang="en-US" sz="1800" dirty="0"/>
              <a:t>”表示质量属性之间冲突，“</a:t>
            </a:r>
            <a:r>
              <a:rPr lang="en-US" altLang="zh-CN" sz="1800" dirty="0"/>
              <a:t>O</a:t>
            </a:r>
            <a:r>
              <a:rPr lang="zh-CN" altLang="en-US" sz="1800" dirty="0"/>
              <a:t>”表示质量属性之间相容，空白表示质量属性之间没有关系。</a:t>
            </a:r>
            <a:endParaRPr lang="en-US" altLang="zh-CN" sz="1800" dirty="0"/>
          </a:p>
          <a:p>
            <a:pPr marL="522287" lvl="1" indent="0" algn="just" eaLnBrk="1" hangingPunct="1">
              <a:lnSpc>
                <a:spcPct val="120000"/>
              </a:lnSpc>
              <a:spcBef>
                <a:spcPts val="1200"/>
              </a:spcBef>
              <a:buSzPct val="70000"/>
              <a:buFont typeface="黑体" panose="02010609060101010101" pitchFamily="49" charset="-122"/>
              <a:buNone/>
              <a:defRPr/>
            </a:pPr>
            <a:endParaRPr lang="zh-CN" alt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845A4AC-4A90-046D-77BE-24C7076B0B29}"/>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8915" name="内容占位符 1">
            <a:extLst>
              <a:ext uri="{FF2B5EF4-FFF2-40B4-BE49-F238E27FC236}">
                <a16:creationId xmlns:a16="http://schemas.microsoft.com/office/drawing/2014/main" id="{AE606B8D-3F40-C50B-705B-A8C8189EBB5C}"/>
              </a:ext>
            </a:extLst>
          </p:cNvPr>
          <p:cNvSpPr>
            <a:spLocks noGrp="1" noChangeArrowheads="1"/>
          </p:cNvSpPr>
          <p:nvPr>
            <p:ph idx="1"/>
          </p:nvPr>
        </p:nvSpPr>
        <p:spPr>
          <a:xfrm>
            <a:off x="684213" y="2089150"/>
            <a:ext cx="7920037" cy="5084763"/>
          </a:xfrm>
        </p:spPr>
        <p:txBody>
          <a:bodyPr/>
          <a:lstStyle/>
          <a:p>
            <a:pPr algn="just" eaLnBrk="1" hangingPunct="1">
              <a:lnSpc>
                <a:spcPct val="150000"/>
              </a:lnSpc>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(4)Perry</a:t>
            </a:r>
            <a:r>
              <a:rPr kumimoji="1" lang="zh-CN" altLang="zh-CN" sz="2400">
                <a:solidFill>
                  <a:schemeClr val="accent2"/>
                </a:solidFill>
                <a:latin typeface="黑体" panose="02010609060101010101" pitchFamily="49" charset="-122"/>
                <a:ea typeface="黑体" panose="02010609060101010101" pitchFamily="49" charset="-122"/>
              </a:rPr>
              <a:t>质量模型</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lnSpc>
                <a:spcPct val="150000"/>
              </a:lnSpc>
              <a:spcBef>
                <a:spcPts val="1200"/>
              </a:spcBef>
              <a:buSzPct val="70000"/>
              <a:buFont typeface="Wingdings" panose="05000000000000000000" pitchFamily="2" charset="2"/>
              <a:buChar char="n"/>
            </a:pPr>
            <a:r>
              <a:rPr lang="zh-CN" altLang="en-US" sz="2400"/>
              <a:t>优势：</a:t>
            </a:r>
            <a:r>
              <a:rPr lang="zh-CN" altLang="zh-CN" sz="2400"/>
              <a:t>全面描述质量属性之间的正面、负面和中立关系</a:t>
            </a:r>
            <a:endParaRPr lang="en-US" altLang="zh-CN" sz="2400"/>
          </a:p>
          <a:p>
            <a:pPr algn="just" eaLnBrk="1" hangingPunct="1">
              <a:lnSpc>
                <a:spcPct val="150000"/>
              </a:lnSpc>
              <a:spcBef>
                <a:spcPts val="1200"/>
              </a:spcBef>
              <a:buSzPct val="70000"/>
              <a:buFont typeface="Wingdings" panose="05000000000000000000" pitchFamily="2" charset="2"/>
              <a:buChar char="n"/>
            </a:pPr>
            <a:r>
              <a:rPr lang="zh-CN" altLang="en-US" sz="2400"/>
              <a:t>不足：</a:t>
            </a:r>
            <a:r>
              <a:rPr lang="zh-CN" altLang="zh-CN" sz="2400"/>
              <a:t>仅</a:t>
            </a:r>
            <a:r>
              <a:rPr lang="zh-CN" altLang="en-US" sz="2400"/>
              <a:t>能描述</a:t>
            </a:r>
            <a:r>
              <a:rPr lang="zh-CN" altLang="zh-CN" sz="2400"/>
              <a:t>两个质量属性的</a:t>
            </a:r>
            <a:r>
              <a:rPr lang="zh-CN" altLang="en-US" sz="2400"/>
              <a:t>静态制约</a:t>
            </a:r>
            <a:r>
              <a:rPr lang="zh-CN" altLang="zh-CN" sz="2400"/>
              <a:t>关系，</a:t>
            </a:r>
            <a:r>
              <a:rPr lang="zh-CN" altLang="en-US" sz="2400"/>
              <a:t>无法描述</a:t>
            </a:r>
            <a:r>
              <a:rPr lang="zh-CN" altLang="zh-CN" sz="2400"/>
              <a:t>属性之间动态变化的相互制约关系</a:t>
            </a:r>
            <a:endParaRPr lang="zh-CN" altLang="en-US" sz="2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6F882EF-A42E-BD48-D29F-82A428E1EB17}"/>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39939" name="内容占位符 5">
            <a:extLst>
              <a:ext uri="{FF2B5EF4-FFF2-40B4-BE49-F238E27FC236}">
                <a16:creationId xmlns:a16="http://schemas.microsoft.com/office/drawing/2014/main" id="{2D0E3FDB-73A5-CE07-9A8E-C5FF7EF67CD0}"/>
              </a:ext>
            </a:extLst>
          </p:cNvPr>
          <p:cNvSpPr>
            <a:spLocks noGrp="1" noChangeArrowheads="1"/>
          </p:cNvSpPr>
          <p:nvPr>
            <p:ph idx="1"/>
          </p:nvPr>
        </p:nvSpPr>
        <p:spPr>
          <a:xfrm>
            <a:off x="684213" y="1989138"/>
            <a:ext cx="8064500" cy="3527425"/>
          </a:xfrm>
        </p:spPr>
        <p:txBody>
          <a:bodyPr/>
          <a:lstStyle/>
          <a:p>
            <a:pPr algn="just" eaLnBrk="1" hangingPunct="1">
              <a:lnSpc>
                <a:spcPct val="130000"/>
              </a:lnSpc>
              <a:spcBef>
                <a:spcPts val="1200"/>
              </a:spcBef>
              <a:buSzPct val="70000"/>
              <a:buFont typeface="Wingdings" panose="05000000000000000000" pitchFamily="2" charset="2"/>
              <a:buChar char="n"/>
            </a:pPr>
            <a:r>
              <a:rPr lang="zh-CN" altLang="zh-CN" sz="2400"/>
              <a:t>基于经验的模型</a:t>
            </a:r>
            <a:endParaRPr lang="en-US" altLang="zh-CN" sz="2400"/>
          </a:p>
          <a:p>
            <a:pPr algn="just" eaLnBrk="1" hangingPunct="1">
              <a:lnSpc>
                <a:spcPct val="130000"/>
              </a:lnSpc>
              <a:spcBef>
                <a:spcPts val="1200"/>
              </a:spcBef>
              <a:buSzPct val="70000"/>
              <a:buFont typeface="Wingdings" panose="05000000000000000000" pitchFamily="2" charset="2"/>
              <a:buChar char="n"/>
            </a:pPr>
            <a:r>
              <a:rPr lang="zh-CN" altLang="en-US" sz="2400"/>
              <a:t>典型代表：</a:t>
            </a:r>
            <a:r>
              <a:rPr lang="en-US" altLang="zh-CN" sz="2400"/>
              <a:t> McCall</a:t>
            </a:r>
            <a:r>
              <a:rPr lang="zh-CN" altLang="zh-CN" sz="2400"/>
              <a:t>质量模型</a:t>
            </a:r>
            <a:r>
              <a:rPr lang="zh-CN" altLang="en-US" sz="2400"/>
              <a:t>，</a:t>
            </a:r>
            <a:r>
              <a:rPr lang="en-US" altLang="zh-CN" sz="2400"/>
              <a:t>Boehm</a:t>
            </a:r>
            <a:r>
              <a:rPr lang="zh-CN" altLang="en-US" sz="2400"/>
              <a:t>质量模型，</a:t>
            </a:r>
            <a:r>
              <a:rPr lang="en-US" altLang="zh-CN" sz="2400"/>
              <a:t>ISO9126</a:t>
            </a:r>
            <a:r>
              <a:rPr lang="zh-CN" altLang="en-US" sz="2400"/>
              <a:t>质量模型，</a:t>
            </a:r>
            <a:r>
              <a:rPr lang="en-US" altLang="zh-CN" sz="2400"/>
              <a:t>Perry</a:t>
            </a:r>
            <a:r>
              <a:rPr lang="zh-CN" altLang="en-US" sz="2400"/>
              <a:t>模型</a:t>
            </a:r>
            <a:endParaRPr lang="en-US" altLang="zh-CN" sz="2400"/>
          </a:p>
          <a:p>
            <a:pPr algn="just" eaLnBrk="1" hangingPunct="1">
              <a:lnSpc>
                <a:spcPct val="130000"/>
              </a:lnSpc>
              <a:spcBef>
                <a:spcPts val="1200"/>
              </a:spcBef>
              <a:buSzPct val="70000"/>
              <a:buFont typeface="Wingdings" panose="05000000000000000000" pitchFamily="2" charset="2"/>
              <a:buChar char="n"/>
            </a:pPr>
            <a:r>
              <a:rPr lang="zh-CN" altLang="zh-CN" sz="2400"/>
              <a:t>基本思想</a:t>
            </a:r>
            <a:r>
              <a:rPr lang="zh-CN" altLang="en-US" sz="2400"/>
              <a:t>：</a:t>
            </a:r>
            <a:r>
              <a:rPr lang="zh-CN" altLang="zh-CN" sz="2400"/>
              <a:t>试图建立一个通用的软件质量模型，希望能适用于所有类型的软件开发。</a:t>
            </a:r>
            <a:endParaRPr lang="en-US" altLang="zh-CN" sz="2400"/>
          </a:p>
          <a:p>
            <a:pPr algn="just" eaLnBrk="1" hangingPunct="1">
              <a:lnSpc>
                <a:spcPct val="130000"/>
              </a:lnSpc>
              <a:spcBef>
                <a:spcPts val="1200"/>
              </a:spcBef>
              <a:buSzPct val="70000"/>
              <a:buFont typeface="Wingdings" panose="05000000000000000000" pitchFamily="2" charset="2"/>
              <a:buChar char="n"/>
            </a:pPr>
            <a:r>
              <a:rPr lang="zh-CN" altLang="en-US" sz="2400"/>
              <a:t>不足：</a:t>
            </a:r>
            <a:r>
              <a:rPr lang="zh-CN" altLang="zh-CN" sz="2400"/>
              <a:t>使用一个通用的软件质量模型来指导所有软件项目的开发，是不切实际的</a:t>
            </a:r>
            <a:r>
              <a:rPr lang="zh-CN" altLang="en-US" sz="2400"/>
              <a:t>。</a:t>
            </a:r>
          </a:p>
        </p:txBody>
      </p:sp>
      <p:sp>
        <p:nvSpPr>
          <p:cNvPr id="10" name="云形标注 9">
            <a:extLst>
              <a:ext uri="{FF2B5EF4-FFF2-40B4-BE49-F238E27FC236}">
                <a16:creationId xmlns:a16="http://schemas.microsoft.com/office/drawing/2014/main" id="{3B70F1EF-E78F-EFC9-1008-8D0E4EC83A63}"/>
              </a:ext>
            </a:extLst>
          </p:cNvPr>
          <p:cNvSpPr>
            <a:spLocks noChangeArrowheads="1"/>
          </p:cNvSpPr>
          <p:nvPr/>
        </p:nvSpPr>
        <p:spPr bwMode="auto">
          <a:xfrm>
            <a:off x="5580063" y="260350"/>
            <a:ext cx="2879725" cy="1368425"/>
          </a:xfrm>
          <a:prstGeom prst="cloudCallout">
            <a:avLst>
              <a:gd name="adj1" fmla="val -20833"/>
              <a:gd name="adj2" fmla="val 62500"/>
            </a:avLst>
          </a:prstGeom>
          <a:solidFill>
            <a:schemeClr val="accent1"/>
          </a:solidFill>
          <a:ln w="9525" algn="ctr">
            <a:solidFill>
              <a:schemeClr val="tx1"/>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2400" b="0">
                <a:latin typeface="Times New Roman" panose="02020603050405020304" pitchFamily="18" charset="0"/>
              </a:rPr>
              <a:t>如何解决？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EC92156-7C75-29AE-E586-DB068509EDD7}"/>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40963" name="内容占位符 5">
            <a:extLst>
              <a:ext uri="{FF2B5EF4-FFF2-40B4-BE49-F238E27FC236}">
                <a16:creationId xmlns:a16="http://schemas.microsoft.com/office/drawing/2014/main" id="{1C4C59DF-438A-E5BF-DEA4-4E655CBD8F2B}"/>
              </a:ext>
            </a:extLst>
          </p:cNvPr>
          <p:cNvSpPr>
            <a:spLocks noGrp="1" noChangeArrowheads="1"/>
          </p:cNvSpPr>
          <p:nvPr>
            <p:ph idx="1"/>
          </p:nvPr>
        </p:nvSpPr>
        <p:spPr>
          <a:xfrm>
            <a:off x="755650" y="2232025"/>
            <a:ext cx="7704138" cy="3213100"/>
          </a:xfrm>
        </p:spPr>
        <p:txBody>
          <a:bodyPr/>
          <a:lstStyle/>
          <a:p>
            <a:pPr algn="just" eaLnBrk="1" hangingPunct="1">
              <a:lnSpc>
                <a:spcPct val="150000"/>
              </a:lnSpc>
              <a:spcBef>
                <a:spcPts val="1200"/>
              </a:spcBef>
              <a:buSzPct val="70000"/>
              <a:buFont typeface="Wingdings" panose="05000000000000000000" pitchFamily="2" charset="2"/>
              <a:buChar char="n"/>
            </a:pPr>
            <a:r>
              <a:rPr lang="zh-CN" altLang="zh-CN" sz="2400"/>
              <a:t>基于</a:t>
            </a:r>
            <a:r>
              <a:rPr lang="zh-CN" altLang="en-US" sz="2400"/>
              <a:t>构建</a:t>
            </a:r>
            <a:r>
              <a:rPr lang="zh-CN" altLang="zh-CN" sz="2400"/>
              <a:t>的模型</a:t>
            </a:r>
            <a:endParaRPr lang="en-US" altLang="zh-CN" sz="2400"/>
          </a:p>
          <a:p>
            <a:pPr algn="just" eaLnBrk="1" hangingPunct="1">
              <a:lnSpc>
                <a:spcPct val="150000"/>
              </a:lnSpc>
              <a:spcBef>
                <a:spcPts val="1200"/>
              </a:spcBef>
              <a:buSzPct val="70000"/>
              <a:buFont typeface="Wingdings" panose="05000000000000000000" pitchFamily="2" charset="2"/>
              <a:buChar char="n"/>
            </a:pPr>
            <a:r>
              <a:rPr lang="zh-CN" altLang="zh-CN" sz="2400"/>
              <a:t>提供构建质量模型的方法，以便于人们根据实际需要来构建合适的质量模型</a:t>
            </a:r>
            <a:endParaRPr lang="en-US" altLang="zh-CN" sz="2400"/>
          </a:p>
          <a:p>
            <a:pPr algn="just" eaLnBrk="1" hangingPunct="1">
              <a:spcBef>
                <a:spcPts val="1200"/>
              </a:spcBef>
              <a:buSzPct val="70000"/>
              <a:buFont typeface="Wingdings" panose="05000000000000000000" pitchFamily="2" charset="2"/>
              <a:buChar char="n"/>
            </a:pPr>
            <a:endParaRPr lang="zh-CN"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375DDAE-C681-3BF4-9409-69A28B98FCA3}"/>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41987" name="内容占位符 1">
            <a:extLst>
              <a:ext uri="{FF2B5EF4-FFF2-40B4-BE49-F238E27FC236}">
                <a16:creationId xmlns:a16="http://schemas.microsoft.com/office/drawing/2014/main" id="{77058AE1-EF74-F99B-484C-38DCD5F1D519}"/>
              </a:ext>
            </a:extLst>
          </p:cNvPr>
          <p:cNvSpPr>
            <a:spLocks noGrp="1" noChangeArrowheads="1"/>
          </p:cNvSpPr>
          <p:nvPr>
            <p:ph idx="1"/>
          </p:nvPr>
        </p:nvSpPr>
        <p:spPr>
          <a:xfrm>
            <a:off x="755650" y="2060575"/>
            <a:ext cx="7920038" cy="3889375"/>
          </a:xfrm>
        </p:spPr>
        <p:txBody>
          <a:bodyPr/>
          <a:lstStyle/>
          <a:p>
            <a:pPr algn="just" eaLnBrk="1" hangingPunct="1">
              <a:lnSpc>
                <a:spcPct val="120000"/>
              </a:lnSpc>
              <a:spcBef>
                <a:spcPts val="1200"/>
              </a:spcBef>
              <a:buSzPct val="70000"/>
              <a:buFont typeface="Wingdings" panose="05000000000000000000" pitchFamily="2" charset="2"/>
              <a:buChar char="n"/>
            </a:pPr>
            <a:r>
              <a:rPr kumimoji="1" lang="en-US" altLang="zh-CN" sz="2400" dirty="0">
                <a:solidFill>
                  <a:schemeClr val="accent2"/>
                </a:solidFill>
                <a:latin typeface="黑体" panose="02010609060101010101" pitchFamily="49" charset="-122"/>
                <a:ea typeface="黑体" panose="02010609060101010101" pitchFamily="49" charset="-122"/>
              </a:rPr>
              <a:t>(5)</a:t>
            </a:r>
            <a:r>
              <a:rPr kumimoji="1" lang="en-US" altLang="zh-CN" sz="2400" dirty="0" err="1">
                <a:solidFill>
                  <a:schemeClr val="accent2"/>
                </a:solidFill>
                <a:latin typeface="黑体" panose="02010609060101010101" pitchFamily="49" charset="-122"/>
                <a:ea typeface="黑体" panose="02010609060101010101" pitchFamily="49" charset="-122"/>
              </a:rPr>
              <a:t>Dromey</a:t>
            </a:r>
            <a:r>
              <a:rPr kumimoji="1" lang="zh-CN" altLang="zh-CN" sz="2400" dirty="0">
                <a:solidFill>
                  <a:schemeClr val="accent2"/>
                </a:solidFill>
                <a:latin typeface="黑体" panose="02010609060101010101" pitchFamily="49" charset="-122"/>
                <a:ea typeface="黑体" panose="02010609060101010101" pitchFamily="49" charset="-122"/>
              </a:rPr>
              <a:t>质量模型</a:t>
            </a:r>
            <a:endParaRPr kumimoji="1" lang="en-US" altLang="zh-CN" sz="2400" dirty="0">
              <a:solidFill>
                <a:schemeClr val="accent2"/>
              </a:solidFill>
              <a:latin typeface="黑体" panose="02010609060101010101" pitchFamily="49" charset="-122"/>
              <a:ea typeface="黑体" panose="02010609060101010101" pitchFamily="49" charset="-122"/>
            </a:endParaRPr>
          </a:p>
          <a:p>
            <a:pPr algn="just" eaLnBrk="1" hangingPunct="1">
              <a:lnSpc>
                <a:spcPct val="120000"/>
              </a:lnSpc>
              <a:spcBef>
                <a:spcPts val="1200"/>
              </a:spcBef>
              <a:buSzPct val="70000"/>
              <a:buFont typeface="Wingdings" panose="05000000000000000000" pitchFamily="2" charset="2"/>
              <a:buChar char="n"/>
            </a:pPr>
            <a:r>
              <a:rPr lang="zh-CN" altLang="zh-CN" sz="2400" dirty="0"/>
              <a:t>自适应构建质量模型</a:t>
            </a:r>
            <a:endParaRPr lang="en-US" altLang="zh-CN" sz="2400" dirty="0"/>
          </a:p>
          <a:p>
            <a:pPr algn="just" eaLnBrk="1" hangingPunct="1">
              <a:lnSpc>
                <a:spcPct val="120000"/>
              </a:lnSpc>
              <a:spcBef>
                <a:spcPts val="1200"/>
              </a:spcBef>
              <a:buSzPct val="70000"/>
              <a:buFont typeface="Wingdings" panose="05000000000000000000" pitchFamily="2" charset="2"/>
              <a:buChar char="n"/>
            </a:pPr>
            <a:r>
              <a:rPr lang="zh-CN" altLang="zh-CN" sz="2400" dirty="0"/>
              <a:t>核心是</a:t>
            </a:r>
            <a:r>
              <a:rPr lang="zh-CN" altLang="en-US" sz="2400" dirty="0"/>
              <a:t>：</a:t>
            </a:r>
            <a:r>
              <a:rPr lang="zh-CN" altLang="zh-CN" sz="2400" dirty="0"/>
              <a:t>采用结构化概念（</a:t>
            </a:r>
            <a:r>
              <a:rPr lang="en-US" altLang="zh-CN" sz="2400" dirty="0"/>
              <a:t>Structural Forms</a:t>
            </a:r>
            <a:r>
              <a:rPr lang="zh-CN" altLang="zh-CN" sz="2400" dirty="0"/>
              <a:t>）来</a:t>
            </a:r>
            <a:r>
              <a:rPr lang="zh-CN" altLang="zh-CN" sz="2400" dirty="0">
                <a:solidFill>
                  <a:srgbClr val="FF0000"/>
                </a:solidFill>
              </a:rPr>
              <a:t>定义某种编程语言中的语句和语句成分</a:t>
            </a:r>
            <a:r>
              <a:rPr lang="zh-CN" altLang="zh-CN" sz="2400" dirty="0"/>
              <a:t>（</a:t>
            </a:r>
            <a:r>
              <a:rPr lang="en-US" altLang="zh-CN" sz="2400" dirty="0"/>
              <a:t>Statement Component</a:t>
            </a:r>
            <a:r>
              <a:rPr lang="zh-CN" altLang="zh-CN" sz="2400" dirty="0"/>
              <a:t>），并</a:t>
            </a:r>
            <a:r>
              <a:rPr lang="zh-CN" altLang="zh-CN" sz="2400" dirty="0">
                <a:solidFill>
                  <a:srgbClr val="FF0000"/>
                </a:solidFill>
              </a:rPr>
              <a:t>通过将一组影响质量的产品特性与每个结构化概念联系起来</a:t>
            </a:r>
            <a:r>
              <a:rPr lang="zh-CN" altLang="zh-CN" sz="2400" dirty="0"/>
              <a:t>，而这些产品特性反过来与</a:t>
            </a:r>
            <a:r>
              <a:rPr lang="en-US" altLang="zh-CN" sz="2400" dirty="0"/>
              <a:t>ISO9126</a:t>
            </a:r>
            <a:r>
              <a:rPr lang="zh-CN" altLang="zh-CN" sz="2400" dirty="0"/>
              <a:t>质量模型中的高层质量属性相联系，从而建立软件的质量模型</a:t>
            </a:r>
            <a:endParaRPr lang="zh-C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7D24D8C-F81F-2107-2C25-7769EB08B85B}"/>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43011" name="内容占位符 1">
            <a:extLst>
              <a:ext uri="{FF2B5EF4-FFF2-40B4-BE49-F238E27FC236}">
                <a16:creationId xmlns:a16="http://schemas.microsoft.com/office/drawing/2014/main" id="{74C65FF5-ACE6-A59C-A514-3D0E287DAD1E}"/>
              </a:ext>
            </a:extLst>
          </p:cNvPr>
          <p:cNvSpPr>
            <a:spLocks noGrp="1" noChangeArrowheads="1"/>
          </p:cNvSpPr>
          <p:nvPr>
            <p:ph idx="1"/>
          </p:nvPr>
        </p:nvSpPr>
        <p:spPr>
          <a:xfrm>
            <a:off x="682625" y="1917700"/>
            <a:ext cx="7921625" cy="4606925"/>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(5)Dromey</a:t>
            </a:r>
            <a:r>
              <a:rPr kumimoji="1" lang="zh-CN" altLang="zh-CN" sz="2400">
                <a:solidFill>
                  <a:schemeClr val="accent2"/>
                </a:solidFill>
                <a:latin typeface="黑体" panose="02010609060101010101" pitchFamily="49" charset="-122"/>
                <a:ea typeface="黑体" panose="02010609060101010101" pitchFamily="49" charset="-122"/>
              </a:rPr>
              <a:t>质量模型</a:t>
            </a:r>
            <a:endParaRPr lang="zh-CN" altLang="en-US" sz="2400"/>
          </a:p>
        </p:txBody>
      </p:sp>
      <p:pic>
        <p:nvPicPr>
          <p:cNvPr id="43012" name="图片 2">
            <a:extLst>
              <a:ext uri="{FF2B5EF4-FFF2-40B4-BE49-F238E27FC236}">
                <a16:creationId xmlns:a16="http://schemas.microsoft.com/office/drawing/2014/main" id="{73A1A15D-3A65-D4FB-F4D8-E491808EF9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3750" y="2562225"/>
            <a:ext cx="7554913" cy="316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文本框 2">
            <a:extLst>
              <a:ext uri="{FF2B5EF4-FFF2-40B4-BE49-F238E27FC236}">
                <a16:creationId xmlns:a16="http://schemas.microsoft.com/office/drawing/2014/main" id="{D9E69A1E-3B8F-9814-F6E0-C779B05DD75E}"/>
              </a:ext>
            </a:extLst>
          </p:cNvPr>
          <p:cNvSpPr txBox="1">
            <a:spLocks noChangeArrowheads="1"/>
          </p:cNvSpPr>
          <p:nvPr/>
        </p:nvSpPr>
        <p:spPr bwMode="auto">
          <a:xfrm>
            <a:off x="1968500" y="5800725"/>
            <a:ext cx="4679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2400" b="0">
                <a:latin typeface="Times New Roman" panose="02020603050405020304" pitchFamily="18" charset="0"/>
              </a:rPr>
              <a:t>Dromey</a:t>
            </a:r>
            <a:r>
              <a:rPr lang="zh-CN" altLang="en-US" sz="2400" b="0">
                <a:latin typeface="Times New Roman" panose="02020603050405020304" pitchFamily="18" charset="0"/>
              </a:rPr>
              <a:t>的通用</a:t>
            </a:r>
            <a:r>
              <a:rPr lang="zh-CN" altLang="zh-CN" sz="2400" b="0">
                <a:latin typeface="Times New Roman" panose="02020603050405020304" pitchFamily="18" charset="0"/>
              </a:rPr>
              <a:t>质量模型</a:t>
            </a:r>
            <a:endParaRPr lang="zh-CN" altLang="en-US" sz="2400" b="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A07DD44-8068-2391-464B-A949BE88F174}"/>
              </a:ext>
            </a:extLst>
          </p:cNvPr>
          <p:cNvSpPr>
            <a:spLocks noGrp="1" noChangeArrowheads="1"/>
          </p:cNvSpPr>
          <p:nvPr>
            <p:ph type="title"/>
          </p:nvPr>
        </p:nvSpPr>
        <p:spPr/>
        <p:txBody>
          <a:bodyPr/>
          <a:lstStyle/>
          <a:p>
            <a:pPr eaLnBrk="1" hangingPunct="1"/>
            <a:r>
              <a:rPr lang="en-US" altLang="zh-CN"/>
              <a:t>4.2.1  </a:t>
            </a:r>
            <a:r>
              <a:rPr lang="zh-CN" altLang="en-US"/>
              <a:t>软件质量模型</a:t>
            </a:r>
            <a:endParaRPr kumimoji="1" lang="zh-CN" altLang="en-US"/>
          </a:p>
        </p:txBody>
      </p:sp>
      <p:sp>
        <p:nvSpPr>
          <p:cNvPr id="44035" name="内容占位符 1">
            <a:extLst>
              <a:ext uri="{FF2B5EF4-FFF2-40B4-BE49-F238E27FC236}">
                <a16:creationId xmlns:a16="http://schemas.microsoft.com/office/drawing/2014/main" id="{C923FF2C-84F7-2260-AC88-043BA0D3870F}"/>
              </a:ext>
            </a:extLst>
          </p:cNvPr>
          <p:cNvSpPr>
            <a:spLocks noGrp="1" noChangeArrowheads="1"/>
          </p:cNvSpPr>
          <p:nvPr>
            <p:ph idx="1"/>
          </p:nvPr>
        </p:nvSpPr>
        <p:spPr>
          <a:xfrm>
            <a:off x="682625" y="1917700"/>
            <a:ext cx="7921625" cy="4606925"/>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(5)Dromey</a:t>
            </a:r>
            <a:r>
              <a:rPr kumimoji="1" lang="zh-CN" altLang="zh-CN" sz="2400">
                <a:solidFill>
                  <a:schemeClr val="accent2"/>
                </a:solidFill>
                <a:latin typeface="黑体" panose="02010609060101010101" pitchFamily="49" charset="-122"/>
                <a:ea typeface="黑体" panose="02010609060101010101" pitchFamily="49" charset="-122"/>
              </a:rPr>
              <a:t>质量模型</a:t>
            </a:r>
            <a:endParaRPr kumimoji="1" lang="en-US" altLang="zh-CN" sz="2400">
              <a:solidFill>
                <a:schemeClr val="accent2"/>
              </a:solidFill>
              <a:latin typeface="黑体" panose="02010609060101010101" pitchFamily="49" charset="-122"/>
              <a:ea typeface="黑体" panose="02010609060101010101" pitchFamily="49" charset="-122"/>
            </a:endParaRPr>
          </a:p>
          <a:p>
            <a:pPr lvl="1" algn="just" eaLnBrk="1" hangingPunct="1">
              <a:spcBef>
                <a:spcPts val="1200"/>
              </a:spcBef>
              <a:buSzPct val="70000"/>
              <a:buFont typeface="Wingdings" panose="05000000000000000000" pitchFamily="2" charset="2"/>
              <a:buChar char="n"/>
            </a:pPr>
            <a:r>
              <a:rPr kumimoji="1" lang="en-US" altLang="zh-CN" sz="2000">
                <a:latin typeface="黑体" panose="02010609060101010101" pitchFamily="49" charset="-122"/>
                <a:ea typeface="黑体" panose="02010609060101010101" pitchFamily="49" charset="-122"/>
              </a:rPr>
              <a:t>1</a:t>
            </a:r>
            <a:r>
              <a:rPr kumimoji="1" lang="zh-CN" altLang="en-US" sz="2000">
                <a:latin typeface="黑体" panose="02010609060101010101" pitchFamily="49" charset="-122"/>
                <a:ea typeface="黑体" panose="02010609060101010101" pitchFamily="49" charset="-122"/>
              </a:rPr>
              <a:t>）自底向上建立软件质量模型，通过分析两个面向构建的基本关系来建立软件质量模型：</a:t>
            </a:r>
            <a:endParaRPr kumimoji="1" lang="en-US" altLang="zh-CN" sz="2000">
              <a:latin typeface="黑体" panose="02010609060101010101" pitchFamily="49" charset="-122"/>
              <a:ea typeface="黑体" panose="02010609060101010101" pitchFamily="49" charset="-122"/>
            </a:endParaRPr>
          </a:p>
          <a:p>
            <a:pPr lvl="2" algn="just" eaLnBrk="1" hangingPunct="1">
              <a:spcBef>
                <a:spcPts val="1200"/>
              </a:spcBef>
              <a:buSzPct val="70000"/>
              <a:buFont typeface="Wingdings" panose="05000000000000000000" pitchFamily="2" charset="2"/>
              <a:buChar char="n"/>
            </a:pPr>
            <a:r>
              <a:rPr kumimoji="1" lang="zh-CN" altLang="en-US" sz="1600">
                <a:latin typeface="黑体" panose="02010609060101010101" pitchFamily="49" charset="-122"/>
                <a:ea typeface="黑体" panose="02010609060101010101" pitchFamily="49" charset="-122"/>
              </a:rPr>
              <a:t>结构化概念与质量影响特征的关系（箭头</a:t>
            </a:r>
            <a:r>
              <a:rPr kumimoji="1" lang="en-US" altLang="zh-CN" sz="1600">
                <a:latin typeface="黑体" panose="02010609060101010101" pitchFamily="49" charset="-122"/>
                <a:ea typeface="黑体" panose="02010609060101010101" pitchFamily="49" charset="-122"/>
              </a:rPr>
              <a:t>1</a:t>
            </a:r>
            <a:r>
              <a:rPr kumimoji="1" lang="zh-CN" altLang="en-US" sz="1600">
                <a:latin typeface="黑体" panose="02010609060101010101" pitchFamily="49" charset="-122"/>
                <a:ea typeface="黑体" panose="02010609060101010101" pitchFamily="49" charset="-122"/>
              </a:rPr>
              <a:t>所示）</a:t>
            </a:r>
            <a:endParaRPr kumimoji="1" lang="en-US" altLang="zh-CN" sz="1600">
              <a:latin typeface="黑体" panose="02010609060101010101" pitchFamily="49" charset="-122"/>
              <a:ea typeface="黑体" panose="02010609060101010101" pitchFamily="49" charset="-122"/>
            </a:endParaRPr>
          </a:p>
          <a:p>
            <a:pPr lvl="2" algn="just" eaLnBrk="1" hangingPunct="1">
              <a:spcBef>
                <a:spcPts val="1200"/>
              </a:spcBef>
              <a:buSzPct val="70000"/>
              <a:buFont typeface="Wingdings" panose="05000000000000000000" pitchFamily="2" charset="2"/>
              <a:buChar char="n"/>
            </a:pPr>
            <a:r>
              <a:rPr kumimoji="1" lang="zh-CN" altLang="en-US" sz="1600">
                <a:latin typeface="黑体" panose="02010609060101010101" pitchFamily="49" charset="-122"/>
                <a:ea typeface="黑体" panose="02010609060101010101" pitchFamily="49" charset="-122"/>
              </a:rPr>
              <a:t>质量影响特性与质量属性之间的关系（箭头</a:t>
            </a:r>
            <a:r>
              <a:rPr kumimoji="1" lang="en-US" altLang="zh-CN" sz="1600">
                <a:latin typeface="黑体" panose="02010609060101010101" pitchFamily="49" charset="-122"/>
                <a:ea typeface="黑体" panose="02010609060101010101" pitchFamily="49" charset="-122"/>
              </a:rPr>
              <a:t>2</a:t>
            </a:r>
            <a:r>
              <a:rPr kumimoji="1" lang="zh-CN" altLang="en-US" sz="1600">
                <a:latin typeface="黑体" panose="02010609060101010101" pitchFamily="49" charset="-122"/>
                <a:ea typeface="黑体" panose="02010609060101010101" pitchFamily="49" charset="-122"/>
              </a:rPr>
              <a:t>所示）</a:t>
            </a:r>
            <a:endParaRPr kumimoji="1" lang="en-US" altLang="zh-CN" sz="1600">
              <a:latin typeface="黑体" panose="02010609060101010101" pitchFamily="49" charset="-122"/>
              <a:ea typeface="黑体" panose="02010609060101010101" pitchFamily="49" charset="-122"/>
            </a:endParaRPr>
          </a:p>
          <a:p>
            <a:pPr lvl="1" algn="just" eaLnBrk="1" hangingPunct="1">
              <a:spcBef>
                <a:spcPts val="1200"/>
              </a:spcBef>
              <a:buSzPct val="70000"/>
              <a:buFont typeface="Wingdings" panose="05000000000000000000" pitchFamily="2" charset="2"/>
              <a:buChar char="n"/>
            </a:pPr>
            <a:r>
              <a:rPr kumimoji="1" lang="en-US" altLang="zh-CN" sz="2000">
                <a:latin typeface="黑体" panose="02010609060101010101" pitchFamily="49" charset="-122"/>
                <a:ea typeface="黑体" panose="02010609060101010101" pitchFamily="49" charset="-122"/>
              </a:rPr>
              <a:t>2</a:t>
            </a:r>
            <a:r>
              <a:rPr kumimoji="1" lang="zh-CN" altLang="en-US" sz="2000">
                <a:latin typeface="黑体" panose="02010609060101010101" pitchFamily="49" charset="-122"/>
                <a:ea typeface="黑体" panose="02010609060101010101" pitchFamily="49" charset="-122"/>
              </a:rPr>
              <a:t>）自顶向下建立软件质量模型，通过分析两个面向构建的基本关系来以相反的方向建立软件质量模型：</a:t>
            </a:r>
            <a:endParaRPr kumimoji="1" lang="en-US" altLang="zh-CN" sz="2000">
              <a:latin typeface="黑体" panose="02010609060101010101" pitchFamily="49" charset="-122"/>
              <a:ea typeface="黑体" panose="02010609060101010101" pitchFamily="49" charset="-122"/>
            </a:endParaRPr>
          </a:p>
          <a:p>
            <a:pPr lvl="2" algn="just" eaLnBrk="1" hangingPunct="1">
              <a:spcBef>
                <a:spcPts val="1200"/>
              </a:spcBef>
              <a:buSzPct val="70000"/>
              <a:buFont typeface="Wingdings" panose="05000000000000000000" pitchFamily="2" charset="2"/>
              <a:buChar char="n"/>
            </a:pPr>
            <a:r>
              <a:rPr kumimoji="1" lang="zh-CN" altLang="en-US" sz="1600">
                <a:latin typeface="黑体" panose="02010609060101010101" pitchFamily="49" charset="-122"/>
                <a:ea typeface="黑体" panose="02010609060101010101" pitchFamily="49" charset="-122"/>
              </a:rPr>
              <a:t>质量属性与质量影响特性的关系（箭头</a:t>
            </a:r>
            <a:r>
              <a:rPr kumimoji="1" lang="en-US" altLang="zh-CN" sz="1600">
                <a:latin typeface="黑体" panose="02010609060101010101" pitchFamily="49" charset="-122"/>
                <a:ea typeface="黑体" panose="02010609060101010101" pitchFamily="49" charset="-122"/>
              </a:rPr>
              <a:t>3</a:t>
            </a:r>
            <a:r>
              <a:rPr kumimoji="1" lang="zh-CN" altLang="en-US" sz="1600">
                <a:latin typeface="黑体" panose="02010609060101010101" pitchFamily="49" charset="-122"/>
                <a:ea typeface="黑体" panose="02010609060101010101" pitchFamily="49" charset="-122"/>
              </a:rPr>
              <a:t>所示）</a:t>
            </a:r>
            <a:endParaRPr kumimoji="1" lang="en-US" altLang="zh-CN" sz="1600">
              <a:latin typeface="黑体" panose="02010609060101010101" pitchFamily="49" charset="-122"/>
              <a:ea typeface="黑体" panose="02010609060101010101" pitchFamily="49" charset="-122"/>
            </a:endParaRPr>
          </a:p>
          <a:p>
            <a:pPr lvl="2" algn="just" eaLnBrk="1" hangingPunct="1">
              <a:spcBef>
                <a:spcPts val="1200"/>
              </a:spcBef>
              <a:buSzPct val="70000"/>
              <a:buFont typeface="Wingdings" panose="05000000000000000000" pitchFamily="2" charset="2"/>
              <a:buChar char="n"/>
            </a:pPr>
            <a:r>
              <a:rPr kumimoji="1" lang="zh-CN" altLang="en-US" sz="1600">
                <a:latin typeface="黑体" panose="02010609060101010101" pitchFamily="49" charset="-122"/>
                <a:ea typeface="黑体" panose="02010609060101010101" pitchFamily="49" charset="-122"/>
              </a:rPr>
              <a:t>质量影响特性与结构化概念的关系（箭头</a:t>
            </a:r>
            <a:r>
              <a:rPr kumimoji="1" lang="en-US" altLang="zh-CN" sz="1600">
                <a:latin typeface="黑体" panose="02010609060101010101" pitchFamily="49" charset="-122"/>
                <a:ea typeface="黑体" panose="02010609060101010101" pitchFamily="49" charset="-122"/>
              </a:rPr>
              <a:t>4</a:t>
            </a:r>
            <a:r>
              <a:rPr kumimoji="1" lang="zh-CN" altLang="en-US" sz="1600">
                <a:latin typeface="黑体" panose="02010609060101010101" pitchFamily="49" charset="-122"/>
                <a:ea typeface="黑体" panose="02010609060101010101" pitchFamily="49" charset="-122"/>
              </a:rPr>
              <a:t>所示）</a:t>
            </a:r>
            <a:endParaRPr kumimoji="1" lang="en-US" altLang="zh-CN" sz="1600">
              <a:latin typeface="黑体" panose="02010609060101010101" pitchFamily="49" charset="-122"/>
              <a:ea typeface="黑体" panose="02010609060101010101" pitchFamily="49" charset="-122"/>
            </a:endParaRPr>
          </a:p>
          <a:p>
            <a:pPr lvl="2" algn="just" eaLnBrk="1" hangingPunct="1">
              <a:spcBef>
                <a:spcPts val="1200"/>
              </a:spcBef>
              <a:buSzPct val="70000"/>
              <a:buFont typeface="Wingdings" panose="05000000000000000000" pitchFamily="2" charset="2"/>
              <a:buChar char="n"/>
            </a:pPr>
            <a:endParaRPr lang="zh-CN" altLang="en-US" sz="16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EEF36D0-9E2A-32FB-B2F6-0A2573AFE630}"/>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45059" name="内容占位符 1">
            <a:extLst>
              <a:ext uri="{FF2B5EF4-FFF2-40B4-BE49-F238E27FC236}">
                <a16:creationId xmlns:a16="http://schemas.microsoft.com/office/drawing/2014/main" id="{1B982C63-86CC-69B9-9867-87ADFD0C0BB3}"/>
              </a:ext>
            </a:extLst>
          </p:cNvPr>
          <p:cNvSpPr>
            <a:spLocks noGrp="1" noChangeArrowheads="1"/>
          </p:cNvSpPr>
          <p:nvPr>
            <p:ph idx="1"/>
          </p:nvPr>
        </p:nvSpPr>
        <p:spPr>
          <a:xfrm>
            <a:off x="684213" y="1989138"/>
            <a:ext cx="7848600" cy="4176712"/>
          </a:xfrm>
        </p:spPr>
        <p:txBody>
          <a:bodyPr/>
          <a:lstStyle/>
          <a:p>
            <a:pPr algn="just" eaLnBrk="1" hangingPunct="1">
              <a:spcBef>
                <a:spcPts val="1200"/>
              </a:spcBef>
              <a:buSzPct val="70000"/>
              <a:buFont typeface="Wingdings" panose="05000000000000000000" pitchFamily="2" charset="2"/>
              <a:buChar char="n"/>
            </a:pPr>
            <a:r>
              <a:rPr kumimoji="1" lang="en-US" altLang="zh-CN" sz="2400" dirty="0">
                <a:solidFill>
                  <a:schemeClr val="accent2"/>
                </a:solidFill>
                <a:latin typeface="黑体" panose="02010609060101010101" pitchFamily="49" charset="-122"/>
                <a:ea typeface="黑体" panose="02010609060101010101" pitchFamily="49" charset="-122"/>
              </a:rPr>
              <a:t>(5)</a:t>
            </a:r>
            <a:r>
              <a:rPr kumimoji="1" lang="en-US" altLang="zh-CN" sz="2400" dirty="0" err="1">
                <a:solidFill>
                  <a:schemeClr val="accent2"/>
                </a:solidFill>
                <a:latin typeface="黑体" panose="02010609060101010101" pitchFamily="49" charset="-122"/>
                <a:ea typeface="黑体" panose="02010609060101010101" pitchFamily="49" charset="-122"/>
              </a:rPr>
              <a:t>Dromey</a:t>
            </a:r>
            <a:r>
              <a:rPr kumimoji="1" lang="zh-CN" altLang="zh-CN" sz="2400" dirty="0">
                <a:solidFill>
                  <a:schemeClr val="accent2"/>
                </a:solidFill>
                <a:latin typeface="黑体" panose="02010609060101010101" pitchFamily="49" charset="-122"/>
                <a:ea typeface="黑体" panose="02010609060101010101" pitchFamily="49" charset="-122"/>
              </a:rPr>
              <a:t>质量模型</a:t>
            </a:r>
            <a:endParaRPr kumimoji="1" lang="en-US" altLang="zh-CN" sz="2400" dirty="0">
              <a:solidFill>
                <a:schemeClr val="accent2"/>
              </a:solidFill>
              <a:latin typeface="黑体" panose="02010609060101010101" pitchFamily="49" charset="-122"/>
              <a:ea typeface="黑体" panose="02010609060101010101" pitchFamily="49" charset="-122"/>
            </a:endParaRPr>
          </a:p>
          <a:p>
            <a:pPr algn="just" eaLnBrk="1" hangingPunct="1">
              <a:spcBef>
                <a:spcPts val="1200"/>
              </a:spcBef>
              <a:buSzPct val="70000"/>
              <a:buFont typeface="Wingdings" panose="05000000000000000000" pitchFamily="2" charset="2"/>
              <a:buChar char="n"/>
            </a:pPr>
            <a:r>
              <a:rPr lang="zh-CN" altLang="en-US" sz="2400" dirty="0"/>
              <a:t>软件</a:t>
            </a:r>
            <a:r>
              <a:rPr lang="zh-CN" altLang="zh-CN" sz="2400" dirty="0"/>
              <a:t>质量</a:t>
            </a:r>
            <a:r>
              <a:rPr lang="zh-CN" altLang="en-US" sz="2400" dirty="0"/>
              <a:t>模型的构建过程</a:t>
            </a:r>
            <a:endParaRPr lang="en-US" altLang="zh-CN" sz="2400" dirty="0"/>
          </a:p>
          <a:p>
            <a:pPr lvl="1" algn="just" eaLnBrk="1" hangingPunct="1">
              <a:spcBef>
                <a:spcPts val="1200"/>
              </a:spcBef>
              <a:buSzPct val="70000"/>
              <a:buFont typeface="Wingdings" panose="05000000000000000000" pitchFamily="2" charset="2"/>
              <a:buChar char="ü"/>
            </a:pPr>
            <a:r>
              <a:rPr lang="zh-CN" altLang="zh-CN" sz="2000" dirty="0"/>
              <a:t>确定软件产品的一组高层质量属性；</a:t>
            </a:r>
            <a:endParaRPr lang="en-US" altLang="zh-CN" sz="2000" dirty="0"/>
          </a:p>
          <a:p>
            <a:pPr lvl="1" algn="just" eaLnBrk="1" hangingPunct="1">
              <a:spcBef>
                <a:spcPts val="1200"/>
              </a:spcBef>
              <a:buSzPct val="70000"/>
              <a:buFont typeface="Wingdings" panose="05000000000000000000" pitchFamily="2" charset="2"/>
              <a:buChar char="ü"/>
            </a:pPr>
            <a:r>
              <a:rPr lang="zh-CN" altLang="zh-CN" sz="2000" dirty="0"/>
              <a:t>确定软件产品的一组组件；</a:t>
            </a:r>
            <a:endParaRPr lang="en-US" altLang="zh-CN" sz="2000" dirty="0"/>
          </a:p>
          <a:p>
            <a:pPr lvl="1" algn="just" eaLnBrk="1" hangingPunct="1">
              <a:spcBef>
                <a:spcPts val="1200"/>
              </a:spcBef>
              <a:buSzPct val="70000"/>
              <a:buFont typeface="Wingdings" panose="05000000000000000000" pitchFamily="2" charset="2"/>
              <a:buChar char="ü"/>
            </a:pPr>
            <a:r>
              <a:rPr lang="zh-CN" altLang="zh-CN" sz="2000" dirty="0"/>
              <a:t>针对每个产品组件</a:t>
            </a:r>
            <a:r>
              <a:rPr lang="zh-CN" altLang="en-US" sz="2000" dirty="0"/>
              <a:t>，</a:t>
            </a:r>
            <a:r>
              <a:rPr lang="zh-CN" altLang="zh-CN" sz="2000" dirty="0"/>
              <a:t>分析其质量影响特性；</a:t>
            </a:r>
            <a:endParaRPr lang="en-US" altLang="zh-CN" sz="2000" dirty="0"/>
          </a:p>
          <a:p>
            <a:pPr lvl="1" algn="just" eaLnBrk="1" hangingPunct="1">
              <a:lnSpc>
                <a:spcPct val="120000"/>
              </a:lnSpc>
              <a:spcBef>
                <a:spcPts val="1200"/>
              </a:spcBef>
              <a:buSzPct val="70000"/>
              <a:buFont typeface="Wingdings" panose="05000000000000000000" pitchFamily="2" charset="2"/>
              <a:buChar char="ü"/>
            </a:pPr>
            <a:r>
              <a:rPr lang="zh-CN" altLang="zh-CN" sz="2000" dirty="0"/>
              <a:t>构造相关规则</a:t>
            </a:r>
            <a:r>
              <a:rPr lang="zh-CN" altLang="en-US" sz="2000" dirty="0"/>
              <a:t>，用于</a:t>
            </a:r>
            <a:r>
              <a:rPr lang="zh-CN" altLang="zh-CN" sz="2000" dirty="0"/>
              <a:t>将产品高层质量属性与组件质量影响特性联系起来；</a:t>
            </a:r>
            <a:endParaRPr lang="en-US" altLang="zh-CN" sz="2000" dirty="0"/>
          </a:p>
          <a:p>
            <a:pPr lvl="1" algn="just" eaLnBrk="1" hangingPunct="1">
              <a:lnSpc>
                <a:spcPct val="120000"/>
              </a:lnSpc>
              <a:spcBef>
                <a:spcPts val="1200"/>
              </a:spcBef>
              <a:buSzPct val="70000"/>
              <a:buFont typeface="Wingdings" panose="05000000000000000000" pitchFamily="2" charset="2"/>
              <a:buChar char="ü"/>
            </a:pPr>
            <a:r>
              <a:rPr lang="zh-CN" altLang="en-US" sz="2000" dirty="0"/>
              <a:t>评价</a:t>
            </a:r>
            <a:r>
              <a:rPr lang="zh-CN" altLang="zh-CN" sz="2000" dirty="0"/>
              <a:t>质量模型，找出弱点，加以改进，使之更加适合当前的软件产品</a:t>
            </a:r>
            <a:endParaRPr lang="zh-CN" alt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2874212-85A6-3E82-DA8C-C4719BB6867F}"/>
              </a:ext>
            </a:extLst>
          </p:cNvPr>
          <p:cNvSpPr>
            <a:spLocks noGrp="1" noChangeArrowheads="1"/>
          </p:cNvSpPr>
          <p:nvPr>
            <p:ph type="title"/>
          </p:nvPr>
        </p:nvSpPr>
        <p:spPr>
          <a:noFill/>
        </p:spPr>
        <p:txBody>
          <a:bodyPr/>
          <a:lstStyle/>
          <a:p>
            <a:pPr eaLnBrk="1" hangingPunct="1"/>
            <a:r>
              <a:rPr lang="en-US" altLang="zh-CN"/>
              <a:t>4.2.1  </a:t>
            </a:r>
            <a:r>
              <a:rPr lang="zh-CN" altLang="en-US"/>
              <a:t>软件质量模型</a:t>
            </a:r>
            <a:endParaRPr kumimoji="1" lang="zh-CN" altLang="en-US"/>
          </a:p>
        </p:txBody>
      </p:sp>
      <p:sp>
        <p:nvSpPr>
          <p:cNvPr id="46083" name="内容占位符 1">
            <a:extLst>
              <a:ext uri="{FF2B5EF4-FFF2-40B4-BE49-F238E27FC236}">
                <a16:creationId xmlns:a16="http://schemas.microsoft.com/office/drawing/2014/main" id="{69DE63BF-1750-F12B-0BC5-0E603A971E11}"/>
              </a:ext>
            </a:extLst>
          </p:cNvPr>
          <p:cNvSpPr>
            <a:spLocks noGrp="1" noChangeArrowheads="1"/>
          </p:cNvSpPr>
          <p:nvPr>
            <p:ph idx="1"/>
          </p:nvPr>
        </p:nvSpPr>
        <p:spPr>
          <a:xfrm>
            <a:off x="684213" y="1917700"/>
            <a:ext cx="8064500" cy="3959225"/>
          </a:xfrm>
        </p:spPr>
        <p:txBody>
          <a:bodyPr/>
          <a:lstStyle/>
          <a:p>
            <a:pPr algn="just" eaLnBrk="1" hangingPunct="1">
              <a:spcBef>
                <a:spcPts val="1200"/>
              </a:spcBef>
              <a:buSzPct val="70000"/>
              <a:buFont typeface="Wingdings" panose="05000000000000000000" pitchFamily="2" charset="2"/>
              <a:buChar char="n"/>
            </a:pPr>
            <a:r>
              <a:rPr kumimoji="1" lang="en-US" altLang="zh-CN" sz="2400">
                <a:solidFill>
                  <a:schemeClr val="accent2"/>
                </a:solidFill>
                <a:latin typeface="黑体" panose="02010609060101010101" pitchFamily="49" charset="-122"/>
                <a:ea typeface="黑体" panose="02010609060101010101" pitchFamily="49" charset="-122"/>
              </a:rPr>
              <a:t>(5)Dromey</a:t>
            </a:r>
            <a:r>
              <a:rPr kumimoji="1" lang="zh-CN" altLang="zh-CN" sz="2400">
                <a:solidFill>
                  <a:schemeClr val="accent2"/>
                </a:solidFill>
                <a:latin typeface="黑体" panose="02010609060101010101" pitchFamily="49" charset="-122"/>
                <a:ea typeface="黑体" panose="02010609060101010101" pitchFamily="49" charset="-122"/>
              </a:rPr>
              <a:t>质量模型</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spcBef>
                <a:spcPts val="1200"/>
              </a:spcBef>
              <a:buSzPct val="70000"/>
              <a:buFont typeface="Wingdings" panose="05000000000000000000" pitchFamily="2" charset="2"/>
              <a:buChar char="n"/>
            </a:pPr>
            <a:r>
              <a:rPr lang="zh-CN" altLang="en-US" sz="2400"/>
              <a:t>优势</a:t>
            </a:r>
            <a:endParaRPr lang="en-US" altLang="zh-CN" sz="2400"/>
          </a:p>
          <a:p>
            <a:pPr lvl="1" algn="just" eaLnBrk="1" hangingPunct="1">
              <a:lnSpc>
                <a:spcPct val="120000"/>
              </a:lnSpc>
              <a:spcBef>
                <a:spcPts val="1200"/>
              </a:spcBef>
              <a:buSzPct val="70000"/>
              <a:buFont typeface="Wingdings" panose="05000000000000000000" pitchFamily="2" charset="2"/>
              <a:buChar char="n"/>
            </a:pPr>
            <a:r>
              <a:rPr lang="zh-CN" altLang="zh-CN" sz="2000"/>
              <a:t>引入了软件产品组件的概念，认识到不同软件产品的质量可通过建立高层产品质量属性与软件产品组件的质量影响特性之间的关系来评估</a:t>
            </a:r>
            <a:endParaRPr lang="en-US" altLang="zh-CN" sz="2000"/>
          </a:p>
          <a:p>
            <a:pPr algn="just" eaLnBrk="1" hangingPunct="1">
              <a:spcBef>
                <a:spcPts val="1200"/>
              </a:spcBef>
              <a:buSzPct val="70000"/>
              <a:buFont typeface="Wingdings" panose="05000000000000000000" pitchFamily="2" charset="2"/>
              <a:buChar char="n"/>
            </a:pPr>
            <a:r>
              <a:rPr lang="zh-CN" altLang="en-US" sz="2400"/>
              <a:t>不足</a:t>
            </a:r>
            <a:endParaRPr lang="en-US" altLang="zh-CN" sz="2400"/>
          </a:p>
          <a:p>
            <a:pPr lvl="1" algn="just" eaLnBrk="1" hangingPunct="1">
              <a:lnSpc>
                <a:spcPct val="120000"/>
              </a:lnSpc>
              <a:spcBef>
                <a:spcPts val="1200"/>
              </a:spcBef>
              <a:buSzPct val="70000"/>
              <a:buFont typeface="Wingdings" panose="05000000000000000000" pitchFamily="2" charset="2"/>
              <a:buChar char="n"/>
            </a:pPr>
            <a:r>
              <a:rPr lang="zh-CN" altLang="en-US" sz="2000"/>
              <a:t>该</a:t>
            </a:r>
            <a:r>
              <a:rPr lang="zh-CN" altLang="zh-CN" sz="2000"/>
              <a:t>模型</a:t>
            </a:r>
            <a:r>
              <a:rPr lang="zh-CN" altLang="en-US" sz="2000"/>
              <a:t>所建立的</a:t>
            </a:r>
            <a:r>
              <a:rPr lang="zh-CN" altLang="zh-CN" sz="2000"/>
              <a:t>是统一的质量模型，</a:t>
            </a:r>
            <a:r>
              <a:rPr lang="zh-CN" altLang="en-US" sz="2000"/>
              <a:t>没有考虑</a:t>
            </a:r>
            <a:r>
              <a:rPr lang="zh-CN" altLang="zh-CN" sz="2000"/>
              <a:t>应用领域的特殊性、软件设计和实现的特殊性</a:t>
            </a:r>
            <a:r>
              <a:rPr lang="zh-CN" altLang="en-US" sz="2000"/>
              <a:t>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6584243-AF5F-6E9C-C4D6-550C2F68982D}"/>
              </a:ext>
            </a:extLst>
          </p:cNvPr>
          <p:cNvSpPr>
            <a:spLocks noGrp="1" noChangeArrowheads="1"/>
          </p:cNvSpPr>
          <p:nvPr>
            <p:ph type="title"/>
          </p:nvPr>
        </p:nvSpPr>
        <p:spPr>
          <a:noFill/>
        </p:spPr>
        <p:txBody>
          <a:bodyPr/>
          <a:lstStyle/>
          <a:p>
            <a:pPr eaLnBrk="1" hangingPunct="1"/>
            <a:r>
              <a:rPr lang="zh-CN" altLang="en-US"/>
              <a:t>模型之间的比较</a:t>
            </a:r>
            <a:endParaRPr kumimoji="1" lang="zh-CN" altLang="en-US"/>
          </a:p>
        </p:txBody>
      </p:sp>
      <p:pic>
        <p:nvPicPr>
          <p:cNvPr id="47107" name="图片 3">
            <a:extLst>
              <a:ext uri="{FF2B5EF4-FFF2-40B4-BE49-F238E27FC236}">
                <a16:creationId xmlns:a16="http://schemas.microsoft.com/office/drawing/2014/main" id="{37F54D64-623F-F288-E498-C2FCCA00E4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3" y="0"/>
            <a:ext cx="9139237"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52E0D0D-C143-A4E9-BB9A-3F2BD1B2EFA6}"/>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48131" name="内容占位符 1">
            <a:extLst>
              <a:ext uri="{FF2B5EF4-FFF2-40B4-BE49-F238E27FC236}">
                <a16:creationId xmlns:a16="http://schemas.microsoft.com/office/drawing/2014/main" id="{15A27025-03FB-7FA4-1EC2-F6EFC20595A4}"/>
              </a:ext>
            </a:extLst>
          </p:cNvPr>
          <p:cNvSpPr>
            <a:spLocks noGrp="1" noChangeArrowheads="1"/>
          </p:cNvSpPr>
          <p:nvPr>
            <p:ph idx="1"/>
          </p:nvPr>
        </p:nvSpPr>
        <p:spPr>
          <a:xfrm>
            <a:off x="755650" y="2133600"/>
            <a:ext cx="7848600" cy="3095625"/>
          </a:xfrm>
        </p:spPr>
        <p:txBody>
          <a:bodyPr/>
          <a:lstStyle/>
          <a:p>
            <a:pPr algn="just" eaLnBrk="1" hangingPunct="1">
              <a:lnSpc>
                <a:spcPct val="150000"/>
              </a:lnSpc>
              <a:spcBef>
                <a:spcPts val="1200"/>
              </a:spcBef>
              <a:buSzPct val="70000"/>
              <a:buFont typeface="Wingdings" panose="05000000000000000000" pitchFamily="2" charset="2"/>
              <a:buChar char="n"/>
            </a:pPr>
            <a:r>
              <a:rPr lang="zh-CN" altLang="zh-CN" sz="2400"/>
              <a:t>软件度量是对软件开发项目、过程及其产品进行数据定义、收集以及分析的持续性定量化过程</a:t>
            </a:r>
            <a:r>
              <a:rPr lang="zh-CN" altLang="en-US" sz="2400"/>
              <a:t>。</a:t>
            </a:r>
            <a:endParaRPr lang="en-US" altLang="zh-CN" sz="2400"/>
          </a:p>
          <a:p>
            <a:pPr algn="just" eaLnBrk="1" hangingPunct="1">
              <a:lnSpc>
                <a:spcPct val="150000"/>
              </a:lnSpc>
              <a:spcBef>
                <a:spcPts val="1200"/>
              </a:spcBef>
              <a:buSzPct val="70000"/>
              <a:buFont typeface="Wingdings" panose="05000000000000000000" pitchFamily="2" charset="2"/>
              <a:buChar char="n"/>
            </a:pPr>
            <a:r>
              <a:rPr lang="zh-CN" altLang="zh-CN" sz="2400"/>
              <a:t>软件质量度量就是</a:t>
            </a:r>
            <a:r>
              <a:rPr lang="zh-CN" altLang="zh-CN" sz="2400">
                <a:solidFill>
                  <a:srgbClr val="FF0000"/>
                </a:solidFill>
              </a:rPr>
              <a:t>软件内在质量度量</a:t>
            </a:r>
            <a:r>
              <a:rPr lang="zh-CN" altLang="zh-CN" sz="2400"/>
              <a:t>、</a:t>
            </a:r>
            <a:r>
              <a:rPr lang="zh-CN" altLang="zh-CN" sz="2400">
                <a:solidFill>
                  <a:srgbClr val="FF0000"/>
                </a:solidFill>
              </a:rPr>
              <a:t>过程质量度量</a:t>
            </a:r>
            <a:r>
              <a:rPr lang="zh-CN" altLang="zh-CN" sz="2400"/>
              <a:t>和</a:t>
            </a:r>
            <a:r>
              <a:rPr lang="zh-CN" altLang="zh-CN" sz="2400">
                <a:solidFill>
                  <a:srgbClr val="FF0000"/>
                </a:solidFill>
              </a:rPr>
              <a:t>维护质量度量</a:t>
            </a:r>
            <a:r>
              <a:rPr lang="zh-CN" altLang="zh-CN" sz="2400"/>
              <a:t>的</a:t>
            </a:r>
            <a:r>
              <a:rPr lang="zh-CN" altLang="zh-CN" sz="2400">
                <a:solidFill>
                  <a:srgbClr val="FF0000"/>
                </a:solidFill>
              </a:rPr>
              <a:t>总和</a:t>
            </a:r>
            <a:r>
              <a:rPr lang="zh-CN" altLang="en-US" sz="2400"/>
              <a:t>，目的在于对软件质量进行理解、预测、评估、控制和改善</a:t>
            </a:r>
            <a:r>
              <a:rPr lang="zh-CN" altLang="zh-CN" sz="2400"/>
              <a:t>。</a:t>
            </a:r>
            <a:endParaRPr lang="zh-CN" alt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6206398-74BF-94E8-2A90-6293B1A8228C}"/>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49155" name="内容占位符 1">
            <a:extLst>
              <a:ext uri="{FF2B5EF4-FFF2-40B4-BE49-F238E27FC236}">
                <a16:creationId xmlns:a16="http://schemas.microsoft.com/office/drawing/2014/main" id="{CFF46F4D-CE0F-8B61-4433-4382A7298FCF}"/>
              </a:ext>
            </a:extLst>
          </p:cNvPr>
          <p:cNvSpPr>
            <a:spLocks noGrp="1" noChangeArrowheads="1"/>
          </p:cNvSpPr>
          <p:nvPr>
            <p:ph idx="1"/>
          </p:nvPr>
        </p:nvSpPr>
        <p:spPr>
          <a:xfrm>
            <a:off x="755650" y="1917700"/>
            <a:ext cx="7993063" cy="4751388"/>
          </a:xfrm>
        </p:spPr>
        <p:txBody>
          <a:bodyPr/>
          <a:lstStyle/>
          <a:p>
            <a:pPr algn="just" eaLnBrk="1" hangingPunct="1">
              <a:spcBef>
                <a:spcPts val="1200"/>
              </a:spcBef>
              <a:buSzPct val="70000"/>
              <a:buFont typeface="Wingdings" panose="05000000000000000000" pitchFamily="2" charset="2"/>
              <a:buChar char="n"/>
            </a:pPr>
            <a:r>
              <a:rPr kumimoji="1" lang="zh-CN" altLang="en-US" sz="2400">
                <a:solidFill>
                  <a:schemeClr val="accent2"/>
                </a:solidFill>
                <a:latin typeface="黑体" panose="02010609060101010101" pitchFamily="49" charset="-122"/>
                <a:ea typeface="黑体" panose="02010609060101010101" pitchFamily="49" charset="-122"/>
              </a:rPr>
              <a:t>软件内在质量度量</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spcBef>
                <a:spcPts val="1200"/>
              </a:spcBef>
              <a:buSzPct val="70000"/>
              <a:buFont typeface="Wingdings" panose="05000000000000000000" pitchFamily="2" charset="2"/>
              <a:buChar char="n"/>
            </a:pPr>
            <a:r>
              <a:rPr kumimoji="1" lang="zh-CN" altLang="zh-CN" sz="2400">
                <a:solidFill>
                  <a:schemeClr val="accent2"/>
                </a:solidFill>
                <a:latin typeface="黑体" panose="02010609060101010101" pitchFamily="49" charset="-122"/>
                <a:ea typeface="黑体" panose="02010609060101010101" pitchFamily="49" charset="-122"/>
              </a:rPr>
              <a:t>侧重于对软件产品本身进行评价</a:t>
            </a:r>
            <a:endParaRPr lang="zh-CN" altLang="en-US" sz="2400"/>
          </a:p>
        </p:txBody>
      </p:sp>
      <p:sp>
        <p:nvSpPr>
          <p:cNvPr id="4" name="内容占位符 1">
            <a:extLst>
              <a:ext uri="{FF2B5EF4-FFF2-40B4-BE49-F238E27FC236}">
                <a16:creationId xmlns:a16="http://schemas.microsoft.com/office/drawing/2014/main" id="{1B52DA77-6CD3-2C95-2ED6-7C789BBA4999}"/>
              </a:ext>
            </a:extLst>
          </p:cNvPr>
          <p:cNvSpPr txBox="1">
            <a:spLocks/>
          </p:cNvSpPr>
          <p:nvPr/>
        </p:nvSpPr>
        <p:spPr bwMode="auto">
          <a:xfrm>
            <a:off x="1041400" y="3068638"/>
            <a:ext cx="3455988"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r>
              <a:rPr kumimoji="0" lang="zh-CN" altLang="en-US" sz="2200"/>
              <a:t>特性：</a:t>
            </a:r>
            <a:r>
              <a:rPr kumimoji="0" lang="zh-CN" altLang="zh-CN" sz="2200"/>
              <a:t>软件产品中包含的缺陷数越多、产品复杂性越高、可靠性越低，质量越差</a:t>
            </a:r>
            <a:endParaRPr kumimoji="0" lang="en-US" altLang="zh-CN" sz="2200"/>
          </a:p>
          <a:p>
            <a:r>
              <a:rPr kumimoji="0" lang="zh-CN" altLang="en-US" sz="2200"/>
              <a:t>度量：</a:t>
            </a:r>
            <a:r>
              <a:rPr kumimoji="0" lang="zh-CN" altLang="zh-CN" sz="2200"/>
              <a:t>软件缺陷密度、平均失效时间、复杂性</a:t>
            </a:r>
            <a:r>
              <a:rPr kumimoji="0" lang="zh-CN" altLang="en-US" sz="2200"/>
              <a:t>等</a:t>
            </a:r>
            <a:endParaRPr kumimoji="0" lang="zh-CN" altLang="zh-CN" sz="2200"/>
          </a:p>
        </p:txBody>
      </p:sp>
      <p:sp>
        <p:nvSpPr>
          <p:cNvPr id="5" name="内容占位符 1">
            <a:extLst>
              <a:ext uri="{FF2B5EF4-FFF2-40B4-BE49-F238E27FC236}">
                <a16:creationId xmlns:a16="http://schemas.microsoft.com/office/drawing/2014/main" id="{E6E25DD1-7AA5-73D9-50D3-46F2B83DE4A1}"/>
              </a:ext>
            </a:extLst>
          </p:cNvPr>
          <p:cNvSpPr txBox="1">
            <a:spLocks/>
          </p:cNvSpPr>
          <p:nvPr/>
        </p:nvSpPr>
        <p:spPr bwMode="auto">
          <a:xfrm>
            <a:off x="4467225" y="3068638"/>
            <a:ext cx="33845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r>
              <a:rPr kumimoji="0" lang="zh-CN" altLang="en-US" sz="2200"/>
              <a:t>特性：</a:t>
            </a:r>
            <a:r>
              <a:rPr kumimoji="0" lang="zh-CN" altLang="zh-CN" sz="2200"/>
              <a:t>使用过程中碰到问题越多，使用难度越大，感觉越不满意，认为产品质量越差</a:t>
            </a:r>
            <a:endParaRPr kumimoji="0" lang="en-US" altLang="zh-CN" sz="2200"/>
          </a:p>
          <a:p>
            <a:r>
              <a:rPr kumimoji="0" lang="zh-CN" altLang="en-US" sz="2200"/>
              <a:t>度量：</a:t>
            </a:r>
            <a:r>
              <a:rPr kumimoji="0" lang="zh-CN" altLang="zh-CN" sz="2200"/>
              <a:t>用户发现的问题、满意度等方面进行度量</a:t>
            </a:r>
            <a:endParaRPr kumimoji="0" lang="zh-CN" altLang="en-US" sz="2200"/>
          </a:p>
        </p:txBody>
      </p:sp>
      <p:pic>
        <p:nvPicPr>
          <p:cNvPr id="2" name="图片 1">
            <a:extLst>
              <a:ext uri="{FF2B5EF4-FFF2-40B4-BE49-F238E27FC236}">
                <a16:creationId xmlns:a16="http://schemas.microsoft.com/office/drawing/2014/main" id="{C7DB7A33-2237-FC2D-9CA7-A609D6AAB8D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12013" y="4473575"/>
            <a:ext cx="1752600" cy="175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800C5A73-EDB6-252C-D5CE-3F34710E94D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163" y="4473575"/>
            <a:ext cx="1751012" cy="175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80561DB4-FE6F-82F6-EDCD-8404EDFB2E67}"/>
              </a:ext>
            </a:extLst>
          </p:cNvPr>
          <p:cNvSpPr txBox="1">
            <a:spLocks noChangeArrowheads="1"/>
          </p:cNvSpPr>
          <p:nvPr/>
        </p:nvSpPr>
        <p:spPr bwMode="auto">
          <a:xfrm>
            <a:off x="341313" y="6143625"/>
            <a:ext cx="1135062"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400">
                <a:solidFill>
                  <a:srgbClr val="00B050"/>
                </a:solidFill>
                <a:latin typeface="黑体" panose="02010609060101010101" pitchFamily="49" charset="-122"/>
                <a:ea typeface="黑体" panose="02010609060101010101" pitchFamily="49" charset="-122"/>
              </a:rPr>
              <a:t>开发方</a:t>
            </a:r>
          </a:p>
        </p:txBody>
      </p:sp>
      <p:sp>
        <p:nvSpPr>
          <p:cNvPr id="9" name="文本框 8">
            <a:extLst>
              <a:ext uri="{FF2B5EF4-FFF2-40B4-BE49-F238E27FC236}">
                <a16:creationId xmlns:a16="http://schemas.microsoft.com/office/drawing/2014/main" id="{CB76BA1E-2DDF-5843-3D67-E269707F74A9}"/>
              </a:ext>
            </a:extLst>
          </p:cNvPr>
          <p:cNvSpPr txBox="1">
            <a:spLocks noChangeArrowheads="1"/>
          </p:cNvSpPr>
          <p:nvPr/>
        </p:nvSpPr>
        <p:spPr bwMode="auto">
          <a:xfrm>
            <a:off x="7451725" y="6143625"/>
            <a:ext cx="1223963"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400">
                <a:solidFill>
                  <a:srgbClr val="00B050"/>
                </a:solidFill>
                <a:latin typeface="黑体" panose="02010609060101010101" pitchFamily="49" charset="-122"/>
                <a:ea typeface="黑体" panose="02010609060101010101" pitchFamily="49" charset="-122"/>
              </a:rPr>
              <a:t>用户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childTnLst>
                          </p:cTn>
                        </p:par>
                        <p:par>
                          <p:cTn id="11" fill="hold" nodeType="afterGroup">
                            <p:stCondLst>
                              <p:cond delay="500"/>
                            </p:stCondLst>
                            <p:childTnLst>
                              <p:par>
                                <p:cTn id="12" presetID="3" presetClass="entr" presetSubtype="5"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vertical)">
                                      <p:cBhvr>
                                        <p:cTn id="14" dur="5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randombar(horizontal)">
                                      <p:cBhvr>
                                        <p:cTn id="19" dur="500"/>
                                        <p:tgtEl>
                                          <p:spTgt spid="9"/>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500"/>
                                        <p:tgtEl>
                                          <p:spTgt spid="2"/>
                                        </p:tgtEl>
                                      </p:cBhvr>
                                    </p:animEffect>
                                  </p:childTnLst>
                                </p:cTn>
                              </p:par>
                            </p:childTnLst>
                          </p:cTn>
                        </p:par>
                        <p:par>
                          <p:cTn id="23" fill="hold" nodeType="afterGroup">
                            <p:stCondLst>
                              <p:cond delay="500"/>
                            </p:stCondLst>
                            <p:childTnLst>
                              <p:par>
                                <p:cTn id="24" presetID="3" presetClass="entr" presetSubtype="5"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vertical)">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4F17EC5-6485-47B0-424F-6B43DD1B9787}"/>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50179" name="内容占位符 1">
            <a:extLst>
              <a:ext uri="{FF2B5EF4-FFF2-40B4-BE49-F238E27FC236}">
                <a16:creationId xmlns:a16="http://schemas.microsoft.com/office/drawing/2014/main" id="{6089BAE1-7A78-6C62-88FE-54A3C32C1255}"/>
              </a:ext>
            </a:extLst>
          </p:cNvPr>
          <p:cNvSpPr>
            <a:spLocks noGrp="1" noChangeArrowheads="1"/>
          </p:cNvSpPr>
          <p:nvPr>
            <p:ph idx="1"/>
          </p:nvPr>
        </p:nvSpPr>
        <p:spPr>
          <a:xfrm>
            <a:off x="827088" y="2133600"/>
            <a:ext cx="7993062" cy="3455988"/>
          </a:xfrm>
        </p:spPr>
        <p:txBody>
          <a:bodyPr/>
          <a:lstStyle/>
          <a:p>
            <a:pPr algn="just" eaLnBrk="1" hangingPunct="1">
              <a:spcBef>
                <a:spcPts val="1200"/>
              </a:spcBef>
              <a:buSzPct val="70000"/>
              <a:buFont typeface="Wingdings" panose="05000000000000000000" pitchFamily="2" charset="2"/>
              <a:buChar char="n"/>
            </a:pPr>
            <a:r>
              <a:rPr lang="zh-CN" altLang="en-US" sz="2400"/>
              <a:t>（</a:t>
            </a:r>
            <a:r>
              <a:rPr lang="en-US" altLang="zh-CN" sz="2400"/>
              <a:t>1</a:t>
            </a:r>
            <a:r>
              <a:rPr lang="zh-CN" altLang="en-US" sz="2400"/>
              <a:t>）</a:t>
            </a:r>
            <a:r>
              <a:rPr lang="zh-CN" altLang="zh-CN" sz="2400"/>
              <a:t>缺陷密度</a:t>
            </a:r>
            <a:endParaRPr lang="en-US" altLang="zh-CN" sz="2400"/>
          </a:p>
          <a:p>
            <a:pPr algn="just" eaLnBrk="1" hangingPunct="1">
              <a:spcBef>
                <a:spcPts val="1200"/>
              </a:spcBef>
              <a:buSzPct val="70000"/>
              <a:buFont typeface="Wingdings" panose="05000000000000000000" pitchFamily="2" charset="2"/>
              <a:buChar char="n"/>
            </a:pPr>
            <a:r>
              <a:rPr lang="zh-CN" altLang="zh-CN" sz="2400"/>
              <a:t>软件缺陷在一定软件规模下的分布</a:t>
            </a:r>
            <a:endParaRPr lang="en-US" altLang="zh-CN" sz="2400"/>
          </a:p>
          <a:p>
            <a:pPr algn="just" eaLnBrk="1" hangingPunct="1">
              <a:spcBef>
                <a:spcPts val="1200"/>
              </a:spcBef>
              <a:buSzPct val="70000"/>
              <a:buFont typeface="Wingdings" panose="05000000000000000000" pitchFamily="2" charset="2"/>
              <a:buChar char="n"/>
            </a:pPr>
            <a:r>
              <a:rPr lang="zh-CN" altLang="zh-CN" sz="2400"/>
              <a:t>缺陷密度</a:t>
            </a:r>
            <a:r>
              <a:rPr lang="en-US" altLang="zh-CN" sz="2400"/>
              <a:t> = N / L </a:t>
            </a:r>
            <a:r>
              <a:rPr lang="zh-CN" altLang="zh-CN" sz="2400"/>
              <a:t>×</a:t>
            </a:r>
            <a:r>
              <a:rPr lang="en-US" altLang="zh-CN" sz="2400"/>
              <a:t>100%</a:t>
            </a:r>
            <a:r>
              <a:rPr lang="zh-CN" altLang="en-US" sz="2400"/>
              <a:t>（</a:t>
            </a:r>
            <a:r>
              <a:rPr lang="en-US" altLang="zh-CN" sz="2400"/>
              <a:t>N</a:t>
            </a:r>
            <a:r>
              <a:rPr lang="zh-CN" altLang="en-US" sz="2400"/>
              <a:t>：有效缺陷数，</a:t>
            </a:r>
            <a:r>
              <a:rPr lang="en-US" altLang="zh-CN" sz="2400"/>
              <a:t>L</a:t>
            </a:r>
            <a:r>
              <a:rPr lang="zh-CN" altLang="en-US" sz="2400"/>
              <a:t>：</a:t>
            </a:r>
            <a:r>
              <a:rPr lang="en-US" altLang="zh-CN" sz="2400"/>
              <a:t>KLOC</a:t>
            </a:r>
            <a:r>
              <a:rPr lang="zh-CN" altLang="en-US" sz="2400"/>
              <a:t>）</a:t>
            </a:r>
            <a:endParaRPr lang="en-US" altLang="zh-CN" sz="2400"/>
          </a:p>
          <a:p>
            <a:pPr algn="just" eaLnBrk="1" hangingPunct="1">
              <a:spcBef>
                <a:spcPts val="1200"/>
              </a:spcBef>
              <a:buSzPct val="70000"/>
              <a:buFont typeface="Wingdings" panose="05000000000000000000" pitchFamily="2" charset="2"/>
              <a:buChar char="n"/>
            </a:pPr>
            <a:r>
              <a:rPr lang="zh-CN" altLang="en-US" sz="2400"/>
              <a:t>因不同严重等级的缺陷对软件产品造成的损失程序不同，有效缺陷数的计算可基于缺陷严重性进行加权。如将严重性按从严重到轻微依次分为</a:t>
            </a:r>
            <a:r>
              <a:rPr lang="en-US" altLang="zh-CN" sz="2400"/>
              <a:t>1-3</a:t>
            </a:r>
            <a:r>
              <a:rPr lang="zh-CN" altLang="en-US" sz="2400"/>
              <a:t>个级别，严重性权值为</a:t>
            </a:r>
            <a:r>
              <a:rPr lang="en-US" altLang="zh-CN" sz="2400"/>
              <a:t>W1</a:t>
            </a:r>
            <a:r>
              <a:rPr lang="zh-CN" altLang="en-US" sz="2400"/>
              <a:t>、</a:t>
            </a:r>
            <a:r>
              <a:rPr lang="en-US" altLang="zh-CN" sz="2400"/>
              <a:t>W2</a:t>
            </a:r>
            <a:r>
              <a:rPr lang="zh-CN" altLang="en-US" sz="2400"/>
              <a:t>、</a:t>
            </a:r>
            <a:r>
              <a:rPr lang="en-US" altLang="zh-CN" sz="2400"/>
              <a:t>W3</a:t>
            </a:r>
            <a:r>
              <a:rPr lang="zh-CN" altLang="en-US" sz="2400"/>
              <a:t>，对应缺陷数为</a:t>
            </a:r>
            <a:r>
              <a:rPr lang="en-US" altLang="zh-CN" sz="2400"/>
              <a:t>N1</a:t>
            </a:r>
            <a:r>
              <a:rPr lang="zh-CN" altLang="en-US" sz="2400"/>
              <a:t>、</a:t>
            </a:r>
            <a:r>
              <a:rPr lang="en-US" altLang="zh-CN" sz="2400"/>
              <a:t>N2</a:t>
            </a:r>
            <a:r>
              <a:rPr lang="zh-CN" altLang="en-US" sz="2400"/>
              <a:t>、</a:t>
            </a:r>
            <a:r>
              <a:rPr lang="en-US" altLang="zh-CN" sz="2400"/>
              <a:t>N3</a:t>
            </a:r>
            <a:r>
              <a:rPr lang="zh-CN" altLang="en-US" sz="2400"/>
              <a:t>，则缺陷密度的计算如下：</a:t>
            </a:r>
            <a:endParaRPr lang="en-US" altLang="zh-CN" sz="2400"/>
          </a:p>
          <a:p>
            <a:pPr algn="just" eaLnBrk="1" hangingPunct="1">
              <a:spcBef>
                <a:spcPts val="1200"/>
              </a:spcBef>
              <a:buSzPct val="70000"/>
              <a:buFont typeface="Wingdings" panose="05000000000000000000" pitchFamily="2" charset="2"/>
              <a:buChar char="n"/>
            </a:pPr>
            <a:endParaRPr lang="en-US" altLang="zh-CN" sz="2400"/>
          </a:p>
          <a:p>
            <a:pPr algn="just" eaLnBrk="1" hangingPunct="1">
              <a:spcBef>
                <a:spcPts val="1200"/>
              </a:spcBef>
              <a:buSzPct val="70000"/>
              <a:buFont typeface="Wingdings 2" panose="05020102010507070707" pitchFamily="18" charset="2"/>
              <a:buNone/>
            </a:pPr>
            <a:endParaRPr lang="zh-CN" altLang="en-US" sz="2400"/>
          </a:p>
        </p:txBody>
      </p:sp>
      <p:pic>
        <p:nvPicPr>
          <p:cNvPr id="50180" name="图片 1">
            <a:extLst>
              <a:ext uri="{FF2B5EF4-FFF2-40B4-BE49-F238E27FC236}">
                <a16:creationId xmlns:a16="http://schemas.microsoft.com/office/drawing/2014/main" id="{62D9EE2D-6CA4-ACF1-BC4F-524F0D7606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5661025"/>
            <a:ext cx="44481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FF35999-9F16-B07A-5432-AA7B09D2CE4C}"/>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51203" name="内容占位符 1">
            <a:extLst>
              <a:ext uri="{FF2B5EF4-FFF2-40B4-BE49-F238E27FC236}">
                <a16:creationId xmlns:a16="http://schemas.microsoft.com/office/drawing/2014/main" id="{7A9C8A5D-1F53-BF71-C66E-300C345259D2}"/>
              </a:ext>
            </a:extLst>
          </p:cNvPr>
          <p:cNvSpPr>
            <a:spLocks noGrp="1" noChangeArrowheads="1"/>
          </p:cNvSpPr>
          <p:nvPr>
            <p:ph idx="1"/>
          </p:nvPr>
        </p:nvSpPr>
        <p:spPr>
          <a:xfrm>
            <a:off x="755650" y="2420938"/>
            <a:ext cx="7993063" cy="3024187"/>
          </a:xfrm>
        </p:spPr>
        <p:txBody>
          <a:bodyPr/>
          <a:lstStyle/>
          <a:p>
            <a:pPr algn="just" eaLnBrk="1" hangingPunct="1">
              <a:lnSpc>
                <a:spcPct val="150000"/>
              </a:lnSpc>
              <a:spcBef>
                <a:spcPts val="1200"/>
              </a:spcBef>
              <a:buSzPct val="70000"/>
              <a:buFont typeface="Wingdings" panose="05000000000000000000" pitchFamily="2" charset="2"/>
              <a:buChar char="n"/>
            </a:pPr>
            <a:r>
              <a:rPr lang="zh-CN" altLang="en-US" sz="2400"/>
              <a:t>（</a:t>
            </a:r>
            <a:r>
              <a:rPr lang="en-US" altLang="zh-CN" sz="2400"/>
              <a:t>2</a:t>
            </a:r>
            <a:r>
              <a:rPr lang="zh-CN" altLang="en-US" sz="2400"/>
              <a:t>）</a:t>
            </a:r>
            <a:r>
              <a:rPr lang="zh-CN" altLang="zh-CN" sz="2400"/>
              <a:t>平均失效时间</a:t>
            </a:r>
            <a:endParaRPr lang="en-US" altLang="zh-CN" sz="2400"/>
          </a:p>
          <a:p>
            <a:pPr algn="just" eaLnBrk="1" hangingPunct="1">
              <a:lnSpc>
                <a:spcPct val="150000"/>
              </a:lnSpc>
              <a:spcBef>
                <a:spcPts val="1200"/>
              </a:spcBef>
              <a:buSzPct val="70000"/>
              <a:buFont typeface="Wingdings" panose="05000000000000000000" pitchFamily="2" charset="2"/>
              <a:buChar char="n"/>
            </a:pPr>
            <a:r>
              <a:rPr lang="zh-CN" altLang="zh-CN" sz="2400"/>
              <a:t>两次失效之间的时间间隔</a:t>
            </a:r>
            <a:endParaRPr lang="en-US" altLang="zh-CN"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B45FC6C-95C5-FC39-80A5-0C37EA13AAD3}"/>
              </a:ext>
            </a:extLst>
          </p:cNvPr>
          <p:cNvSpPr>
            <a:spLocks noGrp="1" noChangeArrowheads="1"/>
          </p:cNvSpPr>
          <p:nvPr>
            <p:ph type="title"/>
          </p:nvPr>
        </p:nvSpPr>
        <p:spPr/>
        <p:txBody>
          <a:bodyPr/>
          <a:lstStyle/>
          <a:p>
            <a:pPr eaLnBrk="1" hangingPunct="1"/>
            <a:r>
              <a:rPr lang="en-US" altLang="zh-CN"/>
              <a:t>4.2.2  </a:t>
            </a:r>
            <a:r>
              <a:rPr lang="zh-CN" altLang="en-US"/>
              <a:t>软件质量度量的内容</a:t>
            </a:r>
            <a:endParaRPr kumimoji="1" lang="zh-CN" altLang="en-US"/>
          </a:p>
        </p:txBody>
      </p:sp>
      <p:sp>
        <p:nvSpPr>
          <p:cNvPr id="52227" name="内容占位符 1">
            <a:extLst>
              <a:ext uri="{FF2B5EF4-FFF2-40B4-BE49-F238E27FC236}">
                <a16:creationId xmlns:a16="http://schemas.microsoft.com/office/drawing/2014/main" id="{7FA3BF01-B143-84B0-C1E3-AEC9BB94F814}"/>
              </a:ext>
            </a:extLst>
          </p:cNvPr>
          <p:cNvSpPr>
            <a:spLocks noGrp="1" noChangeArrowheads="1"/>
          </p:cNvSpPr>
          <p:nvPr>
            <p:ph idx="1"/>
          </p:nvPr>
        </p:nvSpPr>
        <p:spPr>
          <a:xfrm>
            <a:off x="755650" y="2420938"/>
            <a:ext cx="7993063" cy="3024187"/>
          </a:xfrm>
        </p:spPr>
        <p:txBody>
          <a:bodyPr/>
          <a:lstStyle/>
          <a:p>
            <a:pPr algn="just" eaLnBrk="1" hangingPunct="1">
              <a:lnSpc>
                <a:spcPct val="150000"/>
              </a:lnSpc>
              <a:spcBef>
                <a:spcPts val="1200"/>
              </a:spcBef>
              <a:buSzPct val="70000"/>
              <a:buFont typeface="Wingdings" panose="05000000000000000000" pitchFamily="2" charset="2"/>
              <a:buChar char="n"/>
            </a:pPr>
            <a:r>
              <a:rPr lang="zh-CN" altLang="en-US" sz="1800" dirty="0"/>
              <a:t>缺陷与失效是两个关于软件</a:t>
            </a:r>
            <a:r>
              <a:rPr lang="en-US" altLang="zh-CN" sz="1800" dirty="0"/>
              <a:t>Bug</a:t>
            </a:r>
            <a:r>
              <a:rPr lang="zh-CN" altLang="en-US" sz="1800" dirty="0"/>
              <a:t>的重要术语，两者关系密切。如果在开发过程中发生错误，则将有一个缺陷植入软件系统，并最终导致软件失效。基于这两个概念的度量之间也具有密切的关系，</a:t>
            </a:r>
            <a:r>
              <a:rPr lang="zh-CN" altLang="en-US" sz="1800" dirty="0">
                <a:solidFill>
                  <a:srgbClr val="FF0000"/>
                </a:solidFill>
              </a:rPr>
              <a:t>但两者是从不同角度进行度量，具有不同的适应性</a:t>
            </a:r>
            <a:r>
              <a:rPr lang="zh-CN" altLang="en-US" sz="1800" dirty="0"/>
              <a:t>。</a:t>
            </a:r>
            <a:endParaRPr lang="en-US" altLang="zh-CN" sz="1800" dirty="0"/>
          </a:p>
          <a:p>
            <a:pPr algn="just" eaLnBrk="1" hangingPunct="1">
              <a:lnSpc>
                <a:spcPct val="150000"/>
              </a:lnSpc>
              <a:spcBef>
                <a:spcPts val="1200"/>
              </a:spcBef>
              <a:buSzPct val="70000"/>
              <a:buFont typeface="Wingdings" panose="05000000000000000000" pitchFamily="2" charset="2"/>
              <a:buChar char="n"/>
            </a:pPr>
            <a:r>
              <a:rPr lang="zh-CN" altLang="en-US" sz="1800" dirty="0">
                <a:solidFill>
                  <a:srgbClr val="FF0000"/>
                </a:solidFill>
              </a:rPr>
              <a:t>缺陷密度</a:t>
            </a:r>
            <a:r>
              <a:rPr lang="zh-CN" altLang="en-US" sz="1800" dirty="0"/>
              <a:t>是从规模上衡量缺陷，</a:t>
            </a:r>
            <a:r>
              <a:rPr lang="zh-CN" altLang="en-US" sz="1800" dirty="0">
                <a:solidFill>
                  <a:srgbClr val="FF0000"/>
                </a:solidFill>
              </a:rPr>
              <a:t>容易计算</a:t>
            </a:r>
            <a:r>
              <a:rPr lang="zh-CN" altLang="en-US" sz="1800" dirty="0"/>
              <a:t>。对于软件开发商而言，通过研究缺陷密度有利于提高测试过程的质量。</a:t>
            </a:r>
            <a:r>
              <a:rPr lang="zh-CN" altLang="en-US" sz="1800" dirty="0">
                <a:solidFill>
                  <a:srgbClr val="FF0000"/>
                </a:solidFill>
              </a:rPr>
              <a:t>平均失效时间</a:t>
            </a:r>
            <a:r>
              <a:rPr lang="en-US" altLang="zh-CN" sz="1800" dirty="0">
                <a:solidFill>
                  <a:srgbClr val="FF0000"/>
                </a:solidFill>
              </a:rPr>
              <a:t>MTTF</a:t>
            </a:r>
            <a:r>
              <a:rPr lang="zh-CN" altLang="en-US" sz="1800" dirty="0"/>
              <a:t>则是从时间上对失效进行计算，但</a:t>
            </a:r>
            <a:r>
              <a:rPr lang="en-US" altLang="zh-CN" sz="1800" dirty="0"/>
              <a:t>MTTF</a:t>
            </a:r>
            <a:r>
              <a:rPr lang="zh-CN" altLang="en-US" sz="1800" dirty="0"/>
              <a:t>的</a:t>
            </a:r>
            <a:r>
              <a:rPr lang="zh-CN" altLang="en-US" sz="1800" dirty="0">
                <a:solidFill>
                  <a:srgbClr val="FF0000"/>
                </a:solidFill>
              </a:rPr>
              <a:t>测量比较困难</a:t>
            </a:r>
            <a:r>
              <a:rPr lang="zh-CN" altLang="en-US" sz="1800" dirty="0"/>
              <a:t>，往往难以记录在测试和运行过程中出现的所有失效，该度量在商业开发中使用不多，</a:t>
            </a:r>
            <a:r>
              <a:rPr lang="zh-CN" altLang="en-US" sz="1800" dirty="0">
                <a:solidFill>
                  <a:srgbClr val="FF0000"/>
                </a:solidFill>
              </a:rPr>
              <a:t>主要应用于对安全性要求较高的软件开发中</a:t>
            </a:r>
            <a:r>
              <a:rPr lang="zh-CN" altLang="en-US" sz="1800" dirty="0"/>
              <a:t>。</a:t>
            </a:r>
            <a:endParaRPr lang="en-US" altLang="zh-CN"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0E88518-92FD-3821-5654-8CF5AE4E82E7}"/>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53251" name="内容占位符 1">
            <a:extLst>
              <a:ext uri="{FF2B5EF4-FFF2-40B4-BE49-F238E27FC236}">
                <a16:creationId xmlns:a16="http://schemas.microsoft.com/office/drawing/2014/main" id="{3321B332-536D-B5A0-121D-E19CFB26F5B5}"/>
              </a:ext>
            </a:extLst>
          </p:cNvPr>
          <p:cNvSpPr>
            <a:spLocks noGrp="1" noChangeArrowheads="1"/>
          </p:cNvSpPr>
          <p:nvPr>
            <p:ph idx="1"/>
          </p:nvPr>
        </p:nvSpPr>
        <p:spPr>
          <a:xfrm>
            <a:off x="684213" y="1917700"/>
            <a:ext cx="7848600" cy="4751388"/>
          </a:xfrm>
        </p:spPr>
        <p:txBody>
          <a:bodyPr/>
          <a:lstStyle/>
          <a:p>
            <a:pPr algn="just" eaLnBrk="1" hangingPunct="1">
              <a:spcBef>
                <a:spcPts val="1200"/>
              </a:spcBef>
              <a:buSzPct val="70000"/>
              <a:buFont typeface="Wingdings" panose="05000000000000000000" pitchFamily="2" charset="2"/>
              <a:buChar char="n"/>
            </a:pPr>
            <a:r>
              <a:rPr lang="zh-CN" altLang="en-US" sz="2400"/>
              <a:t>（</a:t>
            </a:r>
            <a:r>
              <a:rPr lang="en-US" altLang="zh-CN" sz="2400"/>
              <a:t>3</a:t>
            </a:r>
            <a:r>
              <a:rPr lang="zh-CN" altLang="en-US" sz="2400"/>
              <a:t>）</a:t>
            </a:r>
            <a:r>
              <a:rPr lang="zh-CN" altLang="zh-CN" sz="2400"/>
              <a:t>复杂性度量</a:t>
            </a:r>
            <a:endParaRPr lang="en-US" altLang="zh-CN" sz="2400"/>
          </a:p>
          <a:p>
            <a:pPr algn="just" eaLnBrk="1" hangingPunct="1">
              <a:spcBef>
                <a:spcPts val="1200"/>
              </a:spcBef>
              <a:buSzPct val="70000"/>
              <a:buFont typeface="Wingdings" panose="05000000000000000000" pitchFamily="2" charset="2"/>
              <a:buChar char="n"/>
            </a:pPr>
            <a:r>
              <a:rPr lang="zh-CN" altLang="zh-CN" sz="2400"/>
              <a:t>文本复杂度（即</a:t>
            </a:r>
            <a:r>
              <a:rPr lang="en-US" altLang="zh-CN" sz="2400"/>
              <a:t>Halstead</a:t>
            </a:r>
            <a:r>
              <a:rPr lang="zh-CN" altLang="zh-CN" sz="2400"/>
              <a:t>复杂度）</a:t>
            </a:r>
            <a:endParaRPr lang="en-US" altLang="zh-CN" sz="2400"/>
          </a:p>
          <a:p>
            <a:pPr lvl="1" algn="just" eaLnBrk="1" hangingPunct="1">
              <a:spcBef>
                <a:spcPts val="1200"/>
              </a:spcBef>
              <a:buSzPct val="70000"/>
              <a:buFont typeface="Wingdings" panose="05000000000000000000" pitchFamily="2" charset="2"/>
              <a:buChar char="ü"/>
            </a:pPr>
            <a:r>
              <a:rPr lang="zh-CN" altLang="zh-CN" sz="1800"/>
              <a:t>以程序中出现的操作符和操作数为基本计数对象，以它们的种类和数量作为计数目标对程序容量和涉及的代码编写工作量进行测算</a:t>
            </a:r>
            <a:endParaRPr lang="en-US" altLang="zh-CN" sz="1800"/>
          </a:p>
          <a:p>
            <a:pPr lvl="1" algn="just" eaLnBrk="1" hangingPunct="1">
              <a:spcBef>
                <a:spcPts val="1200"/>
              </a:spcBef>
              <a:buSzPct val="70000"/>
              <a:buFont typeface="Wingdings" panose="05000000000000000000" pitchFamily="2" charset="2"/>
              <a:buChar char="ü"/>
            </a:pPr>
            <a:r>
              <a:rPr lang="zh-CN" altLang="en-US" sz="1800"/>
              <a:t>对于任意程序</a:t>
            </a:r>
            <a:r>
              <a:rPr lang="en-US" altLang="zh-CN" sz="1800"/>
              <a:t>P</a:t>
            </a:r>
            <a:r>
              <a:rPr lang="zh-CN" altLang="en-US" sz="1800"/>
              <a:t>。总是由操作符和操作数通过有限次的组合连接而成。</a:t>
            </a:r>
            <a:r>
              <a:rPr lang="en-US" altLang="zh-CN" sz="1800"/>
              <a:t>P</a:t>
            </a:r>
            <a:r>
              <a:rPr lang="zh-CN" altLang="en-US" sz="1800"/>
              <a:t>的符号表词汇量可表示为：</a:t>
            </a:r>
            <a:endParaRPr lang="en-US" altLang="zh-CN" sz="1800"/>
          </a:p>
          <a:p>
            <a:pPr lvl="2" algn="just" eaLnBrk="1" hangingPunct="1">
              <a:spcBef>
                <a:spcPts val="1200"/>
              </a:spcBef>
              <a:buSzPct val="70000"/>
              <a:buFont typeface="Wingdings" panose="05000000000000000000" pitchFamily="2" charset="2"/>
              <a:buChar char="ü"/>
            </a:pPr>
            <a:r>
              <a:rPr lang="en-US" altLang="zh-CN" sz="1600"/>
              <a:t>n=n1+n2</a:t>
            </a:r>
          </a:p>
          <a:p>
            <a:pPr lvl="1" algn="just" eaLnBrk="1" hangingPunct="1">
              <a:spcBef>
                <a:spcPts val="1200"/>
              </a:spcBef>
              <a:buSzPct val="70000"/>
              <a:buFont typeface="Wingdings" panose="05000000000000000000" pitchFamily="2" charset="2"/>
              <a:buChar char="ü"/>
            </a:pPr>
            <a:r>
              <a:rPr lang="zh-CN" altLang="en-US" sz="1800"/>
              <a:t>其中，</a:t>
            </a:r>
            <a:r>
              <a:rPr lang="en-US" altLang="zh-CN" sz="1800"/>
              <a:t>n1</a:t>
            </a:r>
            <a:r>
              <a:rPr lang="zh-CN" altLang="en-US" sz="1800"/>
              <a:t>是唯一操作数的数量，</a:t>
            </a:r>
            <a:r>
              <a:rPr lang="en-US" altLang="zh-CN" sz="1800"/>
              <a:t>n2</a:t>
            </a:r>
            <a:r>
              <a:rPr lang="zh-CN" altLang="en-US" sz="1800"/>
              <a:t>是唯一操作符的数量。</a:t>
            </a:r>
            <a:endParaRPr lang="en-US" altLang="zh-CN" sz="1800"/>
          </a:p>
          <a:p>
            <a:pPr lvl="1" algn="just" eaLnBrk="1" hangingPunct="1">
              <a:spcBef>
                <a:spcPts val="1200"/>
              </a:spcBef>
              <a:buSzPct val="70000"/>
              <a:buFont typeface="Wingdings" panose="05000000000000000000" pitchFamily="2" charset="2"/>
              <a:buChar char="ü"/>
            </a:pPr>
            <a:r>
              <a:rPr lang="zh-CN" altLang="en-US" sz="1800"/>
              <a:t>设</a:t>
            </a:r>
            <a:r>
              <a:rPr lang="en-US" altLang="zh-CN" sz="1800"/>
              <a:t>N1</a:t>
            </a:r>
            <a:r>
              <a:rPr lang="zh-CN" altLang="en-US" sz="1800"/>
              <a:t>是</a:t>
            </a:r>
            <a:r>
              <a:rPr lang="en-US" altLang="zh-CN" sz="1800"/>
              <a:t>P</a:t>
            </a:r>
            <a:r>
              <a:rPr lang="zh-CN" altLang="en-US" sz="1800"/>
              <a:t>中出现的所有操作数的种类，</a:t>
            </a:r>
            <a:r>
              <a:rPr lang="en-US" altLang="zh-CN" sz="1800"/>
              <a:t>N2</a:t>
            </a:r>
            <a:r>
              <a:rPr lang="zh-CN" altLang="en-US" sz="1800"/>
              <a:t>是程序中出现的所有操作符的种类，则可得到两个重要的指标：</a:t>
            </a:r>
            <a:r>
              <a:rPr lang="en-US" altLang="zh-CN" sz="1800"/>
              <a:t>	</a:t>
            </a:r>
          </a:p>
          <a:p>
            <a:pPr lvl="1"/>
            <a:r>
              <a:rPr lang="zh-CN" altLang="zh-CN" sz="1800"/>
              <a:t>程序长度</a:t>
            </a:r>
            <a:r>
              <a:rPr lang="en-US" altLang="zh-CN" sz="1800"/>
              <a:t>N</a:t>
            </a:r>
            <a:r>
              <a:rPr lang="zh-CN" altLang="zh-CN" sz="1800"/>
              <a:t>＝</a:t>
            </a:r>
            <a:r>
              <a:rPr lang="en-US" altLang="zh-CN" sz="1800"/>
              <a:t>N1+N2</a:t>
            </a:r>
            <a:endParaRPr lang="zh-CN" altLang="zh-CN" sz="1200"/>
          </a:p>
          <a:p>
            <a:pPr lvl="1"/>
            <a:r>
              <a:rPr lang="zh-CN" altLang="zh-CN" sz="1800"/>
              <a:t>程序容量</a:t>
            </a:r>
            <a:r>
              <a:rPr lang="en-US" altLang="zh-CN" sz="1800"/>
              <a:t>V=N × log</a:t>
            </a:r>
            <a:r>
              <a:rPr lang="en-US" altLang="zh-CN" sz="1800" baseline="-25000"/>
              <a:t>2</a:t>
            </a:r>
            <a:r>
              <a:rPr lang="en-US" altLang="zh-CN" sz="1800"/>
              <a:t>n </a:t>
            </a:r>
            <a:endParaRPr lang="zh-CN" altLang="zh-CN" sz="3200"/>
          </a:p>
          <a:p>
            <a:pPr algn="just" eaLnBrk="1" hangingPunct="1">
              <a:spcBef>
                <a:spcPts val="1200"/>
              </a:spcBef>
              <a:buSzPct val="70000"/>
              <a:buFont typeface="Wingdings" panose="05000000000000000000" pitchFamily="2" charset="2"/>
              <a:buChar char="n"/>
            </a:pPr>
            <a:endParaRPr lang="zh-CN" altLang="en-US"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748A4B45-ADCB-E83F-23DE-67F86840CB84}"/>
              </a:ext>
            </a:extLst>
          </p:cNvPr>
          <p:cNvSpPr>
            <a:spLocks noGrp="1" noChangeArrowheads="1"/>
          </p:cNvSpPr>
          <p:nvPr>
            <p:ph type="title"/>
          </p:nvPr>
        </p:nvSpPr>
        <p:spPr/>
        <p:txBody>
          <a:bodyPr/>
          <a:lstStyle/>
          <a:p>
            <a:pPr eaLnBrk="1" hangingPunct="1"/>
            <a:r>
              <a:rPr lang="en-US" altLang="zh-CN"/>
              <a:t>4.2.2  </a:t>
            </a:r>
            <a:r>
              <a:rPr lang="zh-CN" altLang="en-US"/>
              <a:t>软件质量度量的内容</a:t>
            </a:r>
            <a:endParaRPr kumimoji="1" lang="zh-CN" altLang="en-US"/>
          </a:p>
        </p:txBody>
      </p:sp>
      <p:sp>
        <p:nvSpPr>
          <p:cNvPr id="54275" name="内容占位符 1">
            <a:extLst>
              <a:ext uri="{FF2B5EF4-FFF2-40B4-BE49-F238E27FC236}">
                <a16:creationId xmlns:a16="http://schemas.microsoft.com/office/drawing/2014/main" id="{439FEC14-E62A-06D7-80AD-36DB6C79906F}"/>
              </a:ext>
            </a:extLst>
          </p:cNvPr>
          <p:cNvSpPr>
            <a:spLocks noGrp="1" noChangeArrowheads="1"/>
          </p:cNvSpPr>
          <p:nvPr>
            <p:ph idx="1"/>
          </p:nvPr>
        </p:nvSpPr>
        <p:spPr>
          <a:xfrm>
            <a:off x="684213" y="1917700"/>
            <a:ext cx="7848600" cy="4751388"/>
          </a:xfrm>
        </p:spPr>
        <p:txBody>
          <a:bodyPr/>
          <a:lstStyle/>
          <a:p>
            <a:pPr algn="just" eaLnBrk="1" hangingPunct="1">
              <a:spcBef>
                <a:spcPts val="1200"/>
              </a:spcBef>
              <a:buSzPct val="70000"/>
              <a:buFont typeface="Wingdings" panose="05000000000000000000" pitchFamily="2" charset="2"/>
              <a:buChar char="n"/>
            </a:pPr>
            <a:r>
              <a:rPr lang="zh-CN" altLang="en-US" sz="2400" dirty="0"/>
              <a:t>（</a:t>
            </a:r>
            <a:r>
              <a:rPr lang="en-US" altLang="zh-CN" sz="2400" dirty="0"/>
              <a:t>3</a:t>
            </a:r>
            <a:r>
              <a:rPr lang="zh-CN" altLang="en-US" sz="2400" dirty="0"/>
              <a:t>）</a:t>
            </a:r>
            <a:r>
              <a:rPr lang="zh-CN" altLang="zh-CN" sz="2400" dirty="0"/>
              <a:t>复杂性度量</a:t>
            </a:r>
            <a:endParaRPr lang="en-US" altLang="zh-CN" sz="2400" dirty="0"/>
          </a:p>
          <a:p>
            <a:pPr algn="just" eaLnBrk="1" hangingPunct="1">
              <a:spcBef>
                <a:spcPts val="1200"/>
              </a:spcBef>
              <a:buSzPct val="70000"/>
              <a:buFont typeface="Wingdings" panose="05000000000000000000" pitchFamily="2" charset="2"/>
              <a:buChar char="n"/>
            </a:pPr>
            <a:r>
              <a:rPr lang="zh-CN" altLang="zh-CN" sz="2400" dirty="0"/>
              <a:t>环复杂度</a:t>
            </a:r>
            <a:endParaRPr lang="en-US" altLang="zh-CN" sz="2400" dirty="0"/>
          </a:p>
          <a:p>
            <a:pPr lvl="1" algn="just" eaLnBrk="1" hangingPunct="1">
              <a:spcBef>
                <a:spcPts val="1200"/>
              </a:spcBef>
              <a:buSzPct val="70000"/>
              <a:buFont typeface="Wingdings" panose="05000000000000000000" pitchFamily="2" charset="2"/>
              <a:buChar char="ü"/>
            </a:pPr>
            <a:r>
              <a:rPr lang="zh-CN" altLang="zh-CN" sz="2000" dirty="0"/>
              <a:t>对程序结构复杂情况的一种度量</a:t>
            </a:r>
            <a:endParaRPr lang="en-US" altLang="zh-CN" sz="2000" dirty="0"/>
          </a:p>
          <a:p>
            <a:pPr lvl="1" algn="just" eaLnBrk="1" hangingPunct="1">
              <a:spcBef>
                <a:spcPts val="1200"/>
              </a:spcBef>
              <a:buSzPct val="70000"/>
              <a:buFont typeface="Wingdings" panose="05000000000000000000" pitchFamily="2" charset="2"/>
              <a:buChar char="ü"/>
            </a:pPr>
            <a:r>
              <a:rPr lang="zh-CN" altLang="zh-CN" sz="2000" dirty="0"/>
              <a:t>三种</a:t>
            </a:r>
            <a:r>
              <a:rPr lang="zh-CN" altLang="en-US" sz="2000" dirty="0"/>
              <a:t>计算方法</a:t>
            </a:r>
            <a:r>
              <a:rPr lang="zh-CN" altLang="zh-CN" sz="2000" dirty="0"/>
              <a:t>：观察法、公式法和判定节点法</a:t>
            </a:r>
            <a:r>
              <a:rPr lang="zh-CN" altLang="en-US" sz="2000" dirty="0"/>
              <a:t>（</a:t>
            </a:r>
            <a:r>
              <a:rPr lang="en-US" altLang="zh-CN" sz="2000" dirty="0"/>
              <a:t>4</a:t>
            </a:r>
            <a:r>
              <a:rPr lang="zh-CN" altLang="en-US" sz="2000" dirty="0"/>
              <a:t>）</a:t>
            </a:r>
            <a:endParaRPr lang="en-US" altLang="zh-CN" sz="2000" dirty="0"/>
          </a:p>
          <a:p>
            <a:pPr algn="just" eaLnBrk="1" hangingPunct="1">
              <a:spcBef>
                <a:spcPts val="1200"/>
              </a:spcBef>
              <a:buSzPct val="70000"/>
              <a:buFont typeface="Wingdings" panose="05000000000000000000" pitchFamily="2" charset="2"/>
              <a:buChar char="ü"/>
            </a:pPr>
            <a:endParaRPr lang="zh-CN" altLang="zh-CN" sz="2400" dirty="0"/>
          </a:p>
          <a:p>
            <a:pPr algn="just" eaLnBrk="1" hangingPunct="1">
              <a:spcBef>
                <a:spcPts val="1200"/>
              </a:spcBef>
              <a:buSzPct val="70000"/>
              <a:buFont typeface="Wingdings" panose="05000000000000000000" pitchFamily="2" charset="2"/>
              <a:buChar char="n"/>
            </a:pPr>
            <a:endParaRPr lang="zh-CN" altLang="en-US" sz="2400" dirty="0"/>
          </a:p>
        </p:txBody>
      </p:sp>
      <p:pic>
        <p:nvPicPr>
          <p:cNvPr id="54276" name="图片 2">
            <a:extLst>
              <a:ext uri="{FF2B5EF4-FFF2-40B4-BE49-F238E27FC236}">
                <a16:creationId xmlns:a16="http://schemas.microsoft.com/office/drawing/2014/main" id="{2F8C3E01-1B0B-41CB-18DF-3F6D7714D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3919538"/>
            <a:ext cx="208915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2624D4A-6F0C-903E-DC2B-A180FBE41B6A}"/>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55299" name="内容占位符 1">
            <a:extLst>
              <a:ext uri="{FF2B5EF4-FFF2-40B4-BE49-F238E27FC236}">
                <a16:creationId xmlns:a16="http://schemas.microsoft.com/office/drawing/2014/main" id="{CDE2543F-7E7B-75F0-04A5-869BB11091BD}"/>
              </a:ext>
            </a:extLst>
          </p:cNvPr>
          <p:cNvSpPr>
            <a:spLocks noGrp="1" noChangeArrowheads="1"/>
          </p:cNvSpPr>
          <p:nvPr>
            <p:ph idx="1"/>
          </p:nvPr>
        </p:nvSpPr>
        <p:spPr>
          <a:xfrm>
            <a:off x="755650" y="1990725"/>
            <a:ext cx="7704138" cy="3525838"/>
          </a:xfrm>
        </p:spPr>
        <p:txBody>
          <a:bodyPr/>
          <a:lstStyle/>
          <a:p>
            <a:r>
              <a:rPr lang="zh-CN" altLang="en-US" sz="2400"/>
              <a:t>（</a:t>
            </a:r>
            <a:r>
              <a:rPr lang="en-US" altLang="zh-CN" sz="2400"/>
              <a:t>4</a:t>
            </a:r>
            <a:r>
              <a:rPr lang="zh-CN" altLang="en-US" sz="2400"/>
              <a:t>）</a:t>
            </a:r>
            <a:r>
              <a:rPr lang="zh-CN" altLang="zh-CN" sz="2400"/>
              <a:t>文档缺陷密度</a:t>
            </a:r>
            <a:endParaRPr lang="en-US" altLang="zh-CN" sz="2400"/>
          </a:p>
          <a:p>
            <a:pPr>
              <a:spcAft>
                <a:spcPts val="600"/>
              </a:spcAft>
            </a:pPr>
            <a:r>
              <a:rPr lang="zh-CN" altLang="zh-CN" sz="2400"/>
              <a:t>计算文档评审中发现的各种文档中的缺陷</a:t>
            </a:r>
            <a:endParaRPr lang="en-US" altLang="zh-CN" sz="2400"/>
          </a:p>
          <a:p>
            <a:pPr>
              <a:spcAft>
                <a:spcPts val="600"/>
              </a:spcAft>
            </a:pPr>
            <a:r>
              <a:rPr lang="zh-CN" altLang="zh-CN" sz="2400"/>
              <a:t>包括</a:t>
            </a:r>
            <a:r>
              <a:rPr lang="zh-CN" altLang="en-US" sz="2400"/>
              <a:t>：与</a:t>
            </a:r>
            <a:r>
              <a:rPr lang="zh-CN" altLang="zh-CN" sz="2400"/>
              <a:t>文档规范相关的缺陷和文档内容方面的缺陷</a:t>
            </a:r>
            <a:endParaRPr lang="en-US" altLang="zh-CN" sz="2400"/>
          </a:p>
          <a:p>
            <a:r>
              <a:rPr lang="en-US" altLang="zh-CN" sz="2400"/>
              <a:t> </a:t>
            </a:r>
            <a:r>
              <a:rPr lang="zh-CN" altLang="en-US" sz="2400"/>
              <a:t>文档缺失密度是对在文档评审中发现的各种文档中的缺陷进行计算，它包括与文档规范相关的缺陷和文档内容方面的缺陷，若两者对应的权重分别为</a:t>
            </a:r>
            <a:r>
              <a:rPr lang="en-US" altLang="zh-CN" sz="2400"/>
              <a:t>w1</a:t>
            </a:r>
            <a:r>
              <a:rPr lang="zh-CN" altLang="en-US" sz="2400"/>
              <a:t>和</a:t>
            </a:r>
            <a:r>
              <a:rPr lang="en-US" altLang="zh-CN" sz="2400"/>
              <a:t>w2</a:t>
            </a:r>
            <a:r>
              <a:rPr lang="zh-CN" altLang="en-US" sz="2400"/>
              <a:t>，对应缺陷数为</a:t>
            </a:r>
            <a:r>
              <a:rPr lang="en-US" altLang="zh-CN" sz="2400"/>
              <a:t>n1</a:t>
            </a:r>
            <a:r>
              <a:rPr lang="zh-CN" altLang="en-US" sz="2400"/>
              <a:t>和</a:t>
            </a:r>
            <a:r>
              <a:rPr lang="en-US" altLang="zh-CN" sz="2400"/>
              <a:t>n2</a:t>
            </a:r>
            <a:r>
              <a:rPr lang="zh-CN" altLang="en-US" sz="2400"/>
              <a:t>，文档总页数为</a:t>
            </a:r>
            <a:r>
              <a:rPr lang="en-US" altLang="zh-CN" sz="2400"/>
              <a:t>P</a:t>
            </a:r>
            <a:r>
              <a:rPr lang="zh-CN" altLang="en-US" sz="2400"/>
              <a:t>，则文档缺失密度的计算方法如下：</a:t>
            </a:r>
            <a:endParaRPr lang="zh-CN" altLang="zh-CN" sz="2400"/>
          </a:p>
        </p:txBody>
      </p:sp>
      <p:pic>
        <p:nvPicPr>
          <p:cNvPr id="55300" name="图片 1">
            <a:extLst>
              <a:ext uri="{FF2B5EF4-FFF2-40B4-BE49-F238E27FC236}">
                <a16:creationId xmlns:a16="http://schemas.microsoft.com/office/drawing/2014/main" id="{3577F136-80E9-1684-D96B-6A2F26D6C1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5734050"/>
            <a:ext cx="4752975"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48C4D132-0AF4-EBB7-8698-63EE567483EC}"/>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56323" name="内容占位符 1">
            <a:extLst>
              <a:ext uri="{FF2B5EF4-FFF2-40B4-BE49-F238E27FC236}">
                <a16:creationId xmlns:a16="http://schemas.microsoft.com/office/drawing/2014/main" id="{9F678986-E1B1-3721-65D3-48471F8C5036}"/>
              </a:ext>
            </a:extLst>
          </p:cNvPr>
          <p:cNvSpPr>
            <a:spLocks noGrp="1" noChangeArrowheads="1"/>
          </p:cNvSpPr>
          <p:nvPr>
            <p:ph idx="1"/>
          </p:nvPr>
        </p:nvSpPr>
        <p:spPr>
          <a:xfrm>
            <a:off x="684213" y="2062163"/>
            <a:ext cx="8280400" cy="4751387"/>
          </a:xfrm>
        </p:spPr>
        <p:txBody>
          <a:bodyPr/>
          <a:lstStyle/>
          <a:p>
            <a:pPr>
              <a:lnSpc>
                <a:spcPct val="150000"/>
              </a:lnSpc>
            </a:pPr>
            <a:r>
              <a:rPr lang="zh-CN" altLang="en-US" sz="2400" dirty="0"/>
              <a:t>（</a:t>
            </a:r>
            <a:r>
              <a:rPr lang="en-US" altLang="zh-CN" sz="2400" dirty="0"/>
              <a:t>5</a:t>
            </a:r>
            <a:r>
              <a:rPr lang="zh-CN" altLang="en-US" sz="2400" dirty="0"/>
              <a:t>）</a:t>
            </a:r>
            <a:r>
              <a:rPr lang="zh-CN" altLang="zh-CN" sz="2400" dirty="0"/>
              <a:t>用户问题度量</a:t>
            </a:r>
            <a:endParaRPr lang="en-US" altLang="zh-CN" sz="2400" dirty="0"/>
          </a:p>
          <a:p>
            <a:pPr>
              <a:lnSpc>
                <a:spcPct val="150000"/>
              </a:lnSpc>
            </a:pPr>
            <a:r>
              <a:rPr lang="zh-CN" altLang="zh-CN" sz="2400" dirty="0"/>
              <a:t>指一段时间内的用户上报的平均问题数</a:t>
            </a:r>
            <a:endParaRPr lang="en-US" altLang="zh-CN" sz="2400" dirty="0"/>
          </a:p>
          <a:p>
            <a:pPr>
              <a:lnSpc>
                <a:spcPct val="150000"/>
              </a:lnSpc>
            </a:pPr>
            <a:r>
              <a:rPr lang="zh-CN" altLang="zh-CN" sz="2400" dirty="0"/>
              <a:t>用户问题度量</a:t>
            </a:r>
            <a:r>
              <a:rPr lang="en-US" altLang="zh-CN" sz="2400" dirty="0"/>
              <a:t> = </a:t>
            </a:r>
            <a:r>
              <a:rPr lang="zh-CN" altLang="zh-CN" sz="2400" dirty="0"/>
              <a:t>一段时间内用户上报的问题总数（包括有效缺陷和非缺陷问题）</a:t>
            </a:r>
            <a:r>
              <a:rPr lang="en-US" altLang="zh-CN" sz="2400" dirty="0"/>
              <a:t> / </a:t>
            </a:r>
            <a:r>
              <a:rPr lang="zh-CN" altLang="zh-CN" sz="2400" dirty="0"/>
              <a:t>（已销售软件套数</a:t>
            </a:r>
            <a:r>
              <a:rPr lang="en-US" altLang="zh-CN" sz="2400" dirty="0"/>
              <a:t> * </a:t>
            </a:r>
            <a:r>
              <a:rPr lang="zh-CN" altLang="zh-CN" sz="2400" dirty="0"/>
              <a:t>时间间隔）</a:t>
            </a:r>
            <a:endParaRPr lang="en-US" altLang="zh-CN" sz="2400" dirty="0"/>
          </a:p>
          <a:p>
            <a:pPr>
              <a:lnSpc>
                <a:spcPct val="150000"/>
              </a:lnSpc>
            </a:pPr>
            <a:r>
              <a:rPr lang="zh-CN" altLang="zh-CN" sz="2400" dirty="0"/>
              <a:t>主要在产品发布之后使用</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895F2DC1-5271-057B-2709-0ACA56B7EA9A}"/>
              </a:ext>
            </a:extLst>
          </p:cNvPr>
          <p:cNvSpPr>
            <a:spLocks noGrp="1" noChangeArrowheads="1"/>
          </p:cNvSpPr>
          <p:nvPr>
            <p:ph type="title"/>
          </p:nvPr>
        </p:nvSpPr>
        <p:spPr>
          <a:noFill/>
        </p:spPr>
        <p:txBody>
          <a:bodyPr/>
          <a:lstStyle/>
          <a:p>
            <a:pPr eaLnBrk="1" hangingPunct="1"/>
            <a:r>
              <a:rPr lang="en-US" altLang="zh-CN" dirty="0"/>
              <a:t>4.2.2  </a:t>
            </a:r>
            <a:r>
              <a:rPr lang="zh-CN" altLang="en-US" dirty="0"/>
              <a:t>软件质量度量的内容</a:t>
            </a:r>
            <a:endParaRPr kumimoji="1" lang="zh-CN" altLang="en-US" dirty="0"/>
          </a:p>
        </p:txBody>
      </p:sp>
      <p:sp>
        <p:nvSpPr>
          <p:cNvPr id="57347" name="内容占位符 1">
            <a:extLst>
              <a:ext uri="{FF2B5EF4-FFF2-40B4-BE49-F238E27FC236}">
                <a16:creationId xmlns:a16="http://schemas.microsoft.com/office/drawing/2014/main" id="{E4A5A27C-C7FC-42C5-09F7-26A662C536EA}"/>
              </a:ext>
            </a:extLst>
          </p:cNvPr>
          <p:cNvSpPr>
            <a:spLocks noGrp="1" noChangeArrowheads="1"/>
          </p:cNvSpPr>
          <p:nvPr>
            <p:ph idx="1"/>
          </p:nvPr>
        </p:nvSpPr>
        <p:spPr>
          <a:xfrm>
            <a:off x="611188" y="1916113"/>
            <a:ext cx="8281987" cy="4608512"/>
          </a:xfrm>
        </p:spPr>
        <p:txBody>
          <a:bodyPr/>
          <a:lstStyle/>
          <a:p>
            <a:r>
              <a:rPr lang="zh-CN" altLang="en-US" sz="2400" dirty="0"/>
              <a:t>（</a:t>
            </a:r>
            <a:r>
              <a:rPr lang="en-US" altLang="zh-CN" sz="2400" dirty="0"/>
              <a:t>6</a:t>
            </a:r>
            <a:r>
              <a:rPr lang="zh-CN" altLang="en-US" sz="2400" dirty="0"/>
              <a:t>）</a:t>
            </a:r>
            <a:r>
              <a:rPr lang="zh-CN" altLang="zh-CN" sz="2400" dirty="0"/>
              <a:t>用户满意度度量</a:t>
            </a:r>
            <a:endParaRPr lang="en-US" altLang="zh-CN" sz="2400" dirty="0"/>
          </a:p>
          <a:p>
            <a:r>
              <a:rPr lang="zh-CN" altLang="zh-CN" sz="2400" dirty="0"/>
              <a:t>必须建立客户满意度指标</a:t>
            </a:r>
            <a:endParaRPr lang="en-US" altLang="zh-CN" sz="2400" dirty="0"/>
          </a:p>
          <a:p>
            <a:r>
              <a:rPr lang="zh-CN" altLang="zh-CN" sz="2400" dirty="0"/>
              <a:t>产品型的服务</a:t>
            </a:r>
            <a:endParaRPr lang="en-US" altLang="zh-CN" sz="2400" dirty="0"/>
          </a:p>
          <a:p>
            <a:pPr lvl="1">
              <a:buFont typeface="Wingdings" panose="05000000000000000000" pitchFamily="2" charset="2"/>
              <a:buChar char="ü"/>
            </a:pPr>
            <a:r>
              <a:rPr lang="zh-CN" altLang="zh-CN" sz="2000" dirty="0"/>
              <a:t>从产品本身、技术支持、市场营销、管理等方面建立客户满意度指标</a:t>
            </a:r>
            <a:endParaRPr lang="en-US" altLang="zh-CN" sz="2000" dirty="0"/>
          </a:p>
          <a:p>
            <a:pPr lvl="1">
              <a:buFont typeface="Wingdings" panose="05000000000000000000" pitchFamily="2" charset="2"/>
              <a:buChar char="ü"/>
            </a:pPr>
            <a:r>
              <a:rPr lang="zh-CN" altLang="zh-CN" sz="2000" dirty="0"/>
              <a:t>如产品的可靠性、有效性、易用性、购买流程复杂性、质保期限等</a:t>
            </a:r>
            <a:endParaRPr lang="en-US" altLang="zh-CN" sz="2000" dirty="0"/>
          </a:p>
          <a:p>
            <a:r>
              <a:rPr lang="zh-CN" altLang="zh-CN" sz="2400" dirty="0"/>
              <a:t>项目型的服务</a:t>
            </a:r>
            <a:endParaRPr lang="en-US" altLang="zh-CN" sz="2400" dirty="0"/>
          </a:p>
          <a:p>
            <a:pPr lvl="1">
              <a:buFont typeface="Wingdings" panose="05000000000000000000" pitchFamily="2" charset="2"/>
              <a:buChar char="ü"/>
            </a:pPr>
            <a:r>
              <a:rPr lang="zh-CN" altLang="zh-CN" sz="2000" dirty="0"/>
              <a:t>从用户与开发方之间的合作过程建立客户满意度指标</a:t>
            </a:r>
            <a:endParaRPr lang="en-US" altLang="zh-CN" sz="2000" dirty="0"/>
          </a:p>
          <a:p>
            <a:pPr lvl="1">
              <a:buFont typeface="Wingdings" panose="05000000000000000000" pitchFamily="2" charset="2"/>
              <a:buChar char="ü"/>
            </a:pPr>
            <a:r>
              <a:rPr lang="zh-CN" altLang="zh-CN" sz="2000" dirty="0"/>
              <a:t>如产品本身的功能、性能、可安装性、相关文档的准确性、清晰性、项目进度及时性、技术沟通能力、运行维护的能力等</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893700E-D961-DC85-F9F9-BE07A6D115A0}"/>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58371" name="内容占位符 1">
            <a:extLst>
              <a:ext uri="{FF2B5EF4-FFF2-40B4-BE49-F238E27FC236}">
                <a16:creationId xmlns:a16="http://schemas.microsoft.com/office/drawing/2014/main" id="{F5001279-0FFB-ADB3-6AD2-A38F7BB98FAC}"/>
              </a:ext>
            </a:extLst>
          </p:cNvPr>
          <p:cNvSpPr>
            <a:spLocks noGrp="1" noChangeArrowheads="1"/>
          </p:cNvSpPr>
          <p:nvPr>
            <p:ph idx="1"/>
          </p:nvPr>
        </p:nvSpPr>
        <p:spPr>
          <a:xfrm>
            <a:off x="755650" y="1989138"/>
            <a:ext cx="8064500" cy="4391025"/>
          </a:xfrm>
        </p:spPr>
        <p:txBody>
          <a:bodyPr/>
          <a:lstStyle/>
          <a:p>
            <a:pPr algn="just" eaLnBrk="1" hangingPunct="1">
              <a:lnSpc>
                <a:spcPct val="120000"/>
              </a:lnSpc>
              <a:spcBef>
                <a:spcPts val="1200"/>
              </a:spcBef>
              <a:buSzPct val="70000"/>
              <a:buFont typeface="Wingdings" panose="05000000000000000000" pitchFamily="2" charset="2"/>
              <a:buChar char="n"/>
            </a:pPr>
            <a:r>
              <a:rPr kumimoji="1" lang="zh-CN" altLang="en-US" sz="2400">
                <a:solidFill>
                  <a:schemeClr val="accent2"/>
                </a:solidFill>
                <a:latin typeface="黑体" panose="02010609060101010101" pitchFamily="49" charset="-122"/>
                <a:ea typeface="黑体" panose="02010609060101010101" pitchFamily="49" charset="-122"/>
              </a:rPr>
              <a:t>软件过程质量度量</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lnSpc>
                <a:spcPct val="120000"/>
              </a:lnSpc>
              <a:spcBef>
                <a:spcPts val="1200"/>
              </a:spcBef>
              <a:buSzPct val="70000"/>
              <a:buFont typeface="Wingdings" panose="05000000000000000000" pitchFamily="2" charset="2"/>
              <a:buChar char="n"/>
            </a:pPr>
            <a:r>
              <a:rPr kumimoji="1" lang="zh-CN" altLang="zh-CN" sz="2400">
                <a:solidFill>
                  <a:schemeClr val="accent2"/>
                </a:solidFill>
                <a:latin typeface="黑体" panose="02010609060101010101" pitchFamily="49" charset="-122"/>
                <a:ea typeface="黑体" panose="02010609060101010101" pitchFamily="49" charset="-122"/>
              </a:rPr>
              <a:t>对软件开发过程进行监控和管理，以提高软件过程质量</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lnSpc>
                <a:spcPct val="120000"/>
              </a:lnSpc>
              <a:spcBef>
                <a:spcPts val="1200"/>
              </a:spcBef>
              <a:buSzPct val="70000"/>
              <a:buFont typeface="Wingdings" panose="05000000000000000000" pitchFamily="2" charset="2"/>
              <a:buChar char="n"/>
            </a:pPr>
            <a:r>
              <a:rPr kumimoji="1" lang="zh-CN" altLang="zh-CN" sz="2400">
                <a:solidFill>
                  <a:schemeClr val="accent2"/>
                </a:solidFill>
                <a:latin typeface="黑体" panose="02010609060101010101" pitchFamily="49" charset="-122"/>
                <a:ea typeface="黑体" panose="02010609060101010101" pitchFamily="49" charset="-122"/>
              </a:rPr>
              <a:t>侧重点</a:t>
            </a:r>
            <a:r>
              <a:rPr kumimoji="1" lang="zh-CN" altLang="en-US" sz="2400">
                <a:solidFill>
                  <a:schemeClr val="accent2"/>
                </a:solidFill>
                <a:latin typeface="黑体" panose="02010609060101010101" pitchFamily="49" charset="-122"/>
                <a:ea typeface="黑体" panose="02010609060101010101" pitchFamily="49" charset="-122"/>
              </a:rPr>
              <a:t>：</a:t>
            </a:r>
            <a:r>
              <a:rPr kumimoji="1" lang="zh-CN" altLang="zh-CN" sz="2400">
                <a:solidFill>
                  <a:schemeClr val="accent2"/>
                </a:solidFill>
                <a:latin typeface="黑体" panose="02010609060101010101" pitchFamily="49" charset="-122"/>
                <a:ea typeface="黑体" panose="02010609060101010101" pitchFamily="49" charset="-122"/>
              </a:rPr>
              <a:t>对当前情况和状态加以理解和控制，并包含对过程的改善和未来过程的能力预测</a:t>
            </a:r>
            <a:endParaRPr kumimoji="1" lang="en-US" altLang="zh-CN" sz="2400">
              <a:solidFill>
                <a:schemeClr val="accent2"/>
              </a:solidFill>
              <a:latin typeface="黑体" panose="02010609060101010101" pitchFamily="49" charset="-122"/>
              <a:ea typeface="黑体" panose="02010609060101010101" pitchFamily="49" charset="-122"/>
            </a:endParaRPr>
          </a:p>
          <a:p>
            <a:pPr algn="just" eaLnBrk="1" hangingPunct="1">
              <a:lnSpc>
                <a:spcPct val="120000"/>
              </a:lnSpc>
              <a:spcBef>
                <a:spcPts val="1200"/>
              </a:spcBef>
              <a:buSzPct val="70000"/>
              <a:buFont typeface="Wingdings" panose="05000000000000000000" pitchFamily="2" charset="2"/>
              <a:buChar char="n"/>
            </a:pPr>
            <a:r>
              <a:rPr kumimoji="1" lang="zh-CN" altLang="zh-CN" sz="2400">
                <a:solidFill>
                  <a:schemeClr val="accent2"/>
                </a:solidFill>
                <a:latin typeface="黑体" panose="02010609060101010101" pitchFamily="49" charset="-122"/>
                <a:ea typeface="黑体" panose="02010609060101010101" pitchFamily="49" charset="-122"/>
              </a:rPr>
              <a:t>内容主要包括</a:t>
            </a:r>
            <a:endParaRPr kumimoji="1" lang="en-US" altLang="zh-CN" sz="2400">
              <a:solidFill>
                <a:schemeClr val="accent2"/>
              </a:solidFill>
              <a:latin typeface="黑体" panose="02010609060101010101" pitchFamily="49" charset="-122"/>
              <a:ea typeface="黑体" panose="02010609060101010101" pitchFamily="49" charset="-122"/>
            </a:endParaRPr>
          </a:p>
          <a:p>
            <a:pPr lvl="1" algn="just" eaLnBrk="1" hangingPunct="1">
              <a:lnSpc>
                <a:spcPct val="120000"/>
              </a:lnSpc>
              <a:spcBef>
                <a:spcPts val="1200"/>
              </a:spcBef>
              <a:buSzPct val="70000"/>
              <a:buFont typeface="Wingdings" panose="05000000000000000000" pitchFamily="2" charset="2"/>
              <a:buChar char="ü"/>
            </a:pPr>
            <a:r>
              <a:rPr kumimoji="1" lang="zh-CN" altLang="zh-CN" sz="2000">
                <a:solidFill>
                  <a:schemeClr val="accent2"/>
                </a:solidFill>
                <a:latin typeface="黑体" panose="02010609060101010101" pitchFamily="49" charset="-122"/>
                <a:ea typeface="黑体" panose="02010609060101010101" pitchFamily="49" charset="-122"/>
              </a:rPr>
              <a:t>软件成熟度度量</a:t>
            </a:r>
            <a:endParaRPr kumimoji="1" lang="en-US" altLang="zh-CN" sz="2000">
              <a:solidFill>
                <a:schemeClr val="accent2"/>
              </a:solidFill>
              <a:latin typeface="黑体" panose="02010609060101010101" pitchFamily="49" charset="-122"/>
              <a:ea typeface="黑体" panose="02010609060101010101" pitchFamily="49" charset="-122"/>
            </a:endParaRPr>
          </a:p>
          <a:p>
            <a:pPr lvl="1" algn="just" eaLnBrk="1" hangingPunct="1">
              <a:lnSpc>
                <a:spcPct val="120000"/>
              </a:lnSpc>
              <a:spcBef>
                <a:spcPts val="1200"/>
              </a:spcBef>
              <a:buSzPct val="70000"/>
              <a:buFont typeface="Wingdings" panose="05000000000000000000" pitchFamily="2" charset="2"/>
              <a:buChar char="ü"/>
            </a:pPr>
            <a:r>
              <a:rPr kumimoji="1" lang="zh-CN" altLang="zh-CN" sz="2000">
                <a:solidFill>
                  <a:schemeClr val="accent2"/>
                </a:solidFill>
                <a:latin typeface="黑体" panose="02010609060101010101" pitchFamily="49" charset="-122"/>
                <a:ea typeface="黑体" panose="02010609060101010101" pitchFamily="49" charset="-122"/>
              </a:rPr>
              <a:t>管理度量</a:t>
            </a:r>
            <a:endParaRPr kumimoji="1" lang="en-US" altLang="zh-CN" sz="2000">
              <a:solidFill>
                <a:schemeClr val="accent2"/>
              </a:solidFill>
              <a:latin typeface="黑体" panose="02010609060101010101" pitchFamily="49" charset="-122"/>
              <a:ea typeface="黑体" panose="02010609060101010101" pitchFamily="49" charset="-122"/>
            </a:endParaRPr>
          </a:p>
          <a:p>
            <a:pPr lvl="1" algn="just" eaLnBrk="1" hangingPunct="1">
              <a:lnSpc>
                <a:spcPct val="120000"/>
              </a:lnSpc>
              <a:spcBef>
                <a:spcPts val="1200"/>
              </a:spcBef>
              <a:buSzPct val="70000"/>
              <a:buFont typeface="Wingdings" panose="05000000000000000000" pitchFamily="2" charset="2"/>
              <a:buChar char="ü"/>
            </a:pPr>
            <a:r>
              <a:rPr kumimoji="1" lang="zh-CN" altLang="zh-CN" sz="2000">
                <a:solidFill>
                  <a:schemeClr val="accent2"/>
                </a:solidFill>
                <a:latin typeface="黑体" panose="02010609060101010101" pitchFamily="49" charset="-122"/>
                <a:ea typeface="黑体" panose="02010609060101010101" pitchFamily="49" charset="-122"/>
              </a:rPr>
              <a:t>生命周期度量</a:t>
            </a:r>
            <a:endParaRPr kumimoji="1" lang="zh-CN" altLang="en-US" sz="20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F53B743D-BC92-5263-FDA4-77848C9B9843}"/>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59395" name="内容占位符 1">
            <a:extLst>
              <a:ext uri="{FF2B5EF4-FFF2-40B4-BE49-F238E27FC236}">
                <a16:creationId xmlns:a16="http://schemas.microsoft.com/office/drawing/2014/main" id="{40B4F8FB-1398-2AB2-BB07-367C7DE44098}"/>
              </a:ext>
            </a:extLst>
          </p:cNvPr>
          <p:cNvSpPr>
            <a:spLocks noGrp="1" noChangeArrowheads="1"/>
          </p:cNvSpPr>
          <p:nvPr>
            <p:ph idx="1"/>
          </p:nvPr>
        </p:nvSpPr>
        <p:spPr>
          <a:xfrm>
            <a:off x="611188" y="1990725"/>
            <a:ext cx="8137525" cy="4175125"/>
          </a:xfrm>
        </p:spPr>
        <p:txBody>
          <a:bodyPr/>
          <a:lstStyle/>
          <a:p>
            <a:r>
              <a:rPr lang="zh-CN" altLang="en-US" sz="2400" dirty="0"/>
              <a:t>（</a:t>
            </a:r>
            <a:r>
              <a:rPr lang="en-US" altLang="zh-CN" sz="2400" dirty="0"/>
              <a:t>1</a:t>
            </a:r>
            <a:r>
              <a:rPr lang="zh-CN" altLang="en-US" sz="2400" dirty="0"/>
              <a:t>）</a:t>
            </a:r>
            <a:r>
              <a:rPr lang="zh-CN" altLang="zh-CN" sz="2400" dirty="0"/>
              <a:t>需求分析过程质量度量</a:t>
            </a:r>
            <a:endParaRPr lang="en-US" altLang="zh-CN" sz="2400" dirty="0"/>
          </a:p>
          <a:p>
            <a:pPr>
              <a:lnSpc>
                <a:spcPct val="110000"/>
              </a:lnSpc>
            </a:pPr>
            <a:r>
              <a:rPr lang="zh-CN" altLang="zh-CN" sz="2400" dirty="0"/>
              <a:t>需求文档（即需求规格说明书）</a:t>
            </a:r>
            <a:r>
              <a:rPr lang="zh-CN" altLang="en-US" sz="2400" dirty="0"/>
              <a:t>的</a:t>
            </a:r>
            <a:r>
              <a:rPr lang="zh-CN" altLang="zh-CN" sz="2400" dirty="0"/>
              <a:t>质量</a:t>
            </a:r>
            <a:endParaRPr lang="en-US" altLang="zh-CN" sz="2400" dirty="0"/>
          </a:p>
          <a:p>
            <a:pPr lvl="1">
              <a:buFont typeface="Wingdings" panose="05000000000000000000" pitchFamily="2" charset="2"/>
              <a:buChar char="ü"/>
            </a:pPr>
            <a:r>
              <a:rPr lang="zh-CN" altLang="zh-CN" sz="2000" dirty="0"/>
              <a:t>一般采用评审需求规格说明书的形式来展开</a:t>
            </a:r>
            <a:endParaRPr lang="en-US" altLang="zh-CN" sz="2000" dirty="0"/>
          </a:p>
          <a:p>
            <a:pPr lvl="1">
              <a:buFont typeface="Wingdings" panose="05000000000000000000" pitchFamily="2" charset="2"/>
              <a:buChar char="ü"/>
            </a:pPr>
            <a:r>
              <a:rPr lang="zh-CN" altLang="zh-CN" sz="2000" dirty="0"/>
              <a:t>针对需求的完整性、正确性、可理解性、可测试性、一致性、可追踪性、可修改性、精确性和可复用性等特性进行评审</a:t>
            </a:r>
            <a:endParaRPr lang="en-US" altLang="zh-CN" sz="2000" dirty="0"/>
          </a:p>
          <a:p>
            <a:r>
              <a:rPr lang="zh-CN" altLang="zh-CN" sz="2400" dirty="0"/>
              <a:t>需求稳定性（即需求变更）</a:t>
            </a:r>
            <a:endParaRPr lang="en-US" altLang="zh-CN" sz="2400" dirty="0"/>
          </a:p>
          <a:p>
            <a:pPr lvl="1">
              <a:buFont typeface="Wingdings" panose="05000000000000000000" pitchFamily="2" charset="2"/>
              <a:buChar char="ü"/>
            </a:pPr>
            <a:r>
              <a:rPr lang="zh-CN" altLang="zh-CN" sz="2000" dirty="0"/>
              <a:t>需求稳定</a:t>
            </a:r>
            <a:r>
              <a:rPr lang="zh-CN" altLang="en-US" sz="2000" dirty="0"/>
              <a:t>指数</a:t>
            </a:r>
            <a:r>
              <a:rPr lang="zh-CN" altLang="zh-CN" sz="2000" dirty="0"/>
              <a:t>（</a:t>
            </a:r>
            <a:r>
              <a:rPr lang="en-US" altLang="zh-CN" sz="2000" dirty="0"/>
              <a:t>Requirements Stability Index</a:t>
            </a:r>
            <a:r>
              <a:rPr lang="zh-CN" altLang="zh-CN" sz="2000" dirty="0"/>
              <a:t>，</a:t>
            </a:r>
            <a:r>
              <a:rPr lang="en-US" altLang="zh-CN" sz="2000" dirty="0"/>
              <a:t>RSI</a:t>
            </a:r>
            <a:r>
              <a:rPr lang="zh-CN" altLang="zh-CN" sz="2000" dirty="0"/>
              <a:t>）</a:t>
            </a:r>
          </a:p>
        </p:txBody>
      </p:sp>
      <p:pic>
        <p:nvPicPr>
          <p:cNvPr id="59396" name="图片 1">
            <a:extLst>
              <a:ext uri="{FF2B5EF4-FFF2-40B4-BE49-F238E27FC236}">
                <a16:creationId xmlns:a16="http://schemas.microsoft.com/office/drawing/2014/main" id="{F5CF4F0F-95A8-F2FA-E406-8A4CD9A4EE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940300"/>
            <a:ext cx="82073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EF832EB5-B3D2-3546-370D-DF5B2D7EE34D}"/>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60419" name="内容占位符 1">
            <a:extLst>
              <a:ext uri="{FF2B5EF4-FFF2-40B4-BE49-F238E27FC236}">
                <a16:creationId xmlns:a16="http://schemas.microsoft.com/office/drawing/2014/main" id="{F8F8E5B1-9B19-A67B-FF39-5205C2D5FDED}"/>
              </a:ext>
            </a:extLst>
          </p:cNvPr>
          <p:cNvSpPr>
            <a:spLocks noGrp="1" noChangeArrowheads="1"/>
          </p:cNvSpPr>
          <p:nvPr>
            <p:ph idx="1"/>
          </p:nvPr>
        </p:nvSpPr>
        <p:spPr>
          <a:xfrm>
            <a:off x="755650" y="1990725"/>
            <a:ext cx="7848600" cy="3741738"/>
          </a:xfrm>
        </p:spPr>
        <p:txBody>
          <a:bodyPr/>
          <a:lstStyle/>
          <a:p>
            <a:pPr>
              <a:lnSpc>
                <a:spcPct val="150000"/>
              </a:lnSpc>
            </a:pPr>
            <a:r>
              <a:rPr lang="zh-CN" altLang="en-US" sz="2400"/>
              <a:t>（</a:t>
            </a:r>
            <a:r>
              <a:rPr lang="en-US" altLang="zh-CN" sz="2400"/>
              <a:t>2</a:t>
            </a:r>
            <a:r>
              <a:rPr lang="zh-CN" altLang="en-US" sz="2400"/>
              <a:t>）</a:t>
            </a:r>
            <a:r>
              <a:rPr lang="zh-CN" altLang="zh-CN" sz="2400"/>
              <a:t>开发过程质量度量</a:t>
            </a:r>
            <a:endParaRPr lang="en-US" altLang="zh-CN" sz="2400"/>
          </a:p>
          <a:p>
            <a:pPr>
              <a:lnSpc>
                <a:spcPct val="150000"/>
              </a:lnSpc>
            </a:pPr>
            <a:r>
              <a:rPr lang="zh-CN" altLang="zh-CN" sz="2400"/>
              <a:t>从过程效率、过程工作量及质量角度来度量</a:t>
            </a:r>
            <a:endParaRPr lang="en-US" altLang="zh-CN" sz="2400"/>
          </a:p>
          <a:p>
            <a:pPr>
              <a:lnSpc>
                <a:spcPct val="150000"/>
              </a:lnSpc>
            </a:pPr>
            <a:r>
              <a:rPr lang="zh-CN" altLang="en-US" sz="2400"/>
              <a:t>典型指标</a:t>
            </a:r>
            <a:endParaRPr lang="en-US" altLang="zh-CN" sz="2400"/>
          </a:p>
          <a:p>
            <a:pPr lvl="1">
              <a:lnSpc>
                <a:spcPct val="150000"/>
              </a:lnSpc>
              <a:buFont typeface="Wingdings" panose="05000000000000000000" pitchFamily="2" charset="2"/>
              <a:buChar char="ü"/>
            </a:pPr>
            <a:r>
              <a:rPr lang="zh-CN" altLang="zh-CN" sz="2000"/>
              <a:t>过程生产率</a:t>
            </a:r>
            <a:endParaRPr lang="en-US" altLang="zh-CN" sz="2000"/>
          </a:p>
          <a:p>
            <a:pPr lvl="1">
              <a:lnSpc>
                <a:spcPct val="150000"/>
              </a:lnSpc>
              <a:buFont typeface="Wingdings" panose="05000000000000000000" pitchFamily="2" charset="2"/>
              <a:buChar char="ü"/>
            </a:pPr>
            <a:r>
              <a:rPr lang="zh-CN" altLang="zh-CN" sz="2000"/>
              <a:t>累计缺陷总数</a:t>
            </a:r>
            <a:endParaRPr lang="en-US" altLang="zh-CN" sz="2000"/>
          </a:p>
          <a:p>
            <a:endParaRPr lang="zh-CN" altLang="zh-CN"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D2F4CB0-6071-92DD-4DEB-012E7E646F4B}"/>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61443" name="内容占位符 1">
            <a:extLst>
              <a:ext uri="{FF2B5EF4-FFF2-40B4-BE49-F238E27FC236}">
                <a16:creationId xmlns:a16="http://schemas.microsoft.com/office/drawing/2014/main" id="{DF4CD1D4-0807-57CB-DFEA-E3A445B8362A}"/>
              </a:ext>
            </a:extLst>
          </p:cNvPr>
          <p:cNvSpPr>
            <a:spLocks noGrp="1" noChangeArrowheads="1"/>
          </p:cNvSpPr>
          <p:nvPr>
            <p:ph idx="1"/>
          </p:nvPr>
        </p:nvSpPr>
        <p:spPr>
          <a:xfrm>
            <a:off x="827088" y="1990725"/>
            <a:ext cx="7416800" cy="4751388"/>
          </a:xfrm>
        </p:spPr>
        <p:txBody>
          <a:bodyPr/>
          <a:lstStyle/>
          <a:p>
            <a:r>
              <a:rPr lang="zh-CN" altLang="en-US" sz="2400" dirty="0"/>
              <a:t>（</a:t>
            </a:r>
            <a:r>
              <a:rPr lang="en-US" altLang="zh-CN" sz="2400" dirty="0"/>
              <a:t>3</a:t>
            </a:r>
            <a:r>
              <a:rPr lang="zh-CN" altLang="en-US" sz="2400" dirty="0"/>
              <a:t>）</a:t>
            </a:r>
            <a:r>
              <a:rPr lang="zh-CN" altLang="zh-CN" sz="2400" dirty="0"/>
              <a:t>测试过程质量度量</a:t>
            </a:r>
            <a:endParaRPr lang="en-US" altLang="zh-CN" sz="2400" dirty="0"/>
          </a:p>
          <a:p>
            <a:r>
              <a:rPr lang="zh-CN" altLang="zh-CN" sz="2400" dirty="0"/>
              <a:t>从测试工作和测试结果两方面来度量</a:t>
            </a:r>
            <a:endParaRPr lang="en-US" altLang="zh-CN" sz="2400" dirty="0"/>
          </a:p>
          <a:p>
            <a:r>
              <a:rPr lang="zh-CN" altLang="en-US" sz="2400" dirty="0"/>
              <a:t>典型指标</a:t>
            </a:r>
            <a:endParaRPr lang="en-US" altLang="zh-CN" sz="2400" dirty="0"/>
          </a:p>
          <a:p>
            <a:pPr lvl="1">
              <a:buFont typeface="Wingdings" panose="05000000000000000000" pitchFamily="2" charset="2"/>
              <a:buChar char="ü"/>
            </a:pPr>
            <a:r>
              <a:rPr lang="zh-CN" altLang="zh-CN" sz="1800" dirty="0">
                <a:solidFill>
                  <a:srgbClr val="FF0000"/>
                </a:solidFill>
              </a:rPr>
              <a:t>测试用例深度</a:t>
            </a:r>
            <a:r>
              <a:rPr lang="zh-CN" altLang="en-US" sz="1800" dirty="0">
                <a:solidFill>
                  <a:srgbClr val="FF0000"/>
                </a:solidFill>
              </a:rPr>
              <a:t>：</a:t>
            </a:r>
            <a:r>
              <a:rPr lang="zh-CN" altLang="en-US" sz="1800" dirty="0"/>
              <a:t>一定软件规模下的测试用例数</a:t>
            </a:r>
            <a:endParaRPr lang="en-US" altLang="zh-CN" sz="1800" dirty="0"/>
          </a:p>
          <a:p>
            <a:pPr lvl="1">
              <a:buFont typeface="Wingdings" panose="05000000000000000000" pitchFamily="2" charset="2"/>
              <a:buChar char="ü"/>
            </a:pPr>
            <a:r>
              <a:rPr lang="zh-CN" altLang="en-US" sz="1800" dirty="0">
                <a:solidFill>
                  <a:srgbClr val="FF0000"/>
                </a:solidFill>
              </a:rPr>
              <a:t>测试用例效率：</a:t>
            </a:r>
            <a:r>
              <a:rPr lang="zh-CN" altLang="en-US" sz="1800" dirty="0"/>
              <a:t>一定规模测试用例下所发现缺陷的数目</a:t>
            </a:r>
            <a:endParaRPr lang="en-US" altLang="zh-CN" sz="1800" dirty="0"/>
          </a:p>
          <a:p>
            <a:pPr lvl="1">
              <a:buFont typeface="Wingdings" panose="05000000000000000000" pitchFamily="2" charset="2"/>
              <a:buChar char="ü"/>
            </a:pPr>
            <a:r>
              <a:rPr lang="zh-CN" altLang="zh-CN" sz="1800" dirty="0">
                <a:solidFill>
                  <a:srgbClr val="FF0000"/>
                </a:solidFill>
              </a:rPr>
              <a:t>测试用例</a:t>
            </a:r>
            <a:r>
              <a:rPr lang="zh-CN" altLang="en-US" sz="1800" dirty="0">
                <a:solidFill>
                  <a:srgbClr val="FF0000"/>
                </a:solidFill>
              </a:rPr>
              <a:t>质量：</a:t>
            </a:r>
            <a:r>
              <a:rPr lang="zh-CN" altLang="en-US" sz="1800" dirty="0"/>
              <a:t>通过测试用例所发现的缺陷占总缺陷比例</a:t>
            </a:r>
            <a:endParaRPr lang="en-US" altLang="zh-CN" sz="1800" dirty="0"/>
          </a:p>
          <a:p>
            <a:pPr lvl="1">
              <a:buFont typeface="Wingdings" panose="05000000000000000000" pitchFamily="2" charset="2"/>
              <a:buChar char="ü"/>
            </a:pPr>
            <a:r>
              <a:rPr lang="zh-CN" altLang="zh-CN" sz="1800" dirty="0">
                <a:solidFill>
                  <a:srgbClr val="FF0000"/>
                </a:solidFill>
              </a:rPr>
              <a:t>测试用例</a:t>
            </a:r>
            <a:r>
              <a:rPr lang="zh-CN" altLang="en-US" sz="1800" dirty="0">
                <a:solidFill>
                  <a:srgbClr val="FF0000"/>
                </a:solidFill>
              </a:rPr>
              <a:t>执行质量：</a:t>
            </a:r>
            <a:r>
              <a:rPr lang="zh-CN" altLang="en-US" sz="1800" dirty="0"/>
              <a:t>软件发布后遗留缺陷占所有缺陷比例</a:t>
            </a:r>
            <a:endParaRPr lang="en-US" altLang="zh-CN" sz="1800" dirty="0"/>
          </a:p>
          <a:p>
            <a:pPr lvl="1">
              <a:buFont typeface="Wingdings" panose="05000000000000000000" pitchFamily="2" charset="2"/>
              <a:buChar char="ü"/>
            </a:pPr>
            <a:r>
              <a:rPr lang="zh-CN" altLang="zh-CN" sz="1800" dirty="0">
                <a:solidFill>
                  <a:srgbClr val="FF0000"/>
                </a:solidFill>
              </a:rPr>
              <a:t>测试用例</a:t>
            </a:r>
            <a:r>
              <a:rPr lang="zh-CN" altLang="en-US" sz="1800" dirty="0">
                <a:solidFill>
                  <a:srgbClr val="FF0000"/>
                </a:solidFill>
              </a:rPr>
              <a:t>执行效率：</a:t>
            </a:r>
            <a:r>
              <a:rPr lang="zh-CN" altLang="en-US" sz="1800" dirty="0"/>
              <a:t>多种评价如每日人均发现缺陷数</a:t>
            </a:r>
            <a:endParaRPr lang="en-US" altLang="zh-CN" sz="1800" dirty="0"/>
          </a:p>
          <a:p>
            <a:pPr lvl="1">
              <a:buFont typeface="Wingdings" panose="05000000000000000000" pitchFamily="2" charset="2"/>
              <a:buChar char="ü"/>
            </a:pPr>
            <a:r>
              <a:rPr lang="zh-CN" altLang="zh-CN" sz="1800" dirty="0">
                <a:solidFill>
                  <a:srgbClr val="FF0000"/>
                </a:solidFill>
              </a:rPr>
              <a:t>缺陷报告有效性</a:t>
            </a:r>
            <a:r>
              <a:rPr lang="zh-CN" altLang="en-US" sz="1800" dirty="0">
                <a:solidFill>
                  <a:srgbClr val="FF0000"/>
                </a:solidFill>
              </a:rPr>
              <a:t>：</a:t>
            </a:r>
            <a:r>
              <a:rPr lang="zh-CN" altLang="en-US" sz="1800" dirty="0"/>
              <a:t>所有修复和关闭的高等级缺陷与测试人员上报的高等级缺陷的比例</a:t>
            </a:r>
            <a:endParaRPr lang="en-US" altLang="zh-CN" sz="1800" dirty="0"/>
          </a:p>
          <a:p>
            <a:pPr lvl="1">
              <a:buFont typeface="Wingdings" panose="05000000000000000000" pitchFamily="2" charset="2"/>
              <a:buChar char="ü"/>
            </a:pPr>
            <a:r>
              <a:rPr lang="zh-CN" altLang="zh-CN" sz="1800" dirty="0">
                <a:solidFill>
                  <a:srgbClr val="FF0000"/>
                </a:solidFill>
              </a:rPr>
              <a:t>缺陷报告质量</a:t>
            </a:r>
            <a:r>
              <a:rPr lang="zh-CN" altLang="en-US" sz="1800" dirty="0">
                <a:solidFill>
                  <a:srgbClr val="FF0000"/>
                </a:solidFill>
              </a:rPr>
              <a:t>：</a:t>
            </a:r>
            <a:r>
              <a:rPr lang="zh-CN" altLang="en-US" sz="1800" dirty="0"/>
              <a:t>审核中被判定为“不是缺陷”或“信息不全”的缺陷数占总缺陷数的比例，</a:t>
            </a:r>
            <a:r>
              <a:rPr lang="en-US" altLang="zh-CN" sz="1800" dirty="0"/>
              <a:t>3%-5%</a:t>
            </a:r>
          </a:p>
          <a:p>
            <a:pPr lvl="1">
              <a:buFont typeface="Wingdings" panose="05000000000000000000" pitchFamily="2" charset="2"/>
              <a:buChar char="ü"/>
            </a:pPr>
            <a:r>
              <a:rPr lang="zh-CN" altLang="zh-CN" sz="1800" dirty="0">
                <a:solidFill>
                  <a:srgbClr val="FF0000"/>
                </a:solidFill>
              </a:rPr>
              <a:t>缺陷</a:t>
            </a:r>
            <a:r>
              <a:rPr lang="zh-CN" altLang="en-US" sz="1800" dirty="0">
                <a:solidFill>
                  <a:srgbClr val="FF0000"/>
                </a:solidFill>
              </a:rPr>
              <a:t>清除率：</a:t>
            </a:r>
            <a:r>
              <a:rPr lang="zh-CN" altLang="en-US" sz="1800" dirty="0"/>
              <a:t>清除的缺陷数占产品中潜在缺陷总数的比例</a:t>
            </a:r>
            <a:endParaRPr lang="zh-CN" altLang="zh-CN"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F5B2892-6B44-A742-6CB7-8C7482FDA0B6}"/>
              </a:ext>
            </a:extLst>
          </p:cNvPr>
          <p:cNvSpPr>
            <a:spLocks noGrp="1" noChangeArrowheads="1"/>
          </p:cNvSpPr>
          <p:nvPr>
            <p:ph type="title"/>
          </p:nvPr>
        </p:nvSpPr>
        <p:spPr>
          <a:noFill/>
        </p:spPr>
        <p:txBody>
          <a:bodyPr/>
          <a:lstStyle/>
          <a:p>
            <a:pPr eaLnBrk="1" hangingPunct="1"/>
            <a:r>
              <a:rPr lang="en-US" altLang="zh-CN"/>
              <a:t>4.2.2  </a:t>
            </a:r>
            <a:r>
              <a:rPr lang="zh-CN" altLang="en-US"/>
              <a:t>软件质量度量的内容</a:t>
            </a:r>
            <a:endParaRPr kumimoji="1" lang="zh-CN" altLang="en-US"/>
          </a:p>
        </p:txBody>
      </p:sp>
      <p:sp>
        <p:nvSpPr>
          <p:cNvPr id="62467" name="内容占位符 1">
            <a:extLst>
              <a:ext uri="{FF2B5EF4-FFF2-40B4-BE49-F238E27FC236}">
                <a16:creationId xmlns:a16="http://schemas.microsoft.com/office/drawing/2014/main" id="{A56B0124-80DE-9230-4333-D1F84103AA99}"/>
              </a:ext>
            </a:extLst>
          </p:cNvPr>
          <p:cNvSpPr>
            <a:spLocks noGrp="1" noChangeArrowheads="1"/>
          </p:cNvSpPr>
          <p:nvPr>
            <p:ph idx="1"/>
          </p:nvPr>
        </p:nvSpPr>
        <p:spPr>
          <a:xfrm>
            <a:off x="755650" y="1990725"/>
            <a:ext cx="7416800" cy="4030663"/>
          </a:xfrm>
        </p:spPr>
        <p:txBody>
          <a:bodyPr/>
          <a:lstStyle/>
          <a:p>
            <a:pPr>
              <a:lnSpc>
                <a:spcPct val="120000"/>
              </a:lnSpc>
            </a:pPr>
            <a:r>
              <a:rPr lang="zh-CN" altLang="zh-CN" sz="2400" dirty="0">
                <a:solidFill>
                  <a:schemeClr val="accent2"/>
                </a:solidFill>
              </a:rPr>
              <a:t>软件维护质量度量</a:t>
            </a:r>
            <a:endParaRPr lang="en-US" altLang="zh-CN" sz="2400" dirty="0">
              <a:solidFill>
                <a:schemeClr val="accent2"/>
              </a:solidFill>
            </a:endParaRPr>
          </a:p>
          <a:p>
            <a:pPr>
              <a:lnSpc>
                <a:spcPct val="120000"/>
              </a:lnSpc>
            </a:pPr>
            <a:r>
              <a:rPr lang="zh-CN" altLang="zh-CN" sz="2400" dirty="0"/>
              <a:t>侧重于提高用户满意度</a:t>
            </a:r>
            <a:endParaRPr lang="en-US" altLang="zh-CN" sz="2400" dirty="0"/>
          </a:p>
          <a:p>
            <a:pPr>
              <a:lnSpc>
                <a:spcPct val="120000"/>
              </a:lnSpc>
            </a:pPr>
            <a:r>
              <a:rPr lang="zh-CN" altLang="en-US" sz="2400" dirty="0"/>
              <a:t>典型指标</a:t>
            </a:r>
            <a:endParaRPr lang="en-US" altLang="zh-CN" sz="2400" dirty="0"/>
          </a:p>
          <a:p>
            <a:pPr lvl="1">
              <a:lnSpc>
                <a:spcPct val="120000"/>
              </a:lnSpc>
              <a:buFont typeface="Wingdings" panose="05000000000000000000" pitchFamily="2" charset="2"/>
              <a:buChar char="ü"/>
            </a:pPr>
            <a:r>
              <a:rPr lang="zh-CN" altLang="zh-CN" sz="1800" dirty="0">
                <a:solidFill>
                  <a:srgbClr val="FF0000"/>
                </a:solidFill>
              </a:rPr>
              <a:t>缺陷积压处理度量</a:t>
            </a:r>
            <a:r>
              <a:rPr lang="zh-CN" altLang="en-US" sz="1800" dirty="0">
                <a:solidFill>
                  <a:srgbClr val="FF0000"/>
                </a:solidFill>
              </a:rPr>
              <a:t>：</a:t>
            </a:r>
            <a:r>
              <a:rPr lang="zh-CN" altLang="en-US" sz="1800" dirty="0"/>
              <a:t>一段时间内修复的缺陷总数与该段时间内发现的缺陷数，反映了开发团队对缺陷的处理能力</a:t>
            </a:r>
            <a:endParaRPr lang="en-US" altLang="zh-CN" sz="1800" dirty="0"/>
          </a:p>
          <a:p>
            <a:pPr lvl="1">
              <a:lnSpc>
                <a:spcPct val="120000"/>
              </a:lnSpc>
              <a:buFont typeface="Wingdings" panose="05000000000000000000" pitchFamily="2" charset="2"/>
              <a:buChar char="ü"/>
            </a:pPr>
            <a:r>
              <a:rPr lang="zh-CN" altLang="zh-CN" sz="1800" dirty="0">
                <a:solidFill>
                  <a:srgbClr val="FF0000"/>
                </a:solidFill>
              </a:rPr>
              <a:t>缺陷修复响应时间度量</a:t>
            </a:r>
            <a:r>
              <a:rPr lang="zh-CN" altLang="en-US" sz="1800" dirty="0">
                <a:solidFill>
                  <a:srgbClr val="FF0000"/>
                </a:solidFill>
              </a:rPr>
              <a:t>：</a:t>
            </a:r>
            <a:r>
              <a:rPr lang="zh-CN" altLang="en-US" sz="1800" dirty="0"/>
              <a:t>所有问题从发现到解决的平均时间，越短则用户满意度越高</a:t>
            </a:r>
            <a:endParaRPr lang="en-US" altLang="zh-CN" sz="1800" dirty="0"/>
          </a:p>
          <a:p>
            <a:pPr lvl="1">
              <a:lnSpc>
                <a:spcPct val="120000"/>
              </a:lnSpc>
              <a:buFont typeface="Wingdings" panose="05000000000000000000" pitchFamily="2" charset="2"/>
              <a:buChar char="ü"/>
            </a:pPr>
            <a:r>
              <a:rPr lang="zh-CN" altLang="zh-CN" sz="1800" dirty="0">
                <a:solidFill>
                  <a:srgbClr val="FF0000"/>
                </a:solidFill>
              </a:rPr>
              <a:t>缺陷修复响应度量</a:t>
            </a:r>
            <a:r>
              <a:rPr lang="zh-CN" altLang="en-US" sz="1800" dirty="0">
                <a:solidFill>
                  <a:srgbClr val="FF0000"/>
                </a:solidFill>
              </a:rPr>
              <a:t>：</a:t>
            </a:r>
            <a:r>
              <a:rPr lang="zh-CN" altLang="en-US" sz="1800" dirty="0"/>
              <a:t>用户期望的修复响应，当在用户协商同意的影响范围内进行响应时，即使响应时间偏长，用户满意度仍然不会受到影响</a:t>
            </a:r>
            <a:endParaRPr lang="en-US" altLang="zh-CN" sz="1800" dirty="0"/>
          </a:p>
          <a:p>
            <a:pPr lvl="1">
              <a:lnSpc>
                <a:spcPct val="120000"/>
              </a:lnSpc>
              <a:buFont typeface="Wingdings" panose="05000000000000000000" pitchFamily="2" charset="2"/>
              <a:buChar char="ü"/>
            </a:pPr>
            <a:r>
              <a:rPr lang="zh-CN" altLang="zh-CN" sz="1800" dirty="0">
                <a:solidFill>
                  <a:srgbClr val="FF0000"/>
                </a:solidFill>
              </a:rPr>
              <a:t>缺陷修复质量度量</a:t>
            </a:r>
            <a:r>
              <a:rPr lang="zh-CN" altLang="en-US" sz="1800" dirty="0">
                <a:solidFill>
                  <a:srgbClr val="FF0000"/>
                </a:solidFill>
              </a:rPr>
              <a:t>：</a:t>
            </a:r>
            <a:r>
              <a:rPr lang="zh-CN" altLang="en-US" sz="1800" dirty="0"/>
              <a:t>针对软件缺陷能够正确的修复。确保修复后不植入新的缺陷。</a:t>
            </a:r>
            <a:endParaRPr lang="zh-CN" altLang="zh-CN"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FBCD180-71D1-12C4-E604-932CA1141572}"/>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63491" name="内容占位符 1">
            <a:extLst>
              <a:ext uri="{FF2B5EF4-FFF2-40B4-BE49-F238E27FC236}">
                <a16:creationId xmlns:a16="http://schemas.microsoft.com/office/drawing/2014/main" id="{73676534-AB91-5DB7-8426-575C76485B88}"/>
              </a:ext>
            </a:extLst>
          </p:cNvPr>
          <p:cNvSpPr>
            <a:spLocks noGrp="1" noChangeArrowheads="1"/>
          </p:cNvSpPr>
          <p:nvPr>
            <p:ph idx="1"/>
          </p:nvPr>
        </p:nvSpPr>
        <p:spPr>
          <a:xfrm>
            <a:off x="755650" y="1990725"/>
            <a:ext cx="7848600" cy="3959225"/>
          </a:xfrm>
        </p:spPr>
        <p:txBody>
          <a:bodyPr/>
          <a:lstStyle/>
          <a:p>
            <a:pPr>
              <a:lnSpc>
                <a:spcPct val="120000"/>
              </a:lnSpc>
            </a:pPr>
            <a:r>
              <a:rPr kumimoji="1" lang="zh-CN" altLang="zh-CN" sz="2400">
                <a:solidFill>
                  <a:schemeClr val="accent2"/>
                </a:solidFill>
                <a:latin typeface="黑体" panose="02010609060101010101" pitchFamily="49" charset="-122"/>
                <a:ea typeface="黑体" panose="02010609060101010101" pitchFamily="49" charset="-122"/>
              </a:rPr>
              <a:t>为了对软件质量进行度量，从而对软件质量管理相关活动进行跟踪记录，实现质量的控制</a:t>
            </a:r>
            <a:r>
              <a:rPr kumimoji="1" lang="zh-CN" altLang="en-US" sz="2400">
                <a:solidFill>
                  <a:schemeClr val="accent2"/>
                </a:solidFill>
                <a:latin typeface="黑体" panose="02010609060101010101" pitchFamily="49" charset="-122"/>
                <a:ea typeface="黑体" panose="02010609060101010101" pitchFamily="49" charset="-122"/>
              </a:rPr>
              <a:t>，</a:t>
            </a:r>
            <a:r>
              <a:rPr kumimoji="1" lang="zh-CN" altLang="zh-CN" sz="2400">
                <a:solidFill>
                  <a:schemeClr val="accent2"/>
                </a:solidFill>
                <a:latin typeface="黑体" panose="02010609060101010101" pitchFamily="49" charset="-122"/>
                <a:ea typeface="黑体" panose="02010609060101010101" pitchFamily="49" charset="-122"/>
              </a:rPr>
              <a:t>往往需要利用多种类型的质量工具</a:t>
            </a:r>
            <a:endParaRPr kumimoji="1" lang="en-US" altLang="zh-CN" sz="2400">
              <a:solidFill>
                <a:schemeClr val="accent2"/>
              </a:solidFill>
              <a:latin typeface="黑体" panose="02010609060101010101" pitchFamily="49" charset="-122"/>
              <a:ea typeface="黑体" panose="02010609060101010101" pitchFamily="49" charset="-122"/>
            </a:endParaRPr>
          </a:p>
          <a:p>
            <a:pPr lvl="1">
              <a:lnSpc>
                <a:spcPct val="120000"/>
              </a:lnSpc>
              <a:buFont typeface="Wingdings" panose="05000000000000000000" pitchFamily="2" charset="2"/>
              <a:buChar char="ü"/>
            </a:pPr>
            <a:r>
              <a:rPr kumimoji="1" lang="zh-CN" altLang="zh-CN" sz="2000">
                <a:solidFill>
                  <a:schemeClr val="accent2"/>
                </a:solidFill>
                <a:latin typeface="黑体" panose="02010609060101010101" pitchFamily="49" charset="-122"/>
                <a:ea typeface="黑体" panose="02010609060101010101" pitchFamily="49" charset="-122"/>
              </a:rPr>
              <a:t>数据库、图形、报告工具</a:t>
            </a:r>
          </a:p>
          <a:p>
            <a:pPr lvl="1">
              <a:lnSpc>
                <a:spcPct val="120000"/>
              </a:lnSpc>
              <a:buFont typeface="Wingdings" panose="05000000000000000000" pitchFamily="2" charset="2"/>
              <a:buChar char="ü"/>
            </a:pPr>
            <a:r>
              <a:rPr kumimoji="1" lang="zh-CN" altLang="zh-CN" sz="2000">
                <a:solidFill>
                  <a:schemeClr val="accent2"/>
                </a:solidFill>
                <a:latin typeface="黑体" panose="02010609060101010101" pitchFamily="49" charset="-122"/>
                <a:ea typeface="黑体" panose="02010609060101010101" pitchFamily="49" charset="-122"/>
              </a:rPr>
              <a:t>数据收集工具</a:t>
            </a:r>
          </a:p>
          <a:p>
            <a:pPr lvl="1">
              <a:lnSpc>
                <a:spcPct val="120000"/>
              </a:lnSpc>
              <a:buFont typeface="Wingdings" panose="05000000000000000000" pitchFamily="2" charset="2"/>
              <a:buChar char="ü"/>
            </a:pPr>
            <a:r>
              <a:rPr kumimoji="1" lang="zh-CN" altLang="zh-CN" sz="2000">
                <a:solidFill>
                  <a:schemeClr val="accent2"/>
                </a:solidFill>
                <a:latin typeface="黑体" panose="02010609060101010101" pitchFamily="49" charset="-122"/>
                <a:ea typeface="黑体" panose="02010609060101010101" pitchFamily="49" charset="-122"/>
              </a:rPr>
              <a:t>统计分析工具</a:t>
            </a:r>
          </a:p>
          <a:p>
            <a:pPr lvl="1">
              <a:lnSpc>
                <a:spcPct val="120000"/>
              </a:lnSpc>
              <a:buFont typeface="Wingdings" panose="05000000000000000000" pitchFamily="2" charset="2"/>
              <a:buChar char="ü"/>
            </a:pPr>
            <a:r>
              <a:rPr kumimoji="1" lang="zh-CN" altLang="zh-CN" sz="2000">
                <a:solidFill>
                  <a:schemeClr val="accent2"/>
                </a:solidFill>
                <a:latin typeface="黑体" panose="02010609060101010101" pitchFamily="49" charset="-122"/>
                <a:ea typeface="黑体" panose="02010609060101010101" pitchFamily="49" charset="-122"/>
              </a:rPr>
              <a:t>估计模型</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AFAA782-06CC-7F7D-D38A-14BE8D6EDBCC}"/>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64515" name="内容占位符 1">
            <a:extLst>
              <a:ext uri="{FF2B5EF4-FFF2-40B4-BE49-F238E27FC236}">
                <a16:creationId xmlns:a16="http://schemas.microsoft.com/office/drawing/2014/main" id="{8B2A542D-B8A3-D651-0A73-C7F128381F19}"/>
              </a:ext>
            </a:extLst>
          </p:cNvPr>
          <p:cNvSpPr>
            <a:spLocks noGrp="1" noChangeArrowheads="1"/>
          </p:cNvSpPr>
          <p:nvPr>
            <p:ph idx="1"/>
          </p:nvPr>
        </p:nvSpPr>
        <p:spPr>
          <a:xfrm>
            <a:off x="611188" y="1917700"/>
            <a:ext cx="8208962" cy="4751388"/>
          </a:xfrm>
        </p:spPr>
        <p:txBody>
          <a:bodyPr/>
          <a:lstStyle/>
          <a:p>
            <a:r>
              <a:rPr lang="zh-CN" altLang="en-US" sz="2400"/>
              <a:t>（</a:t>
            </a:r>
            <a:r>
              <a:rPr lang="en-US" altLang="zh-CN" sz="2400"/>
              <a:t>1</a:t>
            </a:r>
            <a:r>
              <a:rPr lang="zh-CN" altLang="en-US" sz="2400"/>
              <a:t>）</a:t>
            </a:r>
            <a:r>
              <a:rPr lang="zh-CN" altLang="zh-CN" sz="2400"/>
              <a:t>表格类工具</a:t>
            </a:r>
            <a:endParaRPr lang="en-US" altLang="zh-CN" sz="2400"/>
          </a:p>
          <a:p>
            <a:r>
              <a:rPr lang="zh-CN" altLang="zh-CN" sz="2400"/>
              <a:t>检查表（</a:t>
            </a:r>
            <a:r>
              <a:rPr lang="en-US" altLang="zh-CN" sz="2400"/>
              <a:t>Checklist</a:t>
            </a:r>
            <a:r>
              <a:rPr lang="zh-CN" altLang="zh-CN" sz="2400"/>
              <a:t>），又称调查表、统计分析表</a:t>
            </a:r>
            <a:endParaRPr lang="en-US" altLang="zh-CN" sz="2400"/>
          </a:p>
          <a:p>
            <a:r>
              <a:rPr lang="zh-CN" altLang="zh-CN" sz="2400"/>
              <a:t>是一种列表形式，列表中列出了需要进行检查的所有项目</a:t>
            </a:r>
            <a:endParaRPr lang="en-US" altLang="zh-CN" sz="2400"/>
          </a:p>
          <a:p>
            <a:r>
              <a:rPr lang="zh-CN" altLang="zh-CN" sz="2400"/>
              <a:t>广泛用于软件开发各个阶段的同行评审过程中，主要用于问题识别</a:t>
            </a:r>
            <a:endParaRPr lang="en-US" altLang="zh-CN" sz="2400"/>
          </a:p>
          <a:p>
            <a:r>
              <a:rPr lang="zh-CN" altLang="en-US" sz="2400"/>
              <a:t>分类</a:t>
            </a:r>
            <a:endParaRPr lang="en-US" altLang="zh-CN" sz="2400"/>
          </a:p>
          <a:p>
            <a:pPr lvl="1">
              <a:buFont typeface="Wingdings" panose="05000000000000000000" pitchFamily="2" charset="2"/>
              <a:buChar char="ü"/>
            </a:pPr>
            <a:r>
              <a:rPr lang="zh-CN" altLang="zh-CN" sz="2000"/>
              <a:t>面向项目组的检查表</a:t>
            </a:r>
            <a:endParaRPr lang="en-US" altLang="zh-CN" sz="2000"/>
          </a:p>
          <a:p>
            <a:pPr lvl="1">
              <a:buFont typeface="Wingdings" panose="05000000000000000000" pitchFamily="2" charset="2"/>
              <a:buChar char="ü"/>
            </a:pPr>
            <a:r>
              <a:rPr lang="zh-CN" altLang="zh-CN" sz="2000"/>
              <a:t>面向</a:t>
            </a:r>
            <a:r>
              <a:rPr lang="zh-CN" altLang="en-US" sz="2000"/>
              <a:t>用户</a:t>
            </a:r>
            <a:r>
              <a:rPr lang="zh-CN" altLang="zh-CN" sz="2000"/>
              <a:t>的检查表</a:t>
            </a:r>
            <a:endParaRPr lang="en-US" altLang="zh-CN" sz="2000"/>
          </a:p>
          <a:p>
            <a:r>
              <a:rPr lang="zh-CN" altLang="en-US" sz="2400"/>
              <a:t>局限性</a:t>
            </a:r>
            <a:endParaRPr lang="en-US" altLang="zh-CN" sz="2400"/>
          </a:p>
          <a:p>
            <a:pPr lvl="1">
              <a:buFont typeface="Wingdings" panose="05000000000000000000" pitchFamily="2" charset="2"/>
              <a:buChar char="ü"/>
            </a:pPr>
            <a:r>
              <a:rPr lang="zh-CN" altLang="zh-CN" sz="2000"/>
              <a:t>简单收集和积累数据，无法直观反映软件质量特性，不利于基于统计的软件质量分析，更不支持预测</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DF12AACC-5489-D193-0B0E-514F5366F79E}"/>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65539" name="内容占位符 1">
            <a:extLst>
              <a:ext uri="{FF2B5EF4-FFF2-40B4-BE49-F238E27FC236}">
                <a16:creationId xmlns:a16="http://schemas.microsoft.com/office/drawing/2014/main" id="{96FBDBAB-A113-B4AB-BABC-DDD72052166D}"/>
              </a:ext>
            </a:extLst>
          </p:cNvPr>
          <p:cNvSpPr>
            <a:spLocks noGrp="1" noChangeArrowheads="1"/>
          </p:cNvSpPr>
          <p:nvPr>
            <p:ph idx="1"/>
          </p:nvPr>
        </p:nvSpPr>
        <p:spPr>
          <a:xfrm>
            <a:off x="755650" y="2133600"/>
            <a:ext cx="7993063" cy="3240088"/>
          </a:xfrm>
        </p:spPr>
        <p:txBody>
          <a:bodyPr/>
          <a:lstStyle/>
          <a:p>
            <a:pPr>
              <a:lnSpc>
                <a:spcPct val="150000"/>
              </a:lnSpc>
            </a:pPr>
            <a:r>
              <a:rPr lang="zh-CN" altLang="en-US" sz="2400"/>
              <a:t>（</a:t>
            </a:r>
            <a:r>
              <a:rPr lang="en-US" altLang="zh-CN" sz="2400"/>
              <a:t>2</a:t>
            </a:r>
            <a:r>
              <a:rPr lang="zh-CN" altLang="en-US" sz="2400"/>
              <a:t>）</a:t>
            </a:r>
            <a:r>
              <a:rPr lang="zh-CN" altLang="zh-CN" sz="2400"/>
              <a:t>柱状图类</a:t>
            </a:r>
            <a:r>
              <a:rPr lang="zh-CN" altLang="en-US" sz="2400"/>
              <a:t>工具</a:t>
            </a:r>
            <a:endParaRPr lang="en-US" altLang="zh-CN" sz="2400"/>
          </a:p>
          <a:p>
            <a:pPr>
              <a:lnSpc>
                <a:spcPct val="150000"/>
              </a:lnSpc>
            </a:pPr>
            <a:r>
              <a:rPr lang="zh-CN" altLang="zh-CN" sz="2400"/>
              <a:t>将统计后的数据绘制成矩形或者长方体形状的图形</a:t>
            </a:r>
            <a:endParaRPr lang="en-US" altLang="zh-CN" sz="2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738C684-1E27-22DE-65B8-F1930F474C20}"/>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66563" name="内容占位符 1">
            <a:extLst>
              <a:ext uri="{FF2B5EF4-FFF2-40B4-BE49-F238E27FC236}">
                <a16:creationId xmlns:a16="http://schemas.microsoft.com/office/drawing/2014/main" id="{E8A89B20-8B61-E097-545C-BB6267B2A2F7}"/>
              </a:ext>
            </a:extLst>
          </p:cNvPr>
          <p:cNvSpPr>
            <a:spLocks noGrp="1" noChangeArrowheads="1"/>
          </p:cNvSpPr>
          <p:nvPr>
            <p:ph idx="1"/>
          </p:nvPr>
        </p:nvSpPr>
        <p:spPr>
          <a:xfrm>
            <a:off x="539750" y="1773238"/>
            <a:ext cx="8280400" cy="4751387"/>
          </a:xfrm>
        </p:spPr>
        <p:txBody>
          <a:bodyPr/>
          <a:lstStyle/>
          <a:p>
            <a:r>
              <a:rPr lang="zh-CN" altLang="zh-CN" sz="2400"/>
              <a:t>直方图</a:t>
            </a:r>
            <a:endParaRPr lang="en-US" altLang="zh-CN" sz="2400"/>
          </a:p>
          <a:p>
            <a:pPr lvl="1" algn="just">
              <a:buFont typeface="Wingdings" panose="05000000000000000000" pitchFamily="2" charset="2"/>
              <a:buChar char="ü"/>
            </a:pPr>
            <a:r>
              <a:rPr lang="zh-CN" altLang="zh-CN" sz="2000"/>
              <a:t>对一个群体或一个样本集出现频率的图形表示</a:t>
            </a:r>
            <a:endParaRPr lang="en-US" altLang="zh-CN" sz="2000"/>
          </a:p>
          <a:p>
            <a:pPr lvl="1" algn="just">
              <a:buFont typeface="Wingdings" panose="05000000000000000000" pitchFamily="2" charset="2"/>
              <a:buChar char="ü"/>
            </a:pPr>
            <a:r>
              <a:rPr lang="zh-CN" altLang="zh-CN" sz="2000"/>
              <a:t>主要用于问题分析</a:t>
            </a:r>
            <a:endParaRPr lang="en-US" altLang="zh-CN" sz="2000"/>
          </a:p>
          <a:p>
            <a:pPr lvl="1" algn="just">
              <a:buFont typeface="Wingdings" panose="05000000000000000000" pitchFamily="2" charset="2"/>
              <a:buChar char="ü"/>
            </a:pPr>
            <a:r>
              <a:rPr lang="zh-CN" altLang="en-US" sz="2000"/>
              <a:t>优势：</a:t>
            </a:r>
            <a:r>
              <a:rPr lang="zh-CN" altLang="zh-CN" sz="2000"/>
              <a:t>直观表示某个参数的分布特性，</a:t>
            </a:r>
            <a:r>
              <a:rPr lang="zh-CN" altLang="en-US" sz="2000"/>
              <a:t>有助于</a:t>
            </a:r>
            <a:r>
              <a:rPr lang="zh-CN" altLang="zh-CN" sz="2000"/>
              <a:t>加强对参数的理解</a:t>
            </a:r>
            <a:endParaRPr lang="en-US" altLang="zh-CN" sz="2000"/>
          </a:p>
          <a:p>
            <a:pPr lvl="1" algn="just">
              <a:buFont typeface="Wingdings" panose="05000000000000000000" pitchFamily="2" charset="2"/>
              <a:buChar char="ü"/>
            </a:pPr>
            <a:r>
              <a:rPr lang="zh-CN" altLang="en-US" sz="2000"/>
              <a:t>局限性：</a:t>
            </a:r>
            <a:r>
              <a:rPr lang="zh-CN" altLang="zh-CN" sz="2000"/>
              <a:t>所选参数不含时间变化信息，未充分利用数据的统计特性，难以从直方图深入分析导致某现象的本质原因，对过程改进的推动作用不大，也无任何预测能力</a:t>
            </a:r>
            <a:endParaRPr lang="en-US" altLang="zh-CN" sz="2000"/>
          </a:p>
        </p:txBody>
      </p:sp>
      <p:pic>
        <p:nvPicPr>
          <p:cNvPr id="66564" name="图片 1">
            <a:extLst>
              <a:ext uri="{FF2B5EF4-FFF2-40B4-BE49-F238E27FC236}">
                <a16:creationId xmlns:a16="http://schemas.microsoft.com/office/drawing/2014/main" id="{B0F9B700-6944-65EA-644C-C6A8330680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4292600"/>
            <a:ext cx="6119812"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65EE81D3-9774-D6E5-A135-02C959A2289D}"/>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67587" name="内容占位符 1">
            <a:extLst>
              <a:ext uri="{FF2B5EF4-FFF2-40B4-BE49-F238E27FC236}">
                <a16:creationId xmlns:a16="http://schemas.microsoft.com/office/drawing/2014/main" id="{8D67F7DE-1484-B1A3-BE25-068F58445094}"/>
              </a:ext>
            </a:extLst>
          </p:cNvPr>
          <p:cNvSpPr>
            <a:spLocks noGrp="1" noChangeArrowheads="1"/>
          </p:cNvSpPr>
          <p:nvPr>
            <p:ph idx="1"/>
          </p:nvPr>
        </p:nvSpPr>
        <p:spPr>
          <a:xfrm>
            <a:off x="611188" y="1917700"/>
            <a:ext cx="8064500" cy="4751388"/>
          </a:xfrm>
        </p:spPr>
        <p:txBody>
          <a:bodyPr/>
          <a:lstStyle/>
          <a:p>
            <a:r>
              <a:rPr lang="zh-CN" altLang="zh-CN" sz="2400"/>
              <a:t>直方图</a:t>
            </a:r>
            <a:endParaRPr lang="en-US" altLang="zh-CN" sz="2400"/>
          </a:p>
          <a:p>
            <a:pPr lvl="1" algn="just">
              <a:buFont typeface="Wingdings" panose="05000000000000000000" pitchFamily="2" charset="2"/>
              <a:buChar char="ü"/>
            </a:pPr>
            <a:r>
              <a:rPr lang="zh-CN" altLang="zh-CN" sz="2000"/>
              <a:t>在一个直方图中还可以同时针对多个参数的变化情况进行绘制，形成一些特殊的直方图</a:t>
            </a:r>
            <a:endParaRPr lang="en-US" altLang="zh-CN" sz="2000"/>
          </a:p>
        </p:txBody>
      </p:sp>
      <p:pic>
        <p:nvPicPr>
          <p:cNvPr id="67588" name="图片 3">
            <a:extLst>
              <a:ext uri="{FF2B5EF4-FFF2-40B4-BE49-F238E27FC236}">
                <a16:creationId xmlns:a16="http://schemas.microsoft.com/office/drawing/2014/main" id="{FDD23252-921E-C15E-F3B5-6191B39CCD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1338" y="3213100"/>
            <a:ext cx="7991475"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文本框 4">
            <a:extLst>
              <a:ext uri="{FF2B5EF4-FFF2-40B4-BE49-F238E27FC236}">
                <a16:creationId xmlns:a16="http://schemas.microsoft.com/office/drawing/2014/main" id="{232C711D-CA46-5D19-1DA5-19DAD3339437}"/>
              </a:ext>
            </a:extLst>
          </p:cNvPr>
          <p:cNvSpPr txBox="1">
            <a:spLocks noChangeArrowheads="1"/>
          </p:cNvSpPr>
          <p:nvPr/>
        </p:nvSpPr>
        <p:spPr bwMode="auto">
          <a:xfrm>
            <a:off x="2232025" y="5842000"/>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zh-CN" sz="2000">
                <a:latin typeface="Times New Roman" panose="02020603050405020304" pitchFamily="18" charset="0"/>
              </a:rPr>
              <a:t>缺陷按严重性分布的对比直方图</a:t>
            </a:r>
            <a:endParaRPr lang="zh-CN" altLang="en-US" sz="2000">
              <a:latin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00FD7892-096A-A630-6C4A-7BC87DFC4797}"/>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68611" name="内容占位符 1">
            <a:extLst>
              <a:ext uri="{FF2B5EF4-FFF2-40B4-BE49-F238E27FC236}">
                <a16:creationId xmlns:a16="http://schemas.microsoft.com/office/drawing/2014/main" id="{C385FD0D-DF3B-15C4-A0E8-CFB54AC85300}"/>
              </a:ext>
            </a:extLst>
          </p:cNvPr>
          <p:cNvSpPr>
            <a:spLocks noGrp="1" noChangeArrowheads="1"/>
          </p:cNvSpPr>
          <p:nvPr>
            <p:ph idx="1"/>
          </p:nvPr>
        </p:nvSpPr>
        <p:spPr>
          <a:xfrm>
            <a:off x="755650" y="1917700"/>
            <a:ext cx="8208963" cy="4751388"/>
          </a:xfrm>
        </p:spPr>
        <p:txBody>
          <a:bodyPr/>
          <a:lstStyle/>
          <a:p>
            <a:r>
              <a:rPr lang="zh-CN" altLang="zh-CN" sz="2400"/>
              <a:t>直方图</a:t>
            </a:r>
            <a:endParaRPr lang="en-US" altLang="zh-CN" sz="2400"/>
          </a:p>
          <a:p>
            <a:pPr lvl="1" algn="just">
              <a:buFont typeface="Wingdings" panose="05000000000000000000" pitchFamily="2" charset="2"/>
              <a:buChar char="ü"/>
            </a:pPr>
            <a:r>
              <a:rPr lang="zh-CN" altLang="zh-CN" sz="2000"/>
              <a:t>在一个直方图中还可以同时针对多个参数的变化情况进行绘制，形成一些特殊的直方图</a:t>
            </a:r>
            <a:endParaRPr lang="en-US" altLang="zh-CN" sz="2000"/>
          </a:p>
        </p:txBody>
      </p:sp>
      <p:sp>
        <p:nvSpPr>
          <p:cNvPr id="68612" name="文本框 4">
            <a:extLst>
              <a:ext uri="{FF2B5EF4-FFF2-40B4-BE49-F238E27FC236}">
                <a16:creationId xmlns:a16="http://schemas.microsoft.com/office/drawing/2014/main" id="{743EB906-8B32-2367-3FA6-E9202AABFB20}"/>
              </a:ext>
            </a:extLst>
          </p:cNvPr>
          <p:cNvSpPr txBox="1">
            <a:spLocks noChangeArrowheads="1"/>
          </p:cNvSpPr>
          <p:nvPr/>
        </p:nvSpPr>
        <p:spPr bwMode="auto">
          <a:xfrm>
            <a:off x="2232025" y="5842000"/>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zh-CN" sz="2000">
                <a:latin typeface="Times New Roman" panose="02020603050405020304" pitchFamily="18" charset="0"/>
              </a:rPr>
              <a:t>缺陷按严重性分布的</a:t>
            </a:r>
            <a:r>
              <a:rPr lang="zh-CN" altLang="en-US" sz="2000">
                <a:latin typeface="Times New Roman" panose="02020603050405020304" pitchFamily="18" charset="0"/>
              </a:rPr>
              <a:t>比例</a:t>
            </a:r>
            <a:r>
              <a:rPr lang="zh-CN" altLang="zh-CN" sz="2000">
                <a:latin typeface="Times New Roman" panose="02020603050405020304" pitchFamily="18" charset="0"/>
              </a:rPr>
              <a:t>直方图</a:t>
            </a:r>
            <a:endParaRPr lang="zh-CN" altLang="en-US" sz="2000">
              <a:latin typeface="Times New Roman" panose="02020603050405020304" pitchFamily="18" charset="0"/>
            </a:endParaRPr>
          </a:p>
        </p:txBody>
      </p:sp>
      <p:pic>
        <p:nvPicPr>
          <p:cNvPr id="68613" name="图片 1">
            <a:extLst>
              <a:ext uri="{FF2B5EF4-FFF2-40B4-BE49-F238E27FC236}">
                <a16:creationId xmlns:a16="http://schemas.microsoft.com/office/drawing/2014/main" id="{E9BA61BF-7088-050D-F14E-1784F39E97A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3097213"/>
            <a:ext cx="6848475"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0B57273-CD3D-9C2B-C0D2-E0FCC4D47CF7}"/>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69635" name="内容占位符 1">
            <a:extLst>
              <a:ext uri="{FF2B5EF4-FFF2-40B4-BE49-F238E27FC236}">
                <a16:creationId xmlns:a16="http://schemas.microsoft.com/office/drawing/2014/main" id="{4F8E5E83-11E2-AC8E-F347-A34EC1A61E77}"/>
              </a:ext>
            </a:extLst>
          </p:cNvPr>
          <p:cNvSpPr>
            <a:spLocks noGrp="1" noChangeArrowheads="1"/>
          </p:cNvSpPr>
          <p:nvPr>
            <p:ph idx="1"/>
          </p:nvPr>
        </p:nvSpPr>
        <p:spPr>
          <a:xfrm>
            <a:off x="684213" y="1846263"/>
            <a:ext cx="8135937" cy="4751387"/>
          </a:xfrm>
        </p:spPr>
        <p:txBody>
          <a:bodyPr/>
          <a:lstStyle/>
          <a:p>
            <a:r>
              <a:rPr lang="zh-CN" altLang="en-US" sz="2400"/>
              <a:t>帕累托图</a:t>
            </a:r>
            <a:endParaRPr lang="en-US" altLang="zh-CN" sz="2400"/>
          </a:p>
          <a:p>
            <a:pPr lvl="1">
              <a:buFont typeface="Wingdings" panose="05000000000000000000" pitchFamily="2" charset="2"/>
              <a:buChar char="ü"/>
            </a:pPr>
            <a:r>
              <a:rPr lang="zh-CN" altLang="zh-CN" sz="2000"/>
              <a:t>特殊的直方图，必须按照发生频率大小的降序排列</a:t>
            </a:r>
            <a:endParaRPr lang="en-US" altLang="zh-CN" sz="2000"/>
          </a:p>
          <a:p>
            <a:pPr lvl="1">
              <a:buFont typeface="Wingdings" panose="05000000000000000000" pitchFamily="2" charset="2"/>
              <a:buChar char="ü"/>
            </a:pPr>
            <a:r>
              <a:rPr lang="zh-CN" altLang="zh-CN" sz="2000"/>
              <a:t>主要用于问题识别，目的在于确定影响相关质量属性的关键性因素，并以之作为对软件产品和过程质量改进应首先采取的措施</a:t>
            </a:r>
          </a:p>
        </p:txBody>
      </p:sp>
      <p:pic>
        <p:nvPicPr>
          <p:cNvPr id="69636" name="图片 2">
            <a:extLst>
              <a:ext uri="{FF2B5EF4-FFF2-40B4-BE49-F238E27FC236}">
                <a16:creationId xmlns:a16="http://schemas.microsoft.com/office/drawing/2014/main" id="{263B536A-190E-F031-843A-31DB2E1FB0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357563"/>
            <a:ext cx="5976937" cy="319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5218A45-3555-3D36-5239-8ADE72381A17}"/>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70659" name="内容占位符 1">
            <a:extLst>
              <a:ext uri="{FF2B5EF4-FFF2-40B4-BE49-F238E27FC236}">
                <a16:creationId xmlns:a16="http://schemas.microsoft.com/office/drawing/2014/main" id="{686960C2-3B14-5B31-6CAE-9E3B47896646}"/>
              </a:ext>
            </a:extLst>
          </p:cNvPr>
          <p:cNvSpPr>
            <a:spLocks noGrp="1" noChangeArrowheads="1"/>
          </p:cNvSpPr>
          <p:nvPr>
            <p:ph idx="1"/>
          </p:nvPr>
        </p:nvSpPr>
        <p:spPr>
          <a:xfrm>
            <a:off x="684213" y="1846263"/>
            <a:ext cx="8064500" cy="4751387"/>
          </a:xfrm>
        </p:spPr>
        <p:txBody>
          <a:bodyPr/>
          <a:lstStyle/>
          <a:p>
            <a:r>
              <a:rPr lang="zh-CN" altLang="en-US" sz="2400"/>
              <a:t>（</a:t>
            </a:r>
            <a:r>
              <a:rPr lang="en-US" altLang="zh-CN" sz="2400"/>
              <a:t>3</a:t>
            </a:r>
            <a:r>
              <a:rPr lang="zh-CN" altLang="en-US" sz="2400"/>
              <a:t>）</a:t>
            </a:r>
            <a:r>
              <a:rPr lang="zh-CN" altLang="zh-CN" sz="2400"/>
              <a:t>折线图类</a:t>
            </a:r>
            <a:r>
              <a:rPr lang="zh-CN" altLang="en-US" sz="2400"/>
              <a:t>工具</a:t>
            </a:r>
            <a:endParaRPr lang="en-US" altLang="zh-CN" sz="2400"/>
          </a:p>
          <a:p>
            <a:r>
              <a:rPr lang="zh-CN" altLang="zh-CN" sz="2400"/>
              <a:t>游程图</a:t>
            </a:r>
            <a:endParaRPr lang="en-US" altLang="zh-CN" sz="2400"/>
          </a:p>
          <a:p>
            <a:pPr lvl="1">
              <a:buFont typeface="Wingdings" panose="05000000000000000000" pitchFamily="2" charset="2"/>
              <a:buChar char="ü"/>
            </a:pPr>
            <a:r>
              <a:rPr lang="zh-CN" altLang="en-US" sz="2000"/>
              <a:t>是</a:t>
            </a:r>
            <a:r>
              <a:rPr lang="zh-CN" altLang="zh-CN" sz="2000"/>
              <a:t>表示某个参数随时间变化而变化的图形</a:t>
            </a:r>
            <a:endParaRPr lang="en-US" altLang="zh-CN" sz="2000"/>
          </a:p>
          <a:p>
            <a:pPr lvl="1">
              <a:buFont typeface="Wingdings" panose="05000000000000000000" pitchFamily="2" charset="2"/>
              <a:buChar char="ü"/>
            </a:pPr>
            <a:r>
              <a:rPr lang="zh-CN" altLang="zh-CN" sz="2000"/>
              <a:t>主要用于问题识别和问题分析，通过显示一定时间间隔内得到的测量结果</a:t>
            </a:r>
            <a:r>
              <a:rPr lang="zh-CN" altLang="en-US" sz="2000"/>
              <a:t>，并有一定的预测能力</a:t>
            </a:r>
            <a:endParaRPr lang="en-US" altLang="zh-CN" sz="2000"/>
          </a:p>
          <a:p>
            <a:pPr lvl="1">
              <a:buFont typeface="Wingdings" panose="05000000000000000000" pitchFamily="2" charset="2"/>
              <a:buChar char="ü"/>
            </a:pPr>
            <a:r>
              <a:rPr lang="zh-CN" altLang="en-US" sz="2000"/>
              <a:t>（每周产品拖欠领域缺陷率游程图）</a:t>
            </a:r>
            <a:endParaRPr lang="zh-CN" altLang="zh-CN" sz="2000"/>
          </a:p>
        </p:txBody>
      </p:sp>
      <p:pic>
        <p:nvPicPr>
          <p:cNvPr id="70660" name="图片 1">
            <a:extLst>
              <a:ext uri="{FF2B5EF4-FFF2-40B4-BE49-F238E27FC236}">
                <a16:creationId xmlns:a16="http://schemas.microsoft.com/office/drawing/2014/main" id="{FE7EF598-83B7-F739-99AF-059A469915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210050"/>
            <a:ext cx="7624763"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F1C29DDC-ED4E-17E7-C35B-EA1A03DFDF52}"/>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71683" name="内容占位符 1">
            <a:extLst>
              <a:ext uri="{FF2B5EF4-FFF2-40B4-BE49-F238E27FC236}">
                <a16:creationId xmlns:a16="http://schemas.microsoft.com/office/drawing/2014/main" id="{53306445-5B8C-8C59-CAA6-B3E6819A0089}"/>
              </a:ext>
            </a:extLst>
          </p:cNvPr>
          <p:cNvSpPr>
            <a:spLocks noGrp="1" noChangeArrowheads="1"/>
          </p:cNvSpPr>
          <p:nvPr>
            <p:ph idx="1"/>
          </p:nvPr>
        </p:nvSpPr>
        <p:spPr>
          <a:xfrm>
            <a:off x="755650" y="1917700"/>
            <a:ext cx="8064500" cy="4751388"/>
          </a:xfrm>
        </p:spPr>
        <p:txBody>
          <a:bodyPr/>
          <a:lstStyle/>
          <a:p>
            <a:r>
              <a:rPr lang="zh-CN" altLang="en-US" sz="2400"/>
              <a:t>（</a:t>
            </a:r>
            <a:r>
              <a:rPr lang="en-US" altLang="zh-CN" sz="2400"/>
              <a:t>3</a:t>
            </a:r>
            <a:r>
              <a:rPr lang="zh-CN" altLang="en-US" sz="2400"/>
              <a:t>）</a:t>
            </a:r>
            <a:r>
              <a:rPr lang="zh-CN" altLang="zh-CN" sz="2400"/>
              <a:t>折线图类</a:t>
            </a:r>
            <a:r>
              <a:rPr lang="zh-CN" altLang="en-US" sz="2400"/>
              <a:t>工具</a:t>
            </a:r>
            <a:endParaRPr lang="en-US" altLang="zh-CN" sz="2400"/>
          </a:p>
          <a:p>
            <a:r>
              <a:rPr lang="zh-CN" altLang="zh-CN" sz="2400"/>
              <a:t>控制</a:t>
            </a:r>
            <a:r>
              <a:rPr lang="zh-CN" altLang="en-US" sz="2400"/>
              <a:t>图</a:t>
            </a:r>
            <a:endParaRPr lang="en-US" altLang="zh-CN" sz="2400"/>
          </a:p>
          <a:p>
            <a:pPr lvl="1">
              <a:buFont typeface="Wingdings" panose="05000000000000000000" pitchFamily="2" charset="2"/>
              <a:buChar char="ü"/>
            </a:pPr>
            <a:r>
              <a:rPr lang="zh-CN" altLang="zh-CN" sz="2000"/>
              <a:t>是游程图的一个高级形式，是通过测量、记录和评估过程质量特性值来判断过程是否处于控制状态</a:t>
            </a:r>
            <a:endParaRPr lang="en-US" altLang="zh-CN" sz="2000"/>
          </a:p>
          <a:p>
            <a:pPr lvl="1">
              <a:buFont typeface="Wingdings" panose="05000000000000000000" pitchFamily="2" charset="2"/>
              <a:buChar char="ü"/>
            </a:pPr>
            <a:r>
              <a:rPr lang="zh-CN" altLang="zh-CN" sz="2000"/>
              <a:t>主要用于问题分析，是一种基于统计方法所设计的图</a:t>
            </a:r>
          </a:p>
        </p:txBody>
      </p:sp>
      <p:pic>
        <p:nvPicPr>
          <p:cNvPr id="71684" name="图片 1">
            <a:extLst>
              <a:ext uri="{FF2B5EF4-FFF2-40B4-BE49-F238E27FC236}">
                <a16:creationId xmlns:a16="http://schemas.microsoft.com/office/drawing/2014/main" id="{13E8D7E8-D815-942A-5522-8ABBF43C77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3857625"/>
            <a:ext cx="540067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5AEA52C-AA84-F63F-3CF6-CB201B1E8E0C}"/>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72707" name="内容占位符 1">
            <a:extLst>
              <a:ext uri="{FF2B5EF4-FFF2-40B4-BE49-F238E27FC236}">
                <a16:creationId xmlns:a16="http://schemas.microsoft.com/office/drawing/2014/main" id="{C00276AD-CBCC-89BC-315E-91CDD9036C17}"/>
              </a:ext>
            </a:extLst>
          </p:cNvPr>
          <p:cNvSpPr>
            <a:spLocks noGrp="1" noChangeArrowheads="1"/>
          </p:cNvSpPr>
          <p:nvPr>
            <p:ph idx="1"/>
          </p:nvPr>
        </p:nvSpPr>
        <p:spPr>
          <a:xfrm>
            <a:off x="684213" y="1773238"/>
            <a:ext cx="7920037" cy="4751387"/>
          </a:xfrm>
        </p:spPr>
        <p:txBody>
          <a:bodyPr/>
          <a:lstStyle/>
          <a:p>
            <a:r>
              <a:rPr lang="zh-CN" altLang="en-US" sz="2400"/>
              <a:t>（</a:t>
            </a:r>
            <a:r>
              <a:rPr lang="en-US" altLang="zh-CN" sz="2400"/>
              <a:t>4</a:t>
            </a:r>
            <a:r>
              <a:rPr lang="zh-CN" altLang="en-US" sz="2400"/>
              <a:t>）</a:t>
            </a:r>
            <a:r>
              <a:rPr lang="zh-CN" altLang="zh-CN" sz="2400"/>
              <a:t>枝状图类</a:t>
            </a:r>
            <a:r>
              <a:rPr lang="zh-CN" altLang="en-US" sz="2400"/>
              <a:t>工具</a:t>
            </a:r>
            <a:endParaRPr lang="en-US" altLang="zh-CN" sz="2400"/>
          </a:p>
          <a:p>
            <a:r>
              <a:rPr lang="zh-CN" altLang="zh-CN" sz="2400"/>
              <a:t>以树枝一样的形状来展示</a:t>
            </a:r>
            <a:endParaRPr lang="en-US" altLang="zh-CN" sz="2400"/>
          </a:p>
          <a:p>
            <a:r>
              <a:rPr lang="zh-CN" altLang="zh-CN" sz="2400"/>
              <a:t>因果图</a:t>
            </a:r>
            <a:r>
              <a:rPr lang="zh-CN" altLang="en-US" sz="2400"/>
              <a:t>：</a:t>
            </a:r>
            <a:r>
              <a:rPr lang="zh-CN" altLang="zh-CN" sz="2400"/>
              <a:t>也称鱼骨图（</a:t>
            </a:r>
            <a:r>
              <a:rPr lang="en-US" altLang="zh-CN" sz="2400"/>
              <a:t>Fishbone</a:t>
            </a:r>
            <a:r>
              <a:rPr lang="zh-CN" altLang="zh-CN" sz="2400"/>
              <a:t>），用来表示一个质量属性（即结果）与影响该属性的因素（即原因）之间的关系，其分布像鱼的骨架</a:t>
            </a:r>
          </a:p>
        </p:txBody>
      </p:sp>
      <p:pic>
        <p:nvPicPr>
          <p:cNvPr id="72708" name="图片 1">
            <a:extLst>
              <a:ext uri="{FF2B5EF4-FFF2-40B4-BE49-F238E27FC236}">
                <a16:creationId xmlns:a16="http://schemas.microsoft.com/office/drawing/2014/main" id="{13E9C750-1AC2-7DD8-8628-D37179D2735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3941763"/>
            <a:ext cx="4594225" cy="287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2BDC03D7-E06F-E7CC-4DBA-03F177556F11}"/>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73731" name="内容占位符 1">
            <a:extLst>
              <a:ext uri="{FF2B5EF4-FFF2-40B4-BE49-F238E27FC236}">
                <a16:creationId xmlns:a16="http://schemas.microsoft.com/office/drawing/2014/main" id="{3F52EACF-D3C9-DBBB-B667-D555C93D83BB}"/>
              </a:ext>
            </a:extLst>
          </p:cNvPr>
          <p:cNvSpPr>
            <a:spLocks noGrp="1" noChangeArrowheads="1"/>
          </p:cNvSpPr>
          <p:nvPr>
            <p:ph idx="1"/>
          </p:nvPr>
        </p:nvSpPr>
        <p:spPr>
          <a:xfrm>
            <a:off x="755650" y="2062163"/>
            <a:ext cx="7993063" cy="3814762"/>
          </a:xfrm>
        </p:spPr>
        <p:txBody>
          <a:bodyPr/>
          <a:lstStyle/>
          <a:p>
            <a:pPr>
              <a:lnSpc>
                <a:spcPct val="120000"/>
              </a:lnSpc>
            </a:pPr>
            <a:r>
              <a:rPr lang="zh-CN" altLang="en-US" sz="2400"/>
              <a:t>因果图的分类</a:t>
            </a:r>
            <a:endParaRPr lang="zh-CN" altLang="zh-CN" sz="2400"/>
          </a:p>
          <a:p>
            <a:pPr lvl="1">
              <a:lnSpc>
                <a:spcPct val="120000"/>
              </a:lnSpc>
              <a:buFont typeface="Wingdings" panose="05000000000000000000" pitchFamily="2" charset="2"/>
              <a:buChar char="ü"/>
            </a:pPr>
            <a:r>
              <a:rPr lang="zh-CN" altLang="zh-CN" sz="2000"/>
              <a:t>整理问题型</a:t>
            </a:r>
            <a:r>
              <a:rPr lang="zh-CN" altLang="en-US" sz="2000"/>
              <a:t>：结构构成关系</a:t>
            </a:r>
            <a:endParaRPr lang="zh-CN" altLang="zh-CN" sz="2000"/>
          </a:p>
          <a:p>
            <a:pPr lvl="1">
              <a:lnSpc>
                <a:spcPct val="120000"/>
              </a:lnSpc>
              <a:buFont typeface="Wingdings" panose="05000000000000000000" pitchFamily="2" charset="2"/>
              <a:buChar char="ü"/>
            </a:pPr>
            <a:r>
              <a:rPr lang="zh-CN" altLang="zh-CN" sz="2000"/>
              <a:t>原因型</a:t>
            </a:r>
            <a:r>
              <a:rPr lang="zh-CN" altLang="en-US" sz="2000"/>
              <a:t>：鱼头表示结果，鱼骨表示原因</a:t>
            </a:r>
            <a:endParaRPr lang="zh-CN" altLang="zh-CN" sz="2000"/>
          </a:p>
          <a:p>
            <a:pPr lvl="1">
              <a:lnSpc>
                <a:spcPct val="120000"/>
              </a:lnSpc>
              <a:buFont typeface="Wingdings" panose="05000000000000000000" pitchFamily="2" charset="2"/>
              <a:buChar char="ü"/>
            </a:pPr>
            <a:r>
              <a:rPr lang="zh-CN" altLang="zh-CN" sz="2000"/>
              <a:t>对策型</a:t>
            </a:r>
            <a:r>
              <a:rPr lang="zh-CN" altLang="en-US" sz="2000"/>
              <a:t>：鱼头表示目标，鱼骨表示采取的措施</a:t>
            </a:r>
            <a:endParaRPr lang="zh-CN" altLang="zh-CN" sz="2000"/>
          </a:p>
          <a:p>
            <a:pPr>
              <a:lnSpc>
                <a:spcPct val="120000"/>
              </a:lnSpc>
            </a:pPr>
            <a:r>
              <a:rPr lang="zh-CN" altLang="zh-CN" sz="2400"/>
              <a:t>因果图不仅用于问题识别，同时还用于问题分析。</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149E2A49-3D2A-9DB6-7E03-EE72E4629CA6}"/>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74755" name="内容占位符 1">
            <a:extLst>
              <a:ext uri="{FF2B5EF4-FFF2-40B4-BE49-F238E27FC236}">
                <a16:creationId xmlns:a16="http://schemas.microsoft.com/office/drawing/2014/main" id="{76AF9717-D9E6-47CF-5B26-E1A8F4173C98}"/>
              </a:ext>
            </a:extLst>
          </p:cNvPr>
          <p:cNvSpPr>
            <a:spLocks noGrp="1" noChangeArrowheads="1"/>
          </p:cNvSpPr>
          <p:nvPr>
            <p:ph idx="1"/>
          </p:nvPr>
        </p:nvSpPr>
        <p:spPr>
          <a:xfrm>
            <a:off x="684213" y="1846263"/>
            <a:ext cx="8280400" cy="4751387"/>
          </a:xfrm>
        </p:spPr>
        <p:txBody>
          <a:bodyPr/>
          <a:lstStyle/>
          <a:p>
            <a:r>
              <a:rPr lang="zh-CN" altLang="en-US" sz="2400"/>
              <a:t>（</a:t>
            </a:r>
            <a:r>
              <a:rPr lang="en-US" altLang="zh-CN" sz="2400"/>
              <a:t>5</a:t>
            </a:r>
            <a:r>
              <a:rPr lang="zh-CN" altLang="en-US" sz="2400"/>
              <a:t>）</a:t>
            </a:r>
            <a:r>
              <a:rPr lang="zh-CN" altLang="zh-CN" sz="2400"/>
              <a:t>离散点图类</a:t>
            </a:r>
            <a:r>
              <a:rPr lang="zh-CN" altLang="en-US" sz="2400"/>
              <a:t>工具</a:t>
            </a:r>
            <a:endParaRPr lang="en-US" altLang="zh-CN" sz="2400"/>
          </a:p>
          <a:p>
            <a:r>
              <a:rPr lang="zh-CN" altLang="zh-CN" sz="2400"/>
              <a:t>直接将数据以点的序列的方式进行绘制，点与点之间不需要用线条加以连接</a:t>
            </a:r>
            <a:endParaRPr lang="en-US" altLang="zh-CN" sz="2400"/>
          </a:p>
          <a:p>
            <a:r>
              <a:rPr lang="zh-CN" altLang="zh-CN" sz="2400"/>
              <a:t>散点图</a:t>
            </a:r>
            <a:r>
              <a:rPr lang="zh-CN" altLang="en-US" sz="2400"/>
              <a:t>：</a:t>
            </a:r>
            <a:r>
              <a:rPr lang="zh-CN" altLang="zh-CN" sz="2400"/>
              <a:t>以点的序列来表示两个变量之间关系</a:t>
            </a:r>
          </a:p>
        </p:txBody>
      </p:sp>
      <p:pic>
        <p:nvPicPr>
          <p:cNvPr id="74756" name="图片 1">
            <a:extLst>
              <a:ext uri="{FF2B5EF4-FFF2-40B4-BE49-F238E27FC236}">
                <a16:creationId xmlns:a16="http://schemas.microsoft.com/office/drawing/2014/main" id="{3C4D5877-3F62-FB1E-798A-073FAD2A0A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3567113"/>
            <a:ext cx="4824413"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F9DF618-7C06-048E-AA89-D1062D764C15}"/>
              </a:ext>
            </a:extLst>
          </p:cNvPr>
          <p:cNvSpPr>
            <a:spLocks noGrp="1" noChangeArrowheads="1"/>
          </p:cNvSpPr>
          <p:nvPr>
            <p:ph type="title"/>
          </p:nvPr>
        </p:nvSpPr>
        <p:spPr>
          <a:noFill/>
        </p:spPr>
        <p:txBody>
          <a:bodyPr/>
          <a:lstStyle/>
          <a:p>
            <a:pPr eaLnBrk="1" hangingPunct="1"/>
            <a:r>
              <a:rPr lang="en-US" altLang="zh-CN"/>
              <a:t>4.2.3  </a:t>
            </a:r>
            <a:r>
              <a:rPr lang="zh-CN" altLang="en-US"/>
              <a:t>软件质量工具</a:t>
            </a:r>
            <a:endParaRPr kumimoji="1" lang="zh-CN" altLang="en-US"/>
          </a:p>
        </p:txBody>
      </p:sp>
      <p:sp>
        <p:nvSpPr>
          <p:cNvPr id="75779" name="内容占位符 1">
            <a:extLst>
              <a:ext uri="{FF2B5EF4-FFF2-40B4-BE49-F238E27FC236}">
                <a16:creationId xmlns:a16="http://schemas.microsoft.com/office/drawing/2014/main" id="{2DDEFB10-3438-403A-6D81-8A1B148A4620}"/>
              </a:ext>
            </a:extLst>
          </p:cNvPr>
          <p:cNvSpPr>
            <a:spLocks noGrp="1" noChangeArrowheads="1"/>
          </p:cNvSpPr>
          <p:nvPr>
            <p:ph idx="1"/>
          </p:nvPr>
        </p:nvSpPr>
        <p:spPr>
          <a:xfrm>
            <a:off x="684213" y="2062163"/>
            <a:ext cx="7991475" cy="3598862"/>
          </a:xfrm>
        </p:spPr>
        <p:txBody>
          <a:bodyPr/>
          <a:lstStyle/>
          <a:p>
            <a:pPr>
              <a:lnSpc>
                <a:spcPct val="150000"/>
              </a:lnSpc>
            </a:pPr>
            <a:r>
              <a:rPr lang="zh-CN" altLang="zh-CN" sz="2400"/>
              <a:t>散点图</a:t>
            </a:r>
            <a:endParaRPr lang="en-US" altLang="zh-CN" sz="2400"/>
          </a:p>
          <a:p>
            <a:pPr>
              <a:lnSpc>
                <a:spcPct val="150000"/>
              </a:lnSpc>
            </a:pPr>
            <a:r>
              <a:rPr lang="zh-CN" altLang="zh-CN" sz="2400"/>
              <a:t>主要用于展示和发现两组相关数据之间的关系类型和程度，并对未来的发展趋势进行预测</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769B6DA8-067F-956E-0E3E-F58A4702DB88}"/>
              </a:ext>
            </a:extLst>
          </p:cNvPr>
          <p:cNvSpPr>
            <a:spLocks noGrp="1" noChangeArrowheads="1"/>
          </p:cNvSpPr>
          <p:nvPr>
            <p:ph type="title"/>
          </p:nvPr>
        </p:nvSpPr>
        <p:spPr/>
        <p:txBody>
          <a:bodyPr/>
          <a:lstStyle/>
          <a:p>
            <a:pPr eaLnBrk="1" hangingPunct="1"/>
            <a:r>
              <a:rPr lang="zh-CN" altLang="en-US"/>
              <a:t>本章内容提要</a:t>
            </a:r>
          </a:p>
        </p:txBody>
      </p:sp>
      <p:grpSp>
        <p:nvGrpSpPr>
          <p:cNvPr id="76803" name="组合 23">
            <a:extLst>
              <a:ext uri="{FF2B5EF4-FFF2-40B4-BE49-F238E27FC236}">
                <a16:creationId xmlns:a16="http://schemas.microsoft.com/office/drawing/2014/main" id="{F388FECC-37D7-D8EC-FC34-E0412329B1DD}"/>
              </a:ext>
            </a:extLst>
          </p:cNvPr>
          <p:cNvGrpSpPr>
            <a:grpSpLocks/>
          </p:cNvGrpSpPr>
          <p:nvPr/>
        </p:nvGrpSpPr>
        <p:grpSpPr bwMode="auto">
          <a:xfrm>
            <a:off x="604838" y="2133600"/>
            <a:ext cx="5695950" cy="3797300"/>
            <a:chOff x="604838" y="2343150"/>
            <a:chExt cx="5695950" cy="3797300"/>
          </a:xfrm>
        </p:grpSpPr>
        <p:sp>
          <p:nvSpPr>
            <p:cNvPr id="76804" name="AutoShape 4">
              <a:extLst>
                <a:ext uri="{FF2B5EF4-FFF2-40B4-BE49-F238E27FC236}">
                  <a16:creationId xmlns:a16="http://schemas.microsoft.com/office/drawing/2014/main" id="{ED753CFE-9A63-91B5-24B5-37BD3F73CB9C}"/>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05" name="Text Box 5">
              <a:extLst>
                <a:ext uri="{FF2B5EF4-FFF2-40B4-BE49-F238E27FC236}">
                  <a16:creationId xmlns:a16="http://schemas.microsoft.com/office/drawing/2014/main" id="{79B3EB17-68EA-49BD-88C5-026375AA1766}"/>
                </a:ext>
              </a:extLst>
            </p:cNvPr>
            <p:cNvSpPr txBox="1">
              <a:spLocks noChangeArrowheads="1"/>
            </p:cNvSpPr>
            <p:nvPr/>
          </p:nvSpPr>
          <p:spPr bwMode="auto">
            <a:xfrm>
              <a:off x="993775" y="2389188"/>
              <a:ext cx="4919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软件质量与质量保证概述</a:t>
              </a:r>
              <a:r>
                <a:rPr lang="en-US" altLang="zh-CN" sz="2200">
                  <a:latin typeface="Times New Roman" panose="02020603050405020304" pitchFamily="18" charset="0"/>
                  <a:ea typeface="黑体" panose="02010609060101010101" pitchFamily="49" charset="-122"/>
                </a:rPr>
                <a:t> </a:t>
              </a:r>
            </a:p>
          </p:txBody>
        </p:sp>
        <p:sp>
          <p:nvSpPr>
            <p:cNvPr id="76806" name="AutoShape 6">
              <a:extLst>
                <a:ext uri="{FF2B5EF4-FFF2-40B4-BE49-F238E27FC236}">
                  <a16:creationId xmlns:a16="http://schemas.microsoft.com/office/drawing/2014/main" id="{8ECA8EA4-0AC4-DD67-FE6E-9F9CFE83C89E}"/>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07" name="Text Box 7">
              <a:extLst>
                <a:ext uri="{FF2B5EF4-FFF2-40B4-BE49-F238E27FC236}">
                  <a16:creationId xmlns:a16="http://schemas.microsoft.com/office/drawing/2014/main" id="{9C0D920D-2E77-9BC1-2201-97B95E188553}"/>
                </a:ext>
              </a:extLst>
            </p:cNvPr>
            <p:cNvSpPr txBox="1">
              <a:spLocks noChangeArrowheads="1"/>
            </p:cNvSpPr>
            <p:nvPr/>
          </p:nvSpPr>
          <p:spPr bwMode="auto">
            <a:xfrm>
              <a:off x="1004888" y="2930525"/>
              <a:ext cx="4919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软件质量度量</a:t>
              </a:r>
              <a:r>
                <a:rPr lang="zh-CN" altLang="en-US" sz="2400" b="0">
                  <a:latin typeface="Times New Roman" panose="02020603050405020304" pitchFamily="18" charset="0"/>
                </a:rPr>
                <a:t> </a:t>
              </a:r>
            </a:p>
          </p:txBody>
        </p:sp>
        <p:sp>
          <p:nvSpPr>
            <p:cNvPr id="76808" name="AutoShape 8">
              <a:extLst>
                <a:ext uri="{FF2B5EF4-FFF2-40B4-BE49-F238E27FC236}">
                  <a16:creationId xmlns:a16="http://schemas.microsoft.com/office/drawing/2014/main" id="{E6B221F2-10E8-AC28-E8CB-4584A6402DF6}"/>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09" name="Text Box 9">
              <a:extLst>
                <a:ext uri="{FF2B5EF4-FFF2-40B4-BE49-F238E27FC236}">
                  <a16:creationId xmlns:a16="http://schemas.microsoft.com/office/drawing/2014/main" id="{A7E8D925-741C-C0B0-24F6-72A6E56A0F84}"/>
                </a:ext>
              </a:extLst>
            </p:cNvPr>
            <p:cNvSpPr txBox="1">
              <a:spLocks noChangeArrowheads="1"/>
            </p:cNvSpPr>
            <p:nvPr/>
          </p:nvSpPr>
          <p:spPr bwMode="auto">
            <a:xfrm>
              <a:off x="1004888" y="3524250"/>
              <a:ext cx="49196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软件质量保证的措施</a:t>
              </a:r>
              <a:endParaRPr lang="zh-CN" altLang="en-US" sz="2400" b="0">
                <a:latin typeface="Times New Roman" panose="02020603050405020304" pitchFamily="18" charset="0"/>
              </a:endParaRPr>
            </a:p>
          </p:txBody>
        </p:sp>
        <p:sp>
          <p:nvSpPr>
            <p:cNvPr id="76810" name="Rectangle 10">
              <a:extLst>
                <a:ext uri="{FF2B5EF4-FFF2-40B4-BE49-F238E27FC236}">
                  <a16:creationId xmlns:a16="http://schemas.microsoft.com/office/drawing/2014/main" id="{5BB8A846-624C-2DB3-EF7D-1F7CB532A276}"/>
                </a:ext>
              </a:extLst>
            </p:cNvPr>
            <p:cNvSpPr>
              <a:spLocks noChangeArrowheads="1"/>
            </p:cNvSpPr>
            <p:nvPr/>
          </p:nvSpPr>
          <p:spPr bwMode="auto">
            <a:xfrm>
              <a:off x="611188" y="243205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4.1</a:t>
              </a:r>
              <a:endParaRPr lang="en-US" altLang="zh-CN" sz="1800">
                <a:solidFill>
                  <a:srgbClr val="000000"/>
                </a:solidFill>
              </a:endParaRPr>
            </a:p>
          </p:txBody>
        </p:sp>
        <p:sp>
          <p:nvSpPr>
            <p:cNvPr id="76811" name="AutoShape 13">
              <a:extLst>
                <a:ext uri="{FF2B5EF4-FFF2-40B4-BE49-F238E27FC236}">
                  <a16:creationId xmlns:a16="http://schemas.microsoft.com/office/drawing/2014/main" id="{B3B81997-282D-1127-0AF8-698437D0DD72}"/>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12" name="Text Box 14">
              <a:extLst>
                <a:ext uri="{FF2B5EF4-FFF2-40B4-BE49-F238E27FC236}">
                  <a16:creationId xmlns:a16="http://schemas.microsoft.com/office/drawing/2014/main" id="{C8589416-0A7A-BC84-3FC0-250C7F63C136}"/>
                </a:ext>
              </a:extLst>
            </p:cNvPr>
            <p:cNvSpPr txBox="1">
              <a:spLocks noChangeArrowheads="1"/>
            </p:cNvSpPr>
            <p:nvPr/>
          </p:nvSpPr>
          <p:spPr bwMode="auto">
            <a:xfrm>
              <a:off x="1009650" y="4038600"/>
              <a:ext cx="49196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软件测试过程管理</a:t>
              </a:r>
              <a:endParaRPr lang="zh-CN" altLang="en-US" sz="2400" b="0">
                <a:latin typeface="Times New Roman" panose="02020603050405020304" pitchFamily="18" charset="0"/>
              </a:endParaRPr>
            </a:p>
          </p:txBody>
        </p:sp>
        <p:sp>
          <p:nvSpPr>
            <p:cNvPr id="76813" name="Rectangle 15">
              <a:extLst>
                <a:ext uri="{FF2B5EF4-FFF2-40B4-BE49-F238E27FC236}">
                  <a16:creationId xmlns:a16="http://schemas.microsoft.com/office/drawing/2014/main" id="{91B2F7CB-F0C1-F4D5-8B92-0D83698ACF87}"/>
                </a:ext>
              </a:extLst>
            </p:cNvPr>
            <p:cNvSpPr>
              <a:spLocks noChangeArrowheads="1"/>
            </p:cNvSpPr>
            <p:nvPr/>
          </p:nvSpPr>
          <p:spPr bwMode="auto">
            <a:xfrm>
              <a:off x="627063" y="4081463"/>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4.4</a:t>
              </a:r>
              <a:endParaRPr lang="en-US" altLang="zh-CN" sz="1800">
                <a:solidFill>
                  <a:srgbClr val="000000"/>
                </a:solidFill>
              </a:endParaRPr>
            </a:p>
          </p:txBody>
        </p:sp>
        <p:sp>
          <p:nvSpPr>
            <p:cNvPr id="76814" name="AutoShape 22">
              <a:extLst>
                <a:ext uri="{FF2B5EF4-FFF2-40B4-BE49-F238E27FC236}">
                  <a16:creationId xmlns:a16="http://schemas.microsoft.com/office/drawing/2014/main" id="{02F2B5C0-1AA1-93A1-BDA0-314C06FEBE9C}"/>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15" name="Text Box 23">
              <a:extLst>
                <a:ext uri="{FF2B5EF4-FFF2-40B4-BE49-F238E27FC236}">
                  <a16:creationId xmlns:a16="http://schemas.microsoft.com/office/drawing/2014/main" id="{2A25234A-DAC1-A18C-62E1-683ECA9BFA7C}"/>
                </a:ext>
              </a:extLst>
            </p:cNvPr>
            <p:cNvSpPr txBox="1">
              <a:spLocks noChangeArrowheads="1"/>
            </p:cNvSpPr>
            <p:nvPr/>
          </p:nvSpPr>
          <p:spPr bwMode="auto">
            <a:xfrm>
              <a:off x="1008063" y="4594225"/>
              <a:ext cx="4919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76816" name="Rectangle 24">
              <a:extLst>
                <a:ext uri="{FF2B5EF4-FFF2-40B4-BE49-F238E27FC236}">
                  <a16:creationId xmlns:a16="http://schemas.microsoft.com/office/drawing/2014/main" id="{E9CBDD5F-7B22-FF94-D7CE-321232E43A8A}"/>
                </a:ext>
              </a:extLst>
            </p:cNvPr>
            <p:cNvSpPr>
              <a:spLocks noChangeArrowheads="1"/>
            </p:cNvSpPr>
            <p:nvPr/>
          </p:nvSpPr>
          <p:spPr bwMode="auto">
            <a:xfrm>
              <a:off x="625475" y="4635500"/>
              <a:ext cx="334963"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4.5</a:t>
              </a:r>
              <a:endParaRPr lang="en-US" altLang="zh-CN" sz="1800">
                <a:solidFill>
                  <a:srgbClr val="000000"/>
                </a:solidFill>
              </a:endParaRPr>
            </a:p>
          </p:txBody>
        </p:sp>
        <p:sp>
          <p:nvSpPr>
            <p:cNvPr id="76817" name="AutoShape 25">
              <a:extLst>
                <a:ext uri="{FF2B5EF4-FFF2-40B4-BE49-F238E27FC236}">
                  <a16:creationId xmlns:a16="http://schemas.microsoft.com/office/drawing/2014/main" id="{1F053515-010D-60E4-E1AD-B2EE32243B21}"/>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18" name="Text Box 26">
              <a:extLst>
                <a:ext uri="{FF2B5EF4-FFF2-40B4-BE49-F238E27FC236}">
                  <a16:creationId xmlns:a16="http://schemas.microsoft.com/office/drawing/2014/main" id="{B74C9832-94A2-7DE7-73B7-411E55EBDFB6}"/>
                </a:ext>
              </a:extLst>
            </p:cNvPr>
            <p:cNvSpPr txBox="1">
              <a:spLocks noChangeArrowheads="1"/>
            </p:cNvSpPr>
            <p:nvPr/>
          </p:nvSpPr>
          <p:spPr bwMode="auto">
            <a:xfrm>
              <a:off x="1012825" y="5140325"/>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76819" name="Rectangle 27">
              <a:extLst>
                <a:ext uri="{FF2B5EF4-FFF2-40B4-BE49-F238E27FC236}">
                  <a16:creationId xmlns:a16="http://schemas.microsoft.com/office/drawing/2014/main" id="{446C5BD0-9ED7-BB09-5C59-02D7E3D94E8D}"/>
                </a:ext>
              </a:extLst>
            </p:cNvPr>
            <p:cNvSpPr>
              <a:spLocks noChangeArrowheads="1"/>
            </p:cNvSpPr>
            <p:nvPr/>
          </p:nvSpPr>
          <p:spPr bwMode="auto">
            <a:xfrm>
              <a:off x="630238" y="519588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4.6</a:t>
              </a:r>
              <a:endParaRPr lang="en-US" altLang="zh-CN" sz="1800">
                <a:solidFill>
                  <a:srgbClr val="000000"/>
                </a:solidFill>
              </a:endParaRPr>
            </a:p>
          </p:txBody>
        </p:sp>
        <p:sp>
          <p:nvSpPr>
            <p:cNvPr id="76820" name="AutoShape 28">
              <a:extLst>
                <a:ext uri="{FF2B5EF4-FFF2-40B4-BE49-F238E27FC236}">
                  <a16:creationId xmlns:a16="http://schemas.microsoft.com/office/drawing/2014/main" id="{4CA1E271-7442-96C1-281A-1E2898B7B6EE}"/>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21" name="Text Box 29">
              <a:extLst>
                <a:ext uri="{FF2B5EF4-FFF2-40B4-BE49-F238E27FC236}">
                  <a16:creationId xmlns:a16="http://schemas.microsoft.com/office/drawing/2014/main" id="{9AC1D8C9-0EF3-519F-F5F4-722E3F331898}"/>
                </a:ext>
              </a:extLst>
            </p:cNvPr>
            <p:cNvSpPr txBox="1">
              <a:spLocks noChangeArrowheads="1"/>
            </p:cNvSpPr>
            <p:nvPr/>
          </p:nvSpPr>
          <p:spPr bwMode="auto">
            <a:xfrm>
              <a:off x="1012825" y="5684838"/>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76822" name="Rectangle 30">
              <a:extLst>
                <a:ext uri="{FF2B5EF4-FFF2-40B4-BE49-F238E27FC236}">
                  <a16:creationId xmlns:a16="http://schemas.microsoft.com/office/drawing/2014/main" id="{987E0F78-85CF-079E-3E2A-031D29939597}"/>
                </a:ext>
              </a:extLst>
            </p:cNvPr>
            <p:cNvSpPr>
              <a:spLocks noChangeArrowheads="1"/>
            </p:cNvSpPr>
            <p:nvPr/>
          </p:nvSpPr>
          <p:spPr bwMode="auto">
            <a:xfrm>
              <a:off x="630238" y="574040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4.7</a:t>
              </a:r>
              <a:endParaRPr lang="en-US" altLang="zh-CN" sz="1800">
                <a:solidFill>
                  <a:srgbClr val="000000"/>
                </a:solidFill>
              </a:endParaRPr>
            </a:p>
          </p:txBody>
        </p:sp>
        <p:sp>
          <p:nvSpPr>
            <p:cNvPr id="76823" name="Rectangle 31">
              <a:extLst>
                <a:ext uri="{FF2B5EF4-FFF2-40B4-BE49-F238E27FC236}">
                  <a16:creationId xmlns:a16="http://schemas.microsoft.com/office/drawing/2014/main" id="{3564E48E-996F-9E08-C940-4357A9BAB130}"/>
                </a:ext>
              </a:extLst>
            </p:cNvPr>
            <p:cNvSpPr>
              <a:spLocks noChangeArrowheads="1"/>
            </p:cNvSpPr>
            <p:nvPr/>
          </p:nvSpPr>
          <p:spPr bwMode="auto">
            <a:xfrm>
              <a:off x="604838" y="299243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4.2</a:t>
              </a:r>
            </a:p>
          </p:txBody>
        </p:sp>
        <p:sp>
          <p:nvSpPr>
            <p:cNvPr id="76824" name="Rectangle 32">
              <a:extLst>
                <a:ext uri="{FF2B5EF4-FFF2-40B4-BE49-F238E27FC236}">
                  <a16:creationId xmlns:a16="http://schemas.microsoft.com/office/drawing/2014/main" id="{CE7D1A13-AF56-3AAB-980A-BB3B6E3A4941}"/>
                </a:ext>
              </a:extLst>
            </p:cNvPr>
            <p:cNvSpPr>
              <a:spLocks noChangeArrowheads="1"/>
            </p:cNvSpPr>
            <p:nvPr/>
          </p:nvSpPr>
          <p:spPr bwMode="auto">
            <a:xfrm>
              <a:off x="604838" y="3536950"/>
              <a:ext cx="334962" cy="2603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4.3</a:t>
              </a:r>
              <a:endParaRPr lang="en-US" altLang="zh-CN" sz="1800">
                <a:solidFill>
                  <a:srgbClr val="000000"/>
                </a:solidFill>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9A1AF48D-29C3-D9CC-0DD2-8C473693B0AC}"/>
              </a:ext>
            </a:extLst>
          </p:cNvPr>
          <p:cNvSpPr>
            <a:spLocks noGrp="1" noChangeArrowheads="1"/>
          </p:cNvSpPr>
          <p:nvPr>
            <p:ph type="title"/>
          </p:nvPr>
        </p:nvSpPr>
        <p:spPr>
          <a:noFill/>
        </p:spPr>
        <p:txBody>
          <a:bodyPr/>
          <a:lstStyle/>
          <a:p>
            <a:pPr eaLnBrk="1" hangingPunct="1"/>
            <a:r>
              <a:rPr lang="en-US" altLang="zh-CN"/>
              <a:t>4.3  </a:t>
            </a:r>
            <a:r>
              <a:rPr lang="zh-CN" altLang="en-US"/>
              <a:t>软件质量保证的措施</a:t>
            </a:r>
            <a:endParaRPr kumimoji="1" lang="en-US" altLang="zh-CN"/>
          </a:p>
        </p:txBody>
      </p:sp>
      <p:sp>
        <p:nvSpPr>
          <p:cNvPr id="77827" name="内容占位符 9">
            <a:extLst>
              <a:ext uri="{FF2B5EF4-FFF2-40B4-BE49-F238E27FC236}">
                <a16:creationId xmlns:a16="http://schemas.microsoft.com/office/drawing/2014/main" id="{D3FCC24A-BD86-5FF5-EA18-C00FEF3D01B0}"/>
              </a:ext>
            </a:extLst>
          </p:cNvPr>
          <p:cNvSpPr>
            <a:spLocks noGrp="1" noChangeArrowheads="1"/>
          </p:cNvSpPr>
          <p:nvPr>
            <p:ph idx="1"/>
          </p:nvPr>
        </p:nvSpPr>
        <p:spPr>
          <a:xfrm>
            <a:off x="395288" y="2089150"/>
            <a:ext cx="8497887" cy="4868863"/>
          </a:xfrm>
        </p:spPr>
        <p:txBody>
          <a:bodyPr/>
          <a:lstStyle/>
          <a:p>
            <a:pPr eaLnBrk="1" hangingPunct="1">
              <a:lnSpc>
                <a:spcPct val="150000"/>
              </a:lnSpc>
              <a:spcBef>
                <a:spcPct val="50000"/>
              </a:spcBef>
              <a:buSzPct val="70000"/>
              <a:buFont typeface="Wingdings" panose="05000000000000000000" pitchFamily="2" charset="2"/>
              <a:buChar char="n"/>
            </a:pPr>
            <a:r>
              <a:rPr lang="zh-CN" altLang="zh-CN" sz="2400">
                <a:solidFill>
                  <a:srgbClr val="0000FF"/>
                </a:solidFill>
                <a:ea typeface="黑体" panose="02010609060101010101" pitchFamily="49" charset="-122"/>
              </a:rPr>
              <a:t>软件质量保证主要是对软件工作产品及其开发过程进行监控</a:t>
            </a:r>
            <a:endParaRPr lang="en-US" altLang="zh-CN" sz="2400">
              <a:solidFill>
                <a:srgbClr val="0000FF"/>
              </a:solidFill>
              <a:ea typeface="黑体" panose="02010609060101010101" pitchFamily="49" charset="-122"/>
            </a:endParaRPr>
          </a:p>
          <a:p>
            <a:pPr eaLnBrk="1" hangingPunct="1">
              <a:lnSpc>
                <a:spcPct val="150000"/>
              </a:lnSpc>
              <a:spcBef>
                <a:spcPct val="50000"/>
              </a:spcBef>
              <a:buSzPct val="70000"/>
              <a:buFont typeface="Wingdings" panose="05000000000000000000" pitchFamily="2" charset="2"/>
              <a:buChar char="n"/>
            </a:pPr>
            <a:r>
              <a:rPr lang="zh-CN" altLang="en-US" sz="2400">
                <a:solidFill>
                  <a:srgbClr val="0000FF"/>
                </a:solidFill>
                <a:ea typeface="黑体" panose="02010609060101010101" pitchFamily="49" charset="-122"/>
              </a:rPr>
              <a:t>为此，</a:t>
            </a:r>
            <a:r>
              <a:rPr lang="zh-CN" altLang="zh-CN" sz="2400">
                <a:solidFill>
                  <a:srgbClr val="0000FF"/>
                </a:solidFill>
                <a:ea typeface="黑体" panose="02010609060101010101" pitchFamily="49" charset="-122"/>
              </a:rPr>
              <a:t>需要在软件开发的各个阶段制定软件质量保证计划，并通过软件评审来对工作产品及开发过程进行管理，同时还需要对工作产品及开发过程中的变更进行严格的监控（即软件配置管理）</a:t>
            </a:r>
            <a:endParaRPr lang="zh-CN" altLang="en-US" sz="2400">
              <a:solidFill>
                <a:srgbClr val="0000FF"/>
              </a:solidFill>
              <a:ea typeface="黑体" panose="02010609060101010101" pitchFamily="49"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DAE846A-0D45-DC7F-D65E-042B8E687A5E}"/>
              </a:ext>
            </a:extLst>
          </p:cNvPr>
          <p:cNvSpPr>
            <a:spLocks noGrp="1" noChangeArrowheads="1"/>
          </p:cNvSpPr>
          <p:nvPr>
            <p:ph type="title"/>
          </p:nvPr>
        </p:nvSpPr>
        <p:spPr>
          <a:noFill/>
        </p:spPr>
        <p:txBody>
          <a:bodyPr/>
          <a:lstStyle/>
          <a:p>
            <a:pPr eaLnBrk="1" hangingPunct="1"/>
            <a:r>
              <a:rPr lang="en-US" altLang="zh-CN"/>
              <a:t>4.3  </a:t>
            </a:r>
            <a:r>
              <a:rPr lang="zh-CN" altLang="en-US"/>
              <a:t>软件质量保证的措施</a:t>
            </a:r>
            <a:endParaRPr kumimoji="1" lang="en-US" altLang="zh-CN"/>
          </a:p>
        </p:txBody>
      </p:sp>
      <p:sp>
        <p:nvSpPr>
          <p:cNvPr id="78851" name="内容占位符 9">
            <a:extLst>
              <a:ext uri="{FF2B5EF4-FFF2-40B4-BE49-F238E27FC236}">
                <a16:creationId xmlns:a16="http://schemas.microsoft.com/office/drawing/2014/main" id="{49E6B839-66BF-8F2F-1BBA-55E8516947C5}"/>
              </a:ext>
            </a:extLst>
          </p:cNvPr>
          <p:cNvSpPr>
            <a:spLocks noGrp="1" noChangeArrowheads="1"/>
          </p:cNvSpPr>
          <p:nvPr>
            <p:ph idx="1"/>
          </p:nvPr>
        </p:nvSpPr>
        <p:spPr>
          <a:xfrm>
            <a:off x="395288" y="2060575"/>
            <a:ext cx="8424862" cy="3600450"/>
          </a:xfrm>
        </p:spPr>
        <p:txBody>
          <a:bodyPr/>
          <a:lstStyle/>
          <a:p>
            <a:pPr eaLnBrk="1" hangingPunct="1">
              <a:spcBef>
                <a:spcPct val="50000"/>
              </a:spcBef>
              <a:buSzPct val="70000"/>
              <a:buFont typeface="Wingdings" panose="05000000000000000000" pitchFamily="2" charset="2"/>
              <a:buChar char="n"/>
            </a:pP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rPr>
              <a:t>质量保证计划</a:t>
            </a:r>
            <a:endParaRPr lang="en-US" altLang="zh-CN">
              <a:solidFill>
                <a:schemeClr val="accent2"/>
              </a:solidFill>
              <a:ea typeface="黑体" panose="02010609060101010101" pitchFamily="49" charset="-122"/>
            </a:endParaRPr>
          </a:p>
          <a:p>
            <a:pPr eaLnBrk="1" hangingPunct="1">
              <a:spcBef>
                <a:spcPct val="50000"/>
              </a:spcBef>
              <a:buSzPct val="70000"/>
              <a:buFont typeface="Wingdings" panose="05000000000000000000" pitchFamily="2" charset="2"/>
              <a:buChar char="n"/>
            </a:pP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rPr>
              <a:t>软件评审</a:t>
            </a:r>
            <a:endParaRPr lang="en-US" altLang="zh-CN">
              <a:solidFill>
                <a:schemeClr val="accent2"/>
              </a:solidFill>
              <a:ea typeface="黑体" panose="02010609060101010101" pitchFamily="49" charset="-122"/>
            </a:endParaRPr>
          </a:p>
          <a:p>
            <a:pPr eaLnBrk="1" hangingPunct="1">
              <a:spcBef>
                <a:spcPct val="50000"/>
              </a:spcBef>
              <a:buSzPct val="70000"/>
              <a:buFont typeface="Wingdings" panose="05000000000000000000" pitchFamily="2" charset="2"/>
              <a:buChar char="n"/>
            </a:pPr>
            <a:r>
              <a:rPr lang="zh-CN" altLang="en-US">
                <a:solidFill>
                  <a:schemeClr val="accent2"/>
                </a:solidFill>
                <a:ea typeface="黑体" panose="02010609060101010101" pitchFamily="49" charset="-122"/>
              </a:rPr>
              <a:t> 软件配置管理</a:t>
            </a:r>
            <a:endParaRPr lang="en-US" altLang="zh-CN">
              <a:solidFill>
                <a:schemeClr val="accent2"/>
              </a:solidFill>
              <a:ea typeface="黑体" panose="02010609060101010101" pitchFamily="49" charset="-122"/>
            </a:endParaRPr>
          </a:p>
          <a:p>
            <a:pPr eaLnBrk="1" hangingPunct="1">
              <a:spcBef>
                <a:spcPct val="50000"/>
              </a:spcBef>
              <a:buSzPct val="70000"/>
              <a:buFont typeface="Wingdings" panose="05000000000000000000" pitchFamily="2" charset="2"/>
              <a:buChar char="n"/>
            </a:pP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rPr>
              <a:t>各阶段的质量保证活动</a:t>
            </a: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2B0B8774-06A2-36E0-0545-FFD8D6790409}"/>
              </a:ext>
            </a:extLst>
          </p:cNvPr>
          <p:cNvSpPr>
            <a:spLocks noGrp="1" noChangeArrowheads="1"/>
          </p:cNvSpPr>
          <p:nvPr>
            <p:ph type="title"/>
          </p:nvPr>
        </p:nvSpPr>
        <p:spPr>
          <a:noFill/>
        </p:spPr>
        <p:txBody>
          <a:bodyPr/>
          <a:lstStyle/>
          <a:p>
            <a:pPr eaLnBrk="1" hangingPunct="1"/>
            <a:r>
              <a:rPr lang="en-US" altLang="zh-CN"/>
              <a:t>4.3.1  </a:t>
            </a:r>
            <a:r>
              <a:rPr lang="zh-CN" altLang="en-US"/>
              <a:t>质量保证计划</a:t>
            </a:r>
            <a:endParaRPr kumimoji="1" lang="zh-CN" altLang="en-US"/>
          </a:p>
        </p:txBody>
      </p:sp>
      <p:sp>
        <p:nvSpPr>
          <p:cNvPr id="79875" name="内容占位符 1">
            <a:extLst>
              <a:ext uri="{FF2B5EF4-FFF2-40B4-BE49-F238E27FC236}">
                <a16:creationId xmlns:a16="http://schemas.microsoft.com/office/drawing/2014/main" id="{C671DAAA-6F79-13C7-7A73-85C46CB837D8}"/>
              </a:ext>
            </a:extLst>
          </p:cNvPr>
          <p:cNvSpPr>
            <a:spLocks noGrp="1" noChangeArrowheads="1"/>
          </p:cNvSpPr>
          <p:nvPr>
            <p:ph idx="1"/>
          </p:nvPr>
        </p:nvSpPr>
        <p:spPr>
          <a:xfrm>
            <a:off x="611188" y="1844675"/>
            <a:ext cx="8353425" cy="4895850"/>
          </a:xfrm>
        </p:spPr>
        <p:txBody>
          <a:bodyPr/>
          <a:lstStyle/>
          <a:p>
            <a:r>
              <a:rPr kumimoji="1" lang="zh-CN" altLang="zh-CN" sz="2400">
                <a:solidFill>
                  <a:schemeClr val="accent2"/>
                </a:solidFill>
                <a:latin typeface="黑体" panose="02010609060101010101" pitchFamily="49" charset="-122"/>
                <a:ea typeface="黑体" panose="02010609060101010101" pitchFamily="49" charset="-122"/>
              </a:rPr>
              <a:t>质量保证计划是质量管理（质量计划编制、质量保证和质量控制）的第一过程域</a:t>
            </a:r>
          </a:p>
        </p:txBody>
      </p:sp>
      <p:pic>
        <p:nvPicPr>
          <p:cNvPr id="79876" name="图片 1">
            <a:extLst>
              <a:ext uri="{FF2B5EF4-FFF2-40B4-BE49-F238E27FC236}">
                <a16:creationId xmlns:a16="http://schemas.microsoft.com/office/drawing/2014/main" id="{26AA86B7-0E5A-60DD-3EC3-5D7CD5B5D7B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2620963"/>
            <a:ext cx="3524250" cy="368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文本框 4">
            <a:extLst>
              <a:ext uri="{FF2B5EF4-FFF2-40B4-BE49-F238E27FC236}">
                <a16:creationId xmlns:a16="http://schemas.microsoft.com/office/drawing/2014/main" id="{CE746FB2-0F75-97D7-204E-D2363A989723}"/>
              </a:ext>
            </a:extLst>
          </p:cNvPr>
          <p:cNvSpPr txBox="1">
            <a:spLocks noChangeArrowheads="1"/>
          </p:cNvSpPr>
          <p:nvPr/>
        </p:nvSpPr>
        <p:spPr bwMode="auto">
          <a:xfrm>
            <a:off x="2049463" y="6294438"/>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000">
                <a:latin typeface="Times New Roman" panose="02020603050405020304" pitchFamily="18" charset="0"/>
              </a:rPr>
              <a:t>质量保证计划的产生</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51BF7492-6BBE-B8E1-5221-496224AC6413}"/>
              </a:ext>
            </a:extLst>
          </p:cNvPr>
          <p:cNvSpPr>
            <a:spLocks noGrp="1" noChangeArrowheads="1"/>
          </p:cNvSpPr>
          <p:nvPr>
            <p:ph type="title"/>
          </p:nvPr>
        </p:nvSpPr>
        <p:spPr>
          <a:noFill/>
        </p:spPr>
        <p:txBody>
          <a:bodyPr/>
          <a:lstStyle/>
          <a:p>
            <a:pPr eaLnBrk="1" hangingPunct="1"/>
            <a:r>
              <a:rPr lang="en-US" altLang="zh-CN"/>
              <a:t>4.3.1  </a:t>
            </a:r>
            <a:r>
              <a:rPr lang="zh-CN" altLang="en-US"/>
              <a:t>质量保证计划</a:t>
            </a:r>
            <a:endParaRPr kumimoji="1" lang="zh-CN" altLang="en-US"/>
          </a:p>
        </p:txBody>
      </p:sp>
      <p:sp>
        <p:nvSpPr>
          <p:cNvPr id="80899" name="内容占位符 1">
            <a:extLst>
              <a:ext uri="{FF2B5EF4-FFF2-40B4-BE49-F238E27FC236}">
                <a16:creationId xmlns:a16="http://schemas.microsoft.com/office/drawing/2014/main" id="{9B31F028-8255-D02E-CCAB-C812D0A3173B}"/>
              </a:ext>
            </a:extLst>
          </p:cNvPr>
          <p:cNvSpPr>
            <a:spLocks noGrp="1" noChangeArrowheads="1"/>
          </p:cNvSpPr>
          <p:nvPr>
            <p:ph idx="1"/>
          </p:nvPr>
        </p:nvSpPr>
        <p:spPr>
          <a:xfrm>
            <a:off x="684213" y="1917700"/>
            <a:ext cx="8064500" cy="4751388"/>
          </a:xfrm>
        </p:spPr>
        <p:txBody>
          <a:bodyPr/>
          <a:lstStyle/>
          <a:p>
            <a:pPr>
              <a:lnSpc>
                <a:spcPct val="120000"/>
              </a:lnSpc>
            </a:pPr>
            <a:r>
              <a:rPr lang="zh-CN" altLang="zh-CN" sz="2400"/>
              <a:t>如何合理的保证项目质量，正确处理质量与时间、成本之间的矛盾是制定项目质量计划的一个难点</a:t>
            </a:r>
            <a:endParaRPr lang="en-US" altLang="zh-CN" sz="2400"/>
          </a:p>
          <a:p>
            <a:pPr>
              <a:lnSpc>
                <a:spcPct val="120000"/>
              </a:lnSpc>
              <a:spcAft>
                <a:spcPts val="600"/>
              </a:spcAft>
            </a:pPr>
            <a:r>
              <a:rPr lang="zh-CN" altLang="zh-CN" sz="2400"/>
              <a:t>编制项目的质量计划，主要是</a:t>
            </a:r>
            <a:r>
              <a:rPr lang="zh-CN" altLang="en-US" sz="2400"/>
              <a:t>：</a:t>
            </a:r>
            <a:endParaRPr lang="en-US" altLang="zh-CN" sz="2400"/>
          </a:p>
          <a:p>
            <a:pPr lvl="1">
              <a:lnSpc>
                <a:spcPct val="120000"/>
              </a:lnSpc>
              <a:spcBef>
                <a:spcPts val="600"/>
              </a:spcBef>
              <a:spcAft>
                <a:spcPts val="600"/>
              </a:spcAft>
              <a:buFont typeface="Wingdings" panose="05000000000000000000" pitchFamily="2" charset="2"/>
              <a:buChar char="ü"/>
            </a:pPr>
            <a:r>
              <a:rPr lang="zh-CN" altLang="zh-CN" sz="2000"/>
              <a:t>确定项目的范围、中间产品和最终产品，</a:t>
            </a:r>
            <a:endParaRPr lang="en-US" altLang="zh-CN" sz="2000"/>
          </a:p>
          <a:p>
            <a:pPr lvl="1">
              <a:lnSpc>
                <a:spcPct val="120000"/>
              </a:lnSpc>
              <a:spcBef>
                <a:spcPts val="600"/>
              </a:spcBef>
              <a:spcAft>
                <a:spcPts val="600"/>
              </a:spcAft>
              <a:buFont typeface="Wingdings" panose="05000000000000000000" pitchFamily="2" charset="2"/>
              <a:buChar char="ü"/>
            </a:pPr>
            <a:r>
              <a:rPr lang="zh-CN" altLang="zh-CN" sz="2000"/>
              <a:t>明确关于中间产品和最终产品的有关规定、标准，确定可能影响产品质量的技术要点，</a:t>
            </a:r>
            <a:endParaRPr lang="en-US" altLang="zh-CN" sz="2000"/>
          </a:p>
          <a:p>
            <a:pPr lvl="1">
              <a:lnSpc>
                <a:spcPct val="120000"/>
              </a:lnSpc>
              <a:spcBef>
                <a:spcPts val="600"/>
              </a:spcBef>
              <a:spcAft>
                <a:spcPts val="600"/>
              </a:spcAft>
              <a:buFont typeface="Wingdings" panose="05000000000000000000" pitchFamily="2" charset="2"/>
              <a:buChar char="ü"/>
            </a:pPr>
            <a:r>
              <a:rPr lang="zh-CN" altLang="zh-CN" sz="2000"/>
              <a:t>找出能够确保高效满足相关规定、标准的过程方法，</a:t>
            </a:r>
            <a:endParaRPr lang="en-US" altLang="zh-CN" sz="2000"/>
          </a:p>
          <a:p>
            <a:pPr lvl="1">
              <a:lnSpc>
                <a:spcPct val="120000"/>
              </a:lnSpc>
              <a:spcBef>
                <a:spcPts val="600"/>
              </a:spcBef>
              <a:spcAft>
                <a:spcPts val="600"/>
              </a:spcAft>
              <a:buFont typeface="Wingdings" panose="05000000000000000000" pitchFamily="2" charset="2"/>
              <a:buChar char="ü"/>
            </a:pPr>
            <a:r>
              <a:rPr lang="zh-CN" altLang="zh-CN" sz="2000"/>
              <a:t>描述生成中间产品和最终产品前应进行的软件质量保证活动</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49FC8F82-E793-F72A-DD93-BB3114FDD047}"/>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1923" name="内容占位符 1">
            <a:extLst>
              <a:ext uri="{FF2B5EF4-FFF2-40B4-BE49-F238E27FC236}">
                <a16:creationId xmlns:a16="http://schemas.microsoft.com/office/drawing/2014/main" id="{D6639CE3-D9CC-75B7-994A-512489275866}"/>
              </a:ext>
            </a:extLst>
          </p:cNvPr>
          <p:cNvSpPr>
            <a:spLocks noGrp="1" noChangeArrowheads="1"/>
          </p:cNvSpPr>
          <p:nvPr>
            <p:ph idx="1"/>
          </p:nvPr>
        </p:nvSpPr>
        <p:spPr>
          <a:xfrm>
            <a:off x="684213" y="1844675"/>
            <a:ext cx="8064500" cy="4751388"/>
          </a:xfrm>
        </p:spPr>
        <p:txBody>
          <a:bodyPr/>
          <a:lstStyle/>
          <a:p>
            <a:r>
              <a:rPr lang="zh-CN" altLang="zh-CN" sz="2400" dirty="0"/>
              <a:t>软件评审和同行评审</a:t>
            </a:r>
            <a:endParaRPr lang="en-US" altLang="zh-CN" sz="2400" dirty="0"/>
          </a:p>
          <a:p>
            <a:r>
              <a:rPr lang="zh-CN" altLang="zh-CN" sz="2400" dirty="0"/>
              <a:t>软件评审</a:t>
            </a:r>
            <a:r>
              <a:rPr lang="zh-CN" altLang="en-US" sz="2400" dirty="0"/>
              <a:t>：</a:t>
            </a:r>
            <a:endParaRPr lang="en-US" altLang="zh-CN" sz="2400" dirty="0"/>
          </a:p>
          <a:p>
            <a:r>
              <a:rPr lang="zh-CN" altLang="en-US" sz="2400" dirty="0"/>
              <a:t>是</a:t>
            </a:r>
            <a:r>
              <a:rPr lang="zh-CN" altLang="zh-CN" sz="2400" dirty="0"/>
              <a:t>一组人员对特定软件项目某项活动的状态和产品进行检查和评价的过程</a:t>
            </a:r>
            <a:endParaRPr lang="en-US" altLang="zh-CN" sz="2400" dirty="0"/>
          </a:p>
          <a:p>
            <a:r>
              <a:rPr lang="zh-CN" altLang="zh-CN" sz="2400" dirty="0"/>
              <a:t>目的</a:t>
            </a:r>
            <a:r>
              <a:rPr lang="zh-CN" altLang="en-US" sz="2400" dirty="0"/>
              <a:t>：</a:t>
            </a:r>
            <a:r>
              <a:rPr lang="zh-CN" altLang="zh-CN" sz="2400" dirty="0">
                <a:solidFill>
                  <a:srgbClr val="FF0000"/>
                </a:solidFill>
              </a:rPr>
              <a:t>找出活动状态和产品中存在的缺陷并对质量进行评估</a:t>
            </a:r>
            <a:endParaRPr lang="en-US" altLang="zh-CN" sz="2400" dirty="0">
              <a:solidFill>
                <a:srgbClr val="FF0000"/>
              </a:solidFill>
            </a:endParaRPr>
          </a:p>
          <a:p>
            <a:r>
              <a:rPr lang="zh-CN" altLang="zh-CN" sz="2400" dirty="0"/>
              <a:t>一般</a:t>
            </a:r>
            <a:r>
              <a:rPr lang="zh-CN" altLang="en-US" sz="2400" dirty="0"/>
              <a:t>过程：</a:t>
            </a:r>
            <a:r>
              <a:rPr lang="zh-CN" altLang="zh-CN" sz="2400" dirty="0"/>
              <a:t>按照项目计划中的规定，在预定的里程碑处进行定期检查</a:t>
            </a:r>
            <a:endParaRPr lang="en-US" altLang="zh-CN" sz="2400" dirty="0"/>
          </a:p>
          <a:p>
            <a:r>
              <a:rPr lang="zh-CN" altLang="en-US" sz="2400" dirty="0"/>
              <a:t>评审的分类：包括</a:t>
            </a:r>
            <a:r>
              <a:rPr lang="zh-CN" altLang="zh-CN" sz="2400" dirty="0"/>
              <a:t>教育评审、管理评审、</a:t>
            </a:r>
            <a:r>
              <a:rPr lang="zh-CN" altLang="zh-CN" sz="2400" dirty="0">
                <a:solidFill>
                  <a:srgbClr val="0000FF"/>
                </a:solidFill>
              </a:rPr>
              <a:t>同行评审</a:t>
            </a:r>
            <a:r>
              <a:rPr lang="zh-CN" altLang="zh-CN" sz="2400" dirty="0"/>
              <a:t>、项目后的评审、状态评审等</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10DB47F6-621F-DB5D-AF28-3777D2F08BDE}"/>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2947" name="内容占位符 1">
            <a:extLst>
              <a:ext uri="{FF2B5EF4-FFF2-40B4-BE49-F238E27FC236}">
                <a16:creationId xmlns:a16="http://schemas.microsoft.com/office/drawing/2014/main" id="{A4577DDB-2A4F-0BBE-0495-C457B0C8C4EF}"/>
              </a:ext>
            </a:extLst>
          </p:cNvPr>
          <p:cNvSpPr>
            <a:spLocks noGrp="1" noChangeArrowheads="1"/>
          </p:cNvSpPr>
          <p:nvPr>
            <p:ph idx="1"/>
          </p:nvPr>
        </p:nvSpPr>
        <p:spPr>
          <a:xfrm>
            <a:off x="755650" y="1989138"/>
            <a:ext cx="7921625" cy="3744912"/>
          </a:xfrm>
        </p:spPr>
        <p:txBody>
          <a:bodyPr/>
          <a:lstStyle/>
          <a:p>
            <a:pPr>
              <a:lnSpc>
                <a:spcPct val="150000"/>
              </a:lnSpc>
              <a:spcBef>
                <a:spcPts val="600"/>
              </a:spcBef>
              <a:spcAft>
                <a:spcPts val="600"/>
              </a:spcAft>
            </a:pPr>
            <a:r>
              <a:rPr lang="zh-CN" altLang="zh-CN" sz="2400"/>
              <a:t>同行评审（</a:t>
            </a:r>
            <a:r>
              <a:rPr lang="en-US" altLang="zh-CN" sz="2400"/>
              <a:t>Peer review</a:t>
            </a:r>
            <a:r>
              <a:rPr lang="zh-CN" altLang="zh-CN" sz="2400"/>
              <a:t>）</a:t>
            </a:r>
            <a:endParaRPr lang="en-US" altLang="zh-CN" sz="2400"/>
          </a:p>
          <a:p>
            <a:pPr lvl="1">
              <a:lnSpc>
                <a:spcPct val="150000"/>
              </a:lnSpc>
              <a:spcBef>
                <a:spcPts val="600"/>
              </a:spcBef>
              <a:spcAft>
                <a:spcPts val="600"/>
              </a:spcAft>
              <a:buFont typeface="Wingdings" panose="05000000000000000000" pitchFamily="2" charset="2"/>
              <a:buChar char="ü"/>
            </a:pPr>
            <a:r>
              <a:rPr lang="zh-CN" altLang="zh-CN" sz="2000"/>
              <a:t>基于缺陷预防的思想</a:t>
            </a:r>
            <a:endParaRPr lang="en-US" altLang="zh-CN" sz="2000"/>
          </a:p>
          <a:p>
            <a:pPr lvl="1">
              <a:lnSpc>
                <a:spcPct val="150000"/>
              </a:lnSpc>
              <a:spcBef>
                <a:spcPts val="600"/>
              </a:spcBef>
              <a:spcAft>
                <a:spcPts val="600"/>
              </a:spcAft>
              <a:buFont typeface="Wingdings" panose="05000000000000000000" pitchFamily="2" charset="2"/>
              <a:buChar char="ü"/>
            </a:pPr>
            <a:r>
              <a:rPr lang="zh-CN" altLang="zh-CN" sz="2000"/>
              <a:t>主要以评审会议为形式</a:t>
            </a:r>
            <a:r>
              <a:rPr lang="zh-CN" altLang="en-US" sz="2000"/>
              <a:t>，</a:t>
            </a:r>
            <a:r>
              <a:rPr lang="zh-CN" altLang="zh-CN" sz="2000"/>
              <a:t>通过多人对软件交付物进行检查，从而发现缺陷或获得改进优化的机会</a:t>
            </a:r>
            <a:endParaRPr lang="en-US" altLang="zh-CN" sz="2000"/>
          </a:p>
          <a:p>
            <a:pPr>
              <a:spcBef>
                <a:spcPts val="600"/>
              </a:spcBef>
              <a:spcAft>
                <a:spcPts val="600"/>
              </a:spcAft>
            </a:pPr>
            <a:endParaRPr lang="en-US" altLang="zh-CN" sz="2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0FDF54E5-896B-ADF5-CFCD-45179F9C8187}"/>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3971" name="内容占位符 1">
            <a:extLst>
              <a:ext uri="{FF2B5EF4-FFF2-40B4-BE49-F238E27FC236}">
                <a16:creationId xmlns:a16="http://schemas.microsoft.com/office/drawing/2014/main" id="{A9B3A11C-4583-5ED7-FC75-65E790272F5F}"/>
              </a:ext>
            </a:extLst>
          </p:cNvPr>
          <p:cNvSpPr>
            <a:spLocks noGrp="1" noChangeArrowheads="1"/>
          </p:cNvSpPr>
          <p:nvPr>
            <p:ph idx="1"/>
          </p:nvPr>
        </p:nvSpPr>
        <p:spPr>
          <a:xfrm>
            <a:off x="179388" y="1773238"/>
            <a:ext cx="8785225" cy="4751387"/>
          </a:xfrm>
        </p:spPr>
        <p:txBody>
          <a:bodyPr/>
          <a:lstStyle/>
          <a:p>
            <a:r>
              <a:rPr lang="zh-CN" altLang="zh-CN" sz="2400"/>
              <a:t>同行评审</a:t>
            </a:r>
            <a:r>
              <a:rPr lang="zh-CN" altLang="en-US" sz="2400"/>
              <a:t>方法的比较</a:t>
            </a:r>
            <a:endParaRPr lang="zh-CN" altLang="zh-CN" sz="2400"/>
          </a:p>
        </p:txBody>
      </p:sp>
      <p:pic>
        <p:nvPicPr>
          <p:cNvPr id="2" name="图片 1">
            <a:extLst>
              <a:ext uri="{FF2B5EF4-FFF2-40B4-BE49-F238E27FC236}">
                <a16:creationId xmlns:a16="http://schemas.microsoft.com/office/drawing/2014/main" id="{8959681A-FCEE-B689-886B-16230E2FEE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6988"/>
            <a:ext cx="9144000" cy="6886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CE6F1A0-7D51-EF41-954A-D4628E01196B}"/>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4995" name="内容占位符 1">
            <a:extLst>
              <a:ext uri="{FF2B5EF4-FFF2-40B4-BE49-F238E27FC236}">
                <a16:creationId xmlns:a16="http://schemas.microsoft.com/office/drawing/2014/main" id="{347055FF-2E75-6894-F0ED-042A44A88C33}"/>
              </a:ext>
            </a:extLst>
          </p:cNvPr>
          <p:cNvSpPr>
            <a:spLocks noGrp="1" noChangeArrowheads="1"/>
          </p:cNvSpPr>
          <p:nvPr>
            <p:ph idx="1"/>
          </p:nvPr>
        </p:nvSpPr>
        <p:spPr>
          <a:xfrm>
            <a:off x="755650" y="1917700"/>
            <a:ext cx="7704138" cy="4751388"/>
          </a:xfrm>
        </p:spPr>
        <p:txBody>
          <a:bodyPr/>
          <a:lstStyle/>
          <a:p>
            <a:r>
              <a:rPr lang="zh-CN" altLang="zh-CN" sz="2400"/>
              <a:t>同行评审</a:t>
            </a:r>
            <a:r>
              <a:rPr lang="zh-CN" altLang="en-US" sz="2400"/>
              <a:t>过程</a:t>
            </a:r>
            <a:endParaRPr lang="zh-CN" altLang="zh-CN" sz="2400"/>
          </a:p>
        </p:txBody>
      </p:sp>
      <p:pic>
        <p:nvPicPr>
          <p:cNvPr id="84996" name="图片 1">
            <a:extLst>
              <a:ext uri="{FF2B5EF4-FFF2-40B4-BE49-F238E27FC236}">
                <a16:creationId xmlns:a16="http://schemas.microsoft.com/office/drawing/2014/main" id="{E353A2EF-BC7D-91BD-DD3D-4DCE32A661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115888"/>
            <a:ext cx="3455987" cy="661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1C0FC46-77FA-72D3-D401-0EC21B017AAC}"/>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6019" name="内容占位符 1">
            <a:extLst>
              <a:ext uri="{FF2B5EF4-FFF2-40B4-BE49-F238E27FC236}">
                <a16:creationId xmlns:a16="http://schemas.microsoft.com/office/drawing/2014/main" id="{8E32FF7B-DFD8-F650-38E7-62230122D8DE}"/>
              </a:ext>
            </a:extLst>
          </p:cNvPr>
          <p:cNvSpPr>
            <a:spLocks noGrp="1" noChangeArrowheads="1"/>
          </p:cNvSpPr>
          <p:nvPr>
            <p:ph idx="1"/>
          </p:nvPr>
        </p:nvSpPr>
        <p:spPr>
          <a:xfrm>
            <a:off x="755650" y="1990725"/>
            <a:ext cx="8208963" cy="4751388"/>
          </a:xfrm>
        </p:spPr>
        <p:txBody>
          <a:bodyPr/>
          <a:lstStyle/>
          <a:p>
            <a:pPr>
              <a:lnSpc>
                <a:spcPct val="130000"/>
              </a:lnSpc>
            </a:pPr>
            <a:r>
              <a:rPr lang="zh-CN" altLang="zh-CN" sz="2400" dirty="0"/>
              <a:t>同行评审</a:t>
            </a:r>
            <a:r>
              <a:rPr lang="zh-CN" altLang="en-US" sz="2400" dirty="0"/>
              <a:t>的结果</a:t>
            </a:r>
            <a:endParaRPr lang="en-US" altLang="zh-CN" sz="2400" dirty="0"/>
          </a:p>
          <a:p>
            <a:pPr>
              <a:lnSpc>
                <a:spcPct val="130000"/>
              </a:lnSpc>
            </a:pPr>
            <a:r>
              <a:rPr lang="zh-CN" altLang="zh-CN" sz="2400" dirty="0">
                <a:solidFill>
                  <a:srgbClr val="FF0000"/>
                </a:solidFill>
              </a:rPr>
              <a:t>正常</a:t>
            </a:r>
            <a:r>
              <a:rPr lang="zh-CN" altLang="zh-CN" sz="2400" dirty="0"/>
              <a:t>：评审专家做好了评审准备，评审会议顺利进行，达到了预期目的，达成明确的评审结论，不需要再次评审。</a:t>
            </a:r>
          </a:p>
          <a:p>
            <a:pPr>
              <a:lnSpc>
                <a:spcPct val="130000"/>
              </a:lnSpc>
            </a:pPr>
            <a:r>
              <a:rPr lang="zh-CN" altLang="zh-CN" sz="2400" dirty="0">
                <a:solidFill>
                  <a:srgbClr val="FF0000"/>
                </a:solidFill>
              </a:rPr>
              <a:t>延期</a:t>
            </a:r>
            <a:r>
              <a:rPr lang="zh-CN" altLang="zh-CN" sz="2400" dirty="0"/>
              <a:t>：</a:t>
            </a:r>
            <a:r>
              <a:rPr lang="en-US" altLang="zh-CN" sz="2400" dirty="0"/>
              <a:t>30%</a:t>
            </a:r>
            <a:r>
              <a:rPr lang="zh-CN" altLang="zh-CN" sz="2400" dirty="0"/>
              <a:t>以上的评审专家并未做好评审准备，会议无法正常进行，需要重新安排评审日程。</a:t>
            </a:r>
          </a:p>
          <a:p>
            <a:pPr>
              <a:lnSpc>
                <a:spcPct val="130000"/>
              </a:lnSpc>
            </a:pPr>
            <a:r>
              <a:rPr lang="zh-CN" altLang="zh-CN" sz="2400" dirty="0">
                <a:solidFill>
                  <a:srgbClr val="FF0000"/>
                </a:solidFill>
              </a:rPr>
              <a:t>取消</a:t>
            </a:r>
            <a:r>
              <a:rPr lang="zh-CN" altLang="zh-CN" sz="2400" dirty="0"/>
              <a:t>：初审阶段就发现工作产品中存在太多问题，需要作者进行修复，然后再进行第二次同行评审。</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D087636E-C616-6E84-C6AD-64FDE2E0C3A4}"/>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7043" name="内容占位符 1">
            <a:extLst>
              <a:ext uri="{FF2B5EF4-FFF2-40B4-BE49-F238E27FC236}">
                <a16:creationId xmlns:a16="http://schemas.microsoft.com/office/drawing/2014/main" id="{7D0ECAFC-3EB8-BA4D-B661-FCB9EF8185FB}"/>
              </a:ext>
            </a:extLst>
          </p:cNvPr>
          <p:cNvSpPr>
            <a:spLocks noGrp="1" noChangeArrowheads="1"/>
          </p:cNvSpPr>
          <p:nvPr>
            <p:ph idx="1"/>
          </p:nvPr>
        </p:nvSpPr>
        <p:spPr>
          <a:xfrm>
            <a:off x="179388" y="1917700"/>
            <a:ext cx="8785225" cy="4751388"/>
          </a:xfrm>
        </p:spPr>
        <p:txBody>
          <a:bodyPr/>
          <a:lstStyle/>
          <a:p>
            <a:r>
              <a:rPr lang="zh-CN" altLang="zh-CN" sz="2400"/>
              <a:t>软件生命周期中常见的同行评审活动</a:t>
            </a:r>
          </a:p>
        </p:txBody>
      </p:sp>
      <p:pic>
        <p:nvPicPr>
          <p:cNvPr id="2" name="图片 1">
            <a:extLst>
              <a:ext uri="{FF2B5EF4-FFF2-40B4-BE49-F238E27FC236}">
                <a16:creationId xmlns:a16="http://schemas.microsoft.com/office/drawing/2014/main" id="{24E7E67F-D398-C7B9-3FBA-1F2EF42B8A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88913"/>
            <a:ext cx="5832475" cy="657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9F8C7700-CBCD-6E0A-7E28-A0DE154FE4C4}"/>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8067" name="内容占位符 1">
            <a:extLst>
              <a:ext uri="{FF2B5EF4-FFF2-40B4-BE49-F238E27FC236}">
                <a16:creationId xmlns:a16="http://schemas.microsoft.com/office/drawing/2014/main" id="{DA906ACC-630B-D9CF-D9B2-0AF8C8B2EDC2}"/>
              </a:ext>
            </a:extLst>
          </p:cNvPr>
          <p:cNvSpPr>
            <a:spLocks noGrp="1" noChangeArrowheads="1"/>
          </p:cNvSpPr>
          <p:nvPr>
            <p:ph idx="1"/>
          </p:nvPr>
        </p:nvSpPr>
        <p:spPr>
          <a:xfrm>
            <a:off x="179388" y="1917700"/>
            <a:ext cx="8785225" cy="4751388"/>
          </a:xfrm>
        </p:spPr>
        <p:txBody>
          <a:bodyPr/>
          <a:lstStyle/>
          <a:p>
            <a:r>
              <a:rPr lang="zh-CN" altLang="zh-CN" sz="2400"/>
              <a:t>软件生命周期中常见的同行评审活动</a:t>
            </a:r>
          </a:p>
        </p:txBody>
      </p:sp>
      <p:pic>
        <p:nvPicPr>
          <p:cNvPr id="88068" name="图片 5">
            <a:extLst>
              <a:ext uri="{FF2B5EF4-FFF2-40B4-BE49-F238E27FC236}">
                <a16:creationId xmlns:a16="http://schemas.microsoft.com/office/drawing/2014/main" id="{FAFE8D99-1295-7097-910E-6365DD7E72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219075"/>
            <a:ext cx="6678612" cy="654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5EFBF0B-8656-261A-88FE-5F6F31EF903B}"/>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89091" name="内容占位符 1">
            <a:extLst>
              <a:ext uri="{FF2B5EF4-FFF2-40B4-BE49-F238E27FC236}">
                <a16:creationId xmlns:a16="http://schemas.microsoft.com/office/drawing/2014/main" id="{53103DF4-1528-9A10-05F7-25333A4E2039}"/>
              </a:ext>
            </a:extLst>
          </p:cNvPr>
          <p:cNvSpPr>
            <a:spLocks noGrp="1" noChangeArrowheads="1"/>
          </p:cNvSpPr>
          <p:nvPr>
            <p:ph idx="1"/>
          </p:nvPr>
        </p:nvSpPr>
        <p:spPr>
          <a:xfrm>
            <a:off x="755650" y="1846263"/>
            <a:ext cx="7704138" cy="4751387"/>
          </a:xfrm>
        </p:spPr>
        <p:txBody>
          <a:bodyPr/>
          <a:lstStyle/>
          <a:p>
            <a:r>
              <a:rPr lang="zh-CN" altLang="en-US" sz="2400"/>
              <a:t>注意事项</a:t>
            </a:r>
            <a:endParaRPr lang="en-US" altLang="zh-CN" sz="2400"/>
          </a:p>
          <a:p>
            <a:r>
              <a:rPr lang="zh-CN" altLang="zh-CN" sz="2400"/>
              <a:t>计划和准备阶段的问题</a:t>
            </a:r>
            <a:endParaRPr lang="en-US" altLang="zh-CN" sz="2400"/>
          </a:p>
          <a:p>
            <a:pPr lvl="1">
              <a:buFont typeface="Wingdings" panose="05000000000000000000" pitchFamily="2" charset="2"/>
              <a:buChar char="ü"/>
            </a:pPr>
            <a:r>
              <a:rPr lang="zh-CN" altLang="zh-CN" sz="2000"/>
              <a:t>管理层的问题</a:t>
            </a:r>
          </a:p>
          <a:p>
            <a:pPr lvl="2"/>
            <a:r>
              <a:rPr lang="zh-CN" altLang="zh-CN" sz="1800"/>
              <a:t>不重视</a:t>
            </a:r>
            <a:endParaRPr lang="en-US" altLang="zh-CN" sz="1800"/>
          </a:p>
          <a:p>
            <a:pPr lvl="2"/>
            <a:r>
              <a:rPr lang="zh-CN" altLang="zh-CN" sz="1800"/>
              <a:t>无计划</a:t>
            </a:r>
            <a:endParaRPr lang="en-US" altLang="zh-CN" sz="1800"/>
          </a:p>
          <a:p>
            <a:pPr lvl="2"/>
            <a:r>
              <a:rPr lang="zh-CN" altLang="zh-CN" sz="1800"/>
              <a:t>无培训</a:t>
            </a:r>
            <a:endParaRPr lang="en-US" altLang="zh-CN" sz="1800"/>
          </a:p>
          <a:p>
            <a:pPr lvl="1">
              <a:buFont typeface="Wingdings" panose="05000000000000000000" pitchFamily="2" charset="2"/>
              <a:buChar char="ü"/>
            </a:pPr>
            <a:r>
              <a:rPr lang="zh-CN" altLang="zh-CN" sz="2000"/>
              <a:t>主持人的问题</a:t>
            </a:r>
            <a:endParaRPr lang="en-US" altLang="zh-CN" sz="2000"/>
          </a:p>
          <a:p>
            <a:pPr lvl="2"/>
            <a:r>
              <a:rPr lang="zh-CN" altLang="zh-CN" sz="1800"/>
              <a:t>评审员不合理，导致遗漏重要的需求或降低评审效率</a:t>
            </a:r>
            <a:endParaRPr lang="en-US" altLang="zh-CN" sz="1800"/>
          </a:p>
          <a:p>
            <a:pPr lvl="2"/>
            <a:r>
              <a:rPr lang="zh-CN" altLang="zh-CN" sz="1800"/>
              <a:t>评审员搭配不合理</a:t>
            </a:r>
            <a:endParaRPr lang="en-US" altLang="zh-CN" sz="1800"/>
          </a:p>
          <a:p>
            <a:pPr lvl="2"/>
            <a:r>
              <a:rPr lang="zh-CN" altLang="zh-CN" sz="1800"/>
              <a:t>让管理者参与评审，导致作者对评审感到紧张和局促</a:t>
            </a:r>
            <a:endParaRPr lang="en-US" altLang="zh-CN" sz="1800"/>
          </a:p>
          <a:p>
            <a:pPr lvl="2"/>
            <a:r>
              <a:rPr lang="zh-CN" altLang="zh-CN" sz="1800"/>
              <a:t>制定的日程不合理，未留出充裕时间给评审员进行会前准备</a:t>
            </a:r>
            <a:endParaRPr lang="en-US" altLang="zh-CN" sz="1800"/>
          </a:p>
          <a:p>
            <a:pPr lvl="2"/>
            <a:r>
              <a:rPr lang="zh-CN" altLang="zh-CN" sz="1800"/>
              <a:t>无检查表，难以确保评审内容的完整性</a:t>
            </a:r>
            <a:endParaRPr lang="en-US" altLang="zh-CN" sz="1800"/>
          </a:p>
          <a:p>
            <a:pPr lvl="2"/>
            <a:r>
              <a:rPr lang="zh-CN" altLang="zh-CN" sz="1800"/>
              <a:t>不认真检查工作产品，导致其质量差</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15302E5-F727-7562-6B47-ADF6760C72D6}"/>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90115" name="内容占位符 1">
            <a:extLst>
              <a:ext uri="{FF2B5EF4-FFF2-40B4-BE49-F238E27FC236}">
                <a16:creationId xmlns:a16="http://schemas.microsoft.com/office/drawing/2014/main" id="{314C033E-A1EE-B154-9675-E2BF8179A2DA}"/>
              </a:ext>
            </a:extLst>
          </p:cNvPr>
          <p:cNvSpPr>
            <a:spLocks noGrp="1" noChangeArrowheads="1"/>
          </p:cNvSpPr>
          <p:nvPr>
            <p:ph idx="1"/>
          </p:nvPr>
        </p:nvSpPr>
        <p:spPr>
          <a:xfrm>
            <a:off x="539750" y="1917700"/>
            <a:ext cx="8280400" cy="4751388"/>
          </a:xfrm>
        </p:spPr>
        <p:txBody>
          <a:bodyPr/>
          <a:lstStyle/>
          <a:p>
            <a:r>
              <a:rPr lang="zh-CN" altLang="en-US" sz="2400"/>
              <a:t>注意事项</a:t>
            </a:r>
            <a:endParaRPr lang="en-US" altLang="zh-CN" sz="2400"/>
          </a:p>
          <a:p>
            <a:r>
              <a:rPr lang="zh-CN" altLang="zh-CN" sz="2400"/>
              <a:t>评审会进行阶段的问题</a:t>
            </a:r>
            <a:endParaRPr lang="en-US" altLang="zh-CN" sz="2400"/>
          </a:p>
          <a:p>
            <a:pPr lvl="1">
              <a:buFont typeface="Wingdings" panose="05000000000000000000" pitchFamily="2" charset="2"/>
              <a:buChar char="ü"/>
            </a:pPr>
            <a:r>
              <a:rPr lang="zh-CN" altLang="en-US" sz="2000"/>
              <a:t>主持人</a:t>
            </a:r>
            <a:r>
              <a:rPr lang="zh-CN" altLang="zh-CN" sz="2000"/>
              <a:t>的问题</a:t>
            </a:r>
          </a:p>
          <a:p>
            <a:pPr lvl="2"/>
            <a:r>
              <a:rPr lang="zh-CN" altLang="zh-CN" sz="1800"/>
              <a:t>过分注重会议时间，不重视产品质量</a:t>
            </a:r>
            <a:endParaRPr lang="en-US" altLang="zh-CN" sz="1800"/>
          </a:p>
          <a:p>
            <a:pPr lvl="2"/>
            <a:r>
              <a:rPr lang="zh-CN" altLang="zh-CN" sz="1800"/>
              <a:t>不控制进度，导致会议时间太长，效率低</a:t>
            </a:r>
            <a:endParaRPr lang="en-US" altLang="zh-CN" sz="1800"/>
          </a:p>
          <a:p>
            <a:pPr lvl="2"/>
            <a:r>
              <a:rPr lang="zh-CN" altLang="zh-CN" sz="1800"/>
              <a:t>无评审重点，易遗漏关键缺陷</a:t>
            </a:r>
            <a:endParaRPr lang="en-US" altLang="zh-CN" sz="1800"/>
          </a:p>
          <a:p>
            <a:pPr lvl="2"/>
            <a:r>
              <a:rPr lang="zh-CN" altLang="zh-CN" sz="1800"/>
              <a:t>不考虑数据之间、业务之间及系统之间的相关性，评审不全面</a:t>
            </a:r>
            <a:endParaRPr lang="en-US" altLang="zh-CN" sz="1800"/>
          </a:p>
          <a:p>
            <a:pPr lvl="2"/>
            <a:r>
              <a:rPr lang="zh-CN" altLang="zh-CN" sz="1800"/>
              <a:t>过分依赖检查表，使评审时关注的问题较为雷同，容易忽略其他环节</a:t>
            </a:r>
            <a:endParaRPr lang="en-US" altLang="zh-CN" sz="1800"/>
          </a:p>
          <a:p>
            <a:pPr lvl="2"/>
            <a:r>
              <a:rPr lang="zh-CN" altLang="zh-CN" sz="1800"/>
              <a:t>在会议中措辞刻薄，进行人身攻击，使作者对评审产生强烈的抵触</a:t>
            </a:r>
            <a:endParaRPr lang="en-US" altLang="zh-CN" sz="1800"/>
          </a:p>
          <a:p>
            <a:pPr lvl="2"/>
            <a:r>
              <a:rPr lang="zh-CN" altLang="zh-CN" sz="1800"/>
              <a:t>不重视评审会，不提前检查工作产品</a:t>
            </a:r>
            <a:endParaRPr lang="en-US" altLang="zh-CN" sz="1800"/>
          </a:p>
          <a:p>
            <a:pPr lvl="2"/>
            <a:r>
              <a:rPr lang="zh-CN" altLang="zh-CN" sz="1800"/>
              <a:t>过多讨论缺陷的修复，会议效率不高</a:t>
            </a:r>
            <a:endParaRPr lang="en-US" altLang="zh-CN" sz="1800"/>
          </a:p>
          <a:p>
            <a:pPr lvl="2"/>
            <a:r>
              <a:rPr lang="zh-CN" altLang="zh-CN" sz="1800"/>
              <a:t>担心得罪人，而拒绝评审他人的工作</a:t>
            </a:r>
            <a:endParaRPr lang="en-US" altLang="zh-CN" sz="1800"/>
          </a:p>
          <a:p>
            <a:pPr lvl="2"/>
            <a:endParaRPr lang="zh-CN" altLang="zh-CN" sz="18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AFA51CB4-835B-C446-85E3-B79351A1457E}"/>
              </a:ext>
            </a:extLst>
          </p:cNvPr>
          <p:cNvSpPr>
            <a:spLocks noGrp="1" noChangeArrowheads="1"/>
          </p:cNvSpPr>
          <p:nvPr>
            <p:ph type="title"/>
          </p:nvPr>
        </p:nvSpPr>
        <p:spPr>
          <a:noFill/>
        </p:spPr>
        <p:txBody>
          <a:bodyPr/>
          <a:lstStyle/>
          <a:p>
            <a:pPr eaLnBrk="1" hangingPunct="1"/>
            <a:r>
              <a:rPr lang="en-US" altLang="zh-CN"/>
              <a:t>4.3.2  </a:t>
            </a:r>
            <a:r>
              <a:rPr lang="zh-CN" altLang="en-US"/>
              <a:t>软件评审</a:t>
            </a:r>
            <a:endParaRPr kumimoji="1" lang="zh-CN" altLang="en-US"/>
          </a:p>
        </p:txBody>
      </p:sp>
      <p:sp>
        <p:nvSpPr>
          <p:cNvPr id="91139" name="内容占位符 1">
            <a:extLst>
              <a:ext uri="{FF2B5EF4-FFF2-40B4-BE49-F238E27FC236}">
                <a16:creationId xmlns:a16="http://schemas.microsoft.com/office/drawing/2014/main" id="{36EBD736-C3EA-86B1-0BCF-03F193481A8E}"/>
              </a:ext>
            </a:extLst>
          </p:cNvPr>
          <p:cNvSpPr>
            <a:spLocks noGrp="1" noChangeArrowheads="1"/>
          </p:cNvSpPr>
          <p:nvPr>
            <p:ph idx="1"/>
          </p:nvPr>
        </p:nvSpPr>
        <p:spPr>
          <a:xfrm>
            <a:off x="684213" y="1990725"/>
            <a:ext cx="8135937" cy="3814763"/>
          </a:xfrm>
        </p:spPr>
        <p:txBody>
          <a:bodyPr/>
          <a:lstStyle/>
          <a:p>
            <a:pPr>
              <a:lnSpc>
                <a:spcPct val="150000"/>
              </a:lnSpc>
            </a:pPr>
            <a:r>
              <a:rPr lang="zh-CN" altLang="en-US" sz="2400"/>
              <a:t>注意事项</a:t>
            </a:r>
            <a:endParaRPr lang="en-US" altLang="zh-CN" sz="2400"/>
          </a:p>
          <a:p>
            <a:pPr>
              <a:lnSpc>
                <a:spcPct val="150000"/>
              </a:lnSpc>
            </a:pPr>
            <a:r>
              <a:rPr lang="zh-CN" altLang="zh-CN" sz="2400"/>
              <a:t>评审会</a:t>
            </a:r>
            <a:r>
              <a:rPr lang="zh-CN" altLang="en-US" sz="2400"/>
              <a:t>后</a:t>
            </a:r>
            <a:r>
              <a:rPr lang="zh-CN" altLang="zh-CN" sz="2400"/>
              <a:t>阶段的问题</a:t>
            </a:r>
            <a:endParaRPr lang="en-US" altLang="zh-CN" sz="2400"/>
          </a:p>
          <a:p>
            <a:pPr lvl="1">
              <a:lnSpc>
                <a:spcPct val="150000"/>
              </a:lnSpc>
              <a:buFont typeface="Wingdings" panose="05000000000000000000" pitchFamily="2" charset="2"/>
              <a:buChar char="ü"/>
            </a:pPr>
            <a:r>
              <a:rPr lang="zh-CN" altLang="en-US" sz="2000"/>
              <a:t>主持人</a:t>
            </a:r>
            <a:r>
              <a:rPr lang="zh-CN" altLang="zh-CN" sz="2000"/>
              <a:t>的问题</a:t>
            </a:r>
          </a:p>
          <a:p>
            <a:pPr lvl="2">
              <a:lnSpc>
                <a:spcPct val="150000"/>
              </a:lnSpc>
            </a:pPr>
            <a:r>
              <a:rPr lang="zh-CN" altLang="zh-CN" sz="1800"/>
              <a:t>对发现的缺陷缺乏有效跟踪，导致发现的缺陷得不到及时修复</a:t>
            </a:r>
            <a:endParaRPr lang="en-US" altLang="zh-CN" sz="1800"/>
          </a:p>
          <a:p>
            <a:pPr lvl="2">
              <a:lnSpc>
                <a:spcPct val="150000"/>
              </a:lnSpc>
            </a:pPr>
            <a:r>
              <a:rPr lang="zh-CN" altLang="zh-CN" sz="1800"/>
              <a:t>评审中仅仅是收集数据，却不注重上报和改进</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C299F34A-5E6B-D488-8467-0762827F43C8}"/>
              </a:ext>
            </a:extLst>
          </p:cNvPr>
          <p:cNvSpPr>
            <a:spLocks noGrp="1" noChangeArrowheads="1"/>
          </p:cNvSpPr>
          <p:nvPr>
            <p:ph type="title"/>
          </p:nvPr>
        </p:nvSpPr>
        <p:spPr>
          <a:noFill/>
        </p:spPr>
        <p:txBody>
          <a:bodyPr/>
          <a:lstStyle/>
          <a:p>
            <a:pPr eaLnBrk="1" hangingPunct="1"/>
            <a:r>
              <a:rPr lang="en-US" altLang="zh-CN"/>
              <a:t>4.3.3  </a:t>
            </a:r>
            <a:r>
              <a:rPr lang="zh-CN" altLang="en-US"/>
              <a:t>软件配置管理</a:t>
            </a:r>
            <a:endParaRPr kumimoji="1" lang="zh-CN" altLang="en-US"/>
          </a:p>
        </p:txBody>
      </p:sp>
      <p:sp>
        <p:nvSpPr>
          <p:cNvPr id="92163" name="内容占位符 1">
            <a:extLst>
              <a:ext uri="{FF2B5EF4-FFF2-40B4-BE49-F238E27FC236}">
                <a16:creationId xmlns:a16="http://schemas.microsoft.com/office/drawing/2014/main" id="{9F457DEC-1959-C413-F1D9-9EF10AE84F97}"/>
              </a:ext>
            </a:extLst>
          </p:cNvPr>
          <p:cNvSpPr>
            <a:spLocks noGrp="1" noChangeArrowheads="1"/>
          </p:cNvSpPr>
          <p:nvPr>
            <p:ph idx="1"/>
          </p:nvPr>
        </p:nvSpPr>
        <p:spPr>
          <a:xfrm>
            <a:off x="611188" y="1917700"/>
            <a:ext cx="8424862" cy="4751388"/>
          </a:xfrm>
        </p:spPr>
        <p:txBody>
          <a:bodyPr/>
          <a:lstStyle/>
          <a:p>
            <a:r>
              <a:rPr kumimoji="1" lang="zh-CN" altLang="en-US" sz="2400" dirty="0">
                <a:solidFill>
                  <a:schemeClr val="accent2"/>
                </a:solidFill>
                <a:latin typeface="宋体" panose="02010600030101010101" pitchFamily="2" charset="-122"/>
              </a:rPr>
              <a:t>软件配置管理</a:t>
            </a:r>
            <a:r>
              <a:rPr kumimoji="1" lang="zh-CN" altLang="zh-CN" sz="2400" dirty="0">
                <a:solidFill>
                  <a:schemeClr val="accent2"/>
                </a:solidFill>
                <a:latin typeface="宋体" panose="02010600030101010101" pitchFamily="2" charset="-122"/>
              </a:rPr>
              <a:t>是</a:t>
            </a:r>
            <a:r>
              <a:rPr kumimoji="1" lang="zh-CN" altLang="zh-CN" sz="2400" dirty="0">
                <a:solidFill>
                  <a:srgbClr val="FF0000"/>
                </a:solidFill>
                <a:latin typeface="宋体" panose="02010600030101010101" pitchFamily="2" charset="-122"/>
              </a:rPr>
              <a:t>标识和确定系统中配置项</a:t>
            </a:r>
            <a:r>
              <a:rPr kumimoji="1" lang="zh-CN" altLang="zh-CN" sz="2400" dirty="0">
                <a:solidFill>
                  <a:schemeClr val="accent2"/>
                </a:solidFill>
                <a:latin typeface="宋体" panose="02010600030101010101" pitchFamily="2" charset="-122"/>
              </a:rPr>
              <a:t>的过程，在系统整个生存周期内</a:t>
            </a:r>
            <a:r>
              <a:rPr kumimoji="1" lang="zh-CN" altLang="zh-CN" sz="2400" dirty="0">
                <a:solidFill>
                  <a:srgbClr val="FF0000"/>
                </a:solidFill>
                <a:latin typeface="宋体" panose="02010600030101010101" pitchFamily="2" charset="-122"/>
              </a:rPr>
              <a:t>控制这些项的发布和变更</a:t>
            </a:r>
            <a:r>
              <a:rPr kumimoji="1" lang="zh-CN" altLang="zh-CN" sz="2400" dirty="0">
                <a:solidFill>
                  <a:schemeClr val="accent2"/>
                </a:solidFill>
                <a:latin typeface="宋体" panose="02010600030101010101" pitchFamily="2" charset="-122"/>
              </a:rPr>
              <a:t>，记录并报告配置的状态和变更要求，</a:t>
            </a:r>
            <a:r>
              <a:rPr kumimoji="1" lang="zh-CN" altLang="zh-CN" sz="2400" dirty="0">
                <a:solidFill>
                  <a:srgbClr val="FF0000"/>
                </a:solidFill>
                <a:latin typeface="宋体" panose="02010600030101010101" pitchFamily="2" charset="-122"/>
              </a:rPr>
              <a:t>验证配置项的完整性和正确性</a:t>
            </a:r>
            <a:endParaRPr kumimoji="1" lang="en-US" altLang="zh-CN" sz="2400" dirty="0">
              <a:solidFill>
                <a:srgbClr val="FF0000"/>
              </a:solidFill>
              <a:latin typeface="宋体" panose="02010600030101010101" pitchFamily="2" charset="-122"/>
            </a:endParaRPr>
          </a:p>
          <a:p>
            <a:r>
              <a:rPr kumimoji="1" lang="zh-CN" altLang="zh-CN" sz="2400" dirty="0">
                <a:solidFill>
                  <a:schemeClr val="accent2"/>
                </a:solidFill>
                <a:latin typeface="宋体" panose="02010600030101010101" pitchFamily="2" charset="-122"/>
              </a:rPr>
              <a:t>目标</a:t>
            </a:r>
            <a:r>
              <a:rPr kumimoji="1" lang="zh-CN" altLang="en-US" sz="2400" dirty="0">
                <a:solidFill>
                  <a:schemeClr val="accent2"/>
                </a:solidFill>
                <a:latin typeface="宋体" panose="02010600030101010101" pitchFamily="2" charset="-122"/>
              </a:rPr>
              <a:t>：</a:t>
            </a:r>
            <a:r>
              <a:rPr kumimoji="1" lang="zh-CN" altLang="zh-CN" sz="2400" dirty="0">
                <a:solidFill>
                  <a:schemeClr val="accent2"/>
                </a:solidFill>
                <a:latin typeface="宋体" panose="02010600030101010101" pitchFamily="2" charset="-122"/>
              </a:rPr>
              <a:t>使得项目能针对需求、设计等多方面的变更而</a:t>
            </a:r>
            <a:r>
              <a:rPr kumimoji="1" lang="zh-CN" altLang="zh-CN" sz="2400" dirty="0">
                <a:solidFill>
                  <a:srgbClr val="FF0000"/>
                </a:solidFill>
                <a:latin typeface="宋体" panose="02010600030101010101" pitchFamily="2" charset="-122"/>
              </a:rPr>
              <a:t>快速反应及适应</a:t>
            </a:r>
            <a:r>
              <a:rPr kumimoji="1" lang="zh-CN" altLang="zh-CN" sz="2400" dirty="0">
                <a:solidFill>
                  <a:schemeClr val="accent2"/>
                </a:solidFill>
                <a:latin typeface="宋体" panose="02010600030101010101" pitchFamily="2" charset="-122"/>
              </a:rPr>
              <a:t>，并</a:t>
            </a:r>
            <a:r>
              <a:rPr kumimoji="1" lang="zh-CN" altLang="zh-CN" sz="2400" dirty="0">
                <a:solidFill>
                  <a:srgbClr val="FF0000"/>
                </a:solidFill>
                <a:latin typeface="宋体" panose="02010600030101010101" pitchFamily="2" charset="-122"/>
              </a:rPr>
              <a:t>减少</a:t>
            </a:r>
            <a:r>
              <a:rPr kumimoji="1" lang="zh-CN" altLang="zh-CN" sz="2400" dirty="0">
                <a:solidFill>
                  <a:schemeClr val="accent2"/>
                </a:solidFill>
                <a:latin typeface="宋体" panose="02010600030101010101" pitchFamily="2" charset="-122"/>
              </a:rPr>
              <a:t>当变更必须发生时所需要花费的</a:t>
            </a:r>
            <a:r>
              <a:rPr kumimoji="1" lang="zh-CN" altLang="zh-CN" sz="2400" dirty="0">
                <a:solidFill>
                  <a:srgbClr val="FF0000"/>
                </a:solidFill>
                <a:latin typeface="宋体" panose="02010600030101010101" pitchFamily="2" charset="-122"/>
              </a:rPr>
              <a:t>工作量</a:t>
            </a:r>
            <a:r>
              <a:rPr kumimoji="1" lang="zh-CN" altLang="zh-CN" sz="2400" dirty="0">
                <a:solidFill>
                  <a:schemeClr val="accent2"/>
                </a:solidFill>
                <a:latin typeface="宋体" panose="02010600030101010101" pitchFamily="2" charset="-122"/>
              </a:rPr>
              <a:t>，从而</a:t>
            </a:r>
            <a:r>
              <a:rPr kumimoji="1" lang="zh-CN" altLang="zh-CN" sz="2400" dirty="0">
                <a:solidFill>
                  <a:srgbClr val="FF0000"/>
                </a:solidFill>
                <a:latin typeface="宋体" panose="02010600030101010101" pitchFamily="2" charset="-122"/>
              </a:rPr>
              <a:t>确保</a:t>
            </a:r>
            <a:r>
              <a:rPr kumimoji="1" lang="zh-CN" altLang="zh-CN" sz="2400" dirty="0">
                <a:solidFill>
                  <a:schemeClr val="accent2"/>
                </a:solidFill>
                <a:latin typeface="宋体" panose="02010600030101010101" pitchFamily="2" charset="-122"/>
              </a:rPr>
              <a:t>产品在项目全生命周期过程中的</a:t>
            </a:r>
            <a:r>
              <a:rPr kumimoji="1" lang="zh-CN" altLang="zh-CN" sz="2400" dirty="0">
                <a:solidFill>
                  <a:srgbClr val="FF0000"/>
                </a:solidFill>
                <a:latin typeface="宋体" panose="02010600030101010101" pitchFamily="2" charset="-122"/>
              </a:rPr>
              <a:t>完整性</a:t>
            </a:r>
            <a:endParaRPr kumimoji="1" lang="en-US" altLang="zh-CN" sz="2400" dirty="0">
              <a:solidFill>
                <a:srgbClr val="FF0000"/>
              </a:solidFill>
              <a:latin typeface="宋体" panose="02010600030101010101" pitchFamily="2" charset="-122"/>
            </a:endParaRPr>
          </a:p>
          <a:p>
            <a:r>
              <a:rPr kumimoji="1" lang="zh-CN" altLang="en-US" sz="2400" dirty="0">
                <a:solidFill>
                  <a:schemeClr val="accent2"/>
                </a:solidFill>
                <a:latin typeface="宋体" panose="02010600030101010101" pitchFamily="2" charset="-122"/>
              </a:rPr>
              <a:t>主要活动包括</a:t>
            </a:r>
            <a:endParaRPr kumimoji="1" lang="en-US" altLang="zh-CN" sz="2400" dirty="0">
              <a:solidFill>
                <a:schemeClr val="accent2"/>
              </a:solidFill>
              <a:latin typeface="宋体" panose="02010600030101010101" pitchFamily="2" charset="-122"/>
            </a:endParaRPr>
          </a:p>
          <a:p>
            <a:pPr lvl="1">
              <a:buFont typeface="Wingdings" panose="05000000000000000000" pitchFamily="2" charset="2"/>
              <a:buChar char="ü"/>
            </a:pPr>
            <a:r>
              <a:rPr kumimoji="1" lang="zh-CN" altLang="zh-CN" sz="2000" dirty="0">
                <a:latin typeface="宋体" panose="02010600030101010101" pitchFamily="2" charset="-122"/>
              </a:rPr>
              <a:t>识别变更</a:t>
            </a:r>
            <a:endParaRPr kumimoji="1" lang="en-US" altLang="zh-CN" sz="2000" dirty="0">
              <a:latin typeface="宋体" panose="02010600030101010101" pitchFamily="2" charset="-122"/>
            </a:endParaRPr>
          </a:p>
          <a:p>
            <a:pPr lvl="1">
              <a:buFont typeface="Wingdings" panose="05000000000000000000" pitchFamily="2" charset="2"/>
              <a:buChar char="ü"/>
            </a:pPr>
            <a:r>
              <a:rPr kumimoji="1" lang="zh-CN" altLang="zh-CN" sz="2000" dirty="0">
                <a:latin typeface="宋体" panose="02010600030101010101" pitchFamily="2" charset="-122"/>
              </a:rPr>
              <a:t>控制变更</a:t>
            </a:r>
            <a:endParaRPr kumimoji="1" lang="en-US" altLang="zh-CN" sz="2000" dirty="0">
              <a:latin typeface="宋体" panose="02010600030101010101" pitchFamily="2" charset="-122"/>
            </a:endParaRPr>
          </a:p>
          <a:p>
            <a:pPr lvl="1">
              <a:buFont typeface="Wingdings" panose="05000000000000000000" pitchFamily="2" charset="2"/>
              <a:buChar char="ü"/>
            </a:pPr>
            <a:r>
              <a:rPr kumimoji="1" lang="zh-CN" altLang="zh-CN" sz="2000" dirty="0">
                <a:latin typeface="宋体" panose="02010600030101010101" pitchFamily="2" charset="-122"/>
              </a:rPr>
              <a:t>报告配置状态</a:t>
            </a:r>
            <a:endParaRPr kumimoji="1" lang="en-US" altLang="zh-CN" sz="2000" dirty="0">
              <a:latin typeface="宋体" panose="02010600030101010101" pitchFamily="2" charset="-122"/>
            </a:endParaRPr>
          </a:p>
          <a:p>
            <a:pPr lvl="1">
              <a:buFont typeface="Wingdings" panose="05000000000000000000" pitchFamily="2" charset="2"/>
              <a:buChar char="ü"/>
            </a:pPr>
            <a:r>
              <a:rPr kumimoji="1" lang="zh-CN" altLang="zh-CN" sz="2000" dirty="0">
                <a:latin typeface="宋体" panose="02010600030101010101" pitchFamily="2" charset="-122"/>
              </a:rPr>
              <a:t>审计</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2FCBC353-A531-F951-042A-0AEE8291D593}"/>
              </a:ext>
            </a:extLst>
          </p:cNvPr>
          <p:cNvSpPr>
            <a:spLocks noGrp="1" noChangeArrowheads="1"/>
          </p:cNvSpPr>
          <p:nvPr>
            <p:ph type="title"/>
          </p:nvPr>
        </p:nvSpPr>
        <p:spPr>
          <a:noFill/>
        </p:spPr>
        <p:txBody>
          <a:bodyPr/>
          <a:lstStyle/>
          <a:p>
            <a:pPr eaLnBrk="1" hangingPunct="1"/>
            <a:r>
              <a:rPr lang="en-US" altLang="zh-CN"/>
              <a:t>4.3.4  </a:t>
            </a:r>
            <a:r>
              <a:rPr lang="zh-CN" altLang="en-US"/>
              <a:t>各阶段的质量保证活动</a:t>
            </a:r>
            <a:endParaRPr kumimoji="1" lang="zh-CN" altLang="en-US"/>
          </a:p>
        </p:txBody>
      </p:sp>
      <p:sp>
        <p:nvSpPr>
          <p:cNvPr id="93187" name="内容占位符 1">
            <a:extLst>
              <a:ext uri="{FF2B5EF4-FFF2-40B4-BE49-F238E27FC236}">
                <a16:creationId xmlns:a16="http://schemas.microsoft.com/office/drawing/2014/main" id="{EAF9096B-6449-8FD7-1601-9A481424A421}"/>
              </a:ext>
            </a:extLst>
          </p:cNvPr>
          <p:cNvSpPr>
            <a:spLocks noGrp="1" noChangeArrowheads="1"/>
          </p:cNvSpPr>
          <p:nvPr>
            <p:ph idx="1"/>
          </p:nvPr>
        </p:nvSpPr>
        <p:spPr>
          <a:xfrm>
            <a:off x="179388" y="1773238"/>
            <a:ext cx="8785225" cy="4751387"/>
          </a:xfrm>
        </p:spPr>
        <p:txBody>
          <a:bodyPr/>
          <a:lstStyle/>
          <a:p>
            <a:r>
              <a:rPr kumimoji="1" lang="zh-CN" altLang="en-US" sz="2400">
                <a:solidFill>
                  <a:schemeClr val="accent2"/>
                </a:solidFill>
                <a:latin typeface="宋体" panose="02010600030101010101" pitchFamily="2" charset="-122"/>
              </a:rPr>
              <a:t>软件质量保证</a:t>
            </a:r>
            <a:endParaRPr kumimoji="1" lang="en-US" altLang="zh-CN" sz="2400">
              <a:solidFill>
                <a:schemeClr val="accent2"/>
              </a:solidFill>
              <a:latin typeface="宋体" panose="02010600030101010101" pitchFamily="2" charset="-122"/>
            </a:endParaRPr>
          </a:p>
          <a:p>
            <a:r>
              <a:rPr kumimoji="1" lang="zh-CN" altLang="zh-CN" sz="2400">
                <a:solidFill>
                  <a:schemeClr val="accent2"/>
                </a:solidFill>
                <a:latin typeface="宋体" panose="02010600030101010101" pitchFamily="2" charset="-122"/>
              </a:rPr>
              <a:t>是为了保证工作产品及服务充分满足用户质量要求而进行的有计划、有组织的活动</a:t>
            </a:r>
            <a:endParaRPr kumimoji="1" lang="en-US" altLang="zh-CN" sz="2400">
              <a:solidFill>
                <a:schemeClr val="accent2"/>
              </a:solidFill>
              <a:latin typeface="宋体" panose="02010600030101010101" pitchFamily="2" charset="-122"/>
            </a:endParaRPr>
          </a:p>
          <a:p>
            <a:r>
              <a:rPr kumimoji="1" lang="zh-CN" altLang="zh-CN" sz="2400">
                <a:solidFill>
                  <a:schemeClr val="accent2"/>
                </a:solidFill>
                <a:latin typeface="宋体" panose="02010600030101010101" pitchFamily="2" charset="-122"/>
              </a:rPr>
              <a:t>是一种独立的审查活动，贯穿整个软件开发过程</a:t>
            </a:r>
            <a:endParaRPr kumimoji="1" lang="en-US" altLang="zh-CN" sz="2400">
              <a:solidFill>
                <a:schemeClr val="accent2"/>
              </a:solidFill>
              <a:latin typeface="宋体" panose="02010600030101010101" pitchFamily="2" charset="-122"/>
            </a:endParaRPr>
          </a:p>
          <a:p>
            <a:r>
              <a:rPr kumimoji="1" lang="zh-CN" altLang="en-US" sz="2400">
                <a:solidFill>
                  <a:schemeClr val="accent2"/>
                </a:solidFill>
                <a:latin typeface="宋体" panose="02010600030101010101" pitchFamily="2" charset="-122"/>
              </a:rPr>
              <a:t>阶段划分</a:t>
            </a:r>
            <a:endParaRPr kumimoji="1" lang="en-US" altLang="zh-CN" sz="2400">
              <a:solidFill>
                <a:schemeClr val="accent2"/>
              </a:solidFill>
              <a:latin typeface="宋体" panose="02010600030101010101" pitchFamily="2" charset="-122"/>
            </a:endParaRPr>
          </a:p>
          <a:p>
            <a:pPr lvl="1">
              <a:buFont typeface="Wingdings" panose="05000000000000000000" pitchFamily="2" charset="2"/>
              <a:buChar char="ü"/>
            </a:pPr>
            <a:r>
              <a:rPr kumimoji="1" lang="zh-CN" altLang="zh-CN" sz="2000">
                <a:latin typeface="宋体" panose="02010600030101010101" pitchFamily="2" charset="-122"/>
              </a:rPr>
              <a:t>计划</a:t>
            </a:r>
            <a:endParaRPr kumimoji="1" lang="en-US" altLang="zh-CN" sz="2000">
              <a:latin typeface="宋体" panose="02010600030101010101" pitchFamily="2" charset="-122"/>
            </a:endParaRPr>
          </a:p>
          <a:p>
            <a:pPr lvl="1">
              <a:buFont typeface="Wingdings" panose="05000000000000000000" pitchFamily="2" charset="2"/>
              <a:buChar char="ü"/>
            </a:pPr>
            <a:r>
              <a:rPr kumimoji="1" lang="zh-CN" altLang="en-US" sz="2000">
                <a:latin typeface="宋体" panose="02010600030101010101" pitchFamily="2" charset="-122"/>
              </a:rPr>
              <a:t>执行</a:t>
            </a:r>
            <a:endParaRPr kumimoji="1" lang="en-US" altLang="zh-CN" sz="2000">
              <a:latin typeface="宋体" panose="02010600030101010101" pitchFamily="2" charset="-122"/>
            </a:endParaRPr>
          </a:p>
          <a:p>
            <a:pPr lvl="1">
              <a:buFont typeface="Wingdings" panose="05000000000000000000" pitchFamily="2" charset="2"/>
              <a:buChar char="ü"/>
            </a:pPr>
            <a:r>
              <a:rPr kumimoji="1" lang="zh-CN" altLang="en-US" sz="2000">
                <a:latin typeface="宋体" panose="02010600030101010101" pitchFamily="2" charset="-122"/>
              </a:rPr>
              <a:t>报告</a:t>
            </a:r>
            <a:endParaRPr kumimoji="1" lang="en-US" altLang="zh-CN" sz="2000">
              <a:latin typeface="宋体" panose="02010600030101010101" pitchFamily="2" charset="-122"/>
            </a:endParaRPr>
          </a:p>
          <a:p>
            <a:r>
              <a:rPr kumimoji="1" lang="zh-CN" altLang="zh-CN" sz="2400">
                <a:solidFill>
                  <a:schemeClr val="accent2"/>
                </a:solidFill>
                <a:latin typeface="宋体" panose="02010600030101010101" pitchFamily="2" charset="-122"/>
              </a:rPr>
              <a:t>是一个迭代的过程</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83F6A979-52A9-253B-CB6C-6F8D8E00219F}"/>
              </a:ext>
            </a:extLst>
          </p:cNvPr>
          <p:cNvSpPr>
            <a:spLocks noGrp="1" noChangeArrowheads="1"/>
          </p:cNvSpPr>
          <p:nvPr>
            <p:ph type="title"/>
          </p:nvPr>
        </p:nvSpPr>
        <p:spPr/>
        <p:txBody>
          <a:bodyPr/>
          <a:lstStyle/>
          <a:p>
            <a:pPr eaLnBrk="1" hangingPunct="1"/>
            <a:r>
              <a:rPr lang="zh-CN" altLang="en-US"/>
              <a:t>本章内容提要</a:t>
            </a:r>
          </a:p>
        </p:txBody>
      </p:sp>
      <p:grpSp>
        <p:nvGrpSpPr>
          <p:cNvPr id="94211" name="组合 23">
            <a:extLst>
              <a:ext uri="{FF2B5EF4-FFF2-40B4-BE49-F238E27FC236}">
                <a16:creationId xmlns:a16="http://schemas.microsoft.com/office/drawing/2014/main" id="{98EF2D60-8B5D-57C6-227D-60B3926DAA24}"/>
              </a:ext>
            </a:extLst>
          </p:cNvPr>
          <p:cNvGrpSpPr>
            <a:grpSpLocks/>
          </p:cNvGrpSpPr>
          <p:nvPr/>
        </p:nvGrpSpPr>
        <p:grpSpPr bwMode="auto">
          <a:xfrm>
            <a:off x="604838" y="2205038"/>
            <a:ext cx="5695950" cy="3797300"/>
            <a:chOff x="604838" y="2343150"/>
            <a:chExt cx="5695950" cy="3797300"/>
          </a:xfrm>
        </p:grpSpPr>
        <p:sp>
          <p:nvSpPr>
            <p:cNvPr id="94212" name="AutoShape 4">
              <a:extLst>
                <a:ext uri="{FF2B5EF4-FFF2-40B4-BE49-F238E27FC236}">
                  <a16:creationId xmlns:a16="http://schemas.microsoft.com/office/drawing/2014/main" id="{DA055AEB-B0B1-8126-3212-798BCFF159FC}"/>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4213" name="Text Box 5">
              <a:extLst>
                <a:ext uri="{FF2B5EF4-FFF2-40B4-BE49-F238E27FC236}">
                  <a16:creationId xmlns:a16="http://schemas.microsoft.com/office/drawing/2014/main" id="{22D7E94C-DA04-949D-E37A-A7AFBF252DA9}"/>
                </a:ext>
              </a:extLst>
            </p:cNvPr>
            <p:cNvSpPr txBox="1">
              <a:spLocks noChangeArrowheads="1"/>
            </p:cNvSpPr>
            <p:nvPr/>
          </p:nvSpPr>
          <p:spPr bwMode="auto">
            <a:xfrm>
              <a:off x="993775" y="2389188"/>
              <a:ext cx="4919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软件质量与质量保证概述</a:t>
              </a:r>
              <a:r>
                <a:rPr lang="en-US" altLang="zh-CN" sz="2200">
                  <a:latin typeface="Times New Roman" panose="02020603050405020304" pitchFamily="18" charset="0"/>
                  <a:ea typeface="黑体" panose="02010609060101010101" pitchFamily="49" charset="-122"/>
                </a:rPr>
                <a:t> </a:t>
              </a:r>
            </a:p>
          </p:txBody>
        </p:sp>
        <p:sp>
          <p:nvSpPr>
            <p:cNvPr id="94214" name="AutoShape 6">
              <a:extLst>
                <a:ext uri="{FF2B5EF4-FFF2-40B4-BE49-F238E27FC236}">
                  <a16:creationId xmlns:a16="http://schemas.microsoft.com/office/drawing/2014/main" id="{36C68B6F-E2D9-3AA4-4737-7F5AD568BFFE}"/>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4215" name="Text Box 7">
              <a:extLst>
                <a:ext uri="{FF2B5EF4-FFF2-40B4-BE49-F238E27FC236}">
                  <a16:creationId xmlns:a16="http://schemas.microsoft.com/office/drawing/2014/main" id="{29BC0719-8537-D957-64E9-9046DF597B13}"/>
                </a:ext>
              </a:extLst>
            </p:cNvPr>
            <p:cNvSpPr txBox="1">
              <a:spLocks noChangeArrowheads="1"/>
            </p:cNvSpPr>
            <p:nvPr/>
          </p:nvSpPr>
          <p:spPr bwMode="auto">
            <a:xfrm>
              <a:off x="1004888" y="2930525"/>
              <a:ext cx="4919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软件质量度量</a:t>
              </a:r>
              <a:r>
                <a:rPr lang="zh-CN" altLang="en-US" sz="2400" b="0">
                  <a:latin typeface="Times New Roman" panose="02020603050405020304" pitchFamily="18" charset="0"/>
                </a:rPr>
                <a:t> </a:t>
              </a:r>
            </a:p>
          </p:txBody>
        </p:sp>
        <p:sp>
          <p:nvSpPr>
            <p:cNvPr id="94216" name="AutoShape 8">
              <a:extLst>
                <a:ext uri="{FF2B5EF4-FFF2-40B4-BE49-F238E27FC236}">
                  <a16:creationId xmlns:a16="http://schemas.microsoft.com/office/drawing/2014/main" id="{CD89708F-A581-6E11-BDF4-4528C4253203}"/>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4217" name="Text Box 9">
              <a:extLst>
                <a:ext uri="{FF2B5EF4-FFF2-40B4-BE49-F238E27FC236}">
                  <a16:creationId xmlns:a16="http://schemas.microsoft.com/office/drawing/2014/main" id="{FFD15BF6-12DA-A105-05BD-4DC97D22ED73}"/>
                </a:ext>
              </a:extLst>
            </p:cNvPr>
            <p:cNvSpPr txBox="1">
              <a:spLocks noChangeArrowheads="1"/>
            </p:cNvSpPr>
            <p:nvPr/>
          </p:nvSpPr>
          <p:spPr bwMode="auto">
            <a:xfrm>
              <a:off x="1004888" y="3524250"/>
              <a:ext cx="49196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软件质量保证的措施</a:t>
              </a:r>
              <a:endParaRPr lang="zh-CN" altLang="en-US" sz="2400" b="0">
                <a:latin typeface="Times New Roman" panose="02020603050405020304" pitchFamily="18" charset="0"/>
              </a:endParaRPr>
            </a:p>
          </p:txBody>
        </p:sp>
        <p:sp>
          <p:nvSpPr>
            <p:cNvPr id="94218" name="Rectangle 10">
              <a:extLst>
                <a:ext uri="{FF2B5EF4-FFF2-40B4-BE49-F238E27FC236}">
                  <a16:creationId xmlns:a16="http://schemas.microsoft.com/office/drawing/2014/main" id="{E00E7C2A-35F6-4763-14DE-41BE0ACD7B0B}"/>
                </a:ext>
              </a:extLst>
            </p:cNvPr>
            <p:cNvSpPr>
              <a:spLocks noChangeArrowheads="1"/>
            </p:cNvSpPr>
            <p:nvPr/>
          </p:nvSpPr>
          <p:spPr bwMode="auto">
            <a:xfrm>
              <a:off x="611188" y="243205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4.1</a:t>
              </a:r>
              <a:endParaRPr lang="en-US" altLang="zh-CN" sz="1800">
                <a:solidFill>
                  <a:srgbClr val="000000"/>
                </a:solidFill>
              </a:endParaRPr>
            </a:p>
          </p:txBody>
        </p:sp>
        <p:sp>
          <p:nvSpPr>
            <p:cNvPr id="94219" name="AutoShape 13">
              <a:extLst>
                <a:ext uri="{FF2B5EF4-FFF2-40B4-BE49-F238E27FC236}">
                  <a16:creationId xmlns:a16="http://schemas.microsoft.com/office/drawing/2014/main" id="{161BFA1B-574F-1379-5D32-5BD8B033B097}"/>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4220" name="Text Box 14">
              <a:extLst>
                <a:ext uri="{FF2B5EF4-FFF2-40B4-BE49-F238E27FC236}">
                  <a16:creationId xmlns:a16="http://schemas.microsoft.com/office/drawing/2014/main" id="{036DEC3E-9725-089C-FEB5-2ECC230A116D}"/>
                </a:ext>
              </a:extLst>
            </p:cNvPr>
            <p:cNvSpPr txBox="1">
              <a:spLocks noChangeArrowheads="1"/>
            </p:cNvSpPr>
            <p:nvPr/>
          </p:nvSpPr>
          <p:spPr bwMode="auto">
            <a:xfrm>
              <a:off x="1009650" y="4038600"/>
              <a:ext cx="49196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软件测试过程管理</a:t>
              </a:r>
              <a:endParaRPr lang="zh-CN" altLang="en-US" sz="2400" b="0">
                <a:latin typeface="Times New Roman" panose="02020603050405020304" pitchFamily="18" charset="0"/>
              </a:endParaRPr>
            </a:p>
          </p:txBody>
        </p:sp>
        <p:sp>
          <p:nvSpPr>
            <p:cNvPr id="94221" name="Rectangle 15">
              <a:extLst>
                <a:ext uri="{FF2B5EF4-FFF2-40B4-BE49-F238E27FC236}">
                  <a16:creationId xmlns:a16="http://schemas.microsoft.com/office/drawing/2014/main" id="{C3C78479-518B-D712-5698-40AA10F0C439}"/>
                </a:ext>
              </a:extLst>
            </p:cNvPr>
            <p:cNvSpPr>
              <a:spLocks noChangeArrowheads="1"/>
            </p:cNvSpPr>
            <p:nvPr/>
          </p:nvSpPr>
          <p:spPr bwMode="auto">
            <a:xfrm>
              <a:off x="627063" y="4081463"/>
              <a:ext cx="334962" cy="2603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4.4</a:t>
              </a:r>
              <a:endParaRPr lang="en-US" altLang="zh-CN" sz="1800">
                <a:solidFill>
                  <a:srgbClr val="000000"/>
                </a:solidFill>
              </a:endParaRPr>
            </a:p>
          </p:txBody>
        </p:sp>
        <p:sp>
          <p:nvSpPr>
            <p:cNvPr id="94222" name="AutoShape 22">
              <a:extLst>
                <a:ext uri="{FF2B5EF4-FFF2-40B4-BE49-F238E27FC236}">
                  <a16:creationId xmlns:a16="http://schemas.microsoft.com/office/drawing/2014/main" id="{BF619427-DF55-9034-D672-017167FCC160}"/>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4223" name="Text Box 23">
              <a:extLst>
                <a:ext uri="{FF2B5EF4-FFF2-40B4-BE49-F238E27FC236}">
                  <a16:creationId xmlns:a16="http://schemas.microsoft.com/office/drawing/2014/main" id="{25A44BD1-0060-EFD3-6934-DA47D4551672}"/>
                </a:ext>
              </a:extLst>
            </p:cNvPr>
            <p:cNvSpPr txBox="1">
              <a:spLocks noChangeArrowheads="1"/>
            </p:cNvSpPr>
            <p:nvPr/>
          </p:nvSpPr>
          <p:spPr bwMode="auto">
            <a:xfrm>
              <a:off x="1008063" y="4594225"/>
              <a:ext cx="4919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94224" name="Rectangle 24">
              <a:extLst>
                <a:ext uri="{FF2B5EF4-FFF2-40B4-BE49-F238E27FC236}">
                  <a16:creationId xmlns:a16="http://schemas.microsoft.com/office/drawing/2014/main" id="{CAE73C6F-6A52-4815-890F-6F51929B3990}"/>
                </a:ext>
              </a:extLst>
            </p:cNvPr>
            <p:cNvSpPr>
              <a:spLocks noChangeArrowheads="1"/>
            </p:cNvSpPr>
            <p:nvPr/>
          </p:nvSpPr>
          <p:spPr bwMode="auto">
            <a:xfrm>
              <a:off x="625475" y="4635500"/>
              <a:ext cx="334963"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4.5</a:t>
              </a:r>
              <a:endParaRPr lang="en-US" altLang="zh-CN" sz="1800">
                <a:solidFill>
                  <a:srgbClr val="000000"/>
                </a:solidFill>
              </a:endParaRPr>
            </a:p>
          </p:txBody>
        </p:sp>
        <p:sp>
          <p:nvSpPr>
            <p:cNvPr id="94225" name="AutoShape 25">
              <a:extLst>
                <a:ext uri="{FF2B5EF4-FFF2-40B4-BE49-F238E27FC236}">
                  <a16:creationId xmlns:a16="http://schemas.microsoft.com/office/drawing/2014/main" id="{464EA0DF-24A7-C570-9FEC-4936CD14ACFA}"/>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4226" name="Text Box 26">
              <a:extLst>
                <a:ext uri="{FF2B5EF4-FFF2-40B4-BE49-F238E27FC236}">
                  <a16:creationId xmlns:a16="http://schemas.microsoft.com/office/drawing/2014/main" id="{2437569C-1422-E60A-3383-62AA9B9CDBDC}"/>
                </a:ext>
              </a:extLst>
            </p:cNvPr>
            <p:cNvSpPr txBox="1">
              <a:spLocks noChangeArrowheads="1"/>
            </p:cNvSpPr>
            <p:nvPr/>
          </p:nvSpPr>
          <p:spPr bwMode="auto">
            <a:xfrm>
              <a:off x="1012825" y="5140325"/>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94227" name="Rectangle 27">
              <a:extLst>
                <a:ext uri="{FF2B5EF4-FFF2-40B4-BE49-F238E27FC236}">
                  <a16:creationId xmlns:a16="http://schemas.microsoft.com/office/drawing/2014/main" id="{634CF907-C24B-FAF1-C60F-66EF5BCBBD42}"/>
                </a:ext>
              </a:extLst>
            </p:cNvPr>
            <p:cNvSpPr>
              <a:spLocks noChangeArrowheads="1"/>
            </p:cNvSpPr>
            <p:nvPr/>
          </p:nvSpPr>
          <p:spPr bwMode="auto">
            <a:xfrm>
              <a:off x="630238" y="5195888"/>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4.6</a:t>
              </a:r>
              <a:endParaRPr lang="en-US" altLang="zh-CN" sz="1800">
                <a:solidFill>
                  <a:srgbClr val="000000"/>
                </a:solidFill>
              </a:endParaRPr>
            </a:p>
          </p:txBody>
        </p:sp>
        <p:sp>
          <p:nvSpPr>
            <p:cNvPr id="94228" name="AutoShape 28">
              <a:extLst>
                <a:ext uri="{FF2B5EF4-FFF2-40B4-BE49-F238E27FC236}">
                  <a16:creationId xmlns:a16="http://schemas.microsoft.com/office/drawing/2014/main" id="{A1B31D9F-953C-2A7D-5C49-5F300FBCA92B}"/>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94229" name="Text Box 29">
              <a:extLst>
                <a:ext uri="{FF2B5EF4-FFF2-40B4-BE49-F238E27FC236}">
                  <a16:creationId xmlns:a16="http://schemas.microsoft.com/office/drawing/2014/main" id="{D26C1F16-312F-9E9E-0878-AD6695CC02A2}"/>
                </a:ext>
              </a:extLst>
            </p:cNvPr>
            <p:cNvSpPr txBox="1">
              <a:spLocks noChangeArrowheads="1"/>
            </p:cNvSpPr>
            <p:nvPr/>
          </p:nvSpPr>
          <p:spPr bwMode="auto">
            <a:xfrm>
              <a:off x="1012825" y="5684838"/>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94230" name="Rectangle 30">
              <a:extLst>
                <a:ext uri="{FF2B5EF4-FFF2-40B4-BE49-F238E27FC236}">
                  <a16:creationId xmlns:a16="http://schemas.microsoft.com/office/drawing/2014/main" id="{5A587911-B9EE-3C9F-1AAB-AE27954EAA95}"/>
                </a:ext>
              </a:extLst>
            </p:cNvPr>
            <p:cNvSpPr>
              <a:spLocks noChangeArrowheads="1"/>
            </p:cNvSpPr>
            <p:nvPr/>
          </p:nvSpPr>
          <p:spPr bwMode="auto">
            <a:xfrm>
              <a:off x="630238" y="574040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4.7</a:t>
              </a:r>
              <a:endParaRPr lang="en-US" altLang="zh-CN" sz="1800">
                <a:solidFill>
                  <a:srgbClr val="000000"/>
                </a:solidFill>
              </a:endParaRPr>
            </a:p>
          </p:txBody>
        </p:sp>
        <p:sp>
          <p:nvSpPr>
            <p:cNvPr id="94231" name="Rectangle 31">
              <a:extLst>
                <a:ext uri="{FF2B5EF4-FFF2-40B4-BE49-F238E27FC236}">
                  <a16:creationId xmlns:a16="http://schemas.microsoft.com/office/drawing/2014/main" id="{D3D5545D-35B3-6D2E-A9DD-819A237F0751}"/>
                </a:ext>
              </a:extLst>
            </p:cNvPr>
            <p:cNvSpPr>
              <a:spLocks noChangeArrowheads="1"/>
            </p:cNvSpPr>
            <p:nvPr/>
          </p:nvSpPr>
          <p:spPr bwMode="auto">
            <a:xfrm>
              <a:off x="604838" y="299243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4.2</a:t>
              </a:r>
            </a:p>
          </p:txBody>
        </p:sp>
        <p:sp>
          <p:nvSpPr>
            <p:cNvPr id="94232" name="Rectangle 32">
              <a:extLst>
                <a:ext uri="{FF2B5EF4-FFF2-40B4-BE49-F238E27FC236}">
                  <a16:creationId xmlns:a16="http://schemas.microsoft.com/office/drawing/2014/main" id="{A2B8B4F2-B1C4-A2E9-76D8-5D3BBF0D54F0}"/>
                </a:ext>
              </a:extLst>
            </p:cNvPr>
            <p:cNvSpPr>
              <a:spLocks noChangeArrowheads="1"/>
            </p:cNvSpPr>
            <p:nvPr/>
          </p:nvSpPr>
          <p:spPr bwMode="auto">
            <a:xfrm>
              <a:off x="604838" y="353695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4.3</a:t>
              </a:r>
              <a:endParaRPr lang="en-US" altLang="zh-CN" sz="1800">
                <a:solidFill>
                  <a:srgbClr val="000000"/>
                </a:solidFill>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835951BC-E577-CC98-5A4B-2DB63FF73073}"/>
              </a:ext>
            </a:extLst>
          </p:cNvPr>
          <p:cNvSpPr>
            <a:spLocks noGrp="1" noChangeArrowheads="1"/>
          </p:cNvSpPr>
          <p:nvPr>
            <p:ph type="title"/>
          </p:nvPr>
        </p:nvSpPr>
        <p:spPr>
          <a:noFill/>
        </p:spPr>
        <p:txBody>
          <a:bodyPr/>
          <a:lstStyle/>
          <a:p>
            <a:pPr eaLnBrk="1" hangingPunct="1"/>
            <a:r>
              <a:rPr lang="en-US" altLang="zh-CN"/>
              <a:t>4.4  </a:t>
            </a:r>
            <a:r>
              <a:rPr lang="zh-CN" altLang="en-US"/>
              <a:t>软件测试过程管理</a:t>
            </a:r>
            <a:endParaRPr kumimoji="1" lang="zh-CN" altLang="en-US"/>
          </a:p>
        </p:txBody>
      </p:sp>
      <p:sp>
        <p:nvSpPr>
          <p:cNvPr id="95235" name="内容占位符 1">
            <a:extLst>
              <a:ext uri="{FF2B5EF4-FFF2-40B4-BE49-F238E27FC236}">
                <a16:creationId xmlns:a16="http://schemas.microsoft.com/office/drawing/2014/main" id="{F37A0CD7-79EC-8DF3-48D2-DFBAEC3E52C4}"/>
              </a:ext>
            </a:extLst>
          </p:cNvPr>
          <p:cNvSpPr>
            <a:spLocks noGrp="1" noChangeArrowheads="1"/>
          </p:cNvSpPr>
          <p:nvPr>
            <p:ph idx="1"/>
          </p:nvPr>
        </p:nvSpPr>
        <p:spPr>
          <a:xfrm>
            <a:off x="539750" y="1990725"/>
            <a:ext cx="8208963" cy="3525838"/>
          </a:xfrm>
        </p:spPr>
        <p:txBody>
          <a:bodyPr/>
          <a:lstStyle/>
          <a:p>
            <a:pPr>
              <a:lnSpc>
                <a:spcPct val="150000"/>
              </a:lnSpc>
            </a:pPr>
            <a:r>
              <a:rPr kumimoji="1" lang="zh-CN" altLang="en-US" sz="2400">
                <a:solidFill>
                  <a:schemeClr val="accent2"/>
                </a:solidFill>
                <a:latin typeface="黑体" panose="02010609060101010101" pitchFamily="49" charset="-122"/>
                <a:ea typeface="黑体" panose="02010609060101010101" pitchFamily="49" charset="-122"/>
              </a:rPr>
              <a:t>软件测试过程模型</a:t>
            </a:r>
            <a:endParaRPr kumimoji="1" lang="en-US" altLang="zh-CN" sz="2400">
              <a:solidFill>
                <a:schemeClr val="accent2"/>
              </a:solidFill>
              <a:latin typeface="黑体" panose="02010609060101010101" pitchFamily="49" charset="-122"/>
              <a:ea typeface="黑体" panose="02010609060101010101" pitchFamily="49" charset="-122"/>
            </a:endParaRPr>
          </a:p>
          <a:p>
            <a:pPr>
              <a:lnSpc>
                <a:spcPct val="150000"/>
              </a:lnSpc>
            </a:pPr>
            <a:r>
              <a:rPr kumimoji="1" lang="zh-CN" altLang="en-US" sz="2400">
                <a:solidFill>
                  <a:schemeClr val="accent2"/>
                </a:solidFill>
                <a:latin typeface="黑体" panose="02010609060101010101" pitchFamily="49" charset="-122"/>
                <a:ea typeface="黑体" panose="02010609060101010101" pitchFamily="49" charset="-122"/>
              </a:rPr>
              <a:t>软件测试过程管理实践</a:t>
            </a:r>
            <a:endParaRPr kumimoji="1" lang="en-US" altLang="zh-CN" sz="2400">
              <a:solidFill>
                <a:schemeClr val="accent2"/>
              </a:solidFill>
              <a:latin typeface="黑体" panose="02010609060101010101" pitchFamily="49" charset="-122"/>
              <a:ea typeface="黑体" panose="02010609060101010101" pitchFamily="49" charset="-122"/>
            </a:endParaRPr>
          </a:p>
          <a:p>
            <a:pPr>
              <a:lnSpc>
                <a:spcPct val="150000"/>
              </a:lnSpc>
            </a:pPr>
            <a:r>
              <a:rPr kumimoji="1" lang="zh-CN" altLang="en-US" sz="2400">
                <a:solidFill>
                  <a:schemeClr val="accent2"/>
                </a:solidFill>
                <a:latin typeface="黑体" panose="02010609060101010101" pitchFamily="49" charset="-122"/>
                <a:ea typeface="黑体" panose="02010609060101010101" pitchFamily="49" charset="-122"/>
              </a:rPr>
              <a:t>测试过程可持续改进</a:t>
            </a:r>
            <a:endParaRPr kumimoji="1" lang="zh-CN" altLang="zh-CN" sz="24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5CC7C491-708B-0457-1F32-938E91355B5E}"/>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96259" name="内容占位符 1">
            <a:extLst>
              <a:ext uri="{FF2B5EF4-FFF2-40B4-BE49-F238E27FC236}">
                <a16:creationId xmlns:a16="http://schemas.microsoft.com/office/drawing/2014/main" id="{E47251D4-ECCD-B37C-9B1C-65F3E9E4F8CC}"/>
              </a:ext>
            </a:extLst>
          </p:cNvPr>
          <p:cNvSpPr>
            <a:spLocks noGrp="1" noChangeArrowheads="1"/>
          </p:cNvSpPr>
          <p:nvPr>
            <p:ph idx="1"/>
          </p:nvPr>
        </p:nvSpPr>
        <p:spPr>
          <a:xfrm>
            <a:off x="755650" y="1990725"/>
            <a:ext cx="8208963" cy="3814763"/>
          </a:xfrm>
        </p:spPr>
        <p:txBody>
          <a:bodyPr/>
          <a:lstStyle/>
          <a:p>
            <a:pPr>
              <a:lnSpc>
                <a:spcPct val="150000"/>
              </a:lnSpc>
            </a:pPr>
            <a:r>
              <a:rPr lang="zh-CN" altLang="en-US" sz="2400"/>
              <a:t>典型的测试过程模型</a:t>
            </a:r>
            <a:endParaRPr lang="en-US" altLang="zh-CN" sz="2400"/>
          </a:p>
          <a:p>
            <a:pPr lvl="1">
              <a:lnSpc>
                <a:spcPct val="150000"/>
              </a:lnSpc>
              <a:spcBef>
                <a:spcPts val="600"/>
              </a:spcBef>
              <a:spcAft>
                <a:spcPts val="600"/>
              </a:spcAft>
              <a:buFont typeface="Wingdings" panose="05000000000000000000" pitchFamily="2" charset="2"/>
              <a:buChar char="ü"/>
            </a:pPr>
            <a:r>
              <a:rPr lang="en-US" altLang="zh-CN" sz="2000"/>
              <a:t>V</a:t>
            </a:r>
            <a:r>
              <a:rPr lang="zh-CN" altLang="en-US" sz="2000"/>
              <a:t>模型</a:t>
            </a:r>
            <a:endParaRPr lang="en-US" altLang="zh-CN" sz="2000"/>
          </a:p>
          <a:p>
            <a:pPr lvl="1">
              <a:lnSpc>
                <a:spcPct val="150000"/>
              </a:lnSpc>
              <a:spcBef>
                <a:spcPts val="600"/>
              </a:spcBef>
              <a:spcAft>
                <a:spcPts val="600"/>
              </a:spcAft>
              <a:buFont typeface="Wingdings" panose="05000000000000000000" pitchFamily="2" charset="2"/>
              <a:buChar char="ü"/>
            </a:pPr>
            <a:r>
              <a:rPr lang="en-US" altLang="zh-CN" sz="2000"/>
              <a:t>W</a:t>
            </a:r>
            <a:r>
              <a:rPr lang="zh-CN" altLang="en-US" sz="2000"/>
              <a:t>模型</a:t>
            </a:r>
            <a:endParaRPr lang="en-US" altLang="zh-CN" sz="2000"/>
          </a:p>
          <a:p>
            <a:pPr lvl="1">
              <a:lnSpc>
                <a:spcPct val="150000"/>
              </a:lnSpc>
              <a:spcBef>
                <a:spcPts val="600"/>
              </a:spcBef>
              <a:spcAft>
                <a:spcPts val="600"/>
              </a:spcAft>
              <a:buFont typeface="Wingdings" panose="05000000000000000000" pitchFamily="2" charset="2"/>
              <a:buChar char="ü"/>
            </a:pPr>
            <a:r>
              <a:rPr lang="en-US" altLang="zh-CN" sz="2000"/>
              <a:t>H</a:t>
            </a:r>
            <a:r>
              <a:rPr lang="zh-CN" altLang="en-US" sz="2000"/>
              <a:t>模型</a:t>
            </a:r>
            <a:endParaRPr lang="en-US" altLang="zh-CN" sz="2000"/>
          </a:p>
          <a:p>
            <a:endParaRPr lang="zh-CN" altLang="zh-CN" sz="24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14C0DDB-CB99-CC62-246A-415005B25449}"/>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97283" name="内容占位符 1">
            <a:extLst>
              <a:ext uri="{FF2B5EF4-FFF2-40B4-BE49-F238E27FC236}">
                <a16:creationId xmlns:a16="http://schemas.microsoft.com/office/drawing/2014/main" id="{0A182896-D080-B180-EC8B-15C6D44B7B7C}"/>
              </a:ext>
            </a:extLst>
          </p:cNvPr>
          <p:cNvSpPr>
            <a:spLocks noGrp="1" noChangeArrowheads="1"/>
          </p:cNvSpPr>
          <p:nvPr>
            <p:ph idx="1"/>
          </p:nvPr>
        </p:nvSpPr>
        <p:spPr>
          <a:xfrm>
            <a:off x="684213" y="1917700"/>
            <a:ext cx="8280400" cy="4751388"/>
          </a:xfrm>
        </p:spPr>
        <p:txBody>
          <a:bodyPr/>
          <a:lstStyle/>
          <a:p>
            <a:r>
              <a:rPr lang="en-US" altLang="zh-CN" sz="2400"/>
              <a:t>V</a:t>
            </a:r>
            <a:r>
              <a:rPr lang="zh-CN" altLang="en-US" sz="2400"/>
              <a:t>模型</a:t>
            </a:r>
            <a:endParaRPr lang="zh-CN" altLang="zh-CN" sz="2400"/>
          </a:p>
        </p:txBody>
      </p:sp>
      <p:pic>
        <p:nvPicPr>
          <p:cNvPr id="97284" name="图片 1">
            <a:extLst>
              <a:ext uri="{FF2B5EF4-FFF2-40B4-BE49-F238E27FC236}">
                <a16:creationId xmlns:a16="http://schemas.microsoft.com/office/drawing/2014/main" id="{0AC6AD78-5209-EFC7-8EF7-BCE40F8AC7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460625"/>
            <a:ext cx="6546850"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C8A80D21-1F3B-5046-9101-4917177D3F7A}"/>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98307" name="内容占位符 1">
            <a:extLst>
              <a:ext uri="{FF2B5EF4-FFF2-40B4-BE49-F238E27FC236}">
                <a16:creationId xmlns:a16="http://schemas.microsoft.com/office/drawing/2014/main" id="{CF4E2925-C350-6D43-14D7-9976B6132F33}"/>
              </a:ext>
            </a:extLst>
          </p:cNvPr>
          <p:cNvSpPr>
            <a:spLocks noGrp="1" noChangeArrowheads="1"/>
          </p:cNvSpPr>
          <p:nvPr>
            <p:ph idx="1"/>
          </p:nvPr>
        </p:nvSpPr>
        <p:spPr>
          <a:xfrm>
            <a:off x="755650" y="1917700"/>
            <a:ext cx="8064500" cy="4751388"/>
          </a:xfrm>
        </p:spPr>
        <p:txBody>
          <a:bodyPr/>
          <a:lstStyle/>
          <a:p>
            <a:r>
              <a:rPr lang="en-US" altLang="zh-CN" sz="2400"/>
              <a:t>V</a:t>
            </a:r>
            <a:r>
              <a:rPr lang="zh-CN" altLang="en-US" sz="2400"/>
              <a:t>模型</a:t>
            </a:r>
            <a:endParaRPr lang="en-US" altLang="zh-CN" sz="2400"/>
          </a:p>
          <a:p>
            <a:r>
              <a:rPr lang="zh-CN" altLang="en-US" sz="2400"/>
              <a:t>特点</a:t>
            </a:r>
            <a:endParaRPr lang="en-US" altLang="zh-CN" sz="2400"/>
          </a:p>
          <a:p>
            <a:pPr lvl="1">
              <a:buFont typeface="Wingdings" panose="05000000000000000000" pitchFamily="2" charset="2"/>
              <a:buChar char="ü"/>
            </a:pPr>
            <a:r>
              <a:rPr lang="zh-CN" altLang="zh-CN" sz="2000"/>
              <a:t>反映了动态测试行为与开发行为的对应关系，即每个测试阶段的基础是对应开发阶段的提交物（即文档）</a:t>
            </a:r>
            <a:endParaRPr lang="en-US" altLang="zh-CN" sz="2000"/>
          </a:p>
          <a:p>
            <a:r>
              <a:rPr lang="zh-CN" altLang="en-US" sz="2400"/>
              <a:t>局限性</a:t>
            </a:r>
            <a:endParaRPr lang="en-US" altLang="zh-CN" sz="2400"/>
          </a:p>
          <a:p>
            <a:pPr lvl="1">
              <a:buFont typeface="Wingdings" panose="05000000000000000000" pitchFamily="2" charset="2"/>
              <a:buChar char="ü"/>
            </a:pPr>
            <a:r>
              <a:rPr lang="zh-CN" altLang="zh-CN" sz="2000"/>
              <a:t>测试滞后</a:t>
            </a:r>
          </a:p>
          <a:p>
            <a:pPr lvl="1">
              <a:buFont typeface="Wingdings" panose="05000000000000000000" pitchFamily="2" charset="2"/>
              <a:buChar char="ü"/>
            </a:pPr>
            <a:r>
              <a:rPr lang="zh-CN" altLang="zh-CN" sz="2000"/>
              <a:t>测试与开发文档难以一一对应</a:t>
            </a:r>
          </a:p>
          <a:p>
            <a:pPr lvl="1">
              <a:buFont typeface="Wingdings" panose="05000000000000000000" pitchFamily="2" charset="2"/>
              <a:buChar char="ü"/>
            </a:pPr>
            <a:r>
              <a:rPr lang="zh-CN" altLang="zh-CN" sz="2000"/>
              <a:t>缺少静态测试</a:t>
            </a:r>
          </a:p>
          <a:p>
            <a:pPr lvl="1">
              <a:buFont typeface="Wingdings" panose="05000000000000000000" pitchFamily="2" charset="2"/>
              <a:buChar char="ü"/>
            </a:pPr>
            <a:r>
              <a:rPr lang="zh-CN" altLang="zh-CN" sz="2000"/>
              <a:t>质量折扣</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DAFB3DBB-5AF6-2284-10EB-25BBA511CEB9}"/>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99331" name="内容占位符 1">
            <a:extLst>
              <a:ext uri="{FF2B5EF4-FFF2-40B4-BE49-F238E27FC236}">
                <a16:creationId xmlns:a16="http://schemas.microsoft.com/office/drawing/2014/main" id="{3FFCC630-7982-733C-537C-7F4767DB96BF}"/>
              </a:ext>
            </a:extLst>
          </p:cNvPr>
          <p:cNvSpPr>
            <a:spLocks noGrp="1" noChangeArrowheads="1"/>
          </p:cNvSpPr>
          <p:nvPr>
            <p:ph idx="1"/>
          </p:nvPr>
        </p:nvSpPr>
        <p:spPr>
          <a:xfrm>
            <a:off x="684213" y="1846263"/>
            <a:ext cx="8135937" cy="4751387"/>
          </a:xfrm>
        </p:spPr>
        <p:txBody>
          <a:bodyPr/>
          <a:lstStyle/>
          <a:p>
            <a:r>
              <a:rPr lang="en-US" altLang="zh-CN" sz="2400"/>
              <a:t>W</a:t>
            </a:r>
            <a:r>
              <a:rPr lang="zh-CN" altLang="en-US" sz="2400"/>
              <a:t>模型</a:t>
            </a:r>
            <a:endParaRPr lang="zh-CN" altLang="zh-CN" sz="2400"/>
          </a:p>
        </p:txBody>
      </p:sp>
      <p:pic>
        <p:nvPicPr>
          <p:cNvPr id="99332" name="图片 1">
            <a:extLst>
              <a:ext uri="{FF2B5EF4-FFF2-40B4-BE49-F238E27FC236}">
                <a16:creationId xmlns:a16="http://schemas.microsoft.com/office/drawing/2014/main" id="{F1DC7D8C-99F5-4E74-552E-09FAFB45BE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493963"/>
            <a:ext cx="7548563"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1B8C72E8-1E7F-A0AA-9084-AFBF9A369792}"/>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100355" name="内容占位符 1">
            <a:extLst>
              <a:ext uri="{FF2B5EF4-FFF2-40B4-BE49-F238E27FC236}">
                <a16:creationId xmlns:a16="http://schemas.microsoft.com/office/drawing/2014/main" id="{76C5C0C5-F75D-92CB-BEBC-B3739094D494}"/>
              </a:ext>
            </a:extLst>
          </p:cNvPr>
          <p:cNvSpPr>
            <a:spLocks noGrp="1" noChangeArrowheads="1"/>
          </p:cNvSpPr>
          <p:nvPr>
            <p:ph idx="1"/>
          </p:nvPr>
        </p:nvSpPr>
        <p:spPr>
          <a:xfrm>
            <a:off x="755650" y="1917700"/>
            <a:ext cx="8137525" cy="4751388"/>
          </a:xfrm>
        </p:spPr>
        <p:txBody>
          <a:bodyPr/>
          <a:lstStyle/>
          <a:p>
            <a:r>
              <a:rPr lang="en-US" altLang="zh-CN" sz="2400"/>
              <a:t>W</a:t>
            </a:r>
            <a:r>
              <a:rPr lang="zh-CN" altLang="en-US" sz="2400"/>
              <a:t>模型</a:t>
            </a:r>
            <a:endParaRPr lang="en-US" altLang="zh-CN" sz="2400"/>
          </a:p>
          <a:p>
            <a:r>
              <a:rPr lang="zh-CN" altLang="en-US" sz="2400"/>
              <a:t>特点</a:t>
            </a:r>
            <a:endParaRPr lang="en-US" altLang="zh-CN" sz="2400"/>
          </a:p>
          <a:p>
            <a:pPr lvl="1">
              <a:buFont typeface="Wingdings" panose="05000000000000000000" pitchFamily="2" charset="2"/>
              <a:buChar char="ü"/>
            </a:pPr>
            <a:r>
              <a:rPr lang="zh-CN" altLang="zh-CN" sz="2000"/>
              <a:t>强调尽早测试</a:t>
            </a:r>
          </a:p>
          <a:p>
            <a:pPr lvl="1">
              <a:buFont typeface="Wingdings" panose="05000000000000000000" pitchFamily="2" charset="2"/>
              <a:buChar char="ü"/>
            </a:pPr>
            <a:r>
              <a:rPr lang="zh-CN" altLang="zh-CN" sz="2000"/>
              <a:t>强调不断测试</a:t>
            </a:r>
          </a:p>
          <a:p>
            <a:pPr lvl="1">
              <a:buFont typeface="Wingdings" panose="05000000000000000000" pitchFamily="2" charset="2"/>
              <a:buChar char="ü"/>
            </a:pPr>
            <a:r>
              <a:rPr lang="zh-CN" altLang="zh-CN" sz="2000"/>
              <a:t>体现静态测试</a:t>
            </a:r>
            <a:endParaRPr lang="en-US" altLang="zh-CN" sz="2000"/>
          </a:p>
          <a:p>
            <a:r>
              <a:rPr lang="zh-CN" altLang="en-US" sz="2400"/>
              <a:t>局限性</a:t>
            </a:r>
            <a:endParaRPr lang="en-US" altLang="zh-CN" sz="2400"/>
          </a:p>
          <a:p>
            <a:pPr lvl="1">
              <a:buFont typeface="Wingdings" panose="05000000000000000000" pitchFamily="2" charset="2"/>
              <a:buChar char="ü"/>
            </a:pPr>
            <a:r>
              <a:rPr lang="zh-CN" altLang="zh-CN" sz="2000"/>
              <a:t>将软件开发看成是需求分析、设计和编码等一系列串行的活动。</a:t>
            </a:r>
          </a:p>
          <a:p>
            <a:pPr lvl="1">
              <a:buFont typeface="Wingdings" panose="05000000000000000000" pitchFamily="2" charset="2"/>
              <a:buChar char="ü"/>
            </a:pPr>
            <a:r>
              <a:rPr lang="zh-CN" altLang="zh-CN" sz="2000"/>
              <a:t>开发、测试之间保持着线性的前后关系，无法支持迭代的开发模型，无法支持变更调整。</a:t>
            </a:r>
          </a:p>
          <a:p>
            <a:pPr lvl="1">
              <a:buFont typeface="Wingdings" panose="05000000000000000000" pitchFamily="2" charset="2"/>
              <a:buChar char="ü"/>
            </a:pPr>
            <a:r>
              <a:rPr lang="zh-CN" altLang="zh-CN" sz="2000"/>
              <a:t>未体现测试流程的完整性</a:t>
            </a:r>
            <a:r>
              <a:rPr lang="zh-CN" altLang="en-US" sz="2000"/>
              <a:t>。</a:t>
            </a:r>
            <a:endParaRPr lang="zh-CN" altLang="zh-CN" sz="20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92FF9D6D-D701-4D8F-A227-9AE1FB253BF5}"/>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101379" name="内容占位符 1">
            <a:extLst>
              <a:ext uri="{FF2B5EF4-FFF2-40B4-BE49-F238E27FC236}">
                <a16:creationId xmlns:a16="http://schemas.microsoft.com/office/drawing/2014/main" id="{BC59E2CE-79CF-676A-4E84-598F1D999AA2}"/>
              </a:ext>
            </a:extLst>
          </p:cNvPr>
          <p:cNvSpPr>
            <a:spLocks noGrp="1" noChangeArrowheads="1"/>
          </p:cNvSpPr>
          <p:nvPr>
            <p:ph idx="1"/>
          </p:nvPr>
        </p:nvSpPr>
        <p:spPr>
          <a:xfrm>
            <a:off x="684213" y="1917700"/>
            <a:ext cx="8351837" cy="4751388"/>
          </a:xfrm>
        </p:spPr>
        <p:txBody>
          <a:bodyPr/>
          <a:lstStyle/>
          <a:p>
            <a:r>
              <a:rPr lang="en-US" altLang="zh-CN" sz="2400"/>
              <a:t>H</a:t>
            </a:r>
            <a:r>
              <a:rPr lang="zh-CN" altLang="en-US" sz="2400"/>
              <a:t>模型</a:t>
            </a:r>
            <a:endParaRPr lang="zh-CN" altLang="zh-CN" sz="2400"/>
          </a:p>
        </p:txBody>
      </p:sp>
      <p:pic>
        <p:nvPicPr>
          <p:cNvPr id="101380" name="图片 1">
            <a:extLst>
              <a:ext uri="{FF2B5EF4-FFF2-40B4-BE49-F238E27FC236}">
                <a16:creationId xmlns:a16="http://schemas.microsoft.com/office/drawing/2014/main" id="{07190C6D-A705-6438-7015-4E58DB7384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 y="2636838"/>
            <a:ext cx="744378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AD9D8925-9B61-A502-3B0E-508036D6D3B3}"/>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102403" name="内容占位符 1">
            <a:extLst>
              <a:ext uri="{FF2B5EF4-FFF2-40B4-BE49-F238E27FC236}">
                <a16:creationId xmlns:a16="http://schemas.microsoft.com/office/drawing/2014/main" id="{6DA4E10A-6DDA-6420-33A8-A41AB6F26D08}"/>
              </a:ext>
            </a:extLst>
          </p:cNvPr>
          <p:cNvSpPr>
            <a:spLocks noGrp="1" noChangeArrowheads="1"/>
          </p:cNvSpPr>
          <p:nvPr>
            <p:ph idx="1"/>
          </p:nvPr>
        </p:nvSpPr>
        <p:spPr>
          <a:xfrm>
            <a:off x="755650" y="1990725"/>
            <a:ext cx="8280400" cy="4751388"/>
          </a:xfrm>
        </p:spPr>
        <p:txBody>
          <a:bodyPr/>
          <a:lstStyle/>
          <a:p>
            <a:pPr>
              <a:lnSpc>
                <a:spcPct val="130000"/>
              </a:lnSpc>
            </a:pPr>
            <a:r>
              <a:rPr lang="en-US" altLang="zh-CN" sz="2400"/>
              <a:t>H</a:t>
            </a:r>
            <a:r>
              <a:rPr lang="zh-CN" altLang="en-US" sz="2400"/>
              <a:t>模型</a:t>
            </a:r>
            <a:endParaRPr lang="en-US" altLang="zh-CN" sz="2400"/>
          </a:p>
          <a:p>
            <a:pPr>
              <a:lnSpc>
                <a:spcPct val="130000"/>
              </a:lnSpc>
            </a:pPr>
            <a:r>
              <a:rPr lang="zh-CN" altLang="en-US" sz="2400"/>
              <a:t>特点</a:t>
            </a:r>
            <a:endParaRPr lang="en-US" altLang="zh-CN" sz="2400"/>
          </a:p>
          <a:p>
            <a:pPr lvl="1">
              <a:lnSpc>
                <a:spcPct val="130000"/>
              </a:lnSpc>
              <a:buFont typeface="Wingdings" panose="05000000000000000000" pitchFamily="2" charset="2"/>
              <a:buChar char="ü"/>
            </a:pPr>
            <a:r>
              <a:rPr lang="zh-CN" altLang="zh-CN" sz="2000"/>
              <a:t>体现“尽早测试、不断测试”的原则</a:t>
            </a:r>
            <a:endParaRPr lang="en-US" altLang="zh-CN" sz="2000"/>
          </a:p>
          <a:p>
            <a:pPr lvl="1">
              <a:lnSpc>
                <a:spcPct val="130000"/>
              </a:lnSpc>
              <a:buFont typeface="Wingdings" panose="05000000000000000000" pitchFamily="2" charset="2"/>
              <a:buChar char="ü"/>
            </a:pPr>
            <a:r>
              <a:rPr lang="zh-CN" altLang="zh-CN" sz="2000"/>
              <a:t>体现测试流程的完整性</a:t>
            </a:r>
            <a:endParaRPr lang="en-US" altLang="zh-CN" sz="2000"/>
          </a:p>
          <a:p>
            <a:pPr lvl="1">
              <a:lnSpc>
                <a:spcPct val="130000"/>
              </a:lnSpc>
              <a:buFont typeface="Wingdings" panose="05000000000000000000" pitchFamily="2" charset="2"/>
              <a:buChar char="ü"/>
            </a:pPr>
            <a:r>
              <a:rPr lang="zh-CN" altLang="zh-CN" sz="2000"/>
              <a:t>体现测试流程的独立性</a:t>
            </a:r>
            <a:endParaRPr lang="en-US" altLang="zh-CN" sz="2000"/>
          </a:p>
          <a:p>
            <a:pPr lvl="1">
              <a:lnSpc>
                <a:spcPct val="130000"/>
              </a:lnSpc>
              <a:buFont typeface="Wingdings" panose="05000000000000000000" pitchFamily="2" charset="2"/>
              <a:buChar char="ü"/>
            </a:pPr>
            <a:r>
              <a:rPr lang="zh-CN" altLang="zh-CN" sz="2000"/>
              <a:t>充分体现了测试过程（并非技术）的复杂性，强调了过程管理的重要性</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42F8703C-F57B-4895-96AB-AFFCABABD450}"/>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103427" name="内容占位符 1">
            <a:extLst>
              <a:ext uri="{FF2B5EF4-FFF2-40B4-BE49-F238E27FC236}">
                <a16:creationId xmlns:a16="http://schemas.microsoft.com/office/drawing/2014/main" id="{8B96023D-D4BC-31B7-D064-6D45A11433D7}"/>
              </a:ext>
            </a:extLst>
          </p:cNvPr>
          <p:cNvSpPr>
            <a:spLocks noGrp="1" noChangeArrowheads="1"/>
          </p:cNvSpPr>
          <p:nvPr>
            <p:ph idx="1"/>
          </p:nvPr>
        </p:nvSpPr>
        <p:spPr>
          <a:xfrm>
            <a:off x="755650" y="1917700"/>
            <a:ext cx="7632700" cy="4751388"/>
          </a:xfrm>
        </p:spPr>
        <p:txBody>
          <a:bodyPr/>
          <a:lstStyle/>
          <a:p>
            <a:r>
              <a:rPr lang="en-US" altLang="zh-CN" sz="2400"/>
              <a:t>X</a:t>
            </a:r>
            <a:r>
              <a:rPr lang="zh-CN" altLang="en-US" sz="2400"/>
              <a:t>模型</a:t>
            </a:r>
            <a:endParaRPr lang="zh-CN" altLang="zh-CN" sz="2400"/>
          </a:p>
        </p:txBody>
      </p:sp>
      <p:pic>
        <p:nvPicPr>
          <p:cNvPr id="103428" name="图片 1">
            <a:extLst>
              <a:ext uri="{FF2B5EF4-FFF2-40B4-BE49-F238E27FC236}">
                <a16:creationId xmlns:a16="http://schemas.microsoft.com/office/drawing/2014/main" id="{B8C58019-964D-F3C2-C904-D72A728688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1893888"/>
            <a:ext cx="5400675" cy="49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F26C2FCF-4E2C-56E4-0BA6-40A129D848BE}"/>
              </a:ext>
            </a:extLst>
          </p:cNvPr>
          <p:cNvSpPr>
            <a:spLocks noGrp="1" noChangeArrowheads="1"/>
          </p:cNvSpPr>
          <p:nvPr>
            <p:ph type="title"/>
          </p:nvPr>
        </p:nvSpPr>
        <p:spPr>
          <a:noFill/>
        </p:spPr>
        <p:txBody>
          <a:bodyPr/>
          <a:lstStyle/>
          <a:p>
            <a:pPr eaLnBrk="1" hangingPunct="1"/>
            <a:r>
              <a:rPr lang="en-US" altLang="zh-CN"/>
              <a:t>4.4.1  </a:t>
            </a:r>
            <a:r>
              <a:rPr lang="zh-CN" altLang="en-US"/>
              <a:t>软件测试过程模型</a:t>
            </a:r>
            <a:endParaRPr kumimoji="1" lang="zh-CN" altLang="en-US"/>
          </a:p>
        </p:txBody>
      </p:sp>
      <p:sp>
        <p:nvSpPr>
          <p:cNvPr id="104451" name="内容占位符 1">
            <a:extLst>
              <a:ext uri="{FF2B5EF4-FFF2-40B4-BE49-F238E27FC236}">
                <a16:creationId xmlns:a16="http://schemas.microsoft.com/office/drawing/2014/main" id="{F4B46C9D-FCBF-8BFF-815C-E8BDFF8E6B12}"/>
              </a:ext>
            </a:extLst>
          </p:cNvPr>
          <p:cNvSpPr>
            <a:spLocks noGrp="1" noChangeArrowheads="1"/>
          </p:cNvSpPr>
          <p:nvPr>
            <p:ph idx="1"/>
          </p:nvPr>
        </p:nvSpPr>
        <p:spPr>
          <a:xfrm>
            <a:off x="684213" y="1990725"/>
            <a:ext cx="8280400" cy="3959225"/>
          </a:xfrm>
        </p:spPr>
        <p:txBody>
          <a:bodyPr/>
          <a:lstStyle/>
          <a:p>
            <a:r>
              <a:rPr lang="zh-CN" altLang="en-US" sz="2400"/>
              <a:t>使用策略</a:t>
            </a:r>
            <a:endParaRPr lang="en-US" altLang="zh-CN" sz="2400"/>
          </a:p>
          <a:p>
            <a:r>
              <a:rPr lang="zh-CN" altLang="zh-CN" sz="2400"/>
              <a:t>宏观上以</a:t>
            </a:r>
            <a:r>
              <a:rPr lang="en-US" altLang="zh-CN" sz="2400"/>
              <a:t>W</a:t>
            </a:r>
            <a:r>
              <a:rPr lang="zh-CN" altLang="zh-CN" sz="2400"/>
              <a:t>模型为基本框架，从软件开发工作一开始就展开测试工作，</a:t>
            </a:r>
            <a:endParaRPr lang="en-US" altLang="zh-CN" sz="2400"/>
          </a:p>
          <a:p>
            <a:r>
              <a:rPr lang="zh-CN" altLang="zh-CN" sz="2400"/>
              <a:t>微观上在每个测试阶段以</a:t>
            </a:r>
            <a:r>
              <a:rPr lang="en-US" altLang="zh-CN" sz="2400"/>
              <a:t>H</a:t>
            </a:r>
            <a:r>
              <a:rPr lang="zh-CN" altLang="zh-CN" sz="2400"/>
              <a:t>模型为指导，进行独立测试，即只要准备工作就绪，就可进行独立的测试，并反复迭代测试，直至达到预定目标。</a:t>
            </a:r>
            <a:endParaRPr lang="en-US" altLang="zh-CN" sz="2400"/>
          </a:p>
          <a:p>
            <a:r>
              <a:rPr lang="zh-CN" altLang="zh-CN" sz="2400"/>
              <a:t>对软件企业而言，应以软件测试能力成熟度模型为指导，努力建立规范的软件测试过程</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6C85D1F-4824-2F28-01E2-17C7F56BDBF6}"/>
              </a:ext>
            </a:extLst>
          </p:cNvPr>
          <p:cNvSpPr>
            <a:spLocks noGrp="1" noChangeArrowheads="1"/>
          </p:cNvSpPr>
          <p:nvPr>
            <p:ph type="title"/>
          </p:nvPr>
        </p:nvSpPr>
        <p:spPr>
          <a:noFill/>
        </p:spPr>
        <p:txBody>
          <a:bodyPr/>
          <a:lstStyle/>
          <a:p>
            <a:pPr eaLnBrk="1" hangingPunct="1"/>
            <a:r>
              <a:rPr lang="en-US" altLang="zh-CN"/>
              <a:t>4.4.2  </a:t>
            </a:r>
            <a:r>
              <a:rPr lang="zh-CN" altLang="en-US"/>
              <a:t>软件测试过程管理实践</a:t>
            </a:r>
            <a:endParaRPr kumimoji="1" lang="zh-CN" altLang="en-US"/>
          </a:p>
        </p:txBody>
      </p:sp>
      <p:sp>
        <p:nvSpPr>
          <p:cNvPr id="105475" name="内容占位符 1">
            <a:extLst>
              <a:ext uri="{FF2B5EF4-FFF2-40B4-BE49-F238E27FC236}">
                <a16:creationId xmlns:a16="http://schemas.microsoft.com/office/drawing/2014/main" id="{78A5745C-FA33-14B7-7809-F038E752C908}"/>
              </a:ext>
            </a:extLst>
          </p:cNvPr>
          <p:cNvSpPr>
            <a:spLocks noGrp="1" noChangeArrowheads="1"/>
          </p:cNvSpPr>
          <p:nvPr>
            <p:ph idx="1"/>
          </p:nvPr>
        </p:nvSpPr>
        <p:spPr>
          <a:xfrm>
            <a:off x="755650" y="1990725"/>
            <a:ext cx="7632700" cy="4102100"/>
          </a:xfrm>
        </p:spPr>
        <p:txBody>
          <a:bodyPr/>
          <a:lstStyle/>
          <a:p>
            <a:r>
              <a:rPr lang="zh-CN" altLang="en-US" sz="2400"/>
              <a:t>测试人员的管理</a:t>
            </a:r>
            <a:endParaRPr lang="en-US" altLang="zh-CN" sz="2400"/>
          </a:p>
          <a:p>
            <a:pPr lvl="1">
              <a:buFont typeface="Wingdings" panose="05000000000000000000" pitchFamily="2" charset="2"/>
              <a:buChar char="ü"/>
            </a:pPr>
            <a:r>
              <a:rPr lang="zh-CN" altLang="zh-CN" sz="2000"/>
              <a:t>测试经理</a:t>
            </a:r>
            <a:endParaRPr lang="en-US" altLang="zh-CN" sz="2000"/>
          </a:p>
          <a:p>
            <a:pPr lvl="1">
              <a:buFont typeface="Wingdings" panose="05000000000000000000" pitchFamily="2" charset="2"/>
              <a:buChar char="ü"/>
            </a:pPr>
            <a:r>
              <a:rPr lang="zh-CN" altLang="zh-CN" sz="2000"/>
              <a:t>测试组长</a:t>
            </a:r>
            <a:endParaRPr lang="en-US" altLang="zh-CN" sz="2000"/>
          </a:p>
          <a:p>
            <a:pPr lvl="1">
              <a:buFont typeface="Wingdings" panose="05000000000000000000" pitchFamily="2" charset="2"/>
              <a:buChar char="ü"/>
            </a:pPr>
            <a:r>
              <a:rPr lang="zh-CN" altLang="zh-CN" sz="2000"/>
              <a:t>测试分析师</a:t>
            </a:r>
            <a:endParaRPr lang="en-US" altLang="zh-CN" sz="2000"/>
          </a:p>
          <a:p>
            <a:pPr lvl="1">
              <a:buFont typeface="Wingdings" panose="05000000000000000000" pitchFamily="2" charset="2"/>
              <a:buChar char="ü"/>
            </a:pPr>
            <a:r>
              <a:rPr lang="zh-CN" altLang="zh-CN" sz="2000"/>
              <a:t>测试</a:t>
            </a:r>
            <a:r>
              <a:rPr lang="zh-CN" altLang="en-US" sz="2000"/>
              <a:t>工程</a:t>
            </a:r>
            <a:r>
              <a:rPr lang="zh-CN" altLang="zh-CN" sz="2000"/>
              <a:t>师</a:t>
            </a:r>
            <a:endParaRPr lang="en-US" altLang="zh-CN" sz="2000"/>
          </a:p>
          <a:p>
            <a:pPr lvl="1">
              <a:buFont typeface="Wingdings" panose="05000000000000000000" pitchFamily="2" charset="2"/>
              <a:buChar char="ü"/>
            </a:pPr>
            <a:r>
              <a:rPr lang="zh-CN" altLang="zh-CN" sz="2000"/>
              <a:t>测试评审员</a:t>
            </a:r>
            <a:endParaRPr lang="en-US" altLang="zh-CN" sz="2000"/>
          </a:p>
          <a:p>
            <a:pPr lvl="1">
              <a:buFont typeface="Wingdings" panose="05000000000000000000" pitchFamily="2" charset="2"/>
              <a:buChar char="ü"/>
            </a:pPr>
            <a:r>
              <a:rPr lang="zh-CN" altLang="en-US" sz="2000"/>
              <a:t>实验室管理员</a:t>
            </a:r>
            <a:endParaRPr lang="en-US" altLang="zh-CN" sz="2000"/>
          </a:p>
          <a:p>
            <a:r>
              <a:rPr lang="zh-CN" altLang="en-US" sz="2400"/>
              <a:t>工作产品的管理</a:t>
            </a:r>
            <a:endParaRPr lang="en-US" altLang="zh-CN" sz="2400"/>
          </a:p>
          <a:p>
            <a:endParaRPr lang="zh-CN" altLang="zh-CN" sz="24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E572A086-AC6F-A865-8C24-4FE42ED9B6BA}"/>
              </a:ext>
            </a:extLst>
          </p:cNvPr>
          <p:cNvSpPr>
            <a:spLocks noGrp="1" noChangeArrowheads="1"/>
          </p:cNvSpPr>
          <p:nvPr>
            <p:ph type="title"/>
          </p:nvPr>
        </p:nvSpPr>
        <p:spPr>
          <a:noFill/>
        </p:spPr>
        <p:txBody>
          <a:bodyPr/>
          <a:lstStyle/>
          <a:p>
            <a:pPr eaLnBrk="1" hangingPunct="1"/>
            <a:r>
              <a:rPr lang="en-US" altLang="zh-CN"/>
              <a:t>4.4.2  </a:t>
            </a:r>
            <a:r>
              <a:rPr lang="zh-CN" altLang="en-US"/>
              <a:t>软件测试过程管理实践</a:t>
            </a:r>
            <a:endParaRPr kumimoji="1" lang="zh-CN" altLang="en-US"/>
          </a:p>
        </p:txBody>
      </p:sp>
      <p:sp>
        <p:nvSpPr>
          <p:cNvPr id="106499" name="内容占位符 1">
            <a:extLst>
              <a:ext uri="{FF2B5EF4-FFF2-40B4-BE49-F238E27FC236}">
                <a16:creationId xmlns:a16="http://schemas.microsoft.com/office/drawing/2014/main" id="{1D5815A4-C98C-1D05-8C26-5AEB47A8D97A}"/>
              </a:ext>
            </a:extLst>
          </p:cNvPr>
          <p:cNvSpPr>
            <a:spLocks noGrp="1" noChangeArrowheads="1"/>
          </p:cNvSpPr>
          <p:nvPr>
            <p:ph idx="1"/>
          </p:nvPr>
        </p:nvSpPr>
        <p:spPr>
          <a:xfrm>
            <a:off x="684213" y="1917700"/>
            <a:ext cx="8208962" cy="4751388"/>
          </a:xfrm>
        </p:spPr>
        <p:txBody>
          <a:bodyPr/>
          <a:lstStyle/>
          <a:p>
            <a:r>
              <a:rPr lang="zh-CN" altLang="en-US" sz="2400"/>
              <a:t>测试人员的管理</a:t>
            </a:r>
            <a:endParaRPr lang="en-US" altLang="zh-CN" sz="2400"/>
          </a:p>
          <a:p>
            <a:r>
              <a:rPr lang="zh-CN" altLang="en-US" sz="2400"/>
              <a:t>工作产品的管理</a:t>
            </a:r>
            <a:endParaRPr lang="en-US" altLang="zh-CN" sz="2400"/>
          </a:p>
          <a:p>
            <a:pPr lvl="1">
              <a:buFont typeface="Wingdings" panose="05000000000000000000" pitchFamily="2" charset="2"/>
              <a:buChar char="ü"/>
            </a:pPr>
            <a:r>
              <a:rPr lang="zh-CN" altLang="zh-CN" sz="2000"/>
              <a:t>测试用例的管理</a:t>
            </a:r>
            <a:r>
              <a:rPr lang="zh-CN" altLang="en-US" sz="2000"/>
              <a:t>：</a:t>
            </a:r>
            <a:r>
              <a:rPr lang="zh-CN" altLang="zh-CN" sz="2000"/>
              <a:t>组织性</a:t>
            </a:r>
            <a:r>
              <a:rPr lang="zh-CN" altLang="en-US" sz="2000"/>
              <a:t>，重复性，跟踪性，整理模块需求，撰写测试计划，设计测试思路，编写测试用例，评审测试用例，</a:t>
            </a:r>
            <a:r>
              <a:rPr lang="zh-CN" altLang="zh-CN" sz="2000"/>
              <a:t>修改更新测试用例</a:t>
            </a:r>
            <a:r>
              <a:rPr lang="zh-CN" altLang="en-US" sz="2000"/>
              <a:t>，</a:t>
            </a:r>
            <a:r>
              <a:rPr lang="zh-CN" altLang="zh-CN" sz="2000"/>
              <a:t>执行测试用例</a:t>
            </a:r>
            <a:r>
              <a:rPr lang="zh-CN" altLang="en-US" sz="2000"/>
              <a:t>，</a:t>
            </a:r>
            <a:r>
              <a:rPr lang="zh-CN" altLang="zh-CN" sz="2000"/>
              <a:t>分析评估测试用例质量</a:t>
            </a:r>
            <a:endParaRPr lang="zh-CN" altLang="zh-CN"/>
          </a:p>
        </p:txBody>
      </p:sp>
      <p:pic>
        <p:nvPicPr>
          <p:cNvPr id="106500" name="图片 4">
            <a:extLst>
              <a:ext uri="{FF2B5EF4-FFF2-40B4-BE49-F238E27FC236}">
                <a16:creationId xmlns:a16="http://schemas.microsoft.com/office/drawing/2014/main" id="{E9068F5F-17AA-6432-F282-01D3FBC087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2350" y="4005263"/>
            <a:ext cx="7099300"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1" name="文本框 4">
            <a:extLst>
              <a:ext uri="{FF2B5EF4-FFF2-40B4-BE49-F238E27FC236}">
                <a16:creationId xmlns:a16="http://schemas.microsoft.com/office/drawing/2014/main" id="{5526F15F-C4E1-8CB8-8456-31FF777AABC2}"/>
              </a:ext>
            </a:extLst>
          </p:cNvPr>
          <p:cNvSpPr txBox="1">
            <a:spLocks noChangeArrowheads="1"/>
          </p:cNvSpPr>
          <p:nvPr/>
        </p:nvSpPr>
        <p:spPr bwMode="auto">
          <a:xfrm>
            <a:off x="2049463" y="6237288"/>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zh-CN" sz="2000">
                <a:latin typeface="Times New Roman" panose="02020603050405020304" pitchFamily="18" charset="0"/>
              </a:rPr>
              <a:t>一个典型测试用例的生命周期</a:t>
            </a:r>
            <a:endParaRPr lang="zh-CN" altLang="en-US" sz="2200">
              <a:latin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D993A5AD-1B5C-F24C-CC13-54D583F78676}"/>
              </a:ext>
            </a:extLst>
          </p:cNvPr>
          <p:cNvSpPr>
            <a:spLocks noGrp="1" noChangeArrowheads="1"/>
          </p:cNvSpPr>
          <p:nvPr>
            <p:ph type="title"/>
          </p:nvPr>
        </p:nvSpPr>
        <p:spPr>
          <a:noFill/>
        </p:spPr>
        <p:txBody>
          <a:bodyPr/>
          <a:lstStyle/>
          <a:p>
            <a:pPr eaLnBrk="1" hangingPunct="1"/>
            <a:r>
              <a:rPr lang="en-US" altLang="zh-CN"/>
              <a:t>4.4.2  </a:t>
            </a:r>
            <a:r>
              <a:rPr lang="zh-CN" altLang="en-US"/>
              <a:t>软件测试过程管理实践</a:t>
            </a:r>
            <a:endParaRPr kumimoji="1" lang="zh-CN" altLang="en-US"/>
          </a:p>
        </p:txBody>
      </p:sp>
      <p:sp>
        <p:nvSpPr>
          <p:cNvPr id="107523" name="内容占位符 1">
            <a:extLst>
              <a:ext uri="{FF2B5EF4-FFF2-40B4-BE49-F238E27FC236}">
                <a16:creationId xmlns:a16="http://schemas.microsoft.com/office/drawing/2014/main" id="{81885DE9-F6AA-107F-3002-9662300E0A07}"/>
              </a:ext>
            </a:extLst>
          </p:cNvPr>
          <p:cNvSpPr>
            <a:spLocks noGrp="1" noChangeArrowheads="1"/>
          </p:cNvSpPr>
          <p:nvPr>
            <p:ph idx="1"/>
          </p:nvPr>
        </p:nvSpPr>
        <p:spPr>
          <a:xfrm>
            <a:off x="611188" y="1773238"/>
            <a:ext cx="8208962" cy="4751387"/>
          </a:xfrm>
        </p:spPr>
        <p:txBody>
          <a:bodyPr/>
          <a:lstStyle/>
          <a:p>
            <a:r>
              <a:rPr lang="zh-CN" altLang="en-US" sz="2400"/>
              <a:t>测试人员的管理</a:t>
            </a:r>
            <a:endParaRPr lang="en-US" altLang="zh-CN" sz="2400"/>
          </a:p>
          <a:p>
            <a:r>
              <a:rPr lang="zh-CN" altLang="en-US" sz="2400"/>
              <a:t>工作产品的管理</a:t>
            </a:r>
            <a:endParaRPr lang="en-US" altLang="zh-CN" sz="2400"/>
          </a:p>
          <a:p>
            <a:pPr lvl="1">
              <a:buFont typeface="Wingdings" panose="05000000000000000000" pitchFamily="2" charset="2"/>
              <a:buChar char="ü"/>
            </a:pPr>
            <a:r>
              <a:rPr lang="zh-CN" altLang="en-US" sz="2000"/>
              <a:t>缺陷的管理：</a:t>
            </a:r>
            <a:r>
              <a:rPr lang="zh-CN" altLang="zh-CN" sz="2000"/>
              <a:t>其实质是根据公司和项目组的规定，保证缺陷在测试员、项目经理、开发人员等不同角色之间正确流转，进入不同的状态</a:t>
            </a:r>
            <a:endParaRPr lang="en-US" altLang="zh-CN" sz="2000"/>
          </a:p>
          <a:p>
            <a:endParaRPr lang="zh-CN" altLang="zh-CN" sz="2400"/>
          </a:p>
        </p:txBody>
      </p:sp>
      <p:pic>
        <p:nvPicPr>
          <p:cNvPr id="107524" name="图片 1">
            <a:extLst>
              <a:ext uri="{FF2B5EF4-FFF2-40B4-BE49-F238E27FC236}">
                <a16:creationId xmlns:a16="http://schemas.microsoft.com/office/drawing/2014/main" id="{788EA2F4-A236-25E0-1DE3-ADA54AD1A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3387725"/>
            <a:ext cx="4319588" cy="3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5" name="文本框 1">
            <a:extLst>
              <a:ext uri="{FF2B5EF4-FFF2-40B4-BE49-F238E27FC236}">
                <a16:creationId xmlns:a16="http://schemas.microsoft.com/office/drawing/2014/main" id="{62947CB2-2A5F-3FA6-F187-E085000D3ED6}"/>
              </a:ext>
            </a:extLst>
          </p:cNvPr>
          <p:cNvSpPr txBox="1">
            <a:spLocks noChangeArrowheads="1"/>
          </p:cNvSpPr>
          <p:nvPr/>
        </p:nvSpPr>
        <p:spPr bwMode="auto">
          <a:xfrm>
            <a:off x="6732588" y="4508500"/>
            <a:ext cx="22320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400" b="0">
                <a:latin typeface="Times New Roman" panose="02020603050405020304" pitchFamily="18" charset="0"/>
              </a:rPr>
              <a:t>Rational ClearQuest</a:t>
            </a:r>
            <a:r>
              <a:rPr lang="zh-CN" altLang="en-US" sz="2400" b="0">
                <a:latin typeface="Times New Roman" panose="02020603050405020304" pitchFamily="18" charset="0"/>
              </a:rPr>
              <a:t>工具的缺陷测试流程</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56AB766-34FB-9CE2-7024-4766BB654917}"/>
              </a:ext>
            </a:extLst>
          </p:cNvPr>
          <p:cNvSpPr>
            <a:spLocks noGrp="1" noChangeArrowheads="1"/>
          </p:cNvSpPr>
          <p:nvPr>
            <p:ph type="title"/>
          </p:nvPr>
        </p:nvSpPr>
        <p:spPr>
          <a:noFill/>
        </p:spPr>
        <p:txBody>
          <a:bodyPr/>
          <a:lstStyle/>
          <a:p>
            <a:pPr eaLnBrk="1" hangingPunct="1"/>
            <a:r>
              <a:rPr lang="en-US" altLang="zh-CN"/>
              <a:t>4.4.2  </a:t>
            </a:r>
            <a:r>
              <a:rPr lang="zh-CN" altLang="en-US"/>
              <a:t>软件测试过程管理实践</a:t>
            </a:r>
            <a:endParaRPr kumimoji="1" lang="zh-CN" altLang="en-US"/>
          </a:p>
        </p:txBody>
      </p:sp>
      <p:sp>
        <p:nvSpPr>
          <p:cNvPr id="108547" name="内容占位符 1">
            <a:extLst>
              <a:ext uri="{FF2B5EF4-FFF2-40B4-BE49-F238E27FC236}">
                <a16:creationId xmlns:a16="http://schemas.microsoft.com/office/drawing/2014/main" id="{274239BA-6816-6811-3DDE-890D3211E6D5}"/>
              </a:ext>
            </a:extLst>
          </p:cNvPr>
          <p:cNvSpPr>
            <a:spLocks noGrp="1" noChangeArrowheads="1"/>
          </p:cNvSpPr>
          <p:nvPr>
            <p:ph idx="1"/>
          </p:nvPr>
        </p:nvSpPr>
        <p:spPr>
          <a:xfrm>
            <a:off x="611188" y="1917700"/>
            <a:ext cx="8137525" cy="4751388"/>
          </a:xfrm>
        </p:spPr>
        <p:txBody>
          <a:bodyPr/>
          <a:lstStyle/>
          <a:p>
            <a:r>
              <a:rPr lang="zh-CN" altLang="en-US" sz="2400" dirty="0"/>
              <a:t>测试人员</a:t>
            </a:r>
            <a:endParaRPr lang="en-US" altLang="zh-CN" sz="2400" dirty="0"/>
          </a:p>
          <a:p>
            <a:r>
              <a:rPr lang="zh-CN" altLang="en-US" sz="2400" dirty="0"/>
              <a:t>工作产品的管理</a:t>
            </a:r>
            <a:endParaRPr lang="en-US" altLang="zh-CN" sz="2400" dirty="0"/>
          </a:p>
          <a:p>
            <a:pPr lvl="1">
              <a:buFont typeface="Wingdings" panose="05000000000000000000" pitchFamily="2" charset="2"/>
              <a:buChar char="ü"/>
            </a:pPr>
            <a:r>
              <a:rPr lang="zh-CN" altLang="en-US" sz="2000" dirty="0"/>
              <a:t>测试环境的管理</a:t>
            </a:r>
            <a:endParaRPr lang="en-US" altLang="zh-CN" sz="2000" dirty="0"/>
          </a:p>
          <a:p>
            <a:pPr lvl="1">
              <a:buFont typeface="Wingdings" panose="05000000000000000000" pitchFamily="2" charset="2"/>
              <a:buChar char="ü"/>
            </a:pPr>
            <a:r>
              <a:rPr lang="zh-CN" altLang="zh-CN" sz="2000" dirty="0"/>
              <a:t>测试环境</a:t>
            </a:r>
            <a:r>
              <a:rPr lang="en-US" altLang="zh-CN" sz="2000" dirty="0"/>
              <a:t> = </a:t>
            </a:r>
            <a:r>
              <a:rPr lang="zh-CN" altLang="zh-CN" sz="2000" dirty="0"/>
              <a:t>硬件</a:t>
            </a:r>
            <a:r>
              <a:rPr lang="en-US" altLang="zh-CN" sz="2000" dirty="0"/>
              <a:t> + </a:t>
            </a:r>
            <a:r>
              <a:rPr lang="zh-CN" altLang="zh-CN" sz="2000" dirty="0"/>
              <a:t>软件</a:t>
            </a:r>
            <a:r>
              <a:rPr lang="en-US" altLang="zh-CN" sz="2000" dirty="0"/>
              <a:t> + </a:t>
            </a:r>
            <a:r>
              <a:rPr lang="zh-CN" altLang="zh-CN" sz="2000" dirty="0"/>
              <a:t>网络</a:t>
            </a:r>
            <a:r>
              <a:rPr lang="en-US" altLang="zh-CN" sz="2000" dirty="0"/>
              <a:t> + </a:t>
            </a:r>
            <a:r>
              <a:rPr lang="zh-CN" altLang="zh-CN" sz="2000" dirty="0"/>
              <a:t>历史数据</a:t>
            </a:r>
            <a:endParaRPr lang="en-US" altLang="zh-CN" sz="2000" dirty="0"/>
          </a:p>
          <a:p>
            <a:pPr lvl="1">
              <a:buFont typeface="Wingdings" panose="05000000000000000000" pitchFamily="2" charset="2"/>
              <a:buChar char="ü"/>
            </a:pPr>
            <a:r>
              <a:rPr lang="zh-CN" altLang="zh-CN" sz="2000" dirty="0"/>
              <a:t>良好测试环境三要素</a:t>
            </a:r>
            <a:r>
              <a:rPr lang="zh-CN" altLang="en-US" sz="2000" dirty="0"/>
              <a:t>：</a:t>
            </a:r>
            <a:r>
              <a:rPr lang="zh-CN" altLang="zh-CN" sz="2000" dirty="0">
                <a:solidFill>
                  <a:srgbClr val="FF0000"/>
                </a:solidFill>
              </a:rPr>
              <a:t>好的测试模型</a:t>
            </a:r>
            <a:r>
              <a:rPr lang="en-US" altLang="zh-CN" sz="2000" dirty="0">
                <a:solidFill>
                  <a:srgbClr val="FF0000"/>
                </a:solidFill>
              </a:rPr>
              <a:t> + </a:t>
            </a:r>
            <a:r>
              <a:rPr lang="zh-CN" altLang="zh-CN" sz="2000" dirty="0">
                <a:solidFill>
                  <a:srgbClr val="FF0000"/>
                </a:solidFill>
              </a:rPr>
              <a:t>多样化的系统配置</a:t>
            </a:r>
            <a:r>
              <a:rPr lang="en-US" altLang="zh-CN" sz="2000" dirty="0">
                <a:solidFill>
                  <a:srgbClr val="FF0000"/>
                </a:solidFill>
              </a:rPr>
              <a:t> + </a:t>
            </a:r>
            <a:r>
              <a:rPr lang="zh-CN" altLang="zh-CN" sz="2000" dirty="0">
                <a:solidFill>
                  <a:srgbClr val="FF0000"/>
                </a:solidFill>
              </a:rPr>
              <a:t>熟练使用工具的测试员</a:t>
            </a:r>
            <a:endParaRPr lang="en-US" altLang="zh-CN" sz="2000" dirty="0">
              <a:solidFill>
                <a:srgbClr val="FF0000"/>
              </a:solidFill>
            </a:endParaRPr>
          </a:p>
          <a:p>
            <a:pPr lvl="1">
              <a:buFont typeface="Wingdings" panose="05000000000000000000" pitchFamily="2" charset="2"/>
              <a:buChar char="ü"/>
            </a:pPr>
            <a:r>
              <a:rPr lang="zh-CN" altLang="en-US" sz="2000" dirty="0"/>
              <a:t>测试环境的规划包括：</a:t>
            </a:r>
            <a:r>
              <a:rPr lang="zh-CN" altLang="zh-CN" sz="2000" dirty="0"/>
              <a:t>明确软硬件相关问题</a:t>
            </a:r>
            <a:r>
              <a:rPr lang="zh-CN" altLang="en-US" sz="2000" dirty="0"/>
              <a:t>，</a:t>
            </a:r>
            <a:r>
              <a:rPr lang="zh-CN" altLang="zh-CN" sz="2000" dirty="0"/>
              <a:t>确定以上条件中可以满足和需其他部门协调、采购或支援的项</a:t>
            </a:r>
            <a:endParaRPr lang="en-US" altLang="zh-CN" sz="2000" dirty="0"/>
          </a:p>
          <a:p>
            <a:pPr lvl="1">
              <a:buFont typeface="Wingdings" panose="05000000000000000000" pitchFamily="2" charset="2"/>
              <a:buChar char="ü"/>
            </a:pPr>
            <a:r>
              <a:rPr lang="zh-CN" altLang="en-US" sz="2000" dirty="0"/>
              <a:t>测试环境的维护和整理：</a:t>
            </a:r>
            <a:r>
              <a:rPr lang="zh-CN" altLang="zh-CN" sz="2000" dirty="0"/>
              <a:t>设置测试环境管理员</a:t>
            </a:r>
            <a:r>
              <a:rPr lang="zh-CN" altLang="en-US" sz="2000" dirty="0"/>
              <a:t>，</a:t>
            </a:r>
            <a:r>
              <a:rPr lang="zh-CN" altLang="zh-CN" sz="2000" dirty="0"/>
              <a:t>明确测试环境管理所需的文档</a:t>
            </a:r>
            <a:r>
              <a:rPr lang="zh-CN" altLang="en-US" sz="2000" dirty="0"/>
              <a:t>，</a:t>
            </a:r>
            <a:r>
              <a:rPr lang="zh-CN" altLang="zh-CN" sz="2000" dirty="0"/>
              <a:t>管理测试环境的访问权限</a:t>
            </a:r>
            <a:r>
              <a:rPr lang="zh-CN" altLang="en-US" sz="2000" dirty="0"/>
              <a:t>，</a:t>
            </a:r>
            <a:r>
              <a:rPr lang="zh-CN" altLang="zh-CN" sz="2000" dirty="0"/>
              <a:t>管理测试环境变更，目的是对变更进行追溯和控制</a:t>
            </a:r>
            <a:r>
              <a:rPr lang="zh-CN" altLang="en-US" sz="2000" dirty="0"/>
              <a:t>，</a:t>
            </a:r>
            <a:r>
              <a:rPr lang="zh-CN" altLang="zh-CN" sz="2000" dirty="0"/>
              <a:t>备份和恢复测试环境</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F451303-B8F5-5A48-F9E4-AB44274174AB}"/>
              </a:ext>
            </a:extLst>
          </p:cNvPr>
          <p:cNvSpPr>
            <a:spLocks noGrp="1" noChangeArrowheads="1"/>
          </p:cNvSpPr>
          <p:nvPr>
            <p:ph type="title"/>
          </p:nvPr>
        </p:nvSpPr>
        <p:spPr>
          <a:noFill/>
        </p:spPr>
        <p:txBody>
          <a:bodyPr/>
          <a:lstStyle/>
          <a:p>
            <a:pPr eaLnBrk="1" hangingPunct="1"/>
            <a:r>
              <a:rPr lang="en-US" altLang="zh-CN"/>
              <a:t>4.4.3  </a:t>
            </a:r>
            <a:r>
              <a:rPr lang="zh-CN" altLang="en-US"/>
              <a:t>测试过程可持续改进</a:t>
            </a:r>
            <a:endParaRPr kumimoji="1" lang="zh-CN" altLang="en-US"/>
          </a:p>
        </p:txBody>
      </p:sp>
      <p:sp>
        <p:nvSpPr>
          <p:cNvPr id="109571" name="内容占位符 1">
            <a:extLst>
              <a:ext uri="{FF2B5EF4-FFF2-40B4-BE49-F238E27FC236}">
                <a16:creationId xmlns:a16="http://schemas.microsoft.com/office/drawing/2014/main" id="{8EE2A922-7BEB-F283-9936-85C690B5EC26}"/>
              </a:ext>
            </a:extLst>
          </p:cNvPr>
          <p:cNvSpPr>
            <a:spLocks noGrp="1" noChangeArrowheads="1"/>
          </p:cNvSpPr>
          <p:nvPr>
            <p:ph idx="1"/>
          </p:nvPr>
        </p:nvSpPr>
        <p:spPr>
          <a:xfrm>
            <a:off x="755650" y="2062163"/>
            <a:ext cx="7488238" cy="4751387"/>
          </a:xfrm>
        </p:spPr>
        <p:txBody>
          <a:bodyPr/>
          <a:lstStyle/>
          <a:p>
            <a:pPr>
              <a:spcBef>
                <a:spcPts val="600"/>
              </a:spcBef>
              <a:spcAft>
                <a:spcPts val="600"/>
              </a:spcAft>
            </a:pPr>
            <a:r>
              <a:rPr lang="zh-CN" altLang="zh-CN" sz="2400" dirty="0"/>
              <a:t>质量控制 </a:t>
            </a:r>
            <a:r>
              <a:rPr lang="en-US" altLang="zh-CN" sz="2400" dirty="0"/>
              <a:t>= </a:t>
            </a:r>
            <a:r>
              <a:rPr lang="zh-CN" altLang="zh-CN" sz="2400" dirty="0">
                <a:solidFill>
                  <a:srgbClr val="FF0000"/>
                </a:solidFill>
              </a:rPr>
              <a:t>技术 </a:t>
            </a:r>
            <a:r>
              <a:rPr lang="en-US" altLang="zh-CN" sz="2400" dirty="0">
                <a:solidFill>
                  <a:srgbClr val="FF0000"/>
                </a:solidFill>
              </a:rPr>
              <a:t>+ </a:t>
            </a:r>
            <a:r>
              <a:rPr lang="zh-CN" altLang="zh-CN" sz="2400" dirty="0">
                <a:solidFill>
                  <a:srgbClr val="FF0000"/>
                </a:solidFill>
              </a:rPr>
              <a:t>管理 </a:t>
            </a:r>
            <a:r>
              <a:rPr lang="en-US" altLang="zh-CN" sz="2400" dirty="0">
                <a:solidFill>
                  <a:srgbClr val="FF0000"/>
                </a:solidFill>
              </a:rPr>
              <a:t>+ </a:t>
            </a:r>
            <a:r>
              <a:rPr lang="zh-CN" altLang="zh-CN" sz="2400" dirty="0">
                <a:solidFill>
                  <a:srgbClr val="FF0000"/>
                </a:solidFill>
              </a:rPr>
              <a:t>过程</a:t>
            </a:r>
            <a:endParaRPr lang="en-US" altLang="zh-CN" sz="2400" dirty="0">
              <a:solidFill>
                <a:srgbClr val="FF0000"/>
              </a:solidFill>
            </a:endParaRPr>
          </a:p>
          <a:p>
            <a:pPr>
              <a:spcBef>
                <a:spcPts val="600"/>
              </a:spcBef>
              <a:spcAft>
                <a:spcPts val="600"/>
              </a:spcAft>
            </a:pPr>
            <a:r>
              <a:rPr lang="zh-CN" altLang="zh-CN" sz="2400" dirty="0"/>
              <a:t>软件测试过程改进主要涵盖</a:t>
            </a:r>
            <a:r>
              <a:rPr lang="zh-CN" altLang="en-US" sz="2400" dirty="0"/>
              <a:t>的内容包括</a:t>
            </a:r>
            <a:endParaRPr lang="en-US" altLang="zh-CN" sz="2400" dirty="0"/>
          </a:p>
          <a:p>
            <a:pPr lvl="1">
              <a:spcBef>
                <a:spcPts val="600"/>
              </a:spcBef>
              <a:spcAft>
                <a:spcPts val="600"/>
              </a:spcAft>
              <a:buFont typeface="Wingdings" panose="05000000000000000000" pitchFamily="2" charset="2"/>
              <a:buChar char="ü"/>
            </a:pPr>
            <a:r>
              <a:rPr lang="zh-CN" altLang="zh-CN" sz="2000" dirty="0"/>
              <a:t>建立和管理测试度量程序</a:t>
            </a:r>
          </a:p>
          <a:p>
            <a:pPr lvl="1">
              <a:spcBef>
                <a:spcPts val="600"/>
              </a:spcBef>
              <a:spcAft>
                <a:spcPts val="600"/>
              </a:spcAft>
              <a:buFont typeface="Wingdings" panose="05000000000000000000" pitchFamily="2" charset="2"/>
              <a:buChar char="ü"/>
            </a:pPr>
            <a:r>
              <a:rPr lang="zh-CN" altLang="zh-CN" sz="2000" dirty="0"/>
              <a:t>调整测试活动的时序关系</a:t>
            </a:r>
          </a:p>
          <a:p>
            <a:pPr lvl="1">
              <a:spcBef>
                <a:spcPts val="600"/>
              </a:spcBef>
              <a:spcAft>
                <a:spcPts val="600"/>
              </a:spcAft>
              <a:buFont typeface="Wingdings" panose="05000000000000000000" pitchFamily="2" charset="2"/>
              <a:buChar char="ü"/>
            </a:pPr>
            <a:r>
              <a:rPr lang="zh-CN" altLang="zh-CN" sz="2000" dirty="0"/>
              <a:t>优化测试活动的资源配置</a:t>
            </a:r>
          </a:p>
          <a:p>
            <a:pPr lvl="1">
              <a:spcBef>
                <a:spcPts val="600"/>
              </a:spcBef>
              <a:spcAft>
                <a:spcPts val="600"/>
              </a:spcAft>
              <a:buFont typeface="Wingdings" panose="05000000000000000000" pitchFamily="2" charset="2"/>
              <a:buChar char="ü"/>
            </a:pPr>
            <a:r>
              <a:rPr lang="zh-CN" altLang="zh-CN" sz="2000" dirty="0"/>
              <a:t>提高测试计划的执行力度</a:t>
            </a:r>
          </a:p>
          <a:p>
            <a:pPr lvl="1">
              <a:spcBef>
                <a:spcPts val="600"/>
              </a:spcBef>
              <a:spcAft>
                <a:spcPts val="600"/>
              </a:spcAft>
              <a:buFont typeface="Wingdings" panose="05000000000000000000" pitchFamily="2" charset="2"/>
              <a:buChar char="ü"/>
            </a:pPr>
            <a:r>
              <a:rPr lang="zh-CN" altLang="zh-CN" sz="2000" dirty="0"/>
              <a:t>提高测试覆盖率</a:t>
            </a:r>
            <a:endParaRPr lang="zh-CN" altLang="zh-C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7E6EF890-60A5-8C43-2F5A-F4D295BCECA0}"/>
              </a:ext>
            </a:extLst>
          </p:cNvPr>
          <p:cNvSpPr>
            <a:spLocks noGrp="1" noChangeArrowheads="1"/>
          </p:cNvSpPr>
          <p:nvPr>
            <p:ph type="title"/>
          </p:nvPr>
        </p:nvSpPr>
        <p:spPr/>
        <p:txBody>
          <a:bodyPr/>
          <a:lstStyle/>
          <a:p>
            <a:pPr eaLnBrk="1" hangingPunct="1"/>
            <a:r>
              <a:rPr lang="zh-CN" altLang="en-US"/>
              <a:t>本章内容提要</a:t>
            </a:r>
          </a:p>
        </p:txBody>
      </p:sp>
      <p:grpSp>
        <p:nvGrpSpPr>
          <p:cNvPr id="110595" name="组合 23">
            <a:extLst>
              <a:ext uri="{FF2B5EF4-FFF2-40B4-BE49-F238E27FC236}">
                <a16:creationId xmlns:a16="http://schemas.microsoft.com/office/drawing/2014/main" id="{3A44D78E-0AEB-7CFE-7F21-986316525C64}"/>
              </a:ext>
            </a:extLst>
          </p:cNvPr>
          <p:cNvGrpSpPr>
            <a:grpSpLocks/>
          </p:cNvGrpSpPr>
          <p:nvPr/>
        </p:nvGrpSpPr>
        <p:grpSpPr bwMode="auto">
          <a:xfrm>
            <a:off x="604838" y="2205038"/>
            <a:ext cx="5695950" cy="3797300"/>
            <a:chOff x="604838" y="2343150"/>
            <a:chExt cx="5695950" cy="3797300"/>
          </a:xfrm>
        </p:grpSpPr>
        <p:sp>
          <p:nvSpPr>
            <p:cNvPr id="110596" name="AutoShape 4">
              <a:extLst>
                <a:ext uri="{FF2B5EF4-FFF2-40B4-BE49-F238E27FC236}">
                  <a16:creationId xmlns:a16="http://schemas.microsoft.com/office/drawing/2014/main" id="{7824BF63-2CA8-B3E2-94FF-7FE26C779D09}"/>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0597" name="Text Box 5">
              <a:extLst>
                <a:ext uri="{FF2B5EF4-FFF2-40B4-BE49-F238E27FC236}">
                  <a16:creationId xmlns:a16="http://schemas.microsoft.com/office/drawing/2014/main" id="{F1F95262-647D-EAB2-13F6-742E32861AFB}"/>
                </a:ext>
              </a:extLst>
            </p:cNvPr>
            <p:cNvSpPr txBox="1">
              <a:spLocks noChangeArrowheads="1"/>
            </p:cNvSpPr>
            <p:nvPr/>
          </p:nvSpPr>
          <p:spPr bwMode="auto">
            <a:xfrm>
              <a:off x="993775" y="2389188"/>
              <a:ext cx="4919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软件质量与质量保证概述</a:t>
              </a:r>
              <a:r>
                <a:rPr lang="en-US" altLang="zh-CN" sz="2200">
                  <a:latin typeface="Times New Roman" panose="02020603050405020304" pitchFamily="18" charset="0"/>
                  <a:ea typeface="黑体" panose="02010609060101010101" pitchFamily="49" charset="-122"/>
                </a:rPr>
                <a:t> </a:t>
              </a:r>
            </a:p>
          </p:txBody>
        </p:sp>
        <p:sp>
          <p:nvSpPr>
            <p:cNvPr id="110598" name="AutoShape 6">
              <a:extLst>
                <a:ext uri="{FF2B5EF4-FFF2-40B4-BE49-F238E27FC236}">
                  <a16:creationId xmlns:a16="http://schemas.microsoft.com/office/drawing/2014/main" id="{5C5367FD-BCB6-EFAF-9957-32385CC646D6}"/>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0599" name="Text Box 7">
              <a:extLst>
                <a:ext uri="{FF2B5EF4-FFF2-40B4-BE49-F238E27FC236}">
                  <a16:creationId xmlns:a16="http://schemas.microsoft.com/office/drawing/2014/main" id="{59C5BFEF-5E69-640A-6908-9CD66FD62663}"/>
                </a:ext>
              </a:extLst>
            </p:cNvPr>
            <p:cNvSpPr txBox="1">
              <a:spLocks noChangeArrowheads="1"/>
            </p:cNvSpPr>
            <p:nvPr/>
          </p:nvSpPr>
          <p:spPr bwMode="auto">
            <a:xfrm>
              <a:off x="1004888" y="2930525"/>
              <a:ext cx="4919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软件质量度量</a:t>
              </a:r>
              <a:r>
                <a:rPr lang="zh-CN" altLang="en-US" sz="2400" b="0">
                  <a:latin typeface="Times New Roman" panose="02020603050405020304" pitchFamily="18" charset="0"/>
                </a:rPr>
                <a:t> </a:t>
              </a:r>
            </a:p>
          </p:txBody>
        </p:sp>
        <p:sp>
          <p:nvSpPr>
            <p:cNvPr id="110600" name="AutoShape 8">
              <a:extLst>
                <a:ext uri="{FF2B5EF4-FFF2-40B4-BE49-F238E27FC236}">
                  <a16:creationId xmlns:a16="http://schemas.microsoft.com/office/drawing/2014/main" id="{9E0C8AD0-242E-8845-52C0-1326F934C549}"/>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0601" name="Text Box 9">
              <a:extLst>
                <a:ext uri="{FF2B5EF4-FFF2-40B4-BE49-F238E27FC236}">
                  <a16:creationId xmlns:a16="http://schemas.microsoft.com/office/drawing/2014/main" id="{550C8E4D-C9ED-6A31-B256-0A9E36B55658}"/>
                </a:ext>
              </a:extLst>
            </p:cNvPr>
            <p:cNvSpPr txBox="1">
              <a:spLocks noChangeArrowheads="1"/>
            </p:cNvSpPr>
            <p:nvPr/>
          </p:nvSpPr>
          <p:spPr bwMode="auto">
            <a:xfrm>
              <a:off x="1004888" y="3524250"/>
              <a:ext cx="49196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软件质量保证的措施</a:t>
              </a:r>
              <a:endParaRPr lang="zh-CN" altLang="en-US" sz="2400" b="0">
                <a:latin typeface="Times New Roman" panose="02020603050405020304" pitchFamily="18" charset="0"/>
              </a:endParaRPr>
            </a:p>
          </p:txBody>
        </p:sp>
        <p:sp>
          <p:nvSpPr>
            <p:cNvPr id="110602" name="Rectangle 10">
              <a:extLst>
                <a:ext uri="{FF2B5EF4-FFF2-40B4-BE49-F238E27FC236}">
                  <a16:creationId xmlns:a16="http://schemas.microsoft.com/office/drawing/2014/main" id="{1F3BA2DA-7655-C1FC-0D77-DC21F2CF8795}"/>
                </a:ext>
              </a:extLst>
            </p:cNvPr>
            <p:cNvSpPr>
              <a:spLocks noChangeArrowheads="1"/>
            </p:cNvSpPr>
            <p:nvPr/>
          </p:nvSpPr>
          <p:spPr bwMode="auto">
            <a:xfrm>
              <a:off x="611188" y="243205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4.1</a:t>
              </a:r>
              <a:endParaRPr lang="en-US" altLang="zh-CN" sz="1800">
                <a:solidFill>
                  <a:srgbClr val="000000"/>
                </a:solidFill>
              </a:endParaRPr>
            </a:p>
          </p:txBody>
        </p:sp>
        <p:sp>
          <p:nvSpPr>
            <p:cNvPr id="110603" name="AutoShape 13">
              <a:extLst>
                <a:ext uri="{FF2B5EF4-FFF2-40B4-BE49-F238E27FC236}">
                  <a16:creationId xmlns:a16="http://schemas.microsoft.com/office/drawing/2014/main" id="{ECCE635E-69FB-5BAD-5F6A-F517B704E5EE}"/>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0604" name="Text Box 14">
              <a:extLst>
                <a:ext uri="{FF2B5EF4-FFF2-40B4-BE49-F238E27FC236}">
                  <a16:creationId xmlns:a16="http://schemas.microsoft.com/office/drawing/2014/main" id="{6F9636E6-6F22-D087-41C2-2C5F5944418A}"/>
                </a:ext>
              </a:extLst>
            </p:cNvPr>
            <p:cNvSpPr txBox="1">
              <a:spLocks noChangeArrowheads="1"/>
            </p:cNvSpPr>
            <p:nvPr/>
          </p:nvSpPr>
          <p:spPr bwMode="auto">
            <a:xfrm>
              <a:off x="1009650" y="4038600"/>
              <a:ext cx="49196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软件测试过程管理</a:t>
              </a:r>
              <a:endParaRPr lang="zh-CN" altLang="en-US" sz="2400" b="0">
                <a:latin typeface="Times New Roman" panose="02020603050405020304" pitchFamily="18" charset="0"/>
              </a:endParaRPr>
            </a:p>
          </p:txBody>
        </p:sp>
        <p:sp>
          <p:nvSpPr>
            <p:cNvPr id="110605" name="Rectangle 15">
              <a:extLst>
                <a:ext uri="{FF2B5EF4-FFF2-40B4-BE49-F238E27FC236}">
                  <a16:creationId xmlns:a16="http://schemas.microsoft.com/office/drawing/2014/main" id="{CF67AC2E-1C19-8914-9A25-082B135E2FEE}"/>
                </a:ext>
              </a:extLst>
            </p:cNvPr>
            <p:cNvSpPr>
              <a:spLocks noChangeArrowheads="1"/>
            </p:cNvSpPr>
            <p:nvPr/>
          </p:nvSpPr>
          <p:spPr bwMode="auto">
            <a:xfrm>
              <a:off x="627063" y="4081463"/>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4.4</a:t>
              </a:r>
              <a:endParaRPr lang="en-US" altLang="zh-CN" sz="1800">
                <a:solidFill>
                  <a:srgbClr val="000000"/>
                </a:solidFill>
              </a:endParaRPr>
            </a:p>
          </p:txBody>
        </p:sp>
        <p:sp>
          <p:nvSpPr>
            <p:cNvPr id="110606" name="AutoShape 22">
              <a:extLst>
                <a:ext uri="{FF2B5EF4-FFF2-40B4-BE49-F238E27FC236}">
                  <a16:creationId xmlns:a16="http://schemas.microsoft.com/office/drawing/2014/main" id="{13AE100B-F7CD-29A6-10D5-39BF475BB019}"/>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0607" name="Text Box 23">
              <a:extLst>
                <a:ext uri="{FF2B5EF4-FFF2-40B4-BE49-F238E27FC236}">
                  <a16:creationId xmlns:a16="http://schemas.microsoft.com/office/drawing/2014/main" id="{0F619794-4207-EF0A-3B70-CB29919422DB}"/>
                </a:ext>
              </a:extLst>
            </p:cNvPr>
            <p:cNvSpPr txBox="1">
              <a:spLocks noChangeArrowheads="1"/>
            </p:cNvSpPr>
            <p:nvPr/>
          </p:nvSpPr>
          <p:spPr bwMode="auto">
            <a:xfrm>
              <a:off x="1008063" y="4594225"/>
              <a:ext cx="4919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110608" name="Rectangle 24">
              <a:extLst>
                <a:ext uri="{FF2B5EF4-FFF2-40B4-BE49-F238E27FC236}">
                  <a16:creationId xmlns:a16="http://schemas.microsoft.com/office/drawing/2014/main" id="{F101B6CA-1234-B93E-794F-88C2E942F3B5}"/>
                </a:ext>
              </a:extLst>
            </p:cNvPr>
            <p:cNvSpPr>
              <a:spLocks noChangeArrowheads="1"/>
            </p:cNvSpPr>
            <p:nvPr/>
          </p:nvSpPr>
          <p:spPr bwMode="auto">
            <a:xfrm>
              <a:off x="625475" y="4635500"/>
              <a:ext cx="334963" cy="2603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4.5</a:t>
              </a:r>
              <a:endParaRPr lang="en-US" altLang="zh-CN" sz="1800">
                <a:solidFill>
                  <a:srgbClr val="000000"/>
                </a:solidFill>
              </a:endParaRPr>
            </a:p>
          </p:txBody>
        </p:sp>
        <p:sp>
          <p:nvSpPr>
            <p:cNvPr id="110609" name="AutoShape 25">
              <a:extLst>
                <a:ext uri="{FF2B5EF4-FFF2-40B4-BE49-F238E27FC236}">
                  <a16:creationId xmlns:a16="http://schemas.microsoft.com/office/drawing/2014/main" id="{9CA49EE4-3F6D-3EE3-642C-2ECDD3D73B98}"/>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0610" name="Text Box 26">
              <a:extLst>
                <a:ext uri="{FF2B5EF4-FFF2-40B4-BE49-F238E27FC236}">
                  <a16:creationId xmlns:a16="http://schemas.microsoft.com/office/drawing/2014/main" id="{C9BAA87A-3C31-156C-BB6C-4BF2F8F5FB69}"/>
                </a:ext>
              </a:extLst>
            </p:cNvPr>
            <p:cNvSpPr txBox="1">
              <a:spLocks noChangeArrowheads="1"/>
            </p:cNvSpPr>
            <p:nvPr/>
          </p:nvSpPr>
          <p:spPr bwMode="auto">
            <a:xfrm>
              <a:off x="1012825" y="5140325"/>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110611" name="Rectangle 27">
              <a:extLst>
                <a:ext uri="{FF2B5EF4-FFF2-40B4-BE49-F238E27FC236}">
                  <a16:creationId xmlns:a16="http://schemas.microsoft.com/office/drawing/2014/main" id="{D68DC3C2-639F-1246-2866-146814FB17F3}"/>
                </a:ext>
              </a:extLst>
            </p:cNvPr>
            <p:cNvSpPr>
              <a:spLocks noChangeArrowheads="1"/>
            </p:cNvSpPr>
            <p:nvPr/>
          </p:nvSpPr>
          <p:spPr bwMode="auto">
            <a:xfrm>
              <a:off x="630238" y="5195888"/>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4.6</a:t>
              </a:r>
              <a:endParaRPr lang="en-US" altLang="zh-CN" sz="1800">
                <a:solidFill>
                  <a:srgbClr val="000000"/>
                </a:solidFill>
              </a:endParaRPr>
            </a:p>
          </p:txBody>
        </p:sp>
        <p:sp>
          <p:nvSpPr>
            <p:cNvPr id="110612" name="AutoShape 28">
              <a:extLst>
                <a:ext uri="{FF2B5EF4-FFF2-40B4-BE49-F238E27FC236}">
                  <a16:creationId xmlns:a16="http://schemas.microsoft.com/office/drawing/2014/main" id="{7432CF7E-92AE-700C-4FE0-E83C3E44BE3A}"/>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0613" name="Text Box 29">
              <a:extLst>
                <a:ext uri="{FF2B5EF4-FFF2-40B4-BE49-F238E27FC236}">
                  <a16:creationId xmlns:a16="http://schemas.microsoft.com/office/drawing/2014/main" id="{9B6C2D4E-FFF9-FAB7-4C92-82B5514C5AA7}"/>
                </a:ext>
              </a:extLst>
            </p:cNvPr>
            <p:cNvSpPr txBox="1">
              <a:spLocks noChangeArrowheads="1"/>
            </p:cNvSpPr>
            <p:nvPr/>
          </p:nvSpPr>
          <p:spPr bwMode="auto">
            <a:xfrm>
              <a:off x="1012825" y="5684838"/>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110614" name="Rectangle 30">
              <a:extLst>
                <a:ext uri="{FF2B5EF4-FFF2-40B4-BE49-F238E27FC236}">
                  <a16:creationId xmlns:a16="http://schemas.microsoft.com/office/drawing/2014/main" id="{DFD2FDBC-CD37-CC95-5B2E-5203F1DFA369}"/>
                </a:ext>
              </a:extLst>
            </p:cNvPr>
            <p:cNvSpPr>
              <a:spLocks noChangeArrowheads="1"/>
            </p:cNvSpPr>
            <p:nvPr/>
          </p:nvSpPr>
          <p:spPr bwMode="auto">
            <a:xfrm>
              <a:off x="630238" y="574040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4.7</a:t>
              </a:r>
              <a:endParaRPr lang="en-US" altLang="zh-CN" sz="1800">
                <a:solidFill>
                  <a:srgbClr val="000000"/>
                </a:solidFill>
              </a:endParaRPr>
            </a:p>
          </p:txBody>
        </p:sp>
        <p:sp>
          <p:nvSpPr>
            <p:cNvPr id="110615" name="Rectangle 31">
              <a:extLst>
                <a:ext uri="{FF2B5EF4-FFF2-40B4-BE49-F238E27FC236}">
                  <a16:creationId xmlns:a16="http://schemas.microsoft.com/office/drawing/2014/main" id="{D93E0559-99CC-4CB4-5DD3-9C7F1DAC4D4B}"/>
                </a:ext>
              </a:extLst>
            </p:cNvPr>
            <p:cNvSpPr>
              <a:spLocks noChangeArrowheads="1"/>
            </p:cNvSpPr>
            <p:nvPr/>
          </p:nvSpPr>
          <p:spPr bwMode="auto">
            <a:xfrm>
              <a:off x="604838" y="299243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4.2</a:t>
              </a:r>
            </a:p>
          </p:txBody>
        </p:sp>
        <p:sp>
          <p:nvSpPr>
            <p:cNvPr id="110616" name="Rectangle 32">
              <a:extLst>
                <a:ext uri="{FF2B5EF4-FFF2-40B4-BE49-F238E27FC236}">
                  <a16:creationId xmlns:a16="http://schemas.microsoft.com/office/drawing/2014/main" id="{DBE09233-7007-4D7C-44CE-9642D99D7702}"/>
                </a:ext>
              </a:extLst>
            </p:cNvPr>
            <p:cNvSpPr>
              <a:spLocks noChangeArrowheads="1"/>
            </p:cNvSpPr>
            <p:nvPr/>
          </p:nvSpPr>
          <p:spPr bwMode="auto">
            <a:xfrm>
              <a:off x="604838" y="353695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4.3</a:t>
              </a:r>
              <a:endParaRPr lang="en-US" altLang="zh-CN" sz="1800">
                <a:solidFill>
                  <a:srgbClr val="000000"/>
                </a:solidFill>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19C6D091-0C64-7B4F-6D76-82AF95682851}"/>
              </a:ext>
            </a:extLst>
          </p:cNvPr>
          <p:cNvSpPr>
            <a:spLocks noGrp="1" noChangeArrowheads="1"/>
          </p:cNvSpPr>
          <p:nvPr>
            <p:ph type="title"/>
          </p:nvPr>
        </p:nvSpPr>
        <p:spPr>
          <a:xfrm>
            <a:off x="177800" y="1054100"/>
            <a:ext cx="8788400" cy="717550"/>
          </a:xfrm>
          <a:noFill/>
        </p:spPr>
        <p:txBody>
          <a:bodyPr/>
          <a:lstStyle/>
          <a:p>
            <a:pPr eaLnBrk="1" hangingPunct="1"/>
            <a:r>
              <a:rPr lang="en-US" altLang="zh-CN"/>
              <a:t>4.5 </a:t>
            </a:r>
            <a:r>
              <a:rPr kumimoji="1" lang="zh-CN" altLang="en-US"/>
              <a:t>案例分析</a:t>
            </a:r>
            <a:endParaRPr lang="zh-CN" altLang="en-US"/>
          </a:p>
        </p:txBody>
      </p:sp>
      <p:sp>
        <p:nvSpPr>
          <p:cNvPr id="111619" name="Text Box 3">
            <a:extLst>
              <a:ext uri="{FF2B5EF4-FFF2-40B4-BE49-F238E27FC236}">
                <a16:creationId xmlns:a16="http://schemas.microsoft.com/office/drawing/2014/main" id="{5AA3713B-E20F-D63F-F9E6-4DD865121F01}"/>
              </a:ext>
            </a:extLst>
          </p:cNvPr>
          <p:cNvSpPr txBox="1">
            <a:spLocks noChangeArrowheads="1"/>
          </p:cNvSpPr>
          <p:nvPr/>
        </p:nvSpPr>
        <p:spPr bwMode="auto">
          <a:xfrm>
            <a:off x="1004888" y="1935163"/>
            <a:ext cx="741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endParaRPr kumimoji="0" lang="zh-CN" altLang="zh-CN" sz="2400">
              <a:ea typeface="黑体" panose="02010609060101010101" pitchFamily="49" charset="-122"/>
            </a:endParaRPr>
          </a:p>
        </p:txBody>
      </p:sp>
      <p:sp>
        <p:nvSpPr>
          <p:cNvPr id="111620" name="Text Box 4">
            <a:extLst>
              <a:ext uri="{FF2B5EF4-FFF2-40B4-BE49-F238E27FC236}">
                <a16:creationId xmlns:a16="http://schemas.microsoft.com/office/drawing/2014/main" id="{EAF650BB-4A31-5668-EDAB-1DDB375190D4}"/>
              </a:ext>
            </a:extLst>
          </p:cNvPr>
          <p:cNvSpPr txBox="1">
            <a:spLocks noChangeArrowheads="1"/>
          </p:cNvSpPr>
          <p:nvPr/>
        </p:nvSpPr>
        <p:spPr bwMode="auto">
          <a:xfrm>
            <a:off x="1042988" y="4076700"/>
            <a:ext cx="7172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kumimoji="0" lang="zh-CN" altLang="zh-CN" sz="2400">
              <a:latin typeface="Times New Roman" panose="02020603050405020304" pitchFamily="18" charset="0"/>
            </a:endParaRPr>
          </a:p>
        </p:txBody>
      </p:sp>
      <p:sp>
        <p:nvSpPr>
          <p:cNvPr id="111621" name="Text Box 5">
            <a:extLst>
              <a:ext uri="{FF2B5EF4-FFF2-40B4-BE49-F238E27FC236}">
                <a16:creationId xmlns:a16="http://schemas.microsoft.com/office/drawing/2014/main" id="{6483E8F2-102A-3F23-CAEC-2D919E86A5D8}"/>
              </a:ext>
            </a:extLst>
          </p:cNvPr>
          <p:cNvSpPr txBox="1">
            <a:spLocks noChangeArrowheads="1"/>
          </p:cNvSpPr>
          <p:nvPr/>
        </p:nvSpPr>
        <p:spPr bwMode="auto">
          <a:xfrm>
            <a:off x="1116013" y="2060575"/>
            <a:ext cx="648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111622" name="Text Box 6">
            <a:extLst>
              <a:ext uri="{FF2B5EF4-FFF2-40B4-BE49-F238E27FC236}">
                <a16:creationId xmlns:a16="http://schemas.microsoft.com/office/drawing/2014/main" id="{D25F9926-5FF5-04AF-B28D-8E1E0173BDA7}"/>
              </a:ext>
            </a:extLst>
          </p:cNvPr>
          <p:cNvSpPr txBox="1">
            <a:spLocks noChangeArrowheads="1"/>
          </p:cNvSpPr>
          <p:nvPr/>
        </p:nvSpPr>
        <p:spPr bwMode="auto">
          <a:xfrm>
            <a:off x="722313" y="2281238"/>
            <a:ext cx="7488237"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
                <a:schemeClr val="accent2"/>
              </a:buClr>
              <a:buSzPct val="70000"/>
              <a:buFont typeface="Wingdings" panose="05000000000000000000" pitchFamily="2" charset="2"/>
              <a:buChar char="n"/>
            </a:pPr>
            <a:r>
              <a:rPr lang="en-US" altLang="zh-CN" sz="2400" b="0">
                <a:latin typeface="Times New Roman" panose="02020603050405020304" pitchFamily="18" charset="0"/>
              </a:rPr>
              <a:t>    </a:t>
            </a:r>
            <a:r>
              <a:rPr lang="zh-CN" altLang="zh-CN" sz="2400">
                <a:solidFill>
                  <a:schemeClr val="accent2"/>
                </a:solidFill>
                <a:latin typeface="黑体" panose="02010609060101010101" pitchFamily="49" charset="-122"/>
                <a:ea typeface="黑体" panose="02010609060101010101" pitchFamily="49" charset="-122"/>
              </a:rPr>
              <a:t>软件质量保证是根据组织的质量目标，以质量保证计划为核心，在质量体系中开发的有计划、有组织的工作活动</a:t>
            </a:r>
            <a:endParaRPr lang="zh-CN" altLang="en-US" b="0">
              <a:latin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FF6AFAC9-3A40-4996-6072-85DB889860B7}"/>
              </a:ext>
            </a:extLst>
          </p:cNvPr>
          <p:cNvSpPr>
            <a:spLocks noGrp="1" noChangeArrowheads="1"/>
          </p:cNvSpPr>
          <p:nvPr>
            <p:ph type="title"/>
          </p:nvPr>
        </p:nvSpPr>
        <p:spPr>
          <a:noFill/>
        </p:spPr>
        <p:txBody>
          <a:bodyPr/>
          <a:lstStyle/>
          <a:p>
            <a:pPr eaLnBrk="1" hangingPunct="1"/>
            <a:r>
              <a:rPr lang="en-US" altLang="zh-CN"/>
              <a:t>4.5 </a:t>
            </a:r>
            <a:r>
              <a:rPr kumimoji="1" lang="zh-CN" altLang="en-US"/>
              <a:t>案例分析</a:t>
            </a:r>
            <a:endParaRPr lang="zh-CN" altLang="en-US"/>
          </a:p>
        </p:txBody>
      </p:sp>
      <p:sp>
        <p:nvSpPr>
          <p:cNvPr id="112643" name="内容占位符 1">
            <a:extLst>
              <a:ext uri="{FF2B5EF4-FFF2-40B4-BE49-F238E27FC236}">
                <a16:creationId xmlns:a16="http://schemas.microsoft.com/office/drawing/2014/main" id="{4284E3AF-7C7A-1931-13AC-F8528948BA31}"/>
              </a:ext>
            </a:extLst>
          </p:cNvPr>
          <p:cNvSpPr>
            <a:spLocks noGrp="1" noChangeArrowheads="1"/>
          </p:cNvSpPr>
          <p:nvPr>
            <p:ph idx="1"/>
          </p:nvPr>
        </p:nvSpPr>
        <p:spPr>
          <a:xfrm>
            <a:off x="395288" y="2205038"/>
            <a:ext cx="8281987" cy="3671887"/>
          </a:xfrm>
        </p:spPr>
        <p:txBody>
          <a:bodyPr/>
          <a:lstStyle/>
          <a:p>
            <a:r>
              <a:rPr lang="zh-CN" altLang="en-US">
                <a:hlinkClick r:id="rId2" action="ppaction://hlinkfile"/>
              </a:rPr>
              <a:t>一个典型的质量保证计划</a:t>
            </a:r>
            <a:endParaRPr lang="en-US" altLang="zh-CN"/>
          </a:p>
          <a:p>
            <a:pPr>
              <a:buFont typeface="Wingdings 2" panose="05020102010507070707" pitchFamily="18" charset="2"/>
              <a:buNone/>
            </a:pPr>
            <a:r>
              <a:rPr lang="en-US" altLang="zh-CN"/>
              <a:t>     </a:t>
            </a:r>
          </a:p>
          <a:p>
            <a:pPr>
              <a:buFont typeface="Wingdings 2" panose="05020102010507070707" pitchFamily="18" charset="2"/>
              <a:buNone/>
            </a:pPr>
            <a:r>
              <a:rPr lang="en-US" altLang="zh-CN"/>
              <a:t>    </a:t>
            </a:r>
            <a:r>
              <a:rPr lang="zh-CN" altLang="en-US"/>
              <a:t>详见</a:t>
            </a:r>
            <a:r>
              <a:rPr lang="en-US" altLang="zh-CN"/>
              <a:t>《</a:t>
            </a:r>
            <a:r>
              <a:rPr lang="zh-CN" altLang="en-US"/>
              <a:t>一个典型的质量保证计划范例</a:t>
            </a:r>
            <a:r>
              <a:rPr lang="en-US" altLang="zh-CN"/>
              <a:t>》</a:t>
            </a:r>
            <a:endParaRPr lang="zh-CN" altLang="en-US"/>
          </a:p>
        </p:txBody>
      </p:sp>
      <p:sp>
        <p:nvSpPr>
          <p:cNvPr id="112644" name="Text Box 4">
            <a:extLst>
              <a:ext uri="{FF2B5EF4-FFF2-40B4-BE49-F238E27FC236}">
                <a16:creationId xmlns:a16="http://schemas.microsoft.com/office/drawing/2014/main" id="{05504E01-6227-6F26-E6A7-AAB10EB66FDD}"/>
              </a:ext>
            </a:extLst>
          </p:cNvPr>
          <p:cNvSpPr txBox="1">
            <a:spLocks noChangeArrowheads="1"/>
          </p:cNvSpPr>
          <p:nvPr/>
        </p:nvSpPr>
        <p:spPr bwMode="auto">
          <a:xfrm>
            <a:off x="1042988" y="4076700"/>
            <a:ext cx="7172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kumimoji="0" lang="zh-CN" altLang="zh-CN" sz="2400">
              <a:latin typeface="Times New Roman" panose="02020603050405020304" pitchFamily="18" charset="0"/>
            </a:endParaRPr>
          </a:p>
        </p:txBody>
      </p:sp>
      <p:sp>
        <p:nvSpPr>
          <p:cNvPr id="112645" name="Rectangle 8">
            <a:extLst>
              <a:ext uri="{FF2B5EF4-FFF2-40B4-BE49-F238E27FC236}">
                <a16:creationId xmlns:a16="http://schemas.microsoft.com/office/drawing/2014/main" id="{E408553D-B8DD-73E8-A2C6-296992736AB6}"/>
              </a:ext>
            </a:extLst>
          </p:cNvPr>
          <p:cNvSpPr>
            <a:spLocks noChangeArrowheads="1"/>
          </p:cNvSpPr>
          <p:nvPr/>
        </p:nvSpPr>
        <p:spPr bwMode="auto">
          <a:xfrm>
            <a:off x="0" y="742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FA5F0B42-9467-6025-1887-A5EE71710276}"/>
              </a:ext>
            </a:extLst>
          </p:cNvPr>
          <p:cNvSpPr>
            <a:spLocks noGrp="1" noChangeArrowheads="1"/>
          </p:cNvSpPr>
          <p:nvPr>
            <p:ph type="title"/>
          </p:nvPr>
        </p:nvSpPr>
        <p:spPr/>
        <p:txBody>
          <a:bodyPr/>
          <a:lstStyle/>
          <a:p>
            <a:pPr eaLnBrk="1" hangingPunct="1"/>
            <a:r>
              <a:rPr lang="zh-CN" altLang="en-US"/>
              <a:t>本章内容提要</a:t>
            </a:r>
          </a:p>
        </p:txBody>
      </p:sp>
      <p:grpSp>
        <p:nvGrpSpPr>
          <p:cNvPr id="113667" name="组合 23">
            <a:extLst>
              <a:ext uri="{FF2B5EF4-FFF2-40B4-BE49-F238E27FC236}">
                <a16:creationId xmlns:a16="http://schemas.microsoft.com/office/drawing/2014/main" id="{6C3B98DB-E72E-A7E4-E797-CDAF19E1E66D}"/>
              </a:ext>
            </a:extLst>
          </p:cNvPr>
          <p:cNvGrpSpPr>
            <a:grpSpLocks/>
          </p:cNvGrpSpPr>
          <p:nvPr/>
        </p:nvGrpSpPr>
        <p:grpSpPr bwMode="auto">
          <a:xfrm>
            <a:off x="604838" y="2205038"/>
            <a:ext cx="5695950" cy="3797300"/>
            <a:chOff x="604838" y="2343150"/>
            <a:chExt cx="5695950" cy="3797300"/>
          </a:xfrm>
        </p:grpSpPr>
        <p:sp>
          <p:nvSpPr>
            <p:cNvPr id="113668" name="AutoShape 4">
              <a:extLst>
                <a:ext uri="{FF2B5EF4-FFF2-40B4-BE49-F238E27FC236}">
                  <a16:creationId xmlns:a16="http://schemas.microsoft.com/office/drawing/2014/main" id="{AF8BC785-9D02-DE20-7F42-20DC42FDE3B5}"/>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3669" name="Text Box 5">
              <a:extLst>
                <a:ext uri="{FF2B5EF4-FFF2-40B4-BE49-F238E27FC236}">
                  <a16:creationId xmlns:a16="http://schemas.microsoft.com/office/drawing/2014/main" id="{6A9BB287-75D1-8144-38AA-083121C9B432}"/>
                </a:ext>
              </a:extLst>
            </p:cNvPr>
            <p:cNvSpPr txBox="1">
              <a:spLocks noChangeArrowheads="1"/>
            </p:cNvSpPr>
            <p:nvPr/>
          </p:nvSpPr>
          <p:spPr bwMode="auto">
            <a:xfrm>
              <a:off x="993775" y="2389188"/>
              <a:ext cx="4919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软件质量与质量保证概述</a:t>
              </a:r>
              <a:r>
                <a:rPr lang="en-US" altLang="zh-CN" sz="2200">
                  <a:latin typeface="Times New Roman" panose="02020603050405020304" pitchFamily="18" charset="0"/>
                  <a:ea typeface="黑体" panose="02010609060101010101" pitchFamily="49" charset="-122"/>
                </a:rPr>
                <a:t> </a:t>
              </a:r>
            </a:p>
          </p:txBody>
        </p:sp>
        <p:sp>
          <p:nvSpPr>
            <p:cNvPr id="113670" name="AutoShape 6">
              <a:extLst>
                <a:ext uri="{FF2B5EF4-FFF2-40B4-BE49-F238E27FC236}">
                  <a16:creationId xmlns:a16="http://schemas.microsoft.com/office/drawing/2014/main" id="{93F8B243-0B47-1697-BF23-E716851CDE3E}"/>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3671" name="Text Box 7">
              <a:extLst>
                <a:ext uri="{FF2B5EF4-FFF2-40B4-BE49-F238E27FC236}">
                  <a16:creationId xmlns:a16="http://schemas.microsoft.com/office/drawing/2014/main" id="{AC5D5D29-A88A-3FD6-B467-453A305A4E82}"/>
                </a:ext>
              </a:extLst>
            </p:cNvPr>
            <p:cNvSpPr txBox="1">
              <a:spLocks noChangeArrowheads="1"/>
            </p:cNvSpPr>
            <p:nvPr/>
          </p:nvSpPr>
          <p:spPr bwMode="auto">
            <a:xfrm>
              <a:off x="1004888" y="2930525"/>
              <a:ext cx="4919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软件质量度量</a:t>
              </a:r>
              <a:r>
                <a:rPr lang="zh-CN" altLang="en-US" sz="2400" b="0">
                  <a:latin typeface="Times New Roman" panose="02020603050405020304" pitchFamily="18" charset="0"/>
                </a:rPr>
                <a:t> </a:t>
              </a:r>
            </a:p>
          </p:txBody>
        </p:sp>
        <p:sp>
          <p:nvSpPr>
            <p:cNvPr id="113672" name="AutoShape 8">
              <a:extLst>
                <a:ext uri="{FF2B5EF4-FFF2-40B4-BE49-F238E27FC236}">
                  <a16:creationId xmlns:a16="http://schemas.microsoft.com/office/drawing/2014/main" id="{99CB4026-5CD4-0739-64DC-742479485D10}"/>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3673" name="Text Box 9">
              <a:extLst>
                <a:ext uri="{FF2B5EF4-FFF2-40B4-BE49-F238E27FC236}">
                  <a16:creationId xmlns:a16="http://schemas.microsoft.com/office/drawing/2014/main" id="{EB35EB93-9F7A-468A-A1D5-45E539132866}"/>
                </a:ext>
              </a:extLst>
            </p:cNvPr>
            <p:cNvSpPr txBox="1">
              <a:spLocks noChangeArrowheads="1"/>
            </p:cNvSpPr>
            <p:nvPr/>
          </p:nvSpPr>
          <p:spPr bwMode="auto">
            <a:xfrm>
              <a:off x="1004888" y="3524250"/>
              <a:ext cx="49196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软件质量保证的措施</a:t>
              </a:r>
              <a:endParaRPr lang="zh-CN" altLang="en-US" sz="2400" b="0">
                <a:latin typeface="Times New Roman" panose="02020603050405020304" pitchFamily="18" charset="0"/>
              </a:endParaRPr>
            </a:p>
          </p:txBody>
        </p:sp>
        <p:sp>
          <p:nvSpPr>
            <p:cNvPr id="113674" name="Rectangle 10">
              <a:extLst>
                <a:ext uri="{FF2B5EF4-FFF2-40B4-BE49-F238E27FC236}">
                  <a16:creationId xmlns:a16="http://schemas.microsoft.com/office/drawing/2014/main" id="{6F40C15A-B9A3-B6DB-B591-6E52463FFC68}"/>
                </a:ext>
              </a:extLst>
            </p:cNvPr>
            <p:cNvSpPr>
              <a:spLocks noChangeArrowheads="1"/>
            </p:cNvSpPr>
            <p:nvPr/>
          </p:nvSpPr>
          <p:spPr bwMode="auto">
            <a:xfrm>
              <a:off x="611188" y="243205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4.1</a:t>
              </a:r>
              <a:endParaRPr lang="en-US" altLang="zh-CN" sz="1800">
                <a:solidFill>
                  <a:srgbClr val="000000"/>
                </a:solidFill>
              </a:endParaRPr>
            </a:p>
          </p:txBody>
        </p:sp>
        <p:sp>
          <p:nvSpPr>
            <p:cNvPr id="113675" name="AutoShape 13">
              <a:extLst>
                <a:ext uri="{FF2B5EF4-FFF2-40B4-BE49-F238E27FC236}">
                  <a16:creationId xmlns:a16="http://schemas.microsoft.com/office/drawing/2014/main" id="{7062D444-26C0-58DF-A786-DDF3FE0BADBC}"/>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3676" name="Text Box 14">
              <a:extLst>
                <a:ext uri="{FF2B5EF4-FFF2-40B4-BE49-F238E27FC236}">
                  <a16:creationId xmlns:a16="http://schemas.microsoft.com/office/drawing/2014/main" id="{35F0C0C3-327B-72B1-F279-AA0516967827}"/>
                </a:ext>
              </a:extLst>
            </p:cNvPr>
            <p:cNvSpPr txBox="1">
              <a:spLocks noChangeArrowheads="1"/>
            </p:cNvSpPr>
            <p:nvPr/>
          </p:nvSpPr>
          <p:spPr bwMode="auto">
            <a:xfrm>
              <a:off x="1009650" y="4038600"/>
              <a:ext cx="49196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软件测试过程管理</a:t>
              </a:r>
              <a:endParaRPr lang="zh-CN" altLang="en-US" sz="2400" b="0">
                <a:latin typeface="Times New Roman" panose="02020603050405020304" pitchFamily="18" charset="0"/>
              </a:endParaRPr>
            </a:p>
          </p:txBody>
        </p:sp>
        <p:sp>
          <p:nvSpPr>
            <p:cNvPr id="113677" name="Rectangle 15">
              <a:extLst>
                <a:ext uri="{FF2B5EF4-FFF2-40B4-BE49-F238E27FC236}">
                  <a16:creationId xmlns:a16="http://schemas.microsoft.com/office/drawing/2014/main" id="{AB3DFF58-5B2B-EC97-39E4-E0F6A0EDCE3B}"/>
                </a:ext>
              </a:extLst>
            </p:cNvPr>
            <p:cNvSpPr>
              <a:spLocks noChangeArrowheads="1"/>
            </p:cNvSpPr>
            <p:nvPr/>
          </p:nvSpPr>
          <p:spPr bwMode="auto">
            <a:xfrm>
              <a:off x="627063" y="4081463"/>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4.4</a:t>
              </a:r>
              <a:endParaRPr lang="en-US" altLang="zh-CN" sz="1800">
                <a:solidFill>
                  <a:srgbClr val="000000"/>
                </a:solidFill>
              </a:endParaRPr>
            </a:p>
          </p:txBody>
        </p:sp>
        <p:sp>
          <p:nvSpPr>
            <p:cNvPr id="113678" name="AutoShape 22">
              <a:extLst>
                <a:ext uri="{FF2B5EF4-FFF2-40B4-BE49-F238E27FC236}">
                  <a16:creationId xmlns:a16="http://schemas.microsoft.com/office/drawing/2014/main" id="{6977EF4A-0BFC-E854-4249-CE0F92C4173B}"/>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3679" name="Text Box 23">
              <a:extLst>
                <a:ext uri="{FF2B5EF4-FFF2-40B4-BE49-F238E27FC236}">
                  <a16:creationId xmlns:a16="http://schemas.microsoft.com/office/drawing/2014/main" id="{D3DB294E-D255-9A89-14CD-E1AD7B1859DD}"/>
                </a:ext>
              </a:extLst>
            </p:cNvPr>
            <p:cNvSpPr txBox="1">
              <a:spLocks noChangeArrowheads="1"/>
            </p:cNvSpPr>
            <p:nvPr/>
          </p:nvSpPr>
          <p:spPr bwMode="auto">
            <a:xfrm>
              <a:off x="1008063" y="4594225"/>
              <a:ext cx="4919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113680" name="Rectangle 24">
              <a:extLst>
                <a:ext uri="{FF2B5EF4-FFF2-40B4-BE49-F238E27FC236}">
                  <a16:creationId xmlns:a16="http://schemas.microsoft.com/office/drawing/2014/main" id="{427E2982-C387-AA17-5112-BCFF5486CFDF}"/>
                </a:ext>
              </a:extLst>
            </p:cNvPr>
            <p:cNvSpPr>
              <a:spLocks noChangeArrowheads="1"/>
            </p:cNvSpPr>
            <p:nvPr/>
          </p:nvSpPr>
          <p:spPr bwMode="auto">
            <a:xfrm>
              <a:off x="625475" y="4635500"/>
              <a:ext cx="334963"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4.5</a:t>
              </a:r>
              <a:endParaRPr lang="en-US" altLang="zh-CN" sz="1800">
                <a:solidFill>
                  <a:srgbClr val="000000"/>
                </a:solidFill>
              </a:endParaRPr>
            </a:p>
          </p:txBody>
        </p:sp>
        <p:sp>
          <p:nvSpPr>
            <p:cNvPr id="113681" name="AutoShape 25">
              <a:extLst>
                <a:ext uri="{FF2B5EF4-FFF2-40B4-BE49-F238E27FC236}">
                  <a16:creationId xmlns:a16="http://schemas.microsoft.com/office/drawing/2014/main" id="{D0BE82DF-B3FD-755D-32DD-422105E57AFE}"/>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3682" name="Text Box 26">
              <a:extLst>
                <a:ext uri="{FF2B5EF4-FFF2-40B4-BE49-F238E27FC236}">
                  <a16:creationId xmlns:a16="http://schemas.microsoft.com/office/drawing/2014/main" id="{06BEDBDA-DEB2-EDDF-FBE5-9E33EC982B3B}"/>
                </a:ext>
              </a:extLst>
            </p:cNvPr>
            <p:cNvSpPr txBox="1">
              <a:spLocks noChangeArrowheads="1"/>
            </p:cNvSpPr>
            <p:nvPr/>
          </p:nvSpPr>
          <p:spPr bwMode="auto">
            <a:xfrm>
              <a:off x="1012825" y="5140325"/>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113683" name="Rectangle 27">
              <a:extLst>
                <a:ext uri="{FF2B5EF4-FFF2-40B4-BE49-F238E27FC236}">
                  <a16:creationId xmlns:a16="http://schemas.microsoft.com/office/drawing/2014/main" id="{02928821-9043-A28B-AE46-4E27827ABF0B}"/>
                </a:ext>
              </a:extLst>
            </p:cNvPr>
            <p:cNvSpPr>
              <a:spLocks noChangeArrowheads="1"/>
            </p:cNvSpPr>
            <p:nvPr/>
          </p:nvSpPr>
          <p:spPr bwMode="auto">
            <a:xfrm>
              <a:off x="630238" y="5195888"/>
              <a:ext cx="334962" cy="2603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4.6</a:t>
              </a:r>
              <a:endParaRPr lang="en-US" altLang="zh-CN" sz="1800">
                <a:solidFill>
                  <a:srgbClr val="000000"/>
                </a:solidFill>
              </a:endParaRPr>
            </a:p>
          </p:txBody>
        </p:sp>
        <p:sp>
          <p:nvSpPr>
            <p:cNvPr id="113684" name="AutoShape 28">
              <a:extLst>
                <a:ext uri="{FF2B5EF4-FFF2-40B4-BE49-F238E27FC236}">
                  <a16:creationId xmlns:a16="http://schemas.microsoft.com/office/drawing/2014/main" id="{C1BB23E1-473E-6732-7555-75BB520F9388}"/>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3685" name="Text Box 29">
              <a:extLst>
                <a:ext uri="{FF2B5EF4-FFF2-40B4-BE49-F238E27FC236}">
                  <a16:creationId xmlns:a16="http://schemas.microsoft.com/office/drawing/2014/main" id="{770107ED-EEC4-B58C-69FE-614ABA630F0C}"/>
                </a:ext>
              </a:extLst>
            </p:cNvPr>
            <p:cNvSpPr txBox="1">
              <a:spLocks noChangeArrowheads="1"/>
            </p:cNvSpPr>
            <p:nvPr/>
          </p:nvSpPr>
          <p:spPr bwMode="auto">
            <a:xfrm>
              <a:off x="1012825" y="5684838"/>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113686" name="Rectangle 30">
              <a:extLst>
                <a:ext uri="{FF2B5EF4-FFF2-40B4-BE49-F238E27FC236}">
                  <a16:creationId xmlns:a16="http://schemas.microsoft.com/office/drawing/2014/main" id="{6B98F0BC-8B45-C7FF-8057-E5FC514C4D7A}"/>
                </a:ext>
              </a:extLst>
            </p:cNvPr>
            <p:cNvSpPr>
              <a:spLocks noChangeArrowheads="1"/>
            </p:cNvSpPr>
            <p:nvPr/>
          </p:nvSpPr>
          <p:spPr bwMode="auto">
            <a:xfrm>
              <a:off x="630238" y="574040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4.7</a:t>
              </a:r>
              <a:endParaRPr lang="en-US" altLang="zh-CN" sz="1800">
                <a:solidFill>
                  <a:srgbClr val="000000"/>
                </a:solidFill>
              </a:endParaRPr>
            </a:p>
          </p:txBody>
        </p:sp>
        <p:sp>
          <p:nvSpPr>
            <p:cNvPr id="113687" name="Rectangle 31">
              <a:extLst>
                <a:ext uri="{FF2B5EF4-FFF2-40B4-BE49-F238E27FC236}">
                  <a16:creationId xmlns:a16="http://schemas.microsoft.com/office/drawing/2014/main" id="{29E46E42-F26D-AD48-E814-633BA93584CD}"/>
                </a:ext>
              </a:extLst>
            </p:cNvPr>
            <p:cNvSpPr>
              <a:spLocks noChangeArrowheads="1"/>
            </p:cNvSpPr>
            <p:nvPr/>
          </p:nvSpPr>
          <p:spPr bwMode="auto">
            <a:xfrm>
              <a:off x="604838" y="299243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4.2</a:t>
              </a:r>
            </a:p>
          </p:txBody>
        </p:sp>
        <p:sp>
          <p:nvSpPr>
            <p:cNvPr id="113688" name="Rectangle 32">
              <a:extLst>
                <a:ext uri="{FF2B5EF4-FFF2-40B4-BE49-F238E27FC236}">
                  <a16:creationId xmlns:a16="http://schemas.microsoft.com/office/drawing/2014/main" id="{B6E63E98-A627-B94A-C552-C3BBE369CBD7}"/>
                </a:ext>
              </a:extLst>
            </p:cNvPr>
            <p:cNvSpPr>
              <a:spLocks noChangeArrowheads="1"/>
            </p:cNvSpPr>
            <p:nvPr/>
          </p:nvSpPr>
          <p:spPr bwMode="auto">
            <a:xfrm>
              <a:off x="604838" y="353695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4.3</a:t>
              </a:r>
              <a:endParaRPr lang="en-US" altLang="zh-CN" sz="1800">
                <a:solidFill>
                  <a:srgbClr val="000000"/>
                </a:solidFill>
              </a:endParaRPr>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61BE282B-5F80-6555-8DB6-BF520A608671}"/>
              </a:ext>
            </a:extLst>
          </p:cNvPr>
          <p:cNvSpPr>
            <a:spLocks noGrp="1" noChangeArrowheads="1"/>
          </p:cNvSpPr>
          <p:nvPr>
            <p:ph type="title"/>
          </p:nvPr>
        </p:nvSpPr>
        <p:spPr>
          <a:xfrm>
            <a:off x="177800" y="1054100"/>
            <a:ext cx="8788400" cy="717550"/>
          </a:xfrm>
          <a:noFill/>
        </p:spPr>
        <p:txBody>
          <a:bodyPr/>
          <a:lstStyle/>
          <a:p>
            <a:pPr eaLnBrk="1" hangingPunct="1"/>
            <a:r>
              <a:rPr lang="en-US" altLang="zh-CN"/>
              <a:t>4.6 </a:t>
            </a:r>
            <a:r>
              <a:rPr lang="zh-CN" altLang="en-US"/>
              <a:t>本章小结</a:t>
            </a:r>
            <a:r>
              <a:rPr kumimoji="1" lang="zh-CN" altLang="en-US"/>
              <a:t> </a:t>
            </a:r>
          </a:p>
        </p:txBody>
      </p:sp>
      <p:sp>
        <p:nvSpPr>
          <p:cNvPr id="114691" name="Rectangle 5">
            <a:extLst>
              <a:ext uri="{FF2B5EF4-FFF2-40B4-BE49-F238E27FC236}">
                <a16:creationId xmlns:a16="http://schemas.microsoft.com/office/drawing/2014/main" id="{7A3D9457-DE24-8F48-CF31-4D19C28BC6E8}"/>
              </a:ext>
            </a:extLst>
          </p:cNvPr>
          <p:cNvSpPr>
            <a:spLocks noGrp="1" noChangeArrowheads="1"/>
          </p:cNvSpPr>
          <p:nvPr>
            <p:ph type="body" sz="half" idx="1"/>
          </p:nvPr>
        </p:nvSpPr>
        <p:spPr>
          <a:xfrm>
            <a:off x="882650" y="2047875"/>
            <a:ext cx="7577138" cy="4476750"/>
          </a:xfrm>
          <a:solidFill>
            <a:srgbClr val="FFFFCC"/>
          </a:solidFill>
        </p:spPr>
        <p:txBody>
          <a:bodyPr/>
          <a:lstStyle/>
          <a:p>
            <a:pPr eaLnBrk="1" hangingPunct="1">
              <a:lnSpc>
                <a:spcPct val="80000"/>
              </a:lnSpc>
            </a:pPr>
            <a:endParaRPr lang="en-US" altLang="zh-CN" sz="1000"/>
          </a:p>
          <a:p>
            <a:pPr eaLnBrk="1" hangingPunct="1">
              <a:lnSpc>
                <a:spcPts val="3000"/>
              </a:lnSpc>
            </a:pPr>
            <a:r>
              <a:rPr lang="zh-CN" altLang="zh-CN" sz="1800">
                <a:solidFill>
                  <a:srgbClr val="CA5B08"/>
                </a:solidFill>
              </a:rPr>
              <a:t>讲述了软件质量管理的相关概念、方法和过程。</a:t>
            </a:r>
            <a:endParaRPr lang="en-US" altLang="zh-CN" sz="1800">
              <a:solidFill>
                <a:srgbClr val="CA5B08"/>
              </a:solidFill>
            </a:endParaRPr>
          </a:p>
          <a:p>
            <a:pPr eaLnBrk="1" hangingPunct="1">
              <a:lnSpc>
                <a:spcPts val="3000"/>
              </a:lnSpc>
            </a:pPr>
            <a:r>
              <a:rPr lang="zh-CN" altLang="zh-CN" sz="1800">
                <a:solidFill>
                  <a:srgbClr val="CA5B08"/>
                </a:solidFill>
              </a:rPr>
              <a:t>软件质量工作是围绕需求和标准两大核心问题展开的，内容包括建立软件质量模型；基于质量模型中的度量指标进行检查、识别和记录；就不符合项进行沟通、改进软件产品内在质量和过程。</a:t>
            </a:r>
            <a:endParaRPr lang="en-US" altLang="zh-CN" sz="1800">
              <a:solidFill>
                <a:srgbClr val="CA5B08"/>
              </a:solidFill>
            </a:endParaRPr>
          </a:p>
          <a:p>
            <a:pPr eaLnBrk="1" hangingPunct="1">
              <a:lnSpc>
                <a:spcPts val="3000"/>
              </a:lnSpc>
            </a:pPr>
            <a:r>
              <a:rPr lang="zh-CN" altLang="zh-CN" sz="1800">
                <a:solidFill>
                  <a:srgbClr val="CA5B08"/>
                </a:solidFill>
              </a:rPr>
              <a:t>对软件质量模型、相关度量指标以及提供度量的工具进行了介绍。</a:t>
            </a:r>
            <a:endParaRPr lang="en-US" altLang="zh-CN" sz="1800">
              <a:solidFill>
                <a:srgbClr val="CA5B08"/>
              </a:solidFill>
            </a:endParaRPr>
          </a:p>
          <a:p>
            <a:pPr eaLnBrk="1" hangingPunct="1">
              <a:lnSpc>
                <a:spcPts val="3000"/>
              </a:lnSpc>
            </a:pPr>
            <a:r>
              <a:rPr lang="zh-CN" altLang="zh-CN" sz="1800">
                <a:solidFill>
                  <a:srgbClr val="CA5B08"/>
                </a:solidFill>
              </a:rPr>
              <a:t>从质量保证计划、软件评审、软件配置管理和质量保证各阶段活动者几方面讨论了软件质量保证的措施。</a:t>
            </a:r>
            <a:endParaRPr lang="en-US" altLang="zh-CN" sz="1800">
              <a:solidFill>
                <a:srgbClr val="CA5B08"/>
              </a:solidFill>
            </a:endParaRPr>
          </a:p>
          <a:p>
            <a:pPr eaLnBrk="1" hangingPunct="1">
              <a:lnSpc>
                <a:spcPts val="3000"/>
              </a:lnSpc>
            </a:pPr>
            <a:r>
              <a:rPr lang="zh-CN" altLang="zh-CN" sz="1800">
                <a:solidFill>
                  <a:srgbClr val="CA5B08"/>
                </a:solidFill>
              </a:rPr>
              <a:t>基于软件测试的重要性，专门讨论了软件测试过程管理的相关内容，包括软件测试过程模型、软件测试过程管理实践和测试过程持续改进的思路</a:t>
            </a:r>
            <a:endParaRPr lang="en-US" altLang="zh-CN" sz="1800">
              <a:solidFill>
                <a:srgbClr val="CA5B08"/>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80D677A2-1B89-1C5E-D70C-D0486B036BA5}"/>
              </a:ext>
            </a:extLst>
          </p:cNvPr>
          <p:cNvSpPr>
            <a:spLocks noGrp="1" noChangeArrowheads="1"/>
          </p:cNvSpPr>
          <p:nvPr>
            <p:ph type="title"/>
          </p:nvPr>
        </p:nvSpPr>
        <p:spPr/>
        <p:txBody>
          <a:bodyPr/>
          <a:lstStyle/>
          <a:p>
            <a:pPr eaLnBrk="1" hangingPunct="1"/>
            <a:r>
              <a:rPr lang="zh-CN" altLang="en-US"/>
              <a:t>本章内容提要</a:t>
            </a:r>
          </a:p>
        </p:txBody>
      </p:sp>
      <p:grpSp>
        <p:nvGrpSpPr>
          <p:cNvPr id="115715" name="组合 23">
            <a:extLst>
              <a:ext uri="{FF2B5EF4-FFF2-40B4-BE49-F238E27FC236}">
                <a16:creationId xmlns:a16="http://schemas.microsoft.com/office/drawing/2014/main" id="{A56DA61E-7106-4F9E-C058-8105F0B597A1}"/>
              </a:ext>
            </a:extLst>
          </p:cNvPr>
          <p:cNvGrpSpPr>
            <a:grpSpLocks/>
          </p:cNvGrpSpPr>
          <p:nvPr/>
        </p:nvGrpSpPr>
        <p:grpSpPr bwMode="auto">
          <a:xfrm>
            <a:off x="604838" y="2205038"/>
            <a:ext cx="5695950" cy="3797300"/>
            <a:chOff x="604838" y="2343150"/>
            <a:chExt cx="5695950" cy="3797300"/>
          </a:xfrm>
        </p:grpSpPr>
        <p:sp>
          <p:nvSpPr>
            <p:cNvPr id="115716" name="AutoShape 4">
              <a:extLst>
                <a:ext uri="{FF2B5EF4-FFF2-40B4-BE49-F238E27FC236}">
                  <a16:creationId xmlns:a16="http://schemas.microsoft.com/office/drawing/2014/main" id="{D6BEBB5F-D1DB-89B6-F822-503E4E518811}"/>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5717" name="Text Box 5">
              <a:extLst>
                <a:ext uri="{FF2B5EF4-FFF2-40B4-BE49-F238E27FC236}">
                  <a16:creationId xmlns:a16="http://schemas.microsoft.com/office/drawing/2014/main" id="{2743FBFB-C939-66F6-8DF1-3195672146C7}"/>
                </a:ext>
              </a:extLst>
            </p:cNvPr>
            <p:cNvSpPr txBox="1">
              <a:spLocks noChangeArrowheads="1"/>
            </p:cNvSpPr>
            <p:nvPr/>
          </p:nvSpPr>
          <p:spPr bwMode="auto">
            <a:xfrm>
              <a:off x="993775" y="2389188"/>
              <a:ext cx="4919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软件质量与质量保证概述</a:t>
              </a:r>
              <a:r>
                <a:rPr lang="en-US" altLang="zh-CN" sz="2200">
                  <a:latin typeface="Times New Roman" panose="02020603050405020304" pitchFamily="18" charset="0"/>
                  <a:ea typeface="黑体" panose="02010609060101010101" pitchFamily="49" charset="-122"/>
                </a:rPr>
                <a:t> </a:t>
              </a:r>
            </a:p>
          </p:txBody>
        </p:sp>
        <p:sp>
          <p:nvSpPr>
            <p:cNvPr id="115718" name="AutoShape 6">
              <a:extLst>
                <a:ext uri="{FF2B5EF4-FFF2-40B4-BE49-F238E27FC236}">
                  <a16:creationId xmlns:a16="http://schemas.microsoft.com/office/drawing/2014/main" id="{BF180C65-BC35-5C7F-1ABC-74FD3DE6FA05}"/>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5719" name="Text Box 7">
              <a:extLst>
                <a:ext uri="{FF2B5EF4-FFF2-40B4-BE49-F238E27FC236}">
                  <a16:creationId xmlns:a16="http://schemas.microsoft.com/office/drawing/2014/main" id="{76034CFF-3276-2454-7FF3-13BB866D8F39}"/>
                </a:ext>
              </a:extLst>
            </p:cNvPr>
            <p:cNvSpPr txBox="1">
              <a:spLocks noChangeArrowheads="1"/>
            </p:cNvSpPr>
            <p:nvPr/>
          </p:nvSpPr>
          <p:spPr bwMode="auto">
            <a:xfrm>
              <a:off x="1004888" y="2930525"/>
              <a:ext cx="4919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软件质量度量</a:t>
              </a:r>
              <a:r>
                <a:rPr lang="zh-CN" altLang="en-US" sz="2400" b="0">
                  <a:latin typeface="Times New Roman" panose="02020603050405020304" pitchFamily="18" charset="0"/>
                </a:rPr>
                <a:t> </a:t>
              </a:r>
            </a:p>
          </p:txBody>
        </p:sp>
        <p:sp>
          <p:nvSpPr>
            <p:cNvPr id="115720" name="AutoShape 8">
              <a:extLst>
                <a:ext uri="{FF2B5EF4-FFF2-40B4-BE49-F238E27FC236}">
                  <a16:creationId xmlns:a16="http://schemas.microsoft.com/office/drawing/2014/main" id="{13C5547C-0187-8258-F574-BD7E81D5E5E3}"/>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5721" name="Text Box 9">
              <a:extLst>
                <a:ext uri="{FF2B5EF4-FFF2-40B4-BE49-F238E27FC236}">
                  <a16:creationId xmlns:a16="http://schemas.microsoft.com/office/drawing/2014/main" id="{E4E4D932-0957-D90C-C699-09FEA076AB8D}"/>
                </a:ext>
              </a:extLst>
            </p:cNvPr>
            <p:cNvSpPr txBox="1">
              <a:spLocks noChangeArrowheads="1"/>
            </p:cNvSpPr>
            <p:nvPr/>
          </p:nvSpPr>
          <p:spPr bwMode="auto">
            <a:xfrm>
              <a:off x="1004888" y="3524250"/>
              <a:ext cx="49196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软件质量保证的措施</a:t>
              </a:r>
              <a:endParaRPr lang="zh-CN" altLang="en-US" sz="2400" b="0">
                <a:latin typeface="Times New Roman" panose="02020603050405020304" pitchFamily="18" charset="0"/>
              </a:endParaRPr>
            </a:p>
          </p:txBody>
        </p:sp>
        <p:sp>
          <p:nvSpPr>
            <p:cNvPr id="115722" name="Rectangle 10">
              <a:extLst>
                <a:ext uri="{FF2B5EF4-FFF2-40B4-BE49-F238E27FC236}">
                  <a16:creationId xmlns:a16="http://schemas.microsoft.com/office/drawing/2014/main" id="{9A06DB70-2613-FF8A-06A7-C8DD85894B59}"/>
                </a:ext>
              </a:extLst>
            </p:cNvPr>
            <p:cNvSpPr>
              <a:spLocks noChangeArrowheads="1"/>
            </p:cNvSpPr>
            <p:nvPr/>
          </p:nvSpPr>
          <p:spPr bwMode="auto">
            <a:xfrm>
              <a:off x="611188" y="2432050"/>
              <a:ext cx="334962" cy="260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4.1</a:t>
              </a:r>
              <a:endParaRPr lang="en-US" altLang="zh-CN" sz="1800">
                <a:solidFill>
                  <a:srgbClr val="000000"/>
                </a:solidFill>
              </a:endParaRPr>
            </a:p>
          </p:txBody>
        </p:sp>
        <p:sp>
          <p:nvSpPr>
            <p:cNvPr id="115723" name="AutoShape 13">
              <a:extLst>
                <a:ext uri="{FF2B5EF4-FFF2-40B4-BE49-F238E27FC236}">
                  <a16:creationId xmlns:a16="http://schemas.microsoft.com/office/drawing/2014/main" id="{77BBE5B0-2721-6C5D-4790-A6A720955BC5}"/>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5724" name="Text Box 14">
              <a:extLst>
                <a:ext uri="{FF2B5EF4-FFF2-40B4-BE49-F238E27FC236}">
                  <a16:creationId xmlns:a16="http://schemas.microsoft.com/office/drawing/2014/main" id="{D5D8CBEB-850D-51B3-42F1-65555B430652}"/>
                </a:ext>
              </a:extLst>
            </p:cNvPr>
            <p:cNvSpPr txBox="1">
              <a:spLocks noChangeArrowheads="1"/>
            </p:cNvSpPr>
            <p:nvPr/>
          </p:nvSpPr>
          <p:spPr bwMode="auto">
            <a:xfrm>
              <a:off x="1009650" y="4038600"/>
              <a:ext cx="49196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软件测试过程管理</a:t>
              </a:r>
              <a:endParaRPr lang="zh-CN" altLang="en-US" sz="2400" b="0">
                <a:latin typeface="Times New Roman" panose="02020603050405020304" pitchFamily="18" charset="0"/>
              </a:endParaRPr>
            </a:p>
          </p:txBody>
        </p:sp>
        <p:sp>
          <p:nvSpPr>
            <p:cNvPr id="115725" name="Rectangle 15">
              <a:extLst>
                <a:ext uri="{FF2B5EF4-FFF2-40B4-BE49-F238E27FC236}">
                  <a16:creationId xmlns:a16="http://schemas.microsoft.com/office/drawing/2014/main" id="{67E4E8DF-C7CC-1879-0ED4-E291FACA4F9D}"/>
                </a:ext>
              </a:extLst>
            </p:cNvPr>
            <p:cNvSpPr>
              <a:spLocks noChangeArrowheads="1"/>
            </p:cNvSpPr>
            <p:nvPr/>
          </p:nvSpPr>
          <p:spPr bwMode="auto">
            <a:xfrm>
              <a:off x="627063" y="4081463"/>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4.4</a:t>
              </a:r>
              <a:endParaRPr lang="en-US" altLang="zh-CN" sz="1800">
                <a:solidFill>
                  <a:srgbClr val="000000"/>
                </a:solidFill>
              </a:endParaRPr>
            </a:p>
          </p:txBody>
        </p:sp>
        <p:sp>
          <p:nvSpPr>
            <p:cNvPr id="115726" name="AutoShape 22">
              <a:extLst>
                <a:ext uri="{FF2B5EF4-FFF2-40B4-BE49-F238E27FC236}">
                  <a16:creationId xmlns:a16="http://schemas.microsoft.com/office/drawing/2014/main" id="{CE91332D-222E-3C0C-4282-202B218C5DDE}"/>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5727" name="Text Box 23">
              <a:extLst>
                <a:ext uri="{FF2B5EF4-FFF2-40B4-BE49-F238E27FC236}">
                  <a16:creationId xmlns:a16="http://schemas.microsoft.com/office/drawing/2014/main" id="{BE3B7EFF-3F4D-3D05-2C5A-6DEF87732A6E}"/>
                </a:ext>
              </a:extLst>
            </p:cNvPr>
            <p:cNvSpPr txBox="1">
              <a:spLocks noChangeArrowheads="1"/>
            </p:cNvSpPr>
            <p:nvPr/>
          </p:nvSpPr>
          <p:spPr bwMode="auto">
            <a:xfrm>
              <a:off x="1008063" y="4594225"/>
              <a:ext cx="49196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115728" name="Rectangle 24">
              <a:extLst>
                <a:ext uri="{FF2B5EF4-FFF2-40B4-BE49-F238E27FC236}">
                  <a16:creationId xmlns:a16="http://schemas.microsoft.com/office/drawing/2014/main" id="{C582AE78-59AA-426B-8DA5-DA7FD176A747}"/>
                </a:ext>
              </a:extLst>
            </p:cNvPr>
            <p:cNvSpPr>
              <a:spLocks noChangeArrowheads="1"/>
            </p:cNvSpPr>
            <p:nvPr/>
          </p:nvSpPr>
          <p:spPr bwMode="auto">
            <a:xfrm>
              <a:off x="625475" y="4635500"/>
              <a:ext cx="334963"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4.5</a:t>
              </a:r>
              <a:endParaRPr lang="en-US" altLang="zh-CN" sz="1800">
                <a:solidFill>
                  <a:srgbClr val="000000"/>
                </a:solidFill>
              </a:endParaRPr>
            </a:p>
          </p:txBody>
        </p:sp>
        <p:sp>
          <p:nvSpPr>
            <p:cNvPr id="115729" name="AutoShape 25">
              <a:extLst>
                <a:ext uri="{FF2B5EF4-FFF2-40B4-BE49-F238E27FC236}">
                  <a16:creationId xmlns:a16="http://schemas.microsoft.com/office/drawing/2014/main" id="{D70D1872-E2EC-25FA-C976-9BFEFFCA3048}"/>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5730" name="Text Box 26">
              <a:extLst>
                <a:ext uri="{FF2B5EF4-FFF2-40B4-BE49-F238E27FC236}">
                  <a16:creationId xmlns:a16="http://schemas.microsoft.com/office/drawing/2014/main" id="{6F7383EA-94E1-783A-EE09-A0C87F153AB4}"/>
                </a:ext>
              </a:extLst>
            </p:cNvPr>
            <p:cNvSpPr txBox="1">
              <a:spLocks noChangeArrowheads="1"/>
            </p:cNvSpPr>
            <p:nvPr/>
          </p:nvSpPr>
          <p:spPr bwMode="auto">
            <a:xfrm>
              <a:off x="1012825" y="5140325"/>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115731" name="Rectangle 27">
              <a:extLst>
                <a:ext uri="{FF2B5EF4-FFF2-40B4-BE49-F238E27FC236}">
                  <a16:creationId xmlns:a16="http://schemas.microsoft.com/office/drawing/2014/main" id="{00D97414-0563-DD22-7A17-AF2F5112BC8E}"/>
                </a:ext>
              </a:extLst>
            </p:cNvPr>
            <p:cNvSpPr>
              <a:spLocks noChangeArrowheads="1"/>
            </p:cNvSpPr>
            <p:nvPr/>
          </p:nvSpPr>
          <p:spPr bwMode="auto">
            <a:xfrm>
              <a:off x="630238" y="519588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4.6</a:t>
              </a:r>
              <a:endParaRPr lang="en-US" altLang="zh-CN" sz="1800">
                <a:solidFill>
                  <a:srgbClr val="000000"/>
                </a:solidFill>
              </a:endParaRPr>
            </a:p>
          </p:txBody>
        </p:sp>
        <p:sp>
          <p:nvSpPr>
            <p:cNvPr id="115732" name="AutoShape 28">
              <a:extLst>
                <a:ext uri="{FF2B5EF4-FFF2-40B4-BE49-F238E27FC236}">
                  <a16:creationId xmlns:a16="http://schemas.microsoft.com/office/drawing/2014/main" id="{E1AB846B-A27E-0845-B7BA-4EE45A7A6402}"/>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5733" name="Text Box 29">
              <a:extLst>
                <a:ext uri="{FF2B5EF4-FFF2-40B4-BE49-F238E27FC236}">
                  <a16:creationId xmlns:a16="http://schemas.microsoft.com/office/drawing/2014/main" id="{AD61B5F6-799A-8621-9EB5-7A2E088D9F84}"/>
                </a:ext>
              </a:extLst>
            </p:cNvPr>
            <p:cNvSpPr txBox="1">
              <a:spLocks noChangeArrowheads="1"/>
            </p:cNvSpPr>
            <p:nvPr/>
          </p:nvSpPr>
          <p:spPr bwMode="auto">
            <a:xfrm>
              <a:off x="1012825" y="5684838"/>
              <a:ext cx="491966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115734" name="Rectangle 30">
              <a:extLst>
                <a:ext uri="{FF2B5EF4-FFF2-40B4-BE49-F238E27FC236}">
                  <a16:creationId xmlns:a16="http://schemas.microsoft.com/office/drawing/2014/main" id="{765C0E57-C1A4-FE16-0957-B1DEB310CB06}"/>
                </a:ext>
              </a:extLst>
            </p:cNvPr>
            <p:cNvSpPr>
              <a:spLocks noChangeArrowheads="1"/>
            </p:cNvSpPr>
            <p:nvPr/>
          </p:nvSpPr>
          <p:spPr bwMode="auto">
            <a:xfrm>
              <a:off x="630238" y="5740400"/>
              <a:ext cx="334962" cy="26035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4.7</a:t>
              </a:r>
              <a:endParaRPr lang="en-US" altLang="zh-CN" sz="1800">
                <a:solidFill>
                  <a:srgbClr val="000000"/>
                </a:solidFill>
              </a:endParaRPr>
            </a:p>
          </p:txBody>
        </p:sp>
        <p:sp>
          <p:nvSpPr>
            <p:cNvPr id="115735" name="Rectangle 31">
              <a:extLst>
                <a:ext uri="{FF2B5EF4-FFF2-40B4-BE49-F238E27FC236}">
                  <a16:creationId xmlns:a16="http://schemas.microsoft.com/office/drawing/2014/main" id="{56B61C49-81D1-A0A7-93B4-71277C4A2ADF}"/>
                </a:ext>
              </a:extLst>
            </p:cNvPr>
            <p:cNvSpPr>
              <a:spLocks noChangeArrowheads="1"/>
            </p:cNvSpPr>
            <p:nvPr/>
          </p:nvSpPr>
          <p:spPr bwMode="auto">
            <a:xfrm>
              <a:off x="604838" y="2992438"/>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4.2</a:t>
              </a:r>
            </a:p>
          </p:txBody>
        </p:sp>
        <p:sp>
          <p:nvSpPr>
            <p:cNvPr id="115736" name="Rectangle 32">
              <a:extLst>
                <a:ext uri="{FF2B5EF4-FFF2-40B4-BE49-F238E27FC236}">
                  <a16:creationId xmlns:a16="http://schemas.microsoft.com/office/drawing/2014/main" id="{8F65BFCB-4B93-8BBC-EBE9-08F8936010A9}"/>
                </a:ext>
              </a:extLst>
            </p:cNvPr>
            <p:cNvSpPr>
              <a:spLocks noChangeArrowheads="1"/>
            </p:cNvSpPr>
            <p:nvPr/>
          </p:nvSpPr>
          <p:spPr bwMode="auto">
            <a:xfrm>
              <a:off x="604838" y="3536950"/>
              <a:ext cx="334962" cy="260350"/>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4.3</a:t>
              </a:r>
              <a:endParaRPr lang="en-US" altLang="zh-CN" sz="1800">
                <a:solidFill>
                  <a:srgbClr val="000000"/>
                </a:solidFill>
              </a:endParaRPr>
            </a:p>
          </p:txBody>
        </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6C377F1B-B761-B347-58E3-0B4F089FD458}"/>
              </a:ext>
            </a:extLst>
          </p:cNvPr>
          <p:cNvSpPr>
            <a:spLocks noGrp="1" noChangeArrowheads="1"/>
          </p:cNvSpPr>
          <p:nvPr>
            <p:ph type="title"/>
          </p:nvPr>
        </p:nvSpPr>
        <p:spPr>
          <a:xfrm>
            <a:off x="177800" y="1054100"/>
            <a:ext cx="8788400" cy="717550"/>
          </a:xfrm>
        </p:spPr>
        <p:txBody>
          <a:bodyPr/>
          <a:lstStyle/>
          <a:p>
            <a:pPr eaLnBrk="1" hangingPunct="1"/>
            <a:r>
              <a:rPr lang="en-US" altLang="zh-CN"/>
              <a:t>4.7 </a:t>
            </a:r>
            <a:r>
              <a:rPr kumimoji="1" lang="zh-CN" altLang="en-US"/>
              <a:t>复习思考题 </a:t>
            </a:r>
          </a:p>
        </p:txBody>
      </p:sp>
      <p:sp>
        <p:nvSpPr>
          <p:cNvPr id="118787" name="Text Box 3">
            <a:extLst>
              <a:ext uri="{FF2B5EF4-FFF2-40B4-BE49-F238E27FC236}">
                <a16:creationId xmlns:a16="http://schemas.microsoft.com/office/drawing/2014/main" id="{5D86915E-7B31-60CC-391F-8812C2206A34}"/>
              </a:ext>
            </a:extLst>
          </p:cNvPr>
          <p:cNvSpPr txBox="1">
            <a:spLocks noChangeArrowheads="1"/>
          </p:cNvSpPr>
          <p:nvPr/>
        </p:nvSpPr>
        <p:spPr bwMode="auto">
          <a:xfrm>
            <a:off x="846138" y="1989138"/>
            <a:ext cx="7902575" cy="864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ts val="3200"/>
              </a:lnSpc>
              <a:spcBef>
                <a:spcPct val="0"/>
              </a:spcBef>
              <a:buClrTx/>
              <a:buFont typeface="Wingdings 2" panose="05020102010507070707" pitchFamily="18" charset="2"/>
              <a:buNone/>
            </a:pPr>
            <a:r>
              <a:rPr kumimoji="0" lang="en-US" altLang="zh-CN" sz="1800" dirty="0">
                <a:latin typeface="Times New Roman" panose="02020603050405020304" pitchFamily="18" charset="0"/>
              </a:rPr>
              <a:t>1.</a:t>
            </a:r>
            <a:r>
              <a:rPr kumimoji="0" lang="zh-CN" altLang="en-US" sz="1800" dirty="0">
                <a:latin typeface="Times New Roman" panose="02020603050405020304" pitchFamily="18" charset="0"/>
              </a:rPr>
              <a:t>环形复杂度计算</a:t>
            </a:r>
            <a:endParaRPr kumimoji="0" lang="en-US" altLang="zh-CN" sz="1800" dirty="0">
              <a:latin typeface="Times New Roman" panose="02020603050405020304" pitchFamily="18" charset="0"/>
            </a:endParaRPr>
          </a:p>
          <a:p>
            <a:pPr eaLnBrk="1" hangingPunct="1">
              <a:lnSpc>
                <a:spcPts val="3200"/>
              </a:lnSpc>
              <a:spcBef>
                <a:spcPct val="0"/>
              </a:spcBef>
              <a:buClrTx/>
              <a:buFont typeface="Wingdings 2" panose="05020102010507070707" pitchFamily="18" charset="2"/>
              <a:buNone/>
            </a:pPr>
            <a:r>
              <a:rPr kumimoji="0" lang="en-US" altLang="zh-CN" sz="1800" dirty="0">
                <a:latin typeface="Times New Roman" panose="02020603050405020304" pitchFamily="18" charset="0"/>
              </a:rPr>
              <a:t>2.Halstead</a:t>
            </a:r>
            <a:r>
              <a:rPr kumimoji="0" lang="zh-CN" altLang="en-US" sz="1800" dirty="0">
                <a:latin typeface="Times New Roman" panose="02020603050405020304" pitchFamily="18" charset="0"/>
              </a:rPr>
              <a:t>复杂度计算</a:t>
            </a:r>
            <a:endParaRPr kumimoji="0" lang="en-US" altLang="zh-CN" sz="1800" dirty="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4331</TotalTime>
  <Words>5801</Words>
  <Application>Microsoft Office PowerPoint</Application>
  <PresentationFormat>全屏显示(4:3)</PresentationFormat>
  <Paragraphs>667</Paragraphs>
  <Slides>111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111</vt:i4>
      </vt:variant>
    </vt:vector>
  </HeadingPairs>
  <TitlesOfParts>
    <vt:vector size="119" baseType="lpstr">
      <vt:lpstr>黑体</vt:lpstr>
      <vt:lpstr>宋体</vt:lpstr>
      <vt:lpstr>Arial</vt:lpstr>
      <vt:lpstr>Comic Sans MS</vt:lpstr>
      <vt:lpstr>Times New Roman</vt:lpstr>
      <vt:lpstr>Wingdings</vt:lpstr>
      <vt:lpstr>Wingdings 2</vt:lpstr>
      <vt:lpstr>1_默认设计模板</vt:lpstr>
      <vt:lpstr>第 4 章   软件质量管理 </vt:lpstr>
      <vt:lpstr>本章内容提要</vt:lpstr>
      <vt:lpstr>4.1  软件质量与质量保证概述</vt:lpstr>
      <vt:lpstr>4.1.1  软件质量</vt:lpstr>
      <vt:lpstr>4.1.1  软件质量 </vt:lpstr>
      <vt:lpstr>4.1.1  软件质量 </vt:lpstr>
      <vt:lpstr>4.1.1  软件质量 </vt:lpstr>
      <vt:lpstr>4.1.1  软件质量 </vt:lpstr>
      <vt:lpstr>4.1.1  软件质量 </vt:lpstr>
      <vt:lpstr>4.1.1  软件质量 </vt:lpstr>
      <vt:lpstr>4.1.2  软件质量工作</vt:lpstr>
      <vt:lpstr>PowerPoint 演示文稿</vt:lpstr>
      <vt:lpstr>4.1.3  软件质量保证</vt:lpstr>
      <vt:lpstr>4.1.3  软件质量保证</vt:lpstr>
      <vt:lpstr>本章内容提要</vt:lpstr>
      <vt:lpstr>4.2  软件质量度量</vt:lpstr>
      <vt:lpstr>4.2  软件质量度量</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4.2.1  软件质量模型</vt:lpstr>
      <vt:lpstr>模型之间的比较</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4.2.2  软件质量度量的内容</vt:lpstr>
      <vt:lpstr>4.2.3  软件质量工具</vt:lpstr>
      <vt:lpstr>4.2.3  软件质量工具</vt:lpstr>
      <vt:lpstr>4.2.3  软件质量工具</vt:lpstr>
      <vt:lpstr>4.2.3  软件质量工具</vt:lpstr>
      <vt:lpstr>4.2.3  软件质量工具</vt:lpstr>
      <vt:lpstr>4.2.3  软件质量工具</vt:lpstr>
      <vt:lpstr>4.2.3  软件质量工具</vt:lpstr>
      <vt:lpstr>4.2.3  软件质量工具</vt:lpstr>
      <vt:lpstr>4.2.3  软件质量工具</vt:lpstr>
      <vt:lpstr>4.2.3  软件质量工具</vt:lpstr>
      <vt:lpstr>4.2.3  软件质量工具</vt:lpstr>
      <vt:lpstr>4.2.3  软件质量工具</vt:lpstr>
      <vt:lpstr>4.2.3  软件质量工具</vt:lpstr>
      <vt:lpstr>本章内容提要</vt:lpstr>
      <vt:lpstr>4.3  软件质量保证的措施</vt:lpstr>
      <vt:lpstr>4.3  软件质量保证的措施</vt:lpstr>
      <vt:lpstr>4.3.1  质量保证计划</vt:lpstr>
      <vt:lpstr>4.3.1  质量保证计划</vt:lpstr>
      <vt:lpstr>4.3.2  软件评审</vt:lpstr>
      <vt:lpstr>4.3.2  软件评审</vt:lpstr>
      <vt:lpstr>4.3.2  软件评审</vt:lpstr>
      <vt:lpstr>4.3.2  软件评审</vt:lpstr>
      <vt:lpstr>4.3.2  软件评审</vt:lpstr>
      <vt:lpstr>4.3.2  软件评审</vt:lpstr>
      <vt:lpstr>4.3.2  软件评审</vt:lpstr>
      <vt:lpstr>4.3.2  软件评审</vt:lpstr>
      <vt:lpstr>4.3.2  软件评审</vt:lpstr>
      <vt:lpstr>4.3.2  软件评审</vt:lpstr>
      <vt:lpstr>4.3.3  软件配置管理</vt:lpstr>
      <vt:lpstr>4.3.4  各阶段的质量保证活动</vt:lpstr>
      <vt:lpstr>本章内容提要</vt:lpstr>
      <vt:lpstr>4.4  软件测试过程管理</vt:lpstr>
      <vt:lpstr>4.4.1  软件测试过程模型</vt:lpstr>
      <vt:lpstr>4.4.1  软件测试过程模型</vt:lpstr>
      <vt:lpstr>4.4.1  软件测试过程模型</vt:lpstr>
      <vt:lpstr>4.4.1  软件测试过程模型</vt:lpstr>
      <vt:lpstr>4.4.1  软件测试过程模型</vt:lpstr>
      <vt:lpstr>4.4.1  软件测试过程模型</vt:lpstr>
      <vt:lpstr>4.4.1  软件测试过程模型</vt:lpstr>
      <vt:lpstr>4.4.1  软件测试过程模型</vt:lpstr>
      <vt:lpstr>4.4.1  软件测试过程模型</vt:lpstr>
      <vt:lpstr>4.4.2  软件测试过程管理实践</vt:lpstr>
      <vt:lpstr>4.4.2  软件测试过程管理实践</vt:lpstr>
      <vt:lpstr>4.4.2  软件测试过程管理实践</vt:lpstr>
      <vt:lpstr>4.4.2  软件测试过程管理实践</vt:lpstr>
      <vt:lpstr>4.4.3  测试过程可持续改进</vt:lpstr>
      <vt:lpstr>本章内容提要</vt:lpstr>
      <vt:lpstr>4.5 案例分析</vt:lpstr>
      <vt:lpstr>4.5 案例分析</vt:lpstr>
      <vt:lpstr>本章内容提要</vt:lpstr>
      <vt:lpstr>4.6 本章小结 </vt:lpstr>
      <vt:lpstr>本章内容提要</vt:lpstr>
      <vt:lpstr>4.7 复习思考题 </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P01-CMMI实践解析－CMMI模型概述</dc:title>
  <dc:subject>CMMI模型概述</dc:subject>
  <dc:creator>杨立东</dc:creator>
  <cp:lastModifiedBy>Mingjian Jiang</cp:lastModifiedBy>
  <cp:revision>327</cp:revision>
  <dcterms:created xsi:type="dcterms:W3CDTF">2005-05-27T08:51:01Z</dcterms:created>
  <dcterms:modified xsi:type="dcterms:W3CDTF">2024-09-05T01:21:42Z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