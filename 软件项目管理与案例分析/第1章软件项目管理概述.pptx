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59"/>
  </p:notesMasterIdLst>
  <p:sldIdLst>
    <p:sldId id="317" r:id="rId2"/>
    <p:sldId id="336" r:id="rId3"/>
    <p:sldId id="335" r:id="rId4"/>
    <p:sldId id="316" r:id="rId5"/>
    <p:sldId id="329" r:id="rId6"/>
    <p:sldId id="330" r:id="rId7"/>
    <p:sldId id="331" r:id="rId8"/>
    <p:sldId id="332" r:id="rId9"/>
    <p:sldId id="333" r:id="rId10"/>
    <p:sldId id="334" r:id="rId11"/>
    <p:sldId id="308" r:id="rId12"/>
    <p:sldId id="327" r:id="rId13"/>
    <p:sldId id="261" r:id="rId14"/>
    <p:sldId id="318" r:id="rId15"/>
    <p:sldId id="319" r:id="rId16"/>
    <p:sldId id="269" r:id="rId17"/>
    <p:sldId id="270" r:id="rId18"/>
    <p:sldId id="271" r:id="rId19"/>
    <p:sldId id="272" r:id="rId20"/>
    <p:sldId id="273" r:id="rId21"/>
    <p:sldId id="274" r:id="rId22"/>
    <p:sldId id="320" r:id="rId23"/>
    <p:sldId id="321" r:id="rId24"/>
    <p:sldId id="275" r:id="rId25"/>
    <p:sldId id="276" r:id="rId26"/>
    <p:sldId id="322" r:id="rId27"/>
    <p:sldId id="328" r:id="rId28"/>
    <p:sldId id="309" r:id="rId29"/>
    <p:sldId id="277" r:id="rId30"/>
    <p:sldId id="278" r:id="rId31"/>
    <p:sldId id="326" r:id="rId32"/>
    <p:sldId id="279" r:id="rId33"/>
    <p:sldId id="280" r:id="rId34"/>
    <p:sldId id="283" r:id="rId35"/>
    <p:sldId id="323" r:id="rId36"/>
    <p:sldId id="281" r:id="rId37"/>
    <p:sldId id="287" r:id="rId38"/>
    <p:sldId id="286" r:id="rId39"/>
    <p:sldId id="282" r:id="rId40"/>
    <p:sldId id="324" r:id="rId41"/>
    <p:sldId id="325" r:id="rId42"/>
    <p:sldId id="310" r:id="rId43"/>
    <p:sldId id="284" r:id="rId44"/>
    <p:sldId id="285" r:id="rId45"/>
    <p:sldId id="294" r:id="rId46"/>
    <p:sldId id="289" r:id="rId47"/>
    <p:sldId id="290" r:id="rId48"/>
    <p:sldId id="293" r:id="rId49"/>
    <p:sldId id="296" r:id="rId50"/>
    <p:sldId id="297" r:id="rId51"/>
    <p:sldId id="298" r:id="rId52"/>
    <p:sldId id="311" r:id="rId53"/>
    <p:sldId id="299" r:id="rId54"/>
    <p:sldId id="312" r:id="rId55"/>
    <p:sldId id="300" r:id="rId56"/>
    <p:sldId id="313" r:id="rId57"/>
    <p:sldId id="314" r:id="rId58"/>
  </p:sldIdLst>
  <p:sldSz cx="9144000" cy="6858000" type="screen4x3"/>
  <p:notesSz cx="6858000" cy="9144000"/>
  <p:defaultTextStyle>
    <a:defPPr>
      <a:defRPr lang="zh-CN"/>
    </a:defPPr>
    <a:lvl1pPr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5pPr>
    <a:lvl6pPr marL="2286000" algn="l" defTabSz="914400" rtl="0" eaLnBrk="1" latinLnBrk="0" hangingPunct="1">
      <a:defRPr kumimoji="1" sz="1200" b="1" kern="1200">
        <a:solidFill>
          <a:schemeClr val="bg1"/>
        </a:solidFill>
        <a:latin typeface="Arial" panose="020B0604020202020204" pitchFamily="34" charset="0"/>
        <a:ea typeface="宋体" panose="02010600030101010101" pitchFamily="2" charset="-122"/>
        <a:cs typeface="+mn-cs"/>
      </a:defRPr>
    </a:lvl6pPr>
    <a:lvl7pPr marL="2743200" algn="l" defTabSz="914400" rtl="0" eaLnBrk="1" latinLnBrk="0" hangingPunct="1">
      <a:defRPr kumimoji="1" sz="1200" b="1" kern="1200">
        <a:solidFill>
          <a:schemeClr val="bg1"/>
        </a:solidFill>
        <a:latin typeface="Arial" panose="020B0604020202020204" pitchFamily="34" charset="0"/>
        <a:ea typeface="宋体" panose="02010600030101010101" pitchFamily="2" charset="-122"/>
        <a:cs typeface="+mn-cs"/>
      </a:defRPr>
    </a:lvl7pPr>
    <a:lvl8pPr marL="3200400" algn="l" defTabSz="914400" rtl="0" eaLnBrk="1" latinLnBrk="0" hangingPunct="1">
      <a:defRPr kumimoji="1" sz="1200" b="1" kern="1200">
        <a:solidFill>
          <a:schemeClr val="bg1"/>
        </a:solidFill>
        <a:latin typeface="Arial" panose="020B0604020202020204" pitchFamily="34" charset="0"/>
        <a:ea typeface="宋体" panose="02010600030101010101" pitchFamily="2" charset="-122"/>
        <a:cs typeface="+mn-cs"/>
      </a:defRPr>
    </a:lvl8pPr>
    <a:lvl9pPr marL="3657600" algn="l" defTabSz="914400" rtl="0" eaLnBrk="1" latinLnBrk="0" hangingPunct="1">
      <a:defRPr kumimoji="1" sz="1200" b="1" kern="1200">
        <a:solidFill>
          <a:schemeClr val="bg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00"/>
    <a:srgbClr val="FF66FF"/>
    <a:srgbClr val="CCFFFF"/>
    <a:srgbClr val="FFFFCC"/>
    <a:srgbClr val="FFFF99"/>
    <a:srgbClr val="CCFF99"/>
    <a:srgbClr val="CA5B08"/>
    <a:srgbClr val="B949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9672" autoAdjust="0"/>
  </p:normalViewPr>
  <p:slideViewPr>
    <p:cSldViewPr>
      <p:cViewPr varScale="1">
        <p:scale>
          <a:sx n="121" d="100"/>
          <a:sy n="121" d="100"/>
        </p:scale>
        <p:origin x="1642"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1AC759B6-C89E-49CB-945C-1F614AB95384}"/>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l" eaLnBrk="1" hangingPunct="1">
              <a:defRPr b="0">
                <a:solidFill>
                  <a:schemeClr val="tx1"/>
                </a:solidFill>
                <a:latin typeface="Times New Roman" panose="02020603050405020304" pitchFamily="18" charset="0"/>
              </a:defRPr>
            </a:lvl1pPr>
          </a:lstStyle>
          <a:p>
            <a:pPr>
              <a:defRPr/>
            </a:pPr>
            <a:endParaRPr lang="en-US" altLang="zh-CN"/>
          </a:p>
        </p:txBody>
      </p:sp>
      <p:sp>
        <p:nvSpPr>
          <p:cNvPr id="35843" name="Rectangle 3">
            <a:extLst>
              <a:ext uri="{FF2B5EF4-FFF2-40B4-BE49-F238E27FC236}">
                <a16:creationId xmlns:a16="http://schemas.microsoft.com/office/drawing/2014/main" id="{ECA3A108-D3D1-435A-8212-F08BD94C2524}"/>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b="0">
                <a:solidFill>
                  <a:schemeClr val="tx1"/>
                </a:solidFill>
                <a:latin typeface="Times New Roman" panose="02020603050405020304" pitchFamily="18" charset="0"/>
              </a:defRPr>
            </a:lvl1pPr>
          </a:lstStyle>
          <a:p>
            <a:pPr>
              <a:defRPr/>
            </a:pPr>
            <a:endParaRPr lang="en-US" altLang="zh-CN"/>
          </a:p>
        </p:txBody>
      </p:sp>
      <p:sp>
        <p:nvSpPr>
          <p:cNvPr id="3076" name="Rectangle 4">
            <a:extLst>
              <a:ext uri="{FF2B5EF4-FFF2-40B4-BE49-F238E27FC236}">
                <a16:creationId xmlns:a16="http://schemas.microsoft.com/office/drawing/2014/main" id="{787D5E35-AD4F-1C78-9394-C4B2D008D54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5845" name="Rectangle 5">
            <a:extLst>
              <a:ext uri="{FF2B5EF4-FFF2-40B4-BE49-F238E27FC236}">
                <a16:creationId xmlns:a16="http://schemas.microsoft.com/office/drawing/2014/main" id="{F59B8DB0-F661-4D39-9E68-7FD0C807E702}"/>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35846" name="Rectangle 6">
            <a:extLst>
              <a:ext uri="{FF2B5EF4-FFF2-40B4-BE49-F238E27FC236}">
                <a16:creationId xmlns:a16="http://schemas.microsoft.com/office/drawing/2014/main" id="{F9D848E1-19A2-43A9-AB71-D861082FC382}"/>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eaLnBrk="1" hangingPunct="1">
              <a:defRPr b="0">
                <a:solidFill>
                  <a:schemeClr val="tx1"/>
                </a:solidFill>
                <a:latin typeface="Times New Roman" panose="02020603050405020304" pitchFamily="18" charset="0"/>
              </a:defRPr>
            </a:lvl1pPr>
          </a:lstStyle>
          <a:p>
            <a:pPr>
              <a:defRPr/>
            </a:pPr>
            <a:endParaRPr lang="en-US" altLang="zh-CN"/>
          </a:p>
        </p:txBody>
      </p:sp>
      <p:sp>
        <p:nvSpPr>
          <p:cNvPr id="35847" name="Rectangle 7">
            <a:extLst>
              <a:ext uri="{FF2B5EF4-FFF2-40B4-BE49-F238E27FC236}">
                <a16:creationId xmlns:a16="http://schemas.microsoft.com/office/drawing/2014/main" id="{BED82890-B1C8-4B25-A8A2-9DE95764252A}"/>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b="0">
                <a:solidFill>
                  <a:schemeClr val="tx1"/>
                </a:solidFill>
                <a:latin typeface="Times New Roman" panose="02020603050405020304" pitchFamily="18" charset="0"/>
              </a:defRPr>
            </a:lvl1pPr>
          </a:lstStyle>
          <a:p>
            <a:fld id="{B2052BA4-08EA-484B-84DA-838C2E7080F3}"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pic>
        <p:nvPicPr>
          <p:cNvPr id="2" name="Picture 2" descr="43">
            <a:extLst>
              <a:ext uri="{FF2B5EF4-FFF2-40B4-BE49-F238E27FC236}">
                <a16:creationId xmlns:a16="http://schemas.microsoft.com/office/drawing/2014/main" id="{50D2E8A8-2A85-9E57-A65B-72CD6FA645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6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899" name="Rectangle 3"/>
          <p:cNvSpPr>
            <a:spLocks noGrp="1" noChangeArrowheads="1"/>
          </p:cNvSpPr>
          <p:nvPr>
            <p:ph type="ctrTitle" sz="quarter"/>
          </p:nvPr>
        </p:nvSpPr>
        <p:spPr>
          <a:xfrm>
            <a:off x="609600" y="2420938"/>
            <a:ext cx="8283575" cy="1800225"/>
          </a:xfrm>
        </p:spPr>
        <p:txBody>
          <a:bodyPr/>
          <a:lstStyle>
            <a:lvl1pPr marL="0" indent="0" algn="r">
              <a:defRPr sz="3600">
                <a:solidFill>
                  <a:srgbClr val="FFFF00"/>
                </a:solidFill>
              </a:defRPr>
            </a:lvl1pPr>
          </a:lstStyle>
          <a:p>
            <a:pPr lvl="0"/>
            <a:r>
              <a:rPr lang="zh-CN" altLang="en-US" noProof="0"/>
              <a:t>单击此处编辑母版标题样式</a:t>
            </a:r>
          </a:p>
        </p:txBody>
      </p:sp>
      <p:sp>
        <p:nvSpPr>
          <p:cNvPr id="80900" name="Rectangle 4"/>
          <p:cNvSpPr>
            <a:spLocks noGrp="1" noChangeArrowheads="1"/>
          </p:cNvSpPr>
          <p:nvPr>
            <p:ph type="subTitle" sz="quarter" idx="1"/>
          </p:nvPr>
        </p:nvSpPr>
        <p:spPr>
          <a:xfrm>
            <a:off x="323850" y="4292600"/>
            <a:ext cx="8569325" cy="2160588"/>
          </a:xfrm>
        </p:spPr>
        <p:txBody>
          <a:bodyPr anchor="ctr"/>
          <a:lstStyle>
            <a:lvl1pPr marL="0" indent="0" algn="r">
              <a:buFont typeface="Wingdings 2" panose="05020102010507070707" pitchFamily="18" charset="2"/>
              <a:buNone/>
              <a:defRPr>
                <a:solidFill>
                  <a:schemeClr val="bg1"/>
                </a:solidFill>
              </a:defRPr>
            </a:lvl1pPr>
          </a:lstStyle>
          <a:p>
            <a:pPr lvl="0"/>
            <a:r>
              <a:rPr lang="zh-CN" altLang="en-US" noProof="0"/>
              <a:t>单击此处编辑母版副标题样式</a:t>
            </a:r>
          </a:p>
        </p:txBody>
      </p:sp>
    </p:spTree>
    <p:extLst>
      <p:ext uri="{BB962C8B-B14F-4D97-AF65-F5344CB8AC3E}">
        <p14:creationId xmlns:p14="http://schemas.microsoft.com/office/powerpoint/2010/main" val="3377252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63071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Tree>
    <p:extLst>
      <p:ext uri="{BB962C8B-B14F-4D97-AF65-F5344CB8AC3E}">
        <p14:creationId xmlns:p14="http://schemas.microsoft.com/office/powerpoint/2010/main" val="1105868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79388" y="1773238"/>
            <a:ext cx="4316412" cy="5084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73238"/>
            <a:ext cx="4316413" cy="5084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33945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19040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4095791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8661077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642081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2450156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32173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69100" y="1052513"/>
            <a:ext cx="2195513" cy="58054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79388" y="1052513"/>
            <a:ext cx="6437312" cy="58054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16808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79388" y="1052513"/>
            <a:ext cx="8785225" cy="720725"/>
          </a:xfrm>
        </p:spPr>
        <p:txBody>
          <a:bodyPr/>
          <a:lstStyle/>
          <a:p>
            <a:r>
              <a:rPr lang="zh-CN" altLang="en-US"/>
              <a:t>单击此处编辑母版标题样式</a:t>
            </a:r>
          </a:p>
        </p:txBody>
      </p:sp>
      <p:sp>
        <p:nvSpPr>
          <p:cNvPr id="3" name="文本占位符 2"/>
          <p:cNvSpPr>
            <a:spLocks noGrp="1"/>
          </p:cNvSpPr>
          <p:nvPr>
            <p:ph type="body" sz="half" idx="1"/>
          </p:nvPr>
        </p:nvSpPr>
        <p:spPr>
          <a:xfrm>
            <a:off x="179388" y="1773238"/>
            <a:ext cx="4316412" cy="5084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73238"/>
            <a:ext cx="4316413" cy="5084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14966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84998001-668E-C73C-5AC0-95F9A5BBCDB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448800" cy="708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5" name="Text Box 3">
            <a:extLst>
              <a:ext uri="{FF2B5EF4-FFF2-40B4-BE49-F238E27FC236}">
                <a16:creationId xmlns:a16="http://schemas.microsoft.com/office/drawing/2014/main" id="{9F7FC595-48C1-4B33-A501-3596E32FAC34}"/>
              </a:ext>
            </a:extLst>
          </p:cNvPr>
          <p:cNvSpPr txBox="1">
            <a:spLocks noChangeArrowheads="1"/>
          </p:cNvSpPr>
          <p:nvPr/>
        </p:nvSpPr>
        <p:spPr bwMode="auto">
          <a:xfrm>
            <a:off x="8412163" y="6624638"/>
            <a:ext cx="500062" cy="274637"/>
          </a:xfrm>
          <a:prstGeom prst="rect">
            <a:avLst/>
          </a:prstGeom>
          <a:noFill/>
          <a:ln>
            <a:noFill/>
          </a:ln>
          <a:effectLst/>
        </p:spPr>
        <p:txBody>
          <a:bodyPr wrap="none">
            <a:spAutoFit/>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r" eaLnBrk="1" hangingPunct="1"/>
            <a:fld id="{812CAAAE-147D-477D-BDDE-FC35054D359B}" type="slidenum">
              <a:rPr kumimoji="0" lang="en-US" altLang="zh-CN">
                <a:solidFill>
                  <a:schemeClr val="tx2"/>
                </a:solidFill>
                <a:latin typeface="Comic Sans MS" panose="030F0702030302020204" pitchFamily="66" charset="0"/>
                <a:cs typeface="Times New Roman" panose="02020603050405020304" pitchFamily="18" charset="0"/>
              </a:rPr>
              <a:pPr algn="r" eaLnBrk="1" hangingPunct="1"/>
              <a:t>‹#›</a:t>
            </a:fld>
            <a:endParaRPr kumimoji="0" lang="en-US" altLang="zh-CN">
              <a:solidFill>
                <a:schemeClr val="tx2"/>
              </a:solidFill>
              <a:latin typeface="Comic Sans MS" panose="030F0702030302020204" pitchFamily="66" charset="0"/>
              <a:cs typeface="Times New Roman" panose="02020603050405020304" pitchFamily="18" charset="0"/>
            </a:endParaRPr>
          </a:p>
        </p:txBody>
      </p:sp>
      <p:sp>
        <p:nvSpPr>
          <p:cNvPr id="79876" name="Rectangle 4">
            <a:extLst>
              <a:ext uri="{FF2B5EF4-FFF2-40B4-BE49-F238E27FC236}">
                <a16:creationId xmlns:a16="http://schemas.microsoft.com/office/drawing/2014/main" id="{EC78FFCC-6C5A-37DF-34FB-5DC46E35CEEC}"/>
              </a:ext>
            </a:extLst>
          </p:cNvPr>
          <p:cNvSpPr>
            <a:spLocks noGrp="1" noChangeArrowheads="1"/>
          </p:cNvSpPr>
          <p:nvPr>
            <p:ph type="title"/>
          </p:nvPr>
        </p:nvSpPr>
        <p:spPr bwMode="auto">
          <a:xfrm>
            <a:off x="179388" y="1052513"/>
            <a:ext cx="8785225"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45791" dir="3378596"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9877" name="Rectangle 5">
            <a:extLst>
              <a:ext uri="{FF2B5EF4-FFF2-40B4-BE49-F238E27FC236}">
                <a16:creationId xmlns:a16="http://schemas.microsoft.com/office/drawing/2014/main" id="{427CBC4F-4C3F-886B-9568-6FA040E8E4A3}"/>
              </a:ext>
            </a:extLst>
          </p:cNvPr>
          <p:cNvSpPr>
            <a:spLocks noGrp="1" noChangeArrowheads="1"/>
          </p:cNvSpPr>
          <p:nvPr>
            <p:ph type="body" idx="1"/>
          </p:nvPr>
        </p:nvSpPr>
        <p:spPr bwMode="auto">
          <a:xfrm>
            <a:off x="179388" y="1773238"/>
            <a:ext cx="8785225" cy="5084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9878" name="Rectangle 6">
            <a:extLst>
              <a:ext uri="{FF2B5EF4-FFF2-40B4-BE49-F238E27FC236}">
                <a16:creationId xmlns:a16="http://schemas.microsoft.com/office/drawing/2014/main" id="{B7D622D9-692E-4034-ADA0-85B334E0AF74}"/>
              </a:ext>
            </a:extLst>
          </p:cNvPr>
          <p:cNvSpPr>
            <a:spLocks noChangeArrowheads="1"/>
          </p:cNvSpPr>
          <p:nvPr/>
        </p:nvSpPr>
        <p:spPr bwMode="auto">
          <a:xfrm>
            <a:off x="152400" y="1700213"/>
            <a:ext cx="5638800" cy="76200"/>
          </a:xfrm>
          <a:prstGeom prst="rect">
            <a:avLst/>
          </a:prstGeom>
          <a:gradFill rotWithShape="0">
            <a:gsLst>
              <a:gs pos="0">
                <a:srgbClr val="6666FF"/>
              </a:gs>
              <a:gs pos="100000">
                <a:schemeClr val="bg1"/>
              </a:gs>
            </a:gsLst>
            <a:lin ang="0" scaled="1"/>
          </a:gradFill>
          <a:ln>
            <a:noFill/>
          </a:ln>
          <a:effectLst/>
        </p:spPr>
        <p:txBody>
          <a:bodyPr wrap="none"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defRPr/>
            </a:pPr>
            <a:endParaRPr lang="zh-CN" altLang="en-US"/>
          </a:p>
        </p:txBody>
      </p:sp>
      <p:sp>
        <p:nvSpPr>
          <p:cNvPr id="1031" name="矩形 1">
            <a:extLst>
              <a:ext uri="{FF2B5EF4-FFF2-40B4-BE49-F238E27FC236}">
                <a16:creationId xmlns:a16="http://schemas.microsoft.com/office/drawing/2014/main" id="{9F30D949-9C96-4DCD-BD38-23542239D5CB}"/>
              </a:ext>
            </a:extLst>
          </p:cNvPr>
          <p:cNvSpPr>
            <a:spLocks noChangeArrowheads="1"/>
          </p:cNvSpPr>
          <p:nvPr userDrawn="1"/>
        </p:nvSpPr>
        <p:spPr bwMode="auto">
          <a:xfrm>
            <a:off x="39688" y="6035675"/>
            <a:ext cx="1116012" cy="993775"/>
          </a:xfrm>
          <a:prstGeom prst="rect">
            <a:avLst/>
          </a:prstGeom>
          <a:solidFill>
            <a:schemeClr val="bg1"/>
          </a:solidFill>
          <a:ln>
            <a:noFill/>
          </a:ln>
        </p:spPr>
        <p:txBody>
          <a:bodyPr lIns="0" tIns="0" rIns="0" bIns="0" anchor="ctr" anchorCtr="1"/>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ctr">
              <a:defRPr/>
            </a:pPr>
            <a:endParaRPr lang="zh-CN" altLang="en-US"/>
          </a:p>
        </p:txBody>
      </p:sp>
    </p:spTree>
  </p:cSld>
  <p:clrMap bg1="lt1" tx1="dk1" bg2="lt2" tx2="dk2" accent1="accent1" accent2="accent2" accent3="accent3" accent4="accent4" accent5="accent5" accent6="accent6" hlink="hlink" folHlink="folHlink"/>
  <p:sldLayoutIdLst>
    <p:sldLayoutId id="2147483773"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9878"/>
                                        </p:tgtEl>
                                        <p:attrNameLst>
                                          <p:attrName>style.visibility</p:attrName>
                                        </p:attrNameLst>
                                      </p:cBhvr>
                                      <p:to>
                                        <p:strVal val="visible"/>
                                      </p:to>
                                    </p:set>
                                    <p:animEffect transition="in" filter="wipe(left)">
                                      <p:cBhvr>
                                        <p:cTn id="7" dur="500"/>
                                        <p:tgtEl>
                                          <p:spTgt spid="79878"/>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79876"/>
                                        </p:tgtEl>
                                        <p:attrNameLst>
                                          <p:attrName>style.visibility</p:attrName>
                                        </p:attrNameLst>
                                      </p:cBhvr>
                                      <p:to>
                                        <p:strVal val="visible"/>
                                      </p:to>
                                    </p:set>
                                    <p:animEffect transition="in" filter="slide(fromBottom)">
                                      <p:cBhvr>
                                        <p:cTn id="11" dur="500"/>
                                        <p:tgtEl>
                                          <p:spTgt spid="79876"/>
                                        </p:tgtEl>
                                      </p:cBhvr>
                                    </p:animEffect>
                                  </p:childTnLst>
                                </p:cTn>
                              </p:par>
                            </p:childTnLst>
                          </p:cTn>
                        </p:par>
                        <p:par>
                          <p:cTn id="12" fill="hold" nodeType="afterGroup">
                            <p:stCondLst>
                              <p:cond delay="1000"/>
                            </p:stCondLst>
                            <p:childTnLst>
                              <p:par>
                                <p:cTn id="13" presetID="12" presetClass="entr" presetSubtype="1" fill="hold" grpId="0" nodeType="afterEffect">
                                  <p:stCondLst>
                                    <p:cond delay="0"/>
                                  </p:stCondLst>
                                  <p:childTnLst>
                                    <p:set>
                                      <p:cBhvr>
                                        <p:cTn id="14" dur="1" fill="hold">
                                          <p:stCondLst>
                                            <p:cond delay="0"/>
                                          </p:stCondLst>
                                        </p:cTn>
                                        <p:tgtEl>
                                          <p:spTgt spid="79877">
                                            <p:txEl>
                                              <p:pRg st="0" end="0"/>
                                            </p:txEl>
                                          </p:spTgt>
                                        </p:tgtEl>
                                        <p:attrNameLst>
                                          <p:attrName>style.visibility</p:attrName>
                                        </p:attrNameLst>
                                      </p:cBhvr>
                                      <p:to>
                                        <p:strVal val="visible"/>
                                      </p:to>
                                    </p:set>
                                    <p:animEffect transition="in" filter="slide(fromTop)">
                                      <p:cBhvr>
                                        <p:cTn id="15" dur="500"/>
                                        <p:tgtEl>
                                          <p:spTgt spid="79877">
                                            <p:txEl>
                                              <p:pRg st="0" end="0"/>
                                            </p:txEl>
                                          </p:spTgt>
                                        </p:tgtEl>
                                      </p:cBhvr>
                                    </p:animEffect>
                                  </p:childTnLst>
                                </p:cTn>
                              </p:par>
                              <p:par>
                                <p:cTn id="16" presetID="12" presetClass="entr" presetSubtype="1" fill="hold" grpId="0" nodeType="withEffect">
                                  <p:stCondLst>
                                    <p:cond delay="0"/>
                                  </p:stCondLst>
                                  <p:childTnLst>
                                    <p:set>
                                      <p:cBhvr>
                                        <p:cTn id="17" dur="1" fill="hold">
                                          <p:stCondLst>
                                            <p:cond delay="0"/>
                                          </p:stCondLst>
                                        </p:cTn>
                                        <p:tgtEl>
                                          <p:spTgt spid="79877">
                                            <p:txEl>
                                              <p:pRg st="1" end="1"/>
                                            </p:txEl>
                                          </p:spTgt>
                                        </p:tgtEl>
                                        <p:attrNameLst>
                                          <p:attrName>style.visibility</p:attrName>
                                        </p:attrNameLst>
                                      </p:cBhvr>
                                      <p:to>
                                        <p:strVal val="visible"/>
                                      </p:to>
                                    </p:set>
                                    <p:animEffect transition="in" filter="slide(fromTop)">
                                      <p:cBhvr>
                                        <p:cTn id="18" dur="500"/>
                                        <p:tgtEl>
                                          <p:spTgt spid="79877">
                                            <p:txEl>
                                              <p:pRg st="1" end="1"/>
                                            </p:txEl>
                                          </p:spTgt>
                                        </p:tgtEl>
                                      </p:cBhvr>
                                    </p:animEffect>
                                  </p:childTnLst>
                                </p:cTn>
                              </p:par>
                              <p:par>
                                <p:cTn id="19" presetID="12" presetClass="entr" presetSubtype="1" fill="hold" grpId="0" nodeType="withEffect">
                                  <p:stCondLst>
                                    <p:cond delay="0"/>
                                  </p:stCondLst>
                                  <p:childTnLst>
                                    <p:set>
                                      <p:cBhvr>
                                        <p:cTn id="20" dur="1" fill="hold">
                                          <p:stCondLst>
                                            <p:cond delay="0"/>
                                          </p:stCondLst>
                                        </p:cTn>
                                        <p:tgtEl>
                                          <p:spTgt spid="79877">
                                            <p:txEl>
                                              <p:pRg st="2" end="2"/>
                                            </p:txEl>
                                          </p:spTgt>
                                        </p:tgtEl>
                                        <p:attrNameLst>
                                          <p:attrName>style.visibility</p:attrName>
                                        </p:attrNameLst>
                                      </p:cBhvr>
                                      <p:to>
                                        <p:strVal val="visible"/>
                                      </p:to>
                                    </p:set>
                                    <p:animEffect transition="in" filter="slide(fromTop)">
                                      <p:cBhvr>
                                        <p:cTn id="21" dur="500"/>
                                        <p:tgtEl>
                                          <p:spTgt spid="79877">
                                            <p:txEl>
                                              <p:pRg st="2" end="2"/>
                                            </p:txEl>
                                          </p:spTgt>
                                        </p:tgtEl>
                                      </p:cBhvr>
                                    </p:animEffect>
                                  </p:childTnLst>
                                </p:cTn>
                              </p:par>
                              <p:par>
                                <p:cTn id="22" presetID="12" presetClass="entr" presetSubtype="1" fill="hold" grpId="0" nodeType="withEffect">
                                  <p:stCondLst>
                                    <p:cond delay="0"/>
                                  </p:stCondLst>
                                  <p:childTnLst>
                                    <p:set>
                                      <p:cBhvr>
                                        <p:cTn id="23" dur="1" fill="hold">
                                          <p:stCondLst>
                                            <p:cond delay="0"/>
                                          </p:stCondLst>
                                        </p:cTn>
                                        <p:tgtEl>
                                          <p:spTgt spid="79877">
                                            <p:txEl>
                                              <p:pRg st="3" end="3"/>
                                            </p:txEl>
                                          </p:spTgt>
                                        </p:tgtEl>
                                        <p:attrNameLst>
                                          <p:attrName>style.visibility</p:attrName>
                                        </p:attrNameLst>
                                      </p:cBhvr>
                                      <p:to>
                                        <p:strVal val="visible"/>
                                      </p:to>
                                    </p:set>
                                    <p:animEffect transition="in" filter="slide(fromTop)">
                                      <p:cBhvr>
                                        <p:cTn id="24" dur="500"/>
                                        <p:tgtEl>
                                          <p:spTgt spid="79877">
                                            <p:txEl>
                                              <p:pRg st="3" end="3"/>
                                            </p:txEl>
                                          </p:spTgt>
                                        </p:tgtEl>
                                      </p:cBhvr>
                                    </p:animEffect>
                                  </p:childTnLst>
                                </p:cTn>
                              </p:par>
                              <p:par>
                                <p:cTn id="25" presetID="12" presetClass="entr" presetSubtype="1" fill="hold" grpId="0" nodeType="withEffect">
                                  <p:stCondLst>
                                    <p:cond delay="0"/>
                                  </p:stCondLst>
                                  <p:childTnLst>
                                    <p:set>
                                      <p:cBhvr>
                                        <p:cTn id="26" dur="1" fill="hold">
                                          <p:stCondLst>
                                            <p:cond delay="0"/>
                                          </p:stCondLst>
                                        </p:cTn>
                                        <p:tgtEl>
                                          <p:spTgt spid="79877">
                                            <p:txEl>
                                              <p:pRg st="4" end="4"/>
                                            </p:txEl>
                                          </p:spTgt>
                                        </p:tgtEl>
                                        <p:attrNameLst>
                                          <p:attrName>style.visibility</p:attrName>
                                        </p:attrNameLst>
                                      </p:cBhvr>
                                      <p:to>
                                        <p:strVal val="visible"/>
                                      </p:to>
                                    </p:set>
                                    <p:animEffect transition="in" filter="slide(fromTop)">
                                      <p:cBhvr>
                                        <p:cTn id="27" dur="500"/>
                                        <p:tgtEl>
                                          <p:spTgt spid="7987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autoUpdateAnimBg="0"/>
      <p:bldP spid="79877" grpId="0" build="p" autoUpdateAnimBg="0" advAuto="0">
        <p:tmplLst>
          <p:tmpl lvl="1">
            <p:tnLst>
              <p:par>
                <p:cTn presetID="12" presetClass="entr" presetSubtype="1" fill="hold" nodeType="after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2">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3">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4">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5">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Lst>
      </p:bldP>
      <p:bldP spid="79878" grpId="0" animBg="1"/>
    </p:bldLst>
  </p:timing>
  <p:txStyles>
    <p:titleStyle>
      <a:lvl1pPr marL="342900" indent="-342900" algn="l" rtl="0" eaLnBrk="0" fontAlgn="base" hangingPunct="0">
        <a:spcBef>
          <a:spcPct val="20000"/>
        </a:spcBef>
        <a:spcAft>
          <a:spcPct val="0"/>
        </a:spcAft>
        <a:defRPr sz="2800" b="1" kern="1200">
          <a:solidFill>
            <a:schemeClr val="accent2"/>
          </a:solidFill>
          <a:latin typeface="+mj-lt"/>
          <a:ea typeface="+mj-ea"/>
          <a:cs typeface="+mj-cs"/>
        </a:defRPr>
      </a:lvl1pPr>
      <a:lvl2pPr marL="342900" indent="-342900" algn="l" rtl="0" eaLnBrk="0" fontAlgn="base" hangingPunct="0">
        <a:spcBef>
          <a:spcPct val="20000"/>
        </a:spcBef>
        <a:spcAft>
          <a:spcPct val="0"/>
        </a:spcAft>
        <a:defRPr sz="2800" b="1">
          <a:solidFill>
            <a:schemeClr val="accent2"/>
          </a:solidFill>
          <a:latin typeface="Arial" panose="020B0604020202020204" pitchFamily="34" charset="0"/>
          <a:ea typeface="宋体" panose="02010600030101010101" pitchFamily="2" charset="-122"/>
        </a:defRPr>
      </a:lvl2pPr>
      <a:lvl3pPr marL="342900" indent="-342900" algn="l" rtl="0" eaLnBrk="0" fontAlgn="base" hangingPunct="0">
        <a:spcBef>
          <a:spcPct val="20000"/>
        </a:spcBef>
        <a:spcAft>
          <a:spcPct val="0"/>
        </a:spcAft>
        <a:defRPr sz="2800" b="1">
          <a:solidFill>
            <a:schemeClr val="accent2"/>
          </a:solidFill>
          <a:latin typeface="Arial" panose="020B0604020202020204" pitchFamily="34" charset="0"/>
          <a:ea typeface="宋体" panose="02010600030101010101" pitchFamily="2" charset="-122"/>
        </a:defRPr>
      </a:lvl3pPr>
      <a:lvl4pPr marL="342900" indent="-342900" algn="l" rtl="0" eaLnBrk="0" fontAlgn="base" hangingPunct="0">
        <a:spcBef>
          <a:spcPct val="20000"/>
        </a:spcBef>
        <a:spcAft>
          <a:spcPct val="0"/>
        </a:spcAft>
        <a:defRPr sz="2800" b="1">
          <a:solidFill>
            <a:schemeClr val="accent2"/>
          </a:solidFill>
          <a:latin typeface="Arial" panose="020B0604020202020204" pitchFamily="34" charset="0"/>
          <a:ea typeface="宋体" panose="02010600030101010101" pitchFamily="2" charset="-122"/>
        </a:defRPr>
      </a:lvl4pPr>
      <a:lvl5pPr marL="342900" indent="-342900" algn="l" rtl="0" eaLnBrk="0" fontAlgn="base" hangingPunct="0">
        <a:spcBef>
          <a:spcPct val="20000"/>
        </a:spcBef>
        <a:spcAft>
          <a:spcPct val="0"/>
        </a:spcAft>
        <a:defRPr sz="2800" b="1">
          <a:solidFill>
            <a:schemeClr val="accent2"/>
          </a:solidFill>
          <a:latin typeface="Arial" panose="020B0604020202020204" pitchFamily="34" charset="0"/>
          <a:ea typeface="宋体" panose="02010600030101010101" pitchFamily="2" charset="-122"/>
        </a:defRPr>
      </a:lvl5pPr>
      <a:lvl6pPr marL="800100" indent="-342900" algn="l" rtl="0" fontAlgn="base">
        <a:spcBef>
          <a:spcPct val="20000"/>
        </a:spcBef>
        <a:spcAft>
          <a:spcPct val="0"/>
        </a:spcAft>
        <a:defRPr sz="2800" b="1">
          <a:solidFill>
            <a:schemeClr val="accent2"/>
          </a:solidFill>
          <a:latin typeface="Arial" panose="020B0604020202020204" pitchFamily="34" charset="0"/>
          <a:ea typeface="宋体" panose="02010600030101010101" pitchFamily="2" charset="-122"/>
        </a:defRPr>
      </a:lvl6pPr>
      <a:lvl7pPr marL="1257300" indent="-342900" algn="l" rtl="0" fontAlgn="base">
        <a:spcBef>
          <a:spcPct val="20000"/>
        </a:spcBef>
        <a:spcAft>
          <a:spcPct val="0"/>
        </a:spcAft>
        <a:defRPr sz="2800" b="1">
          <a:solidFill>
            <a:schemeClr val="accent2"/>
          </a:solidFill>
          <a:latin typeface="Arial" panose="020B0604020202020204" pitchFamily="34" charset="0"/>
          <a:ea typeface="宋体" panose="02010600030101010101" pitchFamily="2" charset="-122"/>
        </a:defRPr>
      </a:lvl7pPr>
      <a:lvl8pPr marL="1714500" indent="-342900" algn="l" rtl="0" fontAlgn="base">
        <a:spcBef>
          <a:spcPct val="20000"/>
        </a:spcBef>
        <a:spcAft>
          <a:spcPct val="0"/>
        </a:spcAft>
        <a:defRPr sz="2800" b="1">
          <a:solidFill>
            <a:schemeClr val="accent2"/>
          </a:solidFill>
          <a:latin typeface="Arial" panose="020B0604020202020204" pitchFamily="34" charset="0"/>
          <a:ea typeface="宋体" panose="02010600030101010101" pitchFamily="2" charset="-122"/>
        </a:defRPr>
      </a:lvl8pPr>
      <a:lvl9pPr marL="2171700" indent="-342900" algn="l" rtl="0" fontAlgn="base">
        <a:spcBef>
          <a:spcPct val="20000"/>
        </a:spcBef>
        <a:spcAft>
          <a:spcPct val="0"/>
        </a:spcAft>
        <a:defRPr sz="2800" b="1">
          <a:solidFill>
            <a:schemeClr val="accent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30000"/>
        </a:spcBef>
        <a:spcAft>
          <a:spcPct val="0"/>
        </a:spcAft>
        <a:buClr>
          <a:srgbClr val="0000FF"/>
        </a:buClr>
        <a:buFont typeface="Wingdings 2" panose="05020102010507070707" pitchFamily="18" charset="2"/>
        <a:buChar char="¡"/>
        <a:defRPr sz="2800" b="1" kern="1200">
          <a:solidFill>
            <a:schemeClr val="tx1"/>
          </a:solidFill>
          <a:latin typeface="+mn-lt"/>
          <a:ea typeface="+mn-ea"/>
          <a:cs typeface="+mn-cs"/>
        </a:defRPr>
      </a:lvl1pPr>
      <a:lvl2pPr marL="742950" indent="-220663" algn="l" rtl="0" eaLnBrk="0" fontAlgn="base" hangingPunct="0">
        <a:spcBef>
          <a:spcPct val="20000"/>
        </a:spcBef>
        <a:spcAft>
          <a:spcPct val="0"/>
        </a:spcAft>
        <a:buClr>
          <a:srgbClr val="0000FF"/>
        </a:buClr>
        <a:buFont typeface="黑体" panose="02010609060101010101" pitchFamily="49" charset="-122"/>
        <a:buChar char="–"/>
        <a:defRPr sz="2400" b="1" kern="1200">
          <a:solidFill>
            <a:schemeClr val="tx1"/>
          </a:solidFill>
          <a:latin typeface="+mn-lt"/>
          <a:ea typeface="+mn-ea"/>
          <a:cs typeface="+mn-cs"/>
        </a:defRPr>
      </a:lvl2pPr>
      <a:lvl3pPr marL="1150938" indent="-228600" algn="l" rtl="0" eaLnBrk="0" fontAlgn="base" hangingPunct="0">
        <a:spcBef>
          <a:spcPct val="20000"/>
        </a:spcBef>
        <a:spcAft>
          <a:spcPct val="0"/>
        </a:spcAft>
        <a:buClr>
          <a:srgbClr val="0000FF"/>
        </a:buClr>
        <a:buFont typeface="黑体" panose="02010609060101010101" pitchFamily="49" charset="-122"/>
        <a:buChar char="–"/>
        <a:defRPr sz="2000" b="1"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00FF"/>
        </a:buClr>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0"/>
        </a:spcBef>
        <a:spcAft>
          <a:spcPct val="0"/>
        </a:spcAft>
        <a:buClr>
          <a:srgbClr val="0000FF"/>
        </a:buClr>
        <a:buFont typeface="Wingdings" panose="05000000000000000000" pitchFamily="2" charset="2"/>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78A2ACD7-AFE9-5A2E-18ED-02ABD21BB323}"/>
              </a:ext>
            </a:extLst>
          </p:cNvPr>
          <p:cNvSpPr>
            <a:spLocks noGrp="1" noChangeArrowheads="1"/>
          </p:cNvSpPr>
          <p:nvPr>
            <p:ph type="ctrTitle"/>
          </p:nvPr>
        </p:nvSpPr>
        <p:spPr>
          <a:xfrm>
            <a:off x="609600" y="2708275"/>
            <a:ext cx="8283575" cy="1800225"/>
          </a:xfrm>
          <a:noFill/>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lang="zh-CN" altLang="en-US" sz="4000">
                <a:ea typeface="黑体" panose="02010609060101010101" pitchFamily="49" charset="-122"/>
              </a:rPr>
              <a:t>软件项目管理与案例分析</a:t>
            </a:r>
            <a:r>
              <a:rPr lang="zh-CN" altLang="en-US"/>
              <a:t> </a:t>
            </a:r>
          </a:p>
        </p:txBody>
      </p:sp>
      <p:sp>
        <p:nvSpPr>
          <p:cNvPr id="4099" name="文本框 2">
            <a:extLst>
              <a:ext uri="{FF2B5EF4-FFF2-40B4-BE49-F238E27FC236}">
                <a16:creationId xmlns:a16="http://schemas.microsoft.com/office/drawing/2014/main" id="{EB906F3A-32A1-D43C-B5D2-2217385CA54C}"/>
              </a:ext>
            </a:extLst>
          </p:cNvPr>
          <p:cNvSpPr txBox="1">
            <a:spLocks noChangeArrowheads="1"/>
          </p:cNvSpPr>
          <p:nvPr/>
        </p:nvSpPr>
        <p:spPr bwMode="auto">
          <a:xfrm>
            <a:off x="4067175" y="4508500"/>
            <a:ext cx="2089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solidFill>
                  <a:schemeClr val="bg1"/>
                </a:solidFill>
              </a:rPr>
              <a:t>授课人：江明建</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821A77-7488-F2B9-7C2D-E121BEF71A1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0DD643C-2591-6816-5DC9-5D05F6C26437}"/>
              </a:ext>
            </a:extLst>
          </p:cNvPr>
          <p:cNvSpPr>
            <a:spLocks noGrp="1"/>
          </p:cNvSpPr>
          <p:nvPr>
            <p:ph idx="1"/>
          </p:nvPr>
        </p:nvSpPr>
        <p:spPr/>
        <p:txBody>
          <a:bodyPr/>
          <a:lstStyle/>
          <a:p>
            <a:r>
              <a:rPr lang="zh-CN" altLang="en-US" sz="2800" dirty="0"/>
              <a:t>授课教师：江明建</a:t>
            </a:r>
            <a:endParaRPr lang="en-US" altLang="zh-CN" sz="2800" dirty="0"/>
          </a:p>
          <a:p>
            <a:r>
              <a:rPr lang="zh-CN" altLang="en-US" sz="2800" dirty="0"/>
              <a:t>联系方式：</a:t>
            </a:r>
            <a:r>
              <a:rPr lang="en-US" altLang="zh-CN" sz="2800" dirty="0"/>
              <a:t>QQ</a:t>
            </a:r>
            <a:r>
              <a:rPr lang="zh-CN" altLang="en-US" sz="2800" dirty="0"/>
              <a:t>群</a:t>
            </a:r>
            <a:endParaRPr lang="en-US" altLang="zh-CN" dirty="0"/>
          </a:p>
          <a:p>
            <a:r>
              <a:rPr lang="zh-CN" altLang="en-US" dirty="0"/>
              <a:t>考核方式：</a:t>
            </a:r>
            <a:endParaRPr lang="en-US" altLang="zh-CN" dirty="0"/>
          </a:p>
          <a:p>
            <a:pPr lvl="1"/>
            <a:r>
              <a:rPr lang="zh-CN" altLang="en-US" dirty="0"/>
              <a:t>学时：</a:t>
            </a:r>
            <a:r>
              <a:rPr lang="en-US" altLang="zh-CN" dirty="0"/>
              <a:t>32</a:t>
            </a:r>
            <a:r>
              <a:rPr lang="zh-CN" altLang="en-US" dirty="0"/>
              <a:t>学时，</a:t>
            </a:r>
            <a:r>
              <a:rPr lang="en-US" altLang="zh-CN" dirty="0"/>
              <a:t>8</a:t>
            </a:r>
            <a:r>
              <a:rPr lang="zh-CN" altLang="en-US" dirty="0"/>
              <a:t>个周</a:t>
            </a:r>
            <a:endParaRPr lang="en-US" altLang="zh-CN" dirty="0"/>
          </a:p>
          <a:p>
            <a:pPr lvl="1"/>
            <a:r>
              <a:rPr lang="zh-CN" altLang="en-US" dirty="0"/>
              <a:t>作业、考勤、提问：占比</a:t>
            </a:r>
            <a:r>
              <a:rPr lang="en-US" altLang="zh-CN" dirty="0"/>
              <a:t>10%</a:t>
            </a:r>
          </a:p>
          <a:p>
            <a:pPr lvl="1"/>
            <a:r>
              <a:rPr lang="zh-CN" altLang="en-US" dirty="0"/>
              <a:t>项目课：</a:t>
            </a:r>
            <a:r>
              <a:rPr lang="en-US" altLang="zh-CN" dirty="0"/>
              <a:t>20%</a:t>
            </a:r>
          </a:p>
          <a:p>
            <a:pPr lvl="1"/>
            <a:r>
              <a:rPr lang="zh-CN" altLang="en-US" dirty="0"/>
              <a:t>课堂测试：</a:t>
            </a:r>
            <a:r>
              <a:rPr lang="en-US" altLang="zh-CN" dirty="0"/>
              <a:t>10%</a:t>
            </a:r>
          </a:p>
          <a:p>
            <a:pPr lvl="1"/>
            <a:r>
              <a:rPr lang="zh-CN" altLang="en-US" dirty="0"/>
              <a:t>考试：占比</a:t>
            </a:r>
            <a:r>
              <a:rPr lang="en-US" altLang="zh-CN" dirty="0"/>
              <a:t>60%</a:t>
            </a:r>
          </a:p>
          <a:p>
            <a:pPr lvl="1"/>
            <a:r>
              <a:rPr lang="zh-CN" altLang="en-US" dirty="0"/>
              <a:t>考试大约时间：</a:t>
            </a:r>
            <a:r>
              <a:rPr lang="en-US" altLang="zh-CN" dirty="0"/>
              <a:t>10</a:t>
            </a:r>
            <a:r>
              <a:rPr lang="zh-CN" altLang="en-US" dirty="0"/>
              <a:t>周，周二</a:t>
            </a:r>
            <a:r>
              <a:rPr lang="en-US" altLang="zh-CN" dirty="0"/>
              <a:t>34</a:t>
            </a:r>
            <a:r>
              <a:rPr lang="zh-CN" altLang="en-US" dirty="0"/>
              <a:t>节</a:t>
            </a:r>
          </a:p>
        </p:txBody>
      </p:sp>
      <p:pic>
        <p:nvPicPr>
          <p:cNvPr id="5" name="图片 4">
            <a:extLst>
              <a:ext uri="{FF2B5EF4-FFF2-40B4-BE49-F238E27FC236}">
                <a16:creationId xmlns:a16="http://schemas.microsoft.com/office/drawing/2014/main" id="{BA51429C-9653-4F77-0D60-FCA05876CC14}"/>
              </a:ext>
            </a:extLst>
          </p:cNvPr>
          <p:cNvPicPr>
            <a:picLocks noChangeAspect="1"/>
          </p:cNvPicPr>
          <p:nvPr/>
        </p:nvPicPr>
        <p:blipFill>
          <a:blip r:embed="rId2"/>
          <a:stretch>
            <a:fillRect/>
          </a:stretch>
        </p:blipFill>
        <p:spPr>
          <a:xfrm>
            <a:off x="5652120" y="1794982"/>
            <a:ext cx="3600400" cy="4285139"/>
          </a:xfrm>
          <a:prstGeom prst="rect">
            <a:avLst/>
          </a:prstGeom>
        </p:spPr>
      </p:pic>
    </p:spTree>
    <p:extLst>
      <p:ext uri="{BB962C8B-B14F-4D97-AF65-F5344CB8AC3E}">
        <p14:creationId xmlns:p14="http://schemas.microsoft.com/office/powerpoint/2010/main" val="2362448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FE2DC3-C5F3-5E6C-5F9A-15606D9DF095}"/>
              </a:ext>
            </a:extLst>
          </p:cNvPr>
          <p:cNvSpPr>
            <a:spLocks noGrp="1"/>
          </p:cNvSpPr>
          <p:nvPr>
            <p:ph type="title"/>
          </p:nvPr>
        </p:nvSpPr>
        <p:spPr/>
        <p:txBody>
          <a:bodyPr/>
          <a:lstStyle/>
          <a:p>
            <a:r>
              <a:rPr lang="zh-CN" altLang="en-US" dirty="0"/>
              <a:t>课程简介</a:t>
            </a:r>
          </a:p>
        </p:txBody>
      </p:sp>
      <p:sp>
        <p:nvSpPr>
          <p:cNvPr id="3" name="内容占位符 2">
            <a:extLst>
              <a:ext uri="{FF2B5EF4-FFF2-40B4-BE49-F238E27FC236}">
                <a16:creationId xmlns:a16="http://schemas.microsoft.com/office/drawing/2014/main" id="{8B8AB806-43B5-C14F-9BA6-4A7D63988971}"/>
              </a:ext>
            </a:extLst>
          </p:cNvPr>
          <p:cNvSpPr>
            <a:spLocks noGrp="1"/>
          </p:cNvSpPr>
          <p:nvPr>
            <p:ph idx="1"/>
          </p:nvPr>
        </p:nvSpPr>
        <p:spPr/>
        <p:txBody>
          <a:bodyPr/>
          <a:lstStyle/>
          <a:p>
            <a:r>
              <a:rPr lang="zh-CN" altLang="en-US" sz="2000" dirty="0"/>
              <a:t>课程目标：</a:t>
            </a:r>
            <a:endParaRPr lang="en-US" altLang="zh-CN" sz="2000" dirty="0"/>
          </a:p>
          <a:p>
            <a:pPr lvl="1"/>
            <a:r>
              <a:rPr lang="zh-CN" altLang="en-US" sz="1600" dirty="0">
                <a:solidFill>
                  <a:srgbClr val="00B0F0"/>
                </a:solidFill>
              </a:rPr>
              <a:t>课程目标</a:t>
            </a:r>
            <a:r>
              <a:rPr lang="en-US" altLang="zh-CN" sz="1600" dirty="0">
                <a:solidFill>
                  <a:srgbClr val="00B0F0"/>
                </a:solidFill>
              </a:rPr>
              <a:t>1</a:t>
            </a:r>
            <a:r>
              <a:rPr lang="zh-CN" altLang="en-US" sz="1600" dirty="0">
                <a:solidFill>
                  <a:srgbClr val="00B0F0"/>
                </a:solidFill>
              </a:rPr>
              <a:t>：</a:t>
            </a:r>
            <a:r>
              <a:rPr lang="zh-CN" altLang="en-US" sz="1600" dirty="0"/>
              <a:t>掌握软件项目管理的</a:t>
            </a:r>
            <a:r>
              <a:rPr lang="zh-CN" altLang="en-US" sz="1600" dirty="0">
                <a:solidFill>
                  <a:srgbClr val="FF0000"/>
                </a:solidFill>
              </a:rPr>
              <a:t>基本原理和基本技能</a:t>
            </a:r>
            <a:r>
              <a:rPr lang="zh-CN" altLang="en-US" sz="1600" dirty="0"/>
              <a:t>，了解软件项目管理中的基本原则与基本概念，以及实际解决项目管理的背景知识，了解软件工程专业领域相关的技术标准、知识产权、产业政策和法律法规。能够应用所学理论与方法去分析处理实际问题，具备分析、解决本专业</a:t>
            </a:r>
            <a:r>
              <a:rPr lang="zh-CN" altLang="en-US" sz="1600" dirty="0">
                <a:solidFill>
                  <a:srgbClr val="FF0000"/>
                </a:solidFill>
              </a:rPr>
              <a:t>实际问题</a:t>
            </a:r>
            <a:r>
              <a:rPr lang="zh-CN" altLang="en-US" sz="1600" dirty="0"/>
              <a:t>的能力。</a:t>
            </a:r>
          </a:p>
          <a:p>
            <a:pPr lvl="1"/>
            <a:r>
              <a:rPr lang="zh-CN" altLang="en-US" sz="1600" dirty="0">
                <a:solidFill>
                  <a:srgbClr val="00B0F0"/>
                </a:solidFill>
              </a:rPr>
              <a:t>课程目标</a:t>
            </a:r>
            <a:r>
              <a:rPr lang="en-US" altLang="zh-CN" sz="1600" dirty="0">
                <a:solidFill>
                  <a:srgbClr val="00B0F0"/>
                </a:solidFill>
              </a:rPr>
              <a:t>2</a:t>
            </a:r>
            <a:r>
              <a:rPr lang="zh-CN" altLang="en-US" sz="1600" dirty="0">
                <a:solidFill>
                  <a:srgbClr val="00B0F0"/>
                </a:solidFill>
              </a:rPr>
              <a:t>：</a:t>
            </a:r>
            <a:r>
              <a:rPr lang="zh-CN" altLang="en-US" sz="1600" dirty="0"/>
              <a:t>掌握软件项目管理的概念、特点、过程及其重要性，通过不断优化和规范软件开发过程，帮助企业提高软件生成能力。针对软件生命周期中发现的缺陷进行分析、度量、寻找软件开发过程中存在的问题，</a:t>
            </a:r>
            <a:r>
              <a:rPr lang="zh-CN" altLang="en-US" sz="1600" dirty="0">
                <a:solidFill>
                  <a:srgbClr val="FF0000"/>
                </a:solidFill>
              </a:rPr>
              <a:t>持续改进开发过程，提高软件质量</a:t>
            </a:r>
            <a:r>
              <a:rPr lang="zh-CN" altLang="en-US" sz="1600" dirty="0"/>
              <a:t>。能够识别软件风险并正确处理软件风险。</a:t>
            </a:r>
          </a:p>
          <a:p>
            <a:pPr lvl="1"/>
            <a:r>
              <a:rPr lang="zh-CN" altLang="en-US" sz="1600" dirty="0">
                <a:solidFill>
                  <a:srgbClr val="00B0F0"/>
                </a:solidFill>
              </a:rPr>
              <a:t>课程目标</a:t>
            </a:r>
            <a:r>
              <a:rPr lang="en-US" altLang="zh-CN" sz="1600" dirty="0">
                <a:solidFill>
                  <a:srgbClr val="00B0F0"/>
                </a:solidFill>
              </a:rPr>
              <a:t>3</a:t>
            </a:r>
            <a:r>
              <a:rPr lang="zh-CN" altLang="en-US" sz="1600" dirty="0">
                <a:solidFill>
                  <a:srgbClr val="00B0F0"/>
                </a:solidFill>
              </a:rPr>
              <a:t>：</a:t>
            </a:r>
            <a:r>
              <a:rPr lang="zh-CN" altLang="en-US" sz="1600" dirty="0"/>
              <a:t>具备</a:t>
            </a:r>
            <a:r>
              <a:rPr lang="zh-CN" altLang="en-US" sz="1600" dirty="0">
                <a:solidFill>
                  <a:srgbClr val="FF0000"/>
                </a:solidFill>
              </a:rPr>
              <a:t>有效沟通、与他人合作</a:t>
            </a:r>
            <a:r>
              <a:rPr lang="zh-CN" altLang="en-US" sz="1600" dirty="0"/>
              <a:t>以及在多学科团队中行使职责的能力，具备团队组织、协调和领导力。通过分组项目培养学生共同探讨技术性问题的能力，培养学生的</a:t>
            </a:r>
            <a:r>
              <a:rPr lang="zh-CN" altLang="en-US" sz="1600" dirty="0">
                <a:solidFill>
                  <a:srgbClr val="FF0000"/>
                </a:solidFill>
              </a:rPr>
              <a:t>团队合作精神</a:t>
            </a:r>
            <a:r>
              <a:rPr lang="zh-CN" altLang="en-US" sz="1600" dirty="0"/>
              <a:t>，完成团队分配的任务，承担团队成员以及负责人的角色。</a:t>
            </a:r>
          </a:p>
          <a:p>
            <a:pPr lvl="1"/>
            <a:r>
              <a:rPr lang="zh-CN" altLang="en-US" sz="1600" dirty="0">
                <a:solidFill>
                  <a:srgbClr val="00B0F0"/>
                </a:solidFill>
              </a:rPr>
              <a:t>课程目标</a:t>
            </a:r>
            <a:r>
              <a:rPr lang="en-US" altLang="zh-CN" sz="1600" dirty="0">
                <a:solidFill>
                  <a:srgbClr val="00B0F0"/>
                </a:solidFill>
              </a:rPr>
              <a:t>4</a:t>
            </a:r>
            <a:r>
              <a:rPr lang="zh-CN" altLang="en-US" sz="1600" dirty="0">
                <a:solidFill>
                  <a:srgbClr val="00B0F0"/>
                </a:solidFill>
              </a:rPr>
              <a:t>：</a:t>
            </a:r>
            <a:r>
              <a:rPr lang="zh-CN" altLang="en-US" sz="1600" dirty="0"/>
              <a:t>能够运用所学知识进行软件项目</a:t>
            </a:r>
            <a:r>
              <a:rPr lang="zh-CN" altLang="en-US" sz="1600" dirty="0">
                <a:solidFill>
                  <a:srgbClr val="FF0000"/>
                </a:solidFill>
              </a:rPr>
              <a:t>全过程的工程管理</a:t>
            </a:r>
            <a:r>
              <a:rPr lang="zh-CN" altLang="en-US" sz="1600" dirty="0"/>
              <a:t>，掌握软件开发过程中的成本分析和经济决策的方法、技术，并能够根据分析结果制定正确的项目开发计划。针对项目目标任务，能够自觉运用所学到的项目管理的手段和方法，分析、处理和解决项目开发过程中实际问题，实现项目目标。</a:t>
            </a:r>
          </a:p>
          <a:p>
            <a:pPr lvl="1"/>
            <a:endParaRPr lang="zh-CN" altLang="en-US" dirty="0"/>
          </a:p>
        </p:txBody>
      </p:sp>
    </p:spTree>
    <p:extLst>
      <p:ext uri="{BB962C8B-B14F-4D97-AF65-F5344CB8AC3E}">
        <p14:creationId xmlns:p14="http://schemas.microsoft.com/office/powerpoint/2010/main" val="2743397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E4DDB05-8A67-B011-DADF-40C285CDDE8F}"/>
              </a:ext>
            </a:extLst>
          </p:cNvPr>
          <p:cNvSpPr>
            <a:spLocks noGrp="1" noChangeArrowheads="1"/>
          </p:cNvSpPr>
          <p:nvPr>
            <p:ph type="ctrTitle"/>
          </p:nvPr>
        </p:nvSpPr>
        <p:spPr>
          <a:noFill/>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lang="zh-CN" altLang="en-US" dirty="0"/>
              <a:t>第 </a:t>
            </a:r>
            <a:r>
              <a:rPr lang="en-US" altLang="zh-CN" dirty="0"/>
              <a:t>1 </a:t>
            </a:r>
            <a:r>
              <a:rPr lang="zh-CN" altLang="en-US" dirty="0"/>
              <a:t>章   软件项目管理概述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0A2F82-229A-E10F-E652-FC963BFDC7EE}"/>
              </a:ext>
            </a:extLst>
          </p:cNvPr>
          <p:cNvSpPr>
            <a:spLocks noGrp="1"/>
          </p:cNvSpPr>
          <p:nvPr>
            <p:ph type="title"/>
          </p:nvPr>
        </p:nvSpPr>
        <p:spPr/>
        <p:txBody>
          <a:bodyPr/>
          <a:lstStyle/>
          <a:p>
            <a:r>
              <a:rPr lang="zh-CN" altLang="en-US" dirty="0"/>
              <a:t>导论：为什么要学习软件项目管理</a:t>
            </a:r>
          </a:p>
        </p:txBody>
      </p:sp>
      <p:sp>
        <p:nvSpPr>
          <p:cNvPr id="3" name="内容占位符 2">
            <a:extLst>
              <a:ext uri="{FF2B5EF4-FFF2-40B4-BE49-F238E27FC236}">
                <a16:creationId xmlns:a16="http://schemas.microsoft.com/office/drawing/2014/main" id="{27CF38DF-E526-7E31-5D7C-E3DC92984292}"/>
              </a:ext>
            </a:extLst>
          </p:cNvPr>
          <p:cNvSpPr>
            <a:spLocks noGrp="1"/>
          </p:cNvSpPr>
          <p:nvPr>
            <p:ph idx="1"/>
          </p:nvPr>
        </p:nvSpPr>
        <p:spPr/>
        <p:txBody>
          <a:bodyPr/>
          <a:lstStyle/>
          <a:p>
            <a:r>
              <a:rPr lang="zh-CN" altLang="en-US" sz="2000" dirty="0">
                <a:solidFill>
                  <a:srgbClr val="FF0000"/>
                </a:solidFill>
              </a:rPr>
              <a:t>对于国家：</a:t>
            </a:r>
            <a:endParaRPr lang="en-US" altLang="zh-CN" sz="2000" dirty="0">
              <a:solidFill>
                <a:srgbClr val="FF0000"/>
              </a:solidFill>
            </a:endParaRPr>
          </a:p>
          <a:p>
            <a:pPr lvl="1"/>
            <a:r>
              <a:rPr lang="zh-CN" altLang="en-US" sz="1800" dirty="0"/>
              <a:t> 美国硅谷，印度裔领导的公司占了近</a:t>
            </a:r>
            <a:r>
              <a:rPr lang="en-US" altLang="zh-CN" sz="1800" dirty="0"/>
              <a:t>40%</a:t>
            </a:r>
            <a:r>
              <a:rPr lang="zh-CN" altLang="en-US" sz="1800" dirty="0"/>
              <a:t>，数十万印度</a:t>
            </a:r>
            <a:r>
              <a:rPr lang="en-US" altLang="zh-CN" sz="1800" dirty="0"/>
              <a:t>IT</a:t>
            </a:r>
            <a:r>
              <a:rPr lang="zh-CN" altLang="en-US" sz="1800" dirty="0"/>
              <a:t>白领还在一步步往上爬。</a:t>
            </a:r>
            <a:endParaRPr lang="en-US" altLang="zh-CN" sz="1800" dirty="0"/>
          </a:p>
          <a:p>
            <a:pPr lvl="1"/>
            <a:r>
              <a:rPr lang="en-US" altLang="zh-CN" sz="1800" dirty="0"/>
              <a:t>IT</a:t>
            </a:r>
            <a:r>
              <a:rPr lang="zh-CN" altLang="en-US" sz="1800" dirty="0"/>
              <a:t>项目经理的培养和发展决定了中国信息化发展速度和质量。</a:t>
            </a:r>
            <a:endParaRPr lang="en-US" altLang="zh-CN" sz="1800" dirty="0"/>
          </a:p>
          <a:p>
            <a:r>
              <a:rPr lang="zh-CN" altLang="en-US" sz="2000" dirty="0">
                <a:solidFill>
                  <a:srgbClr val="FF0000"/>
                </a:solidFill>
              </a:rPr>
              <a:t>对于企业：</a:t>
            </a:r>
            <a:endParaRPr lang="en-US" altLang="zh-CN" sz="2000" dirty="0">
              <a:solidFill>
                <a:srgbClr val="FF0000"/>
              </a:solidFill>
            </a:endParaRPr>
          </a:p>
          <a:p>
            <a:pPr lvl="1"/>
            <a:r>
              <a:rPr lang="zh-CN" altLang="en-US" sz="1800" dirty="0"/>
              <a:t>美国斯坦迪申咨询公司曾经对本国  </a:t>
            </a:r>
            <a:r>
              <a:rPr lang="en-US" altLang="zh-CN" sz="1800" dirty="0"/>
              <a:t>365  </a:t>
            </a:r>
            <a:r>
              <a:rPr lang="zh-CN" altLang="en-US" sz="1800" dirty="0"/>
              <a:t>位信息技术高层经理人员管理的 </a:t>
            </a:r>
            <a:r>
              <a:rPr lang="en-US" altLang="zh-CN" sz="1800" dirty="0"/>
              <a:t>8380 </a:t>
            </a:r>
            <a:r>
              <a:rPr lang="zh-CN" altLang="en-US" sz="1800" dirty="0"/>
              <a:t>个软件（</a:t>
            </a:r>
            <a:r>
              <a:rPr lang="en-US" altLang="zh-CN" sz="1800" dirty="0"/>
              <a:t>IT</a:t>
            </a:r>
            <a:r>
              <a:rPr lang="zh-CN" altLang="en-US" sz="1800" dirty="0"/>
              <a:t>）项目进行调研，得到如下结论：</a:t>
            </a:r>
          </a:p>
          <a:p>
            <a:pPr lvl="2"/>
            <a:r>
              <a:rPr lang="en-US" altLang="zh-CN" sz="1600" dirty="0"/>
              <a:t>IT</a:t>
            </a:r>
            <a:r>
              <a:rPr lang="zh-CN" altLang="en-US" sz="1600" dirty="0"/>
              <a:t>行业正处于一个混沌的状态</a:t>
            </a:r>
          </a:p>
          <a:p>
            <a:pPr lvl="2"/>
            <a:r>
              <a:rPr lang="zh-CN" altLang="en-US" sz="1600" dirty="0"/>
              <a:t>平均成功率为</a:t>
            </a:r>
            <a:r>
              <a:rPr lang="en-US" altLang="zh-CN" sz="1600" dirty="0"/>
              <a:t>16</a:t>
            </a:r>
            <a:r>
              <a:rPr lang="zh-CN" altLang="en-US" sz="1600" dirty="0"/>
              <a:t>％</a:t>
            </a:r>
          </a:p>
          <a:p>
            <a:pPr lvl="2"/>
            <a:r>
              <a:rPr lang="en-US" altLang="zh-CN" sz="1600" dirty="0"/>
              <a:t>50</a:t>
            </a:r>
            <a:r>
              <a:rPr lang="zh-CN" altLang="en-US" sz="1600" dirty="0"/>
              <a:t>％的项目需要补救</a:t>
            </a:r>
          </a:p>
          <a:p>
            <a:pPr lvl="2"/>
            <a:r>
              <a:rPr lang="en-US" altLang="zh-CN" sz="1600" dirty="0"/>
              <a:t>34</a:t>
            </a:r>
            <a:r>
              <a:rPr lang="zh-CN" altLang="en-US" sz="1600" dirty="0"/>
              <a:t>％的项目彻底失败</a:t>
            </a:r>
          </a:p>
          <a:p>
            <a:pPr lvl="2"/>
            <a:r>
              <a:rPr lang="zh-CN" altLang="en-US" sz="1600" dirty="0"/>
              <a:t>平均超出时间为 </a:t>
            </a:r>
            <a:r>
              <a:rPr lang="en-US" altLang="zh-CN" sz="1600" dirty="0"/>
              <a:t>222%</a:t>
            </a:r>
          </a:p>
          <a:p>
            <a:pPr lvl="2"/>
            <a:r>
              <a:rPr lang="zh-CN" altLang="en-US" sz="1600" dirty="0"/>
              <a:t>实际成本是估计成本的 </a:t>
            </a:r>
            <a:r>
              <a:rPr lang="en-US" altLang="zh-CN" sz="1600" dirty="0"/>
              <a:t>189%</a:t>
            </a:r>
          </a:p>
          <a:p>
            <a:pPr lvl="2"/>
            <a:r>
              <a:rPr lang="zh-CN" altLang="en-US" sz="1600" dirty="0"/>
              <a:t>性能与功能只达到要求的</a:t>
            </a:r>
            <a:r>
              <a:rPr lang="en-US" altLang="zh-CN" sz="1600" dirty="0"/>
              <a:t>61</a:t>
            </a:r>
            <a:r>
              <a:rPr lang="zh-CN" altLang="en-US" sz="1600" dirty="0"/>
              <a:t>％</a:t>
            </a:r>
          </a:p>
          <a:p>
            <a:pPr lvl="1"/>
            <a:endParaRPr lang="zh-CN" altLang="en-US" dirty="0"/>
          </a:p>
        </p:txBody>
      </p:sp>
    </p:spTree>
    <p:extLst>
      <p:ext uri="{BB962C8B-B14F-4D97-AF65-F5344CB8AC3E}">
        <p14:creationId xmlns:p14="http://schemas.microsoft.com/office/powerpoint/2010/main" val="1937427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0A2F82-229A-E10F-E652-FC963BFDC7EE}"/>
              </a:ext>
            </a:extLst>
          </p:cNvPr>
          <p:cNvSpPr>
            <a:spLocks noGrp="1"/>
          </p:cNvSpPr>
          <p:nvPr>
            <p:ph type="title"/>
          </p:nvPr>
        </p:nvSpPr>
        <p:spPr/>
        <p:txBody>
          <a:bodyPr/>
          <a:lstStyle/>
          <a:p>
            <a:r>
              <a:rPr lang="zh-CN" altLang="en-US" dirty="0"/>
              <a:t>导论：为什么要学习软件项目管理</a:t>
            </a:r>
          </a:p>
        </p:txBody>
      </p:sp>
      <p:sp>
        <p:nvSpPr>
          <p:cNvPr id="3" name="内容占位符 2">
            <a:extLst>
              <a:ext uri="{FF2B5EF4-FFF2-40B4-BE49-F238E27FC236}">
                <a16:creationId xmlns:a16="http://schemas.microsoft.com/office/drawing/2014/main" id="{27CF38DF-E526-7E31-5D7C-E3DC92984292}"/>
              </a:ext>
            </a:extLst>
          </p:cNvPr>
          <p:cNvSpPr>
            <a:spLocks noGrp="1"/>
          </p:cNvSpPr>
          <p:nvPr>
            <p:ph idx="1"/>
          </p:nvPr>
        </p:nvSpPr>
        <p:spPr/>
        <p:txBody>
          <a:bodyPr/>
          <a:lstStyle/>
          <a:p>
            <a:r>
              <a:rPr lang="zh-CN" altLang="en-US" sz="2000" dirty="0">
                <a:solidFill>
                  <a:srgbClr val="FF0000"/>
                </a:solidFill>
              </a:rPr>
              <a:t>对于个人：</a:t>
            </a:r>
            <a:endParaRPr lang="en-US" altLang="zh-CN" sz="2000" dirty="0">
              <a:solidFill>
                <a:srgbClr val="FF0000"/>
              </a:solidFill>
            </a:endParaRPr>
          </a:p>
          <a:p>
            <a:pPr lvl="1"/>
            <a:r>
              <a:rPr lang="zh-CN" altLang="en-US" dirty="0"/>
              <a:t>规划好你的职业发展</a:t>
            </a:r>
          </a:p>
          <a:p>
            <a:pPr lvl="2"/>
            <a:r>
              <a:rPr lang="en-US" altLang="zh-CN" dirty="0"/>
              <a:t>35</a:t>
            </a:r>
            <a:r>
              <a:rPr lang="zh-CN" altLang="en-US" dirty="0"/>
              <a:t>岁后你仍是基层的技术人员（程序员）？被公司优化辞退的风险大（近年</a:t>
            </a:r>
            <a:r>
              <a:rPr lang="en-US" altLang="zh-CN" dirty="0"/>
              <a:t>IT</a:t>
            </a:r>
            <a:r>
              <a:rPr lang="zh-CN" altLang="en-US" dirty="0"/>
              <a:t>行业大裁员）；</a:t>
            </a:r>
          </a:p>
          <a:p>
            <a:pPr lvl="2"/>
            <a:r>
              <a:rPr lang="zh-CN" altLang="en-US" dirty="0"/>
              <a:t>优秀的</a:t>
            </a:r>
            <a:r>
              <a:rPr lang="en-US" altLang="zh-CN" dirty="0"/>
              <a:t>IT</a:t>
            </a:r>
            <a:r>
              <a:rPr lang="zh-CN" altLang="en-US" dirty="0"/>
              <a:t>从业者往往由基层的技术研发开始，经由技术总监、项目经理、部门经理、</a:t>
            </a:r>
            <a:r>
              <a:rPr lang="en-US" altLang="zh-CN" dirty="0"/>
              <a:t>CEO</a:t>
            </a:r>
            <a:r>
              <a:rPr lang="zh-CN" altLang="en-US" dirty="0"/>
              <a:t>等职业发展，也有不少人自主创业成为</a:t>
            </a:r>
            <a:r>
              <a:rPr lang="en-US" altLang="zh-CN" dirty="0"/>
              <a:t>boss</a:t>
            </a:r>
            <a:r>
              <a:rPr lang="zh-CN" altLang="en-US" dirty="0"/>
              <a:t>。</a:t>
            </a:r>
          </a:p>
          <a:p>
            <a:pPr lvl="1"/>
            <a:r>
              <a:rPr lang="zh-CN" altLang="en-US" dirty="0"/>
              <a:t>项目经理是职业发展的重要里程碑</a:t>
            </a:r>
            <a:endParaRPr lang="en-US" altLang="zh-CN" dirty="0"/>
          </a:p>
          <a:p>
            <a:pPr lvl="2"/>
            <a:r>
              <a:rPr lang="zh-CN" altLang="en-US" dirty="0"/>
              <a:t>做好项目管理，是通往更高管理岗位的必经之路，如硅谷</a:t>
            </a:r>
            <a:r>
              <a:rPr lang="en-US" altLang="zh-CN" dirty="0"/>
              <a:t>IT</a:t>
            </a:r>
            <a:r>
              <a:rPr lang="zh-CN" altLang="en-US" dirty="0"/>
              <a:t>高管的成功经验等</a:t>
            </a:r>
          </a:p>
        </p:txBody>
      </p:sp>
    </p:spTree>
    <p:extLst>
      <p:ext uri="{BB962C8B-B14F-4D97-AF65-F5344CB8AC3E}">
        <p14:creationId xmlns:p14="http://schemas.microsoft.com/office/powerpoint/2010/main" val="1979113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A3A9CA-0413-E2AE-AD16-B2BD37D9B2E4}"/>
              </a:ext>
            </a:extLst>
          </p:cNvPr>
          <p:cNvSpPr>
            <a:spLocks noGrp="1"/>
          </p:cNvSpPr>
          <p:nvPr>
            <p:ph type="title"/>
          </p:nvPr>
        </p:nvSpPr>
        <p:spPr/>
        <p:txBody>
          <a:bodyPr/>
          <a:lstStyle/>
          <a:p>
            <a:r>
              <a:rPr lang="zh-CN" altLang="en-US" dirty="0"/>
              <a:t>项目管理的历史</a:t>
            </a:r>
          </a:p>
        </p:txBody>
      </p:sp>
      <p:sp>
        <p:nvSpPr>
          <p:cNvPr id="3" name="内容占位符 2">
            <a:extLst>
              <a:ext uri="{FF2B5EF4-FFF2-40B4-BE49-F238E27FC236}">
                <a16:creationId xmlns:a16="http://schemas.microsoft.com/office/drawing/2014/main" id="{A69583D4-F18F-80DC-A215-CD3602F52E18}"/>
              </a:ext>
            </a:extLst>
          </p:cNvPr>
          <p:cNvSpPr>
            <a:spLocks noGrp="1"/>
          </p:cNvSpPr>
          <p:nvPr>
            <p:ph idx="1"/>
          </p:nvPr>
        </p:nvSpPr>
        <p:spPr/>
        <p:txBody>
          <a:bodyPr/>
          <a:lstStyle/>
          <a:p>
            <a:pPr>
              <a:spcBef>
                <a:spcPts val="1200"/>
              </a:spcBef>
              <a:spcAft>
                <a:spcPts val="0"/>
              </a:spcAft>
              <a:buClrTx/>
              <a:defRPr/>
            </a:pPr>
            <a:r>
              <a:rPr lang="zh-CN" altLang="en-US" sz="2400" kern="0" dirty="0">
                <a:solidFill>
                  <a:srgbClr val="C00000"/>
                </a:solidFill>
                <a:latin typeface="+mn-ea"/>
              </a:rPr>
              <a:t>古代：</a:t>
            </a:r>
            <a:r>
              <a:rPr lang="zh-CN" altLang="en-US" sz="2400" kern="0" dirty="0">
                <a:solidFill>
                  <a:srgbClr val="002060"/>
                </a:solidFill>
                <a:latin typeface="+mn-ea"/>
              </a:rPr>
              <a:t>追溯到长城、埃及金字塔、古罗马的供水渠…</a:t>
            </a:r>
          </a:p>
          <a:p>
            <a:pPr>
              <a:spcBef>
                <a:spcPts val="2400"/>
              </a:spcBef>
              <a:spcAft>
                <a:spcPts val="0"/>
              </a:spcAft>
              <a:buClrTx/>
              <a:defRPr/>
            </a:pPr>
            <a:r>
              <a:rPr lang="zh-CN" altLang="en-US" sz="2400" kern="0" dirty="0">
                <a:solidFill>
                  <a:srgbClr val="C00000"/>
                </a:solidFill>
                <a:latin typeface="+mn-ea"/>
              </a:rPr>
              <a:t>近代项目管理的萌芽</a:t>
            </a:r>
            <a:r>
              <a:rPr lang="zh-CN" altLang="en-US" sz="2400" kern="0" dirty="0">
                <a:solidFill>
                  <a:srgbClr val="002060"/>
                </a:solidFill>
                <a:latin typeface="+mn-ea"/>
              </a:rPr>
              <a:t>: “曼哈顿计划”（</a:t>
            </a:r>
            <a:r>
              <a:rPr lang="en-US" altLang="zh-CN" sz="2000" kern="0" dirty="0">
                <a:solidFill>
                  <a:srgbClr val="002060"/>
                </a:solidFill>
                <a:latin typeface="+mn-ea"/>
              </a:rPr>
              <a:t>1942</a:t>
            </a:r>
            <a:r>
              <a:rPr lang="zh-CN" altLang="en-US" sz="2000" kern="0" dirty="0">
                <a:solidFill>
                  <a:srgbClr val="002060"/>
                </a:solidFill>
                <a:latin typeface="+mn-ea"/>
              </a:rPr>
              <a:t>原子弹计划</a:t>
            </a:r>
            <a:r>
              <a:rPr lang="zh-CN" altLang="en-US" sz="2400" kern="0" dirty="0">
                <a:solidFill>
                  <a:srgbClr val="002060"/>
                </a:solidFill>
                <a:latin typeface="+mn-ea"/>
              </a:rPr>
              <a:t>）。</a:t>
            </a:r>
          </a:p>
          <a:p>
            <a:pPr>
              <a:spcBef>
                <a:spcPts val="1200"/>
              </a:spcBef>
              <a:spcAft>
                <a:spcPts val="0"/>
              </a:spcAft>
              <a:buClrTx/>
              <a:defRPr/>
            </a:pPr>
            <a:r>
              <a:rPr lang="zh-CN" altLang="en-US" sz="2400" kern="0" dirty="0">
                <a:solidFill>
                  <a:srgbClr val="C00000"/>
                </a:solidFill>
                <a:latin typeface="+mn-ea"/>
              </a:rPr>
              <a:t>近代项目管理的成熟</a:t>
            </a:r>
            <a:r>
              <a:rPr lang="zh-CN" altLang="en-US" sz="2400" kern="0" dirty="0">
                <a:solidFill>
                  <a:srgbClr val="002060"/>
                </a:solidFill>
                <a:latin typeface="+mn-ea"/>
              </a:rPr>
              <a:t>: </a:t>
            </a:r>
          </a:p>
          <a:p>
            <a:pPr>
              <a:spcBef>
                <a:spcPts val="600"/>
              </a:spcBef>
              <a:spcAft>
                <a:spcPts val="0"/>
              </a:spcAft>
              <a:buFont typeface="Arial" panose="020B0604020202020204" pitchFamily="34" charset="0"/>
              <a:buNone/>
              <a:defRPr/>
            </a:pPr>
            <a:r>
              <a:rPr lang="zh-CN" altLang="en-US" sz="2400" kern="0" dirty="0">
                <a:solidFill>
                  <a:srgbClr val="002060"/>
                </a:solidFill>
                <a:latin typeface="+mn-ea"/>
              </a:rPr>
              <a:t>    关键路线法（</a:t>
            </a:r>
            <a:r>
              <a:rPr lang="en-US" altLang="zh-CN" sz="2400" kern="0" dirty="0">
                <a:solidFill>
                  <a:srgbClr val="002060"/>
                </a:solidFill>
                <a:latin typeface="+mn-ea"/>
              </a:rPr>
              <a:t>CPM）</a:t>
            </a:r>
            <a:r>
              <a:rPr lang="zh-CN" altLang="en-US" sz="2400" kern="0" dirty="0">
                <a:solidFill>
                  <a:srgbClr val="002060"/>
                </a:solidFill>
                <a:latin typeface="+mn-ea"/>
              </a:rPr>
              <a:t>和计划评审技术 (</a:t>
            </a:r>
            <a:r>
              <a:rPr lang="en-US" altLang="zh-CN" sz="2400" kern="0" dirty="0">
                <a:solidFill>
                  <a:srgbClr val="002060"/>
                </a:solidFill>
                <a:latin typeface="+mn-ea"/>
              </a:rPr>
              <a:t>PERT）</a:t>
            </a:r>
          </a:p>
          <a:p>
            <a:pPr>
              <a:spcBef>
                <a:spcPts val="600"/>
              </a:spcBef>
              <a:spcAft>
                <a:spcPts val="0"/>
              </a:spcAft>
              <a:buFont typeface="Arial" panose="020B0604020202020204" pitchFamily="34" charset="0"/>
              <a:buNone/>
              <a:defRPr/>
            </a:pPr>
            <a:r>
              <a:rPr lang="en-US" altLang="zh-CN" sz="2400" kern="0" dirty="0">
                <a:solidFill>
                  <a:srgbClr val="002060"/>
                </a:solidFill>
                <a:latin typeface="+mn-ea"/>
              </a:rPr>
              <a:t>     </a:t>
            </a:r>
            <a:r>
              <a:rPr lang="zh-CN" altLang="en-US" sz="2400" kern="0" dirty="0">
                <a:solidFill>
                  <a:srgbClr val="002060"/>
                </a:solidFill>
                <a:latin typeface="+mn-ea"/>
              </a:rPr>
              <a:t>阿波罗登月计划</a:t>
            </a:r>
          </a:p>
          <a:p>
            <a:pPr>
              <a:spcBef>
                <a:spcPts val="2400"/>
              </a:spcBef>
              <a:spcAft>
                <a:spcPts val="0"/>
              </a:spcAft>
              <a:buClrTx/>
              <a:defRPr/>
            </a:pPr>
            <a:r>
              <a:rPr lang="zh-CN" altLang="en-US" sz="2400" kern="0" dirty="0">
                <a:solidFill>
                  <a:srgbClr val="C00000"/>
                </a:solidFill>
                <a:latin typeface="+mn-ea"/>
              </a:rPr>
              <a:t>现代项目管理的新发展</a:t>
            </a:r>
            <a:r>
              <a:rPr lang="zh-CN" altLang="en-US" sz="2400" kern="0" dirty="0">
                <a:solidFill>
                  <a:srgbClr val="002060"/>
                </a:solidFill>
                <a:latin typeface="+mn-ea"/>
              </a:rPr>
              <a:t>: </a:t>
            </a:r>
          </a:p>
          <a:p>
            <a:pPr>
              <a:lnSpc>
                <a:spcPct val="90000"/>
              </a:lnSpc>
              <a:buFont typeface="Arial" panose="020B0604020202020204" pitchFamily="34" charset="0"/>
              <a:buNone/>
              <a:defRPr/>
            </a:pPr>
            <a:r>
              <a:rPr lang="zh-CN" altLang="en-US" sz="2400" kern="0" dirty="0">
                <a:solidFill>
                  <a:srgbClr val="002060"/>
                </a:solidFill>
                <a:latin typeface="+mn-ea"/>
              </a:rPr>
              <a:t>     面向市场和竞争，项目管理的传播和现代化。</a:t>
            </a:r>
          </a:p>
          <a:p>
            <a:pPr>
              <a:lnSpc>
                <a:spcPct val="90000"/>
              </a:lnSpc>
              <a:buFont typeface="Arial" panose="020B0604020202020204" pitchFamily="34" charset="0"/>
              <a:buNone/>
              <a:defRPr/>
            </a:pPr>
            <a:r>
              <a:rPr lang="zh-CN" altLang="en-US" sz="2400" kern="0" dirty="0">
                <a:solidFill>
                  <a:srgbClr val="002060"/>
                </a:solidFill>
                <a:latin typeface="+mn-ea"/>
              </a:rPr>
              <a:t>      注重人的因素、注重顾客、注重柔性管理、注重管理工具</a:t>
            </a:r>
          </a:p>
          <a:p>
            <a:endParaRPr lang="zh-CN" altLang="en-US" dirty="0"/>
          </a:p>
        </p:txBody>
      </p:sp>
    </p:spTree>
    <p:extLst>
      <p:ext uri="{BB962C8B-B14F-4D97-AF65-F5344CB8AC3E}">
        <p14:creationId xmlns:p14="http://schemas.microsoft.com/office/powerpoint/2010/main" val="1985853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52F8C-E8B1-CE4A-61BB-3A39F0D56064}"/>
              </a:ext>
            </a:extLst>
          </p:cNvPr>
          <p:cNvSpPr>
            <a:spLocks noGrp="1"/>
          </p:cNvSpPr>
          <p:nvPr>
            <p:ph type="title"/>
          </p:nvPr>
        </p:nvSpPr>
        <p:spPr/>
        <p:txBody>
          <a:bodyPr/>
          <a:lstStyle/>
          <a:p>
            <a:r>
              <a:rPr lang="zh-CN" altLang="en-US" dirty="0"/>
              <a:t>项目管理的发展</a:t>
            </a:r>
          </a:p>
        </p:txBody>
      </p:sp>
      <p:sp>
        <p:nvSpPr>
          <p:cNvPr id="3" name="内容占位符 2">
            <a:extLst>
              <a:ext uri="{FF2B5EF4-FFF2-40B4-BE49-F238E27FC236}">
                <a16:creationId xmlns:a16="http://schemas.microsoft.com/office/drawing/2014/main" id="{CB6DAC43-FCEC-5CAF-CC97-8C58495DE623}"/>
              </a:ext>
            </a:extLst>
          </p:cNvPr>
          <p:cNvSpPr>
            <a:spLocks noGrp="1"/>
          </p:cNvSpPr>
          <p:nvPr>
            <p:ph idx="1"/>
          </p:nvPr>
        </p:nvSpPr>
        <p:spPr/>
        <p:txBody>
          <a:bodyPr/>
          <a:lstStyle/>
          <a:p>
            <a:pPr marL="989013" indent="-539750">
              <a:lnSpc>
                <a:spcPct val="150000"/>
              </a:lnSpc>
              <a:spcBef>
                <a:spcPct val="50000"/>
              </a:spcBef>
              <a:buClr>
                <a:schemeClr val="accent1"/>
              </a:buClr>
              <a:buFont typeface="Wingdings" panose="05000000000000000000" pitchFamily="2" charset="2"/>
              <a:buChar char="Ø"/>
              <a:defRPr/>
            </a:pPr>
            <a:r>
              <a:rPr lang="en-US" altLang="zh-CN" sz="1800" dirty="0">
                <a:solidFill>
                  <a:srgbClr val="002060"/>
                </a:solidFill>
                <a:latin typeface="华文中宋" pitchFamily="2" charset="-122"/>
                <a:ea typeface="华文中宋" pitchFamily="2" charset="-122"/>
              </a:rPr>
              <a:t>1957</a:t>
            </a:r>
            <a:r>
              <a:rPr lang="zh-CN" altLang="en-US" sz="1800" dirty="0">
                <a:solidFill>
                  <a:srgbClr val="002060"/>
                </a:solidFill>
                <a:latin typeface="华文中宋" pitchFamily="2" charset="-122"/>
                <a:ea typeface="华文中宋" pitchFamily="2" charset="-122"/>
              </a:rPr>
              <a:t>年美国路易斯维化工厂革新检修工作</a:t>
            </a:r>
            <a:r>
              <a:rPr lang="en-US" altLang="zh-CN" sz="1800" dirty="0">
                <a:solidFill>
                  <a:srgbClr val="002060"/>
                </a:solidFill>
                <a:latin typeface="华文中宋" pitchFamily="2" charset="-122"/>
                <a:ea typeface="华文中宋" pitchFamily="2" charset="-122"/>
              </a:rPr>
              <a:t>,78</a:t>
            </a:r>
            <a:r>
              <a:rPr lang="zh-CN" altLang="en-US" sz="1800" dirty="0">
                <a:solidFill>
                  <a:srgbClr val="002060"/>
                </a:solidFill>
                <a:latin typeface="华文中宋" pitchFamily="2" charset="-122"/>
                <a:ea typeface="华文中宋" pitchFamily="2" charset="-122"/>
              </a:rPr>
              <a:t>小时完成</a:t>
            </a:r>
            <a:r>
              <a:rPr lang="en-US" altLang="zh-CN" sz="1800" dirty="0">
                <a:solidFill>
                  <a:srgbClr val="002060"/>
                </a:solidFill>
                <a:latin typeface="华文中宋" pitchFamily="2" charset="-122"/>
                <a:ea typeface="华文中宋" pitchFamily="2" charset="-122"/>
              </a:rPr>
              <a:t>125</a:t>
            </a:r>
            <a:r>
              <a:rPr lang="zh-CN" altLang="en-US" sz="1800" dirty="0">
                <a:solidFill>
                  <a:srgbClr val="002060"/>
                </a:solidFill>
                <a:latin typeface="华文中宋" pitchFamily="2" charset="-122"/>
                <a:ea typeface="华文中宋" pitchFamily="2" charset="-122"/>
              </a:rPr>
              <a:t>小时的工作 。</a:t>
            </a:r>
            <a:endParaRPr lang="en-US" altLang="zh-CN" sz="1800" dirty="0">
              <a:solidFill>
                <a:srgbClr val="002060"/>
              </a:solidFill>
              <a:latin typeface="华文中宋" pitchFamily="2" charset="-122"/>
              <a:ea typeface="华文中宋" pitchFamily="2" charset="-122"/>
            </a:endParaRPr>
          </a:p>
          <a:p>
            <a:pPr marL="989013" indent="-539750">
              <a:lnSpc>
                <a:spcPct val="150000"/>
              </a:lnSpc>
              <a:spcBef>
                <a:spcPct val="50000"/>
              </a:spcBef>
              <a:buClr>
                <a:schemeClr val="accent1"/>
              </a:buClr>
              <a:buFont typeface="Wingdings" panose="05000000000000000000" pitchFamily="2" charset="2"/>
              <a:buChar char="Ø"/>
              <a:defRPr/>
            </a:pPr>
            <a:r>
              <a:rPr lang="en-US" altLang="zh-CN" sz="1800" dirty="0">
                <a:solidFill>
                  <a:srgbClr val="002060"/>
                </a:solidFill>
                <a:latin typeface="华文中宋" pitchFamily="2" charset="-122"/>
                <a:ea typeface="华文中宋" pitchFamily="2" charset="-122"/>
              </a:rPr>
              <a:t>1958</a:t>
            </a:r>
            <a:r>
              <a:rPr lang="zh-CN" altLang="en-US" sz="1800" dirty="0">
                <a:solidFill>
                  <a:srgbClr val="002060"/>
                </a:solidFill>
                <a:latin typeface="华文中宋" pitchFamily="2" charset="-122"/>
                <a:ea typeface="华文中宋" pitchFamily="2" charset="-122"/>
              </a:rPr>
              <a:t>年，美国海军研制北极星导弹时，只用了</a:t>
            </a:r>
            <a:r>
              <a:rPr lang="en-US" altLang="zh-CN" sz="1800" dirty="0">
                <a:solidFill>
                  <a:srgbClr val="002060"/>
                </a:solidFill>
                <a:latin typeface="华文中宋" pitchFamily="2" charset="-122"/>
                <a:ea typeface="华文中宋" pitchFamily="2" charset="-122"/>
              </a:rPr>
              <a:t>4</a:t>
            </a:r>
            <a:r>
              <a:rPr lang="zh-CN" altLang="en-US" sz="1800" dirty="0">
                <a:solidFill>
                  <a:srgbClr val="002060"/>
                </a:solidFill>
                <a:latin typeface="华文中宋" pitchFamily="2" charset="-122"/>
                <a:ea typeface="华文中宋" pitchFamily="2" charset="-122"/>
              </a:rPr>
              <a:t>年就完成了预定</a:t>
            </a:r>
            <a:r>
              <a:rPr lang="en-US" altLang="zh-CN" sz="1800" dirty="0">
                <a:solidFill>
                  <a:srgbClr val="002060"/>
                </a:solidFill>
                <a:latin typeface="华文中宋" pitchFamily="2" charset="-122"/>
                <a:ea typeface="华文中宋" pitchFamily="2" charset="-122"/>
              </a:rPr>
              <a:t>6</a:t>
            </a:r>
            <a:r>
              <a:rPr lang="zh-CN" altLang="en-US" sz="1800" dirty="0">
                <a:solidFill>
                  <a:srgbClr val="002060"/>
                </a:solidFill>
                <a:latin typeface="华文中宋" pitchFamily="2" charset="-122"/>
                <a:ea typeface="华文中宋" pitchFamily="2" charset="-122"/>
              </a:rPr>
              <a:t>年完成的研制项目。 </a:t>
            </a:r>
          </a:p>
          <a:p>
            <a:pPr marL="989013" indent="-539750">
              <a:lnSpc>
                <a:spcPct val="150000"/>
              </a:lnSpc>
              <a:spcBef>
                <a:spcPct val="50000"/>
              </a:spcBef>
              <a:buClr>
                <a:schemeClr val="accent1"/>
              </a:buClr>
              <a:buFont typeface="Wingdings" panose="05000000000000000000" pitchFamily="2" charset="2"/>
              <a:buChar char="Ø"/>
              <a:defRPr/>
            </a:pPr>
            <a:r>
              <a:rPr lang="en-US" altLang="zh-CN" sz="1800" dirty="0">
                <a:solidFill>
                  <a:srgbClr val="002060"/>
                </a:solidFill>
                <a:latin typeface="华文中宋" pitchFamily="2" charset="-122"/>
                <a:ea typeface="华文中宋" pitchFamily="2" charset="-122"/>
              </a:rPr>
              <a:t>1960</a:t>
            </a:r>
            <a:r>
              <a:rPr lang="zh-CN" altLang="en-US" sz="1800" dirty="0">
                <a:solidFill>
                  <a:srgbClr val="002060"/>
                </a:solidFill>
                <a:latin typeface="华文中宋" pitchFamily="2" charset="-122"/>
                <a:ea typeface="华文中宋" pitchFamily="2" charset="-122"/>
              </a:rPr>
              <a:t>年华罗更提出“统筹法”，广泛应用于上海宝刚、葛州坝等建设中 。</a:t>
            </a:r>
            <a:endParaRPr lang="en-US" altLang="zh-CN" sz="1800" dirty="0">
              <a:solidFill>
                <a:srgbClr val="002060"/>
              </a:solidFill>
              <a:latin typeface="华文中宋" panose="02010600040101010101" pitchFamily="2" charset="-122"/>
              <a:ea typeface="华文中宋" panose="02010600040101010101" pitchFamily="2" charset="-122"/>
            </a:endParaRPr>
          </a:p>
          <a:p>
            <a:pPr lvl="1" eaLnBrk="1" hangingPunct="1">
              <a:lnSpc>
                <a:spcPct val="120000"/>
              </a:lnSpc>
              <a:spcBef>
                <a:spcPts val="1200"/>
              </a:spcBef>
              <a:buClr>
                <a:schemeClr val="accent1"/>
              </a:buClr>
              <a:buFont typeface="Wingdings" panose="05000000000000000000" pitchFamily="2" charset="2"/>
              <a:buChar char="Ø"/>
            </a:pPr>
            <a:r>
              <a:rPr lang="en-US" altLang="zh-CN" sz="1600" dirty="0">
                <a:solidFill>
                  <a:srgbClr val="002060"/>
                </a:solidFill>
                <a:latin typeface="华文中宋" panose="02010600040101010101" pitchFamily="2" charset="-122"/>
                <a:ea typeface="华文中宋" panose="02010600040101010101" pitchFamily="2" charset="-122"/>
              </a:rPr>
              <a:t>    </a:t>
            </a:r>
            <a:r>
              <a:rPr lang="en-US" altLang="zh-CN" sz="1800" dirty="0">
                <a:solidFill>
                  <a:srgbClr val="002060"/>
                </a:solidFill>
                <a:latin typeface="华文中宋" pitchFamily="2" charset="-122"/>
                <a:ea typeface="华文中宋" pitchFamily="2" charset="-122"/>
              </a:rPr>
              <a:t>1965</a:t>
            </a:r>
            <a:r>
              <a:rPr lang="zh-CN" altLang="en-US" sz="1800" dirty="0">
                <a:solidFill>
                  <a:srgbClr val="002060"/>
                </a:solidFill>
                <a:latin typeface="华文中宋" pitchFamily="2" charset="-122"/>
                <a:ea typeface="华文中宋" pitchFamily="2" charset="-122"/>
              </a:rPr>
              <a:t>年，以欧洲为主体的一些国家专门成立了国际项目管理协会（</a:t>
            </a:r>
            <a:r>
              <a:rPr lang="en-US" altLang="zh-CN" sz="1800" dirty="0">
                <a:solidFill>
                  <a:srgbClr val="002060"/>
                </a:solidFill>
                <a:latin typeface="华文中宋" pitchFamily="2" charset="-122"/>
                <a:ea typeface="华文中宋" pitchFamily="2" charset="-122"/>
              </a:rPr>
              <a:t>International Project Management Association</a:t>
            </a:r>
            <a:r>
              <a:rPr lang="zh-CN" altLang="en-US" sz="1800" dirty="0">
                <a:solidFill>
                  <a:srgbClr val="002060"/>
                </a:solidFill>
                <a:latin typeface="华文中宋" pitchFamily="2" charset="-122"/>
                <a:ea typeface="华文中宋" pitchFamily="2" charset="-122"/>
              </a:rPr>
              <a:t>，</a:t>
            </a:r>
            <a:r>
              <a:rPr lang="en-US" altLang="zh-CN" sz="1800" dirty="0">
                <a:solidFill>
                  <a:srgbClr val="002060"/>
                </a:solidFill>
                <a:latin typeface="华文中宋" pitchFamily="2" charset="-122"/>
                <a:ea typeface="华文中宋" pitchFamily="2" charset="-122"/>
              </a:rPr>
              <a:t>IPMA</a:t>
            </a:r>
            <a:r>
              <a:rPr lang="zh-CN" altLang="en-US" sz="1800" dirty="0">
                <a:solidFill>
                  <a:srgbClr val="002060"/>
                </a:solidFill>
                <a:latin typeface="华文中宋" pitchFamily="2" charset="-122"/>
                <a:ea typeface="华文中宋" pitchFamily="2" charset="-122"/>
              </a:rPr>
              <a:t>）。这个协会主要以各个国家的项目管理方面的组织为主体。</a:t>
            </a:r>
          </a:p>
          <a:p>
            <a:pPr lvl="3" eaLnBrk="1" hangingPunct="1">
              <a:lnSpc>
                <a:spcPct val="150000"/>
              </a:lnSpc>
              <a:spcBef>
                <a:spcPts val="1200"/>
              </a:spcBef>
              <a:buFont typeface="Wingdings" panose="05000000000000000000" pitchFamily="2" charset="2"/>
              <a:buChar char="v"/>
            </a:pPr>
            <a:r>
              <a:rPr kumimoji="1" lang="zh-CN" altLang="en-US" sz="1400" dirty="0">
                <a:solidFill>
                  <a:srgbClr val="002060"/>
                </a:solidFill>
                <a:latin typeface="华文中宋" panose="02010600040101010101" pitchFamily="2" charset="-122"/>
                <a:ea typeface="华文中宋" panose="02010600040101010101" pitchFamily="2" charset="-122"/>
              </a:rPr>
              <a:t>成员：国家级项目管理协会</a:t>
            </a:r>
          </a:p>
          <a:p>
            <a:pPr lvl="3" eaLnBrk="1" hangingPunct="1">
              <a:lnSpc>
                <a:spcPct val="150000"/>
              </a:lnSpc>
              <a:spcBef>
                <a:spcPts val="1200"/>
              </a:spcBef>
              <a:buFont typeface="Wingdings" panose="05000000000000000000" pitchFamily="2" charset="2"/>
              <a:buChar char="v"/>
            </a:pPr>
            <a:r>
              <a:rPr kumimoji="1" lang="zh-CN" altLang="en-US" sz="1400" dirty="0">
                <a:solidFill>
                  <a:srgbClr val="002060"/>
                </a:solidFill>
                <a:latin typeface="华文中宋" panose="02010600040101010101" pitchFamily="2" charset="-122"/>
                <a:ea typeface="华文中宋" panose="02010600040101010101" pitchFamily="2" charset="-122"/>
              </a:rPr>
              <a:t>职能：促进国际间项目管理发展</a:t>
            </a:r>
          </a:p>
          <a:p>
            <a:pPr lvl="3" eaLnBrk="1" hangingPunct="1">
              <a:lnSpc>
                <a:spcPct val="150000"/>
              </a:lnSpc>
              <a:spcBef>
                <a:spcPts val="1200"/>
              </a:spcBef>
              <a:buFont typeface="Wingdings" panose="05000000000000000000" pitchFamily="2" charset="2"/>
              <a:buChar char="v"/>
            </a:pPr>
            <a:r>
              <a:rPr kumimoji="1" lang="zh-CN" altLang="en-US" sz="1400" dirty="0">
                <a:solidFill>
                  <a:srgbClr val="002060"/>
                </a:solidFill>
                <a:latin typeface="华文中宋" panose="02010600040101010101" pitchFamily="2" charset="-122"/>
                <a:ea typeface="华文中宋" panose="02010600040101010101" pitchFamily="2" charset="-122"/>
              </a:rPr>
              <a:t>产品和服务：研究和发展，教育与培训，标准和资质认证</a:t>
            </a:r>
            <a:endParaRPr kumimoji="1" lang="en-US" altLang="zh-CN" sz="1400" dirty="0">
              <a:solidFill>
                <a:srgbClr val="002060"/>
              </a:solidFill>
              <a:latin typeface="华文中宋" panose="02010600040101010101" pitchFamily="2" charset="-122"/>
              <a:ea typeface="华文中宋" panose="02010600040101010101" pitchFamily="2" charset="-122"/>
            </a:endParaRPr>
          </a:p>
          <a:p>
            <a:pPr marL="1371600" lvl="3" indent="0" eaLnBrk="1" hangingPunct="1">
              <a:lnSpc>
                <a:spcPct val="150000"/>
              </a:lnSpc>
              <a:spcBef>
                <a:spcPts val="1200"/>
              </a:spcBef>
              <a:buNone/>
            </a:pPr>
            <a:endParaRPr kumimoji="1" lang="zh-CN" altLang="en-US" sz="1600" dirty="0">
              <a:solidFill>
                <a:srgbClr val="002060"/>
              </a:solidFill>
              <a:latin typeface="华文中宋" panose="02010600040101010101" pitchFamily="2" charset="-122"/>
              <a:ea typeface="华文中宋" panose="02010600040101010101" pitchFamily="2" charset="-122"/>
            </a:endParaRPr>
          </a:p>
          <a:p>
            <a:pPr marL="989013" indent="-539750">
              <a:lnSpc>
                <a:spcPct val="150000"/>
              </a:lnSpc>
              <a:spcBef>
                <a:spcPct val="50000"/>
              </a:spcBef>
              <a:buClr>
                <a:schemeClr val="accent1"/>
              </a:buClr>
              <a:buFont typeface="Wingdings" panose="05000000000000000000" pitchFamily="2" charset="2"/>
              <a:buChar char="Ø"/>
              <a:defRPr/>
            </a:pPr>
            <a:endParaRPr lang="zh-CN" altLang="en-US" sz="2800" dirty="0">
              <a:solidFill>
                <a:srgbClr val="002060"/>
              </a:solidFill>
              <a:latin typeface="华文中宋" pitchFamily="2" charset="-122"/>
              <a:ea typeface="华文中宋" pitchFamily="2" charset="-122"/>
            </a:endParaRPr>
          </a:p>
          <a:p>
            <a:endParaRPr lang="zh-CN" altLang="en-US" dirty="0"/>
          </a:p>
        </p:txBody>
      </p:sp>
    </p:spTree>
    <p:extLst>
      <p:ext uri="{BB962C8B-B14F-4D97-AF65-F5344CB8AC3E}">
        <p14:creationId xmlns:p14="http://schemas.microsoft.com/office/powerpoint/2010/main" val="588499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2F3C87-BF4D-4827-39E6-466C2EFF960A}"/>
              </a:ext>
            </a:extLst>
          </p:cNvPr>
          <p:cNvSpPr>
            <a:spLocks noGrp="1"/>
          </p:cNvSpPr>
          <p:nvPr>
            <p:ph type="title"/>
          </p:nvPr>
        </p:nvSpPr>
        <p:spPr/>
        <p:txBody>
          <a:bodyPr/>
          <a:lstStyle/>
          <a:p>
            <a:r>
              <a:rPr lang="zh-CN" altLang="en-US" dirty="0"/>
              <a:t>项目管理的发展</a:t>
            </a:r>
          </a:p>
        </p:txBody>
      </p:sp>
      <p:sp>
        <p:nvSpPr>
          <p:cNvPr id="3" name="内容占位符 2">
            <a:extLst>
              <a:ext uri="{FF2B5EF4-FFF2-40B4-BE49-F238E27FC236}">
                <a16:creationId xmlns:a16="http://schemas.microsoft.com/office/drawing/2014/main" id="{8FAFD177-B20B-527B-F0A1-ED7A8970E667}"/>
              </a:ext>
            </a:extLst>
          </p:cNvPr>
          <p:cNvSpPr>
            <a:spLocks noGrp="1"/>
          </p:cNvSpPr>
          <p:nvPr>
            <p:ph idx="1"/>
          </p:nvPr>
        </p:nvSpPr>
        <p:spPr/>
        <p:txBody>
          <a:bodyPr/>
          <a:lstStyle/>
          <a:p>
            <a:pPr eaLnBrk="1" hangingPunct="1">
              <a:lnSpc>
                <a:spcPct val="130000"/>
              </a:lnSpc>
              <a:spcBef>
                <a:spcPts val="600"/>
              </a:spcBef>
              <a:buClr>
                <a:schemeClr val="accent1"/>
              </a:buClr>
              <a:buFont typeface="Wingdings" panose="05000000000000000000" pitchFamily="2" charset="2"/>
              <a:buChar char="Ø"/>
            </a:pPr>
            <a:r>
              <a:rPr lang="en-US" altLang="zh-CN" sz="2200" dirty="0">
                <a:solidFill>
                  <a:srgbClr val="002060"/>
                </a:solidFill>
                <a:latin typeface="华文中宋" panose="02010600040101010101" pitchFamily="2" charset="-122"/>
                <a:ea typeface="华文中宋" panose="02010600040101010101" pitchFamily="2" charset="-122"/>
              </a:rPr>
              <a:t>1969</a:t>
            </a:r>
            <a:r>
              <a:rPr lang="zh-CN" altLang="en-US" sz="2200" dirty="0">
                <a:solidFill>
                  <a:srgbClr val="002060"/>
                </a:solidFill>
                <a:latin typeface="华文中宋" panose="02010600040101010101" pitchFamily="2" charset="-122"/>
                <a:ea typeface="华文中宋" panose="02010600040101010101" pitchFamily="2" charset="-122"/>
              </a:rPr>
              <a:t>年成立的美国项目管理学术组织（</a:t>
            </a:r>
            <a:r>
              <a:rPr lang="en-US" altLang="zh-CN" sz="2200" dirty="0">
                <a:solidFill>
                  <a:srgbClr val="002060"/>
                </a:solidFill>
                <a:latin typeface="华文中宋" panose="02010600040101010101" pitchFamily="2" charset="-122"/>
                <a:ea typeface="华文中宋" panose="02010600040101010101" pitchFamily="2" charset="-122"/>
              </a:rPr>
              <a:t>Project Management Institute</a:t>
            </a:r>
            <a:r>
              <a:rPr lang="zh-CN" altLang="en-US" sz="2200" dirty="0">
                <a:solidFill>
                  <a:srgbClr val="002060"/>
                </a:solidFill>
                <a:latin typeface="华文中宋" panose="02010600040101010101" pitchFamily="2" charset="-122"/>
                <a:ea typeface="华文中宋" panose="02010600040101010101" pitchFamily="2" charset="-122"/>
              </a:rPr>
              <a:t>，</a:t>
            </a:r>
            <a:r>
              <a:rPr lang="en-US" altLang="zh-CN" sz="2200" dirty="0">
                <a:solidFill>
                  <a:srgbClr val="002060"/>
                </a:solidFill>
                <a:latin typeface="华文中宋" panose="02010600040101010101" pitchFamily="2" charset="-122"/>
                <a:ea typeface="华文中宋" panose="02010600040101010101" pitchFamily="2" charset="-122"/>
              </a:rPr>
              <a:t>PMI</a:t>
            </a:r>
            <a:r>
              <a:rPr lang="zh-CN" altLang="en-US" sz="2200" dirty="0">
                <a:solidFill>
                  <a:srgbClr val="002060"/>
                </a:solidFill>
                <a:latin typeface="华文中宋" panose="02010600040101010101" pitchFamily="2" charset="-122"/>
                <a:ea typeface="华文中宋" panose="02010600040101010101" pitchFamily="2" charset="-122"/>
              </a:rPr>
              <a:t>）也是一个国际性项目管理学会。 </a:t>
            </a:r>
          </a:p>
          <a:p>
            <a:pPr lvl="4" eaLnBrk="1" hangingPunct="1">
              <a:lnSpc>
                <a:spcPct val="130000"/>
              </a:lnSpc>
              <a:spcBef>
                <a:spcPts val="600"/>
              </a:spcBef>
              <a:buFont typeface="Wingdings" panose="05000000000000000000" pitchFamily="2" charset="2"/>
              <a:buChar char="v"/>
            </a:pPr>
            <a:r>
              <a:rPr kumimoji="1" lang="zh-CN" altLang="en-US" sz="2000" dirty="0">
                <a:solidFill>
                  <a:srgbClr val="002060"/>
                </a:solidFill>
                <a:latin typeface="华文中宋" panose="02010600040101010101" pitchFamily="2" charset="-122"/>
                <a:ea typeface="华文中宋" panose="02010600040101010101" pitchFamily="2" charset="-122"/>
              </a:rPr>
              <a:t>分会：245个</a:t>
            </a:r>
          </a:p>
          <a:p>
            <a:pPr lvl="4" eaLnBrk="1" hangingPunct="1">
              <a:lnSpc>
                <a:spcPct val="130000"/>
              </a:lnSpc>
              <a:spcBef>
                <a:spcPts val="600"/>
              </a:spcBef>
              <a:buFont typeface="Wingdings" panose="05000000000000000000" pitchFamily="2" charset="2"/>
              <a:buChar char="v"/>
            </a:pPr>
            <a:r>
              <a:rPr kumimoji="1" lang="zh-CN" altLang="en-US" sz="2000" dirty="0">
                <a:solidFill>
                  <a:srgbClr val="002060"/>
                </a:solidFill>
                <a:latin typeface="华文中宋" panose="02010600040101010101" pitchFamily="2" charset="-122"/>
                <a:ea typeface="华文中宋" panose="02010600040101010101" pitchFamily="2" charset="-122"/>
              </a:rPr>
              <a:t>成员：企业、高校、研究单位</a:t>
            </a:r>
          </a:p>
          <a:p>
            <a:pPr lvl="4" eaLnBrk="1" hangingPunct="1">
              <a:lnSpc>
                <a:spcPct val="130000"/>
              </a:lnSpc>
              <a:spcBef>
                <a:spcPts val="600"/>
              </a:spcBef>
              <a:buFont typeface="Wingdings" panose="05000000000000000000" pitchFamily="2" charset="2"/>
              <a:buChar char="v"/>
            </a:pPr>
            <a:r>
              <a:rPr kumimoji="1" lang="zh-CN" altLang="en-US" sz="2000" dirty="0">
                <a:solidFill>
                  <a:srgbClr val="002060"/>
                </a:solidFill>
                <a:latin typeface="华文中宋" panose="02010600040101010101" pitchFamily="2" charset="-122"/>
                <a:ea typeface="华文中宋" panose="02010600040101010101" pitchFamily="2" charset="-122"/>
              </a:rPr>
              <a:t>职能：促进国际间项目管理发展</a:t>
            </a:r>
          </a:p>
          <a:p>
            <a:pPr lvl="4" eaLnBrk="1" hangingPunct="1">
              <a:lnSpc>
                <a:spcPct val="130000"/>
              </a:lnSpc>
              <a:spcBef>
                <a:spcPts val="600"/>
              </a:spcBef>
              <a:buFont typeface="Wingdings" panose="05000000000000000000" pitchFamily="2" charset="2"/>
              <a:buChar char="v"/>
            </a:pPr>
            <a:r>
              <a:rPr kumimoji="1" lang="zh-CN" altLang="en-US" sz="2000" dirty="0">
                <a:solidFill>
                  <a:srgbClr val="002060"/>
                </a:solidFill>
                <a:latin typeface="华文中宋" panose="02010600040101010101" pitchFamily="2" charset="-122"/>
                <a:ea typeface="华文中宋" panose="02010600040101010101" pitchFamily="2" charset="-122"/>
              </a:rPr>
              <a:t>九个知识领域</a:t>
            </a:r>
          </a:p>
          <a:p>
            <a:pPr eaLnBrk="1" hangingPunct="1">
              <a:lnSpc>
                <a:spcPct val="130000"/>
              </a:lnSpc>
              <a:spcBef>
                <a:spcPts val="600"/>
              </a:spcBef>
              <a:buClr>
                <a:schemeClr val="accent1"/>
              </a:buClr>
              <a:buFont typeface="Wingdings" panose="05000000000000000000" pitchFamily="2" charset="2"/>
              <a:buChar char="Ø"/>
            </a:pPr>
            <a:r>
              <a:rPr lang="en-US" altLang="zh-CN" sz="2000" dirty="0">
                <a:solidFill>
                  <a:srgbClr val="002060"/>
                </a:solidFill>
                <a:latin typeface="华文中宋" panose="02010600040101010101" pitchFamily="2" charset="-122"/>
                <a:ea typeface="华文中宋" panose="02010600040101010101" pitchFamily="2" charset="-122"/>
              </a:rPr>
              <a:t>1991</a:t>
            </a:r>
            <a:r>
              <a:rPr lang="zh-CN" altLang="en-US" sz="2000" dirty="0">
                <a:solidFill>
                  <a:srgbClr val="002060"/>
                </a:solidFill>
                <a:latin typeface="华文中宋" panose="02010600040101010101" pitchFamily="2" charset="-122"/>
                <a:ea typeface="华文中宋" panose="02010600040101010101" pitchFamily="2" charset="-122"/>
              </a:rPr>
              <a:t>年</a:t>
            </a:r>
            <a:r>
              <a:rPr lang="en-US" altLang="zh-CN" sz="2000" dirty="0">
                <a:solidFill>
                  <a:srgbClr val="002060"/>
                </a:solidFill>
                <a:latin typeface="华文中宋" panose="02010600040101010101" pitchFamily="2" charset="-122"/>
                <a:ea typeface="华文中宋" panose="02010600040101010101" pitchFamily="2" charset="-122"/>
              </a:rPr>
              <a:t>6</a:t>
            </a:r>
            <a:r>
              <a:rPr lang="zh-CN" altLang="en-US" sz="2000" dirty="0">
                <a:solidFill>
                  <a:srgbClr val="002060"/>
                </a:solidFill>
                <a:latin typeface="华文中宋" panose="02010600040101010101" pitchFamily="2" charset="-122"/>
                <a:ea typeface="华文中宋" panose="02010600040101010101" pitchFamily="2" charset="-122"/>
              </a:rPr>
              <a:t>月中国项目管理委员会（</a:t>
            </a:r>
            <a:r>
              <a:rPr lang="en-US" altLang="zh-CN" sz="2000" dirty="0">
                <a:solidFill>
                  <a:srgbClr val="002060"/>
                </a:solidFill>
                <a:latin typeface="华文中宋" panose="02010600040101010101" pitchFamily="2" charset="-122"/>
                <a:ea typeface="华文中宋" panose="02010600040101010101" pitchFamily="2" charset="-122"/>
              </a:rPr>
              <a:t>Project Management Research Committee China</a:t>
            </a:r>
            <a:r>
              <a:rPr lang="zh-CN" altLang="en-US" sz="2000" dirty="0">
                <a:solidFill>
                  <a:srgbClr val="002060"/>
                </a:solidFill>
                <a:latin typeface="华文中宋" panose="02010600040101010101" pitchFamily="2" charset="-122"/>
                <a:ea typeface="华文中宋" panose="02010600040101010101" pitchFamily="2" charset="-122"/>
              </a:rPr>
              <a:t>，</a:t>
            </a:r>
            <a:r>
              <a:rPr lang="en-US" altLang="zh-CN" sz="2000" dirty="0">
                <a:solidFill>
                  <a:srgbClr val="002060"/>
                </a:solidFill>
                <a:latin typeface="华文中宋" panose="02010600040101010101" pitchFamily="2" charset="-122"/>
                <a:ea typeface="华文中宋" panose="02010600040101010101" pitchFamily="2" charset="-122"/>
              </a:rPr>
              <a:t>PMRC</a:t>
            </a:r>
            <a:r>
              <a:rPr lang="zh-CN" altLang="en-US" sz="2000" dirty="0">
                <a:solidFill>
                  <a:srgbClr val="002060"/>
                </a:solidFill>
                <a:latin typeface="华文中宋" panose="02010600040101010101" pitchFamily="2" charset="-122"/>
                <a:ea typeface="华文中宋" panose="02010600040101010101" pitchFamily="2" charset="-122"/>
              </a:rPr>
              <a:t>）正式成立，促进了我国项目管理与国际项目管理专业领域的沟通与交流，促进了我国项目管理专业化和国际化的发展。 </a:t>
            </a:r>
            <a:r>
              <a:rPr kumimoji="1" lang="zh-CN" altLang="en-US" sz="2000" dirty="0">
                <a:solidFill>
                  <a:srgbClr val="002060"/>
                </a:solidFill>
                <a:latin typeface="华文中宋" panose="02010600040101010101" pitchFamily="2" charset="-122"/>
                <a:ea typeface="华文中宋" panose="02010600040101010101" pitchFamily="2" charset="-122"/>
              </a:rPr>
              <a:t>2001开始建立《中国项目管理知识体系和资格认证标准》工作。</a:t>
            </a:r>
            <a:endParaRPr lang="zh-CN" altLang="en-US" sz="2000" dirty="0">
              <a:solidFill>
                <a:srgbClr val="002060"/>
              </a:solidFill>
              <a:latin typeface="华文中宋" panose="02010600040101010101" pitchFamily="2" charset="-122"/>
              <a:ea typeface="华文中宋" panose="02010600040101010101" pitchFamily="2" charset="-122"/>
            </a:endParaRPr>
          </a:p>
          <a:p>
            <a:endParaRPr lang="zh-CN" altLang="en-US" dirty="0"/>
          </a:p>
        </p:txBody>
      </p:sp>
    </p:spTree>
    <p:extLst>
      <p:ext uri="{BB962C8B-B14F-4D97-AF65-F5344CB8AC3E}">
        <p14:creationId xmlns:p14="http://schemas.microsoft.com/office/powerpoint/2010/main" val="755250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D104FC-CA17-7401-49D4-10C5432CF6C8}"/>
              </a:ext>
            </a:extLst>
          </p:cNvPr>
          <p:cNvSpPr>
            <a:spLocks noGrp="1"/>
          </p:cNvSpPr>
          <p:nvPr>
            <p:ph type="title"/>
          </p:nvPr>
        </p:nvSpPr>
        <p:spPr/>
        <p:txBody>
          <a:bodyPr/>
          <a:lstStyle/>
          <a:p>
            <a:r>
              <a:rPr lang="zh-CN" altLang="en-US" dirty="0"/>
              <a:t>项目管理涉及的领域</a:t>
            </a:r>
          </a:p>
        </p:txBody>
      </p:sp>
      <p:sp>
        <p:nvSpPr>
          <p:cNvPr id="3" name="内容占位符 2">
            <a:extLst>
              <a:ext uri="{FF2B5EF4-FFF2-40B4-BE49-F238E27FC236}">
                <a16:creationId xmlns:a16="http://schemas.microsoft.com/office/drawing/2014/main" id="{FEE2A9D2-4505-9933-F8C6-5B557ED36C86}"/>
              </a:ext>
            </a:extLst>
          </p:cNvPr>
          <p:cNvSpPr>
            <a:spLocks noGrp="1"/>
          </p:cNvSpPr>
          <p:nvPr>
            <p:ph idx="1"/>
          </p:nvPr>
        </p:nvSpPr>
        <p:spPr/>
        <p:txBody>
          <a:bodyPr/>
          <a:lstStyle/>
          <a:p>
            <a:endParaRPr lang="zh-CN" altLang="en-US" dirty="0"/>
          </a:p>
        </p:txBody>
      </p:sp>
      <p:grpSp>
        <p:nvGrpSpPr>
          <p:cNvPr id="4" name="组合 3">
            <a:extLst>
              <a:ext uri="{FF2B5EF4-FFF2-40B4-BE49-F238E27FC236}">
                <a16:creationId xmlns:a16="http://schemas.microsoft.com/office/drawing/2014/main" id="{B050A915-8214-1059-03AA-B3640F1E0841}"/>
              </a:ext>
            </a:extLst>
          </p:cNvPr>
          <p:cNvGrpSpPr/>
          <p:nvPr/>
        </p:nvGrpSpPr>
        <p:grpSpPr>
          <a:xfrm>
            <a:off x="1619672" y="2708920"/>
            <a:ext cx="6342380" cy="3582369"/>
            <a:chOff x="356" y="2644"/>
            <a:chExt cx="13272" cy="7496"/>
          </a:xfrm>
        </p:grpSpPr>
        <p:sp>
          <p:nvSpPr>
            <p:cNvPr id="5" name="椭圆 4">
              <a:extLst>
                <a:ext uri="{FF2B5EF4-FFF2-40B4-BE49-F238E27FC236}">
                  <a16:creationId xmlns:a16="http://schemas.microsoft.com/office/drawing/2014/main" id="{49DAB9AC-05FB-12D5-9728-72C87DB0FE80}"/>
                </a:ext>
              </a:extLst>
            </p:cNvPr>
            <p:cNvSpPr/>
            <p:nvPr/>
          </p:nvSpPr>
          <p:spPr bwMode="gray">
            <a:xfrm>
              <a:off x="965" y="2799"/>
              <a:ext cx="11618" cy="6520"/>
            </a:xfrm>
            <a:prstGeom prst="ellipse">
              <a:avLst/>
            </a:prstGeom>
            <a:gradFill rotWithShape="1">
              <a:gsLst>
                <a:gs pos="0">
                  <a:srgbClr val="F8F8F8"/>
                </a:gs>
                <a:gs pos="100000">
                  <a:srgbClr val="F8F8F8">
                    <a:gamma/>
                    <a:shade val="76471"/>
                    <a:invGamma/>
                  </a:srgbClr>
                </a:gs>
              </a:gsLst>
              <a:lin ang="5400000" scaled="1"/>
            </a:gradFill>
            <a:ln w="19050">
              <a:solidFill>
                <a:srgbClr val="C0C0C0"/>
              </a:solidFill>
              <a:round/>
            </a:ln>
            <a:effectLst>
              <a:outerShdw dist="53882" dir="2700000" algn="ctr" rotWithShape="0">
                <a:srgbClr val="292929">
                  <a:alpha val="50000"/>
                </a:srgbClr>
              </a:outerShdw>
            </a:effectLst>
          </p:spPr>
          <p:txBody>
            <a:bodyPr wrap="none" anchor="ctr"/>
            <a:lstStyle/>
            <a:p>
              <a:pPr algn="ctr" eaLnBrk="1" hangingPunct="1">
                <a:defRPr/>
              </a:pPr>
              <a:endParaRPr lang="zh-CN" altLang="en-US" sz="1400" dirty="0">
                <a:latin typeface="+mn-ea"/>
                <a:ea typeface="+mn-ea"/>
              </a:endParaRPr>
            </a:p>
          </p:txBody>
        </p:sp>
        <p:sp>
          <p:nvSpPr>
            <p:cNvPr id="6" name="椭圆 5">
              <a:extLst>
                <a:ext uri="{FF2B5EF4-FFF2-40B4-BE49-F238E27FC236}">
                  <a16:creationId xmlns:a16="http://schemas.microsoft.com/office/drawing/2014/main" id="{223A1E94-7599-FFA7-676A-6FCF10F937CF}"/>
                </a:ext>
              </a:extLst>
            </p:cNvPr>
            <p:cNvSpPr/>
            <p:nvPr/>
          </p:nvSpPr>
          <p:spPr bwMode="gray">
            <a:xfrm>
              <a:off x="1134" y="4742"/>
              <a:ext cx="4570" cy="34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000" b="1" i="0" u="none" strike="noStrike" kern="1200" cap="none" spc="0" normalizeH="0" baseline="0" noProof="0">
                  <a:ln>
                    <a:noFill/>
                  </a:ln>
                  <a:solidFill>
                    <a:srgbClr val="FFFFFF"/>
                  </a:solidFill>
                  <a:effectLst/>
                  <a:uLnTx/>
                  <a:uFillTx/>
                  <a:latin typeface="宋体"/>
                  <a:ea typeface="宋体"/>
                  <a:cs typeface="+mn-cs"/>
                </a:rPr>
                <a:t>通用管理</a:t>
              </a:r>
              <a:endParaRPr kumimoji="1" lang="en-US" altLang="zh-CN" sz="2000" b="1" i="0" u="none" strike="noStrike" kern="1200" cap="none" spc="0" normalizeH="0" baseline="0" noProof="0">
                <a:ln>
                  <a:noFill/>
                </a:ln>
                <a:solidFill>
                  <a:srgbClr val="FFFFFF"/>
                </a:solidFill>
                <a:effectLst/>
                <a:uLnTx/>
                <a:uFillTx/>
                <a:latin typeface="宋体"/>
                <a:ea typeface="宋体"/>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000" b="1" i="0" u="none" strike="noStrike" kern="1200" cap="none" spc="0" normalizeH="0" baseline="0" noProof="0">
                  <a:ln>
                    <a:noFill/>
                  </a:ln>
                  <a:solidFill>
                    <a:srgbClr val="FFFFFF"/>
                  </a:solidFill>
                  <a:effectLst/>
                  <a:uLnTx/>
                  <a:uFillTx/>
                  <a:latin typeface="宋体"/>
                  <a:ea typeface="宋体"/>
                  <a:cs typeface="+mn-cs"/>
                </a:rPr>
                <a:t>知识和技能</a:t>
              </a:r>
              <a:endParaRPr kumimoji="1" lang="zh-CN" altLang="en-US" sz="2000" b="1" i="0" u="none" strike="noStrike" kern="1200" cap="none" spc="0" normalizeH="0" baseline="0" noProof="0" dirty="0">
                <a:ln>
                  <a:noFill/>
                </a:ln>
                <a:solidFill>
                  <a:srgbClr val="FFFFFF"/>
                </a:solidFill>
                <a:effectLst/>
                <a:uLnTx/>
                <a:uFillTx/>
                <a:latin typeface="宋体"/>
                <a:ea typeface="宋体"/>
                <a:cs typeface="+mn-cs"/>
              </a:endParaRPr>
            </a:p>
          </p:txBody>
        </p:sp>
        <p:sp>
          <p:nvSpPr>
            <p:cNvPr id="7" name="椭圆 6">
              <a:extLst>
                <a:ext uri="{FF2B5EF4-FFF2-40B4-BE49-F238E27FC236}">
                  <a16:creationId xmlns:a16="http://schemas.microsoft.com/office/drawing/2014/main" id="{0FF9ED01-0C12-AAAB-BFF6-CDA299F3AD9E}"/>
                </a:ext>
              </a:extLst>
            </p:cNvPr>
            <p:cNvSpPr/>
            <p:nvPr/>
          </p:nvSpPr>
          <p:spPr bwMode="gray">
            <a:xfrm>
              <a:off x="6079" y="5601"/>
              <a:ext cx="4350" cy="3515"/>
            </a:xfrm>
            <a:prstGeom prst="ellipse">
              <a:avLst/>
            </a:prstGeom>
          </p:spPr>
          <p:style>
            <a:lnRef idx="1">
              <a:schemeClr val="accent6"/>
            </a:lnRef>
            <a:fillRef idx="3">
              <a:schemeClr val="accent6"/>
            </a:fillRef>
            <a:effectRef idx="2">
              <a:schemeClr val="accent6"/>
            </a:effectRef>
            <a:fontRef idx="minor">
              <a:schemeClr val="lt1"/>
            </a:fontRef>
          </p:style>
          <p:txBody>
            <a:bodyPr wrap="none" anchor="ctr"/>
            <a:lstStyle/>
            <a:p>
              <a:pPr algn="ctr" eaLnBrk="1" hangingPunct="1">
                <a:defRPr/>
              </a:pPr>
              <a:r>
                <a:rPr lang="zh-CN" altLang="en-US" sz="2000" dirty="0">
                  <a:solidFill>
                    <a:schemeClr val="bg1"/>
                  </a:solidFill>
                  <a:latin typeface="+mn-ea"/>
                </a:rPr>
                <a:t>应用领域知识、</a:t>
              </a:r>
              <a:endParaRPr lang="en-US" altLang="zh-CN" sz="2000" dirty="0">
                <a:solidFill>
                  <a:schemeClr val="bg1"/>
                </a:solidFill>
                <a:latin typeface="+mn-ea"/>
              </a:endParaRPr>
            </a:p>
            <a:p>
              <a:pPr algn="ctr" eaLnBrk="1" hangingPunct="1">
                <a:defRPr/>
              </a:pPr>
              <a:r>
                <a:rPr lang="zh-CN" altLang="en-US" sz="2000" dirty="0">
                  <a:solidFill>
                    <a:schemeClr val="bg1"/>
                  </a:solidFill>
                  <a:latin typeface="+mn-ea"/>
                </a:rPr>
                <a:t>标准与规定</a:t>
              </a:r>
            </a:p>
          </p:txBody>
        </p:sp>
        <p:sp>
          <p:nvSpPr>
            <p:cNvPr id="8" name="TextBox 21">
              <a:extLst>
                <a:ext uri="{FF2B5EF4-FFF2-40B4-BE49-F238E27FC236}">
                  <a16:creationId xmlns:a16="http://schemas.microsoft.com/office/drawing/2014/main" id="{756F1B80-0023-ADBC-C15A-E820663864C9}"/>
                </a:ext>
              </a:extLst>
            </p:cNvPr>
            <p:cNvSpPr txBox="1">
              <a:spLocks noChangeArrowheads="1"/>
            </p:cNvSpPr>
            <p:nvPr/>
          </p:nvSpPr>
          <p:spPr bwMode="auto">
            <a:xfrm>
              <a:off x="356" y="2896"/>
              <a:ext cx="3030" cy="834"/>
            </a:xfrm>
            <a:prstGeom prst="rect">
              <a:avLst/>
            </a:prstGeom>
            <a:noFill/>
            <a:ln w="9525">
              <a:noFill/>
              <a:miter lim="800000"/>
            </a:ln>
          </p:spPr>
          <p:txBody>
            <a:bodyPr wrap="square">
              <a:spAutoFit/>
            </a:bodyPr>
            <a:lstStyle/>
            <a:p>
              <a:pPr eaLnBrk="1" hangingPunct="1"/>
              <a:r>
                <a:rPr lang="zh-CN" altLang="en-US" sz="2000" dirty="0">
                  <a:solidFill>
                    <a:srgbClr val="002060"/>
                  </a:solidFill>
                  <a:latin typeface="黑体" panose="02010609060101010101" pitchFamily="49" charset="-122"/>
                  <a:ea typeface="黑体" panose="02010609060101010101" pitchFamily="49" charset="-122"/>
                </a:rPr>
                <a:t>社会环境</a:t>
              </a:r>
            </a:p>
          </p:txBody>
        </p:sp>
        <p:sp>
          <p:nvSpPr>
            <p:cNvPr id="9" name="TextBox 22">
              <a:extLst>
                <a:ext uri="{FF2B5EF4-FFF2-40B4-BE49-F238E27FC236}">
                  <a16:creationId xmlns:a16="http://schemas.microsoft.com/office/drawing/2014/main" id="{4EA627CE-017E-50F6-85E3-04D978755DED}"/>
                </a:ext>
              </a:extLst>
            </p:cNvPr>
            <p:cNvSpPr txBox="1">
              <a:spLocks noChangeArrowheads="1"/>
            </p:cNvSpPr>
            <p:nvPr/>
          </p:nvSpPr>
          <p:spPr bwMode="auto">
            <a:xfrm>
              <a:off x="10600" y="2644"/>
              <a:ext cx="3028" cy="834"/>
            </a:xfrm>
            <a:prstGeom prst="rect">
              <a:avLst/>
            </a:prstGeom>
            <a:noFill/>
            <a:ln w="9525">
              <a:noFill/>
              <a:miter lim="800000"/>
            </a:ln>
          </p:spPr>
          <p:txBody>
            <a:bodyPr wrap="square">
              <a:spAutoFit/>
            </a:bodyPr>
            <a:lstStyle/>
            <a:p>
              <a:pPr eaLnBrk="1" hangingPunct="1"/>
              <a:r>
                <a:rPr lang="zh-CN" altLang="en-US" sz="2000" dirty="0">
                  <a:solidFill>
                    <a:srgbClr val="002060"/>
                  </a:solidFill>
                  <a:latin typeface="黑体" panose="02010609060101010101" pitchFamily="49" charset="-122"/>
                  <a:ea typeface="黑体" panose="02010609060101010101" pitchFamily="49" charset="-122"/>
                </a:rPr>
                <a:t>政治环境</a:t>
              </a:r>
            </a:p>
          </p:txBody>
        </p:sp>
        <p:sp>
          <p:nvSpPr>
            <p:cNvPr id="10" name="TextBox 23">
              <a:extLst>
                <a:ext uri="{FF2B5EF4-FFF2-40B4-BE49-F238E27FC236}">
                  <a16:creationId xmlns:a16="http://schemas.microsoft.com/office/drawing/2014/main" id="{42774E8A-35A5-2481-9A03-6AD0EAB37FCD}"/>
                </a:ext>
              </a:extLst>
            </p:cNvPr>
            <p:cNvSpPr txBox="1">
              <a:spLocks noChangeArrowheads="1"/>
            </p:cNvSpPr>
            <p:nvPr/>
          </p:nvSpPr>
          <p:spPr bwMode="auto">
            <a:xfrm>
              <a:off x="7461" y="9306"/>
              <a:ext cx="3028" cy="834"/>
            </a:xfrm>
            <a:prstGeom prst="rect">
              <a:avLst/>
            </a:prstGeom>
            <a:noFill/>
            <a:ln w="9525">
              <a:noFill/>
              <a:miter lim="800000"/>
            </a:ln>
          </p:spPr>
          <p:txBody>
            <a:bodyPr wrap="square">
              <a:spAutoFit/>
            </a:bodyPr>
            <a:lstStyle/>
            <a:p>
              <a:pPr eaLnBrk="1" hangingPunct="1"/>
              <a:r>
                <a:rPr lang="zh-CN" altLang="en-US" sz="2000" dirty="0">
                  <a:solidFill>
                    <a:srgbClr val="002060"/>
                  </a:solidFill>
                  <a:latin typeface="黑体" panose="02010609060101010101" pitchFamily="49" charset="-122"/>
                  <a:ea typeface="黑体" panose="02010609060101010101" pitchFamily="49" charset="-122"/>
                </a:rPr>
                <a:t>自然环境</a:t>
              </a:r>
            </a:p>
          </p:txBody>
        </p:sp>
        <p:sp>
          <p:nvSpPr>
            <p:cNvPr id="11" name="椭圆 10">
              <a:extLst>
                <a:ext uri="{FF2B5EF4-FFF2-40B4-BE49-F238E27FC236}">
                  <a16:creationId xmlns:a16="http://schemas.microsoft.com/office/drawing/2014/main" id="{7EDE9B00-7600-C854-A46D-E639D25AB702}"/>
                </a:ext>
              </a:extLst>
            </p:cNvPr>
            <p:cNvSpPr/>
            <p:nvPr/>
          </p:nvSpPr>
          <p:spPr bwMode="gray">
            <a:xfrm>
              <a:off x="4012" y="2965"/>
              <a:ext cx="5561" cy="2523"/>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pPr algn="ctr" eaLnBrk="1" hangingPunct="1">
                <a:defRPr/>
              </a:pPr>
              <a:r>
                <a:rPr lang="zh-CN" altLang="en-US" sz="2000" dirty="0">
                  <a:solidFill>
                    <a:srgbClr val="C00000"/>
                  </a:solidFill>
                  <a:latin typeface="+mn-ea"/>
                </a:rPr>
                <a:t>项目管理</a:t>
              </a:r>
              <a:endParaRPr lang="en-US" altLang="zh-CN" sz="2000" dirty="0">
                <a:solidFill>
                  <a:srgbClr val="C00000"/>
                </a:solidFill>
                <a:latin typeface="+mn-ea"/>
              </a:endParaRPr>
            </a:p>
            <a:p>
              <a:pPr algn="ctr" eaLnBrk="1" hangingPunct="1">
                <a:defRPr/>
              </a:pPr>
              <a:r>
                <a:rPr lang="zh-CN" altLang="en-US" sz="2000" dirty="0">
                  <a:solidFill>
                    <a:srgbClr val="C00000"/>
                  </a:solidFill>
                  <a:latin typeface="+mn-ea"/>
                </a:rPr>
                <a:t>知识体系</a:t>
              </a:r>
            </a:p>
          </p:txBody>
        </p:sp>
      </p:grpSp>
    </p:spTree>
    <p:extLst>
      <p:ext uri="{BB962C8B-B14F-4D97-AF65-F5344CB8AC3E}">
        <p14:creationId xmlns:p14="http://schemas.microsoft.com/office/powerpoint/2010/main" val="343319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7F9DFAB-DE18-3F2E-2556-C0FAE0F4C49D}"/>
              </a:ext>
            </a:extLst>
          </p:cNvPr>
          <p:cNvSpPr>
            <a:spLocks noGrp="1" noChangeArrowheads="1"/>
          </p:cNvSpPr>
          <p:nvPr>
            <p:ph type="title"/>
          </p:nvPr>
        </p:nvSpPr>
        <p:spPr/>
        <p:txBody>
          <a:bodyPr/>
          <a:lstStyle/>
          <a:p>
            <a:pPr eaLnBrk="1" hangingPunct="1"/>
            <a:r>
              <a:rPr lang="zh-CN" altLang="en-US"/>
              <a:t>本章内容提要</a:t>
            </a:r>
          </a:p>
        </p:txBody>
      </p:sp>
      <p:grpSp>
        <p:nvGrpSpPr>
          <p:cNvPr id="6147" name="Group 3">
            <a:extLst>
              <a:ext uri="{FF2B5EF4-FFF2-40B4-BE49-F238E27FC236}">
                <a16:creationId xmlns:a16="http://schemas.microsoft.com/office/drawing/2014/main" id="{BB7DF8CF-D144-4035-5424-72EACA080057}"/>
              </a:ext>
            </a:extLst>
          </p:cNvPr>
          <p:cNvGrpSpPr>
            <a:grpSpLocks/>
          </p:cNvGrpSpPr>
          <p:nvPr/>
        </p:nvGrpSpPr>
        <p:grpSpPr bwMode="auto">
          <a:xfrm>
            <a:off x="611188" y="2343150"/>
            <a:ext cx="5670550" cy="488950"/>
            <a:chOff x="385" y="1476"/>
            <a:chExt cx="3572" cy="308"/>
          </a:xfrm>
        </p:grpSpPr>
        <p:sp>
          <p:nvSpPr>
            <p:cNvPr id="6169" name="AutoShape 4">
              <a:extLst>
                <a:ext uri="{FF2B5EF4-FFF2-40B4-BE49-F238E27FC236}">
                  <a16:creationId xmlns:a16="http://schemas.microsoft.com/office/drawing/2014/main" id="{79D40AFB-BBD5-18C8-F5D8-D830586E2778}"/>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170" name="Text Box 5">
              <a:extLst>
                <a:ext uri="{FF2B5EF4-FFF2-40B4-BE49-F238E27FC236}">
                  <a16:creationId xmlns:a16="http://schemas.microsoft.com/office/drawing/2014/main" id="{3641EE81-86CA-4790-3C64-894A992420D9}"/>
                </a:ext>
              </a:extLst>
            </p:cNvPr>
            <p:cNvSpPr txBox="1">
              <a:spLocks noChangeArrowheads="1"/>
            </p:cNvSpPr>
            <p:nvPr/>
          </p:nvSpPr>
          <p:spPr bwMode="auto">
            <a:xfrm>
              <a:off x="626" y="1496"/>
              <a:ext cx="309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dirty="0">
                  <a:latin typeface="Times New Roman" panose="02020603050405020304" pitchFamily="18" charset="0"/>
                  <a:ea typeface="黑体" panose="02010609060101010101" pitchFamily="49" charset="-122"/>
                </a:rPr>
                <a:t> </a:t>
              </a:r>
              <a:r>
                <a:rPr lang="zh-CN" altLang="en-US" sz="2000" dirty="0">
                  <a:latin typeface="Times New Roman" panose="02020603050405020304" pitchFamily="18" charset="0"/>
                  <a:ea typeface="黑体" panose="02010609060101010101" pitchFamily="49" charset="-122"/>
                </a:rPr>
                <a:t>项目与软件项目的概念</a:t>
              </a:r>
              <a:r>
                <a:rPr lang="zh-CN" altLang="en-US" sz="2400" b="0" dirty="0">
                  <a:latin typeface="Times New Roman" panose="02020603050405020304" pitchFamily="18" charset="0"/>
                </a:rPr>
                <a:t> </a:t>
              </a:r>
            </a:p>
          </p:txBody>
        </p:sp>
        <p:sp>
          <p:nvSpPr>
            <p:cNvPr id="6171" name="Rectangle 6">
              <a:extLst>
                <a:ext uri="{FF2B5EF4-FFF2-40B4-BE49-F238E27FC236}">
                  <a16:creationId xmlns:a16="http://schemas.microsoft.com/office/drawing/2014/main" id="{6F83B243-C650-4062-1A9B-6A20672E5823}"/>
                </a:ext>
              </a:extLst>
            </p:cNvPr>
            <p:cNvSpPr>
              <a:spLocks noChangeArrowheads="1"/>
            </p:cNvSpPr>
            <p:nvPr/>
          </p:nvSpPr>
          <p:spPr bwMode="auto">
            <a:xfrm>
              <a:off x="385" y="1532"/>
              <a:ext cx="211" cy="164"/>
            </a:xfrm>
            <a:prstGeom prst="rect">
              <a:avLst/>
            </a:prstGeom>
            <a:solidFill>
              <a:schemeClr val="accent2"/>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a:t>
              </a:r>
              <a:endParaRPr lang="en-US" altLang="zh-CN" sz="1800">
                <a:solidFill>
                  <a:srgbClr val="000000"/>
                </a:solidFill>
              </a:endParaRPr>
            </a:p>
          </p:txBody>
        </p:sp>
      </p:grpSp>
      <p:grpSp>
        <p:nvGrpSpPr>
          <p:cNvPr id="6148" name="Group 7">
            <a:extLst>
              <a:ext uri="{FF2B5EF4-FFF2-40B4-BE49-F238E27FC236}">
                <a16:creationId xmlns:a16="http://schemas.microsoft.com/office/drawing/2014/main" id="{A4425D04-2819-73C5-5D70-CDDEC8BE93A5}"/>
              </a:ext>
            </a:extLst>
          </p:cNvPr>
          <p:cNvGrpSpPr>
            <a:grpSpLocks/>
          </p:cNvGrpSpPr>
          <p:nvPr/>
        </p:nvGrpSpPr>
        <p:grpSpPr bwMode="auto">
          <a:xfrm>
            <a:off x="611188" y="2924175"/>
            <a:ext cx="5670550" cy="488950"/>
            <a:chOff x="385" y="1842"/>
            <a:chExt cx="3572" cy="308"/>
          </a:xfrm>
        </p:grpSpPr>
        <p:grpSp>
          <p:nvGrpSpPr>
            <p:cNvPr id="6165" name="Group 8">
              <a:extLst>
                <a:ext uri="{FF2B5EF4-FFF2-40B4-BE49-F238E27FC236}">
                  <a16:creationId xmlns:a16="http://schemas.microsoft.com/office/drawing/2014/main" id="{C485B145-91C7-6CBE-8B91-33F1EC0CC3D8}"/>
                </a:ext>
              </a:extLst>
            </p:cNvPr>
            <p:cNvGrpSpPr>
              <a:grpSpLocks/>
            </p:cNvGrpSpPr>
            <p:nvPr/>
          </p:nvGrpSpPr>
          <p:grpSpPr bwMode="auto">
            <a:xfrm>
              <a:off x="464" y="1842"/>
              <a:ext cx="3493" cy="308"/>
              <a:chOff x="464" y="1842"/>
              <a:chExt cx="3493" cy="308"/>
            </a:xfrm>
          </p:grpSpPr>
          <p:sp>
            <p:nvSpPr>
              <p:cNvPr id="6167" name="AutoShape 9">
                <a:extLst>
                  <a:ext uri="{FF2B5EF4-FFF2-40B4-BE49-F238E27FC236}">
                    <a16:creationId xmlns:a16="http://schemas.microsoft.com/office/drawing/2014/main" id="{36124A9A-AE14-8A02-490A-299FE5ADFE7C}"/>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168" name="Text Box 10">
                <a:extLst>
                  <a:ext uri="{FF2B5EF4-FFF2-40B4-BE49-F238E27FC236}">
                    <a16:creationId xmlns:a16="http://schemas.microsoft.com/office/drawing/2014/main" id="{4DF2920A-A1F6-A2AF-A44C-F0E0706DEF10}"/>
                  </a:ext>
                </a:extLst>
              </p:cNvPr>
              <p:cNvSpPr txBox="1">
                <a:spLocks noChangeArrowheads="1"/>
              </p:cNvSpPr>
              <p:nvPr/>
            </p:nvSpPr>
            <p:spPr bwMode="auto">
              <a:xfrm>
                <a:off x="626" y="1867"/>
                <a:ext cx="309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项目管理的概念</a:t>
                </a:r>
                <a:r>
                  <a:rPr lang="zh-CN" altLang="en-US" sz="2400" b="0">
                    <a:latin typeface="Times New Roman" panose="02020603050405020304" pitchFamily="18" charset="0"/>
                  </a:rPr>
                  <a:t> </a:t>
                </a:r>
              </a:p>
            </p:txBody>
          </p:sp>
        </p:grpSp>
        <p:sp>
          <p:nvSpPr>
            <p:cNvPr id="6166" name="Rectangle 11">
              <a:extLst>
                <a:ext uri="{FF2B5EF4-FFF2-40B4-BE49-F238E27FC236}">
                  <a16:creationId xmlns:a16="http://schemas.microsoft.com/office/drawing/2014/main" id="{5C14EAD2-27E6-86EA-D050-78E571B1EDC6}"/>
                </a:ext>
              </a:extLst>
            </p:cNvPr>
            <p:cNvSpPr>
              <a:spLocks noChangeArrowheads="1"/>
            </p:cNvSpPr>
            <p:nvPr/>
          </p:nvSpPr>
          <p:spPr bwMode="auto">
            <a:xfrm>
              <a:off x="385" y="1915"/>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1.2</a:t>
              </a:r>
              <a:endParaRPr lang="en-US" altLang="zh-CN" sz="1800">
                <a:solidFill>
                  <a:srgbClr val="000000"/>
                </a:solidFill>
              </a:endParaRPr>
            </a:p>
          </p:txBody>
        </p:sp>
      </p:grpSp>
      <p:grpSp>
        <p:nvGrpSpPr>
          <p:cNvPr id="6149" name="Group 12">
            <a:extLst>
              <a:ext uri="{FF2B5EF4-FFF2-40B4-BE49-F238E27FC236}">
                <a16:creationId xmlns:a16="http://schemas.microsoft.com/office/drawing/2014/main" id="{8555BE2C-1C0A-1C7F-E816-FEF97062D0E3}"/>
              </a:ext>
            </a:extLst>
          </p:cNvPr>
          <p:cNvGrpSpPr>
            <a:grpSpLocks/>
          </p:cNvGrpSpPr>
          <p:nvPr/>
        </p:nvGrpSpPr>
        <p:grpSpPr bwMode="auto">
          <a:xfrm>
            <a:off x="611188" y="3500438"/>
            <a:ext cx="5689600" cy="488950"/>
            <a:chOff x="385" y="2209"/>
            <a:chExt cx="3584" cy="308"/>
          </a:xfrm>
        </p:grpSpPr>
        <p:sp>
          <p:nvSpPr>
            <p:cNvPr id="6162" name="AutoShape 13">
              <a:extLst>
                <a:ext uri="{FF2B5EF4-FFF2-40B4-BE49-F238E27FC236}">
                  <a16:creationId xmlns:a16="http://schemas.microsoft.com/office/drawing/2014/main" id="{2946E67E-14D4-0F50-0F58-2BCDB36ADD58}"/>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163" name="Text Box 14">
              <a:extLst>
                <a:ext uri="{FF2B5EF4-FFF2-40B4-BE49-F238E27FC236}">
                  <a16:creationId xmlns:a16="http://schemas.microsoft.com/office/drawing/2014/main" id="{5737DC40-0928-11FB-2F5A-0F793378363A}"/>
                </a:ext>
              </a:extLst>
            </p:cNvPr>
            <p:cNvSpPr txBox="1">
              <a:spLocks noChangeArrowheads="1"/>
            </p:cNvSpPr>
            <p:nvPr/>
          </p:nvSpPr>
          <p:spPr bwMode="auto">
            <a:xfrm>
              <a:off x="626" y="2253"/>
              <a:ext cx="31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软件项目生命期与管理过程</a:t>
              </a:r>
              <a:r>
                <a:rPr lang="zh-CN" altLang="en-US" sz="2400" b="0">
                  <a:latin typeface="Times New Roman" panose="02020603050405020304" pitchFamily="18" charset="0"/>
                </a:rPr>
                <a:t> </a:t>
              </a:r>
            </a:p>
          </p:txBody>
        </p:sp>
        <p:sp>
          <p:nvSpPr>
            <p:cNvPr id="6164" name="Rectangle 15">
              <a:extLst>
                <a:ext uri="{FF2B5EF4-FFF2-40B4-BE49-F238E27FC236}">
                  <a16:creationId xmlns:a16="http://schemas.microsoft.com/office/drawing/2014/main" id="{79BBEB4E-58D6-3A73-6DBA-F11934A64F20}"/>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1.3</a:t>
              </a:r>
              <a:endParaRPr lang="en-US" altLang="zh-CN" sz="1800">
                <a:solidFill>
                  <a:srgbClr val="000000"/>
                </a:solidFill>
              </a:endParaRPr>
            </a:p>
          </p:txBody>
        </p:sp>
      </p:grpSp>
      <p:grpSp>
        <p:nvGrpSpPr>
          <p:cNvPr id="6150" name="Group 16">
            <a:extLst>
              <a:ext uri="{FF2B5EF4-FFF2-40B4-BE49-F238E27FC236}">
                <a16:creationId xmlns:a16="http://schemas.microsoft.com/office/drawing/2014/main" id="{8C81BCD1-7F11-D555-2867-0A923F9AF211}"/>
              </a:ext>
            </a:extLst>
          </p:cNvPr>
          <p:cNvGrpSpPr>
            <a:grpSpLocks/>
          </p:cNvGrpSpPr>
          <p:nvPr/>
        </p:nvGrpSpPr>
        <p:grpSpPr bwMode="auto">
          <a:xfrm>
            <a:off x="611188" y="4076700"/>
            <a:ext cx="5689600" cy="488950"/>
            <a:chOff x="385" y="2209"/>
            <a:chExt cx="3584" cy="308"/>
          </a:xfrm>
        </p:grpSpPr>
        <p:sp>
          <p:nvSpPr>
            <p:cNvPr id="6159" name="AutoShape 17">
              <a:extLst>
                <a:ext uri="{FF2B5EF4-FFF2-40B4-BE49-F238E27FC236}">
                  <a16:creationId xmlns:a16="http://schemas.microsoft.com/office/drawing/2014/main" id="{3D9A9110-C5CD-C8B6-B50B-9B9FCB672A08}"/>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160" name="Text Box 18">
              <a:extLst>
                <a:ext uri="{FF2B5EF4-FFF2-40B4-BE49-F238E27FC236}">
                  <a16:creationId xmlns:a16="http://schemas.microsoft.com/office/drawing/2014/main" id="{A1CC3B56-BFAB-3657-5675-A30308A21C50}"/>
                </a:ext>
              </a:extLst>
            </p:cNvPr>
            <p:cNvSpPr txBox="1">
              <a:spLocks noChangeArrowheads="1"/>
            </p:cNvSpPr>
            <p:nvPr/>
          </p:nvSpPr>
          <p:spPr bwMode="auto">
            <a:xfrm>
              <a:off x="626" y="2253"/>
              <a:ext cx="31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本书内容的组织</a:t>
              </a:r>
              <a:r>
                <a:rPr lang="zh-CN" altLang="en-US" sz="2400" b="0">
                  <a:latin typeface="Times New Roman" panose="02020603050405020304" pitchFamily="18" charset="0"/>
                </a:rPr>
                <a:t> </a:t>
              </a:r>
            </a:p>
          </p:txBody>
        </p:sp>
        <p:sp>
          <p:nvSpPr>
            <p:cNvPr id="6161" name="Rectangle 19">
              <a:extLst>
                <a:ext uri="{FF2B5EF4-FFF2-40B4-BE49-F238E27FC236}">
                  <a16:creationId xmlns:a16="http://schemas.microsoft.com/office/drawing/2014/main" id="{4C535177-B9E3-8F41-D5AE-034EA0A0F261}"/>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1.4</a:t>
              </a:r>
              <a:endParaRPr lang="en-US" altLang="zh-CN" sz="1800">
                <a:solidFill>
                  <a:srgbClr val="000000"/>
                </a:solidFill>
              </a:endParaRPr>
            </a:p>
          </p:txBody>
        </p:sp>
      </p:grpSp>
      <p:grpSp>
        <p:nvGrpSpPr>
          <p:cNvPr id="6151" name="Group 20">
            <a:extLst>
              <a:ext uri="{FF2B5EF4-FFF2-40B4-BE49-F238E27FC236}">
                <a16:creationId xmlns:a16="http://schemas.microsoft.com/office/drawing/2014/main" id="{35301353-E8E3-B8D8-ABDD-2DEE19E3416B}"/>
              </a:ext>
            </a:extLst>
          </p:cNvPr>
          <p:cNvGrpSpPr>
            <a:grpSpLocks/>
          </p:cNvGrpSpPr>
          <p:nvPr/>
        </p:nvGrpSpPr>
        <p:grpSpPr bwMode="auto">
          <a:xfrm>
            <a:off x="611188" y="4652963"/>
            <a:ext cx="5689600" cy="488950"/>
            <a:chOff x="385" y="2209"/>
            <a:chExt cx="3584" cy="308"/>
          </a:xfrm>
        </p:grpSpPr>
        <p:sp>
          <p:nvSpPr>
            <p:cNvPr id="6156" name="AutoShape 21">
              <a:extLst>
                <a:ext uri="{FF2B5EF4-FFF2-40B4-BE49-F238E27FC236}">
                  <a16:creationId xmlns:a16="http://schemas.microsoft.com/office/drawing/2014/main" id="{676C9C17-3998-D97D-CE9C-43EE4988A0B4}"/>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157" name="Text Box 22">
              <a:extLst>
                <a:ext uri="{FF2B5EF4-FFF2-40B4-BE49-F238E27FC236}">
                  <a16:creationId xmlns:a16="http://schemas.microsoft.com/office/drawing/2014/main" id="{4FC563D0-0600-6DA6-2D85-B06E7E912873}"/>
                </a:ext>
              </a:extLst>
            </p:cNvPr>
            <p:cNvSpPr txBox="1">
              <a:spLocks noChangeArrowheads="1"/>
            </p:cNvSpPr>
            <p:nvPr/>
          </p:nvSpPr>
          <p:spPr bwMode="auto">
            <a:xfrm>
              <a:off x="626" y="2273"/>
              <a:ext cx="311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本章小结</a:t>
              </a:r>
            </a:p>
          </p:txBody>
        </p:sp>
        <p:sp>
          <p:nvSpPr>
            <p:cNvPr id="6158" name="Rectangle 23">
              <a:extLst>
                <a:ext uri="{FF2B5EF4-FFF2-40B4-BE49-F238E27FC236}">
                  <a16:creationId xmlns:a16="http://schemas.microsoft.com/office/drawing/2014/main" id="{FB473888-1F85-AC36-A040-527C7C1800EA}"/>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1.5</a:t>
              </a:r>
              <a:endParaRPr lang="en-US" altLang="zh-CN" sz="1800">
                <a:solidFill>
                  <a:srgbClr val="000000"/>
                </a:solidFill>
              </a:endParaRPr>
            </a:p>
          </p:txBody>
        </p:sp>
      </p:grpSp>
      <p:grpSp>
        <p:nvGrpSpPr>
          <p:cNvPr id="6152" name="Group 24">
            <a:extLst>
              <a:ext uri="{FF2B5EF4-FFF2-40B4-BE49-F238E27FC236}">
                <a16:creationId xmlns:a16="http://schemas.microsoft.com/office/drawing/2014/main" id="{AB1C4AF3-4999-9347-83C1-1C733C260C24}"/>
              </a:ext>
            </a:extLst>
          </p:cNvPr>
          <p:cNvGrpSpPr>
            <a:grpSpLocks/>
          </p:cNvGrpSpPr>
          <p:nvPr/>
        </p:nvGrpSpPr>
        <p:grpSpPr bwMode="auto">
          <a:xfrm>
            <a:off x="611188" y="5229225"/>
            <a:ext cx="5689600" cy="488950"/>
            <a:chOff x="385" y="2209"/>
            <a:chExt cx="3584" cy="308"/>
          </a:xfrm>
        </p:grpSpPr>
        <p:sp>
          <p:nvSpPr>
            <p:cNvPr id="6153" name="AutoShape 25">
              <a:extLst>
                <a:ext uri="{FF2B5EF4-FFF2-40B4-BE49-F238E27FC236}">
                  <a16:creationId xmlns:a16="http://schemas.microsoft.com/office/drawing/2014/main" id="{2321D56B-B4CD-724D-5D47-4207E09D166B}"/>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154" name="Text Box 26">
              <a:extLst>
                <a:ext uri="{FF2B5EF4-FFF2-40B4-BE49-F238E27FC236}">
                  <a16:creationId xmlns:a16="http://schemas.microsoft.com/office/drawing/2014/main" id="{8F49DC7A-64F5-0158-DF6C-323834BD2178}"/>
                </a:ext>
              </a:extLst>
            </p:cNvPr>
            <p:cNvSpPr txBox="1">
              <a:spLocks noChangeArrowheads="1"/>
            </p:cNvSpPr>
            <p:nvPr/>
          </p:nvSpPr>
          <p:spPr bwMode="auto">
            <a:xfrm>
              <a:off x="626" y="2273"/>
              <a:ext cx="311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复习思考题</a:t>
              </a:r>
            </a:p>
          </p:txBody>
        </p:sp>
        <p:sp>
          <p:nvSpPr>
            <p:cNvPr id="6155" name="Rectangle 27">
              <a:extLst>
                <a:ext uri="{FF2B5EF4-FFF2-40B4-BE49-F238E27FC236}">
                  <a16:creationId xmlns:a16="http://schemas.microsoft.com/office/drawing/2014/main" id="{53DB791A-8414-186F-F521-60B10CBCA9DA}"/>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1.6</a:t>
              </a:r>
              <a:endParaRPr lang="en-US" altLang="zh-CN" sz="1800">
                <a:solidFill>
                  <a:srgbClr val="000000"/>
                </a:solidFil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393B39-685E-4ED0-80CA-D11DA092AB44}"/>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1.1  </a:t>
            </a:r>
            <a:r>
              <a:rPr kumimoji="1" lang="zh-CN" altLang="en-US"/>
              <a:t>项目与软件项目的概念</a:t>
            </a:r>
            <a:endParaRPr lang="zh-CN" altLang="en-US"/>
          </a:p>
        </p:txBody>
      </p:sp>
      <p:sp>
        <p:nvSpPr>
          <p:cNvPr id="7171" name="Text Box 3">
            <a:extLst>
              <a:ext uri="{FF2B5EF4-FFF2-40B4-BE49-F238E27FC236}">
                <a16:creationId xmlns:a16="http://schemas.microsoft.com/office/drawing/2014/main" id="{586E6895-0275-9EEB-92AD-9277A6C4FB67}"/>
              </a:ext>
            </a:extLst>
          </p:cNvPr>
          <p:cNvSpPr txBox="1">
            <a:spLocks noChangeArrowheads="1"/>
          </p:cNvSpPr>
          <p:nvPr/>
        </p:nvSpPr>
        <p:spPr bwMode="auto">
          <a:xfrm>
            <a:off x="260350" y="1743075"/>
            <a:ext cx="8675688" cy="4696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60000"/>
              </a:spcBef>
            </a:pPr>
            <a:r>
              <a:rPr lang="en-US" altLang="zh-CN" sz="2400" dirty="0">
                <a:solidFill>
                  <a:schemeClr val="accent2"/>
                </a:solidFill>
                <a:latin typeface="黑体" panose="02010609060101010101" pitchFamily="49" charset="-122"/>
                <a:ea typeface="黑体" panose="02010609060101010101" pitchFamily="49" charset="-122"/>
              </a:rPr>
              <a:t> </a:t>
            </a:r>
            <a:r>
              <a:rPr lang="zh-CN" altLang="en-US" sz="2400" dirty="0">
                <a:solidFill>
                  <a:schemeClr val="accent2"/>
                </a:solidFill>
                <a:latin typeface="黑体" panose="02010609060101010101" pitchFamily="49" charset="-122"/>
                <a:ea typeface="黑体" panose="02010609060101010101" pitchFamily="49" charset="-122"/>
              </a:rPr>
              <a:t>项目定义和特征</a:t>
            </a:r>
            <a:endParaRPr lang="en-US" altLang="zh-CN" sz="2400" dirty="0">
              <a:solidFill>
                <a:schemeClr val="accent2"/>
              </a:solidFill>
              <a:latin typeface="黑体" panose="02010609060101010101" pitchFamily="49" charset="-122"/>
              <a:ea typeface="黑体" panose="02010609060101010101" pitchFamily="49" charset="-122"/>
            </a:endParaRPr>
          </a:p>
          <a:p>
            <a:pPr lvl="1" eaLnBrk="1" hangingPunct="1">
              <a:spcBef>
                <a:spcPct val="60000"/>
              </a:spcBef>
            </a:pPr>
            <a:r>
              <a:rPr lang="zh-CN" altLang="en-US" sz="2000" dirty="0">
                <a:solidFill>
                  <a:schemeClr val="accent2"/>
                </a:solidFill>
                <a:latin typeface="黑体" panose="02010609060101010101" pitchFamily="49" charset="-122"/>
                <a:ea typeface="黑体" panose="02010609060101010101" pitchFamily="49" charset="-122"/>
              </a:rPr>
              <a:t>工作分为两种类型：</a:t>
            </a:r>
            <a:endParaRPr lang="en-US" altLang="zh-CN" sz="2000" dirty="0">
              <a:solidFill>
                <a:schemeClr val="accent2"/>
              </a:solidFill>
              <a:latin typeface="黑体" panose="02010609060101010101" pitchFamily="49" charset="-122"/>
              <a:ea typeface="黑体" panose="02010609060101010101" pitchFamily="49" charset="-122"/>
            </a:endParaRPr>
          </a:p>
          <a:p>
            <a:pPr lvl="1" eaLnBrk="1" hangingPunct="1">
              <a:spcBef>
                <a:spcPct val="60000"/>
              </a:spcBef>
            </a:pP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）常规运作：持续不断和重复的</a:t>
            </a:r>
            <a:endParaRPr lang="en-US" altLang="zh-CN" sz="2000" dirty="0">
              <a:latin typeface="黑体" panose="02010609060101010101" pitchFamily="49" charset="-122"/>
              <a:ea typeface="黑体" panose="02010609060101010101" pitchFamily="49" charset="-122"/>
            </a:endParaRPr>
          </a:p>
          <a:p>
            <a:pPr lvl="1" eaLnBrk="1" hangingPunct="1">
              <a:spcBef>
                <a:spcPct val="60000"/>
              </a:spcBef>
            </a:pP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a:t>
            </a:r>
            <a:r>
              <a:rPr lang="zh-CN" altLang="en-US" sz="2000" dirty="0">
                <a:solidFill>
                  <a:srgbClr val="FF0000"/>
                </a:solidFill>
                <a:latin typeface="黑体" panose="02010609060101010101" pitchFamily="49" charset="-122"/>
                <a:ea typeface="黑体" panose="02010609060101010101" pitchFamily="49" charset="-122"/>
              </a:rPr>
              <a:t>项目</a:t>
            </a:r>
            <a:r>
              <a:rPr lang="zh-CN" altLang="en-US" sz="2000" dirty="0">
                <a:latin typeface="黑体" panose="02010609060101010101" pitchFamily="49" charset="-122"/>
                <a:ea typeface="黑体" panose="02010609060101010101" pitchFamily="49" charset="-122"/>
              </a:rPr>
              <a:t>：独特的一次性任务</a:t>
            </a:r>
            <a:endParaRPr lang="en-US" altLang="zh-CN" sz="2000" dirty="0">
              <a:latin typeface="黑体" panose="02010609060101010101" pitchFamily="49" charset="-122"/>
              <a:ea typeface="黑体" panose="02010609060101010101" pitchFamily="49" charset="-122"/>
            </a:endParaRPr>
          </a:p>
          <a:p>
            <a:pPr lvl="2" eaLnBrk="1" hangingPunct="1">
              <a:spcBef>
                <a:spcPct val="60000"/>
              </a:spcBef>
            </a:pPr>
            <a:r>
              <a:rPr lang="zh-CN" altLang="en-US" sz="1600" dirty="0">
                <a:latin typeface="Times New Roman" panose="02020603050405020304" pitchFamily="18" charset="0"/>
              </a:rPr>
              <a:t>安排一个演出活动</a:t>
            </a:r>
          </a:p>
          <a:p>
            <a:pPr lvl="2" eaLnBrk="1" hangingPunct="1">
              <a:spcBef>
                <a:spcPct val="60000"/>
              </a:spcBef>
            </a:pPr>
            <a:r>
              <a:rPr lang="zh-CN" altLang="en-US" sz="1600" dirty="0">
                <a:latin typeface="Times New Roman" panose="02020603050405020304" pitchFamily="18" charset="0"/>
              </a:rPr>
              <a:t> 开发和介绍一种新产品</a:t>
            </a:r>
          </a:p>
          <a:p>
            <a:pPr lvl="2" eaLnBrk="1" hangingPunct="1">
              <a:spcBef>
                <a:spcPct val="60000"/>
              </a:spcBef>
            </a:pPr>
            <a:r>
              <a:rPr lang="zh-CN" altLang="en-US" sz="1600" dirty="0">
                <a:latin typeface="Times New Roman" panose="02020603050405020304" pitchFamily="18" charset="0"/>
              </a:rPr>
              <a:t> 设计和执行一个计算机系统</a:t>
            </a:r>
          </a:p>
          <a:p>
            <a:pPr lvl="2" eaLnBrk="1" hangingPunct="1">
              <a:spcBef>
                <a:spcPct val="60000"/>
              </a:spcBef>
            </a:pPr>
            <a:r>
              <a:rPr lang="zh-CN" altLang="en-US" sz="1600" dirty="0">
                <a:latin typeface="Times New Roman" panose="02020603050405020304" pitchFamily="18" charset="0"/>
              </a:rPr>
              <a:t> 制作一个新闻版面</a:t>
            </a:r>
          </a:p>
          <a:p>
            <a:pPr lvl="2" eaLnBrk="1" hangingPunct="1">
              <a:spcBef>
                <a:spcPct val="60000"/>
              </a:spcBef>
            </a:pPr>
            <a:r>
              <a:rPr lang="zh-CN" altLang="en-US" sz="1600" dirty="0">
                <a:latin typeface="Times New Roman" panose="02020603050405020304" pitchFamily="18" charset="0"/>
              </a:rPr>
              <a:t> 组织一次市场调查</a:t>
            </a:r>
          </a:p>
          <a:p>
            <a:pPr lvl="2" eaLnBrk="1" hangingPunct="1">
              <a:spcBef>
                <a:spcPct val="60000"/>
              </a:spcBef>
            </a:pPr>
            <a:r>
              <a:rPr lang="zh-CN" altLang="en-US" sz="1600" dirty="0">
                <a:latin typeface="Times New Roman" panose="02020603050405020304" pitchFamily="18" charset="0"/>
              </a:rPr>
              <a:t> 在某组织内安装一次</a:t>
            </a:r>
            <a:r>
              <a:rPr lang="en-US" altLang="zh-CN" sz="1600" dirty="0">
                <a:latin typeface="Times New Roman" panose="02020603050405020304" pitchFamily="18" charset="0"/>
              </a:rPr>
              <a:t>Office Word</a:t>
            </a:r>
            <a:r>
              <a:rPr lang="zh-CN" altLang="en-US" sz="1600" dirty="0">
                <a:latin typeface="Times New Roman" panose="02020603050405020304" pitchFamily="18" charset="0"/>
              </a:rPr>
              <a:t>软件</a:t>
            </a:r>
          </a:p>
          <a:p>
            <a:pPr lvl="2" eaLnBrk="1" hangingPunct="1">
              <a:spcBef>
                <a:spcPct val="60000"/>
              </a:spcBef>
            </a:pPr>
            <a:r>
              <a:rPr lang="zh-CN" altLang="en-US" sz="1600" dirty="0">
                <a:latin typeface="Times New Roman" panose="02020603050405020304" pitchFamily="18" charset="0"/>
              </a:rPr>
              <a:t> 一次股票买卖</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F162B02A-161E-C78F-EE9D-A2D4DCB29109}"/>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1.1  </a:t>
            </a:r>
            <a:r>
              <a:rPr kumimoji="1" lang="zh-CN" altLang="en-US"/>
              <a:t>项目与软件项目的概念</a:t>
            </a:r>
            <a:endParaRPr lang="zh-CN" altLang="en-US"/>
          </a:p>
        </p:txBody>
      </p:sp>
      <p:sp>
        <p:nvSpPr>
          <p:cNvPr id="8195" name="Text Box 3">
            <a:extLst>
              <a:ext uri="{FF2B5EF4-FFF2-40B4-BE49-F238E27FC236}">
                <a16:creationId xmlns:a16="http://schemas.microsoft.com/office/drawing/2014/main" id="{F7D84800-BC81-FB7E-29B3-D07A02B9AD0C}"/>
              </a:ext>
            </a:extLst>
          </p:cNvPr>
          <p:cNvSpPr txBox="1">
            <a:spLocks noChangeArrowheads="1"/>
          </p:cNvSpPr>
          <p:nvPr/>
        </p:nvSpPr>
        <p:spPr bwMode="auto">
          <a:xfrm>
            <a:off x="260350" y="1743075"/>
            <a:ext cx="8675688" cy="510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60000"/>
              </a:spcBef>
            </a:pPr>
            <a:r>
              <a:rPr lang="en-US" altLang="zh-CN" sz="2400">
                <a:solidFill>
                  <a:schemeClr val="accent2"/>
                </a:solidFill>
                <a:latin typeface="黑体" panose="02010609060101010101" pitchFamily="49" charset="-122"/>
                <a:ea typeface="黑体" panose="02010609060101010101" pitchFamily="49" charset="-122"/>
              </a:rPr>
              <a:t> </a:t>
            </a:r>
            <a:r>
              <a:rPr lang="zh-CN" altLang="en-US" sz="2400">
                <a:solidFill>
                  <a:schemeClr val="accent2"/>
                </a:solidFill>
                <a:latin typeface="黑体" panose="02010609060101010101" pitchFamily="49" charset="-122"/>
                <a:ea typeface="黑体" panose="02010609060101010101" pitchFamily="49" charset="-122"/>
              </a:rPr>
              <a:t>项目定义和特征</a:t>
            </a:r>
            <a:endParaRPr lang="zh-CN" altLang="en-US" sz="2400">
              <a:solidFill>
                <a:srgbClr val="000000"/>
              </a:solidFill>
              <a:latin typeface="Times New Roman" panose="02020603050405020304" pitchFamily="18" charset="0"/>
            </a:endParaRPr>
          </a:p>
          <a:p>
            <a:pPr eaLnBrk="1" hangingPunct="1">
              <a:spcBef>
                <a:spcPct val="60000"/>
              </a:spcBef>
              <a:buFont typeface="Wingdings 2" panose="05020102010507070707" pitchFamily="18" charset="2"/>
              <a:buNone/>
            </a:pPr>
            <a:r>
              <a:rPr lang="zh-CN" altLang="en-US" sz="2000">
                <a:solidFill>
                  <a:srgbClr val="000000"/>
                </a:solidFill>
                <a:latin typeface="Times New Roman" panose="02020603050405020304" pitchFamily="18" charset="0"/>
              </a:rPr>
              <a:t>    </a:t>
            </a:r>
            <a:r>
              <a:rPr lang="en-US" altLang="zh-CN" sz="2000">
                <a:solidFill>
                  <a:schemeClr val="accent1"/>
                </a:solidFill>
                <a:latin typeface="Times New Roman" panose="02020603050405020304" pitchFamily="18" charset="0"/>
                <a:ea typeface="黑体" panose="02010609060101010101" pitchFamily="49" charset="-122"/>
              </a:rPr>
              <a:t>——</a:t>
            </a:r>
            <a:r>
              <a:rPr lang="zh-CN" altLang="en-US" sz="2000">
                <a:solidFill>
                  <a:schemeClr val="accent1"/>
                </a:solidFill>
                <a:latin typeface="黑体" panose="02010609060101010101" pitchFamily="49" charset="-122"/>
                <a:ea typeface="黑体" panose="02010609060101010101" pitchFamily="49" charset="-122"/>
              </a:rPr>
              <a:t>项目是</a:t>
            </a:r>
            <a:r>
              <a:rPr lang="zh-CN" altLang="en-US" sz="2000">
                <a:solidFill>
                  <a:srgbClr val="FF0000"/>
                </a:solidFill>
                <a:latin typeface="黑体" panose="02010609060101010101" pitchFamily="49" charset="-122"/>
                <a:ea typeface="黑体" panose="02010609060101010101" pitchFamily="49" charset="-122"/>
              </a:rPr>
              <a:t>为创造独特的产品、服务或其他成果</a:t>
            </a:r>
            <a:r>
              <a:rPr lang="zh-CN" altLang="en-US" sz="2000">
                <a:solidFill>
                  <a:schemeClr val="accent1"/>
                </a:solidFill>
                <a:latin typeface="黑体" panose="02010609060101010101" pitchFamily="49" charset="-122"/>
                <a:ea typeface="黑体" panose="02010609060101010101" pitchFamily="49" charset="-122"/>
              </a:rPr>
              <a:t>而进行的</a:t>
            </a:r>
            <a:r>
              <a:rPr lang="zh-CN" altLang="en-US" sz="2000">
                <a:solidFill>
                  <a:srgbClr val="FF0000"/>
                </a:solidFill>
                <a:latin typeface="黑体" panose="02010609060101010101" pitchFamily="49" charset="-122"/>
                <a:ea typeface="黑体" panose="02010609060101010101" pitchFamily="49" charset="-122"/>
              </a:rPr>
              <a:t>一次性</a:t>
            </a:r>
            <a:r>
              <a:rPr lang="zh-CN" altLang="en-US" sz="2000">
                <a:solidFill>
                  <a:schemeClr val="accent1"/>
                </a:solidFill>
                <a:latin typeface="黑体" panose="02010609060101010101" pitchFamily="49" charset="-122"/>
                <a:ea typeface="黑体" panose="02010609060101010101" pitchFamily="49" charset="-122"/>
              </a:rPr>
              <a:t>工作。</a:t>
            </a:r>
            <a:endParaRPr lang="en-US" altLang="zh-CN" sz="2000">
              <a:solidFill>
                <a:schemeClr val="accent1"/>
              </a:solidFill>
              <a:latin typeface="黑体" panose="02010609060101010101" pitchFamily="49" charset="-122"/>
              <a:ea typeface="黑体" panose="02010609060101010101" pitchFamily="49" charset="-122"/>
            </a:endParaRPr>
          </a:p>
          <a:p>
            <a:pPr eaLnBrk="1" hangingPunct="1">
              <a:spcBef>
                <a:spcPct val="60000"/>
              </a:spcBef>
              <a:buFont typeface="Wingdings 2" panose="05020102010507070707" pitchFamily="18" charset="2"/>
              <a:buNone/>
            </a:pPr>
            <a:r>
              <a:rPr lang="zh-CN" altLang="en-US" sz="2000">
                <a:solidFill>
                  <a:schemeClr val="accent1"/>
                </a:solidFill>
                <a:latin typeface="黑体" panose="02010609060101010101" pitchFamily="49" charset="-122"/>
                <a:ea typeface="黑体" panose="02010609060101010101" pitchFamily="49" charset="-122"/>
              </a:rPr>
              <a:t>特征</a:t>
            </a:r>
            <a:r>
              <a:rPr lang="zh-CN" altLang="en-US" sz="2000">
                <a:solidFill>
                  <a:schemeClr val="accent1"/>
                </a:solidFill>
                <a:latin typeface="Times New Roman" panose="02020603050405020304" pitchFamily="18" charset="0"/>
              </a:rPr>
              <a:t>：</a:t>
            </a:r>
            <a:r>
              <a:rPr kumimoji="0" lang="zh-CN" altLang="en-US" sz="1200"/>
              <a:t> </a:t>
            </a:r>
          </a:p>
          <a:p>
            <a:pPr lvl="1" eaLnBrk="1" hangingPunct="1">
              <a:spcBef>
                <a:spcPct val="30000"/>
              </a:spcBef>
              <a:buFont typeface="Wingdings 2" panose="05020102010507070707" pitchFamily="18" charset="2"/>
              <a:buChar char="¡"/>
            </a:pPr>
            <a:r>
              <a:rPr lang="zh-CN" altLang="en-US" sz="1800">
                <a:latin typeface="Times New Roman" panose="02020603050405020304" pitchFamily="18" charset="0"/>
              </a:rPr>
              <a:t> </a:t>
            </a:r>
            <a:r>
              <a:rPr lang="zh-CN" altLang="en-US" sz="1800">
                <a:solidFill>
                  <a:srgbClr val="FF0000"/>
                </a:solidFill>
                <a:latin typeface="Times New Roman" panose="02020603050405020304" pitchFamily="18" charset="0"/>
              </a:rPr>
              <a:t>（</a:t>
            </a:r>
            <a:r>
              <a:rPr lang="en-US" altLang="zh-CN" sz="1800">
                <a:solidFill>
                  <a:srgbClr val="FF0000"/>
                </a:solidFill>
                <a:latin typeface="Times New Roman" panose="02020603050405020304" pitchFamily="18" charset="0"/>
              </a:rPr>
              <a:t>1</a:t>
            </a:r>
            <a:r>
              <a:rPr lang="zh-CN" altLang="en-US" sz="1800">
                <a:solidFill>
                  <a:srgbClr val="FF0000"/>
                </a:solidFill>
                <a:latin typeface="Times New Roman" panose="02020603050405020304" pitchFamily="18" charset="0"/>
              </a:rPr>
              <a:t>）</a:t>
            </a:r>
            <a:r>
              <a:rPr lang="zh-CN" altLang="en-US" sz="2000">
                <a:solidFill>
                  <a:srgbClr val="FF0000"/>
                </a:solidFill>
                <a:latin typeface="黑体" panose="02010609060101010101" pitchFamily="49" charset="-122"/>
                <a:ea typeface="黑体" panose="02010609060101010101" pitchFamily="49" charset="-122"/>
              </a:rPr>
              <a:t>一次性与独特性：</a:t>
            </a:r>
            <a:r>
              <a:rPr lang="zh-CN" altLang="en-US" sz="2000">
                <a:latin typeface="黑体" panose="02010609060101010101" pitchFamily="49" charset="-122"/>
                <a:ea typeface="黑体" panose="02010609060101010101" pitchFamily="49" charset="-122"/>
              </a:rPr>
              <a:t>一次性是项目与其他常规运作的最大区别。每个项目要么提供的成果有自身的特点，要么提供的成果与其他项目类似，然而其时间和地点、内部和外部的环境、自然条件和社会条件有别于其他项目。</a:t>
            </a:r>
            <a:endParaRPr lang="en-US" altLang="zh-CN" sz="2000">
              <a:latin typeface="黑体" panose="02010609060101010101" pitchFamily="49" charset="-122"/>
              <a:ea typeface="黑体" panose="02010609060101010101" pitchFamily="49" charset="-122"/>
            </a:endParaRPr>
          </a:p>
          <a:p>
            <a:pPr lvl="1" eaLnBrk="1" hangingPunct="1">
              <a:spcBef>
                <a:spcPct val="30000"/>
              </a:spcBef>
              <a:buFont typeface="Wingdings 2" panose="05020102010507070707" pitchFamily="18" charset="2"/>
              <a:buChar char="¡"/>
            </a:pPr>
            <a:r>
              <a:rPr lang="zh-CN" altLang="en-US" sz="2000">
                <a:solidFill>
                  <a:srgbClr val="FF0000"/>
                </a:solidFill>
                <a:latin typeface="黑体" panose="02010609060101010101" pitchFamily="49" charset="-122"/>
                <a:ea typeface="黑体" panose="02010609060101010101" pitchFamily="49" charset="-122"/>
              </a:rPr>
              <a:t>（</a:t>
            </a:r>
            <a:r>
              <a:rPr lang="en-US" altLang="zh-CN" sz="2000">
                <a:solidFill>
                  <a:srgbClr val="FF0000"/>
                </a:solidFill>
                <a:latin typeface="黑体" panose="02010609060101010101" pitchFamily="49" charset="-122"/>
                <a:ea typeface="黑体" panose="02010609060101010101" pitchFamily="49" charset="-122"/>
              </a:rPr>
              <a:t>2</a:t>
            </a:r>
            <a:r>
              <a:rPr lang="zh-CN" altLang="en-US" sz="2000">
                <a:solidFill>
                  <a:srgbClr val="FF0000"/>
                </a:solidFill>
                <a:latin typeface="黑体" panose="02010609060101010101" pitchFamily="49" charset="-122"/>
                <a:ea typeface="黑体" panose="02010609060101010101" pitchFamily="49" charset="-122"/>
              </a:rPr>
              <a:t>）目标的确定性与过程的不确定性：</a:t>
            </a:r>
            <a:r>
              <a:rPr lang="zh-CN" altLang="en-US" sz="2000">
                <a:latin typeface="黑体" panose="02010609060101010101" pitchFamily="49" charset="-122"/>
                <a:ea typeface="黑体" panose="02010609060101010101" pitchFamily="49" charset="-122"/>
              </a:rPr>
              <a:t>项目有确定的时间目标、成果目标及其他需满足的要求。软件项目的实施过程有很大的不确定性。项目目标允许有一个变动的幅度，也就是说项目目标是可以修改的。</a:t>
            </a:r>
          </a:p>
          <a:p>
            <a:pPr lvl="1" eaLnBrk="1" hangingPunct="1">
              <a:spcBef>
                <a:spcPct val="30000"/>
              </a:spcBef>
              <a:buFont typeface="Wingdings 2" panose="05020102010507070707" pitchFamily="18" charset="2"/>
              <a:buChar char="¡"/>
            </a:pPr>
            <a:r>
              <a:rPr lang="zh-CN" altLang="en-US" sz="2000">
                <a:solidFill>
                  <a:srgbClr val="FF0000"/>
                </a:solidFill>
                <a:latin typeface="黑体" panose="02010609060101010101" pitchFamily="49" charset="-122"/>
                <a:ea typeface="黑体" panose="02010609060101010101" pitchFamily="49" charset="-122"/>
              </a:rPr>
              <a:t>（</a:t>
            </a:r>
            <a:r>
              <a:rPr lang="en-US" altLang="zh-CN" sz="2000">
                <a:solidFill>
                  <a:srgbClr val="FF0000"/>
                </a:solidFill>
                <a:latin typeface="黑体" panose="02010609060101010101" pitchFamily="49" charset="-122"/>
                <a:ea typeface="黑体" panose="02010609060101010101" pitchFamily="49" charset="-122"/>
              </a:rPr>
              <a:t>3</a:t>
            </a:r>
            <a:r>
              <a:rPr lang="zh-CN" altLang="en-US" sz="2000">
                <a:solidFill>
                  <a:srgbClr val="FF0000"/>
                </a:solidFill>
                <a:latin typeface="黑体" panose="02010609060101010101" pitchFamily="49" charset="-122"/>
                <a:ea typeface="黑体" panose="02010609060101010101" pitchFamily="49" charset="-122"/>
              </a:rPr>
              <a:t>）活动的整体性与过程的渐进性：</a:t>
            </a:r>
            <a:r>
              <a:rPr lang="zh-CN" altLang="en-US" sz="2000">
                <a:latin typeface="黑体" panose="02010609060101010101" pitchFamily="49" charset="-122"/>
                <a:ea typeface="黑体" panose="02010609060101010101" pitchFamily="49" charset="-122"/>
              </a:rPr>
              <a:t>项目中的一切活动都是相互联系的，构成一个整体，不能有多余的活动，也不能缺少某些活动。项目的实施需要逐步地投入资源，持续地累积可交付成果，所有人员始终要精工细作，直至项目的完成。</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59D030D-F21B-A2BB-C5EE-487FB5498D59}"/>
              </a:ext>
            </a:extLst>
          </p:cNvPr>
          <p:cNvSpPr>
            <a:spLocks noGrp="1" noChangeArrowheads="1"/>
          </p:cNvSpPr>
          <p:nvPr>
            <p:ph type="title"/>
          </p:nvPr>
        </p:nvSpPr>
        <p:spPr>
          <a:xfrm>
            <a:off x="177800" y="1054100"/>
            <a:ext cx="8788400" cy="717550"/>
          </a:xfrm>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1.1  </a:t>
            </a:r>
            <a:r>
              <a:rPr kumimoji="1" lang="zh-CN" altLang="en-US"/>
              <a:t>项目与软件项目的概念</a:t>
            </a:r>
            <a:endParaRPr lang="zh-CN" altLang="en-US"/>
          </a:p>
        </p:txBody>
      </p:sp>
      <p:sp>
        <p:nvSpPr>
          <p:cNvPr id="9219" name="Text Box 3">
            <a:extLst>
              <a:ext uri="{FF2B5EF4-FFF2-40B4-BE49-F238E27FC236}">
                <a16:creationId xmlns:a16="http://schemas.microsoft.com/office/drawing/2014/main" id="{AE0BC1C5-B1B3-8A7A-91DA-D1FE6BD7F853}"/>
              </a:ext>
            </a:extLst>
          </p:cNvPr>
          <p:cNvSpPr txBox="1">
            <a:spLocks noChangeArrowheads="1"/>
          </p:cNvSpPr>
          <p:nvPr/>
        </p:nvSpPr>
        <p:spPr bwMode="auto">
          <a:xfrm>
            <a:off x="468313" y="2060575"/>
            <a:ext cx="8675687"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60000"/>
              </a:spcBef>
            </a:pPr>
            <a:r>
              <a:rPr lang="en-US" altLang="zh-CN" sz="2400" dirty="0">
                <a:solidFill>
                  <a:schemeClr val="accent2"/>
                </a:solidFill>
                <a:latin typeface="黑体" panose="02010609060101010101" pitchFamily="49" charset="-122"/>
                <a:ea typeface="黑体" panose="02010609060101010101" pitchFamily="49" charset="-122"/>
              </a:rPr>
              <a:t> </a:t>
            </a:r>
            <a:r>
              <a:rPr lang="zh-CN" altLang="en-US" sz="2400" dirty="0">
                <a:solidFill>
                  <a:schemeClr val="accent2"/>
                </a:solidFill>
                <a:latin typeface="黑体" panose="02010609060101010101" pitchFamily="49" charset="-122"/>
                <a:ea typeface="黑体" panose="02010609060101010101" pitchFamily="49" charset="-122"/>
              </a:rPr>
              <a:t>项目定义和特征</a:t>
            </a:r>
            <a:r>
              <a:rPr kumimoji="0" lang="zh-CN" altLang="en-US" sz="1200" dirty="0"/>
              <a:t> </a:t>
            </a:r>
          </a:p>
          <a:p>
            <a:pPr lvl="1" eaLnBrk="1" hangingPunct="1">
              <a:spcBef>
                <a:spcPct val="30000"/>
              </a:spcBef>
              <a:buFont typeface="Wingdings 2" panose="05020102010507070707" pitchFamily="18" charset="2"/>
              <a:buChar char="¡"/>
            </a:pPr>
            <a:r>
              <a:rPr lang="zh-CN" altLang="en-US" sz="2000" dirty="0">
                <a:solidFill>
                  <a:srgbClr val="FF0000"/>
                </a:solidFill>
                <a:latin typeface="黑体" panose="02010609060101010101" pitchFamily="49" charset="-122"/>
                <a:ea typeface="黑体" panose="02010609060101010101" pitchFamily="49" charset="-122"/>
              </a:rPr>
              <a:t>（</a:t>
            </a:r>
            <a:r>
              <a:rPr lang="en-US" altLang="zh-CN" sz="2000" dirty="0">
                <a:solidFill>
                  <a:srgbClr val="FF0000"/>
                </a:solidFill>
                <a:latin typeface="黑体" panose="02010609060101010101" pitchFamily="49" charset="-122"/>
                <a:ea typeface="黑体" panose="02010609060101010101" pitchFamily="49" charset="-122"/>
              </a:rPr>
              <a:t>4</a:t>
            </a:r>
            <a:r>
              <a:rPr lang="zh-CN" altLang="en-US" sz="2000" dirty="0">
                <a:solidFill>
                  <a:srgbClr val="FF0000"/>
                </a:solidFill>
                <a:latin typeface="黑体" panose="02010609060101010101" pitchFamily="49" charset="-122"/>
                <a:ea typeface="黑体" panose="02010609060101010101" pitchFamily="49" charset="-122"/>
              </a:rPr>
              <a:t>）项目组织的临时性和开放性：</a:t>
            </a:r>
            <a:r>
              <a:rPr lang="zh-CN" altLang="en-US" sz="2000" dirty="0">
                <a:latin typeface="黑体" panose="02010609060101010101" pitchFamily="49" charset="-122"/>
                <a:ea typeface="黑体" panose="02010609060101010101" pitchFamily="49" charset="-122"/>
              </a:rPr>
              <a:t>项目在进展时，其成员、职责都在不断地变化。参与项目的组织往往有多个，他们通过协议或合同以及其他的社会关系结合在一起，在不同时段以不同的形式介入项目活动。项目组织没有严格的边界，是临时的、开放的。</a:t>
            </a:r>
            <a:endParaRPr lang="en-US" altLang="zh-CN" sz="2000" dirty="0">
              <a:latin typeface="黑体" panose="02010609060101010101" pitchFamily="49" charset="-122"/>
              <a:ea typeface="黑体" panose="02010609060101010101" pitchFamily="49" charset="-122"/>
            </a:endParaRPr>
          </a:p>
          <a:p>
            <a:pPr lvl="1" eaLnBrk="1" hangingPunct="1">
              <a:spcBef>
                <a:spcPct val="30000"/>
              </a:spcBef>
              <a:buFont typeface="Wingdings 2" panose="05020102010507070707" pitchFamily="18" charset="2"/>
              <a:buChar char="¡"/>
            </a:pPr>
            <a:r>
              <a:rPr lang="zh-CN" altLang="en-US" sz="2000" dirty="0">
                <a:solidFill>
                  <a:srgbClr val="FF0000"/>
                </a:solidFill>
                <a:latin typeface="黑体" panose="02010609060101010101" pitchFamily="49" charset="-122"/>
                <a:ea typeface="黑体" panose="02010609060101010101" pitchFamily="49" charset="-122"/>
              </a:rPr>
              <a:t>（</a:t>
            </a:r>
            <a:r>
              <a:rPr lang="en-US" altLang="zh-CN" sz="2000" dirty="0">
                <a:solidFill>
                  <a:srgbClr val="FF0000"/>
                </a:solidFill>
                <a:latin typeface="黑体" panose="02010609060101010101" pitchFamily="49" charset="-122"/>
                <a:ea typeface="黑体" panose="02010609060101010101" pitchFamily="49" charset="-122"/>
              </a:rPr>
              <a:t>5</a:t>
            </a:r>
            <a:r>
              <a:rPr lang="zh-CN" altLang="en-US" sz="2000" dirty="0">
                <a:solidFill>
                  <a:srgbClr val="FF0000"/>
                </a:solidFill>
                <a:latin typeface="黑体" panose="02010609060101010101" pitchFamily="49" charset="-122"/>
                <a:ea typeface="黑体" panose="02010609060101010101" pitchFamily="49" charset="-122"/>
              </a:rPr>
              <a:t>）对资源的依赖性和冲突性：</a:t>
            </a:r>
            <a:r>
              <a:rPr lang="zh-CN" altLang="en-US" sz="2000" dirty="0">
                <a:latin typeface="黑体" panose="02010609060101010101" pitchFamily="49" charset="-122"/>
                <a:ea typeface="黑体" panose="02010609060101010101" pitchFamily="49" charset="-122"/>
              </a:rPr>
              <a:t>项目的实施依赖大量的资源，软件项目依赖的资源首先是</a:t>
            </a:r>
            <a:r>
              <a:rPr lang="zh-CN" altLang="en-US" sz="2000" dirty="0">
                <a:highlight>
                  <a:srgbClr val="FFFF00"/>
                </a:highlight>
                <a:latin typeface="黑体" panose="02010609060101010101" pitchFamily="49" charset="-122"/>
                <a:ea typeface="黑体" panose="02010609060101010101" pitchFamily="49" charset="-122"/>
              </a:rPr>
              <a:t>开发和实施项目的人</a:t>
            </a:r>
            <a:r>
              <a:rPr lang="zh-CN" altLang="en-US" sz="2000" dirty="0">
                <a:latin typeface="黑体" panose="02010609060101010101" pitchFamily="49" charset="-122"/>
                <a:ea typeface="黑体" panose="02010609060101010101" pitchFamily="49" charset="-122"/>
              </a:rPr>
              <a:t>，实施项目的人进一步利用和消耗其他资源。项目实施的过程也就是资源转化的过程。同时，由于项目常与组织中的其他工作或项目同时进行，导致项目与部分工作间的冲突。例如项目内部冲突主要表现在资源分配与调度不均、时间进度安排与质量结果考核冲突等，由此也导致了项目经理的工作更加富有冲突性。</a:t>
            </a:r>
            <a:endParaRPr lang="en-US" altLang="zh-CN" sz="2000" dirty="0">
              <a:latin typeface="黑体" panose="02010609060101010101" pitchFamily="49" charset="-122"/>
              <a:ea typeface="黑体" panose="020106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88EC5695-EBAC-8A71-52C8-FA5BB759E6DC}"/>
              </a:ext>
            </a:extLst>
          </p:cNvPr>
          <p:cNvSpPr>
            <a:spLocks noGrp="1" noChangeArrowheads="1"/>
          </p:cNvSpPr>
          <p:nvPr>
            <p:ph type="title"/>
          </p:nvPr>
        </p:nvSpPr>
        <p:spPr>
          <a:xfrm>
            <a:off x="177800" y="1054100"/>
            <a:ext cx="8788400" cy="717550"/>
          </a:xfrm>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1.1  </a:t>
            </a:r>
            <a:r>
              <a:rPr kumimoji="1" lang="zh-CN" altLang="en-US"/>
              <a:t>项目与软件项目的概念</a:t>
            </a:r>
            <a:endParaRPr lang="zh-CN" altLang="en-US"/>
          </a:p>
        </p:txBody>
      </p:sp>
      <p:sp>
        <p:nvSpPr>
          <p:cNvPr id="10243" name="Text Box 3">
            <a:extLst>
              <a:ext uri="{FF2B5EF4-FFF2-40B4-BE49-F238E27FC236}">
                <a16:creationId xmlns:a16="http://schemas.microsoft.com/office/drawing/2014/main" id="{F9C703CA-8DFF-ED9F-3728-F6B55290ED5C}"/>
              </a:ext>
            </a:extLst>
          </p:cNvPr>
          <p:cNvSpPr txBox="1">
            <a:spLocks noChangeArrowheads="1"/>
          </p:cNvSpPr>
          <p:nvPr/>
        </p:nvSpPr>
        <p:spPr bwMode="auto">
          <a:xfrm>
            <a:off x="468313" y="2060575"/>
            <a:ext cx="8675687" cy="280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60000"/>
              </a:spcBef>
            </a:pPr>
            <a:r>
              <a:rPr lang="en-US" altLang="zh-CN" sz="2400">
                <a:solidFill>
                  <a:schemeClr val="accent2"/>
                </a:solidFill>
                <a:latin typeface="黑体" panose="02010609060101010101" pitchFamily="49" charset="-122"/>
                <a:ea typeface="黑体" panose="02010609060101010101" pitchFamily="49" charset="-122"/>
              </a:rPr>
              <a:t> </a:t>
            </a:r>
            <a:r>
              <a:rPr lang="zh-CN" altLang="en-US" sz="2400">
                <a:solidFill>
                  <a:schemeClr val="accent2"/>
                </a:solidFill>
                <a:latin typeface="黑体" panose="02010609060101010101" pitchFamily="49" charset="-122"/>
                <a:ea typeface="黑体" panose="02010609060101010101" pitchFamily="49" charset="-122"/>
              </a:rPr>
              <a:t>项目定义和特征</a:t>
            </a:r>
            <a:r>
              <a:rPr kumimoji="0" lang="zh-CN" altLang="en-US" sz="1200"/>
              <a:t> </a:t>
            </a:r>
          </a:p>
          <a:p>
            <a:pPr lvl="1" eaLnBrk="1" hangingPunct="1">
              <a:spcBef>
                <a:spcPct val="30000"/>
              </a:spcBef>
              <a:buFont typeface="Wingdings 2" panose="05020102010507070707" pitchFamily="18" charset="2"/>
              <a:buChar char="¡"/>
            </a:pPr>
            <a:r>
              <a:rPr lang="zh-CN" altLang="en-US" sz="2000">
                <a:solidFill>
                  <a:srgbClr val="FF0000"/>
                </a:solidFill>
                <a:latin typeface="黑体" panose="02010609060101010101" pitchFamily="49" charset="-122"/>
                <a:ea typeface="黑体" panose="02010609060101010101" pitchFamily="49" charset="-122"/>
              </a:rPr>
              <a:t>（</a:t>
            </a:r>
            <a:r>
              <a:rPr lang="en-US" altLang="zh-CN" sz="2000">
                <a:solidFill>
                  <a:srgbClr val="FF0000"/>
                </a:solidFill>
                <a:latin typeface="黑体" panose="02010609060101010101" pitchFamily="49" charset="-122"/>
                <a:ea typeface="黑体" panose="02010609060101010101" pitchFamily="49" charset="-122"/>
              </a:rPr>
              <a:t>6</a:t>
            </a:r>
            <a:r>
              <a:rPr lang="zh-CN" altLang="en-US" sz="2000">
                <a:solidFill>
                  <a:srgbClr val="FF0000"/>
                </a:solidFill>
                <a:latin typeface="黑体" panose="02010609060101010101" pitchFamily="49" charset="-122"/>
                <a:ea typeface="黑体" panose="02010609060101010101" pitchFamily="49" charset="-122"/>
              </a:rPr>
              <a:t>）结果的不可逆转性：</a:t>
            </a:r>
            <a:r>
              <a:rPr lang="zh-CN" altLang="en-US" sz="2000">
                <a:latin typeface="黑体" panose="02010609060101010101" pitchFamily="49" charset="-122"/>
                <a:ea typeface="黑体" panose="02010609060101010101" pitchFamily="49" charset="-122"/>
              </a:rPr>
              <a:t>不论结果如何，项目结束后，结果也就是确定了，它是不可逆转的。</a:t>
            </a:r>
            <a:endParaRPr lang="en-US" altLang="zh-CN" sz="2000">
              <a:latin typeface="黑体" panose="02010609060101010101" pitchFamily="49" charset="-122"/>
              <a:ea typeface="黑体" panose="02010609060101010101" pitchFamily="49" charset="-122"/>
            </a:endParaRPr>
          </a:p>
          <a:p>
            <a:pPr lvl="1" eaLnBrk="1" hangingPunct="1">
              <a:spcBef>
                <a:spcPct val="30000"/>
              </a:spcBef>
              <a:buFont typeface="Wingdings 2" panose="05020102010507070707" pitchFamily="18" charset="2"/>
              <a:buChar char="¡"/>
            </a:pPr>
            <a:r>
              <a:rPr lang="zh-CN" altLang="en-US" sz="2000">
                <a:solidFill>
                  <a:srgbClr val="FF0000"/>
                </a:solidFill>
                <a:latin typeface="黑体" panose="02010609060101010101" pitchFamily="49" charset="-122"/>
                <a:ea typeface="黑体" panose="02010609060101010101" pitchFamily="49" charset="-122"/>
              </a:rPr>
              <a:t>（</a:t>
            </a:r>
            <a:r>
              <a:rPr lang="en-US" altLang="zh-CN" sz="2000">
                <a:solidFill>
                  <a:srgbClr val="FF0000"/>
                </a:solidFill>
                <a:latin typeface="黑体" panose="02010609060101010101" pitchFamily="49" charset="-122"/>
                <a:ea typeface="黑体" panose="02010609060101010101" pitchFamily="49" charset="-122"/>
              </a:rPr>
              <a:t>7</a:t>
            </a:r>
            <a:r>
              <a:rPr lang="zh-CN" altLang="en-US" sz="2000">
                <a:solidFill>
                  <a:srgbClr val="FF0000"/>
                </a:solidFill>
                <a:latin typeface="黑体" panose="02010609060101010101" pitchFamily="49" charset="-122"/>
                <a:ea typeface="黑体" panose="02010609060101010101" pitchFamily="49" charset="-122"/>
              </a:rPr>
              <a:t>）项目实施的周期性：</a:t>
            </a:r>
            <a:r>
              <a:rPr lang="zh-CN" altLang="en-US" sz="2000">
                <a:latin typeface="黑体" panose="02010609060101010101" pitchFamily="49" charset="-122"/>
                <a:ea typeface="黑体" panose="02010609060101010101" pitchFamily="49" charset="-122"/>
              </a:rPr>
              <a:t>项目要在一个限定的期间内完成，它是一种临时性的任务，有明确的开始点和结束点，当项目的基本目标达到时，就意味着项目任务的完成。尽管不同项目的生命周期阶段划分有所区别，但总体来看，可分为四个阶段，即概念阶段、开发阶段、实施阶段和收尾阶段。</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8AA28EE5-2BEE-2B3B-31D4-A05E4402141A}"/>
              </a:ext>
            </a:extLst>
          </p:cNvPr>
          <p:cNvSpPr>
            <a:spLocks noGrp="1" noChangeArrowheads="1"/>
          </p:cNvSpPr>
          <p:nvPr>
            <p:ph type="title"/>
          </p:nvPr>
        </p:nvSpPr>
        <p:spPr/>
        <p:txBody>
          <a:bodyPr/>
          <a:lstStyle/>
          <a:p>
            <a:pPr eaLnBrk="1" hangingPunct="1"/>
            <a:r>
              <a:rPr kumimoji="1" lang="zh-CN" altLang="en-US"/>
              <a:t>项目与软件项目的概念</a:t>
            </a:r>
          </a:p>
        </p:txBody>
      </p:sp>
      <p:sp>
        <p:nvSpPr>
          <p:cNvPr id="11267" name="Rectangle 3">
            <a:extLst>
              <a:ext uri="{FF2B5EF4-FFF2-40B4-BE49-F238E27FC236}">
                <a16:creationId xmlns:a16="http://schemas.microsoft.com/office/drawing/2014/main" id="{E17DE61B-C7B7-C7D5-A755-3C1329D23ACB}"/>
              </a:ext>
            </a:extLst>
          </p:cNvPr>
          <p:cNvSpPr>
            <a:spLocks noGrp="1" noChangeArrowheads="1"/>
          </p:cNvSpPr>
          <p:nvPr>
            <p:ph type="body" idx="1"/>
          </p:nvPr>
        </p:nvSpPr>
        <p:spPr>
          <a:xfrm>
            <a:off x="539750" y="2060575"/>
            <a:ext cx="8604250" cy="4319588"/>
          </a:xfrm>
        </p:spPr>
        <p:txBody>
          <a:bodyPr/>
          <a:lstStyle/>
          <a:p>
            <a:pPr eaLnBrk="1" hangingPunct="1">
              <a:lnSpc>
                <a:spcPct val="90000"/>
              </a:lnSpc>
            </a:pPr>
            <a:r>
              <a:rPr lang="zh-CN" altLang="en-US" sz="2000" dirty="0">
                <a:solidFill>
                  <a:srgbClr val="B9490B"/>
                </a:solidFill>
                <a:ea typeface="黑体" panose="02010609060101010101" pitchFamily="49" charset="-122"/>
              </a:rPr>
              <a:t>临时性</a:t>
            </a:r>
          </a:p>
          <a:p>
            <a:pPr lvl="1" eaLnBrk="1" hangingPunct="1">
              <a:lnSpc>
                <a:spcPct val="130000"/>
              </a:lnSpc>
            </a:pPr>
            <a:r>
              <a:rPr lang="zh-CN" altLang="en-US" sz="2000" dirty="0"/>
              <a:t>项目有明确的开始与截止日期</a:t>
            </a:r>
          </a:p>
          <a:p>
            <a:pPr lvl="1" eaLnBrk="1" hangingPunct="1">
              <a:lnSpc>
                <a:spcPct val="130000"/>
              </a:lnSpc>
            </a:pPr>
            <a:r>
              <a:rPr lang="zh-CN" altLang="en-US" sz="2000" dirty="0"/>
              <a:t>项目合同的起止日期</a:t>
            </a:r>
          </a:p>
          <a:p>
            <a:pPr lvl="1" eaLnBrk="1" hangingPunct="1">
              <a:lnSpc>
                <a:spcPct val="130000"/>
              </a:lnSpc>
            </a:pPr>
            <a:r>
              <a:rPr lang="zh-CN" altLang="en-US" sz="2000" dirty="0"/>
              <a:t>当达到项目的目标时即项目的截止日期；或项目被中止</a:t>
            </a:r>
            <a:r>
              <a:rPr lang="en-US" altLang="zh-CN" sz="2000" dirty="0"/>
              <a:t>/</a:t>
            </a:r>
            <a:r>
              <a:rPr lang="zh-CN" altLang="en-US" sz="2000" dirty="0"/>
              <a:t>取消的日期</a:t>
            </a:r>
          </a:p>
          <a:p>
            <a:pPr lvl="1" eaLnBrk="1" hangingPunct="1">
              <a:lnSpc>
                <a:spcPct val="130000"/>
              </a:lnSpc>
            </a:pPr>
            <a:r>
              <a:rPr lang="zh-CN" altLang="en-US" sz="2000" dirty="0"/>
              <a:t>项目的临时性并不意味着项目所提交的产品或服务也是一次性的（一次性纸杯的生产） </a:t>
            </a:r>
          </a:p>
          <a:p>
            <a:pPr lvl="1" eaLnBrk="1" hangingPunct="1">
              <a:lnSpc>
                <a:spcPct val="130000"/>
              </a:lnSpc>
            </a:pPr>
            <a:r>
              <a:rPr lang="zh-CN" altLang="en-US" sz="2000" dirty="0"/>
              <a:t>项目所面临的市场机遇往往也是临时性的（没有企业愿意在</a:t>
            </a:r>
            <a:r>
              <a:rPr lang="en-US" altLang="zh-CN" sz="2000" dirty="0"/>
              <a:t>2009</a:t>
            </a:r>
            <a:r>
              <a:rPr lang="zh-CN" altLang="en-US" sz="2000" dirty="0"/>
              <a:t>年生产北京奥运的徽章）</a:t>
            </a:r>
          </a:p>
          <a:p>
            <a:pPr lvl="1" eaLnBrk="1" hangingPunct="1">
              <a:lnSpc>
                <a:spcPct val="130000"/>
              </a:lnSpc>
            </a:pPr>
            <a:r>
              <a:rPr lang="zh-CN" altLang="en-US" sz="2000" dirty="0"/>
              <a:t>项目组也往往是临时性的，当项目结束时，项目组也随之解散（或释放）</a:t>
            </a:r>
          </a:p>
          <a:p>
            <a:pPr eaLnBrk="1" hangingPunct="1">
              <a:lnSpc>
                <a:spcPct val="110000"/>
              </a:lnSpc>
            </a:pPr>
            <a:endParaRPr lang="en-US" altLang="zh-CN"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D57803CC-ABF7-2329-0F01-F8CF846011F6}"/>
              </a:ext>
            </a:extLst>
          </p:cNvPr>
          <p:cNvSpPr>
            <a:spLocks noGrp="1" noChangeArrowheads="1"/>
          </p:cNvSpPr>
          <p:nvPr>
            <p:ph type="title"/>
          </p:nvPr>
        </p:nvSpPr>
        <p:spPr/>
        <p:txBody>
          <a:bodyPr/>
          <a:lstStyle/>
          <a:p>
            <a:pPr eaLnBrk="1" hangingPunct="1"/>
            <a:r>
              <a:rPr kumimoji="1" lang="zh-CN" altLang="en-US"/>
              <a:t>项目与软件项目的概念</a:t>
            </a:r>
          </a:p>
        </p:txBody>
      </p:sp>
      <p:sp>
        <p:nvSpPr>
          <p:cNvPr id="12291" name="Rectangle 3">
            <a:extLst>
              <a:ext uri="{FF2B5EF4-FFF2-40B4-BE49-F238E27FC236}">
                <a16:creationId xmlns:a16="http://schemas.microsoft.com/office/drawing/2014/main" id="{5396D93F-DB32-C509-D3C5-07B8F956BC50}"/>
              </a:ext>
            </a:extLst>
          </p:cNvPr>
          <p:cNvSpPr>
            <a:spLocks noGrp="1" noChangeArrowheads="1"/>
          </p:cNvSpPr>
          <p:nvPr>
            <p:ph type="body" idx="1"/>
          </p:nvPr>
        </p:nvSpPr>
        <p:spPr>
          <a:xfrm>
            <a:off x="468313" y="2349500"/>
            <a:ext cx="8496300" cy="4176713"/>
          </a:xfrm>
        </p:spPr>
        <p:txBody>
          <a:bodyPr/>
          <a:lstStyle/>
          <a:p>
            <a:pPr eaLnBrk="1" hangingPunct="1"/>
            <a:r>
              <a:rPr lang="zh-CN" altLang="en-US" sz="2000" dirty="0">
                <a:solidFill>
                  <a:srgbClr val="B9490B"/>
                </a:solidFill>
                <a:ea typeface="黑体" panose="02010609060101010101" pitchFamily="49" charset="-122"/>
              </a:rPr>
              <a:t>独特的产品或服务</a:t>
            </a:r>
          </a:p>
          <a:p>
            <a:pPr lvl="1" eaLnBrk="1" hangingPunct="1">
              <a:lnSpc>
                <a:spcPct val="150000"/>
              </a:lnSpc>
            </a:pPr>
            <a:r>
              <a:rPr lang="zh-CN" altLang="en-US" sz="2000" dirty="0"/>
              <a:t>项目所产生的产品或服务是独一无二的（包括合同的签订人、位置等方面的信息）</a:t>
            </a:r>
          </a:p>
          <a:p>
            <a:pPr lvl="1" eaLnBrk="1" hangingPunct="1">
              <a:lnSpc>
                <a:spcPct val="150000"/>
              </a:lnSpc>
            </a:pPr>
            <a:r>
              <a:rPr lang="zh-CN" altLang="en-US" sz="2000" dirty="0"/>
              <a:t>对于批量生产的商品（例如空调或冰箱）则不具备独特性，而例如北京联通计费项目则具有独特性</a:t>
            </a:r>
          </a:p>
          <a:p>
            <a:pPr marL="0" indent="0" eaLnBrk="1" hangingPunct="1">
              <a:buNone/>
            </a:pPr>
            <a:endParaRPr lang="en-US" altLang="zh-C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5EDD5ECC-C080-9887-214F-C1BBAE234835}"/>
              </a:ext>
            </a:extLst>
          </p:cNvPr>
          <p:cNvSpPr>
            <a:spLocks noGrp="1" noChangeArrowheads="1"/>
          </p:cNvSpPr>
          <p:nvPr>
            <p:ph type="title"/>
          </p:nvPr>
        </p:nvSpPr>
        <p:spPr/>
        <p:txBody>
          <a:bodyPr/>
          <a:lstStyle/>
          <a:p>
            <a:pPr eaLnBrk="1" hangingPunct="1"/>
            <a:r>
              <a:rPr kumimoji="1" lang="zh-CN" altLang="en-US"/>
              <a:t>项目与软件项目的概念</a:t>
            </a:r>
          </a:p>
        </p:txBody>
      </p:sp>
      <p:sp>
        <p:nvSpPr>
          <p:cNvPr id="13315" name="Rectangle 3">
            <a:extLst>
              <a:ext uri="{FF2B5EF4-FFF2-40B4-BE49-F238E27FC236}">
                <a16:creationId xmlns:a16="http://schemas.microsoft.com/office/drawing/2014/main" id="{5FD0354E-2A8F-F56C-B8E6-E70EF040FB00}"/>
              </a:ext>
            </a:extLst>
          </p:cNvPr>
          <p:cNvSpPr>
            <a:spLocks noGrp="1" noChangeArrowheads="1"/>
          </p:cNvSpPr>
          <p:nvPr>
            <p:ph type="body" idx="1"/>
          </p:nvPr>
        </p:nvSpPr>
        <p:spPr>
          <a:xfrm>
            <a:off x="755650" y="2133600"/>
            <a:ext cx="8137525" cy="4724400"/>
          </a:xfrm>
        </p:spPr>
        <p:txBody>
          <a:bodyPr/>
          <a:lstStyle/>
          <a:p>
            <a:pPr eaLnBrk="1" hangingPunct="1">
              <a:buFont typeface="Wingdings 2" panose="05020102010507070707" pitchFamily="18" charset="2"/>
              <a:buNone/>
            </a:pPr>
            <a:r>
              <a:rPr lang="zh-CN" altLang="en-US" sz="2400">
                <a:solidFill>
                  <a:schemeClr val="accent1"/>
                </a:solidFill>
                <a:latin typeface="宋体" panose="02010600030101010101" pitchFamily="2" charset="-122"/>
              </a:rPr>
              <a:t>以下哪些是项目呢？</a:t>
            </a:r>
          </a:p>
          <a:p>
            <a:pPr eaLnBrk="1" hangingPunct="1">
              <a:spcBef>
                <a:spcPct val="60000"/>
              </a:spcBef>
            </a:pPr>
            <a:r>
              <a:rPr lang="zh-CN" altLang="en-US" sz="2400">
                <a:latin typeface="宋体" panose="02010600030101010101" pitchFamily="2" charset="-122"/>
              </a:rPr>
              <a:t>上课 </a:t>
            </a:r>
          </a:p>
          <a:p>
            <a:pPr eaLnBrk="1" hangingPunct="1"/>
            <a:r>
              <a:rPr lang="zh-CN" altLang="en-US" sz="2400">
                <a:latin typeface="宋体" panose="02010600030101010101" pitchFamily="2" charset="-122"/>
              </a:rPr>
              <a:t>野餐活动</a:t>
            </a:r>
          </a:p>
          <a:p>
            <a:pPr eaLnBrk="1" hangingPunct="1"/>
            <a:r>
              <a:rPr lang="zh-CN" altLang="en-US" sz="2400">
                <a:latin typeface="宋体" panose="02010600030101010101" pitchFamily="2" charset="-122"/>
              </a:rPr>
              <a:t>集体婚礼</a:t>
            </a:r>
          </a:p>
          <a:p>
            <a:pPr eaLnBrk="1" hangingPunct="1"/>
            <a:r>
              <a:rPr lang="zh-CN" altLang="en-US" sz="2400">
                <a:latin typeface="宋体" panose="02010600030101010101" pitchFamily="2" charset="-122"/>
              </a:rPr>
              <a:t>社区保安</a:t>
            </a:r>
          </a:p>
          <a:p>
            <a:pPr eaLnBrk="1" hangingPunct="1"/>
            <a:r>
              <a:rPr lang="zh-CN" altLang="en-US" sz="2400">
                <a:latin typeface="宋体" panose="02010600030101010101" pitchFamily="2" charset="-122"/>
              </a:rPr>
              <a:t>开发微软的操作系统</a:t>
            </a:r>
          </a:p>
          <a:p>
            <a:pPr eaLnBrk="1" hangingPunct="1"/>
            <a:r>
              <a:rPr lang="zh-CN" altLang="en-US" sz="2400">
                <a:latin typeface="宋体" panose="02010600030101010101" pitchFamily="2" charset="-122"/>
              </a:rPr>
              <a:t>每天的卫生保洁 </a:t>
            </a:r>
          </a:p>
          <a:p>
            <a:pPr eaLnBrk="1" hangingPunct="1"/>
            <a:r>
              <a:rPr lang="zh-CN" altLang="en-US" sz="2400">
                <a:latin typeface="宋体" panose="02010600030101010101" pitchFamily="2" charset="-122"/>
              </a:rPr>
              <a:t>神舟飞船计划</a:t>
            </a:r>
          </a:p>
        </p:txBody>
      </p:sp>
      <p:sp>
        <p:nvSpPr>
          <p:cNvPr id="13316" name="WordArt 4">
            <a:extLst>
              <a:ext uri="{FF2B5EF4-FFF2-40B4-BE49-F238E27FC236}">
                <a16:creationId xmlns:a16="http://schemas.microsoft.com/office/drawing/2014/main" id="{6A0B7435-BDD5-DEFD-D919-E53D60B46093}"/>
              </a:ext>
            </a:extLst>
          </p:cNvPr>
          <p:cNvSpPr>
            <a:spLocks noChangeArrowheads="1" noChangeShapeType="1" noTextEdit="1"/>
          </p:cNvSpPr>
          <p:nvPr/>
        </p:nvSpPr>
        <p:spPr bwMode="auto">
          <a:xfrm>
            <a:off x="5580063" y="3141663"/>
            <a:ext cx="1066800" cy="1600200"/>
          </a:xfrm>
          <a:prstGeom prst="rect">
            <a:avLst/>
          </a:prstGeom>
        </p:spPr>
        <p:txBody>
          <a:bodyPr wrap="none" fromWordArt="1">
            <a:prstTxWarp prst="textPlain">
              <a:avLst>
                <a:gd name="adj" fmla="val 50000"/>
              </a:avLst>
            </a:prstTxWarp>
          </a:bodyPr>
          <a:lstStyle/>
          <a:p>
            <a:pPr algn="ctr"/>
            <a:r>
              <a:rPr lang="en-US" altLang="zh-CN" sz="3600" kern="10" spc="720">
                <a:ln w="9525">
                  <a:solidFill>
                    <a:schemeClr val="tx1"/>
                  </a:solidFill>
                  <a:round/>
                  <a:headEnd/>
                  <a:tailEnd/>
                </a:ln>
                <a:solidFill>
                  <a:srgbClr val="8E5E92"/>
                </a:solidFill>
                <a:effectLst>
                  <a:outerShdw dist="45791" dir="3378596" algn="ctr" rotWithShape="0">
                    <a:srgbClr val="4D4D4D"/>
                  </a:outerShdw>
                </a:effectLst>
                <a:cs typeface="Arial" panose="020B0604020202020204" pitchFamily="34" charset="0"/>
              </a:rPr>
              <a:t>?</a:t>
            </a:r>
            <a:endParaRPr lang="zh-CN" altLang="en-US" sz="3600" kern="10" spc="720">
              <a:ln w="9525">
                <a:solidFill>
                  <a:schemeClr val="tx1"/>
                </a:solidFill>
                <a:round/>
                <a:headEnd/>
                <a:tailEnd/>
              </a:ln>
              <a:solidFill>
                <a:srgbClr val="8E5E92"/>
              </a:solidFill>
              <a:effectLst>
                <a:outerShdw dist="45791" dir="3378596" algn="ctr" rotWithShape="0">
                  <a:srgbClr val="4D4D4D"/>
                </a:outerShdw>
              </a:effectLst>
              <a:cs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0506D74B-BDEE-A8B4-D342-2789A633B36B}"/>
              </a:ext>
            </a:extLst>
          </p:cNvPr>
          <p:cNvSpPr>
            <a:spLocks noGrp="1" noChangeArrowheads="1"/>
          </p:cNvSpPr>
          <p:nvPr>
            <p:ph type="title"/>
          </p:nvPr>
        </p:nvSpPr>
        <p:spPr/>
        <p:txBody>
          <a:bodyPr/>
          <a:lstStyle/>
          <a:p>
            <a:pPr eaLnBrk="1" hangingPunct="1"/>
            <a:r>
              <a:rPr kumimoji="1" lang="zh-CN" altLang="en-US"/>
              <a:t>项目与软件项目的概念</a:t>
            </a:r>
          </a:p>
        </p:txBody>
      </p:sp>
      <p:sp>
        <p:nvSpPr>
          <p:cNvPr id="14339" name="Rectangle 3">
            <a:extLst>
              <a:ext uri="{FF2B5EF4-FFF2-40B4-BE49-F238E27FC236}">
                <a16:creationId xmlns:a16="http://schemas.microsoft.com/office/drawing/2014/main" id="{FF1721E2-70A0-462F-1334-F2169E857FBA}"/>
              </a:ext>
            </a:extLst>
          </p:cNvPr>
          <p:cNvSpPr>
            <a:spLocks noGrp="1" noChangeArrowheads="1"/>
          </p:cNvSpPr>
          <p:nvPr>
            <p:ph type="body" idx="1"/>
          </p:nvPr>
        </p:nvSpPr>
        <p:spPr>
          <a:xfrm>
            <a:off x="179388" y="1844675"/>
            <a:ext cx="8785225" cy="5013325"/>
          </a:xfrm>
        </p:spPr>
        <p:txBody>
          <a:bodyPr/>
          <a:lstStyle/>
          <a:p>
            <a:pPr eaLnBrk="1" hangingPunct="1">
              <a:lnSpc>
                <a:spcPct val="150000"/>
              </a:lnSpc>
              <a:spcBef>
                <a:spcPct val="50000"/>
              </a:spcBef>
              <a:buFont typeface="Wingdings 2" panose="05020102010507070707" pitchFamily="18" charset="2"/>
              <a:buNone/>
            </a:pPr>
            <a:r>
              <a:rPr lang="en-US" altLang="zh-CN" sz="2400">
                <a:latin typeface="宋体" panose="02010600030101010101" pitchFamily="2" charset="-122"/>
              </a:rPr>
              <a:t>   </a:t>
            </a:r>
          </a:p>
          <a:p>
            <a:pPr eaLnBrk="1" hangingPunct="1"/>
            <a:endParaRPr lang="en-US" altLang="zh-CN" sz="2400">
              <a:latin typeface="宋体" panose="02010600030101010101" pitchFamily="2" charset="-122"/>
            </a:endParaRPr>
          </a:p>
          <a:p>
            <a:pPr eaLnBrk="1" hangingPunct="1"/>
            <a:endParaRPr lang="en-US" altLang="zh-CN">
              <a:latin typeface="黑体" panose="02010609060101010101" pitchFamily="49" charset="-122"/>
              <a:ea typeface="黑体" panose="02010609060101010101" pitchFamily="49" charset="-122"/>
            </a:endParaRPr>
          </a:p>
          <a:p>
            <a:pPr eaLnBrk="1" hangingPunct="1"/>
            <a:endParaRPr lang="en-US" altLang="zh-CN">
              <a:latin typeface="黑体" panose="02010609060101010101" pitchFamily="49" charset="-122"/>
              <a:ea typeface="黑体" panose="02010609060101010101" pitchFamily="49" charset="-122"/>
            </a:endParaRPr>
          </a:p>
        </p:txBody>
      </p:sp>
      <p:grpSp>
        <p:nvGrpSpPr>
          <p:cNvPr id="14340" name="Group 48">
            <a:extLst>
              <a:ext uri="{FF2B5EF4-FFF2-40B4-BE49-F238E27FC236}">
                <a16:creationId xmlns:a16="http://schemas.microsoft.com/office/drawing/2014/main" id="{B1F0DAEA-3D94-2696-4A5E-69BB8C0B617F}"/>
              </a:ext>
            </a:extLst>
          </p:cNvPr>
          <p:cNvGrpSpPr>
            <a:grpSpLocks/>
          </p:cNvGrpSpPr>
          <p:nvPr/>
        </p:nvGrpSpPr>
        <p:grpSpPr bwMode="auto">
          <a:xfrm>
            <a:off x="1212850" y="2349500"/>
            <a:ext cx="7391400" cy="4114800"/>
            <a:chOff x="476" y="1480"/>
            <a:chExt cx="4656" cy="2592"/>
          </a:xfrm>
        </p:grpSpPr>
        <p:sp>
          <p:nvSpPr>
            <p:cNvPr id="14341" name="Text Box 37">
              <a:extLst>
                <a:ext uri="{FF2B5EF4-FFF2-40B4-BE49-F238E27FC236}">
                  <a16:creationId xmlns:a16="http://schemas.microsoft.com/office/drawing/2014/main" id="{38DA14E1-542B-6C0F-9828-4AF59DA4833B}"/>
                </a:ext>
              </a:extLst>
            </p:cNvPr>
            <p:cNvSpPr txBox="1">
              <a:spLocks noChangeArrowheads="1"/>
            </p:cNvSpPr>
            <p:nvPr/>
          </p:nvSpPr>
          <p:spPr bwMode="auto">
            <a:xfrm>
              <a:off x="3788" y="3154"/>
              <a:ext cx="12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zh-CN" altLang="en-US" sz="2400">
                  <a:latin typeface="Arial Narrow" panose="020B0606020202030204" pitchFamily="34" charset="0"/>
                  <a:ea typeface="黑体" panose="02010609060101010101" pitchFamily="49" charset="-122"/>
                </a:rPr>
                <a:t>日常运作</a:t>
              </a:r>
            </a:p>
          </p:txBody>
        </p:sp>
        <p:sp>
          <p:nvSpPr>
            <p:cNvPr id="14342" name="Text Box 38">
              <a:extLst>
                <a:ext uri="{FF2B5EF4-FFF2-40B4-BE49-F238E27FC236}">
                  <a16:creationId xmlns:a16="http://schemas.microsoft.com/office/drawing/2014/main" id="{8661B931-8BB3-52EA-AD41-8945ADB961B1}"/>
                </a:ext>
              </a:extLst>
            </p:cNvPr>
            <p:cNvSpPr txBox="1">
              <a:spLocks noChangeArrowheads="1"/>
            </p:cNvSpPr>
            <p:nvPr/>
          </p:nvSpPr>
          <p:spPr bwMode="auto">
            <a:xfrm>
              <a:off x="3884" y="1672"/>
              <a:ext cx="12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zh-CN" altLang="en-US" sz="2400">
                  <a:solidFill>
                    <a:srgbClr val="B9490B"/>
                  </a:solidFill>
                  <a:latin typeface="Arial Narrow" panose="020B0606020202030204" pitchFamily="34" charset="0"/>
                  <a:ea typeface="黑体" panose="02010609060101010101" pitchFamily="49" charset="-122"/>
                </a:rPr>
                <a:t>项目</a:t>
              </a:r>
            </a:p>
          </p:txBody>
        </p:sp>
        <p:sp>
          <p:nvSpPr>
            <p:cNvPr id="14343" name="Line 39">
              <a:extLst>
                <a:ext uri="{FF2B5EF4-FFF2-40B4-BE49-F238E27FC236}">
                  <a16:creationId xmlns:a16="http://schemas.microsoft.com/office/drawing/2014/main" id="{C651F2E3-DBE4-20D0-FE44-98C84C87D23C}"/>
                </a:ext>
              </a:extLst>
            </p:cNvPr>
            <p:cNvSpPr>
              <a:spLocks noChangeShapeType="1"/>
            </p:cNvSpPr>
            <p:nvPr/>
          </p:nvSpPr>
          <p:spPr bwMode="auto">
            <a:xfrm flipV="1">
              <a:off x="2018" y="1933"/>
              <a:ext cx="1905" cy="1542"/>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4" name="Line 40">
              <a:extLst>
                <a:ext uri="{FF2B5EF4-FFF2-40B4-BE49-F238E27FC236}">
                  <a16:creationId xmlns:a16="http://schemas.microsoft.com/office/drawing/2014/main" id="{D85FFDD7-ED53-1C5D-6216-CD325E5B3B73}"/>
                </a:ext>
              </a:extLst>
            </p:cNvPr>
            <p:cNvSpPr>
              <a:spLocks noChangeShapeType="1"/>
            </p:cNvSpPr>
            <p:nvPr/>
          </p:nvSpPr>
          <p:spPr bwMode="auto">
            <a:xfrm flipV="1">
              <a:off x="1610" y="1816"/>
              <a:ext cx="2322" cy="118"/>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5" name="Line 41">
              <a:extLst>
                <a:ext uri="{FF2B5EF4-FFF2-40B4-BE49-F238E27FC236}">
                  <a16:creationId xmlns:a16="http://schemas.microsoft.com/office/drawing/2014/main" id="{91898BD9-0958-2604-D2E6-B73D1D2FFE7B}"/>
                </a:ext>
              </a:extLst>
            </p:cNvPr>
            <p:cNvSpPr>
              <a:spLocks noChangeShapeType="1"/>
            </p:cNvSpPr>
            <p:nvPr/>
          </p:nvSpPr>
          <p:spPr bwMode="auto">
            <a:xfrm flipV="1">
              <a:off x="1565" y="1864"/>
              <a:ext cx="2367" cy="387"/>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6" name="Line 42">
              <a:extLst>
                <a:ext uri="{FF2B5EF4-FFF2-40B4-BE49-F238E27FC236}">
                  <a16:creationId xmlns:a16="http://schemas.microsoft.com/office/drawing/2014/main" id="{55484549-E52C-A3FA-FE46-AD387BDF0AB5}"/>
                </a:ext>
              </a:extLst>
            </p:cNvPr>
            <p:cNvSpPr>
              <a:spLocks noChangeShapeType="1"/>
            </p:cNvSpPr>
            <p:nvPr/>
          </p:nvSpPr>
          <p:spPr bwMode="auto">
            <a:xfrm>
              <a:off x="1196" y="1624"/>
              <a:ext cx="2727" cy="1444"/>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7" name="Line 43">
              <a:extLst>
                <a:ext uri="{FF2B5EF4-FFF2-40B4-BE49-F238E27FC236}">
                  <a16:creationId xmlns:a16="http://schemas.microsoft.com/office/drawing/2014/main" id="{2E26EE56-9841-BE68-4101-1BC7CEA4C664}"/>
                </a:ext>
              </a:extLst>
            </p:cNvPr>
            <p:cNvSpPr>
              <a:spLocks noChangeShapeType="1"/>
            </p:cNvSpPr>
            <p:nvPr/>
          </p:nvSpPr>
          <p:spPr bwMode="auto">
            <a:xfrm>
              <a:off x="1610" y="2569"/>
              <a:ext cx="2268" cy="544"/>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8" name="Line 44">
              <a:extLst>
                <a:ext uri="{FF2B5EF4-FFF2-40B4-BE49-F238E27FC236}">
                  <a16:creationId xmlns:a16="http://schemas.microsoft.com/office/drawing/2014/main" id="{F10FC6FA-2EAF-866F-8B19-B6FAD42A101F}"/>
                </a:ext>
              </a:extLst>
            </p:cNvPr>
            <p:cNvSpPr>
              <a:spLocks noChangeShapeType="1"/>
            </p:cNvSpPr>
            <p:nvPr/>
          </p:nvSpPr>
          <p:spPr bwMode="auto">
            <a:xfrm>
              <a:off x="2154" y="3113"/>
              <a:ext cx="1675" cy="46"/>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9" name="Rectangle 45">
              <a:extLst>
                <a:ext uri="{FF2B5EF4-FFF2-40B4-BE49-F238E27FC236}">
                  <a16:creationId xmlns:a16="http://schemas.microsoft.com/office/drawing/2014/main" id="{358FCA35-CE6B-F176-658E-FE21DC08B327}"/>
                </a:ext>
              </a:extLst>
            </p:cNvPr>
            <p:cNvSpPr>
              <a:spLocks noChangeArrowheads="1"/>
            </p:cNvSpPr>
            <p:nvPr/>
          </p:nvSpPr>
          <p:spPr bwMode="auto">
            <a:xfrm>
              <a:off x="476" y="1480"/>
              <a:ext cx="2016" cy="2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20663">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50938"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r>
                <a:rPr kumimoji="0" lang="zh-CN" altLang="en-US" sz="2400">
                  <a:latin typeface="宋体" panose="02010600030101010101" pitchFamily="2" charset="-122"/>
                </a:rPr>
                <a:t>上课 </a:t>
              </a:r>
            </a:p>
            <a:p>
              <a:pPr eaLnBrk="1" hangingPunct="1"/>
              <a:r>
                <a:rPr kumimoji="0" lang="zh-CN" altLang="en-US" sz="2400">
                  <a:solidFill>
                    <a:srgbClr val="B9490B"/>
                  </a:solidFill>
                  <a:latin typeface="宋体" panose="02010600030101010101" pitchFamily="2" charset="-122"/>
                </a:rPr>
                <a:t>野餐活动</a:t>
              </a:r>
            </a:p>
            <a:p>
              <a:pPr eaLnBrk="1" hangingPunct="1"/>
              <a:r>
                <a:rPr kumimoji="0" lang="zh-CN" altLang="en-US" sz="2400">
                  <a:solidFill>
                    <a:srgbClr val="B9490B"/>
                  </a:solidFill>
                  <a:latin typeface="宋体" panose="02010600030101010101" pitchFamily="2" charset="-122"/>
                </a:rPr>
                <a:t>集体婚礼</a:t>
              </a:r>
            </a:p>
            <a:p>
              <a:pPr eaLnBrk="1" hangingPunct="1"/>
              <a:r>
                <a:rPr kumimoji="0" lang="zh-CN" altLang="en-US" sz="2400">
                  <a:latin typeface="宋体" panose="02010600030101010101" pitchFamily="2" charset="-122"/>
                </a:rPr>
                <a:t>社区保安</a:t>
              </a:r>
            </a:p>
            <a:p>
              <a:pPr eaLnBrk="1" hangingPunct="1"/>
              <a:r>
                <a:rPr kumimoji="0" lang="zh-CN" altLang="en-US" sz="2400">
                  <a:solidFill>
                    <a:srgbClr val="B9490B"/>
                  </a:solidFill>
                  <a:latin typeface="宋体" panose="02010600030101010101" pitchFamily="2" charset="-122"/>
                </a:rPr>
                <a:t>开发操作系统</a:t>
              </a:r>
            </a:p>
            <a:p>
              <a:pPr eaLnBrk="1" hangingPunct="1"/>
              <a:r>
                <a:rPr kumimoji="0" lang="zh-CN" altLang="en-US" sz="2400">
                  <a:latin typeface="宋体" panose="02010600030101010101" pitchFamily="2" charset="-122"/>
                </a:rPr>
                <a:t>每天的卫生保洁 </a:t>
              </a:r>
            </a:p>
            <a:p>
              <a:pPr eaLnBrk="1" hangingPunct="1"/>
              <a:r>
                <a:rPr kumimoji="0" lang="zh-CN" altLang="en-US" sz="2400">
                  <a:solidFill>
                    <a:srgbClr val="B9490B"/>
                  </a:solidFill>
                  <a:latin typeface="宋体" panose="02010600030101010101" pitchFamily="2" charset="-122"/>
                </a:rPr>
                <a:t>神州飞船计划</a:t>
              </a:r>
            </a:p>
            <a:p>
              <a:pPr eaLnBrk="1" hangingPunct="1"/>
              <a:endParaRPr kumimoji="0" lang="en-US" altLang="zh-CN" sz="2400">
                <a:latin typeface="宋体" panose="02010600030101010101" pitchFamily="2" charset="-122"/>
              </a:endParaRPr>
            </a:p>
          </p:txBody>
        </p:sp>
        <p:sp>
          <p:nvSpPr>
            <p:cNvPr id="14350" name="Line 47">
              <a:extLst>
                <a:ext uri="{FF2B5EF4-FFF2-40B4-BE49-F238E27FC236}">
                  <a16:creationId xmlns:a16="http://schemas.microsoft.com/office/drawing/2014/main" id="{820502EB-5FF2-8F2C-EC91-4C9890EF1D60}"/>
                </a:ext>
              </a:extLst>
            </p:cNvPr>
            <p:cNvSpPr>
              <a:spLocks noChangeShapeType="1"/>
            </p:cNvSpPr>
            <p:nvPr/>
          </p:nvSpPr>
          <p:spPr bwMode="auto">
            <a:xfrm flipV="1">
              <a:off x="1973" y="1888"/>
              <a:ext cx="1950" cy="934"/>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AE8D4DA1-00D5-5327-DEEB-340184D89C4C}"/>
              </a:ext>
            </a:extLst>
          </p:cNvPr>
          <p:cNvSpPr>
            <a:spLocks noGrp="1" noChangeArrowheads="1"/>
          </p:cNvSpPr>
          <p:nvPr>
            <p:ph type="title"/>
          </p:nvPr>
        </p:nvSpPr>
        <p:spPr/>
        <p:txBody>
          <a:bodyPr/>
          <a:lstStyle/>
          <a:p>
            <a:pPr eaLnBrk="1" hangingPunct="1"/>
            <a:r>
              <a:rPr kumimoji="1" lang="zh-CN" altLang="en-US"/>
              <a:t>项目与软件项目的概念</a:t>
            </a:r>
          </a:p>
        </p:txBody>
      </p:sp>
      <p:sp>
        <p:nvSpPr>
          <p:cNvPr id="15363" name="Rectangle 3">
            <a:extLst>
              <a:ext uri="{FF2B5EF4-FFF2-40B4-BE49-F238E27FC236}">
                <a16:creationId xmlns:a16="http://schemas.microsoft.com/office/drawing/2014/main" id="{F975B505-B149-8817-CEC8-CB2A023BF491}"/>
              </a:ext>
            </a:extLst>
          </p:cNvPr>
          <p:cNvSpPr>
            <a:spLocks noGrp="1" noChangeArrowheads="1"/>
          </p:cNvSpPr>
          <p:nvPr>
            <p:ph type="body" idx="1"/>
          </p:nvPr>
        </p:nvSpPr>
        <p:spPr>
          <a:xfrm>
            <a:off x="684213" y="2205038"/>
            <a:ext cx="8280400" cy="3960812"/>
          </a:xfrm>
        </p:spPr>
        <p:txBody>
          <a:bodyPr/>
          <a:lstStyle/>
          <a:p>
            <a:pPr eaLnBrk="1" hangingPunct="1">
              <a:lnSpc>
                <a:spcPct val="150000"/>
              </a:lnSpc>
              <a:buFont typeface="Wingdings 2" panose="05020102010507070707" pitchFamily="18" charset="2"/>
              <a:buNone/>
            </a:pPr>
            <a:r>
              <a:rPr lang="zh-CN" altLang="en-US" sz="2400" dirty="0">
                <a:solidFill>
                  <a:schemeClr val="accent1"/>
                </a:solidFill>
                <a:latin typeface="宋体" panose="02010600030101010101" pitchFamily="2" charset="-122"/>
              </a:rPr>
              <a:t>项目与日常运作的区别：</a:t>
            </a:r>
          </a:p>
          <a:p>
            <a:pPr eaLnBrk="1" hangingPunct="1">
              <a:lnSpc>
                <a:spcPct val="150000"/>
              </a:lnSpc>
            </a:pPr>
            <a:r>
              <a:rPr lang="zh-CN" altLang="en-US" sz="2000" dirty="0">
                <a:latin typeface="宋体" panose="02010600030101010101" pitchFamily="2" charset="-122"/>
              </a:rPr>
              <a:t>项目是</a:t>
            </a:r>
            <a:r>
              <a:rPr lang="zh-CN" altLang="en-US" sz="2000" dirty="0">
                <a:solidFill>
                  <a:srgbClr val="FF0000"/>
                </a:solidFill>
                <a:latin typeface="宋体" panose="02010600030101010101" pitchFamily="2" charset="-122"/>
              </a:rPr>
              <a:t>一次性</a:t>
            </a:r>
            <a:r>
              <a:rPr lang="zh-CN" altLang="en-US" sz="2000" dirty="0">
                <a:latin typeface="宋体" panose="02010600030101010101" pitchFamily="2" charset="-122"/>
              </a:rPr>
              <a:t>的，日常</a:t>
            </a:r>
            <a:r>
              <a:rPr lang="zh-CN" altLang="en-US" sz="2000" dirty="0">
                <a:solidFill>
                  <a:srgbClr val="000000"/>
                </a:solidFill>
                <a:latin typeface="宋体" panose="02010600030101010101" pitchFamily="2" charset="-122"/>
              </a:rPr>
              <a:t>运作</a:t>
            </a:r>
            <a:r>
              <a:rPr lang="zh-CN" altLang="en-US" sz="2000" dirty="0">
                <a:latin typeface="宋体" panose="02010600030101010101" pitchFamily="2" charset="-122"/>
              </a:rPr>
              <a:t>是重复进行的</a:t>
            </a:r>
          </a:p>
          <a:p>
            <a:pPr eaLnBrk="1" hangingPunct="1">
              <a:lnSpc>
                <a:spcPct val="150000"/>
              </a:lnSpc>
            </a:pPr>
            <a:r>
              <a:rPr lang="zh-CN" altLang="en-US" sz="2000" dirty="0">
                <a:latin typeface="宋体" panose="02010600030101010101" pitchFamily="2" charset="-122"/>
              </a:rPr>
              <a:t>项目是以目标为导向的，日常运作是通过效率和有效性体现的</a:t>
            </a:r>
          </a:p>
          <a:p>
            <a:pPr eaLnBrk="1" hangingPunct="1">
              <a:lnSpc>
                <a:spcPct val="150000"/>
              </a:lnSpc>
            </a:pPr>
            <a:r>
              <a:rPr lang="zh-CN" altLang="en-US" sz="2000" dirty="0">
                <a:latin typeface="宋体" panose="02010600030101010101" pitchFamily="2" charset="-122"/>
              </a:rPr>
              <a:t>项目是通过与项目经理及其团队工作完成的，而日常运作是职能式的线形管理</a:t>
            </a:r>
          </a:p>
          <a:p>
            <a:pPr eaLnBrk="1" hangingPunct="1">
              <a:lnSpc>
                <a:spcPct val="150000"/>
              </a:lnSpc>
            </a:pPr>
            <a:r>
              <a:rPr lang="zh-CN" altLang="en-US" sz="2000" dirty="0">
                <a:latin typeface="宋体" panose="02010600030101010101" pitchFamily="2" charset="-122"/>
              </a:rPr>
              <a:t>项目存在大量的变更管理，而日常运作则基本保持持续的连贯性的 </a:t>
            </a:r>
          </a:p>
          <a:p>
            <a:pPr eaLnBrk="1" hangingPunct="1">
              <a:lnSpc>
                <a:spcPct val="150000"/>
              </a:lnSpc>
            </a:pPr>
            <a:endParaRPr lang="en-US" altLang="zh-CN" sz="2000" dirty="0">
              <a:latin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EB6A743A-5BDE-33DC-0041-E20E2EA154B0}"/>
              </a:ext>
            </a:extLst>
          </p:cNvPr>
          <p:cNvSpPr>
            <a:spLocks noGrp="1" noChangeArrowheads="1"/>
          </p:cNvSpPr>
          <p:nvPr>
            <p:ph type="title"/>
          </p:nvPr>
        </p:nvSpPr>
        <p:spPr/>
        <p:txBody>
          <a:bodyPr/>
          <a:lstStyle/>
          <a:p>
            <a:pPr eaLnBrk="1" hangingPunct="1"/>
            <a:r>
              <a:rPr kumimoji="1" lang="zh-CN" altLang="en-US"/>
              <a:t>项目与软件项目的概念</a:t>
            </a:r>
          </a:p>
        </p:txBody>
      </p:sp>
      <p:sp>
        <p:nvSpPr>
          <p:cNvPr id="16387" name="Rectangle 3">
            <a:extLst>
              <a:ext uri="{FF2B5EF4-FFF2-40B4-BE49-F238E27FC236}">
                <a16:creationId xmlns:a16="http://schemas.microsoft.com/office/drawing/2014/main" id="{C939E6C6-296E-8C7F-1348-AFC8A4A5AC9A}"/>
              </a:ext>
            </a:extLst>
          </p:cNvPr>
          <p:cNvSpPr>
            <a:spLocks noGrp="1" noChangeArrowheads="1"/>
          </p:cNvSpPr>
          <p:nvPr>
            <p:ph type="body" idx="1"/>
          </p:nvPr>
        </p:nvSpPr>
        <p:spPr>
          <a:xfrm>
            <a:off x="684213" y="2133600"/>
            <a:ext cx="8280400" cy="4724400"/>
          </a:xfrm>
        </p:spPr>
        <p:txBody>
          <a:bodyPr/>
          <a:lstStyle/>
          <a:p>
            <a:pPr eaLnBrk="1" hangingPunct="1">
              <a:lnSpc>
                <a:spcPct val="80000"/>
              </a:lnSpc>
              <a:spcBef>
                <a:spcPct val="60000"/>
              </a:spcBef>
            </a:pPr>
            <a:r>
              <a:rPr lang="zh-CN" altLang="en-US" sz="2400" dirty="0">
                <a:solidFill>
                  <a:schemeClr val="accent2"/>
                </a:solidFill>
                <a:latin typeface="黑体" panose="02010609060101010101" pitchFamily="49" charset="-122"/>
                <a:ea typeface="黑体" panose="02010609060101010101" pitchFamily="49" charset="-122"/>
              </a:rPr>
              <a:t>软件项目的特点</a:t>
            </a:r>
          </a:p>
          <a:p>
            <a:pPr eaLnBrk="1" hangingPunct="1">
              <a:lnSpc>
                <a:spcPct val="150000"/>
              </a:lnSpc>
              <a:buFont typeface="Wingdings 2" panose="05020102010507070707" pitchFamily="18" charset="2"/>
              <a:buNone/>
            </a:pPr>
            <a:r>
              <a:rPr lang="zh-CN" altLang="en-US" sz="2400" dirty="0">
                <a:latin typeface="黑体" panose="02010609060101010101" pitchFamily="49" charset="-122"/>
              </a:rPr>
              <a:t>  </a:t>
            </a:r>
            <a:r>
              <a:rPr lang="zh-CN" altLang="en-US" sz="2000" dirty="0">
                <a:solidFill>
                  <a:schemeClr val="accent1"/>
                </a:solidFill>
                <a:latin typeface="黑体" panose="02010609060101010101" pitchFamily="49" charset="-122"/>
              </a:rPr>
              <a:t>除了项目的特征，软件项目还具有以下特点：</a:t>
            </a:r>
          </a:p>
          <a:p>
            <a:pPr lvl="1" eaLnBrk="1" hangingPunct="1">
              <a:spcBef>
                <a:spcPct val="60000"/>
              </a:spcBef>
              <a:buFont typeface="Wingdings 2" panose="05020102010507070707" pitchFamily="18" charset="2"/>
              <a:buChar char="¡"/>
            </a:pPr>
            <a:r>
              <a:rPr lang="zh-CN" altLang="en-US" sz="1800" dirty="0">
                <a:latin typeface="黑体" panose="02010609060101010101" pitchFamily="49" charset="-122"/>
              </a:rPr>
              <a:t>（</a:t>
            </a:r>
            <a:r>
              <a:rPr lang="en-US" altLang="zh-CN" sz="1800" dirty="0">
                <a:latin typeface="黑体" panose="02010609060101010101" pitchFamily="49" charset="-122"/>
              </a:rPr>
              <a:t>1</a:t>
            </a:r>
            <a:r>
              <a:rPr lang="zh-CN" altLang="en-US" sz="1800" dirty="0">
                <a:latin typeface="黑体" panose="02010609060101010101" pitchFamily="49" charset="-122"/>
              </a:rPr>
              <a:t>）软件是一种</a:t>
            </a:r>
            <a:r>
              <a:rPr lang="zh-CN" altLang="en-US" sz="1800" dirty="0">
                <a:solidFill>
                  <a:srgbClr val="FF0000"/>
                </a:solidFill>
                <a:latin typeface="黑体" panose="02010609060101010101" pitchFamily="49" charset="-122"/>
              </a:rPr>
              <a:t>逻辑实体</a:t>
            </a:r>
            <a:r>
              <a:rPr lang="zh-CN" altLang="en-US" sz="1800" dirty="0">
                <a:latin typeface="黑体" panose="02010609060101010101" pitchFamily="49" charset="-122"/>
              </a:rPr>
              <a:t>，不是具体的物理实体，它具有抽象性。这使得软件与硬件或者工程实体有很多不同。</a:t>
            </a:r>
            <a:endParaRPr lang="en-US" altLang="zh-CN" sz="1800" dirty="0">
              <a:latin typeface="黑体" panose="02010609060101010101" pitchFamily="49" charset="-122"/>
            </a:endParaRPr>
          </a:p>
          <a:p>
            <a:pPr lvl="1" eaLnBrk="1" hangingPunct="1">
              <a:spcBef>
                <a:spcPct val="60000"/>
              </a:spcBef>
              <a:buFont typeface="Wingdings 2" panose="05020102010507070707" pitchFamily="18" charset="2"/>
              <a:buChar char="¡"/>
            </a:pPr>
            <a:r>
              <a:rPr lang="zh-CN" altLang="en-US" sz="1800" dirty="0">
                <a:latin typeface="黑体" panose="02010609060101010101" pitchFamily="49" charset="-122"/>
              </a:rPr>
              <a:t>（</a:t>
            </a:r>
            <a:r>
              <a:rPr lang="en-US" altLang="zh-CN" sz="1800" dirty="0">
                <a:latin typeface="黑体" panose="02010609060101010101" pitchFamily="49" charset="-122"/>
              </a:rPr>
              <a:t>2</a:t>
            </a:r>
            <a:r>
              <a:rPr lang="zh-CN" altLang="en-US" sz="1800" dirty="0">
                <a:latin typeface="黑体" panose="02010609060101010101" pitchFamily="49" charset="-122"/>
              </a:rPr>
              <a:t>）软件的生产与硬件不同，在开发过程中没有明显的制造过程、也不存在重复生产过程。</a:t>
            </a:r>
            <a:endParaRPr lang="en-US" altLang="zh-CN" sz="1800" dirty="0">
              <a:latin typeface="黑体" panose="02010609060101010101" pitchFamily="49" charset="-122"/>
            </a:endParaRPr>
          </a:p>
          <a:p>
            <a:pPr lvl="1" eaLnBrk="1" hangingPunct="1">
              <a:spcBef>
                <a:spcPct val="60000"/>
              </a:spcBef>
              <a:buFont typeface="Wingdings 2" panose="05020102010507070707" pitchFamily="18" charset="2"/>
              <a:buChar char="¡"/>
            </a:pPr>
            <a:r>
              <a:rPr lang="zh-CN" altLang="en-US" sz="1800" dirty="0">
                <a:latin typeface="黑体" panose="02010609060101010101" pitchFamily="49" charset="-122"/>
              </a:rPr>
              <a:t>（</a:t>
            </a:r>
            <a:r>
              <a:rPr lang="en-US" altLang="zh-CN" sz="1800" dirty="0">
                <a:latin typeface="黑体" panose="02010609060101010101" pitchFamily="49" charset="-122"/>
              </a:rPr>
              <a:t>3</a:t>
            </a:r>
            <a:r>
              <a:rPr lang="zh-CN" altLang="en-US" sz="1800" dirty="0">
                <a:latin typeface="黑体" panose="02010609060101010101" pitchFamily="49" charset="-122"/>
              </a:rPr>
              <a:t>）软件没有硬件的</a:t>
            </a:r>
            <a:r>
              <a:rPr lang="zh-CN" altLang="en-US" sz="1800" dirty="0">
                <a:solidFill>
                  <a:srgbClr val="FF0000"/>
                </a:solidFill>
                <a:latin typeface="黑体" panose="02010609060101010101" pitchFamily="49" charset="-122"/>
              </a:rPr>
              <a:t>机械磨损和老化</a:t>
            </a:r>
            <a:r>
              <a:rPr lang="zh-CN" altLang="en-US" sz="1800" dirty="0">
                <a:latin typeface="黑体" panose="02010609060101010101" pitchFamily="49" charset="-122"/>
              </a:rPr>
              <a:t>问题。相反，软件具有多次完善性。任何一个软件系统或产品，都不可能一次开发完成或永久使用。随着信息技术的发展，软、硬件更新速度非常快，且使用软件的人员水平不断提高，对软件系统提出了更高要求，因此，软件系统是一个不断完善和改进的过程性产品。然而，软件也存在退化问题，在软件的生存期中，软件环境的变化导致软件失效发生率的上升。当软件产品需要考虑对体系结构和内核程序进行改进时，也就意味着该产品将被淘汰。</a:t>
            </a:r>
          </a:p>
          <a:p>
            <a:pPr eaLnBrk="1" hangingPunct="1">
              <a:lnSpc>
                <a:spcPct val="50000"/>
              </a:lnSpc>
            </a:pPr>
            <a:endParaRPr lang="en-US" altLang="zh-CN" sz="2000" dirty="0">
              <a:latin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2B70F3B0-8CF5-034D-B13E-AF8AA80D94AC}"/>
              </a:ext>
            </a:extLst>
          </p:cNvPr>
          <p:cNvSpPr>
            <a:spLocks noGrp="1" noChangeArrowheads="1"/>
          </p:cNvSpPr>
          <p:nvPr>
            <p:ph type="title"/>
          </p:nvPr>
        </p:nvSpPr>
        <p:spPr/>
        <p:txBody>
          <a:bodyPr/>
          <a:lstStyle/>
          <a:p>
            <a:pPr eaLnBrk="1" hangingPunct="1"/>
            <a:r>
              <a:rPr kumimoji="1" lang="zh-CN" altLang="en-US"/>
              <a:t>项目与软件项目的概念</a:t>
            </a:r>
          </a:p>
        </p:txBody>
      </p:sp>
      <p:sp>
        <p:nvSpPr>
          <p:cNvPr id="17411" name="Rectangle 3">
            <a:extLst>
              <a:ext uri="{FF2B5EF4-FFF2-40B4-BE49-F238E27FC236}">
                <a16:creationId xmlns:a16="http://schemas.microsoft.com/office/drawing/2014/main" id="{0D2DAA89-1BA3-BFFF-740B-D7EBC9144129}"/>
              </a:ext>
            </a:extLst>
          </p:cNvPr>
          <p:cNvSpPr>
            <a:spLocks noGrp="1" noChangeArrowheads="1"/>
          </p:cNvSpPr>
          <p:nvPr>
            <p:ph type="body" idx="1"/>
          </p:nvPr>
        </p:nvSpPr>
        <p:spPr>
          <a:xfrm>
            <a:off x="684213" y="2133600"/>
            <a:ext cx="8280400" cy="4724400"/>
          </a:xfrm>
        </p:spPr>
        <p:txBody>
          <a:bodyPr/>
          <a:lstStyle/>
          <a:p>
            <a:pPr eaLnBrk="1" hangingPunct="1">
              <a:lnSpc>
                <a:spcPct val="80000"/>
              </a:lnSpc>
              <a:spcBef>
                <a:spcPct val="60000"/>
              </a:spcBef>
            </a:pPr>
            <a:r>
              <a:rPr lang="zh-CN" altLang="en-US" sz="2400" dirty="0">
                <a:solidFill>
                  <a:schemeClr val="accent2"/>
                </a:solidFill>
                <a:latin typeface="黑体" panose="02010609060101010101" pitchFamily="49" charset="-122"/>
                <a:ea typeface="黑体" panose="02010609060101010101" pitchFamily="49" charset="-122"/>
              </a:rPr>
              <a:t>软件项目的特点</a:t>
            </a:r>
          </a:p>
          <a:p>
            <a:pPr eaLnBrk="1" hangingPunct="1">
              <a:lnSpc>
                <a:spcPct val="150000"/>
              </a:lnSpc>
              <a:buFont typeface="Wingdings 2" panose="05020102010507070707" pitchFamily="18" charset="2"/>
              <a:buNone/>
            </a:pPr>
            <a:r>
              <a:rPr lang="zh-CN" altLang="en-US" sz="2400" dirty="0">
                <a:latin typeface="黑体" panose="02010609060101010101" pitchFamily="49" charset="-122"/>
              </a:rPr>
              <a:t>  </a:t>
            </a:r>
            <a:r>
              <a:rPr lang="zh-CN" altLang="en-US" sz="2000" dirty="0">
                <a:solidFill>
                  <a:schemeClr val="accent1"/>
                </a:solidFill>
                <a:latin typeface="黑体" panose="02010609060101010101" pitchFamily="49" charset="-122"/>
              </a:rPr>
              <a:t>除了项目的特征，软件项目还具有以下特点：</a:t>
            </a:r>
          </a:p>
          <a:p>
            <a:pPr lvl="1" eaLnBrk="1" hangingPunct="1">
              <a:spcBef>
                <a:spcPct val="60000"/>
              </a:spcBef>
              <a:buFont typeface="Wingdings 2" panose="05020102010507070707" pitchFamily="18" charset="2"/>
              <a:buChar char="¡"/>
            </a:pPr>
            <a:r>
              <a:rPr lang="zh-CN" altLang="en-US" sz="1800" dirty="0">
                <a:latin typeface="黑体" panose="02010609060101010101" pitchFamily="49" charset="-122"/>
              </a:rPr>
              <a:t>（</a:t>
            </a:r>
            <a:r>
              <a:rPr lang="en-US" altLang="zh-CN" sz="1800" dirty="0">
                <a:latin typeface="黑体" panose="02010609060101010101" pitchFamily="49" charset="-122"/>
              </a:rPr>
              <a:t>4</a:t>
            </a:r>
            <a:r>
              <a:rPr lang="zh-CN" altLang="en-US" sz="1800" dirty="0">
                <a:latin typeface="黑体" panose="02010609060101010101" pitchFamily="49" charset="-122"/>
              </a:rPr>
              <a:t>）软件的开发受到计算机系统的限制，对计算机系统有不同程度的依赖。</a:t>
            </a:r>
            <a:endParaRPr lang="en-US" altLang="zh-CN" sz="1800" dirty="0">
              <a:latin typeface="黑体" panose="02010609060101010101" pitchFamily="49" charset="-122"/>
            </a:endParaRPr>
          </a:p>
          <a:p>
            <a:pPr lvl="1" eaLnBrk="1" hangingPunct="1">
              <a:spcBef>
                <a:spcPct val="60000"/>
              </a:spcBef>
              <a:buFont typeface="Wingdings 2" panose="05020102010507070707" pitchFamily="18" charset="2"/>
              <a:buChar char="¡"/>
            </a:pPr>
            <a:r>
              <a:rPr lang="zh-CN" altLang="en-US" sz="1800" dirty="0">
                <a:latin typeface="黑体" panose="02010609060101010101" pitchFamily="49" charset="-122"/>
              </a:rPr>
              <a:t>（</a:t>
            </a:r>
            <a:r>
              <a:rPr lang="en-US" altLang="zh-CN" sz="1800" dirty="0">
                <a:latin typeface="黑体" panose="02010609060101010101" pitchFamily="49" charset="-122"/>
              </a:rPr>
              <a:t>5</a:t>
            </a:r>
            <a:r>
              <a:rPr lang="zh-CN" altLang="en-US" sz="1800" dirty="0">
                <a:latin typeface="黑体" panose="02010609060101010101" pitchFamily="49" charset="-122"/>
              </a:rPr>
              <a:t>）软件开发</a:t>
            </a:r>
            <a:r>
              <a:rPr lang="zh-CN" altLang="en-US" sz="1800" dirty="0">
                <a:solidFill>
                  <a:srgbClr val="FF0000"/>
                </a:solidFill>
                <a:latin typeface="黑体" panose="02010609060101010101" pitchFamily="49" charset="-122"/>
              </a:rPr>
              <a:t>以客户为中心</a:t>
            </a:r>
            <a:r>
              <a:rPr lang="zh-CN" altLang="en-US" sz="1800" dirty="0">
                <a:latin typeface="黑体" panose="02010609060101010101" pitchFamily="49" charset="-122"/>
              </a:rPr>
              <a:t>。客户满意度是衡量软件产品质量的一个重要方面，也是软件项目运作的宗旨，软件不仅要满足共性的功能和性能指标，还需要适应各类用户的个性化需求，这也是软件系统实现的难点。</a:t>
            </a:r>
            <a:endParaRPr lang="en-US" altLang="zh-CN" sz="1800" dirty="0">
              <a:latin typeface="黑体" panose="02010609060101010101" pitchFamily="49" charset="-122"/>
            </a:endParaRPr>
          </a:p>
          <a:p>
            <a:pPr lvl="1" eaLnBrk="1" hangingPunct="1">
              <a:spcBef>
                <a:spcPct val="60000"/>
              </a:spcBef>
              <a:buFont typeface="Wingdings 2" panose="05020102010507070707" pitchFamily="18" charset="2"/>
              <a:buChar char="¡"/>
            </a:pPr>
            <a:r>
              <a:rPr lang="zh-CN" altLang="en-US" sz="1800" dirty="0">
                <a:latin typeface="黑体" panose="02010609060101010101" pitchFamily="49" charset="-122"/>
              </a:rPr>
              <a:t>（</a:t>
            </a:r>
            <a:r>
              <a:rPr lang="en-US" altLang="zh-CN" sz="1800" dirty="0">
                <a:latin typeface="黑体" panose="02010609060101010101" pitchFamily="49" charset="-122"/>
              </a:rPr>
              <a:t>6</a:t>
            </a:r>
            <a:r>
              <a:rPr lang="zh-CN" altLang="en-US" sz="1800" dirty="0">
                <a:latin typeface="黑体" panose="02010609060101010101" pitchFamily="49" charset="-122"/>
              </a:rPr>
              <a:t>）软件本身是复杂的。它的复杂性源自应用领域实际问题的复杂性和应用软件技术的复杂性。</a:t>
            </a:r>
            <a:endParaRPr lang="en-US" altLang="zh-CN" sz="1800" dirty="0">
              <a:latin typeface="黑体" panose="02010609060101010101" pitchFamily="49" charset="-122"/>
            </a:endParaRPr>
          </a:p>
          <a:p>
            <a:pPr lvl="1" eaLnBrk="1" hangingPunct="1">
              <a:spcBef>
                <a:spcPct val="60000"/>
              </a:spcBef>
              <a:buFont typeface="Wingdings 2" panose="05020102010507070707" pitchFamily="18" charset="2"/>
              <a:buChar char="¡"/>
            </a:pPr>
            <a:r>
              <a:rPr lang="zh-CN" altLang="en-US" sz="1800" dirty="0">
                <a:latin typeface="黑体" panose="02010609060101010101" pitchFamily="49" charset="-122"/>
              </a:rPr>
              <a:t>（</a:t>
            </a:r>
            <a:r>
              <a:rPr lang="en-US" altLang="zh-CN" sz="1800" dirty="0">
                <a:latin typeface="黑体" panose="02010609060101010101" pitchFamily="49" charset="-122"/>
              </a:rPr>
              <a:t>7</a:t>
            </a:r>
            <a:r>
              <a:rPr lang="zh-CN" altLang="en-US" sz="1800" dirty="0">
                <a:latin typeface="黑体" panose="02010609060101010101" pitchFamily="49" charset="-122"/>
              </a:rPr>
              <a:t>）软件开发的</a:t>
            </a:r>
            <a:r>
              <a:rPr lang="zh-CN" altLang="en-US" sz="1800" dirty="0">
                <a:solidFill>
                  <a:srgbClr val="FF0000"/>
                </a:solidFill>
                <a:latin typeface="黑体" panose="02010609060101010101" pitchFamily="49" charset="-122"/>
              </a:rPr>
              <a:t>成本相当昂贵</a:t>
            </a:r>
            <a:r>
              <a:rPr lang="zh-CN" altLang="en-US" sz="1800" dirty="0">
                <a:latin typeface="黑体" panose="02010609060101010101" pitchFamily="49" charset="-122"/>
              </a:rPr>
              <a:t>。软件开发需要投入大量的、复杂的、高强度的脑力劳动，因此成本比较高。</a:t>
            </a:r>
            <a:endParaRPr lang="en-US" altLang="zh-CN" sz="1800" dirty="0">
              <a:latin typeface="黑体" panose="02010609060101010101" pitchFamily="49"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3577B0CF-DE69-6DB4-31E7-9F348EFCF028}"/>
              </a:ext>
            </a:extLst>
          </p:cNvPr>
          <p:cNvSpPr>
            <a:spLocks noGrp="1" noChangeArrowheads="1"/>
          </p:cNvSpPr>
          <p:nvPr>
            <p:ph type="title"/>
          </p:nvPr>
        </p:nvSpPr>
        <p:spPr/>
        <p:txBody>
          <a:bodyPr/>
          <a:lstStyle/>
          <a:p>
            <a:pPr eaLnBrk="1" hangingPunct="1"/>
            <a:r>
              <a:rPr kumimoji="1" lang="zh-CN" altLang="en-US"/>
              <a:t>项目与软件项目的概念</a:t>
            </a:r>
          </a:p>
        </p:txBody>
      </p:sp>
      <p:sp>
        <p:nvSpPr>
          <p:cNvPr id="18435" name="Rectangle 3">
            <a:extLst>
              <a:ext uri="{FF2B5EF4-FFF2-40B4-BE49-F238E27FC236}">
                <a16:creationId xmlns:a16="http://schemas.microsoft.com/office/drawing/2014/main" id="{A38CAA8A-3C60-5311-243F-C466361BF4FA}"/>
              </a:ext>
            </a:extLst>
          </p:cNvPr>
          <p:cNvSpPr>
            <a:spLocks noGrp="1" noChangeArrowheads="1"/>
          </p:cNvSpPr>
          <p:nvPr>
            <p:ph type="body" idx="1"/>
          </p:nvPr>
        </p:nvSpPr>
        <p:spPr>
          <a:xfrm>
            <a:off x="684213" y="2133600"/>
            <a:ext cx="8280400" cy="4724400"/>
          </a:xfrm>
        </p:spPr>
        <p:txBody>
          <a:bodyPr/>
          <a:lstStyle/>
          <a:p>
            <a:pPr eaLnBrk="1" hangingPunct="1">
              <a:lnSpc>
                <a:spcPct val="80000"/>
              </a:lnSpc>
              <a:spcBef>
                <a:spcPct val="60000"/>
              </a:spcBef>
            </a:pPr>
            <a:r>
              <a:rPr lang="zh-CN" altLang="en-US" sz="2400" dirty="0">
                <a:solidFill>
                  <a:schemeClr val="accent2"/>
                </a:solidFill>
                <a:latin typeface="黑体" panose="02010609060101010101" pitchFamily="49" charset="-122"/>
                <a:ea typeface="黑体" panose="02010609060101010101" pitchFamily="49" charset="-122"/>
              </a:rPr>
              <a:t>软件项目的特点</a:t>
            </a:r>
          </a:p>
          <a:p>
            <a:pPr eaLnBrk="1" hangingPunct="1">
              <a:lnSpc>
                <a:spcPct val="150000"/>
              </a:lnSpc>
              <a:buFont typeface="Wingdings 2" panose="05020102010507070707" pitchFamily="18" charset="2"/>
              <a:buNone/>
            </a:pPr>
            <a:r>
              <a:rPr lang="zh-CN" altLang="en-US" sz="2400" dirty="0">
                <a:latin typeface="黑体" panose="02010609060101010101" pitchFamily="49" charset="-122"/>
              </a:rPr>
              <a:t>  </a:t>
            </a:r>
            <a:r>
              <a:rPr lang="zh-CN" altLang="en-US" sz="2000" dirty="0">
                <a:solidFill>
                  <a:schemeClr val="accent1"/>
                </a:solidFill>
                <a:latin typeface="黑体" panose="02010609060101010101" pitchFamily="49" charset="-122"/>
              </a:rPr>
              <a:t>除了项目的特征，软件项目还具有以下特点：</a:t>
            </a:r>
          </a:p>
          <a:p>
            <a:pPr lvl="1" eaLnBrk="1" hangingPunct="1">
              <a:spcBef>
                <a:spcPct val="60000"/>
              </a:spcBef>
              <a:buFont typeface="Wingdings 2" panose="05020102010507070707" pitchFamily="18" charset="2"/>
              <a:buChar char="¡"/>
            </a:pPr>
            <a:r>
              <a:rPr lang="zh-CN" altLang="en-US" sz="1800" dirty="0">
                <a:latin typeface="黑体" panose="02010609060101010101" pitchFamily="49" charset="-122"/>
              </a:rPr>
              <a:t>（</a:t>
            </a:r>
            <a:r>
              <a:rPr lang="en-US" altLang="zh-CN" sz="1800" dirty="0">
                <a:latin typeface="黑体" panose="02010609060101010101" pitchFamily="49" charset="-122"/>
              </a:rPr>
              <a:t>8</a:t>
            </a:r>
            <a:r>
              <a:rPr lang="zh-CN" altLang="en-US" sz="1800" dirty="0">
                <a:latin typeface="黑体" panose="02010609060101010101" pitchFamily="49" charset="-122"/>
              </a:rPr>
              <a:t>）软件开发至今没有摆脱</a:t>
            </a:r>
            <a:r>
              <a:rPr lang="zh-CN" altLang="en-US" sz="1800" dirty="0">
                <a:solidFill>
                  <a:srgbClr val="FF0000"/>
                </a:solidFill>
                <a:latin typeface="黑体" panose="02010609060101010101" pitchFamily="49" charset="-122"/>
              </a:rPr>
              <a:t>手工的开发模式</a:t>
            </a:r>
            <a:r>
              <a:rPr lang="zh-CN" altLang="en-US" sz="1800" dirty="0">
                <a:latin typeface="黑体" panose="02010609060101010101" pitchFamily="49" charset="-122"/>
              </a:rPr>
              <a:t>。软件产品基本上都是“定制的”，做不到利用现有的软件组件组装成所需要的软件。由于客户需求的多变性和软件开发对脑力劳动的高依赖性，导致难以展开流水线式的机器化大生产，必须不断研究软件复用技术，如面向对象的开发方法等。</a:t>
            </a:r>
            <a:endParaRPr lang="en-US" altLang="zh-CN" sz="1800" dirty="0">
              <a:latin typeface="黑体" panose="02010609060101010101" pitchFamily="49" charset="-122"/>
            </a:endParaRPr>
          </a:p>
          <a:p>
            <a:pPr lvl="1" eaLnBrk="1" hangingPunct="1">
              <a:spcBef>
                <a:spcPct val="60000"/>
              </a:spcBef>
              <a:buFont typeface="Wingdings 2" panose="05020102010507070707" pitchFamily="18" charset="2"/>
              <a:buChar char="¡"/>
            </a:pPr>
            <a:r>
              <a:rPr lang="zh-CN" altLang="en-US" sz="1800" dirty="0">
                <a:latin typeface="黑体" panose="02010609060101010101" pitchFamily="49" charset="-122"/>
              </a:rPr>
              <a:t>（</a:t>
            </a:r>
            <a:r>
              <a:rPr lang="en-US" altLang="zh-CN" sz="1800" dirty="0">
                <a:latin typeface="黑体" panose="02010609060101010101" pitchFamily="49" charset="-122"/>
              </a:rPr>
              <a:t>9</a:t>
            </a:r>
            <a:r>
              <a:rPr lang="zh-CN" altLang="en-US" sz="1800" dirty="0">
                <a:latin typeface="黑体" panose="02010609060101010101" pitchFamily="49" charset="-122"/>
              </a:rPr>
              <a:t>）很多软件工作涉及社会的因素，要受到机构、体系和管理方式等问题的限制。</a:t>
            </a:r>
            <a:endParaRPr lang="en-US" altLang="zh-CN" sz="1800" dirty="0">
              <a:latin typeface="黑体" panose="02010609060101010101" pitchFamily="49"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32440A58-25C1-6AF5-630A-66A52231D423}"/>
              </a:ext>
            </a:extLst>
          </p:cNvPr>
          <p:cNvSpPr>
            <a:spLocks noGrp="1" noChangeArrowheads="1"/>
          </p:cNvSpPr>
          <p:nvPr>
            <p:ph type="title"/>
          </p:nvPr>
        </p:nvSpPr>
        <p:spPr/>
        <p:txBody>
          <a:bodyPr/>
          <a:lstStyle/>
          <a:p>
            <a:pPr eaLnBrk="1" hangingPunct="1"/>
            <a:r>
              <a:rPr kumimoji="1" lang="zh-CN" altLang="en-US"/>
              <a:t>项目与软件项目的概念</a:t>
            </a:r>
          </a:p>
        </p:txBody>
      </p:sp>
      <p:pic>
        <p:nvPicPr>
          <p:cNvPr id="20483" name="Picture 4" descr="hwj3">
            <a:extLst>
              <a:ext uri="{FF2B5EF4-FFF2-40B4-BE49-F238E27FC236}">
                <a16:creationId xmlns:a16="http://schemas.microsoft.com/office/drawing/2014/main" id="{A3D8DBD3-7F15-BF27-70C4-A0A2BFB2534A}"/>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b="12222"/>
          <a:stretch>
            <a:fillRect/>
          </a:stretch>
        </p:blipFill>
        <p:spPr>
          <a:xfrm>
            <a:off x="1619250" y="2708275"/>
            <a:ext cx="5895975" cy="4149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484" name="Rectangle 5">
            <a:extLst>
              <a:ext uri="{FF2B5EF4-FFF2-40B4-BE49-F238E27FC236}">
                <a16:creationId xmlns:a16="http://schemas.microsoft.com/office/drawing/2014/main" id="{76E6690A-F797-A195-A5A9-8938D59AEF9B}"/>
              </a:ext>
            </a:extLst>
          </p:cNvPr>
          <p:cNvSpPr>
            <a:spLocks noChangeArrowheads="1"/>
          </p:cNvSpPr>
          <p:nvPr/>
        </p:nvSpPr>
        <p:spPr bwMode="auto">
          <a:xfrm>
            <a:off x="468313" y="1916113"/>
            <a:ext cx="777240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342900" indent="-34290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342900" indent="-3429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342900" indent="-3429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342900" indent="-3429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800100" indent="-3429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1257300" indent="-3429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1714500" indent="-3429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2171700" indent="-3429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Tx/>
              <a:buFontTx/>
              <a:buNone/>
            </a:pPr>
            <a:r>
              <a:rPr kumimoji="0" lang="en-US" altLang="zh-CN">
                <a:solidFill>
                  <a:schemeClr val="accent2"/>
                </a:solidFill>
                <a:latin typeface="黑体" panose="02010609060101010101" pitchFamily="49" charset="-122"/>
                <a:ea typeface="黑体" panose="02010609060101010101" pitchFamily="49" charset="-122"/>
              </a:rPr>
              <a:t>     </a:t>
            </a:r>
            <a:r>
              <a:rPr kumimoji="0" lang="zh-CN" altLang="en-US" sz="2400">
                <a:solidFill>
                  <a:schemeClr val="accent1"/>
                </a:solidFill>
                <a:latin typeface="黑体" panose="02010609060101010101" pitchFamily="49" charset="-122"/>
                <a:ea typeface="黑体" panose="02010609060101010101" pitchFamily="49" charset="-122"/>
              </a:rPr>
              <a:t>实现项目目标的制约因素</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29892CBC-8AB2-80A3-CA27-B7D48DA40439}"/>
              </a:ext>
            </a:extLst>
          </p:cNvPr>
          <p:cNvSpPr>
            <a:spLocks noGrp="1" noChangeArrowheads="1"/>
          </p:cNvSpPr>
          <p:nvPr>
            <p:ph type="title"/>
          </p:nvPr>
        </p:nvSpPr>
        <p:spPr/>
        <p:txBody>
          <a:bodyPr/>
          <a:lstStyle/>
          <a:p>
            <a:pPr eaLnBrk="1" hangingPunct="1"/>
            <a:r>
              <a:rPr kumimoji="1" lang="zh-CN" altLang="en-US"/>
              <a:t>项目与软件项目的概念</a:t>
            </a:r>
          </a:p>
        </p:txBody>
      </p:sp>
      <p:sp>
        <p:nvSpPr>
          <p:cNvPr id="19459" name="Rectangle 3">
            <a:extLst>
              <a:ext uri="{FF2B5EF4-FFF2-40B4-BE49-F238E27FC236}">
                <a16:creationId xmlns:a16="http://schemas.microsoft.com/office/drawing/2014/main" id="{72BC3E27-4E68-44B4-E443-5B0F878C218A}"/>
              </a:ext>
            </a:extLst>
          </p:cNvPr>
          <p:cNvSpPr>
            <a:spLocks noGrp="1" noChangeArrowheads="1"/>
          </p:cNvSpPr>
          <p:nvPr>
            <p:ph type="body" idx="1"/>
          </p:nvPr>
        </p:nvSpPr>
        <p:spPr/>
        <p:txBody>
          <a:bodyPr/>
          <a:lstStyle/>
          <a:p>
            <a:pPr eaLnBrk="1" hangingPunct="1">
              <a:lnSpc>
                <a:spcPct val="150000"/>
              </a:lnSpc>
              <a:buFont typeface="Wingdings 2" panose="05020102010507070707" pitchFamily="18" charset="2"/>
              <a:buNone/>
            </a:pPr>
            <a:r>
              <a:rPr lang="en-US" altLang="zh-CN" sz="2400">
                <a:solidFill>
                  <a:schemeClr val="accent1"/>
                </a:solidFill>
                <a:latin typeface="黑体" panose="02010609060101010101" pitchFamily="49" charset="-122"/>
                <a:ea typeface="黑体" panose="02010609060101010101" pitchFamily="49" charset="-122"/>
              </a:rPr>
              <a:t>        </a:t>
            </a:r>
            <a:r>
              <a:rPr lang="zh-CN" altLang="en-US" sz="2400">
                <a:solidFill>
                  <a:schemeClr val="accent1"/>
                </a:solidFill>
                <a:latin typeface="黑体" panose="02010609060101010101" pitchFamily="49" charset="-122"/>
                <a:ea typeface="黑体" panose="02010609060101010101" pitchFamily="49" charset="-122"/>
              </a:rPr>
              <a:t>不同因素相互作用图示</a:t>
            </a:r>
          </a:p>
        </p:txBody>
      </p:sp>
      <p:pic>
        <p:nvPicPr>
          <p:cNvPr id="19460" name="Picture 4" descr="hwj11">
            <a:extLst>
              <a:ext uri="{FF2B5EF4-FFF2-40B4-BE49-F238E27FC236}">
                <a16:creationId xmlns:a16="http://schemas.microsoft.com/office/drawing/2014/main" id="{B4F3F630-D9D4-2E59-0911-DF53342A2BCB}"/>
              </a:ext>
            </a:extLst>
          </p:cNvPr>
          <p:cNvPicPr>
            <a:picLocks noChangeAspect="1" noChangeArrowheads="1"/>
          </p:cNvPicPr>
          <p:nvPr/>
        </p:nvPicPr>
        <p:blipFill>
          <a:blip r:embed="rId2">
            <a:lum bright="-6000" contrast="18000"/>
            <a:extLst>
              <a:ext uri="{28A0092B-C50C-407E-A947-70E740481C1C}">
                <a14:useLocalDpi xmlns:a14="http://schemas.microsoft.com/office/drawing/2010/main" val="0"/>
              </a:ext>
            </a:extLst>
          </a:blip>
          <a:srcRect b="8778"/>
          <a:stretch>
            <a:fillRect/>
          </a:stretch>
        </p:blipFill>
        <p:spPr bwMode="auto">
          <a:xfrm>
            <a:off x="2051050" y="2565400"/>
            <a:ext cx="5545138"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89FD9B59-77AD-AEC6-948B-55FB6812D622}"/>
              </a:ext>
            </a:extLst>
          </p:cNvPr>
          <p:cNvSpPr>
            <a:spLocks noGrp="1" noChangeArrowheads="1"/>
          </p:cNvSpPr>
          <p:nvPr>
            <p:ph type="title"/>
          </p:nvPr>
        </p:nvSpPr>
        <p:spPr/>
        <p:txBody>
          <a:bodyPr/>
          <a:lstStyle/>
          <a:p>
            <a:r>
              <a:rPr kumimoji="1" lang="zh-CN" altLang="en-US"/>
              <a:t>项目与软件项目的概念</a:t>
            </a:r>
            <a:endParaRPr lang="zh-CN" altLang="en-US"/>
          </a:p>
        </p:txBody>
      </p:sp>
      <p:sp>
        <p:nvSpPr>
          <p:cNvPr id="21507" name="内容占位符 2">
            <a:extLst>
              <a:ext uri="{FF2B5EF4-FFF2-40B4-BE49-F238E27FC236}">
                <a16:creationId xmlns:a16="http://schemas.microsoft.com/office/drawing/2014/main" id="{48BB5734-3957-8629-3D73-BA7328963F4F}"/>
              </a:ext>
            </a:extLst>
          </p:cNvPr>
          <p:cNvSpPr>
            <a:spLocks noGrp="1" noChangeArrowheads="1"/>
          </p:cNvSpPr>
          <p:nvPr>
            <p:ph idx="1"/>
          </p:nvPr>
        </p:nvSpPr>
        <p:spPr/>
        <p:txBody>
          <a:bodyPr/>
          <a:lstStyle/>
          <a:p>
            <a:r>
              <a:rPr lang="zh-CN" altLang="en-US" sz="1800" dirty="0">
                <a:latin typeface="黑体" panose="02010609060101010101" pitchFamily="49" charset="-122"/>
              </a:rPr>
              <a:t>项目的范畴或者组成要素：是指与本项目本身活动有关的方方面面的综合，或者说是对项目和项目管理可能产生因素的诸多方面的总和。</a:t>
            </a:r>
            <a:endParaRPr lang="en-US" altLang="zh-CN" sz="1800" dirty="0">
              <a:latin typeface="黑体" panose="02010609060101010101" pitchFamily="49" charset="-122"/>
            </a:endParaRPr>
          </a:p>
          <a:p>
            <a:r>
              <a:rPr lang="zh-CN" altLang="en-US" sz="1800" dirty="0">
                <a:latin typeface="黑体" panose="02010609060101010101" pitchFamily="49" charset="-122"/>
              </a:rPr>
              <a:t>软件项目的要素：软件开发过程、软件开发结果、软件开发赖以生存的资源以及软件项目的客户。</a:t>
            </a:r>
            <a:endParaRPr lang="en-US" altLang="zh-CN" sz="1800" dirty="0">
              <a:latin typeface="黑体" panose="02010609060101010101" pitchFamily="49" charset="-122"/>
            </a:endParaRPr>
          </a:p>
          <a:p>
            <a:r>
              <a:rPr lang="zh-CN" altLang="en-US" sz="1800" dirty="0">
                <a:solidFill>
                  <a:srgbClr val="FF0000"/>
                </a:solidFill>
                <a:latin typeface="黑体" panose="02010609060101010101" pitchFamily="49" charset="-122"/>
              </a:rPr>
              <a:t>项目范畴：</a:t>
            </a:r>
            <a:endParaRPr lang="en-US" altLang="zh-CN" sz="1800" dirty="0">
              <a:solidFill>
                <a:srgbClr val="FF0000"/>
              </a:solidFill>
              <a:latin typeface="黑体" panose="02010609060101010101" pitchFamily="49" charset="-122"/>
            </a:endParaRPr>
          </a:p>
          <a:p>
            <a:pPr lvl="1"/>
            <a:r>
              <a:rPr lang="en-US" altLang="zh-CN" sz="1800" dirty="0">
                <a:latin typeface="黑体" panose="02010609060101010101" pitchFamily="49" charset="-122"/>
              </a:rPr>
              <a:t>1.</a:t>
            </a:r>
            <a:r>
              <a:rPr lang="zh-CN" altLang="en-US" sz="1800" dirty="0">
                <a:latin typeface="黑体" panose="02010609060101010101" pitchFamily="49" charset="-122"/>
              </a:rPr>
              <a:t>项目的阶段和生命期</a:t>
            </a:r>
            <a:endParaRPr lang="en-US" altLang="zh-CN" sz="1800" dirty="0">
              <a:latin typeface="黑体" panose="02010609060101010101" pitchFamily="49" charset="-122"/>
            </a:endParaRPr>
          </a:p>
          <a:p>
            <a:pPr lvl="1"/>
            <a:r>
              <a:rPr lang="en-US" altLang="zh-CN" sz="1800" dirty="0">
                <a:latin typeface="黑体" panose="02010609060101010101" pitchFamily="49" charset="-122"/>
              </a:rPr>
              <a:t>2.</a:t>
            </a:r>
            <a:r>
              <a:rPr lang="zh-CN" altLang="en-US" sz="1800" dirty="0">
                <a:latin typeface="黑体" panose="02010609060101010101" pitchFamily="49" charset="-122"/>
              </a:rPr>
              <a:t>项目当事人和项目利益相关者</a:t>
            </a:r>
            <a:endParaRPr lang="en-US" altLang="zh-CN" sz="1800" dirty="0">
              <a:latin typeface="黑体" panose="02010609060101010101" pitchFamily="49" charset="-122"/>
            </a:endParaRPr>
          </a:p>
          <a:p>
            <a:pPr lvl="2"/>
            <a:r>
              <a:rPr lang="zh-CN" altLang="en-US" sz="1800" dirty="0">
                <a:latin typeface="黑体" panose="02010609060101010101" pitchFamily="49" charset="-122"/>
              </a:rPr>
              <a:t>（</a:t>
            </a:r>
            <a:r>
              <a:rPr lang="en-US" altLang="zh-CN" sz="1800" dirty="0">
                <a:latin typeface="黑体" panose="02010609060101010101" pitchFamily="49" charset="-122"/>
              </a:rPr>
              <a:t>1</a:t>
            </a:r>
            <a:r>
              <a:rPr lang="zh-CN" altLang="en-US" sz="1800" dirty="0">
                <a:latin typeface="黑体" panose="02010609060101010101" pitchFamily="49" charset="-122"/>
              </a:rPr>
              <a:t>）项目当事人</a:t>
            </a:r>
            <a:endParaRPr lang="en-US" altLang="zh-CN" sz="1800" dirty="0">
              <a:latin typeface="黑体" panose="02010609060101010101" pitchFamily="49" charset="-122"/>
            </a:endParaRPr>
          </a:p>
          <a:p>
            <a:pPr lvl="2"/>
            <a:r>
              <a:rPr lang="zh-CN" altLang="en-US" sz="1800" dirty="0">
                <a:latin typeface="黑体" panose="02010609060101010101" pitchFamily="49" charset="-122"/>
              </a:rPr>
              <a:t>（</a:t>
            </a:r>
            <a:r>
              <a:rPr lang="en-US" altLang="zh-CN" sz="1800" dirty="0">
                <a:latin typeface="黑体" panose="02010609060101010101" pitchFamily="49" charset="-122"/>
              </a:rPr>
              <a:t>2</a:t>
            </a:r>
            <a:r>
              <a:rPr lang="zh-CN" altLang="en-US" sz="1800" dirty="0">
                <a:latin typeface="黑体" panose="02010609060101010101" pitchFamily="49" charset="-122"/>
              </a:rPr>
              <a:t>）项目利益相关者</a:t>
            </a:r>
            <a:endParaRPr lang="en-US" altLang="zh-CN" sz="1800" dirty="0">
              <a:latin typeface="黑体" panose="02010609060101010101" pitchFamily="49" charset="-122"/>
            </a:endParaRPr>
          </a:p>
          <a:p>
            <a:pPr lvl="1"/>
            <a:r>
              <a:rPr lang="en-US" altLang="zh-CN" sz="1800" dirty="0">
                <a:latin typeface="黑体" panose="02010609060101010101" pitchFamily="49" charset="-122"/>
              </a:rPr>
              <a:t>3.</a:t>
            </a:r>
            <a:r>
              <a:rPr lang="zh-CN" altLang="en-US" sz="1800" dirty="0">
                <a:latin typeface="黑体" panose="02010609060101010101" pitchFamily="49" charset="-122"/>
              </a:rPr>
              <a:t>组织结构的影响</a:t>
            </a:r>
            <a:endParaRPr lang="en-US" altLang="zh-CN" sz="1800" dirty="0">
              <a:latin typeface="黑体" panose="02010609060101010101" pitchFamily="49" charset="-122"/>
            </a:endParaRPr>
          </a:p>
          <a:p>
            <a:pPr lvl="2"/>
            <a:r>
              <a:rPr lang="zh-CN" altLang="en-US" sz="1800" dirty="0">
                <a:latin typeface="黑体" panose="02010609060101010101" pitchFamily="49" charset="-122"/>
              </a:rPr>
              <a:t>（</a:t>
            </a:r>
            <a:r>
              <a:rPr lang="en-US" altLang="zh-CN" sz="1800" dirty="0">
                <a:latin typeface="黑体" panose="02010609060101010101" pitchFamily="49" charset="-122"/>
              </a:rPr>
              <a:t>1</a:t>
            </a:r>
            <a:r>
              <a:rPr lang="zh-CN" altLang="en-US" sz="1800" dirty="0">
                <a:latin typeface="黑体" panose="02010609060101010101" pitchFamily="49" charset="-122"/>
              </a:rPr>
              <a:t>）项目型组织和非项目型组织</a:t>
            </a:r>
            <a:endParaRPr lang="en-US" altLang="zh-CN" sz="1800" dirty="0">
              <a:latin typeface="黑体" panose="02010609060101010101" pitchFamily="49" charset="-122"/>
            </a:endParaRPr>
          </a:p>
          <a:p>
            <a:pPr lvl="2"/>
            <a:r>
              <a:rPr lang="zh-CN" altLang="en-US" sz="1800" dirty="0">
                <a:latin typeface="黑体" panose="02010609060101010101" pitchFamily="49" charset="-122"/>
              </a:rPr>
              <a:t>（</a:t>
            </a:r>
            <a:r>
              <a:rPr lang="en-US" altLang="zh-CN" sz="1800" dirty="0">
                <a:latin typeface="黑体" panose="02010609060101010101" pitchFamily="49" charset="-122"/>
              </a:rPr>
              <a:t>2</a:t>
            </a:r>
            <a:r>
              <a:rPr lang="zh-CN" altLang="en-US" sz="1800" dirty="0">
                <a:latin typeface="黑体" panose="02010609060101010101" pitchFamily="49" charset="-122"/>
              </a:rPr>
              <a:t>）按项目型管理还是按非项目型管理</a:t>
            </a:r>
            <a:endParaRPr lang="en-US" altLang="zh-CN" sz="1800" dirty="0">
              <a:latin typeface="黑体" panose="02010609060101010101" pitchFamily="49" charset="-122"/>
            </a:endParaRPr>
          </a:p>
          <a:p>
            <a:pPr lvl="1"/>
            <a:r>
              <a:rPr lang="en-US" altLang="zh-CN" sz="1800" dirty="0">
                <a:latin typeface="黑体" panose="02010609060101010101" pitchFamily="49" charset="-122"/>
              </a:rPr>
              <a:t>4.</a:t>
            </a:r>
            <a:r>
              <a:rPr lang="zh-CN" altLang="en-US" sz="1800" dirty="0">
                <a:latin typeface="黑体" panose="02010609060101010101" pitchFamily="49" charset="-122"/>
              </a:rPr>
              <a:t>外部环境的影响</a:t>
            </a:r>
            <a:endParaRPr lang="en-US" altLang="zh-CN" sz="1800" dirty="0">
              <a:latin typeface="黑体" panose="02010609060101010101" pitchFamily="49" charset="-122"/>
            </a:endParaRPr>
          </a:p>
          <a:p>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B12590D0-8ABF-3580-7732-24CA89929E2F}"/>
              </a:ext>
            </a:extLst>
          </p:cNvPr>
          <p:cNvSpPr>
            <a:spLocks noGrp="1" noChangeArrowheads="1"/>
          </p:cNvSpPr>
          <p:nvPr>
            <p:ph type="title"/>
          </p:nvPr>
        </p:nvSpPr>
        <p:spPr/>
        <p:txBody>
          <a:bodyPr/>
          <a:lstStyle/>
          <a:p>
            <a:r>
              <a:rPr kumimoji="1" lang="zh-CN" altLang="en-US"/>
              <a:t>项目与软件项目的概念</a:t>
            </a:r>
            <a:endParaRPr lang="zh-CN" altLang="en-US"/>
          </a:p>
        </p:txBody>
      </p:sp>
      <p:sp>
        <p:nvSpPr>
          <p:cNvPr id="22531" name="内容占位符 2">
            <a:extLst>
              <a:ext uri="{FF2B5EF4-FFF2-40B4-BE49-F238E27FC236}">
                <a16:creationId xmlns:a16="http://schemas.microsoft.com/office/drawing/2014/main" id="{566CE05F-8AD3-1838-017A-71DB7E20E229}"/>
              </a:ext>
            </a:extLst>
          </p:cNvPr>
          <p:cNvSpPr>
            <a:spLocks noGrp="1" noChangeArrowheads="1"/>
          </p:cNvSpPr>
          <p:nvPr>
            <p:ph idx="1"/>
          </p:nvPr>
        </p:nvSpPr>
        <p:spPr/>
        <p:txBody>
          <a:bodyPr/>
          <a:lstStyle/>
          <a:p>
            <a:r>
              <a:rPr lang="zh-CN" altLang="en-US" dirty="0"/>
              <a:t>项目管理的三项约束：</a:t>
            </a:r>
            <a:endParaRPr lang="en-US" altLang="zh-CN" dirty="0"/>
          </a:p>
          <a:p>
            <a:pPr lvl="1"/>
            <a:r>
              <a:rPr lang="zh-CN" altLang="en-US" dirty="0"/>
              <a:t>（</a:t>
            </a:r>
            <a:r>
              <a:rPr lang="en-US" altLang="zh-CN" dirty="0"/>
              <a:t>1</a:t>
            </a:r>
            <a:r>
              <a:rPr lang="zh-CN" altLang="en-US" dirty="0"/>
              <a:t>）管理项目的范围</a:t>
            </a:r>
            <a:endParaRPr lang="en-US" altLang="zh-CN" dirty="0"/>
          </a:p>
          <a:p>
            <a:pPr lvl="1"/>
            <a:r>
              <a:rPr lang="zh-CN" altLang="en-US" dirty="0"/>
              <a:t>（</a:t>
            </a:r>
            <a:r>
              <a:rPr lang="en-US" altLang="zh-CN" dirty="0"/>
              <a:t>2</a:t>
            </a:r>
            <a:r>
              <a:rPr lang="zh-CN" altLang="en-US" dirty="0"/>
              <a:t>）管理项目的时间</a:t>
            </a:r>
            <a:endParaRPr lang="en-US" altLang="zh-CN" dirty="0"/>
          </a:p>
          <a:p>
            <a:pPr lvl="1"/>
            <a:r>
              <a:rPr lang="zh-CN" altLang="en-US" dirty="0"/>
              <a:t>（</a:t>
            </a:r>
            <a:r>
              <a:rPr lang="en-US" altLang="zh-CN" dirty="0"/>
              <a:t>3</a:t>
            </a:r>
            <a:r>
              <a:rPr lang="zh-CN" altLang="en-US" dirty="0"/>
              <a:t>）管理项目的成本</a:t>
            </a:r>
          </a:p>
        </p:txBody>
      </p:sp>
      <p:grpSp>
        <p:nvGrpSpPr>
          <p:cNvPr id="2" name="组合 1">
            <a:extLst>
              <a:ext uri="{FF2B5EF4-FFF2-40B4-BE49-F238E27FC236}">
                <a16:creationId xmlns:a16="http://schemas.microsoft.com/office/drawing/2014/main" id="{6150BA6A-6DEE-5715-0055-8E898AF12197}"/>
              </a:ext>
            </a:extLst>
          </p:cNvPr>
          <p:cNvGrpSpPr/>
          <p:nvPr/>
        </p:nvGrpSpPr>
        <p:grpSpPr>
          <a:xfrm>
            <a:off x="2699792" y="2149752"/>
            <a:ext cx="6668135" cy="4332837"/>
            <a:chOff x="1130" y="2180"/>
            <a:chExt cx="13548" cy="8803"/>
          </a:xfrm>
        </p:grpSpPr>
        <p:sp>
          <p:nvSpPr>
            <p:cNvPr id="3" name="AutoShape 3" descr="白色大理石">
              <a:extLst>
                <a:ext uri="{FF2B5EF4-FFF2-40B4-BE49-F238E27FC236}">
                  <a16:creationId xmlns:a16="http://schemas.microsoft.com/office/drawing/2014/main" id="{381C72B8-14C8-383F-D320-2ADBBA26BE8D}"/>
                </a:ext>
              </a:extLst>
            </p:cNvPr>
            <p:cNvSpPr>
              <a:spLocks noChangeArrowheads="1"/>
            </p:cNvSpPr>
            <p:nvPr/>
          </p:nvSpPr>
          <p:spPr bwMode="auto">
            <a:xfrm>
              <a:off x="3508" y="2180"/>
              <a:ext cx="7826" cy="5298"/>
            </a:xfrm>
            <a:prstGeom prst="triangle">
              <a:avLst>
                <a:gd name="adj" fmla="val 50000"/>
              </a:avLst>
            </a:prstGeom>
            <a:solidFill>
              <a:srgbClr val="DDDDDD"/>
            </a:solidFill>
            <a:ln w="9525" algn="ctr">
              <a:solidFill>
                <a:srgbClr val="000000"/>
              </a:solidFill>
              <a:miter lim="800000"/>
            </a:ln>
            <a:effectLst/>
          </p:spPr>
          <p:txBody>
            <a:bodyPr wrap="none" anchor="ctr"/>
            <a:lstStyle/>
            <a:p>
              <a:pPr eaLnBrk="1" fontAlgn="auto" hangingPunct="1">
                <a:spcBef>
                  <a:spcPts val="0"/>
                </a:spcBef>
                <a:spcAft>
                  <a:spcPts val="0"/>
                </a:spcAft>
                <a:defRPr/>
              </a:pPr>
              <a:endParaRPr lang="zh-CN" altLang="en-US" sz="1800" b="1" kern="0">
                <a:solidFill>
                  <a:sysClr val="windowText" lastClr="000000"/>
                </a:solidFill>
                <a:latin typeface="微软雅黑" panose="020B0503020204020204" pitchFamily="34" charset="-122"/>
                <a:ea typeface="微软雅黑" panose="020B0503020204020204" pitchFamily="34" charset="-122"/>
              </a:endParaRPr>
            </a:p>
          </p:txBody>
        </p:sp>
        <p:sp>
          <p:nvSpPr>
            <p:cNvPr id="4" name="Text Box 4">
              <a:extLst>
                <a:ext uri="{FF2B5EF4-FFF2-40B4-BE49-F238E27FC236}">
                  <a16:creationId xmlns:a16="http://schemas.microsoft.com/office/drawing/2014/main" id="{9BB65F1B-EE74-F1AE-69CB-945AA5FAE638}"/>
                </a:ext>
              </a:extLst>
            </p:cNvPr>
            <p:cNvSpPr txBox="1">
              <a:spLocks noChangeArrowheads="1"/>
            </p:cNvSpPr>
            <p:nvPr/>
          </p:nvSpPr>
          <p:spPr bwMode="auto">
            <a:xfrm>
              <a:off x="4528" y="4574"/>
              <a:ext cx="5783" cy="2157"/>
            </a:xfrm>
            <a:prstGeom prst="rect">
              <a:avLst/>
            </a:prstGeom>
            <a:noFill/>
            <a:ln w="9525" algn="ctr">
              <a:noFill/>
              <a:miter lim="800000"/>
            </a:ln>
          </p:spPr>
          <p:txBody>
            <a:bodyPr>
              <a:spAutoFit/>
            </a:bodyPr>
            <a:lstStyle/>
            <a:p>
              <a:pPr algn="ctr" eaLnBrk="1" hangingPunct="1">
                <a:spcBef>
                  <a:spcPct val="50000"/>
                </a:spcBef>
              </a:pPr>
              <a:r>
                <a:rPr lang="zh-CN" altLang="en-US" sz="1800" b="1" dirty="0">
                  <a:solidFill>
                    <a:srgbClr val="0070C0"/>
                  </a:solidFill>
                  <a:latin typeface="华文中宋" panose="02010600040101010101" pitchFamily="2" charset="-122"/>
                  <a:ea typeface="华文中宋" panose="02010600040101010101" pitchFamily="2" charset="-122"/>
                </a:rPr>
                <a:t>质量 </a:t>
              </a:r>
              <a:r>
                <a:rPr lang="en-US" altLang="zh-CN" sz="1800" b="1" dirty="0">
                  <a:solidFill>
                    <a:srgbClr val="0070C0"/>
                  </a:solidFill>
                  <a:latin typeface="华文中宋" panose="02010600040101010101" pitchFamily="2" charset="-122"/>
                  <a:ea typeface="华文中宋" panose="02010600040101010101" pitchFamily="2" charset="-122"/>
                </a:rPr>
                <a:t>Quality/</a:t>
              </a:r>
            </a:p>
            <a:p>
              <a:pPr algn="ctr" eaLnBrk="1" hangingPunct="1">
                <a:spcBef>
                  <a:spcPct val="50000"/>
                </a:spcBef>
              </a:pPr>
              <a:r>
                <a:rPr lang="zh-CN" altLang="en-US" sz="1800" b="1" dirty="0">
                  <a:solidFill>
                    <a:srgbClr val="0070C0"/>
                  </a:solidFill>
                  <a:latin typeface="华文中宋" panose="02010600040101010101" pitchFamily="2" charset="-122"/>
                  <a:ea typeface="华文中宋" panose="02010600040101010101" pitchFamily="2" charset="-122"/>
                </a:rPr>
                <a:t>客户满意度 </a:t>
              </a:r>
              <a:r>
                <a:rPr lang="en-US" altLang="zh-CN" sz="1800" b="1" dirty="0">
                  <a:solidFill>
                    <a:srgbClr val="0070C0"/>
                  </a:solidFill>
                  <a:latin typeface="华文中宋" panose="02010600040101010101" pitchFamily="2" charset="-122"/>
                  <a:ea typeface="华文中宋" panose="02010600040101010101" pitchFamily="2" charset="-122"/>
                </a:rPr>
                <a:t>Customer satisfaction</a:t>
              </a:r>
            </a:p>
          </p:txBody>
        </p:sp>
        <p:sp>
          <p:nvSpPr>
            <p:cNvPr id="5" name="Text Box 5">
              <a:extLst>
                <a:ext uri="{FF2B5EF4-FFF2-40B4-BE49-F238E27FC236}">
                  <a16:creationId xmlns:a16="http://schemas.microsoft.com/office/drawing/2014/main" id="{D7D2FFB9-A290-1039-2E0A-3D23946EF908}"/>
                </a:ext>
              </a:extLst>
            </p:cNvPr>
            <p:cNvSpPr txBox="1">
              <a:spLocks noChangeArrowheads="1"/>
            </p:cNvSpPr>
            <p:nvPr/>
          </p:nvSpPr>
          <p:spPr bwMode="auto">
            <a:xfrm>
              <a:off x="3159" y="3809"/>
              <a:ext cx="2857" cy="1073"/>
            </a:xfrm>
            <a:prstGeom prst="rect">
              <a:avLst/>
            </a:prstGeom>
            <a:noFill/>
            <a:ln w="9525" algn="ctr">
              <a:noFill/>
              <a:miter lim="800000"/>
            </a:ln>
          </p:spPr>
          <p:txBody>
            <a:bodyPr wrap="square">
              <a:spAutoFit/>
            </a:bodyPr>
            <a:lstStyle/>
            <a:p>
              <a:pPr algn="ctr" eaLnBrk="1" hangingPunct="1">
                <a:lnSpc>
                  <a:spcPct val="50000"/>
                </a:lnSpc>
                <a:spcBef>
                  <a:spcPct val="50000"/>
                </a:spcBef>
              </a:pPr>
              <a:r>
                <a:rPr lang="zh-CN" altLang="en-US" sz="1800" b="1" dirty="0">
                  <a:solidFill>
                    <a:srgbClr val="FF0000"/>
                  </a:solidFill>
                  <a:latin typeface="华文中宋" panose="02010600040101010101" pitchFamily="2" charset="-122"/>
                  <a:ea typeface="华文中宋" panose="02010600040101010101" pitchFamily="2" charset="-122"/>
                </a:rPr>
                <a:t>范围</a:t>
              </a:r>
            </a:p>
            <a:p>
              <a:pPr algn="ctr" eaLnBrk="1" hangingPunct="1">
                <a:lnSpc>
                  <a:spcPct val="50000"/>
                </a:lnSpc>
                <a:spcBef>
                  <a:spcPct val="50000"/>
                </a:spcBef>
              </a:pPr>
              <a:r>
                <a:rPr lang="en-US" altLang="zh-CN" sz="1800" b="1" dirty="0">
                  <a:solidFill>
                    <a:srgbClr val="FF0000"/>
                  </a:solidFill>
                  <a:latin typeface="华文中宋" panose="02010600040101010101" pitchFamily="2" charset="-122"/>
                  <a:ea typeface="华文中宋" panose="02010600040101010101" pitchFamily="2" charset="-122"/>
                </a:rPr>
                <a:t>Scope</a:t>
              </a:r>
            </a:p>
          </p:txBody>
        </p:sp>
        <p:sp>
          <p:nvSpPr>
            <p:cNvPr id="6" name="Text Box 6">
              <a:extLst>
                <a:ext uri="{FF2B5EF4-FFF2-40B4-BE49-F238E27FC236}">
                  <a16:creationId xmlns:a16="http://schemas.microsoft.com/office/drawing/2014/main" id="{9030CC6A-0938-2A31-65D1-728EC6C203AB}"/>
                </a:ext>
              </a:extLst>
            </p:cNvPr>
            <p:cNvSpPr txBox="1">
              <a:spLocks noChangeArrowheads="1"/>
            </p:cNvSpPr>
            <p:nvPr/>
          </p:nvSpPr>
          <p:spPr bwMode="auto">
            <a:xfrm>
              <a:off x="9075" y="3690"/>
              <a:ext cx="2400" cy="1073"/>
            </a:xfrm>
            <a:prstGeom prst="rect">
              <a:avLst/>
            </a:prstGeom>
            <a:noFill/>
            <a:ln w="9525" algn="ctr">
              <a:noFill/>
              <a:miter lim="800000"/>
            </a:ln>
          </p:spPr>
          <p:txBody>
            <a:bodyPr>
              <a:spAutoFit/>
            </a:bodyPr>
            <a:lstStyle/>
            <a:p>
              <a:pPr algn="ctr" eaLnBrk="1" hangingPunct="1">
                <a:lnSpc>
                  <a:spcPct val="50000"/>
                </a:lnSpc>
                <a:spcBef>
                  <a:spcPct val="50000"/>
                </a:spcBef>
              </a:pPr>
              <a:r>
                <a:rPr lang="zh-CN" altLang="en-US" sz="1800" b="1" dirty="0">
                  <a:solidFill>
                    <a:srgbClr val="FF0000"/>
                  </a:solidFill>
                  <a:latin typeface="华文中宋" panose="02010600040101010101" pitchFamily="2" charset="-122"/>
                  <a:ea typeface="华文中宋" panose="02010600040101010101" pitchFamily="2" charset="-122"/>
                </a:rPr>
                <a:t>进度</a:t>
              </a:r>
            </a:p>
            <a:p>
              <a:pPr algn="ctr" eaLnBrk="1" hangingPunct="1">
                <a:lnSpc>
                  <a:spcPct val="50000"/>
                </a:lnSpc>
                <a:spcBef>
                  <a:spcPct val="50000"/>
                </a:spcBef>
              </a:pPr>
              <a:r>
                <a:rPr lang="en-US" altLang="zh-CN" sz="1800" b="1" dirty="0">
                  <a:solidFill>
                    <a:srgbClr val="FF0000"/>
                  </a:solidFill>
                  <a:latin typeface="华文中宋" panose="02010600040101010101" pitchFamily="2" charset="-122"/>
                  <a:ea typeface="华文中宋" panose="02010600040101010101" pitchFamily="2" charset="-122"/>
                </a:rPr>
                <a:t>Time</a:t>
              </a:r>
            </a:p>
          </p:txBody>
        </p:sp>
        <p:sp>
          <p:nvSpPr>
            <p:cNvPr id="7" name="Text Box 7">
              <a:extLst>
                <a:ext uri="{FF2B5EF4-FFF2-40B4-BE49-F238E27FC236}">
                  <a16:creationId xmlns:a16="http://schemas.microsoft.com/office/drawing/2014/main" id="{F9AC7977-D1CA-4FA8-17E1-934E863F65F2}"/>
                </a:ext>
              </a:extLst>
            </p:cNvPr>
            <p:cNvSpPr txBox="1">
              <a:spLocks noChangeArrowheads="1"/>
            </p:cNvSpPr>
            <p:nvPr/>
          </p:nvSpPr>
          <p:spPr bwMode="auto">
            <a:xfrm>
              <a:off x="6384" y="7635"/>
              <a:ext cx="2400" cy="748"/>
            </a:xfrm>
            <a:prstGeom prst="rect">
              <a:avLst/>
            </a:prstGeom>
            <a:noFill/>
            <a:ln w="9525" algn="ctr">
              <a:noFill/>
              <a:miter lim="800000"/>
            </a:ln>
          </p:spPr>
          <p:txBody>
            <a:bodyPr>
              <a:spAutoFit/>
            </a:bodyPr>
            <a:lstStyle/>
            <a:p>
              <a:pPr algn="ctr" eaLnBrk="1" hangingPunct="1">
                <a:spcBef>
                  <a:spcPct val="50000"/>
                </a:spcBef>
              </a:pPr>
              <a:r>
                <a:rPr lang="zh-CN" altLang="en-US" sz="1800" b="1" dirty="0">
                  <a:solidFill>
                    <a:srgbClr val="FF0000"/>
                  </a:solidFill>
                  <a:latin typeface="华文中宋" panose="02010600040101010101" pitchFamily="2" charset="-122"/>
                  <a:ea typeface="华文中宋" panose="02010600040101010101" pitchFamily="2" charset="-122"/>
                </a:rPr>
                <a:t>成本</a:t>
              </a:r>
              <a:r>
                <a:rPr lang="en-US" altLang="zh-CN" sz="1800" b="1" dirty="0">
                  <a:solidFill>
                    <a:srgbClr val="FF0000"/>
                  </a:solidFill>
                  <a:latin typeface="华文中宋" panose="02010600040101010101" pitchFamily="2" charset="-122"/>
                  <a:ea typeface="华文中宋" panose="02010600040101010101" pitchFamily="2" charset="-122"/>
                </a:rPr>
                <a:t>Cost</a:t>
              </a:r>
            </a:p>
          </p:txBody>
        </p:sp>
        <p:sp>
          <p:nvSpPr>
            <p:cNvPr id="8" name="矩形 7">
              <a:extLst>
                <a:ext uri="{FF2B5EF4-FFF2-40B4-BE49-F238E27FC236}">
                  <a16:creationId xmlns:a16="http://schemas.microsoft.com/office/drawing/2014/main" id="{16210B9E-D847-E2DD-5BB7-55800CA18CF8}"/>
                </a:ext>
              </a:extLst>
            </p:cNvPr>
            <p:cNvSpPr/>
            <p:nvPr/>
          </p:nvSpPr>
          <p:spPr>
            <a:xfrm>
              <a:off x="1130" y="9045"/>
              <a:ext cx="13548" cy="1938"/>
            </a:xfrm>
            <a:prstGeom prst="rect">
              <a:avLst/>
            </a:prstGeom>
            <a:ln w="28575">
              <a:solidFill>
                <a:schemeClr val="tx1"/>
              </a:solidFill>
            </a:ln>
          </p:spPr>
          <p:txBody>
            <a:bodyPr wrap="square">
              <a:spAutoFit/>
            </a:bodyPr>
            <a:lstStyle/>
            <a:p>
              <a:pPr eaLnBrk="1" hangingPunct="1">
                <a:spcBef>
                  <a:spcPts val="1200"/>
                </a:spcBef>
                <a:spcAft>
                  <a:spcPts val="1200"/>
                </a:spcAft>
                <a:defRPr/>
              </a:pPr>
              <a:r>
                <a:rPr lang="zh-CN" altLang="en-US" sz="2000" b="1" dirty="0">
                  <a:solidFill>
                    <a:srgbClr val="C00000"/>
                  </a:solidFill>
                  <a:latin typeface="华文中宋" panose="02010600040101010101" pitchFamily="2" charset="-122"/>
                  <a:ea typeface="华文中宋" panose="02010600040101010101" pitchFamily="2" charset="-122"/>
                </a:rPr>
                <a:t>范围基准（</a:t>
              </a:r>
              <a:r>
                <a:rPr lang="en-US" altLang="zh-CN" sz="2000" b="1" dirty="0">
                  <a:solidFill>
                    <a:srgbClr val="C00000"/>
                  </a:solidFill>
                  <a:latin typeface="华文中宋" panose="02010600040101010101" pitchFamily="2" charset="-122"/>
                  <a:ea typeface="华文中宋" panose="02010600040101010101" pitchFamily="2" charset="-122"/>
                </a:rPr>
                <a:t>baseline</a:t>
              </a:r>
              <a:r>
                <a:rPr lang="zh-CN" altLang="en-US" sz="2000" b="1" dirty="0">
                  <a:solidFill>
                    <a:srgbClr val="C00000"/>
                  </a:solidFill>
                  <a:latin typeface="华文中宋" panose="02010600040101010101" pitchFamily="2" charset="-122"/>
                  <a:ea typeface="华文中宋" panose="02010600040101010101" pitchFamily="2" charset="-122"/>
                </a:rPr>
                <a:t>）、进度基准、成本基准。   </a:t>
              </a:r>
            </a:p>
            <a:p>
              <a:pPr eaLnBrk="1" hangingPunct="1">
                <a:spcBef>
                  <a:spcPts val="1200"/>
                </a:spcBef>
                <a:spcAft>
                  <a:spcPts val="1200"/>
                </a:spcAft>
                <a:defRPr/>
              </a:pPr>
              <a:r>
                <a:rPr lang="zh-CN" altLang="en-US" sz="1600" dirty="0">
                  <a:solidFill>
                    <a:srgbClr val="002060"/>
                  </a:solidFill>
                  <a:latin typeface="华文中宋" panose="02010600040101010101" pitchFamily="2" charset="-122"/>
                  <a:ea typeface="华文中宋" panose="02010600040101010101" pitchFamily="2" charset="-122"/>
                </a:rPr>
                <a:t>（基准：</a:t>
              </a:r>
              <a:r>
                <a:rPr lang="zh-CN" sz="1600" dirty="0">
                  <a:solidFill>
                    <a:srgbClr val="002060"/>
                  </a:solidFill>
                  <a:latin typeface="华文中宋" panose="02010600040101010101" pitchFamily="2" charset="-122"/>
                  <a:ea typeface="华文中宋" panose="02010600040101010101" pitchFamily="2" charset="-122"/>
                </a:rPr>
                <a:t>被审核</a:t>
              </a:r>
              <a:r>
                <a:rPr lang="zh-CN" altLang="en-US" sz="1600" dirty="0">
                  <a:solidFill>
                    <a:srgbClr val="002060"/>
                  </a:solidFill>
                  <a:latin typeface="华文中宋" panose="02010600040101010101" pitchFamily="2" charset="-122"/>
                  <a:ea typeface="华文中宋" panose="02010600040101010101" pitchFamily="2" charset="-122"/>
                </a:rPr>
                <a:t>的计划</a:t>
              </a:r>
              <a:r>
                <a:rPr lang="zh-CN" sz="1600" dirty="0">
                  <a:solidFill>
                    <a:srgbClr val="002060"/>
                  </a:solidFill>
                  <a:latin typeface="华文中宋" panose="02010600040101010101" pitchFamily="2" charset="-122"/>
                  <a:ea typeface="华文中宋" panose="02010600040101010101" pitchFamily="2" charset="-122"/>
                </a:rPr>
                <a:t>）</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3BFA50A2-9675-C93E-3AFB-A8858B57EDCE}"/>
              </a:ext>
            </a:extLst>
          </p:cNvPr>
          <p:cNvSpPr>
            <a:spLocks noGrp="1" noChangeArrowheads="1"/>
          </p:cNvSpPr>
          <p:nvPr>
            <p:ph type="title"/>
          </p:nvPr>
        </p:nvSpPr>
        <p:spPr/>
        <p:txBody>
          <a:bodyPr/>
          <a:lstStyle/>
          <a:p>
            <a:pPr eaLnBrk="1" hangingPunct="1"/>
            <a:r>
              <a:rPr lang="zh-CN" altLang="en-US"/>
              <a:t>本章内容提要</a:t>
            </a:r>
          </a:p>
        </p:txBody>
      </p:sp>
      <p:grpSp>
        <p:nvGrpSpPr>
          <p:cNvPr id="23555" name="Group 3">
            <a:extLst>
              <a:ext uri="{FF2B5EF4-FFF2-40B4-BE49-F238E27FC236}">
                <a16:creationId xmlns:a16="http://schemas.microsoft.com/office/drawing/2014/main" id="{54FE978C-B54F-A7D1-CF01-DD1E184FBCC4}"/>
              </a:ext>
            </a:extLst>
          </p:cNvPr>
          <p:cNvGrpSpPr>
            <a:grpSpLocks/>
          </p:cNvGrpSpPr>
          <p:nvPr/>
        </p:nvGrpSpPr>
        <p:grpSpPr bwMode="auto">
          <a:xfrm>
            <a:off x="611188" y="2343150"/>
            <a:ext cx="5670550" cy="488950"/>
            <a:chOff x="385" y="1476"/>
            <a:chExt cx="3572" cy="308"/>
          </a:xfrm>
        </p:grpSpPr>
        <p:sp>
          <p:nvSpPr>
            <p:cNvPr id="23577" name="AutoShape 4">
              <a:extLst>
                <a:ext uri="{FF2B5EF4-FFF2-40B4-BE49-F238E27FC236}">
                  <a16:creationId xmlns:a16="http://schemas.microsoft.com/office/drawing/2014/main" id="{EAD8C76F-6EDF-85EB-598C-A105A1485981}"/>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3578" name="Text Box 5">
              <a:extLst>
                <a:ext uri="{FF2B5EF4-FFF2-40B4-BE49-F238E27FC236}">
                  <a16:creationId xmlns:a16="http://schemas.microsoft.com/office/drawing/2014/main" id="{D15772D8-5A11-61FB-D7AA-A3A4E1F758C0}"/>
                </a:ext>
              </a:extLst>
            </p:cNvPr>
            <p:cNvSpPr txBox="1">
              <a:spLocks noChangeArrowheads="1"/>
            </p:cNvSpPr>
            <p:nvPr/>
          </p:nvSpPr>
          <p:spPr bwMode="auto">
            <a:xfrm>
              <a:off x="626" y="1496"/>
              <a:ext cx="309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项目与软件项目的概念</a:t>
              </a:r>
              <a:r>
                <a:rPr lang="zh-CN" altLang="en-US" sz="2400" b="0">
                  <a:latin typeface="Times New Roman" panose="02020603050405020304" pitchFamily="18" charset="0"/>
                </a:rPr>
                <a:t> </a:t>
              </a:r>
            </a:p>
          </p:txBody>
        </p:sp>
        <p:sp>
          <p:nvSpPr>
            <p:cNvPr id="23579" name="Rectangle 6">
              <a:extLst>
                <a:ext uri="{FF2B5EF4-FFF2-40B4-BE49-F238E27FC236}">
                  <a16:creationId xmlns:a16="http://schemas.microsoft.com/office/drawing/2014/main" id="{BDAC9D90-A7DB-FA52-56F5-24FA1715EE0F}"/>
                </a:ext>
              </a:extLst>
            </p:cNvPr>
            <p:cNvSpPr>
              <a:spLocks noChangeArrowheads="1"/>
            </p:cNvSpPr>
            <p:nvPr/>
          </p:nvSpPr>
          <p:spPr bwMode="auto">
            <a:xfrm>
              <a:off x="385" y="153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a:t>
              </a:r>
              <a:endParaRPr lang="en-US" altLang="zh-CN" sz="1800">
                <a:solidFill>
                  <a:srgbClr val="000000"/>
                </a:solidFill>
              </a:endParaRPr>
            </a:p>
          </p:txBody>
        </p:sp>
      </p:grpSp>
      <p:grpSp>
        <p:nvGrpSpPr>
          <p:cNvPr id="23556" name="Group 7">
            <a:extLst>
              <a:ext uri="{FF2B5EF4-FFF2-40B4-BE49-F238E27FC236}">
                <a16:creationId xmlns:a16="http://schemas.microsoft.com/office/drawing/2014/main" id="{28E51FF2-B42A-0A10-C6F4-012CA8B05039}"/>
              </a:ext>
            </a:extLst>
          </p:cNvPr>
          <p:cNvGrpSpPr>
            <a:grpSpLocks/>
          </p:cNvGrpSpPr>
          <p:nvPr/>
        </p:nvGrpSpPr>
        <p:grpSpPr bwMode="auto">
          <a:xfrm>
            <a:off x="611188" y="2924175"/>
            <a:ext cx="5670550" cy="488950"/>
            <a:chOff x="385" y="1842"/>
            <a:chExt cx="3572" cy="308"/>
          </a:xfrm>
        </p:grpSpPr>
        <p:grpSp>
          <p:nvGrpSpPr>
            <p:cNvPr id="23573" name="Group 8">
              <a:extLst>
                <a:ext uri="{FF2B5EF4-FFF2-40B4-BE49-F238E27FC236}">
                  <a16:creationId xmlns:a16="http://schemas.microsoft.com/office/drawing/2014/main" id="{C4076E1B-97BF-AF5D-06FD-33CFD4D410F1}"/>
                </a:ext>
              </a:extLst>
            </p:cNvPr>
            <p:cNvGrpSpPr>
              <a:grpSpLocks/>
            </p:cNvGrpSpPr>
            <p:nvPr/>
          </p:nvGrpSpPr>
          <p:grpSpPr bwMode="auto">
            <a:xfrm>
              <a:off x="464" y="1842"/>
              <a:ext cx="3493" cy="308"/>
              <a:chOff x="464" y="1842"/>
              <a:chExt cx="3493" cy="308"/>
            </a:xfrm>
          </p:grpSpPr>
          <p:sp>
            <p:nvSpPr>
              <p:cNvPr id="23575" name="AutoShape 9">
                <a:extLst>
                  <a:ext uri="{FF2B5EF4-FFF2-40B4-BE49-F238E27FC236}">
                    <a16:creationId xmlns:a16="http://schemas.microsoft.com/office/drawing/2014/main" id="{05B536EE-8C27-C759-7670-CFE1CFFDFBE2}"/>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3576" name="Text Box 10">
                <a:extLst>
                  <a:ext uri="{FF2B5EF4-FFF2-40B4-BE49-F238E27FC236}">
                    <a16:creationId xmlns:a16="http://schemas.microsoft.com/office/drawing/2014/main" id="{695A6D6C-F98E-29EA-91D9-67F2BA68819D}"/>
                  </a:ext>
                </a:extLst>
              </p:cNvPr>
              <p:cNvSpPr txBox="1">
                <a:spLocks noChangeArrowheads="1"/>
              </p:cNvSpPr>
              <p:nvPr/>
            </p:nvSpPr>
            <p:spPr bwMode="auto">
              <a:xfrm>
                <a:off x="626" y="1867"/>
                <a:ext cx="309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项目管理的概念</a:t>
                </a:r>
                <a:r>
                  <a:rPr lang="zh-CN" altLang="en-US" sz="2400" b="0">
                    <a:latin typeface="Times New Roman" panose="02020603050405020304" pitchFamily="18" charset="0"/>
                  </a:rPr>
                  <a:t> </a:t>
                </a:r>
              </a:p>
            </p:txBody>
          </p:sp>
        </p:grpSp>
        <p:sp>
          <p:nvSpPr>
            <p:cNvPr id="23574" name="Rectangle 11">
              <a:extLst>
                <a:ext uri="{FF2B5EF4-FFF2-40B4-BE49-F238E27FC236}">
                  <a16:creationId xmlns:a16="http://schemas.microsoft.com/office/drawing/2014/main" id="{3F7729DD-08E5-DDE0-1682-C754D79E7C27}"/>
                </a:ext>
              </a:extLst>
            </p:cNvPr>
            <p:cNvSpPr>
              <a:spLocks noChangeArrowheads="1"/>
            </p:cNvSpPr>
            <p:nvPr/>
          </p:nvSpPr>
          <p:spPr bwMode="auto">
            <a:xfrm>
              <a:off x="385" y="1915"/>
              <a:ext cx="211" cy="164"/>
            </a:xfrm>
            <a:prstGeom prst="rect">
              <a:avLst/>
            </a:prstGeom>
            <a:solidFill>
              <a:schemeClr val="accent2"/>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1.2</a:t>
              </a:r>
              <a:endParaRPr lang="en-US" altLang="zh-CN" sz="1800">
                <a:solidFill>
                  <a:srgbClr val="000000"/>
                </a:solidFill>
              </a:endParaRPr>
            </a:p>
          </p:txBody>
        </p:sp>
      </p:grpSp>
      <p:grpSp>
        <p:nvGrpSpPr>
          <p:cNvPr id="23557" name="Group 12">
            <a:extLst>
              <a:ext uri="{FF2B5EF4-FFF2-40B4-BE49-F238E27FC236}">
                <a16:creationId xmlns:a16="http://schemas.microsoft.com/office/drawing/2014/main" id="{9AA00DC7-C6C5-3D02-B26B-359765EC4924}"/>
              </a:ext>
            </a:extLst>
          </p:cNvPr>
          <p:cNvGrpSpPr>
            <a:grpSpLocks/>
          </p:cNvGrpSpPr>
          <p:nvPr/>
        </p:nvGrpSpPr>
        <p:grpSpPr bwMode="auto">
          <a:xfrm>
            <a:off x="611188" y="3500438"/>
            <a:ext cx="5689600" cy="488950"/>
            <a:chOff x="385" y="2209"/>
            <a:chExt cx="3584" cy="308"/>
          </a:xfrm>
        </p:grpSpPr>
        <p:sp>
          <p:nvSpPr>
            <p:cNvPr id="23570" name="AutoShape 13">
              <a:extLst>
                <a:ext uri="{FF2B5EF4-FFF2-40B4-BE49-F238E27FC236}">
                  <a16:creationId xmlns:a16="http://schemas.microsoft.com/office/drawing/2014/main" id="{1E04D592-825C-1335-9194-EFBDCEA94FA1}"/>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3571" name="Text Box 14">
              <a:extLst>
                <a:ext uri="{FF2B5EF4-FFF2-40B4-BE49-F238E27FC236}">
                  <a16:creationId xmlns:a16="http://schemas.microsoft.com/office/drawing/2014/main" id="{157E1786-3D30-9255-CEB2-C14D591B0FD5}"/>
                </a:ext>
              </a:extLst>
            </p:cNvPr>
            <p:cNvSpPr txBox="1">
              <a:spLocks noChangeArrowheads="1"/>
            </p:cNvSpPr>
            <p:nvPr/>
          </p:nvSpPr>
          <p:spPr bwMode="auto">
            <a:xfrm>
              <a:off x="626" y="2253"/>
              <a:ext cx="31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软件项目生命期与管理过程</a:t>
              </a:r>
              <a:r>
                <a:rPr lang="zh-CN" altLang="en-US" sz="2400" b="0">
                  <a:latin typeface="Times New Roman" panose="02020603050405020304" pitchFamily="18" charset="0"/>
                </a:rPr>
                <a:t> </a:t>
              </a:r>
            </a:p>
          </p:txBody>
        </p:sp>
        <p:sp>
          <p:nvSpPr>
            <p:cNvPr id="23572" name="Rectangle 15">
              <a:extLst>
                <a:ext uri="{FF2B5EF4-FFF2-40B4-BE49-F238E27FC236}">
                  <a16:creationId xmlns:a16="http://schemas.microsoft.com/office/drawing/2014/main" id="{D40C376D-F9DE-0CB1-7D14-6B6CB911C77E}"/>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1.3</a:t>
              </a:r>
              <a:endParaRPr lang="en-US" altLang="zh-CN" sz="1800">
                <a:solidFill>
                  <a:srgbClr val="000000"/>
                </a:solidFill>
              </a:endParaRPr>
            </a:p>
          </p:txBody>
        </p:sp>
      </p:grpSp>
      <p:grpSp>
        <p:nvGrpSpPr>
          <p:cNvPr id="23558" name="Group 16">
            <a:extLst>
              <a:ext uri="{FF2B5EF4-FFF2-40B4-BE49-F238E27FC236}">
                <a16:creationId xmlns:a16="http://schemas.microsoft.com/office/drawing/2014/main" id="{F839132A-D96F-90AA-D786-4819B70B6605}"/>
              </a:ext>
            </a:extLst>
          </p:cNvPr>
          <p:cNvGrpSpPr>
            <a:grpSpLocks/>
          </p:cNvGrpSpPr>
          <p:nvPr/>
        </p:nvGrpSpPr>
        <p:grpSpPr bwMode="auto">
          <a:xfrm>
            <a:off x="611188" y="4076700"/>
            <a:ext cx="5689600" cy="488950"/>
            <a:chOff x="385" y="2209"/>
            <a:chExt cx="3584" cy="308"/>
          </a:xfrm>
        </p:grpSpPr>
        <p:sp>
          <p:nvSpPr>
            <p:cNvPr id="23567" name="AutoShape 17">
              <a:extLst>
                <a:ext uri="{FF2B5EF4-FFF2-40B4-BE49-F238E27FC236}">
                  <a16:creationId xmlns:a16="http://schemas.microsoft.com/office/drawing/2014/main" id="{D41FC1DF-A296-0206-4187-07CF9BBA59CA}"/>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3568" name="Text Box 18">
              <a:extLst>
                <a:ext uri="{FF2B5EF4-FFF2-40B4-BE49-F238E27FC236}">
                  <a16:creationId xmlns:a16="http://schemas.microsoft.com/office/drawing/2014/main" id="{991FC8D1-A535-7387-5926-B8BB65A7EEC5}"/>
                </a:ext>
              </a:extLst>
            </p:cNvPr>
            <p:cNvSpPr txBox="1">
              <a:spLocks noChangeArrowheads="1"/>
            </p:cNvSpPr>
            <p:nvPr/>
          </p:nvSpPr>
          <p:spPr bwMode="auto">
            <a:xfrm>
              <a:off x="626" y="2253"/>
              <a:ext cx="31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本书内容的组织</a:t>
              </a:r>
              <a:r>
                <a:rPr lang="zh-CN" altLang="en-US" sz="2400" b="0">
                  <a:latin typeface="Times New Roman" panose="02020603050405020304" pitchFamily="18" charset="0"/>
                </a:rPr>
                <a:t> </a:t>
              </a:r>
            </a:p>
          </p:txBody>
        </p:sp>
        <p:sp>
          <p:nvSpPr>
            <p:cNvPr id="23569" name="Rectangle 19">
              <a:extLst>
                <a:ext uri="{FF2B5EF4-FFF2-40B4-BE49-F238E27FC236}">
                  <a16:creationId xmlns:a16="http://schemas.microsoft.com/office/drawing/2014/main" id="{EC62CA6B-8948-94C9-EBC4-B70B75E68550}"/>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1.4</a:t>
              </a:r>
              <a:endParaRPr lang="en-US" altLang="zh-CN" sz="1800">
                <a:solidFill>
                  <a:srgbClr val="000000"/>
                </a:solidFill>
              </a:endParaRPr>
            </a:p>
          </p:txBody>
        </p:sp>
      </p:grpSp>
      <p:grpSp>
        <p:nvGrpSpPr>
          <p:cNvPr id="23559" name="Group 20">
            <a:extLst>
              <a:ext uri="{FF2B5EF4-FFF2-40B4-BE49-F238E27FC236}">
                <a16:creationId xmlns:a16="http://schemas.microsoft.com/office/drawing/2014/main" id="{D97FD27F-B987-D82A-0235-B50D33F4F97A}"/>
              </a:ext>
            </a:extLst>
          </p:cNvPr>
          <p:cNvGrpSpPr>
            <a:grpSpLocks/>
          </p:cNvGrpSpPr>
          <p:nvPr/>
        </p:nvGrpSpPr>
        <p:grpSpPr bwMode="auto">
          <a:xfrm>
            <a:off x="611188" y="4652963"/>
            <a:ext cx="5689600" cy="488950"/>
            <a:chOff x="385" y="2209"/>
            <a:chExt cx="3584" cy="308"/>
          </a:xfrm>
        </p:grpSpPr>
        <p:sp>
          <p:nvSpPr>
            <p:cNvPr id="23564" name="AutoShape 21">
              <a:extLst>
                <a:ext uri="{FF2B5EF4-FFF2-40B4-BE49-F238E27FC236}">
                  <a16:creationId xmlns:a16="http://schemas.microsoft.com/office/drawing/2014/main" id="{7BBC6183-1268-34D9-787D-4FD1B8E91E6C}"/>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3565" name="Text Box 22">
              <a:extLst>
                <a:ext uri="{FF2B5EF4-FFF2-40B4-BE49-F238E27FC236}">
                  <a16:creationId xmlns:a16="http://schemas.microsoft.com/office/drawing/2014/main" id="{66EF62CD-4C1F-F064-482C-5B363C3AF990}"/>
                </a:ext>
              </a:extLst>
            </p:cNvPr>
            <p:cNvSpPr txBox="1">
              <a:spLocks noChangeArrowheads="1"/>
            </p:cNvSpPr>
            <p:nvPr/>
          </p:nvSpPr>
          <p:spPr bwMode="auto">
            <a:xfrm>
              <a:off x="626" y="2273"/>
              <a:ext cx="311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本章小结</a:t>
              </a:r>
            </a:p>
          </p:txBody>
        </p:sp>
        <p:sp>
          <p:nvSpPr>
            <p:cNvPr id="23566" name="Rectangle 23">
              <a:extLst>
                <a:ext uri="{FF2B5EF4-FFF2-40B4-BE49-F238E27FC236}">
                  <a16:creationId xmlns:a16="http://schemas.microsoft.com/office/drawing/2014/main" id="{7EBFCD08-1838-CB75-9EEB-A3984C7CFB43}"/>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1.5</a:t>
              </a:r>
              <a:endParaRPr lang="en-US" altLang="zh-CN" sz="1800">
                <a:solidFill>
                  <a:srgbClr val="000000"/>
                </a:solidFill>
              </a:endParaRPr>
            </a:p>
          </p:txBody>
        </p:sp>
      </p:grpSp>
      <p:grpSp>
        <p:nvGrpSpPr>
          <p:cNvPr id="23560" name="Group 24">
            <a:extLst>
              <a:ext uri="{FF2B5EF4-FFF2-40B4-BE49-F238E27FC236}">
                <a16:creationId xmlns:a16="http://schemas.microsoft.com/office/drawing/2014/main" id="{BE09E766-D934-53AA-9A59-160373100C17}"/>
              </a:ext>
            </a:extLst>
          </p:cNvPr>
          <p:cNvGrpSpPr>
            <a:grpSpLocks/>
          </p:cNvGrpSpPr>
          <p:nvPr/>
        </p:nvGrpSpPr>
        <p:grpSpPr bwMode="auto">
          <a:xfrm>
            <a:off x="611188" y="5229225"/>
            <a:ext cx="5689600" cy="488950"/>
            <a:chOff x="385" y="2209"/>
            <a:chExt cx="3584" cy="308"/>
          </a:xfrm>
        </p:grpSpPr>
        <p:sp>
          <p:nvSpPr>
            <p:cNvPr id="23561" name="AutoShape 25">
              <a:extLst>
                <a:ext uri="{FF2B5EF4-FFF2-40B4-BE49-F238E27FC236}">
                  <a16:creationId xmlns:a16="http://schemas.microsoft.com/office/drawing/2014/main" id="{944EB073-B388-E27E-E03A-CAB62E694307}"/>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3562" name="Text Box 26">
              <a:extLst>
                <a:ext uri="{FF2B5EF4-FFF2-40B4-BE49-F238E27FC236}">
                  <a16:creationId xmlns:a16="http://schemas.microsoft.com/office/drawing/2014/main" id="{07F11657-158B-2041-AA32-7D45DA78F145}"/>
                </a:ext>
              </a:extLst>
            </p:cNvPr>
            <p:cNvSpPr txBox="1">
              <a:spLocks noChangeArrowheads="1"/>
            </p:cNvSpPr>
            <p:nvPr/>
          </p:nvSpPr>
          <p:spPr bwMode="auto">
            <a:xfrm>
              <a:off x="626" y="2273"/>
              <a:ext cx="311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复习思考题</a:t>
              </a:r>
            </a:p>
          </p:txBody>
        </p:sp>
        <p:sp>
          <p:nvSpPr>
            <p:cNvPr id="23563" name="Rectangle 27">
              <a:extLst>
                <a:ext uri="{FF2B5EF4-FFF2-40B4-BE49-F238E27FC236}">
                  <a16:creationId xmlns:a16="http://schemas.microsoft.com/office/drawing/2014/main" id="{257DE6F1-F52A-BE5A-2536-335B3433E910}"/>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1.6</a:t>
              </a:r>
              <a:endParaRPr lang="en-US" altLang="zh-CN" sz="1800">
                <a:solidFill>
                  <a:srgbClr val="000000"/>
                </a:solidFill>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CB55EBA1-F5B8-FBD5-F523-D6B381ADF815}"/>
              </a:ext>
            </a:extLst>
          </p:cNvPr>
          <p:cNvSpPr>
            <a:spLocks noGrp="1" noChangeArrowheads="1"/>
          </p:cNvSpPr>
          <p:nvPr>
            <p:ph type="title"/>
          </p:nvPr>
        </p:nvSpPr>
        <p:spPr/>
        <p:txBody>
          <a:bodyPr/>
          <a:lstStyle/>
          <a:p>
            <a:pPr eaLnBrk="1" hangingPunct="1"/>
            <a:r>
              <a:rPr lang="en-US" altLang="zh-CN"/>
              <a:t>1.2  </a:t>
            </a:r>
            <a:r>
              <a:rPr lang="zh-CN" altLang="en-US"/>
              <a:t>项目管理的概念 </a:t>
            </a:r>
          </a:p>
        </p:txBody>
      </p:sp>
      <p:sp>
        <p:nvSpPr>
          <p:cNvPr id="24579" name="Rectangle 4">
            <a:extLst>
              <a:ext uri="{FF2B5EF4-FFF2-40B4-BE49-F238E27FC236}">
                <a16:creationId xmlns:a16="http://schemas.microsoft.com/office/drawing/2014/main" id="{07163CD7-A1CA-FABA-AF7E-84B6D643330A}"/>
              </a:ext>
            </a:extLst>
          </p:cNvPr>
          <p:cNvSpPr>
            <a:spLocks noGrp="1" noChangeArrowheads="1"/>
          </p:cNvSpPr>
          <p:nvPr>
            <p:ph type="body" sz="half" idx="1"/>
          </p:nvPr>
        </p:nvSpPr>
        <p:spPr>
          <a:xfrm>
            <a:off x="179388" y="2133600"/>
            <a:ext cx="4316412" cy="4724400"/>
          </a:xfrm>
        </p:spPr>
        <p:txBody>
          <a:bodyPr/>
          <a:lstStyle/>
          <a:p>
            <a:pPr eaLnBrk="1" hangingPunct="1"/>
            <a:r>
              <a:rPr lang="zh-CN" altLang="en-US" sz="2400">
                <a:solidFill>
                  <a:schemeClr val="accent1"/>
                </a:solidFill>
                <a:ea typeface="黑体" panose="02010609060101010101" pitchFamily="49" charset="-122"/>
              </a:rPr>
              <a:t>项目管理就在我们身边</a:t>
            </a:r>
          </a:p>
          <a:p>
            <a:pPr lvl="1" eaLnBrk="1" hangingPunct="1"/>
            <a:r>
              <a:rPr lang="zh-CN" altLang="en-US"/>
              <a:t>解决一个问题</a:t>
            </a:r>
          </a:p>
          <a:p>
            <a:pPr lvl="1" eaLnBrk="1" hangingPunct="1"/>
            <a:r>
              <a:rPr lang="zh-CN" altLang="en-US"/>
              <a:t>组织一个活动</a:t>
            </a:r>
          </a:p>
          <a:p>
            <a:pPr lvl="1" eaLnBrk="1" hangingPunct="1"/>
            <a:r>
              <a:rPr lang="zh-CN" altLang="en-US"/>
              <a:t>创造一个新事务</a:t>
            </a:r>
          </a:p>
          <a:p>
            <a:pPr lvl="1" eaLnBrk="1" hangingPunct="1"/>
            <a:r>
              <a:rPr lang="zh-CN" altLang="en-US"/>
              <a:t>跟踪一个具体的任务</a:t>
            </a:r>
          </a:p>
          <a:p>
            <a:pPr lvl="1" eaLnBrk="1" hangingPunct="1"/>
            <a:r>
              <a:rPr lang="zh-CN" altLang="en-US"/>
              <a:t>当我们觉得资源缺乏的   时候</a:t>
            </a:r>
            <a:r>
              <a:rPr lang="en-US" altLang="zh-CN">
                <a:latin typeface="宋体" panose="02010600030101010101" pitchFamily="2" charset="-122"/>
              </a:rPr>
              <a:t>……</a:t>
            </a:r>
            <a:endParaRPr lang="en-US" altLang="zh-CN"/>
          </a:p>
          <a:p>
            <a:pPr eaLnBrk="1" hangingPunct="1"/>
            <a:endParaRPr lang="en-US" altLang="zh-CN" sz="2400"/>
          </a:p>
        </p:txBody>
      </p:sp>
      <p:sp>
        <p:nvSpPr>
          <p:cNvPr id="24580" name="Rectangle 5">
            <a:extLst>
              <a:ext uri="{FF2B5EF4-FFF2-40B4-BE49-F238E27FC236}">
                <a16:creationId xmlns:a16="http://schemas.microsoft.com/office/drawing/2014/main" id="{8B660A6A-4A23-AFBE-F8C0-758830405C53}"/>
              </a:ext>
            </a:extLst>
          </p:cNvPr>
          <p:cNvSpPr>
            <a:spLocks noGrp="1" noChangeArrowheads="1"/>
          </p:cNvSpPr>
          <p:nvPr>
            <p:ph type="body" sz="half" idx="2"/>
          </p:nvPr>
        </p:nvSpPr>
        <p:spPr>
          <a:xfrm>
            <a:off x="4827588" y="2133600"/>
            <a:ext cx="4316412" cy="4724400"/>
          </a:xfrm>
        </p:spPr>
        <p:txBody>
          <a:bodyPr/>
          <a:lstStyle/>
          <a:p>
            <a:pPr eaLnBrk="1" hangingPunct="1"/>
            <a:r>
              <a:rPr lang="zh-CN" altLang="en-US" sz="2400">
                <a:solidFill>
                  <a:schemeClr val="accent1"/>
                </a:solidFill>
                <a:latin typeface="黑体" panose="02010609060101010101" pitchFamily="49" charset="-122"/>
                <a:ea typeface="黑体" panose="02010609060101010101" pitchFamily="49" charset="-122"/>
              </a:rPr>
              <a:t>生活中的项目</a:t>
            </a:r>
          </a:p>
          <a:p>
            <a:pPr lvl="1" eaLnBrk="1" hangingPunct="1"/>
            <a:r>
              <a:rPr lang="zh-CN" altLang="en-US">
                <a:latin typeface="黑体" panose="02010609060101010101" pitchFamily="49" charset="-122"/>
              </a:rPr>
              <a:t>生日聚会</a:t>
            </a:r>
          </a:p>
          <a:p>
            <a:pPr lvl="1" eaLnBrk="1" hangingPunct="1"/>
            <a:r>
              <a:rPr lang="zh-CN" altLang="en-US">
                <a:latin typeface="黑体" panose="02010609060101010101" pitchFamily="49" charset="-122"/>
              </a:rPr>
              <a:t>野餐活动</a:t>
            </a:r>
          </a:p>
          <a:p>
            <a:pPr lvl="1" eaLnBrk="1" hangingPunct="1"/>
            <a:r>
              <a:rPr lang="zh-CN" altLang="en-US">
                <a:latin typeface="黑体" panose="02010609060101010101" pitchFamily="49" charset="-122"/>
              </a:rPr>
              <a:t>集体婚礼</a:t>
            </a:r>
          </a:p>
          <a:p>
            <a:pPr eaLnBrk="1" hangingPunct="1"/>
            <a:r>
              <a:rPr lang="zh-CN" altLang="en-US" sz="2400">
                <a:solidFill>
                  <a:schemeClr val="accent1"/>
                </a:solidFill>
                <a:latin typeface="黑体" panose="02010609060101010101" pitchFamily="49" charset="-122"/>
                <a:ea typeface="黑体" panose="02010609060101010101" pitchFamily="49" charset="-122"/>
              </a:rPr>
              <a:t>社会中的大项目</a:t>
            </a:r>
          </a:p>
          <a:p>
            <a:pPr lvl="1" eaLnBrk="1" hangingPunct="1"/>
            <a:r>
              <a:rPr lang="zh-CN" altLang="en-US">
                <a:latin typeface="黑体" panose="02010609060101010101" pitchFamily="49" charset="-122"/>
              </a:rPr>
              <a:t>微软的操作系统</a:t>
            </a:r>
          </a:p>
          <a:p>
            <a:pPr lvl="1" eaLnBrk="1" hangingPunct="1"/>
            <a:r>
              <a:rPr lang="zh-CN" altLang="en-US">
                <a:latin typeface="黑体" panose="02010609060101010101" pitchFamily="49" charset="-122"/>
              </a:rPr>
              <a:t>阿波罗计划</a:t>
            </a:r>
          </a:p>
          <a:p>
            <a:pPr lvl="1" eaLnBrk="1" hangingPunct="1"/>
            <a:r>
              <a:rPr lang="zh-CN" altLang="en-US">
                <a:latin typeface="黑体" panose="02010609060101010101" pitchFamily="49" charset="-122"/>
              </a:rPr>
              <a:t>神州飞船计划</a:t>
            </a:r>
          </a:p>
          <a:p>
            <a:pPr eaLnBrk="1" hangingPunct="1"/>
            <a:endParaRPr lang="en-US" altLang="zh-CN" sz="2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DB6D7F22-2C93-2F5A-6B28-7970277FB8BF}"/>
              </a:ext>
            </a:extLst>
          </p:cNvPr>
          <p:cNvSpPr>
            <a:spLocks noGrp="1" noChangeArrowheads="1"/>
          </p:cNvSpPr>
          <p:nvPr>
            <p:ph type="title"/>
          </p:nvPr>
        </p:nvSpPr>
        <p:spPr/>
        <p:txBody>
          <a:bodyPr/>
          <a:lstStyle/>
          <a:p>
            <a:pPr eaLnBrk="1" hangingPunct="1"/>
            <a:r>
              <a:rPr lang="zh-CN" altLang="en-US"/>
              <a:t>项目管理的概念</a:t>
            </a:r>
          </a:p>
        </p:txBody>
      </p:sp>
      <p:sp>
        <p:nvSpPr>
          <p:cNvPr id="25603" name="Rectangle 3">
            <a:extLst>
              <a:ext uri="{FF2B5EF4-FFF2-40B4-BE49-F238E27FC236}">
                <a16:creationId xmlns:a16="http://schemas.microsoft.com/office/drawing/2014/main" id="{967422E5-4686-AB43-8E8E-EABE58729AC0}"/>
              </a:ext>
            </a:extLst>
          </p:cNvPr>
          <p:cNvSpPr>
            <a:spLocks noGrp="1" noChangeArrowheads="1"/>
          </p:cNvSpPr>
          <p:nvPr>
            <p:ph type="body" idx="1"/>
          </p:nvPr>
        </p:nvSpPr>
        <p:spPr>
          <a:xfrm>
            <a:off x="611188" y="2133600"/>
            <a:ext cx="8353425" cy="4724400"/>
          </a:xfrm>
        </p:spPr>
        <p:txBody>
          <a:bodyPr/>
          <a:lstStyle/>
          <a:p>
            <a:pPr eaLnBrk="1" hangingPunct="1">
              <a:spcAft>
                <a:spcPct val="30000"/>
              </a:spcAft>
            </a:pPr>
            <a:r>
              <a:rPr lang="zh-CN" altLang="en-US" sz="2400" dirty="0">
                <a:solidFill>
                  <a:schemeClr val="accent2"/>
                </a:solidFill>
                <a:ea typeface="黑体" panose="02010609060101010101" pitchFamily="49" charset="-122"/>
              </a:rPr>
              <a:t>项目管理的定义</a:t>
            </a:r>
          </a:p>
          <a:p>
            <a:pPr eaLnBrk="1" hangingPunct="1">
              <a:lnSpc>
                <a:spcPct val="130000"/>
              </a:lnSpc>
              <a:buFont typeface="Wingdings 2" panose="05020102010507070707" pitchFamily="18" charset="2"/>
              <a:buNone/>
            </a:pPr>
            <a:r>
              <a:rPr lang="zh-CN" altLang="en-US" sz="2400" dirty="0"/>
              <a:t>            </a:t>
            </a:r>
            <a:r>
              <a:rPr lang="zh-CN" altLang="en-US" sz="1800" dirty="0"/>
              <a:t>项目管理是</a:t>
            </a:r>
            <a:r>
              <a:rPr lang="zh-CN" altLang="en-US" sz="1800" dirty="0">
                <a:solidFill>
                  <a:srgbClr val="FF0000"/>
                </a:solidFill>
              </a:rPr>
              <a:t>以项目为对象</a:t>
            </a:r>
            <a:r>
              <a:rPr lang="zh-CN" altLang="en-US" sz="1800" dirty="0"/>
              <a:t>的系统管理方法，它通过一个临时性的、专门的柔性</a:t>
            </a:r>
            <a:r>
              <a:rPr lang="zh-CN" altLang="en-US" sz="1800" dirty="0">
                <a:solidFill>
                  <a:srgbClr val="FF0000"/>
                </a:solidFill>
              </a:rPr>
              <a:t>组织</a:t>
            </a:r>
            <a:r>
              <a:rPr lang="zh-CN" altLang="en-US" sz="1800" dirty="0"/>
              <a:t>，</a:t>
            </a:r>
            <a:r>
              <a:rPr lang="zh-CN" altLang="en-US" sz="1800" dirty="0">
                <a:solidFill>
                  <a:srgbClr val="FF0000"/>
                </a:solidFill>
              </a:rPr>
              <a:t>运用</a:t>
            </a:r>
            <a:r>
              <a:rPr lang="zh-CN" altLang="en-US" sz="1800" dirty="0"/>
              <a:t>相关的知识、技术、工具和手段，对项目进行高效率的</a:t>
            </a:r>
            <a:r>
              <a:rPr lang="zh-CN" altLang="en-US" sz="1800" dirty="0">
                <a:solidFill>
                  <a:srgbClr val="FF0000"/>
                </a:solidFill>
              </a:rPr>
              <a:t>计划、组织、指导和控制</a:t>
            </a:r>
            <a:r>
              <a:rPr lang="zh-CN" altLang="en-US" sz="1800" dirty="0"/>
              <a:t>。以实现对项目全过程的动态管理和对项目目标的综合协调和优化。</a:t>
            </a:r>
            <a:endParaRPr lang="zh-CN" altLang="en-US" sz="2400" dirty="0"/>
          </a:p>
        </p:txBody>
      </p:sp>
      <p:pic>
        <p:nvPicPr>
          <p:cNvPr id="25604" name="Picture 4">
            <a:extLst>
              <a:ext uri="{FF2B5EF4-FFF2-40B4-BE49-F238E27FC236}">
                <a16:creationId xmlns:a16="http://schemas.microsoft.com/office/drawing/2014/main" id="{729DF077-93CF-1C9A-13C8-D1A8F0055C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5600" y="4652963"/>
            <a:ext cx="3228975" cy="1800225"/>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5605" name="Text Box 6">
            <a:extLst>
              <a:ext uri="{FF2B5EF4-FFF2-40B4-BE49-F238E27FC236}">
                <a16:creationId xmlns:a16="http://schemas.microsoft.com/office/drawing/2014/main" id="{622C0789-3283-0F6E-E46E-3B354AB2AC6D}"/>
              </a:ext>
            </a:extLst>
          </p:cNvPr>
          <p:cNvSpPr txBox="1">
            <a:spLocks noChangeArrowheads="1"/>
          </p:cNvSpPr>
          <p:nvPr/>
        </p:nvSpPr>
        <p:spPr bwMode="auto">
          <a:xfrm>
            <a:off x="539750" y="5516563"/>
            <a:ext cx="4114800" cy="915987"/>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800100" indent="-34290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257300" indent="-3429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714500" indent="-3429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171700" indent="-3429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628900" indent="-3429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3086100" indent="-3429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543300" indent="-3429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4000500" indent="-3429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lvl="1" eaLnBrk="1" hangingPunct="1">
              <a:buClr>
                <a:schemeClr val="accent2"/>
              </a:buClr>
              <a:buSzPct val="70000"/>
              <a:buFont typeface="Wingdings" panose="05000000000000000000" pitchFamily="2" charset="2"/>
              <a:buChar char="l"/>
            </a:pPr>
            <a:r>
              <a:rPr kumimoji="0" lang="zh-CN" altLang="en-US" sz="1800" dirty="0"/>
              <a:t>软技巧 </a:t>
            </a:r>
            <a:r>
              <a:rPr kumimoji="0" lang="en-US" altLang="zh-CN" sz="1800" dirty="0"/>
              <a:t>Samples</a:t>
            </a:r>
            <a:r>
              <a:rPr kumimoji="0" lang="zh-CN" altLang="en-US" sz="1800" dirty="0"/>
              <a:t>（领导、团队建设、冲突解决、激励、训练、协商、沟通、倾听）</a:t>
            </a:r>
          </a:p>
        </p:txBody>
      </p:sp>
      <p:sp>
        <p:nvSpPr>
          <p:cNvPr id="25606" name="Text Box 7">
            <a:extLst>
              <a:ext uri="{FF2B5EF4-FFF2-40B4-BE49-F238E27FC236}">
                <a16:creationId xmlns:a16="http://schemas.microsoft.com/office/drawing/2014/main" id="{86E7214C-9F1C-C0BF-0BC9-4802650C5B4D}"/>
              </a:ext>
            </a:extLst>
          </p:cNvPr>
          <p:cNvSpPr txBox="1">
            <a:spLocks noChangeArrowheads="1"/>
          </p:cNvSpPr>
          <p:nvPr/>
        </p:nvSpPr>
        <p:spPr bwMode="auto">
          <a:xfrm>
            <a:off x="539750" y="4508500"/>
            <a:ext cx="3635375" cy="64135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800100" indent="-34290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257300" indent="-3429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714500" indent="-3429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171700" indent="-3429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628900" indent="-3429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3086100" indent="-3429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543300" indent="-3429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4000500" indent="-3429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lvl="1" eaLnBrk="1" hangingPunct="1">
              <a:buClr>
                <a:schemeClr val="accent2"/>
              </a:buClr>
              <a:buSzPct val="70000"/>
              <a:buFont typeface="Wingdings" panose="05000000000000000000" pitchFamily="2" charset="2"/>
              <a:buChar char="l"/>
            </a:pPr>
            <a:r>
              <a:rPr kumimoji="0" lang="zh-CN" altLang="en-US" sz="1800" dirty="0"/>
              <a:t>硬技能 </a:t>
            </a:r>
            <a:r>
              <a:rPr kumimoji="0" lang="en-US" altLang="zh-CN" sz="1800" dirty="0"/>
              <a:t>Samples </a:t>
            </a:r>
            <a:r>
              <a:rPr kumimoji="0" lang="zh-CN" altLang="en-US" sz="1800" dirty="0"/>
              <a:t>（计划、跟踪、控制、报告）</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51F63915-AACC-54FD-D0AA-33C21065EB13}"/>
              </a:ext>
            </a:extLst>
          </p:cNvPr>
          <p:cNvSpPr>
            <a:spLocks noGrp="1" noChangeArrowheads="1"/>
          </p:cNvSpPr>
          <p:nvPr>
            <p:ph type="title"/>
          </p:nvPr>
        </p:nvSpPr>
        <p:spPr/>
        <p:txBody>
          <a:bodyPr/>
          <a:lstStyle/>
          <a:p>
            <a:pPr eaLnBrk="1" hangingPunct="1"/>
            <a:r>
              <a:rPr lang="zh-CN" altLang="en-US"/>
              <a:t>项目管理的概念</a:t>
            </a:r>
          </a:p>
        </p:txBody>
      </p:sp>
      <p:sp>
        <p:nvSpPr>
          <p:cNvPr id="26627" name="Rectangle 3">
            <a:extLst>
              <a:ext uri="{FF2B5EF4-FFF2-40B4-BE49-F238E27FC236}">
                <a16:creationId xmlns:a16="http://schemas.microsoft.com/office/drawing/2014/main" id="{36CB91F0-7B29-827B-2E14-116FC6EF2DD9}"/>
              </a:ext>
            </a:extLst>
          </p:cNvPr>
          <p:cNvSpPr>
            <a:spLocks noGrp="1" noChangeArrowheads="1"/>
          </p:cNvSpPr>
          <p:nvPr>
            <p:ph type="body" idx="1"/>
          </p:nvPr>
        </p:nvSpPr>
        <p:spPr>
          <a:xfrm>
            <a:off x="611188" y="2133600"/>
            <a:ext cx="8353425" cy="4724400"/>
          </a:xfrm>
        </p:spPr>
        <p:txBody>
          <a:bodyPr/>
          <a:lstStyle/>
          <a:p>
            <a:pPr eaLnBrk="1" hangingPunct="1">
              <a:spcAft>
                <a:spcPct val="30000"/>
              </a:spcAft>
            </a:pPr>
            <a:r>
              <a:rPr lang="zh-CN" altLang="en-US" sz="2400">
                <a:solidFill>
                  <a:schemeClr val="accent2"/>
                </a:solidFill>
                <a:ea typeface="黑体" panose="02010609060101010101" pitchFamily="49" charset="-122"/>
              </a:rPr>
              <a:t>项目管理</a:t>
            </a:r>
          </a:p>
          <a:p>
            <a:pPr eaLnBrk="1" hangingPunct="1">
              <a:lnSpc>
                <a:spcPct val="130000"/>
              </a:lnSpc>
              <a:buFont typeface="Wingdings 2" panose="05020102010507070707" pitchFamily="18" charset="2"/>
              <a:buNone/>
            </a:pPr>
            <a:r>
              <a:rPr lang="zh-CN" altLang="en-US" sz="2400"/>
              <a:t>            </a:t>
            </a:r>
            <a:r>
              <a:rPr lang="zh-CN" altLang="en-US" sz="1800"/>
              <a:t>项目管理活动类似导弹发射控制过程，需要在一开始就设定好目标，然后在飞行过程中锁定目标，同时不断调整导弹的方向，使之沿着正确轨道运行，最终击中目标。</a:t>
            </a:r>
            <a:endParaRPr lang="zh-CN" altLang="en-US" sz="2400"/>
          </a:p>
        </p:txBody>
      </p:sp>
      <p:pic>
        <p:nvPicPr>
          <p:cNvPr id="26628" name="图片 1">
            <a:extLst>
              <a:ext uri="{FF2B5EF4-FFF2-40B4-BE49-F238E27FC236}">
                <a16:creationId xmlns:a16="http://schemas.microsoft.com/office/drawing/2014/main" id="{EB9D5FB7-F399-37EE-900A-DE885F13D5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4581525"/>
            <a:ext cx="1944688"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图片 2">
            <a:extLst>
              <a:ext uri="{FF2B5EF4-FFF2-40B4-BE49-F238E27FC236}">
                <a16:creationId xmlns:a16="http://schemas.microsoft.com/office/drawing/2014/main" id="{761A10B0-4F71-E515-CA80-F05F35DAE5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8188" y="4516438"/>
            <a:ext cx="1736725"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0" name="图片 3">
            <a:extLst>
              <a:ext uri="{FF2B5EF4-FFF2-40B4-BE49-F238E27FC236}">
                <a16:creationId xmlns:a16="http://schemas.microsoft.com/office/drawing/2014/main" id="{7BB0FCFF-43D6-7831-7143-7118B1443F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0350" y="4495800"/>
            <a:ext cx="2011363" cy="131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1" name="文本框 4">
            <a:extLst>
              <a:ext uri="{FF2B5EF4-FFF2-40B4-BE49-F238E27FC236}">
                <a16:creationId xmlns:a16="http://schemas.microsoft.com/office/drawing/2014/main" id="{EB657A49-E17D-ACFD-7F12-263CF464CE5B}"/>
              </a:ext>
            </a:extLst>
          </p:cNvPr>
          <p:cNvSpPr txBox="1">
            <a:spLocks noChangeArrowheads="1"/>
          </p:cNvSpPr>
          <p:nvPr/>
        </p:nvSpPr>
        <p:spPr bwMode="auto">
          <a:xfrm>
            <a:off x="1871663" y="6021388"/>
            <a:ext cx="5762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1200"/>
              <a:t>发射</a:t>
            </a:r>
          </a:p>
        </p:txBody>
      </p:sp>
      <p:sp>
        <p:nvSpPr>
          <p:cNvPr id="26632" name="文本框 10">
            <a:extLst>
              <a:ext uri="{FF2B5EF4-FFF2-40B4-BE49-F238E27FC236}">
                <a16:creationId xmlns:a16="http://schemas.microsoft.com/office/drawing/2014/main" id="{51B12428-6934-83AA-D039-3854E427C4EE}"/>
              </a:ext>
            </a:extLst>
          </p:cNvPr>
          <p:cNvSpPr txBox="1">
            <a:spLocks noChangeArrowheads="1"/>
          </p:cNvSpPr>
          <p:nvPr/>
        </p:nvSpPr>
        <p:spPr bwMode="auto">
          <a:xfrm>
            <a:off x="4643438" y="6013450"/>
            <a:ext cx="111918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1200"/>
              <a:t>追踪和修正</a:t>
            </a:r>
          </a:p>
        </p:txBody>
      </p:sp>
      <p:sp>
        <p:nvSpPr>
          <p:cNvPr id="26633" name="文本框 11">
            <a:extLst>
              <a:ext uri="{FF2B5EF4-FFF2-40B4-BE49-F238E27FC236}">
                <a16:creationId xmlns:a16="http://schemas.microsoft.com/office/drawing/2014/main" id="{027CE270-F156-C490-1F2A-772A77D9128F}"/>
              </a:ext>
            </a:extLst>
          </p:cNvPr>
          <p:cNvSpPr txBox="1">
            <a:spLocks noChangeArrowheads="1"/>
          </p:cNvSpPr>
          <p:nvPr/>
        </p:nvSpPr>
        <p:spPr bwMode="auto">
          <a:xfrm>
            <a:off x="7596188" y="6013450"/>
            <a:ext cx="111918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1200"/>
              <a:t>命中</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6FEB197E-3F71-E495-C58F-6A87E0172EA2}"/>
              </a:ext>
            </a:extLst>
          </p:cNvPr>
          <p:cNvSpPr>
            <a:spLocks noGrp="1" noChangeArrowheads="1"/>
          </p:cNvSpPr>
          <p:nvPr>
            <p:ph type="title"/>
          </p:nvPr>
        </p:nvSpPr>
        <p:spPr/>
        <p:txBody>
          <a:bodyPr/>
          <a:lstStyle/>
          <a:p>
            <a:pPr eaLnBrk="1" hangingPunct="1"/>
            <a:r>
              <a:rPr lang="zh-CN" altLang="en-US"/>
              <a:t>项目管理的概念</a:t>
            </a:r>
          </a:p>
        </p:txBody>
      </p:sp>
      <p:sp>
        <p:nvSpPr>
          <p:cNvPr id="27651" name="Rectangle 3">
            <a:extLst>
              <a:ext uri="{FF2B5EF4-FFF2-40B4-BE49-F238E27FC236}">
                <a16:creationId xmlns:a16="http://schemas.microsoft.com/office/drawing/2014/main" id="{C9C00F30-98CD-3F3C-B047-48D8AC466806}"/>
              </a:ext>
            </a:extLst>
          </p:cNvPr>
          <p:cNvSpPr>
            <a:spLocks noGrp="1" noChangeArrowheads="1"/>
          </p:cNvSpPr>
          <p:nvPr>
            <p:ph type="body" sz="half" idx="1"/>
          </p:nvPr>
        </p:nvSpPr>
        <p:spPr>
          <a:xfrm>
            <a:off x="539750" y="1773238"/>
            <a:ext cx="8604250" cy="5084762"/>
          </a:xfrm>
        </p:spPr>
        <p:txBody>
          <a:bodyPr/>
          <a:lstStyle/>
          <a:p>
            <a:pPr eaLnBrk="1" hangingPunct="1"/>
            <a:endParaRPr lang="en-US" altLang="zh-CN" sz="2000">
              <a:latin typeface="黑体" panose="02010609060101010101" pitchFamily="49" charset="-122"/>
              <a:ea typeface="黑体" panose="02010609060101010101" pitchFamily="49" charset="-122"/>
            </a:endParaRPr>
          </a:p>
          <a:p>
            <a:pPr eaLnBrk="1" hangingPunct="1">
              <a:spcBef>
                <a:spcPct val="0"/>
              </a:spcBef>
            </a:pPr>
            <a:r>
              <a:rPr lang="zh-CN" altLang="en-US" sz="2400">
                <a:solidFill>
                  <a:schemeClr val="accent2"/>
                </a:solidFill>
                <a:latin typeface="黑体" panose="02010609060101010101" pitchFamily="49" charset="-122"/>
                <a:ea typeface="黑体" panose="02010609060101010101" pitchFamily="49" charset="-122"/>
              </a:rPr>
              <a:t>软件项目管理的必要性</a:t>
            </a:r>
          </a:p>
          <a:p>
            <a:pPr lvl="1" eaLnBrk="1" hangingPunct="1">
              <a:lnSpc>
                <a:spcPct val="150000"/>
              </a:lnSpc>
              <a:spcBef>
                <a:spcPct val="0"/>
              </a:spcBef>
            </a:pPr>
            <a:r>
              <a:rPr lang="zh-CN" altLang="en-US" sz="2000">
                <a:latin typeface="宋体" panose="02010600030101010101" pitchFamily="2" charset="-122"/>
              </a:rPr>
              <a:t>无规则、混乱的开发状态，进度滞后，费用超支等失败的例子很多</a:t>
            </a:r>
          </a:p>
          <a:p>
            <a:pPr lvl="1" eaLnBrk="1" hangingPunct="1">
              <a:lnSpc>
                <a:spcPct val="150000"/>
              </a:lnSpc>
              <a:spcBef>
                <a:spcPct val="0"/>
              </a:spcBef>
            </a:pPr>
            <a:r>
              <a:rPr lang="zh-CN" altLang="en-US" sz="2000">
                <a:latin typeface="宋体" panose="02010600030101010101" pitchFamily="2" charset="-122"/>
              </a:rPr>
              <a:t>业务失败，合同纠纷，法律诉讼，客户投诉等困扰软件业</a:t>
            </a:r>
          </a:p>
          <a:p>
            <a:pPr eaLnBrk="1" hangingPunct="1">
              <a:lnSpc>
                <a:spcPct val="150000"/>
              </a:lnSpc>
            </a:pPr>
            <a:endParaRPr lang="en-US" altLang="zh-CN" sz="2000">
              <a:latin typeface="宋体" panose="02010600030101010101" pitchFamily="2" charset="-122"/>
            </a:endParaRPr>
          </a:p>
        </p:txBody>
      </p:sp>
      <p:graphicFrame>
        <p:nvGraphicFramePr>
          <p:cNvPr id="27652" name="Object 4">
            <a:extLst>
              <a:ext uri="{FF2B5EF4-FFF2-40B4-BE49-F238E27FC236}">
                <a16:creationId xmlns:a16="http://schemas.microsoft.com/office/drawing/2014/main" id="{4615A60F-96EA-2D2E-3DE3-1F928E417125}"/>
              </a:ext>
            </a:extLst>
          </p:cNvPr>
          <p:cNvGraphicFramePr>
            <a:graphicFrameLocks noGrp="1" noChangeAspect="1"/>
          </p:cNvGraphicFramePr>
          <p:nvPr>
            <p:ph sz="half" idx="2"/>
          </p:nvPr>
        </p:nvGraphicFramePr>
        <p:xfrm>
          <a:off x="2627313" y="3716338"/>
          <a:ext cx="4316412" cy="2225675"/>
        </p:xfrm>
        <a:graphic>
          <a:graphicData uri="http://schemas.openxmlformats.org/presentationml/2006/ole">
            <mc:AlternateContent xmlns:mc="http://schemas.openxmlformats.org/markup-compatibility/2006">
              <mc:Choice xmlns:v="urn:schemas-microsoft-com:vml" Requires="v">
                <p:oleObj name="位图图像" r:id="rId2" imgW="6133333" imgH="3161905" progId="Paint.Picture">
                  <p:embed/>
                </p:oleObj>
              </mc:Choice>
              <mc:Fallback>
                <p:oleObj name="位图图像" r:id="rId2" imgW="6133333" imgH="3161905" progId="Paint.Picture">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313" y="3716338"/>
                        <a:ext cx="4316412" cy="222567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13500000" algn="ctr" rotWithShape="0">
                                <a:srgbClr val="808080"/>
                              </a:outerShdw>
                            </a:effectLst>
                          </a14:hiddenEffects>
                        </a:ext>
                      </a:extLst>
                    </p:spPr>
                  </p:pic>
                </p:oleObj>
              </mc:Fallback>
            </mc:AlternateContent>
          </a:graphicData>
        </a:graphic>
      </p:graphicFrame>
      <p:sp>
        <p:nvSpPr>
          <p:cNvPr id="27653" name="Rectangle 6">
            <a:extLst>
              <a:ext uri="{FF2B5EF4-FFF2-40B4-BE49-F238E27FC236}">
                <a16:creationId xmlns:a16="http://schemas.microsoft.com/office/drawing/2014/main" id="{5A79C2C5-B903-9E5D-7694-0531192959B0}"/>
              </a:ext>
            </a:extLst>
          </p:cNvPr>
          <p:cNvSpPr>
            <a:spLocks noChangeArrowheads="1"/>
          </p:cNvSpPr>
          <p:nvPr/>
        </p:nvSpPr>
        <p:spPr bwMode="auto">
          <a:xfrm>
            <a:off x="2987675" y="6165850"/>
            <a:ext cx="338296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342900" indent="-34290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342900" indent="-3429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342900" indent="-3429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342900" indent="-3429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800100" indent="-3429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1257300" indent="-3429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1714500" indent="-3429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2171700" indent="-3429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Tx/>
              <a:buFontTx/>
              <a:buNone/>
            </a:pPr>
            <a:r>
              <a:rPr kumimoji="0" lang="zh-CN" altLang="en-US" sz="2000">
                <a:solidFill>
                  <a:schemeClr val="accent2"/>
                </a:solidFill>
                <a:latin typeface="黑体" panose="02010609060101010101" pitchFamily="49" charset="-122"/>
                <a:ea typeface="黑体" panose="02010609060101010101" pitchFamily="49" charset="-122"/>
              </a:rPr>
              <a:t>美国</a:t>
            </a:r>
            <a:r>
              <a:rPr kumimoji="0" lang="en-US" altLang="zh-CN" sz="2000">
                <a:solidFill>
                  <a:schemeClr val="accent2"/>
                </a:solidFill>
                <a:latin typeface="黑体" panose="02010609060101010101" pitchFamily="49" charset="-122"/>
                <a:ea typeface="黑体" panose="02010609060101010101" pitchFamily="49" charset="-122"/>
              </a:rPr>
              <a:t>1999</a:t>
            </a:r>
            <a:r>
              <a:rPr kumimoji="0" lang="zh-CN" altLang="en-US" sz="2000">
                <a:solidFill>
                  <a:schemeClr val="accent2"/>
                </a:solidFill>
                <a:latin typeface="黑体" panose="02010609060101010101" pitchFamily="49" charset="-122"/>
                <a:ea typeface="黑体" panose="02010609060101010101" pitchFamily="49" charset="-122"/>
              </a:rPr>
              <a:t>年软件项目的统计</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916142F1-F792-F4F0-7158-F5A9DAB91EC9}"/>
              </a:ext>
            </a:extLst>
          </p:cNvPr>
          <p:cNvSpPr>
            <a:spLocks noGrp="1" noChangeArrowheads="1"/>
          </p:cNvSpPr>
          <p:nvPr>
            <p:ph type="title"/>
          </p:nvPr>
        </p:nvSpPr>
        <p:spPr/>
        <p:txBody>
          <a:bodyPr/>
          <a:lstStyle/>
          <a:p>
            <a:pPr eaLnBrk="1" hangingPunct="1"/>
            <a:r>
              <a:rPr lang="zh-CN" altLang="en-US"/>
              <a:t>项目管理的概念</a:t>
            </a:r>
          </a:p>
        </p:txBody>
      </p:sp>
      <p:sp>
        <p:nvSpPr>
          <p:cNvPr id="28675" name="Rectangle 3">
            <a:extLst>
              <a:ext uri="{FF2B5EF4-FFF2-40B4-BE49-F238E27FC236}">
                <a16:creationId xmlns:a16="http://schemas.microsoft.com/office/drawing/2014/main" id="{2B7486A1-989A-6ADE-6DB2-6E9AB7755C97}"/>
              </a:ext>
            </a:extLst>
          </p:cNvPr>
          <p:cNvSpPr>
            <a:spLocks noGrp="1" noChangeArrowheads="1"/>
          </p:cNvSpPr>
          <p:nvPr>
            <p:ph type="body" idx="1"/>
          </p:nvPr>
        </p:nvSpPr>
        <p:spPr>
          <a:xfrm>
            <a:off x="900113" y="1916113"/>
            <a:ext cx="8064500" cy="4941887"/>
          </a:xfrm>
        </p:spPr>
        <p:txBody>
          <a:bodyPr/>
          <a:lstStyle/>
          <a:p>
            <a:pPr eaLnBrk="1" hangingPunct="1">
              <a:lnSpc>
                <a:spcPct val="150000"/>
              </a:lnSpc>
              <a:spcBef>
                <a:spcPct val="60000"/>
              </a:spcBef>
            </a:pPr>
            <a:r>
              <a:rPr lang="zh-CN" altLang="en-US" sz="2000">
                <a:solidFill>
                  <a:srgbClr val="B9490B"/>
                </a:solidFill>
                <a:latin typeface="黑体" panose="02010609060101010101" pitchFamily="49" charset="-122"/>
                <a:ea typeface="黑体" panose="02010609060101010101" pitchFamily="49" charset="-122"/>
              </a:rPr>
              <a:t>软件危机</a:t>
            </a:r>
          </a:p>
          <a:p>
            <a:pPr lvl="1" eaLnBrk="1" hangingPunct="1">
              <a:lnSpc>
                <a:spcPct val="120000"/>
              </a:lnSpc>
            </a:pPr>
            <a:r>
              <a:rPr lang="zh-CN" altLang="en-US" sz="2000">
                <a:latin typeface="宋体" panose="02010600030101010101" pitchFamily="2" charset="-122"/>
              </a:rPr>
              <a:t>就是软件生产能力和业务发展需求不相适应的现象</a:t>
            </a:r>
          </a:p>
          <a:p>
            <a:pPr lvl="1" eaLnBrk="1" hangingPunct="1">
              <a:lnSpc>
                <a:spcPct val="120000"/>
              </a:lnSpc>
            </a:pPr>
            <a:r>
              <a:rPr lang="zh-CN" altLang="en-US" sz="2000">
                <a:latin typeface="宋体" panose="02010600030101010101" pitchFamily="2" charset="-122"/>
              </a:rPr>
              <a:t>就是弱的软件生产能力和强的业务发展需求之间的矛盾</a:t>
            </a:r>
          </a:p>
          <a:p>
            <a:pPr eaLnBrk="1" hangingPunct="1">
              <a:lnSpc>
                <a:spcPct val="130000"/>
              </a:lnSpc>
            </a:pPr>
            <a:r>
              <a:rPr lang="zh-CN" altLang="en-US" sz="2000">
                <a:solidFill>
                  <a:srgbClr val="B9490B"/>
                </a:solidFill>
                <a:latin typeface="黑体" panose="02010609060101010101" pitchFamily="49" charset="-122"/>
                <a:ea typeface="黑体" panose="02010609060101010101" pitchFamily="49" charset="-122"/>
              </a:rPr>
              <a:t>软件危机表现</a:t>
            </a:r>
          </a:p>
          <a:p>
            <a:pPr lvl="1" eaLnBrk="1" hangingPunct="1">
              <a:lnSpc>
                <a:spcPct val="120000"/>
              </a:lnSpc>
            </a:pPr>
            <a:r>
              <a:rPr lang="zh-CN" altLang="en-US" sz="2000">
                <a:latin typeface="宋体" panose="02010600030101010101" pitchFamily="2" charset="-122"/>
              </a:rPr>
              <a:t>开发过程随心所欲</a:t>
            </a:r>
          </a:p>
          <a:p>
            <a:pPr lvl="1" eaLnBrk="1" hangingPunct="1">
              <a:lnSpc>
                <a:spcPct val="120000"/>
              </a:lnSpc>
            </a:pPr>
            <a:r>
              <a:rPr lang="zh-CN" altLang="en-US" sz="2000">
                <a:latin typeface="宋体" panose="02010600030101010101" pitchFamily="2" charset="-122"/>
              </a:rPr>
              <a:t>时间计划和费用估算缺乏现实的基础</a:t>
            </a:r>
          </a:p>
          <a:p>
            <a:pPr lvl="1" eaLnBrk="1" hangingPunct="1">
              <a:lnSpc>
                <a:spcPct val="120000"/>
              </a:lnSpc>
            </a:pPr>
            <a:r>
              <a:rPr lang="zh-CN" altLang="en-US" sz="2000">
                <a:latin typeface="宋体" panose="02010600030101010101" pitchFamily="2" charset="-122"/>
              </a:rPr>
              <a:t>管理者主要在应付突发事件</a:t>
            </a:r>
          </a:p>
          <a:p>
            <a:pPr lvl="1" eaLnBrk="1" hangingPunct="1">
              <a:lnSpc>
                <a:spcPct val="120000"/>
              </a:lnSpc>
            </a:pPr>
            <a:r>
              <a:rPr lang="zh-CN" altLang="en-US" sz="2000">
                <a:latin typeface="宋体" panose="02010600030101010101" pitchFamily="2" charset="-122"/>
              </a:rPr>
              <a:t>对产品质量缺乏客观基础</a:t>
            </a:r>
          </a:p>
          <a:p>
            <a:pPr lvl="1" eaLnBrk="1" hangingPunct="1">
              <a:lnSpc>
                <a:spcPct val="120000"/>
              </a:lnSpc>
            </a:pPr>
            <a:r>
              <a:rPr lang="zh-CN" altLang="en-US" sz="2000">
                <a:latin typeface="宋体" panose="02010600030101010101" pitchFamily="2" charset="-122"/>
              </a:rPr>
              <a:t>软件开发的成败建立在个人能力基础上</a:t>
            </a:r>
          </a:p>
          <a:p>
            <a:pPr eaLnBrk="1" hangingPunct="1">
              <a:lnSpc>
                <a:spcPct val="130000"/>
              </a:lnSpc>
            </a:pPr>
            <a:endParaRPr lang="en-US" altLang="zh-CN" sz="2000">
              <a:latin typeface="宋体" panose="0201060003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AAC6CB5D-445C-D8C6-B394-42BCCBC17706}"/>
              </a:ext>
            </a:extLst>
          </p:cNvPr>
          <p:cNvSpPr>
            <a:spLocks noGrp="1" noChangeArrowheads="1"/>
          </p:cNvSpPr>
          <p:nvPr>
            <p:ph type="title"/>
          </p:nvPr>
        </p:nvSpPr>
        <p:spPr/>
        <p:txBody>
          <a:bodyPr/>
          <a:lstStyle/>
          <a:p>
            <a:pPr eaLnBrk="1" hangingPunct="1"/>
            <a:r>
              <a:rPr lang="zh-CN" altLang="en-US"/>
              <a:t>项目管理的概念</a:t>
            </a:r>
          </a:p>
        </p:txBody>
      </p:sp>
      <p:sp>
        <p:nvSpPr>
          <p:cNvPr id="29699" name="Rectangle 3">
            <a:extLst>
              <a:ext uri="{FF2B5EF4-FFF2-40B4-BE49-F238E27FC236}">
                <a16:creationId xmlns:a16="http://schemas.microsoft.com/office/drawing/2014/main" id="{2E6F75D8-F64A-CF74-4ADD-F4FFFDA677DD}"/>
              </a:ext>
            </a:extLst>
          </p:cNvPr>
          <p:cNvSpPr>
            <a:spLocks noGrp="1" noChangeArrowheads="1"/>
          </p:cNvSpPr>
          <p:nvPr>
            <p:ph type="body" idx="1"/>
          </p:nvPr>
        </p:nvSpPr>
        <p:spPr>
          <a:xfrm>
            <a:off x="755650" y="1773238"/>
            <a:ext cx="8208963" cy="5084762"/>
          </a:xfrm>
        </p:spPr>
        <p:txBody>
          <a:bodyPr/>
          <a:lstStyle/>
          <a:p>
            <a:pPr eaLnBrk="1" hangingPunct="1">
              <a:lnSpc>
                <a:spcPct val="150000"/>
              </a:lnSpc>
            </a:pPr>
            <a:r>
              <a:rPr lang="zh-CN" altLang="en-US" sz="2400">
                <a:solidFill>
                  <a:schemeClr val="accent2"/>
                </a:solidFill>
                <a:ea typeface="黑体" panose="02010609060101010101" pitchFamily="49" charset="-122"/>
              </a:rPr>
              <a:t>成功的项目</a:t>
            </a:r>
          </a:p>
          <a:p>
            <a:pPr lvl="1" eaLnBrk="1" hangingPunct="1"/>
            <a:r>
              <a:rPr lang="zh-CN" altLang="en-US"/>
              <a:t>满足或者超过干系人的期望</a:t>
            </a:r>
            <a:endParaRPr lang="en-US" altLang="zh-CN"/>
          </a:p>
          <a:p>
            <a:pPr lvl="2" eaLnBrk="1" hangingPunct="1"/>
            <a:r>
              <a:rPr lang="zh-CN" altLang="en-US"/>
              <a:t>干系人：</a:t>
            </a:r>
            <a:r>
              <a:rPr lang="zh-CN" altLang="en-US" b="0"/>
              <a:t>在项目管理中指</a:t>
            </a:r>
            <a:r>
              <a:rPr lang="en-US" altLang="zh-CN" b="0"/>
              <a:t>:</a:t>
            </a:r>
            <a:r>
              <a:rPr lang="zh-CN" altLang="en-US" b="0"/>
              <a:t>积极参与项目实施或者在项目完成后其利益可能受积极或消极影响的个人或组织。</a:t>
            </a:r>
            <a:endParaRPr lang="zh-CN" altLang="en-US"/>
          </a:p>
        </p:txBody>
      </p:sp>
      <p:pic>
        <p:nvPicPr>
          <p:cNvPr id="29700" name="Picture 4">
            <a:extLst>
              <a:ext uri="{FF2B5EF4-FFF2-40B4-BE49-F238E27FC236}">
                <a16:creationId xmlns:a16="http://schemas.microsoft.com/office/drawing/2014/main" id="{9F01534F-01B0-9691-E61C-C203843CDE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3644900"/>
            <a:ext cx="3263900" cy="328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3C70E44E-1628-3CD4-AE94-B1DC0ABB5841}"/>
              </a:ext>
            </a:extLst>
          </p:cNvPr>
          <p:cNvSpPr>
            <a:spLocks noGrp="1" noChangeArrowheads="1"/>
          </p:cNvSpPr>
          <p:nvPr>
            <p:ph type="title"/>
          </p:nvPr>
        </p:nvSpPr>
        <p:spPr/>
        <p:txBody>
          <a:bodyPr/>
          <a:lstStyle/>
          <a:p>
            <a:pPr eaLnBrk="1" hangingPunct="1"/>
            <a:r>
              <a:rPr lang="zh-CN" altLang="en-US"/>
              <a:t>项目管理的概念</a:t>
            </a:r>
          </a:p>
        </p:txBody>
      </p:sp>
      <p:sp>
        <p:nvSpPr>
          <p:cNvPr id="30723" name="Rectangle 3">
            <a:extLst>
              <a:ext uri="{FF2B5EF4-FFF2-40B4-BE49-F238E27FC236}">
                <a16:creationId xmlns:a16="http://schemas.microsoft.com/office/drawing/2014/main" id="{5C28397A-69F3-F64F-219C-50BB086BDF08}"/>
              </a:ext>
            </a:extLst>
          </p:cNvPr>
          <p:cNvSpPr>
            <a:spLocks noGrp="1" noChangeArrowheads="1"/>
          </p:cNvSpPr>
          <p:nvPr>
            <p:ph type="body" idx="1"/>
          </p:nvPr>
        </p:nvSpPr>
        <p:spPr>
          <a:xfrm>
            <a:off x="755650" y="1773238"/>
            <a:ext cx="8208963" cy="5084762"/>
          </a:xfrm>
        </p:spPr>
        <p:txBody>
          <a:bodyPr/>
          <a:lstStyle/>
          <a:p>
            <a:pPr eaLnBrk="1" hangingPunct="1">
              <a:lnSpc>
                <a:spcPct val="150000"/>
              </a:lnSpc>
            </a:pPr>
            <a:r>
              <a:rPr lang="zh-CN" altLang="en-US" sz="2400" dirty="0">
                <a:solidFill>
                  <a:schemeClr val="accent2"/>
                </a:solidFill>
                <a:ea typeface="黑体" panose="02010609060101010101" pitchFamily="49" charset="-122"/>
              </a:rPr>
              <a:t>项目管理的基本内容</a:t>
            </a:r>
          </a:p>
          <a:p>
            <a:pPr lvl="1" eaLnBrk="1" hangingPunct="1"/>
            <a:r>
              <a:rPr lang="en-US" altLang="zh-CN" sz="2000" dirty="0"/>
              <a:t>1.</a:t>
            </a:r>
            <a:r>
              <a:rPr lang="zh-CN" altLang="en-US" sz="2000" dirty="0"/>
              <a:t>从</a:t>
            </a:r>
            <a:r>
              <a:rPr lang="zh-CN" altLang="en-US" sz="2000" dirty="0">
                <a:solidFill>
                  <a:srgbClr val="FF0000"/>
                </a:solidFill>
              </a:rPr>
              <a:t>管理职能</a:t>
            </a:r>
            <a:r>
              <a:rPr lang="zh-CN" altLang="en-US" sz="2000" dirty="0"/>
              <a:t>角度划分，项目管理包括项目计划、组织、人事安排、控制、协调等方面的内容：</a:t>
            </a:r>
            <a:endParaRPr lang="en-US" altLang="zh-CN" sz="2000" dirty="0"/>
          </a:p>
          <a:p>
            <a:pPr lvl="1" eaLnBrk="1" hangingPunct="1"/>
            <a:r>
              <a:rPr lang="en-US" altLang="zh-CN" sz="2000" dirty="0"/>
              <a:t>2.</a:t>
            </a:r>
            <a:r>
              <a:rPr lang="zh-CN" altLang="en-US" sz="2000" dirty="0"/>
              <a:t>从</a:t>
            </a:r>
            <a:r>
              <a:rPr lang="zh-CN" altLang="en-US" sz="2000" dirty="0">
                <a:solidFill>
                  <a:srgbClr val="FF0000"/>
                </a:solidFill>
              </a:rPr>
              <a:t>项目活动的全过程</a:t>
            </a:r>
            <a:r>
              <a:rPr lang="zh-CN" altLang="en-US" sz="2000" dirty="0"/>
              <a:t>划分，项目管理包括项目决策、项目规划与设计、项目的招投标、项目实施、项目终结、后续评价等方面的内容。</a:t>
            </a:r>
            <a:endParaRPr lang="en-US" altLang="zh-CN" sz="2000" dirty="0"/>
          </a:p>
          <a:p>
            <a:pPr lvl="1" eaLnBrk="1" hangingPunct="1"/>
            <a:r>
              <a:rPr lang="en-US" altLang="zh-CN" sz="2000" dirty="0"/>
              <a:t>3.</a:t>
            </a:r>
            <a:r>
              <a:rPr lang="zh-CN" altLang="en-US" sz="2000" dirty="0"/>
              <a:t>从</a:t>
            </a:r>
            <a:r>
              <a:rPr lang="zh-CN" altLang="en-US" sz="2000" dirty="0">
                <a:solidFill>
                  <a:srgbClr val="FF0000"/>
                </a:solidFill>
              </a:rPr>
              <a:t>项目投入资源要素</a:t>
            </a:r>
            <a:r>
              <a:rPr lang="zh-CN" altLang="en-US" sz="2000" dirty="0"/>
              <a:t>角度划分，项目管理包括项目资金财务管理、项目人事劳动管理、项目材料设备管理、项目技术管理、项目信息管理、项目质量管理等方面的内容。</a:t>
            </a:r>
            <a:endParaRPr lang="en-US" altLang="zh-CN" sz="2000" dirty="0"/>
          </a:p>
          <a:p>
            <a:pPr lvl="1" eaLnBrk="1" hangingPunct="1"/>
            <a:r>
              <a:rPr lang="zh-CN" altLang="en-US" sz="2000" dirty="0"/>
              <a:t>虽然可以从不同的角度对项目管理活动进行划分，但管理的内容实质上是相同的。</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622C7593-94CB-7209-680C-3567B784F559}"/>
              </a:ext>
            </a:extLst>
          </p:cNvPr>
          <p:cNvSpPr>
            <a:spLocks noGrp="1" noChangeArrowheads="1"/>
          </p:cNvSpPr>
          <p:nvPr>
            <p:ph type="title"/>
          </p:nvPr>
        </p:nvSpPr>
        <p:spPr/>
        <p:txBody>
          <a:bodyPr/>
          <a:lstStyle/>
          <a:p>
            <a:pPr eaLnBrk="1" hangingPunct="1"/>
            <a:r>
              <a:rPr lang="zh-CN" altLang="en-US"/>
              <a:t>项目管理的概念</a:t>
            </a:r>
          </a:p>
        </p:txBody>
      </p:sp>
      <p:sp>
        <p:nvSpPr>
          <p:cNvPr id="31747" name="Rectangle 3">
            <a:extLst>
              <a:ext uri="{FF2B5EF4-FFF2-40B4-BE49-F238E27FC236}">
                <a16:creationId xmlns:a16="http://schemas.microsoft.com/office/drawing/2014/main" id="{E7AC52E9-BA70-1D9B-2882-7F87AAA4CCE8}"/>
              </a:ext>
            </a:extLst>
          </p:cNvPr>
          <p:cNvSpPr>
            <a:spLocks noGrp="1" noChangeArrowheads="1"/>
          </p:cNvSpPr>
          <p:nvPr>
            <p:ph type="body" idx="1"/>
          </p:nvPr>
        </p:nvSpPr>
        <p:spPr>
          <a:xfrm>
            <a:off x="323850" y="1773238"/>
            <a:ext cx="8640763" cy="5084762"/>
          </a:xfrm>
        </p:spPr>
        <p:txBody>
          <a:bodyPr/>
          <a:lstStyle/>
          <a:p>
            <a:pPr eaLnBrk="1" hangingPunct="1">
              <a:lnSpc>
                <a:spcPct val="150000"/>
              </a:lnSpc>
            </a:pPr>
            <a:r>
              <a:rPr lang="zh-CN" altLang="en-US" sz="2400">
                <a:ea typeface="黑体" panose="02010609060101010101" pitchFamily="49" charset="-122"/>
              </a:rPr>
              <a:t>项目管理的基本内容</a:t>
            </a:r>
          </a:p>
          <a:p>
            <a:pPr lvl="1" eaLnBrk="1" hangingPunct="1"/>
            <a:r>
              <a:rPr lang="en-US" altLang="zh-CN" sz="2000">
                <a:solidFill>
                  <a:schemeClr val="accent2"/>
                </a:solidFill>
                <a:latin typeface="Times New Roman" panose="02020603050405020304" pitchFamily="18" charset="0"/>
                <a:ea typeface="黑体" panose="02010609060101010101" pitchFamily="49" charset="-122"/>
              </a:rPr>
              <a:t>PMBOK:A guide to the Project management Body Of  Knowledge</a:t>
            </a:r>
            <a:r>
              <a:rPr lang="en-US" altLang="zh-CN">
                <a:solidFill>
                  <a:schemeClr val="accent2"/>
                </a:solidFill>
              </a:rPr>
              <a:t> </a:t>
            </a:r>
          </a:p>
        </p:txBody>
      </p:sp>
      <p:pic>
        <p:nvPicPr>
          <p:cNvPr id="31748" name="Picture 4">
            <a:extLst>
              <a:ext uri="{FF2B5EF4-FFF2-40B4-BE49-F238E27FC236}">
                <a16:creationId xmlns:a16="http://schemas.microsoft.com/office/drawing/2014/main" id="{63A273E2-D2FF-B7A5-7779-18AA822778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2852738"/>
            <a:ext cx="8027988" cy="383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92849669-BA35-05F4-F19A-9955B3A247D0}"/>
              </a:ext>
            </a:extLst>
          </p:cNvPr>
          <p:cNvSpPr>
            <a:spLocks noGrp="1" noChangeArrowheads="1"/>
          </p:cNvSpPr>
          <p:nvPr>
            <p:ph type="title"/>
          </p:nvPr>
        </p:nvSpPr>
        <p:spPr/>
        <p:txBody>
          <a:bodyPr/>
          <a:lstStyle/>
          <a:p>
            <a:pPr eaLnBrk="1" hangingPunct="1"/>
            <a:r>
              <a:rPr lang="zh-CN" altLang="en-US"/>
              <a:t>项目管理的概念</a:t>
            </a:r>
          </a:p>
        </p:txBody>
      </p:sp>
      <p:sp>
        <p:nvSpPr>
          <p:cNvPr id="32771" name="Rectangle 3">
            <a:extLst>
              <a:ext uri="{FF2B5EF4-FFF2-40B4-BE49-F238E27FC236}">
                <a16:creationId xmlns:a16="http://schemas.microsoft.com/office/drawing/2014/main" id="{81F56235-C8E7-59B9-352E-11CA465066A1}"/>
              </a:ext>
            </a:extLst>
          </p:cNvPr>
          <p:cNvSpPr>
            <a:spLocks noGrp="1" noChangeArrowheads="1"/>
          </p:cNvSpPr>
          <p:nvPr>
            <p:ph type="body" idx="1"/>
          </p:nvPr>
        </p:nvSpPr>
        <p:spPr>
          <a:xfrm>
            <a:off x="611188" y="1773238"/>
            <a:ext cx="8353425" cy="5084762"/>
          </a:xfrm>
        </p:spPr>
        <p:txBody>
          <a:bodyPr/>
          <a:lstStyle/>
          <a:p>
            <a:pPr eaLnBrk="1" hangingPunct="1">
              <a:lnSpc>
                <a:spcPct val="150000"/>
              </a:lnSpc>
            </a:pPr>
            <a:r>
              <a:rPr lang="en-US" altLang="zh-CN" sz="2400"/>
              <a:t>PMBOK </a:t>
            </a:r>
            <a:r>
              <a:rPr lang="en-US" altLang="zh-CN" sz="2400">
                <a:latin typeface="黑体" panose="02010609060101010101" pitchFamily="49" charset="-122"/>
                <a:ea typeface="黑体" panose="02010609060101010101" pitchFamily="49" charset="-122"/>
              </a:rPr>
              <a:t>9</a:t>
            </a:r>
            <a:r>
              <a:rPr lang="zh-CN" altLang="en-US" sz="2400">
                <a:latin typeface="黑体" panose="02010609060101010101" pitchFamily="49" charset="-122"/>
                <a:ea typeface="黑体" panose="02010609060101010101" pitchFamily="49" charset="-122"/>
              </a:rPr>
              <a:t>个知识领域的关系</a:t>
            </a:r>
          </a:p>
        </p:txBody>
      </p:sp>
      <p:pic>
        <p:nvPicPr>
          <p:cNvPr id="32772" name="Picture 4" descr="pmcore1">
            <a:extLst>
              <a:ext uri="{FF2B5EF4-FFF2-40B4-BE49-F238E27FC236}">
                <a16:creationId xmlns:a16="http://schemas.microsoft.com/office/drawing/2014/main" id="{D49014F5-D2A4-FDF7-587A-46DC6985D21B}"/>
              </a:ext>
            </a:extLst>
          </p:cNvPr>
          <p:cNvPicPr>
            <a:picLocks noChangeAspect="1" noChangeArrowheads="1"/>
          </p:cNvPicPr>
          <p:nvPr/>
        </p:nvPicPr>
        <p:blipFill>
          <a:blip r:embed="rId2">
            <a:lum contrast="48000"/>
            <a:grayscl/>
            <a:biLevel thresh="50000"/>
            <a:extLst>
              <a:ext uri="{28A0092B-C50C-407E-A947-70E740481C1C}">
                <a14:useLocalDpi xmlns:a14="http://schemas.microsoft.com/office/drawing/2010/main" val="0"/>
              </a:ext>
            </a:extLst>
          </a:blip>
          <a:srcRect/>
          <a:stretch>
            <a:fillRect/>
          </a:stretch>
        </p:blipFill>
        <p:spPr bwMode="auto">
          <a:xfrm>
            <a:off x="971550" y="2492375"/>
            <a:ext cx="7151688" cy="417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0A51603C-E0DA-2ECA-DBC5-64E20AF40F7A}"/>
              </a:ext>
            </a:extLst>
          </p:cNvPr>
          <p:cNvSpPr>
            <a:spLocks noGrp="1" noChangeArrowheads="1"/>
          </p:cNvSpPr>
          <p:nvPr>
            <p:ph type="title"/>
          </p:nvPr>
        </p:nvSpPr>
        <p:spPr/>
        <p:txBody>
          <a:bodyPr/>
          <a:lstStyle/>
          <a:p>
            <a:pPr eaLnBrk="1" hangingPunct="1"/>
            <a:r>
              <a:rPr lang="zh-CN" altLang="en-US"/>
              <a:t>项目管理的概念</a:t>
            </a:r>
          </a:p>
        </p:txBody>
      </p:sp>
      <p:sp>
        <p:nvSpPr>
          <p:cNvPr id="33795" name="Rectangle 3">
            <a:extLst>
              <a:ext uri="{FF2B5EF4-FFF2-40B4-BE49-F238E27FC236}">
                <a16:creationId xmlns:a16="http://schemas.microsoft.com/office/drawing/2014/main" id="{83331189-2BDE-C1D8-8E14-DB6237368588}"/>
              </a:ext>
            </a:extLst>
          </p:cNvPr>
          <p:cNvSpPr>
            <a:spLocks noGrp="1" noChangeArrowheads="1"/>
          </p:cNvSpPr>
          <p:nvPr>
            <p:ph type="body" idx="1"/>
          </p:nvPr>
        </p:nvSpPr>
        <p:spPr>
          <a:xfrm>
            <a:off x="611188" y="1773238"/>
            <a:ext cx="8353425" cy="5084762"/>
          </a:xfrm>
        </p:spPr>
        <p:txBody>
          <a:bodyPr/>
          <a:lstStyle/>
          <a:p>
            <a:pPr eaLnBrk="1" hangingPunct="1">
              <a:lnSpc>
                <a:spcPct val="150000"/>
              </a:lnSpc>
            </a:pPr>
            <a:r>
              <a:rPr lang="en-US" altLang="zh-CN" sz="2400"/>
              <a:t>PMBOK 9 </a:t>
            </a:r>
            <a:r>
              <a:rPr lang="zh-CN" altLang="en-US" sz="2400">
                <a:ea typeface="黑体" panose="02010609060101010101" pitchFamily="49" charset="-122"/>
              </a:rPr>
              <a:t>大过程领域</a:t>
            </a:r>
          </a:p>
        </p:txBody>
      </p:sp>
      <p:pic>
        <p:nvPicPr>
          <p:cNvPr id="33796" name="Picture 4">
            <a:extLst>
              <a:ext uri="{FF2B5EF4-FFF2-40B4-BE49-F238E27FC236}">
                <a16:creationId xmlns:a16="http://schemas.microsoft.com/office/drawing/2014/main" id="{90C65462-F339-1DA0-91E9-CBEBA3D108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2492375"/>
            <a:ext cx="6840537" cy="424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D5F39371-3F07-24D8-976F-8887A5D999F4}"/>
              </a:ext>
            </a:extLst>
          </p:cNvPr>
          <p:cNvSpPr>
            <a:spLocks noGrp="1" noChangeArrowheads="1"/>
          </p:cNvSpPr>
          <p:nvPr>
            <p:ph type="title"/>
          </p:nvPr>
        </p:nvSpPr>
        <p:spPr/>
        <p:txBody>
          <a:bodyPr/>
          <a:lstStyle/>
          <a:p>
            <a:pPr eaLnBrk="1" hangingPunct="1"/>
            <a:r>
              <a:rPr lang="zh-CN" altLang="en-US"/>
              <a:t>项目管理的概念</a:t>
            </a:r>
          </a:p>
        </p:txBody>
      </p:sp>
      <p:sp>
        <p:nvSpPr>
          <p:cNvPr id="34819" name="Rectangle 3">
            <a:extLst>
              <a:ext uri="{FF2B5EF4-FFF2-40B4-BE49-F238E27FC236}">
                <a16:creationId xmlns:a16="http://schemas.microsoft.com/office/drawing/2014/main" id="{CEC3204A-31D1-391F-8BA8-7AA519385304}"/>
              </a:ext>
            </a:extLst>
          </p:cNvPr>
          <p:cNvSpPr>
            <a:spLocks noGrp="1" noChangeArrowheads="1"/>
          </p:cNvSpPr>
          <p:nvPr>
            <p:ph type="body" idx="1"/>
          </p:nvPr>
        </p:nvSpPr>
        <p:spPr>
          <a:xfrm>
            <a:off x="539750" y="1773238"/>
            <a:ext cx="8424863" cy="5084762"/>
          </a:xfrm>
        </p:spPr>
        <p:txBody>
          <a:bodyPr/>
          <a:lstStyle/>
          <a:p>
            <a:pPr eaLnBrk="1" hangingPunct="1">
              <a:lnSpc>
                <a:spcPct val="170000"/>
              </a:lnSpc>
            </a:pPr>
            <a:r>
              <a:rPr lang="en-US" altLang="zh-CN" sz="2400"/>
              <a:t>PMBOK 5 </a:t>
            </a:r>
            <a:r>
              <a:rPr lang="zh-CN" altLang="en-US" sz="2400">
                <a:ea typeface="黑体" panose="02010609060101010101" pitchFamily="49" charset="-122"/>
              </a:rPr>
              <a:t>大过程组</a:t>
            </a:r>
          </a:p>
        </p:txBody>
      </p:sp>
      <p:pic>
        <p:nvPicPr>
          <p:cNvPr id="34820" name="Picture 4">
            <a:extLst>
              <a:ext uri="{FF2B5EF4-FFF2-40B4-BE49-F238E27FC236}">
                <a16:creationId xmlns:a16="http://schemas.microsoft.com/office/drawing/2014/main" id="{A40ACBA0-F929-B88C-E46C-203F620847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2708275"/>
            <a:ext cx="6481763" cy="3897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DAC8701D-FD6E-FBDE-AF7E-EACC027B0C34}"/>
              </a:ext>
            </a:extLst>
          </p:cNvPr>
          <p:cNvSpPr>
            <a:spLocks noGrp="1" noChangeArrowheads="1"/>
          </p:cNvSpPr>
          <p:nvPr>
            <p:ph type="title"/>
          </p:nvPr>
        </p:nvSpPr>
        <p:spPr/>
        <p:txBody>
          <a:bodyPr/>
          <a:lstStyle/>
          <a:p>
            <a:pPr eaLnBrk="1" hangingPunct="1"/>
            <a:r>
              <a:rPr lang="zh-CN" altLang="en-US"/>
              <a:t>项目管理的概念</a:t>
            </a:r>
          </a:p>
        </p:txBody>
      </p:sp>
      <p:sp>
        <p:nvSpPr>
          <p:cNvPr id="35843" name="Rectangle 3">
            <a:extLst>
              <a:ext uri="{FF2B5EF4-FFF2-40B4-BE49-F238E27FC236}">
                <a16:creationId xmlns:a16="http://schemas.microsoft.com/office/drawing/2014/main" id="{CBF8F2EE-1D7B-F83C-DC5B-824DD2991012}"/>
              </a:ext>
            </a:extLst>
          </p:cNvPr>
          <p:cNvSpPr>
            <a:spLocks noGrp="1" noChangeArrowheads="1"/>
          </p:cNvSpPr>
          <p:nvPr>
            <p:ph type="body" idx="1"/>
          </p:nvPr>
        </p:nvSpPr>
        <p:spPr>
          <a:xfrm>
            <a:off x="755650" y="1773238"/>
            <a:ext cx="8208963" cy="5084762"/>
          </a:xfrm>
        </p:spPr>
        <p:txBody>
          <a:bodyPr/>
          <a:lstStyle/>
          <a:p>
            <a:pPr eaLnBrk="1" hangingPunct="1">
              <a:lnSpc>
                <a:spcPct val="150000"/>
              </a:lnSpc>
            </a:pPr>
            <a:r>
              <a:rPr lang="zh-CN" altLang="en-US" sz="2400" dirty="0">
                <a:solidFill>
                  <a:schemeClr val="accent2"/>
                </a:solidFill>
                <a:ea typeface="黑体" panose="02010609060101010101" pitchFamily="49" charset="-122"/>
              </a:rPr>
              <a:t>项目管理与软件项目管理的特点</a:t>
            </a:r>
          </a:p>
          <a:p>
            <a:pPr lvl="1" eaLnBrk="1" hangingPunct="1"/>
            <a:r>
              <a:rPr lang="en-US" altLang="zh-CN" dirty="0"/>
              <a:t>1.</a:t>
            </a:r>
            <a:r>
              <a:rPr lang="zh-CN" altLang="en-US" dirty="0"/>
              <a:t>项目管理的特点：</a:t>
            </a:r>
            <a:endParaRPr lang="en-US" altLang="zh-CN" dirty="0"/>
          </a:p>
          <a:p>
            <a:pPr lvl="2" eaLnBrk="1" hangingPunct="1"/>
            <a:r>
              <a:rPr lang="zh-CN" altLang="en-US" dirty="0"/>
              <a:t>（</a:t>
            </a:r>
            <a:r>
              <a:rPr lang="en-US" altLang="zh-CN" dirty="0"/>
              <a:t>1</a:t>
            </a:r>
            <a:r>
              <a:rPr lang="zh-CN" altLang="en-US" dirty="0"/>
              <a:t>）项目管理的</a:t>
            </a:r>
            <a:r>
              <a:rPr lang="zh-CN" altLang="en-US" dirty="0">
                <a:solidFill>
                  <a:srgbClr val="FF0000"/>
                </a:solidFill>
              </a:rPr>
              <a:t>对象</a:t>
            </a:r>
            <a:r>
              <a:rPr lang="zh-CN" altLang="en-US" dirty="0"/>
              <a:t>是项目或以项目方式运作的企业</a:t>
            </a:r>
            <a:endParaRPr lang="en-US" altLang="zh-CN" dirty="0"/>
          </a:p>
          <a:p>
            <a:pPr lvl="2" eaLnBrk="1" hangingPunct="1"/>
            <a:r>
              <a:rPr lang="zh-CN" altLang="en-US" dirty="0"/>
              <a:t>（</a:t>
            </a:r>
            <a:r>
              <a:rPr lang="en-US" altLang="zh-CN" dirty="0"/>
              <a:t>2</a:t>
            </a:r>
            <a:r>
              <a:rPr lang="zh-CN" altLang="en-US" dirty="0"/>
              <a:t>）项目管理的全过程融入系统工程的</a:t>
            </a:r>
            <a:r>
              <a:rPr lang="zh-CN" altLang="en-US" dirty="0">
                <a:solidFill>
                  <a:srgbClr val="FF0000"/>
                </a:solidFill>
              </a:rPr>
              <a:t>思想</a:t>
            </a:r>
            <a:endParaRPr lang="en-US" altLang="zh-CN" dirty="0">
              <a:solidFill>
                <a:srgbClr val="FF0000"/>
              </a:solidFill>
            </a:endParaRPr>
          </a:p>
          <a:p>
            <a:pPr lvl="2" eaLnBrk="1" hangingPunct="1"/>
            <a:r>
              <a:rPr lang="zh-CN" altLang="en-US" dirty="0"/>
              <a:t>（</a:t>
            </a:r>
            <a:r>
              <a:rPr lang="en-US" altLang="zh-CN" dirty="0"/>
              <a:t>3</a:t>
            </a:r>
            <a:r>
              <a:rPr lang="zh-CN" altLang="en-US" dirty="0"/>
              <a:t>）项目管理组织的特殊性</a:t>
            </a:r>
            <a:endParaRPr lang="en-US" altLang="zh-CN" dirty="0"/>
          </a:p>
          <a:p>
            <a:pPr lvl="2" eaLnBrk="1" hangingPunct="1"/>
            <a:r>
              <a:rPr lang="zh-CN" altLang="en-US" dirty="0"/>
              <a:t>（</a:t>
            </a:r>
            <a:r>
              <a:rPr lang="en-US" altLang="zh-CN" dirty="0"/>
              <a:t>4</a:t>
            </a:r>
            <a:r>
              <a:rPr lang="zh-CN" altLang="en-US" dirty="0"/>
              <a:t>）项目管理的体制是基于</a:t>
            </a:r>
            <a:r>
              <a:rPr lang="zh-CN" altLang="en-US" dirty="0">
                <a:solidFill>
                  <a:srgbClr val="FF0000"/>
                </a:solidFill>
              </a:rPr>
              <a:t>团队管理</a:t>
            </a:r>
            <a:r>
              <a:rPr lang="zh-CN" altLang="en-US" dirty="0"/>
              <a:t>的</a:t>
            </a:r>
            <a:r>
              <a:rPr lang="zh-CN" altLang="en-US" dirty="0">
                <a:solidFill>
                  <a:srgbClr val="FF0000"/>
                </a:solidFill>
              </a:rPr>
              <a:t>个人负责制</a:t>
            </a:r>
            <a:r>
              <a:rPr lang="zh-CN" altLang="en-US" dirty="0"/>
              <a:t>，</a:t>
            </a:r>
            <a:r>
              <a:rPr lang="zh-CN" altLang="en-US" dirty="0">
                <a:solidFill>
                  <a:srgbClr val="FF0000"/>
                </a:solidFill>
              </a:rPr>
              <a:t>项目经理</a:t>
            </a:r>
            <a:r>
              <a:rPr lang="zh-CN" altLang="en-US" dirty="0"/>
              <a:t>是对项目负责的最高责任人。</a:t>
            </a:r>
            <a:endParaRPr lang="en-US" altLang="zh-CN" dirty="0"/>
          </a:p>
          <a:p>
            <a:pPr lvl="2" eaLnBrk="1" hangingPunct="1"/>
            <a:r>
              <a:rPr lang="zh-CN" altLang="en-US" dirty="0"/>
              <a:t>（</a:t>
            </a:r>
            <a:r>
              <a:rPr lang="en-US" altLang="zh-CN" dirty="0"/>
              <a:t>5</a:t>
            </a:r>
            <a:r>
              <a:rPr lang="zh-CN" altLang="en-US" dirty="0"/>
              <a:t>）项目管理的方式是</a:t>
            </a:r>
            <a:r>
              <a:rPr lang="zh-CN" altLang="en-US" dirty="0">
                <a:solidFill>
                  <a:srgbClr val="FF0000"/>
                </a:solidFill>
              </a:rPr>
              <a:t>目标管理</a:t>
            </a:r>
            <a:r>
              <a:rPr lang="zh-CN" altLang="en-US" dirty="0"/>
              <a:t>，在项目组内部，各方面的专家在不同层次、领域内，在项目经理的授权下，负责各方面工作，并向项目经理汇报</a:t>
            </a:r>
            <a:endParaRPr lang="en-US" altLang="zh-CN" dirty="0"/>
          </a:p>
          <a:p>
            <a:pPr lvl="2" eaLnBrk="1" hangingPunct="1"/>
            <a:r>
              <a:rPr lang="zh-CN" altLang="en-US" dirty="0"/>
              <a:t>（</a:t>
            </a:r>
            <a:r>
              <a:rPr lang="en-US" altLang="zh-CN" dirty="0"/>
              <a:t>6</a:t>
            </a:r>
            <a:r>
              <a:rPr lang="zh-CN" altLang="en-US" dirty="0"/>
              <a:t>）项目经理不但要提供项目</a:t>
            </a:r>
            <a:r>
              <a:rPr lang="zh-CN" altLang="en-US" dirty="0">
                <a:solidFill>
                  <a:srgbClr val="FF0000"/>
                </a:solidFill>
              </a:rPr>
              <a:t>正常运作所需的物质、人力、资金支持</a:t>
            </a:r>
            <a:r>
              <a:rPr lang="zh-CN" altLang="en-US" dirty="0"/>
              <a:t>，而且还要创造出项目团队齐心协力客服苦难、协作一致的</a:t>
            </a:r>
            <a:r>
              <a:rPr lang="zh-CN" altLang="en-US" dirty="0">
                <a:solidFill>
                  <a:srgbClr val="FF0000"/>
                </a:solidFill>
              </a:rPr>
              <a:t>团队氛围</a:t>
            </a:r>
            <a:r>
              <a:rPr lang="zh-CN" altLang="en-US" dirty="0"/>
              <a:t>。</a:t>
            </a:r>
            <a:endParaRPr lang="en-US" altLang="zh-CN"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0021381-7AD5-7BEC-48DB-5F62CD5CA36D}"/>
              </a:ext>
            </a:extLst>
          </p:cNvPr>
          <p:cNvSpPr>
            <a:spLocks noGrp="1" noChangeArrowheads="1"/>
          </p:cNvSpPr>
          <p:nvPr>
            <p:ph type="title"/>
          </p:nvPr>
        </p:nvSpPr>
        <p:spPr/>
        <p:txBody>
          <a:bodyPr/>
          <a:lstStyle/>
          <a:p>
            <a:pPr eaLnBrk="1" hangingPunct="1"/>
            <a:r>
              <a:rPr lang="zh-CN" altLang="en-US"/>
              <a:t>项目管理的概念</a:t>
            </a:r>
          </a:p>
        </p:txBody>
      </p:sp>
      <p:sp>
        <p:nvSpPr>
          <p:cNvPr id="36867" name="Rectangle 3">
            <a:extLst>
              <a:ext uri="{FF2B5EF4-FFF2-40B4-BE49-F238E27FC236}">
                <a16:creationId xmlns:a16="http://schemas.microsoft.com/office/drawing/2014/main" id="{64044A01-34D0-AFF9-54B6-1436C2458CF2}"/>
              </a:ext>
            </a:extLst>
          </p:cNvPr>
          <p:cNvSpPr>
            <a:spLocks noGrp="1" noChangeArrowheads="1"/>
          </p:cNvSpPr>
          <p:nvPr>
            <p:ph type="body" idx="1"/>
          </p:nvPr>
        </p:nvSpPr>
        <p:spPr>
          <a:xfrm>
            <a:off x="755650" y="1773238"/>
            <a:ext cx="8208963" cy="5084762"/>
          </a:xfrm>
        </p:spPr>
        <p:txBody>
          <a:bodyPr/>
          <a:lstStyle/>
          <a:p>
            <a:pPr eaLnBrk="1" hangingPunct="1">
              <a:lnSpc>
                <a:spcPct val="150000"/>
              </a:lnSpc>
            </a:pPr>
            <a:r>
              <a:rPr lang="zh-CN" altLang="en-US" sz="2400">
                <a:solidFill>
                  <a:schemeClr val="accent2"/>
                </a:solidFill>
                <a:ea typeface="黑体" panose="02010609060101010101" pitchFamily="49" charset="-122"/>
              </a:rPr>
              <a:t>项目管理与软件项目管理的特点</a:t>
            </a:r>
          </a:p>
          <a:p>
            <a:pPr lvl="1" eaLnBrk="1" hangingPunct="1"/>
            <a:r>
              <a:rPr lang="en-US" altLang="zh-CN"/>
              <a:t>2.</a:t>
            </a:r>
            <a:r>
              <a:rPr lang="zh-CN" altLang="en-US"/>
              <a:t>项目管理与一般作业管理的区别：</a:t>
            </a:r>
            <a:endParaRPr lang="en-US" altLang="zh-CN"/>
          </a:p>
          <a:p>
            <a:pPr lvl="2" eaLnBrk="1" hangingPunct="1"/>
            <a:r>
              <a:rPr lang="zh-CN" altLang="en-US"/>
              <a:t>（</a:t>
            </a:r>
            <a:r>
              <a:rPr lang="en-US" altLang="zh-CN"/>
              <a:t>1</a:t>
            </a:r>
            <a:r>
              <a:rPr lang="zh-CN" altLang="en-US"/>
              <a:t>）充满了不确定因素</a:t>
            </a:r>
            <a:endParaRPr lang="en-US" altLang="zh-CN"/>
          </a:p>
          <a:p>
            <a:pPr lvl="2" eaLnBrk="1" hangingPunct="1"/>
            <a:r>
              <a:rPr lang="zh-CN" altLang="en-US"/>
              <a:t>（</a:t>
            </a:r>
            <a:r>
              <a:rPr lang="en-US" altLang="zh-CN"/>
              <a:t>2</a:t>
            </a:r>
            <a:r>
              <a:rPr lang="zh-CN" altLang="en-US"/>
              <a:t>）跨越部门的界限</a:t>
            </a:r>
            <a:endParaRPr lang="en-US" altLang="zh-CN"/>
          </a:p>
          <a:p>
            <a:pPr lvl="2" eaLnBrk="1" hangingPunct="1"/>
            <a:r>
              <a:rPr lang="zh-CN" altLang="en-US"/>
              <a:t>（</a:t>
            </a:r>
            <a:r>
              <a:rPr lang="en-US" altLang="zh-CN"/>
              <a:t>3</a:t>
            </a:r>
            <a:r>
              <a:rPr lang="zh-CN" altLang="en-US"/>
              <a:t>）有严格时间期限要求</a:t>
            </a:r>
            <a:endParaRPr lang="en-US" altLang="zh-CN"/>
          </a:p>
          <a:p>
            <a:pPr lvl="1" eaLnBrk="1" hangingPunct="1"/>
            <a:r>
              <a:rPr lang="en-US" altLang="zh-CN"/>
              <a:t>3.</a:t>
            </a:r>
            <a:r>
              <a:rPr lang="zh-CN" altLang="en-US"/>
              <a:t>软件项目管理的特征：</a:t>
            </a:r>
            <a:endParaRPr lang="en-US" altLang="zh-CN"/>
          </a:p>
          <a:p>
            <a:pPr lvl="2" eaLnBrk="1" hangingPunct="1"/>
            <a:r>
              <a:rPr lang="zh-CN" altLang="en-US"/>
              <a:t>软件过程更多的是</a:t>
            </a:r>
            <a:r>
              <a:rPr lang="zh-CN" altLang="en-US">
                <a:solidFill>
                  <a:srgbClr val="FF0000"/>
                </a:solidFill>
              </a:rPr>
              <a:t>设计过程</a:t>
            </a:r>
            <a:r>
              <a:rPr lang="zh-CN" altLang="en-US"/>
              <a:t>，而看不到加工制造过程；软件开发不需要使用大量的物质资源，而主要是使用</a:t>
            </a:r>
            <a:r>
              <a:rPr lang="zh-CN" altLang="en-US">
                <a:solidFill>
                  <a:srgbClr val="FF0000"/>
                </a:solidFill>
              </a:rPr>
              <a:t>人力资源</a:t>
            </a:r>
            <a:r>
              <a:rPr lang="zh-CN" altLang="en-US"/>
              <a:t>；软件开发的产品只是</a:t>
            </a:r>
            <a:r>
              <a:rPr lang="zh-CN" altLang="en-US">
                <a:solidFill>
                  <a:srgbClr val="FF0000"/>
                </a:solidFill>
              </a:rPr>
              <a:t>程序代码和技术文件</a:t>
            </a:r>
            <a:r>
              <a:rPr lang="zh-CN" altLang="en-US"/>
              <a:t>，并没有其他的物质结果。基于上述特点，软件项目管理与其他项目管理相比，有很大的</a:t>
            </a:r>
            <a:r>
              <a:rPr lang="zh-CN" altLang="en-US">
                <a:solidFill>
                  <a:srgbClr val="FF0000"/>
                </a:solidFill>
              </a:rPr>
              <a:t>独特性</a:t>
            </a:r>
            <a:r>
              <a:rPr lang="zh-CN" altLang="en-US"/>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8F87FF26-7176-07A8-2656-17C33D2CAB1E}"/>
              </a:ext>
            </a:extLst>
          </p:cNvPr>
          <p:cNvSpPr>
            <a:spLocks noGrp="1" noChangeArrowheads="1"/>
          </p:cNvSpPr>
          <p:nvPr>
            <p:ph type="title"/>
          </p:nvPr>
        </p:nvSpPr>
        <p:spPr/>
        <p:txBody>
          <a:bodyPr/>
          <a:lstStyle/>
          <a:p>
            <a:pPr eaLnBrk="1" hangingPunct="1"/>
            <a:r>
              <a:rPr lang="zh-CN" altLang="en-US"/>
              <a:t>本章内容提要</a:t>
            </a:r>
          </a:p>
        </p:txBody>
      </p:sp>
      <p:grpSp>
        <p:nvGrpSpPr>
          <p:cNvPr id="37891" name="Group 3">
            <a:extLst>
              <a:ext uri="{FF2B5EF4-FFF2-40B4-BE49-F238E27FC236}">
                <a16:creationId xmlns:a16="http://schemas.microsoft.com/office/drawing/2014/main" id="{AE215066-8600-C3CA-4E83-4142DA0D9911}"/>
              </a:ext>
            </a:extLst>
          </p:cNvPr>
          <p:cNvGrpSpPr>
            <a:grpSpLocks/>
          </p:cNvGrpSpPr>
          <p:nvPr/>
        </p:nvGrpSpPr>
        <p:grpSpPr bwMode="auto">
          <a:xfrm>
            <a:off x="611188" y="2343150"/>
            <a:ext cx="5670550" cy="488950"/>
            <a:chOff x="385" y="1476"/>
            <a:chExt cx="3572" cy="308"/>
          </a:xfrm>
        </p:grpSpPr>
        <p:sp>
          <p:nvSpPr>
            <p:cNvPr id="37913" name="AutoShape 4">
              <a:extLst>
                <a:ext uri="{FF2B5EF4-FFF2-40B4-BE49-F238E27FC236}">
                  <a16:creationId xmlns:a16="http://schemas.microsoft.com/office/drawing/2014/main" id="{DE3F3AA1-1412-1AE5-4A8F-3EFE19149366}"/>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7914" name="Text Box 5">
              <a:extLst>
                <a:ext uri="{FF2B5EF4-FFF2-40B4-BE49-F238E27FC236}">
                  <a16:creationId xmlns:a16="http://schemas.microsoft.com/office/drawing/2014/main" id="{9E0679EB-83FC-B6ED-96F0-78F0F4AEADEE}"/>
                </a:ext>
              </a:extLst>
            </p:cNvPr>
            <p:cNvSpPr txBox="1">
              <a:spLocks noChangeArrowheads="1"/>
            </p:cNvSpPr>
            <p:nvPr/>
          </p:nvSpPr>
          <p:spPr bwMode="auto">
            <a:xfrm>
              <a:off x="626" y="1496"/>
              <a:ext cx="309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项目与软件项目的概念</a:t>
              </a:r>
              <a:r>
                <a:rPr lang="zh-CN" altLang="en-US" sz="2400" b="0">
                  <a:latin typeface="Times New Roman" panose="02020603050405020304" pitchFamily="18" charset="0"/>
                </a:rPr>
                <a:t> </a:t>
              </a:r>
            </a:p>
          </p:txBody>
        </p:sp>
        <p:sp>
          <p:nvSpPr>
            <p:cNvPr id="37915" name="Rectangle 6">
              <a:extLst>
                <a:ext uri="{FF2B5EF4-FFF2-40B4-BE49-F238E27FC236}">
                  <a16:creationId xmlns:a16="http://schemas.microsoft.com/office/drawing/2014/main" id="{E67045DB-17A8-E31D-0175-4DCE2F7E3B0A}"/>
                </a:ext>
              </a:extLst>
            </p:cNvPr>
            <p:cNvSpPr>
              <a:spLocks noChangeArrowheads="1"/>
            </p:cNvSpPr>
            <p:nvPr/>
          </p:nvSpPr>
          <p:spPr bwMode="auto">
            <a:xfrm>
              <a:off x="385" y="153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a:t>
              </a:r>
              <a:endParaRPr lang="en-US" altLang="zh-CN" sz="1800">
                <a:solidFill>
                  <a:srgbClr val="000000"/>
                </a:solidFill>
              </a:endParaRPr>
            </a:p>
          </p:txBody>
        </p:sp>
      </p:grpSp>
      <p:grpSp>
        <p:nvGrpSpPr>
          <p:cNvPr id="37892" name="Group 7">
            <a:extLst>
              <a:ext uri="{FF2B5EF4-FFF2-40B4-BE49-F238E27FC236}">
                <a16:creationId xmlns:a16="http://schemas.microsoft.com/office/drawing/2014/main" id="{03C031FD-3C5A-1C7D-9EFD-7D796BAC6462}"/>
              </a:ext>
            </a:extLst>
          </p:cNvPr>
          <p:cNvGrpSpPr>
            <a:grpSpLocks/>
          </p:cNvGrpSpPr>
          <p:nvPr/>
        </p:nvGrpSpPr>
        <p:grpSpPr bwMode="auto">
          <a:xfrm>
            <a:off x="611188" y="2924175"/>
            <a:ext cx="5670550" cy="488950"/>
            <a:chOff x="385" y="1842"/>
            <a:chExt cx="3572" cy="308"/>
          </a:xfrm>
        </p:grpSpPr>
        <p:grpSp>
          <p:nvGrpSpPr>
            <p:cNvPr id="37909" name="Group 8">
              <a:extLst>
                <a:ext uri="{FF2B5EF4-FFF2-40B4-BE49-F238E27FC236}">
                  <a16:creationId xmlns:a16="http://schemas.microsoft.com/office/drawing/2014/main" id="{0357B4E6-851D-F2C0-96F9-626BC1FA9CED}"/>
                </a:ext>
              </a:extLst>
            </p:cNvPr>
            <p:cNvGrpSpPr>
              <a:grpSpLocks/>
            </p:cNvGrpSpPr>
            <p:nvPr/>
          </p:nvGrpSpPr>
          <p:grpSpPr bwMode="auto">
            <a:xfrm>
              <a:off x="464" y="1842"/>
              <a:ext cx="3493" cy="308"/>
              <a:chOff x="464" y="1842"/>
              <a:chExt cx="3493" cy="308"/>
            </a:xfrm>
          </p:grpSpPr>
          <p:sp>
            <p:nvSpPr>
              <p:cNvPr id="37911" name="AutoShape 9">
                <a:extLst>
                  <a:ext uri="{FF2B5EF4-FFF2-40B4-BE49-F238E27FC236}">
                    <a16:creationId xmlns:a16="http://schemas.microsoft.com/office/drawing/2014/main" id="{DB29CE29-5BBE-92BD-EB67-59EDE06CEA3F}"/>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7912" name="Text Box 10">
                <a:extLst>
                  <a:ext uri="{FF2B5EF4-FFF2-40B4-BE49-F238E27FC236}">
                    <a16:creationId xmlns:a16="http://schemas.microsoft.com/office/drawing/2014/main" id="{8F20F7CB-4908-174E-5632-30930C70E00B}"/>
                  </a:ext>
                </a:extLst>
              </p:cNvPr>
              <p:cNvSpPr txBox="1">
                <a:spLocks noChangeArrowheads="1"/>
              </p:cNvSpPr>
              <p:nvPr/>
            </p:nvSpPr>
            <p:spPr bwMode="auto">
              <a:xfrm>
                <a:off x="626" y="1867"/>
                <a:ext cx="309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项目管理的概念</a:t>
                </a:r>
                <a:r>
                  <a:rPr lang="zh-CN" altLang="en-US" sz="2400" b="0">
                    <a:latin typeface="Times New Roman" panose="02020603050405020304" pitchFamily="18" charset="0"/>
                  </a:rPr>
                  <a:t> </a:t>
                </a:r>
              </a:p>
            </p:txBody>
          </p:sp>
        </p:grpSp>
        <p:sp>
          <p:nvSpPr>
            <p:cNvPr id="37910" name="Rectangle 11">
              <a:extLst>
                <a:ext uri="{FF2B5EF4-FFF2-40B4-BE49-F238E27FC236}">
                  <a16:creationId xmlns:a16="http://schemas.microsoft.com/office/drawing/2014/main" id="{54FDCAB8-A6FE-8EFB-66A3-65E068787581}"/>
                </a:ext>
              </a:extLst>
            </p:cNvPr>
            <p:cNvSpPr>
              <a:spLocks noChangeArrowheads="1"/>
            </p:cNvSpPr>
            <p:nvPr/>
          </p:nvSpPr>
          <p:spPr bwMode="auto">
            <a:xfrm>
              <a:off x="385" y="1915"/>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1.2</a:t>
              </a:r>
              <a:endParaRPr lang="en-US" altLang="zh-CN" sz="1800">
                <a:solidFill>
                  <a:srgbClr val="000000"/>
                </a:solidFill>
              </a:endParaRPr>
            </a:p>
          </p:txBody>
        </p:sp>
      </p:grpSp>
      <p:grpSp>
        <p:nvGrpSpPr>
          <p:cNvPr id="37893" name="Group 12">
            <a:extLst>
              <a:ext uri="{FF2B5EF4-FFF2-40B4-BE49-F238E27FC236}">
                <a16:creationId xmlns:a16="http://schemas.microsoft.com/office/drawing/2014/main" id="{DE7CF0B0-3FDA-8518-6D56-7A0496DE279A}"/>
              </a:ext>
            </a:extLst>
          </p:cNvPr>
          <p:cNvGrpSpPr>
            <a:grpSpLocks/>
          </p:cNvGrpSpPr>
          <p:nvPr/>
        </p:nvGrpSpPr>
        <p:grpSpPr bwMode="auto">
          <a:xfrm>
            <a:off x="611188" y="3500438"/>
            <a:ext cx="5689600" cy="488950"/>
            <a:chOff x="385" y="2209"/>
            <a:chExt cx="3584" cy="308"/>
          </a:xfrm>
        </p:grpSpPr>
        <p:sp>
          <p:nvSpPr>
            <p:cNvPr id="37906" name="AutoShape 13">
              <a:extLst>
                <a:ext uri="{FF2B5EF4-FFF2-40B4-BE49-F238E27FC236}">
                  <a16:creationId xmlns:a16="http://schemas.microsoft.com/office/drawing/2014/main" id="{5F1F511F-FC7B-C3DD-940E-644A421DA9BF}"/>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7907" name="Text Box 14">
              <a:extLst>
                <a:ext uri="{FF2B5EF4-FFF2-40B4-BE49-F238E27FC236}">
                  <a16:creationId xmlns:a16="http://schemas.microsoft.com/office/drawing/2014/main" id="{1047F562-8804-434B-CE2B-EF5A6148ECC6}"/>
                </a:ext>
              </a:extLst>
            </p:cNvPr>
            <p:cNvSpPr txBox="1">
              <a:spLocks noChangeArrowheads="1"/>
            </p:cNvSpPr>
            <p:nvPr/>
          </p:nvSpPr>
          <p:spPr bwMode="auto">
            <a:xfrm>
              <a:off x="626" y="2253"/>
              <a:ext cx="31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软件项目生命期与管理过程</a:t>
              </a:r>
              <a:r>
                <a:rPr lang="zh-CN" altLang="en-US" sz="2400" b="0">
                  <a:latin typeface="Times New Roman" panose="02020603050405020304" pitchFamily="18" charset="0"/>
                </a:rPr>
                <a:t> </a:t>
              </a:r>
            </a:p>
          </p:txBody>
        </p:sp>
        <p:sp>
          <p:nvSpPr>
            <p:cNvPr id="37908" name="Rectangle 15">
              <a:extLst>
                <a:ext uri="{FF2B5EF4-FFF2-40B4-BE49-F238E27FC236}">
                  <a16:creationId xmlns:a16="http://schemas.microsoft.com/office/drawing/2014/main" id="{3C6A0C52-2988-7025-FF70-37AF9C0B9EBF}"/>
                </a:ext>
              </a:extLst>
            </p:cNvPr>
            <p:cNvSpPr>
              <a:spLocks noChangeArrowheads="1"/>
            </p:cNvSpPr>
            <p:nvPr/>
          </p:nvSpPr>
          <p:spPr bwMode="auto">
            <a:xfrm>
              <a:off x="385" y="2282"/>
              <a:ext cx="211" cy="164"/>
            </a:xfrm>
            <a:prstGeom prst="rect">
              <a:avLst/>
            </a:prstGeom>
            <a:solidFill>
              <a:schemeClr val="accent2"/>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1.3</a:t>
              </a:r>
              <a:endParaRPr lang="en-US" altLang="zh-CN" sz="1800">
                <a:solidFill>
                  <a:srgbClr val="000000"/>
                </a:solidFill>
              </a:endParaRPr>
            </a:p>
          </p:txBody>
        </p:sp>
      </p:grpSp>
      <p:grpSp>
        <p:nvGrpSpPr>
          <p:cNvPr id="37894" name="Group 16">
            <a:extLst>
              <a:ext uri="{FF2B5EF4-FFF2-40B4-BE49-F238E27FC236}">
                <a16:creationId xmlns:a16="http://schemas.microsoft.com/office/drawing/2014/main" id="{4E125259-423A-14A8-8A51-53909FCF1584}"/>
              </a:ext>
            </a:extLst>
          </p:cNvPr>
          <p:cNvGrpSpPr>
            <a:grpSpLocks/>
          </p:cNvGrpSpPr>
          <p:nvPr/>
        </p:nvGrpSpPr>
        <p:grpSpPr bwMode="auto">
          <a:xfrm>
            <a:off x="611188" y="4076700"/>
            <a:ext cx="5689600" cy="488950"/>
            <a:chOff x="385" y="2209"/>
            <a:chExt cx="3584" cy="308"/>
          </a:xfrm>
        </p:grpSpPr>
        <p:sp>
          <p:nvSpPr>
            <p:cNvPr id="37903" name="AutoShape 17">
              <a:extLst>
                <a:ext uri="{FF2B5EF4-FFF2-40B4-BE49-F238E27FC236}">
                  <a16:creationId xmlns:a16="http://schemas.microsoft.com/office/drawing/2014/main" id="{33F76151-C50D-7113-54DF-8670997E8348}"/>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7904" name="Text Box 18">
              <a:extLst>
                <a:ext uri="{FF2B5EF4-FFF2-40B4-BE49-F238E27FC236}">
                  <a16:creationId xmlns:a16="http://schemas.microsoft.com/office/drawing/2014/main" id="{F5325074-1CC3-6EC8-D9D7-AA2204401430}"/>
                </a:ext>
              </a:extLst>
            </p:cNvPr>
            <p:cNvSpPr txBox="1">
              <a:spLocks noChangeArrowheads="1"/>
            </p:cNvSpPr>
            <p:nvPr/>
          </p:nvSpPr>
          <p:spPr bwMode="auto">
            <a:xfrm>
              <a:off x="626" y="2253"/>
              <a:ext cx="31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本书内容的组织</a:t>
              </a:r>
              <a:r>
                <a:rPr lang="zh-CN" altLang="en-US" sz="2400" b="0">
                  <a:latin typeface="Times New Roman" panose="02020603050405020304" pitchFamily="18" charset="0"/>
                </a:rPr>
                <a:t> </a:t>
              </a:r>
            </a:p>
          </p:txBody>
        </p:sp>
        <p:sp>
          <p:nvSpPr>
            <p:cNvPr id="37905" name="Rectangle 19">
              <a:extLst>
                <a:ext uri="{FF2B5EF4-FFF2-40B4-BE49-F238E27FC236}">
                  <a16:creationId xmlns:a16="http://schemas.microsoft.com/office/drawing/2014/main" id="{848E73EF-7F57-E63E-DDE7-06B12CC3F470}"/>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1.4</a:t>
              </a:r>
              <a:endParaRPr lang="en-US" altLang="zh-CN" sz="1800">
                <a:solidFill>
                  <a:srgbClr val="000000"/>
                </a:solidFill>
              </a:endParaRPr>
            </a:p>
          </p:txBody>
        </p:sp>
      </p:grpSp>
      <p:grpSp>
        <p:nvGrpSpPr>
          <p:cNvPr id="37895" name="Group 20">
            <a:extLst>
              <a:ext uri="{FF2B5EF4-FFF2-40B4-BE49-F238E27FC236}">
                <a16:creationId xmlns:a16="http://schemas.microsoft.com/office/drawing/2014/main" id="{93E9CFA8-A674-887B-8D64-4602A4E3E024}"/>
              </a:ext>
            </a:extLst>
          </p:cNvPr>
          <p:cNvGrpSpPr>
            <a:grpSpLocks/>
          </p:cNvGrpSpPr>
          <p:nvPr/>
        </p:nvGrpSpPr>
        <p:grpSpPr bwMode="auto">
          <a:xfrm>
            <a:off x="611188" y="4652963"/>
            <a:ext cx="5689600" cy="488950"/>
            <a:chOff x="385" y="2209"/>
            <a:chExt cx="3584" cy="308"/>
          </a:xfrm>
        </p:grpSpPr>
        <p:sp>
          <p:nvSpPr>
            <p:cNvPr id="37900" name="AutoShape 21">
              <a:extLst>
                <a:ext uri="{FF2B5EF4-FFF2-40B4-BE49-F238E27FC236}">
                  <a16:creationId xmlns:a16="http://schemas.microsoft.com/office/drawing/2014/main" id="{F177BEAA-AB69-9029-8C0E-4AC130ECD1FF}"/>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7901" name="Text Box 22">
              <a:extLst>
                <a:ext uri="{FF2B5EF4-FFF2-40B4-BE49-F238E27FC236}">
                  <a16:creationId xmlns:a16="http://schemas.microsoft.com/office/drawing/2014/main" id="{849C8B21-56AA-C45F-7133-20E1433DC9E7}"/>
                </a:ext>
              </a:extLst>
            </p:cNvPr>
            <p:cNvSpPr txBox="1">
              <a:spLocks noChangeArrowheads="1"/>
            </p:cNvSpPr>
            <p:nvPr/>
          </p:nvSpPr>
          <p:spPr bwMode="auto">
            <a:xfrm>
              <a:off x="626" y="2273"/>
              <a:ext cx="311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本章小结</a:t>
              </a:r>
            </a:p>
          </p:txBody>
        </p:sp>
        <p:sp>
          <p:nvSpPr>
            <p:cNvPr id="37902" name="Rectangle 23">
              <a:extLst>
                <a:ext uri="{FF2B5EF4-FFF2-40B4-BE49-F238E27FC236}">
                  <a16:creationId xmlns:a16="http://schemas.microsoft.com/office/drawing/2014/main" id="{C342EC5A-562B-2CC2-A142-29F41E236533}"/>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1.5</a:t>
              </a:r>
              <a:endParaRPr lang="en-US" altLang="zh-CN" sz="1800">
                <a:solidFill>
                  <a:srgbClr val="000000"/>
                </a:solidFill>
              </a:endParaRPr>
            </a:p>
          </p:txBody>
        </p:sp>
      </p:grpSp>
      <p:grpSp>
        <p:nvGrpSpPr>
          <p:cNvPr id="37896" name="Group 24">
            <a:extLst>
              <a:ext uri="{FF2B5EF4-FFF2-40B4-BE49-F238E27FC236}">
                <a16:creationId xmlns:a16="http://schemas.microsoft.com/office/drawing/2014/main" id="{8C5E565D-8ED8-23BA-7CFD-DF613723302D}"/>
              </a:ext>
            </a:extLst>
          </p:cNvPr>
          <p:cNvGrpSpPr>
            <a:grpSpLocks/>
          </p:cNvGrpSpPr>
          <p:nvPr/>
        </p:nvGrpSpPr>
        <p:grpSpPr bwMode="auto">
          <a:xfrm>
            <a:off x="611188" y="5229225"/>
            <a:ext cx="5689600" cy="488950"/>
            <a:chOff x="385" y="2209"/>
            <a:chExt cx="3584" cy="308"/>
          </a:xfrm>
        </p:grpSpPr>
        <p:sp>
          <p:nvSpPr>
            <p:cNvPr id="37897" name="AutoShape 25">
              <a:extLst>
                <a:ext uri="{FF2B5EF4-FFF2-40B4-BE49-F238E27FC236}">
                  <a16:creationId xmlns:a16="http://schemas.microsoft.com/office/drawing/2014/main" id="{DF43B6C6-8CDC-68FF-E640-BACFC8BF6224}"/>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7898" name="Text Box 26">
              <a:extLst>
                <a:ext uri="{FF2B5EF4-FFF2-40B4-BE49-F238E27FC236}">
                  <a16:creationId xmlns:a16="http://schemas.microsoft.com/office/drawing/2014/main" id="{582EFC5F-9154-7CB6-E6EA-015976DA0A74}"/>
                </a:ext>
              </a:extLst>
            </p:cNvPr>
            <p:cNvSpPr txBox="1">
              <a:spLocks noChangeArrowheads="1"/>
            </p:cNvSpPr>
            <p:nvPr/>
          </p:nvSpPr>
          <p:spPr bwMode="auto">
            <a:xfrm>
              <a:off x="626" y="2273"/>
              <a:ext cx="311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复习思考题</a:t>
              </a:r>
            </a:p>
          </p:txBody>
        </p:sp>
        <p:sp>
          <p:nvSpPr>
            <p:cNvPr id="37899" name="Rectangle 27">
              <a:extLst>
                <a:ext uri="{FF2B5EF4-FFF2-40B4-BE49-F238E27FC236}">
                  <a16:creationId xmlns:a16="http://schemas.microsoft.com/office/drawing/2014/main" id="{B6F9517A-686F-C8C0-3340-4DE9F188DE52}"/>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1.6</a:t>
              </a:r>
              <a:endParaRPr lang="en-US" altLang="zh-CN" sz="1800">
                <a:solidFill>
                  <a:srgbClr val="000000"/>
                </a:solidFill>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C98C571A-F6EA-E04F-DE15-1AE201C6B407}"/>
              </a:ext>
            </a:extLst>
          </p:cNvPr>
          <p:cNvSpPr>
            <a:spLocks noGrp="1" noChangeArrowheads="1"/>
          </p:cNvSpPr>
          <p:nvPr>
            <p:ph type="title"/>
          </p:nvPr>
        </p:nvSpPr>
        <p:spPr/>
        <p:txBody>
          <a:bodyPr/>
          <a:lstStyle/>
          <a:p>
            <a:pPr eaLnBrk="1" hangingPunct="1"/>
            <a:r>
              <a:rPr lang="en-US" altLang="zh-CN"/>
              <a:t>1.3  </a:t>
            </a:r>
            <a:r>
              <a:rPr lang="zh-CN" altLang="en-US"/>
              <a:t>软件项目生命期与管理过程 </a:t>
            </a:r>
          </a:p>
        </p:txBody>
      </p:sp>
      <p:sp>
        <p:nvSpPr>
          <p:cNvPr id="38915" name="Rectangle 3">
            <a:extLst>
              <a:ext uri="{FF2B5EF4-FFF2-40B4-BE49-F238E27FC236}">
                <a16:creationId xmlns:a16="http://schemas.microsoft.com/office/drawing/2014/main" id="{EA15CEB6-32A2-B7BC-443B-C031B98BB721}"/>
              </a:ext>
            </a:extLst>
          </p:cNvPr>
          <p:cNvSpPr>
            <a:spLocks noGrp="1" noChangeArrowheads="1"/>
          </p:cNvSpPr>
          <p:nvPr>
            <p:ph type="body" idx="1"/>
          </p:nvPr>
        </p:nvSpPr>
        <p:spPr>
          <a:xfrm>
            <a:off x="323850" y="1916113"/>
            <a:ext cx="8640763" cy="4941887"/>
          </a:xfrm>
        </p:spPr>
        <p:txBody>
          <a:bodyPr/>
          <a:lstStyle/>
          <a:p>
            <a:pPr eaLnBrk="1" hangingPunct="1">
              <a:lnSpc>
                <a:spcPct val="130000"/>
              </a:lnSpc>
            </a:pPr>
            <a:r>
              <a:rPr lang="zh-CN" altLang="en-US" sz="2400">
                <a:solidFill>
                  <a:schemeClr val="accent2"/>
                </a:solidFill>
                <a:ea typeface="黑体" panose="02010609060101010101" pitchFamily="49" charset="-122"/>
              </a:rPr>
              <a:t>软件项目生命期</a:t>
            </a:r>
            <a:r>
              <a:rPr lang="zh-CN" altLang="en-US"/>
              <a:t> </a:t>
            </a:r>
          </a:p>
          <a:p>
            <a:pPr lvl="1" eaLnBrk="1" hangingPunct="1">
              <a:lnSpc>
                <a:spcPct val="130000"/>
              </a:lnSpc>
            </a:pPr>
            <a:r>
              <a:rPr lang="zh-CN" altLang="en-US" sz="2000">
                <a:solidFill>
                  <a:schemeClr val="accent2"/>
                </a:solidFill>
                <a:ea typeface="黑体" panose="02010609060101010101" pitchFamily="49" charset="-122"/>
              </a:rPr>
              <a:t>计划阶段   </a:t>
            </a:r>
            <a:r>
              <a:rPr lang="zh-CN" altLang="en-US" sz="2000">
                <a:solidFill>
                  <a:srgbClr val="FF0000"/>
                </a:solidFill>
              </a:rPr>
              <a:t>定义系统，确定用户的要求或总体研究目标，提出可行的方案</a:t>
            </a:r>
            <a:r>
              <a:rPr lang="zh-CN" altLang="en-US" sz="2000"/>
              <a:t>，包括资源、成本、效益、进度等的实施计划。进行可行性分析并制定粗略计划。</a:t>
            </a:r>
          </a:p>
          <a:p>
            <a:pPr lvl="1" eaLnBrk="1" hangingPunct="1">
              <a:lnSpc>
                <a:spcPct val="130000"/>
              </a:lnSpc>
            </a:pPr>
            <a:r>
              <a:rPr lang="zh-CN" altLang="en-US" sz="2000">
                <a:solidFill>
                  <a:schemeClr val="accent2"/>
                </a:solidFill>
                <a:ea typeface="黑体" panose="02010609060101010101" pitchFamily="49" charset="-122"/>
              </a:rPr>
              <a:t>需求分析阶段   </a:t>
            </a:r>
            <a:r>
              <a:rPr lang="zh-CN" altLang="en-US" sz="2000">
                <a:solidFill>
                  <a:srgbClr val="FF0000"/>
                </a:solidFill>
              </a:rPr>
              <a:t>确定软件的功能、性能、可靠性、接口标准等要求</a:t>
            </a:r>
            <a:r>
              <a:rPr lang="zh-CN" altLang="en-US" sz="2000"/>
              <a:t>，根据功能要求进行数据流程分析，提出初步的系统逻辑模型，并据此修改项目实施计划。</a:t>
            </a:r>
          </a:p>
          <a:p>
            <a:pPr lvl="1" eaLnBrk="1" hangingPunct="1">
              <a:lnSpc>
                <a:spcPct val="130000"/>
              </a:lnSpc>
            </a:pPr>
            <a:r>
              <a:rPr lang="zh-CN" altLang="en-US" sz="2000">
                <a:solidFill>
                  <a:schemeClr val="accent2"/>
                </a:solidFill>
                <a:ea typeface="黑体" panose="02010609060101010101" pitchFamily="49" charset="-122"/>
              </a:rPr>
              <a:t>系统设计阶段   </a:t>
            </a:r>
            <a:r>
              <a:rPr lang="zh-CN" altLang="en-US" sz="2000"/>
              <a:t>它包括系统</a:t>
            </a:r>
            <a:r>
              <a:rPr lang="zh-CN" altLang="en-US" sz="2000">
                <a:solidFill>
                  <a:srgbClr val="FF0000"/>
                </a:solidFill>
              </a:rPr>
              <a:t>概要设计和详细设计</a:t>
            </a:r>
            <a:r>
              <a:rPr lang="zh-CN" altLang="en-US" sz="2000"/>
              <a:t>。在概要设计中，要建立系统的整体结构，进行模块划分，根据要求确定接口。在详细设计中，要建立算法、数据结构和流程图。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9AFDC09-F7F7-F079-19D0-FC7C6EE5BE95}"/>
              </a:ext>
            </a:extLst>
          </p:cNvPr>
          <p:cNvSpPr>
            <a:spLocks noGrp="1" noChangeArrowheads="1"/>
          </p:cNvSpPr>
          <p:nvPr>
            <p:ph type="title"/>
          </p:nvPr>
        </p:nvSpPr>
        <p:spPr/>
        <p:txBody>
          <a:bodyPr/>
          <a:lstStyle/>
          <a:p>
            <a:pPr eaLnBrk="1" hangingPunct="1"/>
            <a:r>
              <a:rPr lang="zh-CN" altLang="en-US"/>
              <a:t>软件项目生命期与管理过程</a:t>
            </a:r>
          </a:p>
        </p:txBody>
      </p:sp>
      <p:sp>
        <p:nvSpPr>
          <p:cNvPr id="39939" name="Rectangle 3">
            <a:extLst>
              <a:ext uri="{FF2B5EF4-FFF2-40B4-BE49-F238E27FC236}">
                <a16:creationId xmlns:a16="http://schemas.microsoft.com/office/drawing/2014/main" id="{CD63C5B9-3E9E-D2AD-8DB3-3FCF3892C301}"/>
              </a:ext>
            </a:extLst>
          </p:cNvPr>
          <p:cNvSpPr>
            <a:spLocks noGrp="1" noChangeArrowheads="1"/>
          </p:cNvSpPr>
          <p:nvPr>
            <p:ph type="body" idx="1"/>
          </p:nvPr>
        </p:nvSpPr>
        <p:spPr>
          <a:xfrm>
            <a:off x="179388" y="1989138"/>
            <a:ext cx="8785225" cy="4868862"/>
          </a:xfrm>
        </p:spPr>
        <p:txBody>
          <a:bodyPr/>
          <a:lstStyle/>
          <a:p>
            <a:pPr lvl="1" eaLnBrk="1" hangingPunct="1">
              <a:lnSpc>
                <a:spcPct val="130000"/>
              </a:lnSpc>
            </a:pPr>
            <a:r>
              <a:rPr lang="zh-CN" altLang="en-US" sz="2000">
                <a:solidFill>
                  <a:schemeClr val="accent2"/>
                </a:solidFill>
                <a:ea typeface="黑体" panose="02010609060101010101" pitchFamily="49" charset="-122"/>
              </a:rPr>
              <a:t>系统开发阶段 </a:t>
            </a:r>
            <a:r>
              <a:rPr lang="zh-CN" altLang="en-US" sz="2000"/>
              <a:t>把流程图翻译成</a:t>
            </a:r>
            <a:r>
              <a:rPr lang="zh-CN" altLang="en-US" sz="2000">
                <a:solidFill>
                  <a:srgbClr val="FF0000"/>
                </a:solidFill>
              </a:rPr>
              <a:t>程序</a:t>
            </a:r>
            <a:r>
              <a:rPr lang="zh-CN" altLang="en-US" sz="2000"/>
              <a:t>，并对程序进行</a:t>
            </a:r>
            <a:r>
              <a:rPr lang="zh-CN" altLang="en-US" sz="2000">
                <a:solidFill>
                  <a:srgbClr val="FF0000"/>
                </a:solidFill>
              </a:rPr>
              <a:t>调试</a:t>
            </a:r>
            <a:r>
              <a:rPr lang="zh-CN" altLang="en-US" sz="2000"/>
              <a:t>。</a:t>
            </a:r>
          </a:p>
          <a:p>
            <a:pPr lvl="1" eaLnBrk="1" hangingPunct="1">
              <a:lnSpc>
                <a:spcPct val="130000"/>
              </a:lnSpc>
            </a:pPr>
            <a:r>
              <a:rPr lang="zh-CN" altLang="en-US" sz="2000">
                <a:solidFill>
                  <a:schemeClr val="accent2"/>
                </a:solidFill>
                <a:ea typeface="黑体" panose="02010609060101010101" pitchFamily="49" charset="-122"/>
              </a:rPr>
              <a:t>系统测试阶段   </a:t>
            </a:r>
            <a:r>
              <a:rPr lang="zh-CN" altLang="en-US" sz="2000"/>
              <a:t>通过</a:t>
            </a:r>
            <a:r>
              <a:rPr lang="zh-CN" altLang="en-US" sz="2000">
                <a:solidFill>
                  <a:srgbClr val="FF0000"/>
                </a:solidFill>
              </a:rPr>
              <a:t>单元测试</a:t>
            </a:r>
            <a:r>
              <a:rPr lang="zh-CN" altLang="en-US" sz="2000"/>
              <a:t>，检验模块内部的结构和功能；通过</a:t>
            </a:r>
            <a:r>
              <a:rPr lang="zh-CN" altLang="en-US" sz="2000">
                <a:solidFill>
                  <a:srgbClr val="FF0000"/>
                </a:solidFill>
              </a:rPr>
              <a:t>集成测试</a:t>
            </a:r>
            <a:r>
              <a:rPr lang="zh-CN" altLang="en-US" sz="2000"/>
              <a:t>，把模块连接成系统，重点寻找接口上可能存在的问题；确认测试，即按照需求的内容逐项进行测试；</a:t>
            </a:r>
            <a:r>
              <a:rPr lang="zh-CN" altLang="en-US" sz="2000">
                <a:solidFill>
                  <a:srgbClr val="FF0000"/>
                </a:solidFill>
              </a:rPr>
              <a:t>系统测试</a:t>
            </a:r>
            <a:r>
              <a:rPr lang="zh-CN" altLang="en-US" sz="2000"/>
              <a:t>，就是到实际的使用环境中进行测试。单元测试和集成测试由开发者自己完成，</a:t>
            </a:r>
            <a:r>
              <a:rPr lang="zh-CN" altLang="en-US" sz="2000">
                <a:solidFill>
                  <a:srgbClr val="FF0000"/>
                </a:solidFill>
              </a:rPr>
              <a:t>确认测试</a:t>
            </a:r>
            <a:r>
              <a:rPr lang="zh-CN" altLang="en-US" sz="2000"/>
              <a:t>和系统测试则由用户参与完成。</a:t>
            </a:r>
          </a:p>
          <a:p>
            <a:pPr lvl="1" eaLnBrk="1" hangingPunct="1">
              <a:lnSpc>
                <a:spcPct val="130000"/>
              </a:lnSpc>
            </a:pPr>
            <a:r>
              <a:rPr lang="zh-CN" altLang="en-US" sz="2000">
                <a:solidFill>
                  <a:schemeClr val="accent2"/>
                </a:solidFill>
                <a:ea typeface="黑体" panose="02010609060101010101" pitchFamily="49" charset="-122"/>
              </a:rPr>
              <a:t>运行维护阶段   </a:t>
            </a:r>
            <a:r>
              <a:rPr lang="zh-CN" altLang="en-US" sz="2000"/>
              <a:t>它一般包括三类工作，为了修改错误而做的</a:t>
            </a:r>
            <a:r>
              <a:rPr lang="zh-CN" altLang="en-US" sz="2000">
                <a:solidFill>
                  <a:srgbClr val="FF0000"/>
                </a:solidFill>
              </a:rPr>
              <a:t>改正性维护</a:t>
            </a:r>
            <a:r>
              <a:rPr lang="zh-CN" altLang="en-US" sz="2000"/>
              <a:t>；为了适应环境变化而做的</a:t>
            </a:r>
            <a:r>
              <a:rPr lang="zh-CN" altLang="en-US" sz="2000">
                <a:solidFill>
                  <a:srgbClr val="FF0000"/>
                </a:solidFill>
              </a:rPr>
              <a:t>适应性维护</a:t>
            </a:r>
            <a:r>
              <a:rPr lang="zh-CN" altLang="en-US" sz="2000"/>
              <a:t>；为了适应用户新的需求而做的</a:t>
            </a:r>
            <a:r>
              <a:rPr lang="zh-CN" altLang="en-US" sz="2000">
                <a:solidFill>
                  <a:srgbClr val="FF0000"/>
                </a:solidFill>
              </a:rPr>
              <a:t>完善性维护</a:t>
            </a:r>
            <a:r>
              <a:rPr lang="zh-CN" altLang="en-US" sz="2000"/>
              <a:t>，有时会成为二次开发，进入一个新的生命期，再从计划阶段开始。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B4D11C2D-9C0B-D8EE-EAC2-ECAEE6D450D6}"/>
              </a:ext>
            </a:extLst>
          </p:cNvPr>
          <p:cNvSpPr>
            <a:spLocks noGrp="1" noChangeArrowheads="1"/>
          </p:cNvSpPr>
          <p:nvPr>
            <p:ph type="title"/>
          </p:nvPr>
        </p:nvSpPr>
        <p:spPr/>
        <p:txBody>
          <a:bodyPr/>
          <a:lstStyle/>
          <a:p>
            <a:pPr eaLnBrk="1" hangingPunct="1"/>
            <a:r>
              <a:rPr lang="zh-CN" altLang="en-US"/>
              <a:t>软件项目生命期与管理过程</a:t>
            </a:r>
          </a:p>
        </p:txBody>
      </p:sp>
      <p:sp>
        <p:nvSpPr>
          <p:cNvPr id="40963" name="Rectangle 3">
            <a:extLst>
              <a:ext uri="{FF2B5EF4-FFF2-40B4-BE49-F238E27FC236}">
                <a16:creationId xmlns:a16="http://schemas.microsoft.com/office/drawing/2014/main" id="{296DBC47-95D0-4DF0-1F0E-4BFF627E2F6A}"/>
              </a:ext>
            </a:extLst>
          </p:cNvPr>
          <p:cNvSpPr>
            <a:spLocks noGrp="1" noChangeArrowheads="1"/>
          </p:cNvSpPr>
          <p:nvPr>
            <p:ph type="body" idx="1"/>
          </p:nvPr>
        </p:nvSpPr>
        <p:spPr>
          <a:xfrm>
            <a:off x="395288" y="1989138"/>
            <a:ext cx="8569325" cy="4868862"/>
          </a:xfrm>
        </p:spPr>
        <p:txBody>
          <a:bodyPr/>
          <a:lstStyle/>
          <a:p>
            <a:pPr eaLnBrk="1" hangingPunct="1">
              <a:buFont typeface="Wingdings 2" panose="05020102010507070707" pitchFamily="18" charset="2"/>
              <a:buNone/>
            </a:pPr>
            <a:r>
              <a:rPr lang="en-US" altLang="zh-CN" sz="2400"/>
              <a:t>   </a:t>
            </a:r>
            <a:endParaRPr lang="en-US" altLang="zh-CN" sz="2400">
              <a:solidFill>
                <a:schemeClr val="accent1"/>
              </a:solidFill>
              <a:ea typeface="黑体" panose="02010609060101010101" pitchFamily="49" charset="-122"/>
            </a:endParaRPr>
          </a:p>
        </p:txBody>
      </p:sp>
      <p:pic>
        <p:nvPicPr>
          <p:cNvPr id="40964" name="矩形 14337">
            <a:extLst>
              <a:ext uri="{FF2B5EF4-FFF2-40B4-BE49-F238E27FC236}">
                <a16:creationId xmlns:a16="http://schemas.microsoft.com/office/drawing/2014/main" id="{34BB6BF0-B48C-22BF-AE93-D0C4CEA65C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1916113"/>
            <a:ext cx="6697663" cy="420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BBA93BC4-CDA0-BCD6-8693-0F1B852DB82D}"/>
              </a:ext>
            </a:extLst>
          </p:cNvPr>
          <p:cNvSpPr>
            <a:spLocks noGrp="1" noChangeArrowheads="1"/>
          </p:cNvSpPr>
          <p:nvPr>
            <p:ph type="title"/>
          </p:nvPr>
        </p:nvSpPr>
        <p:spPr/>
        <p:txBody>
          <a:bodyPr/>
          <a:lstStyle/>
          <a:p>
            <a:pPr eaLnBrk="1" hangingPunct="1"/>
            <a:r>
              <a:rPr lang="zh-CN" altLang="en-US"/>
              <a:t>软件项目生命期与管理过程</a:t>
            </a:r>
          </a:p>
        </p:txBody>
      </p:sp>
      <p:sp>
        <p:nvSpPr>
          <p:cNvPr id="41987" name="Rectangle 3">
            <a:extLst>
              <a:ext uri="{FF2B5EF4-FFF2-40B4-BE49-F238E27FC236}">
                <a16:creationId xmlns:a16="http://schemas.microsoft.com/office/drawing/2014/main" id="{91C9F729-A6EE-1091-74A4-28A3F7EE6D4A}"/>
              </a:ext>
            </a:extLst>
          </p:cNvPr>
          <p:cNvSpPr>
            <a:spLocks noGrp="1" noChangeArrowheads="1"/>
          </p:cNvSpPr>
          <p:nvPr>
            <p:ph type="body" idx="1"/>
          </p:nvPr>
        </p:nvSpPr>
        <p:spPr>
          <a:xfrm>
            <a:off x="611188" y="1989138"/>
            <a:ext cx="8353425" cy="4868862"/>
          </a:xfrm>
        </p:spPr>
        <p:txBody>
          <a:bodyPr/>
          <a:lstStyle/>
          <a:p>
            <a:pPr eaLnBrk="1" hangingPunct="1"/>
            <a:r>
              <a:rPr lang="zh-CN" altLang="en-US" sz="2400" dirty="0">
                <a:solidFill>
                  <a:schemeClr val="accent2"/>
                </a:solidFill>
                <a:ea typeface="黑体" panose="02010609060101010101" pitchFamily="49" charset="-122"/>
              </a:rPr>
              <a:t>软件项目管理过程中各阶段的主要任务</a:t>
            </a:r>
          </a:p>
          <a:p>
            <a:pPr lvl="1" eaLnBrk="1" hangingPunct="1"/>
            <a:r>
              <a:rPr lang="zh-CN" altLang="en-US" dirty="0"/>
              <a:t>（</a:t>
            </a:r>
            <a:r>
              <a:rPr lang="en-US" altLang="zh-CN" dirty="0"/>
              <a:t>1</a:t>
            </a:r>
            <a:r>
              <a:rPr lang="zh-CN" altLang="en-US" dirty="0"/>
              <a:t>）</a:t>
            </a:r>
            <a:r>
              <a:rPr lang="zh-CN" altLang="en-US" dirty="0">
                <a:solidFill>
                  <a:srgbClr val="FF0000"/>
                </a:solidFill>
              </a:rPr>
              <a:t>项目启动阶段</a:t>
            </a:r>
            <a:r>
              <a:rPr lang="zh-CN" altLang="en-US" dirty="0"/>
              <a:t>：</a:t>
            </a:r>
            <a:endParaRPr lang="en-US" altLang="zh-CN" dirty="0"/>
          </a:p>
          <a:p>
            <a:pPr lvl="2" eaLnBrk="1" hangingPunct="1"/>
            <a:r>
              <a:rPr lang="zh-CN" altLang="en-US" dirty="0"/>
              <a:t>确认需求、分析投资收益比、研究项目可行性、分析自己应具备的条件。（成功标志：入围厂家名单，开始等待招标）</a:t>
            </a:r>
          </a:p>
          <a:p>
            <a:pPr lvl="1" eaLnBrk="1" hangingPunct="1"/>
            <a:r>
              <a:rPr lang="zh-CN" altLang="en-US" dirty="0"/>
              <a:t>（</a:t>
            </a:r>
            <a:r>
              <a:rPr lang="en-US" altLang="zh-CN" dirty="0"/>
              <a:t>2</a:t>
            </a:r>
            <a:r>
              <a:rPr lang="zh-CN" altLang="en-US" dirty="0"/>
              <a:t>）</a:t>
            </a:r>
            <a:r>
              <a:rPr lang="zh-CN" altLang="en-US" dirty="0">
                <a:solidFill>
                  <a:srgbClr val="FF0000"/>
                </a:solidFill>
              </a:rPr>
              <a:t>项目计划阶段</a:t>
            </a:r>
            <a:r>
              <a:rPr lang="zh-CN" altLang="en-US" dirty="0"/>
              <a:t>：</a:t>
            </a:r>
            <a:endParaRPr lang="en-US" altLang="zh-CN" dirty="0"/>
          </a:p>
          <a:p>
            <a:pPr lvl="2" eaLnBrk="1" hangingPunct="1"/>
            <a:r>
              <a:rPr lang="zh-CN" altLang="en-US" dirty="0"/>
              <a:t>为项目制定项目计划、核算成本等。</a:t>
            </a:r>
          </a:p>
          <a:p>
            <a:pPr lvl="1" eaLnBrk="1" hangingPunct="1"/>
            <a:r>
              <a:rPr lang="zh-CN" altLang="en-US" dirty="0"/>
              <a:t>（</a:t>
            </a:r>
            <a:r>
              <a:rPr lang="en-US" altLang="zh-CN" dirty="0"/>
              <a:t>3</a:t>
            </a:r>
            <a:r>
              <a:rPr lang="zh-CN" altLang="en-US" dirty="0"/>
              <a:t>）</a:t>
            </a:r>
            <a:r>
              <a:rPr lang="zh-CN" altLang="en-US" dirty="0">
                <a:solidFill>
                  <a:srgbClr val="FF0000"/>
                </a:solidFill>
              </a:rPr>
              <a:t>项目执行阶段</a:t>
            </a:r>
            <a:r>
              <a:rPr lang="zh-CN" altLang="en-US" dirty="0"/>
              <a:t>：</a:t>
            </a:r>
            <a:endParaRPr lang="en-US" altLang="zh-CN" dirty="0"/>
          </a:p>
          <a:p>
            <a:pPr lvl="2" eaLnBrk="1" hangingPunct="1"/>
            <a:r>
              <a:rPr lang="zh-CN" altLang="en-US" dirty="0"/>
              <a:t>需求分析、系统设计、系统实现与测试等。</a:t>
            </a:r>
          </a:p>
          <a:p>
            <a:pPr lvl="1" eaLnBrk="1" hangingPunct="1"/>
            <a:r>
              <a:rPr lang="zh-CN" altLang="en-US" dirty="0"/>
              <a:t>（</a:t>
            </a:r>
            <a:r>
              <a:rPr lang="en-US" altLang="zh-CN" dirty="0"/>
              <a:t>4</a:t>
            </a:r>
            <a:r>
              <a:rPr lang="zh-CN" altLang="en-US" dirty="0"/>
              <a:t>）</a:t>
            </a:r>
            <a:r>
              <a:rPr lang="zh-CN" altLang="en-US" dirty="0">
                <a:solidFill>
                  <a:srgbClr val="FF0000"/>
                </a:solidFill>
              </a:rPr>
              <a:t>项目结束阶段</a:t>
            </a:r>
            <a:r>
              <a:rPr lang="zh-CN" altLang="en-US" dirty="0"/>
              <a:t>：</a:t>
            </a:r>
            <a:endParaRPr lang="en-US" altLang="zh-CN" dirty="0"/>
          </a:p>
          <a:p>
            <a:pPr lvl="2" eaLnBrk="1" hangingPunct="1"/>
            <a:r>
              <a:rPr lang="zh-CN" altLang="en-US" dirty="0"/>
              <a:t>项目验收、系统运行、系统维护等。</a:t>
            </a:r>
          </a:p>
          <a:p>
            <a:pPr eaLnBrk="1" hangingPunct="1"/>
            <a:r>
              <a:rPr lang="zh-CN" altLang="en-US" sz="2400" dirty="0">
                <a:solidFill>
                  <a:schemeClr val="accent2"/>
                </a:solidFill>
                <a:ea typeface="黑体" panose="02010609060101010101" pitchFamily="49" charset="-122"/>
              </a:rPr>
              <a:t>思考</a:t>
            </a:r>
          </a:p>
          <a:p>
            <a:pPr lvl="1" eaLnBrk="1" hangingPunct="1"/>
            <a:r>
              <a:rPr lang="zh-CN" altLang="en-US" dirty="0"/>
              <a:t>项目生命周期中风险最大的是哪个阶段？</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E783E13-91FB-CAB5-B513-BB2F994DC679}"/>
              </a:ext>
            </a:extLst>
          </p:cNvPr>
          <p:cNvSpPr>
            <a:spLocks noGrp="1" noChangeArrowheads="1"/>
          </p:cNvSpPr>
          <p:nvPr>
            <p:ph type="title"/>
          </p:nvPr>
        </p:nvSpPr>
        <p:spPr/>
        <p:txBody>
          <a:bodyPr/>
          <a:lstStyle/>
          <a:p>
            <a:pPr eaLnBrk="1" hangingPunct="1"/>
            <a:r>
              <a:rPr lang="zh-CN" altLang="en-US"/>
              <a:t>软件项目生命期与管理过程</a:t>
            </a:r>
          </a:p>
        </p:txBody>
      </p:sp>
      <p:sp>
        <p:nvSpPr>
          <p:cNvPr id="43011" name="Rectangle 3">
            <a:extLst>
              <a:ext uri="{FF2B5EF4-FFF2-40B4-BE49-F238E27FC236}">
                <a16:creationId xmlns:a16="http://schemas.microsoft.com/office/drawing/2014/main" id="{E5F986DB-565B-82D7-2F76-B7E0BA364DE8}"/>
              </a:ext>
            </a:extLst>
          </p:cNvPr>
          <p:cNvSpPr>
            <a:spLocks noGrp="1" noChangeArrowheads="1"/>
          </p:cNvSpPr>
          <p:nvPr>
            <p:ph type="body" idx="1"/>
          </p:nvPr>
        </p:nvSpPr>
        <p:spPr>
          <a:xfrm>
            <a:off x="323850" y="2060575"/>
            <a:ext cx="8640763" cy="4797425"/>
          </a:xfrm>
        </p:spPr>
        <p:txBody>
          <a:bodyPr/>
          <a:lstStyle/>
          <a:p>
            <a:pPr eaLnBrk="1" hangingPunct="1"/>
            <a:r>
              <a:rPr lang="zh-CN" altLang="en-US" sz="2400">
                <a:solidFill>
                  <a:schemeClr val="accent2"/>
                </a:solidFill>
                <a:ea typeface="黑体" panose="02010609060101010101" pitchFamily="49" charset="-122"/>
              </a:rPr>
              <a:t>项目生命周期的影响</a:t>
            </a:r>
          </a:p>
        </p:txBody>
      </p:sp>
      <p:pic>
        <p:nvPicPr>
          <p:cNvPr id="43012" name="Picture 4">
            <a:extLst>
              <a:ext uri="{FF2B5EF4-FFF2-40B4-BE49-F238E27FC236}">
                <a16:creationId xmlns:a16="http://schemas.microsoft.com/office/drawing/2014/main" id="{D9CED32A-6843-DBBC-CD01-2BFBCD494D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2852738"/>
            <a:ext cx="8204200" cy="2614612"/>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85A3F560-49B6-F451-B3A7-DDB828E071D1}"/>
              </a:ext>
            </a:extLst>
          </p:cNvPr>
          <p:cNvSpPr>
            <a:spLocks noGrp="1" noChangeArrowheads="1"/>
          </p:cNvSpPr>
          <p:nvPr>
            <p:ph type="title"/>
          </p:nvPr>
        </p:nvSpPr>
        <p:spPr/>
        <p:txBody>
          <a:bodyPr/>
          <a:lstStyle/>
          <a:p>
            <a:pPr eaLnBrk="1" hangingPunct="1"/>
            <a:r>
              <a:rPr lang="zh-CN" altLang="en-US"/>
              <a:t>软件项目生命期与管理过程</a:t>
            </a:r>
          </a:p>
        </p:txBody>
      </p:sp>
      <p:sp>
        <p:nvSpPr>
          <p:cNvPr id="44035" name="Rectangle 3">
            <a:extLst>
              <a:ext uri="{FF2B5EF4-FFF2-40B4-BE49-F238E27FC236}">
                <a16:creationId xmlns:a16="http://schemas.microsoft.com/office/drawing/2014/main" id="{BDAF483E-310B-2658-E77D-FB8155162E49}"/>
              </a:ext>
            </a:extLst>
          </p:cNvPr>
          <p:cNvSpPr>
            <a:spLocks noGrp="1" noChangeArrowheads="1"/>
          </p:cNvSpPr>
          <p:nvPr>
            <p:ph type="body" idx="1"/>
          </p:nvPr>
        </p:nvSpPr>
        <p:spPr>
          <a:xfrm>
            <a:off x="323850" y="1916113"/>
            <a:ext cx="8640763" cy="4941887"/>
          </a:xfrm>
        </p:spPr>
        <p:txBody>
          <a:bodyPr/>
          <a:lstStyle/>
          <a:p>
            <a:pPr eaLnBrk="1" hangingPunct="1"/>
            <a:r>
              <a:rPr lang="zh-CN" altLang="en-US" sz="2400">
                <a:solidFill>
                  <a:schemeClr val="accent2"/>
                </a:solidFill>
                <a:ea typeface="黑体" panose="02010609060101010101" pitchFamily="49" charset="-122"/>
              </a:rPr>
              <a:t>软件项目管理过程</a:t>
            </a:r>
            <a:r>
              <a:rPr lang="zh-CN" altLang="en-US"/>
              <a:t> </a:t>
            </a:r>
          </a:p>
          <a:p>
            <a:pPr eaLnBrk="1" hangingPunct="1"/>
            <a:endParaRPr lang="en-US" altLang="zh-CN"/>
          </a:p>
        </p:txBody>
      </p:sp>
      <p:grpSp>
        <p:nvGrpSpPr>
          <p:cNvPr id="44036" name="Group 4">
            <a:extLst>
              <a:ext uri="{FF2B5EF4-FFF2-40B4-BE49-F238E27FC236}">
                <a16:creationId xmlns:a16="http://schemas.microsoft.com/office/drawing/2014/main" id="{E68863C0-A1E0-BFC3-2464-102F1D420336}"/>
              </a:ext>
            </a:extLst>
          </p:cNvPr>
          <p:cNvGrpSpPr>
            <a:grpSpLocks/>
          </p:cNvGrpSpPr>
          <p:nvPr/>
        </p:nvGrpSpPr>
        <p:grpSpPr bwMode="auto">
          <a:xfrm>
            <a:off x="1763713" y="2641600"/>
            <a:ext cx="7086600" cy="3966572"/>
            <a:chOff x="528" y="992"/>
            <a:chExt cx="4464" cy="2616"/>
          </a:xfrm>
        </p:grpSpPr>
        <p:sp>
          <p:nvSpPr>
            <p:cNvPr id="44037" name="Oval 5">
              <a:extLst>
                <a:ext uri="{FF2B5EF4-FFF2-40B4-BE49-F238E27FC236}">
                  <a16:creationId xmlns:a16="http://schemas.microsoft.com/office/drawing/2014/main" id="{41ACF78E-C90D-DA78-F853-0CBBD2ABDC0A}"/>
                </a:ext>
              </a:extLst>
            </p:cNvPr>
            <p:cNvSpPr>
              <a:spLocks noChangeArrowheads="1"/>
            </p:cNvSpPr>
            <p:nvPr/>
          </p:nvSpPr>
          <p:spPr bwMode="auto">
            <a:xfrm>
              <a:off x="528" y="1549"/>
              <a:ext cx="2736" cy="1353"/>
            </a:xfrm>
            <a:prstGeom prst="ellipse">
              <a:avLst/>
            </a:prstGeom>
            <a:solidFill>
              <a:srgbClr val="C0C0C0"/>
            </a:solidFill>
            <a:ln w="9525">
              <a:solidFill>
                <a:srgbClr val="000000"/>
              </a:solidFill>
              <a:round/>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zh-CN" sz="2400" b="0">
                <a:latin typeface="Arial Narrow" panose="020B0606020202030204" pitchFamily="34" charset="0"/>
              </a:endParaRPr>
            </a:p>
          </p:txBody>
        </p:sp>
        <p:sp>
          <p:nvSpPr>
            <p:cNvPr id="44038" name="AutoShape 6">
              <a:extLst>
                <a:ext uri="{FF2B5EF4-FFF2-40B4-BE49-F238E27FC236}">
                  <a16:creationId xmlns:a16="http://schemas.microsoft.com/office/drawing/2014/main" id="{977E8355-F1AB-E95B-6395-12045E826978}"/>
                </a:ext>
              </a:extLst>
            </p:cNvPr>
            <p:cNvSpPr>
              <a:spLocks noChangeArrowheads="1"/>
            </p:cNvSpPr>
            <p:nvPr/>
          </p:nvSpPr>
          <p:spPr bwMode="auto">
            <a:xfrm>
              <a:off x="1841" y="1279"/>
              <a:ext cx="131" cy="541"/>
            </a:xfrm>
            <a:prstGeom prst="downArrow">
              <a:avLst>
                <a:gd name="adj1" fmla="val 50000"/>
                <a:gd name="adj2" fmla="val 103244"/>
              </a:avLst>
            </a:prstGeom>
            <a:solidFill>
              <a:srgbClr val="FFFFFF"/>
            </a:solidFill>
            <a:ln w="9525">
              <a:solidFill>
                <a:srgbClr val="000000"/>
              </a:solidFill>
              <a:miter lim="800000"/>
              <a:headEnd/>
              <a:tailEnd/>
            </a:ln>
          </p:spPr>
          <p:txBody>
            <a:bodyPr vert="eaVert"/>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4039" name="AutoShape 7">
              <a:extLst>
                <a:ext uri="{FF2B5EF4-FFF2-40B4-BE49-F238E27FC236}">
                  <a16:creationId xmlns:a16="http://schemas.microsoft.com/office/drawing/2014/main" id="{1EAD0324-4C00-8A33-A890-F1DA539BA27A}"/>
                </a:ext>
              </a:extLst>
            </p:cNvPr>
            <p:cNvSpPr>
              <a:spLocks noChangeArrowheads="1"/>
            </p:cNvSpPr>
            <p:nvPr/>
          </p:nvSpPr>
          <p:spPr bwMode="auto">
            <a:xfrm>
              <a:off x="1824" y="2832"/>
              <a:ext cx="175" cy="499"/>
            </a:xfrm>
            <a:prstGeom prst="downArrow">
              <a:avLst>
                <a:gd name="adj1" fmla="val 50000"/>
                <a:gd name="adj2" fmla="val 71286"/>
              </a:avLst>
            </a:prstGeom>
            <a:solidFill>
              <a:srgbClr val="FFFFFF"/>
            </a:solidFill>
            <a:ln w="9525">
              <a:solidFill>
                <a:srgbClr val="000000"/>
              </a:solidFill>
              <a:miter lim="800000"/>
              <a:headEnd/>
              <a:tailEnd/>
            </a:ln>
          </p:spPr>
          <p:txBody>
            <a:bodyPr vert="eaVert"/>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4040" name="AutoShape 8">
              <a:extLst>
                <a:ext uri="{FF2B5EF4-FFF2-40B4-BE49-F238E27FC236}">
                  <a16:creationId xmlns:a16="http://schemas.microsoft.com/office/drawing/2014/main" id="{A86D627C-1E62-D5D7-1F39-E5D7939F5671}"/>
                </a:ext>
              </a:extLst>
            </p:cNvPr>
            <p:cNvSpPr>
              <a:spLocks noChangeArrowheads="1"/>
            </p:cNvSpPr>
            <p:nvPr/>
          </p:nvSpPr>
          <p:spPr bwMode="auto">
            <a:xfrm>
              <a:off x="3154" y="1549"/>
              <a:ext cx="1838" cy="271"/>
            </a:xfrm>
            <a:prstGeom prst="wedgeRectCallout">
              <a:avLst>
                <a:gd name="adj1" fmla="val -48213"/>
                <a:gd name="adj2" fmla="val 143375"/>
              </a:avLst>
            </a:prstGeom>
            <a:solidFill>
              <a:srgbClr val="CC66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1800" b="0" i="0" u="none" strike="noStrike" kern="120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cs typeface="+mn-cs"/>
                </a:rPr>
                <a:t> </a:t>
              </a:r>
              <a:r>
                <a:rPr kumimoji="0" lang="zh-CN" altLang="en-US" sz="1800" b="1" i="0" u="none" strike="noStrike" kern="120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cs typeface="+mn-cs"/>
                </a:rPr>
                <a:t>软件项目管理的核心</a:t>
              </a:r>
              <a:endParaRPr kumimoji="0" lang="zh-CN" altLang="en-US" sz="1800">
                <a:solidFill>
                  <a:schemeClr val="bg1"/>
                </a:solidFill>
                <a:latin typeface="Times New Roman" panose="02020603050405020304" pitchFamily="18" charset="0"/>
                <a:ea typeface="黑体" panose="02010609060101010101" pitchFamily="49" charset="-122"/>
              </a:endParaRPr>
            </a:p>
          </p:txBody>
        </p:sp>
        <p:sp>
          <p:nvSpPr>
            <p:cNvPr id="44041" name="Line 9">
              <a:extLst>
                <a:ext uri="{FF2B5EF4-FFF2-40B4-BE49-F238E27FC236}">
                  <a16:creationId xmlns:a16="http://schemas.microsoft.com/office/drawing/2014/main" id="{A17436EF-4195-BE22-54BD-83DC56E6AA76}"/>
                </a:ext>
              </a:extLst>
            </p:cNvPr>
            <p:cNvSpPr>
              <a:spLocks noChangeShapeType="1"/>
            </p:cNvSpPr>
            <p:nvPr/>
          </p:nvSpPr>
          <p:spPr bwMode="auto">
            <a:xfrm>
              <a:off x="1841" y="2135"/>
              <a:ext cx="0" cy="36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42" name="Line 10">
              <a:extLst>
                <a:ext uri="{FF2B5EF4-FFF2-40B4-BE49-F238E27FC236}">
                  <a16:creationId xmlns:a16="http://schemas.microsoft.com/office/drawing/2014/main" id="{6E9C767F-758C-66A8-115A-DB5E02F5FCF8}"/>
                </a:ext>
              </a:extLst>
            </p:cNvPr>
            <p:cNvSpPr>
              <a:spLocks noChangeShapeType="1"/>
            </p:cNvSpPr>
            <p:nvPr/>
          </p:nvSpPr>
          <p:spPr bwMode="auto">
            <a:xfrm flipV="1">
              <a:off x="1972" y="2135"/>
              <a:ext cx="0" cy="36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43" name="Text Box 11">
              <a:extLst>
                <a:ext uri="{FF2B5EF4-FFF2-40B4-BE49-F238E27FC236}">
                  <a16:creationId xmlns:a16="http://schemas.microsoft.com/office/drawing/2014/main" id="{2B7CED9E-E2A4-E73D-87F0-A40F1CD36F50}"/>
                </a:ext>
              </a:extLst>
            </p:cNvPr>
            <p:cNvSpPr txBox="1">
              <a:spLocks noChangeArrowheads="1"/>
            </p:cNvSpPr>
            <p:nvPr/>
          </p:nvSpPr>
          <p:spPr bwMode="auto">
            <a:xfrm>
              <a:off x="1584" y="992"/>
              <a:ext cx="720" cy="264"/>
            </a:xfrm>
            <a:prstGeom prst="rect">
              <a:avLst/>
            </a:prstGeom>
            <a:solidFill>
              <a:srgbClr val="8AC7DC"/>
            </a:solidFill>
            <a:ln w="25400">
              <a:solidFill>
                <a:schemeClr val="tx1"/>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lang="zh-CN" altLang="en-US" sz="2000">
                  <a:solidFill>
                    <a:schemeClr val="bg1"/>
                  </a:solidFill>
                  <a:latin typeface="Arial Narrow" panose="020B0606020202030204" pitchFamily="34" charset="0"/>
                  <a:ea typeface="黑体" panose="02010609060101010101" pitchFamily="49" charset="-122"/>
                </a:rPr>
                <a:t>启动</a:t>
              </a:r>
            </a:p>
          </p:txBody>
        </p:sp>
        <p:sp>
          <p:nvSpPr>
            <p:cNvPr id="44044" name="Text Box 12">
              <a:extLst>
                <a:ext uri="{FF2B5EF4-FFF2-40B4-BE49-F238E27FC236}">
                  <a16:creationId xmlns:a16="http://schemas.microsoft.com/office/drawing/2014/main" id="{BE461CFA-2115-FE31-C77B-EAC27C1D440B}"/>
                </a:ext>
              </a:extLst>
            </p:cNvPr>
            <p:cNvSpPr txBox="1">
              <a:spLocks noChangeArrowheads="1"/>
            </p:cNvSpPr>
            <p:nvPr/>
          </p:nvSpPr>
          <p:spPr bwMode="auto">
            <a:xfrm>
              <a:off x="1584" y="1824"/>
              <a:ext cx="720" cy="264"/>
            </a:xfrm>
            <a:prstGeom prst="rect">
              <a:avLst/>
            </a:prstGeom>
            <a:solidFill>
              <a:srgbClr val="8AC7DC"/>
            </a:solidFill>
            <a:ln w="25400">
              <a:solidFill>
                <a:schemeClr val="tx1"/>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lang="zh-CN" altLang="en-US" sz="2000">
                  <a:solidFill>
                    <a:schemeClr val="bg1"/>
                  </a:solidFill>
                  <a:latin typeface="Arial Narrow" panose="020B0606020202030204" pitchFamily="34" charset="0"/>
                  <a:ea typeface="黑体" panose="02010609060101010101" pitchFamily="49" charset="-122"/>
                </a:rPr>
                <a:t>计划</a:t>
              </a:r>
            </a:p>
          </p:txBody>
        </p:sp>
        <p:sp>
          <p:nvSpPr>
            <p:cNvPr id="44045" name="Text Box 13">
              <a:extLst>
                <a:ext uri="{FF2B5EF4-FFF2-40B4-BE49-F238E27FC236}">
                  <a16:creationId xmlns:a16="http://schemas.microsoft.com/office/drawing/2014/main" id="{AB46B7C0-5DA3-E577-7968-849E612AF5AB}"/>
                </a:ext>
              </a:extLst>
            </p:cNvPr>
            <p:cNvSpPr txBox="1">
              <a:spLocks noChangeArrowheads="1"/>
            </p:cNvSpPr>
            <p:nvPr/>
          </p:nvSpPr>
          <p:spPr bwMode="auto">
            <a:xfrm>
              <a:off x="1584" y="2496"/>
              <a:ext cx="720" cy="264"/>
            </a:xfrm>
            <a:prstGeom prst="rect">
              <a:avLst/>
            </a:prstGeom>
            <a:solidFill>
              <a:srgbClr val="8AC7DC"/>
            </a:solidFill>
            <a:ln w="25400">
              <a:solidFill>
                <a:schemeClr val="tx1"/>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lang="zh-CN" altLang="en-US" sz="2000">
                  <a:solidFill>
                    <a:schemeClr val="bg1"/>
                  </a:solidFill>
                  <a:latin typeface="Arial Narrow" panose="020B0606020202030204" pitchFamily="34" charset="0"/>
                  <a:ea typeface="黑体" panose="02010609060101010101" pitchFamily="49" charset="-122"/>
                </a:rPr>
                <a:t>执行</a:t>
              </a:r>
            </a:p>
          </p:txBody>
        </p:sp>
        <p:sp>
          <p:nvSpPr>
            <p:cNvPr id="44046" name="Text Box 14">
              <a:extLst>
                <a:ext uri="{FF2B5EF4-FFF2-40B4-BE49-F238E27FC236}">
                  <a16:creationId xmlns:a16="http://schemas.microsoft.com/office/drawing/2014/main" id="{7F8392A1-C511-E366-CE7F-35936691ADA9}"/>
                </a:ext>
              </a:extLst>
            </p:cNvPr>
            <p:cNvSpPr txBox="1">
              <a:spLocks noChangeArrowheads="1"/>
            </p:cNvSpPr>
            <p:nvPr/>
          </p:nvSpPr>
          <p:spPr bwMode="auto">
            <a:xfrm>
              <a:off x="1584" y="3344"/>
              <a:ext cx="720" cy="264"/>
            </a:xfrm>
            <a:prstGeom prst="rect">
              <a:avLst/>
            </a:prstGeom>
            <a:solidFill>
              <a:srgbClr val="8AC7DC"/>
            </a:solidFill>
            <a:ln w="25400">
              <a:solidFill>
                <a:schemeClr val="tx1"/>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lang="zh-CN" altLang="en-US" sz="2000">
                  <a:solidFill>
                    <a:schemeClr val="bg1"/>
                  </a:solidFill>
                  <a:latin typeface="Arial Narrow" panose="020B0606020202030204" pitchFamily="34" charset="0"/>
                  <a:ea typeface="黑体" panose="02010609060101010101" pitchFamily="49" charset="-122"/>
                </a:rPr>
                <a:t>结束</a:t>
              </a: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A113D4BD-1197-8088-22A9-141746CF6476}"/>
              </a:ext>
            </a:extLst>
          </p:cNvPr>
          <p:cNvSpPr>
            <a:spLocks noGrp="1" noChangeArrowheads="1"/>
          </p:cNvSpPr>
          <p:nvPr>
            <p:ph type="title"/>
          </p:nvPr>
        </p:nvSpPr>
        <p:spPr/>
        <p:txBody>
          <a:bodyPr/>
          <a:lstStyle/>
          <a:p>
            <a:pPr eaLnBrk="1" hangingPunct="1"/>
            <a:r>
              <a:rPr lang="zh-CN" altLang="en-US"/>
              <a:t>软件项目生命期与管理过程</a:t>
            </a:r>
          </a:p>
        </p:txBody>
      </p:sp>
      <p:sp>
        <p:nvSpPr>
          <p:cNvPr id="45059" name="Rectangle 3">
            <a:extLst>
              <a:ext uri="{FF2B5EF4-FFF2-40B4-BE49-F238E27FC236}">
                <a16:creationId xmlns:a16="http://schemas.microsoft.com/office/drawing/2014/main" id="{6926857A-F8AA-ED32-5C86-00839169BC04}"/>
              </a:ext>
            </a:extLst>
          </p:cNvPr>
          <p:cNvSpPr>
            <a:spLocks noGrp="1" noChangeArrowheads="1"/>
          </p:cNvSpPr>
          <p:nvPr>
            <p:ph type="body" idx="1"/>
          </p:nvPr>
        </p:nvSpPr>
        <p:spPr>
          <a:xfrm>
            <a:off x="611188" y="1916113"/>
            <a:ext cx="8353425" cy="4941887"/>
          </a:xfrm>
        </p:spPr>
        <p:txBody>
          <a:bodyPr/>
          <a:lstStyle/>
          <a:p>
            <a:pPr eaLnBrk="1" hangingPunct="1"/>
            <a:r>
              <a:rPr kumimoji="1" lang="zh-CN" altLang="en-US" sz="2400">
                <a:solidFill>
                  <a:schemeClr val="accent2"/>
                </a:solidFill>
                <a:ea typeface="黑体" panose="02010609060101010101" pitchFamily="49" charset="-122"/>
              </a:rPr>
              <a:t>项目管理过程包括的主要工作</a:t>
            </a:r>
          </a:p>
          <a:p>
            <a:pPr lvl="1" eaLnBrk="1" hangingPunct="1">
              <a:lnSpc>
                <a:spcPct val="120000"/>
              </a:lnSpc>
            </a:pPr>
            <a:r>
              <a:rPr kumimoji="1" lang="zh-CN" altLang="en-US"/>
              <a:t>制定技术目标</a:t>
            </a:r>
          </a:p>
          <a:p>
            <a:pPr lvl="1" eaLnBrk="1" hangingPunct="1">
              <a:lnSpc>
                <a:spcPct val="120000"/>
              </a:lnSpc>
            </a:pPr>
            <a:r>
              <a:rPr kumimoji="1" lang="zh-CN" altLang="en-US"/>
              <a:t>组建项目组</a:t>
            </a:r>
          </a:p>
          <a:p>
            <a:pPr lvl="1" eaLnBrk="1" hangingPunct="1">
              <a:lnSpc>
                <a:spcPct val="120000"/>
              </a:lnSpc>
            </a:pPr>
            <a:r>
              <a:rPr kumimoji="1" lang="zh-CN" altLang="en-US"/>
              <a:t>制订项目计划</a:t>
            </a:r>
          </a:p>
          <a:p>
            <a:pPr lvl="1" eaLnBrk="1" hangingPunct="1">
              <a:lnSpc>
                <a:spcPct val="120000"/>
              </a:lnSpc>
            </a:pPr>
            <a:r>
              <a:rPr kumimoji="1" lang="zh-CN" altLang="en-US"/>
              <a:t>处理范围变化</a:t>
            </a:r>
          </a:p>
          <a:p>
            <a:pPr lvl="1" eaLnBrk="1" hangingPunct="1">
              <a:lnSpc>
                <a:spcPct val="120000"/>
              </a:lnSpc>
            </a:pPr>
            <a:r>
              <a:rPr kumimoji="1" lang="zh-CN" altLang="en-US"/>
              <a:t>控制实际进展</a:t>
            </a:r>
          </a:p>
          <a:p>
            <a:pPr lvl="1" eaLnBrk="1" hangingPunct="1">
              <a:lnSpc>
                <a:spcPct val="120000"/>
              </a:lnSpc>
            </a:pPr>
            <a:r>
              <a:rPr kumimoji="1" lang="zh-CN" altLang="en-US"/>
              <a:t>整理、完善技术档案</a:t>
            </a:r>
          </a:p>
          <a:p>
            <a:pPr lvl="1" eaLnBrk="1" hangingPunct="1">
              <a:lnSpc>
                <a:spcPct val="120000"/>
              </a:lnSpc>
            </a:pPr>
            <a:r>
              <a:rPr kumimoji="1" lang="zh-CN" altLang="en-US"/>
              <a:t>形成知识网络</a:t>
            </a:r>
          </a:p>
          <a:p>
            <a:pPr eaLnBrk="1" hangingPunct="1"/>
            <a:endParaRPr kumimoji="1" lang="en-US" altLang="zh-C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FED48C2C-039C-B8A0-B3F9-B1F0F4DF6A09}"/>
              </a:ext>
            </a:extLst>
          </p:cNvPr>
          <p:cNvSpPr>
            <a:spLocks noGrp="1" noChangeArrowheads="1"/>
          </p:cNvSpPr>
          <p:nvPr>
            <p:ph type="title"/>
          </p:nvPr>
        </p:nvSpPr>
        <p:spPr/>
        <p:txBody>
          <a:bodyPr/>
          <a:lstStyle/>
          <a:p>
            <a:pPr eaLnBrk="1" hangingPunct="1"/>
            <a:r>
              <a:rPr lang="zh-CN" altLang="en-US"/>
              <a:t>软件项目生命期与管理过程</a:t>
            </a:r>
          </a:p>
        </p:txBody>
      </p:sp>
      <p:sp>
        <p:nvSpPr>
          <p:cNvPr id="46083" name="Rectangle 3">
            <a:extLst>
              <a:ext uri="{FF2B5EF4-FFF2-40B4-BE49-F238E27FC236}">
                <a16:creationId xmlns:a16="http://schemas.microsoft.com/office/drawing/2014/main" id="{D7FE09AB-5911-7199-1CD4-CF29D9F63170}"/>
              </a:ext>
            </a:extLst>
          </p:cNvPr>
          <p:cNvSpPr>
            <a:spLocks noGrp="1" noChangeArrowheads="1"/>
          </p:cNvSpPr>
          <p:nvPr>
            <p:ph type="body" idx="1"/>
          </p:nvPr>
        </p:nvSpPr>
        <p:spPr>
          <a:xfrm>
            <a:off x="611188" y="1916113"/>
            <a:ext cx="8353425" cy="4941887"/>
          </a:xfrm>
        </p:spPr>
        <p:txBody>
          <a:bodyPr/>
          <a:lstStyle/>
          <a:p>
            <a:pPr eaLnBrk="1" hangingPunct="1">
              <a:lnSpc>
                <a:spcPct val="120000"/>
              </a:lnSpc>
            </a:pPr>
            <a:r>
              <a:rPr kumimoji="1" lang="zh-CN" altLang="en-US" sz="2400">
                <a:solidFill>
                  <a:schemeClr val="accent2"/>
                </a:solidFill>
                <a:ea typeface="黑体" panose="02010609060101010101" pitchFamily="49" charset="-122"/>
              </a:rPr>
              <a:t>影响项目成功的因素</a:t>
            </a:r>
          </a:p>
          <a:p>
            <a:pPr lvl="1" eaLnBrk="1" hangingPunct="1">
              <a:lnSpc>
                <a:spcPct val="120000"/>
              </a:lnSpc>
            </a:pPr>
            <a:r>
              <a:rPr kumimoji="1" lang="zh-CN" altLang="en-US"/>
              <a:t>项目的目标、范围是否明确</a:t>
            </a:r>
          </a:p>
          <a:p>
            <a:pPr lvl="1" eaLnBrk="1" hangingPunct="1">
              <a:lnSpc>
                <a:spcPct val="120000"/>
              </a:lnSpc>
            </a:pPr>
            <a:r>
              <a:rPr kumimoji="1" lang="zh-CN" altLang="en-US"/>
              <a:t>是否获得领导的积极支持</a:t>
            </a:r>
          </a:p>
          <a:p>
            <a:pPr lvl="1" eaLnBrk="1" hangingPunct="1">
              <a:lnSpc>
                <a:spcPct val="120000"/>
              </a:lnSpc>
            </a:pPr>
            <a:r>
              <a:rPr kumimoji="1" lang="zh-CN" altLang="en-US"/>
              <a:t>项目的组织是否健全、稳定</a:t>
            </a:r>
          </a:p>
          <a:p>
            <a:pPr lvl="1" eaLnBrk="1" hangingPunct="1">
              <a:lnSpc>
                <a:spcPct val="120000"/>
              </a:lnSpc>
            </a:pPr>
            <a:r>
              <a:rPr kumimoji="1" lang="zh-CN" altLang="en-US"/>
              <a:t>是否建立了有序的、有效的、良好的沟通渠道</a:t>
            </a:r>
          </a:p>
          <a:p>
            <a:pPr lvl="1" eaLnBrk="1" hangingPunct="1">
              <a:lnSpc>
                <a:spcPct val="120000"/>
              </a:lnSpc>
            </a:pPr>
            <a:r>
              <a:rPr kumimoji="1" lang="zh-CN" altLang="en-US"/>
              <a:t>是否具有有效、全面的项目管理，严格的变更控制</a:t>
            </a:r>
          </a:p>
          <a:p>
            <a:pPr lvl="1" eaLnBrk="1" hangingPunct="1">
              <a:lnSpc>
                <a:spcPct val="120000"/>
              </a:lnSpc>
            </a:pPr>
            <a:r>
              <a:rPr kumimoji="1" lang="zh-CN" altLang="en-US"/>
              <a:t>是否建立了良好的、积极的、团队合作的工作氛围</a:t>
            </a:r>
          </a:p>
          <a:p>
            <a:pPr lvl="1" eaLnBrk="1" hangingPunct="1">
              <a:lnSpc>
                <a:spcPct val="120000"/>
              </a:lnSpc>
            </a:pPr>
            <a:r>
              <a:rPr kumimoji="1" lang="zh-CN" altLang="en-US"/>
              <a:t>项目经理</a:t>
            </a:r>
            <a:r>
              <a:rPr kumimoji="1" lang="en-US" altLang="zh-CN"/>
              <a:t>PM</a:t>
            </a:r>
            <a:r>
              <a:rPr kumimoji="1" lang="zh-CN" altLang="en-US"/>
              <a:t>的经验</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15F09E13-2242-6159-35CE-A05DFC6EB46E}"/>
              </a:ext>
            </a:extLst>
          </p:cNvPr>
          <p:cNvSpPr>
            <a:spLocks noGrp="1" noChangeArrowheads="1"/>
          </p:cNvSpPr>
          <p:nvPr>
            <p:ph type="title"/>
          </p:nvPr>
        </p:nvSpPr>
        <p:spPr/>
        <p:txBody>
          <a:bodyPr/>
          <a:lstStyle/>
          <a:p>
            <a:pPr eaLnBrk="1" hangingPunct="1"/>
            <a:r>
              <a:rPr lang="zh-CN" altLang="en-US"/>
              <a:t>软件项目生命期与管理过程</a:t>
            </a:r>
          </a:p>
        </p:txBody>
      </p:sp>
      <p:sp>
        <p:nvSpPr>
          <p:cNvPr id="47107" name="Rectangle 3">
            <a:extLst>
              <a:ext uri="{FF2B5EF4-FFF2-40B4-BE49-F238E27FC236}">
                <a16:creationId xmlns:a16="http://schemas.microsoft.com/office/drawing/2014/main" id="{97A3AE89-E20D-2FB2-6F86-E56802FFD82B}"/>
              </a:ext>
            </a:extLst>
          </p:cNvPr>
          <p:cNvSpPr>
            <a:spLocks noGrp="1" noChangeArrowheads="1"/>
          </p:cNvSpPr>
          <p:nvPr>
            <p:ph type="body" idx="1"/>
          </p:nvPr>
        </p:nvSpPr>
        <p:spPr>
          <a:xfrm>
            <a:off x="468313" y="1989138"/>
            <a:ext cx="8496300" cy="4868862"/>
          </a:xfrm>
        </p:spPr>
        <p:txBody>
          <a:bodyPr/>
          <a:lstStyle/>
          <a:p>
            <a:pPr eaLnBrk="1" hangingPunct="1"/>
            <a:r>
              <a:rPr lang="zh-CN" altLang="en-US" sz="2400" dirty="0">
                <a:ea typeface="黑体" panose="02010609060101010101" pitchFamily="49" charset="-122"/>
              </a:rPr>
              <a:t>项目生命期中的几个概念</a:t>
            </a:r>
          </a:p>
          <a:p>
            <a:pPr eaLnBrk="1" hangingPunct="1">
              <a:buFont typeface="Wingdings 2" panose="05020102010507070707" pitchFamily="18" charset="2"/>
              <a:buNone/>
            </a:pPr>
            <a:r>
              <a:rPr lang="zh-CN" altLang="en-US" dirty="0"/>
              <a:t>   </a:t>
            </a:r>
            <a:r>
              <a:rPr lang="zh-CN" altLang="en-US" b="0" dirty="0"/>
              <a:t> </a:t>
            </a:r>
            <a:r>
              <a:rPr lang="en-US" altLang="zh-CN" sz="2400" b="0" dirty="0">
                <a:solidFill>
                  <a:schemeClr val="accent1"/>
                </a:solidFill>
                <a:latin typeface="宋体" panose="02010600030101010101" pitchFamily="2" charset="-122"/>
              </a:rPr>
              <a:t>——</a:t>
            </a:r>
            <a:r>
              <a:rPr lang="zh-CN" altLang="en-US" sz="2400" dirty="0">
                <a:solidFill>
                  <a:schemeClr val="accent1"/>
                </a:solidFill>
              </a:rPr>
              <a:t>项目生命期中与时间相关的重要概念</a:t>
            </a:r>
            <a:r>
              <a:rPr lang="zh-CN" altLang="en-US" dirty="0"/>
              <a:t> </a:t>
            </a:r>
          </a:p>
          <a:p>
            <a:pPr lvl="1" eaLnBrk="1" hangingPunct="1">
              <a:lnSpc>
                <a:spcPct val="130000"/>
              </a:lnSpc>
              <a:spcBef>
                <a:spcPct val="50000"/>
              </a:spcBef>
            </a:pPr>
            <a:r>
              <a:rPr lang="zh-CN" altLang="en-US" sz="2000" dirty="0">
                <a:solidFill>
                  <a:schemeClr val="accent2"/>
                </a:solidFill>
                <a:latin typeface="Times New Roman" panose="02020603050405020304" pitchFamily="18" charset="0"/>
                <a:cs typeface="Times New Roman" panose="02020603050405020304" pitchFamily="18" charset="0"/>
              </a:rPr>
              <a:t>检查点</a:t>
            </a:r>
            <a:r>
              <a:rPr lang="en-US" altLang="zh-CN" sz="2000" dirty="0">
                <a:solidFill>
                  <a:schemeClr val="accent2"/>
                </a:solidFill>
                <a:latin typeface="Times New Roman" panose="02020603050405020304" pitchFamily="18" charset="0"/>
                <a:cs typeface="Times New Roman" panose="02020603050405020304" pitchFamily="18" charset="0"/>
              </a:rPr>
              <a:t>(Check Point) </a:t>
            </a:r>
            <a:r>
              <a:rPr lang="zh-CN" altLang="en-US" sz="2000" dirty="0">
                <a:latin typeface="宋体" panose="02010600030101010101" pitchFamily="2" charset="-122"/>
              </a:rPr>
              <a:t>它指在规定的时间间隔内对项目进行检查，比较实际现状与计划之间的差异，并根据差异进行调整。（固定频率）</a:t>
            </a:r>
          </a:p>
          <a:p>
            <a:pPr lvl="1" eaLnBrk="1" hangingPunct="1">
              <a:lnSpc>
                <a:spcPct val="130000"/>
              </a:lnSpc>
            </a:pPr>
            <a:r>
              <a:rPr lang="zh-CN" altLang="en-US" sz="2000" dirty="0">
                <a:solidFill>
                  <a:schemeClr val="accent2"/>
                </a:solidFill>
                <a:latin typeface="宋体" panose="02010600030101010101" pitchFamily="2" charset="-122"/>
              </a:rPr>
              <a:t>里程碑</a:t>
            </a:r>
            <a:r>
              <a:rPr lang="en-US" altLang="zh-CN" sz="2000" dirty="0">
                <a:solidFill>
                  <a:schemeClr val="accent2"/>
                </a:solidFill>
                <a:latin typeface="Times New Roman" panose="02020603050405020304" pitchFamily="18" charset="0"/>
              </a:rPr>
              <a:t>(Mile Stone)  </a:t>
            </a:r>
            <a:r>
              <a:rPr lang="zh-CN" altLang="en-US" sz="2000" dirty="0">
                <a:latin typeface="宋体" panose="02010600030101010101" pitchFamily="2" charset="-122"/>
              </a:rPr>
              <a:t>它是完成阶段性工作的标志，不同类型的项目里程碑不同。（阶段结束）</a:t>
            </a:r>
          </a:p>
          <a:p>
            <a:pPr lvl="1" eaLnBrk="1" hangingPunct="1">
              <a:lnSpc>
                <a:spcPct val="130000"/>
              </a:lnSpc>
            </a:pPr>
            <a:r>
              <a:rPr lang="zh-CN" altLang="en-US" sz="2000" dirty="0">
                <a:solidFill>
                  <a:schemeClr val="accent2"/>
                </a:solidFill>
                <a:latin typeface="宋体" panose="02010600030101010101" pitchFamily="2" charset="-122"/>
              </a:rPr>
              <a:t>基线</a:t>
            </a:r>
            <a:r>
              <a:rPr lang="en-US" altLang="zh-CN" sz="2000" dirty="0">
                <a:solidFill>
                  <a:schemeClr val="accent2"/>
                </a:solidFill>
                <a:latin typeface="Times New Roman" panose="02020603050405020304" pitchFamily="18" charset="0"/>
              </a:rPr>
              <a:t>(Base Line)  </a:t>
            </a:r>
            <a:r>
              <a:rPr lang="zh-CN" altLang="en-US" sz="2000" dirty="0">
                <a:latin typeface="宋体" panose="02010600030101010101" pitchFamily="2" charset="-122"/>
              </a:rPr>
              <a:t>它指一个</a:t>
            </a:r>
            <a:r>
              <a:rPr lang="en-US" altLang="zh-CN" sz="2000" dirty="0">
                <a:latin typeface="宋体" panose="02010600030101010101" pitchFamily="2" charset="-122"/>
              </a:rPr>
              <a:t>(</a:t>
            </a:r>
            <a:r>
              <a:rPr lang="zh-CN" altLang="en-US" sz="2000" dirty="0">
                <a:latin typeface="宋体" panose="02010600030101010101" pitchFamily="2" charset="-122"/>
              </a:rPr>
              <a:t>或一组</a:t>
            </a:r>
            <a:r>
              <a:rPr lang="en-US" altLang="zh-CN" sz="2000" dirty="0">
                <a:latin typeface="宋体" panose="02010600030101010101" pitchFamily="2" charset="-122"/>
              </a:rPr>
              <a:t>)</a:t>
            </a:r>
            <a:r>
              <a:rPr lang="zh-CN" altLang="en-US" sz="2000" dirty="0">
                <a:latin typeface="宋体" panose="02010600030101010101" pitchFamily="2" charset="-122"/>
              </a:rPr>
              <a:t>配置项在项目生命期的不同时间点上，通过正式评审而进入正式受控的一</a:t>
            </a:r>
            <a:r>
              <a:rPr lang="zh-CN" altLang="en-US" sz="2000">
                <a:latin typeface="宋体" panose="02010600030101010101" pitchFamily="2" charset="-122"/>
              </a:rPr>
              <a:t>种状态。（评审后的相关内容）</a:t>
            </a:r>
            <a:endParaRPr lang="zh-CN" altLang="en-US" sz="2000" dirty="0">
              <a:latin typeface="宋体" panose="02010600030101010101" pitchFamily="2" charset="-122"/>
            </a:endParaRPr>
          </a:p>
          <a:p>
            <a:pPr eaLnBrk="1" hangingPunct="1">
              <a:lnSpc>
                <a:spcPct val="120000"/>
              </a:lnSpc>
            </a:pPr>
            <a:endParaRPr lang="en-US" altLang="zh-CN" sz="2000" dirty="0">
              <a:latin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1D96BDB9-7332-B334-1EBE-129D3A4191BC}"/>
              </a:ext>
            </a:extLst>
          </p:cNvPr>
          <p:cNvSpPr>
            <a:spLocks noGrp="1" noChangeArrowheads="1"/>
          </p:cNvSpPr>
          <p:nvPr>
            <p:ph type="title"/>
          </p:nvPr>
        </p:nvSpPr>
        <p:spPr/>
        <p:txBody>
          <a:bodyPr/>
          <a:lstStyle/>
          <a:p>
            <a:pPr eaLnBrk="1" hangingPunct="1"/>
            <a:r>
              <a:rPr lang="zh-CN" altLang="en-US"/>
              <a:t>本章内容提要</a:t>
            </a:r>
          </a:p>
        </p:txBody>
      </p:sp>
      <p:grpSp>
        <p:nvGrpSpPr>
          <p:cNvPr id="48131" name="Group 3">
            <a:extLst>
              <a:ext uri="{FF2B5EF4-FFF2-40B4-BE49-F238E27FC236}">
                <a16:creationId xmlns:a16="http://schemas.microsoft.com/office/drawing/2014/main" id="{B1CE1472-7CD1-D940-E950-CD491A70F191}"/>
              </a:ext>
            </a:extLst>
          </p:cNvPr>
          <p:cNvGrpSpPr>
            <a:grpSpLocks/>
          </p:cNvGrpSpPr>
          <p:nvPr/>
        </p:nvGrpSpPr>
        <p:grpSpPr bwMode="auto">
          <a:xfrm>
            <a:off x="611188" y="2343150"/>
            <a:ext cx="5670550" cy="488950"/>
            <a:chOff x="385" y="1476"/>
            <a:chExt cx="3572" cy="308"/>
          </a:xfrm>
        </p:grpSpPr>
        <p:sp>
          <p:nvSpPr>
            <p:cNvPr id="48153" name="AutoShape 4">
              <a:extLst>
                <a:ext uri="{FF2B5EF4-FFF2-40B4-BE49-F238E27FC236}">
                  <a16:creationId xmlns:a16="http://schemas.microsoft.com/office/drawing/2014/main" id="{8D86721F-06AB-AABE-B2E3-2EA920FA8D33}"/>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8154" name="Text Box 5">
              <a:extLst>
                <a:ext uri="{FF2B5EF4-FFF2-40B4-BE49-F238E27FC236}">
                  <a16:creationId xmlns:a16="http://schemas.microsoft.com/office/drawing/2014/main" id="{0F87EB32-B000-1F4B-0339-5139E0642DD8}"/>
                </a:ext>
              </a:extLst>
            </p:cNvPr>
            <p:cNvSpPr txBox="1">
              <a:spLocks noChangeArrowheads="1"/>
            </p:cNvSpPr>
            <p:nvPr/>
          </p:nvSpPr>
          <p:spPr bwMode="auto">
            <a:xfrm>
              <a:off x="626" y="1496"/>
              <a:ext cx="309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项目与软件项目的概念</a:t>
              </a:r>
              <a:r>
                <a:rPr lang="zh-CN" altLang="en-US" sz="2400" b="0">
                  <a:latin typeface="Times New Roman" panose="02020603050405020304" pitchFamily="18" charset="0"/>
                </a:rPr>
                <a:t> </a:t>
              </a:r>
            </a:p>
          </p:txBody>
        </p:sp>
        <p:sp>
          <p:nvSpPr>
            <p:cNvPr id="48155" name="Rectangle 6">
              <a:extLst>
                <a:ext uri="{FF2B5EF4-FFF2-40B4-BE49-F238E27FC236}">
                  <a16:creationId xmlns:a16="http://schemas.microsoft.com/office/drawing/2014/main" id="{E6EA1B41-FF71-68E4-B148-5DB229A724BB}"/>
                </a:ext>
              </a:extLst>
            </p:cNvPr>
            <p:cNvSpPr>
              <a:spLocks noChangeArrowheads="1"/>
            </p:cNvSpPr>
            <p:nvPr/>
          </p:nvSpPr>
          <p:spPr bwMode="auto">
            <a:xfrm>
              <a:off x="385" y="153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a:t>
              </a:r>
              <a:endParaRPr lang="en-US" altLang="zh-CN" sz="1800">
                <a:solidFill>
                  <a:srgbClr val="000000"/>
                </a:solidFill>
              </a:endParaRPr>
            </a:p>
          </p:txBody>
        </p:sp>
      </p:grpSp>
      <p:grpSp>
        <p:nvGrpSpPr>
          <p:cNvPr id="48132" name="Group 7">
            <a:extLst>
              <a:ext uri="{FF2B5EF4-FFF2-40B4-BE49-F238E27FC236}">
                <a16:creationId xmlns:a16="http://schemas.microsoft.com/office/drawing/2014/main" id="{3663D562-BFBB-88A1-CD5B-C5476F04B955}"/>
              </a:ext>
            </a:extLst>
          </p:cNvPr>
          <p:cNvGrpSpPr>
            <a:grpSpLocks/>
          </p:cNvGrpSpPr>
          <p:nvPr/>
        </p:nvGrpSpPr>
        <p:grpSpPr bwMode="auto">
          <a:xfrm>
            <a:off x="611188" y="2924175"/>
            <a:ext cx="5670550" cy="488950"/>
            <a:chOff x="385" y="1842"/>
            <a:chExt cx="3572" cy="308"/>
          </a:xfrm>
        </p:grpSpPr>
        <p:grpSp>
          <p:nvGrpSpPr>
            <p:cNvPr id="48149" name="Group 8">
              <a:extLst>
                <a:ext uri="{FF2B5EF4-FFF2-40B4-BE49-F238E27FC236}">
                  <a16:creationId xmlns:a16="http://schemas.microsoft.com/office/drawing/2014/main" id="{C7BB70F7-5F6A-C80A-8FDC-CA394A100AC9}"/>
                </a:ext>
              </a:extLst>
            </p:cNvPr>
            <p:cNvGrpSpPr>
              <a:grpSpLocks/>
            </p:cNvGrpSpPr>
            <p:nvPr/>
          </p:nvGrpSpPr>
          <p:grpSpPr bwMode="auto">
            <a:xfrm>
              <a:off x="464" y="1842"/>
              <a:ext cx="3493" cy="308"/>
              <a:chOff x="464" y="1842"/>
              <a:chExt cx="3493" cy="308"/>
            </a:xfrm>
          </p:grpSpPr>
          <p:sp>
            <p:nvSpPr>
              <p:cNvPr id="48151" name="AutoShape 9">
                <a:extLst>
                  <a:ext uri="{FF2B5EF4-FFF2-40B4-BE49-F238E27FC236}">
                    <a16:creationId xmlns:a16="http://schemas.microsoft.com/office/drawing/2014/main" id="{1F94F091-6B03-A62F-CB99-C7F50DC39000}"/>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8152" name="Text Box 10">
                <a:extLst>
                  <a:ext uri="{FF2B5EF4-FFF2-40B4-BE49-F238E27FC236}">
                    <a16:creationId xmlns:a16="http://schemas.microsoft.com/office/drawing/2014/main" id="{4B5B800D-27D3-006A-5AF6-62123331F39B}"/>
                  </a:ext>
                </a:extLst>
              </p:cNvPr>
              <p:cNvSpPr txBox="1">
                <a:spLocks noChangeArrowheads="1"/>
              </p:cNvSpPr>
              <p:nvPr/>
            </p:nvSpPr>
            <p:spPr bwMode="auto">
              <a:xfrm>
                <a:off x="626" y="1867"/>
                <a:ext cx="309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项目管理的概念</a:t>
                </a:r>
                <a:r>
                  <a:rPr lang="zh-CN" altLang="en-US" sz="2400" b="0">
                    <a:latin typeface="Times New Roman" panose="02020603050405020304" pitchFamily="18" charset="0"/>
                  </a:rPr>
                  <a:t> </a:t>
                </a:r>
              </a:p>
            </p:txBody>
          </p:sp>
        </p:grpSp>
        <p:sp>
          <p:nvSpPr>
            <p:cNvPr id="48150" name="Rectangle 11">
              <a:extLst>
                <a:ext uri="{FF2B5EF4-FFF2-40B4-BE49-F238E27FC236}">
                  <a16:creationId xmlns:a16="http://schemas.microsoft.com/office/drawing/2014/main" id="{F06AB854-F515-A9D2-66E9-80F11A48A4D0}"/>
                </a:ext>
              </a:extLst>
            </p:cNvPr>
            <p:cNvSpPr>
              <a:spLocks noChangeArrowheads="1"/>
            </p:cNvSpPr>
            <p:nvPr/>
          </p:nvSpPr>
          <p:spPr bwMode="auto">
            <a:xfrm>
              <a:off x="385" y="1915"/>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1.2</a:t>
              </a:r>
              <a:endParaRPr lang="en-US" altLang="zh-CN" sz="1800">
                <a:solidFill>
                  <a:srgbClr val="000000"/>
                </a:solidFill>
              </a:endParaRPr>
            </a:p>
          </p:txBody>
        </p:sp>
      </p:grpSp>
      <p:grpSp>
        <p:nvGrpSpPr>
          <p:cNvPr id="48133" name="Group 12">
            <a:extLst>
              <a:ext uri="{FF2B5EF4-FFF2-40B4-BE49-F238E27FC236}">
                <a16:creationId xmlns:a16="http://schemas.microsoft.com/office/drawing/2014/main" id="{2CF4AB25-4E76-A49A-4D42-3A6D44C73D4C}"/>
              </a:ext>
            </a:extLst>
          </p:cNvPr>
          <p:cNvGrpSpPr>
            <a:grpSpLocks/>
          </p:cNvGrpSpPr>
          <p:nvPr/>
        </p:nvGrpSpPr>
        <p:grpSpPr bwMode="auto">
          <a:xfrm>
            <a:off x="611188" y="3500438"/>
            <a:ext cx="5689600" cy="488950"/>
            <a:chOff x="385" y="2209"/>
            <a:chExt cx="3584" cy="308"/>
          </a:xfrm>
        </p:grpSpPr>
        <p:sp>
          <p:nvSpPr>
            <p:cNvPr id="48146" name="AutoShape 13">
              <a:extLst>
                <a:ext uri="{FF2B5EF4-FFF2-40B4-BE49-F238E27FC236}">
                  <a16:creationId xmlns:a16="http://schemas.microsoft.com/office/drawing/2014/main" id="{4ADFCA23-CBA2-AB45-0EC3-06C3C943C4A9}"/>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8147" name="Text Box 14">
              <a:extLst>
                <a:ext uri="{FF2B5EF4-FFF2-40B4-BE49-F238E27FC236}">
                  <a16:creationId xmlns:a16="http://schemas.microsoft.com/office/drawing/2014/main" id="{9102F063-C3F2-72D5-8AC2-F9282977A56F}"/>
                </a:ext>
              </a:extLst>
            </p:cNvPr>
            <p:cNvSpPr txBox="1">
              <a:spLocks noChangeArrowheads="1"/>
            </p:cNvSpPr>
            <p:nvPr/>
          </p:nvSpPr>
          <p:spPr bwMode="auto">
            <a:xfrm>
              <a:off x="626" y="2253"/>
              <a:ext cx="31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软件项目生命期与管理过程</a:t>
              </a:r>
              <a:r>
                <a:rPr lang="zh-CN" altLang="en-US" sz="2400" b="0">
                  <a:latin typeface="Times New Roman" panose="02020603050405020304" pitchFamily="18" charset="0"/>
                </a:rPr>
                <a:t> </a:t>
              </a:r>
            </a:p>
          </p:txBody>
        </p:sp>
        <p:sp>
          <p:nvSpPr>
            <p:cNvPr id="48148" name="Rectangle 15">
              <a:extLst>
                <a:ext uri="{FF2B5EF4-FFF2-40B4-BE49-F238E27FC236}">
                  <a16:creationId xmlns:a16="http://schemas.microsoft.com/office/drawing/2014/main" id="{91F9BAD8-9621-4CE8-E5C3-C9ACBE6CC445}"/>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1.3</a:t>
              </a:r>
              <a:endParaRPr lang="en-US" altLang="zh-CN" sz="1800">
                <a:solidFill>
                  <a:srgbClr val="000000"/>
                </a:solidFill>
              </a:endParaRPr>
            </a:p>
          </p:txBody>
        </p:sp>
      </p:grpSp>
      <p:grpSp>
        <p:nvGrpSpPr>
          <p:cNvPr id="48134" name="Group 16">
            <a:extLst>
              <a:ext uri="{FF2B5EF4-FFF2-40B4-BE49-F238E27FC236}">
                <a16:creationId xmlns:a16="http://schemas.microsoft.com/office/drawing/2014/main" id="{AD317B8B-D3AF-6F05-943A-899978FEF206}"/>
              </a:ext>
            </a:extLst>
          </p:cNvPr>
          <p:cNvGrpSpPr>
            <a:grpSpLocks/>
          </p:cNvGrpSpPr>
          <p:nvPr/>
        </p:nvGrpSpPr>
        <p:grpSpPr bwMode="auto">
          <a:xfrm>
            <a:off x="611188" y="4076700"/>
            <a:ext cx="5689600" cy="488950"/>
            <a:chOff x="385" y="2209"/>
            <a:chExt cx="3584" cy="308"/>
          </a:xfrm>
        </p:grpSpPr>
        <p:sp>
          <p:nvSpPr>
            <p:cNvPr id="48143" name="AutoShape 17">
              <a:extLst>
                <a:ext uri="{FF2B5EF4-FFF2-40B4-BE49-F238E27FC236}">
                  <a16:creationId xmlns:a16="http://schemas.microsoft.com/office/drawing/2014/main" id="{D564525A-5B30-0C8D-245F-CA14436D2237}"/>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8144" name="Text Box 18">
              <a:extLst>
                <a:ext uri="{FF2B5EF4-FFF2-40B4-BE49-F238E27FC236}">
                  <a16:creationId xmlns:a16="http://schemas.microsoft.com/office/drawing/2014/main" id="{907F9204-0642-B4DE-2FB9-10A77CEB526F}"/>
                </a:ext>
              </a:extLst>
            </p:cNvPr>
            <p:cNvSpPr txBox="1">
              <a:spLocks noChangeArrowheads="1"/>
            </p:cNvSpPr>
            <p:nvPr/>
          </p:nvSpPr>
          <p:spPr bwMode="auto">
            <a:xfrm>
              <a:off x="626" y="2253"/>
              <a:ext cx="31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本书内容的组织</a:t>
              </a:r>
              <a:r>
                <a:rPr lang="zh-CN" altLang="en-US" sz="2400" b="0">
                  <a:latin typeface="Times New Roman" panose="02020603050405020304" pitchFamily="18" charset="0"/>
                </a:rPr>
                <a:t> </a:t>
              </a:r>
            </a:p>
          </p:txBody>
        </p:sp>
        <p:sp>
          <p:nvSpPr>
            <p:cNvPr id="48145" name="Rectangle 19">
              <a:extLst>
                <a:ext uri="{FF2B5EF4-FFF2-40B4-BE49-F238E27FC236}">
                  <a16:creationId xmlns:a16="http://schemas.microsoft.com/office/drawing/2014/main" id="{BA435153-364E-6957-6EBF-793E7038873F}"/>
                </a:ext>
              </a:extLst>
            </p:cNvPr>
            <p:cNvSpPr>
              <a:spLocks noChangeArrowheads="1"/>
            </p:cNvSpPr>
            <p:nvPr/>
          </p:nvSpPr>
          <p:spPr bwMode="auto">
            <a:xfrm>
              <a:off x="385" y="2282"/>
              <a:ext cx="211" cy="164"/>
            </a:xfrm>
            <a:prstGeom prst="rect">
              <a:avLst/>
            </a:prstGeom>
            <a:solidFill>
              <a:schemeClr val="accent2"/>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1.4</a:t>
              </a:r>
              <a:endParaRPr lang="en-US" altLang="zh-CN" sz="1800">
                <a:solidFill>
                  <a:srgbClr val="000000"/>
                </a:solidFill>
              </a:endParaRPr>
            </a:p>
          </p:txBody>
        </p:sp>
      </p:grpSp>
      <p:grpSp>
        <p:nvGrpSpPr>
          <p:cNvPr id="48135" name="Group 20">
            <a:extLst>
              <a:ext uri="{FF2B5EF4-FFF2-40B4-BE49-F238E27FC236}">
                <a16:creationId xmlns:a16="http://schemas.microsoft.com/office/drawing/2014/main" id="{02B446F5-F843-C27A-E65F-549CFBF2B599}"/>
              </a:ext>
            </a:extLst>
          </p:cNvPr>
          <p:cNvGrpSpPr>
            <a:grpSpLocks/>
          </p:cNvGrpSpPr>
          <p:nvPr/>
        </p:nvGrpSpPr>
        <p:grpSpPr bwMode="auto">
          <a:xfrm>
            <a:off x="611188" y="4652963"/>
            <a:ext cx="5689600" cy="488950"/>
            <a:chOff x="385" y="2209"/>
            <a:chExt cx="3584" cy="308"/>
          </a:xfrm>
        </p:grpSpPr>
        <p:sp>
          <p:nvSpPr>
            <p:cNvPr id="48140" name="AutoShape 21">
              <a:extLst>
                <a:ext uri="{FF2B5EF4-FFF2-40B4-BE49-F238E27FC236}">
                  <a16:creationId xmlns:a16="http://schemas.microsoft.com/office/drawing/2014/main" id="{1A60063E-D4DF-4D10-45E6-0C1AE0F9C9E8}"/>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8141" name="Text Box 22">
              <a:extLst>
                <a:ext uri="{FF2B5EF4-FFF2-40B4-BE49-F238E27FC236}">
                  <a16:creationId xmlns:a16="http://schemas.microsoft.com/office/drawing/2014/main" id="{B5BEC39F-82DC-E750-8797-064B400D4B67}"/>
                </a:ext>
              </a:extLst>
            </p:cNvPr>
            <p:cNvSpPr txBox="1">
              <a:spLocks noChangeArrowheads="1"/>
            </p:cNvSpPr>
            <p:nvPr/>
          </p:nvSpPr>
          <p:spPr bwMode="auto">
            <a:xfrm>
              <a:off x="626" y="2273"/>
              <a:ext cx="311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本章小结</a:t>
              </a:r>
            </a:p>
          </p:txBody>
        </p:sp>
        <p:sp>
          <p:nvSpPr>
            <p:cNvPr id="48142" name="Rectangle 23">
              <a:extLst>
                <a:ext uri="{FF2B5EF4-FFF2-40B4-BE49-F238E27FC236}">
                  <a16:creationId xmlns:a16="http://schemas.microsoft.com/office/drawing/2014/main" id="{659B10FC-689E-BCA5-F585-B8ADAA45452F}"/>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1.5</a:t>
              </a:r>
              <a:endParaRPr lang="en-US" altLang="zh-CN" sz="1800">
                <a:solidFill>
                  <a:srgbClr val="000000"/>
                </a:solidFill>
              </a:endParaRPr>
            </a:p>
          </p:txBody>
        </p:sp>
      </p:grpSp>
      <p:grpSp>
        <p:nvGrpSpPr>
          <p:cNvPr id="48136" name="Group 24">
            <a:extLst>
              <a:ext uri="{FF2B5EF4-FFF2-40B4-BE49-F238E27FC236}">
                <a16:creationId xmlns:a16="http://schemas.microsoft.com/office/drawing/2014/main" id="{4B7DE633-6F0E-5AC3-423A-1430DA9B195A}"/>
              </a:ext>
            </a:extLst>
          </p:cNvPr>
          <p:cNvGrpSpPr>
            <a:grpSpLocks/>
          </p:cNvGrpSpPr>
          <p:nvPr/>
        </p:nvGrpSpPr>
        <p:grpSpPr bwMode="auto">
          <a:xfrm>
            <a:off x="611188" y="5229225"/>
            <a:ext cx="5689600" cy="488950"/>
            <a:chOff x="385" y="2209"/>
            <a:chExt cx="3584" cy="308"/>
          </a:xfrm>
        </p:grpSpPr>
        <p:sp>
          <p:nvSpPr>
            <p:cNvPr id="48137" name="AutoShape 25">
              <a:extLst>
                <a:ext uri="{FF2B5EF4-FFF2-40B4-BE49-F238E27FC236}">
                  <a16:creationId xmlns:a16="http://schemas.microsoft.com/office/drawing/2014/main" id="{AB979872-5927-060E-34AB-D1665A0DA1D9}"/>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8138" name="Text Box 26">
              <a:extLst>
                <a:ext uri="{FF2B5EF4-FFF2-40B4-BE49-F238E27FC236}">
                  <a16:creationId xmlns:a16="http://schemas.microsoft.com/office/drawing/2014/main" id="{D9717862-F422-9589-4BFF-F4B5B0E48ECA}"/>
                </a:ext>
              </a:extLst>
            </p:cNvPr>
            <p:cNvSpPr txBox="1">
              <a:spLocks noChangeArrowheads="1"/>
            </p:cNvSpPr>
            <p:nvPr/>
          </p:nvSpPr>
          <p:spPr bwMode="auto">
            <a:xfrm>
              <a:off x="626" y="2273"/>
              <a:ext cx="311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复习思考题</a:t>
              </a:r>
            </a:p>
          </p:txBody>
        </p:sp>
        <p:sp>
          <p:nvSpPr>
            <p:cNvPr id="48139" name="Rectangle 27">
              <a:extLst>
                <a:ext uri="{FF2B5EF4-FFF2-40B4-BE49-F238E27FC236}">
                  <a16:creationId xmlns:a16="http://schemas.microsoft.com/office/drawing/2014/main" id="{D00A7FAF-52A9-46F8-9B85-CBA52E386A97}"/>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1.6</a:t>
              </a:r>
              <a:endParaRPr lang="en-US" altLang="zh-CN" sz="1800">
                <a:solidFill>
                  <a:srgbClr val="000000"/>
                </a:solidFill>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7965E61D-77F4-35F7-ABAE-0B88B9570DB8}"/>
              </a:ext>
            </a:extLst>
          </p:cNvPr>
          <p:cNvSpPr>
            <a:spLocks noGrp="1" noChangeArrowheads="1"/>
          </p:cNvSpPr>
          <p:nvPr>
            <p:ph type="title"/>
          </p:nvPr>
        </p:nvSpPr>
        <p:spPr/>
        <p:txBody>
          <a:bodyPr/>
          <a:lstStyle/>
          <a:p>
            <a:pPr eaLnBrk="1" hangingPunct="1"/>
            <a:r>
              <a:rPr lang="en-US" altLang="zh-CN"/>
              <a:t>1.4  </a:t>
            </a:r>
            <a:r>
              <a:rPr lang="zh-CN" altLang="en-US"/>
              <a:t>本书内容的组织 </a:t>
            </a:r>
          </a:p>
        </p:txBody>
      </p:sp>
      <p:sp>
        <p:nvSpPr>
          <p:cNvPr id="49155" name="Rectangle 3">
            <a:extLst>
              <a:ext uri="{FF2B5EF4-FFF2-40B4-BE49-F238E27FC236}">
                <a16:creationId xmlns:a16="http://schemas.microsoft.com/office/drawing/2014/main" id="{F2B7B5EE-0C16-0C26-3ED4-A7402197864F}"/>
              </a:ext>
            </a:extLst>
          </p:cNvPr>
          <p:cNvSpPr>
            <a:spLocks noGrp="1" noChangeArrowheads="1"/>
          </p:cNvSpPr>
          <p:nvPr>
            <p:ph type="body" idx="1"/>
          </p:nvPr>
        </p:nvSpPr>
        <p:spPr>
          <a:xfrm>
            <a:off x="323850" y="1916113"/>
            <a:ext cx="8640763" cy="4941887"/>
          </a:xfrm>
        </p:spPr>
        <p:txBody>
          <a:bodyPr/>
          <a:lstStyle/>
          <a:p>
            <a:pPr eaLnBrk="1" hangingPunct="1"/>
            <a:r>
              <a:rPr lang="en-US" altLang="zh-CN">
                <a:solidFill>
                  <a:schemeClr val="accent2"/>
                </a:solidFill>
                <a:latin typeface="Times New Roman" panose="02020603050405020304" pitchFamily="18" charset="0"/>
                <a:ea typeface="黑体" panose="02010609060101010101" pitchFamily="49" charset="-122"/>
              </a:rPr>
              <a:t>RoadMap</a:t>
            </a:r>
          </a:p>
        </p:txBody>
      </p:sp>
      <p:grpSp>
        <p:nvGrpSpPr>
          <p:cNvPr id="49156" name="Group 21">
            <a:extLst>
              <a:ext uri="{FF2B5EF4-FFF2-40B4-BE49-F238E27FC236}">
                <a16:creationId xmlns:a16="http://schemas.microsoft.com/office/drawing/2014/main" id="{CCD842F8-FADE-F10A-D1E2-0A804DFD989A}"/>
              </a:ext>
            </a:extLst>
          </p:cNvPr>
          <p:cNvGrpSpPr>
            <a:grpSpLocks/>
          </p:cNvGrpSpPr>
          <p:nvPr/>
        </p:nvGrpSpPr>
        <p:grpSpPr bwMode="auto">
          <a:xfrm>
            <a:off x="1116013" y="2781300"/>
            <a:ext cx="7151687" cy="3527425"/>
            <a:chOff x="703" y="1752"/>
            <a:chExt cx="4505" cy="2222"/>
          </a:xfrm>
        </p:grpSpPr>
        <p:sp>
          <p:nvSpPr>
            <p:cNvPr id="49157" name="AutoShape 5">
              <a:extLst>
                <a:ext uri="{FF2B5EF4-FFF2-40B4-BE49-F238E27FC236}">
                  <a16:creationId xmlns:a16="http://schemas.microsoft.com/office/drawing/2014/main" id="{903ACE3C-A802-B48F-4EAF-CA0FF47B3CC7}"/>
                </a:ext>
              </a:extLst>
            </p:cNvPr>
            <p:cNvSpPr>
              <a:spLocks noChangeArrowheads="1"/>
            </p:cNvSpPr>
            <p:nvPr/>
          </p:nvSpPr>
          <p:spPr bwMode="auto">
            <a:xfrm>
              <a:off x="703" y="1752"/>
              <a:ext cx="958" cy="474"/>
            </a:xfrm>
            <a:prstGeom prst="chevron">
              <a:avLst>
                <a:gd name="adj" fmla="val 50527"/>
              </a:avLst>
            </a:prstGeom>
            <a:solidFill>
              <a:srgbClr val="767DBE"/>
            </a:solidFill>
            <a:ln w="25400">
              <a:solidFill>
                <a:schemeClr val="tx1"/>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lvl="0" algn="ctr" eaLnBrk="1" hangingPunct="1">
                <a:spcBef>
                  <a:spcPct val="0"/>
                </a:spcBef>
                <a:buClrTx/>
                <a:buNone/>
              </a:pPr>
              <a:r>
                <a:rPr lang="zh-CN" altLang="en-US" sz="2000">
                  <a:solidFill>
                    <a:srgbClr val="FFFFFF"/>
                  </a:solidFill>
                  <a:latin typeface="Arial Narrow" panose="020B0606020202030204" pitchFamily="34" charset="0"/>
                </a:rPr>
                <a:t>　　</a:t>
              </a:r>
              <a:r>
                <a:rPr lang="zh-CN" altLang="en-US" sz="1800">
                  <a:solidFill>
                    <a:srgbClr val="FFFFFF"/>
                  </a:solidFill>
                  <a:latin typeface="Arial Narrow" panose="020B0606020202030204" pitchFamily="34" charset="0"/>
                </a:rPr>
                <a:t>课程概述</a:t>
              </a:r>
              <a:r>
                <a:rPr lang="zh-CN" altLang="en-US" sz="1600" b="0">
                  <a:solidFill>
                    <a:srgbClr val="FFFFFF"/>
                  </a:solidFill>
                  <a:latin typeface="Arial Narrow" panose="020B0606020202030204" pitchFamily="34" charset="0"/>
                </a:rPr>
                <a:t>   </a:t>
              </a:r>
              <a:endParaRPr lang="zh-CN" altLang="en-US" sz="2000">
                <a:solidFill>
                  <a:srgbClr val="FFFFFF"/>
                </a:solidFill>
                <a:latin typeface="Arial Narrow" panose="020B0606020202030204" pitchFamily="34" charset="0"/>
              </a:endParaRPr>
            </a:p>
          </p:txBody>
        </p:sp>
        <p:sp>
          <p:nvSpPr>
            <p:cNvPr id="49158" name="AutoShape 6">
              <a:extLst>
                <a:ext uri="{FF2B5EF4-FFF2-40B4-BE49-F238E27FC236}">
                  <a16:creationId xmlns:a16="http://schemas.microsoft.com/office/drawing/2014/main" id="{7AE03622-8CBD-0B86-09C0-834D8212B1F1}"/>
                </a:ext>
              </a:extLst>
            </p:cNvPr>
            <p:cNvSpPr>
              <a:spLocks noChangeArrowheads="1"/>
            </p:cNvSpPr>
            <p:nvPr/>
          </p:nvSpPr>
          <p:spPr bwMode="auto">
            <a:xfrm>
              <a:off x="1411" y="1752"/>
              <a:ext cx="958" cy="474"/>
            </a:xfrm>
            <a:prstGeom prst="chevron">
              <a:avLst>
                <a:gd name="adj" fmla="val 50527"/>
              </a:avLst>
            </a:prstGeom>
            <a:solidFill>
              <a:schemeClr val="accent1"/>
            </a:solidFill>
            <a:ln w="25400">
              <a:solidFill>
                <a:schemeClr val="tx1"/>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lvl="0" algn="ctr" eaLnBrk="1" hangingPunct="1">
                <a:spcBef>
                  <a:spcPct val="0"/>
                </a:spcBef>
                <a:buClrTx/>
                <a:buNone/>
              </a:pPr>
              <a:r>
                <a:rPr lang="zh-CN" altLang="en-US" sz="2000">
                  <a:solidFill>
                    <a:srgbClr val="FFFFFF"/>
                  </a:solidFill>
                  <a:latin typeface="Arial Narrow" panose="020B0606020202030204" pitchFamily="34" charset="0"/>
                </a:rPr>
                <a:t>　　</a:t>
              </a:r>
            </a:p>
            <a:p>
              <a:pPr lvl="0" algn="ctr" eaLnBrk="1" hangingPunct="1">
                <a:spcBef>
                  <a:spcPct val="0"/>
                </a:spcBef>
                <a:buClrTx/>
                <a:buNone/>
              </a:pPr>
              <a:r>
                <a:rPr lang="zh-CN" altLang="en-US" sz="2000">
                  <a:solidFill>
                    <a:srgbClr val="FFFFFF"/>
                  </a:solidFill>
                  <a:latin typeface="Arial Narrow" panose="020B0606020202030204" pitchFamily="34" charset="0"/>
                </a:rPr>
                <a:t>     </a:t>
              </a:r>
              <a:r>
                <a:rPr lang="zh-CN" altLang="en-US" sz="1800">
                  <a:solidFill>
                    <a:srgbClr val="FFFFFF"/>
                  </a:solidFill>
                  <a:latin typeface="Arial Narrow" panose="020B0606020202030204" pitchFamily="34" charset="0"/>
                </a:rPr>
                <a:t> 合同管理</a:t>
              </a:r>
            </a:p>
            <a:p>
              <a:pPr lvl="0" algn="ctr" eaLnBrk="1" hangingPunct="1">
                <a:spcBef>
                  <a:spcPct val="0"/>
                </a:spcBef>
                <a:buClrTx/>
                <a:buNone/>
              </a:pPr>
              <a:endParaRPr lang="en-US" altLang="zh-CN" sz="2000">
                <a:solidFill>
                  <a:srgbClr val="FFFFFF"/>
                </a:solidFill>
                <a:latin typeface="Arial Narrow" panose="020B0606020202030204" pitchFamily="34" charset="0"/>
              </a:endParaRPr>
            </a:p>
          </p:txBody>
        </p:sp>
        <p:sp>
          <p:nvSpPr>
            <p:cNvPr id="49159" name="AutoShape 7">
              <a:extLst>
                <a:ext uri="{FF2B5EF4-FFF2-40B4-BE49-F238E27FC236}">
                  <a16:creationId xmlns:a16="http://schemas.microsoft.com/office/drawing/2014/main" id="{2835AEC0-D6B1-543E-E40A-9613F75C9A19}"/>
                </a:ext>
              </a:extLst>
            </p:cNvPr>
            <p:cNvSpPr>
              <a:spLocks noChangeArrowheads="1"/>
            </p:cNvSpPr>
            <p:nvPr/>
          </p:nvSpPr>
          <p:spPr bwMode="auto">
            <a:xfrm>
              <a:off x="2119" y="1752"/>
              <a:ext cx="958" cy="474"/>
            </a:xfrm>
            <a:prstGeom prst="chevron">
              <a:avLst>
                <a:gd name="adj" fmla="val 50527"/>
              </a:avLst>
            </a:prstGeom>
            <a:solidFill>
              <a:srgbClr val="767DBE"/>
            </a:solidFill>
            <a:ln w="25400">
              <a:solidFill>
                <a:schemeClr val="tx1"/>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lvl="0" algn="ctr" eaLnBrk="1" hangingPunct="1">
                <a:spcBef>
                  <a:spcPct val="0"/>
                </a:spcBef>
                <a:buClrTx/>
                <a:buNone/>
              </a:pPr>
              <a:r>
                <a:rPr lang="zh-CN" altLang="en-US" sz="2000">
                  <a:solidFill>
                    <a:srgbClr val="FFFFFF"/>
                  </a:solidFill>
                  <a:latin typeface="Arial Narrow" panose="020B0606020202030204" pitchFamily="34" charset="0"/>
                </a:rPr>
                <a:t>　  </a:t>
              </a:r>
              <a:r>
                <a:rPr lang="zh-CN" altLang="en-US" sz="1800">
                  <a:solidFill>
                    <a:srgbClr val="FFFFFF"/>
                  </a:solidFill>
                  <a:latin typeface="Arial Narrow" panose="020B0606020202030204" pitchFamily="34" charset="0"/>
                </a:rPr>
                <a:t>生存期</a:t>
              </a:r>
            </a:p>
          </p:txBody>
        </p:sp>
        <p:sp>
          <p:nvSpPr>
            <p:cNvPr id="49160" name="AutoShape 8">
              <a:extLst>
                <a:ext uri="{FF2B5EF4-FFF2-40B4-BE49-F238E27FC236}">
                  <a16:creationId xmlns:a16="http://schemas.microsoft.com/office/drawing/2014/main" id="{666BDA35-68D0-B128-A180-FBCBFA102FA2}"/>
                </a:ext>
              </a:extLst>
            </p:cNvPr>
            <p:cNvSpPr>
              <a:spLocks noChangeArrowheads="1"/>
            </p:cNvSpPr>
            <p:nvPr/>
          </p:nvSpPr>
          <p:spPr bwMode="auto">
            <a:xfrm>
              <a:off x="2827" y="1752"/>
              <a:ext cx="958" cy="474"/>
            </a:xfrm>
            <a:prstGeom prst="chevron">
              <a:avLst>
                <a:gd name="adj" fmla="val 50527"/>
              </a:avLst>
            </a:prstGeom>
            <a:solidFill>
              <a:schemeClr val="accent1"/>
            </a:solidFill>
            <a:ln w="25400">
              <a:solidFill>
                <a:schemeClr val="tx1"/>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lvl="0" algn="ctr" eaLnBrk="1" hangingPunct="1">
                <a:spcBef>
                  <a:spcPct val="0"/>
                </a:spcBef>
                <a:buClrTx/>
                <a:buNone/>
              </a:pPr>
              <a:r>
                <a:rPr lang="zh-CN" altLang="en-US" sz="2000">
                  <a:solidFill>
                    <a:srgbClr val="FFFFFF"/>
                  </a:solidFill>
                  <a:latin typeface="Arial Narrow" panose="020B0606020202030204" pitchFamily="34" charset="0"/>
                </a:rPr>
                <a:t>　　</a:t>
              </a:r>
              <a:r>
                <a:rPr lang="zh-CN" altLang="en-US" sz="1800">
                  <a:solidFill>
                    <a:srgbClr val="FFFFFF"/>
                  </a:solidFill>
                  <a:latin typeface="Arial Narrow" panose="020B0606020202030204" pitchFamily="34" charset="0"/>
                </a:rPr>
                <a:t>团队管理</a:t>
              </a:r>
              <a:r>
                <a:rPr lang="zh-CN" altLang="en-US" sz="1200">
                  <a:solidFill>
                    <a:srgbClr val="FFFFFF"/>
                  </a:solidFill>
                </a:rPr>
                <a:t> </a:t>
              </a:r>
            </a:p>
          </p:txBody>
        </p:sp>
        <p:sp>
          <p:nvSpPr>
            <p:cNvPr id="49161" name="AutoShape 9">
              <a:extLst>
                <a:ext uri="{FF2B5EF4-FFF2-40B4-BE49-F238E27FC236}">
                  <a16:creationId xmlns:a16="http://schemas.microsoft.com/office/drawing/2014/main" id="{0CBE2A80-5870-14E5-4F05-111D2D3AA95E}"/>
                </a:ext>
              </a:extLst>
            </p:cNvPr>
            <p:cNvSpPr>
              <a:spLocks noChangeArrowheads="1"/>
            </p:cNvSpPr>
            <p:nvPr/>
          </p:nvSpPr>
          <p:spPr bwMode="auto">
            <a:xfrm>
              <a:off x="4243" y="1752"/>
              <a:ext cx="958" cy="474"/>
            </a:xfrm>
            <a:prstGeom prst="chevron">
              <a:avLst>
                <a:gd name="adj" fmla="val 50527"/>
              </a:avLst>
            </a:prstGeom>
            <a:solidFill>
              <a:schemeClr val="accent1"/>
            </a:solidFill>
            <a:ln w="25400">
              <a:solidFill>
                <a:schemeClr val="tx1"/>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lvl="0" algn="ctr" eaLnBrk="1" hangingPunct="1">
                <a:spcBef>
                  <a:spcPct val="0"/>
                </a:spcBef>
                <a:buClrTx/>
                <a:buNone/>
              </a:pPr>
              <a:r>
                <a:rPr lang="zh-CN" altLang="en-US" sz="2000">
                  <a:solidFill>
                    <a:srgbClr val="FFFFFF"/>
                  </a:solidFill>
                  <a:latin typeface="Arial Narrow" panose="020B0606020202030204" pitchFamily="34" charset="0"/>
                </a:rPr>
                <a:t>　　</a:t>
              </a:r>
              <a:r>
                <a:rPr lang="zh-CN" altLang="en-US" sz="1800">
                  <a:solidFill>
                    <a:srgbClr val="FFFFFF"/>
                  </a:solidFill>
                  <a:latin typeface="Arial Narrow" panose="020B0606020202030204" pitchFamily="34" charset="0"/>
                </a:rPr>
                <a:t>任务分解</a:t>
              </a:r>
            </a:p>
          </p:txBody>
        </p:sp>
        <p:sp>
          <p:nvSpPr>
            <p:cNvPr id="49162" name="AutoShape 10">
              <a:extLst>
                <a:ext uri="{FF2B5EF4-FFF2-40B4-BE49-F238E27FC236}">
                  <a16:creationId xmlns:a16="http://schemas.microsoft.com/office/drawing/2014/main" id="{C6436D97-788A-46ED-EBEB-B765B2A0FF4B}"/>
                </a:ext>
              </a:extLst>
            </p:cNvPr>
            <p:cNvSpPr>
              <a:spLocks noChangeArrowheads="1"/>
            </p:cNvSpPr>
            <p:nvPr/>
          </p:nvSpPr>
          <p:spPr bwMode="auto">
            <a:xfrm>
              <a:off x="3535" y="1752"/>
              <a:ext cx="958" cy="474"/>
            </a:xfrm>
            <a:prstGeom prst="chevron">
              <a:avLst>
                <a:gd name="adj" fmla="val 50527"/>
              </a:avLst>
            </a:prstGeom>
            <a:solidFill>
              <a:srgbClr val="767DBE"/>
            </a:solidFill>
            <a:ln w="25400">
              <a:solidFill>
                <a:schemeClr val="tx1"/>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lvl="0" algn="ctr" eaLnBrk="1" hangingPunct="1">
                <a:spcBef>
                  <a:spcPct val="0"/>
                </a:spcBef>
                <a:buClrTx/>
                <a:buNone/>
              </a:pPr>
              <a:r>
                <a:rPr lang="zh-CN" altLang="en-US" sz="1800">
                  <a:solidFill>
                    <a:srgbClr val="FFFFFF"/>
                  </a:solidFill>
                  <a:latin typeface="Arial Narrow" panose="020B0606020202030204" pitchFamily="34" charset="0"/>
                </a:rPr>
                <a:t>　　需求管理</a:t>
              </a:r>
            </a:p>
          </p:txBody>
        </p:sp>
        <p:cxnSp>
          <p:nvCxnSpPr>
            <p:cNvPr id="49163" name="AutoShape 11">
              <a:extLst>
                <a:ext uri="{FF2B5EF4-FFF2-40B4-BE49-F238E27FC236}">
                  <a16:creationId xmlns:a16="http://schemas.microsoft.com/office/drawing/2014/main" id="{10761DB2-8015-1FE1-2AD0-4F4C596E165E}"/>
                </a:ext>
              </a:extLst>
            </p:cNvPr>
            <p:cNvCxnSpPr>
              <a:cxnSpLocks noChangeShapeType="1"/>
            </p:cNvCxnSpPr>
            <p:nvPr/>
          </p:nvCxnSpPr>
          <p:spPr bwMode="auto">
            <a:xfrm rot="10800000" flipH="1">
              <a:off x="1310" y="1989"/>
              <a:ext cx="3898" cy="910"/>
            </a:xfrm>
            <a:prstGeom prst="bentConnector5">
              <a:avLst>
                <a:gd name="adj1" fmla="val -9171"/>
                <a:gd name="adj2" fmla="val 50000"/>
                <a:gd name="adj3" fmla="val 103028"/>
              </a:avLst>
            </a:prstGeom>
            <a:noFill/>
            <a:ln w="38100">
              <a:solidFill>
                <a:schemeClr val="tx1"/>
              </a:solidFill>
              <a:miter lim="800000"/>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164" name="AutoShape 12">
              <a:extLst>
                <a:ext uri="{FF2B5EF4-FFF2-40B4-BE49-F238E27FC236}">
                  <a16:creationId xmlns:a16="http://schemas.microsoft.com/office/drawing/2014/main" id="{391453A5-3BCC-B432-5066-32DB3D8E209A}"/>
                </a:ext>
              </a:extLst>
            </p:cNvPr>
            <p:cNvSpPr>
              <a:spLocks noChangeArrowheads="1"/>
            </p:cNvSpPr>
            <p:nvPr/>
          </p:nvSpPr>
          <p:spPr bwMode="auto">
            <a:xfrm>
              <a:off x="1078" y="2663"/>
              <a:ext cx="958" cy="473"/>
            </a:xfrm>
            <a:prstGeom prst="chevron">
              <a:avLst>
                <a:gd name="adj" fmla="val 50634"/>
              </a:avLst>
            </a:prstGeom>
            <a:solidFill>
              <a:srgbClr val="767DBE"/>
            </a:solidFill>
            <a:ln w="25400">
              <a:solidFill>
                <a:schemeClr val="tx1"/>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lvl="0" algn="ctr" eaLnBrk="1" hangingPunct="1">
                <a:spcBef>
                  <a:spcPct val="0"/>
                </a:spcBef>
                <a:buClrTx/>
                <a:buNone/>
              </a:pPr>
              <a:r>
                <a:rPr lang="zh-CN" altLang="en-US" sz="2000">
                  <a:solidFill>
                    <a:srgbClr val="FFFFFF"/>
                  </a:solidFill>
                  <a:latin typeface="Arial Narrow" panose="020B0606020202030204" pitchFamily="34" charset="0"/>
                </a:rPr>
                <a:t>　  </a:t>
              </a:r>
              <a:r>
                <a:rPr lang="zh-CN" altLang="en-US" sz="1800">
                  <a:solidFill>
                    <a:srgbClr val="FFFFFF"/>
                  </a:solidFill>
                  <a:latin typeface="Arial Narrow" panose="020B0606020202030204" pitchFamily="34" charset="0"/>
                </a:rPr>
                <a:t>规模估算</a:t>
              </a:r>
              <a:r>
                <a:rPr lang="zh-CN" altLang="en-US" sz="2000">
                  <a:solidFill>
                    <a:srgbClr val="FFFFFF"/>
                  </a:solidFill>
                  <a:latin typeface="Arial Narrow" panose="020B0606020202030204" pitchFamily="34" charset="0"/>
                </a:rPr>
                <a:t> </a:t>
              </a:r>
            </a:p>
          </p:txBody>
        </p:sp>
        <p:sp>
          <p:nvSpPr>
            <p:cNvPr id="49165" name="AutoShape 13">
              <a:extLst>
                <a:ext uri="{FF2B5EF4-FFF2-40B4-BE49-F238E27FC236}">
                  <a16:creationId xmlns:a16="http://schemas.microsoft.com/office/drawing/2014/main" id="{971711D7-F920-6439-66B6-ED81A52C6FED}"/>
                </a:ext>
              </a:extLst>
            </p:cNvPr>
            <p:cNvSpPr>
              <a:spLocks noChangeArrowheads="1"/>
            </p:cNvSpPr>
            <p:nvPr/>
          </p:nvSpPr>
          <p:spPr bwMode="auto">
            <a:xfrm>
              <a:off x="1786" y="2663"/>
              <a:ext cx="958" cy="473"/>
            </a:xfrm>
            <a:prstGeom prst="chevron">
              <a:avLst>
                <a:gd name="adj" fmla="val 50634"/>
              </a:avLst>
            </a:prstGeom>
            <a:solidFill>
              <a:schemeClr val="accent1"/>
            </a:solidFill>
            <a:ln w="25400">
              <a:solidFill>
                <a:schemeClr val="tx1"/>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lvl="0" algn="ctr" eaLnBrk="1" hangingPunct="1">
                <a:spcBef>
                  <a:spcPct val="0"/>
                </a:spcBef>
                <a:buClrTx/>
                <a:buNone/>
              </a:pPr>
              <a:r>
                <a:rPr lang="zh-CN" altLang="en-US" sz="2000">
                  <a:solidFill>
                    <a:srgbClr val="FFFFFF"/>
                  </a:solidFill>
                  <a:latin typeface="Arial Narrow" panose="020B0606020202030204" pitchFamily="34" charset="0"/>
                </a:rPr>
                <a:t>　　</a:t>
              </a:r>
              <a:r>
                <a:rPr lang="zh-CN" altLang="en-US" sz="1800">
                  <a:solidFill>
                    <a:srgbClr val="FFFFFF"/>
                  </a:solidFill>
                  <a:latin typeface="Arial Narrow" panose="020B0606020202030204" pitchFamily="34" charset="0"/>
                </a:rPr>
                <a:t>成本估算</a:t>
              </a:r>
              <a:r>
                <a:rPr lang="zh-CN" altLang="en-US" sz="1200">
                  <a:solidFill>
                    <a:srgbClr val="FFFFFF"/>
                  </a:solidFill>
                </a:rPr>
                <a:t> </a:t>
              </a:r>
            </a:p>
          </p:txBody>
        </p:sp>
        <p:sp>
          <p:nvSpPr>
            <p:cNvPr id="49166" name="AutoShape 14">
              <a:extLst>
                <a:ext uri="{FF2B5EF4-FFF2-40B4-BE49-F238E27FC236}">
                  <a16:creationId xmlns:a16="http://schemas.microsoft.com/office/drawing/2014/main" id="{ACAFE728-964B-B2AB-3104-8C8ED1221784}"/>
                </a:ext>
              </a:extLst>
            </p:cNvPr>
            <p:cNvSpPr>
              <a:spLocks noChangeArrowheads="1"/>
            </p:cNvSpPr>
            <p:nvPr/>
          </p:nvSpPr>
          <p:spPr bwMode="auto">
            <a:xfrm>
              <a:off x="2494" y="2663"/>
              <a:ext cx="958" cy="473"/>
            </a:xfrm>
            <a:prstGeom prst="chevron">
              <a:avLst>
                <a:gd name="adj" fmla="val 50634"/>
              </a:avLst>
            </a:prstGeom>
            <a:solidFill>
              <a:srgbClr val="767DBE"/>
            </a:solidFill>
            <a:ln w="25400">
              <a:solidFill>
                <a:schemeClr val="tx1"/>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lvl="0" algn="ctr" eaLnBrk="1" hangingPunct="1">
                <a:spcBef>
                  <a:spcPct val="0"/>
                </a:spcBef>
                <a:buClrTx/>
                <a:buNone/>
              </a:pPr>
              <a:r>
                <a:rPr lang="zh-CN" altLang="en-US" sz="2000">
                  <a:solidFill>
                    <a:srgbClr val="FFFFFF"/>
                  </a:solidFill>
                  <a:latin typeface="Arial Narrow" panose="020B0606020202030204" pitchFamily="34" charset="0"/>
                </a:rPr>
                <a:t>　　　　</a:t>
              </a:r>
              <a:r>
                <a:rPr lang="zh-CN" altLang="en-US" sz="1800">
                  <a:solidFill>
                    <a:srgbClr val="FFFFFF"/>
                  </a:solidFill>
                  <a:latin typeface="Arial Narrow" panose="020B0606020202030204" pitchFamily="34" charset="0"/>
                </a:rPr>
                <a:t>进度估算</a:t>
              </a:r>
              <a:r>
                <a:rPr lang="zh-CN" altLang="en-US" sz="1200">
                  <a:solidFill>
                    <a:srgbClr val="FFFFFF"/>
                  </a:solidFill>
                </a:rPr>
                <a:t> </a:t>
              </a:r>
              <a:r>
                <a:rPr lang="zh-CN" altLang="en-US" sz="2000">
                  <a:solidFill>
                    <a:srgbClr val="FFFFFF"/>
                  </a:solidFill>
                  <a:latin typeface="Arial Narrow" panose="020B0606020202030204" pitchFamily="34" charset="0"/>
                </a:rPr>
                <a:t>　　</a:t>
              </a:r>
            </a:p>
          </p:txBody>
        </p:sp>
        <p:sp>
          <p:nvSpPr>
            <p:cNvPr id="49167" name="AutoShape 15">
              <a:extLst>
                <a:ext uri="{FF2B5EF4-FFF2-40B4-BE49-F238E27FC236}">
                  <a16:creationId xmlns:a16="http://schemas.microsoft.com/office/drawing/2014/main" id="{8EC5C914-C2E0-AFB7-A233-75863E596B61}"/>
                </a:ext>
              </a:extLst>
            </p:cNvPr>
            <p:cNvSpPr>
              <a:spLocks noChangeArrowheads="1"/>
            </p:cNvSpPr>
            <p:nvPr/>
          </p:nvSpPr>
          <p:spPr bwMode="auto">
            <a:xfrm>
              <a:off x="3202" y="2663"/>
              <a:ext cx="958" cy="473"/>
            </a:xfrm>
            <a:prstGeom prst="chevron">
              <a:avLst>
                <a:gd name="adj" fmla="val 50634"/>
              </a:avLst>
            </a:prstGeom>
            <a:solidFill>
              <a:schemeClr val="accent1"/>
            </a:solidFill>
            <a:ln w="25400">
              <a:solidFill>
                <a:schemeClr val="tx1"/>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lvl="0" algn="ctr" eaLnBrk="1" hangingPunct="1">
                <a:spcBef>
                  <a:spcPct val="0"/>
                </a:spcBef>
                <a:buClrTx/>
                <a:buNone/>
              </a:pPr>
              <a:r>
                <a:rPr lang="zh-CN" altLang="en-US" sz="2000">
                  <a:solidFill>
                    <a:srgbClr val="FFFFFF"/>
                  </a:solidFill>
                  <a:latin typeface="Arial Narrow" panose="020B0606020202030204" pitchFamily="34" charset="0"/>
                </a:rPr>
                <a:t>　　</a:t>
              </a:r>
              <a:r>
                <a:rPr lang="zh-CN" altLang="en-US" sz="1800">
                  <a:solidFill>
                    <a:srgbClr val="FFFFFF"/>
                  </a:solidFill>
                  <a:latin typeface="Arial Narrow" panose="020B0606020202030204" pitchFamily="34" charset="0"/>
                </a:rPr>
                <a:t>进度计划</a:t>
              </a:r>
              <a:r>
                <a:rPr lang="zh-CN" altLang="en-US" sz="1200">
                  <a:solidFill>
                    <a:srgbClr val="FFFFFF"/>
                  </a:solidFill>
                </a:rPr>
                <a:t> </a:t>
              </a:r>
            </a:p>
          </p:txBody>
        </p:sp>
        <p:sp>
          <p:nvSpPr>
            <p:cNvPr id="49168" name="AutoShape 16">
              <a:extLst>
                <a:ext uri="{FF2B5EF4-FFF2-40B4-BE49-F238E27FC236}">
                  <a16:creationId xmlns:a16="http://schemas.microsoft.com/office/drawing/2014/main" id="{1B184823-8163-869F-44E5-4C5C4DE4F84D}"/>
                </a:ext>
              </a:extLst>
            </p:cNvPr>
            <p:cNvSpPr>
              <a:spLocks noChangeArrowheads="1"/>
            </p:cNvSpPr>
            <p:nvPr/>
          </p:nvSpPr>
          <p:spPr bwMode="auto">
            <a:xfrm>
              <a:off x="3910" y="2663"/>
              <a:ext cx="958" cy="473"/>
            </a:xfrm>
            <a:prstGeom prst="chevron">
              <a:avLst>
                <a:gd name="adj" fmla="val 50634"/>
              </a:avLst>
            </a:prstGeom>
            <a:solidFill>
              <a:srgbClr val="767DBE"/>
            </a:solidFill>
            <a:ln w="25400">
              <a:solidFill>
                <a:schemeClr val="tx1"/>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lvl="0" algn="ctr" eaLnBrk="1" hangingPunct="1">
                <a:spcBef>
                  <a:spcPct val="0"/>
                </a:spcBef>
                <a:buClrTx/>
                <a:buNone/>
              </a:pPr>
              <a:r>
                <a:rPr lang="zh-CN" altLang="en-US" sz="2000">
                  <a:solidFill>
                    <a:srgbClr val="FFFFFF"/>
                  </a:solidFill>
                  <a:latin typeface="Arial Narrow" panose="020B0606020202030204" pitchFamily="34" charset="0"/>
                </a:rPr>
                <a:t>　　</a:t>
              </a:r>
              <a:r>
                <a:rPr lang="zh-CN" altLang="en-US" sz="1800">
                  <a:solidFill>
                    <a:srgbClr val="FFFFFF"/>
                  </a:solidFill>
                  <a:latin typeface="Arial Narrow" panose="020B0606020202030204" pitchFamily="34" charset="0"/>
                </a:rPr>
                <a:t>风险计划</a:t>
              </a:r>
            </a:p>
          </p:txBody>
        </p:sp>
        <p:sp>
          <p:nvSpPr>
            <p:cNvPr id="49169" name="AutoShape 17">
              <a:extLst>
                <a:ext uri="{FF2B5EF4-FFF2-40B4-BE49-F238E27FC236}">
                  <a16:creationId xmlns:a16="http://schemas.microsoft.com/office/drawing/2014/main" id="{83781736-F9FB-18E9-924A-48A855BB2A77}"/>
                </a:ext>
              </a:extLst>
            </p:cNvPr>
            <p:cNvSpPr>
              <a:spLocks noChangeArrowheads="1"/>
            </p:cNvSpPr>
            <p:nvPr/>
          </p:nvSpPr>
          <p:spPr bwMode="auto">
            <a:xfrm>
              <a:off x="1786" y="3500"/>
              <a:ext cx="958" cy="474"/>
            </a:xfrm>
            <a:prstGeom prst="chevron">
              <a:avLst>
                <a:gd name="adj" fmla="val 50527"/>
              </a:avLst>
            </a:prstGeom>
            <a:solidFill>
              <a:schemeClr val="accent1"/>
            </a:solidFill>
            <a:ln w="25400">
              <a:solidFill>
                <a:schemeClr val="tx1"/>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lvl="0" algn="ctr" eaLnBrk="1" hangingPunct="1">
                <a:spcBef>
                  <a:spcPct val="0"/>
                </a:spcBef>
                <a:buClrTx/>
                <a:buNone/>
              </a:pPr>
              <a:r>
                <a:rPr lang="zh-CN" altLang="en-US" sz="2000">
                  <a:solidFill>
                    <a:srgbClr val="FFFFFF"/>
                  </a:solidFill>
                  <a:latin typeface="Arial Narrow" panose="020B0606020202030204" pitchFamily="34" charset="0"/>
                </a:rPr>
                <a:t>　</a:t>
              </a:r>
              <a:r>
                <a:rPr lang="zh-CN" altLang="en-US" sz="1800">
                  <a:solidFill>
                    <a:srgbClr val="FFFFFF"/>
                  </a:solidFill>
                  <a:latin typeface="Arial Narrow" panose="020B0606020202030204" pitchFamily="34" charset="0"/>
                </a:rPr>
                <a:t>跟踪控制</a:t>
              </a:r>
            </a:p>
          </p:txBody>
        </p:sp>
        <p:sp>
          <p:nvSpPr>
            <p:cNvPr id="49170" name="AutoShape 18">
              <a:extLst>
                <a:ext uri="{FF2B5EF4-FFF2-40B4-BE49-F238E27FC236}">
                  <a16:creationId xmlns:a16="http://schemas.microsoft.com/office/drawing/2014/main" id="{DC91F85D-FA10-CC06-D69A-A6ED972D4671}"/>
                </a:ext>
              </a:extLst>
            </p:cNvPr>
            <p:cNvSpPr>
              <a:spLocks noChangeArrowheads="1"/>
            </p:cNvSpPr>
            <p:nvPr/>
          </p:nvSpPr>
          <p:spPr bwMode="auto">
            <a:xfrm>
              <a:off x="2494" y="3500"/>
              <a:ext cx="958" cy="474"/>
            </a:xfrm>
            <a:prstGeom prst="chevron">
              <a:avLst>
                <a:gd name="adj" fmla="val 50527"/>
              </a:avLst>
            </a:prstGeom>
            <a:solidFill>
              <a:srgbClr val="767DBE"/>
            </a:solidFill>
            <a:ln w="25400">
              <a:solidFill>
                <a:schemeClr val="tx1"/>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lvl="0" algn="ctr" eaLnBrk="1" hangingPunct="1">
                <a:spcBef>
                  <a:spcPct val="0"/>
                </a:spcBef>
                <a:buClrTx/>
                <a:buNone/>
              </a:pPr>
              <a:r>
                <a:rPr lang="zh-CN" altLang="en-US" sz="2000">
                  <a:solidFill>
                    <a:srgbClr val="FFFFFF"/>
                  </a:solidFill>
                  <a:latin typeface="Arial Narrow" panose="020B0606020202030204" pitchFamily="34" charset="0"/>
                </a:rPr>
                <a:t>　　</a:t>
              </a:r>
              <a:r>
                <a:rPr lang="zh-CN" altLang="en-US" sz="1800">
                  <a:solidFill>
                    <a:srgbClr val="FFFFFF"/>
                  </a:solidFill>
                  <a:latin typeface="Arial Narrow" panose="020B0606020202030204" pitchFamily="34" charset="0"/>
                </a:rPr>
                <a:t>配置管理</a:t>
              </a:r>
              <a:r>
                <a:rPr lang="zh-CN" altLang="en-US" sz="1200">
                  <a:solidFill>
                    <a:srgbClr val="FFFFFF"/>
                  </a:solidFill>
                </a:rPr>
                <a:t> </a:t>
              </a:r>
            </a:p>
          </p:txBody>
        </p:sp>
        <p:cxnSp>
          <p:nvCxnSpPr>
            <p:cNvPr id="49171" name="AutoShape 19">
              <a:extLst>
                <a:ext uri="{FF2B5EF4-FFF2-40B4-BE49-F238E27FC236}">
                  <a16:creationId xmlns:a16="http://schemas.microsoft.com/office/drawing/2014/main" id="{1A9661A4-F9AA-CE52-D86C-6238B8780B19}"/>
                </a:ext>
              </a:extLst>
            </p:cNvPr>
            <p:cNvCxnSpPr>
              <a:cxnSpLocks noChangeShapeType="1"/>
              <a:stCxn id="49168" idx="3"/>
              <a:endCxn id="49169" idx="1"/>
            </p:cNvCxnSpPr>
            <p:nvPr/>
          </p:nvCxnSpPr>
          <p:spPr bwMode="auto">
            <a:xfrm flipH="1">
              <a:off x="2018" y="2899"/>
              <a:ext cx="2857" cy="838"/>
            </a:xfrm>
            <a:prstGeom prst="bentConnector5">
              <a:avLst>
                <a:gd name="adj1" fmla="val -4130"/>
                <a:gd name="adj2" fmla="val 50000"/>
                <a:gd name="adj3" fmla="val 112514"/>
              </a:avLst>
            </a:prstGeom>
            <a:noFill/>
            <a:ln w="38100">
              <a:solidFill>
                <a:schemeClr val="tx1"/>
              </a:solidFill>
              <a:miter lim="800000"/>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172" name="AutoShape 20">
              <a:extLst>
                <a:ext uri="{FF2B5EF4-FFF2-40B4-BE49-F238E27FC236}">
                  <a16:creationId xmlns:a16="http://schemas.microsoft.com/office/drawing/2014/main" id="{307A2520-220A-CD9B-C183-BBA618B28055}"/>
                </a:ext>
              </a:extLst>
            </p:cNvPr>
            <p:cNvSpPr>
              <a:spLocks noChangeArrowheads="1"/>
            </p:cNvSpPr>
            <p:nvPr/>
          </p:nvSpPr>
          <p:spPr bwMode="auto">
            <a:xfrm>
              <a:off x="3202" y="3500"/>
              <a:ext cx="958" cy="474"/>
            </a:xfrm>
            <a:prstGeom prst="chevron">
              <a:avLst>
                <a:gd name="adj" fmla="val 50527"/>
              </a:avLst>
            </a:prstGeom>
            <a:solidFill>
              <a:schemeClr val="accent1"/>
            </a:solidFill>
            <a:ln w="25400">
              <a:solidFill>
                <a:schemeClr val="tx1"/>
              </a:solidFill>
              <a:miter lim="800000"/>
              <a:headEnd type="none" w="sm" len="sm"/>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en-US" altLang="zh-CN" sz="1600" b="0">
                  <a:solidFill>
                    <a:srgbClr val="FFFFFF"/>
                  </a:solidFill>
                  <a:latin typeface="Arial Narrow" panose="020B0606020202030204" pitchFamily="34" charset="0"/>
                </a:rPr>
                <a:t> </a:t>
              </a:r>
              <a:r>
                <a:rPr lang="zh-CN" altLang="en-US" sz="1600" b="0">
                  <a:solidFill>
                    <a:srgbClr val="FFFFFF"/>
                  </a:solidFill>
                  <a:latin typeface="Arial Narrow" panose="020B0606020202030204" pitchFamily="34" charset="0"/>
                </a:rPr>
                <a:t>　</a:t>
              </a:r>
              <a:r>
                <a:rPr lang="zh-CN" altLang="en-US" sz="1800">
                  <a:solidFill>
                    <a:srgbClr val="FFFFFF"/>
                  </a:solidFill>
                  <a:latin typeface="Arial Narrow" panose="020B0606020202030204" pitchFamily="34" charset="0"/>
                </a:rPr>
                <a:t>项目结束</a:t>
              </a:r>
              <a:endParaRPr lang="zh-CN" altLang="en-US" sz="1800">
                <a:solidFill>
                  <a:schemeClr val="bg1"/>
                </a:solidFill>
                <a:latin typeface="Arial Narrow" panose="020B0606020202030204" pitchFamily="34" charset="0"/>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95EF2ABC-323E-8B52-AA1F-02AEE1CCBD27}"/>
              </a:ext>
            </a:extLst>
          </p:cNvPr>
          <p:cNvSpPr>
            <a:spLocks noGrp="1" noChangeArrowheads="1"/>
          </p:cNvSpPr>
          <p:nvPr>
            <p:ph type="title"/>
          </p:nvPr>
        </p:nvSpPr>
        <p:spPr/>
        <p:txBody>
          <a:bodyPr/>
          <a:lstStyle/>
          <a:p>
            <a:pPr eaLnBrk="1" hangingPunct="1"/>
            <a:r>
              <a:rPr lang="zh-CN" altLang="en-US"/>
              <a:t>本章内容提要</a:t>
            </a:r>
          </a:p>
        </p:txBody>
      </p:sp>
      <p:grpSp>
        <p:nvGrpSpPr>
          <p:cNvPr id="50179" name="Group 3">
            <a:extLst>
              <a:ext uri="{FF2B5EF4-FFF2-40B4-BE49-F238E27FC236}">
                <a16:creationId xmlns:a16="http://schemas.microsoft.com/office/drawing/2014/main" id="{8D0DC4B4-2BB1-F9A1-3AB2-A9E078025411}"/>
              </a:ext>
            </a:extLst>
          </p:cNvPr>
          <p:cNvGrpSpPr>
            <a:grpSpLocks/>
          </p:cNvGrpSpPr>
          <p:nvPr/>
        </p:nvGrpSpPr>
        <p:grpSpPr bwMode="auto">
          <a:xfrm>
            <a:off x="611188" y="2343150"/>
            <a:ext cx="5670550" cy="488950"/>
            <a:chOff x="385" y="1476"/>
            <a:chExt cx="3572" cy="308"/>
          </a:xfrm>
        </p:grpSpPr>
        <p:sp>
          <p:nvSpPr>
            <p:cNvPr id="50201" name="AutoShape 4">
              <a:extLst>
                <a:ext uri="{FF2B5EF4-FFF2-40B4-BE49-F238E27FC236}">
                  <a16:creationId xmlns:a16="http://schemas.microsoft.com/office/drawing/2014/main" id="{0904307C-FED2-FBA2-E027-EFB1FF315753}"/>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0202" name="Text Box 5">
              <a:extLst>
                <a:ext uri="{FF2B5EF4-FFF2-40B4-BE49-F238E27FC236}">
                  <a16:creationId xmlns:a16="http://schemas.microsoft.com/office/drawing/2014/main" id="{BE8B2430-648D-AAF4-9BD2-CC946999F166}"/>
                </a:ext>
              </a:extLst>
            </p:cNvPr>
            <p:cNvSpPr txBox="1">
              <a:spLocks noChangeArrowheads="1"/>
            </p:cNvSpPr>
            <p:nvPr/>
          </p:nvSpPr>
          <p:spPr bwMode="auto">
            <a:xfrm>
              <a:off x="626" y="1496"/>
              <a:ext cx="309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项目与软件项目的概念</a:t>
              </a:r>
              <a:r>
                <a:rPr lang="zh-CN" altLang="en-US" sz="2400" b="0">
                  <a:latin typeface="Times New Roman" panose="02020603050405020304" pitchFamily="18" charset="0"/>
                </a:rPr>
                <a:t> </a:t>
              </a:r>
            </a:p>
          </p:txBody>
        </p:sp>
        <p:sp>
          <p:nvSpPr>
            <p:cNvPr id="50203" name="Rectangle 6">
              <a:extLst>
                <a:ext uri="{FF2B5EF4-FFF2-40B4-BE49-F238E27FC236}">
                  <a16:creationId xmlns:a16="http://schemas.microsoft.com/office/drawing/2014/main" id="{51BBF1FC-D2A3-C92C-1FAB-1026E4587BF0}"/>
                </a:ext>
              </a:extLst>
            </p:cNvPr>
            <p:cNvSpPr>
              <a:spLocks noChangeArrowheads="1"/>
            </p:cNvSpPr>
            <p:nvPr/>
          </p:nvSpPr>
          <p:spPr bwMode="auto">
            <a:xfrm>
              <a:off x="385" y="153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a:t>
              </a:r>
              <a:endParaRPr lang="en-US" altLang="zh-CN" sz="1800">
                <a:solidFill>
                  <a:srgbClr val="000000"/>
                </a:solidFill>
              </a:endParaRPr>
            </a:p>
          </p:txBody>
        </p:sp>
      </p:grpSp>
      <p:grpSp>
        <p:nvGrpSpPr>
          <p:cNvPr id="50180" name="Group 7">
            <a:extLst>
              <a:ext uri="{FF2B5EF4-FFF2-40B4-BE49-F238E27FC236}">
                <a16:creationId xmlns:a16="http://schemas.microsoft.com/office/drawing/2014/main" id="{10406140-4B13-F5FE-1984-19E672AE49EE}"/>
              </a:ext>
            </a:extLst>
          </p:cNvPr>
          <p:cNvGrpSpPr>
            <a:grpSpLocks/>
          </p:cNvGrpSpPr>
          <p:nvPr/>
        </p:nvGrpSpPr>
        <p:grpSpPr bwMode="auto">
          <a:xfrm>
            <a:off x="611188" y="2924175"/>
            <a:ext cx="5670550" cy="488950"/>
            <a:chOff x="385" y="1842"/>
            <a:chExt cx="3572" cy="308"/>
          </a:xfrm>
        </p:grpSpPr>
        <p:grpSp>
          <p:nvGrpSpPr>
            <p:cNvPr id="50197" name="Group 8">
              <a:extLst>
                <a:ext uri="{FF2B5EF4-FFF2-40B4-BE49-F238E27FC236}">
                  <a16:creationId xmlns:a16="http://schemas.microsoft.com/office/drawing/2014/main" id="{5B4AEA7F-F3D7-F89D-E6BE-C5D975F54FE0}"/>
                </a:ext>
              </a:extLst>
            </p:cNvPr>
            <p:cNvGrpSpPr>
              <a:grpSpLocks/>
            </p:cNvGrpSpPr>
            <p:nvPr/>
          </p:nvGrpSpPr>
          <p:grpSpPr bwMode="auto">
            <a:xfrm>
              <a:off x="464" y="1842"/>
              <a:ext cx="3493" cy="308"/>
              <a:chOff x="464" y="1842"/>
              <a:chExt cx="3493" cy="308"/>
            </a:xfrm>
          </p:grpSpPr>
          <p:sp>
            <p:nvSpPr>
              <p:cNvPr id="50199" name="AutoShape 9">
                <a:extLst>
                  <a:ext uri="{FF2B5EF4-FFF2-40B4-BE49-F238E27FC236}">
                    <a16:creationId xmlns:a16="http://schemas.microsoft.com/office/drawing/2014/main" id="{E247FE74-A3BE-5C10-5AC8-94070868F363}"/>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0200" name="Text Box 10">
                <a:extLst>
                  <a:ext uri="{FF2B5EF4-FFF2-40B4-BE49-F238E27FC236}">
                    <a16:creationId xmlns:a16="http://schemas.microsoft.com/office/drawing/2014/main" id="{2BAAFBA0-36DB-77C4-B1DC-1667F3CA0E3C}"/>
                  </a:ext>
                </a:extLst>
              </p:cNvPr>
              <p:cNvSpPr txBox="1">
                <a:spLocks noChangeArrowheads="1"/>
              </p:cNvSpPr>
              <p:nvPr/>
            </p:nvSpPr>
            <p:spPr bwMode="auto">
              <a:xfrm>
                <a:off x="626" y="1867"/>
                <a:ext cx="309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项目管理的概念</a:t>
                </a:r>
                <a:r>
                  <a:rPr lang="zh-CN" altLang="en-US" sz="2400" b="0">
                    <a:latin typeface="Times New Roman" panose="02020603050405020304" pitchFamily="18" charset="0"/>
                  </a:rPr>
                  <a:t> </a:t>
                </a:r>
              </a:p>
            </p:txBody>
          </p:sp>
        </p:grpSp>
        <p:sp>
          <p:nvSpPr>
            <p:cNvPr id="50198" name="Rectangle 11">
              <a:extLst>
                <a:ext uri="{FF2B5EF4-FFF2-40B4-BE49-F238E27FC236}">
                  <a16:creationId xmlns:a16="http://schemas.microsoft.com/office/drawing/2014/main" id="{0329EF0E-52DE-968A-6458-E72C8CDA5043}"/>
                </a:ext>
              </a:extLst>
            </p:cNvPr>
            <p:cNvSpPr>
              <a:spLocks noChangeArrowheads="1"/>
            </p:cNvSpPr>
            <p:nvPr/>
          </p:nvSpPr>
          <p:spPr bwMode="auto">
            <a:xfrm>
              <a:off x="385" y="1915"/>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1.2</a:t>
              </a:r>
              <a:endParaRPr lang="en-US" altLang="zh-CN" sz="1800">
                <a:solidFill>
                  <a:srgbClr val="000000"/>
                </a:solidFill>
              </a:endParaRPr>
            </a:p>
          </p:txBody>
        </p:sp>
      </p:grpSp>
      <p:grpSp>
        <p:nvGrpSpPr>
          <p:cNvPr id="50181" name="Group 12">
            <a:extLst>
              <a:ext uri="{FF2B5EF4-FFF2-40B4-BE49-F238E27FC236}">
                <a16:creationId xmlns:a16="http://schemas.microsoft.com/office/drawing/2014/main" id="{6B847F2D-F792-4F17-281C-657668B8D979}"/>
              </a:ext>
            </a:extLst>
          </p:cNvPr>
          <p:cNvGrpSpPr>
            <a:grpSpLocks/>
          </p:cNvGrpSpPr>
          <p:nvPr/>
        </p:nvGrpSpPr>
        <p:grpSpPr bwMode="auto">
          <a:xfrm>
            <a:off x="611188" y="3500438"/>
            <a:ext cx="5689600" cy="488950"/>
            <a:chOff x="385" y="2209"/>
            <a:chExt cx="3584" cy="308"/>
          </a:xfrm>
        </p:grpSpPr>
        <p:sp>
          <p:nvSpPr>
            <p:cNvPr id="50194" name="AutoShape 13">
              <a:extLst>
                <a:ext uri="{FF2B5EF4-FFF2-40B4-BE49-F238E27FC236}">
                  <a16:creationId xmlns:a16="http://schemas.microsoft.com/office/drawing/2014/main" id="{4E32BE14-95CC-DD28-2DBC-B35FA5111517}"/>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0195" name="Text Box 14">
              <a:extLst>
                <a:ext uri="{FF2B5EF4-FFF2-40B4-BE49-F238E27FC236}">
                  <a16:creationId xmlns:a16="http://schemas.microsoft.com/office/drawing/2014/main" id="{90B3325C-8618-E3CF-F529-93E83E96DD4E}"/>
                </a:ext>
              </a:extLst>
            </p:cNvPr>
            <p:cNvSpPr txBox="1">
              <a:spLocks noChangeArrowheads="1"/>
            </p:cNvSpPr>
            <p:nvPr/>
          </p:nvSpPr>
          <p:spPr bwMode="auto">
            <a:xfrm>
              <a:off x="626" y="2253"/>
              <a:ext cx="31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软件项目生命期与管理过程</a:t>
              </a:r>
              <a:r>
                <a:rPr lang="zh-CN" altLang="en-US" sz="2400" b="0">
                  <a:latin typeface="Times New Roman" panose="02020603050405020304" pitchFamily="18" charset="0"/>
                </a:rPr>
                <a:t> </a:t>
              </a:r>
            </a:p>
          </p:txBody>
        </p:sp>
        <p:sp>
          <p:nvSpPr>
            <p:cNvPr id="50196" name="Rectangle 15">
              <a:extLst>
                <a:ext uri="{FF2B5EF4-FFF2-40B4-BE49-F238E27FC236}">
                  <a16:creationId xmlns:a16="http://schemas.microsoft.com/office/drawing/2014/main" id="{8B609C8A-4A4F-9208-DABA-7C8DB3DC515A}"/>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1.3</a:t>
              </a:r>
              <a:endParaRPr lang="en-US" altLang="zh-CN" sz="1800">
                <a:solidFill>
                  <a:srgbClr val="000000"/>
                </a:solidFill>
              </a:endParaRPr>
            </a:p>
          </p:txBody>
        </p:sp>
      </p:grpSp>
      <p:grpSp>
        <p:nvGrpSpPr>
          <p:cNvPr id="50182" name="Group 16">
            <a:extLst>
              <a:ext uri="{FF2B5EF4-FFF2-40B4-BE49-F238E27FC236}">
                <a16:creationId xmlns:a16="http://schemas.microsoft.com/office/drawing/2014/main" id="{82C76BB3-2B5F-7E16-E8D3-2FC90792D682}"/>
              </a:ext>
            </a:extLst>
          </p:cNvPr>
          <p:cNvGrpSpPr>
            <a:grpSpLocks/>
          </p:cNvGrpSpPr>
          <p:nvPr/>
        </p:nvGrpSpPr>
        <p:grpSpPr bwMode="auto">
          <a:xfrm>
            <a:off x="611188" y="4076700"/>
            <a:ext cx="5689600" cy="488950"/>
            <a:chOff x="385" y="2209"/>
            <a:chExt cx="3584" cy="308"/>
          </a:xfrm>
        </p:grpSpPr>
        <p:sp>
          <p:nvSpPr>
            <p:cNvPr id="50191" name="AutoShape 17">
              <a:extLst>
                <a:ext uri="{FF2B5EF4-FFF2-40B4-BE49-F238E27FC236}">
                  <a16:creationId xmlns:a16="http://schemas.microsoft.com/office/drawing/2014/main" id="{99447F18-9872-8439-3BBD-F5CC3A94FC36}"/>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0192" name="Text Box 18">
              <a:extLst>
                <a:ext uri="{FF2B5EF4-FFF2-40B4-BE49-F238E27FC236}">
                  <a16:creationId xmlns:a16="http://schemas.microsoft.com/office/drawing/2014/main" id="{6605BDD2-F60F-D9DF-401E-CEFB5EBCDD94}"/>
                </a:ext>
              </a:extLst>
            </p:cNvPr>
            <p:cNvSpPr txBox="1">
              <a:spLocks noChangeArrowheads="1"/>
            </p:cNvSpPr>
            <p:nvPr/>
          </p:nvSpPr>
          <p:spPr bwMode="auto">
            <a:xfrm>
              <a:off x="626" y="2253"/>
              <a:ext cx="31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本书内容的组织</a:t>
              </a:r>
              <a:r>
                <a:rPr lang="zh-CN" altLang="en-US" sz="2400" b="0">
                  <a:latin typeface="Times New Roman" panose="02020603050405020304" pitchFamily="18" charset="0"/>
                </a:rPr>
                <a:t> </a:t>
              </a:r>
            </a:p>
          </p:txBody>
        </p:sp>
        <p:sp>
          <p:nvSpPr>
            <p:cNvPr id="50193" name="Rectangle 19">
              <a:extLst>
                <a:ext uri="{FF2B5EF4-FFF2-40B4-BE49-F238E27FC236}">
                  <a16:creationId xmlns:a16="http://schemas.microsoft.com/office/drawing/2014/main" id="{C4926143-0496-1AF9-A400-41F71EE3FA66}"/>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1.4</a:t>
              </a:r>
              <a:endParaRPr lang="en-US" altLang="zh-CN" sz="1800">
                <a:solidFill>
                  <a:srgbClr val="000000"/>
                </a:solidFill>
              </a:endParaRPr>
            </a:p>
          </p:txBody>
        </p:sp>
      </p:grpSp>
      <p:grpSp>
        <p:nvGrpSpPr>
          <p:cNvPr id="50183" name="Group 20">
            <a:extLst>
              <a:ext uri="{FF2B5EF4-FFF2-40B4-BE49-F238E27FC236}">
                <a16:creationId xmlns:a16="http://schemas.microsoft.com/office/drawing/2014/main" id="{1ECE6C44-7137-312D-83CD-61BD441DD1AB}"/>
              </a:ext>
            </a:extLst>
          </p:cNvPr>
          <p:cNvGrpSpPr>
            <a:grpSpLocks/>
          </p:cNvGrpSpPr>
          <p:nvPr/>
        </p:nvGrpSpPr>
        <p:grpSpPr bwMode="auto">
          <a:xfrm>
            <a:off x="611188" y="4652963"/>
            <a:ext cx="5689600" cy="488950"/>
            <a:chOff x="385" y="2209"/>
            <a:chExt cx="3584" cy="308"/>
          </a:xfrm>
        </p:grpSpPr>
        <p:sp>
          <p:nvSpPr>
            <p:cNvPr id="50188" name="AutoShape 21">
              <a:extLst>
                <a:ext uri="{FF2B5EF4-FFF2-40B4-BE49-F238E27FC236}">
                  <a16:creationId xmlns:a16="http://schemas.microsoft.com/office/drawing/2014/main" id="{CF4B3803-4C5E-B5CC-65CC-4C13E4A4FF8A}"/>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0189" name="Text Box 22">
              <a:extLst>
                <a:ext uri="{FF2B5EF4-FFF2-40B4-BE49-F238E27FC236}">
                  <a16:creationId xmlns:a16="http://schemas.microsoft.com/office/drawing/2014/main" id="{9DAD24D6-0504-030D-FB82-C62F600D4F5B}"/>
                </a:ext>
              </a:extLst>
            </p:cNvPr>
            <p:cNvSpPr txBox="1">
              <a:spLocks noChangeArrowheads="1"/>
            </p:cNvSpPr>
            <p:nvPr/>
          </p:nvSpPr>
          <p:spPr bwMode="auto">
            <a:xfrm>
              <a:off x="626" y="2273"/>
              <a:ext cx="311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本章小结</a:t>
              </a:r>
            </a:p>
          </p:txBody>
        </p:sp>
        <p:sp>
          <p:nvSpPr>
            <p:cNvPr id="50190" name="Rectangle 23">
              <a:extLst>
                <a:ext uri="{FF2B5EF4-FFF2-40B4-BE49-F238E27FC236}">
                  <a16:creationId xmlns:a16="http://schemas.microsoft.com/office/drawing/2014/main" id="{9A06D12A-6119-DBBF-0A6F-040D3ABEE03A}"/>
                </a:ext>
              </a:extLst>
            </p:cNvPr>
            <p:cNvSpPr>
              <a:spLocks noChangeArrowheads="1"/>
            </p:cNvSpPr>
            <p:nvPr/>
          </p:nvSpPr>
          <p:spPr bwMode="auto">
            <a:xfrm>
              <a:off x="385" y="2282"/>
              <a:ext cx="211" cy="164"/>
            </a:xfrm>
            <a:prstGeom prst="rect">
              <a:avLst/>
            </a:prstGeom>
            <a:solidFill>
              <a:schemeClr val="accent2"/>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1.5</a:t>
              </a:r>
              <a:endParaRPr lang="en-US" altLang="zh-CN" sz="1800">
                <a:solidFill>
                  <a:srgbClr val="000000"/>
                </a:solidFill>
              </a:endParaRPr>
            </a:p>
          </p:txBody>
        </p:sp>
      </p:grpSp>
      <p:grpSp>
        <p:nvGrpSpPr>
          <p:cNvPr id="50184" name="Group 24">
            <a:extLst>
              <a:ext uri="{FF2B5EF4-FFF2-40B4-BE49-F238E27FC236}">
                <a16:creationId xmlns:a16="http://schemas.microsoft.com/office/drawing/2014/main" id="{AF46852C-B7C3-A7FD-2F93-755BF19FBC49}"/>
              </a:ext>
            </a:extLst>
          </p:cNvPr>
          <p:cNvGrpSpPr>
            <a:grpSpLocks/>
          </p:cNvGrpSpPr>
          <p:nvPr/>
        </p:nvGrpSpPr>
        <p:grpSpPr bwMode="auto">
          <a:xfrm>
            <a:off x="611188" y="5229225"/>
            <a:ext cx="5689600" cy="488950"/>
            <a:chOff x="385" y="2209"/>
            <a:chExt cx="3584" cy="308"/>
          </a:xfrm>
        </p:grpSpPr>
        <p:sp>
          <p:nvSpPr>
            <p:cNvPr id="50185" name="AutoShape 25">
              <a:extLst>
                <a:ext uri="{FF2B5EF4-FFF2-40B4-BE49-F238E27FC236}">
                  <a16:creationId xmlns:a16="http://schemas.microsoft.com/office/drawing/2014/main" id="{91FAA9BA-F24A-3EE8-0C66-23DCC4D1D51D}"/>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0186" name="Text Box 26">
              <a:extLst>
                <a:ext uri="{FF2B5EF4-FFF2-40B4-BE49-F238E27FC236}">
                  <a16:creationId xmlns:a16="http://schemas.microsoft.com/office/drawing/2014/main" id="{9A3E38E3-FD4A-BB50-69F1-A37CDFEE2770}"/>
                </a:ext>
              </a:extLst>
            </p:cNvPr>
            <p:cNvSpPr txBox="1">
              <a:spLocks noChangeArrowheads="1"/>
            </p:cNvSpPr>
            <p:nvPr/>
          </p:nvSpPr>
          <p:spPr bwMode="auto">
            <a:xfrm>
              <a:off x="626" y="2273"/>
              <a:ext cx="311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复习思考题</a:t>
              </a:r>
            </a:p>
          </p:txBody>
        </p:sp>
        <p:sp>
          <p:nvSpPr>
            <p:cNvPr id="50187" name="Rectangle 27">
              <a:extLst>
                <a:ext uri="{FF2B5EF4-FFF2-40B4-BE49-F238E27FC236}">
                  <a16:creationId xmlns:a16="http://schemas.microsoft.com/office/drawing/2014/main" id="{2254C2CE-4F67-F764-5372-9AB092A6EFBE}"/>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1.6</a:t>
              </a:r>
              <a:endParaRPr lang="en-US" altLang="zh-CN" sz="1800">
                <a:solidFill>
                  <a:srgbClr val="000000"/>
                </a:solidFill>
              </a:endParaRPr>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AEB6B06A-897E-AC0C-FF8B-E18ECEB8AF9C}"/>
              </a:ext>
            </a:extLst>
          </p:cNvPr>
          <p:cNvSpPr>
            <a:spLocks noGrp="1" noChangeArrowheads="1"/>
          </p:cNvSpPr>
          <p:nvPr>
            <p:ph type="title"/>
          </p:nvPr>
        </p:nvSpPr>
        <p:spPr/>
        <p:txBody>
          <a:bodyPr/>
          <a:lstStyle/>
          <a:p>
            <a:pPr eaLnBrk="1" hangingPunct="1"/>
            <a:r>
              <a:rPr lang="en-US" altLang="zh-CN"/>
              <a:t>1.5  </a:t>
            </a:r>
            <a:r>
              <a:rPr lang="zh-CN" altLang="en-US"/>
              <a:t>本章小结</a:t>
            </a:r>
          </a:p>
        </p:txBody>
      </p:sp>
      <p:sp>
        <p:nvSpPr>
          <p:cNvPr id="51203" name="Rectangle 3">
            <a:extLst>
              <a:ext uri="{FF2B5EF4-FFF2-40B4-BE49-F238E27FC236}">
                <a16:creationId xmlns:a16="http://schemas.microsoft.com/office/drawing/2014/main" id="{EFA010CB-B024-84CC-DEA9-4063FA2F7854}"/>
              </a:ext>
            </a:extLst>
          </p:cNvPr>
          <p:cNvSpPr>
            <a:spLocks noGrp="1" noChangeArrowheads="1"/>
          </p:cNvSpPr>
          <p:nvPr>
            <p:ph type="body" sz="half" idx="1"/>
          </p:nvPr>
        </p:nvSpPr>
        <p:spPr>
          <a:xfrm>
            <a:off x="323850" y="1916113"/>
            <a:ext cx="4316413" cy="4176712"/>
          </a:xfrm>
          <a:solidFill>
            <a:srgbClr val="FFFFCC"/>
          </a:solidFill>
        </p:spPr>
        <p:txBody>
          <a:bodyPr/>
          <a:lstStyle/>
          <a:p>
            <a:pPr eaLnBrk="1" hangingPunct="1">
              <a:lnSpc>
                <a:spcPct val="130000"/>
              </a:lnSpc>
            </a:pPr>
            <a:r>
              <a:rPr lang="zh-CN" altLang="en-US" sz="1600">
                <a:solidFill>
                  <a:srgbClr val="CA5B08"/>
                </a:solidFill>
              </a:rPr>
              <a:t>项目与软件项目管理的概念、特点、过程及其重要性。项目是为实现一个独特目的而进行的临时性任务，项目具有独特性、临时性及需要资源等特性，每个项目都有一个项目发起人并含有不确定性。</a:t>
            </a:r>
          </a:p>
          <a:p>
            <a:pPr eaLnBrk="1" hangingPunct="1">
              <a:lnSpc>
                <a:spcPct val="130000"/>
              </a:lnSpc>
            </a:pPr>
            <a:r>
              <a:rPr lang="zh-CN" altLang="en-US" sz="1600">
                <a:solidFill>
                  <a:srgbClr val="CA5B08"/>
                </a:solidFill>
              </a:rPr>
              <a:t>项目管理的三项约束是指管理项目的范围、时间和成本这三个维度。</a:t>
            </a:r>
          </a:p>
          <a:p>
            <a:pPr eaLnBrk="1" hangingPunct="1">
              <a:lnSpc>
                <a:spcPct val="130000"/>
              </a:lnSpc>
            </a:pPr>
            <a:r>
              <a:rPr lang="zh-CN" altLang="en-US" sz="1600">
                <a:solidFill>
                  <a:srgbClr val="CA5B08"/>
                </a:solidFill>
              </a:rPr>
              <a:t>项目管理是指在项目活动中运用相关的知识、技能、工具和技术，以满足项目要求的活动。</a:t>
            </a:r>
          </a:p>
          <a:p>
            <a:pPr eaLnBrk="1" hangingPunct="1">
              <a:lnSpc>
                <a:spcPct val="130000"/>
              </a:lnSpc>
            </a:pPr>
            <a:r>
              <a:rPr lang="zh-CN" altLang="en-US" sz="1600">
                <a:solidFill>
                  <a:srgbClr val="CA5B08"/>
                </a:solidFill>
              </a:rPr>
              <a:t>利益相关者是指参与项目或受项目活动影响的人。</a:t>
            </a:r>
          </a:p>
        </p:txBody>
      </p:sp>
      <p:sp>
        <p:nvSpPr>
          <p:cNvPr id="51204" name="Rectangle 4">
            <a:extLst>
              <a:ext uri="{FF2B5EF4-FFF2-40B4-BE49-F238E27FC236}">
                <a16:creationId xmlns:a16="http://schemas.microsoft.com/office/drawing/2014/main" id="{85EEF630-DC4A-3007-D836-D07D3B173286}"/>
              </a:ext>
            </a:extLst>
          </p:cNvPr>
          <p:cNvSpPr>
            <a:spLocks noGrp="1" noChangeArrowheads="1"/>
          </p:cNvSpPr>
          <p:nvPr>
            <p:ph type="body" sz="half" idx="2"/>
          </p:nvPr>
        </p:nvSpPr>
        <p:spPr>
          <a:xfrm>
            <a:off x="4643438" y="1916113"/>
            <a:ext cx="4321175" cy="4176712"/>
          </a:xfrm>
          <a:solidFill>
            <a:srgbClr val="FFFFCC"/>
          </a:solidFill>
        </p:spPr>
        <p:txBody>
          <a:bodyPr/>
          <a:lstStyle/>
          <a:p>
            <a:pPr eaLnBrk="1" hangingPunct="1">
              <a:lnSpc>
                <a:spcPct val="130000"/>
              </a:lnSpc>
            </a:pPr>
            <a:r>
              <a:rPr lang="zh-CN" altLang="en-US" sz="1600">
                <a:solidFill>
                  <a:srgbClr val="767DBE"/>
                </a:solidFill>
              </a:rPr>
              <a:t>项目管理框架包括利益相关者、项目管理知识领域和项目管理工具与技术。知识领域包括项目综合管理、项目范围、项目时间、项目成本、项目质量、人力资源、项目沟通、项目风险和项目采购管理。</a:t>
            </a:r>
          </a:p>
          <a:p>
            <a:pPr eaLnBrk="1" hangingPunct="1">
              <a:lnSpc>
                <a:spcPct val="130000"/>
              </a:lnSpc>
            </a:pPr>
            <a:r>
              <a:rPr lang="zh-CN" altLang="en-US" sz="1600">
                <a:solidFill>
                  <a:srgbClr val="767DBE"/>
                </a:solidFill>
              </a:rPr>
              <a:t>过程管理在软件项目管理中有着重要的作用，通过不断地优化和规范过程，可以帮助企业提高软件生产能力。</a:t>
            </a:r>
          </a:p>
          <a:p>
            <a:pPr eaLnBrk="1" hangingPunct="1">
              <a:lnSpc>
                <a:spcPct val="130000"/>
              </a:lnSpc>
            </a:pPr>
            <a:r>
              <a:rPr lang="zh-CN" altLang="en-US" sz="1600">
                <a:solidFill>
                  <a:srgbClr val="767DBE"/>
                </a:solidFill>
              </a:rPr>
              <a:t>软件项目管理的核心是项目规划和项目跟踪控制。 </a:t>
            </a:r>
          </a:p>
          <a:p>
            <a:pPr eaLnBrk="1" hangingPunct="1">
              <a:lnSpc>
                <a:spcPct val="130000"/>
              </a:lnSpc>
            </a:pPr>
            <a:endParaRPr lang="en-US" altLang="zh-CN" sz="1600">
              <a:solidFill>
                <a:srgbClr val="767DBE"/>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F0C65CEB-454E-E49A-D413-49E2BE327425}"/>
              </a:ext>
            </a:extLst>
          </p:cNvPr>
          <p:cNvSpPr>
            <a:spLocks noGrp="1" noChangeArrowheads="1"/>
          </p:cNvSpPr>
          <p:nvPr>
            <p:ph type="title"/>
          </p:nvPr>
        </p:nvSpPr>
        <p:spPr/>
        <p:txBody>
          <a:bodyPr/>
          <a:lstStyle/>
          <a:p>
            <a:pPr eaLnBrk="1" hangingPunct="1"/>
            <a:r>
              <a:rPr lang="zh-CN" altLang="en-US"/>
              <a:t>本章内容提要</a:t>
            </a:r>
          </a:p>
        </p:txBody>
      </p:sp>
      <p:grpSp>
        <p:nvGrpSpPr>
          <p:cNvPr id="52227" name="Group 3">
            <a:extLst>
              <a:ext uri="{FF2B5EF4-FFF2-40B4-BE49-F238E27FC236}">
                <a16:creationId xmlns:a16="http://schemas.microsoft.com/office/drawing/2014/main" id="{DD052C3B-C766-1AD6-74CD-26251B1CCBC4}"/>
              </a:ext>
            </a:extLst>
          </p:cNvPr>
          <p:cNvGrpSpPr>
            <a:grpSpLocks/>
          </p:cNvGrpSpPr>
          <p:nvPr/>
        </p:nvGrpSpPr>
        <p:grpSpPr bwMode="auto">
          <a:xfrm>
            <a:off x="611188" y="2343150"/>
            <a:ext cx="5670550" cy="488950"/>
            <a:chOff x="385" y="1476"/>
            <a:chExt cx="3572" cy="308"/>
          </a:xfrm>
        </p:grpSpPr>
        <p:sp>
          <p:nvSpPr>
            <p:cNvPr id="52249" name="AutoShape 4">
              <a:extLst>
                <a:ext uri="{FF2B5EF4-FFF2-40B4-BE49-F238E27FC236}">
                  <a16:creationId xmlns:a16="http://schemas.microsoft.com/office/drawing/2014/main" id="{0BE13AF0-4BA8-27F2-BE11-E69F55315374}"/>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2250" name="Text Box 5">
              <a:extLst>
                <a:ext uri="{FF2B5EF4-FFF2-40B4-BE49-F238E27FC236}">
                  <a16:creationId xmlns:a16="http://schemas.microsoft.com/office/drawing/2014/main" id="{5D29622E-ED42-C7B5-17A8-849EBB30E157}"/>
                </a:ext>
              </a:extLst>
            </p:cNvPr>
            <p:cNvSpPr txBox="1">
              <a:spLocks noChangeArrowheads="1"/>
            </p:cNvSpPr>
            <p:nvPr/>
          </p:nvSpPr>
          <p:spPr bwMode="auto">
            <a:xfrm>
              <a:off x="626" y="1496"/>
              <a:ext cx="309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项目与软件项目的概念</a:t>
              </a:r>
              <a:r>
                <a:rPr lang="zh-CN" altLang="en-US" sz="2400" b="0">
                  <a:latin typeface="Times New Roman" panose="02020603050405020304" pitchFamily="18" charset="0"/>
                </a:rPr>
                <a:t> </a:t>
              </a:r>
            </a:p>
          </p:txBody>
        </p:sp>
        <p:sp>
          <p:nvSpPr>
            <p:cNvPr id="52251" name="Rectangle 6">
              <a:extLst>
                <a:ext uri="{FF2B5EF4-FFF2-40B4-BE49-F238E27FC236}">
                  <a16:creationId xmlns:a16="http://schemas.microsoft.com/office/drawing/2014/main" id="{511F7391-7BD9-7DB4-434A-236E5F1540F7}"/>
                </a:ext>
              </a:extLst>
            </p:cNvPr>
            <p:cNvSpPr>
              <a:spLocks noChangeArrowheads="1"/>
            </p:cNvSpPr>
            <p:nvPr/>
          </p:nvSpPr>
          <p:spPr bwMode="auto">
            <a:xfrm>
              <a:off x="385" y="153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a:t>
              </a:r>
              <a:endParaRPr lang="en-US" altLang="zh-CN" sz="1800">
                <a:solidFill>
                  <a:srgbClr val="000000"/>
                </a:solidFill>
              </a:endParaRPr>
            </a:p>
          </p:txBody>
        </p:sp>
      </p:grpSp>
      <p:grpSp>
        <p:nvGrpSpPr>
          <p:cNvPr id="52228" name="Group 7">
            <a:extLst>
              <a:ext uri="{FF2B5EF4-FFF2-40B4-BE49-F238E27FC236}">
                <a16:creationId xmlns:a16="http://schemas.microsoft.com/office/drawing/2014/main" id="{E4170851-D5A1-265F-B9C2-FC0010C8BCB6}"/>
              </a:ext>
            </a:extLst>
          </p:cNvPr>
          <p:cNvGrpSpPr>
            <a:grpSpLocks/>
          </p:cNvGrpSpPr>
          <p:nvPr/>
        </p:nvGrpSpPr>
        <p:grpSpPr bwMode="auto">
          <a:xfrm>
            <a:off x="611188" y="2924175"/>
            <a:ext cx="5670550" cy="488950"/>
            <a:chOff x="385" y="1842"/>
            <a:chExt cx="3572" cy="308"/>
          </a:xfrm>
        </p:grpSpPr>
        <p:grpSp>
          <p:nvGrpSpPr>
            <p:cNvPr id="52245" name="Group 8">
              <a:extLst>
                <a:ext uri="{FF2B5EF4-FFF2-40B4-BE49-F238E27FC236}">
                  <a16:creationId xmlns:a16="http://schemas.microsoft.com/office/drawing/2014/main" id="{A29B876F-5DEB-3EE7-0EB7-15E7F58429FD}"/>
                </a:ext>
              </a:extLst>
            </p:cNvPr>
            <p:cNvGrpSpPr>
              <a:grpSpLocks/>
            </p:cNvGrpSpPr>
            <p:nvPr/>
          </p:nvGrpSpPr>
          <p:grpSpPr bwMode="auto">
            <a:xfrm>
              <a:off x="464" y="1842"/>
              <a:ext cx="3493" cy="308"/>
              <a:chOff x="464" y="1842"/>
              <a:chExt cx="3493" cy="308"/>
            </a:xfrm>
          </p:grpSpPr>
          <p:sp>
            <p:nvSpPr>
              <p:cNvPr id="52247" name="AutoShape 9">
                <a:extLst>
                  <a:ext uri="{FF2B5EF4-FFF2-40B4-BE49-F238E27FC236}">
                    <a16:creationId xmlns:a16="http://schemas.microsoft.com/office/drawing/2014/main" id="{8643C61E-B687-EAFC-24D4-C432015E9EEE}"/>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2248" name="Text Box 10">
                <a:extLst>
                  <a:ext uri="{FF2B5EF4-FFF2-40B4-BE49-F238E27FC236}">
                    <a16:creationId xmlns:a16="http://schemas.microsoft.com/office/drawing/2014/main" id="{11C85C56-F77B-4863-AD72-FB86BDDAD68C}"/>
                  </a:ext>
                </a:extLst>
              </p:cNvPr>
              <p:cNvSpPr txBox="1">
                <a:spLocks noChangeArrowheads="1"/>
              </p:cNvSpPr>
              <p:nvPr/>
            </p:nvSpPr>
            <p:spPr bwMode="auto">
              <a:xfrm>
                <a:off x="626" y="1867"/>
                <a:ext cx="309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项目管理的概念</a:t>
                </a:r>
                <a:r>
                  <a:rPr lang="zh-CN" altLang="en-US" sz="2400" b="0">
                    <a:latin typeface="Times New Roman" panose="02020603050405020304" pitchFamily="18" charset="0"/>
                  </a:rPr>
                  <a:t> </a:t>
                </a:r>
              </a:p>
            </p:txBody>
          </p:sp>
        </p:grpSp>
        <p:sp>
          <p:nvSpPr>
            <p:cNvPr id="52246" name="Rectangle 11">
              <a:extLst>
                <a:ext uri="{FF2B5EF4-FFF2-40B4-BE49-F238E27FC236}">
                  <a16:creationId xmlns:a16="http://schemas.microsoft.com/office/drawing/2014/main" id="{32109D36-0F69-280B-9D08-D75429BA569F}"/>
                </a:ext>
              </a:extLst>
            </p:cNvPr>
            <p:cNvSpPr>
              <a:spLocks noChangeArrowheads="1"/>
            </p:cNvSpPr>
            <p:nvPr/>
          </p:nvSpPr>
          <p:spPr bwMode="auto">
            <a:xfrm>
              <a:off x="385" y="1915"/>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1.2</a:t>
              </a:r>
              <a:endParaRPr lang="en-US" altLang="zh-CN" sz="1800">
                <a:solidFill>
                  <a:srgbClr val="000000"/>
                </a:solidFill>
              </a:endParaRPr>
            </a:p>
          </p:txBody>
        </p:sp>
      </p:grpSp>
      <p:grpSp>
        <p:nvGrpSpPr>
          <p:cNvPr id="52229" name="Group 12">
            <a:extLst>
              <a:ext uri="{FF2B5EF4-FFF2-40B4-BE49-F238E27FC236}">
                <a16:creationId xmlns:a16="http://schemas.microsoft.com/office/drawing/2014/main" id="{99BCE2FD-3D3C-C83A-71B3-BBCD185E8707}"/>
              </a:ext>
            </a:extLst>
          </p:cNvPr>
          <p:cNvGrpSpPr>
            <a:grpSpLocks/>
          </p:cNvGrpSpPr>
          <p:nvPr/>
        </p:nvGrpSpPr>
        <p:grpSpPr bwMode="auto">
          <a:xfrm>
            <a:off x="611188" y="3500438"/>
            <a:ext cx="5689600" cy="488950"/>
            <a:chOff x="385" y="2209"/>
            <a:chExt cx="3584" cy="308"/>
          </a:xfrm>
        </p:grpSpPr>
        <p:sp>
          <p:nvSpPr>
            <p:cNvPr id="52242" name="AutoShape 13">
              <a:extLst>
                <a:ext uri="{FF2B5EF4-FFF2-40B4-BE49-F238E27FC236}">
                  <a16:creationId xmlns:a16="http://schemas.microsoft.com/office/drawing/2014/main" id="{96C8E83C-978B-65B1-8776-C94771A655F6}"/>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2243" name="Text Box 14">
              <a:extLst>
                <a:ext uri="{FF2B5EF4-FFF2-40B4-BE49-F238E27FC236}">
                  <a16:creationId xmlns:a16="http://schemas.microsoft.com/office/drawing/2014/main" id="{EB68D8EA-5C98-785B-ACED-5E695E2BB540}"/>
                </a:ext>
              </a:extLst>
            </p:cNvPr>
            <p:cNvSpPr txBox="1">
              <a:spLocks noChangeArrowheads="1"/>
            </p:cNvSpPr>
            <p:nvPr/>
          </p:nvSpPr>
          <p:spPr bwMode="auto">
            <a:xfrm>
              <a:off x="626" y="2253"/>
              <a:ext cx="31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软件项目生命期与管理过程</a:t>
              </a:r>
              <a:r>
                <a:rPr lang="zh-CN" altLang="en-US" sz="2400" b="0">
                  <a:latin typeface="Times New Roman" panose="02020603050405020304" pitchFamily="18" charset="0"/>
                </a:rPr>
                <a:t> </a:t>
              </a:r>
            </a:p>
          </p:txBody>
        </p:sp>
        <p:sp>
          <p:nvSpPr>
            <p:cNvPr id="52244" name="Rectangle 15">
              <a:extLst>
                <a:ext uri="{FF2B5EF4-FFF2-40B4-BE49-F238E27FC236}">
                  <a16:creationId xmlns:a16="http://schemas.microsoft.com/office/drawing/2014/main" id="{6AAEF42F-A2EA-7E49-1089-67BCF59C2203}"/>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1.3</a:t>
              </a:r>
              <a:endParaRPr lang="en-US" altLang="zh-CN" sz="1800">
                <a:solidFill>
                  <a:srgbClr val="000000"/>
                </a:solidFill>
              </a:endParaRPr>
            </a:p>
          </p:txBody>
        </p:sp>
      </p:grpSp>
      <p:grpSp>
        <p:nvGrpSpPr>
          <p:cNvPr id="52230" name="Group 16">
            <a:extLst>
              <a:ext uri="{FF2B5EF4-FFF2-40B4-BE49-F238E27FC236}">
                <a16:creationId xmlns:a16="http://schemas.microsoft.com/office/drawing/2014/main" id="{4383FFCB-F62E-4C08-81E3-31E4BC8228C0}"/>
              </a:ext>
            </a:extLst>
          </p:cNvPr>
          <p:cNvGrpSpPr>
            <a:grpSpLocks/>
          </p:cNvGrpSpPr>
          <p:nvPr/>
        </p:nvGrpSpPr>
        <p:grpSpPr bwMode="auto">
          <a:xfrm>
            <a:off x="611188" y="4076700"/>
            <a:ext cx="5689600" cy="488950"/>
            <a:chOff x="385" y="2209"/>
            <a:chExt cx="3584" cy="308"/>
          </a:xfrm>
        </p:grpSpPr>
        <p:sp>
          <p:nvSpPr>
            <p:cNvPr id="52239" name="AutoShape 17">
              <a:extLst>
                <a:ext uri="{FF2B5EF4-FFF2-40B4-BE49-F238E27FC236}">
                  <a16:creationId xmlns:a16="http://schemas.microsoft.com/office/drawing/2014/main" id="{F1731260-18C9-11BE-3E06-CA1F0DB890F2}"/>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2240" name="Text Box 18">
              <a:extLst>
                <a:ext uri="{FF2B5EF4-FFF2-40B4-BE49-F238E27FC236}">
                  <a16:creationId xmlns:a16="http://schemas.microsoft.com/office/drawing/2014/main" id="{8C7401EA-8340-448F-ADAA-4FE5F0B2D2AB}"/>
                </a:ext>
              </a:extLst>
            </p:cNvPr>
            <p:cNvSpPr txBox="1">
              <a:spLocks noChangeArrowheads="1"/>
            </p:cNvSpPr>
            <p:nvPr/>
          </p:nvSpPr>
          <p:spPr bwMode="auto">
            <a:xfrm>
              <a:off x="626" y="2253"/>
              <a:ext cx="31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本书内容的组织</a:t>
              </a:r>
              <a:r>
                <a:rPr lang="zh-CN" altLang="en-US" sz="2400" b="0">
                  <a:latin typeface="Times New Roman" panose="02020603050405020304" pitchFamily="18" charset="0"/>
                </a:rPr>
                <a:t> </a:t>
              </a:r>
            </a:p>
          </p:txBody>
        </p:sp>
        <p:sp>
          <p:nvSpPr>
            <p:cNvPr id="52241" name="Rectangle 19">
              <a:extLst>
                <a:ext uri="{FF2B5EF4-FFF2-40B4-BE49-F238E27FC236}">
                  <a16:creationId xmlns:a16="http://schemas.microsoft.com/office/drawing/2014/main" id="{2B9C9341-C97C-1D1D-D16B-22A8FFE6433B}"/>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1.4</a:t>
              </a:r>
              <a:endParaRPr lang="en-US" altLang="zh-CN" sz="1800">
                <a:solidFill>
                  <a:srgbClr val="000000"/>
                </a:solidFill>
              </a:endParaRPr>
            </a:p>
          </p:txBody>
        </p:sp>
      </p:grpSp>
      <p:grpSp>
        <p:nvGrpSpPr>
          <p:cNvPr id="52231" name="Group 20">
            <a:extLst>
              <a:ext uri="{FF2B5EF4-FFF2-40B4-BE49-F238E27FC236}">
                <a16:creationId xmlns:a16="http://schemas.microsoft.com/office/drawing/2014/main" id="{F8A5C403-5C97-CCD9-A5BD-85FA29B30C1C}"/>
              </a:ext>
            </a:extLst>
          </p:cNvPr>
          <p:cNvGrpSpPr>
            <a:grpSpLocks/>
          </p:cNvGrpSpPr>
          <p:nvPr/>
        </p:nvGrpSpPr>
        <p:grpSpPr bwMode="auto">
          <a:xfrm>
            <a:off x="611188" y="4652963"/>
            <a:ext cx="5689600" cy="488950"/>
            <a:chOff x="385" y="2209"/>
            <a:chExt cx="3584" cy="308"/>
          </a:xfrm>
        </p:grpSpPr>
        <p:sp>
          <p:nvSpPr>
            <p:cNvPr id="52236" name="AutoShape 21">
              <a:extLst>
                <a:ext uri="{FF2B5EF4-FFF2-40B4-BE49-F238E27FC236}">
                  <a16:creationId xmlns:a16="http://schemas.microsoft.com/office/drawing/2014/main" id="{EAD9FA32-10A8-7ADB-A7C9-C00752885509}"/>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2237" name="Text Box 22">
              <a:extLst>
                <a:ext uri="{FF2B5EF4-FFF2-40B4-BE49-F238E27FC236}">
                  <a16:creationId xmlns:a16="http://schemas.microsoft.com/office/drawing/2014/main" id="{7AEEDDF7-5090-7BE7-EFC7-9F566C585375}"/>
                </a:ext>
              </a:extLst>
            </p:cNvPr>
            <p:cNvSpPr txBox="1">
              <a:spLocks noChangeArrowheads="1"/>
            </p:cNvSpPr>
            <p:nvPr/>
          </p:nvSpPr>
          <p:spPr bwMode="auto">
            <a:xfrm>
              <a:off x="626" y="2273"/>
              <a:ext cx="311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本章小结</a:t>
              </a:r>
            </a:p>
          </p:txBody>
        </p:sp>
        <p:sp>
          <p:nvSpPr>
            <p:cNvPr id="52238" name="Rectangle 23">
              <a:extLst>
                <a:ext uri="{FF2B5EF4-FFF2-40B4-BE49-F238E27FC236}">
                  <a16:creationId xmlns:a16="http://schemas.microsoft.com/office/drawing/2014/main" id="{8F22E131-D243-C8B8-5507-BF4847DA4108}"/>
                </a:ext>
              </a:extLst>
            </p:cNvPr>
            <p:cNvSpPr>
              <a:spLocks noChangeArrowheads="1"/>
            </p:cNvSpPr>
            <p:nvPr/>
          </p:nvSpPr>
          <p:spPr bwMode="auto">
            <a:xfrm>
              <a:off x="385" y="2282"/>
              <a:ext cx="211" cy="164"/>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1.5</a:t>
              </a:r>
              <a:endParaRPr lang="en-US" altLang="zh-CN" sz="1800">
                <a:solidFill>
                  <a:srgbClr val="000000"/>
                </a:solidFill>
              </a:endParaRPr>
            </a:p>
          </p:txBody>
        </p:sp>
      </p:grpSp>
      <p:grpSp>
        <p:nvGrpSpPr>
          <p:cNvPr id="52232" name="Group 24">
            <a:extLst>
              <a:ext uri="{FF2B5EF4-FFF2-40B4-BE49-F238E27FC236}">
                <a16:creationId xmlns:a16="http://schemas.microsoft.com/office/drawing/2014/main" id="{75050775-9BF3-1DF3-6103-8E5B139CC549}"/>
              </a:ext>
            </a:extLst>
          </p:cNvPr>
          <p:cNvGrpSpPr>
            <a:grpSpLocks/>
          </p:cNvGrpSpPr>
          <p:nvPr/>
        </p:nvGrpSpPr>
        <p:grpSpPr bwMode="auto">
          <a:xfrm>
            <a:off x="611188" y="5229225"/>
            <a:ext cx="5689600" cy="488950"/>
            <a:chOff x="385" y="2209"/>
            <a:chExt cx="3584" cy="308"/>
          </a:xfrm>
        </p:grpSpPr>
        <p:sp>
          <p:nvSpPr>
            <p:cNvPr id="52233" name="AutoShape 25">
              <a:extLst>
                <a:ext uri="{FF2B5EF4-FFF2-40B4-BE49-F238E27FC236}">
                  <a16:creationId xmlns:a16="http://schemas.microsoft.com/office/drawing/2014/main" id="{DF5E1CCA-D598-61E3-E25B-A7A9443E99E6}"/>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2234" name="Text Box 26">
              <a:extLst>
                <a:ext uri="{FF2B5EF4-FFF2-40B4-BE49-F238E27FC236}">
                  <a16:creationId xmlns:a16="http://schemas.microsoft.com/office/drawing/2014/main" id="{F97E4129-9879-7A22-F686-FDFCA55A1C43}"/>
                </a:ext>
              </a:extLst>
            </p:cNvPr>
            <p:cNvSpPr txBox="1">
              <a:spLocks noChangeArrowheads="1"/>
            </p:cNvSpPr>
            <p:nvPr/>
          </p:nvSpPr>
          <p:spPr bwMode="auto">
            <a:xfrm>
              <a:off x="626" y="2273"/>
              <a:ext cx="311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复习思考题</a:t>
              </a:r>
            </a:p>
          </p:txBody>
        </p:sp>
        <p:sp>
          <p:nvSpPr>
            <p:cNvPr id="52235" name="Rectangle 27">
              <a:extLst>
                <a:ext uri="{FF2B5EF4-FFF2-40B4-BE49-F238E27FC236}">
                  <a16:creationId xmlns:a16="http://schemas.microsoft.com/office/drawing/2014/main" id="{651720D0-8045-9CF1-F64F-D1D65E0649A1}"/>
                </a:ext>
              </a:extLst>
            </p:cNvPr>
            <p:cNvSpPr>
              <a:spLocks noChangeArrowheads="1"/>
            </p:cNvSpPr>
            <p:nvPr/>
          </p:nvSpPr>
          <p:spPr bwMode="auto">
            <a:xfrm>
              <a:off x="385" y="2282"/>
              <a:ext cx="211" cy="164"/>
            </a:xfrm>
            <a:prstGeom prst="rect">
              <a:avLst/>
            </a:prstGeom>
            <a:solidFill>
              <a:schemeClr val="accent2"/>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1.6</a:t>
              </a:r>
              <a:endParaRPr lang="en-US" altLang="zh-CN" sz="1800">
                <a:solidFill>
                  <a:srgbClr val="000000"/>
                </a:solidFill>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07A5998-B65D-8FE6-AAB4-71CA3DE99127}"/>
              </a:ext>
            </a:extLst>
          </p:cNvPr>
          <p:cNvSpPr>
            <a:spLocks noGrp="1" noChangeArrowheads="1"/>
          </p:cNvSpPr>
          <p:nvPr>
            <p:ph type="title"/>
          </p:nvPr>
        </p:nvSpPr>
        <p:spPr/>
        <p:txBody>
          <a:bodyPr/>
          <a:lstStyle/>
          <a:p>
            <a:pPr eaLnBrk="1" hangingPunct="1"/>
            <a:r>
              <a:rPr lang="en-US" altLang="zh-CN"/>
              <a:t>1.6  </a:t>
            </a:r>
            <a:r>
              <a:rPr kumimoji="1" lang="zh-CN" altLang="en-US"/>
              <a:t>复习思考题</a:t>
            </a:r>
          </a:p>
        </p:txBody>
      </p:sp>
      <p:sp>
        <p:nvSpPr>
          <p:cNvPr id="53251" name="Rectangle 3">
            <a:extLst>
              <a:ext uri="{FF2B5EF4-FFF2-40B4-BE49-F238E27FC236}">
                <a16:creationId xmlns:a16="http://schemas.microsoft.com/office/drawing/2014/main" id="{ADD52388-E974-4042-ADB8-3B85D05F1CFF}"/>
              </a:ext>
            </a:extLst>
          </p:cNvPr>
          <p:cNvSpPr>
            <a:spLocks noGrp="1" noChangeArrowheads="1"/>
          </p:cNvSpPr>
          <p:nvPr>
            <p:ph type="body" idx="1"/>
          </p:nvPr>
        </p:nvSpPr>
        <p:spPr>
          <a:xfrm>
            <a:off x="827088" y="2133600"/>
            <a:ext cx="8137525" cy="4724400"/>
          </a:xfrm>
        </p:spPr>
        <p:txBody>
          <a:bodyPr/>
          <a:lstStyle/>
          <a:p>
            <a:pPr eaLnBrk="1" hangingPunct="1">
              <a:lnSpc>
                <a:spcPct val="130000"/>
              </a:lnSpc>
              <a:buFont typeface="Wingdings 2" panose="05020102010507070707" pitchFamily="18" charset="2"/>
              <a:buNone/>
              <a:defRPr/>
            </a:pPr>
            <a:r>
              <a:rPr lang="en-US" altLang="zh-CN" sz="2000" dirty="0">
                <a:latin typeface="宋体" panose="02010600030101010101" pitchFamily="2" charset="-122"/>
              </a:rPr>
              <a:t>1. </a:t>
            </a:r>
            <a:r>
              <a:rPr lang="zh-CN" altLang="en-US" sz="2000" dirty="0">
                <a:latin typeface="宋体" panose="02010600030101010101" pitchFamily="2" charset="-122"/>
              </a:rPr>
              <a:t>什么是项目？它与多数人的日常工作有什么不同？</a:t>
            </a:r>
          </a:p>
          <a:p>
            <a:pPr eaLnBrk="1" hangingPunct="1">
              <a:lnSpc>
                <a:spcPct val="130000"/>
              </a:lnSpc>
              <a:buFont typeface="Wingdings 2" panose="05020102010507070707" pitchFamily="18" charset="2"/>
              <a:buNone/>
              <a:defRPr/>
            </a:pPr>
            <a:r>
              <a:rPr lang="en-US" altLang="zh-CN" sz="2000" dirty="0">
                <a:latin typeface="宋体" panose="02010600030101010101" pitchFamily="2" charset="-122"/>
              </a:rPr>
              <a:t>2. </a:t>
            </a:r>
            <a:r>
              <a:rPr lang="zh-CN" altLang="en-US" sz="2000" dirty="0">
                <a:latin typeface="宋体" panose="02010600030101010101" pitchFamily="2" charset="-122"/>
              </a:rPr>
              <a:t>分别列举三个项目活动的例子和三个不属于项目活动的例子。</a:t>
            </a:r>
          </a:p>
          <a:p>
            <a:pPr eaLnBrk="1" hangingPunct="1">
              <a:lnSpc>
                <a:spcPct val="130000"/>
              </a:lnSpc>
              <a:buFont typeface="Wingdings 2" panose="05020102010507070707" pitchFamily="18" charset="2"/>
              <a:buNone/>
              <a:defRPr/>
            </a:pPr>
            <a:r>
              <a:rPr lang="en-US" altLang="zh-CN" sz="2000" dirty="0">
                <a:latin typeface="宋体" panose="02010600030101010101" pitchFamily="2" charset="-122"/>
              </a:rPr>
              <a:t>3. </a:t>
            </a:r>
            <a:r>
              <a:rPr lang="zh-CN" altLang="en-US" sz="2000" dirty="0">
                <a:latin typeface="宋体" panose="02010600030101010101" pitchFamily="2" charset="-122"/>
              </a:rPr>
              <a:t>项目管理与一般管理有什么不同？</a:t>
            </a:r>
          </a:p>
          <a:p>
            <a:pPr eaLnBrk="1" hangingPunct="1">
              <a:lnSpc>
                <a:spcPct val="130000"/>
              </a:lnSpc>
              <a:buFont typeface="Wingdings 2" panose="05020102010507070707" pitchFamily="18" charset="2"/>
              <a:buNone/>
              <a:defRPr/>
            </a:pPr>
            <a:r>
              <a:rPr lang="en-US" altLang="zh-CN" sz="2000" dirty="0">
                <a:latin typeface="宋体" panose="02010600030101010101" pitchFamily="2" charset="-122"/>
              </a:rPr>
              <a:t>4. </a:t>
            </a:r>
            <a:r>
              <a:rPr lang="zh-CN" altLang="en-US" sz="2000" dirty="0">
                <a:latin typeface="宋体" panose="02010600030101010101" pitchFamily="2" charset="-122"/>
              </a:rPr>
              <a:t>简述软件项目管理的过程。</a:t>
            </a:r>
          </a:p>
          <a:p>
            <a:pPr eaLnBrk="1" hangingPunct="1">
              <a:lnSpc>
                <a:spcPct val="130000"/>
              </a:lnSpc>
              <a:buFont typeface="Wingdings 2" panose="05020102010507070707" pitchFamily="18" charset="2"/>
              <a:buNone/>
              <a:defRPr/>
            </a:pPr>
            <a:r>
              <a:rPr lang="en-US" altLang="zh-CN" sz="2000" dirty="0">
                <a:latin typeface="宋体" panose="02010600030101010101" pitchFamily="2" charset="-122"/>
              </a:rPr>
              <a:t>5. </a:t>
            </a:r>
            <a:r>
              <a:rPr lang="zh-CN" altLang="en-US" sz="2000" dirty="0">
                <a:latin typeface="宋体" panose="02010600030101010101" pitchFamily="2" charset="-122"/>
              </a:rPr>
              <a:t>用你自己的话解释三项约束的含义是什么，并通过一个你熟悉的实例解释三项约束。</a:t>
            </a:r>
          </a:p>
          <a:p>
            <a:pPr eaLnBrk="1" hangingPunct="1">
              <a:lnSpc>
                <a:spcPct val="130000"/>
              </a:lnSpc>
              <a:buFont typeface="Wingdings 2" panose="05020102010507070707" pitchFamily="18" charset="2"/>
              <a:buNone/>
              <a:defRPr/>
            </a:pPr>
            <a:r>
              <a:rPr lang="en-US" altLang="zh-CN" sz="2000" dirty="0">
                <a:latin typeface="宋体" panose="02010600030101010101" pitchFamily="2" charset="-122"/>
              </a:rPr>
              <a:t>6. </a:t>
            </a:r>
            <a:r>
              <a:rPr lang="zh-CN" altLang="en-US" sz="2000" dirty="0">
                <a:latin typeface="宋体" panose="02010600030101010101" pitchFamily="2" charset="-122"/>
              </a:rPr>
              <a:t>分别举出一个成功的和失败的软件项目的例子。</a:t>
            </a:r>
          </a:p>
        </p:txBody>
      </p:sp>
    </p:spTree>
  </p:cSld>
  <p:clrMapOvr>
    <a:masterClrMapping/>
  </p:clrMapOvr>
</p:sld>
</file>

<file path=ppt/theme/theme1.xml><?xml version="1.0" encoding="utf-8"?>
<a:theme xmlns:a="http://schemas.openxmlformats.org/drawingml/2006/main" name="1_默认设计模板">
  <a:themeElements>
    <a:clrScheme name="1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80808"/>
      </a:hlink>
      <a:folHlink>
        <a:srgbClr val="000000"/>
      </a:folHlink>
    </a:clrScheme>
    <a:fontScheme name="1_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hlink"/>
        </a:solidFill>
        <a:ln>
          <a:noFill/>
        </a:ln>
        <a:effectLst/>
        <a:extLst>
          <a:ext uri="{91240B29-F687-4F45-9708-019B960494DF}">
            <a14:hiddenLine xmlns:a14="http://schemas.microsoft.com/office/drawing/2010/main" w="635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0" tIns="0" rIns="0" bIns="0" numCol="1" anchor="ctr" anchorCtr="1"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zh-CN" altLang="en-US" sz="1200" b="1" i="0" u="none" strike="noStrike" cap="none" normalizeH="0" baseline="0" smtClean="0">
            <a:ln>
              <a:noFill/>
            </a:ln>
            <a:solidFill>
              <a:schemeClr val="bg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hlink"/>
        </a:solidFill>
        <a:ln>
          <a:noFill/>
        </a:ln>
        <a:effectLst/>
        <a:extLst>
          <a:ext uri="{91240B29-F687-4F45-9708-019B960494DF}">
            <a14:hiddenLine xmlns:a14="http://schemas.microsoft.com/office/drawing/2010/main" w="635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0" tIns="0" rIns="0" bIns="0" numCol="1" anchor="ctr" anchorCtr="1"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zh-CN" altLang="en-US" sz="1200" b="1" i="0" u="none" strike="noStrike" cap="none" normalizeH="0" baseline="0" smtClean="0">
            <a:ln>
              <a:noFill/>
            </a:ln>
            <a:solidFill>
              <a:schemeClr val="bg1"/>
            </a:solidFill>
            <a:effectLst/>
            <a:latin typeface="Arial" panose="020B0604020202020204" pitchFamily="34" charset="0"/>
            <a:ea typeface="宋体" panose="02010600030101010101" pitchFamily="2" charset="-122"/>
          </a:defRPr>
        </a:defPPr>
      </a:lstStyle>
    </a:lnDef>
  </a:objectDefaults>
  <a:extraClrSchemeLst>
    <a:extraClrScheme>
      <a:clrScheme name="1_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80808"/>
        </a:hlink>
        <a:folHlink>
          <a:srgbClr val="00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2785</TotalTime>
  <Words>4585</Words>
  <Application>Microsoft Office PowerPoint</Application>
  <PresentationFormat>全屏显示(4:3)</PresentationFormat>
  <Paragraphs>432</Paragraphs>
  <Slides>57</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57</vt:i4>
      </vt:variant>
    </vt:vector>
  </HeadingPairs>
  <TitlesOfParts>
    <vt:vector size="69" baseType="lpstr">
      <vt:lpstr>黑体</vt:lpstr>
      <vt:lpstr>华文中宋</vt:lpstr>
      <vt:lpstr>宋体</vt:lpstr>
      <vt:lpstr>微软雅黑</vt:lpstr>
      <vt:lpstr>Arial</vt:lpstr>
      <vt:lpstr>Arial Narrow</vt:lpstr>
      <vt:lpstr>Comic Sans MS</vt:lpstr>
      <vt:lpstr>Times New Roman</vt:lpstr>
      <vt:lpstr>Wingdings</vt:lpstr>
      <vt:lpstr>Wingdings 2</vt:lpstr>
      <vt:lpstr>1_默认设计模板</vt:lpstr>
      <vt:lpstr>位图图像</vt:lpstr>
      <vt:lpstr>软件项目管理与案例分析 </vt:lpstr>
      <vt:lpstr>PowerPoint 演示文稿</vt:lpstr>
      <vt:lpstr>课程简介</vt:lpstr>
      <vt:lpstr>第 1 章   软件项目管理概述 </vt:lpstr>
      <vt:lpstr>导论：为什么要学习软件项目管理</vt:lpstr>
      <vt:lpstr>导论：为什么要学习软件项目管理</vt:lpstr>
      <vt:lpstr>项目管理的历史</vt:lpstr>
      <vt:lpstr>项目管理的发展</vt:lpstr>
      <vt:lpstr>项目管理的发展</vt:lpstr>
      <vt:lpstr>项目管理涉及的领域</vt:lpstr>
      <vt:lpstr>本章内容提要</vt:lpstr>
      <vt:lpstr>1.1  项目与软件项目的概念</vt:lpstr>
      <vt:lpstr>1.1  项目与软件项目的概念</vt:lpstr>
      <vt:lpstr>1.1  项目与软件项目的概念</vt:lpstr>
      <vt:lpstr>1.1  项目与软件项目的概念</vt:lpstr>
      <vt:lpstr>项目与软件项目的概念</vt:lpstr>
      <vt:lpstr>项目与软件项目的概念</vt:lpstr>
      <vt:lpstr>项目与软件项目的概念</vt:lpstr>
      <vt:lpstr>项目与软件项目的概念</vt:lpstr>
      <vt:lpstr>项目与软件项目的概念</vt:lpstr>
      <vt:lpstr>项目与软件项目的概念</vt:lpstr>
      <vt:lpstr>项目与软件项目的概念</vt:lpstr>
      <vt:lpstr>项目与软件项目的概念</vt:lpstr>
      <vt:lpstr>项目与软件项目的概念</vt:lpstr>
      <vt:lpstr>项目与软件项目的概念</vt:lpstr>
      <vt:lpstr>项目与软件项目的概念</vt:lpstr>
      <vt:lpstr>项目与软件项目的概念</vt:lpstr>
      <vt:lpstr>本章内容提要</vt:lpstr>
      <vt:lpstr>1.2  项目管理的概念 </vt:lpstr>
      <vt:lpstr>项目管理的概念</vt:lpstr>
      <vt:lpstr>项目管理的概念</vt:lpstr>
      <vt:lpstr>项目管理的概念</vt:lpstr>
      <vt:lpstr>项目管理的概念</vt:lpstr>
      <vt:lpstr>项目管理的概念</vt:lpstr>
      <vt:lpstr>项目管理的概念</vt:lpstr>
      <vt:lpstr>项目管理的概念</vt:lpstr>
      <vt:lpstr>项目管理的概念</vt:lpstr>
      <vt:lpstr>项目管理的概念</vt:lpstr>
      <vt:lpstr>项目管理的概念</vt:lpstr>
      <vt:lpstr>项目管理的概念</vt:lpstr>
      <vt:lpstr>项目管理的概念</vt:lpstr>
      <vt:lpstr>本章内容提要</vt:lpstr>
      <vt:lpstr>1.3  软件项目生命期与管理过程 </vt:lpstr>
      <vt:lpstr>软件项目生命期与管理过程</vt:lpstr>
      <vt:lpstr>软件项目生命期与管理过程</vt:lpstr>
      <vt:lpstr>软件项目生命期与管理过程</vt:lpstr>
      <vt:lpstr>软件项目生命期与管理过程</vt:lpstr>
      <vt:lpstr>软件项目生命期与管理过程</vt:lpstr>
      <vt:lpstr>软件项目生命期与管理过程</vt:lpstr>
      <vt:lpstr>软件项目生命期与管理过程</vt:lpstr>
      <vt:lpstr>软件项目生命期与管理过程</vt:lpstr>
      <vt:lpstr>本章内容提要</vt:lpstr>
      <vt:lpstr>1.4  本书内容的组织 </vt:lpstr>
      <vt:lpstr>本章内容提要</vt:lpstr>
      <vt:lpstr>1.5  本章小结</vt:lpstr>
      <vt:lpstr>本章内容提要</vt:lpstr>
      <vt:lpstr>1.6  复习思考题</vt:lpstr>
    </vt:vector>
  </TitlesOfParts>
  <Manager>杨立东</Manager>
  <Company>CRS Tech（上海连陆）</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P01-CMMI实践解析－CMMI模型概述</dc:title>
  <dc:subject>CMMI模型概述</dc:subject>
  <dc:creator>杨立东</dc:creator>
  <cp:lastModifiedBy>Mingjian Jiang</cp:lastModifiedBy>
  <cp:revision>333</cp:revision>
  <dcterms:created xsi:type="dcterms:W3CDTF">2005-05-27T08:51:01Z</dcterms:created>
  <dcterms:modified xsi:type="dcterms:W3CDTF">2024-08-26T01:51:28Z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说明">
    <vt:lpwstr>PowerPoint 打印文稿</vt:lpwstr>
  </property>
</Properties>
</file>