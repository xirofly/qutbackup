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79"/>
  </p:notesMasterIdLst>
  <p:sldIdLst>
    <p:sldId id="256" r:id="rId2"/>
    <p:sldId id="260" r:id="rId3"/>
    <p:sldId id="298" r:id="rId4"/>
    <p:sldId id="282" r:id="rId5"/>
    <p:sldId id="299" r:id="rId6"/>
    <p:sldId id="303" r:id="rId7"/>
    <p:sldId id="329" r:id="rId8"/>
    <p:sldId id="330" r:id="rId9"/>
    <p:sldId id="300" r:id="rId10"/>
    <p:sldId id="304" r:id="rId11"/>
    <p:sldId id="331" r:id="rId12"/>
    <p:sldId id="332" r:id="rId13"/>
    <p:sldId id="333" r:id="rId14"/>
    <p:sldId id="359" r:id="rId15"/>
    <p:sldId id="281" r:id="rId16"/>
    <p:sldId id="309" r:id="rId17"/>
    <p:sldId id="358" r:id="rId18"/>
    <p:sldId id="319" r:id="rId19"/>
    <p:sldId id="305" r:id="rId20"/>
    <p:sldId id="284" r:id="rId21"/>
    <p:sldId id="347" r:id="rId22"/>
    <p:sldId id="348" r:id="rId23"/>
    <p:sldId id="285" r:id="rId24"/>
    <p:sldId id="345" r:id="rId25"/>
    <p:sldId id="335" r:id="rId26"/>
    <p:sldId id="346" r:id="rId27"/>
    <p:sldId id="318" r:id="rId28"/>
    <p:sldId id="356" r:id="rId29"/>
    <p:sldId id="357" r:id="rId30"/>
    <p:sldId id="286" r:id="rId31"/>
    <p:sldId id="312" r:id="rId32"/>
    <p:sldId id="350" r:id="rId33"/>
    <p:sldId id="349" r:id="rId34"/>
    <p:sldId id="288" r:id="rId35"/>
    <p:sldId id="334" r:id="rId36"/>
    <p:sldId id="352" r:id="rId37"/>
    <p:sldId id="353" r:id="rId38"/>
    <p:sldId id="351" r:id="rId39"/>
    <p:sldId id="287" r:id="rId40"/>
    <p:sldId id="311" r:id="rId41"/>
    <p:sldId id="354" r:id="rId42"/>
    <p:sldId id="336" r:id="rId43"/>
    <p:sldId id="320" r:id="rId44"/>
    <p:sldId id="313" r:id="rId45"/>
    <p:sldId id="289" r:id="rId46"/>
    <p:sldId id="314" r:id="rId47"/>
    <p:sldId id="337" r:id="rId48"/>
    <p:sldId id="338" r:id="rId49"/>
    <p:sldId id="315" r:id="rId50"/>
    <p:sldId id="290" r:id="rId51"/>
    <p:sldId id="339" r:id="rId52"/>
    <p:sldId id="340" r:id="rId53"/>
    <p:sldId id="341" r:id="rId54"/>
    <p:sldId id="316" r:id="rId55"/>
    <p:sldId id="342" r:id="rId56"/>
    <p:sldId id="291" r:id="rId57"/>
    <p:sldId id="343" r:id="rId58"/>
    <p:sldId id="344" r:id="rId59"/>
    <p:sldId id="355" r:id="rId60"/>
    <p:sldId id="321" r:id="rId61"/>
    <p:sldId id="292" r:id="rId62"/>
    <p:sldId id="327" r:id="rId63"/>
    <p:sldId id="293" r:id="rId64"/>
    <p:sldId id="326" r:id="rId65"/>
    <p:sldId id="294" r:id="rId66"/>
    <p:sldId id="325" r:id="rId67"/>
    <p:sldId id="295" r:id="rId68"/>
    <p:sldId id="317" r:id="rId69"/>
    <p:sldId id="296" r:id="rId70"/>
    <p:sldId id="297" r:id="rId71"/>
    <p:sldId id="322" r:id="rId72"/>
    <p:sldId id="307" r:id="rId73"/>
    <p:sldId id="328" r:id="rId74"/>
    <p:sldId id="323" r:id="rId75"/>
    <p:sldId id="280" r:id="rId76"/>
    <p:sldId id="324" r:id="rId77"/>
    <p:sldId id="261" r:id="rId78"/>
  </p:sldIdLst>
  <p:sldSz cx="9144000" cy="6858000" type="screen4x3"/>
  <p:notesSz cx="6858000" cy="9144000"/>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FF00"/>
    <a:srgbClr val="3366CC"/>
    <a:srgbClr val="0000FF"/>
    <a:srgbClr val="CC3300"/>
    <a:srgbClr val="FFCC99"/>
    <a:srgbClr val="FFFFCC"/>
    <a:srgbClr val="FF9966"/>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60" autoAdjust="0"/>
  </p:normalViewPr>
  <p:slideViewPr>
    <p:cSldViewPr>
      <p:cViewPr varScale="1">
        <p:scale>
          <a:sx n="121" d="100"/>
          <a:sy n="121" d="100"/>
        </p:scale>
        <p:origin x="1642" y="-6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CC7F18A-3C6E-22AA-38EF-C04A13F9C77D}"/>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35843" name="Rectangle 3">
            <a:extLst>
              <a:ext uri="{FF2B5EF4-FFF2-40B4-BE49-F238E27FC236}">
                <a16:creationId xmlns:a16="http://schemas.microsoft.com/office/drawing/2014/main" id="{2A0FBA8E-0667-B1E4-6F89-BD9764CD4B0B}"/>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3076" name="Rectangle 4">
            <a:extLst>
              <a:ext uri="{FF2B5EF4-FFF2-40B4-BE49-F238E27FC236}">
                <a16:creationId xmlns:a16="http://schemas.microsoft.com/office/drawing/2014/main" id="{B8E31F31-5834-70FA-5207-1F4E58C907C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5845" name="Rectangle 5">
            <a:extLst>
              <a:ext uri="{FF2B5EF4-FFF2-40B4-BE49-F238E27FC236}">
                <a16:creationId xmlns:a16="http://schemas.microsoft.com/office/drawing/2014/main" id="{36560320-709E-9DFD-00EE-8ECB7D4C21B0}"/>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5846" name="Rectangle 6">
            <a:extLst>
              <a:ext uri="{FF2B5EF4-FFF2-40B4-BE49-F238E27FC236}">
                <a16:creationId xmlns:a16="http://schemas.microsoft.com/office/drawing/2014/main" id="{3B1C6A88-4331-C681-DE1E-D965F523F986}"/>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35847" name="Rectangle 7">
            <a:extLst>
              <a:ext uri="{FF2B5EF4-FFF2-40B4-BE49-F238E27FC236}">
                <a16:creationId xmlns:a16="http://schemas.microsoft.com/office/drawing/2014/main" id="{F32BBA7E-B5C3-76F2-C811-A273ADE3906F}"/>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68D2EEDA-4E06-4126-BC07-19943DD91E9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2" name="Picture 2" descr="43">
            <a:extLst>
              <a:ext uri="{FF2B5EF4-FFF2-40B4-BE49-F238E27FC236}">
                <a16:creationId xmlns:a16="http://schemas.microsoft.com/office/drawing/2014/main" id="{F12379CE-C90F-2984-6FAD-BD780E4F49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6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9" name="Rectangle 3"/>
          <p:cNvSpPr>
            <a:spLocks noGrp="1" noChangeArrowheads="1"/>
          </p:cNvSpPr>
          <p:nvPr>
            <p:ph type="ctrTitle" sz="quarter"/>
          </p:nvPr>
        </p:nvSpPr>
        <p:spPr>
          <a:xfrm>
            <a:off x="609600" y="2420938"/>
            <a:ext cx="8283575" cy="1800225"/>
          </a:xfrm>
        </p:spPr>
        <p:txBody>
          <a:bodyPr/>
          <a:lstStyle>
            <a:lvl1pPr marL="0" indent="0" algn="r">
              <a:defRPr sz="3600">
                <a:solidFill>
                  <a:srgbClr val="FFFF00"/>
                </a:solidFill>
              </a:defRPr>
            </a:lvl1pPr>
          </a:lstStyle>
          <a:p>
            <a:pPr lvl="0"/>
            <a:r>
              <a:rPr lang="zh-CN" altLang="en-US" noProof="0"/>
              <a:t>单击此处编辑母版标题样式</a:t>
            </a:r>
          </a:p>
        </p:txBody>
      </p:sp>
      <p:sp>
        <p:nvSpPr>
          <p:cNvPr id="80900" name="Rectangle 4"/>
          <p:cNvSpPr>
            <a:spLocks noGrp="1" noChangeArrowheads="1"/>
          </p:cNvSpPr>
          <p:nvPr>
            <p:ph type="subTitle" sz="quarter" idx="1"/>
          </p:nvPr>
        </p:nvSpPr>
        <p:spPr>
          <a:xfrm>
            <a:off x="323850" y="4292600"/>
            <a:ext cx="8569325" cy="2160588"/>
          </a:xfrm>
        </p:spPr>
        <p:txBody>
          <a:bodyPr anchor="ctr"/>
          <a:lstStyle>
            <a:lvl1pPr marL="0" indent="0" algn="r">
              <a:buFont typeface="Wingdings 2" panose="05020102010507070707" pitchFamily="18" charset="2"/>
              <a:buNone/>
              <a:defRPr>
                <a:solidFill>
                  <a:schemeClr val="bg1"/>
                </a:solidFill>
              </a:defRPr>
            </a:lvl1pPr>
          </a:lstStyle>
          <a:p>
            <a:pPr lvl="0"/>
            <a:r>
              <a:rPr lang="zh-CN" altLang="en-US" noProof="0"/>
              <a:t>单击此处编辑母版副标题样式</a:t>
            </a:r>
          </a:p>
        </p:txBody>
      </p:sp>
    </p:spTree>
    <p:extLst>
      <p:ext uri="{BB962C8B-B14F-4D97-AF65-F5344CB8AC3E}">
        <p14:creationId xmlns:p14="http://schemas.microsoft.com/office/powerpoint/2010/main" val="2288391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36987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extLst>
      <p:ext uri="{BB962C8B-B14F-4D97-AF65-F5344CB8AC3E}">
        <p14:creationId xmlns:p14="http://schemas.microsoft.com/office/powerpoint/2010/main" val="3580271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79388" y="1773238"/>
            <a:ext cx="4316412" cy="5084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73238"/>
            <a:ext cx="4316413" cy="5084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06354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40325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358763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9965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1855889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1337692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45666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69100" y="1052513"/>
            <a:ext cx="2195513" cy="58054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79388" y="1052513"/>
            <a:ext cx="6437312" cy="58054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121447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79388" y="1052513"/>
            <a:ext cx="8785225" cy="720725"/>
          </a:xfrm>
        </p:spPr>
        <p:txBody>
          <a:bodyPr/>
          <a:lstStyle/>
          <a:p>
            <a:r>
              <a:rPr lang="zh-CN" altLang="en-US"/>
              <a:t>单击此处编辑母版标题样式</a:t>
            </a:r>
          </a:p>
        </p:txBody>
      </p:sp>
      <p:sp>
        <p:nvSpPr>
          <p:cNvPr id="3" name="表格占位符 2"/>
          <p:cNvSpPr>
            <a:spLocks noGrp="1"/>
          </p:cNvSpPr>
          <p:nvPr>
            <p:ph type="tbl" idx="1"/>
          </p:nvPr>
        </p:nvSpPr>
        <p:spPr>
          <a:xfrm>
            <a:off x="179388" y="1773238"/>
            <a:ext cx="8785225" cy="5084762"/>
          </a:xfrm>
        </p:spPr>
        <p:txBody>
          <a:bodyPr/>
          <a:lstStyle/>
          <a:p>
            <a:pPr lvl="0"/>
            <a:endParaRPr lang="zh-CN" altLang="en-US" noProof="0"/>
          </a:p>
        </p:txBody>
      </p:sp>
    </p:spTree>
    <p:extLst>
      <p:ext uri="{BB962C8B-B14F-4D97-AF65-F5344CB8AC3E}">
        <p14:creationId xmlns:p14="http://schemas.microsoft.com/office/powerpoint/2010/main" val="1942103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54219A80-6738-95F6-4C69-CDC4FCD7A49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448800" cy="708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5" name="Text Box 3">
            <a:extLst>
              <a:ext uri="{FF2B5EF4-FFF2-40B4-BE49-F238E27FC236}">
                <a16:creationId xmlns:a16="http://schemas.microsoft.com/office/drawing/2014/main" id="{FBE8775D-B789-FDAF-D0C8-2BE7C85DDD84}"/>
              </a:ext>
            </a:extLst>
          </p:cNvPr>
          <p:cNvSpPr txBox="1">
            <a:spLocks noChangeArrowheads="1"/>
          </p:cNvSpPr>
          <p:nvPr/>
        </p:nvSpPr>
        <p:spPr bwMode="auto">
          <a:xfrm>
            <a:off x="8412163" y="6624638"/>
            <a:ext cx="500062" cy="274637"/>
          </a:xfrm>
          <a:prstGeom prst="rect">
            <a:avLst/>
          </a:prstGeom>
          <a:noFill/>
          <a:ln>
            <a:noFill/>
          </a:ln>
          <a:effec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defRPr/>
            </a:pPr>
            <a:fld id="{FDCCC1EE-549F-4A2C-AACF-6530E828FFF7}" type="slidenum">
              <a:rPr kumimoji="0" lang="en-US" altLang="zh-CN" sz="1200" b="1" smtClean="0">
                <a:solidFill>
                  <a:schemeClr val="tx2"/>
                </a:solidFill>
                <a:latin typeface="Comic Sans MS" panose="030F0702030302020204" pitchFamily="66" charset="0"/>
                <a:cs typeface="Times New Roman" panose="02020603050405020304" pitchFamily="18" charset="0"/>
              </a:rPr>
              <a:pPr algn="r" eaLnBrk="1" hangingPunct="1">
                <a:defRPr/>
              </a:pPr>
              <a:t>‹#›</a:t>
            </a:fld>
            <a:endParaRPr kumimoji="0" lang="en-US" altLang="zh-CN" sz="1200" b="1">
              <a:solidFill>
                <a:schemeClr val="tx2"/>
              </a:solidFill>
              <a:latin typeface="Comic Sans MS" panose="030F0702030302020204" pitchFamily="66" charset="0"/>
              <a:cs typeface="Times New Roman" panose="02020603050405020304" pitchFamily="18" charset="0"/>
            </a:endParaRPr>
          </a:p>
        </p:txBody>
      </p:sp>
      <p:sp>
        <p:nvSpPr>
          <p:cNvPr id="1028" name="Rectangle 4">
            <a:extLst>
              <a:ext uri="{FF2B5EF4-FFF2-40B4-BE49-F238E27FC236}">
                <a16:creationId xmlns:a16="http://schemas.microsoft.com/office/drawing/2014/main" id="{980FD1D0-F740-FC86-0871-AC2427024E83}"/>
              </a:ext>
            </a:extLst>
          </p:cNvPr>
          <p:cNvSpPr>
            <a:spLocks noGrp="1" noChangeArrowheads="1"/>
          </p:cNvSpPr>
          <p:nvPr>
            <p:ph type="title"/>
          </p:nvPr>
        </p:nvSpPr>
        <p:spPr bwMode="auto">
          <a:xfrm>
            <a:off x="179388" y="1052513"/>
            <a:ext cx="8785225"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45791" dir="3378596"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9" name="Rectangle 5">
            <a:extLst>
              <a:ext uri="{FF2B5EF4-FFF2-40B4-BE49-F238E27FC236}">
                <a16:creationId xmlns:a16="http://schemas.microsoft.com/office/drawing/2014/main" id="{021F5631-2C27-02F9-5499-4804C34488EE}"/>
              </a:ext>
            </a:extLst>
          </p:cNvPr>
          <p:cNvSpPr>
            <a:spLocks noGrp="1" noChangeArrowheads="1"/>
          </p:cNvSpPr>
          <p:nvPr>
            <p:ph type="body" idx="1"/>
          </p:nvPr>
        </p:nvSpPr>
        <p:spPr bwMode="auto">
          <a:xfrm>
            <a:off x="179388" y="1773238"/>
            <a:ext cx="8785225" cy="5084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9878" name="Rectangle 6">
            <a:extLst>
              <a:ext uri="{FF2B5EF4-FFF2-40B4-BE49-F238E27FC236}">
                <a16:creationId xmlns:a16="http://schemas.microsoft.com/office/drawing/2014/main" id="{2A9C3DAC-87CC-D26D-B891-4EAE4CF87481}"/>
              </a:ext>
            </a:extLst>
          </p:cNvPr>
          <p:cNvSpPr>
            <a:spLocks noChangeArrowheads="1"/>
          </p:cNvSpPr>
          <p:nvPr/>
        </p:nvSpPr>
        <p:spPr bwMode="auto">
          <a:xfrm>
            <a:off x="152400" y="1700213"/>
            <a:ext cx="5638800" cy="76200"/>
          </a:xfrm>
          <a:prstGeom prst="rect">
            <a:avLst/>
          </a:prstGeom>
          <a:gradFill rotWithShape="0">
            <a:gsLst>
              <a:gs pos="0">
                <a:srgbClr val="6666FF"/>
              </a:gs>
              <a:gs pos="100000">
                <a:schemeClr val="bg1"/>
              </a:gs>
            </a:gsLst>
            <a:lin ang="0" scaled="1"/>
          </a:gradFill>
          <a:ln>
            <a:noFill/>
          </a:ln>
          <a:effec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a:p>
        </p:txBody>
      </p:sp>
      <p:sp>
        <p:nvSpPr>
          <p:cNvPr id="2" name="矩形 1">
            <a:extLst>
              <a:ext uri="{FF2B5EF4-FFF2-40B4-BE49-F238E27FC236}">
                <a16:creationId xmlns:a16="http://schemas.microsoft.com/office/drawing/2014/main" id="{FDACE859-AF3C-1837-BAEF-FDD4B6193C6F}"/>
              </a:ext>
            </a:extLst>
          </p:cNvPr>
          <p:cNvSpPr/>
          <p:nvPr userDrawn="1"/>
        </p:nvSpPr>
        <p:spPr bwMode="auto">
          <a:xfrm>
            <a:off x="0" y="6021388"/>
            <a:ext cx="1042988" cy="1008062"/>
          </a:xfrm>
          <a:prstGeom prst="rect">
            <a:avLst/>
          </a:prstGeom>
          <a:ln>
            <a:headEnd type="none" w="med" len="med"/>
            <a:tailEnd type="none" w="med" len="med"/>
          </a:ln>
        </p:spPr>
        <p:style>
          <a:lnRef idx="3">
            <a:schemeClr val="lt1"/>
          </a:lnRef>
          <a:fillRef idx="1">
            <a:schemeClr val="accent3"/>
          </a:fillRef>
          <a:effectRef idx="1">
            <a:schemeClr val="accent3"/>
          </a:effectRef>
          <a:fontRef idx="minor">
            <a:schemeClr val="lt1"/>
          </a:fontRef>
        </p:style>
        <p:txBody>
          <a:bodyPr/>
          <a:lstStyle/>
          <a:p>
            <a:pPr eaLnBrk="1" hangingPunct="1">
              <a:defRPr/>
            </a:pPr>
            <a:endParaRPr lang="zh-CN" altLang="en-US">
              <a:solidFill>
                <a:schemeClr val="tx1"/>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773"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9878"/>
                                        </p:tgtEl>
                                        <p:attrNameLst>
                                          <p:attrName>style.visibility</p:attrName>
                                        </p:attrNameLst>
                                      </p:cBhvr>
                                      <p:to>
                                        <p:strVal val="visible"/>
                                      </p:to>
                                    </p:set>
                                    <p:animEffect transition="in" filter="wipe(left)">
                                      <p:cBhvr>
                                        <p:cTn id="7" dur="500"/>
                                        <p:tgtEl>
                                          <p:spTgt spid="798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8" grpId="0" animBg="1"/>
    </p:bldLst>
  </p:timing>
  <p:txStyles>
    <p:titleStyle>
      <a:lvl1pPr marL="342900" indent="-342900" algn="l" rtl="0" eaLnBrk="0" fontAlgn="base" hangingPunct="0">
        <a:spcBef>
          <a:spcPct val="20000"/>
        </a:spcBef>
        <a:spcAft>
          <a:spcPct val="0"/>
        </a:spcAft>
        <a:defRPr sz="2800" b="1" kern="1200">
          <a:solidFill>
            <a:schemeClr val="accent2"/>
          </a:solidFill>
          <a:latin typeface="+mj-lt"/>
          <a:ea typeface="+mj-ea"/>
          <a:cs typeface="+mj-cs"/>
        </a:defRPr>
      </a:lvl1pPr>
      <a:lvl2pPr marL="342900" indent="-342900" algn="l" rtl="0" eaLnBrk="0" fontAlgn="base" hangingPunct="0">
        <a:spcBef>
          <a:spcPct val="20000"/>
        </a:spcBef>
        <a:spcAft>
          <a:spcPct val="0"/>
        </a:spcAft>
        <a:defRPr sz="2800" b="1">
          <a:solidFill>
            <a:schemeClr val="accent2"/>
          </a:solidFill>
          <a:latin typeface="Arial" panose="020B0604020202020204" pitchFamily="34" charset="0"/>
          <a:ea typeface="宋体" panose="02010600030101010101" pitchFamily="2" charset="-122"/>
        </a:defRPr>
      </a:lvl2pPr>
      <a:lvl3pPr marL="342900" indent="-342900" algn="l" rtl="0" eaLnBrk="0" fontAlgn="base" hangingPunct="0">
        <a:spcBef>
          <a:spcPct val="20000"/>
        </a:spcBef>
        <a:spcAft>
          <a:spcPct val="0"/>
        </a:spcAft>
        <a:defRPr sz="2800" b="1">
          <a:solidFill>
            <a:schemeClr val="accent2"/>
          </a:solidFill>
          <a:latin typeface="Arial" panose="020B0604020202020204" pitchFamily="34" charset="0"/>
          <a:ea typeface="宋体" panose="02010600030101010101" pitchFamily="2" charset="-122"/>
        </a:defRPr>
      </a:lvl3pPr>
      <a:lvl4pPr marL="342900" indent="-342900" algn="l" rtl="0" eaLnBrk="0" fontAlgn="base" hangingPunct="0">
        <a:spcBef>
          <a:spcPct val="20000"/>
        </a:spcBef>
        <a:spcAft>
          <a:spcPct val="0"/>
        </a:spcAft>
        <a:defRPr sz="2800" b="1">
          <a:solidFill>
            <a:schemeClr val="accent2"/>
          </a:solidFill>
          <a:latin typeface="Arial" panose="020B0604020202020204" pitchFamily="34" charset="0"/>
          <a:ea typeface="宋体" panose="02010600030101010101" pitchFamily="2" charset="-122"/>
        </a:defRPr>
      </a:lvl4pPr>
      <a:lvl5pPr marL="342900" indent="-342900" algn="l" rtl="0" eaLnBrk="0" fontAlgn="base" hangingPunct="0">
        <a:spcBef>
          <a:spcPct val="20000"/>
        </a:spcBef>
        <a:spcAft>
          <a:spcPct val="0"/>
        </a:spcAft>
        <a:defRPr sz="2800" b="1">
          <a:solidFill>
            <a:schemeClr val="accent2"/>
          </a:solidFill>
          <a:latin typeface="Arial" panose="020B0604020202020204" pitchFamily="34" charset="0"/>
          <a:ea typeface="宋体" panose="02010600030101010101" pitchFamily="2" charset="-122"/>
        </a:defRPr>
      </a:lvl5pPr>
      <a:lvl6pPr marL="800100" indent="-342900" algn="l" rtl="0" fontAlgn="base">
        <a:spcBef>
          <a:spcPct val="20000"/>
        </a:spcBef>
        <a:spcAft>
          <a:spcPct val="0"/>
        </a:spcAft>
        <a:defRPr sz="2800" b="1">
          <a:solidFill>
            <a:schemeClr val="accent2"/>
          </a:solidFill>
          <a:latin typeface="Arial" panose="020B0604020202020204" pitchFamily="34" charset="0"/>
          <a:ea typeface="宋体" panose="02010600030101010101" pitchFamily="2" charset="-122"/>
        </a:defRPr>
      </a:lvl6pPr>
      <a:lvl7pPr marL="1257300" indent="-342900" algn="l" rtl="0" fontAlgn="base">
        <a:spcBef>
          <a:spcPct val="20000"/>
        </a:spcBef>
        <a:spcAft>
          <a:spcPct val="0"/>
        </a:spcAft>
        <a:defRPr sz="2800" b="1">
          <a:solidFill>
            <a:schemeClr val="accent2"/>
          </a:solidFill>
          <a:latin typeface="Arial" panose="020B0604020202020204" pitchFamily="34" charset="0"/>
          <a:ea typeface="宋体" panose="02010600030101010101" pitchFamily="2" charset="-122"/>
        </a:defRPr>
      </a:lvl7pPr>
      <a:lvl8pPr marL="1714500" indent="-342900" algn="l" rtl="0" fontAlgn="base">
        <a:spcBef>
          <a:spcPct val="20000"/>
        </a:spcBef>
        <a:spcAft>
          <a:spcPct val="0"/>
        </a:spcAft>
        <a:defRPr sz="2800" b="1">
          <a:solidFill>
            <a:schemeClr val="accent2"/>
          </a:solidFill>
          <a:latin typeface="Arial" panose="020B0604020202020204" pitchFamily="34" charset="0"/>
          <a:ea typeface="宋体" panose="02010600030101010101" pitchFamily="2" charset="-122"/>
        </a:defRPr>
      </a:lvl8pPr>
      <a:lvl9pPr marL="2171700" indent="-342900" algn="l" rtl="0" fontAlgn="base">
        <a:spcBef>
          <a:spcPct val="20000"/>
        </a:spcBef>
        <a:spcAft>
          <a:spcPct val="0"/>
        </a:spcAft>
        <a:defRPr sz="2800" b="1">
          <a:solidFill>
            <a:schemeClr val="accent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30000"/>
        </a:spcBef>
        <a:spcAft>
          <a:spcPct val="0"/>
        </a:spcAft>
        <a:buClr>
          <a:srgbClr val="0000FF"/>
        </a:buClr>
        <a:buFont typeface="Wingdings 2" panose="05020102010507070707" pitchFamily="18" charset="2"/>
        <a:buChar char="¡"/>
        <a:defRPr sz="2800" b="1" kern="1200">
          <a:solidFill>
            <a:schemeClr val="tx1"/>
          </a:solidFill>
          <a:latin typeface="+mn-lt"/>
          <a:ea typeface="+mn-ea"/>
          <a:cs typeface="+mn-cs"/>
        </a:defRPr>
      </a:lvl1pPr>
      <a:lvl2pPr marL="742950" indent="-220663" algn="l" rtl="0" eaLnBrk="0" fontAlgn="base" hangingPunct="0">
        <a:spcBef>
          <a:spcPct val="20000"/>
        </a:spcBef>
        <a:spcAft>
          <a:spcPct val="0"/>
        </a:spcAft>
        <a:buClr>
          <a:srgbClr val="0000FF"/>
        </a:buClr>
        <a:buFont typeface="黑体" panose="02010609060101010101" pitchFamily="49" charset="-122"/>
        <a:buChar char="–"/>
        <a:defRPr sz="2400" b="1" kern="1200">
          <a:solidFill>
            <a:schemeClr val="tx1"/>
          </a:solidFill>
          <a:latin typeface="+mn-lt"/>
          <a:ea typeface="+mn-ea"/>
          <a:cs typeface="+mn-cs"/>
        </a:defRPr>
      </a:lvl2pPr>
      <a:lvl3pPr marL="1150938" indent="-228600" algn="l" rtl="0" eaLnBrk="0" fontAlgn="base" hangingPunct="0">
        <a:spcBef>
          <a:spcPct val="20000"/>
        </a:spcBef>
        <a:spcAft>
          <a:spcPct val="0"/>
        </a:spcAft>
        <a:buClr>
          <a:srgbClr val="0000FF"/>
        </a:buClr>
        <a:buFont typeface="黑体" panose="02010609060101010101" pitchFamily="49" charset="-122"/>
        <a:buChar char="–"/>
        <a:defRPr sz="2000" b="1"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0000FF"/>
        </a:buClr>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0"/>
        </a:spcBef>
        <a:spcAft>
          <a:spcPct val="0"/>
        </a:spcAft>
        <a:buClr>
          <a:srgbClr val="0000FF"/>
        </a:buClr>
        <a:buFont typeface="Wingdings" panose="05000000000000000000" pitchFamily="2" charset="2"/>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7">
            <a:extLst>
              <a:ext uri="{FF2B5EF4-FFF2-40B4-BE49-F238E27FC236}">
                <a16:creationId xmlns:a16="http://schemas.microsoft.com/office/drawing/2014/main" id="{3CEB9B93-510E-19AE-FBC1-EFF195D4097B}"/>
              </a:ext>
            </a:extLst>
          </p:cNvPr>
          <p:cNvSpPr>
            <a:spLocks noGrp="1" noChangeArrowheads="1"/>
          </p:cNvSpPr>
          <p:nvPr>
            <p:ph type="ctrTitle"/>
          </p:nvPr>
        </p:nvSpPr>
        <p:spPr>
          <a:noFill/>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lang="zh-CN" altLang="en-US"/>
              <a:t>第 </a:t>
            </a:r>
            <a:r>
              <a:rPr lang="en-US" altLang="zh-CN"/>
              <a:t>3 </a:t>
            </a:r>
            <a:r>
              <a:rPr lang="zh-CN" altLang="en-US"/>
              <a:t>章   软件开发过程管理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9EABEACB-F63F-0074-2724-E099E08B5EFF}"/>
              </a:ext>
            </a:extLst>
          </p:cNvPr>
          <p:cNvSpPr>
            <a:spLocks noGrp="1" noChangeArrowheads="1"/>
          </p:cNvSpPr>
          <p:nvPr>
            <p:ph type="title"/>
          </p:nvPr>
        </p:nvSpPr>
        <p:spPr/>
        <p:txBody>
          <a:bodyPr/>
          <a:lstStyle/>
          <a:p>
            <a:pPr eaLnBrk="1" hangingPunct="1"/>
            <a:r>
              <a:rPr lang="zh-CN" altLang="en-US"/>
              <a:t>本章内容提要</a:t>
            </a:r>
          </a:p>
        </p:txBody>
      </p:sp>
      <p:sp>
        <p:nvSpPr>
          <p:cNvPr id="5123" name="AutoShape 4">
            <a:extLst>
              <a:ext uri="{FF2B5EF4-FFF2-40B4-BE49-F238E27FC236}">
                <a16:creationId xmlns:a16="http://schemas.microsoft.com/office/drawing/2014/main" id="{1BB0325E-C377-F58B-2707-3225B9BA7D1B}"/>
              </a:ext>
            </a:extLst>
          </p:cNvPr>
          <p:cNvSpPr>
            <a:spLocks noChangeArrowheads="1"/>
          </p:cNvSpPr>
          <p:nvPr/>
        </p:nvSpPr>
        <p:spPr bwMode="auto">
          <a:xfrm>
            <a:off x="736600" y="2343150"/>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124" name="Text Box 5">
            <a:extLst>
              <a:ext uri="{FF2B5EF4-FFF2-40B4-BE49-F238E27FC236}">
                <a16:creationId xmlns:a16="http://schemas.microsoft.com/office/drawing/2014/main" id="{9D21ABE9-2060-F68C-7ECD-EAC631BBADE6}"/>
              </a:ext>
            </a:extLst>
          </p:cNvPr>
          <p:cNvSpPr txBox="1">
            <a:spLocks noChangeArrowheads="1"/>
          </p:cNvSpPr>
          <p:nvPr/>
        </p:nvSpPr>
        <p:spPr bwMode="auto">
          <a:xfrm>
            <a:off x="993775" y="2390775"/>
            <a:ext cx="4919663"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200">
                <a:latin typeface="黑体" panose="02010609060101010101" pitchFamily="49" charset="-122"/>
                <a:ea typeface="黑体" panose="02010609060101010101" pitchFamily="49" charset="-122"/>
              </a:rPr>
              <a:t>CMM</a:t>
            </a:r>
            <a:r>
              <a:rPr lang="zh-CN" altLang="en-US" sz="2200">
                <a:latin typeface="黑体" panose="02010609060101010101" pitchFamily="49" charset="-122"/>
                <a:ea typeface="黑体" panose="02010609060101010101" pitchFamily="49" charset="-122"/>
              </a:rPr>
              <a:t>和</a:t>
            </a:r>
            <a:r>
              <a:rPr lang="en-US" altLang="zh-CN" sz="2200">
                <a:latin typeface="黑体" panose="02010609060101010101" pitchFamily="49" charset="-122"/>
                <a:ea typeface="黑体" panose="02010609060101010101" pitchFamily="49" charset="-122"/>
              </a:rPr>
              <a:t>ISO9000</a:t>
            </a:r>
            <a:r>
              <a:rPr lang="en-US" altLang="zh-CN" sz="2200">
                <a:latin typeface="Times New Roman" panose="02020603050405020304" pitchFamily="18" charset="0"/>
                <a:ea typeface="黑体" panose="02010609060101010101" pitchFamily="49" charset="-122"/>
              </a:rPr>
              <a:t> </a:t>
            </a:r>
          </a:p>
        </p:txBody>
      </p:sp>
      <p:sp>
        <p:nvSpPr>
          <p:cNvPr id="5125" name="AutoShape 6">
            <a:extLst>
              <a:ext uri="{FF2B5EF4-FFF2-40B4-BE49-F238E27FC236}">
                <a16:creationId xmlns:a16="http://schemas.microsoft.com/office/drawing/2014/main" id="{0EC31D82-0BC1-7DEE-A16A-72EC7956DFC7}"/>
              </a:ext>
            </a:extLst>
          </p:cNvPr>
          <p:cNvSpPr>
            <a:spLocks noChangeArrowheads="1"/>
          </p:cNvSpPr>
          <p:nvPr/>
        </p:nvSpPr>
        <p:spPr bwMode="auto">
          <a:xfrm>
            <a:off x="747713" y="2890838"/>
            <a:ext cx="5545137"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126" name="Text Box 7">
            <a:extLst>
              <a:ext uri="{FF2B5EF4-FFF2-40B4-BE49-F238E27FC236}">
                <a16:creationId xmlns:a16="http://schemas.microsoft.com/office/drawing/2014/main" id="{2671CE1B-1057-E524-4F03-F81DE2F2B89C}"/>
              </a:ext>
            </a:extLst>
          </p:cNvPr>
          <p:cNvSpPr txBox="1">
            <a:spLocks noChangeArrowheads="1"/>
          </p:cNvSpPr>
          <p:nvPr/>
        </p:nvSpPr>
        <p:spPr bwMode="auto">
          <a:xfrm>
            <a:off x="1004888" y="2932113"/>
            <a:ext cx="49196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传统软件开发生命周期模型</a:t>
            </a:r>
            <a:r>
              <a:rPr lang="zh-CN" altLang="en-US" sz="2400" b="0">
                <a:latin typeface="Times New Roman" panose="02020603050405020304" pitchFamily="18" charset="0"/>
              </a:rPr>
              <a:t> </a:t>
            </a:r>
          </a:p>
        </p:txBody>
      </p:sp>
      <p:sp>
        <p:nvSpPr>
          <p:cNvPr id="5127" name="AutoShape 8">
            <a:extLst>
              <a:ext uri="{FF2B5EF4-FFF2-40B4-BE49-F238E27FC236}">
                <a16:creationId xmlns:a16="http://schemas.microsoft.com/office/drawing/2014/main" id="{A99F1D13-46B3-4FEF-69B4-0B1559A77177}"/>
              </a:ext>
            </a:extLst>
          </p:cNvPr>
          <p:cNvSpPr>
            <a:spLocks noChangeArrowheads="1"/>
          </p:cNvSpPr>
          <p:nvPr/>
        </p:nvSpPr>
        <p:spPr bwMode="auto">
          <a:xfrm>
            <a:off x="747713" y="3440113"/>
            <a:ext cx="5545137"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128" name="Text Box 9">
            <a:extLst>
              <a:ext uri="{FF2B5EF4-FFF2-40B4-BE49-F238E27FC236}">
                <a16:creationId xmlns:a16="http://schemas.microsoft.com/office/drawing/2014/main" id="{BA83E412-9135-D0F1-9A1C-2E21CA966108}"/>
              </a:ext>
            </a:extLst>
          </p:cNvPr>
          <p:cNvSpPr txBox="1">
            <a:spLocks noChangeArrowheads="1"/>
          </p:cNvSpPr>
          <p:nvPr/>
        </p:nvSpPr>
        <p:spPr bwMode="auto">
          <a:xfrm>
            <a:off x="1004888" y="3511550"/>
            <a:ext cx="49196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扩展软件开发生命周期模型</a:t>
            </a:r>
            <a:r>
              <a:rPr lang="zh-CN" altLang="en-US" sz="2400" b="0">
                <a:latin typeface="Times New Roman" panose="02020603050405020304" pitchFamily="18" charset="0"/>
              </a:rPr>
              <a:t> </a:t>
            </a:r>
          </a:p>
        </p:txBody>
      </p:sp>
      <p:sp>
        <p:nvSpPr>
          <p:cNvPr id="5129" name="Rectangle 10">
            <a:extLst>
              <a:ext uri="{FF2B5EF4-FFF2-40B4-BE49-F238E27FC236}">
                <a16:creationId xmlns:a16="http://schemas.microsoft.com/office/drawing/2014/main" id="{E3C77487-EA87-C42C-FF69-9A7EF156ECA6}"/>
              </a:ext>
            </a:extLst>
          </p:cNvPr>
          <p:cNvSpPr>
            <a:spLocks noChangeArrowheads="1"/>
          </p:cNvSpPr>
          <p:nvPr/>
        </p:nvSpPr>
        <p:spPr bwMode="auto">
          <a:xfrm>
            <a:off x="611188" y="2432050"/>
            <a:ext cx="334962" cy="260350"/>
          </a:xfrm>
          <a:prstGeom prst="rect">
            <a:avLst/>
          </a:prstGeom>
          <a:solidFill>
            <a:srgbClr val="0000FF"/>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3.1</a:t>
            </a:r>
            <a:endParaRPr lang="en-US" altLang="zh-CN" sz="1800">
              <a:solidFill>
                <a:srgbClr val="000000"/>
              </a:solidFill>
            </a:endParaRPr>
          </a:p>
        </p:txBody>
      </p:sp>
      <p:sp>
        <p:nvSpPr>
          <p:cNvPr id="5130" name="AutoShape 13">
            <a:extLst>
              <a:ext uri="{FF2B5EF4-FFF2-40B4-BE49-F238E27FC236}">
                <a16:creationId xmlns:a16="http://schemas.microsoft.com/office/drawing/2014/main" id="{54F3AE00-9153-D1F7-CD0A-A03B28A803EA}"/>
              </a:ext>
            </a:extLst>
          </p:cNvPr>
          <p:cNvSpPr>
            <a:spLocks noChangeArrowheads="1"/>
          </p:cNvSpPr>
          <p:nvPr/>
        </p:nvSpPr>
        <p:spPr bwMode="auto">
          <a:xfrm>
            <a:off x="752475" y="3992563"/>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131" name="Text Box 14">
            <a:extLst>
              <a:ext uri="{FF2B5EF4-FFF2-40B4-BE49-F238E27FC236}">
                <a16:creationId xmlns:a16="http://schemas.microsoft.com/office/drawing/2014/main" id="{4AA3600F-211C-12BF-4506-608F1A087C55}"/>
              </a:ext>
            </a:extLst>
          </p:cNvPr>
          <p:cNvSpPr txBox="1">
            <a:spLocks noChangeArrowheads="1"/>
          </p:cNvSpPr>
          <p:nvPr/>
        </p:nvSpPr>
        <p:spPr bwMode="auto">
          <a:xfrm>
            <a:off x="1009650" y="4025900"/>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质量计划</a:t>
            </a:r>
            <a:r>
              <a:rPr lang="zh-CN" altLang="en-US" sz="2400" b="0">
                <a:latin typeface="Times New Roman" panose="02020603050405020304" pitchFamily="18" charset="0"/>
              </a:rPr>
              <a:t> </a:t>
            </a:r>
          </a:p>
        </p:txBody>
      </p:sp>
      <p:sp>
        <p:nvSpPr>
          <p:cNvPr id="5132" name="Rectangle 15">
            <a:extLst>
              <a:ext uri="{FF2B5EF4-FFF2-40B4-BE49-F238E27FC236}">
                <a16:creationId xmlns:a16="http://schemas.microsoft.com/office/drawing/2014/main" id="{3663AC36-AC26-86A4-6B31-F60CC60555D3}"/>
              </a:ext>
            </a:extLst>
          </p:cNvPr>
          <p:cNvSpPr>
            <a:spLocks noChangeArrowheads="1"/>
          </p:cNvSpPr>
          <p:nvPr/>
        </p:nvSpPr>
        <p:spPr bwMode="auto">
          <a:xfrm>
            <a:off x="627063" y="4081463"/>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3.4</a:t>
            </a:r>
            <a:endParaRPr lang="en-US" altLang="zh-CN" sz="1800">
              <a:solidFill>
                <a:srgbClr val="000000"/>
              </a:solidFill>
            </a:endParaRPr>
          </a:p>
        </p:txBody>
      </p:sp>
      <p:sp>
        <p:nvSpPr>
          <p:cNvPr id="5133" name="AutoShape 22">
            <a:extLst>
              <a:ext uri="{FF2B5EF4-FFF2-40B4-BE49-F238E27FC236}">
                <a16:creationId xmlns:a16="http://schemas.microsoft.com/office/drawing/2014/main" id="{220FD446-7662-1E76-7E19-904593DDCD93}"/>
              </a:ext>
            </a:extLst>
          </p:cNvPr>
          <p:cNvSpPr>
            <a:spLocks noChangeArrowheads="1"/>
          </p:cNvSpPr>
          <p:nvPr/>
        </p:nvSpPr>
        <p:spPr bwMode="auto">
          <a:xfrm>
            <a:off x="750888" y="4546600"/>
            <a:ext cx="5545137"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134" name="Text Box 23">
            <a:extLst>
              <a:ext uri="{FF2B5EF4-FFF2-40B4-BE49-F238E27FC236}">
                <a16:creationId xmlns:a16="http://schemas.microsoft.com/office/drawing/2014/main" id="{927F0EA5-6D32-B853-5345-71460CBDAB41}"/>
              </a:ext>
            </a:extLst>
          </p:cNvPr>
          <p:cNvSpPr txBox="1">
            <a:spLocks noChangeArrowheads="1"/>
          </p:cNvSpPr>
          <p:nvPr/>
        </p:nvSpPr>
        <p:spPr bwMode="auto">
          <a:xfrm>
            <a:off x="1008063" y="4594225"/>
            <a:ext cx="4919662"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案例分析</a:t>
            </a:r>
            <a:r>
              <a:rPr lang="zh-CN" altLang="en-US" sz="2200">
                <a:latin typeface="Times New Roman" panose="02020603050405020304" pitchFamily="18" charset="0"/>
              </a:rPr>
              <a:t> </a:t>
            </a:r>
          </a:p>
        </p:txBody>
      </p:sp>
      <p:sp>
        <p:nvSpPr>
          <p:cNvPr id="5135" name="Rectangle 24">
            <a:extLst>
              <a:ext uri="{FF2B5EF4-FFF2-40B4-BE49-F238E27FC236}">
                <a16:creationId xmlns:a16="http://schemas.microsoft.com/office/drawing/2014/main" id="{9F7393E3-78B2-9B13-CC92-75623E080279}"/>
              </a:ext>
            </a:extLst>
          </p:cNvPr>
          <p:cNvSpPr>
            <a:spLocks noChangeArrowheads="1"/>
          </p:cNvSpPr>
          <p:nvPr/>
        </p:nvSpPr>
        <p:spPr bwMode="auto">
          <a:xfrm>
            <a:off x="625475" y="4635500"/>
            <a:ext cx="334963"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3.5</a:t>
            </a:r>
            <a:endParaRPr lang="en-US" altLang="zh-CN" sz="1800">
              <a:solidFill>
                <a:srgbClr val="000000"/>
              </a:solidFill>
            </a:endParaRPr>
          </a:p>
        </p:txBody>
      </p:sp>
      <p:sp>
        <p:nvSpPr>
          <p:cNvPr id="5136" name="AutoShape 25">
            <a:extLst>
              <a:ext uri="{FF2B5EF4-FFF2-40B4-BE49-F238E27FC236}">
                <a16:creationId xmlns:a16="http://schemas.microsoft.com/office/drawing/2014/main" id="{F05DC339-DA88-588F-F830-3487FE283DE1}"/>
              </a:ext>
            </a:extLst>
          </p:cNvPr>
          <p:cNvSpPr>
            <a:spLocks noChangeArrowheads="1"/>
          </p:cNvSpPr>
          <p:nvPr/>
        </p:nvSpPr>
        <p:spPr bwMode="auto">
          <a:xfrm>
            <a:off x="755650" y="5106988"/>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137" name="Text Box 26">
            <a:extLst>
              <a:ext uri="{FF2B5EF4-FFF2-40B4-BE49-F238E27FC236}">
                <a16:creationId xmlns:a16="http://schemas.microsoft.com/office/drawing/2014/main" id="{6DAEE6DA-4EE2-1179-5DBA-5506FCB41EFF}"/>
              </a:ext>
            </a:extLst>
          </p:cNvPr>
          <p:cNvSpPr txBox="1">
            <a:spLocks noChangeArrowheads="1"/>
          </p:cNvSpPr>
          <p:nvPr/>
        </p:nvSpPr>
        <p:spPr bwMode="auto">
          <a:xfrm>
            <a:off x="1012825" y="5140325"/>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5138" name="Rectangle 27">
            <a:extLst>
              <a:ext uri="{FF2B5EF4-FFF2-40B4-BE49-F238E27FC236}">
                <a16:creationId xmlns:a16="http://schemas.microsoft.com/office/drawing/2014/main" id="{70F364AA-1049-95EB-ECAD-B042A65F00E5}"/>
              </a:ext>
            </a:extLst>
          </p:cNvPr>
          <p:cNvSpPr>
            <a:spLocks noChangeArrowheads="1"/>
          </p:cNvSpPr>
          <p:nvPr/>
        </p:nvSpPr>
        <p:spPr bwMode="auto">
          <a:xfrm>
            <a:off x="630238" y="5195888"/>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3.6</a:t>
            </a:r>
            <a:endParaRPr lang="en-US" altLang="zh-CN" sz="1800">
              <a:solidFill>
                <a:srgbClr val="000000"/>
              </a:solidFill>
            </a:endParaRPr>
          </a:p>
        </p:txBody>
      </p:sp>
      <p:sp>
        <p:nvSpPr>
          <p:cNvPr id="5139" name="AutoShape 28">
            <a:extLst>
              <a:ext uri="{FF2B5EF4-FFF2-40B4-BE49-F238E27FC236}">
                <a16:creationId xmlns:a16="http://schemas.microsoft.com/office/drawing/2014/main" id="{B68576DC-AE00-FE52-AB91-E64C986BBDA8}"/>
              </a:ext>
            </a:extLst>
          </p:cNvPr>
          <p:cNvSpPr>
            <a:spLocks noChangeArrowheads="1"/>
          </p:cNvSpPr>
          <p:nvPr/>
        </p:nvSpPr>
        <p:spPr bwMode="auto">
          <a:xfrm>
            <a:off x="755650" y="5651500"/>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140" name="Text Box 29">
            <a:extLst>
              <a:ext uri="{FF2B5EF4-FFF2-40B4-BE49-F238E27FC236}">
                <a16:creationId xmlns:a16="http://schemas.microsoft.com/office/drawing/2014/main" id="{C261035B-9A27-199A-EBAE-5BA5FAC1EE1C}"/>
              </a:ext>
            </a:extLst>
          </p:cNvPr>
          <p:cNvSpPr txBox="1">
            <a:spLocks noChangeArrowheads="1"/>
          </p:cNvSpPr>
          <p:nvPr/>
        </p:nvSpPr>
        <p:spPr bwMode="auto">
          <a:xfrm>
            <a:off x="1012825" y="5684838"/>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复习思考题</a:t>
            </a:r>
            <a:r>
              <a:rPr lang="zh-CN" altLang="en-US" sz="2400" b="0">
                <a:latin typeface="Times New Roman" panose="02020603050405020304" pitchFamily="18" charset="0"/>
              </a:rPr>
              <a:t> </a:t>
            </a:r>
          </a:p>
        </p:txBody>
      </p:sp>
      <p:sp>
        <p:nvSpPr>
          <p:cNvPr id="5141" name="Rectangle 30">
            <a:extLst>
              <a:ext uri="{FF2B5EF4-FFF2-40B4-BE49-F238E27FC236}">
                <a16:creationId xmlns:a16="http://schemas.microsoft.com/office/drawing/2014/main" id="{D2F79C2C-EA61-D975-E612-94CC0E532C87}"/>
              </a:ext>
            </a:extLst>
          </p:cNvPr>
          <p:cNvSpPr>
            <a:spLocks noChangeArrowheads="1"/>
          </p:cNvSpPr>
          <p:nvPr/>
        </p:nvSpPr>
        <p:spPr bwMode="auto">
          <a:xfrm>
            <a:off x="630238" y="5740400"/>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3.7</a:t>
            </a:r>
            <a:endParaRPr lang="en-US" altLang="zh-CN" sz="1800">
              <a:solidFill>
                <a:srgbClr val="000000"/>
              </a:solidFill>
            </a:endParaRPr>
          </a:p>
        </p:txBody>
      </p:sp>
      <p:sp>
        <p:nvSpPr>
          <p:cNvPr id="5142" name="Rectangle 31">
            <a:extLst>
              <a:ext uri="{FF2B5EF4-FFF2-40B4-BE49-F238E27FC236}">
                <a16:creationId xmlns:a16="http://schemas.microsoft.com/office/drawing/2014/main" id="{23863979-DF5E-35FD-C460-8DD6725B2DD4}"/>
              </a:ext>
            </a:extLst>
          </p:cNvPr>
          <p:cNvSpPr>
            <a:spLocks noChangeArrowheads="1"/>
          </p:cNvSpPr>
          <p:nvPr/>
        </p:nvSpPr>
        <p:spPr bwMode="auto">
          <a:xfrm>
            <a:off x="604838" y="2992438"/>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3.2</a:t>
            </a:r>
          </a:p>
        </p:txBody>
      </p:sp>
      <p:sp>
        <p:nvSpPr>
          <p:cNvPr id="5143" name="Rectangle 32">
            <a:extLst>
              <a:ext uri="{FF2B5EF4-FFF2-40B4-BE49-F238E27FC236}">
                <a16:creationId xmlns:a16="http://schemas.microsoft.com/office/drawing/2014/main" id="{BC598F67-339D-D704-1017-B58473F9923E}"/>
              </a:ext>
            </a:extLst>
          </p:cNvPr>
          <p:cNvSpPr>
            <a:spLocks noChangeArrowheads="1"/>
          </p:cNvSpPr>
          <p:nvPr/>
        </p:nvSpPr>
        <p:spPr bwMode="auto">
          <a:xfrm>
            <a:off x="604838" y="3536950"/>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3.3</a:t>
            </a:r>
            <a:endParaRPr lang="en-US" altLang="zh-CN" sz="18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6">
            <a:extLst>
              <a:ext uri="{FF2B5EF4-FFF2-40B4-BE49-F238E27FC236}">
                <a16:creationId xmlns:a16="http://schemas.microsoft.com/office/drawing/2014/main" id="{D40E3E3D-A89A-EDDB-6564-0A3B5F039D97}"/>
              </a:ext>
            </a:extLst>
          </p:cNvPr>
          <p:cNvSpPr txBox="1">
            <a:spLocks noChangeArrowheads="1"/>
          </p:cNvSpPr>
          <p:nvPr/>
        </p:nvSpPr>
        <p:spPr bwMode="auto">
          <a:xfrm>
            <a:off x="971550" y="1778000"/>
            <a:ext cx="7632700"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Pct val="70000"/>
              <a:buFont typeface="Wingdings" panose="05000000000000000000" pitchFamily="2" charset="2"/>
              <a:buChar char="n"/>
            </a:pPr>
            <a:r>
              <a:rPr lang="en-US" altLang="zh-CN" sz="2400" dirty="0">
                <a:solidFill>
                  <a:schemeClr val="accent2"/>
                </a:solidFill>
                <a:latin typeface="Times New Roman" panose="02020603050405020304" pitchFamily="18" charset="0"/>
                <a:ea typeface="黑体" panose="02010609060101010101" pitchFamily="49" charset="-122"/>
              </a:rPr>
              <a:t>  </a:t>
            </a:r>
            <a:r>
              <a:rPr lang="zh-CN" altLang="en-US" sz="2400" dirty="0">
                <a:solidFill>
                  <a:schemeClr val="accent2"/>
                </a:solidFill>
                <a:latin typeface="Times New Roman" panose="02020603050405020304" pitchFamily="18" charset="0"/>
                <a:ea typeface="黑体" panose="02010609060101010101" pitchFamily="49" charset="-122"/>
              </a:rPr>
              <a:t>软件过程</a:t>
            </a:r>
            <a:endParaRPr lang="zh-CN" altLang="en-US" sz="2400" dirty="0">
              <a:solidFill>
                <a:schemeClr val="accent2"/>
              </a:solidFill>
              <a:latin typeface="Times New Roman" panose="02020603050405020304" pitchFamily="18" charset="0"/>
            </a:endParaRPr>
          </a:p>
          <a:p>
            <a:pPr eaLnBrk="1" hangingPunct="1">
              <a:spcBef>
                <a:spcPct val="50000"/>
              </a:spcBef>
              <a:buClrTx/>
              <a:buSzPct val="50000"/>
              <a:buFont typeface="Wingdings" panose="05000000000000000000" pitchFamily="2" charset="2"/>
              <a:buNone/>
            </a:pPr>
            <a:r>
              <a:rPr lang="zh-CN" altLang="en-US" sz="2000" dirty="0">
                <a:latin typeface="Times New Roman" panose="02020603050405020304" pitchFamily="18" charset="0"/>
              </a:rPr>
              <a:t>　　是指人们用于开发和维护软件及其相关产品的</a:t>
            </a:r>
            <a:r>
              <a:rPr lang="zh-CN" altLang="en-US" sz="2000" dirty="0">
                <a:solidFill>
                  <a:srgbClr val="FF0000"/>
                </a:solidFill>
                <a:latin typeface="Times New Roman" panose="02020603050405020304" pitchFamily="18" charset="0"/>
              </a:rPr>
              <a:t>一系列活动、方法、实践和革新</a:t>
            </a:r>
            <a:r>
              <a:rPr lang="zh-CN" altLang="en-US" sz="2000" dirty="0">
                <a:latin typeface="Times New Roman" panose="02020603050405020304" pitchFamily="18" charset="0"/>
              </a:rPr>
              <a:t>。</a:t>
            </a:r>
          </a:p>
          <a:p>
            <a:pPr eaLnBrk="1" hangingPunct="1">
              <a:spcBef>
                <a:spcPct val="50000"/>
              </a:spcBef>
              <a:buClrTx/>
              <a:buSzPct val="70000"/>
              <a:buFont typeface="Wingdings" panose="05000000000000000000" pitchFamily="2" charset="2"/>
              <a:buChar char="n"/>
            </a:pPr>
            <a:r>
              <a:rPr lang="zh-CN" altLang="en-US" sz="2400" dirty="0">
                <a:solidFill>
                  <a:schemeClr val="accent2"/>
                </a:solidFill>
                <a:latin typeface="Times New Roman" panose="02020603050405020304" pitchFamily="18" charset="0"/>
                <a:ea typeface="黑体" panose="02010609060101010101" pitchFamily="49" charset="-122"/>
              </a:rPr>
              <a:t>  软件开发过程管理</a:t>
            </a:r>
            <a:endParaRPr lang="zh-CN" altLang="en-US" sz="2400" dirty="0">
              <a:solidFill>
                <a:schemeClr val="accent2"/>
              </a:solidFill>
              <a:latin typeface="Times New Roman" panose="02020603050405020304" pitchFamily="18" charset="0"/>
            </a:endParaRPr>
          </a:p>
          <a:p>
            <a:pPr eaLnBrk="1" hangingPunct="1">
              <a:spcBef>
                <a:spcPct val="50000"/>
              </a:spcBef>
              <a:buClrTx/>
              <a:buFont typeface="Wingdings" panose="05000000000000000000" pitchFamily="2" charset="2"/>
              <a:buNone/>
            </a:pPr>
            <a:r>
              <a:rPr lang="zh-CN" altLang="en-US" sz="2000" dirty="0">
                <a:latin typeface="Times New Roman" panose="02020603050405020304" pitchFamily="18" charset="0"/>
              </a:rPr>
              <a:t>　　是指在软件开发过程中，除了先进技术和开发方法外，还有一整套的管理技术。</a:t>
            </a:r>
          </a:p>
          <a:p>
            <a:pPr eaLnBrk="1" hangingPunct="1">
              <a:spcBef>
                <a:spcPct val="50000"/>
              </a:spcBef>
              <a:buClrTx/>
              <a:buSzPct val="70000"/>
              <a:buFont typeface="Wingdings" panose="05000000000000000000" pitchFamily="2" charset="2"/>
              <a:buChar char="n"/>
            </a:pPr>
            <a:r>
              <a:rPr lang="zh-CN" altLang="en-US" sz="2400" dirty="0">
                <a:solidFill>
                  <a:schemeClr val="accent2"/>
                </a:solidFill>
                <a:latin typeface="Times New Roman" panose="02020603050405020304" pitchFamily="18" charset="0"/>
                <a:ea typeface="黑体" panose="02010609060101010101" pitchFamily="49" charset="-122"/>
              </a:rPr>
              <a:t>  软件过程改进</a:t>
            </a:r>
            <a:endParaRPr lang="zh-CN" altLang="en-US" sz="2400" dirty="0">
              <a:solidFill>
                <a:schemeClr val="accent2"/>
              </a:solidFill>
              <a:latin typeface="Times New Roman" panose="02020603050405020304" pitchFamily="18" charset="0"/>
            </a:endParaRPr>
          </a:p>
          <a:p>
            <a:pPr eaLnBrk="1" hangingPunct="1">
              <a:spcBef>
                <a:spcPct val="50000"/>
              </a:spcBef>
              <a:buClrTx/>
              <a:buFont typeface="Wingdings" panose="05000000000000000000" pitchFamily="2" charset="2"/>
              <a:buNone/>
            </a:pPr>
            <a:r>
              <a:rPr lang="zh-CN" altLang="en-US" sz="2000" dirty="0">
                <a:latin typeface="Times New Roman" panose="02020603050405020304" pitchFamily="18" charset="0"/>
              </a:rPr>
              <a:t>　　是针对软件生产过程中会对产品质量产生影响的问题而进行的，它的直接结果是软件过程能力的提高。</a:t>
            </a:r>
          </a:p>
          <a:p>
            <a:pPr eaLnBrk="1" hangingPunct="1">
              <a:spcBef>
                <a:spcPct val="50000"/>
              </a:spcBef>
              <a:buClrTx/>
              <a:buFont typeface="Wingdings" panose="05000000000000000000" pitchFamily="2" charset="2"/>
              <a:buNone/>
            </a:pPr>
            <a:r>
              <a:rPr lang="zh-CN" altLang="en-US" sz="2000" dirty="0">
                <a:latin typeface="Times New Roman" panose="02020603050405020304" pitchFamily="18" charset="0"/>
              </a:rPr>
              <a:t>　　现在常见的软件过程改进方法：</a:t>
            </a:r>
            <a:r>
              <a:rPr lang="en-US" altLang="zh-CN" sz="2000" dirty="0">
                <a:latin typeface="Times New Roman" panose="02020603050405020304" pitchFamily="18" charset="0"/>
              </a:rPr>
              <a:t>ISO 9000</a:t>
            </a:r>
            <a:r>
              <a:rPr lang="zh-CN" altLang="en-US" sz="2000" dirty="0">
                <a:latin typeface="Times New Roman" panose="02020603050405020304" pitchFamily="18" charset="0"/>
              </a:rPr>
              <a:t>，</a:t>
            </a:r>
            <a:r>
              <a:rPr lang="en-US" altLang="zh-CN" sz="2000" dirty="0">
                <a:latin typeface="Times New Roman" panose="02020603050405020304" pitchFamily="18" charset="0"/>
              </a:rPr>
              <a:t>SW-CMM</a:t>
            </a:r>
            <a:r>
              <a:rPr lang="zh-CN" altLang="en-US" sz="2000" dirty="0">
                <a:latin typeface="Times New Roman" panose="02020603050405020304" pitchFamily="18" charset="0"/>
              </a:rPr>
              <a:t>和由多种能力模型演变而来的</a:t>
            </a:r>
            <a:r>
              <a:rPr lang="en-US" altLang="zh-CN" sz="2000" dirty="0">
                <a:latin typeface="Times New Roman" panose="02020603050405020304" pitchFamily="18" charset="0"/>
              </a:rPr>
              <a:t>CMMI</a:t>
            </a:r>
            <a:r>
              <a:rPr lang="zh-CN" altLang="en-US" sz="2000" dirty="0">
                <a:latin typeface="Times New Roman" panose="02020603050405020304" pitchFamily="18" charset="0"/>
              </a:rPr>
              <a:t>。</a:t>
            </a:r>
          </a:p>
        </p:txBody>
      </p:sp>
      <p:sp>
        <p:nvSpPr>
          <p:cNvPr id="6147" name="Rectangle 7">
            <a:extLst>
              <a:ext uri="{FF2B5EF4-FFF2-40B4-BE49-F238E27FC236}">
                <a16:creationId xmlns:a16="http://schemas.microsoft.com/office/drawing/2014/main" id="{9A4ABAC0-B1C7-4BE4-A99A-8C1157FC4C92}"/>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3.1  </a:t>
            </a:r>
            <a:r>
              <a:rPr kumimoji="1" lang="en-US" altLang="zh-CN"/>
              <a:t>CMM</a:t>
            </a:r>
            <a:r>
              <a:rPr kumimoji="1" lang="zh-CN" altLang="en-US"/>
              <a:t>和</a:t>
            </a:r>
            <a:r>
              <a:rPr kumimoji="1" lang="en-US" altLang="zh-CN"/>
              <a:t>ISO9000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3864F6B2-47E3-ACB3-B62E-89269248788A}"/>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3.1.1  SW-CMM</a:t>
            </a:r>
            <a:r>
              <a:rPr lang="zh-CN" altLang="en-US"/>
              <a:t>和</a:t>
            </a:r>
            <a:r>
              <a:rPr lang="en-US" altLang="zh-CN"/>
              <a:t>CMMI </a:t>
            </a:r>
          </a:p>
        </p:txBody>
      </p:sp>
      <p:sp>
        <p:nvSpPr>
          <p:cNvPr id="7171" name="Text Box 3">
            <a:extLst>
              <a:ext uri="{FF2B5EF4-FFF2-40B4-BE49-F238E27FC236}">
                <a16:creationId xmlns:a16="http://schemas.microsoft.com/office/drawing/2014/main" id="{C836C9AC-2D7E-DACB-2119-1E98FCF2A90B}"/>
              </a:ext>
            </a:extLst>
          </p:cNvPr>
          <p:cNvSpPr txBox="1">
            <a:spLocks noChangeArrowheads="1"/>
          </p:cNvSpPr>
          <p:nvPr/>
        </p:nvSpPr>
        <p:spPr bwMode="auto">
          <a:xfrm>
            <a:off x="1004888" y="2289175"/>
            <a:ext cx="7410450" cy="275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nSpc>
                <a:spcPts val="3000"/>
              </a:lnSpc>
              <a:spcBef>
                <a:spcPct val="0"/>
              </a:spcBef>
              <a:buSzPct val="70000"/>
              <a:buFont typeface="Wingdings" panose="05000000000000000000" pitchFamily="2" charset="2"/>
              <a:buChar char="n"/>
            </a:pPr>
            <a:r>
              <a:rPr kumimoji="0" lang="zh-CN" altLang="en-US" sz="2400" dirty="0">
                <a:solidFill>
                  <a:schemeClr val="accent2"/>
                </a:solidFill>
                <a:latin typeface="黑体" panose="02010609060101010101" pitchFamily="49" charset="-122"/>
                <a:ea typeface="黑体" panose="02010609060101010101" pitchFamily="49" charset="-122"/>
              </a:rPr>
              <a:t>　</a:t>
            </a:r>
            <a:r>
              <a:rPr kumimoji="0" lang="en-US" altLang="zh-CN" sz="2400" dirty="0">
                <a:solidFill>
                  <a:schemeClr val="accent2"/>
                </a:solidFill>
                <a:latin typeface="黑体" panose="02010609060101010101" pitchFamily="49" charset="-122"/>
                <a:ea typeface="黑体" panose="02010609060101010101" pitchFamily="49" charset="-122"/>
              </a:rPr>
              <a:t>SW-CMM</a:t>
            </a:r>
            <a:r>
              <a:rPr kumimoji="0" lang="zh-CN" altLang="en-US" sz="2400" dirty="0">
                <a:solidFill>
                  <a:schemeClr val="accent2"/>
                </a:solidFill>
                <a:latin typeface="黑体" panose="02010609060101010101" pitchFamily="49" charset="-122"/>
                <a:ea typeface="黑体" panose="02010609060101010101" pitchFamily="49" charset="-122"/>
              </a:rPr>
              <a:t>简介</a:t>
            </a:r>
            <a:endParaRPr kumimoji="0" lang="zh-CN" altLang="en-US" sz="2000" dirty="0">
              <a:latin typeface="宋体" panose="02010600030101010101" pitchFamily="2" charset="-122"/>
            </a:endParaRPr>
          </a:p>
          <a:p>
            <a:pPr>
              <a:lnSpc>
                <a:spcPts val="3000"/>
              </a:lnSpc>
              <a:spcBef>
                <a:spcPct val="0"/>
              </a:spcBef>
              <a:buSzPct val="70000"/>
              <a:buFont typeface="Wingdings" panose="05000000000000000000" pitchFamily="2" charset="2"/>
              <a:buNone/>
            </a:pPr>
            <a:r>
              <a:rPr kumimoji="0" lang="zh-CN" altLang="en-US" sz="2000" dirty="0">
                <a:latin typeface="宋体" panose="02010600030101010101" pitchFamily="2" charset="-122"/>
              </a:rPr>
              <a:t>    为了保证软件产品的质量，</a:t>
            </a:r>
            <a:r>
              <a:rPr kumimoji="0" lang="en-US" altLang="zh-CN" sz="2000" dirty="0">
                <a:latin typeface="宋体" panose="02010600030101010101" pitchFamily="2" charset="-122"/>
              </a:rPr>
              <a:t>1991</a:t>
            </a:r>
            <a:r>
              <a:rPr kumimoji="0" lang="zh-CN" altLang="en-US" sz="2000" dirty="0">
                <a:latin typeface="宋体" panose="02010600030101010101" pitchFamily="2" charset="-122"/>
              </a:rPr>
              <a:t>年美国卡内基</a:t>
            </a:r>
            <a:r>
              <a:rPr kumimoji="0" lang="en-US" altLang="zh-CN" sz="2000" dirty="0">
                <a:latin typeface="宋体" panose="02010600030101010101" pitchFamily="2" charset="-122"/>
              </a:rPr>
              <a:t>·</a:t>
            </a:r>
            <a:r>
              <a:rPr kumimoji="0" lang="zh-CN" altLang="en-US" sz="2000" dirty="0">
                <a:latin typeface="宋体" panose="02010600030101010101" pitchFamily="2" charset="-122"/>
              </a:rPr>
              <a:t>梅隆大学软件工程研究所（</a:t>
            </a:r>
            <a:r>
              <a:rPr kumimoji="0" lang="en-US" altLang="zh-CN" sz="2000" dirty="0">
                <a:latin typeface="宋体" panose="02010600030101010101" pitchFamily="2" charset="-122"/>
              </a:rPr>
              <a:t>CMU/SEI</a:t>
            </a:r>
            <a:r>
              <a:rPr kumimoji="0" lang="zh-CN" altLang="en-US" sz="2000" dirty="0">
                <a:latin typeface="宋体" panose="02010600030101010101" pitchFamily="2" charset="-122"/>
              </a:rPr>
              <a:t>）将软件过程成熟度框架进化为软件能力成熟度模型（</a:t>
            </a:r>
            <a:r>
              <a:rPr kumimoji="0" lang="en-US" altLang="zh-CN" sz="2000" dirty="0">
                <a:latin typeface="宋体" panose="02010600030101010101" pitchFamily="2" charset="-122"/>
              </a:rPr>
              <a:t>Capability Maturity Model For Software</a:t>
            </a:r>
            <a:r>
              <a:rPr kumimoji="0" lang="zh-CN" altLang="en-US" sz="2000" dirty="0">
                <a:latin typeface="宋体" panose="02010600030101010101" pitchFamily="2" charset="-122"/>
              </a:rPr>
              <a:t>，简称</a:t>
            </a:r>
            <a:r>
              <a:rPr kumimoji="0" lang="en-US" altLang="zh-CN" sz="2000" dirty="0">
                <a:latin typeface="宋体" panose="02010600030101010101" pitchFamily="2" charset="-122"/>
              </a:rPr>
              <a:t>SW-CMM</a:t>
            </a:r>
            <a:r>
              <a:rPr kumimoji="0" lang="zh-CN" altLang="en-US" sz="2000" dirty="0">
                <a:latin typeface="宋体" panose="02010600030101010101" pitchFamily="2" charset="-122"/>
              </a:rPr>
              <a:t>），并发布了最早的</a:t>
            </a:r>
            <a:r>
              <a:rPr kumimoji="0" lang="en-US" altLang="zh-CN" sz="2000" dirty="0">
                <a:latin typeface="宋体" panose="02010600030101010101" pitchFamily="2" charset="-122"/>
              </a:rPr>
              <a:t>SW-CMM 1.0</a:t>
            </a:r>
            <a:r>
              <a:rPr kumimoji="0" lang="zh-CN" altLang="en-US" sz="2000" dirty="0">
                <a:latin typeface="宋体" panose="02010600030101010101" pitchFamily="2" charset="-122"/>
              </a:rPr>
              <a:t>版。</a:t>
            </a:r>
          </a:p>
          <a:p>
            <a:pPr>
              <a:lnSpc>
                <a:spcPts val="3000"/>
              </a:lnSpc>
              <a:spcBef>
                <a:spcPct val="0"/>
              </a:spcBef>
              <a:buClrTx/>
              <a:buFontTx/>
              <a:buNone/>
            </a:pPr>
            <a:r>
              <a:rPr kumimoji="0" lang="zh-CN" altLang="en-US" sz="2000" dirty="0">
                <a:latin typeface="宋体" panose="02010600030101010101" pitchFamily="2" charset="-122"/>
              </a:rPr>
              <a:t>　　</a:t>
            </a:r>
            <a:r>
              <a:rPr kumimoji="0" lang="en-US" altLang="zh-CN" sz="2000" dirty="0">
                <a:solidFill>
                  <a:srgbClr val="FF0000"/>
                </a:solidFill>
                <a:latin typeface="宋体" panose="02010600030101010101" pitchFamily="2" charset="-122"/>
              </a:rPr>
              <a:t>SW-CMM</a:t>
            </a:r>
            <a:r>
              <a:rPr kumimoji="0" lang="zh-CN" altLang="en-US" sz="2000" dirty="0">
                <a:latin typeface="宋体" panose="02010600030101010101" pitchFamily="2" charset="-122"/>
              </a:rPr>
              <a:t>为软件企业的过程能力提供了一个阶梯式的进化框架，</a:t>
            </a:r>
            <a:r>
              <a:rPr kumimoji="0" lang="zh-CN" altLang="en-US" sz="2000" dirty="0">
                <a:solidFill>
                  <a:srgbClr val="FF0000"/>
                </a:solidFill>
                <a:latin typeface="宋体" panose="02010600030101010101" pitchFamily="2" charset="-122"/>
              </a:rPr>
              <a:t>阶梯共有五级</a:t>
            </a:r>
            <a:r>
              <a:rPr kumimoji="0" lang="zh-CN" altLang="en-US" sz="2000" dirty="0">
                <a:latin typeface="宋体" panose="02010600030101010101" pitchFamily="2" charset="-122"/>
              </a:rPr>
              <a:t>。</a:t>
            </a:r>
            <a:endParaRPr kumimoji="0" lang="zh-CN" altLang="en-US" sz="2400" dirty="0">
              <a:latin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52">
            <a:extLst>
              <a:ext uri="{FF2B5EF4-FFF2-40B4-BE49-F238E27FC236}">
                <a16:creationId xmlns:a16="http://schemas.microsoft.com/office/drawing/2014/main" id="{5059BD89-5779-E8BA-17BC-0D9071B86773}"/>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3.1.1  SW-CMM</a:t>
            </a:r>
            <a:r>
              <a:rPr lang="zh-CN" altLang="en-US"/>
              <a:t>和</a:t>
            </a:r>
            <a:r>
              <a:rPr lang="en-US" altLang="zh-CN"/>
              <a:t>CMMI </a:t>
            </a:r>
          </a:p>
        </p:txBody>
      </p:sp>
      <p:sp>
        <p:nvSpPr>
          <p:cNvPr id="116889" name="AutoShape 153">
            <a:extLst>
              <a:ext uri="{FF2B5EF4-FFF2-40B4-BE49-F238E27FC236}">
                <a16:creationId xmlns:a16="http://schemas.microsoft.com/office/drawing/2014/main" id="{191936AA-41F4-3823-F606-127B092187A9}"/>
              </a:ext>
            </a:extLst>
          </p:cNvPr>
          <p:cNvSpPr>
            <a:spLocks noChangeArrowheads="1"/>
          </p:cNvSpPr>
          <p:nvPr/>
        </p:nvSpPr>
        <p:spPr bwMode="auto">
          <a:xfrm>
            <a:off x="2000250" y="2170113"/>
            <a:ext cx="1447800" cy="838200"/>
          </a:xfrm>
          <a:prstGeom prst="cube">
            <a:avLst>
              <a:gd name="adj" fmla="val 25000"/>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0" lang="en-US" altLang="zh-CN" sz="1800" b="0"/>
              <a:t>1 </a:t>
            </a:r>
            <a:r>
              <a:rPr kumimoji="0" lang="zh-CN" altLang="en-US" sz="1800" b="0"/>
              <a:t>初始级</a:t>
            </a:r>
          </a:p>
        </p:txBody>
      </p:sp>
      <p:sp>
        <p:nvSpPr>
          <p:cNvPr id="116890" name="AutoShape 154">
            <a:extLst>
              <a:ext uri="{FF2B5EF4-FFF2-40B4-BE49-F238E27FC236}">
                <a16:creationId xmlns:a16="http://schemas.microsoft.com/office/drawing/2014/main" id="{B0B2453D-4F33-B757-A5AA-A507B14750F1}"/>
              </a:ext>
            </a:extLst>
          </p:cNvPr>
          <p:cNvSpPr>
            <a:spLocks noChangeArrowheads="1"/>
          </p:cNvSpPr>
          <p:nvPr/>
        </p:nvSpPr>
        <p:spPr bwMode="auto">
          <a:xfrm>
            <a:off x="5657850" y="2170113"/>
            <a:ext cx="1447800" cy="838200"/>
          </a:xfrm>
          <a:prstGeom prst="cube">
            <a:avLst>
              <a:gd name="adj" fmla="val 25000"/>
            </a:avLst>
          </a:prstGeom>
          <a:solidFill>
            <a:srgbClr val="FAA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0" lang="en-US" altLang="zh-CN" sz="1800" b="0"/>
              <a:t>2 </a:t>
            </a:r>
            <a:r>
              <a:rPr kumimoji="0" lang="zh-CN" altLang="en-US" sz="1800" b="0"/>
              <a:t>可重复级</a:t>
            </a:r>
          </a:p>
        </p:txBody>
      </p:sp>
      <p:sp>
        <p:nvSpPr>
          <p:cNvPr id="116891" name="AutoShape 155">
            <a:extLst>
              <a:ext uri="{FF2B5EF4-FFF2-40B4-BE49-F238E27FC236}">
                <a16:creationId xmlns:a16="http://schemas.microsoft.com/office/drawing/2014/main" id="{D681E4B6-9096-639A-6B55-9A80E156984D}"/>
              </a:ext>
            </a:extLst>
          </p:cNvPr>
          <p:cNvSpPr>
            <a:spLocks noChangeArrowheads="1"/>
          </p:cNvSpPr>
          <p:nvPr/>
        </p:nvSpPr>
        <p:spPr bwMode="auto">
          <a:xfrm>
            <a:off x="5657850" y="3635375"/>
            <a:ext cx="1447800" cy="838200"/>
          </a:xfrm>
          <a:prstGeom prst="cube">
            <a:avLst>
              <a:gd name="adj" fmla="val 25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0" lang="en-US" altLang="zh-CN" sz="1800" b="0"/>
              <a:t>3 </a:t>
            </a:r>
            <a:r>
              <a:rPr kumimoji="0" lang="zh-CN" altLang="en-US" sz="1800" b="0"/>
              <a:t>已定义级</a:t>
            </a:r>
          </a:p>
        </p:txBody>
      </p:sp>
      <p:sp>
        <p:nvSpPr>
          <p:cNvPr id="116892" name="AutoShape 156">
            <a:extLst>
              <a:ext uri="{FF2B5EF4-FFF2-40B4-BE49-F238E27FC236}">
                <a16:creationId xmlns:a16="http://schemas.microsoft.com/office/drawing/2014/main" id="{4E99AC96-2BD6-75CF-E1AB-E253E335918F}"/>
              </a:ext>
            </a:extLst>
          </p:cNvPr>
          <p:cNvSpPr>
            <a:spLocks noChangeArrowheads="1"/>
          </p:cNvSpPr>
          <p:nvPr/>
        </p:nvSpPr>
        <p:spPr bwMode="auto">
          <a:xfrm>
            <a:off x="5734050" y="5148263"/>
            <a:ext cx="1447800" cy="838200"/>
          </a:xfrm>
          <a:prstGeom prst="cube">
            <a:avLst>
              <a:gd name="adj" fmla="val 25000"/>
            </a:avLst>
          </a:prstGeom>
          <a:solidFill>
            <a:srgbClr val="32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0" lang="en-US" altLang="zh-CN" sz="1800" b="0"/>
              <a:t>4 </a:t>
            </a:r>
            <a:r>
              <a:rPr kumimoji="0" lang="zh-CN" altLang="en-US" sz="1800" b="0"/>
              <a:t>已管理级</a:t>
            </a:r>
          </a:p>
        </p:txBody>
      </p:sp>
      <p:sp>
        <p:nvSpPr>
          <p:cNvPr id="116893" name="AutoShape 157">
            <a:extLst>
              <a:ext uri="{FF2B5EF4-FFF2-40B4-BE49-F238E27FC236}">
                <a16:creationId xmlns:a16="http://schemas.microsoft.com/office/drawing/2014/main" id="{E8B07FB2-911B-BBC4-B40B-8DA5EEC75E2C}"/>
              </a:ext>
            </a:extLst>
          </p:cNvPr>
          <p:cNvSpPr>
            <a:spLocks noChangeArrowheads="1"/>
          </p:cNvSpPr>
          <p:nvPr/>
        </p:nvSpPr>
        <p:spPr bwMode="auto">
          <a:xfrm>
            <a:off x="2000250" y="5148263"/>
            <a:ext cx="1447800" cy="838200"/>
          </a:xfrm>
          <a:prstGeom prst="cube">
            <a:avLst>
              <a:gd name="adj" fmla="val 25000"/>
            </a:avLst>
          </a:prstGeom>
          <a:solidFill>
            <a:srgbClr val="32FFD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0" lang="en-US" altLang="zh-CN" sz="1800" b="0"/>
              <a:t>5 </a:t>
            </a:r>
            <a:r>
              <a:rPr kumimoji="0" lang="zh-CN" altLang="en-US" sz="1800" b="0"/>
              <a:t>优化级</a:t>
            </a:r>
          </a:p>
        </p:txBody>
      </p:sp>
      <p:sp>
        <p:nvSpPr>
          <p:cNvPr id="116894" name="AutoShape 158">
            <a:extLst>
              <a:ext uri="{FF2B5EF4-FFF2-40B4-BE49-F238E27FC236}">
                <a16:creationId xmlns:a16="http://schemas.microsoft.com/office/drawing/2014/main" id="{9E2ED094-DD03-E824-499E-E8FACC628307}"/>
              </a:ext>
            </a:extLst>
          </p:cNvPr>
          <p:cNvSpPr>
            <a:spLocks noChangeArrowheads="1"/>
          </p:cNvSpPr>
          <p:nvPr/>
        </p:nvSpPr>
        <p:spPr bwMode="auto">
          <a:xfrm>
            <a:off x="3813175" y="2322513"/>
            <a:ext cx="1539875" cy="457200"/>
          </a:xfrm>
          <a:prstGeom prst="rightArrow">
            <a:avLst>
              <a:gd name="adj1" fmla="val 50000"/>
              <a:gd name="adj2" fmla="val 84201"/>
            </a:avLst>
          </a:prstGeom>
          <a:solidFill>
            <a:srgbClr val="00B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6895" name="AutoShape 159">
            <a:extLst>
              <a:ext uri="{FF2B5EF4-FFF2-40B4-BE49-F238E27FC236}">
                <a16:creationId xmlns:a16="http://schemas.microsoft.com/office/drawing/2014/main" id="{02C019CB-BB91-F657-8F9A-43A4E090E141}"/>
              </a:ext>
            </a:extLst>
          </p:cNvPr>
          <p:cNvSpPr>
            <a:spLocks noChangeArrowheads="1"/>
          </p:cNvSpPr>
          <p:nvPr/>
        </p:nvSpPr>
        <p:spPr bwMode="auto">
          <a:xfrm>
            <a:off x="3813175" y="5364163"/>
            <a:ext cx="1539875" cy="457200"/>
          </a:xfrm>
          <a:prstGeom prst="leftArrow">
            <a:avLst>
              <a:gd name="adj1" fmla="val 50000"/>
              <a:gd name="adj2" fmla="val 84201"/>
            </a:avLst>
          </a:prstGeom>
          <a:solidFill>
            <a:srgbClr val="00B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6896" name="AutoShape 160">
            <a:extLst>
              <a:ext uri="{FF2B5EF4-FFF2-40B4-BE49-F238E27FC236}">
                <a16:creationId xmlns:a16="http://schemas.microsoft.com/office/drawing/2014/main" id="{652DACCA-2617-C549-BB3F-65BCAF40211E}"/>
              </a:ext>
            </a:extLst>
          </p:cNvPr>
          <p:cNvSpPr>
            <a:spLocks noChangeArrowheads="1"/>
          </p:cNvSpPr>
          <p:nvPr/>
        </p:nvSpPr>
        <p:spPr bwMode="auto">
          <a:xfrm>
            <a:off x="6115050" y="3025775"/>
            <a:ext cx="533400" cy="609600"/>
          </a:xfrm>
          <a:prstGeom prst="downArrow">
            <a:avLst>
              <a:gd name="adj1" fmla="val 50000"/>
              <a:gd name="adj2" fmla="val 28571"/>
            </a:avLst>
          </a:prstGeom>
          <a:solidFill>
            <a:srgbClr val="00B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6897" name="AutoShape 161">
            <a:extLst>
              <a:ext uri="{FF2B5EF4-FFF2-40B4-BE49-F238E27FC236}">
                <a16:creationId xmlns:a16="http://schemas.microsoft.com/office/drawing/2014/main" id="{6AB61444-2A4E-FB70-C9DD-554D428D874D}"/>
              </a:ext>
            </a:extLst>
          </p:cNvPr>
          <p:cNvSpPr>
            <a:spLocks noChangeArrowheads="1"/>
          </p:cNvSpPr>
          <p:nvPr/>
        </p:nvSpPr>
        <p:spPr bwMode="auto">
          <a:xfrm>
            <a:off x="6115050" y="4500563"/>
            <a:ext cx="533400" cy="609600"/>
          </a:xfrm>
          <a:prstGeom prst="downArrow">
            <a:avLst>
              <a:gd name="adj1" fmla="val 50000"/>
              <a:gd name="adj2" fmla="val 28571"/>
            </a:avLst>
          </a:prstGeom>
          <a:solidFill>
            <a:srgbClr val="00B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16898" name="AutoShape 162">
            <a:extLst>
              <a:ext uri="{FF2B5EF4-FFF2-40B4-BE49-F238E27FC236}">
                <a16:creationId xmlns:a16="http://schemas.microsoft.com/office/drawing/2014/main" id="{791A4DB8-88C2-DEBA-C63D-B8C0931EB30E}"/>
              </a:ext>
            </a:extLst>
          </p:cNvPr>
          <p:cNvSpPr>
            <a:spLocks noChangeArrowheads="1"/>
          </p:cNvSpPr>
          <p:nvPr/>
        </p:nvSpPr>
        <p:spPr bwMode="auto">
          <a:xfrm>
            <a:off x="2838450" y="3465513"/>
            <a:ext cx="1752600" cy="1143000"/>
          </a:xfrm>
          <a:prstGeom prst="wedgeRectCallout">
            <a:avLst>
              <a:gd name="adj1" fmla="val -64856"/>
              <a:gd name="adj2" fmla="val -9041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0" lang="zh-CN" altLang="en-US" sz="1800" b="0"/>
              <a:t>无序、混乱的软件过程。依赖个别人的努力和机遇。</a:t>
            </a:r>
          </a:p>
        </p:txBody>
      </p:sp>
      <p:sp>
        <p:nvSpPr>
          <p:cNvPr id="116899" name="AutoShape 163">
            <a:extLst>
              <a:ext uri="{FF2B5EF4-FFF2-40B4-BE49-F238E27FC236}">
                <a16:creationId xmlns:a16="http://schemas.microsoft.com/office/drawing/2014/main" id="{9D35D4FB-6FB9-E482-2E53-E596F862E38E}"/>
              </a:ext>
            </a:extLst>
          </p:cNvPr>
          <p:cNvSpPr>
            <a:spLocks noChangeArrowheads="1"/>
          </p:cNvSpPr>
          <p:nvPr/>
        </p:nvSpPr>
        <p:spPr bwMode="auto">
          <a:xfrm>
            <a:off x="3752850" y="3236913"/>
            <a:ext cx="1600200" cy="1143000"/>
          </a:xfrm>
          <a:prstGeom prst="wedgeRectCallout">
            <a:avLst>
              <a:gd name="adj1" fmla="val 90875"/>
              <a:gd name="adj2" fmla="val -7152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0" lang="zh-CN" altLang="en-US" sz="1800" b="0"/>
              <a:t>建立基本的项目管理过程。相似项目，重复以往成果。</a:t>
            </a:r>
          </a:p>
        </p:txBody>
      </p:sp>
      <p:sp>
        <p:nvSpPr>
          <p:cNvPr id="116900" name="AutoShape 164">
            <a:extLst>
              <a:ext uri="{FF2B5EF4-FFF2-40B4-BE49-F238E27FC236}">
                <a16:creationId xmlns:a16="http://schemas.microsoft.com/office/drawing/2014/main" id="{16B4A793-C8DC-8CA7-07AD-A2BE29CE236B}"/>
              </a:ext>
            </a:extLst>
          </p:cNvPr>
          <p:cNvSpPr>
            <a:spLocks noChangeArrowheads="1"/>
          </p:cNvSpPr>
          <p:nvPr/>
        </p:nvSpPr>
        <p:spPr bwMode="auto">
          <a:xfrm>
            <a:off x="2990850" y="3779838"/>
            <a:ext cx="1752600" cy="914400"/>
          </a:xfrm>
          <a:prstGeom prst="wedgeRectCallout">
            <a:avLst>
              <a:gd name="adj1" fmla="val 101810"/>
              <a:gd name="adj2" fmla="val -1579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0" lang="zh-CN" altLang="en-US" sz="1800" b="0"/>
              <a:t>文档化、标准化和标准的软件软件过程。</a:t>
            </a:r>
          </a:p>
        </p:txBody>
      </p:sp>
      <p:sp>
        <p:nvSpPr>
          <p:cNvPr id="116901" name="AutoShape 165">
            <a:extLst>
              <a:ext uri="{FF2B5EF4-FFF2-40B4-BE49-F238E27FC236}">
                <a16:creationId xmlns:a16="http://schemas.microsoft.com/office/drawing/2014/main" id="{2719C215-3551-6D53-7CE3-A65553E0F940}"/>
              </a:ext>
            </a:extLst>
          </p:cNvPr>
          <p:cNvSpPr>
            <a:spLocks noChangeArrowheads="1"/>
          </p:cNvSpPr>
          <p:nvPr/>
        </p:nvSpPr>
        <p:spPr bwMode="auto">
          <a:xfrm>
            <a:off x="3600450" y="4140200"/>
            <a:ext cx="1752600" cy="914400"/>
          </a:xfrm>
          <a:prstGeom prst="wedgeRectCallout">
            <a:avLst>
              <a:gd name="adj1" fmla="val 74366"/>
              <a:gd name="adj2" fmla="val 8524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0" lang="zh-CN" altLang="en-US" sz="1800" b="0"/>
              <a:t>软件过程和产品质量有详细的度量标准。</a:t>
            </a:r>
          </a:p>
        </p:txBody>
      </p:sp>
      <p:sp>
        <p:nvSpPr>
          <p:cNvPr id="116902" name="AutoShape 166">
            <a:extLst>
              <a:ext uri="{FF2B5EF4-FFF2-40B4-BE49-F238E27FC236}">
                <a16:creationId xmlns:a16="http://schemas.microsoft.com/office/drawing/2014/main" id="{22D8A73D-FE4C-C588-2296-08A5AB3E8105}"/>
              </a:ext>
            </a:extLst>
          </p:cNvPr>
          <p:cNvSpPr>
            <a:spLocks noChangeArrowheads="1"/>
          </p:cNvSpPr>
          <p:nvPr/>
        </p:nvSpPr>
        <p:spPr bwMode="auto">
          <a:xfrm>
            <a:off x="2838450" y="3852863"/>
            <a:ext cx="1752600" cy="685800"/>
          </a:xfrm>
          <a:prstGeom prst="wedgeRectCallout">
            <a:avLst>
              <a:gd name="adj1" fmla="val -59782"/>
              <a:gd name="adj2" fmla="val 14004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0" lang="zh-CN" altLang="en-US" sz="1800" b="0"/>
              <a:t>持续的对过程进行改进。</a:t>
            </a:r>
          </a:p>
        </p:txBody>
      </p:sp>
      <p:sp>
        <p:nvSpPr>
          <p:cNvPr id="116903" name="Text Box 167">
            <a:extLst>
              <a:ext uri="{FF2B5EF4-FFF2-40B4-BE49-F238E27FC236}">
                <a16:creationId xmlns:a16="http://schemas.microsoft.com/office/drawing/2014/main" id="{C5EAE792-D15D-3CFD-E756-8BFC6015A58B}"/>
              </a:ext>
            </a:extLst>
          </p:cNvPr>
          <p:cNvSpPr txBox="1">
            <a:spLocks noChangeArrowheads="1"/>
          </p:cNvSpPr>
          <p:nvPr/>
        </p:nvSpPr>
        <p:spPr bwMode="auto">
          <a:xfrm>
            <a:off x="3460750" y="6180138"/>
            <a:ext cx="22637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0" lang="zh-CN" altLang="en-US" sz="1800" b="0"/>
              <a:t>图   </a:t>
            </a:r>
            <a:r>
              <a:rPr kumimoji="0" lang="en-US" altLang="zh-CN" sz="1800" b="0"/>
              <a:t>CMM</a:t>
            </a:r>
            <a:r>
              <a:rPr kumimoji="0" lang="zh-CN" altLang="en-US" sz="1800" b="0"/>
              <a:t>分级标准</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6889"/>
                                        </p:tgtEl>
                                        <p:attrNameLst>
                                          <p:attrName>style.visibility</p:attrName>
                                        </p:attrNameLst>
                                      </p:cBhvr>
                                      <p:to>
                                        <p:strVal val="visible"/>
                                      </p:to>
                                    </p:set>
                                    <p:animEffect transition="in" filter="wipe(left)">
                                      <p:cBhvr>
                                        <p:cTn id="7" dur="500"/>
                                        <p:tgtEl>
                                          <p:spTgt spid="116889"/>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16898"/>
                                        </p:tgtEl>
                                        <p:attrNameLst>
                                          <p:attrName>style.visibility</p:attrName>
                                        </p:attrNameLst>
                                      </p:cBhvr>
                                      <p:to>
                                        <p:strVal val="visible"/>
                                      </p:to>
                                    </p:set>
                                    <p:animEffect transition="in" filter="blinds(horizontal)">
                                      <p:cBhvr>
                                        <p:cTn id="11" dur="500"/>
                                        <p:tgtEl>
                                          <p:spTgt spid="116898"/>
                                        </p:tgtEl>
                                      </p:cBhvr>
                                    </p:animEffect>
                                  </p:childTnLst>
                                  <p:subTnLst>
                                    <p:set>
                                      <p:cBhvr override="childStyle">
                                        <p:cTn dur="1" fill="hold" display="0" masterRel="nextClick" afterEffect="1"/>
                                        <p:tgtEl>
                                          <p:spTgt spid="116898"/>
                                        </p:tgtEl>
                                        <p:attrNameLst>
                                          <p:attrName>style.visibility</p:attrName>
                                        </p:attrNameLst>
                                      </p:cBhvr>
                                      <p:to>
                                        <p:strVal val="hidden"/>
                                      </p:to>
                                    </p:set>
                                  </p:sub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6894"/>
                                        </p:tgtEl>
                                        <p:attrNameLst>
                                          <p:attrName>style.visibility</p:attrName>
                                        </p:attrNameLst>
                                      </p:cBhvr>
                                      <p:to>
                                        <p:strVal val="visible"/>
                                      </p:to>
                                    </p:set>
                                    <p:animEffect transition="in" filter="wipe(left)">
                                      <p:cBhvr>
                                        <p:cTn id="16" dur="500"/>
                                        <p:tgtEl>
                                          <p:spTgt spid="116894"/>
                                        </p:tgtEl>
                                      </p:cBhvr>
                                    </p:animEffect>
                                  </p:childTnLst>
                                </p:cTn>
                              </p:par>
                            </p:childTnLst>
                          </p:cTn>
                        </p:par>
                        <p:par>
                          <p:cTn id="17" fill="hold" nodeType="afterGroup">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16890"/>
                                        </p:tgtEl>
                                        <p:attrNameLst>
                                          <p:attrName>style.visibility</p:attrName>
                                        </p:attrNameLst>
                                      </p:cBhvr>
                                      <p:to>
                                        <p:strVal val="visible"/>
                                      </p:to>
                                    </p:set>
                                    <p:animEffect transition="in" filter="wipe(left)">
                                      <p:cBhvr>
                                        <p:cTn id="20" dur="500"/>
                                        <p:tgtEl>
                                          <p:spTgt spid="116890"/>
                                        </p:tgtEl>
                                      </p:cBhvr>
                                    </p:animEffect>
                                  </p:childTnLst>
                                </p:cTn>
                              </p:par>
                            </p:childTnLst>
                          </p:cTn>
                        </p:par>
                        <p:par>
                          <p:cTn id="21" fill="hold" nodeType="afterGroup">
                            <p:stCondLst>
                              <p:cond delay="1000"/>
                            </p:stCondLst>
                            <p:childTnLst>
                              <p:par>
                                <p:cTn id="22" presetID="3" presetClass="entr" presetSubtype="10" fill="hold" grpId="0" nodeType="afterEffect">
                                  <p:stCondLst>
                                    <p:cond delay="0"/>
                                  </p:stCondLst>
                                  <p:childTnLst>
                                    <p:set>
                                      <p:cBhvr>
                                        <p:cTn id="23" dur="1" fill="hold">
                                          <p:stCondLst>
                                            <p:cond delay="0"/>
                                          </p:stCondLst>
                                        </p:cTn>
                                        <p:tgtEl>
                                          <p:spTgt spid="116899"/>
                                        </p:tgtEl>
                                        <p:attrNameLst>
                                          <p:attrName>style.visibility</p:attrName>
                                        </p:attrNameLst>
                                      </p:cBhvr>
                                      <p:to>
                                        <p:strVal val="visible"/>
                                      </p:to>
                                    </p:set>
                                    <p:animEffect transition="in" filter="blinds(horizontal)">
                                      <p:cBhvr>
                                        <p:cTn id="24" dur="500"/>
                                        <p:tgtEl>
                                          <p:spTgt spid="116899"/>
                                        </p:tgtEl>
                                      </p:cBhvr>
                                    </p:animEffect>
                                  </p:childTnLst>
                                  <p:subTnLst>
                                    <p:set>
                                      <p:cBhvr override="childStyle">
                                        <p:cTn dur="1" fill="hold" display="0" masterRel="nextClick" afterEffect="1"/>
                                        <p:tgtEl>
                                          <p:spTgt spid="116899"/>
                                        </p:tgtEl>
                                        <p:attrNameLst>
                                          <p:attrName>style.visibility</p:attrName>
                                        </p:attrNameLst>
                                      </p:cBhvr>
                                      <p:to>
                                        <p:strVal val="hidden"/>
                                      </p:to>
                                    </p:set>
                                  </p:sub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16896"/>
                                        </p:tgtEl>
                                        <p:attrNameLst>
                                          <p:attrName>style.visibility</p:attrName>
                                        </p:attrNameLst>
                                      </p:cBhvr>
                                      <p:to>
                                        <p:strVal val="visible"/>
                                      </p:to>
                                    </p:set>
                                    <p:animEffect transition="in" filter="wipe(left)">
                                      <p:cBhvr>
                                        <p:cTn id="29" dur="500"/>
                                        <p:tgtEl>
                                          <p:spTgt spid="116896"/>
                                        </p:tgtEl>
                                      </p:cBhvr>
                                    </p:animEffect>
                                  </p:childTnLst>
                                </p:cTn>
                              </p:par>
                            </p:childTnLst>
                          </p:cTn>
                        </p:par>
                        <p:par>
                          <p:cTn id="30" fill="hold" nodeType="afterGroup">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116891"/>
                                        </p:tgtEl>
                                        <p:attrNameLst>
                                          <p:attrName>style.visibility</p:attrName>
                                        </p:attrNameLst>
                                      </p:cBhvr>
                                      <p:to>
                                        <p:strVal val="visible"/>
                                      </p:to>
                                    </p:set>
                                    <p:animEffect transition="in" filter="wipe(left)">
                                      <p:cBhvr>
                                        <p:cTn id="33" dur="500"/>
                                        <p:tgtEl>
                                          <p:spTgt spid="116891"/>
                                        </p:tgtEl>
                                      </p:cBhvr>
                                    </p:animEffect>
                                  </p:childTnLst>
                                </p:cTn>
                              </p:par>
                            </p:childTnLst>
                          </p:cTn>
                        </p:par>
                        <p:par>
                          <p:cTn id="34" fill="hold" nodeType="afterGroup">
                            <p:stCondLst>
                              <p:cond delay="1000"/>
                            </p:stCondLst>
                            <p:childTnLst>
                              <p:par>
                                <p:cTn id="35" presetID="3" presetClass="entr" presetSubtype="10" fill="hold" grpId="0" nodeType="afterEffect">
                                  <p:stCondLst>
                                    <p:cond delay="0"/>
                                  </p:stCondLst>
                                  <p:childTnLst>
                                    <p:set>
                                      <p:cBhvr>
                                        <p:cTn id="36" dur="1" fill="hold">
                                          <p:stCondLst>
                                            <p:cond delay="0"/>
                                          </p:stCondLst>
                                        </p:cTn>
                                        <p:tgtEl>
                                          <p:spTgt spid="116900"/>
                                        </p:tgtEl>
                                        <p:attrNameLst>
                                          <p:attrName>style.visibility</p:attrName>
                                        </p:attrNameLst>
                                      </p:cBhvr>
                                      <p:to>
                                        <p:strVal val="visible"/>
                                      </p:to>
                                    </p:set>
                                    <p:animEffect transition="in" filter="blinds(horizontal)">
                                      <p:cBhvr>
                                        <p:cTn id="37" dur="500"/>
                                        <p:tgtEl>
                                          <p:spTgt spid="116900"/>
                                        </p:tgtEl>
                                      </p:cBhvr>
                                    </p:animEffect>
                                  </p:childTnLst>
                                  <p:subTnLst>
                                    <p:set>
                                      <p:cBhvr override="childStyle">
                                        <p:cTn dur="1" fill="hold" display="0" masterRel="nextClick" afterEffect="1"/>
                                        <p:tgtEl>
                                          <p:spTgt spid="116900"/>
                                        </p:tgtEl>
                                        <p:attrNameLst>
                                          <p:attrName>style.visibility</p:attrName>
                                        </p:attrNameLst>
                                      </p:cBhvr>
                                      <p:to>
                                        <p:strVal val="hidden"/>
                                      </p:to>
                                    </p:set>
                                  </p:sub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16897"/>
                                        </p:tgtEl>
                                        <p:attrNameLst>
                                          <p:attrName>style.visibility</p:attrName>
                                        </p:attrNameLst>
                                      </p:cBhvr>
                                      <p:to>
                                        <p:strVal val="visible"/>
                                      </p:to>
                                    </p:set>
                                    <p:animEffect transition="in" filter="wipe(up)">
                                      <p:cBhvr>
                                        <p:cTn id="42" dur="500"/>
                                        <p:tgtEl>
                                          <p:spTgt spid="116897"/>
                                        </p:tgtEl>
                                      </p:cBhvr>
                                    </p:animEffect>
                                  </p:childTnLst>
                                </p:cTn>
                              </p:par>
                            </p:childTnLst>
                          </p:cTn>
                        </p:par>
                        <p:par>
                          <p:cTn id="43" fill="hold" nodeType="afterGroup">
                            <p:stCondLst>
                              <p:cond delay="500"/>
                            </p:stCondLst>
                            <p:childTnLst>
                              <p:par>
                                <p:cTn id="44" presetID="22" presetClass="entr" presetSubtype="1" fill="hold" grpId="0" nodeType="afterEffect">
                                  <p:stCondLst>
                                    <p:cond delay="0"/>
                                  </p:stCondLst>
                                  <p:childTnLst>
                                    <p:set>
                                      <p:cBhvr>
                                        <p:cTn id="45" dur="1" fill="hold">
                                          <p:stCondLst>
                                            <p:cond delay="0"/>
                                          </p:stCondLst>
                                        </p:cTn>
                                        <p:tgtEl>
                                          <p:spTgt spid="116892"/>
                                        </p:tgtEl>
                                        <p:attrNameLst>
                                          <p:attrName>style.visibility</p:attrName>
                                        </p:attrNameLst>
                                      </p:cBhvr>
                                      <p:to>
                                        <p:strVal val="visible"/>
                                      </p:to>
                                    </p:set>
                                    <p:animEffect transition="in" filter="wipe(up)">
                                      <p:cBhvr>
                                        <p:cTn id="46" dur="500"/>
                                        <p:tgtEl>
                                          <p:spTgt spid="116892"/>
                                        </p:tgtEl>
                                      </p:cBhvr>
                                    </p:animEffect>
                                  </p:childTnLst>
                                </p:cTn>
                              </p:par>
                            </p:childTnLst>
                          </p:cTn>
                        </p:par>
                        <p:par>
                          <p:cTn id="47" fill="hold" nodeType="afterGroup">
                            <p:stCondLst>
                              <p:cond delay="1000"/>
                            </p:stCondLst>
                            <p:childTnLst>
                              <p:par>
                                <p:cTn id="48" presetID="3" presetClass="entr" presetSubtype="10" fill="hold" grpId="0" nodeType="afterEffect">
                                  <p:stCondLst>
                                    <p:cond delay="0"/>
                                  </p:stCondLst>
                                  <p:childTnLst>
                                    <p:set>
                                      <p:cBhvr>
                                        <p:cTn id="49" dur="1" fill="hold">
                                          <p:stCondLst>
                                            <p:cond delay="0"/>
                                          </p:stCondLst>
                                        </p:cTn>
                                        <p:tgtEl>
                                          <p:spTgt spid="116901"/>
                                        </p:tgtEl>
                                        <p:attrNameLst>
                                          <p:attrName>style.visibility</p:attrName>
                                        </p:attrNameLst>
                                      </p:cBhvr>
                                      <p:to>
                                        <p:strVal val="visible"/>
                                      </p:to>
                                    </p:set>
                                    <p:animEffect transition="in" filter="blinds(horizontal)">
                                      <p:cBhvr>
                                        <p:cTn id="50" dur="500"/>
                                        <p:tgtEl>
                                          <p:spTgt spid="116901"/>
                                        </p:tgtEl>
                                      </p:cBhvr>
                                    </p:animEffect>
                                  </p:childTnLst>
                                  <p:subTnLst>
                                    <p:set>
                                      <p:cBhvr override="childStyle">
                                        <p:cTn dur="1" fill="hold" display="0" masterRel="nextClick" afterEffect="1"/>
                                        <p:tgtEl>
                                          <p:spTgt spid="116901"/>
                                        </p:tgtEl>
                                        <p:attrNameLst>
                                          <p:attrName>style.visibility</p:attrName>
                                        </p:attrNameLst>
                                      </p:cBhvr>
                                      <p:to>
                                        <p:strVal val="hidden"/>
                                      </p:to>
                                    </p:set>
                                  </p:sub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2" fill="hold" grpId="0" nodeType="clickEffect">
                                  <p:stCondLst>
                                    <p:cond delay="0"/>
                                  </p:stCondLst>
                                  <p:childTnLst>
                                    <p:set>
                                      <p:cBhvr>
                                        <p:cTn id="54" dur="1" fill="hold">
                                          <p:stCondLst>
                                            <p:cond delay="0"/>
                                          </p:stCondLst>
                                        </p:cTn>
                                        <p:tgtEl>
                                          <p:spTgt spid="116895"/>
                                        </p:tgtEl>
                                        <p:attrNameLst>
                                          <p:attrName>style.visibility</p:attrName>
                                        </p:attrNameLst>
                                      </p:cBhvr>
                                      <p:to>
                                        <p:strVal val="visible"/>
                                      </p:to>
                                    </p:set>
                                    <p:animEffect transition="in" filter="wipe(right)">
                                      <p:cBhvr>
                                        <p:cTn id="55" dur="500"/>
                                        <p:tgtEl>
                                          <p:spTgt spid="116895"/>
                                        </p:tgtEl>
                                      </p:cBhvr>
                                    </p:animEffect>
                                  </p:childTnLst>
                                </p:cTn>
                              </p:par>
                            </p:childTnLst>
                          </p:cTn>
                        </p:par>
                        <p:par>
                          <p:cTn id="56" fill="hold" nodeType="afterGroup">
                            <p:stCondLst>
                              <p:cond delay="500"/>
                            </p:stCondLst>
                            <p:childTnLst>
                              <p:par>
                                <p:cTn id="57" presetID="22" presetClass="entr" presetSubtype="2" fill="hold" grpId="0" nodeType="afterEffect">
                                  <p:stCondLst>
                                    <p:cond delay="0"/>
                                  </p:stCondLst>
                                  <p:childTnLst>
                                    <p:set>
                                      <p:cBhvr>
                                        <p:cTn id="58" dur="1" fill="hold">
                                          <p:stCondLst>
                                            <p:cond delay="0"/>
                                          </p:stCondLst>
                                        </p:cTn>
                                        <p:tgtEl>
                                          <p:spTgt spid="116893"/>
                                        </p:tgtEl>
                                        <p:attrNameLst>
                                          <p:attrName>style.visibility</p:attrName>
                                        </p:attrNameLst>
                                      </p:cBhvr>
                                      <p:to>
                                        <p:strVal val="visible"/>
                                      </p:to>
                                    </p:set>
                                    <p:animEffect transition="in" filter="wipe(right)">
                                      <p:cBhvr>
                                        <p:cTn id="59" dur="500"/>
                                        <p:tgtEl>
                                          <p:spTgt spid="116893"/>
                                        </p:tgtEl>
                                      </p:cBhvr>
                                    </p:animEffect>
                                  </p:childTnLst>
                                </p:cTn>
                              </p:par>
                            </p:childTnLst>
                          </p:cTn>
                        </p:par>
                        <p:par>
                          <p:cTn id="60" fill="hold" nodeType="afterGroup">
                            <p:stCondLst>
                              <p:cond delay="1000"/>
                            </p:stCondLst>
                            <p:childTnLst>
                              <p:par>
                                <p:cTn id="61" presetID="3" presetClass="entr" presetSubtype="10" fill="hold" grpId="0" nodeType="afterEffect">
                                  <p:stCondLst>
                                    <p:cond delay="0"/>
                                  </p:stCondLst>
                                  <p:childTnLst>
                                    <p:set>
                                      <p:cBhvr>
                                        <p:cTn id="62" dur="1" fill="hold">
                                          <p:stCondLst>
                                            <p:cond delay="0"/>
                                          </p:stCondLst>
                                        </p:cTn>
                                        <p:tgtEl>
                                          <p:spTgt spid="116902"/>
                                        </p:tgtEl>
                                        <p:attrNameLst>
                                          <p:attrName>style.visibility</p:attrName>
                                        </p:attrNameLst>
                                      </p:cBhvr>
                                      <p:to>
                                        <p:strVal val="visible"/>
                                      </p:to>
                                    </p:set>
                                    <p:animEffect transition="in" filter="blinds(horizontal)">
                                      <p:cBhvr>
                                        <p:cTn id="63" dur="500"/>
                                        <p:tgtEl>
                                          <p:spTgt spid="116902"/>
                                        </p:tgtEl>
                                      </p:cBhvr>
                                    </p:animEffect>
                                  </p:childTnLst>
                                  <p:subTnLst>
                                    <p:set>
                                      <p:cBhvr override="childStyle">
                                        <p:cTn dur="1" fill="hold" display="0" masterRel="nextClick" afterEffect="1"/>
                                        <p:tgtEl>
                                          <p:spTgt spid="116902"/>
                                        </p:tgtEl>
                                        <p:attrNameLst>
                                          <p:attrName>style.visibility</p:attrName>
                                        </p:attrNameLst>
                                      </p:cBhvr>
                                      <p:to>
                                        <p:strVal val="hidden"/>
                                      </p:to>
                                    </p:set>
                                  </p:subTnLst>
                                </p:cTn>
                              </p:par>
                            </p:childTnLst>
                          </p:cTn>
                        </p:par>
                      </p:childTnLst>
                    </p:cTn>
                  </p:par>
                  <p:par>
                    <p:cTn id="64" fill="hold" nodeType="clickPar">
                      <p:stCondLst>
                        <p:cond delay="indefinite"/>
                      </p:stCondLst>
                      <p:childTnLst>
                        <p:par>
                          <p:cTn id="65" fill="hold" nodeType="withGroup">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116903"/>
                                        </p:tgtEl>
                                        <p:attrNameLst>
                                          <p:attrName>style.visibility</p:attrName>
                                        </p:attrNameLst>
                                      </p:cBhvr>
                                      <p:to>
                                        <p:strVal val="visible"/>
                                      </p:to>
                                    </p:set>
                                    <p:anim calcmode="lin" valueType="num">
                                      <p:cBhvr additive="base">
                                        <p:cTn id="68" dur="500" fill="hold"/>
                                        <p:tgtEl>
                                          <p:spTgt spid="116903"/>
                                        </p:tgtEl>
                                        <p:attrNameLst>
                                          <p:attrName>ppt_x</p:attrName>
                                        </p:attrNameLst>
                                      </p:cBhvr>
                                      <p:tavLst>
                                        <p:tav tm="0">
                                          <p:val>
                                            <p:strVal val="#ppt_x"/>
                                          </p:val>
                                        </p:tav>
                                        <p:tav tm="100000">
                                          <p:val>
                                            <p:strVal val="#ppt_x"/>
                                          </p:val>
                                        </p:tav>
                                      </p:tavLst>
                                    </p:anim>
                                    <p:anim calcmode="lin" valueType="num">
                                      <p:cBhvr additive="base">
                                        <p:cTn id="69" dur="500" fill="hold"/>
                                        <p:tgtEl>
                                          <p:spTgt spid="1169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889" grpId="0" animBg="1"/>
      <p:bldP spid="116890" grpId="0" animBg="1"/>
      <p:bldP spid="116891" grpId="0" animBg="1"/>
      <p:bldP spid="116892" grpId="0" animBg="1"/>
      <p:bldP spid="116893" grpId="0" animBg="1"/>
      <p:bldP spid="116894" grpId="0" animBg="1"/>
      <p:bldP spid="116895" grpId="0" animBg="1"/>
      <p:bldP spid="116896" grpId="0" animBg="1"/>
      <p:bldP spid="116897" grpId="0" animBg="1"/>
      <p:bldP spid="116898" grpId="0" animBg="1" autoUpdateAnimBg="0"/>
      <p:bldP spid="116899" grpId="0" animBg="1" autoUpdateAnimBg="0"/>
      <p:bldP spid="116900" grpId="0" animBg="1" autoUpdateAnimBg="0"/>
      <p:bldP spid="116901" grpId="0" animBg="1" autoUpdateAnimBg="0"/>
      <p:bldP spid="116902" grpId="0" animBg="1" autoUpdateAnimBg="0"/>
      <p:bldP spid="11690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3306C406-EB72-1AF8-3B80-AF33638E0939}"/>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3.1.1  SW-CMM</a:t>
            </a:r>
            <a:r>
              <a:rPr lang="zh-CN" altLang="en-US"/>
              <a:t>和</a:t>
            </a:r>
            <a:r>
              <a:rPr lang="en-US" altLang="zh-CN"/>
              <a:t>CMMI </a:t>
            </a:r>
          </a:p>
        </p:txBody>
      </p:sp>
      <p:sp>
        <p:nvSpPr>
          <p:cNvPr id="9219" name="Text Box 3">
            <a:extLst>
              <a:ext uri="{FF2B5EF4-FFF2-40B4-BE49-F238E27FC236}">
                <a16:creationId xmlns:a16="http://schemas.microsoft.com/office/drawing/2014/main" id="{9A2EF699-E9FE-BFDE-1A88-5C1271962A4B}"/>
              </a:ext>
            </a:extLst>
          </p:cNvPr>
          <p:cNvSpPr txBox="1">
            <a:spLocks noChangeArrowheads="1"/>
          </p:cNvSpPr>
          <p:nvPr/>
        </p:nvSpPr>
        <p:spPr bwMode="auto">
          <a:xfrm>
            <a:off x="938213" y="1922463"/>
            <a:ext cx="7632700" cy="47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SzPct val="70000"/>
              <a:buFont typeface="Wingdings" panose="05000000000000000000" pitchFamily="2" charset="2"/>
              <a:buChar char="n"/>
            </a:pPr>
            <a:r>
              <a:rPr kumimoji="0" lang="en-US" altLang="zh-CN" sz="2400" dirty="0">
                <a:solidFill>
                  <a:schemeClr val="accent2"/>
                </a:solidFill>
                <a:latin typeface="黑体" panose="02010609060101010101" pitchFamily="49" charset="-122"/>
                <a:ea typeface="黑体" panose="02010609060101010101" pitchFamily="49" charset="-122"/>
              </a:rPr>
              <a:t>  KPA</a:t>
            </a:r>
            <a:r>
              <a:rPr kumimoji="0" lang="zh-CN" altLang="en-US" sz="2400" dirty="0">
                <a:solidFill>
                  <a:schemeClr val="accent2"/>
                </a:solidFill>
                <a:latin typeface="黑体" panose="02010609060101010101" pitchFamily="49" charset="-122"/>
                <a:ea typeface="黑体" panose="02010609060101010101" pitchFamily="49" charset="-122"/>
              </a:rPr>
              <a:t>及</a:t>
            </a:r>
            <a:r>
              <a:rPr kumimoji="0" lang="en-US" altLang="zh-CN" sz="2400" dirty="0">
                <a:solidFill>
                  <a:schemeClr val="accent2"/>
                </a:solidFill>
                <a:latin typeface="黑体" panose="02010609060101010101" pitchFamily="49" charset="-122"/>
                <a:ea typeface="黑体" panose="02010609060101010101" pitchFamily="49" charset="-122"/>
              </a:rPr>
              <a:t>KP</a:t>
            </a:r>
          </a:p>
          <a:p>
            <a:pPr eaLnBrk="1" hangingPunct="1">
              <a:spcBef>
                <a:spcPct val="0"/>
              </a:spcBef>
              <a:buSzPct val="70000"/>
              <a:buFont typeface="Wingdings" panose="05000000000000000000" pitchFamily="2" charset="2"/>
              <a:buNone/>
            </a:pPr>
            <a:endParaRPr kumimoji="0" lang="en-US" altLang="zh-CN" sz="900" dirty="0">
              <a:solidFill>
                <a:schemeClr val="accent2"/>
              </a:solidFill>
              <a:latin typeface="黑体" panose="02010609060101010101" pitchFamily="49" charset="-122"/>
              <a:ea typeface="黑体" panose="02010609060101010101" pitchFamily="49" charset="-122"/>
            </a:endParaRPr>
          </a:p>
          <a:p>
            <a:pPr eaLnBrk="1" hangingPunct="1">
              <a:lnSpc>
                <a:spcPts val="3000"/>
              </a:lnSpc>
              <a:spcBef>
                <a:spcPct val="0"/>
              </a:spcBef>
              <a:buClrTx/>
              <a:buFontTx/>
              <a:buNone/>
            </a:pPr>
            <a:r>
              <a:rPr kumimoji="0" lang="zh-CN" altLang="en-US" sz="2000" dirty="0">
                <a:latin typeface="Times New Roman" panose="02020603050405020304" pitchFamily="18" charset="0"/>
              </a:rPr>
              <a:t>　　除第一级外，</a:t>
            </a:r>
            <a:r>
              <a:rPr kumimoji="0" lang="en-US" altLang="zh-CN" sz="2000" dirty="0">
                <a:latin typeface="Times New Roman" panose="02020603050405020304" pitchFamily="18" charset="0"/>
              </a:rPr>
              <a:t>SW-CMM</a:t>
            </a:r>
            <a:r>
              <a:rPr kumimoji="0" lang="zh-CN" altLang="en-US" sz="2000" dirty="0">
                <a:latin typeface="Times New Roman" panose="02020603050405020304" pitchFamily="18" charset="0"/>
              </a:rPr>
              <a:t>的每一级都是按完全相同的结构组成的。每一级包含了实现这一级目标的若干</a:t>
            </a:r>
            <a:r>
              <a:rPr kumimoji="0" lang="zh-CN" altLang="en-US" sz="2000" dirty="0">
                <a:solidFill>
                  <a:srgbClr val="FF0000"/>
                </a:solidFill>
                <a:latin typeface="Times New Roman" panose="02020603050405020304" pitchFamily="18" charset="0"/>
              </a:rPr>
              <a:t>关键过程域（</a:t>
            </a:r>
            <a:r>
              <a:rPr kumimoji="0" lang="en-US" altLang="zh-CN" sz="2000" dirty="0">
                <a:solidFill>
                  <a:srgbClr val="FF0000"/>
                </a:solidFill>
                <a:latin typeface="Times New Roman" panose="02020603050405020304" pitchFamily="18" charset="0"/>
              </a:rPr>
              <a:t>KPA</a:t>
            </a:r>
            <a:r>
              <a:rPr kumimoji="0" lang="zh-CN" altLang="en-US" sz="2000" dirty="0">
                <a:solidFill>
                  <a:srgbClr val="FF0000"/>
                </a:solidFill>
                <a:latin typeface="Times New Roman" panose="02020603050405020304" pitchFamily="18" charset="0"/>
              </a:rPr>
              <a:t>）</a:t>
            </a:r>
            <a:r>
              <a:rPr kumimoji="0" lang="zh-CN" altLang="en-US" sz="2000" dirty="0">
                <a:latin typeface="Times New Roman" panose="02020603050405020304" pitchFamily="18" charset="0"/>
              </a:rPr>
              <a:t>，每个</a:t>
            </a:r>
            <a:r>
              <a:rPr kumimoji="0" lang="en-US" altLang="zh-CN" sz="2000" dirty="0">
                <a:latin typeface="Times New Roman" panose="02020603050405020304" pitchFamily="18" charset="0"/>
              </a:rPr>
              <a:t>KPA</a:t>
            </a:r>
            <a:r>
              <a:rPr kumimoji="0" lang="zh-CN" altLang="en-US" sz="2000" dirty="0">
                <a:latin typeface="Times New Roman" panose="02020603050405020304" pitchFamily="18" charset="0"/>
              </a:rPr>
              <a:t>进一步包含若干</a:t>
            </a:r>
            <a:r>
              <a:rPr kumimoji="0" lang="zh-CN" altLang="en-US" sz="2000" dirty="0">
                <a:solidFill>
                  <a:srgbClr val="FF0000"/>
                </a:solidFill>
                <a:latin typeface="Times New Roman" panose="02020603050405020304" pitchFamily="18" charset="0"/>
              </a:rPr>
              <a:t>关键实施活动（</a:t>
            </a:r>
            <a:r>
              <a:rPr kumimoji="0" lang="en-US" altLang="zh-CN" sz="2000" dirty="0">
                <a:solidFill>
                  <a:srgbClr val="FF0000"/>
                </a:solidFill>
                <a:latin typeface="Times New Roman" panose="02020603050405020304" pitchFamily="18" charset="0"/>
              </a:rPr>
              <a:t>KP</a:t>
            </a:r>
            <a:r>
              <a:rPr kumimoji="0" lang="zh-CN" altLang="en-US" sz="2000" dirty="0">
                <a:solidFill>
                  <a:srgbClr val="FF0000"/>
                </a:solidFill>
                <a:latin typeface="Times New Roman" panose="02020603050405020304" pitchFamily="18" charset="0"/>
              </a:rPr>
              <a:t>）</a:t>
            </a:r>
            <a:r>
              <a:rPr kumimoji="0" lang="zh-CN" altLang="en-US" sz="2000" dirty="0">
                <a:latin typeface="Times New Roman" panose="02020603050405020304" pitchFamily="18" charset="0"/>
              </a:rPr>
              <a:t>，无论哪个</a:t>
            </a:r>
            <a:r>
              <a:rPr kumimoji="0" lang="en-US" altLang="zh-CN" sz="2000" dirty="0">
                <a:latin typeface="Times New Roman" panose="02020603050405020304" pitchFamily="18" charset="0"/>
              </a:rPr>
              <a:t>KPA</a:t>
            </a:r>
            <a:r>
              <a:rPr kumimoji="0" lang="zh-CN" altLang="en-US" sz="2000" dirty="0">
                <a:latin typeface="Times New Roman" panose="02020603050405020304" pitchFamily="18" charset="0"/>
              </a:rPr>
              <a:t>，它们的实施活动都统一按六个公共属性进行组织，即每一个</a:t>
            </a:r>
            <a:r>
              <a:rPr kumimoji="0" lang="en-US" altLang="zh-CN" sz="2000" dirty="0">
                <a:latin typeface="Times New Roman" panose="02020603050405020304" pitchFamily="18" charset="0"/>
              </a:rPr>
              <a:t>KPA</a:t>
            </a:r>
            <a:r>
              <a:rPr kumimoji="0" lang="zh-CN" altLang="en-US" sz="2000" dirty="0">
                <a:latin typeface="Times New Roman" panose="02020603050405020304" pitchFamily="18" charset="0"/>
              </a:rPr>
              <a:t>都包含六类</a:t>
            </a:r>
            <a:r>
              <a:rPr kumimoji="0" lang="en-US" altLang="zh-CN" sz="2000" dirty="0">
                <a:latin typeface="Times New Roman" panose="02020603050405020304" pitchFamily="18" charset="0"/>
              </a:rPr>
              <a:t>KP</a:t>
            </a:r>
            <a:r>
              <a:rPr kumimoji="0" lang="zh-CN" altLang="en-US" sz="2000" dirty="0">
                <a:latin typeface="Times New Roman" panose="02020603050405020304" pitchFamily="18" charset="0"/>
              </a:rPr>
              <a:t>：</a:t>
            </a:r>
          </a:p>
          <a:p>
            <a:pPr eaLnBrk="1" hangingPunct="1">
              <a:lnSpc>
                <a:spcPts val="3000"/>
              </a:lnSpc>
              <a:spcBef>
                <a:spcPct val="0"/>
              </a:spcBef>
              <a:buClrTx/>
              <a:buFontTx/>
              <a:buNone/>
            </a:pPr>
            <a:r>
              <a:rPr kumimoji="0" lang="zh-CN" altLang="en-US" sz="2000" dirty="0">
                <a:latin typeface="Times New Roman" panose="02020603050405020304" pitchFamily="18" charset="0"/>
              </a:rPr>
              <a:t>　　</a:t>
            </a:r>
            <a:r>
              <a:rPr kumimoji="0" lang="en-US" altLang="zh-CN" sz="2000" dirty="0">
                <a:latin typeface="Times New Roman" panose="02020603050405020304" pitchFamily="18" charset="0"/>
              </a:rPr>
              <a:t>1. </a:t>
            </a:r>
            <a:r>
              <a:rPr kumimoji="0" lang="zh-CN" altLang="en-US" sz="2000" dirty="0">
                <a:latin typeface="Times New Roman" panose="02020603050405020304" pitchFamily="18" charset="0"/>
              </a:rPr>
              <a:t>目标：</a:t>
            </a:r>
            <a:endParaRPr kumimoji="0" lang="zh-CN" altLang="en-US" sz="1200" dirty="0">
              <a:latin typeface="Times New Roman" panose="02020603050405020304" pitchFamily="18" charset="0"/>
            </a:endParaRPr>
          </a:p>
          <a:p>
            <a:pPr eaLnBrk="1" hangingPunct="1">
              <a:lnSpc>
                <a:spcPts val="3000"/>
              </a:lnSpc>
              <a:spcBef>
                <a:spcPct val="0"/>
              </a:spcBef>
              <a:buClrTx/>
              <a:buFontTx/>
              <a:buNone/>
            </a:pPr>
            <a:r>
              <a:rPr kumimoji="0" lang="zh-CN" altLang="en-US" sz="2000" dirty="0">
                <a:latin typeface="Times New Roman" panose="02020603050405020304" pitchFamily="18" charset="0"/>
              </a:rPr>
              <a:t>　　</a:t>
            </a:r>
            <a:r>
              <a:rPr kumimoji="0" lang="en-US" altLang="zh-CN" sz="2000" dirty="0">
                <a:latin typeface="Times New Roman" panose="02020603050405020304" pitchFamily="18" charset="0"/>
              </a:rPr>
              <a:t>2. </a:t>
            </a:r>
            <a:r>
              <a:rPr kumimoji="0" lang="zh-CN" altLang="en-US" sz="2000" dirty="0">
                <a:latin typeface="Times New Roman" panose="02020603050405020304" pitchFamily="18" charset="0"/>
              </a:rPr>
              <a:t>实施保证：</a:t>
            </a:r>
          </a:p>
          <a:p>
            <a:pPr eaLnBrk="1" hangingPunct="1">
              <a:lnSpc>
                <a:spcPts val="3000"/>
              </a:lnSpc>
              <a:spcBef>
                <a:spcPct val="0"/>
              </a:spcBef>
              <a:buClrTx/>
              <a:buFontTx/>
              <a:buNone/>
            </a:pPr>
            <a:r>
              <a:rPr kumimoji="0" lang="zh-CN" altLang="en-US" sz="2000" dirty="0">
                <a:latin typeface="Times New Roman" panose="02020603050405020304" pitchFamily="18" charset="0"/>
              </a:rPr>
              <a:t>　　</a:t>
            </a:r>
            <a:r>
              <a:rPr kumimoji="0" lang="en-US" altLang="zh-CN" sz="2000" dirty="0">
                <a:latin typeface="Times New Roman" panose="02020603050405020304" pitchFamily="18" charset="0"/>
              </a:rPr>
              <a:t>3. </a:t>
            </a:r>
            <a:r>
              <a:rPr kumimoji="0" lang="zh-CN" altLang="en-US" sz="2000" dirty="0">
                <a:latin typeface="Times New Roman" panose="02020603050405020304" pitchFamily="18" charset="0"/>
              </a:rPr>
              <a:t>实施能力  </a:t>
            </a:r>
          </a:p>
          <a:p>
            <a:pPr eaLnBrk="1" hangingPunct="1">
              <a:lnSpc>
                <a:spcPts val="3000"/>
              </a:lnSpc>
              <a:spcBef>
                <a:spcPct val="0"/>
              </a:spcBef>
              <a:buClrTx/>
              <a:buFontTx/>
              <a:buNone/>
            </a:pPr>
            <a:r>
              <a:rPr kumimoji="0" lang="zh-CN" altLang="en-US" sz="2000" dirty="0">
                <a:latin typeface="Times New Roman" panose="02020603050405020304" pitchFamily="18" charset="0"/>
              </a:rPr>
              <a:t>　　</a:t>
            </a:r>
            <a:r>
              <a:rPr kumimoji="0" lang="en-US" altLang="zh-CN" sz="2000" dirty="0">
                <a:latin typeface="Times New Roman" panose="02020603050405020304" pitchFamily="18" charset="0"/>
              </a:rPr>
              <a:t>4. </a:t>
            </a:r>
            <a:r>
              <a:rPr kumimoji="0" lang="zh-CN" altLang="en-US" sz="2000" dirty="0">
                <a:latin typeface="Times New Roman" panose="02020603050405020304" pitchFamily="18" charset="0"/>
              </a:rPr>
              <a:t>执行活动  </a:t>
            </a:r>
          </a:p>
          <a:p>
            <a:pPr eaLnBrk="1" hangingPunct="1">
              <a:lnSpc>
                <a:spcPts val="3000"/>
              </a:lnSpc>
              <a:spcBef>
                <a:spcPct val="0"/>
              </a:spcBef>
              <a:buClrTx/>
              <a:buFontTx/>
              <a:buNone/>
            </a:pPr>
            <a:r>
              <a:rPr kumimoji="0" lang="zh-CN" altLang="en-US" sz="2000" dirty="0">
                <a:latin typeface="Times New Roman" panose="02020603050405020304" pitchFamily="18" charset="0"/>
              </a:rPr>
              <a:t>　　</a:t>
            </a:r>
            <a:r>
              <a:rPr kumimoji="0" lang="en-US" altLang="zh-CN" sz="2000" dirty="0">
                <a:latin typeface="Times New Roman" panose="02020603050405020304" pitchFamily="18" charset="0"/>
              </a:rPr>
              <a:t>5. </a:t>
            </a:r>
            <a:r>
              <a:rPr kumimoji="0" lang="zh-CN" altLang="en-US" sz="2000" dirty="0">
                <a:latin typeface="Times New Roman" panose="02020603050405020304" pitchFamily="18" charset="0"/>
              </a:rPr>
              <a:t>度量分析</a:t>
            </a:r>
          </a:p>
          <a:p>
            <a:pPr eaLnBrk="1" hangingPunct="1">
              <a:lnSpc>
                <a:spcPts val="3000"/>
              </a:lnSpc>
              <a:spcBef>
                <a:spcPct val="0"/>
              </a:spcBef>
              <a:buClrTx/>
              <a:buFontTx/>
              <a:buNone/>
            </a:pPr>
            <a:r>
              <a:rPr kumimoji="0" lang="zh-CN" altLang="en-US" sz="2000" dirty="0">
                <a:latin typeface="Times New Roman" panose="02020603050405020304" pitchFamily="18" charset="0"/>
              </a:rPr>
              <a:t>　　</a:t>
            </a:r>
            <a:r>
              <a:rPr kumimoji="0" lang="en-US" altLang="zh-CN" sz="2000" dirty="0">
                <a:latin typeface="Times New Roman" panose="02020603050405020304" pitchFamily="18" charset="0"/>
              </a:rPr>
              <a:t>6. </a:t>
            </a:r>
            <a:r>
              <a:rPr kumimoji="0" lang="zh-CN" altLang="en-US" sz="2000" dirty="0">
                <a:latin typeface="Times New Roman" panose="02020603050405020304" pitchFamily="18" charset="0"/>
              </a:rPr>
              <a:t>实施验证</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3FF48371-3469-CA05-A026-B86A423B74F8}"/>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3.1.1  SW-CMM</a:t>
            </a:r>
            <a:r>
              <a:rPr lang="zh-CN" altLang="en-US"/>
              <a:t>和</a:t>
            </a:r>
            <a:r>
              <a:rPr lang="en-US" altLang="zh-CN"/>
              <a:t>CMMI </a:t>
            </a:r>
          </a:p>
        </p:txBody>
      </p:sp>
      <p:sp>
        <p:nvSpPr>
          <p:cNvPr id="10243" name="Text Box 3">
            <a:extLst>
              <a:ext uri="{FF2B5EF4-FFF2-40B4-BE49-F238E27FC236}">
                <a16:creationId xmlns:a16="http://schemas.microsoft.com/office/drawing/2014/main" id="{708A8ED1-C326-F2E4-58E2-6868CF9D5053}"/>
              </a:ext>
            </a:extLst>
          </p:cNvPr>
          <p:cNvSpPr txBox="1">
            <a:spLocks noChangeArrowheads="1"/>
          </p:cNvSpPr>
          <p:nvPr/>
        </p:nvSpPr>
        <p:spPr bwMode="auto">
          <a:xfrm>
            <a:off x="938213" y="1922463"/>
            <a:ext cx="7632700" cy="402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SzPct val="70000"/>
              <a:buFont typeface="Wingdings" panose="05000000000000000000" pitchFamily="2" charset="2"/>
              <a:buChar char="n"/>
            </a:pPr>
            <a:r>
              <a:rPr kumimoji="0" lang="en-US" altLang="zh-CN" sz="2400">
                <a:solidFill>
                  <a:schemeClr val="accent2"/>
                </a:solidFill>
                <a:latin typeface="黑体" panose="02010609060101010101" pitchFamily="49" charset="-122"/>
                <a:ea typeface="黑体" panose="02010609060101010101" pitchFamily="49" charset="-122"/>
              </a:rPr>
              <a:t>  KPA</a:t>
            </a:r>
            <a:r>
              <a:rPr kumimoji="0" lang="zh-CN" altLang="en-US" sz="2400">
                <a:solidFill>
                  <a:schemeClr val="accent2"/>
                </a:solidFill>
                <a:latin typeface="黑体" panose="02010609060101010101" pitchFamily="49" charset="-122"/>
                <a:ea typeface="黑体" panose="02010609060101010101" pitchFamily="49" charset="-122"/>
              </a:rPr>
              <a:t>及</a:t>
            </a:r>
            <a:r>
              <a:rPr kumimoji="0" lang="en-US" altLang="zh-CN" sz="2400">
                <a:solidFill>
                  <a:schemeClr val="accent2"/>
                </a:solidFill>
                <a:latin typeface="黑体" panose="02010609060101010101" pitchFamily="49" charset="-122"/>
                <a:ea typeface="黑体" panose="02010609060101010101" pitchFamily="49" charset="-122"/>
              </a:rPr>
              <a:t>KP</a:t>
            </a:r>
          </a:p>
          <a:p>
            <a:pPr eaLnBrk="1" hangingPunct="1">
              <a:spcBef>
                <a:spcPct val="0"/>
              </a:spcBef>
              <a:buSzPct val="70000"/>
              <a:buFont typeface="Wingdings" panose="05000000000000000000" pitchFamily="2" charset="2"/>
              <a:buNone/>
            </a:pPr>
            <a:endParaRPr kumimoji="0" lang="en-US" altLang="zh-CN" sz="900">
              <a:solidFill>
                <a:schemeClr val="accent2"/>
              </a:solidFill>
              <a:latin typeface="黑体" panose="02010609060101010101" pitchFamily="49" charset="-122"/>
              <a:ea typeface="黑体" panose="02010609060101010101" pitchFamily="49" charset="-122"/>
            </a:endParaRPr>
          </a:p>
          <a:p>
            <a:pPr eaLnBrk="1" hangingPunct="1">
              <a:lnSpc>
                <a:spcPts val="3000"/>
              </a:lnSpc>
              <a:spcBef>
                <a:spcPct val="0"/>
              </a:spcBef>
              <a:buClrTx/>
              <a:buFontTx/>
              <a:buNone/>
            </a:pPr>
            <a:r>
              <a:rPr kumimoji="0" lang="en-US" altLang="zh-CN" sz="2000">
                <a:solidFill>
                  <a:srgbClr val="FF0000"/>
                </a:solidFill>
                <a:latin typeface="Times New Roman" panose="02020603050405020304" pitchFamily="18" charset="0"/>
              </a:rPr>
              <a:t>1. </a:t>
            </a:r>
            <a:r>
              <a:rPr kumimoji="0" lang="zh-CN" altLang="en-US" sz="2000">
                <a:solidFill>
                  <a:srgbClr val="FF0000"/>
                </a:solidFill>
                <a:latin typeface="Times New Roman" panose="02020603050405020304" pitchFamily="18" charset="0"/>
              </a:rPr>
              <a:t>目标：</a:t>
            </a:r>
            <a:r>
              <a:rPr kumimoji="0" lang="zh-CN" altLang="en-US" sz="2000">
                <a:latin typeface="Times New Roman" panose="02020603050405020304" pitchFamily="18" charset="0"/>
              </a:rPr>
              <a:t>每一个</a:t>
            </a:r>
            <a:r>
              <a:rPr kumimoji="0" lang="en-US" altLang="zh-CN" sz="2000">
                <a:latin typeface="Times New Roman" panose="02020603050405020304" pitchFamily="18" charset="0"/>
              </a:rPr>
              <a:t>KPA</a:t>
            </a:r>
            <a:r>
              <a:rPr kumimoji="0" lang="zh-CN" altLang="en-US" sz="2000">
                <a:latin typeface="Times New Roman" panose="02020603050405020304" pitchFamily="18" charset="0"/>
              </a:rPr>
              <a:t>都确定了一组目标，若这组目标在每一个项目都能实现，则说明企业满足了该</a:t>
            </a:r>
            <a:r>
              <a:rPr kumimoji="0" lang="en-US" altLang="zh-CN" sz="2000">
                <a:latin typeface="Times New Roman" panose="02020603050405020304" pitchFamily="18" charset="0"/>
              </a:rPr>
              <a:t>KPA</a:t>
            </a:r>
            <a:r>
              <a:rPr kumimoji="0" lang="zh-CN" altLang="en-US" sz="2000">
                <a:latin typeface="Times New Roman" panose="02020603050405020304" pitchFamily="18" charset="0"/>
              </a:rPr>
              <a:t>的要求。若满足了一个级别的所有</a:t>
            </a:r>
            <a:r>
              <a:rPr kumimoji="0" lang="en-US" altLang="zh-CN" sz="2000">
                <a:latin typeface="Times New Roman" panose="02020603050405020304" pitchFamily="18" charset="0"/>
              </a:rPr>
              <a:t>KPA</a:t>
            </a:r>
            <a:r>
              <a:rPr kumimoji="0" lang="zh-CN" altLang="en-US" sz="2000">
                <a:latin typeface="Times New Roman" panose="02020603050405020304" pitchFamily="18" charset="0"/>
              </a:rPr>
              <a:t>要求，则表明达到了这个级别要求的能力。</a:t>
            </a:r>
            <a:endParaRPr kumimoji="0" lang="zh-CN" altLang="en-US" sz="1200">
              <a:latin typeface="Times New Roman" panose="02020603050405020304" pitchFamily="18" charset="0"/>
            </a:endParaRPr>
          </a:p>
          <a:p>
            <a:pPr eaLnBrk="1" hangingPunct="1">
              <a:lnSpc>
                <a:spcPts val="3000"/>
              </a:lnSpc>
              <a:spcBef>
                <a:spcPct val="0"/>
              </a:spcBef>
              <a:buClrTx/>
              <a:buFontTx/>
              <a:buNone/>
            </a:pPr>
            <a:r>
              <a:rPr kumimoji="0" lang="en-US" altLang="zh-CN" sz="2000">
                <a:solidFill>
                  <a:srgbClr val="FF0000"/>
                </a:solidFill>
                <a:latin typeface="Times New Roman" panose="02020603050405020304" pitchFamily="18" charset="0"/>
              </a:rPr>
              <a:t>2. </a:t>
            </a:r>
            <a:r>
              <a:rPr kumimoji="0" lang="zh-CN" altLang="en-US" sz="2000">
                <a:solidFill>
                  <a:srgbClr val="FF0000"/>
                </a:solidFill>
                <a:latin typeface="Times New Roman" panose="02020603050405020304" pitchFamily="18" charset="0"/>
              </a:rPr>
              <a:t>实施保证：</a:t>
            </a:r>
            <a:r>
              <a:rPr kumimoji="0" lang="zh-CN" altLang="en-US" sz="2000">
                <a:latin typeface="Times New Roman" panose="02020603050405020304" pitchFamily="18" charset="0"/>
              </a:rPr>
              <a:t>实施保证是企业为了建立和实施相应</a:t>
            </a:r>
            <a:r>
              <a:rPr kumimoji="0" lang="en-US" altLang="zh-CN" sz="2000">
                <a:latin typeface="Times New Roman" panose="02020603050405020304" pitchFamily="18" charset="0"/>
              </a:rPr>
              <a:t>KPA</a:t>
            </a:r>
            <a:r>
              <a:rPr kumimoji="0" lang="zh-CN" altLang="en-US" sz="2000">
                <a:latin typeface="Times New Roman" panose="02020603050405020304" pitchFamily="18" charset="0"/>
              </a:rPr>
              <a:t>所必须采取的活动，这些活动主要包括制定企业范围的政策和明确高层管理的责任。</a:t>
            </a:r>
          </a:p>
          <a:p>
            <a:pPr eaLnBrk="1" hangingPunct="1">
              <a:lnSpc>
                <a:spcPts val="3000"/>
              </a:lnSpc>
              <a:spcBef>
                <a:spcPct val="0"/>
              </a:spcBef>
              <a:buClrTx/>
              <a:buFontTx/>
              <a:buNone/>
            </a:pPr>
            <a:r>
              <a:rPr kumimoji="0" lang="en-US" altLang="zh-CN" sz="2000">
                <a:solidFill>
                  <a:srgbClr val="FF0000"/>
                </a:solidFill>
                <a:latin typeface="Times New Roman" panose="02020603050405020304" pitchFamily="18" charset="0"/>
              </a:rPr>
              <a:t>3. </a:t>
            </a:r>
            <a:r>
              <a:rPr kumimoji="0" lang="zh-CN" altLang="en-US" sz="2000">
                <a:solidFill>
                  <a:srgbClr val="FF0000"/>
                </a:solidFill>
                <a:latin typeface="Times New Roman" panose="02020603050405020304" pitchFamily="18" charset="0"/>
              </a:rPr>
              <a:t>实施能力 ：</a:t>
            </a:r>
            <a:r>
              <a:rPr kumimoji="0" lang="zh-CN" altLang="en-US" sz="2000">
                <a:latin typeface="Times New Roman" panose="02020603050405020304" pitchFamily="18" charset="0"/>
              </a:rPr>
              <a:t>实施能力是企业实施</a:t>
            </a:r>
            <a:r>
              <a:rPr kumimoji="0" lang="en-US" altLang="zh-CN" sz="2000">
                <a:latin typeface="Times New Roman" panose="02020603050405020304" pitchFamily="18" charset="0"/>
              </a:rPr>
              <a:t>KPA</a:t>
            </a:r>
            <a:r>
              <a:rPr kumimoji="0" lang="zh-CN" altLang="en-US" sz="2000">
                <a:latin typeface="Times New Roman" panose="02020603050405020304" pitchFamily="18" charset="0"/>
              </a:rPr>
              <a:t>的前提条件，实施能力一般包括资源保证、人员培训等内容。企业必须采取相关措施，在满足了这些条件后，才有可能执行</a:t>
            </a:r>
            <a:r>
              <a:rPr kumimoji="0" lang="en-US" altLang="zh-CN" sz="2000">
                <a:latin typeface="Times New Roman" panose="02020603050405020304" pitchFamily="18" charset="0"/>
              </a:rPr>
              <a:t>KPA</a:t>
            </a:r>
            <a:r>
              <a:rPr kumimoji="0" lang="zh-CN" altLang="en-US" sz="2000">
                <a:latin typeface="Times New Roman" panose="02020603050405020304" pitchFamily="18" charset="0"/>
              </a:rPr>
              <a:t>的执行活动。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FC9AF1B8-C29E-BD46-D890-601F943DB4BD}"/>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3.1.1  SW-CMM</a:t>
            </a:r>
            <a:r>
              <a:rPr lang="zh-CN" altLang="en-US"/>
              <a:t>和</a:t>
            </a:r>
            <a:r>
              <a:rPr lang="en-US" altLang="zh-CN"/>
              <a:t>CMMI </a:t>
            </a:r>
          </a:p>
        </p:txBody>
      </p:sp>
      <p:sp>
        <p:nvSpPr>
          <p:cNvPr id="11267" name="Text Box 3">
            <a:extLst>
              <a:ext uri="{FF2B5EF4-FFF2-40B4-BE49-F238E27FC236}">
                <a16:creationId xmlns:a16="http://schemas.microsoft.com/office/drawing/2014/main" id="{645A4CD4-7B8D-A2A1-537B-E0AA0C7E0141}"/>
              </a:ext>
            </a:extLst>
          </p:cNvPr>
          <p:cNvSpPr txBox="1">
            <a:spLocks noChangeArrowheads="1"/>
          </p:cNvSpPr>
          <p:nvPr/>
        </p:nvSpPr>
        <p:spPr bwMode="auto">
          <a:xfrm>
            <a:off x="938213" y="1922463"/>
            <a:ext cx="7632700" cy="364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SzPct val="70000"/>
              <a:buFont typeface="Wingdings" panose="05000000000000000000" pitchFamily="2" charset="2"/>
              <a:buChar char="n"/>
            </a:pPr>
            <a:r>
              <a:rPr kumimoji="0" lang="en-US" altLang="zh-CN" sz="2400" dirty="0">
                <a:solidFill>
                  <a:schemeClr val="accent2"/>
                </a:solidFill>
                <a:latin typeface="黑体" panose="02010609060101010101" pitchFamily="49" charset="-122"/>
                <a:ea typeface="黑体" panose="02010609060101010101" pitchFamily="49" charset="-122"/>
              </a:rPr>
              <a:t>  KPA</a:t>
            </a:r>
            <a:r>
              <a:rPr kumimoji="0" lang="zh-CN" altLang="en-US" sz="2400" dirty="0">
                <a:solidFill>
                  <a:schemeClr val="accent2"/>
                </a:solidFill>
                <a:latin typeface="黑体" panose="02010609060101010101" pitchFamily="49" charset="-122"/>
                <a:ea typeface="黑体" panose="02010609060101010101" pitchFamily="49" charset="-122"/>
              </a:rPr>
              <a:t>及</a:t>
            </a:r>
            <a:r>
              <a:rPr kumimoji="0" lang="en-US" altLang="zh-CN" sz="2400" dirty="0">
                <a:solidFill>
                  <a:schemeClr val="accent2"/>
                </a:solidFill>
                <a:latin typeface="黑体" panose="02010609060101010101" pitchFamily="49" charset="-122"/>
                <a:ea typeface="黑体" panose="02010609060101010101" pitchFamily="49" charset="-122"/>
              </a:rPr>
              <a:t>KP</a:t>
            </a:r>
          </a:p>
          <a:p>
            <a:pPr eaLnBrk="1" hangingPunct="1">
              <a:spcBef>
                <a:spcPct val="0"/>
              </a:spcBef>
              <a:buSzPct val="70000"/>
              <a:buFont typeface="Wingdings" panose="05000000000000000000" pitchFamily="2" charset="2"/>
              <a:buNone/>
            </a:pPr>
            <a:endParaRPr kumimoji="0" lang="en-US" altLang="zh-CN" sz="900" dirty="0">
              <a:solidFill>
                <a:schemeClr val="accent2"/>
              </a:solidFill>
              <a:latin typeface="黑体" panose="02010609060101010101" pitchFamily="49" charset="-122"/>
              <a:ea typeface="黑体" panose="02010609060101010101" pitchFamily="49" charset="-122"/>
            </a:endParaRPr>
          </a:p>
          <a:p>
            <a:pPr eaLnBrk="1" hangingPunct="1">
              <a:lnSpc>
                <a:spcPts val="3000"/>
              </a:lnSpc>
              <a:spcBef>
                <a:spcPct val="0"/>
              </a:spcBef>
              <a:buClrTx/>
              <a:buFontTx/>
              <a:buNone/>
            </a:pPr>
            <a:r>
              <a:rPr kumimoji="0" lang="en-US" altLang="zh-CN" sz="2000" dirty="0">
                <a:solidFill>
                  <a:srgbClr val="FF0000"/>
                </a:solidFill>
                <a:latin typeface="Times New Roman" panose="02020603050405020304" pitchFamily="18" charset="0"/>
              </a:rPr>
              <a:t>4. </a:t>
            </a:r>
            <a:r>
              <a:rPr kumimoji="0" lang="zh-CN" altLang="en-US" sz="2000" dirty="0">
                <a:solidFill>
                  <a:srgbClr val="FF0000"/>
                </a:solidFill>
                <a:latin typeface="Times New Roman" panose="02020603050405020304" pitchFamily="18" charset="0"/>
              </a:rPr>
              <a:t>执行活动 ：</a:t>
            </a:r>
            <a:r>
              <a:rPr kumimoji="0" lang="zh-CN" altLang="en-US" sz="2000" dirty="0">
                <a:latin typeface="Times New Roman" panose="02020603050405020304" pitchFamily="18" charset="0"/>
              </a:rPr>
              <a:t>执行过程描述了执行</a:t>
            </a:r>
            <a:r>
              <a:rPr kumimoji="0" lang="en-US" altLang="zh-CN" sz="2000" dirty="0">
                <a:latin typeface="Times New Roman" panose="02020603050405020304" pitchFamily="18" charset="0"/>
              </a:rPr>
              <a:t>KPA</a:t>
            </a:r>
            <a:r>
              <a:rPr kumimoji="0" lang="zh-CN" altLang="en-US" sz="2000" dirty="0">
                <a:latin typeface="Times New Roman" panose="02020603050405020304" pitchFamily="18" charset="0"/>
              </a:rPr>
              <a:t>所需要的必要角色和步骤。在六个公共属性中，执行活动是唯一与项目执行相关的属性，其余五个属性则涉及企业</a:t>
            </a:r>
            <a:r>
              <a:rPr kumimoji="0" lang="en-US" altLang="zh-CN" sz="2000" dirty="0">
                <a:latin typeface="Times New Roman" panose="02020603050405020304" pitchFamily="18" charset="0"/>
              </a:rPr>
              <a:t>CMM</a:t>
            </a:r>
            <a:r>
              <a:rPr kumimoji="0" lang="zh-CN" altLang="en-US" sz="2000" dirty="0">
                <a:latin typeface="Times New Roman" panose="02020603050405020304" pitchFamily="18" charset="0"/>
              </a:rPr>
              <a:t>能力基础设施的建立。执行活动一般包括计划、执行的任务、执行任务的跟踪等。 </a:t>
            </a:r>
          </a:p>
          <a:p>
            <a:pPr eaLnBrk="1" hangingPunct="1">
              <a:lnSpc>
                <a:spcPts val="3000"/>
              </a:lnSpc>
              <a:spcBef>
                <a:spcPct val="0"/>
              </a:spcBef>
              <a:buClrTx/>
              <a:buFontTx/>
              <a:buNone/>
            </a:pPr>
            <a:r>
              <a:rPr kumimoji="0" lang="en-US" altLang="zh-CN" sz="2000" dirty="0">
                <a:solidFill>
                  <a:srgbClr val="FF0000"/>
                </a:solidFill>
                <a:latin typeface="Times New Roman" panose="02020603050405020304" pitchFamily="18" charset="0"/>
              </a:rPr>
              <a:t>5. </a:t>
            </a:r>
            <a:r>
              <a:rPr kumimoji="0" lang="zh-CN" altLang="en-US" sz="2000" dirty="0">
                <a:solidFill>
                  <a:srgbClr val="FF0000"/>
                </a:solidFill>
                <a:latin typeface="Times New Roman" panose="02020603050405020304" pitchFamily="18" charset="0"/>
              </a:rPr>
              <a:t>度量分析：</a:t>
            </a:r>
            <a:r>
              <a:rPr kumimoji="0" lang="zh-CN" altLang="en-US" sz="2000" dirty="0">
                <a:latin typeface="Times New Roman" panose="02020603050405020304" pitchFamily="18" charset="0"/>
              </a:rPr>
              <a:t>度量分析描述了过程的度量和度量分析要求。典型的度量分析的要求是为了确定执行活动的状态和执行活动的有效性。</a:t>
            </a:r>
          </a:p>
          <a:p>
            <a:pPr eaLnBrk="1" hangingPunct="1">
              <a:lnSpc>
                <a:spcPts val="3000"/>
              </a:lnSpc>
              <a:spcBef>
                <a:spcPct val="0"/>
              </a:spcBef>
              <a:buClrTx/>
              <a:buFontTx/>
              <a:buNone/>
            </a:pPr>
            <a:r>
              <a:rPr kumimoji="0" lang="en-US" altLang="zh-CN" sz="2000" dirty="0">
                <a:solidFill>
                  <a:srgbClr val="FF0000"/>
                </a:solidFill>
                <a:latin typeface="Times New Roman" panose="02020603050405020304" pitchFamily="18" charset="0"/>
              </a:rPr>
              <a:t>6. </a:t>
            </a:r>
            <a:r>
              <a:rPr kumimoji="0" lang="zh-CN" altLang="en-US" sz="2000" dirty="0">
                <a:solidFill>
                  <a:srgbClr val="FF0000"/>
                </a:solidFill>
                <a:latin typeface="Times New Roman" panose="02020603050405020304" pitchFamily="18" charset="0"/>
              </a:rPr>
              <a:t>实施验证：</a:t>
            </a:r>
            <a:r>
              <a:rPr kumimoji="0" lang="zh-CN" altLang="en-US" sz="2000" dirty="0">
                <a:latin typeface="Times New Roman" panose="02020603050405020304" pitchFamily="18" charset="0"/>
              </a:rPr>
              <a:t>实施验证是验证执行活动是否与建立的过程一致。实施验证涉及管理的评审和审计以及质量保证活动。</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30B9A698-7AB0-9405-C9BB-B98F84792F69}"/>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3.1.1  SW-CMM</a:t>
            </a:r>
            <a:r>
              <a:rPr lang="zh-CN" altLang="en-US"/>
              <a:t>和</a:t>
            </a:r>
            <a:r>
              <a:rPr lang="en-US" altLang="zh-CN"/>
              <a:t>CMMI </a:t>
            </a:r>
          </a:p>
        </p:txBody>
      </p:sp>
      <p:sp>
        <p:nvSpPr>
          <p:cNvPr id="12291" name="Text Box 3">
            <a:extLst>
              <a:ext uri="{FF2B5EF4-FFF2-40B4-BE49-F238E27FC236}">
                <a16:creationId xmlns:a16="http://schemas.microsoft.com/office/drawing/2014/main" id="{770E2B3D-88E2-925B-7174-21822DB1D847}"/>
              </a:ext>
            </a:extLst>
          </p:cNvPr>
          <p:cNvSpPr txBox="1">
            <a:spLocks noChangeArrowheads="1"/>
          </p:cNvSpPr>
          <p:nvPr/>
        </p:nvSpPr>
        <p:spPr bwMode="auto">
          <a:xfrm>
            <a:off x="1049338" y="2501900"/>
            <a:ext cx="7410450" cy="287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SzPct val="70000"/>
              <a:buFont typeface="Wingdings" panose="05000000000000000000" pitchFamily="2" charset="2"/>
              <a:buChar char="n"/>
            </a:pPr>
            <a:r>
              <a:rPr kumimoji="0" lang="en-US" altLang="zh-CN" sz="2400" dirty="0">
                <a:solidFill>
                  <a:schemeClr val="accent2"/>
                </a:solidFill>
                <a:latin typeface="黑体" panose="02010609060101010101" pitchFamily="49" charset="-122"/>
                <a:ea typeface="黑体" panose="02010609060101010101" pitchFamily="49" charset="-122"/>
              </a:rPr>
              <a:t>  CMMI</a:t>
            </a:r>
            <a:r>
              <a:rPr kumimoji="0" lang="zh-CN" altLang="en-US" sz="2400" dirty="0">
                <a:solidFill>
                  <a:schemeClr val="accent2"/>
                </a:solidFill>
                <a:latin typeface="黑体" panose="02010609060101010101" pitchFamily="49" charset="-122"/>
                <a:ea typeface="黑体" panose="02010609060101010101" pitchFamily="49" charset="-122"/>
              </a:rPr>
              <a:t>简介</a:t>
            </a:r>
            <a:endParaRPr kumimoji="0" lang="zh-CN" altLang="en-US" sz="2400" dirty="0">
              <a:latin typeface="Times New Roman" panose="02020603050405020304" pitchFamily="18" charset="0"/>
            </a:endParaRPr>
          </a:p>
          <a:p>
            <a:pPr>
              <a:spcBef>
                <a:spcPct val="0"/>
              </a:spcBef>
              <a:buSzPct val="70000"/>
              <a:buFont typeface="Wingdings" panose="05000000000000000000" pitchFamily="2" charset="2"/>
              <a:buNone/>
            </a:pPr>
            <a:endParaRPr kumimoji="0" lang="zh-CN" altLang="en-US" sz="900" dirty="0">
              <a:latin typeface="Times New Roman" panose="02020603050405020304" pitchFamily="18" charset="0"/>
            </a:endParaRPr>
          </a:p>
          <a:p>
            <a:pPr>
              <a:lnSpc>
                <a:spcPts val="3000"/>
              </a:lnSpc>
              <a:spcBef>
                <a:spcPct val="0"/>
              </a:spcBef>
              <a:buSzPct val="70000"/>
              <a:buFont typeface="Wingdings" panose="05000000000000000000" pitchFamily="2" charset="2"/>
              <a:buNone/>
            </a:pPr>
            <a:r>
              <a:rPr kumimoji="0" lang="zh-CN" altLang="en-US" sz="2000" dirty="0">
                <a:latin typeface="Times New Roman" panose="02020603050405020304" pitchFamily="18" charset="0"/>
              </a:rPr>
              <a:t>　　由于不同领域能力成熟度模型存在不同的过程改进，重复的培训、评估和改进活动以及活动不协调等一些问题。于是由美国国防部出面，美国卡内基</a:t>
            </a:r>
            <a:r>
              <a:rPr kumimoji="0" lang="en-US" altLang="zh-CN" sz="2000" dirty="0">
                <a:latin typeface="Times New Roman" panose="02020603050405020304" pitchFamily="18" charset="0"/>
              </a:rPr>
              <a:t>·</a:t>
            </a:r>
            <a:r>
              <a:rPr kumimoji="0" lang="zh-CN" altLang="en-US" sz="2000" dirty="0">
                <a:latin typeface="Times New Roman" panose="02020603050405020304" pitchFamily="18" charset="0"/>
              </a:rPr>
              <a:t>梅隆大学软件工程研究所（</a:t>
            </a:r>
            <a:r>
              <a:rPr kumimoji="0" lang="en-US" altLang="zh-CN" sz="2000" dirty="0">
                <a:latin typeface="Times New Roman" panose="02020603050405020304" pitchFamily="18" charset="0"/>
              </a:rPr>
              <a:t>CMU/SEI</a:t>
            </a:r>
            <a:r>
              <a:rPr kumimoji="0" lang="zh-CN" altLang="en-US" sz="2000" dirty="0">
                <a:latin typeface="Times New Roman" panose="02020603050405020304" pitchFamily="18" charset="0"/>
              </a:rPr>
              <a:t>）于</a:t>
            </a:r>
            <a:r>
              <a:rPr kumimoji="0" lang="en-US" altLang="zh-CN" sz="2000" dirty="0">
                <a:latin typeface="Times New Roman" panose="02020603050405020304" pitchFamily="18" charset="0"/>
              </a:rPr>
              <a:t>2001</a:t>
            </a:r>
            <a:r>
              <a:rPr kumimoji="0" lang="zh-CN" altLang="en-US" sz="2000" dirty="0">
                <a:latin typeface="Times New Roman" panose="02020603050405020304" pitchFamily="18" charset="0"/>
              </a:rPr>
              <a:t>年</a:t>
            </a:r>
            <a:r>
              <a:rPr kumimoji="0" lang="en-US" altLang="zh-CN" sz="2000" dirty="0">
                <a:latin typeface="Times New Roman" panose="02020603050405020304" pitchFamily="18" charset="0"/>
              </a:rPr>
              <a:t>12</a:t>
            </a:r>
            <a:r>
              <a:rPr kumimoji="0" lang="zh-CN" altLang="en-US" sz="2000" dirty="0">
                <a:latin typeface="Times New Roman" panose="02020603050405020304" pitchFamily="18" charset="0"/>
              </a:rPr>
              <a:t>月发布的</a:t>
            </a:r>
            <a:r>
              <a:rPr kumimoji="0" lang="en-US" altLang="zh-CN" sz="2000" dirty="0">
                <a:solidFill>
                  <a:srgbClr val="FF0000"/>
                </a:solidFill>
                <a:latin typeface="Times New Roman" panose="02020603050405020304" pitchFamily="18" charset="0"/>
              </a:rPr>
              <a:t>CMM</a:t>
            </a:r>
            <a:r>
              <a:rPr kumimoji="0" lang="en-US" altLang="zh-CN" sz="2000" dirty="0">
                <a:latin typeface="Times New Roman" panose="02020603050405020304" pitchFamily="18" charset="0"/>
              </a:rPr>
              <a:t>I 1.1</a:t>
            </a:r>
            <a:r>
              <a:rPr kumimoji="0" lang="zh-CN" altLang="en-US" sz="2000" dirty="0">
                <a:latin typeface="Times New Roman" panose="02020603050405020304" pitchFamily="18" charset="0"/>
              </a:rPr>
              <a:t>版本包括四个领域：软件工程（</a:t>
            </a:r>
            <a:r>
              <a:rPr kumimoji="0" lang="en-US" altLang="zh-CN" sz="2000" dirty="0">
                <a:latin typeface="Times New Roman" panose="02020603050405020304" pitchFamily="18" charset="0"/>
              </a:rPr>
              <a:t>SW</a:t>
            </a:r>
            <a:r>
              <a:rPr kumimoji="0" lang="zh-CN" altLang="en-US" sz="2000" dirty="0">
                <a:latin typeface="Times New Roman" panose="02020603050405020304" pitchFamily="18" charset="0"/>
              </a:rPr>
              <a:t>）、系统工程（</a:t>
            </a:r>
            <a:r>
              <a:rPr kumimoji="0" lang="en-US" altLang="zh-CN" sz="2000" dirty="0">
                <a:latin typeface="Times New Roman" panose="02020603050405020304" pitchFamily="18" charset="0"/>
              </a:rPr>
              <a:t>SE</a:t>
            </a:r>
            <a:r>
              <a:rPr kumimoji="0" lang="zh-CN" altLang="en-US" sz="2000" dirty="0">
                <a:latin typeface="Times New Roman" panose="02020603050405020304" pitchFamily="18" charset="0"/>
              </a:rPr>
              <a:t>）、集成的产品和过程开发（</a:t>
            </a:r>
            <a:r>
              <a:rPr kumimoji="0" lang="en-US" altLang="zh-CN" sz="2000" dirty="0">
                <a:latin typeface="Times New Roman" panose="02020603050405020304" pitchFamily="18" charset="0"/>
              </a:rPr>
              <a:t>IPPD</a:t>
            </a:r>
            <a:r>
              <a:rPr kumimoji="0" lang="zh-CN" altLang="en-US" sz="2000" dirty="0">
                <a:latin typeface="Times New Roman" panose="02020603050405020304" pitchFamily="18" charset="0"/>
              </a:rPr>
              <a:t>）、采购（</a:t>
            </a:r>
            <a:r>
              <a:rPr kumimoji="0" lang="en-US" altLang="zh-CN" sz="2000" dirty="0">
                <a:latin typeface="Times New Roman" panose="02020603050405020304" pitchFamily="18" charset="0"/>
              </a:rPr>
              <a:t>SS</a:t>
            </a:r>
            <a:r>
              <a:rPr kumimoji="0" lang="zh-CN" altLang="en-US" sz="2000" dirty="0">
                <a:latin typeface="Times New Roman" panose="02020603050405020304" pitchFamily="18" charset="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1EA28EB8-D0C0-1E64-0083-F13F3EB1B805}"/>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3.1.1  SW-CMM</a:t>
            </a:r>
            <a:r>
              <a:rPr lang="zh-CN" altLang="en-US"/>
              <a:t>和</a:t>
            </a:r>
            <a:r>
              <a:rPr lang="en-US" altLang="zh-CN"/>
              <a:t>CMMI </a:t>
            </a:r>
          </a:p>
        </p:txBody>
      </p:sp>
      <p:sp>
        <p:nvSpPr>
          <p:cNvPr id="13315" name="Text Box 3">
            <a:extLst>
              <a:ext uri="{FF2B5EF4-FFF2-40B4-BE49-F238E27FC236}">
                <a16:creationId xmlns:a16="http://schemas.microsoft.com/office/drawing/2014/main" id="{510A6475-2C19-0DF0-2C35-897090ECA315}"/>
              </a:ext>
            </a:extLst>
          </p:cNvPr>
          <p:cNvSpPr txBox="1">
            <a:spLocks noChangeArrowheads="1"/>
          </p:cNvSpPr>
          <p:nvPr/>
        </p:nvSpPr>
        <p:spPr bwMode="auto">
          <a:xfrm>
            <a:off x="1004888" y="2179638"/>
            <a:ext cx="7410450" cy="428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nSpc>
                <a:spcPts val="3000"/>
              </a:lnSpc>
              <a:spcBef>
                <a:spcPct val="0"/>
              </a:spcBef>
              <a:buSzPct val="70000"/>
              <a:buFont typeface="Wingdings" panose="05000000000000000000" pitchFamily="2" charset="2"/>
              <a:buChar char="n"/>
            </a:pPr>
            <a:r>
              <a:rPr kumimoji="0" lang="en-US" altLang="zh-CN" sz="2400" b="0" dirty="0">
                <a:latin typeface="Times New Roman" panose="02020603050405020304" pitchFamily="18" charset="0"/>
              </a:rPr>
              <a:t>    </a:t>
            </a:r>
            <a:r>
              <a:rPr kumimoji="0" lang="en-US" altLang="zh-CN" sz="2400" dirty="0">
                <a:solidFill>
                  <a:schemeClr val="accent2"/>
                </a:solidFill>
                <a:latin typeface="黑体" panose="02010609060101010101" pitchFamily="49" charset="-122"/>
                <a:ea typeface="黑体" panose="02010609060101010101" pitchFamily="49" charset="-122"/>
              </a:rPr>
              <a:t>CMMI</a:t>
            </a:r>
            <a:r>
              <a:rPr kumimoji="0" lang="zh-CN" altLang="en-US" sz="2400" dirty="0">
                <a:solidFill>
                  <a:schemeClr val="accent2"/>
                </a:solidFill>
                <a:latin typeface="黑体" panose="02010609060101010101" pitchFamily="49" charset="-122"/>
                <a:ea typeface="黑体" panose="02010609060101010101" pitchFamily="49" charset="-122"/>
              </a:rPr>
              <a:t>有两种不同的实施方法</a:t>
            </a:r>
          </a:p>
          <a:p>
            <a:pPr lvl="1">
              <a:lnSpc>
                <a:spcPts val="3000"/>
              </a:lnSpc>
              <a:spcBef>
                <a:spcPct val="0"/>
              </a:spcBef>
              <a:buSzPct val="70000"/>
              <a:buFont typeface="Wingdings" panose="05000000000000000000" pitchFamily="2" charset="2"/>
              <a:buChar char="n"/>
            </a:pPr>
            <a:r>
              <a:rPr kumimoji="0" lang="zh-CN" altLang="en-US" sz="2000" dirty="0">
                <a:latin typeface="Times New Roman" panose="02020603050405020304" pitchFamily="18" charset="0"/>
              </a:rPr>
              <a:t>连续式－－主要是衡量一个企业的项目能力</a:t>
            </a:r>
          </a:p>
          <a:p>
            <a:pPr lvl="1">
              <a:lnSpc>
                <a:spcPts val="3000"/>
              </a:lnSpc>
              <a:spcBef>
                <a:spcPct val="0"/>
              </a:spcBef>
              <a:buSzPct val="70000"/>
              <a:buFont typeface="Wingdings" panose="05000000000000000000" pitchFamily="2" charset="2"/>
              <a:buChar char="n"/>
            </a:pPr>
            <a:r>
              <a:rPr kumimoji="0" lang="zh-CN" altLang="en-US" sz="2000" dirty="0">
                <a:latin typeface="Times New Roman" panose="02020603050405020304" pitchFamily="18" charset="0"/>
              </a:rPr>
              <a:t>阶段式－－主要是衡量一个企业的成熟度</a:t>
            </a:r>
          </a:p>
          <a:p>
            <a:pPr>
              <a:lnSpc>
                <a:spcPts val="3000"/>
              </a:lnSpc>
              <a:spcBef>
                <a:spcPct val="0"/>
              </a:spcBef>
              <a:buSzPct val="70000"/>
              <a:buFont typeface="Wingdings" panose="05000000000000000000" pitchFamily="2" charset="2"/>
              <a:buChar char="n"/>
            </a:pPr>
            <a:r>
              <a:rPr kumimoji="0" lang="zh-CN" altLang="en-US" sz="2400" b="0" dirty="0">
                <a:latin typeface="Times New Roman" panose="02020603050405020304" pitchFamily="18" charset="0"/>
              </a:rPr>
              <a:t>    </a:t>
            </a:r>
            <a:r>
              <a:rPr kumimoji="0" lang="en-US" altLang="zh-CN" sz="2400" dirty="0">
                <a:solidFill>
                  <a:schemeClr val="accent2"/>
                </a:solidFill>
                <a:latin typeface="黑体" panose="02010609060101010101" pitchFamily="49" charset="-122"/>
                <a:ea typeface="黑体" panose="02010609060101010101" pitchFamily="49" charset="-122"/>
              </a:rPr>
              <a:t>CMMI</a:t>
            </a:r>
            <a:r>
              <a:rPr kumimoji="0" lang="zh-CN" altLang="en-US" sz="2400" dirty="0">
                <a:solidFill>
                  <a:schemeClr val="accent2"/>
                </a:solidFill>
                <a:latin typeface="黑体" panose="02010609060101010101" pitchFamily="49" charset="-122"/>
                <a:ea typeface="黑体" panose="02010609060101010101" pitchFamily="49" charset="-122"/>
              </a:rPr>
              <a:t>的五个台阶</a:t>
            </a:r>
          </a:p>
          <a:p>
            <a:pPr lvl="1">
              <a:lnSpc>
                <a:spcPts val="3000"/>
              </a:lnSpc>
              <a:spcBef>
                <a:spcPct val="0"/>
              </a:spcBef>
              <a:buSzPct val="70000"/>
              <a:buFont typeface="Wingdings" panose="05000000000000000000" pitchFamily="2" charset="2"/>
              <a:buChar char="n"/>
            </a:pPr>
            <a:r>
              <a:rPr kumimoji="0" lang="zh-CN" altLang="en-US" sz="2000" dirty="0">
                <a:solidFill>
                  <a:srgbClr val="FF0000"/>
                </a:solidFill>
                <a:latin typeface="宋体" panose="02010600030101010101" pitchFamily="2" charset="-122"/>
              </a:rPr>
              <a:t> 完成级</a:t>
            </a:r>
          </a:p>
          <a:p>
            <a:pPr lvl="1">
              <a:lnSpc>
                <a:spcPts val="3000"/>
              </a:lnSpc>
              <a:spcBef>
                <a:spcPct val="0"/>
              </a:spcBef>
              <a:buSzPct val="70000"/>
              <a:buFont typeface="Wingdings" panose="05000000000000000000" pitchFamily="2" charset="2"/>
              <a:buChar char="n"/>
            </a:pPr>
            <a:r>
              <a:rPr kumimoji="0" lang="zh-CN" altLang="en-US" sz="2000" dirty="0">
                <a:solidFill>
                  <a:srgbClr val="FF0000"/>
                </a:solidFill>
                <a:latin typeface="宋体" panose="02010600030101010101" pitchFamily="2" charset="-122"/>
              </a:rPr>
              <a:t> 管理级 </a:t>
            </a:r>
          </a:p>
          <a:p>
            <a:pPr lvl="1">
              <a:lnSpc>
                <a:spcPts val="3000"/>
              </a:lnSpc>
              <a:spcBef>
                <a:spcPct val="0"/>
              </a:spcBef>
              <a:buSzPct val="70000"/>
              <a:buFont typeface="Wingdings" panose="05000000000000000000" pitchFamily="2" charset="2"/>
              <a:buChar char="n"/>
            </a:pPr>
            <a:r>
              <a:rPr kumimoji="0" lang="zh-CN" altLang="en-US" sz="2000" dirty="0">
                <a:solidFill>
                  <a:srgbClr val="FF0000"/>
                </a:solidFill>
                <a:latin typeface="宋体" panose="02010600030101010101" pitchFamily="2" charset="-122"/>
              </a:rPr>
              <a:t> 定义级 </a:t>
            </a:r>
          </a:p>
          <a:p>
            <a:pPr lvl="1">
              <a:lnSpc>
                <a:spcPts val="3000"/>
              </a:lnSpc>
              <a:spcBef>
                <a:spcPct val="0"/>
              </a:spcBef>
              <a:buSzPct val="70000"/>
              <a:buFont typeface="Wingdings" panose="05000000000000000000" pitchFamily="2" charset="2"/>
              <a:buChar char="n"/>
            </a:pPr>
            <a:r>
              <a:rPr kumimoji="0" lang="zh-CN" altLang="en-US" sz="2000" dirty="0">
                <a:solidFill>
                  <a:srgbClr val="FF0000"/>
                </a:solidFill>
                <a:latin typeface="宋体" panose="02010600030101010101" pitchFamily="2" charset="-122"/>
              </a:rPr>
              <a:t> 量化管理级 </a:t>
            </a:r>
          </a:p>
          <a:p>
            <a:pPr lvl="1">
              <a:lnSpc>
                <a:spcPts val="3000"/>
              </a:lnSpc>
              <a:spcBef>
                <a:spcPct val="0"/>
              </a:spcBef>
              <a:buSzPct val="70000"/>
              <a:buFont typeface="Wingdings" panose="05000000000000000000" pitchFamily="2" charset="2"/>
              <a:buChar char="n"/>
            </a:pPr>
            <a:r>
              <a:rPr kumimoji="0" lang="zh-CN" altLang="en-US" sz="2000" dirty="0">
                <a:solidFill>
                  <a:srgbClr val="FF0000"/>
                </a:solidFill>
                <a:latin typeface="宋体" panose="02010600030101010101" pitchFamily="2" charset="-122"/>
              </a:rPr>
              <a:t> 优化级</a:t>
            </a:r>
            <a:r>
              <a:rPr kumimoji="0" lang="zh-CN" altLang="en-US" sz="2000" b="0" dirty="0">
                <a:solidFill>
                  <a:srgbClr val="FF0000"/>
                </a:solidFill>
                <a:latin typeface="Times New Roman" panose="02020603050405020304" pitchFamily="18" charset="0"/>
              </a:rPr>
              <a:t> </a:t>
            </a:r>
          </a:p>
          <a:p>
            <a:pPr>
              <a:lnSpc>
                <a:spcPts val="3000"/>
              </a:lnSpc>
              <a:spcBef>
                <a:spcPct val="0"/>
              </a:spcBef>
              <a:buSzPct val="70000"/>
              <a:buFont typeface="Wingdings" panose="05000000000000000000" pitchFamily="2" charset="2"/>
              <a:buChar char="n"/>
            </a:pPr>
            <a:r>
              <a:rPr kumimoji="0" lang="zh-CN" altLang="en-US" sz="2400" b="0" dirty="0">
                <a:latin typeface="Times New Roman" panose="02020603050405020304" pitchFamily="18" charset="0"/>
              </a:rPr>
              <a:t>    </a:t>
            </a:r>
            <a:r>
              <a:rPr kumimoji="0" lang="zh-CN" altLang="en-US" sz="2400" dirty="0">
                <a:solidFill>
                  <a:schemeClr val="accent2"/>
                </a:solidFill>
                <a:latin typeface="Times New Roman" panose="02020603050405020304" pitchFamily="18" charset="0"/>
                <a:ea typeface="黑体" panose="02010609060101010101" pitchFamily="49" charset="-122"/>
              </a:rPr>
              <a:t>每一个台阶都是上面一阶台阶的基石。要上高层台阶必须首先踏上较低一层台阶</a:t>
            </a:r>
            <a:r>
              <a:rPr kumimoji="0" lang="zh-CN" altLang="en-US" sz="2400" dirty="0">
                <a:solidFill>
                  <a:schemeClr val="accent2"/>
                </a:solidFill>
                <a:latin typeface="Times New Roman" panose="02020603050405020304" pitchFamily="18" charset="0"/>
              </a:rPr>
              <a:t>。</a:t>
            </a:r>
            <a:r>
              <a:rPr kumimoji="0" lang="zh-CN" altLang="en-US" sz="2400" b="0" dirty="0">
                <a:latin typeface="Times New Roman" panose="02020603050405020304" pitchFamily="18" charset="0"/>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8EA50758-51F5-25FF-EA28-E7EC02486809}"/>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3.1.1  SW-CMM</a:t>
            </a:r>
            <a:r>
              <a:rPr lang="zh-CN" altLang="en-US"/>
              <a:t>和</a:t>
            </a:r>
            <a:r>
              <a:rPr lang="en-US" altLang="zh-CN"/>
              <a:t>CMMI </a:t>
            </a:r>
          </a:p>
        </p:txBody>
      </p:sp>
      <p:sp>
        <p:nvSpPr>
          <p:cNvPr id="14339" name="Text Box 3">
            <a:extLst>
              <a:ext uri="{FF2B5EF4-FFF2-40B4-BE49-F238E27FC236}">
                <a16:creationId xmlns:a16="http://schemas.microsoft.com/office/drawing/2014/main" id="{B53A23CD-0F38-148C-0C05-A714E2F1B9C3}"/>
              </a:ext>
            </a:extLst>
          </p:cNvPr>
          <p:cNvSpPr txBox="1">
            <a:spLocks noChangeArrowheads="1"/>
          </p:cNvSpPr>
          <p:nvPr/>
        </p:nvSpPr>
        <p:spPr bwMode="auto">
          <a:xfrm>
            <a:off x="1004888" y="2179638"/>
            <a:ext cx="7410450" cy="465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nSpc>
                <a:spcPts val="3000"/>
              </a:lnSpc>
              <a:spcBef>
                <a:spcPct val="0"/>
              </a:spcBef>
              <a:buSzPct val="70000"/>
              <a:buFont typeface="Wingdings" panose="05000000000000000000" pitchFamily="2" charset="2"/>
              <a:buChar char="n"/>
            </a:pPr>
            <a:r>
              <a:rPr kumimoji="0" lang="en-US" altLang="zh-CN" sz="2400" dirty="0">
                <a:solidFill>
                  <a:schemeClr val="accent2"/>
                </a:solidFill>
                <a:latin typeface="黑体" panose="02010609060101010101" pitchFamily="49" charset="-122"/>
                <a:ea typeface="黑体" panose="02010609060101010101" pitchFamily="49" charset="-122"/>
              </a:rPr>
              <a:t>CMMI</a:t>
            </a:r>
            <a:r>
              <a:rPr kumimoji="0" lang="zh-CN" altLang="en-US" sz="2400" dirty="0">
                <a:solidFill>
                  <a:schemeClr val="accent2"/>
                </a:solidFill>
                <a:latin typeface="黑体" panose="02010609060101010101" pitchFamily="49" charset="-122"/>
                <a:ea typeface="黑体" panose="02010609060101010101" pitchFamily="49" charset="-122"/>
              </a:rPr>
              <a:t>的五个台阶</a:t>
            </a:r>
          </a:p>
          <a:p>
            <a:pPr lvl="1">
              <a:lnSpc>
                <a:spcPts val="3000"/>
              </a:lnSpc>
              <a:spcBef>
                <a:spcPct val="0"/>
              </a:spcBef>
              <a:buSzPct val="70000"/>
              <a:buFont typeface="Wingdings" panose="05000000000000000000" pitchFamily="2" charset="2"/>
              <a:buChar char="n"/>
            </a:pPr>
            <a:r>
              <a:rPr kumimoji="0" lang="zh-CN" altLang="en-US" sz="2000" dirty="0">
                <a:solidFill>
                  <a:srgbClr val="FF0000"/>
                </a:solidFill>
                <a:latin typeface="宋体" panose="02010600030101010101" pitchFamily="2" charset="-122"/>
              </a:rPr>
              <a:t> 完成级：</a:t>
            </a:r>
            <a:r>
              <a:rPr kumimoji="0" lang="zh-CN" altLang="en-US" sz="2000" dirty="0">
                <a:latin typeface="宋体" panose="02010600030101010101" pitchFamily="2" charset="-122"/>
              </a:rPr>
              <a:t>在完成级水平上，企业对项目的目标与要做的努力很清晰，项目的目标得以实现，但是由于任务的</a:t>
            </a:r>
            <a:r>
              <a:rPr kumimoji="0" lang="zh-CN" altLang="en-US" sz="2000" dirty="0">
                <a:solidFill>
                  <a:srgbClr val="FF0000"/>
                </a:solidFill>
                <a:latin typeface="宋体" panose="02010600030101010101" pitchFamily="2" charset="-122"/>
              </a:rPr>
              <a:t>完成带有很大的偶然性</a:t>
            </a:r>
            <a:r>
              <a:rPr kumimoji="0" lang="zh-CN" altLang="en-US" sz="2000" dirty="0">
                <a:latin typeface="宋体" panose="02010600030101010101" pitchFamily="2" charset="-122"/>
              </a:rPr>
              <a:t>，企业无法保证在实施同类项目的时候仍然能够完成任务，项目实施对实施人员有很大的依赖性。</a:t>
            </a:r>
          </a:p>
          <a:p>
            <a:pPr lvl="1">
              <a:lnSpc>
                <a:spcPts val="3000"/>
              </a:lnSpc>
              <a:spcBef>
                <a:spcPct val="0"/>
              </a:spcBef>
              <a:buSzPct val="70000"/>
              <a:buFont typeface="Wingdings" panose="05000000000000000000" pitchFamily="2" charset="2"/>
              <a:buChar char="n"/>
            </a:pPr>
            <a:r>
              <a:rPr kumimoji="0" lang="zh-CN" altLang="en-US" sz="2000" dirty="0">
                <a:solidFill>
                  <a:srgbClr val="FF0000"/>
                </a:solidFill>
                <a:latin typeface="宋体" panose="02010600030101010101" pitchFamily="2" charset="-122"/>
              </a:rPr>
              <a:t> 管理级：</a:t>
            </a:r>
            <a:r>
              <a:rPr kumimoji="0" lang="zh-CN" altLang="en-US" sz="2000" dirty="0">
                <a:latin typeface="宋体" panose="02010600030101010101" pitchFamily="2" charset="-122"/>
              </a:rPr>
              <a:t>在管理级水平上，企业在项目实施上能够遵守既定的计划与流程，又资源准备，权责到人，对相关的项目实施人员有相应的培训，对整个流程有监测与控制，并与上级单位一起对项目与流程进行审查。</a:t>
            </a:r>
            <a:r>
              <a:rPr kumimoji="0" lang="zh-CN" altLang="en-US" sz="2000" dirty="0">
                <a:solidFill>
                  <a:srgbClr val="FF0000"/>
                </a:solidFill>
                <a:latin typeface="宋体" panose="02010600030101010101" pitchFamily="2" charset="-122"/>
              </a:rPr>
              <a:t>企业在管理级水平上体现了对项目的一系列的管理程序。</a:t>
            </a:r>
            <a:r>
              <a:rPr kumimoji="0" lang="zh-CN" altLang="en-US" sz="2000" dirty="0">
                <a:latin typeface="宋体" panose="02010600030101010101" pitchFamily="2" charset="-122"/>
              </a:rPr>
              <a:t>这一系列的管理手段排除了企业在完成级时完成任务的随机性，保证了企业的所有项目实施都会得到成功。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9375E8C-8EBE-4A3E-4768-AFFA698203D0}"/>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3.1.1  SW-CMM</a:t>
            </a:r>
            <a:r>
              <a:rPr lang="zh-CN" altLang="en-US"/>
              <a:t>和</a:t>
            </a:r>
            <a:r>
              <a:rPr lang="en-US" altLang="zh-CN"/>
              <a:t>CMMI </a:t>
            </a:r>
          </a:p>
        </p:txBody>
      </p:sp>
      <p:sp>
        <p:nvSpPr>
          <p:cNvPr id="15363" name="Text Box 3">
            <a:extLst>
              <a:ext uri="{FF2B5EF4-FFF2-40B4-BE49-F238E27FC236}">
                <a16:creationId xmlns:a16="http://schemas.microsoft.com/office/drawing/2014/main" id="{1F85F653-DD6C-B427-8D1D-5EA2F13BBAAB}"/>
              </a:ext>
            </a:extLst>
          </p:cNvPr>
          <p:cNvSpPr txBox="1">
            <a:spLocks noChangeArrowheads="1"/>
          </p:cNvSpPr>
          <p:nvPr/>
        </p:nvSpPr>
        <p:spPr bwMode="auto">
          <a:xfrm>
            <a:off x="1004888" y="2179638"/>
            <a:ext cx="7410450" cy="427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nSpc>
                <a:spcPts val="3000"/>
              </a:lnSpc>
              <a:spcBef>
                <a:spcPct val="0"/>
              </a:spcBef>
              <a:buSzPct val="70000"/>
              <a:buFont typeface="Wingdings" panose="05000000000000000000" pitchFamily="2" charset="2"/>
              <a:buChar char="n"/>
            </a:pPr>
            <a:r>
              <a:rPr kumimoji="0" lang="en-US" altLang="zh-CN" sz="2400" dirty="0">
                <a:solidFill>
                  <a:schemeClr val="accent2"/>
                </a:solidFill>
                <a:latin typeface="黑体" panose="02010609060101010101" pitchFamily="49" charset="-122"/>
                <a:ea typeface="黑体" panose="02010609060101010101" pitchFamily="49" charset="-122"/>
              </a:rPr>
              <a:t>CMMI</a:t>
            </a:r>
            <a:r>
              <a:rPr kumimoji="0" lang="zh-CN" altLang="en-US" sz="2400" dirty="0">
                <a:solidFill>
                  <a:schemeClr val="accent2"/>
                </a:solidFill>
                <a:latin typeface="黑体" panose="02010609060101010101" pitchFamily="49" charset="-122"/>
                <a:ea typeface="黑体" panose="02010609060101010101" pitchFamily="49" charset="-122"/>
              </a:rPr>
              <a:t>的五个台阶</a:t>
            </a:r>
          </a:p>
          <a:p>
            <a:pPr lvl="1">
              <a:lnSpc>
                <a:spcPts val="3000"/>
              </a:lnSpc>
              <a:spcBef>
                <a:spcPct val="0"/>
              </a:spcBef>
              <a:buSzPct val="70000"/>
              <a:buFont typeface="Wingdings" panose="05000000000000000000" pitchFamily="2" charset="2"/>
              <a:buChar char="n"/>
            </a:pPr>
            <a:r>
              <a:rPr kumimoji="0" lang="zh-CN" altLang="en-US" sz="2000" dirty="0">
                <a:solidFill>
                  <a:srgbClr val="FF0000"/>
                </a:solidFill>
                <a:latin typeface="宋体" panose="02010600030101010101" pitchFamily="2" charset="-122"/>
              </a:rPr>
              <a:t>定义级：</a:t>
            </a:r>
            <a:r>
              <a:rPr kumimoji="0" lang="zh-CN" altLang="en-US" sz="2000" dirty="0">
                <a:latin typeface="宋体" panose="02010600030101010101" pitchFamily="2" charset="-122"/>
              </a:rPr>
              <a:t>在定义级水平上，</a:t>
            </a:r>
            <a:r>
              <a:rPr kumimoji="0" lang="zh-CN" altLang="en-US" sz="2000" dirty="0">
                <a:solidFill>
                  <a:srgbClr val="FF0000"/>
                </a:solidFill>
                <a:latin typeface="宋体" panose="02010600030101010101" pitchFamily="2" charset="-122"/>
              </a:rPr>
              <a:t>企业不仅能够对项目的实施有一整套的管理措施，保证项目的完成</a:t>
            </a:r>
            <a:r>
              <a:rPr kumimoji="0" lang="zh-CN" altLang="en-US" sz="2000" dirty="0">
                <a:latin typeface="宋体" panose="02010600030101010101" pitchFamily="2" charset="-122"/>
              </a:rPr>
              <a:t>；而且，企业能够根据自身的特殊情况以及自己的标准流程，</a:t>
            </a:r>
            <a:r>
              <a:rPr kumimoji="0" lang="zh-CN" altLang="en-US" sz="2000" dirty="0">
                <a:solidFill>
                  <a:srgbClr val="FF0000"/>
                </a:solidFill>
                <a:latin typeface="宋体" panose="02010600030101010101" pitchFamily="2" charset="-122"/>
              </a:rPr>
              <a:t>将这套管理体系与流程予以制度化</a:t>
            </a:r>
            <a:r>
              <a:rPr kumimoji="0" lang="zh-CN" altLang="en-US" sz="2000" dirty="0">
                <a:latin typeface="宋体" panose="02010600030101010101" pitchFamily="2" charset="-122"/>
              </a:rPr>
              <a:t>。这样，企业不仅能够在同类的项目上得到成功的实施，在不同类项目上一样能够得到成功的实施。科学的管理成为企业的一种文化，成为企业的组织财富。 </a:t>
            </a:r>
          </a:p>
          <a:p>
            <a:pPr lvl="1">
              <a:lnSpc>
                <a:spcPts val="3000"/>
              </a:lnSpc>
              <a:spcBef>
                <a:spcPct val="0"/>
              </a:spcBef>
              <a:buSzPct val="70000"/>
              <a:buFont typeface="Wingdings" panose="05000000000000000000" pitchFamily="2" charset="2"/>
              <a:buChar char="n"/>
            </a:pPr>
            <a:r>
              <a:rPr kumimoji="0" lang="zh-CN" altLang="en-US" sz="2000" dirty="0">
                <a:solidFill>
                  <a:srgbClr val="FF0000"/>
                </a:solidFill>
                <a:latin typeface="宋体" panose="02010600030101010101" pitchFamily="2" charset="-122"/>
              </a:rPr>
              <a:t> 量化管理级：</a:t>
            </a:r>
            <a:r>
              <a:rPr kumimoji="0" lang="zh-CN" altLang="en-US" sz="2000" dirty="0">
                <a:latin typeface="宋体" panose="02010600030101010101" pitchFamily="2" charset="-122"/>
              </a:rPr>
              <a:t>在量化管理级水平上，</a:t>
            </a:r>
            <a:r>
              <a:rPr kumimoji="0" lang="zh-CN" altLang="en-US" sz="2000" dirty="0">
                <a:solidFill>
                  <a:srgbClr val="FF0000"/>
                </a:solidFill>
                <a:latin typeface="宋体" panose="02010600030101010101" pitchFamily="2" charset="-122"/>
              </a:rPr>
              <a:t>企业的项目管理不仅形成了一种制度，而且要实现数字化的管理，对管理流程要做到量化与数字化</a:t>
            </a:r>
            <a:r>
              <a:rPr kumimoji="0" lang="zh-CN" altLang="en-US" sz="2000" dirty="0">
                <a:latin typeface="宋体" panose="02010600030101010101" pitchFamily="2" charset="-122"/>
              </a:rPr>
              <a:t>。通过量化技术来实现流程的稳定性，实现管理的精度，降低项目实施在质量上的波动。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C6D7562-8C55-C76D-B350-7B04EC97EE56}"/>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3.1.1  SW-CMM</a:t>
            </a:r>
            <a:r>
              <a:rPr lang="zh-CN" altLang="en-US"/>
              <a:t>和</a:t>
            </a:r>
            <a:r>
              <a:rPr lang="en-US" altLang="zh-CN"/>
              <a:t>CMMI </a:t>
            </a:r>
          </a:p>
        </p:txBody>
      </p:sp>
      <p:sp>
        <p:nvSpPr>
          <p:cNvPr id="16387" name="Text Box 3">
            <a:extLst>
              <a:ext uri="{FF2B5EF4-FFF2-40B4-BE49-F238E27FC236}">
                <a16:creationId xmlns:a16="http://schemas.microsoft.com/office/drawing/2014/main" id="{24F7A810-CFEE-F93E-8093-95ECA206F74C}"/>
              </a:ext>
            </a:extLst>
          </p:cNvPr>
          <p:cNvSpPr txBox="1">
            <a:spLocks noChangeArrowheads="1"/>
          </p:cNvSpPr>
          <p:nvPr/>
        </p:nvSpPr>
        <p:spPr bwMode="auto">
          <a:xfrm>
            <a:off x="1004888" y="2179638"/>
            <a:ext cx="741045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nSpc>
                <a:spcPts val="3000"/>
              </a:lnSpc>
              <a:spcBef>
                <a:spcPct val="0"/>
              </a:spcBef>
              <a:buSzPct val="70000"/>
              <a:buFont typeface="Wingdings" panose="05000000000000000000" pitchFamily="2" charset="2"/>
              <a:buChar char="n"/>
            </a:pPr>
            <a:r>
              <a:rPr kumimoji="0" lang="en-US" altLang="zh-CN" sz="2400" dirty="0">
                <a:solidFill>
                  <a:schemeClr val="accent2"/>
                </a:solidFill>
                <a:latin typeface="黑体" panose="02010609060101010101" pitchFamily="49" charset="-122"/>
                <a:ea typeface="黑体" panose="02010609060101010101" pitchFamily="49" charset="-122"/>
              </a:rPr>
              <a:t>CMMI</a:t>
            </a:r>
            <a:r>
              <a:rPr kumimoji="0" lang="zh-CN" altLang="en-US" sz="2400" dirty="0">
                <a:solidFill>
                  <a:schemeClr val="accent2"/>
                </a:solidFill>
                <a:latin typeface="黑体" panose="02010609060101010101" pitchFamily="49" charset="-122"/>
                <a:ea typeface="黑体" panose="02010609060101010101" pitchFamily="49" charset="-122"/>
              </a:rPr>
              <a:t>的五个台阶</a:t>
            </a:r>
          </a:p>
          <a:p>
            <a:pPr lvl="1">
              <a:lnSpc>
                <a:spcPts val="3000"/>
              </a:lnSpc>
              <a:spcBef>
                <a:spcPct val="0"/>
              </a:spcBef>
              <a:buSzPct val="70000"/>
              <a:buFont typeface="Wingdings" panose="05000000000000000000" pitchFamily="2" charset="2"/>
              <a:buChar char="n"/>
            </a:pPr>
            <a:r>
              <a:rPr kumimoji="0" lang="zh-CN" altLang="en-US" sz="2000" dirty="0">
                <a:solidFill>
                  <a:srgbClr val="FF0000"/>
                </a:solidFill>
                <a:latin typeface="宋体" panose="02010600030101010101" pitchFamily="2" charset="-122"/>
              </a:rPr>
              <a:t>优化级：</a:t>
            </a:r>
            <a:r>
              <a:rPr kumimoji="0" lang="zh-CN" altLang="en-US" sz="2000" dirty="0">
                <a:latin typeface="宋体" panose="02010600030101010101" pitchFamily="2" charset="-122"/>
              </a:rPr>
              <a:t>在优化级水平上，企业的项目管理达到了最高的境界。企业不仅</a:t>
            </a:r>
            <a:r>
              <a:rPr kumimoji="0" lang="zh-CN" altLang="en-US" sz="2000" dirty="0">
                <a:solidFill>
                  <a:srgbClr val="FF0000"/>
                </a:solidFill>
                <a:latin typeface="宋体" panose="02010600030101010101" pitchFamily="2" charset="-122"/>
              </a:rPr>
              <a:t>能够通过信息手段与数字化手段来实现对项目的管</a:t>
            </a:r>
            <a:r>
              <a:rPr kumimoji="0" lang="zh-CN" altLang="en-US" sz="2000" dirty="0">
                <a:latin typeface="宋体" panose="02010600030101010101" pitchFamily="2" charset="-122"/>
              </a:rPr>
              <a:t>理，而且能够充分利用信息资料，对企业在项目实施的过程中可能出现的次品予以预防。</a:t>
            </a:r>
            <a:r>
              <a:rPr kumimoji="0" lang="zh-CN" altLang="en-US" sz="2000" dirty="0">
                <a:solidFill>
                  <a:srgbClr val="FF0000"/>
                </a:solidFill>
                <a:latin typeface="宋体" panose="02010600030101010101" pitchFamily="2" charset="-122"/>
              </a:rPr>
              <a:t>能够主动地改善流程，运用新技术，实现流程的优化</a:t>
            </a:r>
            <a:r>
              <a:rPr kumimoji="0" lang="zh-CN" altLang="en-US" sz="2000" dirty="0">
                <a:latin typeface="宋体" panose="02010600030101010101" pitchFamily="2" charset="-122"/>
              </a:rPr>
              <a:t>。</a:t>
            </a:r>
            <a:r>
              <a:rPr kumimoji="0" lang="zh-CN" altLang="en-US" sz="2000" b="0" dirty="0">
                <a:latin typeface="Times New Roman" panose="02020603050405020304" pitchFamily="18" charset="0"/>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BA4B1-B284-5AA9-140E-05262C33D3A4}"/>
              </a:ext>
            </a:extLst>
          </p:cNvPr>
          <p:cNvSpPr>
            <a:spLocks noGrp="1"/>
          </p:cNvSpPr>
          <p:nvPr>
            <p:ph type="title"/>
          </p:nvPr>
        </p:nvSpPr>
        <p:spPr/>
        <p:txBody>
          <a:bodyPr/>
          <a:lstStyle/>
          <a:p>
            <a:endParaRPr lang="zh-CN" altLang="en-US"/>
          </a:p>
        </p:txBody>
      </p:sp>
      <p:pic>
        <p:nvPicPr>
          <p:cNvPr id="7" name="内容占位符 6">
            <a:extLst>
              <a:ext uri="{FF2B5EF4-FFF2-40B4-BE49-F238E27FC236}">
                <a16:creationId xmlns:a16="http://schemas.microsoft.com/office/drawing/2014/main" id="{3F33E34F-B3C7-E800-7305-9A6E2530C3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31915" y="123370"/>
            <a:ext cx="4485427" cy="6329966"/>
          </a:xfrm>
        </p:spPr>
      </p:pic>
      <p:pic>
        <p:nvPicPr>
          <p:cNvPr id="5" name="图片 4">
            <a:extLst>
              <a:ext uri="{FF2B5EF4-FFF2-40B4-BE49-F238E27FC236}">
                <a16:creationId xmlns:a16="http://schemas.microsoft.com/office/drawing/2014/main" id="{8F690356-225A-B0A9-8B0B-3B69C2654A8D}"/>
              </a:ext>
            </a:extLst>
          </p:cNvPr>
          <p:cNvPicPr>
            <a:picLocks noChangeAspect="1"/>
          </p:cNvPicPr>
          <p:nvPr/>
        </p:nvPicPr>
        <p:blipFill>
          <a:blip r:embed="rId3"/>
          <a:stretch>
            <a:fillRect/>
          </a:stretch>
        </p:blipFill>
        <p:spPr>
          <a:xfrm>
            <a:off x="179387" y="128464"/>
            <a:ext cx="4752528" cy="6601072"/>
          </a:xfrm>
          <a:prstGeom prst="rect">
            <a:avLst/>
          </a:prstGeom>
        </p:spPr>
      </p:pic>
    </p:spTree>
    <p:extLst>
      <p:ext uri="{BB962C8B-B14F-4D97-AF65-F5344CB8AC3E}">
        <p14:creationId xmlns:p14="http://schemas.microsoft.com/office/powerpoint/2010/main" val="3437563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364C3F36-33C2-E5A9-1CA9-C549665BB34B}"/>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3.1.2  </a:t>
            </a:r>
            <a:r>
              <a:rPr kumimoji="1" lang="en-US" altLang="zh-CN"/>
              <a:t>ISO9000</a:t>
            </a:r>
            <a:r>
              <a:rPr kumimoji="1" lang="zh-CN" altLang="en-US"/>
              <a:t>质量标准 </a:t>
            </a:r>
          </a:p>
        </p:txBody>
      </p:sp>
      <p:sp>
        <p:nvSpPr>
          <p:cNvPr id="17411" name="Text Box 50">
            <a:extLst>
              <a:ext uri="{FF2B5EF4-FFF2-40B4-BE49-F238E27FC236}">
                <a16:creationId xmlns:a16="http://schemas.microsoft.com/office/drawing/2014/main" id="{DEACCF0B-52A9-09AD-722C-C4BAA8EAE353}"/>
              </a:ext>
            </a:extLst>
          </p:cNvPr>
          <p:cNvSpPr txBox="1">
            <a:spLocks noChangeArrowheads="1"/>
          </p:cNvSpPr>
          <p:nvPr/>
        </p:nvSpPr>
        <p:spPr bwMode="auto">
          <a:xfrm>
            <a:off x="954088" y="2033588"/>
            <a:ext cx="7921625" cy="127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en-US" altLang="zh-CN" sz="2400" b="0">
                <a:latin typeface="黑体" panose="02010609060101010101" pitchFamily="49" charset="-122"/>
                <a:ea typeface="黑体" panose="02010609060101010101" pitchFamily="49" charset="-122"/>
              </a:rPr>
              <a:t>  </a:t>
            </a:r>
            <a:r>
              <a:rPr lang="en-US" altLang="zh-CN" sz="2400">
                <a:solidFill>
                  <a:schemeClr val="accent2"/>
                </a:solidFill>
                <a:latin typeface="黑体" panose="02010609060101010101" pitchFamily="49" charset="-122"/>
                <a:ea typeface="黑体" panose="02010609060101010101" pitchFamily="49" charset="-122"/>
              </a:rPr>
              <a:t>ISO9000</a:t>
            </a:r>
          </a:p>
          <a:p>
            <a:pPr eaLnBrk="1" hangingPunct="1">
              <a:spcBef>
                <a:spcPct val="50000"/>
              </a:spcBef>
              <a:buSzPct val="70000"/>
              <a:buFont typeface="Wingdings" panose="05000000000000000000" pitchFamily="2" charset="2"/>
              <a:buNone/>
            </a:pPr>
            <a:r>
              <a:rPr lang="en-US" altLang="zh-CN" sz="2000" b="0">
                <a:latin typeface="黑体" panose="02010609060101010101" pitchFamily="49" charset="-122"/>
                <a:ea typeface="黑体" panose="02010609060101010101" pitchFamily="49" charset="-122"/>
              </a:rPr>
              <a:t>    </a:t>
            </a:r>
            <a:r>
              <a:rPr lang="zh-CN" altLang="en-US" sz="2000">
                <a:latin typeface="Times New Roman" panose="02020603050405020304" pitchFamily="18" charset="0"/>
              </a:rPr>
              <a:t>所谓“</a:t>
            </a:r>
            <a:r>
              <a:rPr lang="en-US" altLang="zh-CN" sz="2000">
                <a:latin typeface="Times New Roman" panose="02020603050405020304" pitchFamily="18" charset="0"/>
              </a:rPr>
              <a:t>ISO9000”</a:t>
            </a:r>
            <a:r>
              <a:rPr lang="zh-CN" altLang="en-US" sz="2000">
                <a:latin typeface="Times New Roman" panose="02020603050405020304" pitchFamily="18" charset="0"/>
              </a:rPr>
              <a:t>不是指一般意义上的一个质量保证标准，而是一族系列标准的统称。</a:t>
            </a:r>
            <a:r>
              <a:rPr lang="zh-CN" altLang="en-US" sz="2400" b="0">
                <a:latin typeface="黑体" panose="02010609060101010101" pitchFamily="49" charset="-122"/>
                <a:ea typeface="黑体" panose="02010609060101010101" pitchFamily="49" charset="-122"/>
              </a:rPr>
              <a:t> </a:t>
            </a:r>
          </a:p>
        </p:txBody>
      </p:sp>
      <p:sp>
        <p:nvSpPr>
          <p:cNvPr id="17412" name="Text Box 51">
            <a:extLst>
              <a:ext uri="{FF2B5EF4-FFF2-40B4-BE49-F238E27FC236}">
                <a16:creationId xmlns:a16="http://schemas.microsoft.com/office/drawing/2014/main" id="{DD6FC86B-7AE0-48AC-DF16-57DB7B846A3F}"/>
              </a:ext>
            </a:extLst>
          </p:cNvPr>
          <p:cNvSpPr txBox="1">
            <a:spLocks noChangeArrowheads="1"/>
          </p:cNvSpPr>
          <p:nvPr/>
        </p:nvSpPr>
        <p:spPr bwMode="auto">
          <a:xfrm>
            <a:off x="979488" y="3402013"/>
            <a:ext cx="7921625" cy="327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buClr>
                <a:srgbClr val="0000FF"/>
              </a:buClr>
              <a:buSzPct val="70000"/>
              <a:buFont typeface="Wingdings" panose="05000000000000000000" pitchFamily="2" charset="2"/>
              <a:buChar char="n"/>
            </a:pPr>
            <a:r>
              <a:rPr lang="zh-CN" altLang="en-US" sz="2000" b="1" dirty="0"/>
              <a:t>编号格式：</a:t>
            </a:r>
            <a:r>
              <a:rPr lang="en-US" altLang="zh-CN" sz="2000" b="1" dirty="0"/>
              <a:t>ISO+</a:t>
            </a:r>
            <a:r>
              <a:rPr lang="zh-CN" altLang="en-US" sz="2000" b="1" dirty="0"/>
              <a:t>标准号</a:t>
            </a:r>
            <a:r>
              <a:rPr lang="en-US" altLang="zh-CN" sz="2000" b="1" dirty="0"/>
              <a:t>+[</a:t>
            </a:r>
            <a:r>
              <a:rPr lang="zh-CN" altLang="en-US" sz="2000" b="1" dirty="0"/>
              <a:t>杠</a:t>
            </a:r>
            <a:r>
              <a:rPr lang="en-US" altLang="zh-CN" sz="2000" b="1" dirty="0"/>
              <a:t>+</a:t>
            </a:r>
            <a:r>
              <a:rPr lang="zh-CN" altLang="en-US" sz="2000" b="1" dirty="0"/>
              <a:t>分标准号</a:t>
            </a:r>
            <a:r>
              <a:rPr lang="en-US" altLang="zh-CN" sz="2000" b="1" dirty="0"/>
              <a:t>]+</a:t>
            </a:r>
            <a:r>
              <a:rPr lang="zh-CN" altLang="en-US" sz="2000" b="1" dirty="0"/>
              <a:t>冒号</a:t>
            </a:r>
            <a:r>
              <a:rPr lang="en-US" altLang="zh-CN" sz="2000" b="1" dirty="0"/>
              <a:t>+</a:t>
            </a:r>
            <a:r>
              <a:rPr lang="zh-CN" altLang="en-US" sz="2000" b="1" dirty="0"/>
              <a:t>发布年号（方括号中的内容可有可无），例如：</a:t>
            </a:r>
            <a:r>
              <a:rPr lang="en-US" altLang="zh-CN" sz="2000" b="1" dirty="0"/>
              <a:t>ISO 8402:1987</a:t>
            </a:r>
            <a:r>
              <a:rPr lang="zh-CN" altLang="en-US" sz="2000" b="1" dirty="0"/>
              <a:t>、</a:t>
            </a:r>
            <a:r>
              <a:rPr lang="en-US" altLang="zh-CN" sz="2000" b="1" dirty="0"/>
              <a:t>ISO 9000-1:1994</a:t>
            </a:r>
            <a:r>
              <a:rPr lang="zh-CN" altLang="en-US" sz="2000" b="1" dirty="0"/>
              <a:t>等。</a:t>
            </a:r>
            <a:endParaRPr lang="en-US" altLang="zh-CN" sz="2000" b="1" dirty="0"/>
          </a:p>
          <a:p>
            <a:pPr eaLnBrk="1" hangingPunct="1">
              <a:buClr>
                <a:srgbClr val="0000FF"/>
              </a:buClr>
              <a:buSzPct val="70000"/>
              <a:buFont typeface="Wingdings" panose="05000000000000000000" pitchFamily="2" charset="2"/>
              <a:buChar char="n"/>
            </a:pPr>
            <a:r>
              <a:rPr lang="zh-CN" altLang="en-US" sz="2000" b="1" dirty="0">
                <a:solidFill>
                  <a:schemeClr val="accent2"/>
                </a:solidFill>
                <a:latin typeface="黑体" panose="02010609060101010101" pitchFamily="49" charset="-122"/>
                <a:ea typeface="黑体" panose="02010609060101010101" pitchFamily="49" charset="-122"/>
              </a:rPr>
              <a:t>作用（</a:t>
            </a:r>
            <a:r>
              <a:rPr lang="en-US" altLang="zh-CN" sz="2000" b="1" dirty="0">
                <a:solidFill>
                  <a:schemeClr val="accent2"/>
                </a:solidFill>
                <a:latin typeface="黑体" panose="02010609060101010101" pitchFamily="49" charset="-122"/>
                <a:ea typeface="黑体" panose="02010609060101010101" pitchFamily="49" charset="-122"/>
              </a:rPr>
              <a:t>ISO 9001</a:t>
            </a:r>
            <a:r>
              <a:rPr lang="zh-CN" altLang="en-US" sz="2000" b="1" dirty="0">
                <a:solidFill>
                  <a:schemeClr val="accent2"/>
                </a:solidFill>
                <a:latin typeface="黑体" panose="02010609060101010101" pitchFamily="49" charset="-122"/>
                <a:ea typeface="黑体" panose="02010609060101010101" pitchFamily="49" charset="-122"/>
              </a:rPr>
              <a:t>）</a:t>
            </a:r>
          </a:p>
          <a:p>
            <a:pPr lvl="1" eaLnBrk="1" hangingPunct="1">
              <a:lnSpc>
                <a:spcPts val="3000"/>
              </a:lnSpc>
              <a:buClr>
                <a:srgbClr val="0000FF"/>
              </a:buClr>
              <a:buFont typeface="Times New Roman" panose="02020603050405020304" pitchFamily="18" charset="0"/>
              <a:buChar char="─"/>
            </a:pPr>
            <a:r>
              <a:rPr lang="zh-CN" altLang="en-US" sz="1800" b="1" dirty="0"/>
              <a:t>强化品质管理，提高企业效益；增强客户信心，扩大市场份额；</a:t>
            </a:r>
          </a:p>
          <a:p>
            <a:pPr lvl="1" eaLnBrk="1" hangingPunct="1">
              <a:lnSpc>
                <a:spcPts val="3000"/>
              </a:lnSpc>
              <a:buClr>
                <a:srgbClr val="0000FF"/>
              </a:buClr>
              <a:buFont typeface="Times New Roman" panose="02020603050405020304" pitchFamily="18" charset="0"/>
              <a:buChar char="─"/>
            </a:pPr>
            <a:r>
              <a:rPr lang="zh-CN" altLang="en-US" sz="1800" b="1" dirty="0"/>
              <a:t>获得了国际贸易</a:t>
            </a:r>
            <a:r>
              <a:rPr lang="zh-CN" altLang="en-US" sz="1800" b="1" dirty="0">
                <a:latin typeface="宋体" panose="02010600030101010101" pitchFamily="2" charset="-122"/>
              </a:rPr>
              <a:t>“</a:t>
            </a:r>
            <a:r>
              <a:rPr lang="zh-CN" altLang="en-US" sz="1800" b="1" dirty="0"/>
              <a:t>通行证</a:t>
            </a:r>
            <a:r>
              <a:rPr lang="zh-CN" altLang="en-US" sz="1800" b="1" dirty="0">
                <a:latin typeface="宋体" panose="02010600030101010101" pitchFamily="2" charset="-122"/>
              </a:rPr>
              <a:t>”</a:t>
            </a:r>
            <a:r>
              <a:rPr lang="zh-CN" altLang="en-US" sz="1800" b="1" dirty="0"/>
              <a:t>，消除了国际贸易壁垒；</a:t>
            </a:r>
          </a:p>
          <a:p>
            <a:pPr lvl="1" eaLnBrk="1" hangingPunct="1">
              <a:lnSpc>
                <a:spcPts val="3000"/>
              </a:lnSpc>
              <a:buClr>
                <a:srgbClr val="0000FF"/>
              </a:buClr>
              <a:buFont typeface="Times New Roman" panose="02020603050405020304" pitchFamily="18" charset="0"/>
              <a:buChar char="─"/>
            </a:pPr>
            <a:r>
              <a:rPr lang="zh-CN" altLang="en-US" sz="1800" b="1" dirty="0"/>
              <a:t>节省了第二方审核的精力和费用；</a:t>
            </a:r>
          </a:p>
          <a:p>
            <a:pPr lvl="1" eaLnBrk="1" hangingPunct="1">
              <a:lnSpc>
                <a:spcPts val="3000"/>
              </a:lnSpc>
              <a:buClr>
                <a:srgbClr val="0000FF"/>
              </a:buClr>
              <a:buFont typeface="Times New Roman" panose="02020603050405020304" pitchFamily="18" charset="0"/>
              <a:buChar char="─"/>
            </a:pPr>
            <a:r>
              <a:rPr lang="zh-CN" altLang="en-US" sz="1800" b="1" dirty="0"/>
              <a:t>在产品品质竞争中永远立于不败之地；</a:t>
            </a:r>
          </a:p>
          <a:p>
            <a:pPr lvl="1" eaLnBrk="1" hangingPunct="1">
              <a:lnSpc>
                <a:spcPts val="3000"/>
              </a:lnSpc>
              <a:buClr>
                <a:srgbClr val="0000FF"/>
              </a:buClr>
              <a:buFont typeface="Times New Roman" panose="02020603050405020304" pitchFamily="18" charset="0"/>
              <a:buChar char="─"/>
            </a:pPr>
            <a:r>
              <a:rPr lang="zh-CN" altLang="en-US" sz="1800" b="1" dirty="0"/>
              <a:t>有效地避免产品责任；</a:t>
            </a:r>
          </a:p>
          <a:p>
            <a:pPr lvl="1" eaLnBrk="1" hangingPunct="1">
              <a:lnSpc>
                <a:spcPts val="3000"/>
              </a:lnSpc>
              <a:buClr>
                <a:srgbClr val="0000FF"/>
              </a:buClr>
              <a:buFont typeface="Times New Roman" panose="02020603050405020304" pitchFamily="18" charset="0"/>
              <a:buChar char="─"/>
            </a:pPr>
            <a:r>
              <a:rPr lang="zh-CN" altLang="en-US" sz="1800" b="1" dirty="0"/>
              <a:t>有利于国际间的经济合作和技术交流。</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B4B75D89-96A3-CCAF-F2AC-06F56CD25D36}"/>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3.1.3  </a:t>
            </a:r>
            <a:r>
              <a:rPr kumimoji="1" lang="zh-CN" altLang="en-US"/>
              <a:t>三者之间的比较 </a:t>
            </a:r>
          </a:p>
        </p:txBody>
      </p:sp>
      <p:sp>
        <p:nvSpPr>
          <p:cNvPr id="18435" name="Text Box 3">
            <a:extLst>
              <a:ext uri="{FF2B5EF4-FFF2-40B4-BE49-F238E27FC236}">
                <a16:creationId xmlns:a16="http://schemas.microsoft.com/office/drawing/2014/main" id="{AE23EC79-1E28-D34C-5C93-B2836C80FBA2}"/>
              </a:ext>
            </a:extLst>
          </p:cNvPr>
          <p:cNvSpPr txBox="1">
            <a:spLocks noChangeArrowheads="1"/>
          </p:cNvSpPr>
          <p:nvPr/>
        </p:nvSpPr>
        <p:spPr bwMode="auto">
          <a:xfrm>
            <a:off x="793750" y="1870075"/>
            <a:ext cx="7881938" cy="505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nSpc>
                <a:spcPts val="3000"/>
              </a:lnSpc>
              <a:spcBef>
                <a:spcPct val="0"/>
              </a:spcBef>
              <a:buSzPct val="70000"/>
              <a:buFont typeface="Wingdings" panose="05000000000000000000" pitchFamily="2" charset="2"/>
              <a:buChar char="n"/>
            </a:pPr>
            <a:r>
              <a:rPr kumimoji="0" lang="en-US" altLang="zh-CN" sz="2400" dirty="0">
                <a:solidFill>
                  <a:schemeClr val="accent2"/>
                </a:solidFill>
                <a:latin typeface="黑体" panose="02010609060101010101" pitchFamily="49" charset="-122"/>
                <a:ea typeface="黑体" panose="02010609060101010101" pitchFamily="49" charset="-122"/>
              </a:rPr>
              <a:t>  </a:t>
            </a:r>
            <a:r>
              <a:rPr kumimoji="0" lang="zh-CN" altLang="en-US" sz="2400" dirty="0">
                <a:solidFill>
                  <a:schemeClr val="accent2"/>
                </a:solidFill>
                <a:latin typeface="黑体" panose="02010609060101010101" pitchFamily="49" charset="-122"/>
                <a:ea typeface="黑体" panose="02010609060101010101" pitchFamily="49" charset="-122"/>
              </a:rPr>
              <a:t>选择</a:t>
            </a:r>
            <a:r>
              <a:rPr kumimoji="0" lang="en-US" altLang="zh-CN" sz="2400" dirty="0">
                <a:solidFill>
                  <a:schemeClr val="accent2"/>
                </a:solidFill>
                <a:latin typeface="黑体" panose="02010609060101010101" pitchFamily="49" charset="-122"/>
                <a:ea typeface="黑体" panose="02010609060101010101" pitchFamily="49" charset="-122"/>
              </a:rPr>
              <a:t>SW-CMM</a:t>
            </a:r>
            <a:r>
              <a:rPr kumimoji="0" lang="zh-CN" altLang="en-US" sz="2400" dirty="0">
                <a:solidFill>
                  <a:schemeClr val="accent2"/>
                </a:solidFill>
                <a:latin typeface="黑体" panose="02010609060101010101" pitchFamily="49" charset="-122"/>
                <a:ea typeface="黑体" panose="02010609060101010101" pitchFamily="49" charset="-122"/>
              </a:rPr>
              <a:t>还是</a:t>
            </a:r>
            <a:r>
              <a:rPr kumimoji="0" lang="en-US" altLang="zh-CN" sz="2400" dirty="0">
                <a:solidFill>
                  <a:schemeClr val="accent2"/>
                </a:solidFill>
                <a:latin typeface="黑体" panose="02010609060101010101" pitchFamily="49" charset="-122"/>
                <a:ea typeface="黑体" panose="02010609060101010101" pitchFamily="49" charset="-122"/>
              </a:rPr>
              <a:t>CMMI</a:t>
            </a:r>
            <a:r>
              <a:rPr kumimoji="0" lang="zh-CN" altLang="en-US" sz="2400" dirty="0">
                <a:solidFill>
                  <a:schemeClr val="accent2"/>
                </a:solidFill>
                <a:latin typeface="黑体" panose="02010609060101010101" pitchFamily="49" charset="-122"/>
                <a:ea typeface="黑体" panose="02010609060101010101" pitchFamily="49" charset="-122"/>
              </a:rPr>
              <a:t>的考虑</a:t>
            </a:r>
            <a:endParaRPr kumimoji="0" lang="zh-CN" altLang="en-US" sz="900" dirty="0">
              <a:solidFill>
                <a:schemeClr val="accent2"/>
              </a:solidFill>
              <a:latin typeface="黑体" panose="02010609060101010101" pitchFamily="49" charset="-122"/>
              <a:ea typeface="黑体" panose="02010609060101010101" pitchFamily="49" charset="-122"/>
            </a:endParaRPr>
          </a:p>
          <a:p>
            <a:pPr lvl="1">
              <a:lnSpc>
                <a:spcPts val="3000"/>
              </a:lnSpc>
              <a:spcBef>
                <a:spcPct val="0"/>
              </a:spcBef>
              <a:buFont typeface="Times New Roman" panose="02020603050405020304" pitchFamily="18" charset="0"/>
              <a:buChar char="─"/>
            </a:pPr>
            <a:r>
              <a:rPr kumimoji="0" lang="zh-CN" altLang="en-US" sz="2000" dirty="0">
                <a:latin typeface="Times New Roman" panose="02020603050405020304" pitchFamily="18" charset="0"/>
              </a:rPr>
              <a:t>实施企业的业务特点。</a:t>
            </a:r>
          </a:p>
          <a:p>
            <a:pPr lvl="1">
              <a:lnSpc>
                <a:spcPts val="3000"/>
              </a:lnSpc>
              <a:spcBef>
                <a:spcPct val="0"/>
              </a:spcBef>
              <a:buFont typeface="Times New Roman" panose="02020603050405020304" pitchFamily="18" charset="0"/>
              <a:buChar char="─"/>
            </a:pPr>
            <a:r>
              <a:rPr kumimoji="0" lang="zh-CN" altLang="en-US" sz="2000" dirty="0">
                <a:latin typeface="Times New Roman" panose="02020603050405020304" pitchFamily="18" charset="0"/>
              </a:rPr>
              <a:t>实施企业对过程改进的熟悉程度。</a:t>
            </a:r>
          </a:p>
          <a:p>
            <a:pPr lvl="1">
              <a:lnSpc>
                <a:spcPts val="3000"/>
              </a:lnSpc>
              <a:spcBef>
                <a:spcPct val="0"/>
              </a:spcBef>
              <a:buFont typeface="Times New Roman" panose="02020603050405020304" pitchFamily="18" charset="0"/>
              <a:buChar char="─"/>
            </a:pPr>
            <a:r>
              <a:rPr kumimoji="0" lang="zh-CN" altLang="en-US" sz="2000" dirty="0">
                <a:latin typeface="Times New Roman" panose="02020603050405020304" pitchFamily="18" charset="0"/>
              </a:rPr>
              <a:t>实施企业对过程改进项目的预算。</a:t>
            </a:r>
          </a:p>
          <a:p>
            <a:pPr lvl="1">
              <a:lnSpc>
                <a:spcPts val="3000"/>
              </a:lnSpc>
              <a:spcBef>
                <a:spcPct val="0"/>
              </a:spcBef>
              <a:buFont typeface="Times New Roman" panose="02020603050405020304" pitchFamily="18" charset="0"/>
              <a:buChar char="─"/>
            </a:pPr>
            <a:r>
              <a:rPr kumimoji="0" lang="zh-CN" altLang="en-US" sz="2000" dirty="0">
                <a:latin typeface="Times New Roman" panose="02020603050405020304" pitchFamily="18" charset="0"/>
              </a:rPr>
              <a:t>实施企业是否可以使用阶段式的演进路线。</a:t>
            </a:r>
          </a:p>
          <a:p>
            <a:pPr lvl="1">
              <a:lnSpc>
                <a:spcPts val="3000"/>
              </a:lnSpc>
              <a:spcBef>
                <a:spcPct val="0"/>
              </a:spcBef>
              <a:buFont typeface="Times New Roman" panose="02020603050405020304" pitchFamily="18" charset="0"/>
              <a:buChar char="─"/>
            </a:pPr>
            <a:r>
              <a:rPr kumimoji="0" lang="zh-CN" altLang="en-US" sz="2000" dirty="0">
                <a:latin typeface="Times New Roman" panose="02020603050405020304" pitchFamily="18" charset="0"/>
              </a:rPr>
              <a:t>实施</a:t>
            </a:r>
            <a:r>
              <a:rPr kumimoji="0" lang="en-US" altLang="zh-CN" sz="2000" dirty="0">
                <a:latin typeface="Times New Roman" panose="02020603050405020304" pitchFamily="18" charset="0"/>
              </a:rPr>
              <a:t>CMM</a:t>
            </a:r>
            <a:r>
              <a:rPr kumimoji="0" lang="zh-CN" altLang="en-US" sz="2000" dirty="0">
                <a:latin typeface="Times New Roman" panose="02020603050405020304" pitchFamily="18" charset="0"/>
              </a:rPr>
              <a:t>与</a:t>
            </a:r>
            <a:r>
              <a:rPr kumimoji="0" lang="en-US" altLang="zh-CN" sz="2000" dirty="0">
                <a:latin typeface="Times New Roman" panose="02020603050405020304" pitchFamily="18" charset="0"/>
              </a:rPr>
              <a:t>CMMI</a:t>
            </a:r>
            <a:r>
              <a:rPr kumimoji="0" lang="zh-CN" altLang="en-US" sz="2000" dirty="0">
                <a:latin typeface="Times New Roman" panose="02020603050405020304" pitchFamily="18" charset="0"/>
              </a:rPr>
              <a:t>可以平滑的转换。</a:t>
            </a:r>
          </a:p>
          <a:p>
            <a:pPr eaLnBrk="1" hangingPunct="1">
              <a:lnSpc>
                <a:spcPts val="3000"/>
              </a:lnSpc>
              <a:spcBef>
                <a:spcPct val="0"/>
              </a:spcBef>
              <a:buSzPct val="70000"/>
              <a:buFont typeface="Wingdings" panose="05000000000000000000" pitchFamily="2" charset="2"/>
              <a:buChar char="n"/>
            </a:pPr>
            <a:r>
              <a:rPr kumimoji="0" lang="zh-CN" altLang="en-US" sz="2400" b="0" dirty="0">
                <a:latin typeface="Times New Roman" panose="02020603050405020304" pitchFamily="18" charset="0"/>
              </a:rPr>
              <a:t>    </a:t>
            </a:r>
            <a:r>
              <a:rPr kumimoji="0" lang="en-US" altLang="zh-CN" sz="2400" dirty="0">
                <a:solidFill>
                  <a:schemeClr val="accent2"/>
                </a:solidFill>
                <a:latin typeface="黑体" panose="02010609060101010101" pitchFamily="49" charset="-122"/>
                <a:ea typeface="黑体" panose="02010609060101010101" pitchFamily="49" charset="-122"/>
              </a:rPr>
              <a:t>ISO9001</a:t>
            </a:r>
            <a:r>
              <a:rPr kumimoji="0" lang="zh-CN" altLang="en-US" sz="2400" dirty="0">
                <a:solidFill>
                  <a:schemeClr val="accent2"/>
                </a:solidFill>
                <a:latin typeface="黑体" panose="02010609060101010101" pitchFamily="49" charset="-122"/>
                <a:ea typeface="黑体" panose="02010609060101010101" pitchFamily="49" charset="-122"/>
              </a:rPr>
              <a:t>与</a:t>
            </a:r>
            <a:r>
              <a:rPr kumimoji="0" lang="en-US" altLang="zh-CN" sz="2400" dirty="0">
                <a:solidFill>
                  <a:schemeClr val="accent2"/>
                </a:solidFill>
                <a:latin typeface="黑体" panose="02010609060101010101" pitchFamily="49" charset="-122"/>
                <a:ea typeface="黑体" panose="02010609060101010101" pitchFamily="49" charset="-122"/>
              </a:rPr>
              <a:t>CMM</a:t>
            </a:r>
            <a:r>
              <a:rPr kumimoji="0" lang="zh-CN" altLang="en-US" sz="2400" dirty="0">
                <a:solidFill>
                  <a:schemeClr val="accent2"/>
                </a:solidFill>
                <a:latin typeface="黑体" panose="02010609060101010101" pitchFamily="49" charset="-122"/>
                <a:ea typeface="黑体" panose="02010609060101010101" pitchFamily="49" charset="-122"/>
              </a:rPr>
              <a:t>的关系</a:t>
            </a:r>
            <a:endParaRPr kumimoji="0" lang="zh-CN" altLang="en-US" sz="2400" b="0" dirty="0">
              <a:latin typeface="Times New Roman" panose="02020603050405020304" pitchFamily="18" charset="0"/>
            </a:endParaRPr>
          </a:p>
          <a:p>
            <a:pPr lvl="1" eaLnBrk="1" hangingPunct="1">
              <a:lnSpc>
                <a:spcPts val="3000"/>
              </a:lnSpc>
              <a:spcBef>
                <a:spcPct val="0"/>
              </a:spcBef>
              <a:buFont typeface="Times New Roman" panose="02020603050405020304" pitchFamily="18" charset="0"/>
              <a:buChar char="─"/>
            </a:pPr>
            <a:r>
              <a:rPr kumimoji="0" lang="en-US" altLang="zh-CN" sz="2000" dirty="0">
                <a:solidFill>
                  <a:srgbClr val="FF0000"/>
                </a:solidFill>
                <a:latin typeface="Times New Roman" panose="02020603050405020304" pitchFamily="18" charset="0"/>
              </a:rPr>
              <a:t>ISO9001</a:t>
            </a:r>
            <a:r>
              <a:rPr kumimoji="0" lang="zh-CN" altLang="en-US" sz="2000" dirty="0">
                <a:solidFill>
                  <a:srgbClr val="FF0000"/>
                </a:solidFill>
                <a:latin typeface="Times New Roman" panose="02020603050405020304" pitchFamily="18" charset="0"/>
              </a:rPr>
              <a:t>和</a:t>
            </a:r>
            <a:r>
              <a:rPr kumimoji="0" lang="en-US" altLang="zh-CN" sz="2000" dirty="0">
                <a:solidFill>
                  <a:srgbClr val="FF0000"/>
                </a:solidFill>
                <a:latin typeface="Times New Roman" panose="02020603050405020304" pitchFamily="18" charset="0"/>
              </a:rPr>
              <a:t>CMM</a:t>
            </a:r>
            <a:r>
              <a:rPr kumimoji="0" lang="zh-CN" altLang="en-US" sz="2000" dirty="0">
                <a:solidFill>
                  <a:srgbClr val="FF0000"/>
                </a:solidFill>
                <a:latin typeface="Times New Roman" panose="02020603050405020304" pitchFamily="18" charset="0"/>
              </a:rPr>
              <a:t>既有区别又相互联系，两者不可简单地互相替  代。</a:t>
            </a:r>
            <a:r>
              <a:rPr kumimoji="0" lang="en-US" altLang="zh-CN" sz="2000" dirty="0">
                <a:latin typeface="Times New Roman" panose="02020603050405020304" pitchFamily="18" charset="0"/>
              </a:rPr>
              <a:t>CMM</a:t>
            </a:r>
            <a:r>
              <a:rPr kumimoji="0" lang="zh-CN" altLang="en-US" sz="2000" dirty="0">
                <a:latin typeface="Times New Roman" panose="02020603050405020304" pitchFamily="18" charset="0"/>
              </a:rPr>
              <a:t>强调持续改进，</a:t>
            </a:r>
            <a:r>
              <a:rPr kumimoji="0" lang="en-US" altLang="zh-CN" sz="2000" dirty="0">
                <a:latin typeface="Times New Roman" panose="02020603050405020304" pitchFamily="18" charset="0"/>
              </a:rPr>
              <a:t>ISO 9001</a:t>
            </a:r>
            <a:r>
              <a:rPr kumimoji="0" lang="zh-CN" altLang="en-US" sz="2000" dirty="0">
                <a:latin typeface="Times New Roman" panose="02020603050405020304" pitchFamily="18" charset="0"/>
              </a:rPr>
              <a:t>的</a:t>
            </a:r>
            <a:r>
              <a:rPr kumimoji="0" lang="en-US" altLang="zh-CN" sz="2000" dirty="0">
                <a:latin typeface="Times New Roman" panose="02020603050405020304" pitchFamily="18" charset="0"/>
              </a:rPr>
              <a:t>1994</a:t>
            </a:r>
            <a:r>
              <a:rPr kumimoji="0" lang="zh-CN" altLang="en-US" sz="2000" dirty="0">
                <a:latin typeface="Times New Roman" panose="02020603050405020304" pitchFamily="18" charset="0"/>
              </a:rPr>
              <a:t>版的主要说明的是“合格质量体系的最低可接受水平”，两者认证时可互相促进。</a:t>
            </a:r>
          </a:p>
          <a:p>
            <a:pPr lvl="1" eaLnBrk="1" hangingPunct="1">
              <a:lnSpc>
                <a:spcPts val="3000"/>
              </a:lnSpc>
              <a:spcBef>
                <a:spcPct val="0"/>
              </a:spcBef>
              <a:buFont typeface="Times New Roman" panose="02020603050405020304" pitchFamily="18" charset="0"/>
              <a:buChar char="─"/>
            </a:pPr>
            <a:r>
              <a:rPr kumimoji="0" lang="zh-CN" altLang="en-US" sz="2000" dirty="0">
                <a:latin typeface="Times New Roman" panose="02020603050405020304" pitchFamily="18" charset="0"/>
              </a:rPr>
              <a:t>取得</a:t>
            </a:r>
            <a:r>
              <a:rPr kumimoji="0" lang="en-US" altLang="zh-CN" sz="2000" dirty="0">
                <a:latin typeface="Times New Roman" panose="02020603050405020304" pitchFamily="18" charset="0"/>
              </a:rPr>
              <a:t>ISO9001</a:t>
            </a:r>
            <a:r>
              <a:rPr kumimoji="0" lang="zh-CN" altLang="en-US" sz="2000" dirty="0">
                <a:latin typeface="Times New Roman" panose="02020603050405020304" pitchFamily="18" charset="0"/>
              </a:rPr>
              <a:t>认证并不意味着完全满足</a:t>
            </a:r>
            <a:r>
              <a:rPr kumimoji="0" lang="en-US" altLang="zh-CN" sz="2000" dirty="0">
                <a:latin typeface="Times New Roman" panose="02020603050405020304" pitchFamily="18" charset="0"/>
              </a:rPr>
              <a:t>CMM</a:t>
            </a:r>
            <a:r>
              <a:rPr kumimoji="0" lang="zh-CN" altLang="en-US" sz="2000" dirty="0">
                <a:latin typeface="Times New Roman" panose="02020603050405020304" pitchFamily="18" charset="0"/>
              </a:rPr>
              <a:t>某个等级的要求。</a:t>
            </a:r>
          </a:p>
          <a:p>
            <a:pPr lvl="1" eaLnBrk="1" hangingPunct="1">
              <a:lnSpc>
                <a:spcPts val="3000"/>
              </a:lnSpc>
              <a:spcBef>
                <a:spcPct val="0"/>
              </a:spcBef>
              <a:buFont typeface="Times New Roman" panose="02020603050405020304" pitchFamily="18" charset="0"/>
              <a:buChar char="─"/>
            </a:pPr>
            <a:r>
              <a:rPr kumimoji="0" lang="zh-CN" altLang="en-US" sz="2000" dirty="0">
                <a:latin typeface="Times New Roman" panose="02020603050405020304" pitchFamily="18" charset="0"/>
              </a:rPr>
              <a:t>取得</a:t>
            </a:r>
            <a:r>
              <a:rPr kumimoji="0" lang="en-US" altLang="zh-CN" sz="2000" dirty="0">
                <a:latin typeface="Times New Roman" panose="02020603050405020304" pitchFamily="18" charset="0"/>
              </a:rPr>
              <a:t>CMM</a:t>
            </a:r>
            <a:r>
              <a:rPr kumimoji="0" lang="zh-CN" altLang="en-US" sz="2000" dirty="0">
                <a:latin typeface="Times New Roman" panose="02020603050405020304" pitchFamily="18" charset="0"/>
              </a:rPr>
              <a:t>第</a:t>
            </a:r>
            <a:r>
              <a:rPr kumimoji="0" lang="en-US" altLang="zh-CN" sz="2000" dirty="0">
                <a:latin typeface="Times New Roman" panose="02020603050405020304" pitchFamily="18" charset="0"/>
              </a:rPr>
              <a:t>2</a:t>
            </a:r>
            <a:r>
              <a:rPr kumimoji="0" lang="zh-CN" altLang="en-US" sz="2000" dirty="0">
                <a:latin typeface="Times New Roman" panose="02020603050405020304" pitchFamily="18" charset="0"/>
              </a:rPr>
              <a:t>级</a:t>
            </a:r>
            <a:r>
              <a:rPr kumimoji="0" lang="en-US" altLang="zh-CN" sz="2000" dirty="0">
                <a:latin typeface="Times New Roman" panose="02020603050405020304" pitchFamily="18" charset="0"/>
              </a:rPr>
              <a:t>(</a:t>
            </a:r>
            <a:r>
              <a:rPr kumimoji="0" lang="zh-CN" altLang="en-US" sz="2000" dirty="0">
                <a:latin typeface="Times New Roman" panose="02020603050405020304" pitchFamily="18" charset="0"/>
              </a:rPr>
              <a:t>或第</a:t>
            </a:r>
            <a:r>
              <a:rPr kumimoji="0" lang="en-US" altLang="zh-CN" sz="2000" dirty="0">
                <a:latin typeface="Times New Roman" panose="02020603050405020304" pitchFamily="18" charset="0"/>
              </a:rPr>
              <a:t>3</a:t>
            </a:r>
            <a:r>
              <a:rPr kumimoji="0" lang="zh-CN" altLang="en-US" sz="2000" dirty="0">
                <a:latin typeface="Times New Roman" panose="02020603050405020304" pitchFamily="18" charset="0"/>
              </a:rPr>
              <a:t>级</a:t>
            </a:r>
            <a:r>
              <a:rPr kumimoji="0" lang="en-US" altLang="zh-CN" sz="2000" dirty="0">
                <a:latin typeface="Times New Roman" panose="02020603050405020304" pitchFamily="18" charset="0"/>
              </a:rPr>
              <a:t>)</a:t>
            </a:r>
            <a:r>
              <a:rPr kumimoji="0" lang="zh-CN" altLang="en-US" sz="2000" dirty="0">
                <a:latin typeface="Times New Roman" panose="02020603050405020304" pitchFamily="18" charset="0"/>
              </a:rPr>
              <a:t>不能笼统地认为可以满足</a:t>
            </a:r>
            <a:r>
              <a:rPr kumimoji="0" lang="en-US" altLang="zh-CN" sz="2000" dirty="0">
                <a:latin typeface="Times New Roman" panose="02020603050405020304" pitchFamily="18" charset="0"/>
              </a:rPr>
              <a:t>ISO9001</a:t>
            </a:r>
            <a:r>
              <a:rPr kumimoji="0" lang="zh-CN" altLang="en-US" sz="2000" dirty="0">
                <a:latin typeface="Times New Roman" panose="02020603050405020304" pitchFamily="18" charset="0"/>
              </a:rPr>
              <a:t>的要求。</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98C287-4825-8991-0B7A-62C0590A9155}"/>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4E1BB7EE-4535-559D-4D67-6ADDEC29A2E4}"/>
              </a:ext>
            </a:extLst>
          </p:cNvPr>
          <p:cNvSpPr>
            <a:spLocks noGrp="1"/>
          </p:cNvSpPr>
          <p:nvPr>
            <p:ph idx="1"/>
          </p:nvPr>
        </p:nvSpPr>
        <p:spPr/>
        <p:txBody>
          <a:bodyPr/>
          <a:lstStyle/>
          <a:p>
            <a:r>
              <a:rPr lang="zh-CN" altLang="en-US" dirty="0"/>
              <a:t>回顾：</a:t>
            </a:r>
            <a:endParaRPr lang="en-US" altLang="zh-CN" dirty="0"/>
          </a:p>
          <a:p>
            <a:pPr lvl="1"/>
            <a:r>
              <a:rPr lang="en-US" altLang="zh-CN" dirty="0"/>
              <a:t>CMMI</a:t>
            </a:r>
            <a:r>
              <a:rPr lang="zh-CN" altLang="en-US" dirty="0"/>
              <a:t>的五个台阶（级别）是什么？</a:t>
            </a:r>
          </a:p>
        </p:txBody>
      </p:sp>
    </p:spTree>
    <p:extLst>
      <p:ext uri="{BB962C8B-B14F-4D97-AF65-F5344CB8AC3E}">
        <p14:creationId xmlns:p14="http://schemas.microsoft.com/office/powerpoint/2010/main" val="846881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22461072-2BE9-6F07-E411-47479727FC4D}"/>
              </a:ext>
            </a:extLst>
          </p:cNvPr>
          <p:cNvSpPr>
            <a:spLocks noGrp="1" noChangeArrowheads="1"/>
          </p:cNvSpPr>
          <p:nvPr>
            <p:ph type="title"/>
          </p:nvPr>
        </p:nvSpPr>
        <p:spPr/>
        <p:txBody>
          <a:bodyPr/>
          <a:lstStyle/>
          <a:p>
            <a:pPr eaLnBrk="1" hangingPunct="1"/>
            <a:r>
              <a:rPr lang="zh-CN" altLang="en-US"/>
              <a:t>本章内容提要</a:t>
            </a:r>
          </a:p>
        </p:txBody>
      </p:sp>
      <p:sp>
        <p:nvSpPr>
          <p:cNvPr id="19459" name="AutoShape 3">
            <a:extLst>
              <a:ext uri="{FF2B5EF4-FFF2-40B4-BE49-F238E27FC236}">
                <a16:creationId xmlns:a16="http://schemas.microsoft.com/office/drawing/2014/main" id="{EBFAF33A-950C-9F06-FD94-A0A1A757571C}"/>
              </a:ext>
            </a:extLst>
          </p:cNvPr>
          <p:cNvSpPr>
            <a:spLocks noChangeArrowheads="1"/>
          </p:cNvSpPr>
          <p:nvPr/>
        </p:nvSpPr>
        <p:spPr bwMode="auto">
          <a:xfrm>
            <a:off x="736600" y="2343150"/>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9460" name="Text Box 4">
            <a:extLst>
              <a:ext uri="{FF2B5EF4-FFF2-40B4-BE49-F238E27FC236}">
                <a16:creationId xmlns:a16="http://schemas.microsoft.com/office/drawing/2014/main" id="{45BE4566-63C7-EFB8-35ED-C880874EE238}"/>
              </a:ext>
            </a:extLst>
          </p:cNvPr>
          <p:cNvSpPr txBox="1">
            <a:spLocks noChangeArrowheads="1"/>
          </p:cNvSpPr>
          <p:nvPr/>
        </p:nvSpPr>
        <p:spPr bwMode="auto">
          <a:xfrm>
            <a:off x="993775" y="2376488"/>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200">
                <a:latin typeface="黑体" panose="02010609060101010101" pitchFamily="49" charset="-122"/>
                <a:ea typeface="黑体" panose="02010609060101010101" pitchFamily="49" charset="-122"/>
              </a:rPr>
              <a:t>CMM</a:t>
            </a:r>
            <a:r>
              <a:rPr lang="zh-CN" altLang="en-US" sz="2200">
                <a:latin typeface="黑体" panose="02010609060101010101" pitchFamily="49" charset="-122"/>
                <a:ea typeface="黑体" panose="02010609060101010101" pitchFamily="49" charset="-122"/>
              </a:rPr>
              <a:t>和</a:t>
            </a:r>
            <a:r>
              <a:rPr lang="en-US" altLang="zh-CN" sz="2200">
                <a:latin typeface="黑体" panose="02010609060101010101" pitchFamily="49" charset="-122"/>
                <a:ea typeface="黑体" panose="02010609060101010101" pitchFamily="49" charset="-122"/>
              </a:rPr>
              <a:t>ISO9000</a:t>
            </a:r>
            <a:r>
              <a:rPr lang="en-US" altLang="zh-CN" sz="2400" b="0">
                <a:latin typeface="Times New Roman" panose="02020603050405020304" pitchFamily="18" charset="0"/>
              </a:rPr>
              <a:t> </a:t>
            </a:r>
          </a:p>
        </p:txBody>
      </p:sp>
      <p:sp>
        <p:nvSpPr>
          <p:cNvPr id="19461" name="AutoShape 5">
            <a:extLst>
              <a:ext uri="{FF2B5EF4-FFF2-40B4-BE49-F238E27FC236}">
                <a16:creationId xmlns:a16="http://schemas.microsoft.com/office/drawing/2014/main" id="{A9DE3225-4238-1762-1174-141EC52C9531}"/>
              </a:ext>
            </a:extLst>
          </p:cNvPr>
          <p:cNvSpPr>
            <a:spLocks noChangeArrowheads="1"/>
          </p:cNvSpPr>
          <p:nvPr/>
        </p:nvSpPr>
        <p:spPr bwMode="auto">
          <a:xfrm>
            <a:off x="747713" y="2890838"/>
            <a:ext cx="5545137"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9462" name="Text Box 6">
            <a:extLst>
              <a:ext uri="{FF2B5EF4-FFF2-40B4-BE49-F238E27FC236}">
                <a16:creationId xmlns:a16="http://schemas.microsoft.com/office/drawing/2014/main" id="{328DFE36-C37F-6388-AFF8-9B858A52C95E}"/>
              </a:ext>
            </a:extLst>
          </p:cNvPr>
          <p:cNvSpPr txBox="1">
            <a:spLocks noChangeArrowheads="1"/>
          </p:cNvSpPr>
          <p:nvPr/>
        </p:nvSpPr>
        <p:spPr bwMode="auto">
          <a:xfrm>
            <a:off x="1004888" y="2946400"/>
            <a:ext cx="4919662"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黑体" panose="02010609060101010101" pitchFamily="49" charset="-122"/>
                <a:ea typeface="黑体" panose="02010609060101010101" pitchFamily="49" charset="-122"/>
              </a:rPr>
              <a:t>传统软件开发生命周期模型 </a:t>
            </a:r>
          </a:p>
        </p:txBody>
      </p:sp>
      <p:sp>
        <p:nvSpPr>
          <p:cNvPr id="19463" name="AutoShape 7">
            <a:extLst>
              <a:ext uri="{FF2B5EF4-FFF2-40B4-BE49-F238E27FC236}">
                <a16:creationId xmlns:a16="http://schemas.microsoft.com/office/drawing/2014/main" id="{2E4DCB4E-63CE-A447-D8A7-A316E936D79F}"/>
              </a:ext>
            </a:extLst>
          </p:cNvPr>
          <p:cNvSpPr>
            <a:spLocks noChangeArrowheads="1"/>
          </p:cNvSpPr>
          <p:nvPr/>
        </p:nvSpPr>
        <p:spPr bwMode="auto">
          <a:xfrm>
            <a:off x="747713" y="3440113"/>
            <a:ext cx="5545137"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9464" name="Text Box 8">
            <a:extLst>
              <a:ext uri="{FF2B5EF4-FFF2-40B4-BE49-F238E27FC236}">
                <a16:creationId xmlns:a16="http://schemas.microsoft.com/office/drawing/2014/main" id="{29FD9898-AE9E-21F0-2CB5-CFD679A8A5A4}"/>
              </a:ext>
            </a:extLst>
          </p:cNvPr>
          <p:cNvSpPr txBox="1">
            <a:spLocks noChangeArrowheads="1"/>
          </p:cNvSpPr>
          <p:nvPr/>
        </p:nvSpPr>
        <p:spPr bwMode="auto">
          <a:xfrm>
            <a:off x="1004888" y="3511550"/>
            <a:ext cx="49196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扩展软件开发生命周期模型</a:t>
            </a:r>
            <a:r>
              <a:rPr lang="zh-CN" altLang="en-US" sz="2400" b="0">
                <a:latin typeface="Times New Roman" panose="02020603050405020304" pitchFamily="18" charset="0"/>
              </a:rPr>
              <a:t> </a:t>
            </a:r>
          </a:p>
        </p:txBody>
      </p:sp>
      <p:sp>
        <p:nvSpPr>
          <p:cNvPr id="19465" name="Rectangle 9">
            <a:extLst>
              <a:ext uri="{FF2B5EF4-FFF2-40B4-BE49-F238E27FC236}">
                <a16:creationId xmlns:a16="http://schemas.microsoft.com/office/drawing/2014/main" id="{888F412B-7CCD-B101-B24E-91DC01194D0E}"/>
              </a:ext>
            </a:extLst>
          </p:cNvPr>
          <p:cNvSpPr>
            <a:spLocks noChangeArrowheads="1"/>
          </p:cNvSpPr>
          <p:nvPr/>
        </p:nvSpPr>
        <p:spPr bwMode="auto">
          <a:xfrm>
            <a:off x="611188" y="2432050"/>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3.1</a:t>
            </a:r>
            <a:endParaRPr lang="en-US" altLang="zh-CN" sz="1800">
              <a:solidFill>
                <a:srgbClr val="000000"/>
              </a:solidFill>
            </a:endParaRPr>
          </a:p>
        </p:txBody>
      </p:sp>
      <p:sp>
        <p:nvSpPr>
          <p:cNvPr id="19466" name="AutoShape 10">
            <a:extLst>
              <a:ext uri="{FF2B5EF4-FFF2-40B4-BE49-F238E27FC236}">
                <a16:creationId xmlns:a16="http://schemas.microsoft.com/office/drawing/2014/main" id="{0E605647-7EE0-9727-E10A-DE284CA26FCF}"/>
              </a:ext>
            </a:extLst>
          </p:cNvPr>
          <p:cNvSpPr>
            <a:spLocks noChangeArrowheads="1"/>
          </p:cNvSpPr>
          <p:nvPr/>
        </p:nvSpPr>
        <p:spPr bwMode="auto">
          <a:xfrm>
            <a:off x="752475" y="3992563"/>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9467" name="Text Box 11">
            <a:extLst>
              <a:ext uri="{FF2B5EF4-FFF2-40B4-BE49-F238E27FC236}">
                <a16:creationId xmlns:a16="http://schemas.microsoft.com/office/drawing/2014/main" id="{27FA7B6C-D9EE-117A-F780-8DB06F348F5B}"/>
              </a:ext>
            </a:extLst>
          </p:cNvPr>
          <p:cNvSpPr txBox="1">
            <a:spLocks noChangeArrowheads="1"/>
          </p:cNvSpPr>
          <p:nvPr/>
        </p:nvSpPr>
        <p:spPr bwMode="auto">
          <a:xfrm>
            <a:off x="1009650" y="4025900"/>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质量计划</a:t>
            </a:r>
            <a:r>
              <a:rPr lang="zh-CN" altLang="en-US" sz="2400" b="0">
                <a:latin typeface="Times New Roman" panose="02020603050405020304" pitchFamily="18" charset="0"/>
              </a:rPr>
              <a:t> </a:t>
            </a:r>
          </a:p>
        </p:txBody>
      </p:sp>
      <p:sp>
        <p:nvSpPr>
          <p:cNvPr id="19468" name="Rectangle 12">
            <a:extLst>
              <a:ext uri="{FF2B5EF4-FFF2-40B4-BE49-F238E27FC236}">
                <a16:creationId xmlns:a16="http://schemas.microsoft.com/office/drawing/2014/main" id="{1B699248-11DD-8B80-65E9-C32D6A88D1FE}"/>
              </a:ext>
            </a:extLst>
          </p:cNvPr>
          <p:cNvSpPr>
            <a:spLocks noChangeArrowheads="1"/>
          </p:cNvSpPr>
          <p:nvPr/>
        </p:nvSpPr>
        <p:spPr bwMode="auto">
          <a:xfrm>
            <a:off x="627063" y="4081463"/>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3.4</a:t>
            </a:r>
            <a:endParaRPr lang="en-US" altLang="zh-CN" sz="1800">
              <a:solidFill>
                <a:srgbClr val="000000"/>
              </a:solidFill>
            </a:endParaRPr>
          </a:p>
        </p:txBody>
      </p:sp>
      <p:sp>
        <p:nvSpPr>
          <p:cNvPr id="19469" name="AutoShape 13">
            <a:extLst>
              <a:ext uri="{FF2B5EF4-FFF2-40B4-BE49-F238E27FC236}">
                <a16:creationId xmlns:a16="http://schemas.microsoft.com/office/drawing/2014/main" id="{A07D933C-0ED0-B745-38DB-CACA46670A3D}"/>
              </a:ext>
            </a:extLst>
          </p:cNvPr>
          <p:cNvSpPr>
            <a:spLocks noChangeArrowheads="1"/>
          </p:cNvSpPr>
          <p:nvPr/>
        </p:nvSpPr>
        <p:spPr bwMode="auto">
          <a:xfrm>
            <a:off x="750888" y="4546600"/>
            <a:ext cx="5545137"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9470" name="Text Box 14">
            <a:extLst>
              <a:ext uri="{FF2B5EF4-FFF2-40B4-BE49-F238E27FC236}">
                <a16:creationId xmlns:a16="http://schemas.microsoft.com/office/drawing/2014/main" id="{2E10B111-F5D4-A59F-3CA5-EA5C074F8596}"/>
              </a:ext>
            </a:extLst>
          </p:cNvPr>
          <p:cNvSpPr txBox="1">
            <a:spLocks noChangeArrowheads="1"/>
          </p:cNvSpPr>
          <p:nvPr/>
        </p:nvSpPr>
        <p:spPr bwMode="auto">
          <a:xfrm>
            <a:off x="1008063" y="4594225"/>
            <a:ext cx="4919662"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案例分析</a:t>
            </a:r>
            <a:r>
              <a:rPr lang="zh-CN" altLang="en-US" sz="2200">
                <a:latin typeface="Times New Roman" panose="02020603050405020304" pitchFamily="18" charset="0"/>
              </a:rPr>
              <a:t> </a:t>
            </a:r>
          </a:p>
        </p:txBody>
      </p:sp>
      <p:sp>
        <p:nvSpPr>
          <p:cNvPr id="19471" name="Rectangle 15">
            <a:extLst>
              <a:ext uri="{FF2B5EF4-FFF2-40B4-BE49-F238E27FC236}">
                <a16:creationId xmlns:a16="http://schemas.microsoft.com/office/drawing/2014/main" id="{BF0A56DF-BA5E-A8C6-3B57-8C1034B78692}"/>
              </a:ext>
            </a:extLst>
          </p:cNvPr>
          <p:cNvSpPr>
            <a:spLocks noChangeArrowheads="1"/>
          </p:cNvSpPr>
          <p:nvPr/>
        </p:nvSpPr>
        <p:spPr bwMode="auto">
          <a:xfrm>
            <a:off x="625475" y="4635500"/>
            <a:ext cx="334963"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3.5</a:t>
            </a:r>
            <a:endParaRPr lang="en-US" altLang="zh-CN" sz="1800">
              <a:solidFill>
                <a:srgbClr val="000000"/>
              </a:solidFill>
            </a:endParaRPr>
          </a:p>
        </p:txBody>
      </p:sp>
      <p:sp>
        <p:nvSpPr>
          <p:cNvPr id="19472" name="AutoShape 16">
            <a:extLst>
              <a:ext uri="{FF2B5EF4-FFF2-40B4-BE49-F238E27FC236}">
                <a16:creationId xmlns:a16="http://schemas.microsoft.com/office/drawing/2014/main" id="{FD9DC89D-59F3-2D35-7DB0-8DA54B2924BA}"/>
              </a:ext>
            </a:extLst>
          </p:cNvPr>
          <p:cNvSpPr>
            <a:spLocks noChangeArrowheads="1"/>
          </p:cNvSpPr>
          <p:nvPr/>
        </p:nvSpPr>
        <p:spPr bwMode="auto">
          <a:xfrm>
            <a:off x="755650" y="5106988"/>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9473" name="Text Box 17">
            <a:extLst>
              <a:ext uri="{FF2B5EF4-FFF2-40B4-BE49-F238E27FC236}">
                <a16:creationId xmlns:a16="http://schemas.microsoft.com/office/drawing/2014/main" id="{B3A92615-02C1-3B01-3F94-4B6201993D3A}"/>
              </a:ext>
            </a:extLst>
          </p:cNvPr>
          <p:cNvSpPr txBox="1">
            <a:spLocks noChangeArrowheads="1"/>
          </p:cNvSpPr>
          <p:nvPr/>
        </p:nvSpPr>
        <p:spPr bwMode="auto">
          <a:xfrm>
            <a:off x="1012825" y="5140325"/>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19474" name="Rectangle 18">
            <a:extLst>
              <a:ext uri="{FF2B5EF4-FFF2-40B4-BE49-F238E27FC236}">
                <a16:creationId xmlns:a16="http://schemas.microsoft.com/office/drawing/2014/main" id="{F780D7F6-A6F3-DF1E-A364-C901069962C7}"/>
              </a:ext>
            </a:extLst>
          </p:cNvPr>
          <p:cNvSpPr>
            <a:spLocks noChangeArrowheads="1"/>
          </p:cNvSpPr>
          <p:nvPr/>
        </p:nvSpPr>
        <p:spPr bwMode="auto">
          <a:xfrm>
            <a:off x="630238" y="5195888"/>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3.6</a:t>
            </a:r>
            <a:endParaRPr lang="en-US" altLang="zh-CN" sz="1800">
              <a:solidFill>
                <a:srgbClr val="000000"/>
              </a:solidFill>
            </a:endParaRPr>
          </a:p>
        </p:txBody>
      </p:sp>
      <p:sp>
        <p:nvSpPr>
          <p:cNvPr id="19475" name="AutoShape 19">
            <a:extLst>
              <a:ext uri="{FF2B5EF4-FFF2-40B4-BE49-F238E27FC236}">
                <a16:creationId xmlns:a16="http://schemas.microsoft.com/office/drawing/2014/main" id="{1F6152CD-6E87-1635-574E-E8F0A5495473}"/>
              </a:ext>
            </a:extLst>
          </p:cNvPr>
          <p:cNvSpPr>
            <a:spLocks noChangeArrowheads="1"/>
          </p:cNvSpPr>
          <p:nvPr/>
        </p:nvSpPr>
        <p:spPr bwMode="auto">
          <a:xfrm>
            <a:off x="755650" y="5651500"/>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9476" name="Text Box 20">
            <a:extLst>
              <a:ext uri="{FF2B5EF4-FFF2-40B4-BE49-F238E27FC236}">
                <a16:creationId xmlns:a16="http://schemas.microsoft.com/office/drawing/2014/main" id="{E4BAB08C-1FE2-999D-FA35-CEFE5C96AD90}"/>
              </a:ext>
            </a:extLst>
          </p:cNvPr>
          <p:cNvSpPr txBox="1">
            <a:spLocks noChangeArrowheads="1"/>
          </p:cNvSpPr>
          <p:nvPr/>
        </p:nvSpPr>
        <p:spPr bwMode="auto">
          <a:xfrm>
            <a:off x="1012825" y="5684838"/>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复习思考题</a:t>
            </a:r>
            <a:r>
              <a:rPr lang="zh-CN" altLang="en-US" sz="2400" b="0">
                <a:latin typeface="Times New Roman" panose="02020603050405020304" pitchFamily="18" charset="0"/>
              </a:rPr>
              <a:t> </a:t>
            </a:r>
          </a:p>
        </p:txBody>
      </p:sp>
      <p:sp>
        <p:nvSpPr>
          <p:cNvPr id="19477" name="Rectangle 21">
            <a:extLst>
              <a:ext uri="{FF2B5EF4-FFF2-40B4-BE49-F238E27FC236}">
                <a16:creationId xmlns:a16="http://schemas.microsoft.com/office/drawing/2014/main" id="{80A78B1B-5011-F1EF-5D14-28470C8AAF48}"/>
              </a:ext>
            </a:extLst>
          </p:cNvPr>
          <p:cNvSpPr>
            <a:spLocks noChangeArrowheads="1"/>
          </p:cNvSpPr>
          <p:nvPr/>
        </p:nvSpPr>
        <p:spPr bwMode="auto">
          <a:xfrm>
            <a:off x="630238" y="5740400"/>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3.7</a:t>
            </a:r>
            <a:endParaRPr lang="en-US" altLang="zh-CN" sz="1800">
              <a:solidFill>
                <a:srgbClr val="000000"/>
              </a:solidFill>
            </a:endParaRPr>
          </a:p>
        </p:txBody>
      </p:sp>
      <p:sp>
        <p:nvSpPr>
          <p:cNvPr id="19478" name="Rectangle 22">
            <a:extLst>
              <a:ext uri="{FF2B5EF4-FFF2-40B4-BE49-F238E27FC236}">
                <a16:creationId xmlns:a16="http://schemas.microsoft.com/office/drawing/2014/main" id="{DBEBD4E5-AFA0-9A42-EF7C-945B7C44ABBE}"/>
              </a:ext>
            </a:extLst>
          </p:cNvPr>
          <p:cNvSpPr>
            <a:spLocks noChangeArrowheads="1"/>
          </p:cNvSpPr>
          <p:nvPr/>
        </p:nvSpPr>
        <p:spPr bwMode="auto">
          <a:xfrm>
            <a:off x="604838" y="2992438"/>
            <a:ext cx="334962" cy="260350"/>
          </a:xfrm>
          <a:prstGeom prst="rect">
            <a:avLst/>
          </a:prstGeom>
          <a:solidFill>
            <a:srgbClr val="0000FF"/>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3.2</a:t>
            </a:r>
          </a:p>
        </p:txBody>
      </p:sp>
      <p:sp>
        <p:nvSpPr>
          <p:cNvPr id="19479" name="Rectangle 23">
            <a:extLst>
              <a:ext uri="{FF2B5EF4-FFF2-40B4-BE49-F238E27FC236}">
                <a16:creationId xmlns:a16="http://schemas.microsoft.com/office/drawing/2014/main" id="{DA64A08A-38D7-FFAF-A06C-F1F72263B429}"/>
              </a:ext>
            </a:extLst>
          </p:cNvPr>
          <p:cNvSpPr>
            <a:spLocks noChangeArrowheads="1"/>
          </p:cNvSpPr>
          <p:nvPr/>
        </p:nvSpPr>
        <p:spPr bwMode="auto">
          <a:xfrm>
            <a:off x="604838" y="3536950"/>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3.3</a:t>
            </a:r>
            <a:endParaRPr lang="en-US" altLang="zh-CN" sz="1800">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3">
            <a:extLst>
              <a:ext uri="{FF2B5EF4-FFF2-40B4-BE49-F238E27FC236}">
                <a16:creationId xmlns:a16="http://schemas.microsoft.com/office/drawing/2014/main" id="{1B80305E-65BF-4AAF-2B67-ADB4C02C7A11}"/>
              </a:ext>
            </a:extLst>
          </p:cNvPr>
          <p:cNvSpPr txBox="1">
            <a:spLocks noChangeArrowheads="1"/>
          </p:cNvSpPr>
          <p:nvPr/>
        </p:nvSpPr>
        <p:spPr bwMode="auto">
          <a:xfrm>
            <a:off x="738188" y="1962150"/>
            <a:ext cx="8137525" cy="471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nSpc>
                <a:spcPts val="2800"/>
              </a:lnSpc>
              <a:spcBef>
                <a:spcPct val="0"/>
              </a:spcBef>
              <a:buSzPct val="70000"/>
              <a:buFont typeface="Wingdings" panose="05000000000000000000" pitchFamily="2" charset="2"/>
              <a:buChar char="n"/>
            </a:pPr>
            <a:r>
              <a:rPr kumimoji="0" lang="zh-CN" altLang="en-US" sz="2400">
                <a:latin typeface="Times New Roman" panose="02020603050405020304" pitchFamily="18" charset="0"/>
              </a:rPr>
              <a:t>　</a:t>
            </a:r>
            <a:r>
              <a:rPr kumimoji="0" lang="zh-CN" altLang="en-US" sz="2400">
                <a:solidFill>
                  <a:schemeClr val="accent2"/>
                </a:solidFill>
                <a:latin typeface="Times New Roman" panose="02020603050405020304" pitchFamily="18" charset="0"/>
                <a:ea typeface="黑体" panose="02010609060101010101" pitchFamily="49" charset="-122"/>
              </a:rPr>
              <a:t>软件生命周期</a:t>
            </a:r>
          </a:p>
          <a:p>
            <a:pPr>
              <a:lnSpc>
                <a:spcPts val="2800"/>
              </a:lnSpc>
              <a:spcBef>
                <a:spcPct val="0"/>
              </a:spcBef>
              <a:buSzPct val="70000"/>
              <a:buFont typeface="Wingdings" panose="05000000000000000000" pitchFamily="2" charset="2"/>
              <a:buNone/>
            </a:pPr>
            <a:r>
              <a:rPr kumimoji="0" lang="zh-CN" altLang="en-US" sz="2000">
                <a:latin typeface="Times New Roman" panose="02020603050405020304" pitchFamily="18" charset="0"/>
              </a:rPr>
              <a:t>　　软件从需求确定、设计、开发、测试直至投入使用，并在使用中不断地修改、增补和完善，直至被新的系统所替代而停止该软件的使用的全过程。</a:t>
            </a:r>
          </a:p>
          <a:p>
            <a:pPr>
              <a:lnSpc>
                <a:spcPts val="2800"/>
              </a:lnSpc>
              <a:spcBef>
                <a:spcPct val="0"/>
              </a:spcBef>
              <a:buSzPct val="70000"/>
              <a:buFont typeface="Wingdings" panose="05000000000000000000" pitchFamily="2" charset="2"/>
              <a:buChar char="n"/>
            </a:pPr>
            <a:r>
              <a:rPr kumimoji="0" lang="zh-CN" altLang="en-US" sz="2400" b="0">
                <a:latin typeface="Times New Roman" panose="02020603050405020304" pitchFamily="18" charset="0"/>
              </a:rPr>
              <a:t>　</a:t>
            </a:r>
            <a:r>
              <a:rPr kumimoji="0" lang="zh-CN" altLang="en-US" sz="2400">
                <a:solidFill>
                  <a:schemeClr val="accent2"/>
                </a:solidFill>
                <a:latin typeface="Times New Roman" panose="02020603050405020304" pitchFamily="18" charset="0"/>
                <a:ea typeface="黑体" panose="02010609060101010101" pitchFamily="49" charset="-122"/>
              </a:rPr>
              <a:t>可划分为以下子阶段</a:t>
            </a:r>
            <a:r>
              <a:rPr kumimoji="0" lang="zh-CN" altLang="en-US" sz="2400" b="0">
                <a:latin typeface="Times New Roman" panose="02020603050405020304" pitchFamily="18" charset="0"/>
              </a:rPr>
              <a:t> </a:t>
            </a:r>
          </a:p>
          <a:p>
            <a:pPr>
              <a:lnSpc>
                <a:spcPts val="2800"/>
              </a:lnSpc>
              <a:spcBef>
                <a:spcPct val="0"/>
              </a:spcBef>
              <a:buSzPct val="70000"/>
              <a:buFont typeface="Wingdings" panose="05000000000000000000" pitchFamily="2" charset="2"/>
              <a:buNone/>
            </a:pPr>
            <a:r>
              <a:rPr kumimoji="0" lang="zh-CN" altLang="en-US" sz="2400" b="0">
                <a:latin typeface="Times New Roman" panose="02020603050405020304" pitchFamily="18" charset="0"/>
              </a:rPr>
              <a:t>       </a:t>
            </a:r>
            <a:r>
              <a:rPr kumimoji="0" lang="en-US" altLang="zh-CN" sz="2000">
                <a:latin typeface="Times New Roman" panose="02020603050405020304" pitchFamily="18" charset="0"/>
              </a:rPr>
              <a:t>1.</a:t>
            </a:r>
            <a:r>
              <a:rPr kumimoji="0" lang="zh-CN" altLang="en-US" sz="2000">
                <a:latin typeface="Times New Roman" panose="02020603050405020304" pitchFamily="18" charset="0"/>
              </a:rPr>
              <a:t>可行性研究</a:t>
            </a:r>
          </a:p>
          <a:p>
            <a:pPr>
              <a:lnSpc>
                <a:spcPts val="2800"/>
              </a:lnSpc>
              <a:spcBef>
                <a:spcPct val="0"/>
              </a:spcBef>
              <a:buClrTx/>
              <a:buFontTx/>
              <a:buNone/>
            </a:pPr>
            <a:r>
              <a:rPr kumimoji="0" lang="zh-CN" altLang="en-US" sz="2000">
                <a:latin typeface="Times New Roman" panose="02020603050405020304" pitchFamily="18" charset="0"/>
              </a:rPr>
              <a:t>　　</a:t>
            </a:r>
            <a:r>
              <a:rPr kumimoji="0" lang="en-US" altLang="zh-CN" sz="2000">
                <a:latin typeface="Times New Roman" panose="02020603050405020304" pitchFamily="18" charset="0"/>
              </a:rPr>
              <a:t>2.</a:t>
            </a:r>
            <a:r>
              <a:rPr kumimoji="0" lang="zh-CN" altLang="en-US" sz="2000">
                <a:latin typeface="Times New Roman" panose="02020603050405020304" pitchFamily="18" charset="0"/>
              </a:rPr>
              <a:t>需求分析和定义</a:t>
            </a:r>
          </a:p>
          <a:p>
            <a:pPr>
              <a:lnSpc>
                <a:spcPts val="2800"/>
              </a:lnSpc>
              <a:spcBef>
                <a:spcPct val="0"/>
              </a:spcBef>
              <a:buClrTx/>
              <a:buFontTx/>
              <a:buNone/>
            </a:pPr>
            <a:r>
              <a:rPr kumimoji="0" lang="zh-CN" altLang="en-US" sz="2000">
                <a:latin typeface="Times New Roman" panose="02020603050405020304" pitchFamily="18" charset="0"/>
              </a:rPr>
              <a:t>　　</a:t>
            </a:r>
            <a:r>
              <a:rPr kumimoji="0" lang="en-US" altLang="zh-CN" sz="2000">
                <a:latin typeface="Times New Roman" panose="02020603050405020304" pitchFamily="18" charset="0"/>
              </a:rPr>
              <a:t>3.</a:t>
            </a:r>
            <a:r>
              <a:rPr kumimoji="0" lang="zh-CN" altLang="en-US" sz="2000">
                <a:latin typeface="Times New Roman" panose="02020603050405020304" pitchFamily="18" charset="0"/>
              </a:rPr>
              <a:t>总体设计</a:t>
            </a:r>
          </a:p>
          <a:p>
            <a:pPr>
              <a:lnSpc>
                <a:spcPts val="2800"/>
              </a:lnSpc>
              <a:spcBef>
                <a:spcPct val="0"/>
              </a:spcBef>
              <a:buClrTx/>
              <a:buFontTx/>
              <a:buNone/>
            </a:pPr>
            <a:r>
              <a:rPr kumimoji="0" lang="zh-CN" altLang="en-US" sz="2000">
                <a:latin typeface="Times New Roman" panose="02020603050405020304" pitchFamily="18" charset="0"/>
              </a:rPr>
              <a:t>　　</a:t>
            </a:r>
            <a:r>
              <a:rPr kumimoji="0" lang="en-US" altLang="zh-CN" sz="2000">
                <a:latin typeface="Times New Roman" panose="02020603050405020304" pitchFamily="18" charset="0"/>
              </a:rPr>
              <a:t>4.</a:t>
            </a:r>
            <a:r>
              <a:rPr kumimoji="0" lang="zh-CN" altLang="en-US" sz="2000">
                <a:latin typeface="Times New Roman" panose="02020603050405020304" pitchFamily="18" charset="0"/>
              </a:rPr>
              <a:t>详细设计</a:t>
            </a:r>
          </a:p>
          <a:p>
            <a:pPr>
              <a:lnSpc>
                <a:spcPts val="2800"/>
              </a:lnSpc>
              <a:spcBef>
                <a:spcPct val="0"/>
              </a:spcBef>
              <a:buClrTx/>
              <a:buFontTx/>
              <a:buNone/>
            </a:pPr>
            <a:r>
              <a:rPr kumimoji="0" lang="zh-CN" altLang="en-US" sz="2000">
                <a:latin typeface="Times New Roman" panose="02020603050405020304" pitchFamily="18" charset="0"/>
              </a:rPr>
              <a:t>　　</a:t>
            </a:r>
            <a:r>
              <a:rPr kumimoji="0" lang="en-US" altLang="zh-CN" sz="2000">
                <a:latin typeface="Times New Roman" panose="02020603050405020304" pitchFamily="18" charset="0"/>
              </a:rPr>
              <a:t>5.</a:t>
            </a:r>
            <a:r>
              <a:rPr kumimoji="0" lang="zh-CN" altLang="en-US" sz="2000">
                <a:latin typeface="Times New Roman" panose="02020603050405020304" pitchFamily="18" charset="0"/>
              </a:rPr>
              <a:t>编码（实现）</a:t>
            </a:r>
          </a:p>
          <a:p>
            <a:pPr>
              <a:lnSpc>
                <a:spcPts val="2800"/>
              </a:lnSpc>
              <a:spcBef>
                <a:spcPct val="0"/>
              </a:spcBef>
              <a:buClrTx/>
              <a:buFontTx/>
              <a:buNone/>
            </a:pPr>
            <a:r>
              <a:rPr kumimoji="0" lang="zh-CN" altLang="en-US" sz="2000">
                <a:latin typeface="Times New Roman" panose="02020603050405020304" pitchFamily="18" charset="0"/>
              </a:rPr>
              <a:t>　　</a:t>
            </a:r>
            <a:r>
              <a:rPr kumimoji="0" lang="en-US" altLang="zh-CN" sz="2000">
                <a:latin typeface="Times New Roman" panose="02020603050405020304" pitchFamily="18" charset="0"/>
              </a:rPr>
              <a:t>6.</a:t>
            </a:r>
            <a:r>
              <a:rPr kumimoji="0" lang="zh-CN" altLang="en-US" sz="2000">
                <a:latin typeface="Times New Roman" panose="02020603050405020304" pitchFamily="18" charset="0"/>
              </a:rPr>
              <a:t>软件测试、运行</a:t>
            </a:r>
            <a:r>
              <a:rPr kumimoji="0" lang="en-US" altLang="zh-CN" sz="2000">
                <a:latin typeface="Times New Roman" panose="02020603050405020304" pitchFamily="18" charset="0"/>
              </a:rPr>
              <a:t>/</a:t>
            </a:r>
            <a:r>
              <a:rPr kumimoji="0" lang="zh-CN" altLang="en-US" sz="2000">
                <a:latin typeface="Times New Roman" panose="02020603050405020304" pitchFamily="18" charset="0"/>
              </a:rPr>
              <a:t>维护</a:t>
            </a:r>
          </a:p>
          <a:p>
            <a:pPr>
              <a:lnSpc>
                <a:spcPts val="2800"/>
              </a:lnSpc>
              <a:spcBef>
                <a:spcPct val="0"/>
              </a:spcBef>
              <a:buClrTx/>
              <a:buFontTx/>
              <a:buNone/>
            </a:pPr>
            <a:r>
              <a:rPr kumimoji="0" lang="zh-CN" altLang="en-US" sz="2000">
                <a:latin typeface="Times New Roman" panose="02020603050405020304" pitchFamily="18" charset="0"/>
              </a:rPr>
              <a:t>　　据此相继产生了瀑布模型、螺旋模型、进化模型、原型模型、增量模型等。本节分别对这几种传统的软件开发生命周期模型予以介绍。</a:t>
            </a:r>
            <a:r>
              <a:rPr kumimoji="0" lang="zh-CN" altLang="en-US" sz="2400" b="0">
                <a:latin typeface="Times New Roman" panose="02020603050405020304" pitchFamily="18" charset="0"/>
              </a:rPr>
              <a:t> </a:t>
            </a:r>
          </a:p>
        </p:txBody>
      </p:sp>
      <p:sp>
        <p:nvSpPr>
          <p:cNvPr id="20483" name="Rectangle 5">
            <a:extLst>
              <a:ext uri="{FF2B5EF4-FFF2-40B4-BE49-F238E27FC236}">
                <a16:creationId xmlns:a16="http://schemas.microsoft.com/office/drawing/2014/main" id="{9BFC6F3C-03DD-EF56-448E-7E6471D024D2}"/>
              </a:ext>
            </a:extLst>
          </p:cNvPr>
          <p:cNvSpPr>
            <a:spLocks noGrp="1" noChangeArrowheads="1"/>
          </p:cNvSpPr>
          <p:nvPr>
            <p:ph type="title"/>
          </p:nvPr>
        </p:nvSpPr>
        <p:spPr>
          <a:noFill/>
        </p:spPr>
        <p:txBody>
          <a:bodyPr/>
          <a:lstStyle/>
          <a:p>
            <a:pPr eaLnBrk="1" hangingPunct="1"/>
            <a:r>
              <a:rPr lang="en-US" altLang="zh-CN"/>
              <a:t>3.2  </a:t>
            </a:r>
            <a:r>
              <a:rPr lang="zh-CN" altLang="en-US"/>
              <a:t>传统软件开发生命周期模型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45424F3-BAA4-5551-76D5-4CFD11082F0C}"/>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3.2.1  </a:t>
            </a:r>
            <a:r>
              <a:rPr lang="zh-CN" altLang="en-US"/>
              <a:t>瀑布模型</a:t>
            </a:r>
          </a:p>
        </p:txBody>
      </p:sp>
      <p:grpSp>
        <p:nvGrpSpPr>
          <p:cNvPr id="101408" name="Group 32">
            <a:extLst>
              <a:ext uri="{FF2B5EF4-FFF2-40B4-BE49-F238E27FC236}">
                <a16:creationId xmlns:a16="http://schemas.microsoft.com/office/drawing/2014/main" id="{6D4F8CB4-F8AC-6958-71EE-011C07E1C42F}"/>
              </a:ext>
            </a:extLst>
          </p:cNvPr>
          <p:cNvGrpSpPr>
            <a:grpSpLocks/>
          </p:cNvGrpSpPr>
          <p:nvPr/>
        </p:nvGrpSpPr>
        <p:grpSpPr bwMode="auto">
          <a:xfrm>
            <a:off x="895350" y="2247900"/>
            <a:ext cx="1363663" cy="400050"/>
            <a:chOff x="4020" y="8595"/>
            <a:chExt cx="825" cy="300"/>
          </a:xfrm>
        </p:grpSpPr>
        <p:sp>
          <p:nvSpPr>
            <p:cNvPr id="21539" name="Text Box 33">
              <a:extLst>
                <a:ext uri="{FF2B5EF4-FFF2-40B4-BE49-F238E27FC236}">
                  <a16:creationId xmlns:a16="http://schemas.microsoft.com/office/drawing/2014/main" id="{1BC41F89-5B62-D8E4-7A87-2E4A976D3B9C}"/>
                </a:ext>
              </a:extLst>
            </p:cNvPr>
            <p:cNvSpPr txBox="1">
              <a:spLocks noChangeArrowheads="1"/>
            </p:cNvSpPr>
            <p:nvPr/>
          </p:nvSpPr>
          <p:spPr bwMode="auto">
            <a:xfrm>
              <a:off x="4020" y="8595"/>
              <a:ext cx="825" cy="300"/>
            </a:xfrm>
            <a:prstGeom prst="rect">
              <a:avLst/>
            </a:prstGeom>
            <a:solidFill>
              <a:srgbClr val="FFFFFF"/>
            </a:solidFill>
            <a:ln w="38100">
              <a:solidFill>
                <a:schemeClr val="folHlink"/>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endParaRPr kumimoji="0" lang="zh-CN" altLang="zh-CN" sz="1800">
                <a:solidFill>
                  <a:schemeClr val="accent2"/>
                </a:solidFill>
                <a:latin typeface="Times New Roman" panose="02020603050405020304" pitchFamily="18" charset="0"/>
              </a:endParaRPr>
            </a:p>
          </p:txBody>
        </p:sp>
        <p:sp>
          <p:nvSpPr>
            <p:cNvPr id="21540" name="Text Box 34">
              <a:extLst>
                <a:ext uri="{FF2B5EF4-FFF2-40B4-BE49-F238E27FC236}">
                  <a16:creationId xmlns:a16="http://schemas.microsoft.com/office/drawing/2014/main" id="{26352E26-2B7B-9265-5C38-2E14E2846680}"/>
                </a:ext>
              </a:extLst>
            </p:cNvPr>
            <p:cNvSpPr txBox="1">
              <a:spLocks noChangeArrowheads="1"/>
            </p:cNvSpPr>
            <p:nvPr/>
          </p:nvSpPr>
          <p:spPr bwMode="auto">
            <a:xfrm>
              <a:off x="4113" y="8640"/>
              <a:ext cx="66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folHlink"/>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r>
                <a:rPr kumimoji="0" lang="zh-CN" altLang="en-US" sz="1800">
                  <a:solidFill>
                    <a:schemeClr val="accent2"/>
                  </a:solidFill>
                  <a:latin typeface="Times New Roman" panose="02020603050405020304" pitchFamily="18" charset="0"/>
                </a:rPr>
                <a:t>系统需求</a:t>
              </a:r>
            </a:p>
          </p:txBody>
        </p:sp>
      </p:grpSp>
      <p:grpSp>
        <p:nvGrpSpPr>
          <p:cNvPr id="101411" name="Group 35">
            <a:extLst>
              <a:ext uri="{FF2B5EF4-FFF2-40B4-BE49-F238E27FC236}">
                <a16:creationId xmlns:a16="http://schemas.microsoft.com/office/drawing/2014/main" id="{386F2B2F-DEF5-836C-AED9-E1E6D3D01D21}"/>
              </a:ext>
            </a:extLst>
          </p:cNvPr>
          <p:cNvGrpSpPr>
            <a:grpSpLocks/>
          </p:cNvGrpSpPr>
          <p:nvPr/>
        </p:nvGrpSpPr>
        <p:grpSpPr bwMode="auto">
          <a:xfrm>
            <a:off x="1516063" y="2828925"/>
            <a:ext cx="1363662" cy="401638"/>
            <a:chOff x="4020" y="8595"/>
            <a:chExt cx="825" cy="300"/>
          </a:xfrm>
        </p:grpSpPr>
        <p:sp>
          <p:nvSpPr>
            <p:cNvPr id="21537" name="Text Box 36">
              <a:extLst>
                <a:ext uri="{FF2B5EF4-FFF2-40B4-BE49-F238E27FC236}">
                  <a16:creationId xmlns:a16="http://schemas.microsoft.com/office/drawing/2014/main" id="{13101993-22FE-6435-26EF-481DEA08CACF}"/>
                </a:ext>
              </a:extLst>
            </p:cNvPr>
            <p:cNvSpPr txBox="1">
              <a:spLocks noChangeArrowheads="1"/>
            </p:cNvSpPr>
            <p:nvPr/>
          </p:nvSpPr>
          <p:spPr bwMode="auto">
            <a:xfrm>
              <a:off x="4020" y="8595"/>
              <a:ext cx="825" cy="300"/>
            </a:xfrm>
            <a:prstGeom prst="rect">
              <a:avLst/>
            </a:prstGeom>
            <a:solidFill>
              <a:srgbClr val="FFFFFF"/>
            </a:solidFill>
            <a:ln w="38100">
              <a:solidFill>
                <a:schemeClr val="folHlink"/>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endParaRPr kumimoji="0" lang="zh-CN" altLang="zh-CN" sz="1800">
                <a:solidFill>
                  <a:schemeClr val="accent2"/>
                </a:solidFill>
                <a:latin typeface="Times New Roman" panose="02020603050405020304" pitchFamily="18" charset="0"/>
              </a:endParaRPr>
            </a:p>
          </p:txBody>
        </p:sp>
        <p:sp>
          <p:nvSpPr>
            <p:cNvPr id="21538" name="Text Box 37">
              <a:extLst>
                <a:ext uri="{FF2B5EF4-FFF2-40B4-BE49-F238E27FC236}">
                  <a16:creationId xmlns:a16="http://schemas.microsoft.com/office/drawing/2014/main" id="{2D115F71-DD7D-C70D-5E3B-6B5694200F88}"/>
                </a:ext>
              </a:extLst>
            </p:cNvPr>
            <p:cNvSpPr txBox="1">
              <a:spLocks noChangeArrowheads="1"/>
            </p:cNvSpPr>
            <p:nvPr/>
          </p:nvSpPr>
          <p:spPr bwMode="auto">
            <a:xfrm>
              <a:off x="4113" y="8640"/>
              <a:ext cx="66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folHlink"/>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r>
                <a:rPr kumimoji="0" lang="zh-CN" altLang="en-US" sz="1800">
                  <a:solidFill>
                    <a:schemeClr val="accent2"/>
                  </a:solidFill>
                  <a:latin typeface="Times New Roman" panose="02020603050405020304" pitchFamily="18" charset="0"/>
                </a:rPr>
                <a:t>软件需求</a:t>
              </a:r>
            </a:p>
          </p:txBody>
        </p:sp>
      </p:grpSp>
      <p:grpSp>
        <p:nvGrpSpPr>
          <p:cNvPr id="101414" name="Group 38">
            <a:extLst>
              <a:ext uri="{FF2B5EF4-FFF2-40B4-BE49-F238E27FC236}">
                <a16:creationId xmlns:a16="http://schemas.microsoft.com/office/drawing/2014/main" id="{87679701-210D-381D-2854-918D4F8DC48D}"/>
              </a:ext>
            </a:extLst>
          </p:cNvPr>
          <p:cNvGrpSpPr>
            <a:grpSpLocks/>
          </p:cNvGrpSpPr>
          <p:nvPr/>
        </p:nvGrpSpPr>
        <p:grpSpPr bwMode="auto">
          <a:xfrm>
            <a:off x="2160588" y="3409950"/>
            <a:ext cx="1363662" cy="400050"/>
            <a:chOff x="4020" y="8595"/>
            <a:chExt cx="825" cy="300"/>
          </a:xfrm>
        </p:grpSpPr>
        <p:sp>
          <p:nvSpPr>
            <p:cNvPr id="21535" name="Text Box 39">
              <a:extLst>
                <a:ext uri="{FF2B5EF4-FFF2-40B4-BE49-F238E27FC236}">
                  <a16:creationId xmlns:a16="http://schemas.microsoft.com/office/drawing/2014/main" id="{3C46AAC5-E337-8D7D-CEAC-4FF2BCA7C011}"/>
                </a:ext>
              </a:extLst>
            </p:cNvPr>
            <p:cNvSpPr txBox="1">
              <a:spLocks noChangeArrowheads="1"/>
            </p:cNvSpPr>
            <p:nvPr/>
          </p:nvSpPr>
          <p:spPr bwMode="auto">
            <a:xfrm>
              <a:off x="4020" y="8595"/>
              <a:ext cx="825" cy="300"/>
            </a:xfrm>
            <a:prstGeom prst="rect">
              <a:avLst/>
            </a:prstGeom>
            <a:solidFill>
              <a:srgbClr val="FFFFFF"/>
            </a:solidFill>
            <a:ln w="38100">
              <a:solidFill>
                <a:schemeClr val="folHlink"/>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endParaRPr kumimoji="0" lang="zh-CN" altLang="zh-CN" sz="1800">
                <a:solidFill>
                  <a:schemeClr val="accent2"/>
                </a:solidFill>
                <a:latin typeface="Times New Roman" panose="02020603050405020304" pitchFamily="18" charset="0"/>
              </a:endParaRPr>
            </a:p>
          </p:txBody>
        </p:sp>
        <p:sp>
          <p:nvSpPr>
            <p:cNvPr id="21536" name="Text Box 40">
              <a:extLst>
                <a:ext uri="{FF2B5EF4-FFF2-40B4-BE49-F238E27FC236}">
                  <a16:creationId xmlns:a16="http://schemas.microsoft.com/office/drawing/2014/main" id="{CEFA1587-31EA-617A-4821-785FC4D9F085}"/>
                </a:ext>
              </a:extLst>
            </p:cNvPr>
            <p:cNvSpPr txBox="1">
              <a:spLocks noChangeArrowheads="1"/>
            </p:cNvSpPr>
            <p:nvPr/>
          </p:nvSpPr>
          <p:spPr bwMode="auto">
            <a:xfrm>
              <a:off x="4113" y="8640"/>
              <a:ext cx="66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folHlink"/>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r>
                <a:rPr kumimoji="0" lang="zh-CN" altLang="en-US" sz="1800">
                  <a:solidFill>
                    <a:schemeClr val="accent2"/>
                  </a:solidFill>
                  <a:latin typeface="Times New Roman" panose="02020603050405020304" pitchFamily="18" charset="0"/>
                </a:rPr>
                <a:t>分析</a:t>
              </a:r>
            </a:p>
          </p:txBody>
        </p:sp>
      </p:grpSp>
      <p:sp>
        <p:nvSpPr>
          <p:cNvPr id="101417" name="Arc 41">
            <a:extLst>
              <a:ext uri="{FF2B5EF4-FFF2-40B4-BE49-F238E27FC236}">
                <a16:creationId xmlns:a16="http://schemas.microsoft.com/office/drawing/2014/main" id="{01A61097-5048-B169-7CAE-0A6129CF4E7D}"/>
              </a:ext>
            </a:extLst>
          </p:cNvPr>
          <p:cNvSpPr>
            <a:spLocks/>
          </p:cNvSpPr>
          <p:nvPr/>
        </p:nvSpPr>
        <p:spPr bwMode="auto">
          <a:xfrm flipH="1" flipV="1">
            <a:off x="1044575" y="2630488"/>
            <a:ext cx="474663" cy="498475"/>
          </a:xfrm>
          <a:custGeom>
            <a:avLst/>
            <a:gdLst>
              <a:gd name="T0" fmla="*/ 0 w 21600"/>
              <a:gd name="T1" fmla="*/ 0 h 26934"/>
              <a:gd name="T2" fmla="*/ 2147483646 w 21600"/>
              <a:gd name="T3" fmla="*/ 2147483646 h 26934"/>
              <a:gd name="T4" fmla="*/ 0 w 21600"/>
              <a:gd name="T5" fmla="*/ 2147483646 h 26934"/>
              <a:gd name="T6" fmla="*/ 0 60000 65536"/>
              <a:gd name="T7" fmla="*/ 0 60000 65536"/>
              <a:gd name="T8" fmla="*/ 0 60000 65536"/>
            </a:gdLst>
            <a:ahLst/>
            <a:cxnLst>
              <a:cxn ang="T6">
                <a:pos x="T0" y="T1"/>
              </a:cxn>
              <a:cxn ang="T7">
                <a:pos x="T2" y="T3"/>
              </a:cxn>
              <a:cxn ang="T8">
                <a:pos x="T4" y="T5"/>
              </a:cxn>
            </a:cxnLst>
            <a:rect l="0" t="0" r="r" b="b"/>
            <a:pathLst>
              <a:path w="21600" h="26934" fill="none" extrusionOk="0">
                <a:moveTo>
                  <a:pt x="0" y="0"/>
                </a:moveTo>
                <a:cubicBezTo>
                  <a:pt x="11929" y="0"/>
                  <a:pt x="21600" y="9670"/>
                  <a:pt x="21600" y="21600"/>
                </a:cubicBezTo>
                <a:cubicBezTo>
                  <a:pt x="21600" y="23398"/>
                  <a:pt x="21375" y="25190"/>
                  <a:pt x="20931" y="26934"/>
                </a:cubicBezTo>
              </a:path>
              <a:path w="21600" h="26934" stroke="0" extrusionOk="0">
                <a:moveTo>
                  <a:pt x="0" y="0"/>
                </a:moveTo>
                <a:cubicBezTo>
                  <a:pt x="11929" y="0"/>
                  <a:pt x="21600" y="9670"/>
                  <a:pt x="21600" y="21600"/>
                </a:cubicBezTo>
                <a:cubicBezTo>
                  <a:pt x="21600" y="23398"/>
                  <a:pt x="21375" y="25190"/>
                  <a:pt x="20931" y="26934"/>
                </a:cubicBezTo>
                <a:lnTo>
                  <a:pt x="0" y="21600"/>
                </a:lnTo>
                <a:lnTo>
                  <a:pt x="0" y="0"/>
                </a:lnTo>
                <a:close/>
              </a:path>
            </a:pathLst>
          </a:custGeom>
          <a:noFill/>
          <a:ln w="38100">
            <a:solidFill>
              <a:schemeClr val="folHlink"/>
            </a:solidFill>
            <a:prstDash val="dash"/>
            <a:round/>
            <a:headEnd/>
            <a:tailEnd type="triangl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18" name="Arc 42">
            <a:extLst>
              <a:ext uri="{FF2B5EF4-FFF2-40B4-BE49-F238E27FC236}">
                <a16:creationId xmlns:a16="http://schemas.microsoft.com/office/drawing/2014/main" id="{906317ED-303C-0F58-6681-0736736B4661}"/>
              </a:ext>
            </a:extLst>
          </p:cNvPr>
          <p:cNvSpPr>
            <a:spLocks/>
          </p:cNvSpPr>
          <p:nvPr/>
        </p:nvSpPr>
        <p:spPr bwMode="auto">
          <a:xfrm>
            <a:off x="2254250" y="2351088"/>
            <a:ext cx="474663" cy="498475"/>
          </a:xfrm>
          <a:custGeom>
            <a:avLst/>
            <a:gdLst>
              <a:gd name="T0" fmla="*/ 0 w 21600"/>
              <a:gd name="T1" fmla="*/ 0 h 26934"/>
              <a:gd name="T2" fmla="*/ 2147483646 w 21600"/>
              <a:gd name="T3" fmla="*/ 2147483646 h 26934"/>
              <a:gd name="T4" fmla="*/ 0 w 21600"/>
              <a:gd name="T5" fmla="*/ 2147483646 h 26934"/>
              <a:gd name="T6" fmla="*/ 0 60000 65536"/>
              <a:gd name="T7" fmla="*/ 0 60000 65536"/>
              <a:gd name="T8" fmla="*/ 0 60000 65536"/>
            </a:gdLst>
            <a:ahLst/>
            <a:cxnLst>
              <a:cxn ang="T6">
                <a:pos x="T0" y="T1"/>
              </a:cxn>
              <a:cxn ang="T7">
                <a:pos x="T2" y="T3"/>
              </a:cxn>
              <a:cxn ang="T8">
                <a:pos x="T4" y="T5"/>
              </a:cxn>
            </a:cxnLst>
            <a:rect l="0" t="0" r="r" b="b"/>
            <a:pathLst>
              <a:path w="21600" h="26934" fill="none" extrusionOk="0">
                <a:moveTo>
                  <a:pt x="0" y="0"/>
                </a:moveTo>
                <a:cubicBezTo>
                  <a:pt x="11929" y="0"/>
                  <a:pt x="21600" y="9670"/>
                  <a:pt x="21600" y="21600"/>
                </a:cubicBezTo>
                <a:cubicBezTo>
                  <a:pt x="21600" y="23398"/>
                  <a:pt x="21375" y="25190"/>
                  <a:pt x="20931" y="26934"/>
                </a:cubicBezTo>
              </a:path>
              <a:path w="21600" h="26934" stroke="0" extrusionOk="0">
                <a:moveTo>
                  <a:pt x="0" y="0"/>
                </a:moveTo>
                <a:cubicBezTo>
                  <a:pt x="11929" y="0"/>
                  <a:pt x="21600" y="9670"/>
                  <a:pt x="21600" y="21600"/>
                </a:cubicBezTo>
                <a:cubicBezTo>
                  <a:pt x="21600" y="23398"/>
                  <a:pt x="21375" y="25190"/>
                  <a:pt x="20931" y="26934"/>
                </a:cubicBezTo>
                <a:lnTo>
                  <a:pt x="0" y="21600"/>
                </a:lnTo>
                <a:lnTo>
                  <a:pt x="0" y="0"/>
                </a:lnTo>
                <a:close/>
              </a:path>
            </a:pathLst>
          </a:custGeom>
          <a:noFill/>
          <a:ln w="38100">
            <a:solidFill>
              <a:schemeClr val="folHlink"/>
            </a:solidFill>
            <a:round/>
            <a:headEnd/>
            <a:tailEnd type="triangl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19" name="Arc 43">
            <a:extLst>
              <a:ext uri="{FF2B5EF4-FFF2-40B4-BE49-F238E27FC236}">
                <a16:creationId xmlns:a16="http://schemas.microsoft.com/office/drawing/2014/main" id="{FE5C3F0A-69A1-4032-DB3C-67120B9E4D43}"/>
              </a:ext>
            </a:extLst>
          </p:cNvPr>
          <p:cNvSpPr>
            <a:spLocks/>
          </p:cNvSpPr>
          <p:nvPr/>
        </p:nvSpPr>
        <p:spPr bwMode="auto">
          <a:xfrm>
            <a:off x="2903538" y="2932113"/>
            <a:ext cx="474662" cy="500062"/>
          </a:xfrm>
          <a:custGeom>
            <a:avLst/>
            <a:gdLst>
              <a:gd name="T0" fmla="*/ 0 w 21600"/>
              <a:gd name="T1" fmla="*/ 0 h 26934"/>
              <a:gd name="T2" fmla="*/ 2147483646 w 21600"/>
              <a:gd name="T3" fmla="*/ 2147483646 h 26934"/>
              <a:gd name="T4" fmla="*/ 0 w 21600"/>
              <a:gd name="T5" fmla="*/ 2147483646 h 26934"/>
              <a:gd name="T6" fmla="*/ 0 60000 65536"/>
              <a:gd name="T7" fmla="*/ 0 60000 65536"/>
              <a:gd name="T8" fmla="*/ 0 60000 65536"/>
            </a:gdLst>
            <a:ahLst/>
            <a:cxnLst>
              <a:cxn ang="T6">
                <a:pos x="T0" y="T1"/>
              </a:cxn>
              <a:cxn ang="T7">
                <a:pos x="T2" y="T3"/>
              </a:cxn>
              <a:cxn ang="T8">
                <a:pos x="T4" y="T5"/>
              </a:cxn>
            </a:cxnLst>
            <a:rect l="0" t="0" r="r" b="b"/>
            <a:pathLst>
              <a:path w="21600" h="26934" fill="none" extrusionOk="0">
                <a:moveTo>
                  <a:pt x="0" y="0"/>
                </a:moveTo>
                <a:cubicBezTo>
                  <a:pt x="11929" y="0"/>
                  <a:pt x="21600" y="9670"/>
                  <a:pt x="21600" y="21600"/>
                </a:cubicBezTo>
                <a:cubicBezTo>
                  <a:pt x="21600" y="23398"/>
                  <a:pt x="21375" y="25190"/>
                  <a:pt x="20931" y="26934"/>
                </a:cubicBezTo>
              </a:path>
              <a:path w="21600" h="26934" stroke="0" extrusionOk="0">
                <a:moveTo>
                  <a:pt x="0" y="0"/>
                </a:moveTo>
                <a:cubicBezTo>
                  <a:pt x="11929" y="0"/>
                  <a:pt x="21600" y="9670"/>
                  <a:pt x="21600" y="21600"/>
                </a:cubicBezTo>
                <a:cubicBezTo>
                  <a:pt x="21600" y="23398"/>
                  <a:pt x="21375" y="25190"/>
                  <a:pt x="20931" y="26934"/>
                </a:cubicBezTo>
                <a:lnTo>
                  <a:pt x="0" y="21600"/>
                </a:lnTo>
                <a:lnTo>
                  <a:pt x="0" y="0"/>
                </a:lnTo>
                <a:close/>
              </a:path>
            </a:pathLst>
          </a:custGeom>
          <a:noFill/>
          <a:ln w="38100">
            <a:solidFill>
              <a:schemeClr val="folHlink"/>
            </a:solidFill>
            <a:round/>
            <a:headEnd/>
            <a:tailEnd type="triangl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20" name="Arc 44">
            <a:extLst>
              <a:ext uri="{FF2B5EF4-FFF2-40B4-BE49-F238E27FC236}">
                <a16:creationId xmlns:a16="http://schemas.microsoft.com/office/drawing/2014/main" id="{9AB6843C-92CA-1B5D-113A-AF2FEDD6785D}"/>
              </a:ext>
            </a:extLst>
          </p:cNvPr>
          <p:cNvSpPr>
            <a:spLocks/>
          </p:cNvSpPr>
          <p:nvPr/>
        </p:nvSpPr>
        <p:spPr bwMode="auto">
          <a:xfrm flipH="1" flipV="1">
            <a:off x="1689100" y="3213100"/>
            <a:ext cx="474663" cy="498475"/>
          </a:xfrm>
          <a:custGeom>
            <a:avLst/>
            <a:gdLst>
              <a:gd name="T0" fmla="*/ 0 w 21600"/>
              <a:gd name="T1" fmla="*/ 0 h 26934"/>
              <a:gd name="T2" fmla="*/ 2147483646 w 21600"/>
              <a:gd name="T3" fmla="*/ 2147483646 h 26934"/>
              <a:gd name="T4" fmla="*/ 0 w 21600"/>
              <a:gd name="T5" fmla="*/ 2147483646 h 26934"/>
              <a:gd name="T6" fmla="*/ 0 60000 65536"/>
              <a:gd name="T7" fmla="*/ 0 60000 65536"/>
              <a:gd name="T8" fmla="*/ 0 60000 65536"/>
            </a:gdLst>
            <a:ahLst/>
            <a:cxnLst>
              <a:cxn ang="T6">
                <a:pos x="T0" y="T1"/>
              </a:cxn>
              <a:cxn ang="T7">
                <a:pos x="T2" y="T3"/>
              </a:cxn>
              <a:cxn ang="T8">
                <a:pos x="T4" y="T5"/>
              </a:cxn>
            </a:cxnLst>
            <a:rect l="0" t="0" r="r" b="b"/>
            <a:pathLst>
              <a:path w="21600" h="26934" fill="none" extrusionOk="0">
                <a:moveTo>
                  <a:pt x="0" y="0"/>
                </a:moveTo>
                <a:cubicBezTo>
                  <a:pt x="11929" y="0"/>
                  <a:pt x="21600" y="9670"/>
                  <a:pt x="21600" y="21600"/>
                </a:cubicBezTo>
                <a:cubicBezTo>
                  <a:pt x="21600" y="23398"/>
                  <a:pt x="21375" y="25190"/>
                  <a:pt x="20931" y="26934"/>
                </a:cubicBezTo>
              </a:path>
              <a:path w="21600" h="26934" stroke="0" extrusionOk="0">
                <a:moveTo>
                  <a:pt x="0" y="0"/>
                </a:moveTo>
                <a:cubicBezTo>
                  <a:pt x="11929" y="0"/>
                  <a:pt x="21600" y="9670"/>
                  <a:pt x="21600" y="21600"/>
                </a:cubicBezTo>
                <a:cubicBezTo>
                  <a:pt x="21600" y="23398"/>
                  <a:pt x="21375" y="25190"/>
                  <a:pt x="20931" y="26934"/>
                </a:cubicBezTo>
                <a:lnTo>
                  <a:pt x="0" y="21600"/>
                </a:lnTo>
                <a:lnTo>
                  <a:pt x="0" y="0"/>
                </a:lnTo>
                <a:close/>
              </a:path>
            </a:pathLst>
          </a:custGeom>
          <a:noFill/>
          <a:ln w="38100">
            <a:solidFill>
              <a:schemeClr val="folHlink"/>
            </a:solidFill>
            <a:prstDash val="dash"/>
            <a:round/>
            <a:headEnd/>
            <a:tailEnd type="triangl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21" name="Arc 45">
            <a:extLst>
              <a:ext uri="{FF2B5EF4-FFF2-40B4-BE49-F238E27FC236}">
                <a16:creationId xmlns:a16="http://schemas.microsoft.com/office/drawing/2014/main" id="{B00B8B05-7466-EB4C-1CB8-091EFF8B902B}"/>
              </a:ext>
            </a:extLst>
          </p:cNvPr>
          <p:cNvSpPr>
            <a:spLocks/>
          </p:cNvSpPr>
          <p:nvPr/>
        </p:nvSpPr>
        <p:spPr bwMode="auto">
          <a:xfrm>
            <a:off x="3524250" y="3494088"/>
            <a:ext cx="474663" cy="500062"/>
          </a:xfrm>
          <a:custGeom>
            <a:avLst/>
            <a:gdLst>
              <a:gd name="T0" fmla="*/ 0 w 21600"/>
              <a:gd name="T1" fmla="*/ 0 h 26934"/>
              <a:gd name="T2" fmla="*/ 2147483646 w 21600"/>
              <a:gd name="T3" fmla="*/ 2147483646 h 26934"/>
              <a:gd name="T4" fmla="*/ 0 w 21600"/>
              <a:gd name="T5" fmla="*/ 2147483646 h 26934"/>
              <a:gd name="T6" fmla="*/ 0 60000 65536"/>
              <a:gd name="T7" fmla="*/ 0 60000 65536"/>
              <a:gd name="T8" fmla="*/ 0 60000 65536"/>
            </a:gdLst>
            <a:ahLst/>
            <a:cxnLst>
              <a:cxn ang="T6">
                <a:pos x="T0" y="T1"/>
              </a:cxn>
              <a:cxn ang="T7">
                <a:pos x="T2" y="T3"/>
              </a:cxn>
              <a:cxn ang="T8">
                <a:pos x="T4" y="T5"/>
              </a:cxn>
            </a:cxnLst>
            <a:rect l="0" t="0" r="r" b="b"/>
            <a:pathLst>
              <a:path w="21600" h="26934" fill="none" extrusionOk="0">
                <a:moveTo>
                  <a:pt x="0" y="0"/>
                </a:moveTo>
                <a:cubicBezTo>
                  <a:pt x="11929" y="0"/>
                  <a:pt x="21600" y="9670"/>
                  <a:pt x="21600" y="21600"/>
                </a:cubicBezTo>
                <a:cubicBezTo>
                  <a:pt x="21600" y="23398"/>
                  <a:pt x="21375" y="25190"/>
                  <a:pt x="20931" y="26934"/>
                </a:cubicBezTo>
              </a:path>
              <a:path w="21600" h="26934" stroke="0" extrusionOk="0">
                <a:moveTo>
                  <a:pt x="0" y="0"/>
                </a:moveTo>
                <a:cubicBezTo>
                  <a:pt x="11929" y="0"/>
                  <a:pt x="21600" y="9670"/>
                  <a:pt x="21600" y="21600"/>
                </a:cubicBezTo>
                <a:cubicBezTo>
                  <a:pt x="21600" y="23398"/>
                  <a:pt x="21375" y="25190"/>
                  <a:pt x="20931" y="26934"/>
                </a:cubicBezTo>
                <a:lnTo>
                  <a:pt x="0" y="21600"/>
                </a:lnTo>
                <a:lnTo>
                  <a:pt x="0" y="0"/>
                </a:lnTo>
                <a:close/>
              </a:path>
            </a:pathLst>
          </a:custGeom>
          <a:noFill/>
          <a:ln w="38100">
            <a:solidFill>
              <a:schemeClr val="folHlink"/>
            </a:solidFill>
            <a:round/>
            <a:headEnd/>
            <a:tailEnd type="triangl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22" name="Arc 46">
            <a:extLst>
              <a:ext uri="{FF2B5EF4-FFF2-40B4-BE49-F238E27FC236}">
                <a16:creationId xmlns:a16="http://schemas.microsoft.com/office/drawing/2014/main" id="{779435BB-1BAD-CB7A-3038-718EAA2C4C3F}"/>
              </a:ext>
            </a:extLst>
          </p:cNvPr>
          <p:cNvSpPr>
            <a:spLocks/>
          </p:cNvSpPr>
          <p:nvPr/>
        </p:nvSpPr>
        <p:spPr bwMode="auto">
          <a:xfrm flipH="1" flipV="1">
            <a:off x="2359025" y="3792538"/>
            <a:ext cx="474663" cy="500062"/>
          </a:xfrm>
          <a:custGeom>
            <a:avLst/>
            <a:gdLst>
              <a:gd name="T0" fmla="*/ 0 w 21600"/>
              <a:gd name="T1" fmla="*/ 0 h 26934"/>
              <a:gd name="T2" fmla="*/ 2147483646 w 21600"/>
              <a:gd name="T3" fmla="*/ 2147483646 h 26934"/>
              <a:gd name="T4" fmla="*/ 0 w 21600"/>
              <a:gd name="T5" fmla="*/ 2147483646 h 26934"/>
              <a:gd name="T6" fmla="*/ 0 60000 65536"/>
              <a:gd name="T7" fmla="*/ 0 60000 65536"/>
              <a:gd name="T8" fmla="*/ 0 60000 65536"/>
            </a:gdLst>
            <a:ahLst/>
            <a:cxnLst>
              <a:cxn ang="T6">
                <a:pos x="T0" y="T1"/>
              </a:cxn>
              <a:cxn ang="T7">
                <a:pos x="T2" y="T3"/>
              </a:cxn>
              <a:cxn ang="T8">
                <a:pos x="T4" y="T5"/>
              </a:cxn>
            </a:cxnLst>
            <a:rect l="0" t="0" r="r" b="b"/>
            <a:pathLst>
              <a:path w="21600" h="26934" fill="none" extrusionOk="0">
                <a:moveTo>
                  <a:pt x="0" y="0"/>
                </a:moveTo>
                <a:cubicBezTo>
                  <a:pt x="11929" y="0"/>
                  <a:pt x="21600" y="9670"/>
                  <a:pt x="21600" y="21600"/>
                </a:cubicBezTo>
                <a:cubicBezTo>
                  <a:pt x="21600" y="23398"/>
                  <a:pt x="21375" y="25190"/>
                  <a:pt x="20931" y="26934"/>
                </a:cubicBezTo>
              </a:path>
              <a:path w="21600" h="26934" stroke="0" extrusionOk="0">
                <a:moveTo>
                  <a:pt x="0" y="0"/>
                </a:moveTo>
                <a:cubicBezTo>
                  <a:pt x="11929" y="0"/>
                  <a:pt x="21600" y="9670"/>
                  <a:pt x="21600" y="21600"/>
                </a:cubicBezTo>
                <a:cubicBezTo>
                  <a:pt x="21600" y="23398"/>
                  <a:pt x="21375" y="25190"/>
                  <a:pt x="20931" y="26934"/>
                </a:cubicBezTo>
                <a:lnTo>
                  <a:pt x="0" y="21600"/>
                </a:lnTo>
                <a:lnTo>
                  <a:pt x="0" y="0"/>
                </a:lnTo>
                <a:close/>
              </a:path>
            </a:pathLst>
          </a:custGeom>
          <a:noFill/>
          <a:ln w="38100">
            <a:solidFill>
              <a:schemeClr val="folHlink"/>
            </a:solidFill>
            <a:prstDash val="dash"/>
            <a:round/>
            <a:headEnd/>
            <a:tailEnd type="triangl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01423" name="Group 47">
            <a:extLst>
              <a:ext uri="{FF2B5EF4-FFF2-40B4-BE49-F238E27FC236}">
                <a16:creationId xmlns:a16="http://schemas.microsoft.com/office/drawing/2014/main" id="{FE2740EF-A0AC-4548-1861-CD50F4A1DCBB}"/>
              </a:ext>
            </a:extLst>
          </p:cNvPr>
          <p:cNvGrpSpPr>
            <a:grpSpLocks/>
          </p:cNvGrpSpPr>
          <p:nvPr/>
        </p:nvGrpSpPr>
        <p:grpSpPr bwMode="auto">
          <a:xfrm>
            <a:off x="2830513" y="3990975"/>
            <a:ext cx="1363662" cy="400050"/>
            <a:chOff x="4020" y="8595"/>
            <a:chExt cx="825" cy="300"/>
          </a:xfrm>
        </p:grpSpPr>
        <p:sp>
          <p:nvSpPr>
            <p:cNvPr id="21533" name="Text Box 48">
              <a:extLst>
                <a:ext uri="{FF2B5EF4-FFF2-40B4-BE49-F238E27FC236}">
                  <a16:creationId xmlns:a16="http://schemas.microsoft.com/office/drawing/2014/main" id="{8E254D64-4525-C1C5-EDC4-AFCC57985933}"/>
                </a:ext>
              </a:extLst>
            </p:cNvPr>
            <p:cNvSpPr txBox="1">
              <a:spLocks noChangeArrowheads="1"/>
            </p:cNvSpPr>
            <p:nvPr/>
          </p:nvSpPr>
          <p:spPr bwMode="auto">
            <a:xfrm>
              <a:off x="4020" y="8595"/>
              <a:ext cx="825" cy="300"/>
            </a:xfrm>
            <a:prstGeom prst="rect">
              <a:avLst/>
            </a:prstGeom>
            <a:solidFill>
              <a:srgbClr val="FFFFFF"/>
            </a:solidFill>
            <a:ln w="38100">
              <a:solidFill>
                <a:schemeClr val="folHlink"/>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endParaRPr kumimoji="0" lang="zh-CN" altLang="zh-CN" sz="1800">
                <a:solidFill>
                  <a:schemeClr val="accent2"/>
                </a:solidFill>
                <a:latin typeface="Times New Roman" panose="02020603050405020304" pitchFamily="18" charset="0"/>
              </a:endParaRPr>
            </a:p>
          </p:txBody>
        </p:sp>
        <p:sp>
          <p:nvSpPr>
            <p:cNvPr id="21534" name="Text Box 49">
              <a:extLst>
                <a:ext uri="{FF2B5EF4-FFF2-40B4-BE49-F238E27FC236}">
                  <a16:creationId xmlns:a16="http://schemas.microsoft.com/office/drawing/2014/main" id="{C3C97AFD-2C60-99C1-C918-BF67BEE1EC27}"/>
                </a:ext>
              </a:extLst>
            </p:cNvPr>
            <p:cNvSpPr txBox="1">
              <a:spLocks noChangeArrowheads="1"/>
            </p:cNvSpPr>
            <p:nvPr/>
          </p:nvSpPr>
          <p:spPr bwMode="auto">
            <a:xfrm>
              <a:off x="4113" y="8640"/>
              <a:ext cx="66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folHlink"/>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r>
                <a:rPr kumimoji="0" lang="zh-CN" altLang="en-US" sz="1800">
                  <a:solidFill>
                    <a:schemeClr val="accent2"/>
                  </a:solidFill>
                  <a:latin typeface="Times New Roman" panose="02020603050405020304" pitchFamily="18" charset="0"/>
                </a:rPr>
                <a:t>设计</a:t>
              </a:r>
            </a:p>
          </p:txBody>
        </p:sp>
      </p:grpSp>
      <p:grpSp>
        <p:nvGrpSpPr>
          <p:cNvPr id="101426" name="Group 50">
            <a:extLst>
              <a:ext uri="{FF2B5EF4-FFF2-40B4-BE49-F238E27FC236}">
                <a16:creationId xmlns:a16="http://schemas.microsoft.com/office/drawing/2014/main" id="{5DBC3451-A88D-8772-7BF9-0328F17DC3A8}"/>
              </a:ext>
            </a:extLst>
          </p:cNvPr>
          <p:cNvGrpSpPr>
            <a:grpSpLocks/>
          </p:cNvGrpSpPr>
          <p:nvPr/>
        </p:nvGrpSpPr>
        <p:grpSpPr bwMode="auto">
          <a:xfrm>
            <a:off x="3500438" y="4608513"/>
            <a:ext cx="1363662" cy="401637"/>
            <a:chOff x="4020" y="8595"/>
            <a:chExt cx="825" cy="300"/>
          </a:xfrm>
        </p:grpSpPr>
        <p:sp>
          <p:nvSpPr>
            <p:cNvPr id="21531" name="Text Box 51">
              <a:extLst>
                <a:ext uri="{FF2B5EF4-FFF2-40B4-BE49-F238E27FC236}">
                  <a16:creationId xmlns:a16="http://schemas.microsoft.com/office/drawing/2014/main" id="{34B1E432-3FC8-F5CA-12F6-1A8BE6014A6F}"/>
                </a:ext>
              </a:extLst>
            </p:cNvPr>
            <p:cNvSpPr txBox="1">
              <a:spLocks noChangeArrowheads="1"/>
            </p:cNvSpPr>
            <p:nvPr/>
          </p:nvSpPr>
          <p:spPr bwMode="auto">
            <a:xfrm>
              <a:off x="4020" y="8595"/>
              <a:ext cx="825" cy="300"/>
            </a:xfrm>
            <a:prstGeom prst="rect">
              <a:avLst/>
            </a:prstGeom>
            <a:solidFill>
              <a:srgbClr val="FFFFFF"/>
            </a:solidFill>
            <a:ln w="38100">
              <a:solidFill>
                <a:schemeClr val="folHlink"/>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endParaRPr kumimoji="0" lang="zh-CN" altLang="zh-CN" sz="1800">
                <a:solidFill>
                  <a:schemeClr val="accent2"/>
                </a:solidFill>
                <a:latin typeface="Times New Roman" panose="02020603050405020304" pitchFamily="18" charset="0"/>
              </a:endParaRPr>
            </a:p>
          </p:txBody>
        </p:sp>
        <p:sp>
          <p:nvSpPr>
            <p:cNvPr id="21532" name="Text Box 52">
              <a:extLst>
                <a:ext uri="{FF2B5EF4-FFF2-40B4-BE49-F238E27FC236}">
                  <a16:creationId xmlns:a16="http://schemas.microsoft.com/office/drawing/2014/main" id="{D09B6EB0-158C-FD3F-6497-05520D008E45}"/>
                </a:ext>
              </a:extLst>
            </p:cNvPr>
            <p:cNvSpPr txBox="1">
              <a:spLocks noChangeArrowheads="1"/>
            </p:cNvSpPr>
            <p:nvPr/>
          </p:nvSpPr>
          <p:spPr bwMode="auto">
            <a:xfrm>
              <a:off x="4113" y="8640"/>
              <a:ext cx="66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folHlink"/>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r>
                <a:rPr kumimoji="0" lang="zh-CN" altLang="en-US" sz="1800">
                  <a:solidFill>
                    <a:schemeClr val="accent2"/>
                  </a:solidFill>
                  <a:latin typeface="Times New Roman" panose="02020603050405020304" pitchFamily="18" charset="0"/>
                </a:rPr>
                <a:t>编码</a:t>
              </a:r>
            </a:p>
          </p:txBody>
        </p:sp>
      </p:grpSp>
      <p:grpSp>
        <p:nvGrpSpPr>
          <p:cNvPr id="101429" name="Group 53">
            <a:extLst>
              <a:ext uri="{FF2B5EF4-FFF2-40B4-BE49-F238E27FC236}">
                <a16:creationId xmlns:a16="http://schemas.microsoft.com/office/drawing/2014/main" id="{CFBE1180-D63B-4635-73FF-3EF969A3F3C0}"/>
              </a:ext>
            </a:extLst>
          </p:cNvPr>
          <p:cNvGrpSpPr>
            <a:grpSpLocks/>
          </p:cNvGrpSpPr>
          <p:nvPr/>
        </p:nvGrpSpPr>
        <p:grpSpPr bwMode="auto">
          <a:xfrm>
            <a:off x="4168775" y="5192713"/>
            <a:ext cx="1365250" cy="400050"/>
            <a:chOff x="4020" y="8595"/>
            <a:chExt cx="825" cy="300"/>
          </a:xfrm>
        </p:grpSpPr>
        <p:sp>
          <p:nvSpPr>
            <p:cNvPr id="21529" name="Text Box 54">
              <a:extLst>
                <a:ext uri="{FF2B5EF4-FFF2-40B4-BE49-F238E27FC236}">
                  <a16:creationId xmlns:a16="http://schemas.microsoft.com/office/drawing/2014/main" id="{479261D7-A9EF-20FE-5E46-20BD9FACE585}"/>
                </a:ext>
              </a:extLst>
            </p:cNvPr>
            <p:cNvSpPr txBox="1">
              <a:spLocks noChangeArrowheads="1"/>
            </p:cNvSpPr>
            <p:nvPr/>
          </p:nvSpPr>
          <p:spPr bwMode="auto">
            <a:xfrm>
              <a:off x="4020" y="8595"/>
              <a:ext cx="825" cy="300"/>
            </a:xfrm>
            <a:prstGeom prst="rect">
              <a:avLst/>
            </a:prstGeom>
            <a:solidFill>
              <a:srgbClr val="FFFFFF"/>
            </a:solidFill>
            <a:ln w="38100">
              <a:solidFill>
                <a:schemeClr val="folHlink"/>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endParaRPr kumimoji="0" lang="zh-CN" altLang="zh-CN" sz="1800">
                <a:solidFill>
                  <a:schemeClr val="accent2"/>
                </a:solidFill>
                <a:latin typeface="Times New Roman" panose="02020603050405020304" pitchFamily="18" charset="0"/>
              </a:endParaRPr>
            </a:p>
          </p:txBody>
        </p:sp>
        <p:sp>
          <p:nvSpPr>
            <p:cNvPr id="21530" name="Text Box 55">
              <a:extLst>
                <a:ext uri="{FF2B5EF4-FFF2-40B4-BE49-F238E27FC236}">
                  <a16:creationId xmlns:a16="http://schemas.microsoft.com/office/drawing/2014/main" id="{A1183BBA-798C-D8D5-9CF4-284B0B5EF317}"/>
                </a:ext>
              </a:extLst>
            </p:cNvPr>
            <p:cNvSpPr txBox="1">
              <a:spLocks noChangeArrowheads="1"/>
            </p:cNvSpPr>
            <p:nvPr/>
          </p:nvSpPr>
          <p:spPr bwMode="auto">
            <a:xfrm>
              <a:off x="4113" y="8640"/>
              <a:ext cx="66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folHlink"/>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r>
                <a:rPr kumimoji="0" lang="zh-CN" altLang="en-US" sz="1800">
                  <a:solidFill>
                    <a:schemeClr val="accent2"/>
                  </a:solidFill>
                  <a:latin typeface="Times New Roman" panose="02020603050405020304" pitchFamily="18" charset="0"/>
                </a:rPr>
                <a:t>测试</a:t>
              </a:r>
            </a:p>
          </p:txBody>
        </p:sp>
      </p:grpSp>
      <p:grpSp>
        <p:nvGrpSpPr>
          <p:cNvPr id="101432" name="Group 56">
            <a:extLst>
              <a:ext uri="{FF2B5EF4-FFF2-40B4-BE49-F238E27FC236}">
                <a16:creationId xmlns:a16="http://schemas.microsoft.com/office/drawing/2014/main" id="{071D7252-4CEF-2919-BDE1-1C98DFA0A5E0}"/>
              </a:ext>
            </a:extLst>
          </p:cNvPr>
          <p:cNvGrpSpPr>
            <a:grpSpLocks/>
          </p:cNvGrpSpPr>
          <p:nvPr/>
        </p:nvGrpSpPr>
        <p:grpSpPr bwMode="auto">
          <a:xfrm>
            <a:off x="4789488" y="5773738"/>
            <a:ext cx="1363662" cy="400050"/>
            <a:chOff x="4020" y="8595"/>
            <a:chExt cx="825" cy="300"/>
          </a:xfrm>
        </p:grpSpPr>
        <p:sp>
          <p:nvSpPr>
            <p:cNvPr id="21527" name="Text Box 57">
              <a:extLst>
                <a:ext uri="{FF2B5EF4-FFF2-40B4-BE49-F238E27FC236}">
                  <a16:creationId xmlns:a16="http://schemas.microsoft.com/office/drawing/2014/main" id="{3E0422F7-E466-CCDD-B82D-1030BCFBD47D}"/>
                </a:ext>
              </a:extLst>
            </p:cNvPr>
            <p:cNvSpPr txBox="1">
              <a:spLocks noChangeArrowheads="1"/>
            </p:cNvSpPr>
            <p:nvPr/>
          </p:nvSpPr>
          <p:spPr bwMode="auto">
            <a:xfrm>
              <a:off x="4020" y="8595"/>
              <a:ext cx="825" cy="300"/>
            </a:xfrm>
            <a:prstGeom prst="rect">
              <a:avLst/>
            </a:prstGeom>
            <a:solidFill>
              <a:srgbClr val="FFFFFF"/>
            </a:solidFill>
            <a:ln w="38100">
              <a:solidFill>
                <a:schemeClr val="folHlink"/>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endParaRPr kumimoji="0" lang="zh-CN" altLang="zh-CN" sz="1800">
                <a:solidFill>
                  <a:schemeClr val="accent2"/>
                </a:solidFill>
                <a:latin typeface="Times New Roman" panose="02020603050405020304" pitchFamily="18" charset="0"/>
              </a:endParaRPr>
            </a:p>
          </p:txBody>
        </p:sp>
        <p:sp>
          <p:nvSpPr>
            <p:cNvPr id="21528" name="Text Box 58">
              <a:extLst>
                <a:ext uri="{FF2B5EF4-FFF2-40B4-BE49-F238E27FC236}">
                  <a16:creationId xmlns:a16="http://schemas.microsoft.com/office/drawing/2014/main" id="{9A69F256-8AF5-4B24-4EC6-DAE181F2C2DA}"/>
                </a:ext>
              </a:extLst>
            </p:cNvPr>
            <p:cNvSpPr txBox="1">
              <a:spLocks noChangeArrowheads="1"/>
            </p:cNvSpPr>
            <p:nvPr/>
          </p:nvSpPr>
          <p:spPr bwMode="auto">
            <a:xfrm>
              <a:off x="4113" y="8640"/>
              <a:ext cx="66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folHlink"/>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r>
                <a:rPr kumimoji="0" lang="zh-CN" altLang="en-US" sz="1800">
                  <a:solidFill>
                    <a:schemeClr val="accent2"/>
                  </a:solidFill>
                  <a:latin typeface="Times New Roman" panose="02020603050405020304" pitchFamily="18" charset="0"/>
                </a:rPr>
                <a:t>运行</a:t>
              </a:r>
            </a:p>
          </p:txBody>
        </p:sp>
      </p:grpSp>
      <p:sp>
        <p:nvSpPr>
          <p:cNvPr id="101435" name="Arc 59">
            <a:extLst>
              <a:ext uri="{FF2B5EF4-FFF2-40B4-BE49-F238E27FC236}">
                <a16:creationId xmlns:a16="http://schemas.microsoft.com/office/drawing/2014/main" id="{64F27772-6F2D-526D-26C3-48DC8023080B}"/>
              </a:ext>
            </a:extLst>
          </p:cNvPr>
          <p:cNvSpPr>
            <a:spLocks/>
          </p:cNvSpPr>
          <p:nvPr/>
        </p:nvSpPr>
        <p:spPr bwMode="auto">
          <a:xfrm>
            <a:off x="4214813" y="4132263"/>
            <a:ext cx="473075" cy="498475"/>
          </a:xfrm>
          <a:custGeom>
            <a:avLst/>
            <a:gdLst>
              <a:gd name="T0" fmla="*/ 0 w 21600"/>
              <a:gd name="T1" fmla="*/ 0 h 26934"/>
              <a:gd name="T2" fmla="*/ 2147483646 w 21600"/>
              <a:gd name="T3" fmla="*/ 2147483646 h 26934"/>
              <a:gd name="T4" fmla="*/ 0 w 21600"/>
              <a:gd name="T5" fmla="*/ 2147483646 h 26934"/>
              <a:gd name="T6" fmla="*/ 0 60000 65536"/>
              <a:gd name="T7" fmla="*/ 0 60000 65536"/>
              <a:gd name="T8" fmla="*/ 0 60000 65536"/>
            </a:gdLst>
            <a:ahLst/>
            <a:cxnLst>
              <a:cxn ang="T6">
                <a:pos x="T0" y="T1"/>
              </a:cxn>
              <a:cxn ang="T7">
                <a:pos x="T2" y="T3"/>
              </a:cxn>
              <a:cxn ang="T8">
                <a:pos x="T4" y="T5"/>
              </a:cxn>
            </a:cxnLst>
            <a:rect l="0" t="0" r="r" b="b"/>
            <a:pathLst>
              <a:path w="21600" h="26934" fill="none" extrusionOk="0">
                <a:moveTo>
                  <a:pt x="0" y="0"/>
                </a:moveTo>
                <a:cubicBezTo>
                  <a:pt x="11929" y="0"/>
                  <a:pt x="21600" y="9670"/>
                  <a:pt x="21600" y="21600"/>
                </a:cubicBezTo>
                <a:cubicBezTo>
                  <a:pt x="21600" y="23398"/>
                  <a:pt x="21375" y="25190"/>
                  <a:pt x="20931" y="26934"/>
                </a:cubicBezTo>
              </a:path>
              <a:path w="21600" h="26934" stroke="0" extrusionOk="0">
                <a:moveTo>
                  <a:pt x="0" y="0"/>
                </a:moveTo>
                <a:cubicBezTo>
                  <a:pt x="11929" y="0"/>
                  <a:pt x="21600" y="9670"/>
                  <a:pt x="21600" y="21600"/>
                </a:cubicBezTo>
                <a:cubicBezTo>
                  <a:pt x="21600" y="23398"/>
                  <a:pt x="21375" y="25190"/>
                  <a:pt x="20931" y="26934"/>
                </a:cubicBezTo>
                <a:lnTo>
                  <a:pt x="0" y="21600"/>
                </a:lnTo>
                <a:lnTo>
                  <a:pt x="0" y="0"/>
                </a:lnTo>
                <a:close/>
              </a:path>
            </a:pathLst>
          </a:custGeom>
          <a:noFill/>
          <a:ln w="38100">
            <a:solidFill>
              <a:schemeClr val="folHlink"/>
            </a:solidFill>
            <a:round/>
            <a:headEnd/>
            <a:tailEnd type="triangl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36" name="Arc 60">
            <a:extLst>
              <a:ext uri="{FF2B5EF4-FFF2-40B4-BE49-F238E27FC236}">
                <a16:creationId xmlns:a16="http://schemas.microsoft.com/office/drawing/2014/main" id="{B6B6C944-D5F0-C87C-8833-52CD7FB3499E}"/>
              </a:ext>
            </a:extLst>
          </p:cNvPr>
          <p:cNvSpPr>
            <a:spLocks/>
          </p:cNvSpPr>
          <p:nvPr/>
        </p:nvSpPr>
        <p:spPr bwMode="auto">
          <a:xfrm flipH="1" flipV="1">
            <a:off x="3024188" y="4375150"/>
            <a:ext cx="474662" cy="498475"/>
          </a:xfrm>
          <a:custGeom>
            <a:avLst/>
            <a:gdLst>
              <a:gd name="T0" fmla="*/ 0 w 21600"/>
              <a:gd name="T1" fmla="*/ 0 h 26934"/>
              <a:gd name="T2" fmla="*/ 2147483646 w 21600"/>
              <a:gd name="T3" fmla="*/ 2147483646 h 26934"/>
              <a:gd name="T4" fmla="*/ 0 w 21600"/>
              <a:gd name="T5" fmla="*/ 2147483646 h 26934"/>
              <a:gd name="T6" fmla="*/ 0 60000 65536"/>
              <a:gd name="T7" fmla="*/ 0 60000 65536"/>
              <a:gd name="T8" fmla="*/ 0 60000 65536"/>
            </a:gdLst>
            <a:ahLst/>
            <a:cxnLst>
              <a:cxn ang="T6">
                <a:pos x="T0" y="T1"/>
              </a:cxn>
              <a:cxn ang="T7">
                <a:pos x="T2" y="T3"/>
              </a:cxn>
              <a:cxn ang="T8">
                <a:pos x="T4" y="T5"/>
              </a:cxn>
            </a:cxnLst>
            <a:rect l="0" t="0" r="r" b="b"/>
            <a:pathLst>
              <a:path w="21600" h="26934" fill="none" extrusionOk="0">
                <a:moveTo>
                  <a:pt x="0" y="0"/>
                </a:moveTo>
                <a:cubicBezTo>
                  <a:pt x="11929" y="0"/>
                  <a:pt x="21600" y="9670"/>
                  <a:pt x="21600" y="21600"/>
                </a:cubicBezTo>
                <a:cubicBezTo>
                  <a:pt x="21600" y="23398"/>
                  <a:pt x="21375" y="25190"/>
                  <a:pt x="20931" y="26934"/>
                </a:cubicBezTo>
              </a:path>
              <a:path w="21600" h="26934" stroke="0" extrusionOk="0">
                <a:moveTo>
                  <a:pt x="0" y="0"/>
                </a:moveTo>
                <a:cubicBezTo>
                  <a:pt x="11929" y="0"/>
                  <a:pt x="21600" y="9670"/>
                  <a:pt x="21600" y="21600"/>
                </a:cubicBezTo>
                <a:cubicBezTo>
                  <a:pt x="21600" y="23398"/>
                  <a:pt x="21375" y="25190"/>
                  <a:pt x="20931" y="26934"/>
                </a:cubicBezTo>
                <a:lnTo>
                  <a:pt x="0" y="21600"/>
                </a:lnTo>
                <a:lnTo>
                  <a:pt x="0" y="0"/>
                </a:lnTo>
                <a:close/>
              </a:path>
            </a:pathLst>
          </a:custGeom>
          <a:noFill/>
          <a:ln w="38100">
            <a:solidFill>
              <a:schemeClr val="folHlink"/>
            </a:solidFill>
            <a:prstDash val="dash"/>
            <a:round/>
            <a:headEnd/>
            <a:tailEnd type="triangl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37" name="Arc 61">
            <a:extLst>
              <a:ext uri="{FF2B5EF4-FFF2-40B4-BE49-F238E27FC236}">
                <a16:creationId xmlns:a16="http://schemas.microsoft.com/office/drawing/2014/main" id="{BBF4EFDD-E0C4-F121-45FD-CF0939BF390C}"/>
              </a:ext>
            </a:extLst>
          </p:cNvPr>
          <p:cNvSpPr>
            <a:spLocks/>
          </p:cNvSpPr>
          <p:nvPr/>
        </p:nvSpPr>
        <p:spPr bwMode="auto">
          <a:xfrm>
            <a:off x="4887913" y="4733925"/>
            <a:ext cx="474662" cy="476250"/>
          </a:xfrm>
          <a:custGeom>
            <a:avLst/>
            <a:gdLst>
              <a:gd name="T0" fmla="*/ 0 w 21600"/>
              <a:gd name="T1" fmla="*/ 0 h 26934"/>
              <a:gd name="T2" fmla="*/ 2147483646 w 21600"/>
              <a:gd name="T3" fmla="*/ 2147483646 h 26934"/>
              <a:gd name="T4" fmla="*/ 0 w 21600"/>
              <a:gd name="T5" fmla="*/ 2147483646 h 26934"/>
              <a:gd name="T6" fmla="*/ 0 60000 65536"/>
              <a:gd name="T7" fmla="*/ 0 60000 65536"/>
              <a:gd name="T8" fmla="*/ 0 60000 65536"/>
            </a:gdLst>
            <a:ahLst/>
            <a:cxnLst>
              <a:cxn ang="T6">
                <a:pos x="T0" y="T1"/>
              </a:cxn>
              <a:cxn ang="T7">
                <a:pos x="T2" y="T3"/>
              </a:cxn>
              <a:cxn ang="T8">
                <a:pos x="T4" y="T5"/>
              </a:cxn>
            </a:cxnLst>
            <a:rect l="0" t="0" r="r" b="b"/>
            <a:pathLst>
              <a:path w="21600" h="26934" fill="none" extrusionOk="0">
                <a:moveTo>
                  <a:pt x="0" y="0"/>
                </a:moveTo>
                <a:cubicBezTo>
                  <a:pt x="11929" y="0"/>
                  <a:pt x="21600" y="9670"/>
                  <a:pt x="21600" y="21600"/>
                </a:cubicBezTo>
                <a:cubicBezTo>
                  <a:pt x="21600" y="23398"/>
                  <a:pt x="21375" y="25190"/>
                  <a:pt x="20931" y="26934"/>
                </a:cubicBezTo>
              </a:path>
              <a:path w="21600" h="26934" stroke="0" extrusionOk="0">
                <a:moveTo>
                  <a:pt x="0" y="0"/>
                </a:moveTo>
                <a:cubicBezTo>
                  <a:pt x="11929" y="0"/>
                  <a:pt x="21600" y="9670"/>
                  <a:pt x="21600" y="21600"/>
                </a:cubicBezTo>
                <a:cubicBezTo>
                  <a:pt x="21600" y="23398"/>
                  <a:pt x="21375" y="25190"/>
                  <a:pt x="20931" y="26934"/>
                </a:cubicBezTo>
                <a:lnTo>
                  <a:pt x="0" y="21600"/>
                </a:lnTo>
                <a:lnTo>
                  <a:pt x="0" y="0"/>
                </a:lnTo>
                <a:close/>
              </a:path>
            </a:pathLst>
          </a:custGeom>
          <a:noFill/>
          <a:ln w="38100">
            <a:solidFill>
              <a:schemeClr val="folHlink"/>
            </a:solidFill>
            <a:round/>
            <a:headEnd/>
            <a:tailEnd type="triangl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38" name="Arc 62">
            <a:extLst>
              <a:ext uri="{FF2B5EF4-FFF2-40B4-BE49-F238E27FC236}">
                <a16:creationId xmlns:a16="http://schemas.microsoft.com/office/drawing/2014/main" id="{B420830B-3C67-2FD8-4924-015D245E7C41}"/>
              </a:ext>
            </a:extLst>
          </p:cNvPr>
          <p:cNvSpPr>
            <a:spLocks/>
          </p:cNvSpPr>
          <p:nvPr/>
        </p:nvSpPr>
        <p:spPr bwMode="auto">
          <a:xfrm flipH="1" flipV="1">
            <a:off x="3698875" y="5008563"/>
            <a:ext cx="474663" cy="498475"/>
          </a:xfrm>
          <a:custGeom>
            <a:avLst/>
            <a:gdLst>
              <a:gd name="T0" fmla="*/ 0 w 21600"/>
              <a:gd name="T1" fmla="*/ 0 h 26934"/>
              <a:gd name="T2" fmla="*/ 2147483646 w 21600"/>
              <a:gd name="T3" fmla="*/ 2147483646 h 26934"/>
              <a:gd name="T4" fmla="*/ 0 w 21600"/>
              <a:gd name="T5" fmla="*/ 2147483646 h 26934"/>
              <a:gd name="T6" fmla="*/ 0 60000 65536"/>
              <a:gd name="T7" fmla="*/ 0 60000 65536"/>
              <a:gd name="T8" fmla="*/ 0 60000 65536"/>
            </a:gdLst>
            <a:ahLst/>
            <a:cxnLst>
              <a:cxn ang="T6">
                <a:pos x="T0" y="T1"/>
              </a:cxn>
              <a:cxn ang="T7">
                <a:pos x="T2" y="T3"/>
              </a:cxn>
              <a:cxn ang="T8">
                <a:pos x="T4" y="T5"/>
              </a:cxn>
            </a:cxnLst>
            <a:rect l="0" t="0" r="r" b="b"/>
            <a:pathLst>
              <a:path w="21600" h="26934" fill="none" extrusionOk="0">
                <a:moveTo>
                  <a:pt x="0" y="0"/>
                </a:moveTo>
                <a:cubicBezTo>
                  <a:pt x="11929" y="0"/>
                  <a:pt x="21600" y="9670"/>
                  <a:pt x="21600" y="21600"/>
                </a:cubicBezTo>
                <a:cubicBezTo>
                  <a:pt x="21600" y="23398"/>
                  <a:pt x="21375" y="25190"/>
                  <a:pt x="20931" y="26934"/>
                </a:cubicBezTo>
              </a:path>
              <a:path w="21600" h="26934" stroke="0" extrusionOk="0">
                <a:moveTo>
                  <a:pt x="0" y="0"/>
                </a:moveTo>
                <a:cubicBezTo>
                  <a:pt x="11929" y="0"/>
                  <a:pt x="21600" y="9670"/>
                  <a:pt x="21600" y="21600"/>
                </a:cubicBezTo>
                <a:cubicBezTo>
                  <a:pt x="21600" y="23398"/>
                  <a:pt x="21375" y="25190"/>
                  <a:pt x="20931" y="26934"/>
                </a:cubicBezTo>
                <a:lnTo>
                  <a:pt x="0" y="21600"/>
                </a:lnTo>
                <a:lnTo>
                  <a:pt x="0" y="0"/>
                </a:lnTo>
                <a:close/>
              </a:path>
            </a:pathLst>
          </a:custGeom>
          <a:noFill/>
          <a:ln w="38100">
            <a:solidFill>
              <a:schemeClr val="folHlink"/>
            </a:solidFill>
            <a:prstDash val="dash"/>
            <a:round/>
            <a:headEnd/>
            <a:tailEnd type="triangl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39" name="Arc 63">
            <a:extLst>
              <a:ext uri="{FF2B5EF4-FFF2-40B4-BE49-F238E27FC236}">
                <a16:creationId xmlns:a16="http://schemas.microsoft.com/office/drawing/2014/main" id="{C26ED624-26CA-00C6-8E24-EBE0BF40DE59}"/>
              </a:ext>
            </a:extLst>
          </p:cNvPr>
          <p:cNvSpPr>
            <a:spLocks/>
          </p:cNvSpPr>
          <p:nvPr/>
        </p:nvSpPr>
        <p:spPr bwMode="auto">
          <a:xfrm>
            <a:off x="5557838" y="5299075"/>
            <a:ext cx="474662" cy="500063"/>
          </a:xfrm>
          <a:custGeom>
            <a:avLst/>
            <a:gdLst>
              <a:gd name="T0" fmla="*/ 0 w 21600"/>
              <a:gd name="T1" fmla="*/ 0 h 26934"/>
              <a:gd name="T2" fmla="*/ 2147483646 w 21600"/>
              <a:gd name="T3" fmla="*/ 2147483646 h 26934"/>
              <a:gd name="T4" fmla="*/ 0 w 21600"/>
              <a:gd name="T5" fmla="*/ 2147483646 h 26934"/>
              <a:gd name="T6" fmla="*/ 0 60000 65536"/>
              <a:gd name="T7" fmla="*/ 0 60000 65536"/>
              <a:gd name="T8" fmla="*/ 0 60000 65536"/>
            </a:gdLst>
            <a:ahLst/>
            <a:cxnLst>
              <a:cxn ang="T6">
                <a:pos x="T0" y="T1"/>
              </a:cxn>
              <a:cxn ang="T7">
                <a:pos x="T2" y="T3"/>
              </a:cxn>
              <a:cxn ang="T8">
                <a:pos x="T4" y="T5"/>
              </a:cxn>
            </a:cxnLst>
            <a:rect l="0" t="0" r="r" b="b"/>
            <a:pathLst>
              <a:path w="21600" h="26934" fill="none" extrusionOk="0">
                <a:moveTo>
                  <a:pt x="0" y="0"/>
                </a:moveTo>
                <a:cubicBezTo>
                  <a:pt x="11929" y="0"/>
                  <a:pt x="21600" y="9670"/>
                  <a:pt x="21600" y="21600"/>
                </a:cubicBezTo>
                <a:cubicBezTo>
                  <a:pt x="21600" y="23398"/>
                  <a:pt x="21375" y="25190"/>
                  <a:pt x="20931" y="26934"/>
                </a:cubicBezTo>
              </a:path>
              <a:path w="21600" h="26934" stroke="0" extrusionOk="0">
                <a:moveTo>
                  <a:pt x="0" y="0"/>
                </a:moveTo>
                <a:cubicBezTo>
                  <a:pt x="11929" y="0"/>
                  <a:pt x="21600" y="9670"/>
                  <a:pt x="21600" y="21600"/>
                </a:cubicBezTo>
                <a:cubicBezTo>
                  <a:pt x="21600" y="23398"/>
                  <a:pt x="21375" y="25190"/>
                  <a:pt x="20931" y="26934"/>
                </a:cubicBezTo>
                <a:lnTo>
                  <a:pt x="0" y="21600"/>
                </a:lnTo>
                <a:lnTo>
                  <a:pt x="0" y="0"/>
                </a:lnTo>
                <a:close/>
              </a:path>
            </a:pathLst>
          </a:custGeom>
          <a:noFill/>
          <a:ln w="38100">
            <a:solidFill>
              <a:schemeClr val="folHlink"/>
            </a:solidFill>
            <a:round/>
            <a:headEnd/>
            <a:tailEnd type="triangl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40" name="Arc 64">
            <a:extLst>
              <a:ext uri="{FF2B5EF4-FFF2-40B4-BE49-F238E27FC236}">
                <a16:creationId xmlns:a16="http://schemas.microsoft.com/office/drawing/2014/main" id="{6FA92A1A-3952-29A3-C40B-648FB8A106FF}"/>
              </a:ext>
            </a:extLst>
          </p:cNvPr>
          <p:cNvSpPr>
            <a:spLocks/>
          </p:cNvSpPr>
          <p:nvPr/>
        </p:nvSpPr>
        <p:spPr bwMode="auto">
          <a:xfrm flipH="1" flipV="1">
            <a:off x="4318000" y="5580063"/>
            <a:ext cx="474663" cy="498475"/>
          </a:xfrm>
          <a:custGeom>
            <a:avLst/>
            <a:gdLst>
              <a:gd name="T0" fmla="*/ 0 w 21600"/>
              <a:gd name="T1" fmla="*/ 0 h 26934"/>
              <a:gd name="T2" fmla="*/ 2147483646 w 21600"/>
              <a:gd name="T3" fmla="*/ 2147483646 h 26934"/>
              <a:gd name="T4" fmla="*/ 0 w 21600"/>
              <a:gd name="T5" fmla="*/ 2147483646 h 26934"/>
              <a:gd name="T6" fmla="*/ 0 60000 65536"/>
              <a:gd name="T7" fmla="*/ 0 60000 65536"/>
              <a:gd name="T8" fmla="*/ 0 60000 65536"/>
            </a:gdLst>
            <a:ahLst/>
            <a:cxnLst>
              <a:cxn ang="T6">
                <a:pos x="T0" y="T1"/>
              </a:cxn>
              <a:cxn ang="T7">
                <a:pos x="T2" y="T3"/>
              </a:cxn>
              <a:cxn ang="T8">
                <a:pos x="T4" y="T5"/>
              </a:cxn>
            </a:cxnLst>
            <a:rect l="0" t="0" r="r" b="b"/>
            <a:pathLst>
              <a:path w="21600" h="26934" fill="none" extrusionOk="0">
                <a:moveTo>
                  <a:pt x="0" y="0"/>
                </a:moveTo>
                <a:cubicBezTo>
                  <a:pt x="11929" y="0"/>
                  <a:pt x="21600" y="9670"/>
                  <a:pt x="21600" y="21600"/>
                </a:cubicBezTo>
                <a:cubicBezTo>
                  <a:pt x="21600" y="23398"/>
                  <a:pt x="21375" y="25190"/>
                  <a:pt x="20931" y="26934"/>
                </a:cubicBezTo>
              </a:path>
              <a:path w="21600" h="26934" stroke="0" extrusionOk="0">
                <a:moveTo>
                  <a:pt x="0" y="0"/>
                </a:moveTo>
                <a:cubicBezTo>
                  <a:pt x="11929" y="0"/>
                  <a:pt x="21600" y="9670"/>
                  <a:pt x="21600" y="21600"/>
                </a:cubicBezTo>
                <a:cubicBezTo>
                  <a:pt x="21600" y="23398"/>
                  <a:pt x="21375" y="25190"/>
                  <a:pt x="20931" y="26934"/>
                </a:cubicBezTo>
                <a:lnTo>
                  <a:pt x="0" y="21600"/>
                </a:lnTo>
                <a:lnTo>
                  <a:pt x="0" y="0"/>
                </a:lnTo>
                <a:close/>
              </a:path>
            </a:pathLst>
          </a:custGeom>
          <a:noFill/>
          <a:ln w="38100">
            <a:solidFill>
              <a:schemeClr val="folHlink"/>
            </a:solidFill>
            <a:prstDash val="dash"/>
            <a:round/>
            <a:headEnd/>
            <a:tailEnd type="triangl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41" name="Text Box 65">
            <a:extLst>
              <a:ext uri="{FF2B5EF4-FFF2-40B4-BE49-F238E27FC236}">
                <a16:creationId xmlns:a16="http://schemas.microsoft.com/office/drawing/2014/main" id="{38AEAB46-E8CF-B5B3-F085-CDC242E74F0B}"/>
              </a:ext>
            </a:extLst>
          </p:cNvPr>
          <p:cNvSpPr txBox="1">
            <a:spLocks noChangeArrowheads="1"/>
          </p:cNvSpPr>
          <p:nvPr/>
        </p:nvSpPr>
        <p:spPr bwMode="auto">
          <a:xfrm>
            <a:off x="4605338" y="2108200"/>
            <a:ext cx="3673475"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zh-CN" altLang="en-US" b="1">
                <a:solidFill>
                  <a:schemeClr val="accent2"/>
                </a:solidFill>
                <a:ea typeface="黑体" panose="02010609060101010101" pitchFamily="49" charset="-122"/>
              </a:rPr>
              <a:t>瀑布模型总结</a:t>
            </a:r>
            <a:endParaRPr lang="zh-CN" altLang="en-US">
              <a:solidFill>
                <a:schemeClr val="accent2"/>
              </a:solidFill>
              <a:ea typeface="黑体" panose="02010609060101010101" pitchFamily="49" charset="-122"/>
            </a:endParaRPr>
          </a:p>
          <a:p>
            <a:pPr lvl="1" eaLnBrk="1" hangingPunct="1">
              <a:spcBef>
                <a:spcPct val="50000"/>
              </a:spcBef>
              <a:buClr>
                <a:srgbClr val="0000FF"/>
              </a:buClr>
              <a:buSzPct val="70000"/>
              <a:buFont typeface="Wingdings" panose="05000000000000000000" pitchFamily="2" charset="2"/>
              <a:buChar char="n"/>
            </a:pPr>
            <a:r>
              <a:rPr kumimoji="0" lang="zh-CN" altLang="en-US" sz="2000" b="1">
                <a:latin typeface="宋体" panose="02010600030101010101" pitchFamily="2" charset="-122"/>
              </a:rPr>
              <a:t>文档驱动的模型</a:t>
            </a:r>
          </a:p>
          <a:p>
            <a:pPr lvl="1" eaLnBrk="1" hangingPunct="1">
              <a:spcBef>
                <a:spcPct val="50000"/>
              </a:spcBef>
              <a:buClr>
                <a:srgbClr val="0000FF"/>
              </a:buClr>
              <a:buSzPct val="70000"/>
              <a:buFont typeface="Wingdings" panose="05000000000000000000" pitchFamily="2" charset="2"/>
              <a:buChar char="n"/>
            </a:pPr>
            <a:r>
              <a:rPr kumimoji="0" lang="zh-CN" altLang="en-US" sz="2000" b="1">
                <a:latin typeface="宋体" panose="02010600030101010101" pitchFamily="2" charset="-122"/>
              </a:rPr>
              <a:t>阶段间具有顺序性和依赖性</a:t>
            </a:r>
          </a:p>
          <a:p>
            <a:pPr lvl="1" eaLnBrk="1" hangingPunct="1">
              <a:spcBef>
                <a:spcPct val="50000"/>
              </a:spcBef>
              <a:buClr>
                <a:srgbClr val="0000FF"/>
              </a:buClr>
              <a:buSzPct val="70000"/>
              <a:buFont typeface="Wingdings" panose="05000000000000000000" pitchFamily="2" charset="2"/>
              <a:buChar char="n"/>
            </a:pPr>
            <a:r>
              <a:rPr kumimoji="0" lang="zh-CN" altLang="en-US" sz="2000" b="1">
                <a:latin typeface="宋体" panose="02010600030101010101" pitchFamily="2" charset="-122"/>
              </a:rPr>
              <a:t>项目开发周期较长</a:t>
            </a:r>
          </a:p>
          <a:p>
            <a:pPr lvl="1" eaLnBrk="1" hangingPunct="1">
              <a:spcBef>
                <a:spcPct val="50000"/>
              </a:spcBef>
              <a:buClr>
                <a:srgbClr val="0000FF"/>
              </a:buClr>
              <a:buSzPct val="70000"/>
              <a:buFont typeface="Wingdings" panose="05000000000000000000" pitchFamily="2" charset="2"/>
              <a:buChar char="n"/>
            </a:pPr>
            <a:r>
              <a:rPr kumimoji="0" lang="zh-CN" altLang="en-US" sz="2000" b="1">
                <a:latin typeface="宋体" panose="02010600030101010101" pitchFamily="2" charset="-122"/>
              </a:rPr>
              <a:t>实际项目很少按照该模型给出的顺序进行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1408"/>
                                        </p:tgtEl>
                                        <p:attrNameLst>
                                          <p:attrName>style.visibility</p:attrName>
                                        </p:attrNameLst>
                                      </p:cBhvr>
                                      <p:to>
                                        <p:strVal val="visible"/>
                                      </p:to>
                                    </p:set>
                                    <p:anim calcmode="lin" valueType="num">
                                      <p:cBhvr additive="base">
                                        <p:cTn id="7" dur="500" fill="hold"/>
                                        <p:tgtEl>
                                          <p:spTgt spid="101408"/>
                                        </p:tgtEl>
                                        <p:attrNameLst>
                                          <p:attrName>ppt_x</p:attrName>
                                        </p:attrNameLst>
                                      </p:cBhvr>
                                      <p:tavLst>
                                        <p:tav tm="0">
                                          <p:val>
                                            <p:strVal val="#ppt_x"/>
                                          </p:val>
                                        </p:tav>
                                        <p:tav tm="100000">
                                          <p:val>
                                            <p:strVal val="#ppt_x"/>
                                          </p:val>
                                        </p:tav>
                                      </p:tavLst>
                                    </p:anim>
                                    <p:anim calcmode="lin" valueType="num">
                                      <p:cBhvr additive="base">
                                        <p:cTn id="8" dur="500" fill="hold"/>
                                        <p:tgtEl>
                                          <p:spTgt spid="10140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1411"/>
                                        </p:tgtEl>
                                        <p:attrNameLst>
                                          <p:attrName>style.visibility</p:attrName>
                                        </p:attrNameLst>
                                      </p:cBhvr>
                                      <p:to>
                                        <p:strVal val="visible"/>
                                      </p:to>
                                    </p:set>
                                    <p:anim calcmode="lin" valueType="num">
                                      <p:cBhvr additive="base">
                                        <p:cTn id="11" dur="500" fill="hold"/>
                                        <p:tgtEl>
                                          <p:spTgt spid="101411"/>
                                        </p:tgtEl>
                                        <p:attrNameLst>
                                          <p:attrName>ppt_x</p:attrName>
                                        </p:attrNameLst>
                                      </p:cBhvr>
                                      <p:tavLst>
                                        <p:tav tm="0">
                                          <p:val>
                                            <p:strVal val="#ppt_x"/>
                                          </p:val>
                                        </p:tav>
                                        <p:tav tm="100000">
                                          <p:val>
                                            <p:strVal val="#ppt_x"/>
                                          </p:val>
                                        </p:tav>
                                      </p:tavLst>
                                    </p:anim>
                                    <p:anim calcmode="lin" valueType="num">
                                      <p:cBhvr additive="base">
                                        <p:cTn id="12" dur="500" fill="hold"/>
                                        <p:tgtEl>
                                          <p:spTgt spid="10141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1414"/>
                                        </p:tgtEl>
                                        <p:attrNameLst>
                                          <p:attrName>style.visibility</p:attrName>
                                        </p:attrNameLst>
                                      </p:cBhvr>
                                      <p:to>
                                        <p:strVal val="visible"/>
                                      </p:to>
                                    </p:set>
                                    <p:anim calcmode="lin" valueType="num">
                                      <p:cBhvr additive="base">
                                        <p:cTn id="15" dur="500" fill="hold"/>
                                        <p:tgtEl>
                                          <p:spTgt spid="101414"/>
                                        </p:tgtEl>
                                        <p:attrNameLst>
                                          <p:attrName>ppt_x</p:attrName>
                                        </p:attrNameLst>
                                      </p:cBhvr>
                                      <p:tavLst>
                                        <p:tav tm="0">
                                          <p:val>
                                            <p:strVal val="#ppt_x"/>
                                          </p:val>
                                        </p:tav>
                                        <p:tav tm="100000">
                                          <p:val>
                                            <p:strVal val="#ppt_x"/>
                                          </p:val>
                                        </p:tav>
                                      </p:tavLst>
                                    </p:anim>
                                    <p:anim calcmode="lin" valueType="num">
                                      <p:cBhvr additive="base">
                                        <p:cTn id="16" dur="500" fill="hold"/>
                                        <p:tgtEl>
                                          <p:spTgt spid="101414"/>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01417"/>
                                        </p:tgtEl>
                                        <p:attrNameLst>
                                          <p:attrName>style.visibility</p:attrName>
                                        </p:attrNameLst>
                                      </p:cBhvr>
                                      <p:to>
                                        <p:strVal val="visible"/>
                                      </p:to>
                                    </p:set>
                                    <p:anim calcmode="lin" valueType="num">
                                      <p:cBhvr additive="base">
                                        <p:cTn id="19" dur="500" fill="hold"/>
                                        <p:tgtEl>
                                          <p:spTgt spid="101417"/>
                                        </p:tgtEl>
                                        <p:attrNameLst>
                                          <p:attrName>ppt_x</p:attrName>
                                        </p:attrNameLst>
                                      </p:cBhvr>
                                      <p:tavLst>
                                        <p:tav tm="0">
                                          <p:val>
                                            <p:strVal val="#ppt_x"/>
                                          </p:val>
                                        </p:tav>
                                        <p:tav tm="100000">
                                          <p:val>
                                            <p:strVal val="#ppt_x"/>
                                          </p:val>
                                        </p:tav>
                                      </p:tavLst>
                                    </p:anim>
                                    <p:anim calcmode="lin" valueType="num">
                                      <p:cBhvr additive="base">
                                        <p:cTn id="20" dur="500" fill="hold"/>
                                        <p:tgtEl>
                                          <p:spTgt spid="101417"/>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01418"/>
                                        </p:tgtEl>
                                        <p:attrNameLst>
                                          <p:attrName>style.visibility</p:attrName>
                                        </p:attrNameLst>
                                      </p:cBhvr>
                                      <p:to>
                                        <p:strVal val="visible"/>
                                      </p:to>
                                    </p:set>
                                    <p:anim calcmode="lin" valueType="num">
                                      <p:cBhvr additive="base">
                                        <p:cTn id="23" dur="500" fill="hold"/>
                                        <p:tgtEl>
                                          <p:spTgt spid="101418"/>
                                        </p:tgtEl>
                                        <p:attrNameLst>
                                          <p:attrName>ppt_x</p:attrName>
                                        </p:attrNameLst>
                                      </p:cBhvr>
                                      <p:tavLst>
                                        <p:tav tm="0">
                                          <p:val>
                                            <p:strVal val="#ppt_x"/>
                                          </p:val>
                                        </p:tav>
                                        <p:tav tm="100000">
                                          <p:val>
                                            <p:strVal val="#ppt_x"/>
                                          </p:val>
                                        </p:tav>
                                      </p:tavLst>
                                    </p:anim>
                                    <p:anim calcmode="lin" valueType="num">
                                      <p:cBhvr additive="base">
                                        <p:cTn id="24" dur="500" fill="hold"/>
                                        <p:tgtEl>
                                          <p:spTgt spid="101418"/>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01419"/>
                                        </p:tgtEl>
                                        <p:attrNameLst>
                                          <p:attrName>style.visibility</p:attrName>
                                        </p:attrNameLst>
                                      </p:cBhvr>
                                      <p:to>
                                        <p:strVal val="visible"/>
                                      </p:to>
                                    </p:set>
                                    <p:anim calcmode="lin" valueType="num">
                                      <p:cBhvr additive="base">
                                        <p:cTn id="27" dur="500" fill="hold"/>
                                        <p:tgtEl>
                                          <p:spTgt spid="101419"/>
                                        </p:tgtEl>
                                        <p:attrNameLst>
                                          <p:attrName>ppt_x</p:attrName>
                                        </p:attrNameLst>
                                      </p:cBhvr>
                                      <p:tavLst>
                                        <p:tav tm="0">
                                          <p:val>
                                            <p:strVal val="#ppt_x"/>
                                          </p:val>
                                        </p:tav>
                                        <p:tav tm="100000">
                                          <p:val>
                                            <p:strVal val="#ppt_x"/>
                                          </p:val>
                                        </p:tav>
                                      </p:tavLst>
                                    </p:anim>
                                    <p:anim calcmode="lin" valueType="num">
                                      <p:cBhvr additive="base">
                                        <p:cTn id="28" dur="500" fill="hold"/>
                                        <p:tgtEl>
                                          <p:spTgt spid="101419"/>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01420"/>
                                        </p:tgtEl>
                                        <p:attrNameLst>
                                          <p:attrName>style.visibility</p:attrName>
                                        </p:attrNameLst>
                                      </p:cBhvr>
                                      <p:to>
                                        <p:strVal val="visible"/>
                                      </p:to>
                                    </p:set>
                                    <p:anim calcmode="lin" valueType="num">
                                      <p:cBhvr additive="base">
                                        <p:cTn id="31" dur="500" fill="hold"/>
                                        <p:tgtEl>
                                          <p:spTgt spid="101420"/>
                                        </p:tgtEl>
                                        <p:attrNameLst>
                                          <p:attrName>ppt_x</p:attrName>
                                        </p:attrNameLst>
                                      </p:cBhvr>
                                      <p:tavLst>
                                        <p:tav tm="0">
                                          <p:val>
                                            <p:strVal val="#ppt_x"/>
                                          </p:val>
                                        </p:tav>
                                        <p:tav tm="100000">
                                          <p:val>
                                            <p:strVal val="#ppt_x"/>
                                          </p:val>
                                        </p:tav>
                                      </p:tavLst>
                                    </p:anim>
                                    <p:anim calcmode="lin" valueType="num">
                                      <p:cBhvr additive="base">
                                        <p:cTn id="32" dur="500" fill="hold"/>
                                        <p:tgtEl>
                                          <p:spTgt spid="101420"/>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01421"/>
                                        </p:tgtEl>
                                        <p:attrNameLst>
                                          <p:attrName>style.visibility</p:attrName>
                                        </p:attrNameLst>
                                      </p:cBhvr>
                                      <p:to>
                                        <p:strVal val="visible"/>
                                      </p:to>
                                    </p:set>
                                    <p:anim calcmode="lin" valueType="num">
                                      <p:cBhvr additive="base">
                                        <p:cTn id="35" dur="500" fill="hold"/>
                                        <p:tgtEl>
                                          <p:spTgt spid="101421"/>
                                        </p:tgtEl>
                                        <p:attrNameLst>
                                          <p:attrName>ppt_x</p:attrName>
                                        </p:attrNameLst>
                                      </p:cBhvr>
                                      <p:tavLst>
                                        <p:tav tm="0">
                                          <p:val>
                                            <p:strVal val="#ppt_x"/>
                                          </p:val>
                                        </p:tav>
                                        <p:tav tm="100000">
                                          <p:val>
                                            <p:strVal val="#ppt_x"/>
                                          </p:val>
                                        </p:tav>
                                      </p:tavLst>
                                    </p:anim>
                                    <p:anim calcmode="lin" valueType="num">
                                      <p:cBhvr additive="base">
                                        <p:cTn id="36" dur="500" fill="hold"/>
                                        <p:tgtEl>
                                          <p:spTgt spid="101421"/>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01422"/>
                                        </p:tgtEl>
                                        <p:attrNameLst>
                                          <p:attrName>style.visibility</p:attrName>
                                        </p:attrNameLst>
                                      </p:cBhvr>
                                      <p:to>
                                        <p:strVal val="visible"/>
                                      </p:to>
                                    </p:set>
                                    <p:anim calcmode="lin" valueType="num">
                                      <p:cBhvr additive="base">
                                        <p:cTn id="39" dur="500" fill="hold"/>
                                        <p:tgtEl>
                                          <p:spTgt spid="101422"/>
                                        </p:tgtEl>
                                        <p:attrNameLst>
                                          <p:attrName>ppt_x</p:attrName>
                                        </p:attrNameLst>
                                      </p:cBhvr>
                                      <p:tavLst>
                                        <p:tav tm="0">
                                          <p:val>
                                            <p:strVal val="#ppt_x"/>
                                          </p:val>
                                        </p:tav>
                                        <p:tav tm="100000">
                                          <p:val>
                                            <p:strVal val="#ppt_x"/>
                                          </p:val>
                                        </p:tav>
                                      </p:tavLst>
                                    </p:anim>
                                    <p:anim calcmode="lin" valueType="num">
                                      <p:cBhvr additive="base">
                                        <p:cTn id="40" dur="500" fill="hold"/>
                                        <p:tgtEl>
                                          <p:spTgt spid="101422"/>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01423"/>
                                        </p:tgtEl>
                                        <p:attrNameLst>
                                          <p:attrName>style.visibility</p:attrName>
                                        </p:attrNameLst>
                                      </p:cBhvr>
                                      <p:to>
                                        <p:strVal val="visible"/>
                                      </p:to>
                                    </p:set>
                                    <p:anim calcmode="lin" valueType="num">
                                      <p:cBhvr additive="base">
                                        <p:cTn id="43" dur="500" fill="hold"/>
                                        <p:tgtEl>
                                          <p:spTgt spid="101423"/>
                                        </p:tgtEl>
                                        <p:attrNameLst>
                                          <p:attrName>ppt_x</p:attrName>
                                        </p:attrNameLst>
                                      </p:cBhvr>
                                      <p:tavLst>
                                        <p:tav tm="0">
                                          <p:val>
                                            <p:strVal val="#ppt_x"/>
                                          </p:val>
                                        </p:tav>
                                        <p:tav tm="100000">
                                          <p:val>
                                            <p:strVal val="#ppt_x"/>
                                          </p:val>
                                        </p:tav>
                                      </p:tavLst>
                                    </p:anim>
                                    <p:anim calcmode="lin" valueType="num">
                                      <p:cBhvr additive="base">
                                        <p:cTn id="44" dur="500" fill="hold"/>
                                        <p:tgtEl>
                                          <p:spTgt spid="101423"/>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01426"/>
                                        </p:tgtEl>
                                        <p:attrNameLst>
                                          <p:attrName>style.visibility</p:attrName>
                                        </p:attrNameLst>
                                      </p:cBhvr>
                                      <p:to>
                                        <p:strVal val="visible"/>
                                      </p:to>
                                    </p:set>
                                    <p:anim calcmode="lin" valueType="num">
                                      <p:cBhvr additive="base">
                                        <p:cTn id="47" dur="500" fill="hold"/>
                                        <p:tgtEl>
                                          <p:spTgt spid="101426"/>
                                        </p:tgtEl>
                                        <p:attrNameLst>
                                          <p:attrName>ppt_x</p:attrName>
                                        </p:attrNameLst>
                                      </p:cBhvr>
                                      <p:tavLst>
                                        <p:tav tm="0">
                                          <p:val>
                                            <p:strVal val="#ppt_x"/>
                                          </p:val>
                                        </p:tav>
                                        <p:tav tm="100000">
                                          <p:val>
                                            <p:strVal val="#ppt_x"/>
                                          </p:val>
                                        </p:tav>
                                      </p:tavLst>
                                    </p:anim>
                                    <p:anim calcmode="lin" valueType="num">
                                      <p:cBhvr additive="base">
                                        <p:cTn id="48" dur="500" fill="hold"/>
                                        <p:tgtEl>
                                          <p:spTgt spid="101426"/>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01429"/>
                                        </p:tgtEl>
                                        <p:attrNameLst>
                                          <p:attrName>style.visibility</p:attrName>
                                        </p:attrNameLst>
                                      </p:cBhvr>
                                      <p:to>
                                        <p:strVal val="visible"/>
                                      </p:to>
                                    </p:set>
                                    <p:anim calcmode="lin" valueType="num">
                                      <p:cBhvr additive="base">
                                        <p:cTn id="51" dur="500" fill="hold"/>
                                        <p:tgtEl>
                                          <p:spTgt spid="101429"/>
                                        </p:tgtEl>
                                        <p:attrNameLst>
                                          <p:attrName>ppt_x</p:attrName>
                                        </p:attrNameLst>
                                      </p:cBhvr>
                                      <p:tavLst>
                                        <p:tav tm="0">
                                          <p:val>
                                            <p:strVal val="#ppt_x"/>
                                          </p:val>
                                        </p:tav>
                                        <p:tav tm="100000">
                                          <p:val>
                                            <p:strVal val="#ppt_x"/>
                                          </p:val>
                                        </p:tav>
                                      </p:tavLst>
                                    </p:anim>
                                    <p:anim calcmode="lin" valueType="num">
                                      <p:cBhvr additive="base">
                                        <p:cTn id="52" dur="500" fill="hold"/>
                                        <p:tgtEl>
                                          <p:spTgt spid="101429"/>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01432"/>
                                        </p:tgtEl>
                                        <p:attrNameLst>
                                          <p:attrName>style.visibility</p:attrName>
                                        </p:attrNameLst>
                                      </p:cBhvr>
                                      <p:to>
                                        <p:strVal val="visible"/>
                                      </p:to>
                                    </p:set>
                                    <p:anim calcmode="lin" valueType="num">
                                      <p:cBhvr additive="base">
                                        <p:cTn id="55" dur="500" fill="hold"/>
                                        <p:tgtEl>
                                          <p:spTgt spid="101432"/>
                                        </p:tgtEl>
                                        <p:attrNameLst>
                                          <p:attrName>ppt_x</p:attrName>
                                        </p:attrNameLst>
                                      </p:cBhvr>
                                      <p:tavLst>
                                        <p:tav tm="0">
                                          <p:val>
                                            <p:strVal val="#ppt_x"/>
                                          </p:val>
                                        </p:tav>
                                        <p:tav tm="100000">
                                          <p:val>
                                            <p:strVal val="#ppt_x"/>
                                          </p:val>
                                        </p:tav>
                                      </p:tavLst>
                                    </p:anim>
                                    <p:anim calcmode="lin" valueType="num">
                                      <p:cBhvr additive="base">
                                        <p:cTn id="56" dur="500" fill="hold"/>
                                        <p:tgtEl>
                                          <p:spTgt spid="101432"/>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01435"/>
                                        </p:tgtEl>
                                        <p:attrNameLst>
                                          <p:attrName>style.visibility</p:attrName>
                                        </p:attrNameLst>
                                      </p:cBhvr>
                                      <p:to>
                                        <p:strVal val="visible"/>
                                      </p:to>
                                    </p:set>
                                    <p:anim calcmode="lin" valueType="num">
                                      <p:cBhvr additive="base">
                                        <p:cTn id="59" dur="500" fill="hold"/>
                                        <p:tgtEl>
                                          <p:spTgt spid="101435"/>
                                        </p:tgtEl>
                                        <p:attrNameLst>
                                          <p:attrName>ppt_x</p:attrName>
                                        </p:attrNameLst>
                                      </p:cBhvr>
                                      <p:tavLst>
                                        <p:tav tm="0">
                                          <p:val>
                                            <p:strVal val="#ppt_x"/>
                                          </p:val>
                                        </p:tav>
                                        <p:tav tm="100000">
                                          <p:val>
                                            <p:strVal val="#ppt_x"/>
                                          </p:val>
                                        </p:tav>
                                      </p:tavLst>
                                    </p:anim>
                                    <p:anim calcmode="lin" valueType="num">
                                      <p:cBhvr additive="base">
                                        <p:cTn id="60" dur="500" fill="hold"/>
                                        <p:tgtEl>
                                          <p:spTgt spid="101435"/>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01436"/>
                                        </p:tgtEl>
                                        <p:attrNameLst>
                                          <p:attrName>style.visibility</p:attrName>
                                        </p:attrNameLst>
                                      </p:cBhvr>
                                      <p:to>
                                        <p:strVal val="visible"/>
                                      </p:to>
                                    </p:set>
                                    <p:anim calcmode="lin" valueType="num">
                                      <p:cBhvr additive="base">
                                        <p:cTn id="63" dur="500" fill="hold"/>
                                        <p:tgtEl>
                                          <p:spTgt spid="101436"/>
                                        </p:tgtEl>
                                        <p:attrNameLst>
                                          <p:attrName>ppt_x</p:attrName>
                                        </p:attrNameLst>
                                      </p:cBhvr>
                                      <p:tavLst>
                                        <p:tav tm="0">
                                          <p:val>
                                            <p:strVal val="#ppt_x"/>
                                          </p:val>
                                        </p:tav>
                                        <p:tav tm="100000">
                                          <p:val>
                                            <p:strVal val="#ppt_x"/>
                                          </p:val>
                                        </p:tav>
                                      </p:tavLst>
                                    </p:anim>
                                    <p:anim calcmode="lin" valueType="num">
                                      <p:cBhvr additive="base">
                                        <p:cTn id="64" dur="500" fill="hold"/>
                                        <p:tgtEl>
                                          <p:spTgt spid="101436"/>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101437"/>
                                        </p:tgtEl>
                                        <p:attrNameLst>
                                          <p:attrName>style.visibility</p:attrName>
                                        </p:attrNameLst>
                                      </p:cBhvr>
                                      <p:to>
                                        <p:strVal val="visible"/>
                                      </p:to>
                                    </p:set>
                                    <p:anim calcmode="lin" valueType="num">
                                      <p:cBhvr additive="base">
                                        <p:cTn id="67" dur="500" fill="hold"/>
                                        <p:tgtEl>
                                          <p:spTgt spid="101437"/>
                                        </p:tgtEl>
                                        <p:attrNameLst>
                                          <p:attrName>ppt_x</p:attrName>
                                        </p:attrNameLst>
                                      </p:cBhvr>
                                      <p:tavLst>
                                        <p:tav tm="0">
                                          <p:val>
                                            <p:strVal val="#ppt_x"/>
                                          </p:val>
                                        </p:tav>
                                        <p:tav tm="100000">
                                          <p:val>
                                            <p:strVal val="#ppt_x"/>
                                          </p:val>
                                        </p:tav>
                                      </p:tavLst>
                                    </p:anim>
                                    <p:anim calcmode="lin" valueType="num">
                                      <p:cBhvr additive="base">
                                        <p:cTn id="68" dur="500" fill="hold"/>
                                        <p:tgtEl>
                                          <p:spTgt spid="101437"/>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101438"/>
                                        </p:tgtEl>
                                        <p:attrNameLst>
                                          <p:attrName>style.visibility</p:attrName>
                                        </p:attrNameLst>
                                      </p:cBhvr>
                                      <p:to>
                                        <p:strVal val="visible"/>
                                      </p:to>
                                    </p:set>
                                    <p:anim calcmode="lin" valueType="num">
                                      <p:cBhvr additive="base">
                                        <p:cTn id="71" dur="500" fill="hold"/>
                                        <p:tgtEl>
                                          <p:spTgt spid="101438"/>
                                        </p:tgtEl>
                                        <p:attrNameLst>
                                          <p:attrName>ppt_x</p:attrName>
                                        </p:attrNameLst>
                                      </p:cBhvr>
                                      <p:tavLst>
                                        <p:tav tm="0">
                                          <p:val>
                                            <p:strVal val="#ppt_x"/>
                                          </p:val>
                                        </p:tav>
                                        <p:tav tm="100000">
                                          <p:val>
                                            <p:strVal val="#ppt_x"/>
                                          </p:val>
                                        </p:tav>
                                      </p:tavLst>
                                    </p:anim>
                                    <p:anim calcmode="lin" valueType="num">
                                      <p:cBhvr additive="base">
                                        <p:cTn id="72" dur="500" fill="hold"/>
                                        <p:tgtEl>
                                          <p:spTgt spid="101438"/>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101439"/>
                                        </p:tgtEl>
                                        <p:attrNameLst>
                                          <p:attrName>style.visibility</p:attrName>
                                        </p:attrNameLst>
                                      </p:cBhvr>
                                      <p:to>
                                        <p:strVal val="visible"/>
                                      </p:to>
                                    </p:set>
                                    <p:anim calcmode="lin" valueType="num">
                                      <p:cBhvr additive="base">
                                        <p:cTn id="75" dur="500" fill="hold"/>
                                        <p:tgtEl>
                                          <p:spTgt spid="101439"/>
                                        </p:tgtEl>
                                        <p:attrNameLst>
                                          <p:attrName>ppt_x</p:attrName>
                                        </p:attrNameLst>
                                      </p:cBhvr>
                                      <p:tavLst>
                                        <p:tav tm="0">
                                          <p:val>
                                            <p:strVal val="#ppt_x"/>
                                          </p:val>
                                        </p:tav>
                                        <p:tav tm="100000">
                                          <p:val>
                                            <p:strVal val="#ppt_x"/>
                                          </p:val>
                                        </p:tav>
                                      </p:tavLst>
                                    </p:anim>
                                    <p:anim calcmode="lin" valueType="num">
                                      <p:cBhvr additive="base">
                                        <p:cTn id="76" dur="500" fill="hold"/>
                                        <p:tgtEl>
                                          <p:spTgt spid="101439"/>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101440"/>
                                        </p:tgtEl>
                                        <p:attrNameLst>
                                          <p:attrName>style.visibility</p:attrName>
                                        </p:attrNameLst>
                                      </p:cBhvr>
                                      <p:to>
                                        <p:strVal val="visible"/>
                                      </p:to>
                                    </p:set>
                                    <p:anim calcmode="lin" valueType="num">
                                      <p:cBhvr additive="base">
                                        <p:cTn id="79" dur="500" fill="hold"/>
                                        <p:tgtEl>
                                          <p:spTgt spid="101440"/>
                                        </p:tgtEl>
                                        <p:attrNameLst>
                                          <p:attrName>ppt_x</p:attrName>
                                        </p:attrNameLst>
                                      </p:cBhvr>
                                      <p:tavLst>
                                        <p:tav tm="0">
                                          <p:val>
                                            <p:strVal val="#ppt_x"/>
                                          </p:val>
                                        </p:tav>
                                        <p:tav tm="100000">
                                          <p:val>
                                            <p:strVal val="#ppt_x"/>
                                          </p:val>
                                        </p:tav>
                                      </p:tavLst>
                                    </p:anim>
                                    <p:anim calcmode="lin" valueType="num">
                                      <p:cBhvr additive="base">
                                        <p:cTn id="80" dur="500" fill="hold"/>
                                        <p:tgtEl>
                                          <p:spTgt spid="101440"/>
                                        </p:tgtEl>
                                        <p:attrNameLst>
                                          <p:attrName>ppt_y</p:attrName>
                                        </p:attrNameLst>
                                      </p:cBhvr>
                                      <p:tavLst>
                                        <p:tav tm="0">
                                          <p:val>
                                            <p:strVal val="1+#ppt_h/2"/>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101441"/>
                                        </p:tgtEl>
                                        <p:attrNameLst>
                                          <p:attrName>style.visibility</p:attrName>
                                        </p:attrNameLst>
                                      </p:cBhvr>
                                      <p:to>
                                        <p:strVal val="visible"/>
                                      </p:to>
                                    </p:set>
                                    <p:anim calcmode="lin" valueType="num">
                                      <p:cBhvr additive="base">
                                        <p:cTn id="85" dur="500" fill="hold"/>
                                        <p:tgtEl>
                                          <p:spTgt spid="101441"/>
                                        </p:tgtEl>
                                        <p:attrNameLst>
                                          <p:attrName>ppt_x</p:attrName>
                                        </p:attrNameLst>
                                      </p:cBhvr>
                                      <p:tavLst>
                                        <p:tav tm="0">
                                          <p:val>
                                            <p:strVal val="#ppt_x"/>
                                          </p:val>
                                        </p:tav>
                                        <p:tav tm="100000">
                                          <p:val>
                                            <p:strVal val="#ppt_x"/>
                                          </p:val>
                                        </p:tav>
                                      </p:tavLst>
                                    </p:anim>
                                    <p:anim calcmode="lin" valueType="num">
                                      <p:cBhvr additive="base">
                                        <p:cTn id="86" dur="500" fill="hold"/>
                                        <p:tgtEl>
                                          <p:spTgt spid="1014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44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35B9358B-EF48-85BB-34AD-9A003B0F1FD5}"/>
              </a:ext>
            </a:extLst>
          </p:cNvPr>
          <p:cNvSpPr>
            <a:spLocks noGrp="1" noChangeArrowheads="1"/>
          </p:cNvSpPr>
          <p:nvPr>
            <p:ph type="title"/>
          </p:nvPr>
        </p:nvSpPr>
        <p:spPr>
          <a:xfrm>
            <a:off x="177800" y="1054100"/>
            <a:ext cx="8788400" cy="717550"/>
          </a:xfrm>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3.2.1  </a:t>
            </a:r>
            <a:r>
              <a:rPr lang="zh-CN" altLang="en-US"/>
              <a:t>瀑布模型</a:t>
            </a:r>
          </a:p>
        </p:txBody>
      </p:sp>
      <p:sp>
        <p:nvSpPr>
          <p:cNvPr id="101441" name="Text Box 65">
            <a:extLst>
              <a:ext uri="{FF2B5EF4-FFF2-40B4-BE49-F238E27FC236}">
                <a16:creationId xmlns:a16="http://schemas.microsoft.com/office/drawing/2014/main" id="{6B649625-F48A-D02B-37DB-902562D4FBA7}"/>
              </a:ext>
            </a:extLst>
          </p:cNvPr>
          <p:cNvSpPr txBox="1">
            <a:spLocks noChangeArrowheads="1"/>
          </p:cNvSpPr>
          <p:nvPr/>
        </p:nvSpPr>
        <p:spPr bwMode="auto">
          <a:xfrm>
            <a:off x="539750" y="2924175"/>
            <a:ext cx="7739063" cy="169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zh-CN" altLang="en-US" b="1">
                <a:solidFill>
                  <a:schemeClr val="accent2"/>
                </a:solidFill>
                <a:ea typeface="黑体" panose="02010609060101010101" pitchFamily="49" charset="-122"/>
              </a:rPr>
              <a:t>瀑布模型优点</a:t>
            </a:r>
            <a:endParaRPr lang="zh-CN" altLang="en-US">
              <a:solidFill>
                <a:schemeClr val="accent2"/>
              </a:solidFill>
              <a:ea typeface="黑体" panose="02010609060101010101" pitchFamily="49" charset="-122"/>
            </a:endParaRPr>
          </a:p>
          <a:p>
            <a:pPr lvl="1" eaLnBrk="1" hangingPunct="1">
              <a:spcBef>
                <a:spcPct val="50000"/>
              </a:spcBef>
              <a:buClr>
                <a:srgbClr val="0000FF"/>
              </a:buClr>
              <a:buSzPct val="70000"/>
              <a:buFont typeface="Wingdings" panose="05000000000000000000" pitchFamily="2" charset="2"/>
              <a:buChar char="n"/>
            </a:pPr>
            <a:r>
              <a:rPr kumimoji="0" lang="en-US" altLang="zh-CN" sz="2000" b="1">
                <a:latin typeface="宋体" panose="02010600030101010101" pitchFamily="2" charset="-122"/>
              </a:rPr>
              <a:t>1.</a:t>
            </a:r>
            <a:r>
              <a:rPr kumimoji="0" lang="zh-CN" altLang="en-US" sz="2000" b="1">
                <a:latin typeface="宋体" panose="02010600030101010101" pitchFamily="2" charset="-122"/>
              </a:rPr>
              <a:t>它提供了一个模板，这个模板使得分析、设计、编码、测试和支持的方法可以在该模板下有一个共同的指导标准；</a:t>
            </a:r>
            <a:endParaRPr kumimoji="0" lang="en-US" altLang="zh-CN" sz="2000" b="1">
              <a:latin typeface="宋体" panose="02010600030101010101" pitchFamily="2" charset="-122"/>
            </a:endParaRPr>
          </a:p>
          <a:p>
            <a:pPr lvl="1" eaLnBrk="1" hangingPunct="1">
              <a:spcBef>
                <a:spcPct val="50000"/>
              </a:spcBef>
              <a:buClr>
                <a:srgbClr val="0000FF"/>
              </a:buClr>
              <a:buSzPct val="70000"/>
              <a:buFont typeface="Wingdings" panose="05000000000000000000" pitchFamily="2" charset="2"/>
              <a:buChar char="n"/>
            </a:pPr>
            <a:r>
              <a:rPr kumimoji="0" lang="en-US" altLang="zh-CN" sz="2000" b="1">
                <a:latin typeface="宋体" panose="02010600030101010101" pitchFamily="2" charset="-122"/>
              </a:rPr>
              <a:t>2.</a:t>
            </a:r>
            <a:r>
              <a:rPr kumimoji="0" lang="zh-CN" altLang="en-US" sz="2000" b="1">
                <a:latin typeface="宋体" panose="02010600030101010101" pitchFamily="2" charset="-122"/>
              </a:rPr>
              <a:t>虽然有不少缺陷但比在软件开发中随意的状态要好得多。</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1441"/>
                                        </p:tgtEl>
                                        <p:attrNameLst>
                                          <p:attrName>style.visibility</p:attrName>
                                        </p:attrNameLst>
                                      </p:cBhvr>
                                      <p:to>
                                        <p:strVal val="visible"/>
                                      </p:to>
                                    </p:set>
                                    <p:anim calcmode="lin" valueType="num">
                                      <p:cBhvr additive="base">
                                        <p:cTn id="7" dur="500" fill="hold"/>
                                        <p:tgtEl>
                                          <p:spTgt spid="101441"/>
                                        </p:tgtEl>
                                        <p:attrNameLst>
                                          <p:attrName>ppt_x</p:attrName>
                                        </p:attrNameLst>
                                      </p:cBhvr>
                                      <p:tavLst>
                                        <p:tav tm="0">
                                          <p:val>
                                            <p:strVal val="#ppt_x"/>
                                          </p:val>
                                        </p:tav>
                                        <p:tav tm="100000">
                                          <p:val>
                                            <p:strVal val="#ppt_x"/>
                                          </p:val>
                                        </p:tav>
                                      </p:tavLst>
                                    </p:anim>
                                    <p:anim calcmode="lin" valueType="num">
                                      <p:cBhvr additive="base">
                                        <p:cTn id="8" dur="500" fill="hold"/>
                                        <p:tgtEl>
                                          <p:spTgt spid="1014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44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54DB0D6F-544C-0DE9-C969-DD5567160710}"/>
              </a:ext>
            </a:extLst>
          </p:cNvPr>
          <p:cNvSpPr>
            <a:spLocks noGrp="1" noChangeArrowheads="1"/>
          </p:cNvSpPr>
          <p:nvPr>
            <p:ph type="title"/>
          </p:nvPr>
        </p:nvSpPr>
        <p:spPr>
          <a:xfrm>
            <a:off x="177800" y="1054100"/>
            <a:ext cx="8788400" cy="717550"/>
          </a:xfrm>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3.2.1  </a:t>
            </a:r>
            <a:r>
              <a:rPr lang="zh-CN" altLang="en-US"/>
              <a:t>瀑布模型</a:t>
            </a:r>
          </a:p>
        </p:txBody>
      </p:sp>
      <p:sp>
        <p:nvSpPr>
          <p:cNvPr id="37" name="Text Box 65">
            <a:extLst>
              <a:ext uri="{FF2B5EF4-FFF2-40B4-BE49-F238E27FC236}">
                <a16:creationId xmlns:a16="http://schemas.microsoft.com/office/drawing/2014/main" id="{2FF590E8-AD7B-46F7-2D04-1AC93E2129AF}"/>
              </a:ext>
            </a:extLst>
          </p:cNvPr>
          <p:cNvSpPr txBox="1">
            <a:spLocks noChangeArrowheads="1"/>
          </p:cNvSpPr>
          <p:nvPr/>
        </p:nvSpPr>
        <p:spPr bwMode="auto">
          <a:xfrm>
            <a:off x="468313" y="1989138"/>
            <a:ext cx="7739062" cy="4770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zh-CN" altLang="en-US" b="1" dirty="0">
                <a:solidFill>
                  <a:schemeClr val="accent2"/>
                </a:solidFill>
                <a:ea typeface="黑体" panose="02010609060101010101" pitchFamily="49" charset="-122"/>
              </a:rPr>
              <a:t>瀑布模型缺点</a:t>
            </a:r>
            <a:endParaRPr lang="zh-CN" altLang="en-US" dirty="0">
              <a:solidFill>
                <a:schemeClr val="accent2"/>
              </a:solidFill>
              <a:ea typeface="黑体" panose="02010609060101010101" pitchFamily="49" charset="-122"/>
            </a:endParaRPr>
          </a:p>
          <a:p>
            <a:pPr lvl="1" eaLnBrk="1" hangingPunct="1">
              <a:spcBef>
                <a:spcPct val="50000"/>
              </a:spcBef>
              <a:buClr>
                <a:srgbClr val="0000FF"/>
              </a:buClr>
              <a:buSzPct val="70000"/>
              <a:buFont typeface="Wingdings" panose="05000000000000000000" pitchFamily="2" charset="2"/>
              <a:buChar char="n"/>
            </a:pPr>
            <a:r>
              <a:rPr kumimoji="0" lang="en-US" altLang="zh-CN" sz="2000" b="1" dirty="0">
                <a:latin typeface="宋体" panose="02010600030101010101" pitchFamily="2" charset="-122"/>
              </a:rPr>
              <a:t>1.</a:t>
            </a:r>
            <a:r>
              <a:rPr kumimoji="0" lang="zh-CN" altLang="en-US" sz="2000" b="1" dirty="0">
                <a:latin typeface="宋体" panose="02010600030101010101" pitchFamily="2" charset="-122"/>
              </a:rPr>
              <a:t>在大部分情况下，</a:t>
            </a:r>
            <a:r>
              <a:rPr kumimoji="0" lang="zh-CN" altLang="en-US" sz="2000" b="1" dirty="0">
                <a:solidFill>
                  <a:srgbClr val="FF0000"/>
                </a:solidFill>
                <a:latin typeface="宋体" panose="02010600030101010101" pitchFamily="2" charset="-122"/>
              </a:rPr>
              <a:t>实际的项目难以按照该模型给出的顺序进行</a:t>
            </a:r>
            <a:r>
              <a:rPr kumimoji="0" lang="zh-CN" altLang="en-US" sz="2000" b="1" dirty="0">
                <a:latin typeface="宋体" panose="02010600030101010101" pitchFamily="2" charset="-122"/>
              </a:rPr>
              <a:t>，而且这种模型的迭代是间接的，这很容易由微小的变化而造成大的混乱；</a:t>
            </a:r>
            <a:endParaRPr kumimoji="0" lang="en-US" altLang="zh-CN" sz="2000" b="1" dirty="0">
              <a:latin typeface="宋体" panose="02010600030101010101" pitchFamily="2" charset="-122"/>
            </a:endParaRPr>
          </a:p>
          <a:p>
            <a:pPr lvl="1" eaLnBrk="1" hangingPunct="1">
              <a:spcBef>
                <a:spcPct val="50000"/>
              </a:spcBef>
              <a:buClr>
                <a:srgbClr val="0000FF"/>
              </a:buClr>
              <a:buSzPct val="70000"/>
              <a:buFont typeface="Wingdings" panose="05000000000000000000" pitchFamily="2" charset="2"/>
              <a:buChar char="n"/>
            </a:pPr>
            <a:r>
              <a:rPr kumimoji="0" lang="en-US" altLang="zh-CN" sz="2000" b="1" dirty="0">
                <a:latin typeface="宋体" panose="02010600030101010101" pitchFamily="2" charset="-122"/>
              </a:rPr>
              <a:t>2.</a:t>
            </a:r>
            <a:r>
              <a:rPr kumimoji="0" lang="zh-CN" altLang="en-US" sz="2000" b="1" dirty="0">
                <a:latin typeface="宋体" panose="02010600030101010101" pitchFamily="2" charset="-122"/>
              </a:rPr>
              <a:t>在一般情况下，客户难以表达真正的需求，而这种模型却要求如此，这种模型是</a:t>
            </a:r>
            <a:r>
              <a:rPr kumimoji="0" lang="zh-CN" altLang="en-US" sz="2000" b="1" dirty="0">
                <a:solidFill>
                  <a:srgbClr val="FF0000"/>
                </a:solidFill>
                <a:latin typeface="宋体" panose="02010600030101010101" pitchFamily="2" charset="-122"/>
              </a:rPr>
              <a:t>不欢迎具有二义性问题存在</a:t>
            </a:r>
            <a:r>
              <a:rPr kumimoji="0" lang="zh-CN" altLang="en-US" sz="2000" b="1" dirty="0">
                <a:latin typeface="宋体" panose="02010600030101010101" pitchFamily="2" charset="-122"/>
              </a:rPr>
              <a:t>的；</a:t>
            </a:r>
            <a:endParaRPr kumimoji="0" lang="en-US" altLang="zh-CN" sz="2000" b="1" dirty="0">
              <a:latin typeface="宋体" panose="02010600030101010101" pitchFamily="2" charset="-122"/>
            </a:endParaRPr>
          </a:p>
          <a:p>
            <a:pPr lvl="1" eaLnBrk="1" hangingPunct="1">
              <a:spcBef>
                <a:spcPct val="50000"/>
              </a:spcBef>
              <a:buClr>
                <a:srgbClr val="0000FF"/>
              </a:buClr>
              <a:buSzPct val="70000"/>
              <a:buFont typeface="Wingdings" panose="05000000000000000000" pitchFamily="2" charset="2"/>
              <a:buChar char="n"/>
            </a:pPr>
            <a:r>
              <a:rPr kumimoji="0" lang="en-US" altLang="zh-CN" sz="2000" b="1" dirty="0">
                <a:latin typeface="宋体" panose="02010600030101010101" pitchFamily="2" charset="-122"/>
              </a:rPr>
              <a:t>3.</a:t>
            </a:r>
            <a:r>
              <a:rPr kumimoji="0" lang="zh-CN" altLang="en-US" sz="2000" b="1" dirty="0">
                <a:latin typeface="宋体" panose="02010600030101010101" pitchFamily="2" charset="-122"/>
              </a:rPr>
              <a:t>客户要等到开发周期的</a:t>
            </a:r>
            <a:r>
              <a:rPr kumimoji="0" lang="zh-CN" altLang="en-US" sz="2000" b="1" dirty="0">
                <a:solidFill>
                  <a:srgbClr val="FF0000"/>
                </a:solidFill>
                <a:latin typeface="宋体" panose="02010600030101010101" pitchFamily="2" charset="-122"/>
              </a:rPr>
              <a:t>晚期才能看到程序运行的测试版本</a:t>
            </a:r>
            <a:r>
              <a:rPr kumimoji="0" lang="zh-CN" altLang="en-US" sz="2000" b="1" dirty="0">
                <a:latin typeface="宋体" panose="02010600030101010101" pitchFamily="2" charset="-122"/>
              </a:rPr>
              <a:t>，而在这时发现大的错误时，可能会引起客户的惊慌，而后果也可能时灾难性的；</a:t>
            </a:r>
            <a:endParaRPr kumimoji="0" lang="en-US" altLang="zh-CN" sz="2000" b="1" dirty="0">
              <a:latin typeface="宋体" panose="02010600030101010101" pitchFamily="2" charset="-122"/>
            </a:endParaRPr>
          </a:p>
          <a:p>
            <a:pPr lvl="1" eaLnBrk="1" hangingPunct="1">
              <a:spcBef>
                <a:spcPct val="50000"/>
              </a:spcBef>
              <a:buClr>
                <a:srgbClr val="0000FF"/>
              </a:buClr>
              <a:buSzPct val="70000"/>
              <a:buFont typeface="Wingdings" panose="05000000000000000000" pitchFamily="2" charset="2"/>
              <a:buChar char="n"/>
            </a:pPr>
            <a:r>
              <a:rPr kumimoji="0" lang="en-US" altLang="zh-CN" sz="2000" b="1" dirty="0">
                <a:latin typeface="宋体" panose="02010600030101010101" pitchFamily="2" charset="-122"/>
              </a:rPr>
              <a:t>4.</a:t>
            </a:r>
            <a:r>
              <a:rPr kumimoji="0" lang="zh-CN" altLang="en-US" sz="2000" b="1" dirty="0">
                <a:latin typeface="宋体" panose="02010600030101010101" pitchFamily="2" charset="-122"/>
              </a:rPr>
              <a:t>采用这种线性模型，</a:t>
            </a:r>
            <a:r>
              <a:rPr kumimoji="0" lang="zh-CN" altLang="en-US" sz="2000" b="1" dirty="0">
                <a:solidFill>
                  <a:srgbClr val="FF0000"/>
                </a:solidFill>
                <a:latin typeface="宋体" panose="02010600030101010101" pitchFamily="2" charset="-122"/>
              </a:rPr>
              <a:t>会经常在过程的开始和结束时碰到等待其他成员完成其所依赖的任务才能进行下去的情况</a:t>
            </a:r>
            <a:r>
              <a:rPr kumimoji="0" lang="zh-CN" altLang="en-US" sz="2000" b="1" dirty="0">
                <a:latin typeface="宋体" panose="02010600030101010101" pitchFamily="2" charset="-122"/>
              </a:rPr>
              <a:t>，有可能花在等待的时间比开发的时间要长，我们称之为“堵塞状态”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684AEB5C-FA76-AC65-A62C-9A21FA5ADAFF}"/>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3.2.2  </a:t>
            </a:r>
            <a:r>
              <a:rPr lang="zh-CN" altLang="en-US"/>
              <a:t>原型模型 </a:t>
            </a:r>
          </a:p>
        </p:txBody>
      </p:sp>
      <p:sp>
        <p:nvSpPr>
          <p:cNvPr id="24579" name="Rectangle 6">
            <a:extLst>
              <a:ext uri="{FF2B5EF4-FFF2-40B4-BE49-F238E27FC236}">
                <a16:creationId xmlns:a16="http://schemas.microsoft.com/office/drawing/2014/main" id="{2C42A994-2AD5-0503-9985-4F19C3BA6F60}"/>
              </a:ext>
            </a:extLst>
          </p:cNvPr>
          <p:cNvSpPr>
            <a:spLocks noChangeArrowheads="1"/>
          </p:cNvSpPr>
          <p:nvPr/>
        </p:nvSpPr>
        <p:spPr bwMode="auto">
          <a:xfrm>
            <a:off x="0" y="876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pic>
        <p:nvPicPr>
          <p:cNvPr id="102407" name="Picture 7" descr="prototype">
            <a:extLst>
              <a:ext uri="{FF2B5EF4-FFF2-40B4-BE49-F238E27FC236}">
                <a16:creationId xmlns:a16="http://schemas.microsoft.com/office/drawing/2014/main" id="{5A887BC7-C206-02CC-B165-5CBC7D34C1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3013" y="1771650"/>
            <a:ext cx="7019925" cy="489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2407"/>
                                        </p:tgtEl>
                                        <p:attrNameLst>
                                          <p:attrName>style.visibility</p:attrName>
                                        </p:attrNameLst>
                                      </p:cBhvr>
                                      <p:to>
                                        <p:strVal val="visible"/>
                                      </p:to>
                                    </p:set>
                                    <p:anim calcmode="lin" valueType="num">
                                      <p:cBhvr additive="base">
                                        <p:cTn id="7" dur="500" fill="hold"/>
                                        <p:tgtEl>
                                          <p:spTgt spid="102407"/>
                                        </p:tgtEl>
                                        <p:attrNameLst>
                                          <p:attrName>ppt_x</p:attrName>
                                        </p:attrNameLst>
                                      </p:cBhvr>
                                      <p:tavLst>
                                        <p:tav tm="0">
                                          <p:val>
                                            <p:strVal val="#ppt_x"/>
                                          </p:val>
                                        </p:tav>
                                        <p:tav tm="100000">
                                          <p:val>
                                            <p:strVal val="#ppt_x"/>
                                          </p:val>
                                        </p:tav>
                                      </p:tavLst>
                                    </p:anim>
                                    <p:anim calcmode="lin" valueType="num">
                                      <p:cBhvr additive="base">
                                        <p:cTn id="8" dur="500" fill="hold"/>
                                        <p:tgtEl>
                                          <p:spTgt spid="1024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746699C6-87F2-2C5E-3C88-7E0ED28EA452}"/>
              </a:ext>
            </a:extLst>
          </p:cNvPr>
          <p:cNvSpPr>
            <a:spLocks noGrp="1" noChangeArrowheads="1"/>
          </p:cNvSpPr>
          <p:nvPr>
            <p:ph type="title"/>
          </p:nvPr>
        </p:nvSpPr>
        <p:spPr>
          <a:xfrm>
            <a:off x="177800" y="1054100"/>
            <a:ext cx="8788400" cy="717550"/>
          </a:xfrm>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3.2.2  </a:t>
            </a:r>
            <a:r>
              <a:rPr lang="zh-CN" altLang="en-US"/>
              <a:t>原型模型 </a:t>
            </a:r>
          </a:p>
        </p:txBody>
      </p:sp>
      <p:sp>
        <p:nvSpPr>
          <p:cNvPr id="25603" name="Rectangle 6">
            <a:extLst>
              <a:ext uri="{FF2B5EF4-FFF2-40B4-BE49-F238E27FC236}">
                <a16:creationId xmlns:a16="http://schemas.microsoft.com/office/drawing/2014/main" id="{A085301A-A5DB-E392-8D92-FCB79E13D210}"/>
              </a:ext>
            </a:extLst>
          </p:cNvPr>
          <p:cNvSpPr>
            <a:spLocks noChangeArrowheads="1"/>
          </p:cNvSpPr>
          <p:nvPr/>
        </p:nvSpPr>
        <p:spPr bwMode="auto">
          <a:xfrm>
            <a:off x="0" y="876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 name="Text Box 65">
            <a:extLst>
              <a:ext uri="{FF2B5EF4-FFF2-40B4-BE49-F238E27FC236}">
                <a16:creationId xmlns:a16="http://schemas.microsoft.com/office/drawing/2014/main" id="{D00B07FE-B005-7B45-D112-6BA236B23F98}"/>
              </a:ext>
            </a:extLst>
          </p:cNvPr>
          <p:cNvSpPr txBox="1">
            <a:spLocks noChangeArrowheads="1"/>
          </p:cNvSpPr>
          <p:nvPr/>
        </p:nvSpPr>
        <p:spPr bwMode="auto">
          <a:xfrm>
            <a:off x="900113" y="2470150"/>
            <a:ext cx="6840537" cy="354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zh-CN" altLang="en-US" b="1" dirty="0">
                <a:solidFill>
                  <a:schemeClr val="accent2"/>
                </a:solidFill>
                <a:ea typeface="黑体" panose="02010609060101010101" pitchFamily="49" charset="-122"/>
              </a:rPr>
              <a:t>原型模型的两种不同的类型：</a:t>
            </a:r>
            <a:endParaRPr lang="zh-CN" altLang="en-US" dirty="0">
              <a:solidFill>
                <a:schemeClr val="accent2"/>
              </a:solidFill>
              <a:ea typeface="黑体" panose="02010609060101010101" pitchFamily="49" charset="-122"/>
            </a:endParaRPr>
          </a:p>
          <a:p>
            <a:pPr lvl="1" eaLnBrk="1" hangingPunct="1">
              <a:spcBef>
                <a:spcPct val="50000"/>
              </a:spcBef>
              <a:buClr>
                <a:srgbClr val="0000FF"/>
              </a:buClr>
              <a:buSzPct val="70000"/>
              <a:buFont typeface="Wingdings" panose="05000000000000000000" pitchFamily="2" charset="2"/>
              <a:buChar char="n"/>
            </a:pPr>
            <a:r>
              <a:rPr kumimoji="0" lang="en-US" altLang="zh-CN" sz="2000" b="1" dirty="0">
                <a:solidFill>
                  <a:srgbClr val="FF0000"/>
                </a:solidFill>
                <a:latin typeface="宋体" panose="02010600030101010101" pitchFamily="2" charset="-122"/>
              </a:rPr>
              <a:t>1.</a:t>
            </a:r>
            <a:r>
              <a:rPr kumimoji="0" lang="zh-CN" altLang="en-US" sz="2000" b="1" dirty="0">
                <a:solidFill>
                  <a:srgbClr val="FF0000"/>
                </a:solidFill>
                <a:latin typeface="宋体" panose="02010600030101010101" pitchFamily="2" charset="-122"/>
              </a:rPr>
              <a:t>废弃型：</a:t>
            </a:r>
            <a:r>
              <a:rPr kumimoji="0" lang="zh-CN" altLang="en-US" sz="2000" b="1" dirty="0">
                <a:latin typeface="宋体" panose="02010600030101010101" pitchFamily="2" charset="-122"/>
              </a:rPr>
              <a:t>先构造一个功能简单而且质量要求不高的模型系统，针对这个模型系统反复进行分析修改，形成比较好的设计思想，据此设计出更加完整、准确、一致、可靠的最终系统。</a:t>
            </a:r>
            <a:r>
              <a:rPr kumimoji="0" lang="zh-CN" altLang="en-US" sz="2000" b="1" dirty="0">
                <a:solidFill>
                  <a:srgbClr val="FF0000"/>
                </a:solidFill>
                <a:latin typeface="宋体" panose="02010600030101010101" pitchFamily="2" charset="-122"/>
              </a:rPr>
              <a:t>系统构造完成后，原来的模型系统就被废弃不用</a:t>
            </a:r>
            <a:r>
              <a:rPr kumimoji="0" lang="zh-CN" altLang="en-US" sz="2000" b="1" dirty="0">
                <a:latin typeface="宋体" panose="02010600030101010101" pitchFamily="2" charset="-122"/>
              </a:rPr>
              <a:t>。</a:t>
            </a:r>
            <a:endParaRPr kumimoji="0" lang="en-US" altLang="zh-CN" sz="2000" b="1" dirty="0">
              <a:latin typeface="宋体" panose="02010600030101010101" pitchFamily="2" charset="-122"/>
            </a:endParaRPr>
          </a:p>
          <a:p>
            <a:pPr lvl="1" eaLnBrk="1" hangingPunct="1">
              <a:spcBef>
                <a:spcPct val="50000"/>
              </a:spcBef>
              <a:buClr>
                <a:srgbClr val="0000FF"/>
              </a:buClr>
              <a:buSzPct val="70000"/>
              <a:buFont typeface="Wingdings" panose="05000000000000000000" pitchFamily="2" charset="2"/>
              <a:buChar char="n"/>
            </a:pPr>
            <a:r>
              <a:rPr kumimoji="0" lang="en-US" altLang="zh-CN" sz="2000" b="1" dirty="0">
                <a:solidFill>
                  <a:srgbClr val="FF0000"/>
                </a:solidFill>
                <a:latin typeface="宋体" panose="02010600030101010101" pitchFamily="2" charset="-122"/>
              </a:rPr>
              <a:t>2.</a:t>
            </a:r>
            <a:r>
              <a:rPr kumimoji="0" lang="zh-CN" altLang="en-US" sz="2000" b="1" dirty="0">
                <a:solidFill>
                  <a:srgbClr val="FF0000"/>
                </a:solidFill>
                <a:latin typeface="宋体" panose="02010600030101010101" pitchFamily="2" charset="-122"/>
              </a:rPr>
              <a:t>追加型或演化型：</a:t>
            </a:r>
            <a:r>
              <a:rPr kumimoji="0" lang="zh-CN" altLang="en-US" sz="2000" b="1" dirty="0">
                <a:latin typeface="宋体" panose="02010600030101010101" pitchFamily="2" charset="-122"/>
              </a:rPr>
              <a:t>先构造一个功能简单而且质量要求不高的模型系统，</a:t>
            </a:r>
            <a:r>
              <a:rPr kumimoji="0" lang="zh-CN" altLang="en-US" sz="2000" b="1" dirty="0">
                <a:solidFill>
                  <a:srgbClr val="FF0000"/>
                </a:solidFill>
                <a:latin typeface="宋体" panose="02010600030101010101" pitchFamily="2" charset="-122"/>
              </a:rPr>
              <a:t>作为最终系统的核心</a:t>
            </a:r>
            <a:r>
              <a:rPr kumimoji="0" lang="zh-CN" altLang="en-US" sz="2000" b="1" dirty="0">
                <a:latin typeface="宋体" panose="02010600030101010101" pitchFamily="2" charset="-122"/>
              </a:rPr>
              <a:t>，然后通过不断地扩充修改，逐步追加新要求，最后发展成为最终系统。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D3D78923-8319-0FB5-7E63-863F261FC078}"/>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3.2.2  </a:t>
            </a:r>
            <a:r>
              <a:rPr lang="zh-CN" altLang="en-US"/>
              <a:t>原型模型 </a:t>
            </a:r>
          </a:p>
        </p:txBody>
      </p:sp>
      <p:sp>
        <p:nvSpPr>
          <p:cNvPr id="26627" name="Rectangle 6">
            <a:extLst>
              <a:ext uri="{FF2B5EF4-FFF2-40B4-BE49-F238E27FC236}">
                <a16:creationId xmlns:a16="http://schemas.microsoft.com/office/drawing/2014/main" id="{C1FBA2C3-4920-464C-931F-FDFD700AAFBA}"/>
              </a:ext>
            </a:extLst>
          </p:cNvPr>
          <p:cNvSpPr>
            <a:spLocks noChangeArrowheads="1"/>
          </p:cNvSpPr>
          <p:nvPr/>
        </p:nvSpPr>
        <p:spPr bwMode="auto">
          <a:xfrm>
            <a:off x="0" y="876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 name="Text Box 65">
            <a:extLst>
              <a:ext uri="{FF2B5EF4-FFF2-40B4-BE49-F238E27FC236}">
                <a16:creationId xmlns:a16="http://schemas.microsoft.com/office/drawing/2014/main" id="{162579B7-FC27-4F16-F8BE-4DCF8580F615}"/>
              </a:ext>
            </a:extLst>
          </p:cNvPr>
          <p:cNvSpPr txBox="1">
            <a:spLocks noChangeArrowheads="1"/>
          </p:cNvSpPr>
          <p:nvPr/>
        </p:nvSpPr>
        <p:spPr bwMode="auto">
          <a:xfrm>
            <a:off x="0" y="2060575"/>
            <a:ext cx="9467850" cy="4154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zh-CN" altLang="en-US" b="1">
                <a:solidFill>
                  <a:schemeClr val="accent2"/>
                </a:solidFill>
                <a:ea typeface="黑体" panose="02010609060101010101" pitchFamily="49" charset="-122"/>
              </a:rPr>
              <a:t>原型模型过程</a:t>
            </a:r>
            <a:endParaRPr lang="zh-CN" altLang="en-US">
              <a:solidFill>
                <a:schemeClr val="accent2"/>
              </a:solidFill>
              <a:ea typeface="黑体" panose="02010609060101010101" pitchFamily="49" charset="-122"/>
            </a:endParaRPr>
          </a:p>
          <a:p>
            <a:pPr lvl="1" eaLnBrk="1" hangingPunct="1">
              <a:spcBef>
                <a:spcPct val="50000"/>
              </a:spcBef>
              <a:buClr>
                <a:srgbClr val="0000FF"/>
              </a:buClr>
              <a:buSzPct val="70000"/>
              <a:buFont typeface="Wingdings" panose="05000000000000000000" pitchFamily="2" charset="2"/>
              <a:buChar char="n"/>
            </a:pPr>
            <a:r>
              <a:rPr kumimoji="0" lang="en-US" altLang="zh-CN" sz="2000" b="1">
                <a:solidFill>
                  <a:srgbClr val="FF0000"/>
                </a:solidFill>
                <a:latin typeface="宋体" panose="02010600030101010101" pitchFamily="2" charset="-122"/>
              </a:rPr>
              <a:t>1.</a:t>
            </a:r>
            <a:r>
              <a:rPr kumimoji="0" lang="zh-CN" altLang="en-US" sz="2000" b="1">
                <a:solidFill>
                  <a:srgbClr val="FF0000"/>
                </a:solidFill>
                <a:latin typeface="宋体" panose="02010600030101010101" pitchFamily="2" charset="-122"/>
              </a:rPr>
              <a:t>快速分析：</a:t>
            </a:r>
            <a:r>
              <a:rPr kumimoji="0" lang="zh-CN" altLang="en-US" sz="2000" b="1">
                <a:latin typeface="宋体" panose="02010600030101010101" pitchFamily="2" charset="-122"/>
              </a:rPr>
              <a:t>在分析者和用户的紧密配合下，快速确定软件系统的基本要求。</a:t>
            </a:r>
          </a:p>
          <a:p>
            <a:pPr lvl="1" eaLnBrk="1" hangingPunct="1">
              <a:spcBef>
                <a:spcPct val="50000"/>
              </a:spcBef>
              <a:buClr>
                <a:srgbClr val="0000FF"/>
              </a:buClr>
              <a:buSzPct val="70000"/>
              <a:buFont typeface="Wingdings" panose="05000000000000000000" pitchFamily="2" charset="2"/>
              <a:buChar char="n"/>
            </a:pPr>
            <a:r>
              <a:rPr kumimoji="0" lang="en-US" altLang="zh-CN" sz="2000" b="1">
                <a:solidFill>
                  <a:srgbClr val="FF0000"/>
                </a:solidFill>
                <a:latin typeface="宋体" panose="02010600030101010101" pitchFamily="2" charset="-122"/>
              </a:rPr>
              <a:t>2.</a:t>
            </a:r>
            <a:r>
              <a:rPr kumimoji="0" lang="zh-CN" altLang="en-US" sz="2000" b="1">
                <a:solidFill>
                  <a:srgbClr val="FF0000"/>
                </a:solidFill>
                <a:latin typeface="宋体" panose="02010600030101010101" pitchFamily="2" charset="-122"/>
              </a:rPr>
              <a:t>构造原型：</a:t>
            </a:r>
            <a:r>
              <a:rPr kumimoji="0" lang="zh-CN" altLang="en-US" sz="2000" b="1">
                <a:latin typeface="宋体" panose="02010600030101010101" pitchFamily="2" charset="-122"/>
              </a:rPr>
              <a:t>在快速分析的基础上，根据基本需求，尽快实现一个可运行的系统。</a:t>
            </a:r>
            <a:endParaRPr kumimoji="0" lang="en-US" altLang="zh-CN" sz="2000" b="1">
              <a:latin typeface="宋体" panose="02010600030101010101" pitchFamily="2" charset="-122"/>
            </a:endParaRPr>
          </a:p>
          <a:p>
            <a:pPr lvl="1" eaLnBrk="1" hangingPunct="1">
              <a:spcBef>
                <a:spcPct val="50000"/>
              </a:spcBef>
              <a:buClr>
                <a:srgbClr val="0000FF"/>
              </a:buClr>
              <a:buSzPct val="70000"/>
              <a:buFont typeface="Wingdings" panose="05000000000000000000" pitchFamily="2" charset="2"/>
              <a:buChar char="n"/>
            </a:pPr>
            <a:r>
              <a:rPr kumimoji="0" lang="en-US" altLang="zh-CN" sz="2000" b="1">
                <a:solidFill>
                  <a:srgbClr val="FF0000"/>
                </a:solidFill>
                <a:latin typeface="宋体" panose="02010600030101010101" pitchFamily="2" charset="-122"/>
              </a:rPr>
              <a:t>3.</a:t>
            </a:r>
            <a:r>
              <a:rPr kumimoji="0" lang="zh-CN" altLang="en-US" sz="2000" b="1">
                <a:solidFill>
                  <a:srgbClr val="FF0000"/>
                </a:solidFill>
                <a:latin typeface="宋体" panose="02010600030101010101" pitchFamily="2" charset="-122"/>
              </a:rPr>
              <a:t>运行和评价原型：</a:t>
            </a:r>
            <a:r>
              <a:rPr kumimoji="0" lang="zh-CN" altLang="en-US" sz="2000" b="1">
                <a:latin typeface="宋体" panose="02010600030101010101" pitchFamily="2" charset="-122"/>
              </a:rPr>
              <a:t>用户再开发者指导下试用原型，在试用的过程中考核评价原型的特性，分析其运行结果是否满足规格说明的要求，以及规格说明描述是否满足用户愿望。</a:t>
            </a:r>
            <a:endParaRPr kumimoji="0" lang="en-US" altLang="zh-CN" sz="2000" b="1">
              <a:latin typeface="宋体" panose="02010600030101010101" pitchFamily="2" charset="-122"/>
            </a:endParaRPr>
          </a:p>
          <a:p>
            <a:pPr lvl="1" eaLnBrk="1" hangingPunct="1">
              <a:spcBef>
                <a:spcPct val="50000"/>
              </a:spcBef>
              <a:buClr>
                <a:srgbClr val="0000FF"/>
              </a:buClr>
              <a:buSzPct val="70000"/>
              <a:buFont typeface="Wingdings" panose="05000000000000000000" pitchFamily="2" charset="2"/>
              <a:buChar char="n"/>
            </a:pPr>
            <a:r>
              <a:rPr kumimoji="0" lang="en-US" altLang="zh-CN" sz="2000" b="1">
                <a:solidFill>
                  <a:srgbClr val="FF0000"/>
                </a:solidFill>
                <a:latin typeface="宋体" panose="02010600030101010101" pitchFamily="2" charset="-122"/>
              </a:rPr>
              <a:t>4.</a:t>
            </a:r>
            <a:r>
              <a:rPr kumimoji="0" lang="zh-CN" altLang="en-US" sz="2000" b="1">
                <a:solidFill>
                  <a:srgbClr val="FF0000"/>
                </a:solidFill>
                <a:latin typeface="宋体" panose="02010600030101010101" pitchFamily="2" charset="-122"/>
              </a:rPr>
              <a:t>修正和改进：</a:t>
            </a:r>
            <a:r>
              <a:rPr kumimoji="0" lang="zh-CN" altLang="en-US" sz="2000" b="1">
                <a:latin typeface="宋体" panose="02010600030101010101" pitchFamily="2" charset="-122"/>
              </a:rPr>
              <a:t>根据修改意见进行修改。如果用修改原型的过程代替快速分析，就形成了原型开发的迭代过程。开发者和用户在一次次的迭代过程中不断将原型完善，以接近系统的最终要求。</a:t>
            </a:r>
            <a:endParaRPr kumimoji="0" lang="en-US" altLang="zh-CN" sz="2000" b="1">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233CD8F7-5182-E565-3BE8-1AE7414B8FE1}"/>
              </a:ext>
            </a:extLst>
          </p:cNvPr>
          <p:cNvSpPr>
            <a:spLocks noGrp="1" noChangeArrowheads="1"/>
          </p:cNvSpPr>
          <p:nvPr>
            <p:ph type="title"/>
          </p:nvPr>
        </p:nvSpPr>
        <p:spPr>
          <a:xfrm>
            <a:off x="177800" y="1054100"/>
            <a:ext cx="8788400" cy="717550"/>
          </a:xfrm>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3.2.2  </a:t>
            </a:r>
            <a:r>
              <a:rPr lang="zh-CN" altLang="en-US"/>
              <a:t>原型模型 </a:t>
            </a:r>
          </a:p>
        </p:txBody>
      </p:sp>
      <p:sp>
        <p:nvSpPr>
          <p:cNvPr id="27651" name="Rectangle 6">
            <a:extLst>
              <a:ext uri="{FF2B5EF4-FFF2-40B4-BE49-F238E27FC236}">
                <a16:creationId xmlns:a16="http://schemas.microsoft.com/office/drawing/2014/main" id="{1D9045BF-1061-2E93-819A-279A284CEB1C}"/>
              </a:ext>
            </a:extLst>
          </p:cNvPr>
          <p:cNvSpPr>
            <a:spLocks noChangeArrowheads="1"/>
          </p:cNvSpPr>
          <p:nvPr/>
        </p:nvSpPr>
        <p:spPr bwMode="auto">
          <a:xfrm>
            <a:off x="0" y="876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 name="Text Box 65">
            <a:extLst>
              <a:ext uri="{FF2B5EF4-FFF2-40B4-BE49-F238E27FC236}">
                <a16:creationId xmlns:a16="http://schemas.microsoft.com/office/drawing/2014/main" id="{09666B8A-0390-C044-76FB-50A3AC255BC4}"/>
              </a:ext>
            </a:extLst>
          </p:cNvPr>
          <p:cNvSpPr txBox="1">
            <a:spLocks noChangeArrowheads="1"/>
          </p:cNvSpPr>
          <p:nvPr/>
        </p:nvSpPr>
        <p:spPr bwMode="auto">
          <a:xfrm>
            <a:off x="0" y="1771650"/>
            <a:ext cx="9467850" cy="523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zh-CN" altLang="en-US" b="1" dirty="0">
                <a:solidFill>
                  <a:schemeClr val="accent2"/>
                </a:solidFill>
                <a:ea typeface="黑体" panose="02010609060101010101" pitchFamily="49" charset="-122"/>
              </a:rPr>
              <a:t>原型模型过程</a:t>
            </a:r>
            <a:endParaRPr lang="zh-CN" altLang="en-US" dirty="0">
              <a:solidFill>
                <a:schemeClr val="accent2"/>
              </a:solidFill>
              <a:ea typeface="黑体" panose="02010609060101010101" pitchFamily="49" charset="-122"/>
            </a:endParaRPr>
          </a:p>
          <a:p>
            <a:pPr lvl="1" eaLnBrk="1" hangingPunct="1">
              <a:spcBef>
                <a:spcPct val="50000"/>
              </a:spcBef>
              <a:buClr>
                <a:srgbClr val="0000FF"/>
              </a:buClr>
              <a:buSzPct val="70000"/>
              <a:buFont typeface="Wingdings" panose="05000000000000000000" pitchFamily="2" charset="2"/>
              <a:buChar char="n"/>
            </a:pPr>
            <a:r>
              <a:rPr kumimoji="0" lang="en-US" altLang="zh-CN" sz="2000" b="1" dirty="0">
                <a:solidFill>
                  <a:srgbClr val="FF0000"/>
                </a:solidFill>
                <a:latin typeface="宋体" panose="02010600030101010101" pitchFamily="2" charset="-122"/>
              </a:rPr>
              <a:t>5.</a:t>
            </a:r>
            <a:r>
              <a:rPr kumimoji="0" lang="zh-CN" altLang="en-US" sz="2000" b="1" dirty="0">
                <a:solidFill>
                  <a:srgbClr val="FF0000"/>
                </a:solidFill>
                <a:latin typeface="宋体" panose="02010600030101010101" pitchFamily="2" charset="-122"/>
              </a:rPr>
              <a:t>判断原型完成：</a:t>
            </a:r>
            <a:r>
              <a:rPr kumimoji="0" lang="zh-CN" altLang="en-US" sz="2000" b="1" dirty="0">
                <a:latin typeface="宋体" panose="02010600030101010101" pitchFamily="2" charset="-122"/>
              </a:rPr>
              <a:t>经过修改或改进的原型，若得到参与者的一致认可，则原型开发的迭代过程可以结束。为此，应判断是否已经掌握有关应用的实质，迭代周期是否可以结束等。判断的结果有两个不同的转向：一是继续迭代验证；一是进行详细说明。</a:t>
            </a:r>
            <a:endParaRPr kumimoji="0" lang="en-US" altLang="zh-CN" sz="2000" b="1" dirty="0">
              <a:latin typeface="宋体" panose="02010600030101010101" pitchFamily="2" charset="-122"/>
            </a:endParaRPr>
          </a:p>
          <a:p>
            <a:pPr lvl="1" eaLnBrk="1" hangingPunct="1">
              <a:spcBef>
                <a:spcPct val="50000"/>
              </a:spcBef>
              <a:buClr>
                <a:srgbClr val="0000FF"/>
              </a:buClr>
              <a:buSzPct val="70000"/>
              <a:buFont typeface="Wingdings" panose="05000000000000000000" pitchFamily="2" charset="2"/>
              <a:buChar char="n"/>
            </a:pPr>
            <a:r>
              <a:rPr kumimoji="0" lang="en-US" altLang="zh-CN" sz="2000" b="1" dirty="0">
                <a:solidFill>
                  <a:srgbClr val="FF0000"/>
                </a:solidFill>
                <a:latin typeface="宋体" panose="02010600030101010101" pitchFamily="2" charset="-122"/>
              </a:rPr>
              <a:t>6.</a:t>
            </a:r>
            <a:r>
              <a:rPr kumimoji="0" lang="zh-CN" altLang="en-US" sz="2000" b="1" dirty="0">
                <a:solidFill>
                  <a:srgbClr val="FF0000"/>
                </a:solidFill>
                <a:latin typeface="宋体" panose="02010600030101010101" pitchFamily="2" charset="-122"/>
              </a:rPr>
              <a:t>判断原型是否需要细部说明：</a:t>
            </a:r>
            <a:r>
              <a:rPr kumimoji="0" lang="zh-CN" altLang="en-US" sz="2000" b="1" dirty="0">
                <a:latin typeface="宋体" panose="02010600030101010101" pitchFamily="2" charset="-122"/>
              </a:rPr>
              <a:t>判断组成原型的细部是否需要严格地加以说明。原型化方法允许对系统必要成分或不能通过原型说明的成分进行严格的详细的说明。</a:t>
            </a:r>
            <a:endParaRPr kumimoji="0" lang="en-US" altLang="zh-CN" sz="2000" b="1" dirty="0">
              <a:latin typeface="宋体" panose="02010600030101010101" pitchFamily="2" charset="-122"/>
            </a:endParaRPr>
          </a:p>
          <a:p>
            <a:pPr lvl="1" eaLnBrk="1" hangingPunct="1">
              <a:spcBef>
                <a:spcPct val="50000"/>
              </a:spcBef>
              <a:buClr>
                <a:srgbClr val="0000FF"/>
              </a:buClr>
              <a:buSzPct val="70000"/>
              <a:buFont typeface="Wingdings" panose="05000000000000000000" pitchFamily="2" charset="2"/>
              <a:buChar char="n"/>
            </a:pPr>
            <a:r>
              <a:rPr kumimoji="0" lang="en-US" altLang="zh-CN" sz="2000" b="1" dirty="0">
                <a:solidFill>
                  <a:srgbClr val="FF0000"/>
                </a:solidFill>
                <a:latin typeface="宋体" panose="02010600030101010101" pitchFamily="2" charset="-122"/>
              </a:rPr>
              <a:t>7.</a:t>
            </a:r>
            <a:r>
              <a:rPr kumimoji="0" lang="zh-CN" altLang="en-US" sz="2000" b="1" dirty="0">
                <a:solidFill>
                  <a:srgbClr val="FF0000"/>
                </a:solidFill>
                <a:latin typeface="宋体" panose="02010600030101010101" pitchFamily="2" charset="-122"/>
              </a:rPr>
              <a:t>原型细部的说明：</a:t>
            </a:r>
            <a:r>
              <a:rPr kumimoji="0" lang="zh-CN" altLang="en-US" sz="2000" b="1" dirty="0">
                <a:latin typeface="宋体" panose="02010600030101010101" pitchFamily="2" charset="-122"/>
              </a:rPr>
              <a:t>对于那些不能通过原型说明的所有项目，仍需通过文档加以说明。严格说明的成分要作为原型化方法的模型编入词典。</a:t>
            </a:r>
            <a:endParaRPr kumimoji="0" lang="en-US" altLang="zh-CN" sz="2000" b="1" dirty="0">
              <a:latin typeface="宋体" panose="02010600030101010101" pitchFamily="2" charset="-122"/>
            </a:endParaRPr>
          </a:p>
          <a:p>
            <a:pPr lvl="1" eaLnBrk="1" hangingPunct="1">
              <a:spcBef>
                <a:spcPct val="50000"/>
              </a:spcBef>
              <a:buClr>
                <a:srgbClr val="0000FF"/>
              </a:buClr>
              <a:buSzPct val="70000"/>
              <a:buFont typeface="Wingdings" panose="05000000000000000000" pitchFamily="2" charset="2"/>
              <a:buChar char="n"/>
            </a:pPr>
            <a:r>
              <a:rPr kumimoji="0" lang="en-US" altLang="zh-CN" sz="2000" b="1" dirty="0">
                <a:solidFill>
                  <a:srgbClr val="FF0000"/>
                </a:solidFill>
                <a:latin typeface="宋体" panose="02010600030101010101" pitchFamily="2" charset="-122"/>
              </a:rPr>
              <a:t>8.</a:t>
            </a:r>
            <a:r>
              <a:rPr kumimoji="0" lang="zh-CN" altLang="en-US" sz="2000" b="1" dirty="0">
                <a:solidFill>
                  <a:srgbClr val="FF0000"/>
                </a:solidFill>
                <a:latin typeface="宋体" panose="02010600030101010101" pitchFamily="2" charset="-122"/>
              </a:rPr>
              <a:t>判断原型效果：</a:t>
            </a:r>
            <a:r>
              <a:rPr kumimoji="0" lang="zh-CN" altLang="en-US" sz="2000" b="1" dirty="0">
                <a:latin typeface="宋体" panose="02010600030101010101" pitchFamily="2" charset="-122"/>
              </a:rPr>
              <a:t>考察用户新加入的需求信息和细部说明信息，看其对模型效果有什么影响？是否会影响模块的有效性？如果模型效果受到影响，甚至导致模型失效，则要进行修正和改进。</a:t>
            </a:r>
            <a:endParaRPr kumimoji="0" lang="en-US" altLang="zh-CN" sz="2000" b="1" dirty="0">
              <a:latin typeface="宋体" panose="02010600030101010101" pitchFamily="2" charset="-122"/>
            </a:endParaRPr>
          </a:p>
          <a:p>
            <a:pPr lvl="1" eaLnBrk="1" hangingPunct="1">
              <a:spcBef>
                <a:spcPct val="50000"/>
              </a:spcBef>
              <a:buClr>
                <a:srgbClr val="0000FF"/>
              </a:buClr>
              <a:buSzPct val="70000"/>
              <a:buFont typeface="Wingdings" panose="05000000000000000000" pitchFamily="2" charset="2"/>
              <a:buChar char="n"/>
            </a:pPr>
            <a:r>
              <a:rPr kumimoji="0" lang="en-US" altLang="zh-CN" sz="2000" b="1" dirty="0">
                <a:solidFill>
                  <a:srgbClr val="FF0000"/>
                </a:solidFill>
                <a:latin typeface="宋体" panose="02010600030101010101" pitchFamily="2" charset="-122"/>
              </a:rPr>
              <a:t>9.</a:t>
            </a:r>
            <a:r>
              <a:rPr kumimoji="0" lang="zh-CN" altLang="en-US" sz="2000" b="1" dirty="0">
                <a:solidFill>
                  <a:srgbClr val="FF0000"/>
                </a:solidFill>
                <a:latin typeface="宋体" panose="02010600030101010101" pitchFamily="2" charset="-122"/>
              </a:rPr>
              <a:t>整理原型和提供文档</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C4DB207-3AE6-AE7B-39CF-30B35F99C71E}"/>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3.2.2  </a:t>
            </a:r>
            <a:r>
              <a:rPr lang="zh-CN" altLang="en-US"/>
              <a:t>原型模型 </a:t>
            </a:r>
          </a:p>
        </p:txBody>
      </p:sp>
      <p:sp>
        <p:nvSpPr>
          <p:cNvPr id="28675" name="Rectangle 3">
            <a:extLst>
              <a:ext uri="{FF2B5EF4-FFF2-40B4-BE49-F238E27FC236}">
                <a16:creationId xmlns:a16="http://schemas.microsoft.com/office/drawing/2014/main" id="{FB2D0211-0D7C-1969-9FB7-921DA2C27984}"/>
              </a:ext>
            </a:extLst>
          </p:cNvPr>
          <p:cNvSpPr>
            <a:spLocks noChangeArrowheads="1"/>
          </p:cNvSpPr>
          <p:nvPr/>
        </p:nvSpPr>
        <p:spPr bwMode="auto">
          <a:xfrm>
            <a:off x="0" y="876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28676" name="Text Box 5">
            <a:extLst>
              <a:ext uri="{FF2B5EF4-FFF2-40B4-BE49-F238E27FC236}">
                <a16:creationId xmlns:a16="http://schemas.microsoft.com/office/drawing/2014/main" id="{3DB6C7E3-1FD3-3B62-31D5-5A1B3D4B848D}"/>
              </a:ext>
            </a:extLst>
          </p:cNvPr>
          <p:cNvSpPr txBox="1">
            <a:spLocks noChangeArrowheads="1"/>
          </p:cNvSpPr>
          <p:nvPr/>
        </p:nvSpPr>
        <p:spPr bwMode="auto">
          <a:xfrm>
            <a:off x="755650" y="2492375"/>
            <a:ext cx="7704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endParaRPr lang="zh-CN" altLang="zh-CN" sz="2400" b="0">
              <a:latin typeface="Times New Roman" panose="02020603050405020304" pitchFamily="18" charset="0"/>
            </a:endParaRPr>
          </a:p>
        </p:txBody>
      </p:sp>
      <p:sp>
        <p:nvSpPr>
          <p:cNvPr id="28677" name="Text Box 6">
            <a:extLst>
              <a:ext uri="{FF2B5EF4-FFF2-40B4-BE49-F238E27FC236}">
                <a16:creationId xmlns:a16="http://schemas.microsoft.com/office/drawing/2014/main" id="{EBA8038A-B038-07D1-9510-DD4861F6786F}"/>
              </a:ext>
            </a:extLst>
          </p:cNvPr>
          <p:cNvSpPr txBox="1">
            <a:spLocks noChangeArrowheads="1"/>
          </p:cNvSpPr>
          <p:nvPr/>
        </p:nvSpPr>
        <p:spPr bwMode="auto">
          <a:xfrm>
            <a:off x="1106488" y="2249488"/>
            <a:ext cx="7058025" cy="200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zh-CN" altLang="en-US" b="1" dirty="0">
                <a:solidFill>
                  <a:schemeClr val="accent2"/>
                </a:solidFill>
                <a:latin typeface="黑体" panose="02010609060101010101" pitchFamily="49" charset="-122"/>
                <a:ea typeface="黑体" panose="02010609060101010101" pitchFamily="49" charset="-122"/>
              </a:rPr>
              <a:t>原型模型优点：</a:t>
            </a:r>
          </a:p>
          <a:p>
            <a:pPr lvl="1" eaLnBrk="1" hangingPunct="1">
              <a:spcBef>
                <a:spcPct val="50000"/>
              </a:spcBef>
              <a:buClr>
                <a:srgbClr val="0000FF"/>
              </a:buClr>
              <a:buSzPct val="70000"/>
              <a:buFont typeface="Wingdings" panose="05000000000000000000" pitchFamily="2" charset="2"/>
              <a:buChar char="n"/>
            </a:pPr>
            <a:r>
              <a:rPr lang="en-US" altLang="zh-CN" sz="2000" b="1" dirty="0"/>
              <a:t>1.</a:t>
            </a:r>
            <a:r>
              <a:rPr lang="zh-CN" altLang="en-US" sz="2000" b="1" dirty="0"/>
              <a:t>如果客户和开发者达成一致协议：原型被建造仅为了</a:t>
            </a:r>
            <a:r>
              <a:rPr lang="zh-CN" altLang="en-US" sz="2000" b="1" dirty="0">
                <a:solidFill>
                  <a:srgbClr val="FF0000"/>
                </a:solidFill>
              </a:rPr>
              <a:t>定义需求</a:t>
            </a:r>
            <a:r>
              <a:rPr lang="zh-CN" altLang="en-US" sz="2000" b="1" dirty="0"/>
              <a:t>，之后就被抛弃或者部分抛弃，那么这种模型就很合适了。</a:t>
            </a:r>
            <a:endParaRPr lang="en-US" altLang="zh-CN" sz="2000" b="1" dirty="0"/>
          </a:p>
          <a:p>
            <a:pPr lvl="1" eaLnBrk="1" hangingPunct="1">
              <a:spcBef>
                <a:spcPct val="50000"/>
              </a:spcBef>
              <a:buClr>
                <a:srgbClr val="0000FF"/>
              </a:buClr>
              <a:buSzPct val="70000"/>
              <a:buFont typeface="Wingdings" panose="05000000000000000000" pitchFamily="2" charset="2"/>
              <a:buChar char="n"/>
            </a:pPr>
            <a:r>
              <a:rPr lang="en-US" altLang="zh-CN" sz="2000" b="1" dirty="0"/>
              <a:t>2.</a:t>
            </a:r>
            <a:r>
              <a:rPr lang="zh-CN" altLang="en-US" sz="2000" b="1" dirty="0"/>
              <a:t>吸引客户抢占市场，这是一个首选的模型。</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C4DB207-3AE6-AE7B-39CF-30B35F99C71E}"/>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3.2.2  </a:t>
            </a:r>
            <a:r>
              <a:rPr lang="zh-CN" altLang="en-US"/>
              <a:t>原型模型 </a:t>
            </a:r>
          </a:p>
        </p:txBody>
      </p:sp>
      <p:sp>
        <p:nvSpPr>
          <p:cNvPr id="28675" name="Rectangle 3">
            <a:extLst>
              <a:ext uri="{FF2B5EF4-FFF2-40B4-BE49-F238E27FC236}">
                <a16:creationId xmlns:a16="http://schemas.microsoft.com/office/drawing/2014/main" id="{FB2D0211-0D7C-1969-9FB7-921DA2C27984}"/>
              </a:ext>
            </a:extLst>
          </p:cNvPr>
          <p:cNvSpPr>
            <a:spLocks noChangeArrowheads="1"/>
          </p:cNvSpPr>
          <p:nvPr/>
        </p:nvSpPr>
        <p:spPr bwMode="auto">
          <a:xfrm>
            <a:off x="0" y="876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28676" name="Text Box 5">
            <a:extLst>
              <a:ext uri="{FF2B5EF4-FFF2-40B4-BE49-F238E27FC236}">
                <a16:creationId xmlns:a16="http://schemas.microsoft.com/office/drawing/2014/main" id="{3DB6C7E3-1FD3-3B62-31D5-5A1B3D4B848D}"/>
              </a:ext>
            </a:extLst>
          </p:cNvPr>
          <p:cNvSpPr txBox="1">
            <a:spLocks noChangeArrowheads="1"/>
          </p:cNvSpPr>
          <p:nvPr/>
        </p:nvSpPr>
        <p:spPr bwMode="auto">
          <a:xfrm>
            <a:off x="755650" y="2492375"/>
            <a:ext cx="7704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endParaRPr lang="zh-CN" altLang="zh-CN" sz="2400" b="0">
              <a:latin typeface="Times New Roman" panose="02020603050405020304" pitchFamily="18" charset="0"/>
            </a:endParaRPr>
          </a:p>
        </p:txBody>
      </p:sp>
      <p:sp>
        <p:nvSpPr>
          <p:cNvPr id="28677" name="Text Box 6">
            <a:extLst>
              <a:ext uri="{FF2B5EF4-FFF2-40B4-BE49-F238E27FC236}">
                <a16:creationId xmlns:a16="http://schemas.microsoft.com/office/drawing/2014/main" id="{EBA8038A-B038-07D1-9510-DD4861F6786F}"/>
              </a:ext>
            </a:extLst>
          </p:cNvPr>
          <p:cNvSpPr txBox="1">
            <a:spLocks noChangeArrowheads="1"/>
          </p:cNvSpPr>
          <p:nvPr/>
        </p:nvSpPr>
        <p:spPr bwMode="auto">
          <a:xfrm>
            <a:off x="1106488" y="2249488"/>
            <a:ext cx="7058025" cy="2769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zh-CN" altLang="en-US" b="1" dirty="0">
                <a:solidFill>
                  <a:schemeClr val="accent2"/>
                </a:solidFill>
                <a:latin typeface="黑体" panose="02010609060101010101" pitchFamily="49" charset="-122"/>
                <a:ea typeface="黑体" panose="02010609060101010101" pitchFamily="49" charset="-122"/>
              </a:rPr>
              <a:t>原型模型缺点：</a:t>
            </a:r>
          </a:p>
          <a:p>
            <a:pPr lvl="1" eaLnBrk="1" hangingPunct="1">
              <a:spcBef>
                <a:spcPct val="50000"/>
              </a:spcBef>
              <a:buClr>
                <a:srgbClr val="0000FF"/>
              </a:buClr>
              <a:buSzPct val="70000"/>
              <a:buFont typeface="Wingdings" panose="05000000000000000000" pitchFamily="2" charset="2"/>
              <a:buChar char="n"/>
            </a:pPr>
            <a:r>
              <a:rPr lang="en-US" altLang="zh-CN" sz="2000" b="1" dirty="0"/>
              <a:t>1.</a:t>
            </a:r>
            <a:r>
              <a:rPr lang="zh-CN" altLang="en-US" sz="2000" b="1" dirty="0"/>
              <a:t>没有考虑软件的整体质量和长期的可维护性；</a:t>
            </a:r>
            <a:endParaRPr lang="en-US" altLang="zh-CN" sz="2000" b="1" dirty="0"/>
          </a:p>
          <a:p>
            <a:pPr lvl="1" eaLnBrk="1" hangingPunct="1">
              <a:spcBef>
                <a:spcPct val="50000"/>
              </a:spcBef>
              <a:buClr>
                <a:srgbClr val="0000FF"/>
              </a:buClr>
              <a:buSzPct val="70000"/>
              <a:buFont typeface="Wingdings" panose="05000000000000000000" pitchFamily="2" charset="2"/>
              <a:buChar char="n"/>
            </a:pPr>
            <a:r>
              <a:rPr lang="en-US" altLang="zh-CN" sz="2000" b="1" dirty="0"/>
              <a:t>2.</a:t>
            </a:r>
            <a:r>
              <a:rPr lang="zh-CN" altLang="en-US" sz="2000" b="1" dirty="0"/>
              <a:t>大部分情况下采用了不合适的操作算法，目的是为了演示功能，采用了不合适的开发工具，仅仅因为它很方便，便选择了不合适的操作系统等；</a:t>
            </a:r>
            <a:endParaRPr lang="en-US" altLang="zh-CN" sz="2000" b="1" dirty="0"/>
          </a:p>
          <a:p>
            <a:pPr lvl="1" eaLnBrk="1" hangingPunct="1">
              <a:spcBef>
                <a:spcPct val="50000"/>
              </a:spcBef>
              <a:buClr>
                <a:srgbClr val="0000FF"/>
              </a:buClr>
              <a:buSzPct val="70000"/>
              <a:buFont typeface="Wingdings" panose="05000000000000000000" pitchFamily="2" charset="2"/>
              <a:buChar char="n"/>
            </a:pPr>
            <a:r>
              <a:rPr lang="en-US" altLang="zh-CN" sz="2000" b="1" dirty="0"/>
              <a:t>3.</a:t>
            </a:r>
            <a:r>
              <a:rPr lang="zh-CN" altLang="en-US" sz="2000" b="1" dirty="0"/>
              <a:t>由于达不到质量要求，产品可能被抛弃，而采用新的模型重新设计。</a:t>
            </a:r>
          </a:p>
        </p:txBody>
      </p:sp>
    </p:spTree>
    <p:extLst>
      <p:ext uri="{BB962C8B-B14F-4D97-AF65-F5344CB8AC3E}">
        <p14:creationId xmlns:p14="http://schemas.microsoft.com/office/powerpoint/2010/main" val="745717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C4DB207-3AE6-AE7B-39CF-30B35F99C71E}"/>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3.2.2  </a:t>
            </a:r>
            <a:r>
              <a:rPr lang="zh-CN" altLang="en-US"/>
              <a:t>原型模型 </a:t>
            </a:r>
          </a:p>
        </p:txBody>
      </p:sp>
      <p:sp>
        <p:nvSpPr>
          <p:cNvPr id="28675" name="Rectangle 3">
            <a:extLst>
              <a:ext uri="{FF2B5EF4-FFF2-40B4-BE49-F238E27FC236}">
                <a16:creationId xmlns:a16="http://schemas.microsoft.com/office/drawing/2014/main" id="{FB2D0211-0D7C-1969-9FB7-921DA2C27984}"/>
              </a:ext>
            </a:extLst>
          </p:cNvPr>
          <p:cNvSpPr>
            <a:spLocks noChangeArrowheads="1"/>
          </p:cNvSpPr>
          <p:nvPr/>
        </p:nvSpPr>
        <p:spPr bwMode="auto">
          <a:xfrm>
            <a:off x="0" y="876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28676" name="Text Box 5">
            <a:extLst>
              <a:ext uri="{FF2B5EF4-FFF2-40B4-BE49-F238E27FC236}">
                <a16:creationId xmlns:a16="http://schemas.microsoft.com/office/drawing/2014/main" id="{3DB6C7E3-1FD3-3B62-31D5-5A1B3D4B848D}"/>
              </a:ext>
            </a:extLst>
          </p:cNvPr>
          <p:cNvSpPr txBox="1">
            <a:spLocks noChangeArrowheads="1"/>
          </p:cNvSpPr>
          <p:nvPr/>
        </p:nvSpPr>
        <p:spPr bwMode="auto">
          <a:xfrm>
            <a:off x="755650" y="2492375"/>
            <a:ext cx="7704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endParaRPr lang="zh-CN" altLang="zh-CN" sz="2400" b="0">
              <a:latin typeface="Times New Roman" panose="02020603050405020304" pitchFamily="18" charset="0"/>
            </a:endParaRPr>
          </a:p>
        </p:txBody>
      </p:sp>
      <p:sp>
        <p:nvSpPr>
          <p:cNvPr id="28677" name="Text Box 6">
            <a:extLst>
              <a:ext uri="{FF2B5EF4-FFF2-40B4-BE49-F238E27FC236}">
                <a16:creationId xmlns:a16="http://schemas.microsoft.com/office/drawing/2014/main" id="{EBA8038A-B038-07D1-9510-DD4861F6786F}"/>
              </a:ext>
            </a:extLst>
          </p:cNvPr>
          <p:cNvSpPr txBox="1">
            <a:spLocks noChangeArrowheads="1"/>
          </p:cNvSpPr>
          <p:nvPr/>
        </p:nvSpPr>
        <p:spPr bwMode="auto">
          <a:xfrm>
            <a:off x="1106488" y="2249488"/>
            <a:ext cx="7058025"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zh-CN" altLang="en-US" b="1" dirty="0">
                <a:solidFill>
                  <a:schemeClr val="accent2"/>
                </a:solidFill>
                <a:latin typeface="黑体" panose="02010609060101010101" pitchFamily="49" charset="-122"/>
                <a:ea typeface="黑体" panose="02010609060101010101" pitchFamily="49" charset="-122"/>
              </a:rPr>
              <a:t>应用场景：</a:t>
            </a:r>
          </a:p>
          <a:p>
            <a:pPr lvl="1" eaLnBrk="1" hangingPunct="1">
              <a:spcBef>
                <a:spcPct val="50000"/>
              </a:spcBef>
              <a:buClr>
                <a:srgbClr val="0000FF"/>
              </a:buClr>
              <a:buSzPct val="70000"/>
              <a:buFont typeface="Wingdings" panose="05000000000000000000" pitchFamily="2" charset="2"/>
              <a:buChar char="n"/>
            </a:pPr>
            <a:r>
              <a:rPr lang="zh-CN" altLang="en-US" sz="2000" b="1" dirty="0"/>
              <a:t>当在项目开始前，项目的</a:t>
            </a:r>
            <a:r>
              <a:rPr lang="zh-CN" altLang="en-US" sz="2000" b="1" dirty="0">
                <a:solidFill>
                  <a:srgbClr val="FF0000"/>
                </a:solidFill>
              </a:rPr>
              <a:t>需求不明确</a:t>
            </a:r>
            <a:r>
              <a:rPr lang="zh-CN" altLang="en-US" sz="2000" b="1" dirty="0"/>
              <a:t>，或者需要减少项目的不确定性的时候，可以采用原型方法。类似的项目还包括：需要</a:t>
            </a:r>
            <a:r>
              <a:rPr lang="zh-CN" altLang="en-US" sz="2000" b="1" dirty="0">
                <a:solidFill>
                  <a:srgbClr val="FF0000"/>
                </a:solidFill>
              </a:rPr>
              <a:t>明确系统的界面</a:t>
            </a:r>
            <a:r>
              <a:rPr lang="zh-CN" altLang="en-US" sz="2000" b="1" dirty="0"/>
              <a:t>，验证一些技术的可行性等。</a:t>
            </a:r>
            <a:endParaRPr lang="en-US" altLang="zh-CN" sz="2000" b="1" dirty="0"/>
          </a:p>
        </p:txBody>
      </p:sp>
    </p:spTree>
    <p:extLst>
      <p:ext uri="{BB962C8B-B14F-4D97-AF65-F5344CB8AC3E}">
        <p14:creationId xmlns:p14="http://schemas.microsoft.com/office/powerpoint/2010/main" val="28618589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95E0FE59-26DC-ACA7-937D-B6BE7ED40285}"/>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3.2.3  </a:t>
            </a:r>
            <a:r>
              <a:rPr kumimoji="1" lang="zh-CN" altLang="en-US"/>
              <a:t>增量模型 </a:t>
            </a:r>
          </a:p>
        </p:txBody>
      </p:sp>
      <p:grpSp>
        <p:nvGrpSpPr>
          <p:cNvPr id="103429" name="Group 5">
            <a:extLst>
              <a:ext uri="{FF2B5EF4-FFF2-40B4-BE49-F238E27FC236}">
                <a16:creationId xmlns:a16="http://schemas.microsoft.com/office/drawing/2014/main" id="{D4C4641D-455E-6128-C0F9-6C34D4EFA809}"/>
              </a:ext>
            </a:extLst>
          </p:cNvPr>
          <p:cNvGrpSpPr>
            <a:grpSpLocks/>
          </p:cNvGrpSpPr>
          <p:nvPr/>
        </p:nvGrpSpPr>
        <p:grpSpPr bwMode="auto">
          <a:xfrm>
            <a:off x="309563" y="1979613"/>
            <a:ext cx="8896350" cy="4784725"/>
            <a:chOff x="5" y="1104"/>
            <a:chExt cx="5846" cy="3062"/>
          </a:xfrm>
        </p:grpSpPr>
        <p:graphicFrame>
          <p:nvGraphicFramePr>
            <p:cNvPr id="29700" name="Object 6">
              <a:extLst>
                <a:ext uri="{FF2B5EF4-FFF2-40B4-BE49-F238E27FC236}">
                  <a16:creationId xmlns:a16="http://schemas.microsoft.com/office/drawing/2014/main" id="{EBE0A42E-D8DC-D240-396A-A6D60729B280}"/>
                </a:ext>
              </a:extLst>
            </p:cNvPr>
            <p:cNvGraphicFramePr>
              <a:graphicFrameLocks noChangeAspect="1"/>
            </p:cNvGraphicFramePr>
            <p:nvPr/>
          </p:nvGraphicFramePr>
          <p:xfrm>
            <a:off x="528" y="1104"/>
            <a:ext cx="2112" cy="380"/>
          </p:xfrm>
          <a:graphic>
            <a:graphicData uri="http://schemas.openxmlformats.org/presentationml/2006/ole">
              <mc:AlternateContent xmlns:mc="http://schemas.openxmlformats.org/markup-compatibility/2006">
                <mc:Choice xmlns:v="urn:schemas-microsoft-com:vml" Requires="v">
                  <p:oleObj name="Drawing" r:id="rId2" imgW="310459" imgH="1828729" progId="FLW3Drawing">
                    <p:embed/>
                  </p:oleObj>
                </mc:Choice>
                <mc:Fallback>
                  <p:oleObj name="Drawing" r:id="rId2" imgW="310459" imgH="1828729" progId="FLW3Drawing">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 y="1104"/>
                          <a:ext cx="2112" cy="3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1" name="Object 7">
              <a:extLst>
                <a:ext uri="{FF2B5EF4-FFF2-40B4-BE49-F238E27FC236}">
                  <a16:creationId xmlns:a16="http://schemas.microsoft.com/office/drawing/2014/main" id="{0F923D0F-14B8-1A1A-E650-721AD3F9011A}"/>
                </a:ext>
              </a:extLst>
            </p:cNvPr>
            <p:cNvGraphicFramePr>
              <a:graphicFrameLocks noChangeAspect="1"/>
            </p:cNvGraphicFramePr>
            <p:nvPr/>
          </p:nvGraphicFramePr>
          <p:xfrm>
            <a:off x="1200" y="1744"/>
            <a:ext cx="2112" cy="380"/>
          </p:xfrm>
          <a:graphic>
            <a:graphicData uri="http://schemas.openxmlformats.org/presentationml/2006/ole">
              <mc:AlternateContent xmlns:mc="http://schemas.openxmlformats.org/markup-compatibility/2006">
                <mc:Choice xmlns:v="urn:schemas-microsoft-com:vml" Requires="v">
                  <p:oleObj name="Drawing" r:id="rId4" imgW="310459" imgH="1828729" progId="FLW3Drawing">
                    <p:embed/>
                  </p:oleObj>
                </mc:Choice>
                <mc:Fallback>
                  <p:oleObj name="Drawing" r:id="rId4" imgW="310459" imgH="1828729" progId="FLW3Drawing">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744"/>
                          <a:ext cx="2112" cy="3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2" name="Object 8">
              <a:extLst>
                <a:ext uri="{FF2B5EF4-FFF2-40B4-BE49-F238E27FC236}">
                  <a16:creationId xmlns:a16="http://schemas.microsoft.com/office/drawing/2014/main" id="{AE93CF67-2F45-E0CE-1BC2-898FC67EDAA9}"/>
                </a:ext>
              </a:extLst>
            </p:cNvPr>
            <p:cNvGraphicFramePr>
              <a:graphicFrameLocks noChangeAspect="1"/>
            </p:cNvGraphicFramePr>
            <p:nvPr/>
          </p:nvGraphicFramePr>
          <p:xfrm>
            <a:off x="1824" y="2384"/>
            <a:ext cx="2112" cy="380"/>
          </p:xfrm>
          <a:graphic>
            <a:graphicData uri="http://schemas.openxmlformats.org/presentationml/2006/ole">
              <mc:AlternateContent xmlns:mc="http://schemas.openxmlformats.org/markup-compatibility/2006">
                <mc:Choice xmlns:v="urn:schemas-microsoft-com:vml" Requires="v">
                  <p:oleObj name="Drawing" r:id="rId5" imgW="310459" imgH="1828729" progId="FLW3Drawing">
                    <p:embed/>
                  </p:oleObj>
                </mc:Choice>
                <mc:Fallback>
                  <p:oleObj name="Drawing" r:id="rId5" imgW="310459" imgH="1828729" progId="FLW3Drawing">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4" y="2384"/>
                          <a:ext cx="2112" cy="3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3" name="Object 9">
              <a:extLst>
                <a:ext uri="{FF2B5EF4-FFF2-40B4-BE49-F238E27FC236}">
                  <a16:creationId xmlns:a16="http://schemas.microsoft.com/office/drawing/2014/main" id="{5064A76A-61E0-6656-A54F-DD9A44CCD59D}"/>
                </a:ext>
              </a:extLst>
            </p:cNvPr>
            <p:cNvGraphicFramePr>
              <a:graphicFrameLocks noChangeAspect="1"/>
            </p:cNvGraphicFramePr>
            <p:nvPr/>
          </p:nvGraphicFramePr>
          <p:xfrm>
            <a:off x="2544" y="3024"/>
            <a:ext cx="2112" cy="380"/>
          </p:xfrm>
          <a:graphic>
            <a:graphicData uri="http://schemas.openxmlformats.org/presentationml/2006/ole">
              <mc:AlternateContent xmlns:mc="http://schemas.openxmlformats.org/markup-compatibility/2006">
                <mc:Choice xmlns:v="urn:schemas-microsoft-com:vml" Requires="v">
                  <p:oleObj name="Drawing" r:id="rId6" imgW="310459" imgH="1828729" progId="FLW3Drawing">
                    <p:embed/>
                  </p:oleObj>
                </mc:Choice>
                <mc:Fallback>
                  <p:oleObj name="Drawing" r:id="rId6" imgW="310459" imgH="1828729" progId="FLW3Drawing">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4" y="3024"/>
                          <a:ext cx="2112" cy="3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04" name="Text Box 10">
              <a:extLst>
                <a:ext uri="{FF2B5EF4-FFF2-40B4-BE49-F238E27FC236}">
                  <a16:creationId xmlns:a16="http://schemas.microsoft.com/office/drawing/2014/main" id="{DEFC062C-B54E-F2E7-58DD-A3ADA5A990AE}"/>
                </a:ext>
              </a:extLst>
            </p:cNvPr>
            <p:cNvSpPr txBox="1">
              <a:spLocks noChangeArrowheads="1"/>
            </p:cNvSpPr>
            <p:nvPr/>
          </p:nvSpPr>
          <p:spPr bwMode="auto">
            <a:xfrm>
              <a:off x="5" y="1141"/>
              <a:ext cx="605"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182" tIns="57092" rIns="114182" bIns="57092"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FontTx/>
                <a:buNone/>
              </a:pPr>
              <a:r>
                <a:rPr kumimoji="0" lang="zh-CN" altLang="en-US" sz="2000">
                  <a:latin typeface="Verdana" panose="020B0604030504040204" pitchFamily="34" charset="0"/>
                </a:rPr>
                <a:t>增量</a:t>
              </a:r>
              <a:r>
                <a:rPr kumimoji="0" lang="en-US" altLang="zh-CN" sz="2000">
                  <a:latin typeface="Verdana" panose="020B0604030504040204" pitchFamily="34" charset="0"/>
                </a:rPr>
                <a:t>1</a:t>
              </a:r>
            </a:p>
          </p:txBody>
        </p:sp>
        <p:sp>
          <p:nvSpPr>
            <p:cNvPr id="29705" name="Text Box 11">
              <a:extLst>
                <a:ext uri="{FF2B5EF4-FFF2-40B4-BE49-F238E27FC236}">
                  <a16:creationId xmlns:a16="http://schemas.microsoft.com/office/drawing/2014/main" id="{1626B588-628D-AEAE-4F8A-02FE40CA0960}"/>
                </a:ext>
              </a:extLst>
            </p:cNvPr>
            <p:cNvSpPr txBox="1">
              <a:spLocks noChangeArrowheads="1"/>
            </p:cNvSpPr>
            <p:nvPr/>
          </p:nvSpPr>
          <p:spPr bwMode="auto">
            <a:xfrm>
              <a:off x="389" y="1765"/>
              <a:ext cx="605" cy="2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182" tIns="57092" rIns="114182" bIns="57092"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FontTx/>
                <a:buNone/>
              </a:pPr>
              <a:r>
                <a:rPr kumimoji="0" lang="zh-CN" altLang="en-US" sz="2000">
                  <a:latin typeface="Verdana" panose="020B0604030504040204" pitchFamily="34" charset="0"/>
                </a:rPr>
                <a:t>增量</a:t>
              </a:r>
              <a:r>
                <a:rPr kumimoji="0" lang="en-US" altLang="zh-CN" sz="2000">
                  <a:latin typeface="Verdana" panose="020B0604030504040204" pitchFamily="34" charset="0"/>
                </a:rPr>
                <a:t>2</a:t>
              </a:r>
            </a:p>
          </p:txBody>
        </p:sp>
        <p:sp>
          <p:nvSpPr>
            <p:cNvPr id="29706" name="Text Box 12">
              <a:extLst>
                <a:ext uri="{FF2B5EF4-FFF2-40B4-BE49-F238E27FC236}">
                  <a16:creationId xmlns:a16="http://schemas.microsoft.com/office/drawing/2014/main" id="{76A2CEE3-17B7-4A93-C889-F6C1C24D7AA4}"/>
                </a:ext>
              </a:extLst>
            </p:cNvPr>
            <p:cNvSpPr txBox="1">
              <a:spLocks noChangeArrowheads="1"/>
            </p:cNvSpPr>
            <p:nvPr/>
          </p:nvSpPr>
          <p:spPr bwMode="auto">
            <a:xfrm>
              <a:off x="878" y="2437"/>
              <a:ext cx="605"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182" tIns="57092" rIns="114182" bIns="57092"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FontTx/>
                <a:buNone/>
              </a:pPr>
              <a:r>
                <a:rPr kumimoji="0" lang="zh-CN" altLang="en-US" sz="2000">
                  <a:latin typeface="Verdana" panose="020B0604030504040204" pitchFamily="34" charset="0"/>
                </a:rPr>
                <a:t>增量</a:t>
              </a:r>
              <a:r>
                <a:rPr kumimoji="0" lang="en-US" altLang="zh-CN" sz="2000">
                  <a:latin typeface="Verdana" panose="020B0604030504040204" pitchFamily="34" charset="0"/>
                </a:rPr>
                <a:t>3</a:t>
              </a:r>
            </a:p>
          </p:txBody>
        </p:sp>
        <p:sp>
          <p:nvSpPr>
            <p:cNvPr id="29707" name="Text Box 13">
              <a:extLst>
                <a:ext uri="{FF2B5EF4-FFF2-40B4-BE49-F238E27FC236}">
                  <a16:creationId xmlns:a16="http://schemas.microsoft.com/office/drawing/2014/main" id="{FA812B4C-2BED-03C1-ACB3-43C50557333E}"/>
                </a:ext>
              </a:extLst>
            </p:cNvPr>
            <p:cNvSpPr txBox="1">
              <a:spLocks noChangeArrowheads="1"/>
            </p:cNvSpPr>
            <p:nvPr/>
          </p:nvSpPr>
          <p:spPr bwMode="auto">
            <a:xfrm>
              <a:off x="1453" y="3109"/>
              <a:ext cx="605" cy="2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182" tIns="57092" rIns="114182" bIns="57092"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FontTx/>
                <a:buNone/>
              </a:pPr>
              <a:r>
                <a:rPr kumimoji="0" lang="zh-CN" altLang="en-US" sz="2000">
                  <a:latin typeface="Verdana" panose="020B0604030504040204" pitchFamily="34" charset="0"/>
                </a:rPr>
                <a:t>增量</a:t>
              </a:r>
              <a:r>
                <a:rPr kumimoji="0" lang="en-US" altLang="zh-CN" sz="2000">
                  <a:latin typeface="Verdana" panose="020B0604030504040204" pitchFamily="34" charset="0"/>
                </a:rPr>
                <a:t>4</a:t>
              </a:r>
            </a:p>
          </p:txBody>
        </p:sp>
        <p:sp>
          <p:nvSpPr>
            <p:cNvPr id="29708" name="Text Box 14">
              <a:extLst>
                <a:ext uri="{FF2B5EF4-FFF2-40B4-BE49-F238E27FC236}">
                  <a16:creationId xmlns:a16="http://schemas.microsoft.com/office/drawing/2014/main" id="{292AEF3A-8602-4C97-720F-3609F11940F2}"/>
                </a:ext>
              </a:extLst>
            </p:cNvPr>
            <p:cNvSpPr txBox="1">
              <a:spLocks noChangeArrowheads="1"/>
            </p:cNvSpPr>
            <p:nvPr/>
          </p:nvSpPr>
          <p:spPr bwMode="auto">
            <a:xfrm>
              <a:off x="3133" y="1141"/>
              <a:ext cx="1325"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182" tIns="57092" rIns="114182" bIns="57092"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FontTx/>
                <a:buNone/>
              </a:pPr>
              <a:r>
                <a:rPr kumimoji="0" lang="zh-CN" altLang="en-US" sz="2000">
                  <a:latin typeface="Verdana" panose="020B0604030504040204" pitchFamily="34" charset="0"/>
                </a:rPr>
                <a:t>第一个增量发布</a:t>
              </a:r>
            </a:p>
          </p:txBody>
        </p:sp>
        <p:sp>
          <p:nvSpPr>
            <p:cNvPr id="29709" name="Text Box 15">
              <a:extLst>
                <a:ext uri="{FF2B5EF4-FFF2-40B4-BE49-F238E27FC236}">
                  <a16:creationId xmlns:a16="http://schemas.microsoft.com/office/drawing/2014/main" id="{2497A396-68CA-C5D8-5156-BD43FE07F1F2}"/>
                </a:ext>
              </a:extLst>
            </p:cNvPr>
            <p:cNvSpPr txBox="1">
              <a:spLocks noChangeArrowheads="1"/>
            </p:cNvSpPr>
            <p:nvPr/>
          </p:nvSpPr>
          <p:spPr bwMode="auto">
            <a:xfrm>
              <a:off x="3517" y="1808"/>
              <a:ext cx="1325"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182" tIns="57092" rIns="114182" bIns="57092"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FontTx/>
                <a:buNone/>
              </a:pPr>
              <a:r>
                <a:rPr kumimoji="0" lang="zh-CN" altLang="en-US" sz="2000">
                  <a:latin typeface="Verdana" panose="020B0604030504040204" pitchFamily="34" charset="0"/>
                </a:rPr>
                <a:t>第二个增量发布</a:t>
              </a:r>
            </a:p>
          </p:txBody>
        </p:sp>
        <p:sp>
          <p:nvSpPr>
            <p:cNvPr id="29710" name="Text Box 16">
              <a:extLst>
                <a:ext uri="{FF2B5EF4-FFF2-40B4-BE49-F238E27FC236}">
                  <a16:creationId xmlns:a16="http://schemas.microsoft.com/office/drawing/2014/main" id="{3E31C7E6-DE83-D9A7-6D71-7F8BA7B5F4F2}"/>
                </a:ext>
              </a:extLst>
            </p:cNvPr>
            <p:cNvSpPr txBox="1">
              <a:spLocks noChangeArrowheads="1"/>
            </p:cNvSpPr>
            <p:nvPr/>
          </p:nvSpPr>
          <p:spPr bwMode="auto">
            <a:xfrm>
              <a:off x="4092" y="2437"/>
              <a:ext cx="1326"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182" tIns="57092" rIns="114182" bIns="57092"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FontTx/>
                <a:buNone/>
              </a:pPr>
              <a:r>
                <a:rPr kumimoji="0" lang="zh-CN" altLang="en-US" sz="2000">
                  <a:latin typeface="Verdana" panose="020B0604030504040204" pitchFamily="34" charset="0"/>
                </a:rPr>
                <a:t>第三个增量发布</a:t>
              </a:r>
            </a:p>
          </p:txBody>
        </p:sp>
        <p:sp>
          <p:nvSpPr>
            <p:cNvPr id="29711" name="Text Box 17">
              <a:extLst>
                <a:ext uri="{FF2B5EF4-FFF2-40B4-BE49-F238E27FC236}">
                  <a16:creationId xmlns:a16="http://schemas.microsoft.com/office/drawing/2014/main" id="{7B7CCA6A-D744-0B1F-D3EC-FB3A357861AD}"/>
                </a:ext>
              </a:extLst>
            </p:cNvPr>
            <p:cNvSpPr txBox="1">
              <a:spLocks noChangeArrowheads="1"/>
            </p:cNvSpPr>
            <p:nvPr/>
          </p:nvSpPr>
          <p:spPr bwMode="auto">
            <a:xfrm>
              <a:off x="4525" y="3056"/>
              <a:ext cx="1326"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182" tIns="57092" rIns="114182" bIns="57092"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FontTx/>
                <a:buNone/>
              </a:pPr>
              <a:r>
                <a:rPr kumimoji="0" lang="zh-CN" altLang="en-US" sz="2000">
                  <a:latin typeface="Verdana" panose="020B0604030504040204" pitchFamily="34" charset="0"/>
                </a:rPr>
                <a:t>第四个增量发布</a:t>
              </a:r>
            </a:p>
          </p:txBody>
        </p:sp>
        <p:sp>
          <p:nvSpPr>
            <p:cNvPr id="29712" name="Line 18">
              <a:extLst>
                <a:ext uri="{FF2B5EF4-FFF2-40B4-BE49-F238E27FC236}">
                  <a16:creationId xmlns:a16="http://schemas.microsoft.com/office/drawing/2014/main" id="{0F16077E-70FD-9FDC-0373-D9244596ECF1}"/>
                </a:ext>
              </a:extLst>
            </p:cNvPr>
            <p:cNvSpPr>
              <a:spLocks noChangeShapeType="1"/>
            </p:cNvSpPr>
            <p:nvPr/>
          </p:nvSpPr>
          <p:spPr bwMode="auto">
            <a:xfrm>
              <a:off x="528" y="3792"/>
              <a:ext cx="4272" cy="0"/>
            </a:xfrm>
            <a:prstGeom prst="line">
              <a:avLst/>
            </a:prstGeom>
            <a:noFill/>
            <a:ln w="762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182" tIns="57092" rIns="114182" bIns="57092" anchor="ctr"/>
            <a:lstStyle/>
            <a:p>
              <a:endParaRPr lang="zh-CN" altLang="en-US"/>
            </a:p>
          </p:txBody>
        </p:sp>
        <p:sp>
          <p:nvSpPr>
            <p:cNvPr id="29713" name="Text Box 19">
              <a:extLst>
                <a:ext uri="{FF2B5EF4-FFF2-40B4-BE49-F238E27FC236}">
                  <a16:creationId xmlns:a16="http://schemas.microsoft.com/office/drawing/2014/main" id="{0429DEAB-B543-02C2-584F-8D4E4EE53FEA}"/>
                </a:ext>
              </a:extLst>
            </p:cNvPr>
            <p:cNvSpPr txBox="1">
              <a:spLocks noChangeArrowheads="1"/>
            </p:cNvSpPr>
            <p:nvPr/>
          </p:nvSpPr>
          <p:spPr bwMode="auto">
            <a:xfrm>
              <a:off x="2084" y="3898"/>
              <a:ext cx="822"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182" tIns="57092" rIns="114182" bIns="57092"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FontTx/>
                <a:buNone/>
              </a:pPr>
              <a:r>
                <a:rPr kumimoji="0" lang="zh-CN" altLang="en-US" sz="2000">
                  <a:latin typeface="Verdana" panose="020B0604030504040204" pitchFamily="34" charset="0"/>
                </a:rPr>
                <a:t>开发进度</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3429"/>
                                        </p:tgtEl>
                                        <p:attrNameLst>
                                          <p:attrName>style.visibility</p:attrName>
                                        </p:attrNameLst>
                                      </p:cBhvr>
                                      <p:to>
                                        <p:strVal val="visible"/>
                                      </p:to>
                                    </p:set>
                                    <p:anim calcmode="lin" valueType="num">
                                      <p:cBhvr additive="base">
                                        <p:cTn id="7" dur="500" fill="hold"/>
                                        <p:tgtEl>
                                          <p:spTgt spid="103429"/>
                                        </p:tgtEl>
                                        <p:attrNameLst>
                                          <p:attrName>ppt_x</p:attrName>
                                        </p:attrNameLst>
                                      </p:cBhvr>
                                      <p:tavLst>
                                        <p:tav tm="0">
                                          <p:val>
                                            <p:strVal val="#ppt_x"/>
                                          </p:val>
                                        </p:tav>
                                        <p:tav tm="100000">
                                          <p:val>
                                            <p:strVal val="#ppt_x"/>
                                          </p:val>
                                        </p:tav>
                                      </p:tavLst>
                                    </p:anim>
                                    <p:anim calcmode="lin" valueType="num">
                                      <p:cBhvr additive="base">
                                        <p:cTn id="8" dur="500" fill="hold"/>
                                        <p:tgtEl>
                                          <p:spTgt spid="1034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AFC0A31E-3804-ABC2-0919-CB2FE6C8D10A}"/>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3.2.3  </a:t>
            </a:r>
            <a:r>
              <a:rPr lang="zh-CN" altLang="en-US"/>
              <a:t>增量模型 </a:t>
            </a:r>
          </a:p>
        </p:txBody>
      </p:sp>
      <p:sp>
        <p:nvSpPr>
          <p:cNvPr id="30723" name="Rectangle 3">
            <a:extLst>
              <a:ext uri="{FF2B5EF4-FFF2-40B4-BE49-F238E27FC236}">
                <a16:creationId xmlns:a16="http://schemas.microsoft.com/office/drawing/2014/main" id="{CCE38360-6ED9-858C-16B4-D66FB90CC715}"/>
              </a:ext>
            </a:extLst>
          </p:cNvPr>
          <p:cNvSpPr>
            <a:spLocks noChangeArrowheads="1"/>
          </p:cNvSpPr>
          <p:nvPr/>
        </p:nvSpPr>
        <p:spPr bwMode="auto">
          <a:xfrm>
            <a:off x="0" y="876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52580" name="Text Box 4">
            <a:extLst>
              <a:ext uri="{FF2B5EF4-FFF2-40B4-BE49-F238E27FC236}">
                <a16:creationId xmlns:a16="http://schemas.microsoft.com/office/drawing/2014/main" id="{A3C8C4B8-D8EA-9DA3-83EB-BAD4AC223CCC}"/>
              </a:ext>
            </a:extLst>
          </p:cNvPr>
          <p:cNvSpPr txBox="1">
            <a:spLocks noChangeArrowheads="1"/>
          </p:cNvSpPr>
          <p:nvPr/>
        </p:nvSpPr>
        <p:spPr bwMode="auto">
          <a:xfrm>
            <a:off x="158750" y="2565400"/>
            <a:ext cx="9002713" cy="3062288"/>
          </a:xfrm>
          <a:prstGeom prst="rect">
            <a:avLst/>
          </a:prstGeom>
          <a:noFill/>
          <a:ln>
            <a:noFill/>
          </a:ln>
          <a:effectLst/>
        </p:spPr>
        <p:txBody>
          <a:bodyPr>
            <a:spAutoFit/>
          </a:bodyPr>
          <a:lstStyle/>
          <a:p>
            <a:pPr eaLnBrk="1" hangingPunct="1">
              <a:buClr>
                <a:srgbClr val="0000FF"/>
              </a:buClr>
              <a:buSzPct val="70000"/>
              <a:buFont typeface="Wingdings" panose="05000000000000000000" pitchFamily="2" charset="2"/>
              <a:buChar char="n"/>
              <a:defRPr/>
            </a:pPr>
            <a:r>
              <a:rPr kumimoji="0" lang="zh-CN" altLang="en-US" dirty="0">
                <a:effectLst>
                  <a:outerShdw blurRad="38100" dist="38100" dir="2700000" algn="tl">
                    <a:srgbClr val="C0C0C0"/>
                  </a:outerShdw>
                </a:effectLst>
              </a:rPr>
              <a:t>　</a:t>
            </a:r>
            <a:r>
              <a:rPr kumimoji="0" lang="zh-CN" altLang="en-US" b="1" dirty="0">
                <a:solidFill>
                  <a:schemeClr val="accent2"/>
                </a:solidFill>
                <a:ea typeface="黑体" panose="02010609060101010101" pitchFamily="49" charset="-122"/>
              </a:rPr>
              <a:t>增量模型优点</a:t>
            </a:r>
          </a:p>
          <a:p>
            <a:pPr eaLnBrk="1" hangingPunct="1">
              <a:buClr>
                <a:srgbClr val="0000FF"/>
              </a:buClr>
              <a:buSzPct val="70000"/>
              <a:buFont typeface="Wingdings" panose="05000000000000000000" pitchFamily="2" charset="2"/>
              <a:buNone/>
              <a:defRPr/>
            </a:pPr>
            <a:endParaRPr kumimoji="0" lang="zh-CN" altLang="en-US" sz="900" b="1" dirty="0">
              <a:solidFill>
                <a:schemeClr val="accent2"/>
              </a:solidFill>
              <a:ea typeface="黑体" panose="02010609060101010101" pitchFamily="49" charset="-122"/>
            </a:endParaRPr>
          </a:p>
          <a:p>
            <a:pPr lvl="1" eaLnBrk="1" hangingPunct="1">
              <a:buClr>
                <a:srgbClr val="0000FF"/>
              </a:buClr>
              <a:buSzPct val="70000"/>
              <a:buFont typeface="Wingdings" panose="05000000000000000000" pitchFamily="2" charset="2"/>
              <a:buChar char="n"/>
              <a:defRPr/>
            </a:pPr>
            <a:r>
              <a:rPr kumimoji="0" lang="zh-CN" altLang="en-US" sz="2000" b="1" dirty="0">
                <a:latin typeface="宋体" panose="02010600030101010101" pitchFamily="2" charset="-122"/>
              </a:rPr>
              <a:t>　</a:t>
            </a:r>
            <a:r>
              <a:rPr kumimoji="0" lang="en-US" altLang="zh-CN" sz="2000" b="1" dirty="0">
                <a:latin typeface="宋体" panose="02010600030101010101" pitchFamily="2" charset="-122"/>
              </a:rPr>
              <a:t>1.</a:t>
            </a:r>
            <a:r>
              <a:rPr kumimoji="0" lang="zh-CN" altLang="en-US" sz="2000" b="1" dirty="0">
                <a:latin typeface="宋体" panose="02010600030101010101" pitchFamily="2" charset="-122"/>
              </a:rPr>
              <a:t>采用瀑布模型或快速原型模型开发软件时，目标都是一次把一个满足所有需求的产品提交给用户。增量模型则与之相反，它</a:t>
            </a:r>
            <a:r>
              <a:rPr kumimoji="0" lang="zh-CN" altLang="en-US" sz="2000" b="1" dirty="0">
                <a:solidFill>
                  <a:srgbClr val="FF0000"/>
                </a:solidFill>
                <a:latin typeface="宋体" panose="02010600030101010101" pitchFamily="2" charset="-122"/>
              </a:rPr>
              <a:t>分批地逐步向用户提交产品</a:t>
            </a:r>
            <a:r>
              <a:rPr kumimoji="0" lang="zh-CN" altLang="en-US" sz="2000" b="1" dirty="0">
                <a:latin typeface="宋体" panose="02010600030101010101" pitchFamily="2" charset="-122"/>
              </a:rPr>
              <a:t>，整个软件产品被分解成许多个增量构件，开发人员一个构件接一个构件地向用户提交产品。从第一个构件交付之日起，用户就能做一些有用的工作。显然，能在较短时间</a:t>
            </a:r>
            <a:r>
              <a:rPr kumimoji="0" lang="zh-CN" altLang="en-US" sz="2000" b="1" dirty="0">
                <a:solidFill>
                  <a:srgbClr val="FF0000"/>
                </a:solidFill>
                <a:latin typeface="宋体" panose="02010600030101010101" pitchFamily="2" charset="-122"/>
              </a:rPr>
              <a:t>内向用户提交可完成部分工作的产品</a:t>
            </a:r>
            <a:r>
              <a:rPr kumimoji="0" lang="zh-CN" altLang="en-US" sz="2000" b="1" dirty="0">
                <a:latin typeface="宋体" panose="02010600030101010101" pitchFamily="2" charset="-122"/>
              </a:rPr>
              <a:t>，是增量模型的一个优点。</a:t>
            </a:r>
            <a:endParaRPr kumimoji="0" lang="en-US" altLang="zh-CN" sz="2000" b="1" dirty="0">
              <a:latin typeface="宋体" panose="02010600030101010101" pitchFamily="2" charset="-122"/>
            </a:endParaRPr>
          </a:p>
          <a:p>
            <a:pPr lvl="1" eaLnBrk="1" hangingPunct="1">
              <a:buClr>
                <a:srgbClr val="0000FF"/>
              </a:buClr>
              <a:buSzPct val="70000"/>
              <a:buFont typeface="Wingdings" panose="05000000000000000000" pitchFamily="2" charset="2"/>
              <a:buChar char="n"/>
              <a:defRPr/>
            </a:pPr>
            <a:r>
              <a:rPr kumimoji="0" lang="en-US" altLang="zh-CN" sz="2000" b="1" dirty="0">
                <a:latin typeface="宋体" panose="02010600030101010101" pitchFamily="2" charset="-122"/>
              </a:rPr>
              <a:t>  2.</a:t>
            </a:r>
            <a:r>
              <a:rPr kumimoji="0" lang="zh-CN" altLang="en-US" sz="2000" b="1" dirty="0">
                <a:latin typeface="宋体" panose="02010600030101010101" pitchFamily="2" charset="-122"/>
              </a:rPr>
              <a:t>逐步增加产品可能可以使用户</a:t>
            </a:r>
            <a:r>
              <a:rPr kumimoji="0" lang="zh-CN" altLang="en-US" sz="2000" b="1" dirty="0">
                <a:solidFill>
                  <a:srgbClr val="FF0000"/>
                </a:solidFill>
                <a:latin typeface="宋体" panose="02010600030101010101" pitchFamily="2" charset="-122"/>
              </a:rPr>
              <a:t>有较充裕的时间学习和适应新产品</a:t>
            </a:r>
            <a:r>
              <a:rPr kumimoji="0" lang="zh-CN" altLang="en-US" sz="2000" b="1" dirty="0">
                <a:latin typeface="宋体" panose="02010600030101010101" pitchFamily="2" charset="-122"/>
              </a:rPr>
              <a:t>，从而减少一个全新的软件可能给客户组织带来的冲击。</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9A0EB430-2E86-99EB-7BD2-2ED66B572CC5}"/>
              </a:ext>
            </a:extLst>
          </p:cNvPr>
          <p:cNvSpPr>
            <a:spLocks noGrp="1" noChangeArrowheads="1"/>
          </p:cNvSpPr>
          <p:nvPr>
            <p:ph type="title"/>
          </p:nvPr>
        </p:nvSpPr>
        <p:spPr>
          <a:xfrm>
            <a:off x="177800" y="1054100"/>
            <a:ext cx="8788400" cy="717550"/>
          </a:xfrm>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3.2.3  </a:t>
            </a:r>
            <a:r>
              <a:rPr lang="zh-CN" altLang="en-US"/>
              <a:t>增量模型 </a:t>
            </a:r>
          </a:p>
        </p:txBody>
      </p:sp>
      <p:sp>
        <p:nvSpPr>
          <p:cNvPr id="31747" name="Rectangle 3">
            <a:extLst>
              <a:ext uri="{FF2B5EF4-FFF2-40B4-BE49-F238E27FC236}">
                <a16:creationId xmlns:a16="http://schemas.microsoft.com/office/drawing/2014/main" id="{9F777D90-D3C3-8BCD-5F5E-0F53AC17EF1A}"/>
              </a:ext>
            </a:extLst>
          </p:cNvPr>
          <p:cNvSpPr>
            <a:spLocks noChangeArrowheads="1"/>
          </p:cNvSpPr>
          <p:nvPr/>
        </p:nvSpPr>
        <p:spPr bwMode="auto">
          <a:xfrm>
            <a:off x="0" y="876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52580" name="Text Box 4">
            <a:extLst>
              <a:ext uri="{FF2B5EF4-FFF2-40B4-BE49-F238E27FC236}">
                <a16:creationId xmlns:a16="http://schemas.microsoft.com/office/drawing/2014/main" id="{D89E50A6-4B31-15F9-B3BA-F55542F66711}"/>
              </a:ext>
            </a:extLst>
          </p:cNvPr>
          <p:cNvSpPr txBox="1">
            <a:spLocks noChangeArrowheads="1"/>
          </p:cNvSpPr>
          <p:nvPr/>
        </p:nvSpPr>
        <p:spPr bwMode="auto">
          <a:xfrm>
            <a:off x="158750" y="2565400"/>
            <a:ext cx="9002713" cy="2754313"/>
          </a:xfrm>
          <a:prstGeom prst="rect">
            <a:avLst/>
          </a:prstGeom>
          <a:noFill/>
          <a:ln>
            <a:noFill/>
          </a:ln>
          <a:effectLst/>
        </p:spPr>
        <p:txBody>
          <a:bodyPr>
            <a:spAutoFit/>
          </a:bodyPr>
          <a:lstStyle/>
          <a:p>
            <a:pPr eaLnBrk="1" hangingPunct="1">
              <a:buClr>
                <a:srgbClr val="0000FF"/>
              </a:buClr>
              <a:buSzPct val="70000"/>
              <a:buFont typeface="Wingdings" panose="05000000000000000000" pitchFamily="2" charset="2"/>
              <a:buChar char="n"/>
              <a:defRPr/>
            </a:pPr>
            <a:r>
              <a:rPr kumimoji="0" lang="zh-CN" altLang="en-US" dirty="0">
                <a:effectLst>
                  <a:outerShdw blurRad="38100" dist="38100" dir="2700000" algn="tl">
                    <a:srgbClr val="C0C0C0"/>
                  </a:outerShdw>
                </a:effectLst>
              </a:rPr>
              <a:t>　</a:t>
            </a:r>
            <a:r>
              <a:rPr kumimoji="0" lang="zh-CN" altLang="en-US" b="1" dirty="0">
                <a:solidFill>
                  <a:schemeClr val="accent2"/>
                </a:solidFill>
                <a:ea typeface="黑体" panose="02010609060101010101" pitchFamily="49" charset="-122"/>
              </a:rPr>
              <a:t>增量模型缺点</a:t>
            </a:r>
          </a:p>
          <a:p>
            <a:pPr eaLnBrk="1" hangingPunct="1">
              <a:buClr>
                <a:srgbClr val="0000FF"/>
              </a:buClr>
              <a:buSzPct val="70000"/>
              <a:buFont typeface="Wingdings" panose="05000000000000000000" pitchFamily="2" charset="2"/>
              <a:buNone/>
              <a:defRPr/>
            </a:pPr>
            <a:endParaRPr kumimoji="0" lang="zh-CN" altLang="en-US" sz="900" b="1" dirty="0">
              <a:solidFill>
                <a:schemeClr val="accent2"/>
              </a:solidFill>
              <a:ea typeface="黑体" panose="02010609060101010101" pitchFamily="49" charset="-122"/>
            </a:endParaRPr>
          </a:p>
          <a:p>
            <a:pPr lvl="1" eaLnBrk="1" hangingPunct="1">
              <a:buClr>
                <a:srgbClr val="0000FF"/>
              </a:buClr>
              <a:buSzPct val="70000"/>
              <a:buFont typeface="Wingdings" panose="05000000000000000000" pitchFamily="2" charset="2"/>
              <a:buChar char="n"/>
              <a:defRPr/>
            </a:pPr>
            <a:r>
              <a:rPr kumimoji="0" lang="zh-CN" altLang="en-US" sz="2000" b="1" dirty="0">
                <a:latin typeface="宋体" panose="02010600030101010101" pitchFamily="2" charset="-122"/>
              </a:rPr>
              <a:t>　</a:t>
            </a:r>
            <a:r>
              <a:rPr kumimoji="0" lang="en-US" altLang="zh-CN" sz="2000" b="1" dirty="0">
                <a:latin typeface="宋体" panose="02010600030101010101" pitchFamily="2" charset="-122"/>
              </a:rPr>
              <a:t>1.</a:t>
            </a:r>
            <a:r>
              <a:rPr kumimoji="0" lang="zh-CN" altLang="en-US" sz="2000" b="1" dirty="0">
                <a:latin typeface="宋体" panose="02010600030101010101" pitchFamily="2" charset="-122"/>
              </a:rPr>
              <a:t>由于各个构件是逐渐集成到现有软件体系结构中的，所以</a:t>
            </a:r>
            <a:r>
              <a:rPr kumimoji="0" lang="zh-CN" altLang="en-US" sz="2000" b="1" dirty="0">
                <a:solidFill>
                  <a:srgbClr val="FF0000"/>
                </a:solidFill>
                <a:latin typeface="宋体" panose="02010600030101010101" pitchFamily="2" charset="-122"/>
              </a:rPr>
              <a:t>加入构件必须不破坏已构造好的系统部分</a:t>
            </a:r>
            <a:r>
              <a:rPr kumimoji="0" lang="zh-CN" altLang="en-US" sz="2000" b="1" dirty="0">
                <a:latin typeface="宋体" panose="02010600030101010101" pitchFamily="2" charset="-122"/>
              </a:rPr>
              <a:t>。此外，必须把软件的体系结构设计得便于按照这种方式进行扩充，向现有产品中加入新构建的过程必须简单、方便，也就是说，</a:t>
            </a:r>
            <a:r>
              <a:rPr kumimoji="0" lang="zh-CN" altLang="en-US" sz="2000" b="1" dirty="0">
                <a:solidFill>
                  <a:srgbClr val="FF0000"/>
                </a:solidFill>
                <a:latin typeface="宋体" panose="02010600030101010101" pitchFamily="2" charset="-122"/>
              </a:rPr>
              <a:t>软件体系结构必须是开放</a:t>
            </a:r>
            <a:r>
              <a:rPr kumimoji="0" lang="zh-CN" altLang="en-US" sz="2000" b="1" dirty="0">
                <a:latin typeface="宋体" panose="02010600030101010101" pitchFamily="2" charset="-122"/>
              </a:rPr>
              <a:t>的。</a:t>
            </a:r>
            <a:endParaRPr kumimoji="0" lang="en-US" altLang="zh-CN" sz="2000" b="1" dirty="0">
              <a:latin typeface="宋体" panose="02010600030101010101" pitchFamily="2" charset="-122"/>
            </a:endParaRPr>
          </a:p>
          <a:p>
            <a:pPr lvl="1" eaLnBrk="1" hangingPunct="1">
              <a:buClr>
                <a:srgbClr val="0000FF"/>
              </a:buClr>
              <a:buSzPct val="70000"/>
              <a:buFont typeface="Wingdings" panose="05000000000000000000" pitchFamily="2" charset="2"/>
              <a:buChar char="n"/>
              <a:defRPr/>
            </a:pPr>
            <a:r>
              <a:rPr kumimoji="0" lang="en-US" altLang="zh-CN" sz="2000" b="1" dirty="0">
                <a:latin typeface="宋体" panose="02010600030101010101" pitchFamily="2" charset="-122"/>
              </a:rPr>
              <a:t>  2.</a:t>
            </a:r>
            <a:r>
              <a:rPr kumimoji="0" lang="zh-CN" altLang="en-US" sz="2000" b="1" dirty="0">
                <a:latin typeface="宋体" panose="02010600030101010101" pitchFamily="2" charset="-122"/>
              </a:rPr>
              <a:t>在开发过程中，需求的变化是不可避免的。增量模型的灵活性可以使其适应这种变化的能力大大优于瀑布模型和快速原型模型，但也很容易退化为</a:t>
            </a:r>
            <a:r>
              <a:rPr kumimoji="0" lang="zh-CN" altLang="en-US" sz="2000" b="1" dirty="0">
                <a:solidFill>
                  <a:srgbClr val="FF0000"/>
                </a:solidFill>
                <a:latin typeface="宋体" panose="02010600030101010101" pitchFamily="2" charset="-122"/>
              </a:rPr>
              <a:t>边做边改模型</a:t>
            </a:r>
            <a:r>
              <a:rPr kumimoji="0" lang="zh-CN" altLang="en-US" sz="2000" b="1" dirty="0">
                <a:latin typeface="宋体" panose="02010600030101010101" pitchFamily="2" charset="-122"/>
              </a:rPr>
              <a:t>，从而使软件过程的控制失去整体性。</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98A4B7C7-79A9-B104-E785-C801AED7AF87}"/>
              </a:ext>
            </a:extLst>
          </p:cNvPr>
          <p:cNvSpPr>
            <a:spLocks noGrp="1" noChangeArrowheads="1"/>
          </p:cNvSpPr>
          <p:nvPr>
            <p:ph type="title"/>
          </p:nvPr>
        </p:nvSpPr>
        <p:spPr>
          <a:xfrm>
            <a:off x="177800" y="1054100"/>
            <a:ext cx="8788400" cy="717550"/>
          </a:xfrm>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3.2.3  </a:t>
            </a:r>
            <a:r>
              <a:rPr lang="zh-CN" altLang="en-US"/>
              <a:t>增量模型 </a:t>
            </a:r>
          </a:p>
        </p:txBody>
      </p:sp>
      <p:sp>
        <p:nvSpPr>
          <p:cNvPr id="32771" name="Rectangle 3">
            <a:extLst>
              <a:ext uri="{FF2B5EF4-FFF2-40B4-BE49-F238E27FC236}">
                <a16:creationId xmlns:a16="http://schemas.microsoft.com/office/drawing/2014/main" id="{EF7A7402-201A-3F18-C95E-693C8C34BFC5}"/>
              </a:ext>
            </a:extLst>
          </p:cNvPr>
          <p:cNvSpPr>
            <a:spLocks noChangeArrowheads="1"/>
          </p:cNvSpPr>
          <p:nvPr/>
        </p:nvSpPr>
        <p:spPr bwMode="auto">
          <a:xfrm>
            <a:off x="0" y="876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52580" name="Text Box 4">
            <a:extLst>
              <a:ext uri="{FF2B5EF4-FFF2-40B4-BE49-F238E27FC236}">
                <a16:creationId xmlns:a16="http://schemas.microsoft.com/office/drawing/2014/main" id="{4B851F58-0EA8-4F68-986B-0C127AA3E7B1}"/>
              </a:ext>
            </a:extLst>
          </p:cNvPr>
          <p:cNvSpPr txBox="1">
            <a:spLocks noChangeArrowheads="1"/>
          </p:cNvSpPr>
          <p:nvPr/>
        </p:nvSpPr>
        <p:spPr bwMode="auto">
          <a:xfrm>
            <a:off x="1136650" y="2544763"/>
            <a:ext cx="6345238" cy="1339850"/>
          </a:xfrm>
          <a:prstGeom prst="rect">
            <a:avLst/>
          </a:prstGeom>
          <a:noFill/>
          <a:ln>
            <a:noFill/>
          </a:ln>
          <a:effectLst/>
        </p:spPr>
        <p:txBody>
          <a:bodyPr>
            <a:spAutoFit/>
          </a:bodyPr>
          <a:lstStyle/>
          <a:p>
            <a:pPr eaLnBrk="1" hangingPunct="1">
              <a:buClr>
                <a:srgbClr val="0000FF"/>
              </a:buClr>
              <a:buSzPct val="70000"/>
              <a:buFont typeface="Wingdings" panose="05000000000000000000" pitchFamily="2" charset="2"/>
              <a:buChar char="n"/>
              <a:defRPr/>
            </a:pPr>
            <a:r>
              <a:rPr kumimoji="0" lang="zh-CN" altLang="en-US" dirty="0">
                <a:effectLst>
                  <a:outerShdw blurRad="38100" dist="38100" dir="2700000" algn="tl">
                    <a:srgbClr val="C0C0C0"/>
                  </a:outerShdw>
                </a:effectLst>
              </a:rPr>
              <a:t>　</a:t>
            </a:r>
            <a:r>
              <a:rPr kumimoji="0" lang="zh-CN" altLang="en-US" b="1" dirty="0">
                <a:solidFill>
                  <a:schemeClr val="accent2"/>
                </a:solidFill>
                <a:ea typeface="黑体" panose="02010609060101010101" pitchFamily="49" charset="-122"/>
              </a:rPr>
              <a:t>增量模型总结</a:t>
            </a:r>
          </a:p>
          <a:p>
            <a:pPr eaLnBrk="1" hangingPunct="1">
              <a:buClr>
                <a:srgbClr val="0000FF"/>
              </a:buClr>
              <a:buSzPct val="70000"/>
              <a:buFont typeface="Wingdings" panose="05000000000000000000" pitchFamily="2" charset="2"/>
              <a:buNone/>
              <a:defRPr/>
            </a:pPr>
            <a:endParaRPr kumimoji="0" lang="zh-CN" altLang="en-US" sz="900" b="1" dirty="0">
              <a:solidFill>
                <a:schemeClr val="accent2"/>
              </a:solidFill>
              <a:ea typeface="黑体" panose="02010609060101010101" pitchFamily="49" charset="-122"/>
            </a:endParaRPr>
          </a:p>
          <a:p>
            <a:pPr lvl="1" eaLnBrk="1" hangingPunct="1">
              <a:buClr>
                <a:srgbClr val="0000FF"/>
              </a:buClr>
              <a:buSzPct val="70000"/>
              <a:buFont typeface="Wingdings" panose="05000000000000000000" pitchFamily="2" charset="2"/>
              <a:buChar char="n"/>
              <a:defRPr/>
            </a:pPr>
            <a:r>
              <a:rPr kumimoji="0" lang="zh-CN" altLang="en-US" sz="2000" b="1" dirty="0">
                <a:latin typeface="宋体" panose="02010600030101010101" pitchFamily="2" charset="-122"/>
              </a:rPr>
              <a:t>　融合了瀑布模型和原型的迭代特征。</a:t>
            </a:r>
          </a:p>
          <a:p>
            <a:pPr lvl="1" eaLnBrk="1" hangingPunct="1">
              <a:buClr>
                <a:srgbClr val="0000FF"/>
              </a:buClr>
              <a:buSzPct val="70000"/>
              <a:buFont typeface="Wingdings" panose="05000000000000000000" pitchFamily="2" charset="2"/>
              <a:buNone/>
              <a:defRPr/>
            </a:pPr>
            <a:endParaRPr kumimoji="0" lang="zh-CN" altLang="en-US" sz="900" b="1" dirty="0">
              <a:latin typeface="宋体" panose="02010600030101010101" pitchFamily="2" charset="-122"/>
            </a:endParaRPr>
          </a:p>
          <a:p>
            <a:pPr lvl="1" eaLnBrk="1" hangingPunct="1">
              <a:buClr>
                <a:srgbClr val="0000FF"/>
              </a:buClr>
              <a:buSzPct val="70000"/>
              <a:buFont typeface="Wingdings" panose="05000000000000000000" pitchFamily="2" charset="2"/>
              <a:buChar char="n"/>
              <a:defRPr/>
            </a:pPr>
            <a:r>
              <a:rPr kumimoji="0" lang="zh-CN" altLang="en-US" sz="2000" b="1" dirty="0">
                <a:latin typeface="宋体" panose="02010600030101010101" pitchFamily="2" charset="-122"/>
              </a:rPr>
              <a:t>　每一个增量均发布一个可操作产品。</a:t>
            </a:r>
          </a:p>
        </p:txBody>
      </p:sp>
      <p:sp>
        <p:nvSpPr>
          <p:cNvPr id="5" name="Text Box 4">
            <a:extLst>
              <a:ext uri="{FF2B5EF4-FFF2-40B4-BE49-F238E27FC236}">
                <a16:creationId xmlns:a16="http://schemas.microsoft.com/office/drawing/2014/main" id="{F9859E2E-58D4-CF4E-5ED2-5923BF01F6D1}"/>
              </a:ext>
            </a:extLst>
          </p:cNvPr>
          <p:cNvSpPr txBox="1">
            <a:spLocks noChangeArrowheads="1"/>
          </p:cNvSpPr>
          <p:nvPr/>
        </p:nvSpPr>
        <p:spPr bwMode="auto">
          <a:xfrm>
            <a:off x="1165225" y="3987800"/>
            <a:ext cx="6345238" cy="2308225"/>
          </a:xfrm>
          <a:prstGeom prst="rect">
            <a:avLst/>
          </a:prstGeom>
          <a:noFill/>
          <a:ln>
            <a:noFill/>
          </a:ln>
          <a:effectLst/>
        </p:spPr>
        <p:txBody>
          <a:bodyPr>
            <a:spAutoFit/>
          </a:bodyPr>
          <a:lstStyle/>
          <a:p>
            <a:pPr eaLnBrk="1" hangingPunct="1">
              <a:buClr>
                <a:srgbClr val="0000FF"/>
              </a:buClr>
              <a:buSzPct val="70000"/>
              <a:buFont typeface="Wingdings" panose="05000000000000000000" pitchFamily="2" charset="2"/>
              <a:buChar char="n"/>
              <a:defRPr/>
            </a:pPr>
            <a:r>
              <a:rPr kumimoji="0" lang="zh-CN" altLang="en-US" dirty="0">
                <a:effectLst>
                  <a:outerShdw blurRad="38100" dist="38100" dir="2700000" algn="tl">
                    <a:srgbClr val="C0C0C0"/>
                  </a:outerShdw>
                </a:effectLst>
              </a:rPr>
              <a:t>　</a:t>
            </a:r>
            <a:r>
              <a:rPr kumimoji="0" lang="zh-CN" altLang="en-US" b="1" dirty="0">
                <a:solidFill>
                  <a:schemeClr val="accent2"/>
                </a:solidFill>
                <a:effectLst>
                  <a:outerShdw blurRad="38100" dist="38100" dir="2700000" algn="tl">
                    <a:srgbClr val="C0C0C0"/>
                  </a:outerShdw>
                </a:effectLst>
                <a:ea typeface="黑体" panose="02010609060101010101" pitchFamily="49" charset="-122"/>
              </a:rPr>
              <a:t>适用</a:t>
            </a:r>
            <a:r>
              <a:rPr kumimoji="0" lang="zh-CN" altLang="en-US" b="1" dirty="0">
                <a:solidFill>
                  <a:schemeClr val="accent2"/>
                </a:solidFill>
                <a:ea typeface="黑体" panose="02010609060101010101" pitchFamily="49" charset="-122"/>
              </a:rPr>
              <a:t>场景</a:t>
            </a:r>
            <a:endParaRPr kumimoji="0" lang="zh-CN" altLang="en-US" sz="900" b="1" dirty="0">
              <a:solidFill>
                <a:schemeClr val="accent2"/>
              </a:solidFill>
              <a:ea typeface="黑体" panose="02010609060101010101" pitchFamily="49" charset="-122"/>
            </a:endParaRPr>
          </a:p>
          <a:p>
            <a:pPr lvl="1" eaLnBrk="1" hangingPunct="1">
              <a:buClr>
                <a:srgbClr val="0000FF"/>
              </a:buClr>
              <a:buSzPct val="70000"/>
              <a:buFont typeface="Wingdings" panose="05000000000000000000" pitchFamily="2" charset="2"/>
              <a:buChar char="n"/>
              <a:defRPr/>
            </a:pPr>
            <a:r>
              <a:rPr kumimoji="0" lang="zh-CN" altLang="en-US" sz="2000" b="1" dirty="0">
                <a:latin typeface="宋体" panose="02010600030101010101" pitchFamily="2" charset="-122"/>
              </a:rPr>
              <a:t>　</a:t>
            </a:r>
            <a:r>
              <a:rPr kumimoji="0" lang="en-US" altLang="zh-CN" sz="2000" b="1" dirty="0">
                <a:latin typeface="宋体" panose="02010600030101010101" pitchFamily="2" charset="-122"/>
              </a:rPr>
              <a:t>1.</a:t>
            </a:r>
            <a:r>
              <a:rPr kumimoji="0" lang="zh-CN" altLang="en-US" sz="2000" b="1" dirty="0">
                <a:latin typeface="宋体" panose="02010600030101010101" pitchFamily="2" charset="-122"/>
              </a:rPr>
              <a:t>项目开始时明确了大部分的需求，但是需求可能会发生变化的项目</a:t>
            </a:r>
            <a:endParaRPr kumimoji="0" lang="zh-CN" altLang="en-US" sz="900" b="1" dirty="0">
              <a:latin typeface="宋体" panose="02010600030101010101" pitchFamily="2" charset="-122"/>
            </a:endParaRPr>
          </a:p>
          <a:p>
            <a:pPr lvl="1" eaLnBrk="1" hangingPunct="1">
              <a:buClr>
                <a:srgbClr val="0000FF"/>
              </a:buClr>
              <a:buSzPct val="70000"/>
              <a:buFont typeface="Wingdings" panose="05000000000000000000" pitchFamily="2" charset="2"/>
              <a:buChar char="n"/>
              <a:defRPr/>
            </a:pPr>
            <a:r>
              <a:rPr kumimoji="0" lang="zh-CN" altLang="en-US" sz="2000" b="1" dirty="0">
                <a:latin typeface="宋体" panose="02010600030101010101" pitchFamily="2" charset="-122"/>
              </a:rPr>
              <a:t>　</a:t>
            </a:r>
            <a:r>
              <a:rPr kumimoji="0" lang="en-US" altLang="zh-CN" sz="2000" b="1" dirty="0">
                <a:latin typeface="宋体" panose="02010600030101010101" pitchFamily="2" charset="-122"/>
              </a:rPr>
              <a:t>2.</a:t>
            </a:r>
            <a:r>
              <a:rPr kumimoji="0" lang="zh-CN" altLang="en-US" sz="2000" b="1" dirty="0">
                <a:latin typeface="宋体" panose="02010600030101010101" pitchFamily="2" charset="-122"/>
              </a:rPr>
              <a:t>对于市场和用户的把握不是很准，</a:t>
            </a:r>
            <a:r>
              <a:rPr kumimoji="0" lang="zh-CN" altLang="en-US" sz="2000" b="1" dirty="0">
                <a:solidFill>
                  <a:srgbClr val="FF0000"/>
                </a:solidFill>
                <a:latin typeface="宋体" panose="02010600030101010101" pitchFamily="2" charset="-122"/>
              </a:rPr>
              <a:t>需要逐步了解的项目</a:t>
            </a:r>
            <a:r>
              <a:rPr kumimoji="0" lang="zh-CN" altLang="en-US" sz="2000" b="1" dirty="0">
                <a:latin typeface="宋体" panose="02010600030101010101" pitchFamily="2" charset="-122"/>
              </a:rPr>
              <a:t>；</a:t>
            </a:r>
            <a:endParaRPr kumimoji="0" lang="en-US" altLang="zh-CN" sz="2000" b="1" dirty="0">
              <a:latin typeface="宋体" panose="02010600030101010101" pitchFamily="2" charset="-122"/>
            </a:endParaRPr>
          </a:p>
          <a:p>
            <a:pPr lvl="1" eaLnBrk="1" hangingPunct="1">
              <a:buClr>
                <a:srgbClr val="0000FF"/>
              </a:buClr>
              <a:buSzPct val="70000"/>
              <a:buFont typeface="Wingdings" panose="05000000000000000000" pitchFamily="2" charset="2"/>
              <a:buChar char="n"/>
              <a:defRPr/>
            </a:pPr>
            <a:r>
              <a:rPr kumimoji="0" lang="en-US" altLang="zh-CN" sz="2000" b="1" dirty="0">
                <a:latin typeface="宋体" panose="02010600030101010101" pitchFamily="2" charset="-122"/>
              </a:rPr>
              <a:t>  3.</a:t>
            </a:r>
            <a:r>
              <a:rPr kumimoji="0" lang="zh-CN" altLang="en-US" sz="2000" b="1" dirty="0">
                <a:latin typeface="宋体" panose="02010600030101010101" pitchFamily="2" charset="-122"/>
              </a:rPr>
              <a:t>对于有庞大和复杂功能的系统进化功能改进时需要</a:t>
            </a:r>
            <a:r>
              <a:rPr kumimoji="0" lang="zh-CN" altLang="en-US" sz="2000" b="1" dirty="0">
                <a:solidFill>
                  <a:srgbClr val="FF0000"/>
                </a:solidFill>
                <a:latin typeface="宋体" panose="02010600030101010101" pitchFamily="2" charset="-122"/>
              </a:rPr>
              <a:t>一步步实施</a:t>
            </a:r>
            <a:r>
              <a:rPr kumimoji="0" lang="zh-CN" altLang="en-US" sz="2000" b="1" dirty="0">
                <a:latin typeface="宋体" panose="02010600030101010101" pitchFamily="2" charset="-122"/>
              </a:rPr>
              <a:t>的项目。</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226AB47C-D3FD-98FA-BB49-35D95FD4D8CD}"/>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3.2.4  </a:t>
            </a:r>
            <a:r>
              <a:rPr kumimoji="1" lang="zh-CN" altLang="en-US"/>
              <a:t>进化模型 </a:t>
            </a:r>
          </a:p>
        </p:txBody>
      </p:sp>
      <p:grpSp>
        <p:nvGrpSpPr>
          <p:cNvPr id="105477" name="Group 5">
            <a:extLst>
              <a:ext uri="{FF2B5EF4-FFF2-40B4-BE49-F238E27FC236}">
                <a16:creationId xmlns:a16="http://schemas.microsoft.com/office/drawing/2014/main" id="{6149525D-5DF4-2447-0128-9B9443607724}"/>
              </a:ext>
            </a:extLst>
          </p:cNvPr>
          <p:cNvGrpSpPr>
            <a:grpSpLocks/>
          </p:cNvGrpSpPr>
          <p:nvPr/>
        </p:nvGrpSpPr>
        <p:grpSpPr bwMode="auto">
          <a:xfrm>
            <a:off x="1169988" y="1685925"/>
            <a:ext cx="5100637" cy="4475163"/>
            <a:chOff x="1200" y="1152"/>
            <a:chExt cx="3213" cy="2819"/>
          </a:xfrm>
        </p:grpSpPr>
        <p:graphicFrame>
          <p:nvGraphicFramePr>
            <p:cNvPr id="33797" name="Object 6">
              <a:extLst>
                <a:ext uri="{FF2B5EF4-FFF2-40B4-BE49-F238E27FC236}">
                  <a16:creationId xmlns:a16="http://schemas.microsoft.com/office/drawing/2014/main" id="{BB93843C-07E0-E03C-07B2-DD7AE4142177}"/>
                </a:ext>
              </a:extLst>
            </p:cNvPr>
            <p:cNvGraphicFramePr>
              <a:graphicFrameLocks noChangeAspect="1"/>
            </p:cNvGraphicFramePr>
            <p:nvPr/>
          </p:nvGraphicFramePr>
          <p:xfrm>
            <a:off x="1200" y="1152"/>
            <a:ext cx="3120" cy="2819"/>
          </p:xfrm>
          <a:graphic>
            <a:graphicData uri="http://schemas.openxmlformats.org/presentationml/2006/ole">
              <mc:AlternateContent xmlns:mc="http://schemas.openxmlformats.org/markup-compatibility/2006">
                <mc:Choice xmlns:v="urn:schemas-microsoft-com:vml" Requires="v">
                  <p:oleObj name="Drawing" r:id="rId2" imgW="241691" imgH="2169504" progId="FLW3Drawing">
                    <p:embed/>
                  </p:oleObj>
                </mc:Choice>
                <mc:Fallback>
                  <p:oleObj name="Drawing" r:id="rId2" imgW="241691" imgH="2169504" progId="FLW3Drawing">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152"/>
                          <a:ext cx="3120" cy="28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798" name="Text Box 7">
              <a:extLst>
                <a:ext uri="{FF2B5EF4-FFF2-40B4-BE49-F238E27FC236}">
                  <a16:creationId xmlns:a16="http://schemas.microsoft.com/office/drawing/2014/main" id="{4E535012-27C9-9269-3B2F-1F3221564FD3}"/>
                </a:ext>
              </a:extLst>
            </p:cNvPr>
            <p:cNvSpPr txBox="1">
              <a:spLocks noChangeArrowheads="1"/>
            </p:cNvSpPr>
            <p:nvPr/>
          </p:nvSpPr>
          <p:spPr bwMode="auto">
            <a:xfrm>
              <a:off x="3616" y="2429"/>
              <a:ext cx="797" cy="4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182" tIns="57092" rIns="114182" bIns="57092"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20000"/>
                </a:spcBef>
                <a:buClrTx/>
                <a:buFontTx/>
                <a:buNone/>
              </a:pPr>
              <a:r>
                <a:rPr kumimoji="0" lang="zh-CN" altLang="en-US" sz="1800">
                  <a:latin typeface="黑体" panose="02010609060101010101" pitchFamily="49" charset="-122"/>
                  <a:ea typeface="黑体" panose="02010609060101010101" pitchFamily="49" charset="-122"/>
                </a:rPr>
                <a:t>建造</a:t>
              </a:r>
              <a:r>
                <a:rPr kumimoji="0" lang="en-US" altLang="zh-CN" sz="1800">
                  <a:latin typeface="黑体" panose="02010609060101010101" pitchFamily="49" charset="-122"/>
                  <a:ea typeface="黑体" panose="02010609060101010101" pitchFamily="49" charset="-122"/>
                </a:rPr>
                <a:t>/</a:t>
              </a:r>
              <a:r>
                <a:rPr kumimoji="0" lang="zh-CN" altLang="en-US" sz="1800">
                  <a:latin typeface="黑体" panose="02010609060101010101" pitchFamily="49" charset="-122"/>
                  <a:ea typeface="黑体" panose="02010609060101010101" pitchFamily="49" charset="-122"/>
                </a:rPr>
                <a:t>修改</a:t>
              </a:r>
            </a:p>
            <a:p>
              <a:pPr algn="ctr">
                <a:spcBef>
                  <a:spcPct val="20000"/>
                </a:spcBef>
                <a:buClrTx/>
                <a:buFontTx/>
                <a:buNone/>
              </a:pPr>
              <a:r>
                <a:rPr kumimoji="0" lang="zh-CN" altLang="en-US" sz="1800">
                  <a:latin typeface="黑体" panose="02010609060101010101" pitchFamily="49" charset="-122"/>
                  <a:ea typeface="黑体" panose="02010609060101010101" pitchFamily="49" charset="-122"/>
                </a:rPr>
                <a:t>原型</a:t>
              </a:r>
            </a:p>
          </p:txBody>
        </p:sp>
        <p:sp>
          <p:nvSpPr>
            <p:cNvPr id="33799" name="Text Box 8">
              <a:extLst>
                <a:ext uri="{FF2B5EF4-FFF2-40B4-BE49-F238E27FC236}">
                  <a16:creationId xmlns:a16="http://schemas.microsoft.com/office/drawing/2014/main" id="{AC1AAAC1-D77A-A82D-E763-2698A1E19D25}"/>
                </a:ext>
              </a:extLst>
            </p:cNvPr>
            <p:cNvSpPr txBox="1">
              <a:spLocks noChangeArrowheads="1"/>
            </p:cNvSpPr>
            <p:nvPr/>
          </p:nvSpPr>
          <p:spPr bwMode="auto">
            <a:xfrm>
              <a:off x="2256" y="1370"/>
              <a:ext cx="1056" cy="4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182" tIns="57092" rIns="114182" bIns="57092"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20000"/>
                </a:spcBef>
                <a:buClrTx/>
                <a:buFontTx/>
                <a:buNone/>
              </a:pPr>
              <a:r>
                <a:rPr kumimoji="0" lang="zh-CN" altLang="en-US" sz="1800">
                  <a:latin typeface="Verdana" panose="020B0604030504040204" pitchFamily="34" charset="0"/>
                  <a:ea typeface="黑体" panose="02010609060101010101" pitchFamily="49" charset="-122"/>
                </a:rPr>
                <a:t>听取用户</a:t>
              </a:r>
            </a:p>
            <a:p>
              <a:pPr algn="ctr">
                <a:spcBef>
                  <a:spcPct val="20000"/>
                </a:spcBef>
                <a:buClrTx/>
                <a:buFontTx/>
                <a:buNone/>
              </a:pPr>
              <a:r>
                <a:rPr kumimoji="0" lang="zh-CN" altLang="en-US" sz="1800">
                  <a:latin typeface="Verdana" panose="020B0604030504040204" pitchFamily="34" charset="0"/>
                  <a:ea typeface="黑体" panose="02010609060101010101" pitchFamily="49" charset="-122"/>
                </a:rPr>
                <a:t>意见</a:t>
              </a:r>
            </a:p>
          </p:txBody>
        </p:sp>
        <p:sp>
          <p:nvSpPr>
            <p:cNvPr id="33800" name="Text Box 9">
              <a:extLst>
                <a:ext uri="{FF2B5EF4-FFF2-40B4-BE49-F238E27FC236}">
                  <a16:creationId xmlns:a16="http://schemas.microsoft.com/office/drawing/2014/main" id="{65A22CCB-07FD-D9B7-ECC3-1539BD2A9D60}"/>
                </a:ext>
              </a:extLst>
            </p:cNvPr>
            <p:cNvSpPr txBox="1">
              <a:spLocks noChangeArrowheads="1"/>
            </p:cNvSpPr>
            <p:nvPr/>
          </p:nvSpPr>
          <p:spPr bwMode="auto">
            <a:xfrm>
              <a:off x="1680" y="3290"/>
              <a:ext cx="724" cy="4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182" tIns="57092" rIns="114182" bIns="57092"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20000"/>
                </a:spcBef>
                <a:buClrTx/>
                <a:buFontTx/>
                <a:buNone/>
              </a:pPr>
              <a:r>
                <a:rPr kumimoji="0" lang="zh-CN" altLang="en-US" sz="1800">
                  <a:latin typeface="Verdana" panose="020B0604030504040204" pitchFamily="34" charset="0"/>
                </a:rPr>
                <a:t>用户测试</a:t>
              </a:r>
            </a:p>
            <a:p>
              <a:pPr algn="ctr">
                <a:spcBef>
                  <a:spcPct val="20000"/>
                </a:spcBef>
                <a:buClrTx/>
                <a:buFontTx/>
                <a:buNone/>
              </a:pPr>
              <a:r>
                <a:rPr kumimoji="0" lang="zh-CN" altLang="en-US" sz="1800">
                  <a:latin typeface="Verdana" panose="020B0604030504040204" pitchFamily="34" charset="0"/>
                </a:rPr>
                <a:t>运行原型</a:t>
              </a:r>
            </a:p>
          </p:txBody>
        </p:sp>
      </p:grpSp>
      <p:sp>
        <p:nvSpPr>
          <p:cNvPr id="105482" name="Text Box 10">
            <a:extLst>
              <a:ext uri="{FF2B5EF4-FFF2-40B4-BE49-F238E27FC236}">
                <a16:creationId xmlns:a16="http://schemas.microsoft.com/office/drawing/2014/main" id="{3BC5F916-2826-3601-4E9F-7699A6F98B8C}"/>
              </a:ext>
            </a:extLst>
          </p:cNvPr>
          <p:cNvSpPr txBox="1">
            <a:spLocks noChangeArrowheads="1"/>
          </p:cNvSpPr>
          <p:nvPr/>
        </p:nvSpPr>
        <p:spPr bwMode="auto">
          <a:xfrm>
            <a:off x="6615113" y="3089275"/>
            <a:ext cx="2035175"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zh-CN" altLang="en-US" sz="2400" b="0">
                <a:latin typeface="Times New Roman" panose="02020603050405020304" pitchFamily="18" charset="0"/>
              </a:rPr>
              <a:t>　　</a:t>
            </a:r>
            <a:r>
              <a:rPr lang="zh-CN" altLang="en-US" sz="2000">
                <a:latin typeface="宋体" panose="02010600030101010101" pitchFamily="2" charset="-122"/>
              </a:rPr>
              <a:t>这个模型可看作是重复执行的多个瀑布模型。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5477"/>
                                        </p:tgtEl>
                                        <p:attrNameLst>
                                          <p:attrName>style.visibility</p:attrName>
                                        </p:attrNameLst>
                                      </p:cBhvr>
                                      <p:to>
                                        <p:strVal val="visible"/>
                                      </p:to>
                                    </p:set>
                                    <p:anim calcmode="lin" valueType="num">
                                      <p:cBhvr additive="base">
                                        <p:cTn id="7" dur="500" fill="hold"/>
                                        <p:tgtEl>
                                          <p:spTgt spid="105477"/>
                                        </p:tgtEl>
                                        <p:attrNameLst>
                                          <p:attrName>ppt_x</p:attrName>
                                        </p:attrNameLst>
                                      </p:cBhvr>
                                      <p:tavLst>
                                        <p:tav tm="0">
                                          <p:val>
                                            <p:strVal val="#ppt_x"/>
                                          </p:val>
                                        </p:tav>
                                        <p:tav tm="100000">
                                          <p:val>
                                            <p:strVal val="#ppt_x"/>
                                          </p:val>
                                        </p:tav>
                                      </p:tavLst>
                                    </p:anim>
                                    <p:anim calcmode="lin" valueType="num">
                                      <p:cBhvr additive="base">
                                        <p:cTn id="8" dur="500" fill="hold"/>
                                        <p:tgtEl>
                                          <p:spTgt spid="10547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5482"/>
                                        </p:tgtEl>
                                        <p:attrNameLst>
                                          <p:attrName>style.visibility</p:attrName>
                                        </p:attrNameLst>
                                      </p:cBhvr>
                                      <p:to>
                                        <p:strVal val="visible"/>
                                      </p:to>
                                    </p:set>
                                    <p:anim calcmode="lin" valueType="num">
                                      <p:cBhvr additive="base">
                                        <p:cTn id="13" dur="500" fill="hold"/>
                                        <p:tgtEl>
                                          <p:spTgt spid="105482"/>
                                        </p:tgtEl>
                                        <p:attrNameLst>
                                          <p:attrName>ppt_x</p:attrName>
                                        </p:attrNameLst>
                                      </p:cBhvr>
                                      <p:tavLst>
                                        <p:tav tm="0">
                                          <p:val>
                                            <p:strVal val="#ppt_x"/>
                                          </p:val>
                                        </p:tav>
                                        <p:tav tm="100000">
                                          <p:val>
                                            <p:strVal val="#ppt_x"/>
                                          </p:val>
                                        </p:tav>
                                      </p:tavLst>
                                    </p:anim>
                                    <p:anim calcmode="lin" valueType="num">
                                      <p:cBhvr additive="base">
                                        <p:cTn id="14" dur="500" fill="hold"/>
                                        <p:tgtEl>
                                          <p:spTgt spid="1054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8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FF45455D-872A-8217-585B-86186D6814E6}"/>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3.2.4  </a:t>
            </a:r>
            <a:r>
              <a:rPr kumimoji="1" lang="zh-CN" altLang="en-US"/>
              <a:t>进化模型 </a:t>
            </a:r>
          </a:p>
        </p:txBody>
      </p:sp>
      <p:sp>
        <p:nvSpPr>
          <p:cNvPr id="4" name="Text Box 4">
            <a:extLst>
              <a:ext uri="{FF2B5EF4-FFF2-40B4-BE49-F238E27FC236}">
                <a16:creationId xmlns:a16="http://schemas.microsoft.com/office/drawing/2014/main" id="{2DE56554-CCD3-1725-10F3-C95BE3463766}"/>
              </a:ext>
            </a:extLst>
          </p:cNvPr>
          <p:cNvSpPr txBox="1">
            <a:spLocks noChangeArrowheads="1"/>
          </p:cNvSpPr>
          <p:nvPr/>
        </p:nvSpPr>
        <p:spPr bwMode="auto">
          <a:xfrm>
            <a:off x="141288" y="2051050"/>
            <a:ext cx="9002712" cy="3986213"/>
          </a:xfrm>
          <a:prstGeom prst="rect">
            <a:avLst/>
          </a:prstGeom>
          <a:noFill/>
          <a:ln>
            <a:noFill/>
          </a:ln>
          <a:effectLst/>
        </p:spPr>
        <p:txBody>
          <a:bodyPr>
            <a:spAutoFit/>
          </a:bodyPr>
          <a:lstStyle/>
          <a:p>
            <a:pPr eaLnBrk="1" hangingPunct="1">
              <a:buClr>
                <a:srgbClr val="0000FF"/>
              </a:buClr>
              <a:buSzPct val="70000"/>
              <a:buFont typeface="Wingdings" panose="05000000000000000000" pitchFamily="2" charset="2"/>
              <a:buChar char="n"/>
              <a:defRPr/>
            </a:pPr>
            <a:r>
              <a:rPr kumimoji="0" lang="zh-CN" altLang="en-US" dirty="0">
                <a:effectLst>
                  <a:outerShdw blurRad="38100" dist="38100" dir="2700000" algn="tl">
                    <a:srgbClr val="C0C0C0"/>
                  </a:outerShdw>
                </a:effectLst>
              </a:rPr>
              <a:t>　</a:t>
            </a:r>
            <a:r>
              <a:rPr kumimoji="0" lang="zh-CN" altLang="en-US" b="1" dirty="0">
                <a:solidFill>
                  <a:schemeClr val="accent2"/>
                </a:solidFill>
                <a:effectLst>
                  <a:outerShdw blurRad="38100" dist="38100" dir="2700000" algn="tl">
                    <a:srgbClr val="C0C0C0"/>
                  </a:outerShdw>
                </a:effectLst>
                <a:ea typeface="黑体" panose="02010609060101010101" pitchFamily="49" charset="-122"/>
              </a:rPr>
              <a:t>进化</a:t>
            </a:r>
            <a:r>
              <a:rPr kumimoji="0" lang="zh-CN" altLang="en-US" b="1" dirty="0">
                <a:solidFill>
                  <a:schemeClr val="accent2"/>
                </a:solidFill>
                <a:ea typeface="黑体" panose="02010609060101010101" pitchFamily="49" charset="-122"/>
              </a:rPr>
              <a:t>模型优点</a:t>
            </a:r>
          </a:p>
          <a:p>
            <a:pPr eaLnBrk="1" hangingPunct="1">
              <a:buClr>
                <a:srgbClr val="0000FF"/>
              </a:buClr>
              <a:buSzPct val="70000"/>
              <a:buFont typeface="Wingdings" panose="05000000000000000000" pitchFamily="2" charset="2"/>
              <a:buNone/>
              <a:defRPr/>
            </a:pPr>
            <a:endParaRPr kumimoji="0" lang="zh-CN" altLang="en-US" sz="900" b="1" dirty="0">
              <a:solidFill>
                <a:schemeClr val="accent2"/>
              </a:solidFill>
              <a:ea typeface="黑体" panose="02010609060101010101" pitchFamily="49" charset="-122"/>
            </a:endParaRPr>
          </a:p>
          <a:p>
            <a:pPr lvl="1" eaLnBrk="1" hangingPunct="1">
              <a:buClr>
                <a:srgbClr val="0000FF"/>
              </a:buClr>
              <a:buSzPct val="70000"/>
              <a:buFont typeface="Wingdings" panose="05000000000000000000" pitchFamily="2" charset="2"/>
              <a:buChar char="n"/>
              <a:defRPr/>
            </a:pPr>
            <a:r>
              <a:rPr kumimoji="0" lang="en-US" altLang="zh-CN" sz="2000" b="1" dirty="0">
                <a:latin typeface="宋体" panose="02010600030101010101" pitchFamily="2" charset="-122"/>
              </a:rPr>
              <a:t> 1.</a:t>
            </a:r>
            <a:r>
              <a:rPr kumimoji="0" lang="zh-CN" altLang="en-US" sz="2000" b="1" dirty="0">
                <a:latin typeface="宋体" panose="02010600030101010101" pitchFamily="2" charset="-122"/>
              </a:rPr>
              <a:t>任何功能</a:t>
            </a:r>
            <a:r>
              <a:rPr kumimoji="0" lang="zh-CN" altLang="en-US" sz="2000" b="1" dirty="0">
                <a:solidFill>
                  <a:srgbClr val="FF0000"/>
                </a:solidFill>
                <a:latin typeface="宋体" panose="02010600030101010101" pitchFamily="2" charset="-122"/>
              </a:rPr>
              <a:t>一经开发就能进入测试</a:t>
            </a:r>
            <a:r>
              <a:rPr kumimoji="0" lang="zh-CN" altLang="en-US" sz="2000" b="1" dirty="0">
                <a:latin typeface="宋体" panose="02010600030101010101" pitchFamily="2" charset="-122"/>
              </a:rPr>
              <a:t>以便验证是否符合产品需求。</a:t>
            </a:r>
            <a:endParaRPr kumimoji="0" lang="en-US" altLang="zh-CN" sz="2000" b="1" dirty="0">
              <a:latin typeface="宋体" panose="02010600030101010101" pitchFamily="2" charset="-122"/>
            </a:endParaRPr>
          </a:p>
          <a:p>
            <a:pPr lvl="1" eaLnBrk="1" hangingPunct="1">
              <a:buClr>
                <a:srgbClr val="0000FF"/>
              </a:buClr>
              <a:buSzPct val="70000"/>
              <a:buFont typeface="Wingdings" panose="05000000000000000000" pitchFamily="2" charset="2"/>
              <a:buChar char="n"/>
              <a:defRPr/>
            </a:pPr>
            <a:r>
              <a:rPr kumimoji="0" lang="en-US" altLang="zh-CN" sz="2000" b="1" dirty="0">
                <a:latin typeface="宋体" panose="02010600030101010101" pitchFamily="2" charset="-122"/>
              </a:rPr>
              <a:t> 2.</a:t>
            </a:r>
            <a:r>
              <a:rPr kumimoji="0" lang="zh-CN" altLang="en-US" sz="2000" b="1" dirty="0">
                <a:latin typeface="宋体" panose="02010600030101010101" pitchFamily="2" charset="-122"/>
              </a:rPr>
              <a:t>帮助引导出</a:t>
            </a:r>
            <a:r>
              <a:rPr kumimoji="0" lang="zh-CN" altLang="en-US" sz="2000" b="1" dirty="0">
                <a:solidFill>
                  <a:srgbClr val="FF0000"/>
                </a:solidFill>
                <a:latin typeface="宋体" panose="02010600030101010101" pitchFamily="2" charset="-122"/>
              </a:rPr>
              <a:t>高质量的产品要求</a:t>
            </a:r>
            <a:r>
              <a:rPr kumimoji="0" lang="zh-CN" altLang="en-US" sz="2000" b="1" dirty="0">
                <a:latin typeface="宋体" panose="02010600030101010101" pitchFamily="2" charset="-122"/>
              </a:rPr>
              <a:t>。如果不可能在一开始就弄清楚所有的产品需求，则可以分批获取它们。而对于已提出的产品需求，则可根据对现阶段原型的试用而做出修改。</a:t>
            </a:r>
            <a:endParaRPr kumimoji="0" lang="en-US" altLang="zh-CN" sz="2000" b="1" dirty="0">
              <a:latin typeface="宋体" panose="02010600030101010101" pitchFamily="2" charset="-122"/>
            </a:endParaRPr>
          </a:p>
          <a:p>
            <a:pPr lvl="1" eaLnBrk="1" hangingPunct="1">
              <a:buClr>
                <a:srgbClr val="0000FF"/>
              </a:buClr>
              <a:buSzPct val="70000"/>
              <a:buFont typeface="Wingdings" panose="05000000000000000000" pitchFamily="2" charset="2"/>
              <a:buChar char="n"/>
              <a:defRPr/>
            </a:pPr>
            <a:r>
              <a:rPr kumimoji="0" lang="en-US" altLang="zh-CN" sz="2000" b="1" dirty="0">
                <a:latin typeface="宋体" panose="02010600030101010101" pitchFamily="2" charset="-122"/>
              </a:rPr>
              <a:t> 3.</a:t>
            </a:r>
            <a:r>
              <a:rPr kumimoji="0" lang="zh-CN" altLang="en-US" sz="2000" b="1" dirty="0">
                <a:latin typeface="宋体" panose="02010600030101010101" pitchFamily="2" charset="-122"/>
              </a:rPr>
              <a:t>风险管理可以在早期就获得项目进程数据，可据此对后续的开发循环做出比较切实的估算。提供机会去采取早期预防措施，增加项目成功的几率。</a:t>
            </a:r>
            <a:endParaRPr kumimoji="0" lang="en-US" altLang="zh-CN" sz="2000" b="1" dirty="0">
              <a:latin typeface="宋体" panose="02010600030101010101" pitchFamily="2" charset="-122"/>
            </a:endParaRPr>
          </a:p>
          <a:p>
            <a:pPr lvl="1" eaLnBrk="1" hangingPunct="1">
              <a:buClr>
                <a:srgbClr val="0000FF"/>
              </a:buClr>
              <a:buSzPct val="70000"/>
              <a:buFont typeface="Wingdings" panose="05000000000000000000" pitchFamily="2" charset="2"/>
              <a:buChar char="n"/>
              <a:defRPr/>
            </a:pPr>
            <a:r>
              <a:rPr kumimoji="0" lang="en-US" altLang="zh-CN" sz="2000" b="1" dirty="0">
                <a:latin typeface="宋体" panose="02010600030101010101" pitchFamily="2" charset="-122"/>
              </a:rPr>
              <a:t> 4.</a:t>
            </a:r>
            <a:r>
              <a:rPr kumimoji="0" lang="zh-CN" altLang="en-US" sz="2000" b="1" dirty="0">
                <a:latin typeface="宋体" panose="02010600030101010101" pitchFamily="2" charset="-122"/>
              </a:rPr>
              <a:t>很有助于早期建立产品开发的配置管理、产品构建、自动化测试、缺陷跟踪、文档管理，均衡整个开发过程的负荷。</a:t>
            </a:r>
            <a:endParaRPr kumimoji="0" lang="en-US" altLang="zh-CN" sz="2000" b="1" dirty="0">
              <a:latin typeface="宋体" panose="02010600030101010101" pitchFamily="2" charset="-122"/>
            </a:endParaRPr>
          </a:p>
          <a:p>
            <a:pPr lvl="1" eaLnBrk="1" hangingPunct="1">
              <a:buClr>
                <a:srgbClr val="0000FF"/>
              </a:buClr>
              <a:buSzPct val="70000"/>
              <a:buFont typeface="Wingdings" panose="05000000000000000000" pitchFamily="2" charset="2"/>
              <a:buChar char="n"/>
              <a:defRPr/>
            </a:pPr>
            <a:r>
              <a:rPr kumimoji="0" lang="en-US" altLang="zh-CN" sz="2000" b="1" dirty="0">
                <a:latin typeface="宋体" panose="02010600030101010101" pitchFamily="2" charset="-122"/>
              </a:rPr>
              <a:t> 5.</a:t>
            </a:r>
            <a:r>
              <a:rPr kumimoji="0" lang="zh-CN" altLang="en-US" sz="2000" b="1" dirty="0">
                <a:latin typeface="宋体" panose="02010600030101010101" pitchFamily="2" charset="-122"/>
              </a:rPr>
              <a:t>开发中的经验教训能反馈应用于本产品的下一个循环过程，大大提高产品质量与工作效率。</a:t>
            </a:r>
            <a:endParaRPr kumimoji="0" lang="en-US" altLang="zh-CN" sz="2000" b="1" dirty="0">
              <a:latin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639D7F3B-478F-0BA1-4B8E-B5C72AA85DFF}"/>
              </a:ext>
            </a:extLst>
          </p:cNvPr>
          <p:cNvSpPr>
            <a:spLocks noGrp="1" noChangeArrowheads="1"/>
          </p:cNvSpPr>
          <p:nvPr>
            <p:ph type="title"/>
          </p:nvPr>
        </p:nvSpPr>
        <p:spPr>
          <a:xfrm>
            <a:off x="177800" y="1054100"/>
            <a:ext cx="8788400" cy="717550"/>
          </a:xfrm>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3.2.4  </a:t>
            </a:r>
            <a:r>
              <a:rPr kumimoji="1" lang="zh-CN" altLang="en-US"/>
              <a:t>进化模型 </a:t>
            </a:r>
          </a:p>
        </p:txBody>
      </p:sp>
      <p:sp>
        <p:nvSpPr>
          <p:cNvPr id="4" name="Text Box 4">
            <a:extLst>
              <a:ext uri="{FF2B5EF4-FFF2-40B4-BE49-F238E27FC236}">
                <a16:creationId xmlns:a16="http://schemas.microsoft.com/office/drawing/2014/main" id="{73B068B5-CF86-7705-FCCF-F16AD531D35B}"/>
              </a:ext>
            </a:extLst>
          </p:cNvPr>
          <p:cNvSpPr txBox="1">
            <a:spLocks noChangeArrowheads="1"/>
          </p:cNvSpPr>
          <p:nvPr/>
        </p:nvSpPr>
        <p:spPr bwMode="auto">
          <a:xfrm>
            <a:off x="141288" y="2051050"/>
            <a:ext cx="9002712" cy="3062288"/>
          </a:xfrm>
          <a:prstGeom prst="rect">
            <a:avLst/>
          </a:prstGeom>
          <a:noFill/>
          <a:ln>
            <a:noFill/>
          </a:ln>
          <a:effectLst/>
        </p:spPr>
        <p:txBody>
          <a:bodyPr>
            <a:spAutoFit/>
          </a:bodyPr>
          <a:lstStyle/>
          <a:p>
            <a:pPr eaLnBrk="1" hangingPunct="1">
              <a:buClr>
                <a:srgbClr val="0000FF"/>
              </a:buClr>
              <a:buSzPct val="70000"/>
              <a:buFont typeface="Wingdings" panose="05000000000000000000" pitchFamily="2" charset="2"/>
              <a:buChar char="n"/>
              <a:defRPr/>
            </a:pPr>
            <a:r>
              <a:rPr kumimoji="0" lang="zh-CN" altLang="en-US" dirty="0">
                <a:effectLst>
                  <a:outerShdw blurRad="38100" dist="38100" dir="2700000" algn="tl">
                    <a:srgbClr val="C0C0C0"/>
                  </a:outerShdw>
                </a:effectLst>
              </a:rPr>
              <a:t>　</a:t>
            </a:r>
            <a:r>
              <a:rPr kumimoji="0" lang="zh-CN" altLang="en-US" b="1" dirty="0">
                <a:solidFill>
                  <a:schemeClr val="accent2"/>
                </a:solidFill>
                <a:effectLst>
                  <a:outerShdw blurRad="38100" dist="38100" dir="2700000" algn="tl">
                    <a:srgbClr val="C0C0C0"/>
                  </a:outerShdw>
                </a:effectLst>
                <a:ea typeface="黑体" panose="02010609060101010101" pitchFamily="49" charset="-122"/>
              </a:rPr>
              <a:t>进化</a:t>
            </a:r>
            <a:r>
              <a:rPr kumimoji="0" lang="zh-CN" altLang="en-US" b="1" dirty="0">
                <a:solidFill>
                  <a:schemeClr val="accent2"/>
                </a:solidFill>
                <a:ea typeface="黑体" panose="02010609060101010101" pitchFamily="49" charset="-122"/>
              </a:rPr>
              <a:t>模型优点</a:t>
            </a:r>
          </a:p>
          <a:p>
            <a:pPr eaLnBrk="1" hangingPunct="1">
              <a:buClr>
                <a:srgbClr val="0000FF"/>
              </a:buClr>
              <a:buSzPct val="70000"/>
              <a:buFont typeface="Wingdings" panose="05000000000000000000" pitchFamily="2" charset="2"/>
              <a:buNone/>
              <a:defRPr/>
            </a:pPr>
            <a:endParaRPr kumimoji="0" lang="zh-CN" altLang="en-US" sz="900" b="1" dirty="0">
              <a:solidFill>
                <a:schemeClr val="accent2"/>
              </a:solidFill>
              <a:ea typeface="黑体" panose="02010609060101010101" pitchFamily="49" charset="-122"/>
            </a:endParaRPr>
          </a:p>
          <a:p>
            <a:pPr lvl="1" eaLnBrk="1" hangingPunct="1">
              <a:buClr>
                <a:srgbClr val="0000FF"/>
              </a:buClr>
              <a:buSzPct val="70000"/>
              <a:buFont typeface="Wingdings" panose="05000000000000000000" pitchFamily="2" charset="2"/>
              <a:buChar char="n"/>
              <a:defRPr/>
            </a:pPr>
            <a:r>
              <a:rPr kumimoji="0" lang="en-US" altLang="zh-CN" sz="2000" b="1" dirty="0">
                <a:latin typeface="宋体" panose="02010600030101010101" pitchFamily="2" charset="-122"/>
              </a:rPr>
              <a:t> 6.</a:t>
            </a:r>
            <a:r>
              <a:rPr kumimoji="0" lang="zh-CN" altLang="en-US" sz="2000" b="1" dirty="0">
                <a:latin typeface="宋体" panose="02010600030101010101" pitchFamily="2" charset="-122"/>
              </a:rPr>
              <a:t>如果风险管理发现资金或时间已超出可承受的程度，则可以决定调整后续的开发，或在一个适当的时刻结束开发，但仍然有一个具有部分功能的、可工作的产品。</a:t>
            </a:r>
            <a:endParaRPr kumimoji="0" lang="en-US" altLang="zh-CN" sz="2000" b="1" dirty="0">
              <a:latin typeface="宋体" panose="02010600030101010101" pitchFamily="2" charset="-122"/>
            </a:endParaRPr>
          </a:p>
          <a:p>
            <a:pPr lvl="1" eaLnBrk="1" hangingPunct="1">
              <a:buClr>
                <a:srgbClr val="0000FF"/>
              </a:buClr>
              <a:buSzPct val="70000"/>
              <a:buFont typeface="Wingdings" panose="05000000000000000000" pitchFamily="2" charset="2"/>
              <a:buChar char="n"/>
              <a:defRPr/>
            </a:pPr>
            <a:r>
              <a:rPr kumimoji="0" lang="en-US" altLang="zh-CN" sz="2000" b="1" dirty="0">
                <a:latin typeface="宋体" panose="02010600030101010101" pitchFamily="2" charset="-122"/>
              </a:rPr>
              <a:t> 7.</a:t>
            </a:r>
            <a:r>
              <a:rPr kumimoji="0" lang="zh-CN" altLang="en-US" sz="2000" b="1" dirty="0">
                <a:latin typeface="宋体" panose="02010600030101010101" pitchFamily="2" charset="-122"/>
              </a:rPr>
              <a:t>在心里上，开发人员早日见到产品的雏形，是一种鼓舞。</a:t>
            </a:r>
            <a:endParaRPr kumimoji="0" lang="en-US" altLang="zh-CN" sz="2000" b="1" dirty="0">
              <a:latin typeface="宋体" panose="02010600030101010101" pitchFamily="2" charset="-122"/>
            </a:endParaRPr>
          </a:p>
          <a:p>
            <a:pPr lvl="1" eaLnBrk="1" hangingPunct="1">
              <a:buClr>
                <a:srgbClr val="0000FF"/>
              </a:buClr>
              <a:buSzPct val="70000"/>
              <a:buFont typeface="Wingdings" panose="05000000000000000000" pitchFamily="2" charset="2"/>
              <a:buChar char="n"/>
              <a:defRPr/>
            </a:pPr>
            <a:r>
              <a:rPr kumimoji="0" lang="en-US" altLang="zh-CN" sz="2000" b="1" dirty="0">
                <a:latin typeface="宋体" panose="02010600030101010101" pitchFamily="2" charset="-122"/>
              </a:rPr>
              <a:t> 8.</a:t>
            </a:r>
            <a:r>
              <a:rPr kumimoji="0" lang="zh-CN" altLang="en-US" sz="2000" b="1" dirty="0">
                <a:latin typeface="宋体" panose="02010600030101010101" pitchFamily="2" charset="-122"/>
              </a:rPr>
              <a:t>使用户可以在新的一批功能开发测试后，立即参加验证，以便提供非常有价值的反馈。</a:t>
            </a:r>
            <a:endParaRPr kumimoji="0" lang="en-US" altLang="zh-CN" sz="2000" b="1" dirty="0">
              <a:latin typeface="宋体" panose="02010600030101010101" pitchFamily="2" charset="-122"/>
            </a:endParaRPr>
          </a:p>
          <a:p>
            <a:pPr lvl="1" eaLnBrk="1" hangingPunct="1">
              <a:buClr>
                <a:srgbClr val="0000FF"/>
              </a:buClr>
              <a:buSzPct val="70000"/>
              <a:buFont typeface="Wingdings" panose="05000000000000000000" pitchFamily="2" charset="2"/>
              <a:buChar char="n"/>
              <a:defRPr/>
            </a:pPr>
            <a:r>
              <a:rPr kumimoji="0" lang="en-US" altLang="zh-CN" sz="2000" b="1" dirty="0">
                <a:latin typeface="宋体" panose="02010600030101010101" pitchFamily="2" charset="-122"/>
              </a:rPr>
              <a:t> 9.</a:t>
            </a:r>
            <a:r>
              <a:rPr kumimoji="0" lang="zh-CN" altLang="en-US" sz="2000" b="1" dirty="0">
                <a:latin typeface="宋体" panose="02010600030101010101" pitchFamily="2" charset="-122"/>
              </a:rPr>
              <a:t>可使销售工作有可能提前进行，因为可以在产品的中后期取得包含了主要功能的产品原型</a:t>
            </a:r>
            <a:r>
              <a:rPr kumimoji="0" lang="zh-CN" altLang="en-US" sz="2000" b="1" dirty="0">
                <a:solidFill>
                  <a:srgbClr val="FF0000"/>
                </a:solidFill>
                <a:latin typeface="宋体" panose="02010600030101010101" pitchFamily="2" charset="-122"/>
              </a:rPr>
              <a:t>去向客户做展示和试用</a:t>
            </a:r>
            <a:r>
              <a:rPr kumimoji="0" lang="zh-CN" altLang="en-US" sz="2000" b="1" dirty="0">
                <a:latin typeface="宋体" panose="02010600030101010101" pitchFamily="2" charset="-122"/>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4825D53C-8461-EE97-BB15-0995839D8881}"/>
              </a:ext>
            </a:extLst>
          </p:cNvPr>
          <p:cNvSpPr>
            <a:spLocks noGrp="1" noChangeArrowheads="1"/>
          </p:cNvSpPr>
          <p:nvPr>
            <p:ph type="title"/>
          </p:nvPr>
        </p:nvSpPr>
        <p:spPr>
          <a:xfrm>
            <a:off x="177800" y="1054100"/>
            <a:ext cx="8788400" cy="717550"/>
          </a:xfrm>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3.2.4  </a:t>
            </a:r>
            <a:r>
              <a:rPr kumimoji="1" lang="zh-CN" altLang="en-US"/>
              <a:t>进化模型 </a:t>
            </a:r>
          </a:p>
        </p:txBody>
      </p:sp>
      <p:sp>
        <p:nvSpPr>
          <p:cNvPr id="4" name="Text Box 4">
            <a:extLst>
              <a:ext uri="{FF2B5EF4-FFF2-40B4-BE49-F238E27FC236}">
                <a16:creationId xmlns:a16="http://schemas.microsoft.com/office/drawing/2014/main" id="{317E5C07-DAE1-1B9B-39A6-E77076308B12}"/>
              </a:ext>
            </a:extLst>
          </p:cNvPr>
          <p:cNvSpPr txBox="1">
            <a:spLocks noChangeArrowheads="1"/>
          </p:cNvSpPr>
          <p:nvPr/>
        </p:nvSpPr>
        <p:spPr bwMode="auto">
          <a:xfrm>
            <a:off x="141288" y="2051050"/>
            <a:ext cx="9002712" cy="3370263"/>
          </a:xfrm>
          <a:prstGeom prst="rect">
            <a:avLst/>
          </a:prstGeom>
          <a:noFill/>
          <a:ln>
            <a:noFill/>
          </a:ln>
          <a:effectLst/>
        </p:spPr>
        <p:txBody>
          <a:bodyPr>
            <a:spAutoFit/>
          </a:bodyPr>
          <a:lstStyle/>
          <a:p>
            <a:pPr eaLnBrk="1" hangingPunct="1">
              <a:buClr>
                <a:srgbClr val="0000FF"/>
              </a:buClr>
              <a:buSzPct val="70000"/>
              <a:buFont typeface="Wingdings" panose="05000000000000000000" pitchFamily="2" charset="2"/>
              <a:buChar char="n"/>
              <a:defRPr/>
            </a:pPr>
            <a:r>
              <a:rPr kumimoji="0" lang="zh-CN" altLang="en-US" dirty="0">
                <a:effectLst>
                  <a:outerShdw blurRad="38100" dist="38100" dir="2700000" algn="tl">
                    <a:srgbClr val="C0C0C0"/>
                  </a:outerShdw>
                </a:effectLst>
              </a:rPr>
              <a:t>　</a:t>
            </a:r>
            <a:r>
              <a:rPr kumimoji="0" lang="zh-CN" altLang="en-US" b="1" dirty="0">
                <a:solidFill>
                  <a:schemeClr val="accent2"/>
                </a:solidFill>
                <a:effectLst>
                  <a:outerShdw blurRad="38100" dist="38100" dir="2700000" algn="tl">
                    <a:srgbClr val="C0C0C0"/>
                  </a:outerShdw>
                </a:effectLst>
                <a:ea typeface="黑体" panose="02010609060101010101" pitchFamily="49" charset="-122"/>
              </a:rPr>
              <a:t>进化</a:t>
            </a:r>
            <a:r>
              <a:rPr kumimoji="0" lang="zh-CN" altLang="en-US" b="1" dirty="0">
                <a:solidFill>
                  <a:schemeClr val="accent2"/>
                </a:solidFill>
                <a:ea typeface="黑体" panose="02010609060101010101" pitchFamily="49" charset="-122"/>
              </a:rPr>
              <a:t>模型缺点</a:t>
            </a:r>
          </a:p>
          <a:p>
            <a:pPr eaLnBrk="1" hangingPunct="1">
              <a:buClr>
                <a:srgbClr val="0000FF"/>
              </a:buClr>
              <a:buSzPct val="70000"/>
              <a:buFont typeface="Wingdings" panose="05000000000000000000" pitchFamily="2" charset="2"/>
              <a:buNone/>
              <a:defRPr/>
            </a:pPr>
            <a:endParaRPr kumimoji="0" lang="zh-CN" altLang="en-US" sz="900" b="1" dirty="0">
              <a:solidFill>
                <a:schemeClr val="accent2"/>
              </a:solidFill>
              <a:ea typeface="黑体" panose="02010609060101010101" pitchFamily="49" charset="-122"/>
            </a:endParaRPr>
          </a:p>
          <a:p>
            <a:pPr lvl="1" eaLnBrk="1" hangingPunct="1">
              <a:buClr>
                <a:srgbClr val="0000FF"/>
              </a:buClr>
              <a:buSzPct val="70000"/>
              <a:buFont typeface="Wingdings" panose="05000000000000000000" pitchFamily="2" charset="2"/>
              <a:buChar char="n"/>
              <a:defRPr/>
            </a:pPr>
            <a:r>
              <a:rPr kumimoji="0" lang="en-US" altLang="zh-CN" sz="2000" b="1" dirty="0">
                <a:latin typeface="宋体" panose="02010600030101010101" pitchFamily="2" charset="-122"/>
              </a:rPr>
              <a:t> 1.</a:t>
            </a:r>
            <a:r>
              <a:rPr kumimoji="0" lang="zh-CN" altLang="en-US" sz="2000" b="1" dirty="0">
                <a:latin typeface="宋体" panose="02010600030101010101" pitchFamily="2" charset="-122"/>
              </a:rPr>
              <a:t>如果所有产品需求在一开始不完全弄清楚的话，</a:t>
            </a:r>
            <a:r>
              <a:rPr kumimoji="0" lang="zh-CN" altLang="en-US" sz="2000" b="1" dirty="0">
                <a:solidFill>
                  <a:srgbClr val="FF0000"/>
                </a:solidFill>
                <a:latin typeface="宋体" panose="02010600030101010101" pitchFamily="2" charset="-122"/>
              </a:rPr>
              <a:t>会给总体设计带来困难并削弱产品设计的完整性</a:t>
            </a:r>
            <a:r>
              <a:rPr kumimoji="0" lang="zh-CN" altLang="en-US" sz="2000" b="1" dirty="0">
                <a:latin typeface="宋体" panose="02010600030101010101" pitchFamily="2" charset="-122"/>
              </a:rPr>
              <a:t>，并因而影响产品性能的优化及产品的可维护性。</a:t>
            </a:r>
            <a:endParaRPr kumimoji="0" lang="en-US" altLang="zh-CN" sz="2000" b="1" dirty="0">
              <a:latin typeface="宋体" panose="02010600030101010101" pitchFamily="2" charset="-122"/>
            </a:endParaRPr>
          </a:p>
          <a:p>
            <a:pPr lvl="1" eaLnBrk="1" hangingPunct="1">
              <a:buClr>
                <a:srgbClr val="0000FF"/>
              </a:buClr>
              <a:buSzPct val="70000"/>
              <a:buFont typeface="Wingdings" panose="05000000000000000000" pitchFamily="2" charset="2"/>
              <a:buChar char="n"/>
              <a:defRPr/>
            </a:pPr>
            <a:r>
              <a:rPr kumimoji="0" lang="en-US" altLang="zh-CN" sz="2000" b="1" dirty="0">
                <a:latin typeface="宋体" panose="02010600030101010101" pitchFamily="2" charset="-122"/>
              </a:rPr>
              <a:t> 2.</a:t>
            </a:r>
            <a:r>
              <a:rPr kumimoji="0" lang="zh-CN" altLang="en-US" sz="2000" b="1" dirty="0">
                <a:latin typeface="宋体" panose="02010600030101010101" pitchFamily="2" charset="-122"/>
              </a:rPr>
              <a:t>如果缺乏严格的过程管理的话，这个生命周期模型很可能退化为一种原始的、无计划的“试</a:t>
            </a:r>
            <a:r>
              <a:rPr kumimoji="0" lang="en-US" altLang="zh-CN" sz="2000" b="1" dirty="0">
                <a:latin typeface="宋体" panose="02010600030101010101" pitchFamily="2" charset="-122"/>
              </a:rPr>
              <a:t>-</a:t>
            </a:r>
            <a:r>
              <a:rPr kumimoji="0" lang="zh-CN" altLang="en-US" sz="2000" b="1" dirty="0">
                <a:latin typeface="宋体" panose="02010600030101010101" pitchFamily="2" charset="-122"/>
              </a:rPr>
              <a:t>错</a:t>
            </a:r>
            <a:r>
              <a:rPr kumimoji="0" lang="en-US" altLang="zh-CN" sz="2000" b="1" dirty="0">
                <a:latin typeface="宋体" panose="02010600030101010101" pitchFamily="2" charset="-122"/>
              </a:rPr>
              <a:t>-</a:t>
            </a:r>
            <a:r>
              <a:rPr kumimoji="0" lang="zh-CN" altLang="en-US" sz="2000" b="1" dirty="0">
                <a:latin typeface="宋体" panose="02010600030101010101" pitchFamily="2" charset="-122"/>
              </a:rPr>
              <a:t>改”模式。</a:t>
            </a:r>
            <a:endParaRPr kumimoji="0" lang="en-US" altLang="zh-CN" sz="2000" b="1" dirty="0">
              <a:latin typeface="宋体" panose="02010600030101010101" pitchFamily="2" charset="-122"/>
            </a:endParaRPr>
          </a:p>
          <a:p>
            <a:pPr lvl="1" eaLnBrk="1" hangingPunct="1">
              <a:buClr>
                <a:srgbClr val="0000FF"/>
              </a:buClr>
              <a:buSzPct val="70000"/>
              <a:buFont typeface="Wingdings" panose="05000000000000000000" pitchFamily="2" charset="2"/>
              <a:buChar char="n"/>
              <a:defRPr/>
            </a:pPr>
            <a:r>
              <a:rPr kumimoji="0" lang="en-US" altLang="zh-CN" sz="2000" b="1" dirty="0">
                <a:latin typeface="宋体" panose="02010600030101010101" pitchFamily="2" charset="-122"/>
              </a:rPr>
              <a:t> 3.</a:t>
            </a:r>
            <a:r>
              <a:rPr kumimoji="0" lang="zh-CN" altLang="en-US" sz="2000" b="1" dirty="0">
                <a:latin typeface="宋体" panose="02010600030101010101" pitchFamily="2" charset="-122"/>
              </a:rPr>
              <a:t>可能导致心理上产品一种不求最大努力的想法，认为虽然不能完成全部功能，但还是创造除了一个有部分功能的产品。</a:t>
            </a:r>
            <a:endParaRPr kumimoji="0" lang="en-US" altLang="zh-CN" sz="2000" b="1" dirty="0">
              <a:latin typeface="宋体" panose="02010600030101010101" pitchFamily="2" charset="-122"/>
            </a:endParaRPr>
          </a:p>
          <a:p>
            <a:pPr lvl="1" eaLnBrk="1" hangingPunct="1">
              <a:buClr>
                <a:srgbClr val="0000FF"/>
              </a:buClr>
              <a:buSzPct val="70000"/>
              <a:buFont typeface="Wingdings" panose="05000000000000000000" pitchFamily="2" charset="2"/>
              <a:buChar char="n"/>
              <a:defRPr/>
            </a:pPr>
            <a:r>
              <a:rPr kumimoji="0" lang="en-US" altLang="zh-CN" sz="2000" b="1" dirty="0">
                <a:latin typeface="宋体" panose="02010600030101010101" pitchFamily="2" charset="-122"/>
              </a:rPr>
              <a:t> 4.</a:t>
            </a:r>
            <a:r>
              <a:rPr kumimoji="0" lang="zh-CN" altLang="en-US" sz="2000" b="1" dirty="0">
                <a:latin typeface="宋体" panose="02010600030101010101" pitchFamily="2" charset="-122"/>
              </a:rPr>
              <a:t>如果不加以控制地让用户接触开发中尚未测试稳定的功能，可能对开发人员及用户都产生负面的影响。</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6963F26-5B68-8A02-31DD-AA3B0FFD50A7}"/>
              </a:ext>
            </a:extLst>
          </p:cNvPr>
          <p:cNvSpPr>
            <a:spLocks noGrp="1" noChangeArrowheads="1"/>
          </p:cNvSpPr>
          <p:nvPr>
            <p:ph type="title"/>
          </p:nvPr>
        </p:nvSpPr>
        <p:spPr>
          <a:xfrm>
            <a:off x="177800" y="1054100"/>
            <a:ext cx="8788400" cy="717550"/>
          </a:xfrm>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3.2.4  </a:t>
            </a:r>
            <a:r>
              <a:rPr kumimoji="1" lang="zh-CN" altLang="en-US"/>
              <a:t>进化模型 </a:t>
            </a:r>
          </a:p>
        </p:txBody>
      </p:sp>
      <p:sp>
        <p:nvSpPr>
          <p:cNvPr id="105482" name="Text Box 10">
            <a:extLst>
              <a:ext uri="{FF2B5EF4-FFF2-40B4-BE49-F238E27FC236}">
                <a16:creationId xmlns:a16="http://schemas.microsoft.com/office/drawing/2014/main" id="{C6C47F3D-1802-57D3-6558-99B844352271}"/>
              </a:ext>
            </a:extLst>
          </p:cNvPr>
          <p:cNvSpPr txBox="1">
            <a:spLocks noChangeArrowheads="1"/>
          </p:cNvSpPr>
          <p:nvPr/>
        </p:nvSpPr>
        <p:spPr bwMode="auto">
          <a:xfrm>
            <a:off x="1619250" y="2781300"/>
            <a:ext cx="6408738"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2000" dirty="0">
                <a:latin typeface="宋体" panose="02010600030101010101" pitchFamily="2" charset="-122"/>
              </a:rPr>
              <a:t>1.</a:t>
            </a:r>
            <a:r>
              <a:rPr lang="zh-CN" altLang="en-US" sz="2000" dirty="0">
                <a:latin typeface="宋体" panose="02010600030101010101" pitchFamily="2" charset="-122"/>
              </a:rPr>
              <a:t>当需求和设计不能被准确地定义、良好的理解；</a:t>
            </a:r>
            <a:endParaRPr lang="en-US" altLang="zh-CN" sz="2000" dirty="0">
              <a:latin typeface="宋体" panose="02010600030101010101" pitchFamily="2" charset="-122"/>
            </a:endParaRPr>
          </a:p>
          <a:p>
            <a:pPr eaLnBrk="1" hangingPunct="1">
              <a:spcBef>
                <a:spcPct val="0"/>
              </a:spcBef>
              <a:buClrTx/>
              <a:buFontTx/>
              <a:buNone/>
            </a:pPr>
            <a:r>
              <a:rPr lang="en-US" altLang="zh-CN" sz="2000" dirty="0">
                <a:latin typeface="宋体" panose="02010600030101010101" pitchFamily="2" charset="-122"/>
              </a:rPr>
              <a:t>2.</a:t>
            </a:r>
            <a:r>
              <a:rPr lang="zh-CN" altLang="en-US" sz="2000" dirty="0">
                <a:latin typeface="宋体" panose="02010600030101010101" pitchFamily="2" charset="-122"/>
              </a:rPr>
              <a:t>或是项目引入了新的或未经证明的技术方法；</a:t>
            </a:r>
            <a:endParaRPr lang="en-US" altLang="zh-CN" sz="2000" dirty="0">
              <a:latin typeface="宋体" panose="02010600030101010101" pitchFamily="2" charset="-122"/>
            </a:endParaRPr>
          </a:p>
          <a:p>
            <a:pPr eaLnBrk="1" hangingPunct="1">
              <a:spcBef>
                <a:spcPct val="0"/>
              </a:spcBef>
              <a:buClrTx/>
              <a:buFontTx/>
              <a:buNone/>
            </a:pPr>
            <a:r>
              <a:rPr lang="en-US" altLang="zh-CN" sz="2000" dirty="0">
                <a:latin typeface="宋体" panose="02010600030101010101" pitchFamily="2" charset="-122"/>
              </a:rPr>
              <a:t>3.</a:t>
            </a:r>
            <a:r>
              <a:rPr lang="zh-CN" altLang="en-US" sz="2000" dirty="0">
                <a:latin typeface="宋体" panose="02010600030101010101" pitchFamily="2" charset="-122"/>
              </a:rPr>
              <a:t>或者系统功能需要向用户演示以便于演进；</a:t>
            </a:r>
            <a:endParaRPr lang="en-US" altLang="zh-CN" sz="2000" dirty="0">
              <a:latin typeface="宋体" panose="02010600030101010101" pitchFamily="2" charset="-122"/>
            </a:endParaRPr>
          </a:p>
          <a:p>
            <a:pPr eaLnBrk="1" hangingPunct="1">
              <a:spcBef>
                <a:spcPct val="0"/>
              </a:spcBef>
              <a:buClrTx/>
              <a:buFontTx/>
              <a:buNone/>
            </a:pPr>
            <a:r>
              <a:rPr lang="en-US" altLang="zh-CN" sz="2000" dirty="0">
                <a:latin typeface="宋体" panose="02010600030101010101" pitchFamily="2" charset="-122"/>
              </a:rPr>
              <a:t>4.</a:t>
            </a:r>
            <a:r>
              <a:rPr lang="zh-CN" altLang="en-US" sz="2000" dirty="0">
                <a:latin typeface="宋体" panose="02010600030101010101" pitchFamily="2" charset="-122"/>
              </a:rPr>
              <a:t>又或是有多种用户组，可能发生需求冲突时，</a:t>
            </a:r>
            <a:endParaRPr lang="en-US" altLang="zh-CN" sz="2000" dirty="0">
              <a:latin typeface="宋体" panose="02010600030101010101" pitchFamily="2" charset="-122"/>
            </a:endParaRPr>
          </a:p>
          <a:p>
            <a:pPr eaLnBrk="1" hangingPunct="1">
              <a:spcBef>
                <a:spcPct val="0"/>
              </a:spcBef>
              <a:buClrTx/>
              <a:buFontTx/>
              <a:buNone/>
            </a:pPr>
            <a:endParaRPr lang="en-US" altLang="zh-CN" sz="2000" dirty="0">
              <a:latin typeface="宋体" panose="02010600030101010101" pitchFamily="2" charset="-122"/>
            </a:endParaRPr>
          </a:p>
          <a:p>
            <a:pPr eaLnBrk="1" hangingPunct="1">
              <a:spcBef>
                <a:spcPct val="0"/>
              </a:spcBef>
              <a:buClrTx/>
              <a:buFontTx/>
              <a:buNone/>
            </a:pPr>
            <a:r>
              <a:rPr lang="zh-CN" altLang="en-US" sz="2000" dirty="0">
                <a:latin typeface="宋体" panose="02010600030101010101" pitchFamily="2" charset="-122"/>
              </a:rPr>
              <a:t>则可以使用进化模型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5482"/>
                                        </p:tgtEl>
                                        <p:attrNameLst>
                                          <p:attrName>style.visibility</p:attrName>
                                        </p:attrNameLst>
                                      </p:cBhvr>
                                      <p:to>
                                        <p:strVal val="visible"/>
                                      </p:to>
                                    </p:set>
                                    <p:anim calcmode="lin" valueType="num">
                                      <p:cBhvr additive="base">
                                        <p:cTn id="7" dur="500" fill="hold"/>
                                        <p:tgtEl>
                                          <p:spTgt spid="105482"/>
                                        </p:tgtEl>
                                        <p:attrNameLst>
                                          <p:attrName>ppt_x</p:attrName>
                                        </p:attrNameLst>
                                      </p:cBhvr>
                                      <p:tavLst>
                                        <p:tav tm="0">
                                          <p:val>
                                            <p:strVal val="#ppt_x"/>
                                          </p:val>
                                        </p:tav>
                                        <p:tav tm="100000">
                                          <p:val>
                                            <p:strVal val="#ppt_x"/>
                                          </p:val>
                                        </p:tav>
                                      </p:tavLst>
                                    </p:anim>
                                    <p:anim calcmode="lin" valueType="num">
                                      <p:cBhvr additive="base">
                                        <p:cTn id="8" dur="500" fill="hold"/>
                                        <p:tgtEl>
                                          <p:spTgt spid="1054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8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7AF75F65-D103-3D17-B8B7-4CE4A2F6FFAB}"/>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3.2.5  </a:t>
            </a:r>
            <a:r>
              <a:rPr lang="zh-CN" altLang="en-US"/>
              <a:t>螺旋模型</a:t>
            </a:r>
          </a:p>
        </p:txBody>
      </p:sp>
      <p:sp>
        <p:nvSpPr>
          <p:cNvPr id="104453" name="AutoShape 5">
            <a:hlinkClick r:id="" action="ppaction://noaction" highlightClick="1"/>
            <a:extLst>
              <a:ext uri="{FF2B5EF4-FFF2-40B4-BE49-F238E27FC236}">
                <a16:creationId xmlns:a16="http://schemas.microsoft.com/office/drawing/2014/main" id="{386E9D16-A26B-74F9-D23E-C9743923C532}"/>
              </a:ext>
            </a:extLst>
          </p:cNvPr>
          <p:cNvSpPr>
            <a:spLocks noChangeArrowheads="1"/>
          </p:cNvSpPr>
          <p:nvPr/>
        </p:nvSpPr>
        <p:spPr bwMode="auto">
          <a:xfrm flipV="1">
            <a:off x="3162300" y="4114800"/>
            <a:ext cx="304800" cy="304800"/>
          </a:xfrm>
          <a:prstGeom prst="actionButtonBlank">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182" tIns="57092" rIns="114182" bIns="57092"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04454" name="Line 6">
            <a:extLst>
              <a:ext uri="{FF2B5EF4-FFF2-40B4-BE49-F238E27FC236}">
                <a16:creationId xmlns:a16="http://schemas.microsoft.com/office/drawing/2014/main" id="{C8C3EF2B-A4DE-4D45-48E4-7A8490EBFA72}"/>
              </a:ext>
            </a:extLst>
          </p:cNvPr>
          <p:cNvSpPr>
            <a:spLocks noChangeShapeType="1"/>
          </p:cNvSpPr>
          <p:nvPr/>
        </p:nvSpPr>
        <p:spPr bwMode="auto">
          <a:xfrm>
            <a:off x="1206500" y="4254500"/>
            <a:ext cx="6867525" cy="0"/>
          </a:xfrm>
          <a:prstGeom prst="line">
            <a:avLst/>
          </a:prstGeom>
          <a:noFill/>
          <a:ln w="5715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455" name="Line 7">
            <a:extLst>
              <a:ext uri="{FF2B5EF4-FFF2-40B4-BE49-F238E27FC236}">
                <a16:creationId xmlns:a16="http://schemas.microsoft.com/office/drawing/2014/main" id="{FC7D2ED9-6723-980E-CCE9-920F2F916D98}"/>
              </a:ext>
            </a:extLst>
          </p:cNvPr>
          <p:cNvSpPr>
            <a:spLocks noChangeShapeType="1"/>
          </p:cNvSpPr>
          <p:nvPr/>
        </p:nvSpPr>
        <p:spPr bwMode="auto">
          <a:xfrm>
            <a:off x="4149725" y="1828800"/>
            <a:ext cx="0" cy="4784725"/>
          </a:xfrm>
          <a:prstGeom prst="line">
            <a:avLst/>
          </a:prstGeom>
          <a:noFill/>
          <a:ln w="57150">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nvGrpSpPr>
          <p:cNvPr id="104456" name="Group 8">
            <a:extLst>
              <a:ext uri="{FF2B5EF4-FFF2-40B4-BE49-F238E27FC236}">
                <a16:creationId xmlns:a16="http://schemas.microsoft.com/office/drawing/2014/main" id="{91622DB1-76EF-A686-090E-EC2DF2AB6A06}"/>
              </a:ext>
            </a:extLst>
          </p:cNvPr>
          <p:cNvGrpSpPr>
            <a:grpSpLocks/>
          </p:cNvGrpSpPr>
          <p:nvPr/>
        </p:nvGrpSpPr>
        <p:grpSpPr bwMode="auto">
          <a:xfrm>
            <a:off x="1835150" y="2636838"/>
            <a:ext cx="6291263" cy="3638550"/>
            <a:chOff x="6550" y="9965"/>
            <a:chExt cx="3714" cy="3520"/>
          </a:xfrm>
        </p:grpSpPr>
        <p:grpSp>
          <p:nvGrpSpPr>
            <p:cNvPr id="39070" name="Group 9">
              <a:extLst>
                <a:ext uri="{FF2B5EF4-FFF2-40B4-BE49-F238E27FC236}">
                  <a16:creationId xmlns:a16="http://schemas.microsoft.com/office/drawing/2014/main" id="{816E3A10-5519-D8F6-3868-7E747F64E4EA}"/>
                </a:ext>
              </a:extLst>
            </p:cNvPr>
            <p:cNvGrpSpPr>
              <a:grpSpLocks/>
            </p:cNvGrpSpPr>
            <p:nvPr/>
          </p:nvGrpSpPr>
          <p:grpSpPr bwMode="auto">
            <a:xfrm>
              <a:off x="7371" y="11046"/>
              <a:ext cx="1118" cy="485"/>
              <a:chOff x="5070" y="2805"/>
              <a:chExt cx="1050" cy="540"/>
            </a:xfrm>
          </p:grpSpPr>
          <p:sp>
            <p:nvSpPr>
              <p:cNvPr id="39084" name="Arc 10">
                <a:extLst>
                  <a:ext uri="{FF2B5EF4-FFF2-40B4-BE49-F238E27FC236}">
                    <a16:creationId xmlns:a16="http://schemas.microsoft.com/office/drawing/2014/main" id="{09DFFC8E-CF96-940D-1F97-38A831E58EAD}"/>
                  </a:ext>
                </a:extLst>
              </p:cNvPr>
              <p:cNvSpPr>
                <a:spLocks/>
              </p:cNvSpPr>
              <p:nvPr/>
            </p:nvSpPr>
            <p:spPr bwMode="auto">
              <a:xfrm>
                <a:off x="5610" y="2805"/>
                <a:ext cx="510" cy="5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085" name="Arc 11">
                <a:extLst>
                  <a:ext uri="{FF2B5EF4-FFF2-40B4-BE49-F238E27FC236}">
                    <a16:creationId xmlns:a16="http://schemas.microsoft.com/office/drawing/2014/main" id="{959C1718-4234-6266-BDE6-DA5AF2F6356E}"/>
                  </a:ext>
                </a:extLst>
              </p:cNvPr>
              <p:cNvSpPr>
                <a:spLocks/>
              </p:cNvSpPr>
              <p:nvPr/>
            </p:nvSpPr>
            <p:spPr bwMode="auto">
              <a:xfrm flipH="1">
                <a:off x="5070" y="2805"/>
                <a:ext cx="510" cy="5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9071" name="Group 12">
              <a:extLst>
                <a:ext uri="{FF2B5EF4-FFF2-40B4-BE49-F238E27FC236}">
                  <a16:creationId xmlns:a16="http://schemas.microsoft.com/office/drawing/2014/main" id="{96DD3545-233B-23A6-EC7D-B8E5C97822F5}"/>
                </a:ext>
              </a:extLst>
            </p:cNvPr>
            <p:cNvGrpSpPr>
              <a:grpSpLocks/>
            </p:cNvGrpSpPr>
            <p:nvPr/>
          </p:nvGrpSpPr>
          <p:grpSpPr bwMode="auto">
            <a:xfrm>
              <a:off x="7164" y="11529"/>
              <a:ext cx="1330" cy="567"/>
              <a:chOff x="7164" y="11529"/>
              <a:chExt cx="1330" cy="537"/>
            </a:xfrm>
          </p:grpSpPr>
          <p:sp>
            <p:nvSpPr>
              <p:cNvPr id="39082" name="Arc 13">
                <a:extLst>
                  <a:ext uri="{FF2B5EF4-FFF2-40B4-BE49-F238E27FC236}">
                    <a16:creationId xmlns:a16="http://schemas.microsoft.com/office/drawing/2014/main" id="{7B500387-65B5-8FAF-F944-592CFBBD22AF}"/>
                  </a:ext>
                </a:extLst>
              </p:cNvPr>
              <p:cNvSpPr>
                <a:spLocks/>
              </p:cNvSpPr>
              <p:nvPr/>
            </p:nvSpPr>
            <p:spPr bwMode="auto">
              <a:xfrm flipV="1">
                <a:off x="7848" y="11529"/>
                <a:ext cx="646" cy="53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083" name="Arc 14">
                <a:extLst>
                  <a:ext uri="{FF2B5EF4-FFF2-40B4-BE49-F238E27FC236}">
                    <a16:creationId xmlns:a16="http://schemas.microsoft.com/office/drawing/2014/main" id="{CF1727A1-6E0D-F0A8-FA57-C610A59DFE08}"/>
                  </a:ext>
                </a:extLst>
              </p:cNvPr>
              <p:cNvSpPr>
                <a:spLocks/>
              </p:cNvSpPr>
              <p:nvPr/>
            </p:nvSpPr>
            <p:spPr bwMode="auto">
              <a:xfrm flipH="1" flipV="1">
                <a:off x="7164" y="11529"/>
                <a:ext cx="676" cy="537"/>
              </a:xfrm>
              <a:custGeom>
                <a:avLst/>
                <a:gdLst>
                  <a:gd name="T0" fmla="*/ 0 w 22601"/>
                  <a:gd name="T1" fmla="*/ 0 h 21600"/>
                  <a:gd name="T2" fmla="*/ 0 w 22601"/>
                  <a:gd name="T3" fmla="*/ 0 h 21600"/>
                  <a:gd name="T4" fmla="*/ 0 w 22601"/>
                  <a:gd name="T5" fmla="*/ 0 h 21600"/>
                  <a:gd name="T6" fmla="*/ 0 60000 65536"/>
                  <a:gd name="T7" fmla="*/ 0 60000 65536"/>
                  <a:gd name="T8" fmla="*/ 0 60000 65536"/>
                </a:gdLst>
                <a:ahLst/>
                <a:cxnLst>
                  <a:cxn ang="T6">
                    <a:pos x="T0" y="T1"/>
                  </a:cxn>
                  <a:cxn ang="T7">
                    <a:pos x="T2" y="T3"/>
                  </a:cxn>
                  <a:cxn ang="T8">
                    <a:pos x="T4" y="T5"/>
                  </a:cxn>
                </a:cxnLst>
                <a:rect l="0" t="0" r="r" b="b"/>
                <a:pathLst>
                  <a:path w="22601" h="21600" fill="none" extrusionOk="0">
                    <a:moveTo>
                      <a:pt x="0" y="23"/>
                    </a:moveTo>
                    <a:cubicBezTo>
                      <a:pt x="333" y="7"/>
                      <a:pt x="667" y="-1"/>
                      <a:pt x="1001" y="0"/>
                    </a:cubicBezTo>
                    <a:cubicBezTo>
                      <a:pt x="12930" y="0"/>
                      <a:pt x="22601" y="9670"/>
                      <a:pt x="22601" y="21600"/>
                    </a:cubicBezTo>
                  </a:path>
                  <a:path w="22601" h="21600" stroke="0" extrusionOk="0">
                    <a:moveTo>
                      <a:pt x="0" y="23"/>
                    </a:moveTo>
                    <a:cubicBezTo>
                      <a:pt x="333" y="7"/>
                      <a:pt x="667" y="-1"/>
                      <a:pt x="1001" y="0"/>
                    </a:cubicBezTo>
                    <a:cubicBezTo>
                      <a:pt x="12930" y="0"/>
                      <a:pt x="22601" y="9670"/>
                      <a:pt x="22601" y="21600"/>
                    </a:cubicBezTo>
                    <a:lnTo>
                      <a:pt x="1001" y="21600"/>
                    </a:lnTo>
                    <a:lnTo>
                      <a:pt x="0" y="23"/>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9072" name="Arc 15">
              <a:extLst>
                <a:ext uri="{FF2B5EF4-FFF2-40B4-BE49-F238E27FC236}">
                  <a16:creationId xmlns:a16="http://schemas.microsoft.com/office/drawing/2014/main" id="{01137695-9292-6C48-D6D9-26CAB88AC32C}"/>
                </a:ext>
              </a:extLst>
            </p:cNvPr>
            <p:cNvSpPr>
              <a:spLocks/>
            </p:cNvSpPr>
            <p:nvPr/>
          </p:nvSpPr>
          <p:spPr bwMode="auto">
            <a:xfrm rot="315311" flipH="1" flipV="1">
              <a:off x="6914" y="11279"/>
              <a:ext cx="1186" cy="1111"/>
            </a:xfrm>
            <a:custGeom>
              <a:avLst/>
              <a:gdLst>
                <a:gd name="T0" fmla="*/ 0 w 20761"/>
                <a:gd name="T1" fmla="*/ 0 h 21474"/>
                <a:gd name="T2" fmla="*/ 0 w 20761"/>
                <a:gd name="T3" fmla="*/ 0 h 21474"/>
                <a:gd name="T4" fmla="*/ 0 w 20761"/>
                <a:gd name="T5" fmla="*/ 0 h 21474"/>
                <a:gd name="T6" fmla="*/ 0 60000 65536"/>
                <a:gd name="T7" fmla="*/ 0 60000 65536"/>
                <a:gd name="T8" fmla="*/ 0 60000 65536"/>
              </a:gdLst>
              <a:ahLst/>
              <a:cxnLst>
                <a:cxn ang="T6">
                  <a:pos x="T0" y="T1"/>
                </a:cxn>
                <a:cxn ang="T7">
                  <a:pos x="T2" y="T3"/>
                </a:cxn>
                <a:cxn ang="T8">
                  <a:pos x="T4" y="T5"/>
                </a:cxn>
              </a:cxnLst>
              <a:rect l="0" t="0" r="r" b="b"/>
              <a:pathLst>
                <a:path w="20761" h="21474" fill="none" extrusionOk="0">
                  <a:moveTo>
                    <a:pt x="2327" y="-1"/>
                  </a:moveTo>
                  <a:cubicBezTo>
                    <a:pt x="11052" y="945"/>
                    <a:pt x="18337" y="7075"/>
                    <a:pt x="20760" y="15511"/>
                  </a:cubicBezTo>
                </a:path>
                <a:path w="20761" h="21474" stroke="0" extrusionOk="0">
                  <a:moveTo>
                    <a:pt x="2327" y="-1"/>
                  </a:moveTo>
                  <a:cubicBezTo>
                    <a:pt x="11052" y="945"/>
                    <a:pt x="18337" y="7075"/>
                    <a:pt x="20760" y="15511"/>
                  </a:cubicBezTo>
                  <a:lnTo>
                    <a:pt x="0" y="21474"/>
                  </a:lnTo>
                  <a:lnTo>
                    <a:pt x="2327" y="-1"/>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073" name="Arc 16">
              <a:extLst>
                <a:ext uri="{FF2B5EF4-FFF2-40B4-BE49-F238E27FC236}">
                  <a16:creationId xmlns:a16="http://schemas.microsoft.com/office/drawing/2014/main" id="{0B867B5E-F205-9017-0B60-7ED4228517FF}"/>
                </a:ext>
              </a:extLst>
            </p:cNvPr>
            <p:cNvSpPr>
              <a:spLocks/>
            </p:cNvSpPr>
            <p:nvPr/>
          </p:nvSpPr>
          <p:spPr bwMode="auto">
            <a:xfrm flipH="1">
              <a:off x="7165" y="10626"/>
              <a:ext cx="1767" cy="1805"/>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Lst>
              <a:ahLst/>
              <a:cxnLst>
                <a:cxn ang="T6">
                  <a:pos x="T0" y="T1"/>
                </a:cxn>
                <a:cxn ang="T7">
                  <a:pos x="T2" y="T3"/>
                </a:cxn>
                <a:cxn ang="T8">
                  <a:pos x="T4" y="T5"/>
                </a:cxn>
              </a:cxnLst>
              <a:rect l="0" t="0" r="r" b="b"/>
              <a:pathLst>
                <a:path w="43200" h="43200" fill="none" extrusionOk="0">
                  <a:moveTo>
                    <a:pt x="25537" y="42838"/>
                  </a:moveTo>
                  <a:cubicBezTo>
                    <a:pt x="24238" y="43078"/>
                    <a:pt x="22920" y="43199"/>
                    <a:pt x="21600" y="43200"/>
                  </a:cubicBezTo>
                  <a:cubicBezTo>
                    <a:pt x="9670" y="43200"/>
                    <a:pt x="0" y="33529"/>
                    <a:pt x="0" y="21600"/>
                  </a:cubicBezTo>
                  <a:cubicBezTo>
                    <a:pt x="0" y="9670"/>
                    <a:pt x="9670" y="0"/>
                    <a:pt x="21600" y="0"/>
                  </a:cubicBezTo>
                  <a:cubicBezTo>
                    <a:pt x="33529" y="0"/>
                    <a:pt x="43200" y="9670"/>
                    <a:pt x="43200" y="21600"/>
                  </a:cubicBezTo>
                  <a:cubicBezTo>
                    <a:pt x="43200" y="21831"/>
                    <a:pt x="43196" y="22063"/>
                    <a:pt x="43188" y="22294"/>
                  </a:cubicBezTo>
                </a:path>
                <a:path w="43200" h="43200" stroke="0" extrusionOk="0">
                  <a:moveTo>
                    <a:pt x="25537" y="42838"/>
                  </a:moveTo>
                  <a:cubicBezTo>
                    <a:pt x="24238" y="43078"/>
                    <a:pt x="22920" y="43199"/>
                    <a:pt x="21600" y="43200"/>
                  </a:cubicBezTo>
                  <a:cubicBezTo>
                    <a:pt x="9670" y="43200"/>
                    <a:pt x="0" y="33529"/>
                    <a:pt x="0" y="21600"/>
                  </a:cubicBezTo>
                  <a:cubicBezTo>
                    <a:pt x="0" y="9670"/>
                    <a:pt x="9670" y="0"/>
                    <a:pt x="21600" y="0"/>
                  </a:cubicBezTo>
                  <a:cubicBezTo>
                    <a:pt x="33529" y="0"/>
                    <a:pt x="43200" y="9670"/>
                    <a:pt x="43200" y="21600"/>
                  </a:cubicBezTo>
                  <a:cubicBezTo>
                    <a:pt x="43200" y="21831"/>
                    <a:pt x="43196" y="22063"/>
                    <a:pt x="43188" y="22294"/>
                  </a:cubicBezTo>
                  <a:lnTo>
                    <a:pt x="21600" y="21600"/>
                  </a:lnTo>
                  <a:lnTo>
                    <a:pt x="25537" y="42838"/>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074" name="Arc 17">
              <a:extLst>
                <a:ext uri="{FF2B5EF4-FFF2-40B4-BE49-F238E27FC236}">
                  <a16:creationId xmlns:a16="http://schemas.microsoft.com/office/drawing/2014/main" id="{E563DE23-9B52-02AE-57F6-32A84DC3A3CE}"/>
                </a:ext>
              </a:extLst>
            </p:cNvPr>
            <p:cNvSpPr>
              <a:spLocks/>
            </p:cNvSpPr>
            <p:nvPr/>
          </p:nvSpPr>
          <p:spPr bwMode="auto">
            <a:xfrm rot="5395327" flipH="1" flipV="1">
              <a:off x="7559" y="9676"/>
              <a:ext cx="1300" cy="2540"/>
            </a:xfrm>
            <a:custGeom>
              <a:avLst/>
              <a:gdLst>
                <a:gd name="T0" fmla="*/ 0 w 24255"/>
                <a:gd name="T1" fmla="*/ 0 h 43200"/>
                <a:gd name="T2" fmla="*/ 0 w 24255"/>
                <a:gd name="T3" fmla="*/ 0 h 43200"/>
                <a:gd name="T4" fmla="*/ 0 w 24255"/>
                <a:gd name="T5" fmla="*/ 0 h 43200"/>
                <a:gd name="T6" fmla="*/ 0 60000 65536"/>
                <a:gd name="T7" fmla="*/ 0 60000 65536"/>
                <a:gd name="T8" fmla="*/ 0 60000 65536"/>
              </a:gdLst>
              <a:ahLst/>
              <a:cxnLst>
                <a:cxn ang="T6">
                  <a:pos x="T0" y="T1"/>
                </a:cxn>
                <a:cxn ang="T7">
                  <a:pos x="T2" y="T3"/>
                </a:cxn>
                <a:cxn ang="T8">
                  <a:pos x="T4" y="T5"/>
                </a:cxn>
              </a:cxnLst>
              <a:rect l="0" t="0" r="r" b="b"/>
              <a:pathLst>
                <a:path w="24255" h="43200" fill="none" extrusionOk="0">
                  <a:moveTo>
                    <a:pt x="1123" y="54"/>
                  </a:moveTo>
                  <a:cubicBezTo>
                    <a:pt x="1632" y="18"/>
                    <a:pt x="2143" y="-1"/>
                    <a:pt x="2655" y="0"/>
                  </a:cubicBezTo>
                  <a:cubicBezTo>
                    <a:pt x="14584" y="0"/>
                    <a:pt x="24255" y="9670"/>
                    <a:pt x="24255" y="21600"/>
                  </a:cubicBezTo>
                  <a:cubicBezTo>
                    <a:pt x="24255" y="33529"/>
                    <a:pt x="14584" y="43200"/>
                    <a:pt x="2655" y="43200"/>
                  </a:cubicBezTo>
                  <a:cubicBezTo>
                    <a:pt x="1767" y="43200"/>
                    <a:pt x="880" y="43145"/>
                    <a:pt x="-1" y="43036"/>
                  </a:cubicBezTo>
                </a:path>
                <a:path w="24255" h="43200" stroke="0" extrusionOk="0">
                  <a:moveTo>
                    <a:pt x="1123" y="54"/>
                  </a:moveTo>
                  <a:cubicBezTo>
                    <a:pt x="1632" y="18"/>
                    <a:pt x="2143" y="-1"/>
                    <a:pt x="2655" y="0"/>
                  </a:cubicBezTo>
                  <a:cubicBezTo>
                    <a:pt x="14584" y="0"/>
                    <a:pt x="24255" y="9670"/>
                    <a:pt x="24255" y="21600"/>
                  </a:cubicBezTo>
                  <a:cubicBezTo>
                    <a:pt x="24255" y="33529"/>
                    <a:pt x="14584" y="43200"/>
                    <a:pt x="2655" y="43200"/>
                  </a:cubicBezTo>
                  <a:cubicBezTo>
                    <a:pt x="1767" y="43200"/>
                    <a:pt x="880" y="43145"/>
                    <a:pt x="-1" y="43036"/>
                  </a:cubicBezTo>
                  <a:lnTo>
                    <a:pt x="2655" y="21600"/>
                  </a:lnTo>
                  <a:lnTo>
                    <a:pt x="1123" y="54"/>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075" name="Arc 18">
              <a:extLst>
                <a:ext uri="{FF2B5EF4-FFF2-40B4-BE49-F238E27FC236}">
                  <a16:creationId xmlns:a16="http://schemas.microsoft.com/office/drawing/2014/main" id="{A94B586C-C3DD-DD4F-8E0E-743A31A91CF2}"/>
                </a:ext>
              </a:extLst>
            </p:cNvPr>
            <p:cNvSpPr>
              <a:spLocks/>
            </p:cNvSpPr>
            <p:nvPr/>
          </p:nvSpPr>
          <p:spPr bwMode="auto">
            <a:xfrm rot="315311" flipH="1" flipV="1">
              <a:off x="6729" y="11024"/>
              <a:ext cx="1384" cy="1733"/>
            </a:xfrm>
            <a:custGeom>
              <a:avLst/>
              <a:gdLst>
                <a:gd name="T0" fmla="*/ 0 w 20313"/>
                <a:gd name="T1" fmla="*/ 0 h 21553"/>
                <a:gd name="T2" fmla="*/ 0 w 20313"/>
                <a:gd name="T3" fmla="*/ 0 h 21553"/>
                <a:gd name="T4" fmla="*/ 0 w 20313"/>
                <a:gd name="T5" fmla="*/ 0 h 21553"/>
                <a:gd name="T6" fmla="*/ 0 60000 65536"/>
                <a:gd name="T7" fmla="*/ 0 60000 65536"/>
                <a:gd name="T8" fmla="*/ 0 60000 65536"/>
              </a:gdLst>
              <a:ahLst/>
              <a:cxnLst>
                <a:cxn ang="T6">
                  <a:pos x="T0" y="T1"/>
                </a:cxn>
                <a:cxn ang="T7">
                  <a:pos x="T2" y="T3"/>
                </a:cxn>
                <a:cxn ang="T8">
                  <a:pos x="T4" y="T5"/>
                </a:cxn>
              </a:cxnLst>
              <a:rect l="0" t="0" r="r" b="b"/>
              <a:pathLst>
                <a:path w="20313" h="21553" fill="none" extrusionOk="0">
                  <a:moveTo>
                    <a:pt x="1430" y="0"/>
                  </a:moveTo>
                  <a:cubicBezTo>
                    <a:pt x="9987" y="568"/>
                    <a:pt x="17396" y="6144"/>
                    <a:pt x="20312" y="14208"/>
                  </a:cubicBezTo>
                </a:path>
                <a:path w="20313" h="21553" stroke="0" extrusionOk="0">
                  <a:moveTo>
                    <a:pt x="1430" y="0"/>
                  </a:moveTo>
                  <a:cubicBezTo>
                    <a:pt x="9987" y="568"/>
                    <a:pt x="17396" y="6144"/>
                    <a:pt x="20312" y="14208"/>
                  </a:cubicBezTo>
                  <a:lnTo>
                    <a:pt x="0" y="21553"/>
                  </a:lnTo>
                  <a:lnTo>
                    <a:pt x="1430" y="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076" name="Arc 19">
              <a:extLst>
                <a:ext uri="{FF2B5EF4-FFF2-40B4-BE49-F238E27FC236}">
                  <a16:creationId xmlns:a16="http://schemas.microsoft.com/office/drawing/2014/main" id="{1DAB2376-E13C-BBF7-94D1-DBC7A5133490}"/>
                </a:ext>
              </a:extLst>
            </p:cNvPr>
            <p:cNvSpPr>
              <a:spLocks/>
            </p:cNvSpPr>
            <p:nvPr/>
          </p:nvSpPr>
          <p:spPr bwMode="auto">
            <a:xfrm rot="5704856" flipH="1" flipV="1">
              <a:off x="7562" y="9212"/>
              <a:ext cx="1881" cy="3387"/>
            </a:xfrm>
            <a:custGeom>
              <a:avLst/>
              <a:gdLst>
                <a:gd name="T0" fmla="*/ 0 w 26886"/>
                <a:gd name="T1" fmla="*/ 0 h 43200"/>
                <a:gd name="T2" fmla="*/ 0 w 26886"/>
                <a:gd name="T3" fmla="*/ 0 h 43200"/>
                <a:gd name="T4" fmla="*/ 0 w 26886"/>
                <a:gd name="T5" fmla="*/ 0 h 43200"/>
                <a:gd name="T6" fmla="*/ 0 60000 65536"/>
                <a:gd name="T7" fmla="*/ 0 60000 65536"/>
                <a:gd name="T8" fmla="*/ 0 60000 65536"/>
              </a:gdLst>
              <a:ahLst/>
              <a:cxnLst>
                <a:cxn ang="T6">
                  <a:pos x="T0" y="T1"/>
                </a:cxn>
                <a:cxn ang="T7">
                  <a:pos x="T2" y="T3"/>
                </a:cxn>
                <a:cxn ang="T8">
                  <a:pos x="T4" y="T5"/>
                </a:cxn>
              </a:cxnLst>
              <a:rect l="0" t="0" r="r" b="b"/>
              <a:pathLst>
                <a:path w="26886" h="43200" fill="none" extrusionOk="0">
                  <a:moveTo>
                    <a:pt x="-1" y="656"/>
                  </a:moveTo>
                  <a:cubicBezTo>
                    <a:pt x="1728" y="220"/>
                    <a:pt x="3503" y="-1"/>
                    <a:pt x="5286" y="0"/>
                  </a:cubicBezTo>
                  <a:cubicBezTo>
                    <a:pt x="17215" y="0"/>
                    <a:pt x="26886" y="9670"/>
                    <a:pt x="26886" y="21600"/>
                  </a:cubicBezTo>
                  <a:cubicBezTo>
                    <a:pt x="26886" y="33529"/>
                    <a:pt x="17215" y="43200"/>
                    <a:pt x="5286" y="43200"/>
                  </a:cubicBezTo>
                  <a:cubicBezTo>
                    <a:pt x="5109" y="43200"/>
                    <a:pt x="4932" y="43197"/>
                    <a:pt x="4755" y="43193"/>
                  </a:cubicBezTo>
                </a:path>
                <a:path w="26886" h="43200" stroke="0" extrusionOk="0">
                  <a:moveTo>
                    <a:pt x="-1" y="656"/>
                  </a:moveTo>
                  <a:cubicBezTo>
                    <a:pt x="1728" y="220"/>
                    <a:pt x="3503" y="-1"/>
                    <a:pt x="5286" y="0"/>
                  </a:cubicBezTo>
                  <a:cubicBezTo>
                    <a:pt x="17215" y="0"/>
                    <a:pt x="26886" y="9670"/>
                    <a:pt x="26886" y="21600"/>
                  </a:cubicBezTo>
                  <a:cubicBezTo>
                    <a:pt x="26886" y="33529"/>
                    <a:pt x="17215" y="43200"/>
                    <a:pt x="5286" y="43200"/>
                  </a:cubicBezTo>
                  <a:cubicBezTo>
                    <a:pt x="5109" y="43200"/>
                    <a:pt x="4932" y="43197"/>
                    <a:pt x="4755" y="43193"/>
                  </a:cubicBezTo>
                  <a:lnTo>
                    <a:pt x="5286" y="21600"/>
                  </a:lnTo>
                  <a:lnTo>
                    <a:pt x="-1" y="656"/>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077" name="Arc 20">
              <a:extLst>
                <a:ext uri="{FF2B5EF4-FFF2-40B4-BE49-F238E27FC236}">
                  <a16:creationId xmlns:a16="http://schemas.microsoft.com/office/drawing/2014/main" id="{026260A9-DF00-FC62-AD65-38A587B7E574}"/>
                </a:ext>
              </a:extLst>
            </p:cNvPr>
            <p:cNvSpPr>
              <a:spLocks/>
            </p:cNvSpPr>
            <p:nvPr/>
          </p:nvSpPr>
          <p:spPr bwMode="auto">
            <a:xfrm rot="-5934402" flipH="1" flipV="1">
              <a:off x="8026" y="11240"/>
              <a:ext cx="1301" cy="1747"/>
            </a:xfrm>
            <a:custGeom>
              <a:avLst/>
              <a:gdLst>
                <a:gd name="T0" fmla="*/ 0 w 21600"/>
                <a:gd name="T1" fmla="*/ 0 h 29812"/>
                <a:gd name="T2" fmla="*/ 0 w 21600"/>
                <a:gd name="T3" fmla="*/ 0 h 29812"/>
                <a:gd name="T4" fmla="*/ 0 w 21600"/>
                <a:gd name="T5" fmla="*/ 0 h 29812"/>
                <a:gd name="T6" fmla="*/ 0 60000 65536"/>
                <a:gd name="T7" fmla="*/ 0 60000 65536"/>
                <a:gd name="T8" fmla="*/ 0 60000 65536"/>
              </a:gdLst>
              <a:ahLst/>
              <a:cxnLst>
                <a:cxn ang="T6">
                  <a:pos x="T0" y="T1"/>
                </a:cxn>
                <a:cxn ang="T7">
                  <a:pos x="T2" y="T3"/>
                </a:cxn>
                <a:cxn ang="T8">
                  <a:pos x="T4" y="T5"/>
                </a:cxn>
              </a:cxnLst>
              <a:rect l="0" t="0" r="r" b="b"/>
              <a:pathLst>
                <a:path w="21600" h="29812" fill="none" extrusionOk="0">
                  <a:moveTo>
                    <a:pt x="3798" y="-1"/>
                  </a:moveTo>
                  <a:cubicBezTo>
                    <a:pt x="14099" y="1839"/>
                    <a:pt x="21600" y="10798"/>
                    <a:pt x="21600" y="21263"/>
                  </a:cubicBezTo>
                  <a:cubicBezTo>
                    <a:pt x="21600" y="24203"/>
                    <a:pt x="20999" y="27112"/>
                    <a:pt x="19836" y="29812"/>
                  </a:cubicBezTo>
                </a:path>
                <a:path w="21600" h="29812" stroke="0" extrusionOk="0">
                  <a:moveTo>
                    <a:pt x="3798" y="-1"/>
                  </a:moveTo>
                  <a:cubicBezTo>
                    <a:pt x="14099" y="1839"/>
                    <a:pt x="21600" y="10798"/>
                    <a:pt x="21600" y="21263"/>
                  </a:cubicBezTo>
                  <a:cubicBezTo>
                    <a:pt x="21600" y="24203"/>
                    <a:pt x="20999" y="27112"/>
                    <a:pt x="19836" y="29812"/>
                  </a:cubicBezTo>
                  <a:lnTo>
                    <a:pt x="0" y="21263"/>
                  </a:lnTo>
                  <a:lnTo>
                    <a:pt x="3798" y="-1"/>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078" name="Arc 21">
              <a:extLst>
                <a:ext uri="{FF2B5EF4-FFF2-40B4-BE49-F238E27FC236}">
                  <a16:creationId xmlns:a16="http://schemas.microsoft.com/office/drawing/2014/main" id="{8F9F0093-220F-8DA5-5DBC-70AE38CC4638}"/>
                </a:ext>
              </a:extLst>
            </p:cNvPr>
            <p:cNvSpPr>
              <a:spLocks/>
            </p:cNvSpPr>
            <p:nvPr/>
          </p:nvSpPr>
          <p:spPr bwMode="auto">
            <a:xfrm rot="-5934402" flipH="1" flipV="1">
              <a:off x="7947" y="11169"/>
              <a:ext cx="2099" cy="2534"/>
            </a:xfrm>
            <a:custGeom>
              <a:avLst/>
              <a:gdLst>
                <a:gd name="T0" fmla="*/ 0 w 21600"/>
                <a:gd name="T1" fmla="*/ 0 h 24356"/>
                <a:gd name="T2" fmla="*/ 0 w 21600"/>
                <a:gd name="T3" fmla="*/ 0 h 24356"/>
                <a:gd name="T4" fmla="*/ 0 w 21600"/>
                <a:gd name="T5" fmla="*/ 0 h 24356"/>
                <a:gd name="T6" fmla="*/ 0 60000 65536"/>
                <a:gd name="T7" fmla="*/ 0 60000 65536"/>
                <a:gd name="T8" fmla="*/ 0 60000 65536"/>
              </a:gdLst>
              <a:ahLst/>
              <a:cxnLst>
                <a:cxn ang="T6">
                  <a:pos x="T0" y="T1"/>
                </a:cxn>
                <a:cxn ang="T7">
                  <a:pos x="T2" y="T3"/>
                </a:cxn>
                <a:cxn ang="T8">
                  <a:pos x="T4" y="T5"/>
                </a:cxn>
              </a:cxnLst>
              <a:rect l="0" t="0" r="r" b="b"/>
              <a:pathLst>
                <a:path w="21600" h="24356" fill="none" extrusionOk="0">
                  <a:moveTo>
                    <a:pt x="3471" y="-1"/>
                  </a:moveTo>
                  <a:cubicBezTo>
                    <a:pt x="13923" y="1701"/>
                    <a:pt x="21600" y="10729"/>
                    <a:pt x="21600" y="21319"/>
                  </a:cubicBezTo>
                  <a:cubicBezTo>
                    <a:pt x="21600" y="22335"/>
                    <a:pt x="21528" y="23350"/>
                    <a:pt x="21385" y="24356"/>
                  </a:cubicBezTo>
                </a:path>
                <a:path w="21600" h="24356" stroke="0" extrusionOk="0">
                  <a:moveTo>
                    <a:pt x="3471" y="-1"/>
                  </a:moveTo>
                  <a:cubicBezTo>
                    <a:pt x="13923" y="1701"/>
                    <a:pt x="21600" y="10729"/>
                    <a:pt x="21600" y="21319"/>
                  </a:cubicBezTo>
                  <a:cubicBezTo>
                    <a:pt x="21600" y="22335"/>
                    <a:pt x="21528" y="23350"/>
                    <a:pt x="21385" y="24356"/>
                  </a:cubicBezTo>
                  <a:lnTo>
                    <a:pt x="0" y="21319"/>
                  </a:lnTo>
                  <a:lnTo>
                    <a:pt x="3471" y="-1"/>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079" name="Line 22">
              <a:extLst>
                <a:ext uri="{FF2B5EF4-FFF2-40B4-BE49-F238E27FC236}">
                  <a16:creationId xmlns:a16="http://schemas.microsoft.com/office/drawing/2014/main" id="{4741781A-D902-D408-0C09-B2EF34AAD179}"/>
                </a:ext>
              </a:extLst>
            </p:cNvPr>
            <p:cNvSpPr>
              <a:spLocks noChangeShapeType="1"/>
            </p:cNvSpPr>
            <p:nvPr/>
          </p:nvSpPr>
          <p:spPr bwMode="auto">
            <a:xfrm flipV="1">
              <a:off x="8415" y="10800"/>
              <a:ext cx="1550" cy="555"/>
            </a:xfrm>
            <a:prstGeom prst="line">
              <a:avLst/>
            </a:prstGeom>
            <a:noFill/>
            <a:ln w="38100">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080" name="Line 23">
              <a:extLst>
                <a:ext uri="{FF2B5EF4-FFF2-40B4-BE49-F238E27FC236}">
                  <a16:creationId xmlns:a16="http://schemas.microsoft.com/office/drawing/2014/main" id="{662D6299-931C-ACA8-2A79-743F94142E03}"/>
                </a:ext>
              </a:extLst>
            </p:cNvPr>
            <p:cNvSpPr>
              <a:spLocks noChangeShapeType="1"/>
            </p:cNvSpPr>
            <p:nvPr/>
          </p:nvSpPr>
          <p:spPr bwMode="auto">
            <a:xfrm>
              <a:off x="8490" y="11590"/>
              <a:ext cx="1615" cy="115"/>
            </a:xfrm>
            <a:prstGeom prst="line">
              <a:avLst/>
            </a:prstGeom>
            <a:noFill/>
            <a:ln w="38100">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081" name="Line 24">
              <a:extLst>
                <a:ext uri="{FF2B5EF4-FFF2-40B4-BE49-F238E27FC236}">
                  <a16:creationId xmlns:a16="http://schemas.microsoft.com/office/drawing/2014/main" id="{3A1B5EE3-80C8-6BD9-EB9B-4D42040E4F57}"/>
                </a:ext>
              </a:extLst>
            </p:cNvPr>
            <p:cNvSpPr>
              <a:spLocks noChangeShapeType="1"/>
            </p:cNvSpPr>
            <p:nvPr/>
          </p:nvSpPr>
          <p:spPr bwMode="auto">
            <a:xfrm rot="19748686" flipH="1">
              <a:off x="6550" y="12334"/>
              <a:ext cx="1314" cy="65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4473" name="Line 25">
            <a:extLst>
              <a:ext uri="{FF2B5EF4-FFF2-40B4-BE49-F238E27FC236}">
                <a16:creationId xmlns:a16="http://schemas.microsoft.com/office/drawing/2014/main" id="{A9B57E81-94C6-7C3E-8DA5-19532441CDDF}"/>
              </a:ext>
            </a:extLst>
          </p:cNvPr>
          <p:cNvSpPr>
            <a:spLocks noChangeShapeType="1"/>
          </p:cNvSpPr>
          <p:nvPr/>
        </p:nvSpPr>
        <p:spPr bwMode="auto">
          <a:xfrm rot="44984" flipH="1">
            <a:off x="1114425" y="4521200"/>
            <a:ext cx="2211388" cy="4413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4474" name="Group 26">
            <a:extLst>
              <a:ext uri="{FF2B5EF4-FFF2-40B4-BE49-F238E27FC236}">
                <a16:creationId xmlns:a16="http://schemas.microsoft.com/office/drawing/2014/main" id="{4C529AB4-D481-F9BD-3A4E-790175E077CF}"/>
              </a:ext>
            </a:extLst>
          </p:cNvPr>
          <p:cNvGrpSpPr>
            <a:grpSpLocks/>
          </p:cNvGrpSpPr>
          <p:nvPr/>
        </p:nvGrpSpPr>
        <p:grpSpPr bwMode="auto">
          <a:xfrm>
            <a:off x="2663825" y="2705100"/>
            <a:ext cx="5257800" cy="3690938"/>
            <a:chOff x="7045" y="10042"/>
            <a:chExt cx="3105" cy="3570"/>
          </a:xfrm>
        </p:grpSpPr>
        <p:grpSp>
          <p:nvGrpSpPr>
            <p:cNvPr id="38951" name="Group 27">
              <a:extLst>
                <a:ext uri="{FF2B5EF4-FFF2-40B4-BE49-F238E27FC236}">
                  <a16:creationId xmlns:a16="http://schemas.microsoft.com/office/drawing/2014/main" id="{F064C9A4-6541-9028-915D-47B742155D14}"/>
                </a:ext>
              </a:extLst>
            </p:cNvPr>
            <p:cNvGrpSpPr>
              <a:grpSpLocks/>
            </p:cNvGrpSpPr>
            <p:nvPr/>
          </p:nvGrpSpPr>
          <p:grpSpPr bwMode="auto">
            <a:xfrm>
              <a:off x="7920" y="11290"/>
              <a:ext cx="510" cy="225"/>
              <a:chOff x="8685" y="2745"/>
              <a:chExt cx="510" cy="225"/>
            </a:xfrm>
          </p:grpSpPr>
          <p:sp>
            <p:nvSpPr>
              <p:cNvPr id="39068" name="Rectangle 28">
                <a:extLst>
                  <a:ext uri="{FF2B5EF4-FFF2-40B4-BE49-F238E27FC236}">
                    <a16:creationId xmlns:a16="http://schemas.microsoft.com/office/drawing/2014/main" id="{81F16581-B1F5-284A-2669-FACE8EBAC8A0}"/>
                  </a:ext>
                </a:extLst>
              </p:cNvPr>
              <p:cNvSpPr>
                <a:spLocks noChangeArrowheads="1"/>
              </p:cNvSpPr>
              <p:nvPr/>
            </p:nvSpPr>
            <p:spPr bwMode="auto">
              <a:xfrm>
                <a:off x="8685" y="2745"/>
                <a:ext cx="5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69" name="Text Box 29">
                <a:extLst>
                  <a:ext uri="{FF2B5EF4-FFF2-40B4-BE49-F238E27FC236}">
                    <a16:creationId xmlns:a16="http://schemas.microsoft.com/office/drawing/2014/main" id="{58063920-661A-7E21-AE21-835DB181E8A5}"/>
                  </a:ext>
                </a:extLst>
              </p:cNvPr>
              <p:cNvSpPr txBox="1">
                <a:spLocks noChangeArrowheads="1"/>
              </p:cNvSpPr>
              <p:nvPr/>
            </p:nvSpPr>
            <p:spPr bwMode="auto">
              <a:xfrm>
                <a:off x="8738" y="2772"/>
                <a:ext cx="40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kumimoji="0" lang="zh-CN" altLang="en-US" sz="1400">
                    <a:solidFill>
                      <a:schemeClr val="folHlink"/>
                    </a:solidFill>
                    <a:latin typeface="Times New Roman" panose="02020603050405020304" pitchFamily="18" charset="0"/>
                  </a:rPr>
                  <a:t>原型</a:t>
                </a:r>
                <a:r>
                  <a:rPr kumimoji="0" lang="en-US" altLang="zh-CN" sz="1400">
                    <a:solidFill>
                      <a:schemeClr val="folHlink"/>
                    </a:solidFill>
                    <a:latin typeface="Times New Roman" panose="02020603050405020304" pitchFamily="18" charset="0"/>
                  </a:rPr>
                  <a:t>1</a:t>
                </a:r>
              </a:p>
            </p:txBody>
          </p:sp>
        </p:grpSp>
        <p:grpSp>
          <p:nvGrpSpPr>
            <p:cNvPr id="38952" name="Group 30">
              <a:extLst>
                <a:ext uri="{FF2B5EF4-FFF2-40B4-BE49-F238E27FC236}">
                  <a16:creationId xmlns:a16="http://schemas.microsoft.com/office/drawing/2014/main" id="{FD0D270A-0584-3AA9-26EF-187A9B1CCDB1}"/>
                </a:ext>
              </a:extLst>
            </p:cNvPr>
            <p:cNvGrpSpPr>
              <a:grpSpLocks/>
            </p:cNvGrpSpPr>
            <p:nvPr/>
          </p:nvGrpSpPr>
          <p:grpSpPr bwMode="auto">
            <a:xfrm>
              <a:off x="8440" y="11320"/>
              <a:ext cx="510" cy="225"/>
              <a:chOff x="8685" y="2745"/>
              <a:chExt cx="510" cy="225"/>
            </a:xfrm>
          </p:grpSpPr>
          <p:sp>
            <p:nvSpPr>
              <p:cNvPr id="39066" name="Rectangle 31">
                <a:extLst>
                  <a:ext uri="{FF2B5EF4-FFF2-40B4-BE49-F238E27FC236}">
                    <a16:creationId xmlns:a16="http://schemas.microsoft.com/office/drawing/2014/main" id="{46DB529A-CA99-C364-ECD3-0056BED49CBD}"/>
                  </a:ext>
                </a:extLst>
              </p:cNvPr>
              <p:cNvSpPr>
                <a:spLocks noChangeArrowheads="1"/>
              </p:cNvSpPr>
              <p:nvPr/>
            </p:nvSpPr>
            <p:spPr bwMode="auto">
              <a:xfrm>
                <a:off x="8685" y="2745"/>
                <a:ext cx="5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67" name="Text Box 32">
                <a:extLst>
                  <a:ext uri="{FF2B5EF4-FFF2-40B4-BE49-F238E27FC236}">
                    <a16:creationId xmlns:a16="http://schemas.microsoft.com/office/drawing/2014/main" id="{72FB5595-D320-DA21-56AB-57F16A2C740E}"/>
                  </a:ext>
                </a:extLst>
              </p:cNvPr>
              <p:cNvSpPr txBox="1">
                <a:spLocks noChangeArrowheads="1"/>
              </p:cNvSpPr>
              <p:nvPr/>
            </p:nvSpPr>
            <p:spPr bwMode="auto">
              <a:xfrm>
                <a:off x="8738" y="2772"/>
                <a:ext cx="40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kumimoji="0" lang="zh-CN" altLang="en-US" sz="1400">
                    <a:solidFill>
                      <a:schemeClr val="folHlink"/>
                    </a:solidFill>
                    <a:latin typeface="Times New Roman" panose="02020603050405020304" pitchFamily="18" charset="0"/>
                  </a:rPr>
                  <a:t>原型</a:t>
                </a:r>
                <a:r>
                  <a:rPr kumimoji="0" lang="en-US" altLang="zh-CN" sz="1400">
                    <a:solidFill>
                      <a:schemeClr val="folHlink"/>
                    </a:solidFill>
                    <a:latin typeface="Times New Roman" panose="02020603050405020304" pitchFamily="18" charset="0"/>
                  </a:rPr>
                  <a:t>2</a:t>
                </a:r>
              </a:p>
            </p:txBody>
          </p:sp>
        </p:grpSp>
        <p:grpSp>
          <p:nvGrpSpPr>
            <p:cNvPr id="38953" name="Group 33">
              <a:extLst>
                <a:ext uri="{FF2B5EF4-FFF2-40B4-BE49-F238E27FC236}">
                  <a16:creationId xmlns:a16="http://schemas.microsoft.com/office/drawing/2014/main" id="{6DF0DE2E-D464-E703-AA60-4B446B25263B}"/>
                </a:ext>
              </a:extLst>
            </p:cNvPr>
            <p:cNvGrpSpPr>
              <a:grpSpLocks/>
            </p:cNvGrpSpPr>
            <p:nvPr/>
          </p:nvGrpSpPr>
          <p:grpSpPr bwMode="auto">
            <a:xfrm>
              <a:off x="8925" y="11245"/>
              <a:ext cx="510" cy="225"/>
              <a:chOff x="8685" y="2745"/>
              <a:chExt cx="510" cy="225"/>
            </a:xfrm>
          </p:grpSpPr>
          <p:sp>
            <p:nvSpPr>
              <p:cNvPr id="39064" name="Rectangle 34">
                <a:extLst>
                  <a:ext uri="{FF2B5EF4-FFF2-40B4-BE49-F238E27FC236}">
                    <a16:creationId xmlns:a16="http://schemas.microsoft.com/office/drawing/2014/main" id="{B05D4504-3690-BFA4-BF59-058700B1939E}"/>
                  </a:ext>
                </a:extLst>
              </p:cNvPr>
              <p:cNvSpPr>
                <a:spLocks noChangeArrowheads="1"/>
              </p:cNvSpPr>
              <p:nvPr/>
            </p:nvSpPr>
            <p:spPr bwMode="auto">
              <a:xfrm>
                <a:off x="8685" y="2745"/>
                <a:ext cx="5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65" name="Text Box 35">
                <a:extLst>
                  <a:ext uri="{FF2B5EF4-FFF2-40B4-BE49-F238E27FC236}">
                    <a16:creationId xmlns:a16="http://schemas.microsoft.com/office/drawing/2014/main" id="{ED19FB9B-B2BD-1765-5019-C02DB04A607F}"/>
                  </a:ext>
                </a:extLst>
              </p:cNvPr>
              <p:cNvSpPr txBox="1">
                <a:spLocks noChangeArrowheads="1"/>
              </p:cNvSpPr>
              <p:nvPr/>
            </p:nvSpPr>
            <p:spPr bwMode="auto">
              <a:xfrm>
                <a:off x="8738" y="2772"/>
                <a:ext cx="40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kumimoji="0" lang="zh-CN" altLang="en-US" sz="1400">
                    <a:solidFill>
                      <a:schemeClr val="folHlink"/>
                    </a:solidFill>
                    <a:latin typeface="Times New Roman" panose="02020603050405020304" pitchFamily="18" charset="0"/>
                  </a:rPr>
                  <a:t>原型</a:t>
                </a:r>
                <a:r>
                  <a:rPr kumimoji="0" lang="en-US" altLang="zh-CN" sz="1400">
                    <a:solidFill>
                      <a:schemeClr val="folHlink"/>
                    </a:solidFill>
                    <a:latin typeface="Times New Roman" panose="02020603050405020304" pitchFamily="18" charset="0"/>
                  </a:rPr>
                  <a:t>3</a:t>
                </a:r>
              </a:p>
            </p:txBody>
          </p:sp>
        </p:grpSp>
        <p:grpSp>
          <p:nvGrpSpPr>
            <p:cNvPr id="38954" name="Group 36">
              <a:extLst>
                <a:ext uri="{FF2B5EF4-FFF2-40B4-BE49-F238E27FC236}">
                  <a16:creationId xmlns:a16="http://schemas.microsoft.com/office/drawing/2014/main" id="{6723A516-CCD5-5993-DA4B-6E8BDD32052E}"/>
                </a:ext>
              </a:extLst>
            </p:cNvPr>
            <p:cNvGrpSpPr>
              <a:grpSpLocks/>
            </p:cNvGrpSpPr>
            <p:nvPr/>
          </p:nvGrpSpPr>
          <p:grpSpPr bwMode="auto">
            <a:xfrm>
              <a:off x="9465" y="11056"/>
              <a:ext cx="555" cy="364"/>
              <a:chOff x="7260" y="2696"/>
              <a:chExt cx="555" cy="364"/>
            </a:xfrm>
          </p:grpSpPr>
          <p:sp>
            <p:nvSpPr>
              <p:cNvPr id="39062" name="Rectangle 37">
                <a:extLst>
                  <a:ext uri="{FF2B5EF4-FFF2-40B4-BE49-F238E27FC236}">
                    <a16:creationId xmlns:a16="http://schemas.microsoft.com/office/drawing/2014/main" id="{FA8CBF6C-CBD9-047B-7D56-533DC25A30F1}"/>
                  </a:ext>
                </a:extLst>
              </p:cNvPr>
              <p:cNvSpPr>
                <a:spLocks noChangeArrowheads="1"/>
              </p:cNvSpPr>
              <p:nvPr/>
            </p:nvSpPr>
            <p:spPr bwMode="auto">
              <a:xfrm>
                <a:off x="7260" y="2715"/>
                <a:ext cx="555"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63" name="Text Box 38">
                <a:extLst>
                  <a:ext uri="{FF2B5EF4-FFF2-40B4-BE49-F238E27FC236}">
                    <a16:creationId xmlns:a16="http://schemas.microsoft.com/office/drawing/2014/main" id="{D7754B40-87FE-5771-5E0E-FA3D3895A200}"/>
                  </a:ext>
                </a:extLst>
              </p:cNvPr>
              <p:cNvSpPr txBox="1">
                <a:spLocks noChangeArrowheads="1"/>
              </p:cNvSpPr>
              <p:nvPr/>
            </p:nvSpPr>
            <p:spPr bwMode="auto">
              <a:xfrm>
                <a:off x="7288" y="2696"/>
                <a:ext cx="485"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可运行</a:t>
                </a:r>
              </a:p>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原型</a:t>
                </a:r>
              </a:p>
            </p:txBody>
          </p:sp>
        </p:grpSp>
        <p:sp>
          <p:nvSpPr>
            <p:cNvPr id="38955" name="Text Box 39">
              <a:extLst>
                <a:ext uri="{FF2B5EF4-FFF2-40B4-BE49-F238E27FC236}">
                  <a16:creationId xmlns:a16="http://schemas.microsoft.com/office/drawing/2014/main" id="{CB23315B-8687-4BA6-FB75-24FBA55E9333}"/>
                </a:ext>
              </a:extLst>
            </p:cNvPr>
            <p:cNvSpPr txBox="1">
              <a:spLocks noChangeArrowheads="1"/>
            </p:cNvSpPr>
            <p:nvPr/>
          </p:nvSpPr>
          <p:spPr bwMode="auto">
            <a:xfrm>
              <a:off x="7305" y="11560"/>
              <a:ext cx="645" cy="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64000"/>
                </a:lnSpc>
                <a:spcBef>
                  <a:spcPct val="0"/>
                </a:spcBef>
                <a:buClrTx/>
                <a:buFontTx/>
                <a:buNone/>
              </a:pPr>
              <a:r>
                <a:rPr kumimoji="0" lang="zh-CN" altLang="en-US" sz="1400">
                  <a:solidFill>
                    <a:schemeClr val="folHlink"/>
                  </a:solidFill>
                  <a:latin typeface="Times New Roman" panose="02020603050405020304" pitchFamily="18" charset="0"/>
                </a:rPr>
                <a:t>需求计划</a:t>
              </a:r>
            </a:p>
            <a:p>
              <a:pPr algn="just">
                <a:lnSpc>
                  <a:spcPct val="64000"/>
                </a:lnSpc>
                <a:spcBef>
                  <a:spcPct val="0"/>
                </a:spcBef>
                <a:buClrTx/>
                <a:buFontTx/>
                <a:buNone/>
              </a:pPr>
              <a:r>
                <a:rPr kumimoji="0" lang="zh-CN" altLang="en-US" sz="1400">
                  <a:solidFill>
                    <a:schemeClr val="folHlink"/>
                  </a:solidFill>
                  <a:latin typeface="Times New Roman" panose="02020603050405020304" pitchFamily="18" charset="0"/>
                </a:rPr>
                <a:t>  生存期</a:t>
              </a:r>
            </a:p>
            <a:p>
              <a:pPr algn="just">
                <a:lnSpc>
                  <a:spcPct val="64000"/>
                </a:lnSpc>
                <a:spcBef>
                  <a:spcPct val="0"/>
                </a:spcBef>
                <a:buClrTx/>
                <a:buFontTx/>
                <a:buNone/>
              </a:pPr>
              <a:r>
                <a:rPr kumimoji="0" lang="zh-CN" altLang="en-US" sz="1400">
                  <a:solidFill>
                    <a:schemeClr val="folHlink"/>
                  </a:solidFill>
                  <a:latin typeface="Times New Roman" panose="02020603050405020304" pitchFamily="18" charset="0"/>
                </a:rPr>
                <a:t>    计划</a:t>
              </a:r>
            </a:p>
          </p:txBody>
        </p:sp>
        <p:grpSp>
          <p:nvGrpSpPr>
            <p:cNvPr id="38956" name="Group 40">
              <a:extLst>
                <a:ext uri="{FF2B5EF4-FFF2-40B4-BE49-F238E27FC236}">
                  <a16:creationId xmlns:a16="http://schemas.microsoft.com/office/drawing/2014/main" id="{4202598D-7615-9C2A-3A0D-C1504C29A7EC}"/>
                </a:ext>
              </a:extLst>
            </p:cNvPr>
            <p:cNvGrpSpPr>
              <a:grpSpLocks/>
            </p:cNvGrpSpPr>
            <p:nvPr/>
          </p:nvGrpSpPr>
          <p:grpSpPr bwMode="auto">
            <a:xfrm>
              <a:off x="7245" y="11917"/>
              <a:ext cx="660" cy="438"/>
              <a:chOff x="4830" y="3462"/>
              <a:chExt cx="660" cy="438"/>
            </a:xfrm>
          </p:grpSpPr>
          <p:grpSp>
            <p:nvGrpSpPr>
              <p:cNvPr id="39049" name="Group 41">
                <a:extLst>
                  <a:ext uri="{FF2B5EF4-FFF2-40B4-BE49-F238E27FC236}">
                    <a16:creationId xmlns:a16="http://schemas.microsoft.com/office/drawing/2014/main" id="{3B00CDF3-4C70-F502-8EF2-377291AAC561}"/>
                  </a:ext>
                </a:extLst>
              </p:cNvPr>
              <p:cNvGrpSpPr>
                <a:grpSpLocks/>
              </p:cNvGrpSpPr>
              <p:nvPr/>
            </p:nvGrpSpPr>
            <p:grpSpPr bwMode="auto">
              <a:xfrm>
                <a:off x="4830" y="3462"/>
                <a:ext cx="300" cy="303"/>
                <a:chOff x="4830" y="3462"/>
                <a:chExt cx="300" cy="303"/>
              </a:xfrm>
            </p:grpSpPr>
            <p:grpSp>
              <p:nvGrpSpPr>
                <p:cNvPr id="39056" name="Group 42">
                  <a:extLst>
                    <a:ext uri="{FF2B5EF4-FFF2-40B4-BE49-F238E27FC236}">
                      <a16:creationId xmlns:a16="http://schemas.microsoft.com/office/drawing/2014/main" id="{2A505C0E-3BF7-45E8-8A12-113798995BFB}"/>
                    </a:ext>
                  </a:extLst>
                </p:cNvPr>
                <p:cNvGrpSpPr>
                  <a:grpSpLocks/>
                </p:cNvGrpSpPr>
                <p:nvPr/>
              </p:nvGrpSpPr>
              <p:grpSpPr bwMode="auto">
                <a:xfrm>
                  <a:off x="4830" y="3462"/>
                  <a:ext cx="165" cy="198"/>
                  <a:chOff x="8970" y="3927"/>
                  <a:chExt cx="210" cy="228"/>
                </a:xfrm>
              </p:grpSpPr>
              <p:sp>
                <p:nvSpPr>
                  <p:cNvPr id="39060" name="Rectangle 43">
                    <a:extLst>
                      <a:ext uri="{FF2B5EF4-FFF2-40B4-BE49-F238E27FC236}">
                        <a16:creationId xmlns:a16="http://schemas.microsoft.com/office/drawing/2014/main" id="{AC6E07C2-29DE-26CC-18D5-1F3773D007B2}"/>
                      </a:ext>
                    </a:extLst>
                  </p:cNvPr>
                  <p:cNvSpPr>
                    <a:spLocks noChangeArrowheads="1"/>
                  </p:cNvSpPr>
                  <p:nvPr/>
                </p:nvSpPr>
                <p:spPr bwMode="auto">
                  <a:xfrm>
                    <a:off x="8970" y="3930"/>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61" name="Text Box 44">
                    <a:extLst>
                      <a:ext uri="{FF2B5EF4-FFF2-40B4-BE49-F238E27FC236}">
                        <a16:creationId xmlns:a16="http://schemas.microsoft.com/office/drawing/2014/main" id="{BDEEEDBF-927A-1B84-3161-0DB66B8C2B2C}"/>
                      </a:ext>
                    </a:extLst>
                  </p:cNvPr>
                  <p:cNvSpPr txBox="1">
                    <a:spLocks noChangeArrowheads="1"/>
                  </p:cNvSpPr>
                  <p:nvPr/>
                </p:nvSpPr>
                <p:spPr bwMode="auto">
                  <a:xfrm>
                    <a:off x="8977" y="3927"/>
                    <a:ext cx="19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开</a:t>
                    </a:r>
                  </a:p>
                </p:txBody>
              </p:sp>
            </p:grpSp>
            <p:grpSp>
              <p:nvGrpSpPr>
                <p:cNvPr id="39057" name="Group 45">
                  <a:extLst>
                    <a:ext uri="{FF2B5EF4-FFF2-40B4-BE49-F238E27FC236}">
                      <a16:creationId xmlns:a16="http://schemas.microsoft.com/office/drawing/2014/main" id="{58E4D354-45D4-4321-15AB-3C9405B6D3F5}"/>
                    </a:ext>
                  </a:extLst>
                </p:cNvPr>
                <p:cNvGrpSpPr>
                  <a:grpSpLocks/>
                </p:cNvGrpSpPr>
                <p:nvPr/>
              </p:nvGrpSpPr>
              <p:grpSpPr bwMode="auto">
                <a:xfrm>
                  <a:off x="4965" y="3567"/>
                  <a:ext cx="165" cy="198"/>
                  <a:chOff x="8970" y="3927"/>
                  <a:chExt cx="210" cy="228"/>
                </a:xfrm>
              </p:grpSpPr>
              <p:sp>
                <p:nvSpPr>
                  <p:cNvPr id="39058" name="Rectangle 46">
                    <a:extLst>
                      <a:ext uri="{FF2B5EF4-FFF2-40B4-BE49-F238E27FC236}">
                        <a16:creationId xmlns:a16="http://schemas.microsoft.com/office/drawing/2014/main" id="{27449EBC-E35F-CD3B-4D5B-27304580B5D0}"/>
                      </a:ext>
                    </a:extLst>
                  </p:cNvPr>
                  <p:cNvSpPr>
                    <a:spLocks noChangeArrowheads="1"/>
                  </p:cNvSpPr>
                  <p:nvPr/>
                </p:nvSpPr>
                <p:spPr bwMode="auto">
                  <a:xfrm>
                    <a:off x="8970" y="3930"/>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59" name="Text Box 47">
                    <a:extLst>
                      <a:ext uri="{FF2B5EF4-FFF2-40B4-BE49-F238E27FC236}">
                        <a16:creationId xmlns:a16="http://schemas.microsoft.com/office/drawing/2014/main" id="{AE50E175-3577-68C7-DC61-8998C582265B}"/>
                      </a:ext>
                    </a:extLst>
                  </p:cNvPr>
                  <p:cNvSpPr txBox="1">
                    <a:spLocks noChangeArrowheads="1"/>
                  </p:cNvSpPr>
                  <p:nvPr/>
                </p:nvSpPr>
                <p:spPr bwMode="auto">
                  <a:xfrm>
                    <a:off x="8977" y="3927"/>
                    <a:ext cx="19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发</a:t>
                    </a:r>
                  </a:p>
                </p:txBody>
              </p:sp>
            </p:grpSp>
          </p:grpSp>
          <p:grpSp>
            <p:nvGrpSpPr>
              <p:cNvPr id="39050" name="Group 48">
                <a:extLst>
                  <a:ext uri="{FF2B5EF4-FFF2-40B4-BE49-F238E27FC236}">
                    <a16:creationId xmlns:a16="http://schemas.microsoft.com/office/drawing/2014/main" id="{D4A77FC7-6D62-48F5-E2F1-D504BC4C4427}"/>
                  </a:ext>
                </a:extLst>
              </p:cNvPr>
              <p:cNvGrpSpPr>
                <a:grpSpLocks/>
              </p:cNvGrpSpPr>
              <p:nvPr/>
            </p:nvGrpSpPr>
            <p:grpSpPr bwMode="auto">
              <a:xfrm>
                <a:off x="5160" y="3672"/>
                <a:ext cx="165" cy="198"/>
                <a:chOff x="8970" y="3927"/>
                <a:chExt cx="210" cy="228"/>
              </a:xfrm>
            </p:grpSpPr>
            <p:sp>
              <p:nvSpPr>
                <p:cNvPr id="39054" name="Rectangle 49">
                  <a:extLst>
                    <a:ext uri="{FF2B5EF4-FFF2-40B4-BE49-F238E27FC236}">
                      <a16:creationId xmlns:a16="http://schemas.microsoft.com/office/drawing/2014/main" id="{0F0CB390-7799-D6D7-BDFC-2D49115F9F6A}"/>
                    </a:ext>
                  </a:extLst>
                </p:cNvPr>
                <p:cNvSpPr>
                  <a:spLocks noChangeArrowheads="1"/>
                </p:cNvSpPr>
                <p:nvPr/>
              </p:nvSpPr>
              <p:spPr bwMode="auto">
                <a:xfrm>
                  <a:off x="8970" y="3930"/>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55" name="Text Box 50">
                  <a:extLst>
                    <a:ext uri="{FF2B5EF4-FFF2-40B4-BE49-F238E27FC236}">
                      <a16:creationId xmlns:a16="http://schemas.microsoft.com/office/drawing/2014/main" id="{3BF4CAF3-ED16-B551-5091-1CA82B481957}"/>
                    </a:ext>
                  </a:extLst>
                </p:cNvPr>
                <p:cNvSpPr txBox="1">
                  <a:spLocks noChangeArrowheads="1"/>
                </p:cNvSpPr>
                <p:nvPr/>
              </p:nvSpPr>
              <p:spPr bwMode="auto">
                <a:xfrm>
                  <a:off x="8977" y="3927"/>
                  <a:ext cx="19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计</a:t>
                  </a:r>
                </a:p>
              </p:txBody>
            </p:sp>
          </p:grpSp>
          <p:grpSp>
            <p:nvGrpSpPr>
              <p:cNvPr id="39051" name="Group 51">
                <a:extLst>
                  <a:ext uri="{FF2B5EF4-FFF2-40B4-BE49-F238E27FC236}">
                    <a16:creationId xmlns:a16="http://schemas.microsoft.com/office/drawing/2014/main" id="{94CD3A61-F26E-D454-08D5-B56376F4D6EC}"/>
                  </a:ext>
                </a:extLst>
              </p:cNvPr>
              <p:cNvGrpSpPr>
                <a:grpSpLocks/>
              </p:cNvGrpSpPr>
              <p:nvPr/>
            </p:nvGrpSpPr>
            <p:grpSpPr bwMode="auto">
              <a:xfrm>
                <a:off x="5325" y="3702"/>
                <a:ext cx="165" cy="198"/>
                <a:chOff x="8970" y="3927"/>
                <a:chExt cx="210" cy="228"/>
              </a:xfrm>
            </p:grpSpPr>
            <p:sp>
              <p:nvSpPr>
                <p:cNvPr id="39052" name="Rectangle 52">
                  <a:extLst>
                    <a:ext uri="{FF2B5EF4-FFF2-40B4-BE49-F238E27FC236}">
                      <a16:creationId xmlns:a16="http://schemas.microsoft.com/office/drawing/2014/main" id="{65EA224B-DEED-2EFE-12DC-7E87C0A3A2FF}"/>
                    </a:ext>
                  </a:extLst>
                </p:cNvPr>
                <p:cNvSpPr>
                  <a:spLocks noChangeArrowheads="1"/>
                </p:cNvSpPr>
                <p:nvPr/>
              </p:nvSpPr>
              <p:spPr bwMode="auto">
                <a:xfrm>
                  <a:off x="8970" y="3930"/>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53" name="Text Box 53">
                  <a:extLst>
                    <a:ext uri="{FF2B5EF4-FFF2-40B4-BE49-F238E27FC236}">
                      <a16:creationId xmlns:a16="http://schemas.microsoft.com/office/drawing/2014/main" id="{1A8C304E-2803-E485-CB0F-A9D63118A727}"/>
                    </a:ext>
                  </a:extLst>
                </p:cNvPr>
                <p:cNvSpPr txBox="1">
                  <a:spLocks noChangeArrowheads="1"/>
                </p:cNvSpPr>
                <p:nvPr/>
              </p:nvSpPr>
              <p:spPr bwMode="auto">
                <a:xfrm>
                  <a:off x="8977" y="3927"/>
                  <a:ext cx="19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划</a:t>
                  </a:r>
                </a:p>
              </p:txBody>
            </p:sp>
          </p:grpSp>
        </p:grpSp>
        <p:grpSp>
          <p:nvGrpSpPr>
            <p:cNvPr id="38957" name="Group 54">
              <a:extLst>
                <a:ext uri="{FF2B5EF4-FFF2-40B4-BE49-F238E27FC236}">
                  <a16:creationId xmlns:a16="http://schemas.microsoft.com/office/drawing/2014/main" id="{FC13D5E6-2FC5-F8E6-D3FA-B6FA4288E9CA}"/>
                </a:ext>
              </a:extLst>
            </p:cNvPr>
            <p:cNvGrpSpPr>
              <a:grpSpLocks/>
            </p:cNvGrpSpPr>
            <p:nvPr/>
          </p:nvGrpSpPr>
          <p:grpSpPr bwMode="auto">
            <a:xfrm>
              <a:off x="7045" y="12057"/>
              <a:ext cx="885" cy="678"/>
              <a:chOff x="4630" y="3617"/>
              <a:chExt cx="885" cy="678"/>
            </a:xfrm>
          </p:grpSpPr>
          <p:grpSp>
            <p:nvGrpSpPr>
              <p:cNvPr id="39032" name="Group 55">
                <a:extLst>
                  <a:ext uri="{FF2B5EF4-FFF2-40B4-BE49-F238E27FC236}">
                    <a16:creationId xmlns:a16="http://schemas.microsoft.com/office/drawing/2014/main" id="{C9A64CA1-497B-DEC1-18FC-9DE63FC53DCE}"/>
                  </a:ext>
                </a:extLst>
              </p:cNvPr>
              <p:cNvGrpSpPr>
                <a:grpSpLocks/>
              </p:cNvGrpSpPr>
              <p:nvPr/>
            </p:nvGrpSpPr>
            <p:grpSpPr bwMode="auto">
              <a:xfrm>
                <a:off x="4630" y="3617"/>
                <a:ext cx="315" cy="333"/>
                <a:chOff x="4630" y="3617"/>
                <a:chExt cx="315" cy="333"/>
              </a:xfrm>
            </p:grpSpPr>
            <p:grpSp>
              <p:nvGrpSpPr>
                <p:cNvPr id="39043" name="Group 56">
                  <a:extLst>
                    <a:ext uri="{FF2B5EF4-FFF2-40B4-BE49-F238E27FC236}">
                      <a16:creationId xmlns:a16="http://schemas.microsoft.com/office/drawing/2014/main" id="{292B836B-7A93-6A2E-097C-806A00AC77BA}"/>
                    </a:ext>
                  </a:extLst>
                </p:cNvPr>
                <p:cNvGrpSpPr>
                  <a:grpSpLocks/>
                </p:cNvGrpSpPr>
                <p:nvPr/>
              </p:nvGrpSpPr>
              <p:grpSpPr bwMode="auto">
                <a:xfrm>
                  <a:off x="4630" y="3617"/>
                  <a:ext cx="165" cy="198"/>
                  <a:chOff x="8970" y="3927"/>
                  <a:chExt cx="210" cy="228"/>
                </a:xfrm>
              </p:grpSpPr>
              <p:sp>
                <p:nvSpPr>
                  <p:cNvPr id="39047" name="Rectangle 57">
                    <a:extLst>
                      <a:ext uri="{FF2B5EF4-FFF2-40B4-BE49-F238E27FC236}">
                        <a16:creationId xmlns:a16="http://schemas.microsoft.com/office/drawing/2014/main" id="{619CF1C5-1AC2-54F2-709D-331ACAD8D95B}"/>
                      </a:ext>
                    </a:extLst>
                  </p:cNvPr>
                  <p:cNvSpPr>
                    <a:spLocks noChangeArrowheads="1"/>
                  </p:cNvSpPr>
                  <p:nvPr/>
                </p:nvSpPr>
                <p:spPr bwMode="auto">
                  <a:xfrm>
                    <a:off x="8970" y="3930"/>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48" name="Text Box 58">
                    <a:extLst>
                      <a:ext uri="{FF2B5EF4-FFF2-40B4-BE49-F238E27FC236}">
                        <a16:creationId xmlns:a16="http://schemas.microsoft.com/office/drawing/2014/main" id="{D61A7218-F7A0-384B-45CD-0D8E5124B82A}"/>
                      </a:ext>
                    </a:extLst>
                  </p:cNvPr>
                  <p:cNvSpPr txBox="1">
                    <a:spLocks noChangeArrowheads="1"/>
                  </p:cNvSpPr>
                  <p:nvPr/>
                </p:nvSpPr>
                <p:spPr bwMode="auto">
                  <a:xfrm>
                    <a:off x="8977" y="3927"/>
                    <a:ext cx="19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集</a:t>
                    </a:r>
                  </a:p>
                </p:txBody>
              </p:sp>
            </p:grpSp>
            <p:grpSp>
              <p:nvGrpSpPr>
                <p:cNvPr id="39044" name="Group 59">
                  <a:extLst>
                    <a:ext uri="{FF2B5EF4-FFF2-40B4-BE49-F238E27FC236}">
                      <a16:creationId xmlns:a16="http://schemas.microsoft.com/office/drawing/2014/main" id="{83999D46-92E5-FFCC-BE3D-2602BE0789DF}"/>
                    </a:ext>
                  </a:extLst>
                </p:cNvPr>
                <p:cNvGrpSpPr>
                  <a:grpSpLocks/>
                </p:cNvGrpSpPr>
                <p:nvPr/>
              </p:nvGrpSpPr>
              <p:grpSpPr bwMode="auto">
                <a:xfrm>
                  <a:off x="4780" y="3752"/>
                  <a:ext cx="165" cy="198"/>
                  <a:chOff x="8970" y="3927"/>
                  <a:chExt cx="210" cy="228"/>
                </a:xfrm>
              </p:grpSpPr>
              <p:sp>
                <p:nvSpPr>
                  <p:cNvPr id="39045" name="Rectangle 60">
                    <a:extLst>
                      <a:ext uri="{FF2B5EF4-FFF2-40B4-BE49-F238E27FC236}">
                        <a16:creationId xmlns:a16="http://schemas.microsoft.com/office/drawing/2014/main" id="{9A1A3BCF-FF64-ADC6-9FF5-5B87BFAE8D95}"/>
                      </a:ext>
                    </a:extLst>
                  </p:cNvPr>
                  <p:cNvSpPr>
                    <a:spLocks noChangeArrowheads="1"/>
                  </p:cNvSpPr>
                  <p:nvPr/>
                </p:nvSpPr>
                <p:spPr bwMode="auto">
                  <a:xfrm>
                    <a:off x="8970" y="3930"/>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46" name="Text Box 61">
                    <a:extLst>
                      <a:ext uri="{FF2B5EF4-FFF2-40B4-BE49-F238E27FC236}">
                        <a16:creationId xmlns:a16="http://schemas.microsoft.com/office/drawing/2014/main" id="{457CFEAA-9F23-9B3D-3CE7-6EB5A83EA9DC}"/>
                      </a:ext>
                    </a:extLst>
                  </p:cNvPr>
                  <p:cNvSpPr txBox="1">
                    <a:spLocks noChangeArrowheads="1"/>
                  </p:cNvSpPr>
                  <p:nvPr/>
                </p:nvSpPr>
                <p:spPr bwMode="auto">
                  <a:xfrm>
                    <a:off x="8977" y="3927"/>
                    <a:ext cx="19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成</a:t>
                    </a:r>
                  </a:p>
                </p:txBody>
              </p:sp>
            </p:grpSp>
          </p:grpSp>
          <p:grpSp>
            <p:nvGrpSpPr>
              <p:cNvPr id="39033" name="Group 62">
                <a:extLst>
                  <a:ext uri="{FF2B5EF4-FFF2-40B4-BE49-F238E27FC236}">
                    <a16:creationId xmlns:a16="http://schemas.microsoft.com/office/drawing/2014/main" id="{73169ACA-35FB-D5C6-CEDE-883ACC46F906}"/>
                  </a:ext>
                </a:extLst>
              </p:cNvPr>
              <p:cNvGrpSpPr>
                <a:grpSpLocks/>
              </p:cNvGrpSpPr>
              <p:nvPr/>
            </p:nvGrpSpPr>
            <p:grpSpPr bwMode="auto">
              <a:xfrm>
                <a:off x="4975" y="3927"/>
                <a:ext cx="540" cy="368"/>
                <a:chOff x="4975" y="3927"/>
                <a:chExt cx="540" cy="368"/>
              </a:xfrm>
            </p:grpSpPr>
            <p:grpSp>
              <p:nvGrpSpPr>
                <p:cNvPr id="39034" name="Group 63">
                  <a:extLst>
                    <a:ext uri="{FF2B5EF4-FFF2-40B4-BE49-F238E27FC236}">
                      <a16:creationId xmlns:a16="http://schemas.microsoft.com/office/drawing/2014/main" id="{E613AB29-9B5B-99BF-772D-8F7807B8DE6B}"/>
                    </a:ext>
                  </a:extLst>
                </p:cNvPr>
                <p:cNvGrpSpPr>
                  <a:grpSpLocks/>
                </p:cNvGrpSpPr>
                <p:nvPr/>
              </p:nvGrpSpPr>
              <p:grpSpPr bwMode="auto">
                <a:xfrm>
                  <a:off x="4975" y="3927"/>
                  <a:ext cx="165" cy="198"/>
                  <a:chOff x="8970" y="3927"/>
                  <a:chExt cx="210" cy="228"/>
                </a:xfrm>
              </p:grpSpPr>
              <p:sp>
                <p:nvSpPr>
                  <p:cNvPr id="39041" name="Rectangle 64">
                    <a:extLst>
                      <a:ext uri="{FF2B5EF4-FFF2-40B4-BE49-F238E27FC236}">
                        <a16:creationId xmlns:a16="http://schemas.microsoft.com/office/drawing/2014/main" id="{FDB6B90D-C8C6-EB0E-A9A2-2F44FF657C34}"/>
                      </a:ext>
                    </a:extLst>
                  </p:cNvPr>
                  <p:cNvSpPr>
                    <a:spLocks noChangeArrowheads="1"/>
                  </p:cNvSpPr>
                  <p:nvPr/>
                </p:nvSpPr>
                <p:spPr bwMode="auto">
                  <a:xfrm>
                    <a:off x="8970" y="3930"/>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42" name="Text Box 65">
                    <a:extLst>
                      <a:ext uri="{FF2B5EF4-FFF2-40B4-BE49-F238E27FC236}">
                        <a16:creationId xmlns:a16="http://schemas.microsoft.com/office/drawing/2014/main" id="{236EE32E-FAEE-33E9-DEA4-7E45AD0911E3}"/>
                      </a:ext>
                    </a:extLst>
                  </p:cNvPr>
                  <p:cNvSpPr txBox="1">
                    <a:spLocks noChangeArrowheads="1"/>
                  </p:cNvSpPr>
                  <p:nvPr/>
                </p:nvSpPr>
                <p:spPr bwMode="auto">
                  <a:xfrm>
                    <a:off x="8977" y="3927"/>
                    <a:ext cx="19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与</a:t>
                    </a:r>
                  </a:p>
                </p:txBody>
              </p:sp>
            </p:grpSp>
            <p:grpSp>
              <p:nvGrpSpPr>
                <p:cNvPr id="39035" name="Group 66">
                  <a:extLst>
                    <a:ext uri="{FF2B5EF4-FFF2-40B4-BE49-F238E27FC236}">
                      <a16:creationId xmlns:a16="http://schemas.microsoft.com/office/drawing/2014/main" id="{3908E1A8-AA39-C571-6703-536791836D71}"/>
                    </a:ext>
                  </a:extLst>
                </p:cNvPr>
                <p:cNvGrpSpPr>
                  <a:grpSpLocks/>
                </p:cNvGrpSpPr>
                <p:nvPr/>
              </p:nvGrpSpPr>
              <p:grpSpPr bwMode="auto">
                <a:xfrm>
                  <a:off x="5140" y="4017"/>
                  <a:ext cx="165" cy="198"/>
                  <a:chOff x="8970" y="3927"/>
                  <a:chExt cx="210" cy="228"/>
                </a:xfrm>
              </p:grpSpPr>
              <p:sp>
                <p:nvSpPr>
                  <p:cNvPr id="39039" name="Rectangle 67">
                    <a:extLst>
                      <a:ext uri="{FF2B5EF4-FFF2-40B4-BE49-F238E27FC236}">
                        <a16:creationId xmlns:a16="http://schemas.microsoft.com/office/drawing/2014/main" id="{AB1ED830-F1F5-D004-28AE-A3E8B8A08BA3}"/>
                      </a:ext>
                    </a:extLst>
                  </p:cNvPr>
                  <p:cNvSpPr>
                    <a:spLocks noChangeArrowheads="1"/>
                  </p:cNvSpPr>
                  <p:nvPr/>
                </p:nvSpPr>
                <p:spPr bwMode="auto">
                  <a:xfrm>
                    <a:off x="8970" y="3930"/>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40" name="Text Box 68">
                    <a:extLst>
                      <a:ext uri="{FF2B5EF4-FFF2-40B4-BE49-F238E27FC236}">
                        <a16:creationId xmlns:a16="http://schemas.microsoft.com/office/drawing/2014/main" id="{0FD8E948-9943-9997-9895-6BBF30FED4DB}"/>
                      </a:ext>
                    </a:extLst>
                  </p:cNvPr>
                  <p:cNvSpPr txBox="1">
                    <a:spLocks noChangeArrowheads="1"/>
                  </p:cNvSpPr>
                  <p:nvPr/>
                </p:nvSpPr>
                <p:spPr bwMode="auto">
                  <a:xfrm>
                    <a:off x="8977" y="3927"/>
                    <a:ext cx="19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测</a:t>
                    </a:r>
                  </a:p>
                </p:txBody>
              </p:sp>
            </p:grpSp>
            <p:grpSp>
              <p:nvGrpSpPr>
                <p:cNvPr id="39036" name="Group 69">
                  <a:extLst>
                    <a:ext uri="{FF2B5EF4-FFF2-40B4-BE49-F238E27FC236}">
                      <a16:creationId xmlns:a16="http://schemas.microsoft.com/office/drawing/2014/main" id="{C2633AA9-478E-2DF9-C070-43E576E9DAC5}"/>
                    </a:ext>
                  </a:extLst>
                </p:cNvPr>
                <p:cNvGrpSpPr>
                  <a:grpSpLocks/>
                </p:cNvGrpSpPr>
                <p:nvPr/>
              </p:nvGrpSpPr>
              <p:grpSpPr bwMode="auto">
                <a:xfrm>
                  <a:off x="5350" y="4097"/>
                  <a:ext cx="165" cy="198"/>
                  <a:chOff x="8970" y="3927"/>
                  <a:chExt cx="210" cy="228"/>
                </a:xfrm>
              </p:grpSpPr>
              <p:sp>
                <p:nvSpPr>
                  <p:cNvPr id="39037" name="Rectangle 70">
                    <a:extLst>
                      <a:ext uri="{FF2B5EF4-FFF2-40B4-BE49-F238E27FC236}">
                        <a16:creationId xmlns:a16="http://schemas.microsoft.com/office/drawing/2014/main" id="{67F31E99-AB73-45CB-32B7-CC2E7BA4286E}"/>
                      </a:ext>
                    </a:extLst>
                  </p:cNvPr>
                  <p:cNvSpPr>
                    <a:spLocks noChangeArrowheads="1"/>
                  </p:cNvSpPr>
                  <p:nvPr/>
                </p:nvSpPr>
                <p:spPr bwMode="auto">
                  <a:xfrm>
                    <a:off x="8970" y="3930"/>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38" name="Text Box 71">
                    <a:extLst>
                      <a:ext uri="{FF2B5EF4-FFF2-40B4-BE49-F238E27FC236}">
                        <a16:creationId xmlns:a16="http://schemas.microsoft.com/office/drawing/2014/main" id="{142A3008-1C11-E7F8-1A9E-FC1246A68F3D}"/>
                      </a:ext>
                    </a:extLst>
                  </p:cNvPr>
                  <p:cNvSpPr txBox="1">
                    <a:spLocks noChangeArrowheads="1"/>
                  </p:cNvSpPr>
                  <p:nvPr/>
                </p:nvSpPr>
                <p:spPr bwMode="auto">
                  <a:xfrm>
                    <a:off x="8977" y="3927"/>
                    <a:ext cx="19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试</a:t>
                    </a:r>
                  </a:p>
                </p:txBody>
              </p:sp>
            </p:grpSp>
          </p:grpSp>
        </p:grpSp>
        <p:grpSp>
          <p:nvGrpSpPr>
            <p:cNvPr id="38958" name="Group 72">
              <a:extLst>
                <a:ext uri="{FF2B5EF4-FFF2-40B4-BE49-F238E27FC236}">
                  <a16:creationId xmlns:a16="http://schemas.microsoft.com/office/drawing/2014/main" id="{DC0965E8-F236-6376-919C-593C92700B00}"/>
                </a:ext>
              </a:extLst>
            </p:cNvPr>
            <p:cNvGrpSpPr>
              <a:grpSpLocks/>
            </p:cNvGrpSpPr>
            <p:nvPr/>
          </p:nvGrpSpPr>
          <p:grpSpPr bwMode="auto">
            <a:xfrm>
              <a:off x="8430" y="11686"/>
              <a:ext cx="425" cy="354"/>
              <a:chOff x="7260" y="2696"/>
              <a:chExt cx="555" cy="364"/>
            </a:xfrm>
          </p:grpSpPr>
          <p:sp>
            <p:nvSpPr>
              <p:cNvPr id="39030" name="Rectangle 73">
                <a:extLst>
                  <a:ext uri="{FF2B5EF4-FFF2-40B4-BE49-F238E27FC236}">
                    <a16:creationId xmlns:a16="http://schemas.microsoft.com/office/drawing/2014/main" id="{6A2F0B33-DB39-06BA-51AC-5B2609BE5CD8}"/>
                  </a:ext>
                </a:extLst>
              </p:cNvPr>
              <p:cNvSpPr>
                <a:spLocks noChangeArrowheads="1"/>
              </p:cNvSpPr>
              <p:nvPr/>
            </p:nvSpPr>
            <p:spPr bwMode="auto">
              <a:xfrm>
                <a:off x="7260" y="2715"/>
                <a:ext cx="555"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31" name="Text Box 74">
                <a:extLst>
                  <a:ext uri="{FF2B5EF4-FFF2-40B4-BE49-F238E27FC236}">
                    <a16:creationId xmlns:a16="http://schemas.microsoft.com/office/drawing/2014/main" id="{2D023F62-A581-5B27-D61B-0AB88AB3A26D}"/>
                  </a:ext>
                </a:extLst>
              </p:cNvPr>
              <p:cNvSpPr txBox="1">
                <a:spLocks noChangeArrowheads="1"/>
              </p:cNvSpPr>
              <p:nvPr/>
            </p:nvSpPr>
            <p:spPr bwMode="auto">
              <a:xfrm>
                <a:off x="7288" y="2696"/>
                <a:ext cx="485"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kumimoji="0" lang="zh-CN" altLang="en-US" sz="1400">
                    <a:solidFill>
                      <a:schemeClr val="folHlink"/>
                    </a:solidFill>
                    <a:latin typeface="Times New Roman" panose="02020603050405020304" pitchFamily="18" charset="0"/>
                  </a:rPr>
                  <a:t>软件</a:t>
                </a:r>
              </a:p>
              <a:p>
                <a:pPr algn="ctr">
                  <a:lnSpc>
                    <a:spcPct val="64000"/>
                  </a:lnSpc>
                  <a:spcBef>
                    <a:spcPct val="0"/>
                  </a:spcBef>
                  <a:buClrTx/>
                  <a:buFontTx/>
                  <a:buNone/>
                </a:pPr>
                <a:r>
                  <a:rPr kumimoji="0" lang="zh-CN" altLang="en-US" sz="1400">
                    <a:solidFill>
                      <a:schemeClr val="folHlink"/>
                    </a:solidFill>
                    <a:latin typeface="Times New Roman" panose="02020603050405020304" pitchFamily="18" charset="0"/>
                  </a:rPr>
                  <a:t>需求</a:t>
                </a:r>
              </a:p>
            </p:txBody>
          </p:sp>
        </p:grpSp>
        <p:grpSp>
          <p:nvGrpSpPr>
            <p:cNvPr id="38959" name="Group 75">
              <a:extLst>
                <a:ext uri="{FF2B5EF4-FFF2-40B4-BE49-F238E27FC236}">
                  <a16:creationId xmlns:a16="http://schemas.microsoft.com/office/drawing/2014/main" id="{FF4DEDDD-12F9-E6C1-08CF-C8B2D3B27C77}"/>
                </a:ext>
              </a:extLst>
            </p:cNvPr>
            <p:cNvGrpSpPr>
              <a:grpSpLocks/>
            </p:cNvGrpSpPr>
            <p:nvPr/>
          </p:nvGrpSpPr>
          <p:grpSpPr bwMode="auto">
            <a:xfrm>
              <a:off x="7910" y="12086"/>
              <a:ext cx="480" cy="359"/>
              <a:chOff x="7260" y="2696"/>
              <a:chExt cx="555" cy="364"/>
            </a:xfrm>
          </p:grpSpPr>
          <p:sp>
            <p:nvSpPr>
              <p:cNvPr id="39028" name="Rectangle 76">
                <a:extLst>
                  <a:ext uri="{FF2B5EF4-FFF2-40B4-BE49-F238E27FC236}">
                    <a16:creationId xmlns:a16="http://schemas.microsoft.com/office/drawing/2014/main" id="{03223C42-5582-B28B-856D-6B359D45F01E}"/>
                  </a:ext>
                </a:extLst>
              </p:cNvPr>
              <p:cNvSpPr>
                <a:spLocks noChangeArrowheads="1"/>
              </p:cNvSpPr>
              <p:nvPr/>
            </p:nvSpPr>
            <p:spPr bwMode="auto">
              <a:xfrm>
                <a:off x="7260" y="2715"/>
                <a:ext cx="555"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29" name="Text Box 77">
                <a:extLst>
                  <a:ext uri="{FF2B5EF4-FFF2-40B4-BE49-F238E27FC236}">
                    <a16:creationId xmlns:a16="http://schemas.microsoft.com/office/drawing/2014/main" id="{82A483D6-E082-5D4A-3E10-E98338F4B6A5}"/>
                  </a:ext>
                </a:extLst>
              </p:cNvPr>
              <p:cNvSpPr txBox="1">
                <a:spLocks noChangeArrowheads="1"/>
              </p:cNvSpPr>
              <p:nvPr/>
            </p:nvSpPr>
            <p:spPr bwMode="auto">
              <a:xfrm>
                <a:off x="7288" y="2696"/>
                <a:ext cx="485"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kumimoji="0" lang="zh-CN" altLang="en-US" sz="1400">
                    <a:solidFill>
                      <a:schemeClr val="folHlink"/>
                    </a:solidFill>
                    <a:latin typeface="Times New Roman" panose="02020603050405020304" pitchFamily="18" charset="0"/>
                  </a:rPr>
                  <a:t>需求</a:t>
                </a:r>
              </a:p>
              <a:p>
                <a:pPr algn="ctr">
                  <a:lnSpc>
                    <a:spcPct val="64000"/>
                  </a:lnSpc>
                  <a:spcBef>
                    <a:spcPct val="0"/>
                  </a:spcBef>
                  <a:buClrTx/>
                  <a:buFontTx/>
                  <a:buNone/>
                </a:pPr>
                <a:r>
                  <a:rPr kumimoji="0" lang="zh-CN" altLang="en-US" sz="1400">
                    <a:solidFill>
                      <a:schemeClr val="folHlink"/>
                    </a:solidFill>
                    <a:latin typeface="Times New Roman" panose="02020603050405020304" pitchFamily="18" charset="0"/>
                  </a:rPr>
                  <a:t>确认</a:t>
                </a:r>
              </a:p>
            </p:txBody>
          </p:sp>
        </p:grpSp>
        <p:grpSp>
          <p:nvGrpSpPr>
            <p:cNvPr id="38960" name="Group 78">
              <a:extLst>
                <a:ext uri="{FF2B5EF4-FFF2-40B4-BE49-F238E27FC236}">
                  <a16:creationId xmlns:a16="http://schemas.microsoft.com/office/drawing/2014/main" id="{D5C6A888-8BF0-C2FC-653C-350E2DD0DE06}"/>
                </a:ext>
              </a:extLst>
            </p:cNvPr>
            <p:cNvGrpSpPr>
              <a:grpSpLocks/>
            </p:cNvGrpSpPr>
            <p:nvPr/>
          </p:nvGrpSpPr>
          <p:grpSpPr bwMode="auto">
            <a:xfrm>
              <a:off x="7945" y="12461"/>
              <a:ext cx="685" cy="364"/>
              <a:chOff x="7260" y="2696"/>
              <a:chExt cx="555" cy="364"/>
            </a:xfrm>
          </p:grpSpPr>
          <p:sp>
            <p:nvSpPr>
              <p:cNvPr id="39026" name="Rectangle 79">
                <a:extLst>
                  <a:ext uri="{FF2B5EF4-FFF2-40B4-BE49-F238E27FC236}">
                    <a16:creationId xmlns:a16="http://schemas.microsoft.com/office/drawing/2014/main" id="{ED4923CD-D8B9-02D6-3F4E-4C89F4CC5FE6}"/>
                  </a:ext>
                </a:extLst>
              </p:cNvPr>
              <p:cNvSpPr>
                <a:spLocks noChangeArrowheads="1"/>
              </p:cNvSpPr>
              <p:nvPr/>
            </p:nvSpPr>
            <p:spPr bwMode="auto">
              <a:xfrm>
                <a:off x="7260" y="2715"/>
                <a:ext cx="555"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27" name="Text Box 80">
                <a:extLst>
                  <a:ext uri="{FF2B5EF4-FFF2-40B4-BE49-F238E27FC236}">
                    <a16:creationId xmlns:a16="http://schemas.microsoft.com/office/drawing/2014/main" id="{606709D4-4463-788C-3092-CEBA58CDCB0F}"/>
                  </a:ext>
                </a:extLst>
              </p:cNvPr>
              <p:cNvSpPr txBox="1">
                <a:spLocks noChangeArrowheads="1"/>
              </p:cNvSpPr>
              <p:nvPr/>
            </p:nvSpPr>
            <p:spPr bwMode="auto">
              <a:xfrm>
                <a:off x="7288" y="2696"/>
                <a:ext cx="485"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kumimoji="0" lang="zh-CN" altLang="en-US" sz="1400">
                    <a:solidFill>
                      <a:schemeClr val="folHlink"/>
                    </a:solidFill>
                    <a:latin typeface="Times New Roman" panose="02020603050405020304" pitchFamily="18" charset="0"/>
                  </a:rPr>
                  <a:t>设计确认</a:t>
                </a:r>
              </a:p>
              <a:p>
                <a:pPr algn="ctr">
                  <a:lnSpc>
                    <a:spcPct val="64000"/>
                  </a:lnSpc>
                  <a:spcBef>
                    <a:spcPct val="0"/>
                  </a:spcBef>
                  <a:buClrTx/>
                  <a:buFontTx/>
                  <a:buNone/>
                </a:pPr>
                <a:r>
                  <a:rPr kumimoji="0" lang="zh-CN" altLang="en-US" sz="1400">
                    <a:solidFill>
                      <a:schemeClr val="folHlink"/>
                    </a:solidFill>
                    <a:latin typeface="Times New Roman" panose="02020603050405020304" pitchFamily="18" charset="0"/>
                  </a:rPr>
                  <a:t>与验证</a:t>
                </a:r>
              </a:p>
            </p:txBody>
          </p:sp>
        </p:grpSp>
        <p:grpSp>
          <p:nvGrpSpPr>
            <p:cNvPr id="38961" name="Group 81">
              <a:extLst>
                <a:ext uri="{FF2B5EF4-FFF2-40B4-BE49-F238E27FC236}">
                  <a16:creationId xmlns:a16="http://schemas.microsoft.com/office/drawing/2014/main" id="{86A2E2D7-C296-0192-2B9B-887A2EDC969D}"/>
                </a:ext>
              </a:extLst>
            </p:cNvPr>
            <p:cNvGrpSpPr>
              <a:grpSpLocks/>
            </p:cNvGrpSpPr>
            <p:nvPr/>
          </p:nvGrpSpPr>
          <p:grpSpPr bwMode="auto">
            <a:xfrm>
              <a:off x="8750" y="11861"/>
              <a:ext cx="515" cy="514"/>
              <a:chOff x="7260" y="2696"/>
              <a:chExt cx="555" cy="364"/>
            </a:xfrm>
          </p:grpSpPr>
          <p:sp>
            <p:nvSpPr>
              <p:cNvPr id="39024" name="Rectangle 82">
                <a:extLst>
                  <a:ext uri="{FF2B5EF4-FFF2-40B4-BE49-F238E27FC236}">
                    <a16:creationId xmlns:a16="http://schemas.microsoft.com/office/drawing/2014/main" id="{988A475B-8FED-C1F2-209D-B644F623C906}"/>
                  </a:ext>
                </a:extLst>
              </p:cNvPr>
              <p:cNvSpPr>
                <a:spLocks noChangeArrowheads="1"/>
              </p:cNvSpPr>
              <p:nvPr/>
            </p:nvSpPr>
            <p:spPr bwMode="auto">
              <a:xfrm>
                <a:off x="7260" y="2715"/>
                <a:ext cx="555"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25" name="Text Box 83">
                <a:extLst>
                  <a:ext uri="{FF2B5EF4-FFF2-40B4-BE49-F238E27FC236}">
                    <a16:creationId xmlns:a16="http://schemas.microsoft.com/office/drawing/2014/main" id="{2D32E348-DDA5-634F-A3A5-75325349B37B}"/>
                  </a:ext>
                </a:extLst>
              </p:cNvPr>
              <p:cNvSpPr txBox="1">
                <a:spLocks noChangeArrowheads="1"/>
              </p:cNvSpPr>
              <p:nvPr/>
            </p:nvSpPr>
            <p:spPr bwMode="auto">
              <a:xfrm>
                <a:off x="7288" y="2696"/>
                <a:ext cx="485"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kumimoji="0" lang="en-US" altLang="zh-CN" sz="1400">
                    <a:solidFill>
                      <a:schemeClr val="folHlink"/>
                    </a:solidFill>
                    <a:latin typeface="Times New Roman" panose="02020603050405020304" pitchFamily="18" charset="0"/>
                  </a:rPr>
                  <a:t>  </a:t>
                </a:r>
                <a:r>
                  <a:rPr kumimoji="0" lang="zh-CN" altLang="en-US" sz="1400">
                    <a:solidFill>
                      <a:schemeClr val="folHlink"/>
                    </a:solidFill>
                    <a:latin typeface="Times New Roman" panose="02020603050405020304" pitchFamily="18" charset="0"/>
                  </a:rPr>
                  <a:t>软件</a:t>
                </a:r>
              </a:p>
              <a:p>
                <a:pPr algn="ctr">
                  <a:lnSpc>
                    <a:spcPct val="64000"/>
                  </a:lnSpc>
                  <a:spcBef>
                    <a:spcPct val="0"/>
                  </a:spcBef>
                  <a:buClrTx/>
                  <a:buFontTx/>
                  <a:buNone/>
                </a:pPr>
                <a:r>
                  <a:rPr kumimoji="0" lang="zh-CN" altLang="en-US" sz="1400">
                    <a:solidFill>
                      <a:schemeClr val="folHlink"/>
                    </a:solidFill>
                    <a:latin typeface="Times New Roman" panose="02020603050405020304" pitchFamily="18" charset="0"/>
                  </a:rPr>
                  <a:t> 产品</a:t>
                </a:r>
              </a:p>
              <a:p>
                <a:pPr algn="ctr">
                  <a:lnSpc>
                    <a:spcPct val="64000"/>
                  </a:lnSpc>
                  <a:spcBef>
                    <a:spcPct val="0"/>
                  </a:spcBef>
                  <a:buClrTx/>
                  <a:buFontTx/>
                  <a:buNone/>
                </a:pPr>
                <a:r>
                  <a:rPr kumimoji="0" lang="zh-CN" altLang="en-US" sz="1400">
                    <a:solidFill>
                      <a:schemeClr val="folHlink"/>
                    </a:solidFill>
                    <a:latin typeface="Times New Roman" panose="02020603050405020304" pitchFamily="18" charset="0"/>
                  </a:rPr>
                  <a:t>设计</a:t>
                </a:r>
              </a:p>
            </p:txBody>
          </p:sp>
        </p:grpSp>
        <p:grpSp>
          <p:nvGrpSpPr>
            <p:cNvPr id="38962" name="Group 84">
              <a:extLst>
                <a:ext uri="{FF2B5EF4-FFF2-40B4-BE49-F238E27FC236}">
                  <a16:creationId xmlns:a16="http://schemas.microsoft.com/office/drawing/2014/main" id="{60EB4F46-9D87-A618-6809-A4F81A7217CA}"/>
                </a:ext>
              </a:extLst>
            </p:cNvPr>
            <p:cNvGrpSpPr>
              <a:grpSpLocks/>
            </p:cNvGrpSpPr>
            <p:nvPr/>
          </p:nvGrpSpPr>
          <p:grpSpPr bwMode="auto">
            <a:xfrm>
              <a:off x="9435" y="11836"/>
              <a:ext cx="715" cy="174"/>
              <a:chOff x="7260" y="2696"/>
              <a:chExt cx="555" cy="364"/>
            </a:xfrm>
          </p:grpSpPr>
          <p:sp>
            <p:nvSpPr>
              <p:cNvPr id="39022" name="Rectangle 85">
                <a:extLst>
                  <a:ext uri="{FF2B5EF4-FFF2-40B4-BE49-F238E27FC236}">
                    <a16:creationId xmlns:a16="http://schemas.microsoft.com/office/drawing/2014/main" id="{E59390AD-6E16-FA14-7657-7C4EFC29104A}"/>
                  </a:ext>
                </a:extLst>
              </p:cNvPr>
              <p:cNvSpPr>
                <a:spLocks noChangeArrowheads="1"/>
              </p:cNvSpPr>
              <p:nvPr/>
            </p:nvSpPr>
            <p:spPr bwMode="auto">
              <a:xfrm>
                <a:off x="7260" y="2715"/>
                <a:ext cx="555"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23" name="Text Box 86">
                <a:extLst>
                  <a:ext uri="{FF2B5EF4-FFF2-40B4-BE49-F238E27FC236}">
                    <a16:creationId xmlns:a16="http://schemas.microsoft.com/office/drawing/2014/main" id="{17AAF9CE-B313-21F6-DF7C-B31C4FFEA688}"/>
                  </a:ext>
                </a:extLst>
              </p:cNvPr>
              <p:cNvSpPr txBox="1">
                <a:spLocks noChangeArrowheads="1"/>
              </p:cNvSpPr>
              <p:nvPr/>
            </p:nvSpPr>
            <p:spPr bwMode="auto">
              <a:xfrm>
                <a:off x="7288" y="2696"/>
                <a:ext cx="485"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kumimoji="0" lang="zh-CN" altLang="en-US" sz="1400">
                    <a:solidFill>
                      <a:schemeClr val="folHlink"/>
                    </a:solidFill>
                    <a:latin typeface="Times New Roman" panose="02020603050405020304" pitchFamily="18" charset="0"/>
                  </a:rPr>
                  <a:t>详细设计</a:t>
                </a:r>
              </a:p>
            </p:txBody>
          </p:sp>
        </p:grpSp>
        <p:grpSp>
          <p:nvGrpSpPr>
            <p:cNvPr id="38963" name="Group 87">
              <a:extLst>
                <a:ext uri="{FF2B5EF4-FFF2-40B4-BE49-F238E27FC236}">
                  <a16:creationId xmlns:a16="http://schemas.microsoft.com/office/drawing/2014/main" id="{ED5A5ACB-9C04-AFBE-2F09-C5D6C1F22B20}"/>
                </a:ext>
              </a:extLst>
            </p:cNvPr>
            <p:cNvGrpSpPr>
              <a:grpSpLocks/>
            </p:cNvGrpSpPr>
            <p:nvPr/>
          </p:nvGrpSpPr>
          <p:grpSpPr bwMode="auto">
            <a:xfrm>
              <a:off x="7985" y="10767"/>
              <a:ext cx="700" cy="478"/>
              <a:chOff x="8335" y="2427"/>
              <a:chExt cx="700" cy="478"/>
            </a:xfrm>
          </p:grpSpPr>
          <p:grpSp>
            <p:nvGrpSpPr>
              <p:cNvPr id="39010" name="Group 88">
                <a:extLst>
                  <a:ext uri="{FF2B5EF4-FFF2-40B4-BE49-F238E27FC236}">
                    <a16:creationId xmlns:a16="http://schemas.microsoft.com/office/drawing/2014/main" id="{E8270A12-238D-7D1C-B01B-46AD28E03F91}"/>
                  </a:ext>
                </a:extLst>
              </p:cNvPr>
              <p:cNvGrpSpPr>
                <a:grpSpLocks/>
              </p:cNvGrpSpPr>
              <p:nvPr/>
            </p:nvGrpSpPr>
            <p:grpSpPr bwMode="auto">
              <a:xfrm>
                <a:off x="8335" y="2427"/>
                <a:ext cx="165" cy="198"/>
                <a:chOff x="8970" y="3927"/>
                <a:chExt cx="210" cy="228"/>
              </a:xfrm>
            </p:grpSpPr>
            <p:sp>
              <p:nvSpPr>
                <p:cNvPr id="39020" name="Rectangle 89">
                  <a:extLst>
                    <a:ext uri="{FF2B5EF4-FFF2-40B4-BE49-F238E27FC236}">
                      <a16:creationId xmlns:a16="http://schemas.microsoft.com/office/drawing/2014/main" id="{22F52221-D29F-8BE1-2D19-48E592E10052}"/>
                    </a:ext>
                  </a:extLst>
                </p:cNvPr>
                <p:cNvSpPr>
                  <a:spLocks noChangeArrowheads="1"/>
                </p:cNvSpPr>
                <p:nvPr/>
              </p:nvSpPr>
              <p:spPr bwMode="auto">
                <a:xfrm>
                  <a:off x="8970" y="3930"/>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21" name="Text Box 90">
                  <a:extLst>
                    <a:ext uri="{FF2B5EF4-FFF2-40B4-BE49-F238E27FC236}">
                      <a16:creationId xmlns:a16="http://schemas.microsoft.com/office/drawing/2014/main" id="{E12F2931-C312-64E5-E214-D357B4FBD565}"/>
                    </a:ext>
                  </a:extLst>
                </p:cNvPr>
                <p:cNvSpPr txBox="1">
                  <a:spLocks noChangeArrowheads="1"/>
                </p:cNvSpPr>
                <p:nvPr/>
              </p:nvSpPr>
              <p:spPr bwMode="auto">
                <a:xfrm>
                  <a:off x="8977" y="3927"/>
                  <a:ext cx="19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风</a:t>
                  </a:r>
                </a:p>
              </p:txBody>
            </p:sp>
          </p:grpSp>
          <p:grpSp>
            <p:nvGrpSpPr>
              <p:cNvPr id="39011" name="Group 91">
                <a:extLst>
                  <a:ext uri="{FF2B5EF4-FFF2-40B4-BE49-F238E27FC236}">
                    <a16:creationId xmlns:a16="http://schemas.microsoft.com/office/drawing/2014/main" id="{0276BF9A-025D-E3C4-82AE-B0D093765130}"/>
                  </a:ext>
                </a:extLst>
              </p:cNvPr>
              <p:cNvGrpSpPr>
                <a:grpSpLocks/>
              </p:cNvGrpSpPr>
              <p:nvPr/>
            </p:nvGrpSpPr>
            <p:grpSpPr bwMode="auto">
              <a:xfrm>
                <a:off x="8510" y="2502"/>
                <a:ext cx="165" cy="198"/>
                <a:chOff x="8970" y="3927"/>
                <a:chExt cx="210" cy="228"/>
              </a:xfrm>
            </p:grpSpPr>
            <p:sp>
              <p:nvSpPr>
                <p:cNvPr id="39018" name="Rectangle 92">
                  <a:extLst>
                    <a:ext uri="{FF2B5EF4-FFF2-40B4-BE49-F238E27FC236}">
                      <a16:creationId xmlns:a16="http://schemas.microsoft.com/office/drawing/2014/main" id="{B998867D-1B62-9200-9527-D18F8B1F5319}"/>
                    </a:ext>
                  </a:extLst>
                </p:cNvPr>
                <p:cNvSpPr>
                  <a:spLocks noChangeArrowheads="1"/>
                </p:cNvSpPr>
                <p:nvPr/>
              </p:nvSpPr>
              <p:spPr bwMode="auto">
                <a:xfrm>
                  <a:off x="8970" y="3930"/>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19" name="Text Box 93">
                  <a:extLst>
                    <a:ext uri="{FF2B5EF4-FFF2-40B4-BE49-F238E27FC236}">
                      <a16:creationId xmlns:a16="http://schemas.microsoft.com/office/drawing/2014/main" id="{F006DF5F-5A0A-E139-71F2-483D5CB214CD}"/>
                    </a:ext>
                  </a:extLst>
                </p:cNvPr>
                <p:cNvSpPr txBox="1">
                  <a:spLocks noChangeArrowheads="1"/>
                </p:cNvSpPr>
                <p:nvPr/>
              </p:nvSpPr>
              <p:spPr bwMode="auto">
                <a:xfrm>
                  <a:off x="8977" y="3927"/>
                  <a:ext cx="19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险</a:t>
                  </a:r>
                </a:p>
              </p:txBody>
            </p:sp>
          </p:grpSp>
          <p:grpSp>
            <p:nvGrpSpPr>
              <p:cNvPr id="39012" name="Group 94">
                <a:extLst>
                  <a:ext uri="{FF2B5EF4-FFF2-40B4-BE49-F238E27FC236}">
                    <a16:creationId xmlns:a16="http://schemas.microsoft.com/office/drawing/2014/main" id="{8E57A077-AC93-BB39-E1FD-CB9C05CAA702}"/>
                  </a:ext>
                </a:extLst>
              </p:cNvPr>
              <p:cNvGrpSpPr>
                <a:grpSpLocks/>
              </p:cNvGrpSpPr>
              <p:nvPr/>
            </p:nvGrpSpPr>
            <p:grpSpPr bwMode="auto">
              <a:xfrm>
                <a:off x="8705" y="2607"/>
                <a:ext cx="165" cy="198"/>
                <a:chOff x="8970" y="3927"/>
                <a:chExt cx="210" cy="228"/>
              </a:xfrm>
            </p:grpSpPr>
            <p:sp>
              <p:nvSpPr>
                <p:cNvPr id="39016" name="Rectangle 95">
                  <a:extLst>
                    <a:ext uri="{FF2B5EF4-FFF2-40B4-BE49-F238E27FC236}">
                      <a16:creationId xmlns:a16="http://schemas.microsoft.com/office/drawing/2014/main" id="{74DA00C0-0634-5AD2-7333-C12E4D13A17E}"/>
                    </a:ext>
                  </a:extLst>
                </p:cNvPr>
                <p:cNvSpPr>
                  <a:spLocks noChangeArrowheads="1"/>
                </p:cNvSpPr>
                <p:nvPr/>
              </p:nvSpPr>
              <p:spPr bwMode="auto">
                <a:xfrm>
                  <a:off x="8970" y="3930"/>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17" name="Text Box 96">
                  <a:extLst>
                    <a:ext uri="{FF2B5EF4-FFF2-40B4-BE49-F238E27FC236}">
                      <a16:creationId xmlns:a16="http://schemas.microsoft.com/office/drawing/2014/main" id="{D6E67DDA-BE31-08D5-2694-8AD36BE97A55}"/>
                    </a:ext>
                  </a:extLst>
                </p:cNvPr>
                <p:cNvSpPr txBox="1">
                  <a:spLocks noChangeArrowheads="1"/>
                </p:cNvSpPr>
                <p:nvPr/>
              </p:nvSpPr>
              <p:spPr bwMode="auto">
                <a:xfrm>
                  <a:off x="8977" y="3927"/>
                  <a:ext cx="19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分</a:t>
                  </a:r>
                </a:p>
              </p:txBody>
            </p:sp>
          </p:grpSp>
          <p:grpSp>
            <p:nvGrpSpPr>
              <p:cNvPr id="39013" name="Group 97">
                <a:extLst>
                  <a:ext uri="{FF2B5EF4-FFF2-40B4-BE49-F238E27FC236}">
                    <a16:creationId xmlns:a16="http://schemas.microsoft.com/office/drawing/2014/main" id="{D8EC0863-3A44-38CA-BA21-2ED06E289248}"/>
                  </a:ext>
                </a:extLst>
              </p:cNvPr>
              <p:cNvGrpSpPr>
                <a:grpSpLocks/>
              </p:cNvGrpSpPr>
              <p:nvPr/>
            </p:nvGrpSpPr>
            <p:grpSpPr bwMode="auto">
              <a:xfrm>
                <a:off x="8870" y="2707"/>
                <a:ext cx="165" cy="198"/>
                <a:chOff x="8970" y="3927"/>
                <a:chExt cx="210" cy="228"/>
              </a:xfrm>
            </p:grpSpPr>
            <p:sp>
              <p:nvSpPr>
                <p:cNvPr id="39014" name="Rectangle 98">
                  <a:extLst>
                    <a:ext uri="{FF2B5EF4-FFF2-40B4-BE49-F238E27FC236}">
                      <a16:creationId xmlns:a16="http://schemas.microsoft.com/office/drawing/2014/main" id="{10294E98-14BB-ACDC-6816-0A7B8C45C3A8}"/>
                    </a:ext>
                  </a:extLst>
                </p:cNvPr>
                <p:cNvSpPr>
                  <a:spLocks noChangeArrowheads="1"/>
                </p:cNvSpPr>
                <p:nvPr/>
              </p:nvSpPr>
              <p:spPr bwMode="auto">
                <a:xfrm>
                  <a:off x="8970" y="3930"/>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15" name="Text Box 99">
                  <a:extLst>
                    <a:ext uri="{FF2B5EF4-FFF2-40B4-BE49-F238E27FC236}">
                      <a16:creationId xmlns:a16="http://schemas.microsoft.com/office/drawing/2014/main" id="{24DDE450-3B43-4E56-2F79-DE98D75BDFFB}"/>
                    </a:ext>
                  </a:extLst>
                </p:cNvPr>
                <p:cNvSpPr txBox="1">
                  <a:spLocks noChangeArrowheads="1"/>
                </p:cNvSpPr>
                <p:nvPr/>
              </p:nvSpPr>
              <p:spPr bwMode="auto">
                <a:xfrm>
                  <a:off x="8977" y="3927"/>
                  <a:ext cx="19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析</a:t>
                  </a:r>
                </a:p>
              </p:txBody>
            </p:sp>
          </p:grpSp>
        </p:grpSp>
        <p:grpSp>
          <p:nvGrpSpPr>
            <p:cNvPr id="38964" name="Group 100">
              <a:extLst>
                <a:ext uri="{FF2B5EF4-FFF2-40B4-BE49-F238E27FC236}">
                  <a16:creationId xmlns:a16="http://schemas.microsoft.com/office/drawing/2014/main" id="{9C0AC733-D656-593C-E483-228FBEBA2BE4}"/>
                </a:ext>
              </a:extLst>
            </p:cNvPr>
            <p:cNvGrpSpPr>
              <a:grpSpLocks/>
            </p:cNvGrpSpPr>
            <p:nvPr/>
          </p:nvGrpSpPr>
          <p:grpSpPr bwMode="auto">
            <a:xfrm>
              <a:off x="8315" y="10417"/>
              <a:ext cx="740" cy="518"/>
              <a:chOff x="2585" y="2007"/>
              <a:chExt cx="740" cy="518"/>
            </a:xfrm>
          </p:grpSpPr>
          <p:grpSp>
            <p:nvGrpSpPr>
              <p:cNvPr id="38998" name="Group 101">
                <a:extLst>
                  <a:ext uri="{FF2B5EF4-FFF2-40B4-BE49-F238E27FC236}">
                    <a16:creationId xmlns:a16="http://schemas.microsoft.com/office/drawing/2014/main" id="{C3E7880E-4910-4E71-D752-CDB5D49C5D66}"/>
                  </a:ext>
                </a:extLst>
              </p:cNvPr>
              <p:cNvGrpSpPr>
                <a:grpSpLocks/>
              </p:cNvGrpSpPr>
              <p:nvPr/>
            </p:nvGrpSpPr>
            <p:grpSpPr bwMode="auto">
              <a:xfrm>
                <a:off x="2585" y="2007"/>
                <a:ext cx="165" cy="198"/>
                <a:chOff x="8970" y="3927"/>
                <a:chExt cx="210" cy="228"/>
              </a:xfrm>
            </p:grpSpPr>
            <p:sp>
              <p:nvSpPr>
                <p:cNvPr id="39008" name="Rectangle 102">
                  <a:extLst>
                    <a:ext uri="{FF2B5EF4-FFF2-40B4-BE49-F238E27FC236}">
                      <a16:creationId xmlns:a16="http://schemas.microsoft.com/office/drawing/2014/main" id="{3303801F-5AC3-414D-9718-B0200B921B96}"/>
                    </a:ext>
                  </a:extLst>
                </p:cNvPr>
                <p:cNvSpPr>
                  <a:spLocks noChangeArrowheads="1"/>
                </p:cNvSpPr>
                <p:nvPr/>
              </p:nvSpPr>
              <p:spPr bwMode="auto">
                <a:xfrm>
                  <a:off x="8970" y="3930"/>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09" name="Text Box 103">
                  <a:extLst>
                    <a:ext uri="{FF2B5EF4-FFF2-40B4-BE49-F238E27FC236}">
                      <a16:creationId xmlns:a16="http://schemas.microsoft.com/office/drawing/2014/main" id="{062AF76E-4211-561D-7F78-BB2301E13391}"/>
                    </a:ext>
                  </a:extLst>
                </p:cNvPr>
                <p:cNvSpPr txBox="1">
                  <a:spLocks noChangeArrowheads="1"/>
                </p:cNvSpPr>
                <p:nvPr/>
              </p:nvSpPr>
              <p:spPr bwMode="auto">
                <a:xfrm>
                  <a:off x="8977" y="3927"/>
                  <a:ext cx="19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风</a:t>
                  </a:r>
                </a:p>
              </p:txBody>
            </p:sp>
          </p:grpSp>
          <p:grpSp>
            <p:nvGrpSpPr>
              <p:cNvPr id="38999" name="Group 104">
                <a:extLst>
                  <a:ext uri="{FF2B5EF4-FFF2-40B4-BE49-F238E27FC236}">
                    <a16:creationId xmlns:a16="http://schemas.microsoft.com/office/drawing/2014/main" id="{8CB5AF78-12D4-CB54-1BC4-BDF1A177BA69}"/>
                  </a:ext>
                </a:extLst>
              </p:cNvPr>
              <p:cNvGrpSpPr>
                <a:grpSpLocks/>
              </p:cNvGrpSpPr>
              <p:nvPr/>
            </p:nvGrpSpPr>
            <p:grpSpPr bwMode="auto">
              <a:xfrm>
                <a:off x="2780" y="2082"/>
                <a:ext cx="165" cy="198"/>
                <a:chOff x="8970" y="3927"/>
                <a:chExt cx="210" cy="228"/>
              </a:xfrm>
            </p:grpSpPr>
            <p:sp>
              <p:nvSpPr>
                <p:cNvPr id="39006" name="Rectangle 105">
                  <a:extLst>
                    <a:ext uri="{FF2B5EF4-FFF2-40B4-BE49-F238E27FC236}">
                      <a16:creationId xmlns:a16="http://schemas.microsoft.com/office/drawing/2014/main" id="{88E869A3-F2C0-6B78-4518-C5E09DF978E0}"/>
                    </a:ext>
                  </a:extLst>
                </p:cNvPr>
                <p:cNvSpPr>
                  <a:spLocks noChangeArrowheads="1"/>
                </p:cNvSpPr>
                <p:nvPr/>
              </p:nvSpPr>
              <p:spPr bwMode="auto">
                <a:xfrm>
                  <a:off x="8970" y="3930"/>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07" name="Text Box 106">
                  <a:extLst>
                    <a:ext uri="{FF2B5EF4-FFF2-40B4-BE49-F238E27FC236}">
                      <a16:creationId xmlns:a16="http://schemas.microsoft.com/office/drawing/2014/main" id="{3C2AECE3-1D53-AACA-0D28-70C69652E408}"/>
                    </a:ext>
                  </a:extLst>
                </p:cNvPr>
                <p:cNvSpPr txBox="1">
                  <a:spLocks noChangeArrowheads="1"/>
                </p:cNvSpPr>
                <p:nvPr/>
              </p:nvSpPr>
              <p:spPr bwMode="auto">
                <a:xfrm>
                  <a:off x="8977" y="3927"/>
                  <a:ext cx="19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险</a:t>
                  </a:r>
                </a:p>
              </p:txBody>
            </p:sp>
          </p:grpSp>
          <p:grpSp>
            <p:nvGrpSpPr>
              <p:cNvPr id="39000" name="Group 107">
                <a:extLst>
                  <a:ext uri="{FF2B5EF4-FFF2-40B4-BE49-F238E27FC236}">
                    <a16:creationId xmlns:a16="http://schemas.microsoft.com/office/drawing/2014/main" id="{AEE48AB5-65D3-3E9B-2CBD-6E05C87ABD7F}"/>
                  </a:ext>
                </a:extLst>
              </p:cNvPr>
              <p:cNvGrpSpPr>
                <a:grpSpLocks/>
              </p:cNvGrpSpPr>
              <p:nvPr/>
            </p:nvGrpSpPr>
            <p:grpSpPr bwMode="auto">
              <a:xfrm>
                <a:off x="2995" y="2207"/>
                <a:ext cx="165" cy="198"/>
                <a:chOff x="8970" y="3927"/>
                <a:chExt cx="210" cy="228"/>
              </a:xfrm>
            </p:grpSpPr>
            <p:sp>
              <p:nvSpPr>
                <p:cNvPr id="39004" name="Rectangle 108">
                  <a:extLst>
                    <a:ext uri="{FF2B5EF4-FFF2-40B4-BE49-F238E27FC236}">
                      <a16:creationId xmlns:a16="http://schemas.microsoft.com/office/drawing/2014/main" id="{4140C857-47A8-5F53-3722-0582CA80FD09}"/>
                    </a:ext>
                  </a:extLst>
                </p:cNvPr>
                <p:cNvSpPr>
                  <a:spLocks noChangeArrowheads="1"/>
                </p:cNvSpPr>
                <p:nvPr/>
              </p:nvSpPr>
              <p:spPr bwMode="auto">
                <a:xfrm>
                  <a:off x="8970" y="3930"/>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05" name="Text Box 109">
                  <a:extLst>
                    <a:ext uri="{FF2B5EF4-FFF2-40B4-BE49-F238E27FC236}">
                      <a16:creationId xmlns:a16="http://schemas.microsoft.com/office/drawing/2014/main" id="{50E1DF41-81E2-8C1D-E3CE-42A93F2ADD57}"/>
                    </a:ext>
                  </a:extLst>
                </p:cNvPr>
                <p:cNvSpPr txBox="1">
                  <a:spLocks noChangeArrowheads="1"/>
                </p:cNvSpPr>
                <p:nvPr/>
              </p:nvSpPr>
              <p:spPr bwMode="auto">
                <a:xfrm>
                  <a:off x="8977" y="3927"/>
                  <a:ext cx="19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分</a:t>
                  </a:r>
                </a:p>
              </p:txBody>
            </p:sp>
          </p:grpSp>
          <p:grpSp>
            <p:nvGrpSpPr>
              <p:cNvPr id="39001" name="Group 110">
                <a:extLst>
                  <a:ext uri="{FF2B5EF4-FFF2-40B4-BE49-F238E27FC236}">
                    <a16:creationId xmlns:a16="http://schemas.microsoft.com/office/drawing/2014/main" id="{B04FE0CB-017B-AEF6-9EB4-6B0260933A7E}"/>
                  </a:ext>
                </a:extLst>
              </p:cNvPr>
              <p:cNvGrpSpPr>
                <a:grpSpLocks/>
              </p:cNvGrpSpPr>
              <p:nvPr/>
            </p:nvGrpSpPr>
            <p:grpSpPr bwMode="auto">
              <a:xfrm>
                <a:off x="3160" y="2327"/>
                <a:ext cx="165" cy="198"/>
                <a:chOff x="8970" y="3927"/>
                <a:chExt cx="210" cy="228"/>
              </a:xfrm>
            </p:grpSpPr>
            <p:sp>
              <p:nvSpPr>
                <p:cNvPr id="39002" name="Rectangle 111">
                  <a:extLst>
                    <a:ext uri="{FF2B5EF4-FFF2-40B4-BE49-F238E27FC236}">
                      <a16:creationId xmlns:a16="http://schemas.microsoft.com/office/drawing/2014/main" id="{5BF47757-EB69-9266-44EE-10DEE57CFCED}"/>
                    </a:ext>
                  </a:extLst>
                </p:cNvPr>
                <p:cNvSpPr>
                  <a:spLocks noChangeArrowheads="1"/>
                </p:cNvSpPr>
                <p:nvPr/>
              </p:nvSpPr>
              <p:spPr bwMode="auto">
                <a:xfrm>
                  <a:off x="8970" y="3930"/>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003" name="Text Box 112">
                  <a:extLst>
                    <a:ext uri="{FF2B5EF4-FFF2-40B4-BE49-F238E27FC236}">
                      <a16:creationId xmlns:a16="http://schemas.microsoft.com/office/drawing/2014/main" id="{C4F91967-F244-906C-B829-169C7A19CFB1}"/>
                    </a:ext>
                  </a:extLst>
                </p:cNvPr>
                <p:cNvSpPr txBox="1">
                  <a:spLocks noChangeArrowheads="1"/>
                </p:cNvSpPr>
                <p:nvPr/>
              </p:nvSpPr>
              <p:spPr bwMode="auto">
                <a:xfrm>
                  <a:off x="8977" y="3927"/>
                  <a:ext cx="19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析</a:t>
                  </a:r>
                </a:p>
              </p:txBody>
            </p:sp>
          </p:grpSp>
        </p:grpSp>
        <p:grpSp>
          <p:nvGrpSpPr>
            <p:cNvPr id="38965" name="Group 113">
              <a:extLst>
                <a:ext uri="{FF2B5EF4-FFF2-40B4-BE49-F238E27FC236}">
                  <a16:creationId xmlns:a16="http://schemas.microsoft.com/office/drawing/2014/main" id="{E9EC37D6-9BE6-058B-A6A6-F0D461C679BF}"/>
                </a:ext>
              </a:extLst>
            </p:cNvPr>
            <p:cNvGrpSpPr>
              <a:grpSpLocks/>
            </p:cNvGrpSpPr>
            <p:nvPr/>
          </p:nvGrpSpPr>
          <p:grpSpPr bwMode="auto">
            <a:xfrm>
              <a:off x="8490" y="10042"/>
              <a:ext cx="940" cy="658"/>
              <a:chOff x="6255" y="1587"/>
              <a:chExt cx="940" cy="658"/>
            </a:xfrm>
          </p:grpSpPr>
          <p:grpSp>
            <p:nvGrpSpPr>
              <p:cNvPr id="38987" name="Group 114">
                <a:extLst>
                  <a:ext uri="{FF2B5EF4-FFF2-40B4-BE49-F238E27FC236}">
                    <a16:creationId xmlns:a16="http://schemas.microsoft.com/office/drawing/2014/main" id="{3D0C73BD-4742-D600-1EE7-948CE17CDA77}"/>
                  </a:ext>
                </a:extLst>
              </p:cNvPr>
              <p:cNvGrpSpPr>
                <a:grpSpLocks/>
              </p:cNvGrpSpPr>
              <p:nvPr/>
            </p:nvGrpSpPr>
            <p:grpSpPr bwMode="auto">
              <a:xfrm>
                <a:off x="6255" y="1587"/>
                <a:ext cx="165" cy="198"/>
                <a:chOff x="8970" y="3927"/>
                <a:chExt cx="210" cy="228"/>
              </a:xfrm>
            </p:grpSpPr>
            <p:sp>
              <p:nvSpPr>
                <p:cNvPr id="38996" name="Rectangle 115">
                  <a:extLst>
                    <a:ext uri="{FF2B5EF4-FFF2-40B4-BE49-F238E27FC236}">
                      <a16:creationId xmlns:a16="http://schemas.microsoft.com/office/drawing/2014/main" id="{57F7E685-B1FA-8F6D-D043-8443BB1C02F1}"/>
                    </a:ext>
                  </a:extLst>
                </p:cNvPr>
                <p:cNvSpPr>
                  <a:spLocks noChangeArrowheads="1"/>
                </p:cNvSpPr>
                <p:nvPr/>
              </p:nvSpPr>
              <p:spPr bwMode="auto">
                <a:xfrm>
                  <a:off x="8970" y="3930"/>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8997" name="Text Box 116">
                  <a:extLst>
                    <a:ext uri="{FF2B5EF4-FFF2-40B4-BE49-F238E27FC236}">
                      <a16:creationId xmlns:a16="http://schemas.microsoft.com/office/drawing/2014/main" id="{FC804D0A-BAA1-F0CF-1EDB-CA9BC9F0EDF8}"/>
                    </a:ext>
                  </a:extLst>
                </p:cNvPr>
                <p:cNvSpPr txBox="1">
                  <a:spLocks noChangeArrowheads="1"/>
                </p:cNvSpPr>
                <p:nvPr/>
              </p:nvSpPr>
              <p:spPr bwMode="auto">
                <a:xfrm>
                  <a:off x="8977" y="3927"/>
                  <a:ext cx="19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风</a:t>
                  </a:r>
                </a:p>
              </p:txBody>
            </p:sp>
          </p:grpSp>
          <p:grpSp>
            <p:nvGrpSpPr>
              <p:cNvPr id="38988" name="Group 117">
                <a:extLst>
                  <a:ext uri="{FF2B5EF4-FFF2-40B4-BE49-F238E27FC236}">
                    <a16:creationId xmlns:a16="http://schemas.microsoft.com/office/drawing/2014/main" id="{C04BF073-8D76-FFE1-538D-2CA86160BC5D}"/>
                  </a:ext>
                </a:extLst>
              </p:cNvPr>
              <p:cNvGrpSpPr>
                <a:grpSpLocks/>
              </p:cNvGrpSpPr>
              <p:nvPr/>
            </p:nvGrpSpPr>
            <p:grpSpPr bwMode="auto">
              <a:xfrm>
                <a:off x="6570" y="1692"/>
                <a:ext cx="165" cy="198"/>
                <a:chOff x="8970" y="3927"/>
                <a:chExt cx="210" cy="228"/>
              </a:xfrm>
            </p:grpSpPr>
            <p:sp>
              <p:nvSpPr>
                <p:cNvPr id="38994" name="Rectangle 118">
                  <a:extLst>
                    <a:ext uri="{FF2B5EF4-FFF2-40B4-BE49-F238E27FC236}">
                      <a16:creationId xmlns:a16="http://schemas.microsoft.com/office/drawing/2014/main" id="{B4F85F5E-80E1-7795-DFA7-A53A8B898D3C}"/>
                    </a:ext>
                  </a:extLst>
                </p:cNvPr>
                <p:cNvSpPr>
                  <a:spLocks noChangeArrowheads="1"/>
                </p:cNvSpPr>
                <p:nvPr/>
              </p:nvSpPr>
              <p:spPr bwMode="auto">
                <a:xfrm>
                  <a:off x="8970" y="3930"/>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8995" name="Text Box 119">
                  <a:extLst>
                    <a:ext uri="{FF2B5EF4-FFF2-40B4-BE49-F238E27FC236}">
                      <a16:creationId xmlns:a16="http://schemas.microsoft.com/office/drawing/2014/main" id="{FE46C801-96FF-1E2B-3B46-06458BCC32C0}"/>
                    </a:ext>
                  </a:extLst>
                </p:cNvPr>
                <p:cNvSpPr txBox="1">
                  <a:spLocks noChangeArrowheads="1"/>
                </p:cNvSpPr>
                <p:nvPr/>
              </p:nvSpPr>
              <p:spPr bwMode="auto">
                <a:xfrm>
                  <a:off x="8977" y="3927"/>
                  <a:ext cx="19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险</a:t>
                  </a:r>
                </a:p>
              </p:txBody>
            </p:sp>
          </p:grpSp>
          <p:sp>
            <p:nvSpPr>
              <p:cNvPr id="38989" name="Rectangle 120">
                <a:extLst>
                  <a:ext uri="{FF2B5EF4-FFF2-40B4-BE49-F238E27FC236}">
                    <a16:creationId xmlns:a16="http://schemas.microsoft.com/office/drawing/2014/main" id="{37CB17CB-7573-7097-7D37-74DEFCDD653E}"/>
                  </a:ext>
                </a:extLst>
              </p:cNvPr>
              <p:cNvSpPr>
                <a:spLocks noChangeArrowheads="1"/>
              </p:cNvSpPr>
              <p:nvPr/>
            </p:nvSpPr>
            <p:spPr bwMode="auto">
              <a:xfrm>
                <a:off x="6835" y="1850"/>
                <a:ext cx="16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8990" name="Text Box 121">
                <a:extLst>
                  <a:ext uri="{FF2B5EF4-FFF2-40B4-BE49-F238E27FC236}">
                    <a16:creationId xmlns:a16="http://schemas.microsoft.com/office/drawing/2014/main" id="{DBB5005F-CF9C-6A66-F230-9B300E236E8F}"/>
                  </a:ext>
                </a:extLst>
              </p:cNvPr>
              <p:cNvSpPr txBox="1">
                <a:spLocks noChangeArrowheads="1"/>
              </p:cNvSpPr>
              <p:nvPr/>
            </p:nvSpPr>
            <p:spPr bwMode="auto">
              <a:xfrm>
                <a:off x="6841" y="1847"/>
                <a:ext cx="153"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分</a:t>
                </a:r>
              </a:p>
            </p:txBody>
          </p:sp>
          <p:grpSp>
            <p:nvGrpSpPr>
              <p:cNvPr id="38991" name="Group 122">
                <a:extLst>
                  <a:ext uri="{FF2B5EF4-FFF2-40B4-BE49-F238E27FC236}">
                    <a16:creationId xmlns:a16="http://schemas.microsoft.com/office/drawing/2014/main" id="{8A59A8EE-0D27-38BA-C55E-CD4CB78FDB64}"/>
                  </a:ext>
                </a:extLst>
              </p:cNvPr>
              <p:cNvGrpSpPr>
                <a:grpSpLocks/>
              </p:cNvGrpSpPr>
              <p:nvPr/>
            </p:nvGrpSpPr>
            <p:grpSpPr bwMode="auto">
              <a:xfrm>
                <a:off x="7030" y="2047"/>
                <a:ext cx="165" cy="198"/>
                <a:chOff x="8970" y="3927"/>
                <a:chExt cx="210" cy="228"/>
              </a:xfrm>
            </p:grpSpPr>
            <p:sp>
              <p:nvSpPr>
                <p:cNvPr id="38992" name="Rectangle 123">
                  <a:extLst>
                    <a:ext uri="{FF2B5EF4-FFF2-40B4-BE49-F238E27FC236}">
                      <a16:creationId xmlns:a16="http://schemas.microsoft.com/office/drawing/2014/main" id="{920C3A77-7E3F-6C1B-B8C9-6F4CC716B9C3}"/>
                    </a:ext>
                  </a:extLst>
                </p:cNvPr>
                <p:cNvSpPr>
                  <a:spLocks noChangeArrowheads="1"/>
                </p:cNvSpPr>
                <p:nvPr/>
              </p:nvSpPr>
              <p:spPr bwMode="auto">
                <a:xfrm>
                  <a:off x="8970" y="3930"/>
                  <a:ext cx="2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8993" name="Text Box 124">
                  <a:extLst>
                    <a:ext uri="{FF2B5EF4-FFF2-40B4-BE49-F238E27FC236}">
                      <a16:creationId xmlns:a16="http://schemas.microsoft.com/office/drawing/2014/main" id="{CD7F5D14-7BD7-5E76-9821-C053C59AEFA7}"/>
                    </a:ext>
                  </a:extLst>
                </p:cNvPr>
                <p:cNvSpPr txBox="1">
                  <a:spLocks noChangeArrowheads="1"/>
                </p:cNvSpPr>
                <p:nvPr/>
              </p:nvSpPr>
              <p:spPr bwMode="auto">
                <a:xfrm>
                  <a:off x="8977" y="3927"/>
                  <a:ext cx="19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kumimoji="0" lang="zh-CN" altLang="en-US" sz="1400">
                      <a:solidFill>
                        <a:schemeClr val="folHlink"/>
                      </a:solidFill>
                      <a:latin typeface="Times New Roman" panose="02020603050405020304" pitchFamily="18" charset="0"/>
                    </a:rPr>
                    <a:t>析</a:t>
                  </a:r>
                </a:p>
              </p:txBody>
            </p:sp>
          </p:grpSp>
        </p:grpSp>
        <p:grpSp>
          <p:nvGrpSpPr>
            <p:cNvPr id="38966" name="Group 125">
              <a:extLst>
                <a:ext uri="{FF2B5EF4-FFF2-40B4-BE49-F238E27FC236}">
                  <a16:creationId xmlns:a16="http://schemas.microsoft.com/office/drawing/2014/main" id="{F82C759B-4E4B-754F-3BD6-906AFBD25F34}"/>
                </a:ext>
              </a:extLst>
            </p:cNvPr>
            <p:cNvGrpSpPr>
              <a:grpSpLocks/>
            </p:cNvGrpSpPr>
            <p:nvPr/>
          </p:nvGrpSpPr>
          <p:grpSpPr bwMode="auto">
            <a:xfrm>
              <a:off x="7885" y="12505"/>
              <a:ext cx="1990" cy="1107"/>
              <a:chOff x="7885" y="12505"/>
              <a:chExt cx="1990" cy="1107"/>
            </a:xfrm>
          </p:grpSpPr>
          <p:sp>
            <p:nvSpPr>
              <p:cNvPr id="38967" name="Line 126">
                <a:extLst>
                  <a:ext uri="{FF2B5EF4-FFF2-40B4-BE49-F238E27FC236}">
                    <a16:creationId xmlns:a16="http://schemas.microsoft.com/office/drawing/2014/main" id="{102ED166-0351-AB1B-3E64-A350C20AA610}"/>
                  </a:ext>
                </a:extLst>
              </p:cNvPr>
              <p:cNvSpPr>
                <a:spLocks noChangeShapeType="1"/>
              </p:cNvSpPr>
              <p:nvPr/>
            </p:nvSpPr>
            <p:spPr bwMode="auto">
              <a:xfrm>
                <a:off x="8285" y="12830"/>
                <a:ext cx="0" cy="782"/>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68" name="Line 127">
                <a:extLst>
                  <a:ext uri="{FF2B5EF4-FFF2-40B4-BE49-F238E27FC236}">
                    <a16:creationId xmlns:a16="http://schemas.microsoft.com/office/drawing/2014/main" id="{BDBFDCA5-F9E5-1D61-E12D-BFCAB45E7699}"/>
                  </a:ext>
                </a:extLst>
              </p:cNvPr>
              <p:cNvSpPr>
                <a:spLocks noChangeShapeType="1"/>
              </p:cNvSpPr>
              <p:nvPr/>
            </p:nvSpPr>
            <p:spPr bwMode="auto">
              <a:xfrm>
                <a:off x="8675" y="12740"/>
                <a:ext cx="0" cy="765"/>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69" name="Line 128">
                <a:extLst>
                  <a:ext uri="{FF2B5EF4-FFF2-40B4-BE49-F238E27FC236}">
                    <a16:creationId xmlns:a16="http://schemas.microsoft.com/office/drawing/2014/main" id="{5E76DFBC-816C-C7E7-3953-D30EED4EAE73}"/>
                  </a:ext>
                </a:extLst>
              </p:cNvPr>
              <p:cNvSpPr>
                <a:spLocks noChangeShapeType="1"/>
              </p:cNvSpPr>
              <p:nvPr/>
            </p:nvSpPr>
            <p:spPr bwMode="auto">
              <a:xfrm flipH="1">
                <a:off x="9047" y="12510"/>
                <a:ext cx="0" cy="811"/>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70" name="Line 129">
                <a:extLst>
                  <a:ext uri="{FF2B5EF4-FFF2-40B4-BE49-F238E27FC236}">
                    <a16:creationId xmlns:a16="http://schemas.microsoft.com/office/drawing/2014/main" id="{061D43BB-BA3E-2DEB-9059-13392071E158}"/>
                  </a:ext>
                </a:extLst>
              </p:cNvPr>
              <p:cNvSpPr>
                <a:spLocks noChangeShapeType="1"/>
              </p:cNvSpPr>
              <p:nvPr/>
            </p:nvSpPr>
            <p:spPr bwMode="auto">
              <a:xfrm>
                <a:off x="9047" y="12517"/>
                <a:ext cx="828" cy="0"/>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71" name="Line 130">
                <a:extLst>
                  <a:ext uri="{FF2B5EF4-FFF2-40B4-BE49-F238E27FC236}">
                    <a16:creationId xmlns:a16="http://schemas.microsoft.com/office/drawing/2014/main" id="{6F17EF10-E1B7-F57F-CFE5-F0B4205DFD49}"/>
                  </a:ext>
                </a:extLst>
              </p:cNvPr>
              <p:cNvSpPr>
                <a:spLocks noChangeShapeType="1"/>
              </p:cNvSpPr>
              <p:nvPr/>
            </p:nvSpPr>
            <p:spPr bwMode="auto">
              <a:xfrm flipH="1">
                <a:off x="9425" y="12515"/>
                <a:ext cx="0" cy="522"/>
              </a:xfrm>
              <a:prstGeom prst="line">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8972" name="Group 131">
                <a:extLst>
                  <a:ext uri="{FF2B5EF4-FFF2-40B4-BE49-F238E27FC236}">
                    <a16:creationId xmlns:a16="http://schemas.microsoft.com/office/drawing/2014/main" id="{082C1800-8CF6-3104-5152-DA4A33172F4A}"/>
                  </a:ext>
                </a:extLst>
              </p:cNvPr>
              <p:cNvGrpSpPr>
                <a:grpSpLocks/>
              </p:cNvGrpSpPr>
              <p:nvPr/>
            </p:nvGrpSpPr>
            <p:grpSpPr bwMode="auto">
              <a:xfrm>
                <a:off x="8250" y="12921"/>
                <a:ext cx="465" cy="574"/>
                <a:chOff x="7260" y="2696"/>
                <a:chExt cx="555" cy="364"/>
              </a:xfrm>
            </p:grpSpPr>
            <p:sp>
              <p:nvSpPr>
                <p:cNvPr id="38985" name="Rectangle 132">
                  <a:extLst>
                    <a:ext uri="{FF2B5EF4-FFF2-40B4-BE49-F238E27FC236}">
                      <a16:creationId xmlns:a16="http://schemas.microsoft.com/office/drawing/2014/main" id="{2C54F360-A176-4D82-AEC2-2E2DEB685B7E}"/>
                    </a:ext>
                  </a:extLst>
                </p:cNvPr>
                <p:cNvSpPr>
                  <a:spLocks noChangeArrowheads="1"/>
                </p:cNvSpPr>
                <p:nvPr/>
              </p:nvSpPr>
              <p:spPr bwMode="auto">
                <a:xfrm>
                  <a:off x="7260" y="2715"/>
                  <a:ext cx="555"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8986" name="Text Box 133">
                  <a:extLst>
                    <a:ext uri="{FF2B5EF4-FFF2-40B4-BE49-F238E27FC236}">
                      <a16:creationId xmlns:a16="http://schemas.microsoft.com/office/drawing/2014/main" id="{17D503CD-EE85-1C63-A695-DFD836684509}"/>
                    </a:ext>
                  </a:extLst>
                </p:cNvPr>
                <p:cNvSpPr txBox="1">
                  <a:spLocks noChangeArrowheads="1"/>
                </p:cNvSpPr>
                <p:nvPr/>
              </p:nvSpPr>
              <p:spPr bwMode="auto">
                <a:xfrm>
                  <a:off x="7288" y="2696"/>
                  <a:ext cx="485"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kumimoji="0" lang="zh-CN" altLang="en-US" sz="1400">
                      <a:solidFill>
                        <a:schemeClr val="folHlink"/>
                      </a:solidFill>
                      <a:latin typeface="Times New Roman" panose="02020603050405020304" pitchFamily="18" charset="0"/>
                    </a:rPr>
                    <a:t>验收</a:t>
                  </a:r>
                </a:p>
                <a:p>
                  <a:pPr algn="ctr">
                    <a:lnSpc>
                      <a:spcPct val="64000"/>
                    </a:lnSpc>
                    <a:spcBef>
                      <a:spcPct val="0"/>
                    </a:spcBef>
                    <a:buClrTx/>
                    <a:buFontTx/>
                    <a:buNone/>
                  </a:pPr>
                  <a:endParaRPr kumimoji="0" lang="zh-CN" altLang="en-US" sz="1400">
                    <a:solidFill>
                      <a:schemeClr val="folHlink"/>
                    </a:solidFill>
                    <a:latin typeface="Times New Roman" panose="02020603050405020304" pitchFamily="18" charset="0"/>
                  </a:endParaRPr>
                </a:p>
                <a:p>
                  <a:pPr algn="ctr">
                    <a:lnSpc>
                      <a:spcPct val="64000"/>
                    </a:lnSpc>
                    <a:spcBef>
                      <a:spcPct val="0"/>
                    </a:spcBef>
                    <a:buClrTx/>
                    <a:buFontTx/>
                    <a:buNone/>
                  </a:pPr>
                  <a:r>
                    <a:rPr kumimoji="0" lang="zh-CN" altLang="en-US" sz="1400">
                      <a:solidFill>
                        <a:schemeClr val="folHlink"/>
                      </a:solidFill>
                      <a:latin typeface="Times New Roman" panose="02020603050405020304" pitchFamily="18" charset="0"/>
                    </a:rPr>
                    <a:t>测试</a:t>
                  </a:r>
                </a:p>
              </p:txBody>
            </p:sp>
          </p:grpSp>
          <p:grpSp>
            <p:nvGrpSpPr>
              <p:cNvPr id="38973" name="Group 134">
                <a:extLst>
                  <a:ext uri="{FF2B5EF4-FFF2-40B4-BE49-F238E27FC236}">
                    <a16:creationId xmlns:a16="http://schemas.microsoft.com/office/drawing/2014/main" id="{CCFF897E-F977-0EC7-9D0A-D7DDE3395301}"/>
                  </a:ext>
                </a:extLst>
              </p:cNvPr>
              <p:cNvGrpSpPr>
                <a:grpSpLocks/>
              </p:cNvGrpSpPr>
              <p:nvPr/>
            </p:nvGrpSpPr>
            <p:grpSpPr bwMode="auto">
              <a:xfrm>
                <a:off x="7885" y="13125"/>
                <a:ext cx="430" cy="235"/>
                <a:chOff x="8685" y="2745"/>
                <a:chExt cx="510" cy="225"/>
              </a:xfrm>
            </p:grpSpPr>
            <p:sp>
              <p:nvSpPr>
                <p:cNvPr id="38983" name="Rectangle 135">
                  <a:extLst>
                    <a:ext uri="{FF2B5EF4-FFF2-40B4-BE49-F238E27FC236}">
                      <a16:creationId xmlns:a16="http://schemas.microsoft.com/office/drawing/2014/main" id="{AF387201-B597-AA52-DC93-F4F4645E3921}"/>
                    </a:ext>
                  </a:extLst>
                </p:cNvPr>
                <p:cNvSpPr>
                  <a:spLocks noChangeArrowheads="1"/>
                </p:cNvSpPr>
                <p:nvPr/>
              </p:nvSpPr>
              <p:spPr bwMode="auto">
                <a:xfrm>
                  <a:off x="8685" y="2745"/>
                  <a:ext cx="5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8984" name="Text Box 136">
                  <a:extLst>
                    <a:ext uri="{FF2B5EF4-FFF2-40B4-BE49-F238E27FC236}">
                      <a16:creationId xmlns:a16="http://schemas.microsoft.com/office/drawing/2014/main" id="{2C12317D-16DC-FC56-3966-245DDDBBA085}"/>
                    </a:ext>
                  </a:extLst>
                </p:cNvPr>
                <p:cNvSpPr txBox="1">
                  <a:spLocks noChangeArrowheads="1"/>
                </p:cNvSpPr>
                <p:nvPr/>
              </p:nvSpPr>
              <p:spPr bwMode="auto">
                <a:xfrm>
                  <a:off x="8738" y="2772"/>
                  <a:ext cx="40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kumimoji="0" lang="zh-CN" altLang="en-US" sz="1400">
                      <a:solidFill>
                        <a:schemeClr val="folHlink"/>
                      </a:solidFill>
                      <a:latin typeface="Times New Roman" panose="02020603050405020304" pitchFamily="18" charset="0"/>
                    </a:rPr>
                    <a:t>实现</a:t>
                  </a:r>
                </a:p>
              </p:txBody>
            </p:sp>
          </p:grpSp>
          <p:grpSp>
            <p:nvGrpSpPr>
              <p:cNvPr id="38974" name="Group 137">
                <a:extLst>
                  <a:ext uri="{FF2B5EF4-FFF2-40B4-BE49-F238E27FC236}">
                    <a16:creationId xmlns:a16="http://schemas.microsoft.com/office/drawing/2014/main" id="{F9CB6D48-DD6E-5426-EFB1-438C6C2CA7BB}"/>
                  </a:ext>
                </a:extLst>
              </p:cNvPr>
              <p:cNvGrpSpPr>
                <a:grpSpLocks/>
              </p:cNvGrpSpPr>
              <p:nvPr/>
            </p:nvGrpSpPr>
            <p:grpSpPr bwMode="auto">
              <a:xfrm>
                <a:off x="8645" y="12771"/>
                <a:ext cx="465" cy="574"/>
                <a:chOff x="7260" y="2696"/>
                <a:chExt cx="555" cy="364"/>
              </a:xfrm>
            </p:grpSpPr>
            <p:sp>
              <p:nvSpPr>
                <p:cNvPr id="38981" name="Rectangle 138">
                  <a:extLst>
                    <a:ext uri="{FF2B5EF4-FFF2-40B4-BE49-F238E27FC236}">
                      <a16:creationId xmlns:a16="http://schemas.microsoft.com/office/drawing/2014/main" id="{65074CF5-4C62-080C-55EB-CF738B9A58B7}"/>
                    </a:ext>
                  </a:extLst>
                </p:cNvPr>
                <p:cNvSpPr>
                  <a:spLocks noChangeArrowheads="1"/>
                </p:cNvSpPr>
                <p:nvPr/>
              </p:nvSpPr>
              <p:spPr bwMode="auto">
                <a:xfrm>
                  <a:off x="7260" y="2715"/>
                  <a:ext cx="555"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8982" name="Text Box 139">
                  <a:extLst>
                    <a:ext uri="{FF2B5EF4-FFF2-40B4-BE49-F238E27FC236}">
                      <a16:creationId xmlns:a16="http://schemas.microsoft.com/office/drawing/2014/main" id="{5E78FAD9-FBA9-9EF9-1457-539800DD08DC}"/>
                    </a:ext>
                  </a:extLst>
                </p:cNvPr>
                <p:cNvSpPr txBox="1">
                  <a:spLocks noChangeArrowheads="1"/>
                </p:cNvSpPr>
                <p:nvPr/>
              </p:nvSpPr>
              <p:spPr bwMode="auto">
                <a:xfrm>
                  <a:off x="7288" y="2696"/>
                  <a:ext cx="485"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kumimoji="0" lang="zh-CN" altLang="en-US" sz="1400">
                      <a:solidFill>
                        <a:schemeClr val="folHlink"/>
                      </a:solidFill>
                      <a:latin typeface="Times New Roman" panose="02020603050405020304" pitchFamily="18" charset="0"/>
                    </a:rPr>
                    <a:t>集成</a:t>
                  </a:r>
                </a:p>
                <a:p>
                  <a:pPr algn="ctr">
                    <a:lnSpc>
                      <a:spcPct val="64000"/>
                    </a:lnSpc>
                    <a:spcBef>
                      <a:spcPct val="0"/>
                    </a:spcBef>
                    <a:buClrTx/>
                    <a:buFontTx/>
                    <a:buNone/>
                  </a:pPr>
                  <a:r>
                    <a:rPr kumimoji="0" lang="zh-CN" altLang="en-US" sz="1400">
                      <a:solidFill>
                        <a:schemeClr val="folHlink"/>
                      </a:solidFill>
                      <a:latin typeface="Times New Roman" panose="02020603050405020304" pitchFamily="18" charset="0"/>
                    </a:rPr>
                    <a:t>与</a:t>
                  </a:r>
                </a:p>
                <a:p>
                  <a:pPr algn="ctr">
                    <a:lnSpc>
                      <a:spcPct val="64000"/>
                    </a:lnSpc>
                    <a:spcBef>
                      <a:spcPct val="0"/>
                    </a:spcBef>
                    <a:buClrTx/>
                    <a:buFontTx/>
                    <a:buNone/>
                  </a:pPr>
                  <a:r>
                    <a:rPr kumimoji="0" lang="zh-CN" altLang="en-US" sz="1400">
                      <a:solidFill>
                        <a:schemeClr val="folHlink"/>
                      </a:solidFill>
                      <a:latin typeface="Times New Roman" panose="02020603050405020304" pitchFamily="18" charset="0"/>
                    </a:rPr>
                    <a:t>测试</a:t>
                  </a:r>
                </a:p>
              </p:txBody>
            </p:sp>
          </p:grpSp>
          <p:grpSp>
            <p:nvGrpSpPr>
              <p:cNvPr id="38975" name="Group 140">
                <a:extLst>
                  <a:ext uri="{FF2B5EF4-FFF2-40B4-BE49-F238E27FC236}">
                    <a16:creationId xmlns:a16="http://schemas.microsoft.com/office/drawing/2014/main" id="{A42259C0-74D9-7D6E-7C4E-E935CA3B755F}"/>
                  </a:ext>
                </a:extLst>
              </p:cNvPr>
              <p:cNvGrpSpPr>
                <a:grpSpLocks/>
              </p:cNvGrpSpPr>
              <p:nvPr/>
            </p:nvGrpSpPr>
            <p:grpSpPr bwMode="auto">
              <a:xfrm>
                <a:off x="9020" y="12536"/>
                <a:ext cx="465" cy="557"/>
                <a:chOff x="10935" y="12741"/>
                <a:chExt cx="465" cy="557"/>
              </a:xfrm>
            </p:grpSpPr>
            <p:sp>
              <p:nvSpPr>
                <p:cNvPr id="38979" name="Rectangle 141">
                  <a:extLst>
                    <a:ext uri="{FF2B5EF4-FFF2-40B4-BE49-F238E27FC236}">
                      <a16:creationId xmlns:a16="http://schemas.microsoft.com/office/drawing/2014/main" id="{54213083-7BAA-AF7D-7668-4485314A2BB1}"/>
                    </a:ext>
                  </a:extLst>
                </p:cNvPr>
                <p:cNvSpPr>
                  <a:spLocks noChangeArrowheads="1"/>
                </p:cNvSpPr>
                <p:nvPr/>
              </p:nvSpPr>
              <p:spPr bwMode="auto">
                <a:xfrm>
                  <a:off x="10935" y="12741"/>
                  <a:ext cx="465"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8980" name="Text Box 142">
                  <a:extLst>
                    <a:ext uri="{FF2B5EF4-FFF2-40B4-BE49-F238E27FC236}">
                      <a16:creationId xmlns:a16="http://schemas.microsoft.com/office/drawing/2014/main" id="{DD5687D1-D5A0-1D2E-4EBF-2859B5E01D96}"/>
                    </a:ext>
                  </a:extLst>
                </p:cNvPr>
                <p:cNvSpPr txBox="1">
                  <a:spLocks noChangeArrowheads="1"/>
                </p:cNvSpPr>
                <p:nvPr/>
              </p:nvSpPr>
              <p:spPr bwMode="auto">
                <a:xfrm>
                  <a:off x="10958" y="12756"/>
                  <a:ext cx="407"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kumimoji="0" lang="zh-CN" altLang="en-US" sz="1400">
                      <a:solidFill>
                        <a:schemeClr val="folHlink"/>
                      </a:solidFill>
                      <a:latin typeface="Times New Roman" panose="02020603050405020304" pitchFamily="18" charset="0"/>
                    </a:rPr>
                    <a:t>单元</a:t>
                  </a:r>
                </a:p>
                <a:p>
                  <a:pPr algn="ctr">
                    <a:lnSpc>
                      <a:spcPct val="64000"/>
                    </a:lnSpc>
                    <a:spcBef>
                      <a:spcPct val="0"/>
                    </a:spcBef>
                    <a:buClrTx/>
                    <a:buFontTx/>
                    <a:buNone/>
                  </a:pPr>
                  <a:endParaRPr kumimoji="0" lang="zh-CN" altLang="en-US" sz="1400">
                    <a:solidFill>
                      <a:schemeClr val="folHlink"/>
                    </a:solidFill>
                    <a:latin typeface="Times New Roman" panose="02020603050405020304" pitchFamily="18" charset="0"/>
                  </a:endParaRPr>
                </a:p>
                <a:p>
                  <a:pPr algn="ctr">
                    <a:lnSpc>
                      <a:spcPct val="64000"/>
                    </a:lnSpc>
                    <a:spcBef>
                      <a:spcPct val="0"/>
                    </a:spcBef>
                    <a:buClrTx/>
                    <a:buFontTx/>
                    <a:buNone/>
                  </a:pPr>
                  <a:r>
                    <a:rPr kumimoji="0" lang="zh-CN" altLang="en-US" sz="1400">
                      <a:solidFill>
                        <a:schemeClr val="folHlink"/>
                      </a:solidFill>
                      <a:latin typeface="Times New Roman" panose="02020603050405020304" pitchFamily="18" charset="0"/>
                    </a:rPr>
                    <a:t>测试</a:t>
                  </a:r>
                </a:p>
              </p:txBody>
            </p:sp>
          </p:grpSp>
          <p:grpSp>
            <p:nvGrpSpPr>
              <p:cNvPr id="38976" name="Group 143">
                <a:extLst>
                  <a:ext uri="{FF2B5EF4-FFF2-40B4-BE49-F238E27FC236}">
                    <a16:creationId xmlns:a16="http://schemas.microsoft.com/office/drawing/2014/main" id="{7DAEB4E4-9A49-E9CA-5BFD-82C9AD126AA9}"/>
                  </a:ext>
                </a:extLst>
              </p:cNvPr>
              <p:cNvGrpSpPr>
                <a:grpSpLocks/>
              </p:cNvGrpSpPr>
              <p:nvPr/>
            </p:nvGrpSpPr>
            <p:grpSpPr bwMode="auto">
              <a:xfrm>
                <a:off x="9390" y="12505"/>
                <a:ext cx="430" cy="235"/>
                <a:chOff x="10245" y="12490"/>
                <a:chExt cx="430" cy="235"/>
              </a:xfrm>
            </p:grpSpPr>
            <p:sp>
              <p:nvSpPr>
                <p:cNvPr id="38977" name="Rectangle 144">
                  <a:extLst>
                    <a:ext uri="{FF2B5EF4-FFF2-40B4-BE49-F238E27FC236}">
                      <a16:creationId xmlns:a16="http://schemas.microsoft.com/office/drawing/2014/main" id="{E0ECAD8C-973F-A94C-2029-097F4E86A9CB}"/>
                    </a:ext>
                  </a:extLst>
                </p:cNvPr>
                <p:cNvSpPr>
                  <a:spLocks noChangeArrowheads="1"/>
                </p:cNvSpPr>
                <p:nvPr/>
              </p:nvSpPr>
              <p:spPr bwMode="auto">
                <a:xfrm>
                  <a:off x="10245" y="12490"/>
                  <a:ext cx="43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8978" name="Text Box 145">
                  <a:extLst>
                    <a:ext uri="{FF2B5EF4-FFF2-40B4-BE49-F238E27FC236}">
                      <a16:creationId xmlns:a16="http://schemas.microsoft.com/office/drawing/2014/main" id="{EDF04911-5C60-D6AD-BD2C-9E5137B9E22F}"/>
                    </a:ext>
                  </a:extLst>
                </p:cNvPr>
                <p:cNvSpPr txBox="1">
                  <a:spLocks noChangeArrowheads="1"/>
                </p:cNvSpPr>
                <p:nvPr/>
              </p:nvSpPr>
              <p:spPr bwMode="auto">
                <a:xfrm>
                  <a:off x="10290" y="12518"/>
                  <a:ext cx="341"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kumimoji="0" lang="zh-CN" altLang="en-US" sz="1400">
                      <a:solidFill>
                        <a:schemeClr val="folHlink"/>
                      </a:solidFill>
                      <a:latin typeface="Times New Roman" panose="02020603050405020304" pitchFamily="18" charset="0"/>
                    </a:rPr>
                    <a:t>编码</a:t>
                  </a:r>
                </a:p>
              </p:txBody>
            </p:sp>
          </p:grpSp>
        </p:grpSp>
      </p:grpSp>
      <p:grpSp>
        <p:nvGrpSpPr>
          <p:cNvPr id="104594" name="Group 146">
            <a:extLst>
              <a:ext uri="{FF2B5EF4-FFF2-40B4-BE49-F238E27FC236}">
                <a16:creationId xmlns:a16="http://schemas.microsoft.com/office/drawing/2014/main" id="{7CB8D66F-81FE-4E23-3EC8-88D4FDA9A6F2}"/>
              </a:ext>
            </a:extLst>
          </p:cNvPr>
          <p:cNvGrpSpPr>
            <a:grpSpLocks/>
          </p:cNvGrpSpPr>
          <p:nvPr/>
        </p:nvGrpSpPr>
        <p:grpSpPr bwMode="auto">
          <a:xfrm>
            <a:off x="6430963" y="5986463"/>
            <a:ext cx="1601787" cy="671512"/>
            <a:chOff x="9270" y="13216"/>
            <a:chExt cx="945" cy="649"/>
          </a:xfrm>
        </p:grpSpPr>
        <p:grpSp>
          <p:nvGrpSpPr>
            <p:cNvPr id="38947" name="Group 147">
              <a:extLst>
                <a:ext uri="{FF2B5EF4-FFF2-40B4-BE49-F238E27FC236}">
                  <a16:creationId xmlns:a16="http://schemas.microsoft.com/office/drawing/2014/main" id="{3EA2A82A-8032-CBA4-D777-DD062A195A07}"/>
                </a:ext>
              </a:extLst>
            </p:cNvPr>
            <p:cNvGrpSpPr>
              <a:grpSpLocks/>
            </p:cNvGrpSpPr>
            <p:nvPr/>
          </p:nvGrpSpPr>
          <p:grpSpPr bwMode="auto">
            <a:xfrm>
              <a:off x="9270" y="13216"/>
              <a:ext cx="945" cy="649"/>
              <a:chOff x="7260" y="2696"/>
              <a:chExt cx="555" cy="364"/>
            </a:xfrm>
          </p:grpSpPr>
          <p:sp>
            <p:nvSpPr>
              <p:cNvPr id="38949" name="Rectangle 148">
                <a:extLst>
                  <a:ext uri="{FF2B5EF4-FFF2-40B4-BE49-F238E27FC236}">
                    <a16:creationId xmlns:a16="http://schemas.microsoft.com/office/drawing/2014/main" id="{AD403E31-DF5E-37B6-8F51-ED1866F4902A}"/>
                  </a:ext>
                </a:extLst>
              </p:cNvPr>
              <p:cNvSpPr>
                <a:spLocks noChangeArrowheads="1"/>
              </p:cNvSpPr>
              <p:nvPr/>
            </p:nvSpPr>
            <p:spPr bwMode="auto">
              <a:xfrm>
                <a:off x="7260" y="2715"/>
                <a:ext cx="555"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8950" name="Text Box 149">
                <a:extLst>
                  <a:ext uri="{FF2B5EF4-FFF2-40B4-BE49-F238E27FC236}">
                    <a16:creationId xmlns:a16="http://schemas.microsoft.com/office/drawing/2014/main" id="{8F945574-E95A-95E4-4BC8-7CC057A03F23}"/>
                  </a:ext>
                </a:extLst>
              </p:cNvPr>
              <p:cNvSpPr txBox="1">
                <a:spLocks noChangeArrowheads="1"/>
              </p:cNvSpPr>
              <p:nvPr/>
            </p:nvSpPr>
            <p:spPr bwMode="auto">
              <a:xfrm>
                <a:off x="7288" y="2696"/>
                <a:ext cx="485"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0000"/>
                  </a:lnSpc>
                  <a:spcBef>
                    <a:spcPct val="0"/>
                  </a:spcBef>
                  <a:buClrTx/>
                  <a:buFontTx/>
                  <a:buNone/>
                </a:pPr>
                <a:r>
                  <a:rPr kumimoji="0" lang="zh-CN" altLang="en-US" sz="1400">
                    <a:solidFill>
                      <a:schemeClr val="folHlink"/>
                    </a:solidFill>
                    <a:latin typeface="Times New Roman" panose="02020603050405020304" pitchFamily="18" charset="0"/>
                  </a:rPr>
                  <a:t>开发、验证</a:t>
                </a:r>
              </a:p>
              <a:p>
                <a:pPr algn="ctr">
                  <a:lnSpc>
                    <a:spcPct val="80000"/>
                  </a:lnSpc>
                  <a:spcBef>
                    <a:spcPct val="0"/>
                  </a:spcBef>
                  <a:buClrTx/>
                  <a:buFontTx/>
                  <a:buNone/>
                </a:pPr>
                <a:r>
                  <a:rPr kumimoji="0" lang="zh-CN" altLang="en-US" sz="1400">
                    <a:solidFill>
                      <a:schemeClr val="folHlink"/>
                    </a:solidFill>
                    <a:latin typeface="Times New Roman" panose="02020603050405020304" pitchFamily="18" charset="0"/>
                  </a:rPr>
                  <a:t>下一产品</a:t>
                </a:r>
              </a:p>
              <a:p>
                <a:pPr algn="ctr">
                  <a:lnSpc>
                    <a:spcPct val="80000"/>
                  </a:lnSpc>
                  <a:spcBef>
                    <a:spcPct val="0"/>
                  </a:spcBef>
                  <a:buClrTx/>
                  <a:buFontTx/>
                  <a:buNone/>
                </a:pPr>
                <a:r>
                  <a:rPr kumimoji="0" lang="zh-CN" altLang="en-US" sz="1400" u="sng">
                    <a:latin typeface="Times New Roman" panose="02020603050405020304" pitchFamily="18" charset="0"/>
                  </a:rPr>
                  <a:t>实施工程</a:t>
                </a:r>
                <a:endParaRPr kumimoji="0" lang="zh-CN" altLang="en-US" sz="1400">
                  <a:latin typeface="Times New Roman" panose="02020603050405020304" pitchFamily="18" charset="0"/>
                </a:endParaRPr>
              </a:p>
            </p:txBody>
          </p:sp>
        </p:grpSp>
        <p:sp>
          <p:nvSpPr>
            <p:cNvPr id="38948" name="Line 150">
              <a:extLst>
                <a:ext uri="{FF2B5EF4-FFF2-40B4-BE49-F238E27FC236}">
                  <a16:creationId xmlns:a16="http://schemas.microsoft.com/office/drawing/2014/main" id="{DD0CB525-53CA-E96A-0C4E-C63A1AEE3071}"/>
                </a:ext>
              </a:extLst>
            </p:cNvPr>
            <p:cNvSpPr>
              <a:spLocks noChangeShapeType="1"/>
            </p:cNvSpPr>
            <p:nvPr/>
          </p:nvSpPr>
          <p:spPr bwMode="auto">
            <a:xfrm>
              <a:off x="9440" y="13826"/>
              <a:ext cx="590"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4599" name="Group 151">
            <a:extLst>
              <a:ext uri="{FF2B5EF4-FFF2-40B4-BE49-F238E27FC236}">
                <a16:creationId xmlns:a16="http://schemas.microsoft.com/office/drawing/2014/main" id="{E1E7DF06-C388-25BE-CFD9-EDB148AA5513}"/>
              </a:ext>
            </a:extLst>
          </p:cNvPr>
          <p:cNvGrpSpPr>
            <a:grpSpLocks/>
          </p:cNvGrpSpPr>
          <p:nvPr/>
        </p:nvGrpSpPr>
        <p:grpSpPr bwMode="auto">
          <a:xfrm>
            <a:off x="1062038" y="4032250"/>
            <a:ext cx="990600" cy="454025"/>
            <a:chOff x="7260" y="2696"/>
            <a:chExt cx="555" cy="364"/>
          </a:xfrm>
        </p:grpSpPr>
        <p:sp>
          <p:nvSpPr>
            <p:cNvPr id="38945" name="Rectangle 152">
              <a:extLst>
                <a:ext uri="{FF2B5EF4-FFF2-40B4-BE49-F238E27FC236}">
                  <a16:creationId xmlns:a16="http://schemas.microsoft.com/office/drawing/2014/main" id="{91D706ED-3A97-6F3D-35DA-4DAD306B6756}"/>
                </a:ext>
              </a:extLst>
            </p:cNvPr>
            <p:cNvSpPr>
              <a:spLocks noChangeArrowheads="1"/>
            </p:cNvSpPr>
            <p:nvPr/>
          </p:nvSpPr>
          <p:spPr bwMode="auto">
            <a:xfrm>
              <a:off x="7260" y="2715"/>
              <a:ext cx="555"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8946" name="Text Box 153">
              <a:extLst>
                <a:ext uri="{FF2B5EF4-FFF2-40B4-BE49-F238E27FC236}">
                  <a16:creationId xmlns:a16="http://schemas.microsoft.com/office/drawing/2014/main" id="{2490048B-68BD-1BE9-556E-512C68651308}"/>
                </a:ext>
              </a:extLst>
            </p:cNvPr>
            <p:cNvSpPr txBox="1">
              <a:spLocks noChangeArrowheads="1"/>
            </p:cNvSpPr>
            <p:nvPr/>
          </p:nvSpPr>
          <p:spPr bwMode="auto">
            <a:xfrm>
              <a:off x="7288" y="2696"/>
              <a:ext cx="485"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0000"/>
                </a:lnSpc>
                <a:spcBef>
                  <a:spcPct val="0"/>
                </a:spcBef>
                <a:buClrTx/>
                <a:buFontTx/>
                <a:buNone/>
              </a:pPr>
              <a:r>
                <a:rPr kumimoji="0" lang="zh-CN" altLang="en-US" sz="1400">
                  <a:solidFill>
                    <a:schemeClr val="folHlink"/>
                  </a:solidFill>
                  <a:latin typeface="Times New Roman" panose="02020603050405020304" pitchFamily="18" charset="0"/>
                </a:rPr>
                <a:t>提交线</a:t>
              </a:r>
            </a:p>
            <a:p>
              <a:pPr algn="ctr">
                <a:lnSpc>
                  <a:spcPct val="80000"/>
                </a:lnSpc>
                <a:spcBef>
                  <a:spcPct val="0"/>
                </a:spcBef>
                <a:buClrTx/>
                <a:buFontTx/>
                <a:buNone/>
              </a:pPr>
              <a:r>
                <a:rPr kumimoji="0" lang="zh-CN" altLang="en-US" sz="1400">
                  <a:solidFill>
                    <a:schemeClr val="folHlink"/>
                  </a:solidFill>
                  <a:latin typeface="Times New Roman" panose="02020603050405020304" pitchFamily="18" charset="0"/>
                </a:rPr>
                <a:t>评审</a:t>
              </a:r>
            </a:p>
          </p:txBody>
        </p:sp>
      </p:grpSp>
      <p:grpSp>
        <p:nvGrpSpPr>
          <p:cNvPr id="104602" name="Group 154">
            <a:extLst>
              <a:ext uri="{FF2B5EF4-FFF2-40B4-BE49-F238E27FC236}">
                <a16:creationId xmlns:a16="http://schemas.microsoft.com/office/drawing/2014/main" id="{F00F0987-B8C0-09BD-6ADE-8F9A89801580}"/>
              </a:ext>
            </a:extLst>
          </p:cNvPr>
          <p:cNvGrpSpPr>
            <a:grpSpLocks/>
          </p:cNvGrpSpPr>
          <p:nvPr/>
        </p:nvGrpSpPr>
        <p:grpSpPr bwMode="auto">
          <a:xfrm>
            <a:off x="1028700" y="1860550"/>
            <a:ext cx="7004050" cy="827088"/>
            <a:chOff x="6080" y="9226"/>
            <a:chExt cx="4135" cy="799"/>
          </a:xfrm>
        </p:grpSpPr>
        <p:grpSp>
          <p:nvGrpSpPr>
            <p:cNvPr id="38932" name="Group 155">
              <a:extLst>
                <a:ext uri="{FF2B5EF4-FFF2-40B4-BE49-F238E27FC236}">
                  <a16:creationId xmlns:a16="http://schemas.microsoft.com/office/drawing/2014/main" id="{44688EA9-A748-68E9-5867-0722C57F7D8D}"/>
                </a:ext>
              </a:extLst>
            </p:cNvPr>
            <p:cNvGrpSpPr>
              <a:grpSpLocks/>
            </p:cNvGrpSpPr>
            <p:nvPr/>
          </p:nvGrpSpPr>
          <p:grpSpPr bwMode="auto">
            <a:xfrm>
              <a:off x="7890" y="9226"/>
              <a:ext cx="585" cy="439"/>
              <a:chOff x="7260" y="2696"/>
              <a:chExt cx="555" cy="364"/>
            </a:xfrm>
          </p:grpSpPr>
          <p:sp>
            <p:nvSpPr>
              <p:cNvPr id="38943" name="Rectangle 156">
                <a:extLst>
                  <a:ext uri="{FF2B5EF4-FFF2-40B4-BE49-F238E27FC236}">
                    <a16:creationId xmlns:a16="http://schemas.microsoft.com/office/drawing/2014/main" id="{D2A95437-E4D9-E50B-0770-922B65354622}"/>
                  </a:ext>
                </a:extLst>
              </p:cNvPr>
              <p:cNvSpPr>
                <a:spLocks noChangeArrowheads="1"/>
              </p:cNvSpPr>
              <p:nvPr/>
            </p:nvSpPr>
            <p:spPr bwMode="auto">
              <a:xfrm>
                <a:off x="7260" y="2715"/>
                <a:ext cx="555"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8944" name="Text Box 157">
                <a:extLst>
                  <a:ext uri="{FF2B5EF4-FFF2-40B4-BE49-F238E27FC236}">
                    <a16:creationId xmlns:a16="http://schemas.microsoft.com/office/drawing/2014/main" id="{140E9DCF-06BD-A600-45BA-709D6F0372BC}"/>
                  </a:ext>
                </a:extLst>
              </p:cNvPr>
              <p:cNvSpPr txBox="1">
                <a:spLocks noChangeArrowheads="1"/>
              </p:cNvSpPr>
              <p:nvPr/>
            </p:nvSpPr>
            <p:spPr bwMode="auto">
              <a:xfrm>
                <a:off x="7288" y="2696"/>
                <a:ext cx="485"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0000"/>
                  </a:lnSpc>
                  <a:spcBef>
                    <a:spcPct val="0"/>
                  </a:spcBef>
                  <a:buClrTx/>
                  <a:buFontTx/>
                  <a:buNone/>
                </a:pPr>
                <a:r>
                  <a:rPr kumimoji="0" lang="zh-CN" altLang="en-US" sz="1400">
                    <a:solidFill>
                      <a:schemeClr val="folHlink"/>
                    </a:solidFill>
                    <a:latin typeface="Times New Roman" panose="02020603050405020304" pitchFamily="18" charset="0"/>
                  </a:rPr>
                  <a:t>累计</a:t>
                </a:r>
              </a:p>
              <a:p>
                <a:pPr algn="ctr">
                  <a:lnSpc>
                    <a:spcPct val="80000"/>
                  </a:lnSpc>
                  <a:spcBef>
                    <a:spcPct val="0"/>
                  </a:spcBef>
                  <a:buClrTx/>
                  <a:buFontTx/>
                  <a:buNone/>
                </a:pPr>
                <a:r>
                  <a:rPr kumimoji="0" lang="zh-CN" altLang="en-US" sz="1400">
                    <a:solidFill>
                      <a:schemeClr val="folHlink"/>
                    </a:solidFill>
                    <a:latin typeface="Times New Roman" panose="02020603050405020304" pitchFamily="18" charset="0"/>
                  </a:rPr>
                  <a:t>成本</a:t>
                </a:r>
              </a:p>
            </p:txBody>
          </p:sp>
        </p:grpSp>
        <p:grpSp>
          <p:nvGrpSpPr>
            <p:cNvPr id="38933" name="Group 158">
              <a:extLst>
                <a:ext uri="{FF2B5EF4-FFF2-40B4-BE49-F238E27FC236}">
                  <a16:creationId xmlns:a16="http://schemas.microsoft.com/office/drawing/2014/main" id="{D94BACF1-1AFC-CB6F-5B26-E90E1BD0463C}"/>
                </a:ext>
              </a:extLst>
            </p:cNvPr>
            <p:cNvGrpSpPr>
              <a:grpSpLocks/>
            </p:cNvGrpSpPr>
            <p:nvPr/>
          </p:nvGrpSpPr>
          <p:grpSpPr bwMode="auto">
            <a:xfrm>
              <a:off x="8970" y="9226"/>
              <a:ext cx="1245" cy="799"/>
              <a:chOff x="8970" y="9226"/>
              <a:chExt cx="1245" cy="799"/>
            </a:xfrm>
          </p:grpSpPr>
          <p:grpSp>
            <p:nvGrpSpPr>
              <p:cNvPr id="38939" name="Group 159">
                <a:extLst>
                  <a:ext uri="{FF2B5EF4-FFF2-40B4-BE49-F238E27FC236}">
                    <a16:creationId xmlns:a16="http://schemas.microsoft.com/office/drawing/2014/main" id="{EB932D16-01A1-C97F-901D-2E903E3F943B}"/>
                  </a:ext>
                </a:extLst>
              </p:cNvPr>
              <p:cNvGrpSpPr>
                <a:grpSpLocks/>
              </p:cNvGrpSpPr>
              <p:nvPr/>
            </p:nvGrpSpPr>
            <p:grpSpPr bwMode="auto">
              <a:xfrm>
                <a:off x="8970" y="9226"/>
                <a:ext cx="1245" cy="799"/>
                <a:chOff x="7260" y="2696"/>
                <a:chExt cx="555" cy="364"/>
              </a:xfrm>
            </p:grpSpPr>
            <p:sp>
              <p:nvSpPr>
                <p:cNvPr id="38941" name="Rectangle 160">
                  <a:extLst>
                    <a:ext uri="{FF2B5EF4-FFF2-40B4-BE49-F238E27FC236}">
                      <a16:creationId xmlns:a16="http://schemas.microsoft.com/office/drawing/2014/main" id="{50CD9B36-A901-6E3E-4D89-B888385E577B}"/>
                    </a:ext>
                  </a:extLst>
                </p:cNvPr>
                <p:cNvSpPr>
                  <a:spLocks noChangeArrowheads="1"/>
                </p:cNvSpPr>
                <p:nvPr/>
              </p:nvSpPr>
              <p:spPr bwMode="auto">
                <a:xfrm>
                  <a:off x="7260" y="2715"/>
                  <a:ext cx="555"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8942" name="Text Box 161">
                  <a:extLst>
                    <a:ext uri="{FF2B5EF4-FFF2-40B4-BE49-F238E27FC236}">
                      <a16:creationId xmlns:a16="http://schemas.microsoft.com/office/drawing/2014/main" id="{A58A7DB5-7433-2688-8620-86FF74FE9966}"/>
                    </a:ext>
                  </a:extLst>
                </p:cNvPr>
                <p:cNvSpPr txBox="1">
                  <a:spLocks noChangeArrowheads="1"/>
                </p:cNvSpPr>
                <p:nvPr/>
              </p:nvSpPr>
              <p:spPr bwMode="auto">
                <a:xfrm>
                  <a:off x="7288" y="2696"/>
                  <a:ext cx="485"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0000"/>
                    </a:lnSpc>
                    <a:spcBef>
                      <a:spcPct val="0"/>
                    </a:spcBef>
                    <a:buClrTx/>
                    <a:buFontTx/>
                    <a:buNone/>
                  </a:pPr>
                  <a:r>
                    <a:rPr kumimoji="0" lang="zh-CN" altLang="en-US" sz="1400" u="sng">
                      <a:latin typeface="Times New Roman" panose="02020603050405020304" pitchFamily="18" charset="0"/>
                    </a:rPr>
                    <a:t>风险分析</a:t>
                  </a:r>
                </a:p>
                <a:p>
                  <a:pPr algn="ctr">
                    <a:lnSpc>
                      <a:spcPct val="80000"/>
                    </a:lnSpc>
                    <a:spcBef>
                      <a:spcPct val="0"/>
                    </a:spcBef>
                    <a:buClrTx/>
                    <a:buFontTx/>
                    <a:buNone/>
                  </a:pPr>
                  <a:endParaRPr kumimoji="0" lang="zh-CN" altLang="en-US" sz="1400" u="sng">
                    <a:latin typeface="Times New Roman" panose="02020603050405020304" pitchFamily="18" charset="0"/>
                  </a:endParaRPr>
                </a:p>
                <a:p>
                  <a:pPr algn="ctr">
                    <a:lnSpc>
                      <a:spcPct val="80000"/>
                    </a:lnSpc>
                    <a:spcBef>
                      <a:spcPct val="0"/>
                    </a:spcBef>
                    <a:buClrTx/>
                    <a:buFontTx/>
                    <a:buNone/>
                  </a:pPr>
                  <a:r>
                    <a:rPr kumimoji="0" lang="zh-CN" altLang="en-US" sz="1400">
                      <a:solidFill>
                        <a:schemeClr val="folHlink"/>
                      </a:solidFill>
                      <a:latin typeface="Times New Roman" panose="02020603050405020304" pitchFamily="18" charset="0"/>
                    </a:rPr>
                    <a:t>评价方案，识别</a:t>
                  </a:r>
                </a:p>
                <a:p>
                  <a:pPr algn="ctr">
                    <a:lnSpc>
                      <a:spcPct val="80000"/>
                    </a:lnSpc>
                    <a:spcBef>
                      <a:spcPct val="0"/>
                    </a:spcBef>
                    <a:buClrTx/>
                    <a:buFontTx/>
                    <a:buNone/>
                  </a:pPr>
                  <a:r>
                    <a:rPr kumimoji="0" lang="zh-CN" altLang="en-US" sz="1400">
                      <a:solidFill>
                        <a:schemeClr val="folHlink"/>
                      </a:solidFill>
                      <a:latin typeface="Times New Roman" panose="02020603050405020304" pitchFamily="18" charset="0"/>
                    </a:rPr>
                    <a:t>风险、消除风险</a:t>
                  </a:r>
                </a:p>
              </p:txBody>
            </p:sp>
          </p:grpSp>
          <p:sp>
            <p:nvSpPr>
              <p:cNvPr id="38940" name="Line 162">
                <a:extLst>
                  <a:ext uri="{FF2B5EF4-FFF2-40B4-BE49-F238E27FC236}">
                    <a16:creationId xmlns:a16="http://schemas.microsoft.com/office/drawing/2014/main" id="{9442C8D1-3948-AD53-EAC1-A2AA960F6BB6}"/>
                  </a:ext>
                </a:extLst>
              </p:cNvPr>
              <p:cNvSpPr>
                <a:spLocks noChangeShapeType="1"/>
              </p:cNvSpPr>
              <p:nvPr/>
            </p:nvSpPr>
            <p:spPr bwMode="auto">
              <a:xfrm>
                <a:off x="9286" y="9431"/>
                <a:ext cx="590"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8934" name="Group 163">
              <a:extLst>
                <a:ext uri="{FF2B5EF4-FFF2-40B4-BE49-F238E27FC236}">
                  <a16:creationId xmlns:a16="http://schemas.microsoft.com/office/drawing/2014/main" id="{67BA279E-476A-CDCB-AB95-4DF19F7FC9CE}"/>
                </a:ext>
              </a:extLst>
            </p:cNvPr>
            <p:cNvGrpSpPr>
              <a:grpSpLocks/>
            </p:cNvGrpSpPr>
            <p:nvPr/>
          </p:nvGrpSpPr>
          <p:grpSpPr bwMode="auto">
            <a:xfrm>
              <a:off x="6080" y="9226"/>
              <a:ext cx="975" cy="769"/>
              <a:chOff x="6080" y="9226"/>
              <a:chExt cx="975" cy="769"/>
            </a:xfrm>
          </p:grpSpPr>
          <p:grpSp>
            <p:nvGrpSpPr>
              <p:cNvPr id="38935" name="Group 164">
                <a:extLst>
                  <a:ext uri="{FF2B5EF4-FFF2-40B4-BE49-F238E27FC236}">
                    <a16:creationId xmlns:a16="http://schemas.microsoft.com/office/drawing/2014/main" id="{34656E6E-47CF-A716-5BCE-05960D2DDD61}"/>
                  </a:ext>
                </a:extLst>
              </p:cNvPr>
              <p:cNvGrpSpPr>
                <a:grpSpLocks/>
              </p:cNvGrpSpPr>
              <p:nvPr/>
            </p:nvGrpSpPr>
            <p:grpSpPr bwMode="auto">
              <a:xfrm>
                <a:off x="6080" y="9226"/>
                <a:ext cx="975" cy="769"/>
                <a:chOff x="7260" y="2696"/>
                <a:chExt cx="555" cy="364"/>
              </a:xfrm>
            </p:grpSpPr>
            <p:sp>
              <p:nvSpPr>
                <p:cNvPr id="38937" name="Rectangle 165">
                  <a:extLst>
                    <a:ext uri="{FF2B5EF4-FFF2-40B4-BE49-F238E27FC236}">
                      <a16:creationId xmlns:a16="http://schemas.microsoft.com/office/drawing/2014/main" id="{72E833D6-76BE-DF7E-E7D9-B1C3E7744C7B}"/>
                    </a:ext>
                  </a:extLst>
                </p:cNvPr>
                <p:cNvSpPr>
                  <a:spLocks noChangeArrowheads="1"/>
                </p:cNvSpPr>
                <p:nvPr/>
              </p:nvSpPr>
              <p:spPr bwMode="auto">
                <a:xfrm>
                  <a:off x="7260" y="2715"/>
                  <a:ext cx="555"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8938" name="Text Box 166">
                  <a:extLst>
                    <a:ext uri="{FF2B5EF4-FFF2-40B4-BE49-F238E27FC236}">
                      <a16:creationId xmlns:a16="http://schemas.microsoft.com/office/drawing/2014/main" id="{771CED2E-7E1C-6165-78CB-C28D31CEE715}"/>
                    </a:ext>
                  </a:extLst>
                </p:cNvPr>
                <p:cNvSpPr txBox="1">
                  <a:spLocks noChangeArrowheads="1"/>
                </p:cNvSpPr>
                <p:nvPr/>
              </p:nvSpPr>
              <p:spPr bwMode="auto">
                <a:xfrm>
                  <a:off x="7288" y="2696"/>
                  <a:ext cx="485"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0000"/>
                    </a:lnSpc>
                    <a:spcBef>
                      <a:spcPct val="0"/>
                    </a:spcBef>
                    <a:buClrTx/>
                    <a:buFontTx/>
                    <a:buNone/>
                  </a:pPr>
                  <a:r>
                    <a:rPr kumimoji="0" lang="zh-CN" altLang="en-US" sz="1400" u="sng">
                      <a:latin typeface="Times New Roman" panose="02020603050405020304" pitchFamily="18" charset="0"/>
                    </a:rPr>
                    <a:t>制订计划</a:t>
                  </a:r>
                </a:p>
                <a:p>
                  <a:pPr algn="ctr">
                    <a:lnSpc>
                      <a:spcPct val="80000"/>
                    </a:lnSpc>
                    <a:spcBef>
                      <a:spcPct val="0"/>
                    </a:spcBef>
                    <a:buClrTx/>
                    <a:buFontTx/>
                    <a:buNone/>
                  </a:pPr>
                  <a:endParaRPr kumimoji="0" lang="zh-CN" altLang="en-US" sz="1400" u="sng">
                    <a:latin typeface="Times New Roman" panose="02020603050405020304" pitchFamily="18" charset="0"/>
                  </a:endParaRPr>
                </a:p>
                <a:p>
                  <a:pPr algn="ctr">
                    <a:lnSpc>
                      <a:spcPct val="80000"/>
                    </a:lnSpc>
                    <a:spcBef>
                      <a:spcPct val="0"/>
                    </a:spcBef>
                    <a:buClrTx/>
                    <a:buFontTx/>
                    <a:buNone/>
                  </a:pPr>
                  <a:r>
                    <a:rPr kumimoji="0" lang="zh-CN" altLang="en-US" sz="1400">
                      <a:solidFill>
                        <a:schemeClr val="folHlink"/>
                      </a:solidFill>
                      <a:latin typeface="Times New Roman" panose="02020603050405020304" pitchFamily="18" charset="0"/>
                    </a:rPr>
                    <a:t>决定目标</a:t>
                  </a:r>
                </a:p>
                <a:p>
                  <a:pPr algn="ctr">
                    <a:lnSpc>
                      <a:spcPct val="80000"/>
                    </a:lnSpc>
                    <a:spcBef>
                      <a:spcPct val="0"/>
                    </a:spcBef>
                    <a:buClrTx/>
                    <a:buFontTx/>
                    <a:buNone/>
                  </a:pPr>
                  <a:r>
                    <a:rPr kumimoji="0" lang="zh-CN" altLang="en-US" sz="1400">
                      <a:solidFill>
                        <a:schemeClr val="folHlink"/>
                      </a:solidFill>
                      <a:latin typeface="Times New Roman" panose="02020603050405020304" pitchFamily="18" charset="0"/>
                    </a:rPr>
                    <a:t>方案和限制</a:t>
                  </a:r>
                </a:p>
              </p:txBody>
            </p:sp>
          </p:grpSp>
          <p:sp>
            <p:nvSpPr>
              <p:cNvPr id="38936" name="Line 167">
                <a:extLst>
                  <a:ext uri="{FF2B5EF4-FFF2-40B4-BE49-F238E27FC236}">
                    <a16:creationId xmlns:a16="http://schemas.microsoft.com/office/drawing/2014/main" id="{D1DDD69D-0BA4-39BF-58BE-573729471D9C}"/>
                  </a:ext>
                </a:extLst>
              </p:cNvPr>
              <p:cNvSpPr>
                <a:spLocks noChangeShapeType="1"/>
              </p:cNvSpPr>
              <p:nvPr/>
            </p:nvSpPr>
            <p:spPr bwMode="auto">
              <a:xfrm>
                <a:off x="6250" y="9436"/>
                <a:ext cx="590"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04616" name="Group 168">
            <a:extLst>
              <a:ext uri="{FF2B5EF4-FFF2-40B4-BE49-F238E27FC236}">
                <a16:creationId xmlns:a16="http://schemas.microsoft.com/office/drawing/2014/main" id="{9D52BEE5-436C-C7D7-46E7-B05597BA398A}"/>
              </a:ext>
            </a:extLst>
          </p:cNvPr>
          <p:cNvGrpSpPr>
            <a:grpSpLocks/>
          </p:cNvGrpSpPr>
          <p:nvPr/>
        </p:nvGrpSpPr>
        <p:grpSpPr bwMode="auto">
          <a:xfrm>
            <a:off x="1062038" y="6403975"/>
            <a:ext cx="1389062" cy="268288"/>
            <a:chOff x="6100" y="13620"/>
            <a:chExt cx="820" cy="260"/>
          </a:xfrm>
        </p:grpSpPr>
        <p:grpSp>
          <p:nvGrpSpPr>
            <p:cNvPr id="38928" name="Group 169">
              <a:extLst>
                <a:ext uri="{FF2B5EF4-FFF2-40B4-BE49-F238E27FC236}">
                  <a16:creationId xmlns:a16="http://schemas.microsoft.com/office/drawing/2014/main" id="{3AFC8AC7-8F25-1B3D-A49F-81B8E72CA607}"/>
                </a:ext>
              </a:extLst>
            </p:cNvPr>
            <p:cNvGrpSpPr>
              <a:grpSpLocks/>
            </p:cNvGrpSpPr>
            <p:nvPr/>
          </p:nvGrpSpPr>
          <p:grpSpPr bwMode="auto">
            <a:xfrm>
              <a:off x="6100" y="13620"/>
              <a:ext cx="820" cy="260"/>
              <a:chOff x="8685" y="2745"/>
              <a:chExt cx="510" cy="225"/>
            </a:xfrm>
          </p:grpSpPr>
          <p:sp>
            <p:nvSpPr>
              <p:cNvPr id="38930" name="Rectangle 170">
                <a:extLst>
                  <a:ext uri="{FF2B5EF4-FFF2-40B4-BE49-F238E27FC236}">
                    <a16:creationId xmlns:a16="http://schemas.microsoft.com/office/drawing/2014/main" id="{5BA41C78-164F-533D-73D8-F34C97B93634}"/>
                  </a:ext>
                </a:extLst>
              </p:cNvPr>
              <p:cNvSpPr>
                <a:spLocks noChangeArrowheads="1"/>
              </p:cNvSpPr>
              <p:nvPr/>
            </p:nvSpPr>
            <p:spPr bwMode="auto">
              <a:xfrm>
                <a:off x="8685" y="2745"/>
                <a:ext cx="51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8931" name="Text Box 171">
                <a:extLst>
                  <a:ext uri="{FF2B5EF4-FFF2-40B4-BE49-F238E27FC236}">
                    <a16:creationId xmlns:a16="http://schemas.microsoft.com/office/drawing/2014/main" id="{8212D4FB-D0CA-CA90-B53C-84EB53FF7FFF}"/>
                  </a:ext>
                </a:extLst>
              </p:cNvPr>
              <p:cNvSpPr txBox="1">
                <a:spLocks noChangeArrowheads="1"/>
              </p:cNvSpPr>
              <p:nvPr/>
            </p:nvSpPr>
            <p:spPr bwMode="auto">
              <a:xfrm>
                <a:off x="8738" y="2772"/>
                <a:ext cx="40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kumimoji="0" lang="zh-CN" altLang="en-US" sz="1400" u="sng">
                    <a:latin typeface="Times New Roman" panose="02020603050405020304" pitchFamily="18" charset="0"/>
                  </a:rPr>
                  <a:t>客户评估</a:t>
                </a:r>
              </a:p>
            </p:txBody>
          </p:sp>
        </p:grpSp>
        <p:sp>
          <p:nvSpPr>
            <p:cNvPr id="38929" name="Line 172">
              <a:extLst>
                <a:ext uri="{FF2B5EF4-FFF2-40B4-BE49-F238E27FC236}">
                  <a16:creationId xmlns:a16="http://schemas.microsoft.com/office/drawing/2014/main" id="{04383580-D726-3073-1D08-028C660DE8F0}"/>
                </a:ext>
              </a:extLst>
            </p:cNvPr>
            <p:cNvSpPr>
              <a:spLocks noChangeShapeType="1"/>
            </p:cNvSpPr>
            <p:nvPr/>
          </p:nvSpPr>
          <p:spPr bwMode="auto">
            <a:xfrm>
              <a:off x="6213" y="13836"/>
              <a:ext cx="590"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4621" name="AutoShape 173">
            <a:hlinkClick r:id="" action="ppaction://noaction" highlightClick="1"/>
            <a:extLst>
              <a:ext uri="{FF2B5EF4-FFF2-40B4-BE49-F238E27FC236}">
                <a16:creationId xmlns:a16="http://schemas.microsoft.com/office/drawing/2014/main" id="{2476239B-2B76-B9EE-6129-4E83BBF12794}"/>
              </a:ext>
            </a:extLst>
          </p:cNvPr>
          <p:cNvSpPr>
            <a:spLocks noChangeArrowheads="1"/>
          </p:cNvSpPr>
          <p:nvPr/>
        </p:nvSpPr>
        <p:spPr bwMode="auto">
          <a:xfrm flipV="1">
            <a:off x="2095500" y="4114800"/>
            <a:ext cx="304800" cy="304800"/>
          </a:xfrm>
          <a:prstGeom prst="actionButtonBlank">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182" tIns="57092" rIns="114182" bIns="57092"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04622" name="AutoShape 174">
            <a:hlinkClick r:id="" action="ppaction://noaction" highlightClick="1"/>
            <a:extLst>
              <a:ext uri="{FF2B5EF4-FFF2-40B4-BE49-F238E27FC236}">
                <a16:creationId xmlns:a16="http://schemas.microsoft.com/office/drawing/2014/main" id="{56C62929-BBCB-31A0-E215-B30817CE993F}"/>
              </a:ext>
            </a:extLst>
          </p:cNvPr>
          <p:cNvSpPr>
            <a:spLocks noChangeArrowheads="1"/>
          </p:cNvSpPr>
          <p:nvPr/>
        </p:nvSpPr>
        <p:spPr bwMode="auto">
          <a:xfrm flipV="1">
            <a:off x="2476500" y="4114800"/>
            <a:ext cx="304800" cy="304800"/>
          </a:xfrm>
          <a:prstGeom prst="actionButtonBlank">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182" tIns="57092" rIns="114182" bIns="57092"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104623" name="AutoShape 175">
            <a:hlinkClick r:id="" action="ppaction://noaction" highlightClick="1"/>
            <a:extLst>
              <a:ext uri="{FF2B5EF4-FFF2-40B4-BE49-F238E27FC236}">
                <a16:creationId xmlns:a16="http://schemas.microsoft.com/office/drawing/2014/main" id="{7FDFDCEE-892B-1754-7979-3294EF5BFAA3}"/>
              </a:ext>
            </a:extLst>
          </p:cNvPr>
          <p:cNvSpPr>
            <a:spLocks noChangeArrowheads="1"/>
          </p:cNvSpPr>
          <p:nvPr/>
        </p:nvSpPr>
        <p:spPr bwMode="auto">
          <a:xfrm flipV="1">
            <a:off x="2781300" y="4114800"/>
            <a:ext cx="304800" cy="304800"/>
          </a:xfrm>
          <a:prstGeom prst="actionButtonBlank">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182" tIns="57092" rIns="114182" bIns="57092"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453"/>
                                        </p:tgtEl>
                                        <p:attrNameLst>
                                          <p:attrName>style.visibility</p:attrName>
                                        </p:attrNameLst>
                                      </p:cBhvr>
                                      <p:to>
                                        <p:strVal val="visible"/>
                                      </p:to>
                                    </p:set>
                                    <p:anim calcmode="lin" valueType="num">
                                      <p:cBhvr additive="base">
                                        <p:cTn id="7" dur="500" fill="hold"/>
                                        <p:tgtEl>
                                          <p:spTgt spid="104453"/>
                                        </p:tgtEl>
                                        <p:attrNameLst>
                                          <p:attrName>ppt_x</p:attrName>
                                        </p:attrNameLst>
                                      </p:cBhvr>
                                      <p:tavLst>
                                        <p:tav tm="0">
                                          <p:val>
                                            <p:strVal val="#ppt_x"/>
                                          </p:val>
                                        </p:tav>
                                        <p:tav tm="100000">
                                          <p:val>
                                            <p:strVal val="#ppt_x"/>
                                          </p:val>
                                        </p:tav>
                                      </p:tavLst>
                                    </p:anim>
                                    <p:anim calcmode="lin" valueType="num">
                                      <p:cBhvr additive="base">
                                        <p:cTn id="8" dur="500" fill="hold"/>
                                        <p:tgtEl>
                                          <p:spTgt spid="10445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4454"/>
                                        </p:tgtEl>
                                        <p:attrNameLst>
                                          <p:attrName>style.visibility</p:attrName>
                                        </p:attrNameLst>
                                      </p:cBhvr>
                                      <p:to>
                                        <p:strVal val="visible"/>
                                      </p:to>
                                    </p:set>
                                    <p:anim calcmode="lin" valueType="num">
                                      <p:cBhvr additive="base">
                                        <p:cTn id="11" dur="500" fill="hold"/>
                                        <p:tgtEl>
                                          <p:spTgt spid="104454"/>
                                        </p:tgtEl>
                                        <p:attrNameLst>
                                          <p:attrName>ppt_x</p:attrName>
                                        </p:attrNameLst>
                                      </p:cBhvr>
                                      <p:tavLst>
                                        <p:tav tm="0">
                                          <p:val>
                                            <p:strVal val="#ppt_x"/>
                                          </p:val>
                                        </p:tav>
                                        <p:tav tm="100000">
                                          <p:val>
                                            <p:strVal val="#ppt_x"/>
                                          </p:val>
                                        </p:tav>
                                      </p:tavLst>
                                    </p:anim>
                                    <p:anim calcmode="lin" valueType="num">
                                      <p:cBhvr additive="base">
                                        <p:cTn id="12" dur="500" fill="hold"/>
                                        <p:tgtEl>
                                          <p:spTgt spid="10445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4455"/>
                                        </p:tgtEl>
                                        <p:attrNameLst>
                                          <p:attrName>style.visibility</p:attrName>
                                        </p:attrNameLst>
                                      </p:cBhvr>
                                      <p:to>
                                        <p:strVal val="visible"/>
                                      </p:to>
                                    </p:set>
                                    <p:anim calcmode="lin" valueType="num">
                                      <p:cBhvr additive="base">
                                        <p:cTn id="15" dur="500" fill="hold"/>
                                        <p:tgtEl>
                                          <p:spTgt spid="104455"/>
                                        </p:tgtEl>
                                        <p:attrNameLst>
                                          <p:attrName>ppt_x</p:attrName>
                                        </p:attrNameLst>
                                      </p:cBhvr>
                                      <p:tavLst>
                                        <p:tav tm="0">
                                          <p:val>
                                            <p:strVal val="#ppt_x"/>
                                          </p:val>
                                        </p:tav>
                                        <p:tav tm="100000">
                                          <p:val>
                                            <p:strVal val="#ppt_x"/>
                                          </p:val>
                                        </p:tav>
                                      </p:tavLst>
                                    </p:anim>
                                    <p:anim calcmode="lin" valueType="num">
                                      <p:cBhvr additive="base">
                                        <p:cTn id="16" dur="500" fill="hold"/>
                                        <p:tgtEl>
                                          <p:spTgt spid="10445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04456"/>
                                        </p:tgtEl>
                                        <p:attrNameLst>
                                          <p:attrName>style.visibility</p:attrName>
                                        </p:attrNameLst>
                                      </p:cBhvr>
                                      <p:to>
                                        <p:strVal val="visible"/>
                                      </p:to>
                                    </p:set>
                                    <p:anim calcmode="lin" valueType="num">
                                      <p:cBhvr additive="base">
                                        <p:cTn id="19" dur="500" fill="hold"/>
                                        <p:tgtEl>
                                          <p:spTgt spid="104456"/>
                                        </p:tgtEl>
                                        <p:attrNameLst>
                                          <p:attrName>ppt_x</p:attrName>
                                        </p:attrNameLst>
                                      </p:cBhvr>
                                      <p:tavLst>
                                        <p:tav tm="0">
                                          <p:val>
                                            <p:strVal val="#ppt_x"/>
                                          </p:val>
                                        </p:tav>
                                        <p:tav tm="100000">
                                          <p:val>
                                            <p:strVal val="#ppt_x"/>
                                          </p:val>
                                        </p:tav>
                                      </p:tavLst>
                                    </p:anim>
                                    <p:anim calcmode="lin" valueType="num">
                                      <p:cBhvr additive="base">
                                        <p:cTn id="20" dur="500" fill="hold"/>
                                        <p:tgtEl>
                                          <p:spTgt spid="10445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04473"/>
                                        </p:tgtEl>
                                        <p:attrNameLst>
                                          <p:attrName>style.visibility</p:attrName>
                                        </p:attrNameLst>
                                      </p:cBhvr>
                                      <p:to>
                                        <p:strVal val="visible"/>
                                      </p:to>
                                    </p:set>
                                    <p:anim calcmode="lin" valueType="num">
                                      <p:cBhvr additive="base">
                                        <p:cTn id="23" dur="500" fill="hold"/>
                                        <p:tgtEl>
                                          <p:spTgt spid="104473"/>
                                        </p:tgtEl>
                                        <p:attrNameLst>
                                          <p:attrName>ppt_x</p:attrName>
                                        </p:attrNameLst>
                                      </p:cBhvr>
                                      <p:tavLst>
                                        <p:tav tm="0">
                                          <p:val>
                                            <p:strVal val="#ppt_x"/>
                                          </p:val>
                                        </p:tav>
                                        <p:tav tm="100000">
                                          <p:val>
                                            <p:strVal val="#ppt_x"/>
                                          </p:val>
                                        </p:tav>
                                      </p:tavLst>
                                    </p:anim>
                                    <p:anim calcmode="lin" valueType="num">
                                      <p:cBhvr additive="base">
                                        <p:cTn id="24" dur="500" fill="hold"/>
                                        <p:tgtEl>
                                          <p:spTgt spid="10447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04474"/>
                                        </p:tgtEl>
                                        <p:attrNameLst>
                                          <p:attrName>style.visibility</p:attrName>
                                        </p:attrNameLst>
                                      </p:cBhvr>
                                      <p:to>
                                        <p:strVal val="visible"/>
                                      </p:to>
                                    </p:set>
                                    <p:anim calcmode="lin" valueType="num">
                                      <p:cBhvr additive="base">
                                        <p:cTn id="27" dur="500" fill="hold"/>
                                        <p:tgtEl>
                                          <p:spTgt spid="104474"/>
                                        </p:tgtEl>
                                        <p:attrNameLst>
                                          <p:attrName>ppt_x</p:attrName>
                                        </p:attrNameLst>
                                      </p:cBhvr>
                                      <p:tavLst>
                                        <p:tav tm="0">
                                          <p:val>
                                            <p:strVal val="#ppt_x"/>
                                          </p:val>
                                        </p:tav>
                                        <p:tav tm="100000">
                                          <p:val>
                                            <p:strVal val="#ppt_x"/>
                                          </p:val>
                                        </p:tav>
                                      </p:tavLst>
                                    </p:anim>
                                    <p:anim calcmode="lin" valueType="num">
                                      <p:cBhvr additive="base">
                                        <p:cTn id="28" dur="500" fill="hold"/>
                                        <p:tgtEl>
                                          <p:spTgt spid="104474"/>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04594"/>
                                        </p:tgtEl>
                                        <p:attrNameLst>
                                          <p:attrName>style.visibility</p:attrName>
                                        </p:attrNameLst>
                                      </p:cBhvr>
                                      <p:to>
                                        <p:strVal val="visible"/>
                                      </p:to>
                                    </p:set>
                                    <p:anim calcmode="lin" valueType="num">
                                      <p:cBhvr additive="base">
                                        <p:cTn id="31" dur="500" fill="hold"/>
                                        <p:tgtEl>
                                          <p:spTgt spid="104594"/>
                                        </p:tgtEl>
                                        <p:attrNameLst>
                                          <p:attrName>ppt_x</p:attrName>
                                        </p:attrNameLst>
                                      </p:cBhvr>
                                      <p:tavLst>
                                        <p:tav tm="0">
                                          <p:val>
                                            <p:strVal val="#ppt_x"/>
                                          </p:val>
                                        </p:tav>
                                        <p:tav tm="100000">
                                          <p:val>
                                            <p:strVal val="#ppt_x"/>
                                          </p:val>
                                        </p:tav>
                                      </p:tavLst>
                                    </p:anim>
                                    <p:anim calcmode="lin" valueType="num">
                                      <p:cBhvr additive="base">
                                        <p:cTn id="32" dur="500" fill="hold"/>
                                        <p:tgtEl>
                                          <p:spTgt spid="104594"/>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04599"/>
                                        </p:tgtEl>
                                        <p:attrNameLst>
                                          <p:attrName>style.visibility</p:attrName>
                                        </p:attrNameLst>
                                      </p:cBhvr>
                                      <p:to>
                                        <p:strVal val="visible"/>
                                      </p:to>
                                    </p:set>
                                    <p:anim calcmode="lin" valueType="num">
                                      <p:cBhvr additive="base">
                                        <p:cTn id="35" dur="500" fill="hold"/>
                                        <p:tgtEl>
                                          <p:spTgt spid="104599"/>
                                        </p:tgtEl>
                                        <p:attrNameLst>
                                          <p:attrName>ppt_x</p:attrName>
                                        </p:attrNameLst>
                                      </p:cBhvr>
                                      <p:tavLst>
                                        <p:tav tm="0">
                                          <p:val>
                                            <p:strVal val="#ppt_x"/>
                                          </p:val>
                                        </p:tav>
                                        <p:tav tm="100000">
                                          <p:val>
                                            <p:strVal val="#ppt_x"/>
                                          </p:val>
                                        </p:tav>
                                      </p:tavLst>
                                    </p:anim>
                                    <p:anim calcmode="lin" valueType="num">
                                      <p:cBhvr additive="base">
                                        <p:cTn id="36" dur="500" fill="hold"/>
                                        <p:tgtEl>
                                          <p:spTgt spid="104599"/>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04602"/>
                                        </p:tgtEl>
                                        <p:attrNameLst>
                                          <p:attrName>style.visibility</p:attrName>
                                        </p:attrNameLst>
                                      </p:cBhvr>
                                      <p:to>
                                        <p:strVal val="visible"/>
                                      </p:to>
                                    </p:set>
                                    <p:anim calcmode="lin" valueType="num">
                                      <p:cBhvr additive="base">
                                        <p:cTn id="39" dur="500" fill="hold"/>
                                        <p:tgtEl>
                                          <p:spTgt spid="104602"/>
                                        </p:tgtEl>
                                        <p:attrNameLst>
                                          <p:attrName>ppt_x</p:attrName>
                                        </p:attrNameLst>
                                      </p:cBhvr>
                                      <p:tavLst>
                                        <p:tav tm="0">
                                          <p:val>
                                            <p:strVal val="#ppt_x"/>
                                          </p:val>
                                        </p:tav>
                                        <p:tav tm="100000">
                                          <p:val>
                                            <p:strVal val="#ppt_x"/>
                                          </p:val>
                                        </p:tav>
                                      </p:tavLst>
                                    </p:anim>
                                    <p:anim calcmode="lin" valueType="num">
                                      <p:cBhvr additive="base">
                                        <p:cTn id="40" dur="500" fill="hold"/>
                                        <p:tgtEl>
                                          <p:spTgt spid="104602"/>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04616"/>
                                        </p:tgtEl>
                                        <p:attrNameLst>
                                          <p:attrName>style.visibility</p:attrName>
                                        </p:attrNameLst>
                                      </p:cBhvr>
                                      <p:to>
                                        <p:strVal val="visible"/>
                                      </p:to>
                                    </p:set>
                                    <p:anim calcmode="lin" valueType="num">
                                      <p:cBhvr additive="base">
                                        <p:cTn id="43" dur="500" fill="hold"/>
                                        <p:tgtEl>
                                          <p:spTgt spid="104616"/>
                                        </p:tgtEl>
                                        <p:attrNameLst>
                                          <p:attrName>ppt_x</p:attrName>
                                        </p:attrNameLst>
                                      </p:cBhvr>
                                      <p:tavLst>
                                        <p:tav tm="0">
                                          <p:val>
                                            <p:strVal val="#ppt_x"/>
                                          </p:val>
                                        </p:tav>
                                        <p:tav tm="100000">
                                          <p:val>
                                            <p:strVal val="#ppt_x"/>
                                          </p:val>
                                        </p:tav>
                                      </p:tavLst>
                                    </p:anim>
                                    <p:anim calcmode="lin" valueType="num">
                                      <p:cBhvr additive="base">
                                        <p:cTn id="44" dur="500" fill="hold"/>
                                        <p:tgtEl>
                                          <p:spTgt spid="10461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04621"/>
                                        </p:tgtEl>
                                        <p:attrNameLst>
                                          <p:attrName>style.visibility</p:attrName>
                                        </p:attrNameLst>
                                      </p:cBhvr>
                                      <p:to>
                                        <p:strVal val="visible"/>
                                      </p:to>
                                    </p:set>
                                    <p:anim calcmode="lin" valueType="num">
                                      <p:cBhvr additive="base">
                                        <p:cTn id="47" dur="500" fill="hold"/>
                                        <p:tgtEl>
                                          <p:spTgt spid="104621"/>
                                        </p:tgtEl>
                                        <p:attrNameLst>
                                          <p:attrName>ppt_x</p:attrName>
                                        </p:attrNameLst>
                                      </p:cBhvr>
                                      <p:tavLst>
                                        <p:tav tm="0">
                                          <p:val>
                                            <p:strVal val="#ppt_x"/>
                                          </p:val>
                                        </p:tav>
                                        <p:tav tm="100000">
                                          <p:val>
                                            <p:strVal val="#ppt_x"/>
                                          </p:val>
                                        </p:tav>
                                      </p:tavLst>
                                    </p:anim>
                                    <p:anim calcmode="lin" valueType="num">
                                      <p:cBhvr additive="base">
                                        <p:cTn id="48" dur="500" fill="hold"/>
                                        <p:tgtEl>
                                          <p:spTgt spid="104621"/>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04622"/>
                                        </p:tgtEl>
                                        <p:attrNameLst>
                                          <p:attrName>style.visibility</p:attrName>
                                        </p:attrNameLst>
                                      </p:cBhvr>
                                      <p:to>
                                        <p:strVal val="visible"/>
                                      </p:to>
                                    </p:set>
                                    <p:anim calcmode="lin" valueType="num">
                                      <p:cBhvr additive="base">
                                        <p:cTn id="51" dur="500" fill="hold"/>
                                        <p:tgtEl>
                                          <p:spTgt spid="104622"/>
                                        </p:tgtEl>
                                        <p:attrNameLst>
                                          <p:attrName>ppt_x</p:attrName>
                                        </p:attrNameLst>
                                      </p:cBhvr>
                                      <p:tavLst>
                                        <p:tav tm="0">
                                          <p:val>
                                            <p:strVal val="#ppt_x"/>
                                          </p:val>
                                        </p:tav>
                                        <p:tav tm="100000">
                                          <p:val>
                                            <p:strVal val="#ppt_x"/>
                                          </p:val>
                                        </p:tav>
                                      </p:tavLst>
                                    </p:anim>
                                    <p:anim calcmode="lin" valueType="num">
                                      <p:cBhvr additive="base">
                                        <p:cTn id="52" dur="500" fill="hold"/>
                                        <p:tgtEl>
                                          <p:spTgt spid="104622"/>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04623"/>
                                        </p:tgtEl>
                                        <p:attrNameLst>
                                          <p:attrName>style.visibility</p:attrName>
                                        </p:attrNameLst>
                                      </p:cBhvr>
                                      <p:to>
                                        <p:strVal val="visible"/>
                                      </p:to>
                                    </p:set>
                                    <p:anim calcmode="lin" valueType="num">
                                      <p:cBhvr additive="base">
                                        <p:cTn id="55" dur="500" fill="hold"/>
                                        <p:tgtEl>
                                          <p:spTgt spid="104623"/>
                                        </p:tgtEl>
                                        <p:attrNameLst>
                                          <p:attrName>ppt_x</p:attrName>
                                        </p:attrNameLst>
                                      </p:cBhvr>
                                      <p:tavLst>
                                        <p:tav tm="0">
                                          <p:val>
                                            <p:strVal val="#ppt_x"/>
                                          </p:val>
                                        </p:tav>
                                        <p:tav tm="100000">
                                          <p:val>
                                            <p:strVal val="#ppt_x"/>
                                          </p:val>
                                        </p:tav>
                                      </p:tavLst>
                                    </p:anim>
                                    <p:anim calcmode="lin" valueType="num">
                                      <p:cBhvr additive="base">
                                        <p:cTn id="56" dur="500" fill="hold"/>
                                        <p:tgtEl>
                                          <p:spTgt spid="1046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3" grpId="0" animBg="1"/>
      <p:bldP spid="104621" grpId="0" animBg="1"/>
      <p:bldP spid="104622" grpId="0" animBg="1"/>
      <p:bldP spid="10462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23C6DC3D-FA9A-D570-08F8-0B9E5E847036}"/>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3.2.5  </a:t>
            </a:r>
            <a:r>
              <a:rPr lang="zh-CN" altLang="en-US"/>
              <a:t>螺旋模型 </a:t>
            </a:r>
          </a:p>
        </p:txBody>
      </p:sp>
      <p:sp>
        <p:nvSpPr>
          <p:cNvPr id="39939" name="Rectangle 3">
            <a:extLst>
              <a:ext uri="{FF2B5EF4-FFF2-40B4-BE49-F238E27FC236}">
                <a16:creationId xmlns:a16="http://schemas.microsoft.com/office/drawing/2014/main" id="{BFC9F17B-1FC2-6DE5-D412-8127DCF0DA28}"/>
              </a:ext>
            </a:extLst>
          </p:cNvPr>
          <p:cNvSpPr>
            <a:spLocks noChangeArrowheads="1"/>
          </p:cNvSpPr>
          <p:nvPr/>
        </p:nvSpPr>
        <p:spPr bwMode="auto">
          <a:xfrm>
            <a:off x="0" y="876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39940" name="Text Box 4">
            <a:extLst>
              <a:ext uri="{FF2B5EF4-FFF2-40B4-BE49-F238E27FC236}">
                <a16:creationId xmlns:a16="http://schemas.microsoft.com/office/drawing/2014/main" id="{F865C1EF-F677-012E-B0C9-595CFD30DAAC}"/>
              </a:ext>
            </a:extLst>
          </p:cNvPr>
          <p:cNvSpPr txBox="1">
            <a:spLocks noChangeArrowheads="1"/>
          </p:cNvSpPr>
          <p:nvPr/>
        </p:nvSpPr>
        <p:spPr bwMode="auto">
          <a:xfrm>
            <a:off x="1042988" y="3068638"/>
            <a:ext cx="7058025" cy="177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lnSpc>
                <a:spcPts val="3400"/>
              </a:lnSpc>
              <a:spcBef>
                <a:spcPct val="0"/>
              </a:spcBef>
              <a:buSzPct val="70000"/>
              <a:buFont typeface="Wingdings" panose="05000000000000000000" pitchFamily="2" charset="2"/>
              <a:buChar char="n"/>
            </a:pPr>
            <a:r>
              <a:rPr kumimoji="0" lang="zh-CN" altLang="en-US" sz="2400" b="0">
                <a:latin typeface="Times New Roman" panose="02020603050405020304" pitchFamily="18" charset="0"/>
              </a:rPr>
              <a:t>　</a:t>
            </a:r>
            <a:r>
              <a:rPr kumimoji="0" lang="zh-CN" altLang="en-US" sz="2400">
                <a:solidFill>
                  <a:schemeClr val="accent2"/>
                </a:solidFill>
                <a:latin typeface="Times New Roman" panose="02020603050405020304" pitchFamily="18" charset="0"/>
                <a:ea typeface="黑体" panose="02010609060101010101" pitchFamily="49" charset="-122"/>
              </a:rPr>
              <a:t>螺旋模型优点</a:t>
            </a:r>
            <a:endParaRPr kumimoji="0" lang="zh-CN" altLang="en-US" sz="900" b="0">
              <a:latin typeface="Times New Roman" panose="02020603050405020304" pitchFamily="18" charset="0"/>
            </a:endParaRPr>
          </a:p>
          <a:p>
            <a:pPr lvl="1" eaLnBrk="1" hangingPunct="1">
              <a:lnSpc>
                <a:spcPts val="3400"/>
              </a:lnSpc>
              <a:spcBef>
                <a:spcPct val="0"/>
              </a:spcBef>
              <a:buSzPct val="60000"/>
              <a:buFont typeface="Wingdings" panose="05000000000000000000" pitchFamily="2" charset="2"/>
              <a:buChar char="n"/>
            </a:pPr>
            <a:r>
              <a:rPr kumimoji="0" lang="zh-CN" altLang="en-US" b="0">
                <a:latin typeface="Times New Roman" panose="02020603050405020304" pitchFamily="18" charset="0"/>
              </a:rPr>
              <a:t>　</a:t>
            </a:r>
            <a:r>
              <a:rPr kumimoji="0" lang="en-US" altLang="zh-CN" sz="2000" b="0">
                <a:latin typeface="宋体" panose="02010600030101010101" pitchFamily="2" charset="-122"/>
              </a:rPr>
              <a:t>1.</a:t>
            </a:r>
            <a:r>
              <a:rPr kumimoji="0" lang="zh-CN" altLang="en-US" sz="2000" b="0">
                <a:latin typeface="宋体" panose="02010600030101010101" pitchFamily="2" charset="-122"/>
              </a:rPr>
              <a:t>强调严格的全过程风险管理</a:t>
            </a:r>
            <a:endParaRPr kumimoji="0" lang="en-US" altLang="zh-CN" sz="2000" b="0">
              <a:latin typeface="宋体" panose="02010600030101010101" pitchFamily="2" charset="-122"/>
            </a:endParaRPr>
          </a:p>
          <a:p>
            <a:pPr lvl="1" eaLnBrk="1" hangingPunct="1">
              <a:lnSpc>
                <a:spcPts val="3400"/>
              </a:lnSpc>
              <a:spcBef>
                <a:spcPct val="0"/>
              </a:spcBef>
              <a:buSzPct val="60000"/>
              <a:buFont typeface="Wingdings" panose="05000000000000000000" pitchFamily="2" charset="2"/>
              <a:buChar char="n"/>
            </a:pPr>
            <a:r>
              <a:rPr kumimoji="0" lang="en-US" altLang="zh-CN" sz="2000" b="0">
                <a:latin typeface="宋体" panose="02010600030101010101" pitchFamily="2" charset="-122"/>
              </a:rPr>
              <a:t>   2.</a:t>
            </a:r>
            <a:r>
              <a:rPr kumimoji="0" lang="zh-CN" altLang="en-US" sz="2000" b="0">
                <a:latin typeface="宋体" panose="02010600030101010101" pitchFamily="2" charset="-122"/>
              </a:rPr>
              <a:t>强调各开发阶段的质量</a:t>
            </a:r>
            <a:endParaRPr kumimoji="0" lang="en-US" altLang="zh-CN" sz="2000" b="0">
              <a:latin typeface="宋体" panose="02010600030101010101" pitchFamily="2" charset="-122"/>
            </a:endParaRPr>
          </a:p>
          <a:p>
            <a:pPr lvl="1" eaLnBrk="1" hangingPunct="1">
              <a:lnSpc>
                <a:spcPts val="3400"/>
              </a:lnSpc>
              <a:spcBef>
                <a:spcPct val="0"/>
              </a:spcBef>
              <a:buSzPct val="60000"/>
              <a:buFont typeface="Wingdings" panose="05000000000000000000" pitchFamily="2" charset="2"/>
              <a:buChar char="n"/>
            </a:pPr>
            <a:r>
              <a:rPr kumimoji="0" lang="en-US" altLang="zh-CN" sz="2000" b="0">
                <a:latin typeface="宋体" panose="02010600030101010101" pitchFamily="2" charset="-122"/>
              </a:rPr>
              <a:t>   3.</a:t>
            </a:r>
            <a:r>
              <a:rPr kumimoji="0" lang="zh-CN" altLang="en-US" sz="2000" b="0">
                <a:latin typeface="宋体" panose="02010600030101010101" pitchFamily="2" charset="-122"/>
              </a:rPr>
              <a:t>提供机会检讨项目是否有价值继续下去</a:t>
            </a:r>
            <a:endParaRPr kumimoji="0" lang="zh-CN" altLang="en-US" sz="2000">
              <a:latin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1AC13F94-B2C6-8DB2-DF28-0303776CE93B}"/>
              </a:ext>
            </a:extLst>
          </p:cNvPr>
          <p:cNvSpPr>
            <a:spLocks noGrp="1" noChangeArrowheads="1"/>
          </p:cNvSpPr>
          <p:nvPr>
            <p:ph type="title"/>
          </p:nvPr>
        </p:nvSpPr>
        <p:spPr>
          <a:xfrm>
            <a:off x="177800" y="1054100"/>
            <a:ext cx="8788400" cy="717550"/>
          </a:xfrm>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3.2.5  </a:t>
            </a:r>
            <a:r>
              <a:rPr lang="zh-CN" altLang="en-US"/>
              <a:t>螺旋模型 </a:t>
            </a:r>
          </a:p>
        </p:txBody>
      </p:sp>
      <p:sp>
        <p:nvSpPr>
          <p:cNvPr id="40963" name="Rectangle 3">
            <a:extLst>
              <a:ext uri="{FF2B5EF4-FFF2-40B4-BE49-F238E27FC236}">
                <a16:creationId xmlns:a16="http://schemas.microsoft.com/office/drawing/2014/main" id="{27BE6BDA-D3BD-8980-8324-218FCEB8C2CC}"/>
              </a:ext>
            </a:extLst>
          </p:cNvPr>
          <p:cNvSpPr>
            <a:spLocks noChangeArrowheads="1"/>
          </p:cNvSpPr>
          <p:nvPr/>
        </p:nvSpPr>
        <p:spPr bwMode="auto">
          <a:xfrm>
            <a:off x="0" y="876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0964" name="Text Box 4">
            <a:extLst>
              <a:ext uri="{FF2B5EF4-FFF2-40B4-BE49-F238E27FC236}">
                <a16:creationId xmlns:a16="http://schemas.microsoft.com/office/drawing/2014/main" id="{A19E4527-F26E-4ABF-F629-5DC49750BA7C}"/>
              </a:ext>
            </a:extLst>
          </p:cNvPr>
          <p:cNvSpPr txBox="1">
            <a:spLocks noChangeArrowheads="1"/>
          </p:cNvSpPr>
          <p:nvPr/>
        </p:nvSpPr>
        <p:spPr bwMode="auto">
          <a:xfrm>
            <a:off x="827088" y="2276475"/>
            <a:ext cx="7058025" cy="220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lnSpc>
                <a:spcPts val="3400"/>
              </a:lnSpc>
              <a:spcBef>
                <a:spcPct val="0"/>
              </a:spcBef>
              <a:buSzPct val="70000"/>
              <a:buFont typeface="Wingdings" panose="05000000000000000000" pitchFamily="2" charset="2"/>
              <a:buChar char="n"/>
            </a:pPr>
            <a:r>
              <a:rPr kumimoji="0" lang="zh-CN" altLang="en-US" sz="2400" b="0">
                <a:latin typeface="Times New Roman" panose="02020603050405020304" pitchFamily="18" charset="0"/>
              </a:rPr>
              <a:t>　</a:t>
            </a:r>
            <a:r>
              <a:rPr kumimoji="0" lang="zh-CN" altLang="en-US" sz="2400">
                <a:solidFill>
                  <a:schemeClr val="accent2"/>
                </a:solidFill>
                <a:latin typeface="Times New Roman" panose="02020603050405020304" pitchFamily="18" charset="0"/>
                <a:ea typeface="黑体" panose="02010609060101010101" pitchFamily="49" charset="-122"/>
              </a:rPr>
              <a:t>螺旋模型缺点</a:t>
            </a:r>
            <a:endParaRPr kumimoji="0" lang="zh-CN" altLang="en-US" sz="900" b="0">
              <a:latin typeface="Times New Roman" panose="02020603050405020304" pitchFamily="18" charset="0"/>
            </a:endParaRPr>
          </a:p>
          <a:p>
            <a:pPr lvl="1" eaLnBrk="1" hangingPunct="1">
              <a:lnSpc>
                <a:spcPts val="3400"/>
              </a:lnSpc>
              <a:spcBef>
                <a:spcPct val="0"/>
              </a:spcBef>
              <a:buSzPct val="60000"/>
              <a:buFont typeface="Wingdings" panose="05000000000000000000" pitchFamily="2" charset="2"/>
              <a:buChar char="n"/>
            </a:pPr>
            <a:r>
              <a:rPr kumimoji="0" lang="zh-CN" altLang="en-US" b="0">
                <a:latin typeface="Times New Roman" panose="02020603050405020304" pitchFamily="18" charset="0"/>
              </a:rPr>
              <a:t>　</a:t>
            </a:r>
            <a:r>
              <a:rPr kumimoji="0" lang="en-US" altLang="zh-CN" sz="2000" b="0">
                <a:latin typeface="宋体" panose="02010600030101010101" pitchFamily="2" charset="-122"/>
              </a:rPr>
              <a:t>1.</a:t>
            </a:r>
            <a:r>
              <a:rPr kumimoji="0" lang="zh-CN" altLang="en-US" sz="2000" b="0">
                <a:latin typeface="宋体" panose="02010600030101010101" pitchFamily="2" charset="-122"/>
              </a:rPr>
              <a:t>它可能难以使用户相信演化方法是可控的</a:t>
            </a:r>
            <a:endParaRPr kumimoji="0" lang="en-US" altLang="zh-CN" sz="2000" b="0">
              <a:latin typeface="宋体" panose="02010600030101010101" pitchFamily="2" charset="-122"/>
            </a:endParaRPr>
          </a:p>
          <a:p>
            <a:pPr lvl="1" eaLnBrk="1" hangingPunct="1">
              <a:lnSpc>
                <a:spcPts val="3400"/>
              </a:lnSpc>
              <a:spcBef>
                <a:spcPct val="0"/>
              </a:spcBef>
              <a:buSzPct val="60000"/>
              <a:buFont typeface="Wingdings" panose="05000000000000000000" pitchFamily="2" charset="2"/>
              <a:buChar char="n"/>
            </a:pPr>
            <a:r>
              <a:rPr kumimoji="0" lang="en-US" altLang="zh-CN" sz="2000" b="0">
                <a:latin typeface="宋体" panose="02010600030101010101" pitchFamily="2" charset="-122"/>
              </a:rPr>
              <a:t>   2.</a:t>
            </a:r>
            <a:r>
              <a:rPr kumimoji="0" lang="zh-CN" altLang="en-US" sz="2000" b="0">
                <a:latin typeface="宋体" panose="02010600030101010101" pitchFamily="2" charset="-122"/>
              </a:rPr>
              <a:t>它需要相应的风险评估的专业技术，且其成功依赖于这种专业技术，如果一个大的风险未被发现和管理，毫无疑问就会出现问题。</a:t>
            </a:r>
            <a:endParaRPr kumimoji="0" lang="en-US" altLang="zh-CN" sz="2000" b="0">
              <a:latin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68FB42A6-3FE2-0B70-13BB-377D4ABCAC4A}"/>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3.2.5  </a:t>
            </a:r>
            <a:r>
              <a:rPr lang="zh-CN" altLang="en-US"/>
              <a:t>螺旋模型 </a:t>
            </a:r>
          </a:p>
        </p:txBody>
      </p:sp>
      <p:sp>
        <p:nvSpPr>
          <p:cNvPr id="41987" name="Rectangle 3">
            <a:extLst>
              <a:ext uri="{FF2B5EF4-FFF2-40B4-BE49-F238E27FC236}">
                <a16:creationId xmlns:a16="http://schemas.microsoft.com/office/drawing/2014/main" id="{F3EB9D23-1277-7CFA-6F4D-549E01F63D39}"/>
              </a:ext>
            </a:extLst>
          </p:cNvPr>
          <p:cNvSpPr>
            <a:spLocks noChangeArrowheads="1"/>
          </p:cNvSpPr>
          <p:nvPr/>
        </p:nvSpPr>
        <p:spPr bwMode="auto">
          <a:xfrm>
            <a:off x="0" y="876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1988" name="Text Box 4">
            <a:extLst>
              <a:ext uri="{FF2B5EF4-FFF2-40B4-BE49-F238E27FC236}">
                <a16:creationId xmlns:a16="http://schemas.microsoft.com/office/drawing/2014/main" id="{A537A86F-0383-48AC-A34F-12B864FCA0BA}"/>
              </a:ext>
            </a:extLst>
          </p:cNvPr>
          <p:cNvSpPr txBox="1">
            <a:spLocks noChangeArrowheads="1"/>
          </p:cNvSpPr>
          <p:nvPr/>
        </p:nvSpPr>
        <p:spPr bwMode="auto">
          <a:xfrm>
            <a:off x="1331913" y="2492375"/>
            <a:ext cx="7058025" cy="351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lnSpc>
                <a:spcPts val="3400"/>
              </a:lnSpc>
              <a:spcBef>
                <a:spcPct val="0"/>
              </a:spcBef>
              <a:buSzPct val="70000"/>
              <a:buFont typeface="Wingdings" panose="05000000000000000000" pitchFamily="2" charset="2"/>
              <a:buChar char="n"/>
            </a:pPr>
            <a:r>
              <a:rPr kumimoji="0" lang="zh-CN" altLang="en-US" sz="2400" b="0">
                <a:latin typeface="Times New Roman" panose="02020603050405020304" pitchFamily="18" charset="0"/>
              </a:rPr>
              <a:t>　</a:t>
            </a:r>
            <a:r>
              <a:rPr kumimoji="0" lang="zh-CN" altLang="en-US" sz="2400" b="0">
                <a:solidFill>
                  <a:schemeClr val="accent2"/>
                </a:solidFill>
                <a:latin typeface="Times New Roman" panose="02020603050405020304" pitchFamily="18" charset="0"/>
                <a:ea typeface="黑体" panose="02010609060101010101" pitchFamily="49" charset="-122"/>
              </a:rPr>
              <a:t>适用场景</a:t>
            </a:r>
            <a:endParaRPr kumimoji="0" lang="zh-CN" altLang="en-US" sz="900" b="0">
              <a:latin typeface="Times New Roman" panose="02020603050405020304" pitchFamily="18" charset="0"/>
            </a:endParaRPr>
          </a:p>
          <a:p>
            <a:pPr lvl="1" eaLnBrk="1" hangingPunct="1">
              <a:lnSpc>
                <a:spcPts val="3400"/>
              </a:lnSpc>
              <a:spcBef>
                <a:spcPct val="0"/>
              </a:spcBef>
              <a:buSzPct val="60000"/>
              <a:buFont typeface="Wingdings" panose="05000000000000000000" pitchFamily="2" charset="2"/>
              <a:buChar char="n"/>
            </a:pPr>
            <a:r>
              <a:rPr kumimoji="0" lang="zh-CN" altLang="en-US" b="0">
                <a:latin typeface="Times New Roman" panose="02020603050405020304" pitchFamily="18" charset="0"/>
              </a:rPr>
              <a:t>　</a:t>
            </a:r>
            <a:r>
              <a:rPr kumimoji="0" lang="en-US" altLang="zh-CN" sz="2000" b="0">
                <a:latin typeface="宋体" panose="02010600030101010101" pitchFamily="2" charset="-122"/>
              </a:rPr>
              <a:t>1.</a:t>
            </a:r>
            <a:r>
              <a:rPr kumimoji="0" lang="zh-CN" altLang="en-US" sz="2000" b="0">
                <a:latin typeface="宋体" panose="02010600030101010101" pitchFamily="2" charset="-122"/>
              </a:rPr>
              <a:t>风险是主要的制约因素的项目</a:t>
            </a:r>
            <a:endParaRPr kumimoji="0" lang="en-US" altLang="zh-CN" sz="2000" b="0">
              <a:latin typeface="宋体" panose="02010600030101010101" pitchFamily="2" charset="-122"/>
            </a:endParaRPr>
          </a:p>
          <a:p>
            <a:pPr lvl="1" eaLnBrk="1" hangingPunct="1">
              <a:lnSpc>
                <a:spcPts val="3400"/>
              </a:lnSpc>
              <a:spcBef>
                <a:spcPct val="0"/>
              </a:spcBef>
              <a:buSzPct val="60000"/>
              <a:buFont typeface="Wingdings" panose="05000000000000000000" pitchFamily="2" charset="2"/>
              <a:buChar char="n"/>
            </a:pPr>
            <a:r>
              <a:rPr kumimoji="0" lang="en-US" altLang="zh-CN" sz="2000" b="0">
                <a:latin typeface="宋体" panose="02010600030101010101" pitchFamily="2" charset="-122"/>
              </a:rPr>
              <a:t>   2.</a:t>
            </a:r>
            <a:r>
              <a:rPr kumimoji="0" lang="zh-CN" altLang="en-US" sz="2000" b="0">
                <a:latin typeface="宋体" panose="02010600030101010101" pitchFamily="2" charset="-122"/>
              </a:rPr>
              <a:t>不确定的因素和风险限制了项目进度的项目</a:t>
            </a:r>
            <a:endParaRPr kumimoji="0" lang="en-US" altLang="zh-CN" sz="2000" b="0">
              <a:latin typeface="宋体" panose="02010600030101010101" pitchFamily="2" charset="-122"/>
            </a:endParaRPr>
          </a:p>
          <a:p>
            <a:pPr lvl="1" eaLnBrk="1" hangingPunct="1">
              <a:lnSpc>
                <a:spcPts val="3400"/>
              </a:lnSpc>
              <a:spcBef>
                <a:spcPct val="0"/>
              </a:spcBef>
              <a:buSzPct val="60000"/>
              <a:buFont typeface="Wingdings" panose="05000000000000000000" pitchFamily="2" charset="2"/>
              <a:buChar char="n"/>
            </a:pPr>
            <a:r>
              <a:rPr kumimoji="0" lang="en-US" altLang="zh-CN" sz="2000" b="0">
                <a:latin typeface="宋体" panose="02010600030101010101" pitchFamily="2" charset="-122"/>
              </a:rPr>
              <a:t>   3.</a:t>
            </a:r>
            <a:r>
              <a:rPr kumimoji="0" lang="zh-CN" altLang="en-US" sz="2000" b="0">
                <a:latin typeface="宋体" panose="02010600030101010101" pitchFamily="2" charset="-122"/>
              </a:rPr>
              <a:t>用户对自己的需求不是很明确的项目</a:t>
            </a:r>
            <a:endParaRPr kumimoji="0" lang="en-US" altLang="zh-CN" sz="2000" b="0">
              <a:latin typeface="宋体" panose="02010600030101010101" pitchFamily="2" charset="-122"/>
            </a:endParaRPr>
          </a:p>
          <a:p>
            <a:pPr lvl="1" eaLnBrk="1" hangingPunct="1">
              <a:lnSpc>
                <a:spcPts val="3400"/>
              </a:lnSpc>
              <a:spcBef>
                <a:spcPct val="0"/>
              </a:spcBef>
              <a:buSzPct val="60000"/>
              <a:buFont typeface="Wingdings" panose="05000000000000000000" pitchFamily="2" charset="2"/>
              <a:buChar char="n"/>
            </a:pPr>
            <a:r>
              <a:rPr kumimoji="0" lang="en-US" altLang="zh-CN" sz="2000" b="0">
                <a:latin typeface="宋体" panose="02010600030101010101" pitchFamily="2" charset="-122"/>
              </a:rPr>
              <a:t>   4.</a:t>
            </a:r>
            <a:r>
              <a:rPr kumimoji="0" lang="zh-CN" altLang="en-US" sz="2000" b="0">
                <a:latin typeface="宋体" panose="02010600030101010101" pitchFamily="2" charset="-122"/>
              </a:rPr>
              <a:t>需要对一些基本的概念进行验证的项目</a:t>
            </a:r>
            <a:endParaRPr kumimoji="0" lang="en-US" altLang="zh-CN" sz="2000" b="0">
              <a:latin typeface="宋体" panose="02010600030101010101" pitchFamily="2" charset="-122"/>
            </a:endParaRPr>
          </a:p>
          <a:p>
            <a:pPr lvl="1" eaLnBrk="1" hangingPunct="1">
              <a:lnSpc>
                <a:spcPts val="3400"/>
              </a:lnSpc>
              <a:spcBef>
                <a:spcPct val="0"/>
              </a:spcBef>
              <a:buSzPct val="60000"/>
              <a:buFont typeface="Wingdings" panose="05000000000000000000" pitchFamily="2" charset="2"/>
              <a:buChar char="n"/>
            </a:pPr>
            <a:r>
              <a:rPr kumimoji="0" lang="en-US" altLang="zh-CN" sz="2000" b="0">
                <a:latin typeface="宋体" panose="02010600030101010101" pitchFamily="2" charset="-122"/>
              </a:rPr>
              <a:t>   5.</a:t>
            </a:r>
            <a:r>
              <a:rPr kumimoji="0" lang="zh-CN" altLang="en-US" sz="2000" b="0">
                <a:latin typeface="宋体" panose="02010600030101010101" pitchFamily="2" charset="-122"/>
              </a:rPr>
              <a:t>可能发生一些重大变更的项目</a:t>
            </a:r>
            <a:endParaRPr kumimoji="0" lang="en-US" altLang="zh-CN" sz="2000" b="0">
              <a:latin typeface="宋体" panose="02010600030101010101" pitchFamily="2" charset="-122"/>
            </a:endParaRPr>
          </a:p>
          <a:p>
            <a:pPr lvl="1" eaLnBrk="1" hangingPunct="1">
              <a:lnSpc>
                <a:spcPts val="3400"/>
              </a:lnSpc>
              <a:spcBef>
                <a:spcPct val="0"/>
              </a:spcBef>
              <a:buSzPct val="60000"/>
              <a:buFont typeface="Wingdings" panose="05000000000000000000" pitchFamily="2" charset="2"/>
              <a:buChar char="n"/>
            </a:pPr>
            <a:r>
              <a:rPr kumimoji="0" lang="en-US" altLang="zh-CN" sz="2000" b="0">
                <a:latin typeface="宋体" panose="02010600030101010101" pitchFamily="2" charset="-122"/>
              </a:rPr>
              <a:t>   6.</a:t>
            </a:r>
            <a:r>
              <a:rPr kumimoji="0" lang="zh-CN" altLang="en-US" sz="2000" b="0">
                <a:latin typeface="宋体" panose="02010600030101010101" pitchFamily="2" charset="-122"/>
              </a:rPr>
              <a:t>规模很大的项目</a:t>
            </a:r>
            <a:endParaRPr kumimoji="0" lang="en-US" altLang="zh-CN" sz="2000" b="0">
              <a:latin typeface="宋体" panose="02010600030101010101" pitchFamily="2" charset="-122"/>
            </a:endParaRPr>
          </a:p>
          <a:p>
            <a:pPr lvl="1" eaLnBrk="1" hangingPunct="1">
              <a:lnSpc>
                <a:spcPts val="3400"/>
              </a:lnSpc>
              <a:spcBef>
                <a:spcPct val="0"/>
              </a:spcBef>
              <a:buSzPct val="60000"/>
              <a:buFont typeface="Wingdings" panose="05000000000000000000" pitchFamily="2" charset="2"/>
              <a:buChar char="n"/>
            </a:pPr>
            <a:r>
              <a:rPr kumimoji="0" lang="en-US" altLang="zh-CN" sz="2000" b="0">
                <a:latin typeface="宋体" panose="02010600030101010101" pitchFamily="2" charset="-122"/>
              </a:rPr>
              <a:t>   7.</a:t>
            </a:r>
            <a:r>
              <a:rPr kumimoji="0" lang="zh-CN" altLang="en-US" sz="2000" b="0">
                <a:latin typeface="宋体" panose="02010600030101010101" pitchFamily="2" charset="-122"/>
              </a:rPr>
              <a:t>采用了新技术的项目等</a:t>
            </a:r>
            <a:endParaRPr kumimoji="0" lang="en-US" altLang="zh-CN" sz="2000" b="0">
              <a:latin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B35B11B3-EC8F-6BD1-7453-5274F09BE4B4}"/>
              </a:ext>
            </a:extLst>
          </p:cNvPr>
          <p:cNvSpPr>
            <a:spLocks noGrp="1" noChangeArrowheads="1"/>
          </p:cNvSpPr>
          <p:nvPr>
            <p:ph type="title"/>
          </p:nvPr>
        </p:nvSpPr>
        <p:spPr/>
        <p:txBody>
          <a:bodyPr/>
          <a:lstStyle/>
          <a:p>
            <a:pPr eaLnBrk="1" hangingPunct="1"/>
            <a:r>
              <a:rPr lang="zh-CN" altLang="en-US"/>
              <a:t>本章内容提要</a:t>
            </a:r>
          </a:p>
        </p:txBody>
      </p:sp>
      <p:sp>
        <p:nvSpPr>
          <p:cNvPr id="43011" name="AutoShape 3">
            <a:extLst>
              <a:ext uri="{FF2B5EF4-FFF2-40B4-BE49-F238E27FC236}">
                <a16:creationId xmlns:a16="http://schemas.microsoft.com/office/drawing/2014/main" id="{EA5E14DE-2FD3-26BB-8548-6302440A3F7D}"/>
              </a:ext>
            </a:extLst>
          </p:cNvPr>
          <p:cNvSpPr>
            <a:spLocks noChangeArrowheads="1"/>
          </p:cNvSpPr>
          <p:nvPr/>
        </p:nvSpPr>
        <p:spPr bwMode="auto">
          <a:xfrm>
            <a:off x="736600" y="2343150"/>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3012" name="Text Box 4">
            <a:extLst>
              <a:ext uri="{FF2B5EF4-FFF2-40B4-BE49-F238E27FC236}">
                <a16:creationId xmlns:a16="http://schemas.microsoft.com/office/drawing/2014/main" id="{E4848D63-1B5B-B2AE-58D7-4B1CE942C736}"/>
              </a:ext>
            </a:extLst>
          </p:cNvPr>
          <p:cNvSpPr txBox="1">
            <a:spLocks noChangeArrowheads="1"/>
          </p:cNvSpPr>
          <p:nvPr/>
        </p:nvSpPr>
        <p:spPr bwMode="auto">
          <a:xfrm>
            <a:off x="993775" y="2376488"/>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200">
                <a:latin typeface="黑体" panose="02010609060101010101" pitchFamily="49" charset="-122"/>
                <a:ea typeface="黑体" panose="02010609060101010101" pitchFamily="49" charset="-122"/>
              </a:rPr>
              <a:t>CMM</a:t>
            </a:r>
            <a:r>
              <a:rPr lang="zh-CN" altLang="en-US" sz="2200">
                <a:latin typeface="黑体" panose="02010609060101010101" pitchFamily="49" charset="-122"/>
                <a:ea typeface="黑体" panose="02010609060101010101" pitchFamily="49" charset="-122"/>
              </a:rPr>
              <a:t>和</a:t>
            </a:r>
            <a:r>
              <a:rPr lang="en-US" altLang="zh-CN" sz="2200">
                <a:latin typeface="黑体" panose="02010609060101010101" pitchFamily="49" charset="-122"/>
                <a:ea typeface="黑体" panose="02010609060101010101" pitchFamily="49" charset="-122"/>
              </a:rPr>
              <a:t>ISO9000</a:t>
            </a:r>
            <a:r>
              <a:rPr lang="en-US" altLang="zh-CN" sz="2400" b="0">
                <a:latin typeface="Times New Roman" panose="02020603050405020304" pitchFamily="18" charset="0"/>
              </a:rPr>
              <a:t> </a:t>
            </a:r>
          </a:p>
        </p:txBody>
      </p:sp>
      <p:sp>
        <p:nvSpPr>
          <p:cNvPr id="43013" name="AutoShape 5">
            <a:extLst>
              <a:ext uri="{FF2B5EF4-FFF2-40B4-BE49-F238E27FC236}">
                <a16:creationId xmlns:a16="http://schemas.microsoft.com/office/drawing/2014/main" id="{9C4D0022-2B82-E29F-940A-D43B56E8749B}"/>
              </a:ext>
            </a:extLst>
          </p:cNvPr>
          <p:cNvSpPr>
            <a:spLocks noChangeArrowheads="1"/>
          </p:cNvSpPr>
          <p:nvPr/>
        </p:nvSpPr>
        <p:spPr bwMode="auto">
          <a:xfrm>
            <a:off x="747713" y="2890838"/>
            <a:ext cx="5545137"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3014" name="Text Box 6">
            <a:extLst>
              <a:ext uri="{FF2B5EF4-FFF2-40B4-BE49-F238E27FC236}">
                <a16:creationId xmlns:a16="http://schemas.microsoft.com/office/drawing/2014/main" id="{6C02914C-73AC-A778-B8C4-741E815FC8DD}"/>
              </a:ext>
            </a:extLst>
          </p:cNvPr>
          <p:cNvSpPr txBox="1">
            <a:spLocks noChangeArrowheads="1"/>
          </p:cNvSpPr>
          <p:nvPr/>
        </p:nvSpPr>
        <p:spPr bwMode="auto">
          <a:xfrm>
            <a:off x="1004888" y="2932113"/>
            <a:ext cx="49196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传统软件开发生命周期模型</a:t>
            </a:r>
            <a:r>
              <a:rPr lang="zh-CN" altLang="en-US" sz="2400" b="0">
                <a:latin typeface="Times New Roman" panose="02020603050405020304" pitchFamily="18" charset="0"/>
              </a:rPr>
              <a:t> </a:t>
            </a:r>
          </a:p>
        </p:txBody>
      </p:sp>
      <p:sp>
        <p:nvSpPr>
          <p:cNvPr id="43015" name="AutoShape 7">
            <a:extLst>
              <a:ext uri="{FF2B5EF4-FFF2-40B4-BE49-F238E27FC236}">
                <a16:creationId xmlns:a16="http://schemas.microsoft.com/office/drawing/2014/main" id="{AC3D3AB1-F288-2024-6E24-D6BF52BBEA06}"/>
              </a:ext>
            </a:extLst>
          </p:cNvPr>
          <p:cNvSpPr>
            <a:spLocks noChangeArrowheads="1"/>
          </p:cNvSpPr>
          <p:nvPr/>
        </p:nvSpPr>
        <p:spPr bwMode="auto">
          <a:xfrm>
            <a:off x="747713" y="3440113"/>
            <a:ext cx="5545137"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3016" name="Text Box 8">
            <a:extLst>
              <a:ext uri="{FF2B5EF4-FFF2-40B4-BE49-F238E27FC236}">
                <a16:creationId xmlns:a16="http://schemas.microsoft.com/office/drawing/2014/main" id="{D10F22D0-DCB8-7B3F-6B7D-15D5107AE5E9}"/>
              </a:ext>
            </a:extLst>
          </p:cNvPr>
          <p:cNvSpPr txBox="1">
            <a:spLocks noChangeArrowheads="1"/>
          </p:cNvSpPr>
          <p:nvPr/>
        </p:nvSpPr>
        <p:spPr bwMode="auto">
          <a:xfrm>
            <a:off x="1004888" y="3511550"/>
            <a:ext cx="49196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扩展软件开发生命周期模型</a:t>
            </a:r>
            <a:r>
              <a:rPr lang="zh-CN" altLang="en-US" sz="2400" b="0">
                <a:latin typeface="Times New Roman" panose="02020603050405020304" pitchFamily="18" charset="0"/>
              </a:rPr>
              <a:t> </a:t>
            </a:r>
          </a:p>
        </p:txBody>
      </p:sp>
      <p:sp>
        <p:nvSpPr>
          <p:cNvPr id="43017" name="Rectangle 9">
            <a:extLst>
              <a:ext uri="{FF2B5EF4-FFF2-40B4-BE49-F238E27FC236}">
                <a16:creationId xmlns:a16="http://schemas.microsoft.com/office/drawing/2014/main" id="{7F00D638-DF38-7285-74E8-70DCD478D339}"/>
              </a:ext>
            </a:extLst>
          </p:cNvPr>
          <p:cNvSpPr>
            <a:spLocks noChangeArrowheads="1"/>
          </p:cNvSpPr>
          <p:nvPr/>
        </p:nvSpPr>
        <p:spPr bwMode="auto">
          <a:xfrm>
            <a:off x="611188" y="2432050"/>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3.1</a:t>
            </a:r>
            <a:endParaRPr lang="en-US" altLang="zh-CN" sz="1800">
              <a:solidFill>
                <a:srgbClr val="000000"/>
              </a:solidFill>
            </a:endParaRPr>
          </a:p>
        </p:txBody>
      </p:sp>
      <p:sp>
        <p:nvSpPr>
          <p:cNvPr id="43018" name="AutoShape 10">
            <a:extLst>
              <a:ext uri="{FF2B5EF4-FFF2-40B4-BE49-F238E27FC236}">
                <a16:creationId xmlns:a16="http://schemas.microsoft.com/office/drawing/2014/main" id="{9F5C55B3-1C02-3842-33D0-4876E8CFF02B}"/>
              </a:ext>
            </a:extLst>
          </p:cNvPr>
          <p:cNvSpPr>
            <a:spLocks noChangeArrowheads="1"/>
          </p:cNvSpPr>
          <p:nvPr/>
        </p:nvSpPr>
        <p:spPr bwMode="auto">
          <a:xfrm>
            <a:off x="752475" y="3992563"/>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3019" name="Text Box 11">
            <a:extLst>
              <a:ext uri="{FF2B5EF4-FFF2-40B4-BE49-F238E27FC236}">
                <a16:creationId xmlns:a16="http://schemas.microsoft.com/office/drawing/2014/main" id="{F600FA31-3732-BBC7-1535-1D5D86DE1F4D}"/>
              </a:ext>
            </a:extLst>
          </p:cNvPr>
          <p:cNvSpPr txBox="1">
            <a:spLocks noChangeArrowheads="1"/>
          </p:cNvSpPr>
          <p:nvPr/>
        </p:nvSpPr>
        <p:spPr bwMode="auto">
          <a:xfrm>
            <a:off x="1009650" y="4025900"/>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质量计划</a:t>
            </a:r>
            <a:r>
              <a:rPr lang="zh-CN" altLang="en-US" sz="2400" b="0">
                <a:latin typeface="Times New Roman" panose="02020603050405020304" pitchFamily="18" charset="0"/>
              </a:rPr>
              <a:t> </a:t>
            </a:r>
          </a:p>
        </p:txBody>
      </p:sp>
      <p:sp>
        <p:nvSpPr>
          <p:cNvPr id="43020" name="Rectangle 12">
            <a:extLst>
              <a:ext uri="{FF2B5EF4-FFF2-40B4-BE49-F238E27FC236}">
                <a16:creationId xmlns:a16="http://schemas.microsoft.com/office/drawing/2014/main" id="{7F5868B5-38A2-BBC0-48F7-14EB530DAB79}"/>
              </a:ext>
            </a:extLst>
          </p:cNvPr>
          <p:cNvSpPr>
            <a:spLocks noChangeArrowheads="1"/>
          </p:cNvSpPr>
          <p:nvPr/>
        </p:nvSpPr>
        <p:spPr bwMode="auto">
          <a:xfrm>
            <a:off x="627063" y="4081463"/>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3.4</a:t>
            </a:r>
            <a:endParaRPr lang="en-US" altLang="zh-CN" sz="1800">
              <a:solidFill>
                <a:srgbClr val="000000"/>
              </a:solidFill>
            </a:endParaRPr>
          </a:p>
        </p:txBody>
      </p:sp>
      <p:sp>
        <p:nvSpPr>
          <p:cNvPr id="43021" name="AutoShape 13">
            <a:extLst>
              <a:ext uri="{FF2B5EF4-FFF2-40B4-BE49-F238E27FC236}">
                <a16:creationId xmlns:a16="http://schemas.microsoft.com/office/drawing/2014/main" id="{860D5244-2129-602D-84A5-427AA1FA87AC}"/>
              </a:ext>
            </a:extLst>
          </p:cNvPr>
          <p:cNvSpPr>
            <a:spLocks noChangeArrowheads="1"/>
          </p:cNvSpPr>
          <p:nvPr/>
        </p:nvSpPr>
        <p:spPr bwMode="auto">
          <a:xfrm>
            <a:off x="750888" y="4546600"/>
            <a:ext cx="5545137"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3022" name="Text Box 14">
            <a:extLst>
              <a:ext uri="{FF2B5EF4-FFF2-40B4-BE49-F238E27FC236}">
                <a16:creationId xmlns:a16="http://schemas.microsoft.com/office/drawing/2014/main" id="{7692E259-3FCC-5556-F9E8-5EC99E873425}"/>
              </a:ext>
            </a:extLst>
          </p:cNvPr>
          <p:cNvSpPr txBox="1">
            <a:spLocks noChangeArrowheads="1"/>
          </p:cNvSpPr>
          <p:nvPr/>
        </p:nvSpPr>
        <p:spPr bwMode="auto">
          <a:xfrm>
            <a:off x="1008063" y="4594225"/>
            <a:ext cx="4919662"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案例分析</a:t>
            </a:r>
            <a:r>
              <a:rPr lang="zh-CN" altLang="en-US" sz="2200">
                <a:latin typeface="Times New Roman" panose="02020603050405020304" pitchFamily="18" charset="0"/>
              </a:rPr>
              <a:t> </a:t>
            </a:r>
          </a:p>
        </p:txBody>
      </p:sp>
      <p:sp>
        <p:nvSpPr>
          <p:cNvPr id="43023" name="Rectangle 15">
            <a:extLst>
              <a:ext uri="{FF2B5EF4-FFF2-40B4-BE49-F238E27FC236}">
                <a16:creationId xmlns:a16="http://schemas.microsoft.com/office/drawing/2014/main" id="{C94AF6E6-FAF4-19DF-1A19-26FF924416A6}"/>
              </a:ext>
            </a:extLst>
          </p:cNvPr>
          <p:cNvSpPr>
            <a:spLocks noChangeArrowheads="1"/>
          </p:cNvSpPr>
          <p:nvPr/>
        </p:nvSpPr>
        <p:spPr bwMode="auto">
          <a:xfrm>
            <a:off x="625475" y="4635500"/>
            <a:ext cx="334963"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3.5</a:t>
            </a:r>
            <a:endParaRPr lang="en-US" altLang="zh-CN" sz="1800">
              <a:solidFill>
                <a:srgbClr val="000000"/>
              </a:solidFill>
            </a:endParaRPr>
          </a:p>
        </p:txBody>
      </p:sp>
      <p:sp>
        <p:nvSpPr>
          <p:cNvPr id="43024" name="AutoShape 16">
            <a:extLst>
              <a:ext uri="{FF2B5EF4-FFF2-40B4-BE49-F238E27FC236}">
                <a16:creationId xmlns:a16="http://schemas.microsoft.com/office/drawing/2014/main" id="{6E4F22B5-FC0A-20C7-F275-536B0B26E79F}"/>
              </a:ext>
            </a:extLst>
          </p:cNvPr>
          <p:cNvSpPr>
            <a:spLocks noChangeArrowheads="1"/>
          </p:cNvSpPr>
          <p:nvPr/>
        </p:nvSpPr>
        <p:spPr bwMode="auto">
          <a:xfrm>
            <a:off x="755650" y="5106988"/>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3025" name="Text Box 17">
            <a:extLst>
              <a:ext uri="{FF2B5EF4-FFF2-40B4-BE49-F238E27FC236}">
                <a16:creationId xmlns:a16="http://schemas.microsoft.com/office/drawing/2014/main" id="{D3EED0AD-8337-222E-E638-D04AD06E6A30}"/>
              </a:ext>
            </a:extLst>
          </p:cNvPr>
          <p:cNvSpPr txBox="1">
            <a:spLocks noChangeArrowheads="1"/>
          </p:cNvSpPr>
          <p:nvPr/>
        </p:nvSpPr>
        <p:spPr bwMode="auto">
          <a:xfrm>
            <a:off x="1012825" y="5140325"/>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43026" name="Rectangle 18">
            <a:extLst>
              <a:ext uri="{FF2B5EF4-FFF2-40B4-BE49-F238E27FC236}">
                <a16:creationId xmlns:a16="http://schemas.microsoft.com/office/drawing/2014/main" id="{58DCBD2E-D4C0-BC1B-6642-B71C5B599660}"/>
              </a:ext>
            </a:extLst>
          </p:cNvPr>
          <p:cNvSpPr>
            <a:spLocks noChangeArrowheads="1"/>
          </p:cNvSpPr>
          <p:nvPr/>
        </p:nvSpPr>
        <p:spPr bwMode="auto">
          <a:xfrm>
            <a:off x="630238" y="5195888"/>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3.6</a:t>
            </a:r>
            <a:endParaRPr lang="en-US" altLang="zh-CN" sz="1800">
              <a:solidFill>
                <a:srgbClr val="000000"/>
              </a:solidFill>
            </a:endParaRPr>
          </a:p>
        </p:txBody>
      </p:sp>
      <p:sp>
        <p:nvSpPr>
          <p:cNvPr id="43027" name="AutoShape 19">
            <a:extLst>
              <a:ext uri="{FF2B5EF4-FFF2-40B4-BE49-F238E27FC236}">
                <a16:creationId xmlns:a16="http://schemas.microsoft.com/office/drawing/2014/main" id="{B6413C34-2723-D1B8-FEF6-FE68D34EB887}"/>
              </a:ext>
            </a:extLst>
          </p:cNvPr>
          <p:cNvSpPr>
            <a:spLocks noChangeArrowheads="1"/>
          </p:cNvSpPr>
          <p:nvPr/>
        </p:nvSpPr>
        <p:spPr bwMode="auto">
          <a:xfrm>
            <a:off x="755650" y="5651500"/>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3028" name="Text Box 20">
            <a:extLst>
              <a:ext uri="{FF2B5EF4-FFF2-40B4-BE49-F238E27FC236}">
                <a16:creationId xmlns:a16="http://schemas.microsoft.com/office/drawing/2014/main" id="{E213F44C-0194-A443-727F-9EE3C4117C9D}"/>
              </a:ext>
            </a:extLst>
          </p:cNvPr>
          <p:cNvSpPr txBox="1">
            <a:spLocks noChangeArrowheads="1"/>
          </p:cNvSpPr>
          <p:nvPr/>
        </p:nvSpPr>
        <p:spPr bwMode="auto">
          <a:xfrm>
            <a:off x="1012825" y="5684838"/>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复习思考题</a:t>
            </a:r>
            <a:r>
              <a:rPr lang="zh-CN" altLang="en-US" sz="2400" b="0">
                <a:latin typeface="Times New Roman" panose="02020603050405020304" pitchFamily="18" charset="0"/>
              </a:rPr>
              <a:t> </a:t>
            </a:r>
          </a:p>
        </p:txBody>
      </p:sp>
      <p:sp>
        <p:nvSpPr>
          <p:cNvPr id="43029" name="Rectangle 21">
            <a:extLst>
              <a:ext uri="{FF2B5EF4-FFF2-40B4-BE49-F238E27FC236}">
                <a16:creationId xmlns:a16="http://schemas.microsoft.com/office/drawing/2014/main" id="{D3D2F4C1-5F2A-3482-B573-CA0B16ADB0E5}"/>
              </a:ext>
            </a:extLst>
          </p:cNvPr>
          <p:cNvSpPr>
            <a:spLocks noChangeArrowheads="1"/>
          </p:cNvSpPr>
          <p:nvPr/>
        </p:nvSpPr>
        <p:spPr bwMode="auto">
          <a:xfrm>
            <a:off x="630238" y="5740400"/>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3.7</a:t>
            </a:r>
            <a:endParaRPr lang="en-US" altLang="zh-CN" sz="1800">
              <a:solidFill>
                <a:srgbClr val="000000"/>
              </a:solidFill>
            </a:endParaRPr>
          </a:p>
        </p:txBody>
      </p:sp>
      <p:sp>
        <p:nvSpPr>
          <p:cNvPr id="43030" name="Rectangle 22">
            <a:extLst>
              <a:ext uri="{FF2B5EF4-FFF2-40B4-BE49-F238E27FC236}">
                <a16:creationId xmlns:a16="http://schemas.microsoft.com/office/drawing/2014/main" id="{D2D95483-4EE1-A7B2-6B27-41E93DAC9CB9}"/>
              </a:ext>
            </a:extLst>
          </p:cNvPr>
          <p:cNvSpPr>
            <a:spLocks noChangeArrowheads="1"/>
          </p:cNvSpPr>
          <p:nvPr/>
        </p:nvSpPr>
        <p:spPr bwMode="auto">
          <a:xfrm>
            <a:off x="604838" y="2992438"/>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3.2</a:t>
            </a:r>
          </a:p>
        </p:txBody>
      </p:sp>
      <p:sp>
        <p:nvSpPr>
          <p:cNvPr id="43031" name="Rectangle 23">
            <a:extLst>
              <a:ext uri="{FF2B5EF4-FFF2-40B4-BE49-F238E27FC236}">
                <a16:creationId xmlns:a16="http://schemas.microsoft.com/office/drawing/2014/main" id="{6335CC35-414D-4E69-759E-1A61A9F3E504}"/>
              </a:ext>
            </a:extLst>
          </p:cNvPr>
          <p:cNvSpPr>
            <a:spLocks noChangeArrowheads="1"/>
          </p:cNvSpPr>
          <p:nvPr/>
        </p:nvSpPr>
        <p:spPr bwMode="auto">
          <a:xfrm>
            <a:off x="604838" y="3536950"/>
            <a:ext cx="334962" cy="260350"/>
          </a:xfrm>
          <a:prstGeom prst="rect">
            <a:avLst/>
          </a:prstGeom>
          <a:solidFill>
            <a:srgbClr val="0000FF"/>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3.3</a:t>
            </a:r>
            <a:endParaRPr lang="en-US" altLang="zh-CN" sz="1800">
              <a:solidFill>
                <a:srgbClr val="00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553C512D-7AC3-F67F-9EDC-68D881295A69}"/>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3.3.1  </a:t>
            </a:r>
            <a:r>
              <a:rPr kumimoji="1" lang="zh-CN" altLang="en-US"/>
              <a:t>极限模型 </a:t>
            </a:r>
          </a:p>
        </p:txBody>
      </p:sp>
      <p:sp>
        <p:nvSpPr>
          <p:cNvPr id="44035" name="Rectangle 3">
            <a:extLst>
              <a:ext uri="{FF2B5EF4-FFF2-40B4-BE49-F238E27FC236}">
                <a16:creationId xmlns:a16="http://schemas.microsoft.com/office/drawing/2014/main" id="{BC2FDA91-ADE1-1EF5-BF44-A49A4D257890}"/>
              </a:ext>
            </a:extLst>
          </p:cNvPr>
          <p:cNvSpPr>
            <a:spLocks noChangeArrowheads="1"/>
          </p:cNvSpPr>
          <p:nvPr/>
        </p:nvSpPr>
        <p:spPr bwMode="auto">
          <a:xfrm>
            <a:off x="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4036" name="Text Box 5">
            <a:extLst>
              <a:ext uri="{FF2B5EF4-FFF2-40B4-BE49-F238E27FC236}">
                <a16:creationId xmlns:a16="http://schemas.microsoft.com/office/drawing/2014/main" id="{2971BD44-0061-A9AA-3453-E13E8267FA62}"/>
              </a:ext>
            </a:extLst>
          </p:cNvPr>
          <p:cNvSpPr txBox="1">
            <a:spLocks noChangeArrowheads="1"/>
          </p:cNvSpPr>
          <p:nvPr/>
        </p:nvSpPr>
        <p:spPr bwMode="auto">
          <a:xfrm>
            <a:off x="1547813" y="2492375"/>
            <a:ext cx="5545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endParaRPr lang="zh-CN" altLang="zh-CN" sz="2400" b="0">
              <a:latin typeface="Times New Roman" panose="02020603050405020304" pitchFamily="18" charset="0"/>
            </a:endParaRPr>
          </a:p>
        </p:txBody>
      </p:sp>
      <p:sp>
        <p:nvSpPr>
          <p:cNvPr id="44037" name="Text Box 6">
            <a:extLst>
              <a:ext uri="{FF2B5EF4-FFF2-40B4-BE49-F238E27FC236}">
                <a16:creationId xmlns:a16="http://schemas.microsoft.com/office/drawing/2014/main" id="{D2668DA8-6F3B-B445-0B58-15BD04879E35}"/>
              </a:ext>
            </a:extLst>
          </p:cNvPr>
          <p:cNvSpPr txBox="1">
            <a:spLocks noChangeArrowheads="1"/>
          </p:cNvSpPr>
          <p:nvPr/>
        </p:nvSpPr>
        <p:spPr bwMode="auto">
          <a:xfrm>
            <a:off x="825500" y="2424113"/>
            <a:ext cx="7491413"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Pct val="70000"/>
              <a:buFont typeface="Wingdings" panose="05000000000000000000" pitchFamily="2" charset="2"/>
              <a:buChar char="n"/>
            </a:pPr>
            <a:r>
              <a:rPr lang="zh-CN" altLang="en-US" sz="2400">
                <a:solidFill>
                  <a:schemeClr val="accent2"/>
                </a:solidFill>
                <a:latin typeface="Times New Roman" panose="02020603050405020304" pitchFamily="18" charset="0"/>
                <a:ea typeface="黑体" panose="02010609060101010101" pitchFamily="49" charset="-122"/>
              </a:rPr>
              <a:t>　极限模型简介</a:t>
            </a:r>
            <a:r>
              <a:rPr lang="zh-CN" altLang="en-US" sz="2400" b="0">
                <a:latin typeface="Times New Roman" panose="02020603050405020304" pitchFamily="18" charset="0"/>
              </a:rPr>
              <a:t>　</a:t>
            </a:r>
          </a:p>
          <a:p>
            <a:pPr eaLnBrk="1" hangingPunct="1">
              <a:lnSpc>
                <a:spcPts val="3000"/>
              </a:lnSpc>
              <a:spcBef>
                <a:spcPct val="50000"/>
              </a:spcBef>
              <a:buClrTx/>
              <a:buFontTx/>
              <a:buNone/>
            </a:pPr>
            <a:r>
              <a:rPr lang="zh-CN" altLang="en-US" sz="2000">
                <a:latin typeface="宋体" panose="02010600030101010101" pitchFamily="2" charset="-122"/>
              </a:rPr>
              <a:t>　　</a:t>
            </a:r>
            <a:r>
              <a:rPr lang="en-US" altLang="zh-CN" sz="2000">
                <a:latin typeface="宋体" panose="02010600030101010101" pitchFamily="2" charset="-122"/>
              </a:rPr>
              <a:t>2001</a:t>
            </a:r>
            <a:r>
              <a:rPr lang="zh-CN" altLang="en-US" sz="2000">
                <a:latin typeface="宋体" panose="02010600030101010101" pitchFamily="2" charset="-122"/>
              </a:rPr>
              <a:t>年，为了避免许多公司的软件团队陷入不断增长的过程泥潭，一批业界专家一起概括出了一些敏捷开发过程的方法：</a:t>
            </a:r>
            <a:r>
              <a:rPr lang="en-US" altLang="zh-CN" sz="2000">
                <a:latin typeface="宋体" panose="02010600030101010101" pitchFamily="2" charset="-122"/>
              </a:rPr>
              <a:t>SCRUM</a:t>
            </a:r>
            <a:r>
              <a:rPr lang="zh-CN" altLang="en-US" sz="2000">
                <a:latin typeface="宋体" panose="02010600030101010101" pitchFamily="2" charset="-122"/>
              </a:rPr>
              <a:t>，</a:t>
            </a:r>
            <a:r>
              <a:rPr lang="en-US" altLang="zh-CN" sz="2000">
                <a:latin typeface="宋体" panose="02010600030101010101" pitchFamily="2" charset="-122"/>
              </a:rPr>
              <a:t>Crystal</a:t>
            </a:r>
            <a:r>
              <a:rPr lang="zh-CN" altLang="en-US" sz="2000">
                <a:latin typeface="宋体" panose="02010600030101010101" pitchFamily="2" charset="-122"/>
              </a:rPr>
              <a:t>，特征驱动软件开发（</a:t>
            </a:r>
            <a:r>
              <a:rPr lang="en-US" altLang="zh-CN" sz="2000">
                <a:latin typeface="宋体" panose="02010600030101010101" pitchFamily="2" charset="-122"/>
              </a:rPr>
              <a:t>Feature Driven Development</a:t>
            </a:r>
            <a:r>
              <a:rPr lang="zh-CN" altLang="en-US" sz="2000">
                <a:latin typeface="宋体" panose="02010600030101010101" pitchFamily="2" charset="-122"/>
              </a:rPr>
              <a:t>，简称</a:t>
            </a:r>
            <a:r>
              <a:rPr lang="en-US" altLang="zh-CN" sz="2000">
                <a:latin typeface="宋体" panose="02010600030101010101" pitchFamily="2" charset="-122"/>
              </a:rPr>
              <a:t>FDD</a:t>
            </a:r>
            <a:r>
              <a:rPr lang="zh-CN" altLang="en-US" sz="2000">
                <a:latin typeface="宋体" panose="02010600030101010101" pitchFamily="2" charset="-122"/>
              </a:rPr>
              <a:t>），自适应软件开发（</a:t>
            </a:r>
            <a:r>
              <a:rPr lang="en-US" altLang="zh-CN" sz="2000">
                <a:latin typeface="宋体" panose="02010600030101010101" pitchFamily="2" charset="-122"/>
              </a:rPr>
              <a:t>Adaptive Software Development</a:t>
            </a:r>
            <a:r>
              <a:rPr lang="zh-CN" altLang="en-US" sz="2000">
                <a:latin typeface="宋体" panose="02010600030101010101" pitchFamily="2" charset="-122"/>
              </a:rPr>
              <a:t>，简称</a:t>
            </a:r>
            <a:r>
              <a:rPr lang="en-US" altLang="zh-CN" sz="2000">
                <a:latin typeface="宋体" panose="02010600030101010101" pitchFamily="2" charset="-122"/>
              </a:rPr>
              <a:t>ASD</a:t>
            </a:r>
            <a:r>
              <a:rPr lang="zh-CN" altLang="en-US" sz="2000">
                <a:latin typeface="宋体" panose="02010600030101010101" pitchFamily="2" charset="-122"/>
              </a:rPr>
              <a:t>），以及最重要的</a:t>
            </a:r>
            <a:r>
              <a:rPr lang="zh-CN" altLang="en-US" sz="2000">
                <a:solidFill>
                  <a:srgbClr val="FF0000"/>
                </a:solidFill>
                <a:latin typeface="宋体" panose="02010600030101010101" pitchFamily="2" charset="-122"/>
              </a:rPr>
              <a:t>极限编程</a:t>
            </a:r>
            <a:r>
              <a:rPr lang="zh-CN" altLang="en-US" sz="2000">
                <a:latin typeface="宋体" panose="02010600030101010101" pitchFamily="2" charset="-122"/>
              </a:rPr>
              <a:t>（</a:t>
            </a:r>
            <a:r>
              <a:rPr lang="en-US" altLang="zh-CN" sz="2000">
                <a:latin typeface="宋体" panose="02010600030101010101" pitchFamily="2" charset="-122"/>
              </a:rPr>
              <a:t>eXtreme Programming,</a:t>
            </a:r>
            <a:r>
              <a:rPr lang="zh-CN" altLang="en-US" sz="2000">
                <a:latin typeface="宋体" panose="02010600030101010101" pitchFamily="2" charset="-122"/>
              </a:rPr>
              <a:t>简称</a:t>
            </a:r>
            <a:r>
              <a:rPr lang="en-US" altLang="zh-CN" sz="2000">
                <a:latin typeface="宋体" panose="02010600030101010101" pitchFamily="2" charset="-122"/>
              </a:rPr>
              <a:t>XP</a:t>
            </a:r>
            <a:r>
              <a:rPr lang="zh-CN" altLang="en-US" sz="2000">
                <a:latin typeface="宋体" panose="02010600030101010101" pitchFamily="2" charset="-122"/>
              </a:rPr>
              <a:t>）。</a:t>
            </a:r>
            <a:r>
              <a:rPr lang="zh-CN" altLang="en-US" sz="2400" b="0">
                <a:latin typeface="Times New Roman" panose="02020603050405020304" pitchFamily="18" charset="0"/>
              </a:rPr>
              <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90C32900-CFE5-40D9-C1CE-8C5ED22A8EF2}"/>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3.3.1  </a:t>
            </a:r>
            <a:r>
              <a:rPr kumimoji="1" lang="zh-CN" altLang="en-US"/>
              <a:t>极限模型 </a:t>
            </a:r>
          </a:p>
        </p:txBody>
      </p:sp>
      <p:sp>
        <p:nvSpPr>
          <p:cNvPr id="45059" name="Rectangle 6">
            <a:extLst>
              <a:ext uri="{FF2B5EF4-FFF2-40B4-BE49-F238E27FC236}">
                <a16:creationId xmlns:a16="http://schemas.microsoft.com/office/drawing/2014/main" id="{844F91D4-5400-D539-BB71-5C84D3CF6ECD}"/>
              </a:ext>
            </a:extLst>
          </p:cNvPr>
          <p:cNvSpPr>
            <a:spLocks noChangeArrowheads="1"/>
          </p:cNvSpPr>
          <p:nvPr/>
        </p:nvSpPr>
        <p:spPr bwMode="auto">
          <a:xfrm>
            <a:off x="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graphicFrame>
        <p:nvGraphicFramePr>
          <p:cNvPr id="106501" name="Object 5">
            <a:extLst>
              <a:ext uri="{FF2B5EF4-FFF2-40B4-BE49-F238E27FC236}">
                <a16:creationId xmlns:a16="http://schemas.microsoft.com/office/drawing/2014/main" id="{49492AE4-521C-C054-0EDB-054A99BE29AE}"/>
              </a:ext>
            </a:extLst>
          </p:cNvPr>
          <p:cNvGraphicFramePr>
            <a:graphicFrameLocks noChangeAspect="1"/>
          </p:cNvGraphicFramePr>
          <p:nvPr/>
        </p:nvGraphicFramePr>
        <p:xfrm>
          <a:off x="566738" y="2257425"/>
          <a:ext cx="6165850" cy="3908425"/>
        </p:xfrm>
        <a:graphic>
          <a:graphicData uri="http://schemas.openxmlformats.org/presentationml/2006/ole">
            <mc:AlternateContent xmlns:mc="http://schemas.openxmlformats.org/markup-compatibility/2006">
              <mc:Choice xmlns:v="urn:schemas-microsoft-com:vml" Requires="v">
                <p:oleObj name="Visio" r:id="rId2" imgW="5542788" imgH="3318053" progId="Visio.Drawing.11">
                  <p:embed/>
                </p:oleObj>
              </mc:Choice>
              <mc:Fallback>
                <p:oleObj name="Visio" r:id="rId2" imgW="5542788" imgH="3318053" progId="Visio.Drawing.11">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t="3255" b="3255"/>
                      <a:stretch>
                        <a:fillRect/>
                      </a:stretch>
                    </p:blipFill>
                    <p:spPr bwMode="auto">
                      <a:xfrm>
                        <a:off x="566738" y="2257425"/>
                        <a:ext cx="6165850"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6503" name="Text Box 7">
            <a:extLst>
              <a:ext uri="{FF2B5EF4-FFF2-40B4-BE49-F238E27FC236}">
                <a16:creationId xmlns:a16="http://schemas.microsoft.com/office/drawing/2014/main" id="{BB497187-8EBD-B617-9D0A-90F92BB0B59C}"/>
              </a:ext>
            </a:extLst>
          </p:cNvPr>
          <p:cNvSpPr txBox="1">
            <a:spLocks noChangeArrowheads="1"/>
          </p:cNvSpPr>
          <p:nvPr/>
        </p:nvSpPr>
        <p:spPr bwMode="auto">
          <a:xfrm>
            <a:off x="6878638" y="2160588"/>
            <a:ext cx="1636712"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lang="zh-CN" altLang="en-US" sz="2000">
                <a:latin typeface="宋体" panose="02010600030101010101" pitchFamily="2" charset="-122"/>
              </a:rPr>
              <a:t>极限编程将开发阶段的</a:t>
            </a:r>
            <a:r>
              <a:rPr lang="en-US" altLang="zh-CN" sz="2000">
                <a:latin typeface="宋体" panose="02010600030101010101" pitchFamily="2" charset="-122"/>
              </a:rPr>
              <a:t>4</a:t>
            </a:r>
            <a:r>
              <a:rPr lang="zh-CN" altLang="en-US" sz="2000">
                <a:latin typeface="宋体" panose="02010600030101010101" pitchFamily="2" charset="-122"/>
              </a:rPr>
              <a:t>个活动（分析、设计、编码和测试）混合在一起，在全过程中采用迭代增量开发、反馈修正和反复测试。</a:t>
            </a:r>
            <a:r>
              <a:rPr lang="zh-CN" altLang="en-US" sz="2400" b="0">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6501"/>
                                        </p:tgtEl>
                                        <p:attrNameLst>
                                          <p:attrName>style.visibility</p:attrName>
                                        </p:attrNameLst>
                                      </p:cBhvr>
                                      <p:to>
                                        <p:strVal val="visible"/>
                                      </p:to>
                                    </p:set>
                                    <p:anim calcmode="lin" valueType="num">
                                      <p:cBhvr additive="base">
                                        <p:cTn id="7" dur="500" fill="hold"/>
                                        <p:tgtEl>
                                          <p:spTgt spid="106501"/>
                                        </p:tgtEl>
                                        <p:attrNameLst>
                                          <p:attrName>ppt_x</p:attrName>
                                        </p:attrNameLst>
                                      </p:cBhvr>
                                      <p:tavLst>
                                        <p:tav tm="0">
                                          <p:val>
                                            <p:strVal val="#ppt_x"/>
                                          </p:val>
                                        </p:tav>
                                        <p:tav tm="100000">
                                          <p:val>
                                            <p:strVal val="#ppt_x"/>
                                          </p:val>
                                        </p:tav>
                                      </p:tavLst>
                                    </p:anim>
                                    <p:anim calcmode="lin" valueType="num">
                                      <p:cBhvr additive="base">
                                        <p:cTn id="8" dur="500" fill="hold"/>
                                        <p:tgtEl>
                                          <p:spTgt spid="10650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6503"/>
                                        </p:tgtEl>
                                        <p:attrNameLst>
                                          <p:attrName>style.visibility</p:attrName>
                                        </p:attrNameLst>
                                      </p:cBhvr>
                                      <p:to>
                                        <p:strVal val="visible"/>
                                      </p:to>
                                    </p:set>
                                    <p:anim calcmode="lin" valueType="num">
                                      <p:cBhvr additive="base">
                                        <p:cTn id="13" dur="500" fill="hold"/>
                                        <p:tgtEl>
                                          <p:spTgt spid="106503"/>
                                        </p:tgtEl>
                                        <p:attrNameLst>
                                          <p:attrName>ppt_x</p:attrName>
                                        </p:attrNameLst>
                                      </p:cBhvr>
                                      <p:tavLst>
                                        <p:tav tm="0">
                                          <p:val>
                                            <p:strVal val="#ppt_x"/>
                                          </p:val>
                                        </p:tav>
                                        <p:tav tm="100000">
                                          <p:val>
                                            <p:strVal val="#ppt_x"/>
                                          </p:val>
                                        </p:tav>
                                      </p:tavLst>
                                    </p:anim>
                                    <p:anim calcmode="lin" valueType="num">
                                      <p:cBhvr additive="base">
                                        <p:cTn id="14" dur="500" fill="hold"/>
                                        <p:tgtEl>
                                          <p:spTgt spid="1065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1E6567F2-63A4-4E1E-2CCC-17FFBA13B802}"/>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3.3.1  </a:t>
            </a:r>
            <a:r>
              <a:rPr kumimoji="1" lang="zh-CN" altLang="en-US"/>
              <a:t>极限模型 </a:t>
            </a:r>
          </a:p>
        </p:txBody>
      </p:sp>
      <p:sp>
        <p:nvSpPr>
          <p:cNvPr id="46083" name="Rectangle 3">
            <a:extLst>
              <a:ext uri="{FF2B5EF4-FFF2-40B4-BE49-F238E27FC236}">
                <a16:creationId xmlns:a16="http://schemas.microsoft.com/office/drawing/2014/main" id="{F78BB2AB-4AEB-3C49-FDEA-641BBB42A4D5}"/>
              </a:ext>
            </a:extLst>
          </p:cNvPr>
          <p:cNvSpPr>
            <a:spLocks noChangeArrowheads="1"/>
          </p:cNvSpPr>
          <p:nvPr/>
        </p:nvSpPr>
        <p:spPr bwMode="auto">
          <a:xfrm>
            <a:off x="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6084" name="Text Box 4">
            <a:extLst>
              <a:ext uri="{FF2B5EF4-FFF2-40B4-BE49-F238E27FC236}">
                <a16:creationId xmlns:a16="http://schemas.microsoft.com/office/drawing/2014/main" id="{E516FC3D-A686-1CA8-6B15-8225D717F215}"/>
              </a:ext>
            </a:extLst>
          </p:cNvPr>
          <p:cNvSpPr txBox="1">
            <a:spLocks noChangeArrowheads="1"/>
          </p:cNvSpPr>
          <p:nvPr/>
        </p:nvSpPr>
        <p:spPr bwMode="auto">
          <a:xfrm>
            <a:off x="1547813" y="2492375"/>
            <a:ext cx="5545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endParaRPr lang="zh-CN" altLang="zh-CN" sz="2400" b="0">
              <a:latin typeface="Times New Roman" panose="02020603050405020304" pitchFamily="18" charset="0"/>
            </a:endParaRPr>
          </a:p>
        </p:txBody>
      </p:sp>
      <p:sp>
        <p:nvSpPr>
          <p:cNvPr id="46085" name="Text Box 5">
            <a:extLst>
              <a:ext uri="{FF2B5EF4-FFF2-40B4-BE49-F238E27FC236}">
                <a16:creationId xmlns:a16="http://schemas.microsoft.com/office/drawing/2014/main" id="{EA38F9AE-1998-1636-3B60-4BB9AC9B9826}"/>
              </a:ext>
            </a:extLst>
          </p:cNvPr>
          <p:cNvSpPr txBox="1">
            <a:spLocks noChangeArrowheads="1"/>
          </p:cNvSpPr>
          <p:nvPr/>
        </p:nvSpPr>
        <p:spPr bwMode="auto">
          <a:xfrm>
            <a:off x="468313" y="2193925"/>
            <a:ext cx="8207375" cy="446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en-US" altLang="zh-CN" b="1" dirty="0">
                <a:solidFill>
                  <a:schemeClr val="accent2"/>
                </a:solidFill>
                <a:latin typeface="黑体" panose="02010609060101010101" pitchFamily="49" charset="-122"/>
                <a:ea typeface="黑体" panose="02010609060101010101" pitchFamily="49" charset="-122"/>
              </a:rPr>
              <a:t>XP</a:t>
            </a:r>
            <a:r>
              <a:rPr lang="zh-CN" altLang="en-US" b="1" dirty="0">
                <a:solidFill>
                  <a:schemeClr val="accent2"/>
                </a:solidFill>
                <a:latin typeface="黑体" panose="02010609060101010101" pitchFamily="49" charset="-122"/>
                <a:ea typeface="黑体" panose="02010609060101010101" pitchFamily="49" charset="-122"/>
              </a:rPr>
              <a:t>开发模型实践规则：</a:t>
            </a:r>
          </a:p>
          <a:p>
            <a:pPr lvl="1" eaLnBrk="1" hangingPunct="1">
              <a:spcBef>
                <a:spcPct val="50000"/>
              </a:spcBef>
              <a:buClr>
                <a:srgbClr val="0000FF"/>
              </a:buClr>
              <a:buSzPct val="70000"/>
              <a:buFont typeface="Wingdings" panose="05000000000000000000" pitchFamily="2" charset="2"/>
              <a:buChar char="n"/>
            </a:pPr>
            <a:r>
              <a:rPr lang="en-US" altLang="zh-CN" sz="2000" b="1" dirty="0">
                <a:solidFill>
                  <a:srgbClr val="FF0000"/>
                </a:solidFill>
              </a:rPr>
              <a:t>1.</a:t>
            </a:r>
            <a:r>
              <a:rPr lang="zh-CN" altLang="en-US" sz="2000" b="1" dirty="0">
                <a:solidFill>
                  <a:srgbClr val="FF0000"/>
                </a:solidFill>
              </a:rPr>
              <a:t>完整团队：</a:t>
            </a:r>
            <a:r>
              <a:rPr lang="en-US" altLang="zh-CN" sz="2000" b="1" dirty="0"/>
              <a:t>XP</a:t>
            </a:r>
            <a:r>
              <a:rPr lang="zh-CN" altLang="en-US" sz="2000" b="1" dirty="0"/>
              <a:t>项目的所有参与者（开发人员、客户、测试人员等）一起工作在一个开放的场所中，他们是同一个团队的成员。</a:t>
            </a:r>
          </a:p>
          <a:p>
            <a:pPr lvl="1" eaLnBrk="1" hangingPunct="1">
              <a:spcBef>
                <a:spcPct val="50000"/>
              </a:spcBef>
              <a:buClr>
                <a:srgbClr val="0000FF"/>
              </a:buClr>
              <a:buSzPct val="70000"/>
              <a:buFont typeface="Wingdings" panose="05000000000000000000" pitchFamily="2" charset="2"/>
              <a:buChar char="n"/>
            </a:pPr>
            <a:r>
              <a:rPr lang="en-US" altLang="zh-CN" sz="2000" b="1" dirty="0">
                <a:solidFill>
                  <a:srgbClr val="FF0000"/>
                </a:solidFill>
              </a:rPr>
              <a:t>2.</a:t>
            </a:r>
            <a:r>
              <a:rPr lang="zh-CN" altLang="en-US" sz="2000" b="1" dirty="0">
                <a:solidFill>
                  <a:srgbClr val="FF0000"/>
                </a:solidFill>
              </a:rPr>
              <a:t>计划游戏：</a:t>
            </a:r>
            <a:r>
              <a:rPr lang="zh-CN" altLang="en-US" sz="2000" b="1" dirty="0"/>
              <a:t>计划是持续的、循序渐进的。每两周，开发人员就为下两周估算候选特性的成本，而客户则根据成本和商务价值来选择要实现的特性。</a:t>
            </a:r>
          </a:p>
          <a:p>
            <a:pPr lvl="1" eaLnBrk="1" hangingPunct="1">
              <a:spcBef>
                <a:spcPct val="50000"/>
              </a:spcBef>
              <a:buClr>
                <a:srgbClr val="0000FF"/>
              </a:buClr>
              <a:buSzPct val="70000"/>
              <a:buFont typeface="Wingdings" panose="05000000000000000000" pitchFamily="2" charset="2"/>
              <a:buChar char="n"/>
            </a:pPr>
            <a:r>
              <a:rPr lang="en-US" altLang="zh-CN" sz="2000" b="1" dirty="0">
                <a:solidFill>
                  <a:srgbClr val="FF0000"/>
                </a:solidFill>
              </a:rPr>
              <a:t>3.</a:t>
            </a:r>
            <a:r>
              <a:rPr lang="zh-CN" altLang="en-US" sz="2000" b="1" dirty="0">
                <a:solidFill>
                  <a:srgbClr val="FF0000"/>
                </a:solidFill>
              </a:rPr>
              <a:t>客户测试：</a:t>
            </a:r>
            <a:r>
              <a:rPr lang="zh-CN" altLang="en-US" sz="2000" b="1" dirty="0"/>
              <a:t>作为选择每个所期望的特性的一部分，客户可以根据脚本语言以定义出自动验收测试来表明该特性可以工作。</a:t>
            </a:r>
            <a:endParaRPr lang="en-US" altLang="zh-CN" sz="2000" b="1" dirty="0"/>
          </a:p>
          <a:p>
            <a:pPr lvl="1" eaLnBrk="1" hangingPunct="1">
              <a:spcBef>
                <a:spcPct val="50000"/>
              </a:spcBef>
              <a:buClr>
                <a:srgbClr val="0000FF"/>
              </a:buClr>
              <a:buSzPct val="70000"/>
              <a:buFont typeface="Wingdings" panose="05000000000000000000" pitchFamily="2" charset="2"/>
              <a:buChar char="n"/>
            </a:pPr>
            <a:r>
              <a:rPr lang="en-US" altLang="zh-CN" sz="2000" b="1" dirty="0">
                <a:solidFill>
                  <a:srgbClr val="FF0000"/>
                </a:solidFill>
              </a:rPr>
              <a:t>4.</a:t>
            </a:r>
            <a:r>
              <a:rPr lang="zh-CN" altLang="en-US" sz="2000" b="1" dirty="0">
                <a:solidFill>
                  <a:srgbClr val="FF0000"/>
                </a:solidFill>
              </a:rPr>
              <a:t>简单设计</a:t>
            </a:r>
            <a:r>
              <a:rPr lang="zh-CN" altLang="en-US" sz="2000" b="1" dirty="0"/>
              <a:t>：团队设计以工作目标保持与当前的系统功能相匹配。它通过了所有的测试，不包含任务重复，表达出了编写者想表达的所有东西，并且包含尽可能少的代码。</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10263783-A64D-FFCC-D20E-84471014C405}"/>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3.3.1  </a:t>
            </a:r>
            <a:r>
              <a:rPr kumimoji="1" lang="zh-CN" altLang="en-US"/>
              <a:t>极限模型 </a:t>
            </a:r>
          </a:p>
        </p:txBody>
      </p:sp>
      <p:sp>
        <p:nvSpPr>
          <p:cNvPr id="47107" name="Rectangle 3">
            <a:extLst>
              <a:ext uri="{FF2B5EF4-FFF2-40B4-BE49-F238E27FC236}">
                <a16:creationId xmlns:a16="http://schemas.microsoft.com/office/drawing/2014/main" id="{4F8E30B2-3B6B-A4A7-05C7-873273BCCB89}"/>
              </a:ext>
            </a:extLst>
          </p:cNvPr>
          <p:cNvSpPr>
            <a:spLocks noChangeArrowheads="1"/>
          </p:cNvSpPr>
          <p:nvPr/>
        </p:nvSpPr>
        <p:spPr bwMode="auto">
          <a:xfrm>
            <a:off x="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7108" name="Text Box 4">
            <a:extLst>
              <a:ext uri="{FF2B5EF4-FFF2-40B4-BE49-F238E27FC236}">
                <a16:creationId xmlns:a16="http://schemas.microsoft.com/office/drawing/2014/main" id="{23471393-A8AB-451A-18F4-4D0ABBDA7AC8}"/>
              </a:ext>
            </a:extLst>
          </p:cNvPr>
          <p:cNvSpPr txBox="1">
            <a:spLocks noChangeArrowheads="1"/>
          </p:cNvSpPr>
          <p:nvPr/>
        </p:nvSpPr>
        <p:spPr bwMode="auto">
          <a:xfrm>
            <a:off x="1547813" y="2492375"/>
            <a:ext cx="5545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endParaRPr lang="zh-CN" altLang="zh-CN" sz="2400" b="0">
              <a:latin typeface="Times New Roman" panose="02020603050405020304" pitchFamily="18" charset="0"/>
            </a:endParaRPr>
          </a:p>
        </p:txBody>
      </p:sp>
      <p:sp>
        <p:nvSpPr>
          <p:cNvPr id="47109" name="Text Box 5">
            <a:extLst>
              <a:ext uri="{FF2B5EF4-FFF2-40B4-BE49-F238E27FC236}">
                <a16:creationId xmlns:a16="http://schemas.microsoft.com/office/drawing/2014/main" id="{01545117-3F26-DA35-1841-19888F296B23}"/>
              </a:ext>
            </a:extLst>
          </p:cNvPr>
          <p:cNvSpPr txBox="1">
            <a:spLocks noChangeArrowheads="1"/>
          </p:cNvSpPr>
          <p:nvPr/>
        </p:nvSpPr>
        <p:spPr bwMode="auto">
          <a:xfrm>
            <a:off x="468313" y="2193925"/>
            <a:ext cx="8207375" cy="4154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en-US" altLang="zh-CN" b="1">
                <a:solidFill>
                  <a:schemeClr val="accent2"/>
                </a:solidFill>
                <a:latin typeface="黑体" panose="02010609060101010101" pitchFamily="49" charset="-122"/>
                <a:ea typeface="黑体" panose="02010609060101010101" pitchFamily="49" charset="-122"/>
              </a:rPr>
              <a:t>XP</a:t>
            </a:r>
            <a:r>
              <a:rPr lang="zh-CN" altLang="en-US" b="1">
                <a:solidFill>
                  <a:schemeClr val="accent2"/>
                </a:solidFill>
                <a:latin typeface="黑体" panose="02010609060101010101" pitchFamily="49" charset="-122"/>
                <a:ea typeface="黑体" panose="02010609060101010101" pitchFamily="49" charset="-122"/>
              </a:rPr>
              <a:t>开发模型实践规则：</a:t>
            </a:r>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5.</a:t>
            </a:r>
            <a:r>
              <a:rPr lang="zh-CN" altLang="en-US" sz="2000" b="1">
                <a:solidFill>
                  <a:srgbClr val="FF0000"/>
                </a:solidFill>
              </a:rPr>
              <a:t>结对编程：</a:t>
            </a:r>
            <a:r>
              <a:rPr lang="zh-CN" altLang="en-US" sz="2000" b="1"/>
              <a:t>所有的产品软件都是由两个程序员、并排坐在一起在同一台计算机上构建的。</a:t>
            </a:r>
            <a:endParaRPr lang="en-US" altLang="zh-CN" sz="2000" b="1"/>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6.</a:t>
            </a:r>
            <a:r>
              <a:rPr lang="zh-CN" altLang="en-US" sz="2000" b="1">
                <a:solidFill>
                  <a:srgbClr val="FF0000"/>
                </a:solidFill>
              </a:rPr>
              <a:t>测试驱动开发：</a:t>
            </a:r>
            <a:r>
              <a:rPr lang="zh-CN" altLang="en-US" sz="2000" b="1"/>
              <a:t>在程序员被分配任务后，首先要制定出该任务的测试用例，实现该任务的标志是确保全部测试用例正确工作。各任务所使用的</a:t>
            </a:r>
            <a:r>
              <a:rPr lang="en-US" altLang="zh-CN" sz="2000" b="1"/>
              <a:t>TDD</a:t>
            </a:r>
            <a:r>
              <a:rPr lang="zh-CN" altLang="en-US" sz="2000" b="1"/>
              <a:t>测试用例将被保留下来并应用到所有进一步的集成测试中。</a:t>
            </a:r>
            <a:endParaRPr lang="en-US" altLang="zh-CN" sz="2000" b="1"/>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7.</a:t>
            </a:r>
            <a:r>
              <a:rPr lang="zh-CN" altLang="en-US" sz="2000" b="1">
                <a:solidFill>
                  <a:srgbClr val="FF0000"/>
                </a:solidFill>
              </a:rPr>
              <a:t>改进设计：</a:t>
            </a:r>
            <a:r>
              <a:rPr lang="zh-CN" altLang="en-US" sz="2000" b="1"/>
              <a:t>随时利用重构方法改进已经“腐化”的代码，保持代码尽可能的干净、具有表达力。</a:t>
            </a:r>
            <a:endParaRPr lang="en-US" altLang="zh-CN" sz="2000" b="1"/>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8.</a:t>
            </a:r>
            <a:r>
              <a:rPr lang="zh-CN" altLang="en-US" sz="2000" b="1">
                <a:solidFill>
                  <a:srgbClr val="FF0000"/>
                </a:solidFill>
              </a:rPr>
              <a:t>持续集成：</a:t>
            </a:r>
            <a:r>
              <a:rPr lang="zh-CN" altLang="en-US" sz="2000" b="1"/>
              <a:t>团队总是系统完整地被集成。一个人签入后，其他人员负责代码集成。</a:t>
            </a:r>
            <a:endParaRPr lang="en-US" altLang="zh-CN" sz="2000" b="1"/>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EEF84C8-4A49-C7F2-3A85-29CE20DADEB1}"/>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3.3.1  </a:t>
            </a:r>
            <a:r>
              <a:rPr kumimoji="1" lang="zh-CN" altLang="en-US"/>
              <a:t>极限模型 </a:t>
            </a:r>
          </a:p>
        </p:txBody>
      </p:sp>
      <p:sp>
        <p:nvSpPr>
          <p:cNvPr id="48131" name="Rectangle 3">
            <a:extLst>
              <a:ext uri="{FF2B5EF4-FFF2-40B4-BE49-F238E27FC236}">
                <a16:creationId xmlns:a16="http://schemas.microsoft.com/office/drawing/2014/main" id="{A7909AD3-A340-CD99-BC13-5C71598AD330}"/>
              </a:ext>
            </a:extLst>
          </p:cNvPr>
          <p:cNvSpPr>
            <a:spLocks noChangeArrowheads="1"/>
          </p:cNvSpPr>
          <p:nvPr/>
        </p:nvSpPr>
        <p:spPr bwMode="auto">
          <a:xfrm>
            <a:off x="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8132" name="Text Box 4">
            <a:extLst>
              <a:ext uri="{FF2B5EF4-FFF2-40B4-BE49-F238E27FC236}">
                <a16:creationId xmlns:a16="http://schemas.microsoft.com/office/drawing/2014/main" id="{3899B3AB-C43E-0FEF-8BF8-B585FFF06DBE}"/>
              </a:ext>
            </a:extLst>
          </p:cNvPr>
          <p:cNvSpPr txBox="1">
            <a:spLocks noChangeArrowheads="1"/>
          </p:cNvSpPr>
          <p:nvPr/>
        </p:nvSpPr>
        <p:spPr bwMode="auto">
          <a:xfrm>
            <a:off x="1547813" y="2492375"/>
            <a:ext cx="5545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endParaRPr lang="zh-CN" altLang="zh-CN" sz="2400" b="0">
              <a:latin typeface="Times New Roman" panose="02020603050405020304" pitchFamily="18" charset="0"/>
            </a:endParaRPr>
          </a:p>
        </p:txBody>
      </p:sp>
      <p:sp>
        <p:nvSpPr>
          <p:cNvPr id="48133" name="Text Box 5">
            <a:extLst>
              <a:ext uri="{FF2B5EF4-FFF2-40B4-BE49-F238E27FC236}">
                <a16:creationId xmlns:a16="http://schemas.microsoft.com/office/drawing/2014/main" id="{125D9B30-8EA1-73C1-63F1-7E3CA124F330}"/>
              </a:ext>
            </a:extLst>
          </p:cNvPr>
          <p:cNvSpPr txBox="1">
            <a:spLocks noChangeArrowheads="1"/>
          </p:cNvSpPr>
          <p:nvPr/>
        </p:nvSpPr>
        <p:spPr bwMode="auto">
          <a:xfrm>
            <a:off x="468313" y="2193925"/>
            <a:ext cx="8207375" cy="477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en-US" altLang="zh-CN" b="1">
                <a:solidFill>
                  <a:schemeClr val="accent2"/>
                </a:solidFill>
                <a:latin typeface="黑体" panose="02010609060101010101" pitchFamily="49" charset="-122"/>
                <a:ea typeface="黑体" panose="02010609060101010101" pitchFamily="49" charset="-122"/>
              </a:rPr>
              <a:t>XP</a:t>
            </a:r>
            <a:r>
              <a:rPr lang="zh-CN" altLang="en-US" b="1">
                <a:solidFill>
                  <a:schemeClr val="accent2"/>
                </a:solidFill>
                <a:latin typeface="黑体" panose="02010609060101010101" pitchFamily="49" charset="-122"/>
                <a:ea typeface="黑体" panose="02010609060101010101" pitchFamily="49" charset="-122"/>
              </a:rPr>
              <a:t>开发模型实践规则：</a:t>
            </a:r>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9.</a:t>
            </a:r>
            <a:r>
              <a:rPr lang="zh-CN" altLang="en-US" sz="2000" b="1">
                <a:solidFill>
                  <a:srgbClr val="FF0000"/>
                </a:solidFill>
              </a:rPr>
              <a:t>集体代码所有权</a:t>
            </a:r>
            <a:r>
              <a:rPr lang="zh-CN" altLang="en-US" sz="2000" b="1"/>
              <a:t>：任何结对的程序员都可以在任何时候改进任何代码。没有程序员对一个特定的模块或技术单独负责，每个人都可以参与任何其他方面的开发。</a:t>
            </a:r>
            <a:endParaRPr lang="en-US" altLang="zh-CN" sz="2000" b="1"/>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10.</a:t>
            </a:r>
            <a:r>
              <a:rPr lang="zh-CN" altLang="en-US" sz="2000" b="1">
                <a:solidFill>
                  <a:srgbClr val="FF0000"/>
                </a:solidFill>
              </a:rPr>
              <a:t>编码标准：</a:t>
            </a:r>
            <a:r>
              <a:rPr lang="zh-CN" altLang="en-US" sz="2000" b="1"/>
              <a:t>系统中所有的代码看起来就好像是由一人编写的。</a:t>
            </a:r>
            <a:endParaRPr lang="en-US" altLang="zh-CN" sz="2000" b="1"/>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11.</a:t>
            </a:r>
            <a:r>
              <a:rPr lang="zh-CN" altLang="en-US" sz="2000" b="1">
                <a:solidFill>
                  <a:srgbClr val="FF0000"/>
                </a:solidFill>
              </a:rPr>
              <a:t>隐喻：</a:t>
            </a:r>
            <a:r>
              <a:rPr lang="zh-CN" altLang="en-US" sz="2000" b="1"/>
              <a:t>将整个系统联系在一起的全局视图，它是系统的未来影像，是它使得所有单独模块的位置和外观变得明显直观。如果模块的外观与整个隐喻不符，那么你就会知道该模块是错误的。</a:t>
            </a:r>
            <a:endParaRPr lang="en-US" altLang="zh-CN" sz="2000" b="1"/>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12.</a:t>
            </a:r>
            <a:r>
              <a:rPr lang="zh-CN" altLang="en-US" sz="2000" b="1">
                <a:solidFill>
                  <a:srgbClr val="FF0000"/>
                </a:solidFill>
              </a:rPr>
              <a:t>可持续的速度：</a:t>
            </a:r>
            <a:r>
              <a:rPr lang="zh-CN" altLang="en-US" sz="2000" b="1"/>
              <a:t>团队只有持久才有获胜的希望。他们以能够长期维持的速度努力工作，他们保存精力，没有一个人能够连续两周超时工作，他们把项目看作是马拉松长跑，而不是全速短跑。</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7B202942-DE40-CDD3-4298-512F747D1223}"/>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3.3.1  </a:t>
            </a:r>
            <a:r>
              <a:rPr kumimoji="1" lang="zh-CN" altLang="en-US"/>
              <a:t>极限模型 </a:t>
            </a:r>
          </a:p>
        </p:txBody>
      </p:sp>
      <p:sp>
        <p:nvSpPr>
          <p:cNvPr id="49155" name="Rectangle 3">
            <a:extLst>
              <a:ext uri="{FF2B5EF4-FFF2-40B4-BE49-F238E27FC236}">
                <a16:creationId xmlns:a16="http://schemas.microsoft.com/office/drawing/2014/main" id="{9EE1C2B1-BEF0-9807-CAE9-4C7D95AC2D84}"/>
              </a:ext>
            </a:extLst>
          </p:cNvPr>
          <p:cNvSpPr>
            <a:spLocks noChangeArrowheads="1"/>
          </p:cNvSpPr>
          <p:nvPr/>
        </p:nvSpPr>
        <p:spPr bwMode="auto">
          <a:xfrm>
            <a:off x="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49156" name="Text Box 4">
            <a:extLst>
              <a:ext uri="{FF2B5EF4-FFF2-40B4-BE49-F238E27FC236}">
                <a16:creationId xmlns:a16="http://schemas.microsoft.com/office/drawing/2014/main" id="{04478F0F-83DE-01A4-69B9-4F77D2255303}"/>
              </a:ext>
            </a:extLst>
          </p:cNvPr>
          <p:cNvSpPr txBox="1">
            <a:spLocks noChangeArrowheads="1"/>
          </p:cNvSpPr>
          <p:nvPr/>
        </p:nvSpPr>
        <p:spPr bwMode="auto">
          <a:xfrm>
            <a:off x="1547813" y="2492375"/>
            <a:ext cx="5545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endParaRPr lang="zh-CN" altLang="zh-CN" sz="2400" b="0">
              <a:latin typeface="Times New Roman" panose="02020603050405020304" pitchFamily="18" charset="0"/>
            </a:endParaRPr>
          </a:p>
        </p:txBody>
      </p:sp>
      <p:sp>
        <p:nvSpPr>
          <p:cNvPr id="49157" name="Text Box 5">
            <a:extLst>
              <a:ext uri="{FF2B5EF4-FFF2-40B4-BE49-F238E27FC236}">
                <a16:creationId xmlns:a16="http://schemas.microsoft.com/office/drawing/2014/main" id="{51CA9CE0-B7C8-12E1-8E63-52FCA3587DCA}"/>
              </a:ext>
            </a:extLst>
          </p:cNvPr>
          <p:cNvSpPr txBox="1">
            <a:spLocks noChangeArrowheads="1"/>
          </p:cNvSpPr>
          <p:nvPr/>
        </p:nvSpPr>
        <p:spPr bwMode="auto">
          <a:xfrm>
            <a:off x="889000" y="2193925"/>
            <a:ext cx="3678238" cy="3992563"/>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rgbClr val="0000FF"/>
              </a:buClr>
              <a:buSzPct val="70000"/>
              <a:buFont typeface="Wingdings" panose="05000000000000000000" pitchFamily="2" charset="2"/>
              <a:buChar char="n"/>
            </a:pPr>
            <a:r>
              <a:rPr lang="zh-CN" altLang="en-US" b="1">
                <a:solidFill>
                  <a:schemeClr val="accent2"/>
                </a:solidFill>
                <a:ea typeface="黑体" panose="02010609060101010101" pitchFamily="49" charset="-122"/>
              </a:rPr>
              <a:t>优点</a:t>
            </a:r>
          </a:p>
          <a:p>
            <a:pPr eaLnBrk="1" hangingPunct="1">
              <a:lnSpc>
                <a:spcPts val="3000"/>
              </a:lnSpc>
              <a:spcBef>
                <a:spcPct val="50000"/>
              </a:spcBef>
              <a:buFontTx/>
              <a:buAutoNum type="arabicParenR"/>
            </a:pPr>
            <a:r>
              <a:rPr lang="zh-CN" altLang="en-US" sz="2000" b="1">
                <a:solidFill>
                  <a:srgbClr val="CC3300"/>
                </a:solidFill>
              </a:rPr>
              <a:t>采用简单计划策略，不需要长期计划和复杂模型，开发周期短；</a:t>
            </a:r>
          </a:p>
          <a:p>
            <a:pPr eaLnBrk="1" hangingPunct="1">
              <a:lnSpc>
                <a:spcPts val="3000"/>
              </a:lnSpc>
              <a:spcBef>
                <a:spcPct val="50000"/>
              </a:spcBef>
              <a:buFontTx/>
              <a:buAutoNum type="arabicParenR"/>
            </a:pPr>
            <a:r>
              <a:rPr lang="zh-CN" altLang="en-US" sz="2000" b="1">
                <a:solidFill>
                  <a:srgbClr val="CC3300"/>
                </a:solidFill>
              </a:rPr>
              <a:t> 在全过程采用迭代增量开发、反馈修正和反复测试的方法，能够适应用户经常变化的需求。</a:t>
            </a:r>
          </a:p>
          <a:p>
            <a:pPr eaLnBrk="1" hangingPunct="1">
              <a:lnSpc>
                <a:spcPts val="3000"/>
              </a:lnSpc>
              <a:spcBef>
                <a:spcPct val="50000"/>
              </a:spcBef>
            </a:pPr>
            <a:r>
              <a:rPr lang="zh-CN" altLang="en-US">
                <a:solidFill>
                  <a:srgbClr val="FF9966"/>
                </a:solidFill>
              </a:rPr>
              <a:t> </a:t>
            </a:r>
          </a:p>
        </p:txBody>
      </p:sp>
      <p:sp>
        <p:nvSpPr>
          <p:cNvPr id="157702" name="Text Box 6">
            <a:extLst>
              <a:ext uri="{FF2B5EF4-FFF2-40B4-BE49-F238E27FC236}">
                <a16:creationId xmlns:a16="http://schemas.microsoft.com/office/drawing/2014/main" id="{E33C0836-899D-45FE-A908-ED67EFBACDBD}"/>
              </a:ext>
            </a:extLst>
          </p:cNvPr>
          <p:cNvSpPr txBox="1">
            <a:spLocks noChangeArrowheads="1"/>
          </p:cNvSpPr>
          <p:nvPr/>
        </p:nvSpPr>
        <p:spPr bwMode="auto">
          <a:xfrm>
            <a:off x="4559300" y="2205038"/>
            <a:ext cx="3576638" cy="3992562"/>
          </a:xfrm>
          <a:prstGeom prst="rect">
            <a:avLst/>
          </a:prstGeom>
          <a:solidFill>
            <a:srgbClr val="FFFFCC"/>
          </a:solidFill>
          <a:ln>
            <a:noFill/>
          </a:ln>
          <a:effec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rgbClr val="0000FF"/>
              </a:buClr>
              <a:buSzPct val="70000"/>
              <a:buFont typeface="Wingdings" panose="05000000000000000000" pitchFamily="2" charset="2"/>
              <a:buChar char="n"/>
              <a:defRPr/>
            </a:pPr>
            <a:r>
              <a:rPr lang="zh-CN" altLang="en-US" b="1">
                <a:solidFill>
                  <a:schemeClr val="accent2"/>
                </a:solidFill>
                <a:ea typeface="黑体" panose="02010609060101010101" pitchFamily="49" charset="-122"/>
              </a:rPr>
              <a:t>缺点</a:t>
            </a:r>
            <a:endParaRPr lang="zh-CN" altLang="en-US"/>
          </a:p>
          <a:p>
            <a:pPr eaLnBrk="1" hangingPunct="1">
              <a:lnSpc>
                <a:spcPts val="3000"/>
              </a:lnSpc>
              <a:spcBef>
                <a:spcPct val="50000"/>
              </a:spcBef>
              <a:buFontTx/>
              <a:buAutoNum type="arabicParenR"/>
              <a:defRPr/>
            </a:pPr>
            <a:r>
              <a:rPr lang="zh-CN" altLang="en-US" sz="2000" b="1">
                <a:solidFill>
                  <a:schemeClr val="accent2"/>
                </a:solidFill>
                <a:latin typeface="宋体" panose="02010600030101010101" pitchFamily="2" charset="-122"/>
              </a:rPr>
              <a:t>目前主要在小规模项目上应用并取得成功，但是否适用于中等规模或大规模软件产品，需慎重考虑；</a:t>
            </a:r>
          </a:p>
          <a:p>
            <a:pPr eaLnBrk="1" hangingPunct="1">
              <a:lnSpc>
                <a:spcPts val="3000"/>
              </a:lnSpc>
              <a:spcBef>
                <a:spcPct val="50000"/>
              </a:spcBef>
              <a:buFontTx/>
              <a:buAutoNum type="arabicParenR"/>
              <a:defRPr/>
            </a:pPr>
            <a:r>
              <a:rPr lang="zh-CN" altLang="en-US" sz="2000" b="1">
                <a:solidFill>
                  <a:schemeClr val="accent2"/>
                </a:solidFill>
                <a:latin typeface="宋体" panose="02010600030101010101" pitchFamily="2" charset="-122"/>
              </a:rPr>
              <a:t>由于这个模型较新产品交付后维护成本是否降低，不能确定； </a:t>
            </a:r>
          </a:p>
          <a:p>
            <a:pPr eaLnBrk="1" hangingPunct="1">
              <a:lnSpc>
                <a:spcPts val="3000"/>
              </a:lnSpc>
              <a:spcBef>
                <a:spcPct val="50000"/>
              </a:spcBef>
              <a:buFontTx/>
              <a:buAutoNum type="arabicParenR"/>
              <a:defRPr/>
            </a:pPr>
            <a:r>
              <a:rPr lang="zh-CN" altLang="en-US" sz="2000" b="1">
                <a:solidFill>
                  <a:schemeClr val="accent2"/>
                </a:solidFill>
                <a:latin typeface="宋体" panose="02010600030101010101" pitchFamily="2" charset="-122"/>
              </a:rPr>
              <a:t>对编码人员的经验要求高</a:t>
            </a:r>
            <a:r>
              <a:rPr lang="zh-CN" altLang="en-US">
                <a:effectLst>
                  <a:outerShdw blurRad="38100" dist="38100" dir="2700000" algn="tl">
                    <a:srgbClr val="FFFFFF"/>
                  </a:outerShdw>
                </a:effectLst>
              </a:rPr>
              <a:t>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CFF3405C-BE58-54E4-7EB0-76D3AAE1A096}"/>
              </a:ext>
            </a:extLst>
          </p:cNvPr>
          <p:cNvSpPr>
            <a:spLocks noGrp="1" noChangeArrowheads="1"/>
          </p:cNvSpPr>
          <p:nvPr>
            <p:ph type="title"/>
          </p:nvPr>
        </p:nvSpPr>
        <p:spPr>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3.3.2  </a:t>
            </a:r>
            <a:r>
              <a:rPr kumimoji="1" lang="en-US" altLang="zh-CN"/>
              <a:t>Rational</a:t>
            </a:r>
            <a:r>
              <a:rPr kumimoji="1" lang="zh-CN" altLang="en-US"/>
              <a:t>统一过程 （</a:t>
            </a:r>
            <a:r>
              <a:rPr kumimoji="1" lang="en-US" altLang="zh-CN"/>
              <a:t>RUP</a:t>
            </a:r>
            <a:r>
              <a:rPr kumimoji="1" lang="zh-CN" altLang="en-US"/>
              <a:t>）</a:t>
            </a:r>
          </a:p>
        </p:txBody>
      </p:sp>
      <p:graphicFrame>
        <p:nvGraphicFramePr>
          <p:cNvPr id="50179" name="Object 5">
            <a:extLst>
              <a:ext uri="{FF2B5EF4-FFF2-40B4-BE49-F238E27FC236}">
                <a16:creationId xmlns:a16="http://schemas.microsoft.com/office/drawing/2014/main" id="{E71BDC6A-4A14-A7E2-A9FF-1AC87872A9BC}"/>
              </a:ext>
            </a:extLst>
          </p:cNvPr>
          <p:cNvGraphicFramePr>
            <a:graphicFrameLocks noGrp="1" noChangeAspect="1"/>
          </p:cNvGraphicFramePr>
          <p:nvPr>
            <p:ph idx="1"/>
          </p:nvPr>
        </p:nvGraphicFramePr>
        <p:xfrm>
          <a:off x="838200" y="1781175"/>
          <a:ext cx="7416800" cy="4908550"/>
        </p:xfrm>
        <a:graphic>
          <a:graphicData uri="http://schemas.openxmlformats.org/presentationml/2006/ole">
            <mc:AlternateContent xmlns:mc="http://schemas.openxmlformats.org/markup-compatibility/2006">
              <mc:Choice xmlns:v="urn:schemas-microsoft-com:vml" Requires="v">
                <p:oleObj name="位图图像" r:id="rId2" imgW="4439270" imgH="3362794" progId="Paint.Picture">
                  <p:embed/>
                </p:oleObj>
              </mc:Choice>
              <mc:Fallback>
                <p:oleObj name="位图图像" r:id="rId2" imgW="4439270" imgH="3362794" progId="Paint.Picture">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781175"/>
                        <a:ext cx="7416800" cy="490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71224D3F-2C99-E79A-87C8-EBCE73F8D09A}"/>
              </a:ext>
            </a:extLst>
          </p:cNvPr>
          <p:cNvSpPr>
            <a:spLocks noGrp="1" noChangeArrowheads="1"/>
          </p:cNvSpPr>
          <p:nvPr>
            <p:ph type="title"/>
          </p:nvPr>
        </p:nvSpPr>
        <p:spPr>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3.3.2  </a:t>
            </a:r>
            <a:r>
              <a:rPr kumimoji="1" lang="en-US" altLang="zh-CN"/>
              <a:t>Rational</a:t>
            </a:r>
            <a:r>
              <a:rPr kumimoji="1" lang="zh-CN" altLang="en-US"/>
              <a:t>统一过程 （</a:t>
            </a:r>
            <a:r>
              <a:rPr kumimoji="1" lang="en-US" altLang="zh-CN"/>
              <a:t>RUP</a:t>
            </a:r>
            <a:r>
              <a:rPr kumimoji="1" lang="zh-CN" altLang="en-US"/>
              <a:t>）</a:t>
            </a:r>
          </a:p>
        </p:txBody>
      </p:sp>
      <p:sp>
        <p:nvSpPr>
          <p:cNvPr id="51203" name="Text Box 5">
            <a:extLst>
              <a:ext uri="{FF2B5EF4-FFF2-40B4-BE49-F238E27FC236}">
                <a16:creationId xmlns:a16="http://schemas.microsoft.com/office/drawing/2014/main" id="{A74015D6-1437-BC27-BEE2-072896778A9B}"/>
              </a:ext>
            </a:extLst>
          </p:cNvPr>
          <p:cNvSpPr txBox="1">
            <a:spLocks noChangeArrowheads="1"/>
          </p:cNvSpPr>
          <p:nvPr/>
        </p:nvSpPr>
        <p:spPr bwMode="auto">
          <a:xfrm>
            <a:off x="539750" y="2420938"/>
            <a:ext cx="8208963" cy="323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en-US" altLang="zh-CN" b="1">
                <a:solidFill>
                  <a:schemeClr val="accent2"/>
                </a:solidFill>
                <a:latin typeface="黑体" panose="02010609060101010101" pitchFamily="49" charset="-122"/>
                <a:ea typeface="黑体" panose="02010609060101010101" pitchFamily="49" charset="-122"/>
              </a:rPr>
              <a:t>TUP</a:t>
            </a:r>
            <a:r>
              <a:rPr lang="zh-CN" altLang="en-US" b="1">
                <a:solidFill>
                  <a:schemeClr val="accent2"/>
                </a:solidFill>
                <a:latin typeface="黑体" panose="02010609060101010101" pitchFamily="49" charset="-122"/>
                <a:ea typeface="黑体" panose="02010609060101010101" pitchFamily="49" charset="-122"/>
              </a:rPr>
              <a:t>的四个阶段：</a:t>
            </a:r>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1.</a:t>
            </a:r>
            <a:r>
              <a:rPr lang="zh-CN" altLang="en-US" sz="2000" b="1">
                <a:solidFill>
                  <a:srgbClr val="FF0000"/>
                </a:solidFill>
              </a:rPr>
              <a:t> 初始阶段：</a:t>
            </a:r>
            <a:r>
              <a:rPr lang="zh-CN" altLang="en-US" sz="2000" b="1"/>
              <a:t>初始阶段的目标是为系统建立商业案例并确定目的边界。</a:t>
            </a:r>
            <a:endParaRPr lang="en-US" altLang="zh-CN" sz="2000" b="1"/>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2.</a:t>
            </a:r>
            <a:r>
              <a:rPr lang="zh-CN" altLang="en-US" sz="2000" b="1">
                <a:solidFill>
                  <a:srgbClr val="FF0000"/>
                </a:solidFill>
              </a:rPr>
              <a:t>细化阶段：</a:t>
            </a:r>
            <a:r>
              <a:rPr lang="zh-CN" altLang="en-US" sz="2000" b="1"/>
              <a:t>细化阶段的目标是分析问题领域，建立健全的体系结构基础，编制项目计划，淘汰项目中拥有最高风险的元素。</a:t>
            </a:r>
            <a:endParaRPr lang="en-US" altLang="zh-CN" sz="2000" b="1"/>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3.</a:t>
            </a:r>
            <a:r>
              <a:rPr lang="zh-CN" altLang="en-US" sz="2000" b="1">
                <a:solidFill>
                  <a:srgbClr val="FF0000"/>
                </a:solidFill>
              </a:rPr>
              <a:t>构造阶段：</a:t>
            </a:r>
            <a:r>
              <a:rPr lang="zh-CN" altLang="en-US" sz="2000" b="1"/>
              <a:t>在构造阶段，所有剩余的构件和应用程序功能被开发并集成为产品，所有的功能将被详细测试。</a:t>
            </a:r>
            <a:endParaRPr lang="en-US" altLang="zh-CN" sz="2000" b="1"/>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4.</a:t>
            </a:r>
            <a:r>
              <a:rPr lang="zh-CN" altLang="en-US" sz="2000" b="1">
                <a:solidFill>
                  <a:srgbClr val="FF0000"/>
                </a:solidFill>
              </a:rPr>
              <a:t>交付阶段：</a:t>
            </a:r>
            <a:r>
              <a:rPr lang="zh-CN" altLang="en-US" sz="2000" b="1"/>
              <a:t>交付阶段的重要是确保软件对最终用户是可用的。</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7CCC2231-A6C2-DE95-A472-537439EFC878}"/>
              </a:ext>
            </a:extLst>
          </p:cNvPr>
          <p:cNvSpPr>
            <a:spLocks noGrp="1" noChangeArrowheads="1"/>
          </p:cNvSpPr>
          <p:nvPr>
            <p:ph type="title"/>
          </p:nvPr>
        </p:nvSpPr>
        <p:spPr>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3.3.2  </a:t>
            </a:r>
            <a:r>
              <a:rPr kumimoji="1" lang="en-US" altLang="zh-CN"/>
              <a:t>Rational</a:t>
            </a:r>
            <a:r>
              <a:rPr kumimoji="1" lang="zh-CN" altLang="en-US"/>
              <a:t>统一过程 （</a:t>
            </a:r>
            <a:r>
              <a:rPr kumimoji="1" lang="en-US" altLang="zh-CN"/>
              <a:t>RUP</a:t>
            </a:r>
            <a:r>
              <a:rPr kumimoji="1" lang="zh-CN" altLang="en-US"/>
              <a:t>）</a:t>
            </a:r>
          </a:p>
        </p:txBody>
      </p:sp>
      <p:sp>
        <p:nvSpPr>
          <p:cNvPr id="52227" name="Text Box 5">
            <a:extLst>
              <a:ext uri="{FF2B5EF4-FFF2-40B4-BE49-F238E27FC236}">
                <a16:creationId xmlns:a16="http://schemas.microsoft.com/office/drawing/2014/main" id="{C733B78F-F0B5-7BB3-63AC-A1B8E6F5A589}"/>
              </a:ext>
            </a:extLst>
          </p:cNvPr>
          <p:cNvSpPr txBox="1">
            <a:spLocks noChangeArrowheads="1"/>
          </p:cNvSpPr>
          <p:nvPr/>
        </p:nvSpPr>
        <p:spPr bwMode="auto">
          <a:xfrm>
            <a:off x="468313" y="1916113"/>
            <a:ext cx="8207375" cy="477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en-US" altLang="zh-CN" b="1">
                <a:solidFill>
                  <a:schemeClr val="accent2"/>
                </a:solidFill>
                <a:latin typeface="黑体" panose="02010609060101010101" pitchFamily="49" charset="-122"/>
                <a:ea typeface="黑体" panose="02010609060101010101" pitchFamily="49" charset="-122"/>
              </a:rPr>
              <a:t>TUP</a:t>
            </a:r>
            <a:r>
              <a:rPr lang="zh-CN" altLang="en-US" b="1">
                <a:solidFill>
                  <a:schemeClr val="accent2"/>
                </a:solidFill>
                <a:latin typeface="黑体" panose="02010609060101010101" pitchFamily="49" charset="-122"/>
                <a:ea typeface="黑体" panose="02010609060101010101" pitchFamily="49" charset="-122"/>
              </a:rPr>
              <a:t>的九个核心工作流：</a:t>
            </a:r>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1.</a:t>
            </a:r>
            <a:r>
              <a:rPr lang="zh-CN" altLang="en-US" sz="2000" b="1">
                <a:solidFill>
                  <a:srgbClr val="FF0000"/>
                </a:solidFill>
              </a:rPr>
              <a:t> 商业建模：</a:t>
            </a:r>
            <a:r>
              <a:rPr lang="zh-CN" altLang="en-US" sz="2000" b="1"/>
              <a:t>描述了如何为新的目标组织开发一个构想，并基于这个构想在商业用例模型和商业对象模型中定义组织的过程、角色和责任。</a:t>
            </a:r>
            <a:endParaRPr lang="en-US" altLang="zh-CN" sz="2000" b="1"/>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2.</a:t>
            </a:r>
            <a:r>
              <a:rPr lang="zh-CN" altLang="en-US" sz="2000" b="1">
                <a:solidFill>
                  <a:srgbClr val="FF0000"/>
                </a:solidFill>
              </a:rPr>
              <a:t>需求：</a:t>
            </a:r>
            <a:r>
              <a:rPr lang="zh-CN" altLang="en-US" sz="2000" b="1"/>
              <a:t>描述系统应该做什么，并使开发人员和用户就这一描述达成共识。</a:t>
            </a:r>
            <a:endParaRPr lang="en-US" altLang="zh-CN" sz="2000" b="1"/>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3.</a:t>
            </a:r>
            <a:r>
              <a:rPr lang="zh-CN" altLang="en-US" sz="2000" b="1">
                <a:solidFill>
                  <a:srgbClr val="FF0000"/>
                </a:solidFill>
              </a:rPr>
              <a:t>分析和设计：</a:t>
            </a:r>
            <a:r>
              <a:rPr lang="zh-CN" altLang="en-US" sz="2000" b="1"/>
              <a:t>分析和设计工作流将需求转化成未来系统的设计，为系统开发一个健壮的结构并调整设计使其与实现环境相匹配，优化其性能。</a:t>
            </a:r>
            <a:endParaRPr lang="en-US" altLang="zh-CN" sz="2000" b="1"/>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4.</a:t>
            </a:r>
            <a:r>
              <a:rPr lang="zh-CN" altLang="en-US" sz="2000" b="1">
                <a:solidFill>
                  <a:srgbClr val="FF0000"/>
                </a:solidFill>
              </a:rPr>
              <a:t>实现：</a:t>
            </a:r>
            <a:r>
              <a:rPr lang="zh-CN" altLang="en-US" sz="2000" b="1"/>
              <a:t>目的包括以层次化的子系统形式定义代码的组织结构，以组件的形式实现类和对象，将开发出的组件作为单元进行测试，以及集成由单个开发者所产生的结构，使其成为可执行的系统。</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BFDF14F9-3152-2BE0-3C40-0AAE093F9451}"/>
              </a:ext>
            </a:extLst>
          </p:cNvPr>
          <p:cNvSpPr>
            <a:spLocks noGrp="1" noChangeArrowheads="1"/>
          </p:cNvSpPr>
          <p:nvPr>
            <p:ph type="title"/>
          </p:nvPr>
        </p:nvSpPr>
        <p:spPr>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3.3.2  </a:t>
            </a:r>
            <a:r>
              <a:rPr kumimoji="1" lang="en-US" altLang="zh-CN"/>
              <a:t>Rational</a:t>
            </a:r>
            <a:r>
              <a:rPr kumimoji="1" lang="zh-CN" altLang="en-US"/>
              <a:t>统一过程 （</a:t>
            </a:r>
            <a:r>
              <a:rPr kumimoji="1" lang="en-US" altLang="zh-CN"/>
              <a:t>RUP</a:t>
            </a:r>
            <a:r>
              <a:rPr kumimoji="1" lang="zh-CN" altLang="en-US"/>
              <a:t>）</a:t>
            </a:r>
          </a:p>
        </p:txBody>
      </p:sp>
      <p:sp>
        <p:nvSpPr>
          <p:cNvPr id="53251" name="Text Box 5">
            <a:extLst>
              <a:ext uri="{FF2B5EF4-FFF2-40B4-BE49-F238E27FC236}">
                <a16:creationId xmlns:a16="http://schemas.microsoft.com/office/drawing/2014/main" id="{C4427DF4-05A6-5CD2-69FE-96130F344A6A}"/>
              </a:ext>
            </a:extLst>
          </p:cNvPr>
          <p:cNvSpPr txBox="1">
            <a:spLocks noChangeArrowheads="1"/>
          </p:cNvSpPr>
          <p:nvPr/>
        </p:nvSpPr>
        <p:spPr bwMode="auto">
          <a:xfrm>
            <a:off x="468313" y="1916113"/>
            <a:ext cx="8207375" cy="431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en-US" altLang="zh-CN" b="1">
                <a:solidFill>
                  <a:schemeClr val="accent2"/>
                </a:solidFill>
                <a:latin typeface="黑体" panose="02010609060101010101" pitchFamily="49" charset="-122"/>
                <a:ea typeface="黑体" panose="02010609060101010101" pitchFamily="49" charset="-122"/>
              </a:rPr>
              <a:t>TUP</a:t>
            </a:r>
            <a:r>
              <a:rPr lang="zh-CN" altLang="en-US" b="1">
                <a:solidFill>
                  <a:schemeClr val="accent2"/>
                </a:solidFill>
                <a:latin typeface="黑体" panose="02010609060101010101" pitchFamily="49" charset="-122"/>
                <a:ea typeface="黑体" panose="02010609060101010101" pitchFamily="49" charset="-122"/>
              </a:rPr>
              <a:t>的九个核心工作流：</a:t>
            </a:r>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5.</a:t>
            </a:r>
            <a:r>
              <a:rPr lang="zh-CN" altLang="en-US" sz="2000" b="1">
                <a:solidFill>
                  <a:srgbClr val="FF0000"/>
                </a:solidFill>
              </a:rPr>
              <a:t>测试：</a:t>
            </a:r>
            <a:r>
              <a:rPr lang="zh-CN" altLang="en-US" sz="2000" b="1"/>
              <a:t>要验证对象间的交互作用，验证软件中所有组件的正确集成，检验所有的需求已被正确的实现，识别并确认缺陷在软件部署之前被提出并将得到处理。</a:t>
            </a:r>
            <a:endParaRPr lang="en-US" altLang="zh-CN" sz="2000" b="1"/>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6.</a:t>
            </a:r>
            <a:r>
              <a:rPr lang="zh-CN" altLang="en-US" sz="2000" b="1">
                <a:solidFill>
                  <a:srgbClr val="FF0000"/>
                </a:solidFill>
              </a:rPr>
              <a:t>部署：</a:t>
            </a:r>
            <a:r>
              <a:rPr lang="zh-CN" altLang="en-US" sz="2000" b="1"/>
              <a:t>目的是成功地生成版本并将软件发布给最终用户。</a:t>
            </a:r>
            <a:endParaRPr lang="en-US" altLang="zh-CN" sz="2000" b="1"/>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7.</a:t>
            </a:r>
            <a:r>
              <a:rPr lang="zh-CN" altLang="en-US" sz="2000" b="1">
                <a:solidFill>
                  <a:srgbClr val="FF0000"/>
                </a:solidFill>
              </a:rPr>
              <a:t>配置和变更管理：</a:t>
            </a:r>
            <a:r>
              <a:rPr lang="zh-CN" altLang="en-US" sz="2000" b="1"/>
              <a:t>描绘了如何在多个成员组成的项目中控制大量的产物，同时对产品修改原因、时间、人员，保持审计记录。</a:t>
            </a:r>
            <a:endParaRPr lang="en-US" altLang="zh-CN" sz="2000" b="1"/>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8.</a:t>
            </a:r>
            <a:r>
              <a:rPr lang="zh-CN" altLang="en-US" sz="2000" b="1">
                <a:solidFill>
                  <a:srgbClr val="FF0000"/>
                </a:solidFill>
              </a:rPr>
              <a:t>项目管理：</a:t>
            </a:r>
            <a:r>
              <a:rPr lang="zh-CN" altLang="en-US" sz="2000" b="1"/>
              <a:t>用于平衡各种可能产生冲突的目标，管理风险、克服各种约束并成功交付使用户满意的产品。</a:t>
            </a:r>
            <a:endParaRPr lang="en-US" altLang="zh-CN" sz="2000" b="1"/>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9.</a:t>
            </a:r>
            <a:r>
              <a:rPr lang="zh-CN" altLang="en-US" sz="2000" b="1">
                <a:solidFill>
                  <a:srgbClr val="FF0000"/>
                </a:solidFill>
              </a:rPr>
              <a:t>环境：</a:t>
            </a:r>
            <a:r>
              <a:rPr lang="zh-CN" altLang="en-US" sz="2000" b="1"/>
              <a:t>目的是向软件开发组织提供软件开发环境，包括过程和工具。</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D8B1B2A5-DC18-553F-50A3-A3E1F90A8480}"/>
              </a:ext>
            </a:extLst>
          </p:cNvPr>
          <p:cNvSpPr>
            <a:spLocks noGrp="1" noChangeArrowheads="1"/>
          </p:cNvSpPr>
          <p:nvPr>
            <p:ph type="title"/>
          </p:nvPr>
        </p:nvSpPr>
        <p:spPr>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3.3.2  </a:t>
            </a:r>
            <a:r>
              <a:rPr kumimoji="1" lang="en-US" altLang="zh-CN"/>
              <a:t>Rational</a:t>
            </a:r>
            <a:r>
              <a:rPr kumimoji="1" lang="zh-CN" altLang="en-US"/>
              <a:t>统一过程 （</a:t>
            </a:r>
            <a:r>
              <a:rPr kumimoji="1" lang="en-US" altLang="zh-CN"/>
              <a:t>RUP</a:t>
            </a:r>
            <a:r>
              <a:rPr kumimoji="1" lang="zh-CN" altLang="en-US"/>
              <a:t>）</a:t>
            </a:r>
          </a:p>
        </p:txBody>
      </p:sp>
      <p:sp>
        <p:nvSpPr>
          <p:cNvPr id="54275" name="Text Box 5">
            <a:extLst>
              <a:ext uri="{FF2B5EF4-FFF2-40B4-BE49-F238E27FC236}">
                <a16:creationId xmlns:a16="http://schemas.microsoft.com/office/drawing/2014/main" id="{6BB38418-DD1E-160E-A099-8202CB02F641}"/>
              </a:ext>
            </a:extLst>
          </p:cNvPr>
          <p:cNvSpPr txBox="1">
            <a:spLocks noChangeArrowheads="1"/>
          </p:cNvSpPr>
          <p:nvPr/>
        </p:nvSpPr>
        <p:spPr bwMode="auto">
          <a:xfrm>
            <a:off x="1116013" y="2349500"/>
            <a:ext cx="7272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endParaRPr lang="zh-CN" altLang="zh-CN" sz="2400" b="0">
              <a:latin typeface="Times New Roman" panose="02020603050405020304" pitchFamily="18" charset="0"/>
            </a:endParaRPr>
          </a:p>
        </p:txBody>
      </p:sp>
      <p:sp>
        <p:nvSpPr>
          <p:cNvPr id="158726" name="Text Box 6">
            <a:extLst>
              <a:ext uri="{FF2B5EF4-FFF2-40B4-BE49-F238E27FC236}">
                <a16:creationId xmlns:a16="http://schemas.microsoft.com/office/drawing/2014/main" id="{FDC45F66-1C8A-C5B1-1E5C-C2357E2DB42B}"/>
              </a:ext>
            </a:extLst>
          </p:cNvPr>
          <p:cNvSpPr txBox="1">
            <a:spLocks noChangeArrowheads="1"/>
          </p:cNvSpPr>
          <p:nvPr/>
        </p:nvSpPr>
        <p:spPr bwMode="auto">
          <a:xfrm>
            <a:off x="1049338" y="2105025"/>
            <a:ext cx="7200900" cy="4357688"/>
          </a:xfrm>
          <a:prstGeom prst="rect">
            <a:avLst/>
          </a:prstGeom>
          <a:noFill/>
          <a:ln>
            <a:noFill/>
          </a:ln>
          <a:effectLst/>
        </p:spPr>
        <p:txBody>
          <a:bodyPr>
            <a:spAutoFit/>
          </a:bodyPr>
          <a:lstStyle/>
          <a:p>
            <a:pPr eaLnBrk="1" hangingPunct="1">
              <a:lnSpc>
                <a:spcPts val="3000"/>
              </a:lnSpc>
              <a:buClr>
                <a:srgbClr val="0000FF"/>
              </a:buClr>
              <a:buSzPct val="70000"/>
              <a:buFont typeface="Wingdings" panose="05000000000000000000" pitchFamily="2" charset="2"/>
              <a:buChar char="n"/>
              <a:defRPr/>
            </a:pPr>
            <a:r>
              <a:rPr kumimoji="0" lang="en-US" altLang="zh-CN" dirty="0">
                <a:effectLst>
                  <a:outerShdw blurRad="38100" dist="38100" dir="2700000" algn="tl">
                    <a:srgbClr val="C0C0C0"/>
                  </a:outerShdw>
                </a:effectLst>
              </a:rPr>
              <a:t>    </a:t>
            </a:r>
            <a:r>
              <a:rPr kumimoji="0" lang="zh-CN" altLang="en-US" b="1" dirty="0">
                <a:solidFill>
                  <a:schemeClr val="accent2"/>
                </a:solidFill>
                <a:ea typeface="黑体" panose="02010609060101010101" pitchFamily="49" charset="-122"/>
              </a:rPr>
              <a:t>用例驱动</a:t>
            </a:r>
          </a:p>
          <a:p>
            <a:pPr lvl="1" eaLnBrk="1" hangingPunct="1">
              <a:lnSpc>
                <a:spcPts val="3000"/>
              </a:lnSpc>
              <a:buClr>
                <a:srgbClr val="0000FF"/>
              </a:buClr>
              <a:buFont typeface="Times New Roman" panose="02020603050405020304" pitchFamily="18" charset="0"/>
              <a:buChar char="─"/>
              <a:defRPr/>
            </a:pPr>
            <a:r>
              <a:rPr kumimoji="0" lang="zh-CN" altLang="en-US" sz="2000" b="1" dirty="0">
                <a:effectLst>
                  <a:outerShdw blurRad="38100" dist="38100" dir="2700000" algn="tl">
                    <a:srgbClr val="C0C0C0"/>
                  </a:outerShdw>
                </a:effectLst>
              </a:rPr>
              <a:t>  </a:t>
            </a:r>
            <a:r>
              <a:rPr kumimoji="0" lang="en-US" altLang="zh-CN" sz="2000" b="1" dirty="0"/>
              <a:t>Concise, simple, and understandable</a:t>
            </a:r>
            <a:r>
              <a:rPr kumimoji="0" lang="en-US" altLang="zh-CN" dirty="0">
                <a:effectLst>
                  <a:outerShdw blurRad="38100" dist="38100" dir="2700000" algn="tl">
                    <a:srgbClr val="C0C0C0"/>
                  </a:outerShdw>
                </a:effectLst>
              </a:rPr>
              <a:t> </a:t>
            </a:r>
          </a:p>
          <a:p>
            <a:pPr lvl="3" eaLnBrk="1" hangingPunct="1">
              <a:buFont typeface="Wingdings" panose="05000000000000000000" pitchFamily="2" charset="2"/>
              <a:buNone/>
              <a:defRPr/>
            </a:pPr>
            <a:endParaRPr kumimoji="0" lang="en-US" altLang="zh-CN" dirty="0">
              <a:effectLst>
                <a:outerShdw blurRad="38100" dist="38100" dir="2700000" algn="tl">
                  <a:srgbClr val="C0C0C0"/>
                </a:outerShdw>
              </a:effectLst>
            </a:endParaRPr>
          </a:p>
          <a:p>
            <a:pPr eaLnBrk="1" hangingPunct="1">
              <a:lnSpc>
                <a:spcPts val="3000"/>
              </a:lnSpc>
              <a:buClr>
                <a:srgbClr val="0000FF"/>
              </a:buClr>
              <a:buSzPct val="70000"/>
              <a:buFont typeface="Wingdings" panose="05000000000000000000" pitchFamily="2" charset="2"/>
              <a:buChar char="n"/>
              <a:defRPr/>
            </a:pPr>
            <a:r>
              <a:rPr kumimoji="0" lang="en-US" altLang="zh-CN" dirty="0">
                <a:effectLst>
                  <a:outerShdw blurRad="38100" dist="38100" dir="2700000" algn="tl">
                    <a:srgbClr val="C0C0C0"/>
                  </a:outerShdw>
                </a:effectLst>
              </a:rPr>
              <a:t>    </a:t>
            </a:r>
            <a:r>
              <a:rPr kumimoji="0" lang="zh-CN" altLang="en-US" b="1" dirty="0">
                <a:solidFill>
                  <a:schemeClr val="accent2"/>
                </a:solidFill>
                <a:ea typeface="黑体" panose="02010609060101010101" pitchFamily="49" charset="-122"/>
              </a:rPr>
              <a:t>以体系结构为中心</a:t>
            </a:r>
          </a:p>
          <a:p>
            <a:pPr lvl="1" eaLnBrk="1" hangingPunct="1">
              <a:lnSpc>
                <a:spcPts val="3000"/>
              </a:lnSpc>
              <a:buClr>
                <a:srgbClr val="0000FF"/>
              </a:buClr>
              <a:buFont typeface="Times New Roman" panose="02020603050405020304" pitchFamily="18" charset="0"/>
              <a:buChar char="─"/>
              <a:defRPr/>
            </a:pPr>
            <a:r>
              <a:rPr kumimoji="0" lang="zh-CN" altLang="en-US" sz="2000" b="1" dirty="0"/>
              <a:t>  </a:t>
            </a:r>
            <a:r>
              <a:rPr kumimoji="0" lang="en-US" altLang="zh-CN" sz="2000" b="1" dirty="0"/>
              <a:t>Effective basis for large-scale reuse</a:t>
            </a:r>
          </a:p>
          <a:p>
            <a:pPr eaLnBrk="1" hangingPunct="1">
              <a:buFont typeface="Wingdings" panose="05000000000000000000" pitchFamily="2" charset="2"/>
              <a:buNone/>
              <a:defRPr/>
            </a:pPr>
            <a:endParaRPr kumimoji="0" lang="en-US" altLang="zh-CN" sz="2000" b="1" dirty="0">
              <a:effectLst>
                <a:outerShdw blurRad="38100" dist="38100" dir="2700000" algn="tl">
                  <a:srgbClr val="C0C0C0"/>
                </a:outerShdw>
              </a:effectLst>
            </a:endParaRPr>
          </a:p>
          <a:p>
            <a:pPr eaLnBrk="1" hangingPunct="1">
              <a:lnSpc>
                <a:spcPts val="3000"/>
              </a:lnSpc>
              <a:buClr>
                <a:srgbClr val="0000FF"/>
              </a:buClr>
              <a:buSzPct val="70000"/>
              <a:buFont typeface="Wingdings" panose="05000000000000000000" pitchFamily="2" charset="2"/>
              <a:buChar char="n"/>
              <a:defRPr/>
            </a:pPr>
            <a:r>
              <a:rPr kumimoji="0" lang="en-US" altLang="zh-CN" dirty="0">
                <a:effectLst>
                  <a:outerShdw blurRad="38100" dist="38100" dir="2700000" algn="tl">
                    <a:srgbClr val="C0C0C0"/>
                  </a:outerShdw>
                </a:effectLst>
              </a:rPr>
              <a:t>    </a:t>
            </a:r>
            <a:r>
              <a:rPr kumimoji="0" lang="zh-CN" altLang="en-US" b="1" dirty="0">
                <a:solidFill>
                  <a:schemeClr val="accent2"/>
                </a:solidFill>
                <a:ea typeface="黑体" panose="02010609060101010101" pitchFamily="49" charset="-122"/>
              </a:rPr>
              <a:t>增量和迭代开发</a:t>
            </a:r>
          </a:p>
          <a:p>
            <a:pPr lvl="1" eaLnBrk="1" hangingPunct="1">
              <a:lnSpc>
                <a:spcPts val="3000"/>
              </a:lnSpc>
              <a:buClr>
                <a:srgbClr val="0000FF"/>
              </a:buClr>
              <a:buFont typeface="Times New Roman" panose="02020603050405020304" pitchFamily="18" charset="0"/>
              <a:buChar char="─"/>
              <a:defRPr/>
            </a:pPr>
            <a:r>
              <a:rPr kumimoji="0" lang="zh-CN" altLang="en-US" sz="2000" b="1" dirty="0"/>
              <a:t>  基于风险前驱的原则，渐进地展开分析、设计及其相关活动，每个迭代都会提供一次验证和调整模型机会，推动软件质量的提升。</a:t>
            </a:r>
          </a:p>
          <a:p>
            <a:pPr eaLnBrk="1" hangingPunct="1">
              <a:spcBef>
                <a:spcPct val="50000"/>
              </a:spcBef>
              <a:defRPr/>
            </a:pPr>
            <a:endParaRPr lang="en-US" altLang="zh-C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61EE5B0B-EA8A-3BB9-D893-48D858A5E798}"/>
              </a:ext>
            </a:extLst>
          </p:cNvPr>
          <p:cNvSpPr>
            <a:spLocks noGrp="1" noChangeArrowheads="1"/>
          </p:cNvSpPr>
          <p:nvPr>
            <p:ph type="title"/>
          </p:nvPr>
        </p:nvSpPr>
        <p:spPr>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3.3.2  </a:t>
            </a:r>
            <a:r>
              <a:rPr kumimoji="1" lang="en-US" altLang="zh-CN"/>
              <a:t>Rational</a:t>
            </a:r>
            <a:r>
              <a:rPr kumimoji="1" lang="zh-CN" altLang="en-US"/>
              <a:t>统一过程 （</a:t>
            </a:r>
            <a:r>
              <a:rPr kumimoji="1" lang="en-US" altLang="zh-CN"/>
              <a:t>RUP</a:t>
            </a:r>
            <a:r>
              <a:rPr kumimoji="1" lang="zh-CN" altLang="en-US"/>
              <a:t>）</a:t>
            </a:r>
          </a:p>
        </p:txBody>
      </p:sp>
      <p:sp>
        <p:nvSpPr>
          <p:cNvPr id="55299" name="Text Box 5">
            <a:extLst>
              <a:ext uri="{FF2B5EF4-FFF2-40B4-BE49-F238E27FC236}">
                <a16:creationId xmlns:a16="http://schemas.microsoft.com/office/drawing/2014/main" id="{1563E7C5-0FB0-A97D-6491-A45A4BBE7BD2}"/>
              </a:ext>
            </a:extLst>
          </p:cNvPr>
          <p:cNvSpPr txBox="1">
            <a:spLocks noChangeArrowheads="1"/>
          </p:cNvSpPr>
          <p:nvPr/>
        </p:nvSpPr>
        <p:spPr bwMode="auto">
          <a:xfrm>
            <a:off x="468313" y="1916113"/>
            <a:ext cx="8207375" cy="292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en-US" altLang="zh-CN" b="1" dirty="0">
                <a:solidFill>
                  <a:schemeClr val="accent2"/>
                </a:solidFill>
                <a:latin typeface="黑体" panose="02010609060101010101" pitchFamily="49" charset="-122"/>
                <a:ea typeface="黑体" panose="02010609060101010101" pitchFamily="49" charset="-122"/>
              </a:rPr>
              <a:t>TUP</a:t>
            </a:r>
            <a:r>
              <a:rPr lang="zh-CN" altLang="en-US" b="1" dirty="0">
                <a:solidFill>
                  <a:schemeClr val="accent2"/>
                </a:solidFill>
                <a:latin typeface="黑体" panose="02010609060101010101" pitchFamily="49" charset="-122"/>
                <a:ea typeface="黑体" panose="02010609060101010101" pitchFamily="49" charset="-122"/>
              </a:rPr>
              <a:t>的优点：</a:t>
            </a:r>
          </a:p>
          <a:p>
            <a:pPr lvl="1" eaLnBrk="1" hangingPunct="1">
              <a:spcBef>
                <a:spcPct val="50000"/>
              </a:spcBef>
              <a:buClr>
                <a:srgbClr val="0000FF"/>
              </a:buClr>
              <a:buSzPct val="70000"/>
              <a:buFont typeface="Wingdings" panose="05000000000000000000" pitchFamily="2" charset="2"/>
              <a:buChar char="n"/>
            </a:pPr>
            <a:r>
              <a:rPr lang="en-US" altLang="zh-CN" sz="2000" b="1" dirty="0"/>
              <a:t>1.</a:t>
            </a:r>
            <a:r>
              <a:rPr lang="zh-CN" altLang="en-US" sz="2000" b="1" dirty="0">
                <a:solidFill>
                  <a:srgbClr val="FF0000"/>
                </a:solidFill>
              </a:rPr>
              <a:t>提高了团队生产力</a:t>
            </a:r>
            <a:r>
              <a:rPr lang="zh-CN" altLang="en-US" sz="2000" b="1" dirty="0"/>
              <a:t>，在迭代的将开发过程、需求管理、基于组件的体系结构、可视化软件建模、验证软件质量及控制软件变更等方面，针对所有关键的开发活动为每个开发成员提供了必要的准则、模板和工具指导，并确保全体成员共享相同的知识库。</a:t>
            </a:r>
            <a:endParaRPr lang="en-US" altLang="zh-CN" sz="2000" b="1" dirty="0"/>
          </a:p>
          <a:p>
            <a:pPr lvl="1" eaLnBrk="1" hangingPunct="1">
              <a:spcBef>
                <a:spcPct val="50000"/>
              </a:spcBef>
              <a:buClr>
                <a:srgbClr val="0000FF"/>
              </a:buClr>
              <a:buSzPct val="70000"/>
              <a:buFont typeface="Wingdings" panose="05000000000000000000" pitchFamily="2" charset="2"/>
              <a:buChar char="n"/>
            </a:pPr>
            <a:r>
              <a:rPr lang="en-US" altLang="zh-CN" sz="2000" b="1" dirty="0"/>
              <a:t>2.</a:t>
            </a:r>
            <a:r>
              <a:rPr lang="zh-CN" altLang="en-US" sz="2000" b="1" dirty="0"/>
              <a:t>它建立了简洁和清晰的过程结构，为开发过程提供较大的</a:t>
            </a:r>
            <a:r>
              <a:rPr lang="zh-CN" altLang="en-US" sz="2000" b="1" dirty="0">
                <a:solidFill>
                  <a:srgbClr val="FF0000"/>
                </a:solidFill>
              </a:rPr>
              <a:t>通用性</a:t>
            </a:r>
            <a:r>
              <a:rPr lang="zh-CN" altLang="en-US" sz="2000" b="1" dirty="0"/>
              <a:t>。</a:t>
            </a:r>
          </a:p>
        </p:txBody>
      </p:sp>
      <p:sp>
        <p:nvSpPr>
          <p:cNvPr id="55300" name="Text Box 5">
            <a:extLst>
              <a:ext uri="{FF2B5EF4-FFF2-40B4-BE49-F238E27FC236}">
                <a16:creationId xmlns:a16="http://schemas.microsoft.com/office/drawing/2014/main" id="{2FF9DB01-9990-7618-A64A-BA2744C94063}"/>
              </a:ext>
            </a:extLst>
          </p:cNvPr>
          <p:cNvSpPr txBox="1">
            <a:spLocks noChangeArrowheads="1"/>
          </p:cNvSpPr>
          <p:nvPr/>
        </p:nvSpPr>
        <p:spPr bwMode="auto">
          <a:xfrm>
            <a:off x="468313" y="4881563"/>
            <a:ext cx="8207375" cy="169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en-US" altLang="zh-CN" b="1" dirty="0">
                <a:solidFill>
                  <a:schemeClr val="accent2"/>
                </a:solidFill>
                <a:latin typeface="黑体" panose="02010609060101010101" pitchFamily="49" charset="-122"/>
                <a:ea typeface="黑体" panose="02010609060101010101" pitchFamily="49" charset="-122"/>
              </a:rPr>
              <a:t>TUP</a:t>
            </a:r>
            <a:r>
              <a:rPr lang="zh-CN" altLang="en-US" b="1" dirty="0">
                <a:solidFill>
                  <a:schemeClr val="accent2"/>
                </a:solidFill>
                <a:latin typeface="黑体" panose="02010609060101010101" pitchFamily="49" charset="-122"/>
                <a:ea typeface="黑体" panose="02010609060101010101" pitchFamily="49" charset="-122"/>
              </a:rPr>
              <a:t>的缺点：</a:t>
            </a:r>
          </a:p>
          <a:p>
            <a:pPr lvl="1" eaLnBrk="1" hangingPunct="1">
              <a:spcBef>
                <a:spcPct val="50000"/>
              </a:spcBef>
              <a:buClr>
                <a:srgbClr val="0000FF"/>
              </a:buClr>
              <a:buSzPct val="70000"/>
              <a:buFont typeface="Wingdings" panose="05000000000000000000" pitchFamily="2" charset="2"/>
              <a:buChar char="n"/>
            </a:pPr>
            <a:r>
              <a:rPr lang="en-US" altLang="zh-CN" sz="2000" b="1" dirty="0"/>
              <a:t>1.RUP</a:t>
            </a:r>
            <a:r>
              <a:rPr lang="zh-CN" altLang="en-US" sz="2000" b="1" dirty="0"/>
              <a:t>只是一个开发过程，并没有涵盖软件过程的全部内容</a:t>
            </a:r>
            <a:endParaRPr lang="en-US" altLang="zh-CN" sz="2000" b="1" dirty="0"/>
          </a:p>
          <a:p>
            <a:pPr lvl="1" eaLnBrk="1" hangingPunct="1">
              <a:spcBef>
                <a:spcPct val="50000"/>
              </a:spcBef>
              <a:buClr>
                <a:srgbClr val="0000FF"/>
              </a:buClr>
              <a:buSzPct val="70000"/>
              <a:buFont typeface="Wingdings" panose="05000000000000000000" pitchFamily="2" charset="2"/>
              <a:buChar char="n"/>
            </a:pPr>
            <a:r>
              <a:rPr lang="en-US" altLang="zh-CN" sz="2000" b="1" dirty="0"/>
              <a:t>2.</a:t>
            </a:r>
            <a:r>
              <a:rPr lang="zh-CN" altLang="en-US" sz="2000" b="1" dirty="0"/>
              <a:t>它不支持多项目的开发结构，这在一定程度上降低了在开发组织内大范围实现重用 的可能性。</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452A9A56-3A54-62A1-8C29-7FCFEBAF2966}"/>
              </a:ext>
            </a:extLst>
          </p:cNvPr>
          <p:cNvSpPr>
            <a:spLocks noGrp="1" noChangeArrowheads="1"/>
          </p:cNvSpPr>
          <p:nvPr>
            <p:ph type="title"/>
          </p:nvPr>
        </p:nvSpPr>
        <p:spPr>
          <a:xfrm>
            <a:off x="177800" y="100965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3.3.3  </a:t>
            </a:r>
            <a:r>
              <a:rPr kumimoji="1" lang="zh-CN" altLang="en-US"/>
              <a:t>微软产品开发周期模型 </a:t>
            </a:r>
          </a:p>
        </p:txBody>
      </p:sp>
      <p:grpSp>
        <p:nvGrpSpPr>
          <p:cNvPr id="56323" name="Group 5">
            <a:extLst>
              <a:ext uri="{FF2B5EF4-FFF2-40B4-BE49-F238E27FC236}">
                <a16:creationId xmlns:a16="http://schemas.microsoft.com/office/drawing/2014/main" id="{F2ADFBB1-70F4-744D-AA65-F2CAE88EDD43}"/>
              </a:ext>
            </a:extLst>
          </p:cNvPr>
          <p:cNvGrpSpPr>
            <a:grpSpLocks/>
          </p:cNvGrpSpPr>
          <p:nvPr/>
        </p:nvGrpSpPr>
        <p:grpSpPr bwMode="auto">
          <a:xfrm>
            <a:off x="973138" y="1866900"/>
            <a:ext cx="7540625" cy="4802188"/>
            <a:chOff x="480" y="672"/>
            <a:chExt cx="4752" cy="3360"/>
          </a:xfrm>
        </p:grpSpPr>
        <p:sp>
          <p:nvSpPr>
            <p:cNvPr id="56355" name="Rectangle 6">
              <a:extLst>
                <a:ext uri="{FF2B5EF4-FFF2-40B4-BE49-F238E27FC236}">
                  <a16:creationId xmlns:a16="http://schemas.microsoft.com/office/drawing/2014/main" id="{AD032FE5-CB8B-99C7-740D-576CC71F90FE}"/>
                </a:ext>
              </a:extLst>
            </p:cNvPr>
            <p:cNvSpPr>
              <a:spLocks noChangeArrowheads="1"/>
            </p:cNvSpPr>
            <p:nvPr/>
          </p:nvSpPr>
          <p:spPr bwMode="auto">
            <a:xfrm>
              <a:off x="2856" y="2352"/>
              <a:ext cx="2376" cy="1680"/>
            </a:xfrm>
            <a:prstGeom prst="rect">
              <a:avLst/>
            </a:prstGeom>
            <a:solidFill>
              <a:srgbClr val="9E9EB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6356" name="Rectangle 7">
              <a:extLst>
                <a:ext uri="{FF2B5EF4-FFF2-40B4-BE49-F238E27FC236}">
                  <a16:creationId xmlns:a16="http://schemas.microsoft.com/office/drawing/2014/main" id="{D8D442C0-D942-483C-E6A5-5643F044B36A}"/>
                </a:ext>
              </a:extLst>
            </p:cNvPr>
            <p:cNvSpPr>
              <a:spLocks noChangeArrowheads="1"/>
            </p:cNvSpPr>
            <p:nvPr/>
          </p:nvSpPr>
          <p:spPr bwMode="auto">
            <a:xfrm>
              <a:off x="480" y="2352"/>
              <a:ext cx="2376" cy="1680"/>
            </a:xfrm>
            <a:prstGeom prst="rect">
              <a:avLst/>
            </a:prstGeom>
            <a:solidFill>
              <a:srgbClr val="8686A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6357" name="Rectangle 8">
              <a:extLst>
                <a:ext uri="{FF2B5EF4-FFF2-40B4-BE49-F238E27FC236}">
                  <a16:creationId xmlns:a16="http://schemas.microsoft.com/office/drawing/2014/main" id="{94A2B043-AEC4-E841-6DEF-EFBB76E6A50C}"/>
                </a:ext>
              </a:extLst>
            </p:cNvPr>
            <p:cNvSpPr>
              <a:spLocks noChangeArrowheads="1"/>
            </p:cNvSpPr>
            <p:nvPr/>
          </p:nvSpPr>
          <p:spPr bwMode="auto">
            <a:xfrm>
              <a:off x="2856" y="672"/>
              <a:ext cx="2376" cy="1680"/>
            </a:xfrm>
            <a:prstGeom prst="rect">
              <a:avLst/>
            </a:prstGeom>
            <a:solidFill>
              <a:srgbClr val="B6B6C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56358" name="Rectangle 9">
              <a:extLst>
                <a:ext uri="{FF2B5EF4-FFF2-40B4-BE49-F238E27FC236}">
                  <a16:creationId xmlns:a16="http://schemas.microsoft.com/office/drawing/2014/main" id="{C6542159-9013-2E63-F30B-9D25D1A0A6BE}"/>
                </a:ext>
              </a:extLst>
            </p:cNvPr>
            <p:cNvSpPr>
              <a:spLocks noChangeArrowheads="1"/>
            </p:cNvSpPr>
            <p:nvPr/>
          </p:nvSpPr>
          <p:spPr bwMode="auto">
            <a:xfrm>
              <a:off x="480" y="672"/>
              <a:ext cx="2376" cy="1680"/>
            </a:xfrm>
            <a:prstGeom prst="rect">
              <a:avLst/>
            </a:prstGeom>
            <a:solidFill>
              <a:srgbClr val="CECED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grpSp>
      <p:sp>
        <p:nvSpPr>
          <p:cNvPr id="56324" name="Rectangle 10">
            <a:extLst>
              <a:ext uri="{FF2B5EF4-FFF2-40B4-BE49-F238E27FC236}">
                <a16:creationId xmlns:a16="http://schemas.microsoft.com/office/drawing/2014/main" id="{7E70163F-C151-AD2D-EC5A-D55CAEC414F1}"/>
              </a:ext>
            </a:extLst>
          </p:cNvPr>
          <p:cNvSpPr>
            <a:spLocks noChangeArrowheads="1"/>
          </p:cNvSpPr>
          <p:nvPr/>
        </p:nvSpPr>
        <p:spPr bwMode="auto">
          <a:xfrm>
            <a:off x="2668588" y="3595688"/>
            <a:ext cx="4189412" cy="617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endParaRPr kumimoji="0" lang="zh-CN" altLang="zh-CN" sz="2400">
              <a:solidFill>
                <a:schemeClr val="tx2"/>
              </a:solidFill>
              <a:latin typeface="Tahoma" panose="020B0604030504040204" pitchFamily="34" charset="0"/>
            </a:endParaRPr>
          </a:p>
        </p:txBody>
      </p:sp>
      <p:sp>
        <p:nvSpPr>
          <p:cNvPr id="56325" name="Rectangle 11">
            <a:extLst>
              <a:ext uri="{FF2B5EF4-FFF2-40B4-BE49-F238E27FC236}">
                <a16:creationId xmlns:a16="http://schemas.microsoft.com/office/drawing/2014/main" id="{6F2FA98D-5606-61DC-241D-A8DB227DA3FE}"/>
              </a:ext>
            </a:extLst>
          </p:cNvPr>
          <p:cNvSpPr>
            <a:spLocks noChangeArrowheads="1"/>
          </p:cNvSpPr>
          <p:nvPr/>
        </p:nvSpPr>
        <p:spPr bwMode="auto">
          <a:xfrm>
            <a:off x="2668588" y="3805238"/>
            <a:ext cx="4189412" cy="617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0" lang="zh-CN" altLang="en-US" sz="2400">
                <a:solidFill>
                  <a:schemeClr val="bg2"/>
                </a:solidFill>
              </a:rPr>
              <a:t>微软产品周期模型</a:t>
            </a:r>
          </a:p>
        </p:txBody>
      </p:sp>
      <p:sp>
        <p:nvSpPr>
          <p:cNvPr id="108556" name="Rectangle 12">
            <a:extLst>
              <a:ext uri="{FF2B5EF4-FFF2-40B4-BE49-F238E27FC236}">
                <a16:creationId xmlns:a16="http://schemas.microsoft.com/office/drawing/2014/main" id="{0A94714D-4390-75A5-189A-D6EFC65AED8D}"/>
              </a:ext>
            </a:extLst>
          </p:cNvPr>
          <p:cNvSpPr>
            <a:spLocks noChangeArrowheads="1"/>
          </p:cNvSpPr>
          <p:nvPr/>
        </p:nvSpPr>
        <p:spPr bwMode="auto">
          <a:xfrm>
            <a:off x="973138" y="1870075"/>
            <a:ext cx="1600200" cy="342900"/>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0" lang="zh-CN" altLang="en-US" sz="1800">
                <a:solidFill>
                  <a:schemeClr val="bg1"/>
                </a:solidFill>
                <a:ea typeface="黑体" panose="02010609060101010101" pitchFamily="49" charset="-122"/>
              </a:rPr>
              <a:t>产品规划阶段</a:t>
            </a:r>
          </a:p>
        </p:txBody>
      </p:sp>
      <p:sp>
        <p:nvSpPr>
          <p:cNvPr id="108557" name="Rectangle 13">
            <a:extLst>
              <a:ext uri="{FF2B5EF4-FFF2-40B4-BE49-F238E27FC236}">
                <a16:creationId xmlns:a16="http://schemas.microsoft.com/office/drawing/2014/main" id="{4F82ADE6-DAEE-FF36-2073-58AC90A78A8E}"/>
              </a:ext>
            </a:extLst>
          </p:cNvPr>
          <p:cNvSpPr>
            <a:spLocks noChangeArrowheads="1"/>
          </p:cNvSpPr>
          <p:nvPr/>
        </p:nvSpPr>
        <p:spPr bwMode="auto">
          <a:xfrm>
            <a:off x="6916738" y="6327775"/>
            <a:ext cx="1600200" cy="342900"/>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r">
              <a:spcBef>
                <a:spcPct val="0"/>
              </a:spcBef>
              <a:buClrTx/>
              <a:buFontTx/>
              <a:buNone/>
            </a:pPr>
            <a:r>
              <a:rPr kumimoji="0" lang="zh-CN" altLang="en-US" sz="1800">
                <a:solidFill>
                  <a:schemeClr val="bg1"/>
                </a:solidFill>
                <a:ea typeface="黑体" panose="02010609060101010101" pitchFamily="49" charset="-122"/>
              </a:rPr>
              <a:t>测试阶段</a:t>
            </a:r>
          </a:p>
        </p:txBody>
      </p:sp>
      <p:sp>
        <p:nvSpPr>
          <p:cNvPr id="108558" name="Rectangle 14">
            <a:extLst>
              <a:ext uri="{FF2B5EF4-FFF2-40B4-BE49-F238E27FC236}">
                <a16:creationId xmlns:a16="http://schemas.microsoft.com/office/drawing/2014/main" id="{94A2734B-48F1-DF67-4593-E8C5F33ABCD4}"/>
              </a:ext>
            </a:extLst>
          </p:cNvPr>
          <p:cNvSpPr>
            <a:spLocks noChangeArrowheads="1"/>
          </p:cNvSpPr>
          <p:nvPr/>
        </p:nvSpPr>
        <p:spPr bwMode="auto">
          <a:xfrm>
            <a:off x="6916738" y="1857375"/>
            <a:ext cx="1600200" cy="342900"/>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r">
              <a:spcBef>
                <a:spcPct val="0"/>
              </a:spcBef>
              <a:buClrTx/>
              <a:buFontTx/>
              <a:buNone/>
            </a:pPr>
            <a:r>
              <a:rPr kumimoji="0" lang="zh-CN" altLang="en-US" sz="1800">
                <a:solidFill>
                  <a:schemeClr val="bg1"/>
                </a:solidFill>
                <a:ea typeface="黑体" panose="02010609060101010101" pitchFamily="49" charset="-122"/>
              </a:rPr>
              <a:t>产品开发阶段</a:t>
            </a:r>
          </a:p>
        </p:txBody>
      </p:sp>
      <p:sp>
        <p:nvSpPr>
          <p:cNvPr id="108559" name="Rectangle 15">
            <a:extLst>
              <a:ext uri="{FF2B5EF4-FFF2-40B4-BE49-F238E27FC236}">
                <a16:creationId xmlns:a16="http://schemas.microsoft.com/office/drawing/2014/main" id="{8A1625FF-8F9C-358C-71F4-A51A808C6E59}"/>
              </a:ext>
            </a:extLst>
          </p:cNvPr>
          <p:cNvSpPr>
            <a:spLocks noChangeArrowheads="1"/>
          </p:cNvSpPr>
          <p:nvPr/>
        </p:nvSpPr>
        <p:spPr bwMode="auto">
          <a:xfrm>
            <a:off x="973138" y="4257675"/>
            <a:ext cx="1600200" cy="342900"/>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0" lang="zh-CN" altLang="en-US" sz="1800">
                <a:solidFill>
                  <a:schemeClr val="bg1"/>
                </a:solidFill>
                <a:ea typeface="黑体" panose="02010609060101010101" pitchFamily="49" charset="-122"/>
              </a:rPr>
              <a:t>发布阶段</a:t>
            </a:r>
          </a:p>
        </p:txBody>
      </p:sp>
      <p:sp>
        <p:nvSpPr>
          <p:cNvPr id="108560" name="AutoShape 16">
            <a:extLst>
              <a:ext uri="{FF2B5EF4-FFF2-40B4-BE49-F238E27FC236}">
                <a16:creationId xmlns:a16="http://schemas.microsoft.com/office/drawing/2014/main" id="{037C0C80-00CA-02BA-45AD-F941DE576D02}"/>
              </a:ext>
            </a:extLst>
          </p:cNvPr>
          <p:cNvSpPr>
            <a:spLocks/>
          </p:cNvSpPr>
          <p:nvPr/>
        </p:nvSpPr>
        <p:spPr bwMode="auto">
          <a:xfrm>
            <a:off x="6446838" y="2352675"/>
            <a:ext cx="1219200" cy="342900"/>
          </a:xfrm>
          <a:prstGeom prst="borderCallout1">
            <a:avLst>
              <a:gd name="adj1" fmla="val 33333"/>
              <a:gd name="adj2" fmla="val -6250"/>
              <a:gd name="adj3" fmla="val 208333"/>
              <a:gd name="adj4" fmla="val -26694"/>
            </a:avLst>
          </a:prstGeom>
          <a:solidFill>
            <a:srgbClr val="FF66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en-US" altLang="zh-CN" sz="1800"/>
              <a:t>M1…Mn</a:t>
            </a:r>
          </a:p>
        </p:txBody>
      </p:sp>
      <p:sp>
        <p:nvSpPr>
          <p:cNvPr id="108561" name="AutoShape 17">
            <a:extLst>
              <a:ext uri="{FF2B5EF4-FFF2-40B4-BE49-F238E27FC236}">
                <a16:creationId xmlns:a16="http://schemas.microsoft.com/office/drawing/2014/main" id="{17447D8E-AD56-9D74-3A6B-8C0290DBA609}"/>
              </a:ext>
            </a:extLst>
          </p:cNvPr>
          <p:cNvSpPr>
            <a:spLocks/>
          </p:cNvSpPr>
          <p:nvPr/>
        </p:nvSpPr>
        <p:spPr bwMode="auto">
          <a:xfrm>
            <a:off x="7221538" y="4549775"/>
            <a:ext cx="838200" cy="342900"/>
          </a:xfrm>
          <a:prstGeom prst="borderCallout1">
            <a:avLst>
              <a:gd name="adj1" fmla="val 33333"/>
              <a:gd name="adj2" fmla="val -9093"/>
              <a:gd name="adj3" fmla="val -13889"/>
              <a:gd name="adj4" fmla="val -70264"/>
            </a:avLst>
          </a:prstGeom>
          <a:solidFill>
            <a:srgbClr val="FF66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en-US" altLang="zh-CN" sz="1800"/>
              <a:t>CC</a:t>
            </a:r>
          </a:p>
        </p:txBody>
      </p:sp>
      <p:sp>
        <p:nvSpPr>
          <p:cNvPr id="108562" name="AutoShape 18">
            <a:extLst>
              <a:ext uri="{FF2B5EF4-FFF2-40B4-BE49-F238E27FC236}">
                <a16:creationId xmlns:a16="http://schemas.microsoft.com/office/drawing/2014/main" id="{A9EA7F9F-D023-762E-7FFE-ECBD727270CD}"/>
              </a:ext>
            </a:extLst>
          </p:cNvPr>
          <p:cNvSpPr>
            <a:spLocks/>
          </p:cNvSpPr>
          <p:nvPr/>
        </p:nvSpPr>
        <p:spPr bwMode="auto">
          <a:xfrm>
            <a:off x="7221538" y="5159375"/>
            <a:ext cx="838200" cy="342900"/>
          </a:xfrm>
          <a:prstGeom prst="borderCallout1">
            <a:avLst>
              <a:gd name="adj1" fmla="val 33333"/>
              <a:gd name="adj2" fmla="val -9093"/>
              <a:gd name="adj3" fmla="val -48148"/>
              <a:gd name="adj4" fmla="val -86176"/>
            </a:avLst>
          </a:prstGeom>
          <a:solidFill>
            <a:srgbClr val="FF66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en-US" altLang="zh-CN" sz="1800"/>
              <a:t>ZBB</a:t>
            </a:r>
          </a:p>
        </p:txBody>
      </p:sp>
      <p:sp>
        <p:nvSpPr>
          <p:cNvPr id="108563" name="AutoShape 19">
            <a:extLst>
              <a:ext uri="{FF2B5EF4-FFF2-40B4-BE49-F238E27FC236}">
                <a16:creationId xmlns:a16="http://schemas.microsoft.com/office/drawing/2014/main" id="{56D2AE59-CD84-8BBB-3C3C-B2DA9731BCFF}"/>
              </a:ext>
            </a:extLst>
          </p:cNvPr>
          <p:cNvSpPr>
            <a:spLocks/>
          </p:cNvSpPr>
          <p:nvPr/>
        </p:nvSpPr>
        <p:spPr bwMode="auto">
          <a:xfrm>
            <a:off x="1201738" y="5311775"/>
            <a:ext cx="990600" cy="342900"/>
          </a:xfrm>
          <a:prstGeom prst="borderCallout1">
            <a:avLst>
              <a:gd name="adj1" fmla="val 33333"/>
              <a:gd name="adj2" fmla="val 107694"/>
              <a:gd name="adj3" fmla="val -67593"/>
              <a:gd name="adj4" fmla="val 191028"/>
            </a:avLst>
          </a:prstGeom>
          <a:solidFill>
            <a:srgbClr val="FF66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en-US" altLang="zh-CN" sz="1800"/>
              <a:t>RTM/W</a:t>
            </a:r>
          </a:p>
        </p:txBody>
      </p:sp>
      <p:sp>
        <p:nvSpPr>
          <p:cNvPr id="108564" name="AutoShape 20">
            <a:extLst>
              <a:ext uri="{FF2B5EF4-FFF2-40B4-BE49-F238E27FC236}">
                <a16:creationId xmlns:a16="http://schemas.microsoft.com/office/drawing/2014/main" id="{0B379FD2-5EFC-A51F-3A83-490D94F6C568}"/>
              </a:ext>
            </a:extLst>
          </p:cNvPr>
          <p:cNvSpPr>
            <a:spLocks/>
          </p:cNvSpPr>
          <p:nvPr/>
        </p:nvSpPr>
        <p:spPr bwMode="auto">
          <a:xfrm>
            <a:off x="2725738" y="6226175"/>
            <a:ext cx="1371600" cy="342900"/>
          </a:xfrm>
          <a:prstGeom prst="borderCallout1">
            <a:avLst>
              <a:gd name="adj1" fmla="val 33333"/>
              <a:gd name="adj2" fmla="val 105556"/>
              <a:gd name="adj3" fmla="val -57407"/>
              <a:gd name="adj4" fmla="val 121875"/>
            </a:avLst>
          </a:prstGeom>
          <a:solidFill>
            <a:srgbClr val="FF66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en-US" altLang="zh-CN" sz="1800"/>
              <a:t>RC1…RCn</a:t>
            </a:r>
          </a:p>
        </p:txBody>
      </p:sp>
      <p:sp>
        <p:nvSpPr>
          <p:cNvPr id="108565" name="AutoShape 21">
            <a:extLst>
              <a:ext uri="{FF2B5EF4-FFF2-40B4-BE49-F238E27FC236}">
                <a16:creationId xmlns:a16="http://schemas.microsoft.com/office/drawing/2014/main" id="{335D0A4B-0CB0-EB45-3A70-EAED3C85701E}"/>
              </a:ext>
            </a:extLst>
          </p:cNvPr>
          <p:cNvSpPr>
            <a:spLocks/>
          </p:cNvSpPr>
          <p:nvPr/>
        </p:nvSpPr>
        <p:spPr bwMode="auto">
          <a:xfrm>
            <a:off x="7221538" y="5692775"/>
            <a:ext cx="1095375" cy="342900"/>
          </a:xfrm>
          <a:prstGeom prst="borderCallout1">
            <a:avLst>
              <a:gd name="adj1" fmla="val 33333"/>
              <a:gd name="adj2" fmla="val -6958"/>
              <a:gd name="adj3" fmla="val -87037"/>
              <a:gd name="adj4" fmla="val -90727"/>
            </a:avLst>
          </a:prstGeom>
          <a:solidFill>
            <a:srgbClr val="FF66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en-US" altLang="zh-CN" sz="1800"/>
              <a:t>Alpha</a:t>
            </a:r>
          </a:p>
        </p:txBody>
      </p:sp>
      <p:sp>
        <p:nvSpPr>
          <p:cNvPr id="108566" name="AutoShape 22">
            <a:extLst>
              <a:ext uri="{FF2B5EF4-FFF2-40B4-BE49-F238E27FC236}">
                <a16:creationId xmlns:a16="http://schemas.microsoft.com/office/drawing/2014/main" id="{50B93F7E-2350-9599-6457-E2DF38F15CE7}"/>
              </a:ext>
            </a:extLst>
          </p:cNvPr>
          <p:cNvSpPr>
            <a:spLocks/>
          </p:cNvSpPr>
          <p:nvPr/>
        </p:nvSpPr>
        <p:spPr bwMode="auto">
          <a:xfrm>
            <a:off x="1201738" y="5768975"/>
            <a:ext cx="1974850" cy="342900"/>
          </a:xfrm>
          <a:prstGeom prst="borderCallout1">
            <a:avLst>
              <a:gd name="adj1" fmla="val 33333"/>
              <a:gd name="adj2" fmla="val 103856"/>
              <a:gd name="adj3" fmla="val -47222"/>
              <a:gd name="adj4" fmla="val 119935"/>
            </a:avLst>
          </a:prstGeom>
          <a:solidFill>
            <a:srgbClr val="FF66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en-US" altLang="zh-CN" sz="1800"/>
              <a:t>Golden Masters</a:t>
            </a:r>
          </a:p>
        </p:txBody>
      </p:sp>
      <p:sp>
        <p:nvSpPr>
          <p:cNvPr id="108567" name="AutoShape 23">
            <a:extLst>
              <a:ext uri="{FF2B5EF4-FFF2-40B4-BE49-F238E27FC236}">
                <a16:creationId xmlns:a16="http://schemas.microsoft.com/office/drawing/2014/main" id="{DCC48AB1-EB30-93B3-3534-8C694CC60A7B}"/>
              </a:ext>
            </a:extLst>
          </p:cNvPr>
          <p:cNvSpPr>
            <a:spLocks/>
          </p:cNvSpPr>
          <p:nvPr/>
        </p:nvSpPr>
        <p:spPr bwMode="auto">
          <a:xfrm>
            <a:off x="5875338" y="6035675"/>
            <a:ext cx="838200" cy="342900"/>
          </a:xfrm>
          <a:prstGeom prst="borderCallout1">
            <a:avLst>
              <a:gd name="adj1" fmla="val 33333"/>
              <a:gd name="adj2" fmla="val -9093"/>
              <a:gd name="adj3" fmla="val -139352"/>
              <a:gd name="adj4" fmla="val -26514"/>
            </a:avLst>
          </a:prstGeom>
          <a:solidFill>
            <a:srgbClr val="FF66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en-US" altLang="zh-CN" sz="1800"/>
              <a:t>Beta</a:t>
            </a:r>
          </a:p>
        </p:txBody>
      </p:sp>
      <p:sp>
        <p:nvSpPr>
          <p:cNvPr id="108568" name="AutoShape 24">
            <a:extLst>
              <a:ext uri="{FF2B5EF4-FFF2-40B4-BE49-F238E27FC236}">
                <a16:creationId xmlns:a16="http://schemas.microsoft.com/office/drawing/2014/main" id="{C955A68B-05E9-F392-D3BF-0C92A07CA08C}"/>
              </a:ext>
            </a:extLst>
          </p:cNvPr>
          <p:cNvSpPr>
            <a:spLocks/>
          </p:cNvSpPr>
          <p:nvPr/>
        </p:nvSpPr>
        <p:spPr bwMode="auto">
          <a:xfrm>
            <a:off x="985838" y="3076575"/>
            <a:ext cx="1979612" cy="342900"/>
          </a:xfrm>
          <a:prstGeom prst="borderCallout1">
            <a:avLst>
              <a:gd name="adj1" fmla="val 33333"/>
              <a:gd name="adj2" fmla="val 103847"/>
              <a:gd name="adj3" fmla="val 56481"/>
              <a:gd name="adj4" fmla="val 111468"/>
            </a:avLst>
          </a:prstGeom>
          <a:solidFill>
            <a:srgbClr val="FF66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en-US" altLang="zh-CN" sz="1800"/>
              <a:t>Product Vision</a:t>
            </a:r>
          </a:p>
        </p:txBody>
      </p:sp>
      <p:sp>
        <p:nvSpPr>
          <p:cNvPr id="108569" name="AutoShape 25">
            <a:extLst>
              <a:ext uri="{FF2B5EF4-FFF2-40B4-BE49-F238E27FC236}">
                <a16:creationId xmlns:a16="http://schemas.microsoft.com/office/drawing/2014/main" id="{40D380EA-80DC-9704-8811-906D8EE07EDE}"/>
              </a:ext>
            </a:extLst>
          </p:cNvPr>
          <p:cNvSpPr>
            <a:spLocks/>
          </p:cNvSpPr>
          <p:nvPr/>
        </p:nvSpPr>
        <p:spPr bwMode="auto">
          <a:xfrm>
            <a:off x="985838" y="2425700"/>
            <a:ext cx="1828800" cy="342900"/>
          </a:xfrm>
          <a:prstGeom prst="borderCallout1">
            <a:avLst>
              <a:gd name="adj1" fmla="val 33333"/>
              <a:gd name="adj2" fmla="val 104167"/>
              <a:gd name="adj3" fmla="val 171759"/>
              <a:gd name="adj4" fmla="val 151389"/>
            </a:avLst>
          </a:prstGeom>
          <a:solidFill>
            <a:srgbClr val="FF66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en-US" altLang="zh-CN" sz="1800"/>
              <a:t>Function Spec</a:t>
            </a:r>
          </a:p>
        </p:txBody>
      </p:sp>
      <p:sp>
        <p:nvSpPr>
          <p:cNvPr id="108570" name="AutoShape 26">
            <a:extLst>
              <a:ext uri="{FF2B5EF4-FFF2-40B4-BE49-F238E27FC236}">
                <a16:creationId xmlns:a16="http://schemas.microsoft.com/office/drawing/2014/main" id="{F76D685A-29D7-0CD0-2422-6FEDA2881C70}"/>
              </a:ext>
            </a:extLst>
          </p:cNvPr>
          <p:cNvSpPr>
            <a:spLocks/>
          </p:cNvSpPr>
          <p:nvPr/>
        </p:nvSpPr>
        <p:spPr bwMode="auto">
          <a:xfrm>
            <a:off x="1201738" y="4854575"/>
            <a:ext cx="990600" cy="342900"/>
          </a:xfrm>
          <a:prstGeom prst="borderCallout1">
            <a:avLst>
              <a:gd name="adj1" fmla="val 33333"/>
              <a:gd name="adj2" fmla="val 107694"/>
              <a:gd name="adj3" fmla="val -38889"/>
              <a:gd name="adj4" fmla="val 177403"/>
            </a:avLst>
          </a:prstGeom>
          <a:solidFill>
            <a:srgbClr val="FF66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0" lang="en-US" altLang="zh-CN" sz="1800"/>
              <a:t>QFEs</a:t>
            </a:r>
          </a:p>
        </p:txBody>
      </p:sp>
      <p:grpSp>
        <p:nvGrpSpPr>
          <p:cNvPr id="56341" name="Group 27">
            <a:extLst>
              <a:ext uri="{FF2B5EF4-FFF2-40B4-BE49-F238E27FC236}">
                <a16:creationId xmlns:a16="http://schemas.microsoft.com/office/drawing/2014/main" id="{CC133531-8D89-23E9-7D09-6D01E0A94080}"/>
              </a:ext>
            </a:extLst>
          </p:cNvPr>
          <p:cNvGrpSpPr>
            <a:grpSpLocks/>
          </p:cNvGrpSpPr>
          <p:nvPr/>
        </p:nvGrpSpPr>
        <p:grpSpPr bwMode="auto">
          <a:xfrm>
            <a:off x="973138" y="1622425"/>
            <a:ext cx="7391400" cy="5334000"/>
            <a:chOff x="0" y="0"/>
            <a:chExt cx="5716" cy="4400"/>
          </a:xfrm>
        </p:grpSpPr>
        <p:sp>
          <p:nvSpPr>
            <p:cNvPr id="56346" name="WordArt 28">
              <a:extLst>
                <a:ext uri="{FF2B5EF4-FFF2-40B4-BE49-F238E27FC236}">
                  <a16:creationId xmlns:a16="http://schemas.microsoft.com/office/drawing/2014/main" id="{BAFF5450-3F3A-3DF2-AC45-86A6E4770D28}"/>
                </a:ext>
              </a:extLst>
            </p:cNvPr>
            <p:cNvSpPr>
              <a:spLocks noChangeArrowheads="1" noChangeShapeType="1" noTextEdit="1"/>
            </p:cNvSpPr>
            <p:nvPr/>
          </p:nvSpPr>
          <p:spPr bwMode="auto">
            <a:xfrm>
              <a:off x="0" y="3832"/>
              <a:ext cx="2400" cy="536"/>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3600" kern="10">
                  <a:solidFill>
                    <a:schemeClr val="bg1">
                      <a:alpha val="50195"/>
                    </a:schemeClr>
                  </a:solidFill>
                  <a:latin typeface="Arial Narrow" panose="020B0606020202030204" pitchFamily="34" charset="0"/>
                </a:rPr>
                <a:t>RTM/W</a:t>
              </a:r>
              <a:endParaRPr lang="zh-CN" altLang="en-US" sz="3600" kern="10">
                <a:solidFill>
                  <a:schemeClr val="bg1">
                    <a:alpha val="50195"/>
                  </a:schemeClr>
                </a:solidFill>
                <a:latin typeface="Arial Narrow" panose="020B0606020202030204" pitchFamily="34" charset="0"/>
              </a:endParaRPr>
            </a:p>
          </p:txBody>
        </p:sp>
        <p:sp>
          <p:nvSpPr>
            <p:cNvPr id="56347" name="WordArt 29">
              <a:extLst>
                <a:ext uri="{FF2B5EF4-FFF2-40B4-BE49-F238E27FC236}">
                  <a16:creationId xmlns:a16="http://schemas.microsoft.com/office/drawing/2014/main" id="{1C3D58C3-3CDE-B3B5-30C7-3936DED98FEB}"/>
                </a:ext>
              </a:extLst>
            </p:cNvPr>
            <p:cNvSpPr>
              <a:spLocks noChangeArrowheads="1" noChangeShapeType="1" noTextEdit="1"/>
            </p:cNvSpPr>
            <p:nvPr/>
          </p:nvSpPr>
          <p:spPr bwMode="auto">
            <a:xfrm>
              <a:off x="2888" y="3784"/>
              <a:ext cx="904" cy="616"/>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3600" kern="10">
                  <a:solidFill>
                    <a:schemeClr val="bg1">
                      <a:alpha val="50195"/>
                    </a:schemeClr>
                  </a:solidFill>
                  <a:latin typeface="Arial Narrow" panose="020B0606020202030204" pitchFamily="34" charset="0"/>
                </a:rPr>
                <a:t>QA</a:t>
              </a:r>
              <a:endParaRPr lang="zh-CN" altLang="en-US" sz="3600" kern="10">
                <a:solidFill>
                  <a:schemeClr val="bg1">
                    <a:alpha val="50195"/>
                  </a:schemeClr>
                </a:solidFill>
                <a:latin typeface="Arial Narrow" panose="020B0606020202030204" pitchFamily="34" charset="0"/>
              </a:endParaRPr>
            </a:p>
          </p:txBody>
        </p:sp>
        <p:grpSp>
          <p:nvGrpSpPr>
            <p:cNvPr id="56348" name="Group 30">
              <a:extLst>
                <a:ext uri="{FF2B5EF4-FFF2-40B4-BE49-F238E27FC236}">
                  <a16:creationId xmlns:a16="http://schemas.microsoft.com/office/drawing/2014/main" id="{41C853F7-6F3E-7A69-8DFA-29878707AAED}"/>
                </a:ext>
              </a:extLst>
            </p:cNvPr>
            <p:cNvGrpSpPr>
              <a:grpSpLocks/>
            </p:cNvGrpSpPr>
            <p:nvPr/>
          </p:nvGrpSpPr>
          <p:grpSpPr bwMode="auto">
            <a:xfrm>
              <a:off x="4732" y="1628"/>
              <a:ext cx="984" cy="576"/>
              <a:chOff x="4712" y="1584"/>
              <a:chExt cx="984" cy="576"/>
            </a:xfrm>
          </p:grpSpPr>
          <p:sp>
            <p:nvSpPr>
              <p:cNvPr id="56353" name="WordArt 31">
                <a:extLst>
                  <a:ext uri="{FF2B5EF4-FFF2-40B4-BE49-F238E27FC236}">
                    <a16:creationId xmlns:a16="http://schemas.microsoft.com/office/drawing/2014/main" id="{684FBB06-57BA-06F8-D322-03927B046AB3}"/>
                  </a:ext>
                </a:extLst>
              </p:cNvPr>
              <p:cNvSpPr>
                <a:spLocks noChangeArrowheads="1" noChangeShapeType="1" noTextEdit="1"/>
              </p:cNvSpPr>
              <p:nvPr/>
            </p:nvSpPr>
            <p:spPr bwMode="auto">
              <a:xfrm>
                <a:off x="4712" y="1584"/>
                <a:ext cx="520" cy="576"/>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3600" kern="10">
                    <a:solidFill>
                      <a:schemeClr val="bg1">
                        <a:alpha val="50195"/>
                      </a:schemeClr>
                    </a:solidFill>
                    <a:latin typeface="Arial Narrow" panose="020B0606020202030204" pitchFamily="34" charset="0"/>
                  </a:rPr>
                  <a:t>M</a:t>
                </a:r>
                <a:endParaRPr lang="zh-CN" altLang="en-US" sz="3600" kern="10">
                  <a:solidFill>
                    <a:schemeClr val="bg1">
                      <a:alpha val="50195"/>
                    </a:schemeClr>
                  </a:solidFill>
                  <a:latin typeface="Arial Narrow" panose="020B0606020202030204" pitchFamily="34" charset="0"/>
                </a:endParaRPr>
              </a:p>
            </p:txBody>
          </p:sp>
          <p:sp>
            <p:nvSpPr>
              <p:cNvPr id="56354" name="WordArt 32">
                <a:extLst>
                  <a:ext uri="{FF2B5EF4-FFF2-40B4-BE49-F238E27FC236}">
                    <a16:creationId xmlns:a16="http://schemas.microsoft.com/office/drawing/2014/main" id="{D1035E07-99AD-415A-EEBD-3B1070968275}"/>
                  </a:ext>
                </a:extLst>
              </p:cNvPr>
              <p:cNvSpPr>
                <a:spLocks noChangeArrowheads="1" noChangeShapeType="1" noTextEdit="1"/>
              </p:cNvSpPr>
              <p:nvPr/>
            </p:nvSpPr>
            <p:spPr bwMode="auto">
              <a:xfrm>
                <a:off x="5264" y="1776"/>
                <a:ext cx="432" cy="384"/>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3600" i="1" kern="10">
                    <a:solidFill>
                      <a:schemeClr val="bg1">
                        <a:alpha val="50195"/>
                      </a:schemeClr>
                    </a:solidFill>
                    <a:latin typeface="Arial Black" panose="020B0A04020102020204" pitchFamily="34" charset="0"/>
                  </a:rPr>
                  <a:t>n</a:t>
                </a:r>
                <a:endParaRPr lang="zh-CN" altLang="en-US" sz="3600" i="1" kern="10">
                  <a:solidFill>
                    <a:schemeClr val="bg1">
                      <a:alpha val="50195"/>
                    </a:schemeClr>
                  </a:solidFill>
                  <a:latin typeface="Arial Black" panose="020B0A04020102020204" pitchFamily="34" charset="0"/>
                </a:endParaRPr>
              </a:p>
            </p:txBody>
          </p:sp>
        </p:grpSp>
        <p:grpSp>
          <p:nvGrpSpPr>
            <p:cNvPr id="56349" name="Group 33">
              <a:extLst>
                <a:ext uri="{FF2B5EF4-FFF2-40B4-BE49-F238E27FC236}">
                  <a16:creationId xmlns:a16="http://schemas.microsoft.com/office/drawing/2014/main" id="{A6F7C20B-74A8-E24A-98B6-63D4F80F50C4}"/>
                </a:ext>
              </a:extLst>
            </p:cNvPr>
            <p:cNvGrpSpPr>
              <a:grpSpLocks/>
            </p:cNvGrpSpPr>
            <p:nvPr/>
          </p:nvGrpSpPr>
          <p:grpSpPr bwMode="auto">
            <a:xfrm>
              <a:off x="1880" y="0"/>
              <a:ext cx="984" cy="651"/>
              <a:chOff x="1880" y="-40"/>
              <a:chExt cx="984" cy="651"/>
            </a:xfrm>
          </p:grpSpPr>
          <p:sp>
            <p:nvSpPr>
              <p:cNvPr id="56350" name="WordArt 34">
                <a:extLst>
                  <a:ext uri="{FF2B5EF4-FFF2-40B4-BE49-F238E27FC236}">
                    <a16:creationId xmlns:a16="http://schemas.microsoft.com/office/drawing/2014/main" id="{131A6ECD-DA5F-4815-61D8-D15D91682C96}"/>
                  </a:ext>
                </a:extLst>
              </p:cNvPr>
              <p:cNvSpPr>
                <a:spLocks noChangeArrowheads="1" noChangeShapeType="1" noTextEdit="1"/>
              </p:cNvSpPr>
              <p:nvPr/>
            </p:nvSpPr>
            <p:spPr bwMode="auto">
              <a:xfrm>
                <a:off x="1880" y="8"/>
                <a:ext cx="520" cy="576"/>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3600" kern="10">
                    <a:solidFill>
                      <a:schemeClr val="bg1">
                        <a:alpha val="50195"/>
                      </a:schemeClr>
                    </a:solidFill>
                    <a:latin typeface="Arial Narrow" panose="020B0606020202030204" pitchFamily="34" charset="0"/>
                  </a:rPr>
                  <a:t>M</a:t>
                </a:r>
                <a:endParaRPr lang="zh-CN" altLang="en-US" sz="3600" kern="10">
                  <a:solidFill>
                    <a:schemeClr val="bg1">
                      <a:alpha val="50195"/>
                    </a:schemeClr>
                  </a:solidFill>
                  <a:latin typeface="Arial Narrow" panose="020B0606020202030204" pitchFamily="34" charset="0"/>
                </a:endParaRPr>
              </a:p>
            </p:txBody>
          </p:sp>
          <p:sp>
            <p:nvSpPr>
              <p:cNvPr id="56351" name="WordArt 35">
                <a:extLst>
                  <a:ext uri="{FF2B5EF4-FFF2-40B4-BE49-F238E27FC236}">
                    <a16:creationId xmlns:a16="http://schemas.microsoft.com/office/drawing/2014/main" id="{0465F323-8517-366D-E0B0-AF70FE494C0B}"/>
                  </a:ext>
                </a:extLst>
              </p:cNvPr>
              <p:cNvSpPr>
                <a:spLocks noChangeArrowheads="1" noChangeShapeType="1" noTextEdit="1"/>
              </p:cNvSpPr>
              <p:nvPr/>
            </p:nvSpPr>
            <p:spPr bwMode="auto">
              <a:xfrm>
                <a:off x="2432" y="0"/>
                <a:ext cx="432" cy="584"/>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altLang="zh-CN" sz="3600" kern="10">
                    <a:solidFill>
                      <a:schemeClr val="bg1">
                        <a:alpha val="50195"/>
                      </a:schemeClr>
                    </a:solidFill>
                    <a:latin typeface="Arial Black" panose="020B0A04020102020204" pitchFamily="34" charset="0"/>
                  </a:rPr>
                  <a:t>0</a:t>
                </a:r>
                <a:endParaRPr lang="zh-CN" altLang="en-US" sz="3600" kern="10">
                  <a:solidFill>
                    <a:schemeClr val="bg1">
                      <a:alpha val="50195"/>
                    </a:schemeClr>
                  </a:solidFill>
                  <a:latin typeface="Arial Black" panose="020B0A04020102020204" pitchFamily="34" charset="0"/>
                </a:endParaRPr>
              </a:p>
            </p:txBody>
          </p:sp>
          <p:sp>
            <p:nvSpPr>
              <p:cNvPr id="56352" name="Rectangle 36">
                <a:extLst>
                  <a:ext uri="{FF2B5EF4-FFF2-40B4-BE49-F238E27FC236}">
                    <a16:creationId xmlns:a16="http://schemas.microsoft.com/office/drawing/2014/main" id="{10A8B379-B873-D331-E271-9E0C5DFA9CCF}"/>
                  </a:ext>
                </a:extLst>
              </p:cNvPr>
              <p:cNvSpPr>
                <a:spLocks noChangeArrowheads="1"/>
              </p:cNvSpPr>
              <p:nvPr/>
            </p:nvSpPr>
            <p:spPr bwMode="auto">
              <a:xfrm rot="1856828">
                <a:off x="2611" y="-40"/>
                <a:ext cx="69" cy="651"/>
              </a:xfrm>
              <a:prstGeom prst="rect">
                <a:avLst/>
              </a:prstGeom>
              <a:solidFill>
                <a:schemeClr val="bg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grpSp>
      </p:grpSp>
      <p:sp>
        <p:nvSpPr>
          <p:cNvPr id="56342" name="AutoShape 37">
            <a:extLst>
              <a:ext uri="{FF2B5EF4-FFF2-40B4-BE49-F238E27FC236}">
                <a16:creationId xmlns:a16="http://schemas.microsoft.com/office/drawing/2014/main" id="{2D7E3667-ACB0-602A-D648-220FE4623BB6}"/>
              </a:ext>
            </a:extLst>
          </p:cNvPr>
          <p:cNvSpPr>
            <a:spLocks noChangeArrowheads="1"/>
          </p:cNvSpPr>
          <p:nvPr/>
        </p:nvSpPr>
        <p:spPr bwMode="auto">
          <a:xfrm rot="2728639">
            <a:off x="3004344" y="2477294"/>
            <a:ext cx="3508375" cy="3684587"/>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16602 h 21600"/>
            </a:gdLst>
            <a:ahLst/>
            <a:cxnLst>
              <a:cxn ang="T8">
                <a:pos x="T0" y="T1"/>
              </a:cxn>
              <a:cxn ang="T9">
                <a:pos x="T2" y="T3"/>
              </a:cxn>
              <a:cxn ang="T10">
                <a:pos x="T4" y="T5"/>
              </a:cxn>
              <a:cxn ang="T11">
                <a:pos x="T6" y="T7"/>
              </a:cxn>
            </a:cxnLst>
            <a:rect l="T12" t="T13" r="T14" b="T15"/>
            <a:pathLst>
              <a:path w="21600" h="21600">
                <a:moveTo>
                  <a:pt x="4750" y="16840"/>
                </a:moveTo>
                <a:cubicBezTo>
                  <a:pt x="3149" y="15237"/>
                  <a:pt x="2251" y="13065"/>
                  <a:pt x="2251" y="10800"/>
                </a:cubicBezTo>
                <a:cubicBezTo>
                  <a:pt x="2251" y="6078"/>
                  <a:pt x="6078" y="2251"/>
                  <a:pt x="10800" y="2251"/>
                </a:cubicBezTo>
                <a:cubicBezTo>
                  <a:pt x="15521" y="2251"/>
                  <a:pt x="19349" y="6078"/>
                  <a:pt x="19349" y="10800"/>
                </a:cubicBezTo>
                <a:cubicBezTo>
                  <a:pt x="19349" y="13065"/>
                  <a:pt x="18450" y="15237"/>
                  <a:pt x="16849" y="16840"/>
                </a:cubicBezTo>
                <a:lnTo>
                  <a:pt x="18442" y="18431"/>
                </a:lnTo>
                <a:cubicBezTo>
                  <a:pt x="20464" y="16406"/>
                  <a:pt x="21600" y="13661"/>
                  <a:pt x="21600" y="10800"/>
                </a:cubicBezTo>
                <a:cubicBezTo>
                  <a:pt x="21600" y="4835"/>
                  <a:pt x="16764" y="0"/>
                  <a:pt x="10800" y="0"/>
                </a:cubicBezTo>
                <a:cubicBezTo>
                  <a:pt x="4835" y="0"/>
                  <a:pt x="0" y="4835"/>
                  <a:pt x="0" y="10800"/>
                </a:cubicBezTo>
                <a:cubicBezTo>
                  <a:pt x="-1" y="13661"/>
                  <a:pt x="1135" y="16406"/>
                  <a:pt x="3157" y="18431"/>
                </a:cubicBezTo>
                <a:lnTo>
                  <a:pt x="4750" y="16840"/>
                </a:lnTo>
                <a:close/>
              </a:path>
            </a:pathLst>
          </a:custGeom>
          <a:solidFill>
            <a:schemeClr val="bg1"/>
          </a:solidFill>
          <a:ln>
            <a:noFill/>
          </a:ln>
          <a:effectLst/>
          <a:extLst>
            <a:ext uri="{91240B29-F687-4F45-9708-019B960494DF}">
              <a14:hiddenLine xmlns:a14="http://schemas.microsoft.com/office/drawing/2010/main" w="9525">
                <a:solidFill>
                  <a:srgbClr val="61598B"/>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6343" name="Group 38">
            <a:extLst>
              <a:ext uri="{FF2B5EF4-FFF2-40B4-BE49-F238E27FC236}">
                <a16:creationId xmlns:a16="http://schemas.microsoft.com/office/drawing/2014/main" id="{4A981BD1-BD75-D4E6-ECA1-03C2FC87F0AF}"/>
              </a:ext>
            </a:extLst>
          </p:cNvPr>
          <p:cNvGrpSpPr>
            <a:grpSpLocks/>
          </p:cNvGrpSpPr>
          <p:nvPr/>
        </p:nvGrpSpPr>
        <p:grpSpPr bwMode="auto">
          <a:xfrm>
            <a:off x="2771775" y="2590800"/>
            <a:ext cx="3783013" cy="3481388"/>
            <a:chOff x="1613" y="972"/>
            <a:chExt cx="2474" cy="2400"/>
          </a:xfrm>
        </p:grpSpPr>
        <p:sp>
          <p:nvSpPr>
            <p:cNvPr id="56344" name="AutoShape 39">
              <a:extLst>
                <a:ext uri="{FF2B5EF4-FFF2-40B4-BE49-F238E27FC236}">
                  <a16:creationId xmlns:a16="http://schemas.microsoft.com/office/drawing/2014/main" id="{6756FECD-E581-B7F3-585F-0377E2B3F2D0}"/>
                </a:ext>
              </a:extLst>
            </p:cNvPr>
            <p:cNvSpPr>
              <a:spLocks noChangeArrowheads="1"/>
            </p:cNvSpPr>
            <p:nvPr/>
          </p:nvSpPr>
          <p:spPr bwMode="auto">
            <a:xfrm rot="-8589419">
              <a:off x="1687" y="972"/>
              <a:ext cx="2400" cy="240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700 w 21600"/>
                <a:gd name="T13" fmla="*/ 0 h 21600"/>
                <a:gd name="T14" fmla="*/ 18900 w 21600"/>
                <a:gd name="T15" fmla="*/ 5130 h 21600"/>
              </a:gdLst>
              <a:ahLst/>
              <a:cxnLst>
                <a:cxn ang="T8">
                  <a:pos x="T0" y="T1"/>
                </a:cxn>
                <a:cxn ang="T9">
                  <a:pos x="T2" y="T3"/>
                </a:cxn>
                <a:cxn ang="T10">
                  <a:pos x="T4" y="T5"/>
                </a:cxn>
                <a:cxn ang="T11">
                  <a:pos x="T6" y="T7"/>
                </a:cxn>
              </a:cxnLst>
              <a:rect l="T12" t="T13" r="T14" b="T15"/>
              <a:pathLst>
                <a:path w="21600" h="21600">
                  <a:moveTo>
                    <a:pt x="5660" y="3942"/>
                  </a:moveTo>
                  <a:cubicBezTo>
                    <a:pt x="7143" y="2830"/>
                    <a:pt x="8946" y="2229"/>
                    <a:pt x="10800" y="2230"/>
                  </a:cubicBezTo>
                  <a:cubicBezTo>
                    <a:pt x="12653" y="2230"/>
                    <a:pt x="14456" y="2830"/>
                    <a:pt x="15939" y="3942"/>
                  </a:cubicBezTo>
                  <a:lnTo>
                    <a:pt x="17277" y="2157"/>
                  </a:lnTo>
                  <a:cubicBezTo>
                    <a:pt x="15408" y="757"/>
                    <a:pt x="13135" y="-1"/>
                    <a:pt x="10799" y="0"/>
                  </a:cubicBezTo>
                  <a:cubicBezTo>
                    <a:pt x="8464" y="0"/>
                    <a:pt x="6191" y="757"/>
                    <a:pt x="4322" y="2157"/>
                  </a:cubicBezTo>
                  <a:lnTo>
                    <a:pt x="5660" y="3942"/>
                  </a:lnTo>
                  <a:close/>
                </a:path>
              </a:pathLst>
            </a:cu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45" name="AutoShape 40">
              <a:extLst>
                <a:ext uri="{FF2B5EF4-FFF2-40B4-BE49-F238E27FC236}">
                  <a16:creationId xmlns:a16="http://schemas.microsoft.com/office/drawing/2014/main" id="{972B1E2B-3CFA-0589-7CEB-33583D3F08CB}"/>
                </a:ext>
              </a:extLst>
            </p:cNvPr>
            <p:cNvSpPr>
              <a:spLocks noChangeArrowheads="1"/>
            </p:cNvSpPr>
            <p:nvPr/>
          </p:nvSpPr>
          <p:spPr bwMode="auto">
            <a:xfrm rot="-608181">
              <a:off x="1613" y="2147"/>
              <a:ext cx="486" cy="432"/>
            </a:xfrm>
            <a:prstGeom prst="triangle">
              <a:avLst>
                <a:gd name="adj" fmla="val 47611"/>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endParaRPr kumimoji="0" lang="zh-CN" altLang="zh-CN" sz="2400" b="0">
                <a:solidFill>
                  <a:schemeClr val="bg1"/>
                </a:solidFill>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8556"/>
                                        </p:tgtEl>
                                        <p:attrNameLst>
                                          <p:attrName>style.visibility</p:attrName>
                                        </p:attrNameLst>
                                      </p:cBhvr>
                                      <p:to>
                                        <p:strVal val="visible"/>
                                      </p:to>
                                    </p:set>
                                    <p:anim calcmode="lin" valueType="num">
                                      <p:cBhvr additive="base">
                                        <p:cTn id="7" dur="500" fill="hold"/>
                                        <p:tgtEl>
                                          <p:spTgt spid="108556"/>
                                        </p:tgtEl>
                                        <p:attrNameLst>
                                          <p:attrName>ppt_x</p:attrName>
                                        </p:attrNameLst>
                                      </p:cBhvr>
                                      <p:tavLst>
                                        <p:tav tm="0">
                                          <p:val>
                                            <p:strVal val="#ppt_x"/>
                                          </p:val>
                                        </p:tav>
                                        <p:tav tm="100000">
                                          <p:val>
                                            <p:strVal val="#ppt_x"/>
                                          </p:val>
                                        </p:tav>
                                      </p:tavLst>
                                    </p:anim>
                                    <p:anim calcmode="lin" valueType="num">
                                      <p:cBhvr additive="base">
                                        <p:cTn id="8" dur="500" fill="hold"/>
                                        <p:tgtEl>
                                          <p:spTgt spid="10855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8558"/>
                                        </p:tgtEl>
                                        <p:attrNameLst>
                                          <p:attrName>style.visibility</p:attrName>
                                        </p:attrNameLst>
                                      </p:cBhvr>
                                      <p:to>
                                        <p:strVal val="visible"/>
                                      </p:to>
                                    </p:set>
                                    <p:anim calcmode="lin" valueType="num">
                                      <p:cBhvr additive="base">
                                        <p:cTn id="13" dur="500" fill="hold"/>
                                        <p:tgtEl>
                                          <p:spTgt spid="108558"/>
                                        </p:tgtEl>
                                        <p:attrNameLst>
                                          <p:attrName>ppt_x</p:attrName>
                                        </p:attrNameLst>
                                      </p:cBhvr>
                                      <p:tavLst>
                                        <p:tav tm="0">
                                          <p:val>
                                            <p:strVal val="#ppt_x"/>
                                          </p:val>
                                        </p:tav>
                                        <p:tav tm="100000">
                                          <p:val>
                                            <p:strVal val="#ppt_x"/>
                                          </p:val>
                                        </p:tav>
                                      </p:tavLst>
                                    </p:anim>
                                    <p:anim calcmode="lin" valueType="num">
                                      <p:cBhvr additive="base">
                                        <p:cTn id="14" dur="500" fill="hold"/>
                                        <p:tgtEl>
                                          <p:spTgt spid="10855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8557"/>
                                        </p:tgtEl>
                                        <p:attrNameLst>
                                          <p:attrName>style.visibility</p:attrName>
                                        </p:attrNameLst>
                                      </p:cBhvr>
                                      <p:to>
                                        <p:strVal val="visible"/>
                                      </p:to>
                                    </p:set>
                                    <p:anim calcmode="lin" valueType="num">
                                      <p:cBhvr additive="base">
                                        <p:cTn id="19" dur="500" fill="hold"/>
                                        <p:tgtEl>
                                          <p:spTgt spid="108557"/>
                                        </p:tgtEl>
                                        <p:attrNameLst>
                                          <p:attrName>ppt_x</p:attrName>
                                        </p:attrNameLst>
                                      </p:cBhvr>
                                      <p:tavLst>
                                        <p:tav tm="0">
                                          <p:val>
                                            <p:strVal val="#ppt_x"/>
                                          </p:val>
                                        </p:tav>
                                        <p:tav tm="100000">
                                          <p:val>
                                            <p:strVal val="#ppt_x"/>
                                          </p:val>
                                        </p:tav>
                                      </p:tavLst>
                                    </p:anim>
                                    <p:anim calcmode="lin" valueType="num">
                                      <p:cBhvr additive="base">
                                        <p:cTn id="20" dur="500" fill="hold"/>
                                        <p:tgtEl>
                                          <p:spTgt spid="10855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8559"/>
                                        </p:tgtEl>
                                        <p:attrNameLst>
                                          <p:attrName>style.visibility</p:attrName>
                                        </p:attrNameLst>
                                      </p:cBhvr>
                                      <p:to>
                                        <p:strVal val="visible"/>
                                      </p:to>
                                    </p:set>
                                    <p:anim calcmode="lin" valueType="num">
                                      <p:cBhvr additive="base">
                                        <p:cTn id="25" dur="500" fill="hold"/>
                                        <p:tgtEl>
                                          <p:spTgt spid="108559"/>
                                        </p:tgtEl>
                                        <p:attrNameLst>
                                          <p:attrName>ppt_x</p:attrName>
                                        </p:attrNameLst>
                                      </p:cBhvr>
                                      <p:tavLst>
                                        <p:tav tm="0">
                                          <p:val>
                                            <p:strVal val="#ppt_x"/>
                                          </p:val>
                                        </p:tav>
                                        <p:tav tm="100000">
                                          <p:val>
                                            <p:strVal val="#ppt_x"/>
                                          </p:val>
                                        </p:tav>
                                      </p:tavLst>
                                    </p:anim>
                                    <p:anim calcmode="lin" valueType="num">
                                      <p:cBhvr additive="base">
                                        <p:cTn id="26" dur="500" fill="hold"/>
                                        <p:tgtEl>
                                          <p:spTgt spid="108559"/>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108568"/>
                                        </p:tgtEl>
                                        <p:attrNameLst>
                                          <p:attrName>style.visibility</p:attrName>
                                        </p:attrNameLst>
                                      </p:cBhvr>
                                      <p:to>
                                        <p:strVal val="visible"/>
                                      </p:to>
                                    </p:set>
                                    <p:animEffect transition="in" filter="checkerboard(across)">
                                      <p:cBhvr>
                                        <p:cTn id="31" dur="500"/>
                                        <p:tgtEl>
                                          <p:spTgt spid="10856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108569"/>
                                        </p:tgtEl>
                                        <p:attrNameLst>
                                          <p:attrName>style.visibility</p:attrName>
                                        </p:attrNameLst>
                                      </p:cBhvr>
                                      <p:to>
                                        <p:strVal val="visible"/>
                                      </p:to>
                                    </p:set>
                                    <p:animEffect transition="in" filter="checkerboard(across)">
                                      <p:cBhvr>
                                        <p:cTn id="36" dur="500"/>
                                        <p:tgtEl>
                                          <p:spTgt spid="10856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 presetClass="entr" presetSubtype="10" fill="hold" grpId="0" nodeType="clickEffect">
                                  <p:stCondLst>
                                    <p:cond delay="0"/>
                                  </p:stCondLst>
                                  <p:childTnLst>
                                    <p:set>
                                      <p:cBhvr>
                                        <p:cTn id="40" dur="1" fill="hold">
                                          <p:stCondLst>
                                            <p:cond delay="0"/>
                                          </p:stCondLst>
                                        </p:cTn>
                                        <p:tgtEl>
                                          <p:spTgt spid="108560"/>
                                        </p:tgtEl>
                                        <p:attrNameLst>
                                          <p:attrName>style.visibility</p:attrName>
                                        </p:attrNameLst>
                                      </p:cBhvr>
                                      <p:to>
                                        <p:strVal val="visible"/>
                                      </p:to>
                                    </p:set>
                                    <p:animEffect transition="in" filter="checkerboard(across)">
                                      <p:cBhvr>
                                        <p:cTn id="41" dur="500"/>
                                        <p:tgtEl>
                                          <p:spTgt spid="10856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5" presetClass="entr" presetSubtype="10" fill="hold" grpId="0" nodeType="clickEffect">
                                  <p:stCondLst>
                                    <p:cond delay="0"/>
                                  </p:stCondLst>
                                  <p:childTnLst>
                                    <p:set>
                                      <p:cBhvr>
                                        <p:cTn id="45" dur="1" fill="hold">
                                          <p:stCondLst>
                                            <p:cond delay="0"/>
                                          </p:stCondLst>
                                        </p:cTn>
                                        <p:tgtEl>
                                          <p:spTgt spid="108561"/>
                                        </p:tgtEl>
                                        <p:attrNameLst>
                                          <p:attrName>style.visibility</p:attrName>
                                        </p:attrNameLst>
                                      </p:cBhvr>
                                      <p:to>
                                        <p:strVal val="visible"/>
                                      </p:to>
                                    </p:set>
                                    <p:animEffect transition="in" filter="checkerboard(across)">
                                      <p:cBhvr>
                                        <p:cTn id="46" dur="500"/>
                                        <p:tgtEl>
                                          <p:spTgt spid="10856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5" presetClass="entr" presetSubtype="10" fill="hold" grpId="0" nodeType="clickEffect">
                                  <p:stCondLst>
                                    <p:cond delay="0"/>
                                  </p:stCondLst>
                                  <p:childTnLst>
                                    <p:set>
                                      <p:cBhvr>
                                        <p:cTn id="50" dur="1" fill="hold">
                                          <p:stCondLst>
                                            <p:cond delay="0"/>
                                          </p:stCondLst>
                                        </p:cTn>
                                        <p:tgtEl>
                                          <p:spTgt spid="108562"/>
                                        </p:tgtEl>
                                        <p:attrNameLst>
                                          <p:attrName>style.visibility</p:attrName>
                                        </p:attrNameLst>
                                      </p:cBhvr>
                                      <p:to>
                                        <p:strVal val="visible"/>
                                      </p:to>
                                    </p:set>
                                    <p:animEffect transition="in" filter="checkerboard(across)">
                                      <p:cBhvr>
                                        <p:cTn id="51" dur="500"/>
                                        <p:tgtEl>
                                          <p:spTgt spid="10856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 presetClass="entr" presetSubtype="10" fill="hold" grpId="0" nodeType="clickEffect">
                                  <p:stCondLst>
                                    <p:cond delay="0"/>
                                  </p:stCondLst>
                                  <p:childTnLst>
                                    <p:set>
                                      <p:cBhvr>
                                        <p:cTn id="55" dur="1" fill="hold">
                                          <p:stCondLst>
                                            <p:cond delay="0"/>
                                          </p:stCondLst>
                                        </p:cTn>
                                        <p:tgtEl>
                                          <p:spTgt spid="108565"/>
                                        </p:tgtEl>
                                        <p:attrNameLst>
                                          <p:attrName>style.visibility</p:attrName>
                                        </p:attrNameLst>
                                      </p:cBhvr>
                                      <p:to>
                                        <p:strVal val="visible"/>
                                      </p:to>
                                    </p:set>
                                    <p:animEffect transition="in" filter="checkerboard(across)">
                                      <p:cBhvr>
                                        <p:cTn id="56" dur="500"/>
                                        <p:tgtEl>
                                          <p:spTgt spid="10856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5" presetClass="entr" presetSubtype="10" fill="hold" grpId="0" nodeType="clickEffect">
                                  <p:stCondLst>
                                    <p:cond delay="0"/>
                                  </p:stCondLst>
                                  <p:childTnLst>
                                    <p:set>
                                      <p:cBhvr>
                                        <p:cTn id="60" dur="1" fill="hold">
                                          <p:stCondLst>
                                            <p:cond delay="0"/>
                                          </p:stCondLst>
                                        </p:cTn>
                                        <p:tgtEl>
                                          <p:spTgt spid="108567"/>
                                        </p:tgtEl>
                                        <p:attrNameLst>
                                          <p:attrName>style.visibility</p:attrName>
                                        </p:attrNameLst>
                                      </p:cBhvr>
                                      <p:to>
                                        <p:strVal val="visible"/>
                                      </p:to>
                                    </p:set>
                                    <p:animEffect transition="in" filter="checkerboard(across)">
                                      <p:cBhvr>
                                        <p:cTn id="61" dur="500"/>
                                        <p:tgtEl>
                                          <p:spTgt spid="108567"/>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5" presetClass="entr" presetSubtype="10" fill="hold" grpId="0" nodeType="clickEffect">
                                  <p:stCondLst>
                                    <p:cond delay="0"/>
                                  </p:stCondLst>
                                  <p:childTnLst>
                                    <p:set>
                                      <p:cBhvr>
                                        <p:cTn id="65" dur="1" fill="hold">
                                          <p:stCondLst>
                                            <p:cond delay="0"/>
                                          </p:stCondLst>
                                        </p:cTn>
                                        <p:tgtEl>
                                          <p:spTgt spid="108564"/>
                                        </p:tgtEl>
                                        <p:attrNameLst>
                                          <p:attrName>style.visibility</p:attrName>
                                        </p:attrNameLst>
                                      </p:cBhvr>
                                      <p:to>
                                        <p:strVal val="visible"/>
                                      </p:to>
                                    </p:set>
                                    <p:animEffect transition="in" filter="checkerboard(across)">
                                      <p:cBhvr>
                                        <p:cTn id="66" dur="500"/>
                                        <p:tgtEl>
                                          <p:spTgt spid="108564"/>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5" presetClass="entr" presetSubtype="10" fill="hold" grpId="0" nodeType="clickEffect">
                                  <p:stCondLst>
                                    <p:cond delay="0"/>
                                  </p:stCondLst>
                                  <p:childTnLst>
                                    <p:set>
                                      <p:cBhvr>
                                        <p:cTn id="70" dur="1" fill="hold">
                                          <p:stCondLst>
                                            <p:cond delay="0"/>
                                          </p:stCondLst>
                                        </p:cTn>
                                        <p:tgtEl>
                                          <p:spTgt spid="108566"/>
                                        </p:tgtEl>
                                        <p:attrNameLst>
                                          <p:attrName>style.visibility</p:attrName>
                                        </p:attrNameLst>
                                      </p:cBhvr>
                                      <p:to>
                                        <p:strVal val="visible"/>
                                      </p:to>
                                    </p:set>
                                    <p:animEffect transition="in" filter="checkerboard(across)">
                                      <p:cBhvr>
                                        <p:cTn id="71" dur="500"/>
                                        <p:tgtEl>
                                          <p:spTgt spid="108566"/>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5" presetClass="entr" presetSubtype="10" fill="hold" grpId="0" nodeType="clickEffect">
                                  <p:stCondLst>
                                    <p:cond delay="0"/>
                                  </p:stCondLst>
                                  <p:childTnLst>
                                    <p:set>
                                      <p:cBhvr>
                                        <p:cTn id="75" dur="1" fill="hold">
                                          <p:stCondLst>
                                            <p:cond delay="0"/>
                                          </p:stCondLst>
                                        </p:cTn>
                                        <p:tgtEl>
                                          <p:spTgt spid="108563"/>
                                        </p:tgtEl>
                                        <p:attrNameLst>
                                          <p:attrName>style.visibility</p:attrName>
                                        </p:attrNameLst>
                                      </p:cBhvr>
                                      <p:to>
                                        <p:strVal val="visible"/>
                                      </p:to>
                                    </p:set>
                                    <p:animEffect transition="in" filter="checkerboard(across)">
                                      <p:cBhvr>
                                        <p:cTn id="76" dur="500"/>
                                        <p:tgtEl>
                                          <p:spTgt spid="108563"/>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5" presetClass="entr" presetSubtype="10" fill="hold" grpId="0" nodeType="clickEffect">
                                  <p:stCondLst>
                                    <p:cond delay="0"/>
                                  </p:stCondLst>
                                  <p:childTnLst>
                                    <p:set>
                                      <p:cBhvr>
                                        <p:cTn id="80" dur="1" fill="hold">
                                          <p:stCondLst>
                                            <p:cond delay="0"/>
                                          </p:stCondLst>
                                        </p:cTn>
                                        <p:tgtEl>
                                          <p:spTgt spid="108570"/>
                                        </p:tgtEl>
                                        <p:attrNameLst>
                                          <p:attrName>style.visibility</p:attrName>
                                        </p:attrNameLst>
                                      </p:cBhvr>
                                      <p:to>
                                        <p:strVal val="visible"/>
                                      </p:to>
                                    </p:set>
                                    <p:animEffect transition="in" filter="checkerboard(across)">
                                      <p:cBhvr>
                                        <p:cTn id="81" dur="500"/>
                                        <p:tgtEl>
                                          <p:spTgt spid="1085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56" grpId="0" animBg="1"/>
      <p:bldP spid="108557" grpId="0" animBg="1"/>
      <p:bldP spid="108558" grpId="0" animBg="1"/>
      <p:bldP spid="108559" grpId="0" animBg="1"/>
      <p:bldP spid="108560" grpId="0" animBg="1"/>
      <p:bldP spid="108561" grpId="0" animBg="1"/>
      <p:bldP spid="108562" grpId="0" animBg="1"/>
      <p:bldP spid="108563" grpId="0" animBg="1"/>
      <p:bldP spid="108564" grpId="0" animBg="1"/>
      <p:bldP spid="108565" grpId="0" animBg="1"/>
      <p:bldP spid="108566" grpId="0" animBg="1"/>
      <p:bldP spid="108567" grpId="0" animBg="1"/>
      <p:bldP spid="108568" grpId="0" animBg="1"/>
      <p:bldP spid="108569" grpId="0" animBg="1"/>
      <p:bldP spid="108570"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D0D1E3E8-9743-AC16-05C9-58381BD4B5BD}"/>
              </a:ext>
            </a:extLst>
          </p:cNvPr>
          <p:cNvSpPr>
            <a:spLocks noGrp="1" noChangeArrowheads="1"/>
          </p:cNvSpPr>
          <p:nvPr>
            <p:ph type="title"/>
          </p:nvPr>
        </p:nvSpPr>
        <p:spPr>
          <a:xfrm>
            <a:off x="177800" y="100965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3.3.3  </a:t>
            </a:r>
            <a:r>
              <a:rPr kumimoji="1" lang="zh-CN" altLang="en-US"/>
              <a:t>微软产品开发周期模型 </a:t>
            </a:r>
          </a:p>
        </p:txBody>
      </p:sp>
      <p:sp>
        <p:nvSpPr>
          <p:cNvPr id="57347" name="Text Box 5">
            <a:extLst>
              <a:ext uri="{FF2B5EF4-FFF2-40B4-BE49-F238E27FC236}">
                <a16:creationId xmlns:a16="http://schemas.microsoft.com/office/drawing/2014/main" id="{433DFA5F-AA69-66A1-8609-09A9E6C0EE99}"/>
              </a:ext>
            </a:extLst>
          </p:cNvPr>
          <p:cNvSpPr txBox="1">
            <a:spLocks noChangeArrowheads="1"/>
          </p:cNvSpPr>
          <p:nvPr/>
        </p:nvSpPr>
        <p:spPr bwMode="auto">
          <a:xfrm>
            <a:off x="468313" y="2492375"/>
            <a:ext cx="8207375" cy="323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zh-CN" altLang="en-US" b="1">
                <a:solidFill>
                  <a:schemeClr val="accent2"/>
                </a:solidFill>
                <a:latin typeface="黑体" panose="02010609060101010101" pitchFamily="49" charset="-122"/>
                <a:ea typeface="黑体" panose="02010609060101010101" pitchFamily="49" charset="-122"/>
              </a:rPr>
              <a:t>开发的四个阶段：</a:t>
            </a:r>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1.</a:t>
            </a:r>
            <a:r>
              <a:rPr lang="zh-CN" altLang="en-US" sz="2000" b="1">
                <a:solidFill>
                  <a:srgbClr val="FF0000"/>
                </a:solidFill>
              </a:rPr>
              <a:t>产品规划阶段</a:t>
            </a:r>
            <a:r>
              <a:rPr lang="zh-CN" altLang="en-US" sz="2000" b="1"/>
              <a:t>：先做好市场分析和产品调查，看市场有无此软件产品的需求，以及竞争对手有哪些，这就是</a:t>
            </a:r>
            <a:r>
              <a:rPr lang="en-US" altLang="zh-CN" sz="2000" b="1"/>
              <a:t>Product vision</a:t>
            </a:r>
            <a:r>
              <a:rPr lang="zh-CN" altLang="en-US" sz="2000" b="1"/>
              <a:t>的工作内容。接着就是</a:t>
            </a:r>
            <a:r>
              <a:rPr lang="en-US" altLang="zh-CN" sz="2000" b="1"/>
              <a:t>Function Spec</a:t>
            </a:r>
            <a:r>
              <a:rPr lang="zh-CN" altLang="en-US" sz="2000" b="1"/>
              <a:t>，主要是设计软件要实现哪些功能，解决用户什么样的问题。细致的方面包括选择什么语言来编写代码，所支持的平台以及开发所用的模型。</a:t>
            </a:r>
            <a:endParaRPr lang="en-US" altLang="zh-CN" sz="2000" b="1"/>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2.</a:t>
            </a:r>
            <a:r>
              <a:rPr lang="zh-CN" altLang="en-US" sz="2000" b="1">
                <a:solidFill>
                  <a:srgbClr val="FF0000"/>
                </a:solidFill>
              </a:rPr>
              <a:t>产品开发阶段</a:t>
            </a:r>
            <a:r>
              <a:rPr lang="zh-CN" altLang="en-US" sz="2000" b="1"/>
              <a:t>：就是根据设计编写代码，并同时让测试人员找</a:t>
            </a:r>
            <a:r>
              <a:rPr lang="en-US" altLang="zh-CN" sz="2000" b="1"/>
              <a:t>bug</a:t>
            </a:r>
            <a:r>
              <a:rPr lang="zh-CN" altLang="en-US" sz="2000" b="1"/>
              <a:t>。</a:t>
            </a:r>
            <a:r>
              <a:rPr lang="en-US" altLang="zh-CN" sz="2000" b="1"/>
              <a:t>M1…Mn</a:t>
            </a:r>
            <a:r>
              <a:rPr lang="zh-CN" altLang="en-US" sz="2000" b="1"/>
              <a:t>表示第</a:t>
            </a:r>
            <a:r>
              <a:rPr lang="en-US" altLang="zh-CN" sz="2000" b="1"/>
              <a:t>1</a:t>
            </a:r>
            <a:r>
              <a:rPr lang="zh-CN" altLang="en-US" sz="2000" b="1"/>
              <a:t>个</a:t>
            </a:r>
            <a:r>
              <a:rPr lang="en-US" altLang="zh-CN" sz="2000" b="1"/>
              <a:t>~</a:t>
            </a:r>
            <a:r>
              <a:rPr lang="zh-CN" altLang="en-US" sz="2000" b="1"/>
              <a:t>第</a:t>
            </a:r>
            <a:r>
              <a:rPr lang="en-US" altLang="zh-CN" sz="2000" b="1"/>
              <a:t>n</a:t>
            </a:r>
            <a:r>
              <a:rPr lang="zh-CN" altLang="en-US" sz="2000" b="1"/>
              <a:t>个里程碑，每达到一个里程碑，就可以让测试人员同时进行工作，如进行单元测试。</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6E485CC9-FF2E-5497-53E4-781226957EB0}"/>
              </a:ext>
            </a:extLst>
          </p:cNvPr>
          <p:cNvSpPr>
            <a:spLocks noGrp="1" noChangeArrowheads="1"/>
          </p:cNvSpPr>
          <p:nvPr>
            <p:ph type="title"/>
          </p:nvPr>
        </p:nvSpPr>
        <p:spPr>
          <a:xfrm>
            <a:off x="177800" y="100965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3.3.3  </a:t>
            </a:r>
            <a:r>
              <a:rPr kumimoji="1" lang="zh-CN" altLang="en-US"/>
              <a:t>微软产品开发周期模型 </a:t>
            </a:r>
          </a:p>
        </p:txBody>
      </p:sp>
      <p:sp>
        <p:nvSpPr>
          <p:cNvPr id="58371" name="Text Box 5">
            <a:extLst>
              <a:ext uri="{FF2B5EF4-FFF2-40B4-BE49-F238E27FC236}">
                <a16:creationId xmlns:a16="http://schemas.microsoft.com/office/drawing/2014/main" id="{A236F01B-EDB7-C870-B731-81E7E1127260}"/>
              </a:ext>
            </a:extLst>
          </p:cNvPr>
          <p:cNvSpPr txBox="1">
            <a:spLocks noChangeArrowheads="1"/>
          </p:cNvSpPr>
          <p:nvPr/>
        </p:nvSpPr>
        <p:spPr bwMode="auto">
          <a:xfrm>
            <a:off x="468313" y="2492375"/>
            <a:ext cx="8207375" cy="415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zh-CN" altLang="en-US" b="1">
                <a:solidFill>
                  <a:schemeClr val="accent2"/>
                </a:solidFill>
                <a:latin typeface="黑体" panose="02010609060101010101" pitchFamily="49" charset="-122"/>
                <a:ea typeface="黑体" panose="02010609060101010101" pitchFamily="49" charset="-122"/>
              </a:rPr>
              <a:t>开发的四个阶段：</a:t>
            </a:r>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3.</a:t>
            </a:r>
            <a:r>
              <a:rPr lang="zh-CN" altLang="en-US" sz="2000" b="1">
                <a:solidFill>
                  <a:srgbClr val="FF0000"/>
                </a:solidFill>
              </a:rPr>
              <a:t>测试阶段：</a:t>
            </a:r>
            <a:r>
              <a:rPr lang="zh-CN" altLang="en-US" sz="2000" b="1"/>
              <a:t>达到所有里程碑，进入</a:t>
            </a:r>
            <a:r>
              <a:rPr lang="en-US" altLang="zh-CN" sz="2000" b="1"/>
              <a:t>CC</a:t>
            </a:r>
            <a:r>
              <a:rPr lang="zh-CN" altLang="en-US" sz="2000" b="1"/>
              <a:t>（</a:t>
            </a:r>
            <a:r>
              <a:rPr lang="en-US" altLang="zh-CN" sz="2000" b="1"/>
              <a:t>Code Completion</a:t>
            </a:r>
            <a:r>
              <a:rPr lang="zh-CN" altLang="en-US" sz="2000" b="1"/>
              <a:t>）状态，刚编写的代码肯定存在诸多问题，测试就是找出这些问题中的大部分，然后进行修正，得到一个相对稳定的软件版本。这里的</a:t>
            </a:r>
            <a:r>
              <a:rPr lang="en-US" altLang="zh-CN" sz="2000" b="1"/>
              <a:t>ZBB</a:t>
            </a:r>
            <a:r>
              <a:rPr lang="zh-CN" altLang="en-US" sz="2000" b="1"/>
              <a:t>是指</a:t>
            </a:r>
            <a:r>
              <a:rPr lang="en-US" altLang="zh-CN" sz="2000" b="1"/>
              <a:t>Zero Bug Bounce</a:t>
            </a:r>
            <a:r>
              <a:rPr lang="zh-CN" altLang="en-US" sz="2000" b="1"/>
              <a:t>，即软件运行</a:t>
            </a:r>
            <a:r>
              <a:rPr lang="en-US" altLang="zh-CN" sz="2000" b="1"/>
              <a:t>48</a:t>
            </a:r>
            <a:r>
              <a:rPr lang="zh-CN" altLang="en-US" sz="2000" b="1"/>
              <a:t>小时内不出现</a:t>
            </a:r>
            <a:r>
              <a:rPr lang="en-US" altLang="zh-CN" sz="2000" b="1"/>
              <a:t>bug</a:t>
            </a:r>
            <a:r>
              <a:rPr lang="zh-CN" altLang="en-US" sz="2000" b="1"/>
              <a:t>，然后就是</a:t>
            </a:r>
            <a:r>
              <a:rPr lang="en-US" altLang="zh-CN" sz="2000" b="1"/>
              <a:t>alpha</a:t>
            </a:r>
            <a:r>
              <a:rPr lang="zh-CN" altLang="en-US" sz="2000" b="1"/>
              <a:t>直至</a:t>
            </a:r>
            <a:r>
              <a:rPr lang="en-US" altLang="zh-CN" sz="2000" b="1"/>
              <a:t>beta</a:t>
            </a:r>
            <a:r>
              <a:rPr lang="zh-CN" altLang="en-US" sz="2000" b="1"/>
              <a:t>版本的软件面试，在较大规模地推向市场前，应检查软件的使用性能并予以修正。</a:t>
            </a:r>
            <a:endParaRPr lang="en-US" altLang="zh-CN" sz="2000" b="1"/>
          </a:p>
          <a:p>
            <a:pPr lvl="1" eaLnBrk="1" hangingPunct="1">
              <a:spcBef>
                <a:spcPct val="50000"/>
              </a:spcBef>
              <a:buClr>
                <a:srgbClr val="0000FF"/>
              </a:buClr>
              <a:buSzPct val="70000"/>
              <a:buFont typeface="Wingdings" panose="05000000000000000000" pitchFamily="2" charset="2"/>
              <a:buChar char="n"/>
            </a:pPr>
            <a:r>
              <a:rPr lang="en-US" altLang="zh-CN" sz="2000" b="1">
                <a:solidFill>
                  <a:srgbClr val="FF0000"/>
                </a:solidFill>
              </a:rPr>
              <a:t>4.</a:t>
            </a:r>
            <a:r>
              <a:rPr lang="zh-CN" altLang="en-US" sz="2000" b="1">
                <a:solidFill>
                  <a:srgbClr val="FF0000"/>
                </a:solidFill>
              </a:rPr>
              <a:t>发布阶段：</a:t>
            </a:r>
            <a:r>
              <a:rPr lang="zh-CN" altLang="en-US" sz="2000" b="1"/>
              <a:t>从</a:t>
            </a:r>
            <a:r>
              <a:rPr lang="en-US" altLang="zh-CN" sz="2000" b="1"/>
              <a:t>Release1.0</a:t>
            </a:r>
            <a:r>
              <a:rPr lang="zh-CN" altLang="en-US" sz="2000" b="1"/>
              <a:t>版本的发布到</a:t>
            </a:r>
            <a:r>
              <a:rPr lang="en-US" altLang="zh-CN" sz="2000" b="1"/>
              <a:t>Release N.0</a:t>
            </a:r>
            <a:r>
              <a:rPr lang="zh-CN" altLang="en-US" sz="2000" b="1"/>
              <a:t>版，黄金版本印制光碟提交给制造商作样本，至正式版本</a:t>
            </a:r>
            <a:r>
              <a:rPr lang="en-US" altLang="zh-CN" sz="2000" b="1"/>
              <a:t>RTM/W</a:t>
            </a:r>
            <a:r>
              <a:rPr lang="zh-CN" altLang="en-US" sz="2000" b="1"/>
              <a:t>（</a:t>
            </a:r>
            <a:r>
              <a:rPr lang="en-US" altLang="zh-CN" sz="2000" b="1"/>
              <a:t>Release To Manufacturing/Web</a:t>
            </a:r>
            <a:r>
              <a:rPr lang="zh-CN" altLang="en-US" sz="2000" b="1"/>
              <a:t>）的发布，做好</a:t>
            </a:r>
            <a:r>
              <a:rPr lang="en-US" altLang="zh-CN" sz="2000" b="1"/>
              <a:t>QFE</a:t>
            </a:r>
            <a:r>
              <a:rPr lang="zh-CN" altLang="en-US" sz="2000" b="1"/>
              <a:t>（</a:t>
            </a:r>
            <a:r>
              <a:rPr lang="en-US" altLang="zh-CN" sz="2000" b="1"/>
              <a:t>Quick-Fix Engineering</a:t>
            </a:r>
            <a:r>
              <a:rPr lang="zh-CN" altLang="en-US" sz="2000" b="1"/>
              <a:t>），厂商为了及时升级功能或者修改缺陷而作的改动叫做</a:t>
            </a:r>
            <a:r>
              <a:rPr lang="en-US" altLang="zh-CN" sz="2000" b="1"/>
              <a:t>QFE</a:t>
            </a:r>
            <a:r>
              <a:rPr lang="zh-CN" altLang="en-US" sz="2000" b="1"/>
              <a:t>，简单说就是提供补丁的工作</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90177F1C-7595-F92D-0E85-AAAE4808EF78}"/>
              </a:ext>
            </a:extLst>
          </p:cNvPr>
          <p:cNvSpPr>
            <a:spLocks noGrp="1" noChangeArrowheads="1"/>
          </p:cNvSpPr>
          <p:nvPr>
            <p:ph type="title"/>
          </p:nvPr>
        </p:nvSpPr>
        <p:spPr>
          <a:xfrm>
            <a:off x="177800" y="1009650"/>
            <a:ext cx="8788400" cy="717550"/>
          </a:xfrm>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3.3.3  </a:t>
            </a:r>
            <a:r>
              <a:rPr kumimoji="1" lang="zh-CN" altLang="en-US"/>
              <a:t>微软产品开发周期模型 </a:t>
            </a:r>
          </a:p>
        </p:txBody>
      </p:sp>
      <p:sp>
        <p:nvSpPr>
          <p:cNvPr id="59395" name="Text Box 5">
            <a:extLst>
              <a:ext uri="{FF2B5EF4-FFF2-40B4-BE49-F238E27FC236}">
                <a16:creationId xmlns:a16="http://schemas.microsoft.com/office/drawing/2014/main" id="{400C20A4-0B69-BEA0-4938-9EFC0F425A16}"/>
              </a:ext>
            </a:extLst>
          </p:cNvPr>
          <p:cNvSpPr txBox="1">
            <a:spLocks noChangeArrowheads="1"/>
          </p:cNvSpPr>
          <p:nvPr/>
        </p:nvSpPr>
        <p:spPr bwMode="auto">
          <a:xfrm>
            <a:off x="468313" y="2492375"/>
            <a:ext cx="8207375" cy="1538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zh-CN" altLang="en-US" b="1" dirty="0">
                <a:solidFill>
                  <a:schemeClr val="accent2"/>
                </a:solidFill>
                <a:latin typeface="黑体" panose="02010609060101010101" pitchFamily="49" charset="-122"/>
                <a:ea typeface="黑体" panose="02010609060101010101" pitchFamily="49" charset="-122"/>
              </a:rPr>
              <a:t>微软产品开发周期模型总结：</a:t>
            </a:r>
          </a:p>
          <a:p>
            <a:pPr lvl="1" eaLnBrk="1" hangingPunct="1">
              <a:spcBef>
                <a:spcPct val="50000"/>
              </a:spcBef>
              <a:buClr>
                <a:srgbClr val="0000FF"/>
              </a:buClr>
              <a:buSzPct val="70000"/>
              <a:buFont typeface="Wingdings" panose="05000000000000000000" pitchFamily="2" charset="2"/>
              <a:buChar char="n"/>
            </a:pPr>
            <a:r>
              <a:rPr lang="zh-CN" altLang="en-US" sz="2000" b="1" dirty="0"/>
              <a:t>微软产品开发周期模型是整个微软开发流程的核心和基础。合理的人员配置、合理的团队架构保证了微软能够开发出符合用户需求的高质量产品。</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F7291D2A-629D-9D57-9AD8-05CFB11E2236}"/>
              </a:ext>
            </a:extLst>
          </p:cNvPr>
          <p:cNvSpPr>
            <a:spLocks noGrp="1" noChangeArrowheads="1"/>
          </p:cNvSpPr>
          <p:nvPr>
            <p:ph type="title"/>
          </p:nvPr>
        </p:nvSpPr>
        <p:spPr/>
        <p:txBody>
          <a:bodyPr/>
          <a:lstStyle/>
          <a:p>
            <a:pPr eaLnBrk="1" hangingPunct="1"/>
            <a:r>
              <a:rPr lang="zh-CN" altLang="en-US"/>
              <a:t>本章内容提要</a:t>
            </a:r>
          </a:p>
        </p:txBody>
      </p:sp>
      <p:sp>
        <p:nvSpPr>
          <p:cNvPr id="60419" name="AutoShape 3">
            <a:extLst>
              <a:ext uri="{FF2B5EF4-FFF2-40B4-BE49-F238E27FC236}">
                <a16:creationId xmlns:a16="http://schemas.microsoft.com/office/drawing/2014/main" id="{E22FC85A-A065-842C-1EC9-87A087699FDA}"/>
              </a:ext>
            </a:extLst>
          </p:cNvPr>
          <p:cNvSpPr>
            <a:spLocks noChangeArrowheads="1"/>
          </p:cNvSpPr>
          <p:nvPr/>
        </p:nvSpPr>
        <p:spPr bwMode="auto">
          <a:xfrm>
            <a:off x="736600" y="2343150"/>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60420" name="Text Box 4">
            <a:extLst>
              <a:ext uri="{FF2B5EF4-FFF2-40B4-BE49-F238E27FC236}">
                <a16:creationId xmlns:a16="http://schemas.microsoft.com/office/drawing/2014/main" id="{123A1453-A4AD-7C7A-5036-59972BE10D93}"/>
              </a:ext>
            </a:extLst>
          </p:cNvPr>
          <p:cNvSpPr txBox="1">
            <a:spLocks noChangeArrowheads="1"/>
          </p:cNvSpPr>
          <p:nvPr/>
        </p:nvSpPr>
        <p:spPr bwMode="auto">
          <a:xfrm>
            <a:off x="993775" y="2376488"/>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200">
                <a:latin typeface="Times New Roman" panose="02020603050405020304" pitchFamily="18" charset="0"/>
                <a:ea typeface="黑体" panose="02010609060101010101" pitchFamily="49" charset="-122"/>
              </a:rPr>
              <a:t>CMM</a:t>
            </a:r>
            <a:r>
              <a:rPr lang="zh-CN" altLang="en-US" sz="2200">
                <a:latin typeface="Times New Roman" panose="02020603050405020304" pitchFamily="18" charset="0"/>
                <a:ea typeface="黑体" panose="02010609060101010101" pitchFamily="49" charset="-122"/>
              </a:rPr>
              <a:t>和</a:t>
            </a:r>
            <a:r>
              <a:rPr lang="en-US" altLang="zh-CN" sz="2200">
                <a:latin typeface="Times New Roman" panose="02020603050405020304" pitchFamily="18" charset="0"/>
                <a:ea typeface="黑体" panose="02010609060101010101" pitchFamily="49" charset="-122"/>
              </a:rPr>
              <a:t>ISO9000</a:t>
            </a:r>
            <a:r>
              <a:rPr lang="en-US" altLang="zh-CN" sz="2400" b="0">
                <a:latin typeface="Times New Roman" panose="02020603050405020304" pitchFamily="18" charset="0"/>
              </a:rPr>
              <a:t> </a:t>
            </a:r>
          </a:p>
        </p:txBody>
      </p:sp>
      <p:sp>
        <p:nvSpPr>
          <p:cNvPr id="60421" name="AutoShape 5">
            <a:extLst>
              <a:ext uri="{FF2B5EF4-FFF2-40B4-BE49-F238E27FC236}">
                <a16:creationId xmlns:a16="http://schemas.microsoft.com/office/drawing/2014/main" id="{21AA819A-FD3E-C105-5816-106230C9B534}"/>
              </a:ext>
            </a:extLst>
          </p:cNvPr>
          <p:cNvSpPr>
            <a:spLocks noChangeArrowheads="1"/>
          </p:cNvSpPr>
          <p:nvPr/>
        </p:nvSpPr>
        <p:spPr bwMode="auto">
          <a:xfrm>
            <a:off x="747713" y="2890838"/>
            <a:ext cx="5545137"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60422" name="Text Box 6">
            <a:extLst>
              <a:ext uri="{FF2B5EF4-FFF2-40B4-BE49-F238E27FC236}">
                <a16:creationId xmlns:a16="http://schemas.microsoft.com/office/drawing/2014/main" id="{6CF1BA0D-B1AC-2E54-AF61-E095760840E0}"/>
              </a:ext>
            </a:extLst>
          </p:cNvPr>
          <p:cNvSpPr txBox="1">
            <a:spLocks noChangeArrowheads="1"/>
          </p:cNvSpPr>
          <p:nvPr/>
        </p:nvSpPr>
        <p:spPr bwMode="auto">
          <a:xfrm>
            <a:off x="1004888" y="2932113"/>
            <a:ext cx="49196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传统软件开发生命周期模型</a:t>
            </a:r>
            <a:r>
              <a:rPr lang="zh-CN" altLang="en-US" sz="2400" b="0">
                <a:latin typeface="Times New Roman" panose="02020603050405020304" pitchFamily="18" charset="0"/>
              </a:rPr>
              <a:t> </a:t>
            </a:r>
          </a:p>
        </p:txBody>
      </p:sp>
      <p:sp>
        <p:nvSpPr>
          <p:cNvPr id="60423" name="AutoShape 7">
            <a:extLst>
              <a:ext uri="{FF2B5EF4-FFF2-40B4-BE49-F238E27FC236}">
                <a16:creationId xmlns:a16="http://schemas.microsoft.com/office/drawing/2014/main" id="{16E21EE5-4A8F-DBB2-EC11-CAC5D337A72D}"/>
              </a:ext>
            </a:extLst>
          </p:cNvPr>
          <p:cNvSpPr>
            <a:spLocks noChangeArrowheads="1"/>
          </p:cNvSpPr>
          <p:nvPr/>
        </p:nvSpPr>
        <p:spPr bwMode="auto">
          <a:xfrm>
            <a:off x="747713" y="3440113"/>
            <a:ext cx="5545137"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60424" name="Text Box 8">
            <a:extLst>
              <a:ext uri="{FF2B5EF4-FFF2-40B4-BE49-F238E27FC236}">
                <a16:creationId xmlns:a16="http://schemas.microsoft.com/office/drawing/2014/main" id="{BB8C6242-A663-269F-69A9-6DDB4BF9662F}"/>
              </a:ext>
            </a:extLst>
          </p:cNvPr>
          <p:cNvSpPr txBox="1">
            <a:spLocks noChangeArrowheads="1"/>
          </p:cNvSpPr>
          <p:nvPr/>
        </p:nvSpPr>
        <p:spPr bwMode="auto">
          <a:xfrm>
            <a:off x="1004888" y="3511550"/>
            <a:ext cx="49196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扩展软件开发生命周期模型</a:t>
            </a:r>
            <a:r>
              <a:rPr lang="zh-CN" altLang="en-US" sz="2400" b="0">
                <a:latin typeface="Times New Roman" panose="02020603050405020304" pitchFamily="18" charset="0"/>
              </a:rPr>
              <a:t> </a:t>
            </a:r>
          </a:p>
        </p:txBody>
      </p:sp>
      <p:sp>
        <p:nvSpPr>
          <p:cNvPr id="60425" name="Rectangle 9">
            <a:extLst>
              <a:ext uri="{FF2B5EF4-FFF2-40B4-BE49-F238E27FC236}">
                <a16:creationId xmlns:a16="http://schemas.microsoft.com/office/drawing/2014/main" id="{B710AD98-CFFB-C3E9-586E-15D7264A6C8D}"/>
              </a:ext>
            </a:extLst>
          </p:cNvPr>
          <p:cNvSpPr>
            <a:spLocks noChangeArrowheads="1"/>
          </p:cNvSpPr>
          <p:nvPr/>
        </p:nvSpPr>
        <p:spPr bwMode="auto">
          <a:xfrm>
            <a:off x="611188" y="2432050"/>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3.1</a:t>
            </a:r>
            <a:endParaRPr lang="en-US" altLang="zh-CN" sz="1800">
              <a:solidFill>
                <a:srgbClr val="000000"/>
              </a:solidFill>
            </a:endParaRPr>
          </a:p>
        </p:txBody>
      </p:sp>
      <p:sp>
        <p:nvSpPr>
          <p:cNvPr id="60426" name="AutoShape 10">
            <a:extLst>
              <a:ext uri="{FF2B5EF4-FFF2-40B4-BE49-F238E27FC236}">
                <a16:creationId xmlns:a16="http://schemas.microsoft.com/office/drawing/2014/main" id="{F72DC620-A754-FAFD-AD17-801B6D8B1EA3}"/>
              </a:ext>
            </a:extLst>
          </p:cNvPr>
          <p:cNvSpPr>
            <a:spLocks noChangeArrowheads="1"/>
          </p:cNvSpPr>
          <p:nvPr/>
        </p:nvSpPr>
        <p:spPr bwMode="auto">
          <a:xfrm>
            <a:off x="752475" y="3992563"/>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60427" name="Text Box 11">
            <a:extLst>
              <a:ext uri="{FF2B5EF4-FFF2-40B4-BE49-F238E27FC236}">
                <a16:creationId xmlns:a16="http://schemas.microsoft.com/office/drawing/2014/main" id="{9214AF92-B1B4-DA72-A440-119DD598F10D}"/>
              </a:ext>
            </a:extLst>
          </p:cNvPr>
          <p:cNvSpPr txBox="1">
            <a:spLocks noChangeArrowheads="1"/>
          </p:cNvSpPr>
          <p:nvPr/>
        </p:nvSpPr>
        <p:spPr bwMode="auto">
          <a:xfrm>
            <a:off x="1009650" y="4025900"/>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质量计划</a:t>
            </a:r>
            <a:r>
              <a:rPr lang="zh-CN" altLang="en-US" sz="2400" b="0">
                <a:latin typeface="Times New Roman" panose="02020603050405020304" pitchFamily="18" charset="0"/>
              </a:rPr>
              <a:t> </a:t>
            </a:r>
          </a:p>
        </p:txBody>
      </p:sp>
      <p:sp>
        <p:nvSpPr>
          <p:cNvPr id="60428" name="Rectangle 12">
            <a:extLst>
              <a:ext uri="{FF2B5EF4-FFF2-40B4-BE49-F238E27FC236}">
                <a16:creationId xmlns:a16="http://schemas.microsoft.com/office/drawing/2014/main" id="{8A3EF4E4-0762-A6E4-AAD2-02EF0D69DEBA}"/>
              </a:ext>
            </a:extLst>
          </p:cNvPr>
          <p:cNvSpPr>
            <a:spLocks noChangeArrowheads="1"/>
          </p:cNvSpPr>
          <p:nvPr/>
        </p:nvSpPr>
        <p:spPr bwMode="auto">
          <a:xfrm>
            <a:off x="627063" y="4081463"/>
            <a:ext cx="334962" cy="260350"/>
          </a:xfrm>
          <a:prstGeom prst="rect">
            <a:avLst/>
          </a:prstGeom>
          <a:solidFill>
            <a:srgbClr val="0000FF"/>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3.4</a:t>
            </a:r>
            <a:endParaRPr lang="en-US" altLang="zh-CN" sz="1800">
              <a:solidFill>
                <a:srgbClr val="000000"/>
              </a:solidFill>
            </a:endParaRPr>
          </a:p>
        </p:txBody>
      </p:sp>
      <p:sp>
        <p:nvSpPr>
          <p:cNvPr id="60429" name="AutoShape 13">
            <a:extLst>
              <a:ext uri="{FF2B5EF4-FFF2-40B4-BE49-F238E27FC236}">
                <a16:creationId xmlns:a16="http://schemas.microsoft.com/office/drawing/2014/main" id="{E70CD1F3-B86E-8CFC-5AE2-CB1296EF8871}"/>
              </a:ext>
            </a:extLst>
          </p:cNvPr>
          <p:cNvSpPr>
            <a:spLocks noChangeArrowheads="1"/>
          </p:cNvSpPr>
          <p:nvPr/>
        </p:nvSpPr>
        <p:spPr bwMode="auto">
          <a:xfrm>
            <a:off x="750888" y="4546600"/>
            <a:ext cx="5545137"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60430" name="Text Box 14">
            <a:extLst>
              <a:ext uri="{FF2B5EF4-FFF2-40B4-BE49-F238E27FC236}">
                <a16:creationId xmlns:a16="http://schemas.microsoft.com/office/drawing/2014/main" id="{AEA8E015-252C-ADED-43A0-FCAE6A246602}"/>
              </a:ext>
            </a:extLst>
          </p:cNvPr>
          <p:cNvSpPr txBox="1">
            <a:spLocks noChangeArrowheads="1"/>
          </p:cNvSpPr>
          <p:nvPr/>
        </p:nvSpPr>
        <p:spPr bwMode="auto">
          <a:xfrm>
            <a:off x="1008063" y="4594225"/>
            <a:ext cx="4919662"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案例分析</a:t>
            </a:r>
            <a:r>
              <a:rPr lang="zh-CN" altLang="en-US" sz="2200">
                <a:latin typeface="Times New Roman" panose="02020603050405020304" pitchFamily="18" charset="0"/>
              </a:rPr>
              <a:t> </a:t>
            </a:r>
          </a:p>
        </p:txBody>
      </p:sp>
      <p:sp>
        <p:nvSpPr>
          <p:cNvPr id="60431" name="Rectangle 15">
            <a:extLst>
              <a:ext uri="{FF2B5EF4-FFF2-40B4-BE49-F238E27FC236}">
                <a16:creationId xmlns:a16="http://schemas.microsoft.com/office/drawing/2014/main" id="{5E572AED-2AF8-CD59-CFE2-A96A0D50BEA9}"/>
              </a:ext>
            </a:extLst>
          </p:cNvPr>
          <p:cNvSpPr>
            <a:spLocks noChangeArrowheads="1"/>
          </p:cNvSpPr>
          <p:nvPr/>
        </p:nvSpPr>
        <p:spPr bwMode="auto">
          <a:xfrm>
            <a:off x="625475" y="4635500"/>
            <a:ext cx="334963"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3.5</a:t>
            </a:r>
            <a:endParaRPr lang="en-US" altLang="zh-CN" sz="1800">
              <a:solidFill>
                <a:srgbClr val="000000"/>
              </a:solidFill>
            </a:endParaRPr>
          </a:p>
        </p:txBody>
      </p:sp>
      <p:sp>
        <p:nvSpPr>
          <p:cNvPr id="60432" name="AutoShape 16">
            <a:extLst>
              <a:ext uri="{FF2B5EF4-FFF2-40B4-BE49-F238E27FC236}">
                <a16:creationId xmlns:a16="http://schemas.microsoft.com/office/drawing/2014/main" id="{9178D30D-44BD-42E8-0A43-4EE743F7E331}"/>
              </a:ext>
            </a:extLst>
          </p:cNvPr>
          <p:cNvSpPr>
            <a:spLocks noChangeArrowheads="1"/>
          </p:cNvSpPr>
          <p:nvPr/>
        </p:nvSpPr>
        <p:spPr bwMode="auto">
          <a:xfrm>
            <a:off x="755650" y="5106988"/>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60433" name="Text Box 17">
            <a:extLst>
              <a:ext uri="{FF2B5EF4-FFF2-40B4-BE49-F238E27FC236}">
                <a16:creationId xmlns:a16="http://schemas.microsoft.com/office/drawing/2014/main" id="{134959E9-03CE-6D7B-A938-70153309EBBB}"/>
              </a:ext>
            </a:extLst>
          </p:cNvPr>
          <p:cNvSpPr txBox="1">
            <a:spLocks noChangeArrowheads="1"/>
          </p:cNvSpPr>
          <p:nvPr/>
        </p:nvSpPr>
        <p:spPr bwMode="auto">
          <a:xfrm>
            <a:off x="1012825" y="5154613"/>
            <a:ext cx="4919663"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本章小结 </a:t>
            </a:r>
          </a:p>
        </p:txBody>
      </p:sp>
      <p:sp>
        <p:nvSpPr>
          <p:cNvPr id="60434" name="Rectangle 18">
            <a:extLst>
              <a:ext uri="{FF2B5EF4-FFF2-40B4-BE49-F238E27FC236}">
                <a16:creationId xmlns:a16="http://schemas.microsoft.com/office/drawing/2014/main" id="{C1DDFBFE-D210-C98E-DB8F-376C09228A94}"/>
              </a:ext>
            </a:extLst>
          </p:cNvPr>
          <p:cNvSpPr>
            <a:spLocks noChangeArrowheads="1"/>
          </p:cNvSpPr>
          <p:nvPr/>
        </p:nvSpPr>
        <p:spPr bwMode="auto">
          <a:xfrm>
            <a:off x="630238" y="5195888"/>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3.6</a:t>
            </a:r>
            <a:endParaRPr lang="en-US" altLang="zh-CN" sz="1800">
              <a:solidFill>
                <a:srgbClr val="000000"/>
              </a:solidFill>
            </a:endParaRPr>
          </a:p>
        </p:txBody>
      </p:sp>
      <p:sp>
        <p:nvSpPr>
          <p:cNvPr id="60435" name="AutoShape 19">
            <a:extLst>
              <a:ext uri="{FF2B5EF4-FFF2-40B4-BE49-F238E27FC236}">
                <a16:creationId xmlns:a16="http://schemas.microsoft.com/office/drawing/2014/main" id="{D35EDF2E-B1CB-4754-F9CB-B5098752D384}"/>
              </a:ext>
            </a:extLst>
          </p:cNvPr>
          <p:cNvSpPr>
            <a:spLocks noChangeArrowheads="1"/>
          </p:cNvSpPr>
          <p:nvPr/>
        </p:nvSpPr>
        <p:spPr bwMode="auto">
          <a:xfrm>
            <a:off x="755650" y="5651500"/>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60436" name="Text Box 20">
            <a:extLst>
              <a:ext uri="{FF2B5EF4-FFF2-40B4-BE49-F238E27FC236}">
                <a16:creationId xmlns:a16="http://schemas.microsoft.com/office/drawing/2014/main" id="{097B07DB-28E1-3436-F588-0EEAB5F0967F}"/>
              </a:ext>
            </a:extLst>
          </p:cNvPr>
          <p:cNvSpPr txBox="1">
            <a:spLocks noChangeArrowheads="1"/>
          </p:cNvSpPr>
          <p:nvPr/>
        </p:nvSpPr>
        <p:spPr bwMode="auto">
          <a:xfrm>
            <a:off x="1012825" y="5684838"/>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复习思考题</a:t>
            </a:r>
            <a:r>
              <a:rPr lang="zh-CN" altLang="en-US" sz="2400" b="0">
                <a:latin typeface="Times New Roman" panose="02020603050405020304" pitchFamily="18" charset="0"/>
              </a:rPr>
              <a:t> </a:t>
            </a:r>
          </a:p>
        </p:txBody>
      </p:sp>
      <p:sp>
        <p:nvSpPr>
          <p:cNvPr id="60437" name="Rectangle 21">
            <a:extLst>
              <a:ext uri="{FF2B5EF4-FFF2-40B4-BE49-F238E27FC236}">
                <a16:creationId xmlns:a16="http://schemas.microsoft.com/office/drawing/2014/main" id="{956BBDDE-6F6C-0F34-8E2E-367F7786D111}"/>
              </a:ext>
            </a:extLst>
          </p:cNvPr>
          <p:cNvSpPr>
            <a:spLocks noChangeArrowheads="1"/>
          </p:cNvSpPr>
          <p:nvPr/>
        </p:nvSpPr>
        <p:spPr bwMode="auto">
          <a:xfrm>
            <a:off x="630238" y="5740400"/>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3.7</a:t>
            </a:r>
            <a:endParaRPr lang="en-US" altLang="zh-CN" sz="1800">
              <a:solidFill>
                <a:srgbClr val="000000"/>
              </a:solidFill>
            </a:endParaRPr>
          </a:p>
        </p:txBody>
      </p:sp>
      <p:sp>
        <p:nvSpPr>
          <p:cNvPr id="60438" name="Rectangle 22">
            <a:extLst>
              <a:ext uri="{FF2B5EF4-FFF2-40B4-BE49-F238E27FC236}">
                <a16:creationId xmlns:a16="http://schemas.microsoft.com/office/drawing/2014/main" id="{E822CABE-A6AC-17DC-4432-AB338E028FAD}"/>
              </a:ext>
            </a:extLst>
          </p:cNvPr>
          <p:cNvSpPr>
            <a:spLocks noChangeArrowheads="1"/>
          </p:cNvSpPr>
          <p:nvPr/>
        </p:nvSpPr>
        <p:spPr bwMode="auto">
          <a:xfrm>
            <a:off x="604838" y="2992438"/>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3.2</a:t>
            </a:r>
          </a:p>
        </p:txBody>
      </p:sp>
      <p:sp>
        <p:nvSpPr>
          <p:cNvPr id="60439" name="Rectangle 23">
            <a:extLst>
              <a:ext uri="{FF2B5EF4-FFF2-40B4-BE49-F238E27FC236}">
                <a16:creationId xmlns:a16="http://schemas.microsoft.com/office/drawing/2014/main" id="{119368E9-4D10-C03D-AE03-DE2443D2F86F}"/>
              </a:ext>
            </a:extLst>
          </p:cNvPr>
          <p:cNvSpPr>
            <a:spLocks noChangeArrowheads="1"/>
          </p:cNvSpPr>
          <p:nvPr/>
        </p:nvSpPr>
        <p:spPr bwMode="auto">
          <a:xfrm>
            <a:off x="604838" y="3536950"/>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3.3</a:t>
            </a:r>
            <a:endParaRPr lang="en-US" altLang="zh-CN" sz="1800">
              <a:solidFill>
                <a:srgbClr val="000000"/>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3DBACEE3-1851-95C1-BCF1-BB8B1D35AFB5}"/>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3.4.1  </a:t>
            </a:r>
            <a:r>
              <a:rPr lang="zh-CN" altLang="en-US"/>
              <a:t>质量与质量规划 </a:t>
            </a:r>
          </a:p>
        </p:txBody>
      </p:sp>
      <p:sp>
        <p:nvSpPr>
          <p:cNvPr id="61443" name="Text Box 6">
            <a:extLst>
              <a:ext uri="{FF2B5EF4-FFF2-40B4-BE49-F238E27FC236}">
                <a16:creationId xmlns:a16="http://schemas.microsoft.com/office/drawing/2014/main" id="{57C450C5-E440-BDD1-4313-708FA7D48363}"/>
              </a:ext>
            </a:extLst>
          </p:cNvPr>
          <p:cNvSpPr txBox="1">
            <a:spLocks noChangeArrowheads="1"/>
          </p:cNvSpPr>
          <p:nvPr/>
        </p:nvSpPr>
        <p:spPr bwMode="auto">
          <a:xfrm>
            <a:off x="800100" y="2205038"/>
            <a:ext cx="7991475" cy="2833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en-US" altLang="zh-CN" sz="2400" b="0">
                <a:latin typeface="Times New Roman" panose="02020603050405020304" pitchFamily="18" charset="0"/>
              </a:rPr>
              <a:t>    </a:t>
            </a:r>
            <a:r>
              <a:rPr lang="zh-CN" altLang="en-US" sz="2400">
                <a:solidFill>
                  <a:schemeClr val="accent2"/>
                </a:solidFill>
                <a:latin typeface="Times New Roman" panose="02020603050405020304" pitchFamily="18" charset="0"/>
                <a:ea typeface="黑体" panose="02010609060101010101" pitchFamily="49" charset="-122"/>
              </a:rPr>
              <a:t>软件质量</a:t>
            </a:r>
          </a:p>
          <a:p>
            <a:pPr lvl="1" eaLnBrk="1" hangingPunct="1">
              <a:spcBef>
                <a:spcPct val="50000"/>
              </a:spcBef>
              <a:buFont typeface="Times New Roman" panose="02020603050405020304" pitchFamily="18" charset="0"/>
              <a:buChar char="─"/>
            </a:pPr>
            <a:r>
              <a:rPr lang="zh-CN" altLang="en-US" sz="2000">
                <a:latin typeface="Times New Roman" panose="02020603050405020304" pitchFamily="18" charset="0"/>
              </a:rPr>
              <a:t>  是</a:t>
            </a:r>
            <a:r>
              <a:rPr lang="zh-CN" altLang="en-US" sz="2000">
                <a:latin typeface="宋体" panose="02010600030101010101" pitchFamily="2" charset="-122"/>
              </a:rPr>
              <a:t>“</a:t>
            </a:r>
            <a:r>
              <a:rPr lang="zh-CN" altLang="en-US" sz="2000">
                <a:latin typeface="Times New Roman" panose="02020603050405020304" pitchFamily="18" charset="0"/>
              </a:rPr>
              <a:t>所有描述计算机软件优秀程度的特性的组合</a:t>
            </a:r>
            <a:r>
              <a:rPr lang="zh-CN" altLang="en-US" sz="2000">
                <a:latin typeface="宋体" panose="02010600030101010101" pitchFamily="2" charset="-122"/>
              </a:rPr>
              <a:t>”</a:t>
            </a:r>
            <a:r>
              <a:rPr lang="zh-CN" altLang="en-US" sz="2000">
                <a:latin typeface="Times New Roman" panose="02020603050405020304" pitchFamily="18" charset="0"/>
              </a:rPr>
              <a:t>。</a:t>
            </a:r>
          </a:p>
          <a:p>
            <a:pPr eaLnBrk="1" hangingPunct="1">
              <a:spcBef>
                <a:spcPct val="50000"/>
              </a:spcBef>
              <a:buSzPct val="70000"/>
              <a:buFont typeface="Wingdings" panose="05000000000000000000" pitchFamily="2" charset="2"/>
              <a:buChar char="n"/>
            </a:pPr>
            <a:r>
              <a:rPr lang="zh-CN" altLang="en-US" sz="2400">
                <a:solidFill>
                  <a:schemeClr val="accent2"/>
                </a:solidFill>
                <a:latin typeface="Times New Roman" panose="02020603050405020304" pitchFamily="18" charset="0"/>
                <a:ea typeface="黑体" panose="02010609060101010101" pitchFamily="49" charset="-122"/>
              </a:rPr>
              <a:t>　软件质量度量模型由三层组成</a:t>
            </a:r>
            <a:endParaRPr lang="zh-CN" altLang="en-US" sz="2400" b="0">
              <a:latin typeface="Times New Roman" panose="02020603050405020304" pitchFamily="18" charset="0"/>
            </a:endParaRPr>
          </a:p>
          <a:p>
            <a:pPr lvl="1" eaLnBrk="1" hangingPunct="1">
              <a:spcBef>
                <a:spcPct val="50000"/>
              </a:spcBef>
              <a:buFont typeface="Times New Roman" panose="02020603050405020304" pitchFamily="18" charset="0"/>
              <a:buChar char="─"/>
            </a:pPr>
            <a:r>
              <a:rPr lang="zh-CN" altLang="en-US" sz="2000">
                <a:latin typeface="Times New Roman" panose="02020603050405020304" pitchFamily="18" charset="0"/>
              </a:rPr>
              <a:t>  第一层为质量特性</a:t>
            </a:r>
          </a:p>
          <a:p>
            <a:pPr lvl="1" eaLnBrk="1" hangingPunct="1">
              <a:spcBef>
                <a:spcPct val="50000"/>
              </a:spcBef>
              <a:buFont typeface="Times New Roman" panose="02020603050405020304" pitchFamily="18" charset="0"/>
              <a:buChar char="─"/>
            </a:pPr>
            <a:r>
              <a:rPr lang="zh-CN" altLang="en-US" sz="2000">
                <a:latin typeface="Times New Roman" panose="02020603050405020304" pitchFamily="18" charset="0"/>
              </a:rPr>
              <a:t>  第二层为质量子特性</a:t>
            </a:r>
          </a:p>
          <a:p>
            <a:pPr lvl="1" eaLnBrk="1" hangingPunct="1">
              <a:spcBef>
                <a:spcPct val="50000"/>
              </a:spcBef>
              <a:buFont typeface="Times New Roman" panose="02020603050405020304" pitchFamily="18" charset="0"/>
              <a:buChar char="─"/>
            </a:pPr>
            <a:r>
              <a:rPr lang="zh-CN" altLang="en-US" sz="2000">
                <a:latin typeface="Times New Roman" panose="02020603050405020304" pitchFamily="18" charset="0"/>
              </a:rPr>
              <a:t>  第三层称为度量</a:t>
            </a:r>
            <a:endParaRPr lang="zh-CN" altLang="en-US" b="0">
              <a:latin typeface="Times New Roman" panose="0202060305040502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517BF5FD-483B-7C02-7AE3-F346E0F1F7E8}"/>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3.4.1  </a:t>
            </a:r>
            <a:r>
              <a:rPr lang="zh-CN" altLang="en-US"/>
              <a:t>质量与质量规划 </a:t>
            </a:r>
          </a:p>
        </p:txBody>
      </p:sp>
      <p:sp>
        <p:nvSpPr>
          <p:cNvPr id="62467" name="Text Box 3">
            <a:extLst>
              <a:ext uri="{FF2B5EF4-FFF2-40B4-BE49-F238E27FC236}">
                <a16:creationId xmlns:a16="http://schemas.microsoft.com/office/drawing/2014/main" id="{A6D8D8C7-0D8D-C758-965D-8AC7EE286C40}"/>
              </a:ext>
            </a:extLst>
          </p:cNvPr>
          <p:cNvSpPr txBox="1">
            <a:spLocks noChangeArrowheads="1"/>
          </p:cNvSpPr>
          <p:nvPr/>
        </p:nvSpPr>
        <p:spPr bwMode="auto">
          <a:xfrm>
            <a:off x="850900" y="1773238"/>
            <a:ext cx="7991475" cy="4935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SzPct val="70000"/>
              <a:buFont typeface="Wingdings" panose="05000000000000000000" pitchFamily="2" charset="2"/>
              <a:buChar char="n"/>
            </a:pPr>
            <a:r>
              <a:rPr lang="en-US" altLang="zh-CN" sz="2400">
                <a:solidFill>
                  <a:schemeClr val="accent2"/>
                </a:solidFill>
                <a:latin typeface="黑体" panose="02010609060101010101" pitchFamily="49" charset="-122"/>
                <a:ea typeface="黑体" panose="02010609060101010101" pitchFamily="49" charset="-122"/>
              </a:rPr>
              <a:t>  ISO</a:t>
            </a:r>
            <a:r>
              <a:rPr lang="zh-CN" altLang="en-US" sz="2400">
                <a:solidFill>
                  <a:schemeClr val="accent2"/>
                </a:solidFill>
                <a:latin typeface="黑体" panose="02010609060101010101" pitchFamily="49" charset="-122"/>
                <a:ea typeface="黑体" panose="02010609060101010101" pitchFamily="49" charset="-122"/>
              </a:rPr>
              <a:t>／</a:t>
            </a:r>
            <a:r>
              <a:rPr lang="en-US" altLang="zh-CN" sz="2400">
                <a:solidFill>
                  <a:schemeClr val="accent2"/>
                </a:solidFill>
                <a:latin typeface="黑体" panose="02010609060101010101" pitchFamily="49" charset="-122"/>
                <a:ea typeface="黑体" panose="02010609060101010101" pitchFamily="49" charset="-122"/>
              </a:rPr>
              <a:t>IEC9126 </a:t>
            </a:r>
            <a:r>
              <a:rPr lang="en-US" altLang="zh-CN" sz="2400">
                <a:solidFill>
                  <a:schemeClr val="accent2"/>
                </a:solidFill>
                <a:latin typeface="Times New Roman" panose="02020603050405020304" pitchFamily="18" charset="0"/>
                <a:ea typeface="黑体" panose="02010609060101010101" pitchFamily="49" charset="-122"/>
              </a:rPr>
              <a:t>–</a:t>
            </a:r>
            <a:r>
              <a:rPr lang="en-US" altLang="zh-CN" sz="2400">
                <a:solidFill>
                  <a:schemeClr val="accent2"/>
                </a:solidFill>
                <a:latin typeface="黑体" panose="02010609060101010101" pitchFamily="49" charset="-122"/>
                <a:ea typeface="黑体" panose="02010609060101010101" pitchFamily="49" charset="-122"/>
              </a:rPr>
              <a:t> 1991</a:t>
            </a:r>
            <a:r>
              <a:rPr lang="zh-CN" altLang="en-US" sz="2400">
                <a:solidFill>
                  <a:schemeClr val="accent2"/>
                </a:solidFill>
                <a:latin typeface="黑体" panose="02010609060101010101" pitchFamily="49" charset="-122"/>
                <a:ea typeface="黑体" panose="02010609060101010101" pitchFamily="49" charset="-122"/>
              </a:rPr>
              <a:t>（</a:t>
            </a:r>
            <a:r>
              <a:rPr lang="en-US" altLang="zh-CN" sz="2400">
                <a:solidFill>
                  <a:schemeClr val="accent2"/>
                </a:solidFill>
                <a:latin typeface="黑体" panose="02010609060101010101" pitchFamily="49" charset="-122"/>
                <a:ea typeface="黑体" panose="02010609060101010101" pitchFamily="49" charset="-122"/>
              </a:rPr>
              <a:t>GB</a:t>
            </a:r>
            <a:r>
              <a:rPr lang="zh-CN" altLang="en-US" sz="2400">
                <a:solidFill>
                  <a:schemeClr val="accent2"/>
                </a:solidFill>
                <a:latin typeface="黑体" panose="02010609060101010101" pitchFamily="49" charset="-122"/>
                <a:ea typeface="黑体" panose="02010609060101010101" pitchFamily="49" charset="-122"/>
              </a:rPr>
              <a:t>／</a:t>
            </a:r>
            <a:r>
              <a:rPr lang="en-US" altLang="zh-CN" sz="2400">
                <a:solidFill>
                  <a:schemeClr val="accent2"/>
                </a:solidFill>
                <a:latin typeface="黑体" panose="02010609060101010101" pitchFamily="49" charset="-122"/>
                <a:ea typeface="黑体" panose="02010609060101010101" pitchFamily="49" charset="-122"/>
              </a:rPr>
              <a:t>T16260 </a:t>
            </a:r>
            <a:r>
              <a:rPr lang="en-US" altLang="zh-CN" sz="2400">
                <a:solidFill>
                  <a:schemeClr val="accent2"/>
                </a:solidFill>
                <a:latin typeface="Times New Roman" panose="02020603050405020304" pitchFamily="18" charset="0"/>
                <a:ea typeface="黑体" panose="02010609060101010101" pitchFamily="49" charset="-122"/>
              </a:rPr>
              <a:t>–</a:t>
            </a:r>
            <a:r>
              <a:rPr lang="en-US" altLang="zh-CN" sz="2400">
                <a:solidFill>
                  <a:schemeClr val="accent2"/>
                </a:solidFill>
                <a:latin typeface="黑体" panose="02010609060101010101" pitchFamily="49" charset="-122"/>
                <a:ea typeface="黑体" panose="02010609060101010101" pitchFamily="49" charset="-122"/>
              </a:rPr>
              <a:t> 1996</a:t>
            </a:r>
            <a:r>
              <a:rPr lang="zh-CN" altLang="en-US" sz="2400">
                <a:solidFill>
                  <a:schemeClr val="accent2"/>
                </a:solidFill>
                <a:latin typeface="黑体" panose="02010609060101010101" pitchFamily="49" charset="-122"/>
                <a:ea typeface="黑体" panose="02010609060101010101" pitchFamily="49" charset="-122"/>
              </a:rPr>
              <a:t>）标准标准定义的</a:t>
            </a:r>
            <a:r>
              <a:rPr lang="en-US" altLang="zh-CN" sz="2400">
                <a:solidFill>
                  <a:schemeClr val="accent2"/>
                </a:solidFill>
                <a:latin typeface="黑体" panose="02010609060101010101" pitchFamily="49" charset="-122"/>
                <a:ea typeface="黑体" panose="02010609060101010101" pitchFamily="49" charset="-122"/>
              </a:rPr>
              <a:t>6</a:t>
            </a:r>
            <a:r>
              <a:rPr lang="zh-CN" altLang="en-US" sz="2400">
                <a:solidFill>
                  <a:schemeClr val="accent2"/>
                </a:solidFill>
                <a:latin typeface="黑体" panose="02010609060101010101" pitchFamily="49" charset="-122"/>
                <a:ea typeface="黑体" panose="02010609060101010101" pitchFamily="49" charset="-122"/>
              </a:rPr>
              <a:t>个质量特性</a:t>
            </a:r>
          </a:p>
          <a:p>
            <a:pPr lvl="1" eaLnBrk="1" hangingPunct="1">
              <a:spcBef>
                <a:spcPct val="50000"/>
              </a:spcBef>
              <a:buSzPct val="70000"/>
              <a:buFont typeface="Wingdings" panose="05000000000000000000" pitchFamily="2" charset="2"/>
              <a:buChar char="n"/>
            </a:pPr>
            <a:r>
              <a:rPr lang="zh-CN" altLang="en-US" sz="2000">
                <a:latin typeface="Times New Roman" panose="02020603050405020304" pitchFamily="18" charset="0"/>
              </a:rPr>
              <a:t>功能性</a:t>
            </a:r>
          </a:p>
          <a:p>
            <a:pPr lvl="1" eaLnBrk="1" hangingPunct="1">
              <a:spcBef>
                <a:spcPct val="50000"/>
              </a:spcBef>
              <a:buSzPct val="70000"/>
              <a:buFont typeface="Wingdings" panose="05000000000000000000" pitchFamily="2" charset="2"/>
              <a:buChar char="n"/>
            </a:pPr>
            <a:r>
              <a:rPr lang="zh-CN" altLang="en-US" sz="2000">
                <a:latin typeface="Times New Roman" panose="02020603050405020304" pitchFamily="18" charset="0"/>
              </a:rPr>
              <a:t>可靠性</a:t>
            </a:r>
          </a:p>
          <a:p>
            <a:pPr lvl="1" eaLnBrk="1" hangingPunct="1">
              <a:spcBef>
                <a:spcPct val="50000"/>
              </a:spcBef>
              <a:buSzPct val="70000"/>
              <a:buFont typeface="Wingdings" panose="05000000000000000000" pitchFamily="2" charset="2"/>
              <a:buChar char="n"/>
            </a:pPr>
            <a:r>
              <a:rPr lang="zh-CN" altLang="en-US" sz="2000">
                <a:latin typeface="Times New Roman" panose="02020603050405020304" pitchFamily="18" charset="0"/>
              </a:rPr>
              <a:t>易使用性</a:t>
            </a:r>
          </a:p>
          <a:p>
            <a:pPr lvl="1" eaLnBrk="1" hangingPunct="1">
              <a:spcBef>
                <a:spcPct val="50000"/>
              </a:spcBef>
              <a:buSzPct val="70000"/>
              <a:buFont typeface="Wingdings" panose="05000000000000000000" pitchFamily="2" charset="2"/>
              <a:buChar char="n"/>
            </a:pPr>
            <a:r>
              <a:rPr lang="zh-CN" altLang="en-US" sz="2000">
                <a:latin typeface="Times New Roman" panose="02020603050405020304" pitchFamily="18" charset="0"/>
              </a:rPr>
              <a:t>高效性</a:t>
            </a:r>
          </a:p>
          <a:p>
            <a:pPr lvl="1" eaLnBrk="1" hangingPunct="1">
              <a:spcBef>
                <a:spcPct val="50000"/>
              </a:spcBef>
              <a:buSzPct val="70000"/>
              <a:buFont typeface="Wingdings" panose="05000000000000000000" pitchFamily="2" charset="2"/>
              <a:buChar char="n"/>
            </a:pPr>
            <a:r>
              <a:rPr lang="zh-CN" altLang="en-US" sz="2000">
                <a:latin typeface="Times New Roman" panose="02020603050405020304" pitchFamily="18" charset="0"/>
              </a:rPr>
              <a:t>可维护性</a:t>
            </a:r>
          </a:p>
          <a:p>
            <a:pPr lvl="1" eaLnBrk="1" hangingPunct="1">
              <a:spcBef>
                <a:spcPct val="50000"/>
              </a:spcBef>
              <a:buSzPct val="70000"/>
              <a:buFont typeface="Wingdings" panose="05000000000000000000" pitchFamily="2" charset="2"/>
              <a:buChar char="n"/>
            </a:pPr>
            <a:r>
              <a:rPr lang="zh-CN" altLang="en-US" sz="2000">
                <a:latin typeface="Times New Roman" panose="02020603050405020304" pitchFamily="18" charset="0"/>
              </a:rPr>
              <a:t>可移植性</a:t>
            </a:r>
          </a:p>
          <a:p>
            <a:pPr eaLnBrk="1" hangingPunct="1">
              <a:spcBef>
                <a:spcPct val="50000"/>
              </a:spcBef>
              <a:buSzPct val="70000"/>
              <a:buFont typeface="Wingdings" panose="05000000000000000000" pitchFamily="2" charset="2"/>
              <a:buChar char="n"/>
            </a:pPr>
            <a:r>
              <a:rPr lang="zh-CN" altLang="en-US" sz="2400" b="0">
                <a:latin typeface="Times New Roman" panose="02020603050405020304" pitchFamily="18" charset="0"/>
              </a:rPr>
              <a:t>    </a:t>
            </a:r>
            <a:r>
              <a:rPr lang="zh-CN" altLang="en-US" sz="2400">
                <a:solidFill>
                  <a:schemeClr val="accent2"/>
                </a:solidFill>
                <a:latin typeface="Times New Roman" panose="02020603050405020304" pitchFamily="18" charset="0"/>
                <a:ea typeface="黑体" panose="02010609060101010101" pitchFamily="49" charset="-122"/>
              </a:rPr>
              <a:t>质量规划</a:t>
            </a:r>
          </a:p>
          <a:p>
            <a:pPr lvl="1" eaLnBrk="1" hangingPunct="1">
              <a:spcBef>
                <a:spcPct val="50000"/>
              </a:spcBef>
              <a:buFont typeface="Times New Roman" panose="02020603050405020304" pitchFamily="18" charset="0"/>
              <a:buChar char="─"/>
            </a:pPr>
            <a:r>
              <a:rPr lang="zh-CN" altLang="en-US" sz="2000">
                <a:latin typeface="Times New Roman" panose="02020603050405020304" pitchFamily="18" charset="0"/>
              </a:rPr>
              <a:t>　指识别哪些质量标准适用于软件项目，并确定如何满足这些标准的要求</a:t>
            </a:r>
            <a:r>
              <a:rPr lang="zh-CN" altLang="en-US" b="0">
                <a:latin typeface="Times New Roman" panose="02020603050405020304" pitchFamily="18" charset="0"/>
              </a:rPr>
              <a:t>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B1B5CB2F-5787-4C5A-8CB1-4E7211FD9492}"/>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3.4.2  </a:t>
            </a:r>
            <a:r>
              <a:rPr lang="zh-CN" altLang="en-US"/>
              <a:t>质量体系、质量手册和质量计划 </a:t>
            </a:r>
          </a:p>
        </p:txBody>
      </p:sp>
      <p:sp>
        <p:nvSpPr>
          <p:cNvPr id="63491" name="Text Box 3">
            <a:extLst>
              <a:ext uri="{FF2B5EF4-FFF2-40B4-BE49-F238E27FC236}">
                <a16:creationId xmlns:a16="http://schemas.microsoft.com/office/drawing/2014/main" id="{8896EDA0-BE06-D87F-B373-A5D33845A386}"/>
              </a:ext>
            </a:extLst>
          </p:cNvPr>
          <p:cNvSpPr txBox="1">
            <a:spLocks noChangeArrowheads="1"/>
          </p:cNvSpPr>
          <p:nvPr/>
        </p:nvSpPr>
        <p:spPr bwMode="auto">
          <a:xfrm>
            <a:off x="822325" y="2328863"/>
            <a:ext cx="7421563" cy="352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nSpc>
                <a:spcPts val="3000"/>
              </a:lnSpc>
              <a:spcBef>
                <a:spcPct val="0"/>
              </a:spcBef>
              <a:buClrTx/>
              <a:buSzPct val="70000"/>
              <a:buFont typeface="Wingdings" panose="05000000000000000000" pitchFamily="2" charset="2"/>
              <a:buChar char="n"/>
            </a:pPr>
            <a:r>
              <a:rPr kumimoji="0" lang="en-US" altLang="zh-CN" sz="2400">
                <a:solidFill>
                  <a:schemeClr val="accent2"/>
                </a:solidFill>
                <a:latin typeface="Times New Roman" panose="02020603050405020304" pitchFamily="18" charset="0"/>
                <a:ea typeface="黑体" panose="02010609060101010101" pitchFamily="49" charset="-122"/>
              </a:rPr>
              <a:t>    </a:t>
            </a:r>
            <a:r>
              <a:rPr kumimoji="0" lang="zh-CN" altLang="en-US" sz="2400">
                <a:solidFill>
                  <a:schemeClr val="accent2"/>
                </a:solidFill>
                <a:latin typeface="Times New Roman" panose="02020603050405020304" pitchFamily="18" charset="0"/>
                <a:ea typeface="黑体" panose="02010609060101010101" pitchFamily="49" charset="-122"/>
              </a:rPr>
              <a:t>质量体系</a:t>
            </a:r>
          </a:p>
          <a:p>
            <a:pPr lvl="1">
              <a:lnSpc>
                <a:spcPts val="3000"/>
              </a:lnSpc>
              <a:spcBef>
                <a:spcPct val="0"/>
              </a:spcBef>
              <a:buClr>
                <a:schemeClr val="accent2"/>
              </a:buClr>
              <a:buFont typeface="Times New Roman" panose="02020603050405020304" pitchFamily="18" charset="0"/>
              <a:buChar char="─"/>
            </a:pPr>
            <a:r>
              <a:rPr kumimoji="0" lang="zh-CN" altLang="en-US" sz="2000">
                <a:latin typeface="Times New Roman" panose="02020603050405020304" pitchFamily="18" charset="0"/>
              </a:rPr>
              <a:t>　指为保证产品、过程或服务质量，满足规定（或潜在）的要求，由组织机构、职责、程序、活动、能力和资源等构成的有机整体。</a:t>
            </a:r>
            <a:r>
              <a:rPr kumimoji="0" lang="zh-CN" altLang="en-US" b="0">
                <a:latin typeface="Times New Roman" panose="02020603050405020304" pitchFamily="18" charset="0"/>
              </a:rPr>
              <a:t> </a:t>
            </a:r>
            <a:endParaRPr kumimoji="0" lang="zh-CN" altLang="en-US" b="0"/>
          </a:p>
          <a:p>
            <a:pPr>
              <a:lnSpc>
                <a:spcPts val="3000"/>
              </a:lnSpc>
              <a:spcBef>
                <a:spcPct val="0"/>
              </a:spcBef>
              <a:buClrTx/>
              <a:buSzPct val="70000"/>
              <a:buFont typeface="Wingdings" panose="05000000000000000000" pitchFamily="2" charset="2"/>
              <a:buChar char="n"/>
            </a:pPr>
            <a:r>
              <a:rPr kumimoji="0" lang="zh-CN" altLang="en-US" sz="2400">
                <a:solidFill>
                  <a:schemeClr val="accent2"/>
                </a:solidFill>
                <a:latin typeface="Times New Roman" panose="02020603050405020304" pitchFamily="18" charset="0"/>
                <a:ea typeface="黑体" panose="02010609060101010101" pitchFamily="49" charset="-122"/>
              </a:rPr>
              <a:t>    质量手册</a:t>
            </a:r>
          </a:p>
          <a:p>
            <a:pPr lvl="1">
              <a:lnSpc>
                <a:spcPts val="3000"/>
              </a:lnSpc>
              <a:spcBef>
                <a:spcPct val="0"/>
              </a:spcBef>
              <a:buClr>
                <a:schemeClr val="accent2"/>
              </a:buClr>
              <a:buFont typeface="Times New Roman" panose="02020603050405020304" pitchFamily="18" charset="0"/>
              <a:buChar char="─"/>
            </a:pPr>
            <a:r>
              <a:rPr kumimoji="0" lang="zh-CN" altLang="en-US" b="0">
                <a:latin typeface="Times New Roman" panose="02020603050405020304" pitchFamily="18" charset="0"/>
              </a:rPr>
              <a:t>　</a:t>
            </a:r>
            <a:r>
              <a:rPr kumimoji="0" lang="zh-CN" altLang="en-US" sz="2000">
                <a:latin typeface="Times New Roman" panose="02020603050405020304" pitchFamily="18" charset="0"/>
              </a:rPr>
              <a:t>是描述企业质量体系的文件。</a:t>
            </a:r>
          </a:p>
          <a:p>
            <a:pPr>
              <a:lnSpc>
                <a:spcPts val="3000"/>
              </a:lnSpc>
              <a:spcBef>
                <a:spcPct val="0"/>
              </a:spcBef>
              <a:buClrTx/>
              <a:buSzPct val="70000"/>
              <a:buFont typeface="Wingdings" panose="05000000000000000000" pitchFamily="2" charset="2"/>
              <a:buChar char="n"/>
            </a:pPr>
            <a:r>
              <a:rPr kumimoji="0" lang="zh-CN" altLang="en-US" sz="2400">
                <a:solidFill>
                  <a:schemeClr val="accent2"/>
                </a:solidFill>
                <a:latin typeface="Times New Roman" panose="02020603050405020304" pitchFamily="18" charset="0"/>
                <a:ea typeface="黑体" panose="02010609060101010101" pitchFamily="49" charset="-122"/>
              </a:rPr>
              <a:t>    质量计划</a:t>
            </a:r>
          </a:p>
          <a:p>
            <a:pPr lvl="1">
              <a:lnSpc>
                <a:spcPts val="3000"/>
              </a:lnSpc>
              <a:spcBef>
                <a:spcPct val="0"/>
              </a:spcBef>
              <a:buClr>
                <a:schemeClr val="accent2"/>
              </a:buClr>
              <a:buFont typeface="Times New Roman" panose="02020603050405020304" pitchFamily="18" charset="0"/>
              <a:buChar char="─"/>
            </a:pPr>
            <a:r>
              <a:rPr kumimoji="0" lang="zh-CN" altLang="en-US" sz="2000">
                <a:latin typeface="Times New Roman" panose="02020603050405020304" pitchFamily="18" charset="0"/>
              </a:rPr>
              <a:t>　是质量管理（质量计划编制、质量保证和质量控制）的第一过程域 。</a:t>
            </a:r>
            <a:endParaRPr kumimoji="0" lang="zh-CN" altLang="en-US">
              <a:ea typeface="黑体" panose="02010609060101010101" pitchFamily="49"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6824F30C-07BC-9CAC-5E0E-A1B8055136DD}"/>
              </a:ext>
            </a:extLst>
          </p:cNvPr>
          <p:cNvSpPr>
            <a:spLocks noGrp="1" noChangeArrowheads="1"/>
          </p:cNvSpPr>
          <p:nvPr>
            <p:ph type="title"/>
          </p:nvPr>
        </p:nvSpPr>
        <p:spPr>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3.4.2  </a:t>
            </a:r>
            <a:r>
              <a:rPr lang="zh-CN" altLang="en-US"/>
              <a:t>质量体系、质量手册和质量计划 </a:t>
            </a:r>
          </a:p>
        </p:txBody>
      </p:sp>
      <p:sp>
        <p:nvSpPr>
          <p:cNvPr id="179203" name="Text Box 3">
            <a:extLst>
              <a:ext uri="{FF2B5EF4-FFF2-40B4-BE49-F238E27FC236}">
                <a16:creationId xmlns:a16="http://schemas.microsoft.com/office/drawing/2014/main" id="{0070DCE6-5C05-EE93-7AB9-C1A2A2B0BB52}"/>
              </a:ext>
            </a:extLst>
          </p:cNvPr>
          <p:cNvSpPr txBox="1">
            <a:spLocks noChangeArrowheads="1"/>
          </p:cNvSpPr>
          <p:nvPr/>
        </p:nvSpPr>
        <p:spPr bwMode="auto">
          <a:xfrm>
            <a:off x="695325" y="1858963"/>
            <a:ext cx="3571875" cy="420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SzPct val="70000"/>
              <a:buFont typeface="Wingdings" panose="05000000000000000000" pitchFamily="2" charset="2"/>
              <a:buNone/>
            </a:pPr>
            <a:endParaRPr kumimoji="0" lang="en-US" altLang="zh-CN" sz="2000">
              <a:latin typeface="Times New Roman" panose="02020603050405020304" pitchFamily="18" charset="0"/>
            </a:endParaRPr>
          </a:p>
          <a:p>
            <a:pPr>
              <a:lnSpc>
                <a:spcPts val="3000"/>
              </a:lnSpc>
              <a:spcBef>
                <a:spcPct val="0"/>
              </a:spcBef>
              <a:buClr>
                <a:schemeClr val="accent2"/>
              </a:buClr>
              <a:buSzPct val="70000"/>
              <a:buFont typeface="Wingdings" panose="05000000000000000000" pitchFamily="2" charset="2"/>
              <a:buChar char="n"/>
            </a:pPr>
            <a:r>
              <a:rPr kumimoji="0" lang="en-US" altLang="zh-CN" sz="2400">
                <a:solidFill>
                  <a:schemeClr val="accent2"/>
                </a:solidFill>
                <a:latin typeface="Times New Roman" panose="02020603050405020304" pitchFamily="18" charset="0"/>
                <a:ea typeface="黑体" panose="02010609060101010101" pitchFamily="49" charset="-122"/>
              </a:rPr>
              <a:t>    </a:t>
            </a:r>
            <a:r>
              <a:rPr kumimoji="0" lang="zh-CN" altLang="en-US" sz="2400">
                <a:solidFill>
                  <a:schemeClr val="accent2"/>
                </a:solidFill>
                <a:latin typeface="Times New Roman" panose="02020603050405020304" pitchFamily="18" charset="0"/>
                <a:ea typeface="黑体" panose="02010609060101010101" pitchFamily="49" charset="-122"/>
              </a:rPr>
              <a:t>质量体系、质量手册和质量计划之间的关系</a:t>
            </a:r>
            <a:endParaRPr kumimoji="0" lang="zh-CN" altLang="en-US" sz="900" b="0">
              <a:latin typeface="Times New Roman" panose="02020603050405020304" pitchFamily="18" charset="0"/>
            </a:endParaRPr>
          </a:p>
          <a:p>
            <a:pPr>
              <a:lnSpc>
                <a:spcPts val="3000"/>
              </a:lnSpc>
              <a:spcBef>
                <a:spcPct val="0"/>
              </a:spcBef>
              <a:buClr>
                <a:schemeClr val="accent2"/>
              </a:buClr>
              <a:buSzPct val="70000"/>
              <a:buFont typeface="Wingdings" panose="05000000000000000000" pitchFamily="2" charset="2"/>
              <a:buNone/>
            </a:pPr>
            <a:r>
              <a:rPr kumimoji="0" lang="zh-CN" altLang="en-US" sz="2000">
                <a:latin typeface="Times New Roman" panose="02020603050405020304" pitchFamily="18" charset="0"/>
              </a:rPr>
              <a:t>       质量体系好比一个国家的法制机构，质量手册就如同宪法，是质量体系的文档化的体现。而为每个项目制定的质量计划类似地方法规，它在符合质量手册的前提下，根据自身的要求与特殊性，通过适当的裁减修正而来。</a:t>
            </a:r>
            <a:r>
              <a:rPr kumimoji="0" lang="zh-CN" altLang="en-US" sz="2400" b="0">
                <a:latin typeface="Times New Roman" panose="02020603050405020304" pitchFamily="18" charset="0"/>
              </a:rPr>
              <a:t> </a:t>
            </a:r>
            <a:endParaRPr kumimoji="0" lang="zh-CN" altLang="en-US" sz="2400">
              <a:ea typeface="黑体" panose="02010609060101010101" pitchFamily="49" charset="-122"/>
            </a:endParaRPr>
          </a:p>
        </p:txBody>
      </p:sp>
      <p:sp>
        <p:nvSpPr>
          <p:cNvPr id="179204" name="Text Box 4">
            <a:extLst>
              <a:ext uri="{FF2B5EF4-FFF2-40B4-BE49-F238E27FC236}">
                <a16:creationId xmlns:a16="http://schemas.microsoft.com/office/drawing/2014/main" id="{08D4AF14-1F05-61A7-AFC7-B964C63F1001}"/>
              </a:ext>
            </a:extLst>
          </p:cNvPr>
          <p:cNvSpPr txBox="1">
            <a:spLocks noChangeArrowheads="1"/>
          </p:cNvSpPr>
          <p:nvPr/>
        </p:nvSpPr>
        <p:spPr bwMode="auto">
          <a:xfrm>
            <a:off x="4197350" y="2162175"/>
            <a:ext cx="1843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Pct val="70000"/>
              <a:buFont typeface="Wingdings" panose="05000000000000000000" pitchFamily="2" charset="2"/>
              <a:buChar char="n"/>
            </a:pPr>
            <a:r>
              <a:rPr lang="en-US" altLang="zh-CN" sz="2400">
                <a:solidFill>
                  <a:schemeClr val="accent2"/>
                </a:solidFill>
                <a:latin typeface="Times New Roman" panose="02020603050405020304" pitchFamily="18" charset="0"/>
                <a:ea typeface="黑体" panose="02010609060101010101" pitchFamily="49" charset="-122"/>
              </a:rPr>
              <a:t>    </a:t>
            </a:r>
            <a:r>
              <a:rPr lang="zh-CN" altLang="en-US" sz="2400">
                <a:solidFill>
                  <a:schemeClr val="accent2"/>
                </a:solidFill>
                <a:latin typeface="Times New Roman" panose="02020603050405020304" pitchFamily="18" charset="0"/>
                <a:ea typeface="黑体" panose="02010609060101010101" pitchFamily="49" charset="-122"/>
              </a:rPr>
              <a:t>关系图</a:t>
            </a:r>
          </a:p>
        </p:txBody>
      </p:sp>
      <p:graphicFrame>
        <p:nvGraphicFramePr>
          <p:cNvPr id="179205" name="Object 5">
            <a:extLst>
              <a:ext uri="{FF2B5EF4-FFF2-40B4-BE49-F238E27FC236}">
                <a16:creationId xmlns:a16="http://schemas.microsoft.com/office/drawing/2014/main" id="{EAC1912B-B2A7-EF02-A50A-E4A0253087D8}"/>
              </a:ext>
            </a:extLst>
          </p:cNvPr>
          <p:cNvGraphicFramePr>
            <a:graphicFrameLocks noGrp="1" noChangeAspect="1"/>
          </p:cNvGraphicFramePr>
          <p:nvPr>
            <p:ph idx="1"/>
          </p:nvPr>
        </p:nvGraphicFramePr>
        <p:xfrm>
          <a:off x="4597400" y="2166938"/>
          <a:ext cx="3983038" cy="3744912"/>
        </p:xfrm>
        <a:graphic>
          <a:graphicData uri="http://schemas.openxmlformats.org/presentationml/2006/ole">
            <mc:AlternateContent xmlns:mc="http://schemas.openxmlformats.org/markup-compatibility/2006">
              <mc:Choice xmlns:v="urn:schemas-microsoft-com:vml" Requires="v">
                <p:oleObj name="Visio" r:id="rId2" imgW="4343705" imgH="4631741" progId="Visio.Drawing.11">
                  <p:embed/>
                </p:oleObj>
              </mc:Choice>
              <mc:Fallback>
                <p:oleObj name="Visio" r:id="rId2" imgW="4343705" imgH="4631741" progId="Visio.Drawing.11">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l="2486" t="2332" r="2486" b="2332"/>
                      <a:stretch>
                        <a:fillRect/>
                      </a:stretch>
                    </p:blipFill>
                    <p:spPr bwMode="auto">
                      <a:xfrm>
                        <a:off x="4597400" y="2166938"/>
                        <a:ext cx="3983038" cy="3744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9203"/>
                                        </p:tgtEl>
                                        <p:attrNameLst>
                                          <p:attrName>style.visibility</p:attrName>
                                        </p:attrNameLst>
                                      </p:cBhvr>
                                      <p:to>
                                        <p:strVal val="visible"/>
                                      </p:to>
                                    </p:set>
                                    <p:anim calcmode="lin" valueType="num">
                                      <p:cBhvr additive="base">
                                        <p:cTn id="7" dur="500" fill="hold"/>
                                        <p:tgtEl>
                                          <p:spTgt spid="179203"/>
                                        </p:tgtEl>
                                        <p:attrNameLst>
                                          <p:attrName>ppt_x</p:attrName>
                                        </p:attrNameLst>
                                      </p:cBhvr>
                                      <p:tavLst>
                                        <p:tav tm="0">
                                          <p:val>
                                            <p:strVal val="#ppt_x"/>
                                          </p:val>
                                        </p:tav>
                                        <p:tav tm="100000">
                                          <p:val>
                                            <p:strVal val="#ppt_x"/>
                                          </p:val>
                                        </p:tav>
                                      </p:tavLst>
                                    </p:anim>
                                    <p:anim calcmode="lin" valueType="num">
                                      <p:cBhvr additive="base">
                                        <p:cTn id="8" dur="500" fill="hold"/>
                                        <p:tgtEl>
                                          <p:spTgt spid="17920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9204"/>
                                        </p:tgtEl>
                                        <p:attrNameLst>
                                          <p:attrName>style.visibility</p:attrName>
                                        </p:attrNameLst>
                                      </p:cBhvr>
                                      <p:to>
                                        <p:strVal val="visible"/>
                                      </p:to>
                                    </p:set>
                                    <p:anim calcmode="lin" valueType="num">
                                      <p:cBhvr additive="base">
                                        <p:cTn id="13" dur="500" fill="hold"/>
                                        <p:tgtEl>
                                          <p:spTgt spid="179204"/>
                                        </p:tgtEl>
                                        <p:attrNameLst>
                                          <p:attrName>ppt_x</p:attrName>
                                        </p:attrNameLst>
                                      </p:cBhvr>
                                      <p:tavLst>
                                        <p:tav tm="0">
                                          <p:val>
                                            <p:strVal val="#ppt_x"/>
                                          </p:val>
                                        </p:tav>
                                        <p:tav tm="100000">
                                          <p:val>
                                            <p:strVal val="#ppt_x"/>
                                          </p:val>
                                        </p:tav>
                                      </p:tavLst>
                                    </p:anim>
                                    <p:anim calcmode="lin" valueType="num">
                                      <p:cBhvr additive="base">
                                        <p:cTn id="14" dur="500" fill="hold"/>
                                        <p:tgtEl>
                                          <p:spTgt spid="17920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79205"/>
                                        </p:tgtEl>
                                        <p:attrNameLst>
                                          <p:attrName>style.visibility</p:attrName>
                                        </p:attrNameLst>
                                      </p:cBhvr>
                                      <p:to>
                                        <p:strVal val="visible"/>
                                      </p:to>
                                    </p:set>
                                    <p:anim calcmode="lin" valueType="num">
                                      <p:cBhvr additive="base">
                                        <p:cTn id="19" dur="500" fill="hold"/>
                                        <p:tgtEl>
                                          <p:spTgt spid="179205"/>
                                        </p:tgtEl>
                                        <p:attrNameLst>
                                          <p:attrName>ppt_x</p:attrName>
                                        </p:attrNameLst>
                                      </p:cBhvr>
                                      <p:tavLst>
                                        <p:tav tm="0">
                                          <p:val>
                                            <p:strVal val="#ppt_x"/>
                                          </p:val>
                                        </p:tav>
                                        <p:tav tm="100000">
                                          <p:val>
                                            <p:strVal val="#ppt_x"/>
                                          </p:val>
                                        </p:tav>
                                      </p:tavLst>
                                    </p:anim>
                                    <p:anim calcmode="lin" valueType="num">
                                      <p:cBhvr additive="base">
                                        <p:cTn id="20" dur="500" fill="hold"/>
                                        <p:tgtEl>
                                          <p:spTgt spid="1792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3" grpId="0"/>
      <p:bldP spid="17920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7192343F-7618-DB63-F56C-BD6FDA1B8ACB}"/>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3.4.3  </a:t>
            </a:r>
            <a:r>
              <a:rPr lang="zh-CN" altLang="en-US"/>
              <a:t>项目质量计划的内容 </a:t>
            </a:r>
          </a:p>
        </p:txBody>
      </p:sp>
      <p:sp>
        <p:nvSpPr>
          <p:cNvPr id="65539" name="Text Box 5">
            <a:extLst>
              <a:ext uri="{FF2B5EF4-FFF2-40B4-BE49-F238E27FC236}">
                <a16:creationId xmlns:a16="http://schemas.microsoft.com/office/drawing/2014/main" id="{54BDEE7F-DA62-D07A-8E92-CCAC9EE3B09B}"/>
              </a:ext>
            </a:extLst>
          </p:cNvPr>
          <p:cNvSpPr txBox="1">
            <a:spLocks noChangeArrowheads="1"/>
          </p:cNvSpPr>
          <p:nvPr/>
        </p:nvSpPr>
        <p:spPr bwMode="auto">
          <a:xfrm>
            <a:off x="782638" y="1971675"/>
            <a:ext cx="7632700" cy="4570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accent2"/>
              </a:buClr>
              <a:buSzPct val="70000"/>
              <a:buFont typeface="Wingdings" panose="05000000000000000000" pitchFamily="2" charset="2"/>
              <a:buChar char="n"/>
            </a:pPr>
            <a:r>
              <a:rPr lang="en-US" altLang="zh-CN" sz="2400" b="0">
                <a:latin typeface="Times New Roman" panose="02020603050405020304" pitchFamily="18" charset="0"/>
              </a:rPr>
              <a:t>    </a:t>
            </a:r>
            <a:r>
              <a:rPr lang="zh-CN" altLang="en-US" sz="2400">
                <a:solidFill>
                  <a:schemeClr val="accent2"/>
                </a:solidFill>
                <a:latin typeface="Times New Roman" panose="02020603050405020304" pitchFamily="18" charset="0"/>
                <a:ea typeface="黑体" panose="02010609060101010101" pitchFamily="49" charset="-122"/>
              </a:rPr>
              <a:t>项目实施总体目标</a:t>
            </a:r>
          </a:p>
          <a:p>
            <a:pPr lvl="1" eaLnBrk="1" hangingPunct="1">
              <a:spcBef>
                <a:spcPct val="50000"/>
              </a:spcBef>
              <a:buClr>
                <a:schemeClr val="accent2"/>
              </a:buClr>
              <a:buFont typeface="Times New Roman" panose="02020603050405020304" pitchFamily="18" charset="0"/>
              <a:buChar char="─"/>
            </a:pPr>
            <a:r>
              <a:rPr lang="zh-CN" altLang="en-US" sz="2000">
                <a:latin typeface="宋体" panose="02010600030101010101" pitchFamily="2" charset="-122"/>
              </a:rPr>
              <a:t> 质量</a:t>
            </a:r>
          </a:p>
          <a:p>
            <a:pPr lvl="1" eaLnBrk="1" hangingPunct="1">
              <a:spcBef>
                <a:spcPct val="50000"/>
              </a:spcBef>
              <a:buClr>
                <a:schemeClr val="accent2"/>
              </a:buClr>
              <a:buFont typeface="Times New Roman" panose="02020603050405020304" pitchFamily="18" charset="0"/>
              <a:buChar char="─"/>
            </a:pPr>
            <a:r>
              <a:rPr lang="zh-CN" altLang="en-US" sz="2000">
                <a:latin typeface="宋体" panose="02010600030101010101" pitchFamily="2" charset="-122"/>
              </a:rPr>
              <a:t> 时间</a:t>
            </a:r>
          </a:p>
          <a:p>
            <a:pPr lvl="1" eaLnBrk="1" hangingPunct="1">
              <a:spcBef>
                <a:spcPct val="50000"/>
              </a:spcBef>
              <a:buClr>
                <a:schemeClr val="accent2"/>
              </a:buClr>
              <a:buFont typeface="Times New Roman" panose="02020603050405020304" pitchFamily="18" charset="0"/>
              <a:buChar char="─"/>
            </a:pPr>
            <a:r>
              <a:rPr lang="zh-CN" altLang="en-US" sz="2000">
                <a:latin typeface="宋体" panose="02010600030101010101" pitchFamily="2" charset="-122"/>
              </a:rPr>
              <a:t> 成本</a:t>
            </a:r>
          </a:p>
          <a:p>
            <a:pPr eaLnBrk="1" hangingPunct="1">
              <a:spcBef>
                <a:spcPct val="50000"/>
              </a:spcBef>
              <a:buClrTx/>
              <a:buFontTx/>
              <a:buNone/>
            </a:pPr>
            <a:r>
              <a:rPr lang="zh-CN" altLang="en-US" sz="2000">
                <a:latin typeface="Times New Roman" panose="02020603050405020304" pitchFamily="18" charset="0"/>
              </a:rPr>
              <a:t>　　三者是一个相互制约、相互影响的统一体，其中任一项目标变化，都会引起另两个目标变化，并受其制约。</a:t>
            </a:r>
            <a:r>
              <a:rPr lang="zh-CN" altLang="en-US" sz="2400" b="0">
                <a:latin typeface="Times New Roman" panose="02020603050405020304" pitchFamily="18" charset="0"/>
              </a:rPr>
              <a:t> </a:t>
            </a:r>
          </a:p>
          <a:p>
            <a:pPr eaLnBrk="1" hangingPunct="1">
              <a:spcBef>
                <a:spcPct val="50000"/>
              </a:spcBef>
              <a:buClr>
                <a:schemeClr val="accent2"/>
              </a:buClr>
              <a:buSzPct val="70000"/>
              <a:buFont typeface="Wingdings" panose="05000000000000000000" pitchFamily="2" charset="2"/>
              <a:buChar char="n"/>
            </a:pPr>
            <a:r>
              <a:rPr lang="zh-CN" altLang="en-US" sz="2400" b="0">
                <a:latin typeface="Times New Roman" panose="02020603050405020304" pitchFamily="18" charset="0"/>
              </a:rPr>
              <a:t>    </a:t>
            </a:r>
            <a:r>
              <a:rPr lang="zh-CN" altLang="en-US" sz="2400">
                <a:solidFill>
                  <a:schemeClr val="accent2"/>
                </a:solidFill>
                <a:latin typeface="Times New Roman" panose="02020603050405020304" pitchFamily="18" charset="0"/>
                <a:ea typeface="黑体" panose="02010609060101010101" pitchFamily="49" charset="-122"/>
              </a:rPr>
              <a:t>项目分类</a:t>
            </a:r>
          </a:p>
          <a:p>
            <a:pPr lvl="1" eaLnBrk="1" hangingPunct="1">
              <a:spcBef>
                <a:spcPct val="50000"/>
              </a:spcBef>
              <a:buClr>
                <a:schemeClr val="accent2"/>
              </a:buClr>
              <a:buFont typeface="Times New Roman" panose="02020603050405020304" pitchFamily="18" charset="0"/>
              <a:buChar char="─"/>
            </a:pPr>
            <a:r>
              <a:rPr lang="zh-CN" altLang="en-US" sz="2000">
                <a:latin typeface="Times New Roman" panose="02020603050405020304" pitchFamily="18" charset="0"/>
              </a:rPr>
              <a:t> 质量倾斜型体系</a:t>
            </a:r>
          </a:p>
          <a:p>
            <a:pPr lvl="1" eaLnBrk="1" hangingPunct="1">
              <a:spcBef>
                <a:spcPct val="50000"/>
              </a:spcBef>
              <a:buClr>
                <a:schemeClr val="accent2"/>
              </a:buClr>
              <a:buFont typeface="Times New Roman" panose="02020603050405020304" pitchFamily="18" charset="0"/>
              <a:buChar char="─"/>
            </a:pPr>
            <a:r>
              <a:rPr lang="zh-CN" altLang="en-US" sz="2000">
                <a:latin typeface="Times New Roman" panose="02020603050405020304" pitchFamily="18" charset="0"/>
              </a:rPr>
              <a:t> 工期倾斜型体系</a:t>
            </a:r>
          </a:p>
          <a:p>
            <a:pPr lvl="1" eaLnBrk="1" hangingPunct="1">
              <a:spcBef>
                <a:spcPct val="50000"/>
              </a:spcBef>
              <a:buClr>
                <a:schemeClr val="accent2"/>
              </a:buClr>
              <a:buFont typeface="Times New Roman" panose="02020603050405020304" pitchFamily="18" charset="0"/>
              <a:buChar char="─"/>
            </a:pPr>
            <a:r>
              <a:rPr lang="zh-CN" altLang="en-US" sz="2000">
                <a:latin typeface="Times New Roman" panose="02020603050405020304" pitchFamily="18" charset="0"/>
              </a:rPr>
              <a:t> 成本倾斜型体系</a:t>
            </a:r>
            <a:endParaRPr lang="zh-CN" altLang="en-US" b="0">
              <a:latin typeface="Times New Roman" panose="020206030504050203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34E8FCA6-0C74-3B6F-A87A-4371FDCCA750}"/>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3.4.3  </a:t>
            </a:r>
            <a:r>
              <a:rPr lang="zh-CN" altLang="en-US"/>
              <a:t>项目质量计划的内容 </a:t>
            </a:r>
          </a:p>
        </p:txBody>
      </p:sp>
      <p:sp>
        <p:nvSpPr>
          <p:cNvPr id="66563" name="Text Box 3">
            <a:extLst>
              <a:ext uri="{FF2B5EF4-FFF2-40B4-BE49-F238E27FC236}">
                <a16:creationId xmlns:a16="http://schemas.microsoft.com/office/drawing/2014/main" id="{F04D78C4-09B9-954D-47C5-ADCD740CB2CE}"/>
              </a:ext>
            </a:extLst>
          </p:cNvPr>
          <p:cNvSpPr txBox="1">
            <a:spLocks noChangeArrowheads="1"/>
          </p:cNvSpPr>
          <p:nvPr/>
        </p:nvSpPr>
        <p:spPr bwMode="auto">
          <a:xfrm>
            <a:off x="782638" y="2205038"/>
            <a:ext cx="7632700"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lnSpc>
                <a:spcPts val="4000"/>
              </a:lnSpc>
              <a:spcBef>
                <a:spcPct val="50000"/>
              </a:spcBef>
              <a:buClr>
                <a:schemeClr val="accent2"/>
              </a:buClr>
              <a:buSzPct val="70000"/>
              <a:buFont typeface="Wingdings" panose="05000000000000000000" pitchFamily="2" charset="2"/>
              <a:buChar char="n"/>
            </a:pPr>
            <a:r>
              <a:rPr lang="en-US" altLang="zh-CN" sz="2400" b="0">
                <a:latin typeface="Times New Roman" panose="02020603050405020304" pitchFamily="18" charset="0"/>
              </a:rPr>
              <a:t>      </a:t>
            </a:r>
            <a:r>
              <a:rPr lang="zh-CN" altLang="en-US" sz="2400">
                <a:latin typeface="Times New Roman" panose="02020603050405020304" pitchFamily="18" charset="0"/>
              </a:rPr>
              <a:t>编写软件质量计划涉及的</a:t>
            </a:r>
            <a:r>
              <a:rPr lang="zh-CN" altLang="en-US" sz="2400">
                <a:solidFill>
                  <a:srgbClr val="FF0000"/>
                </a:solidFill>
                <a:latin typeface="Times New Roman" panose="02020603050405020304" pitchFamily="18" charset="0"/>
              </a:rPr>
              <a:t>范围相当广</a:t>
            </a:r>
            <a:r>
              <a:rPr lang="zh-CN" altLang="en-US" sz="2400">
                <a:latin typeface="Times New Roman" panose="02020603050405020304" pitchFamily="18" charset="0"/>
              </a:rPr>
              <a:t>，不论是项目选型、软件开发各阶段，还是配置管理、岗位职责与团队组织，又或是其他如项目制度的制定等等方面，都应该是包含在</a:t>
            </a:r>
            <a:r>
              <a:rPr lang="zh-CN" altLang="en-US" sz="2400">
                <a:solidFill>
                  <a:srgbClr val="FF0000"/>
                </a:solidFill>
                <a:latin typeface="Times New Roman" panose="02020603050405020304" pitchFamily="18" charset="0"/>
              </a:rPr>
              <a:t>项目质量计划</a:t>
            </a:r>
            <a:r>
              <a:rPr lang="zh-CN" altLang="en-US" sz="2400">
                <a:latin typeface="Times New Roman" panose="02020603050405020304" pitchFamily="18" charset="0"/>
              </a:rPr>
              <a:t>中的内容。</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74B58057-0090-E82D-19AB-20A9AC3C9416}"/>
              </a:ext>
            </a:extLst>
          </p:cNvPr>
          <p:cNvSpPr>
            <a:spLocks noGrp="1" noChangeArrowheads="1"/>
          </p:cNvSpPr>
          <p:nvPr>
            <p:ph type="title"/>
          </p:nvPr>
        </p:nvSpPr>
        <p:spPr>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3.4.4  </a:t>
            </a:r>
            <a:r>
              <a:rPr kumimoji="1" lang="zh-CN" altLang="en-US"/>
              <a:t>质量目标 </a:t>
            </a:r>
          </a:p>
        </p:txBody>
      </p:sp>
      <p:sp>
        <p:nvSpPr>
          <p:cNvPr id="67587" name="Text Box 153">
            <a:extLst>
              <a:ext uri="{FF2B5EF4-FFF2-40B4-BE49-F238E27FC236}">
                <a16:creationId xmlns:a16="http://schemas.microsoft.com/office/drawing/2014/main" id="{8E728B53-597F-5D1C-61B6-5F448984EBC0}"/>
              </a:ext>
            </a:extLst>
          </p:cNvPr>
          <p:cNvSpPr txBox="1">
            <a:spLocks noChangeArrowheads="1"/>
          </p:cNvSpPr>
          <p:nvPr/>
        </p:nvSpPr>
        <p:spPr bwMode="auto">
          <a:xfrm>
            <a:off x="887413" y="2486025"/>
            <a:ext cx="76327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accent2"/>
              </a:buClr>
              <a:buSzPct val="70000"/>
              <a:buFont typeface="Wingdings" panose="05000000000000000000" pitchFamily="2" charset="2"/>
              <a:buChar char="n"/>
            </a:pPr>
            <a:r>
              <a:rPr lang="en-US" altLang="zh-CN" sz="2400" b="0">
                <a:latin typeface="Times New Roman" panose="02020603050405020304" pitchFamily="18" charset="0"/>
              </a:rPr>
              <a:t>    </a:t>
            </a:r>
            <a:r>
              <a:rPr lang="zh-CN" altLang="en-US" sz="2400">
                <a:solidFill>
                  <a:schemeClr val="accent2"/>
                </a:solidFill>
                <a:latin typeface="Times New Roman" panose="02020603050405020304" pitchFamily="18" charset="0"/>
                <a:ea typeface="黑体" panose="02010609060101010101" pitchFamily="49" charset="-122"/>
              </a:rPr>
              <a:t>软件生命周期三大阶段（以传统的瀑布模型为例）</a:t>
            </a:r>
          </a:p>
          <a:p>
            <a:pPr lvl="1" eaLnBrk="1" hangingPunct="1">
              <a:spcBef>
                <a:spcPct val="50000"/>
              </a:spcBef>
              <a:buClr>
                <a:schemeClr val="accent2"/>
              </a:buClr>
              <a:buFont typeface="Times New Roman" panose="02020603050405020304" pitchFamily="18" charset="0"/>
              <a:buChar char="─"/>
            </a:pPr>
            <a:r>
              <a:rPr lang="zh-CN" altLang="en-US" sz="2000">
                <a:latin typeface="宋体" panose="02010600030101010101" pitchFamily="2" charset="-122"/>
              </a:rPr>
              <a:t> 软件定义</a:t>
            </a:r>
          </a:p>
          <a:p>
            <a:pPr lvl="1" eaLnBrk="1" hangingPunct="1">
              <a:spcBef>
                <a:spcPct val="50000"/>
              </a:spcBef>
              <a:buClr>
                <a:schemeClr val="accent2"/>
              </a:buClr>
              <a:buFont typeface="Times New Roman" panose="02020603050405020304" pitchFamily="18" charset="0"/>
              <a:buChar char="─"/>
            </a:pPr>
            <a:r>
              <a:rPr lang="zh-CN" altLang="en-US" sz="2000">
                <a:latin typeface="宋体" panose="02010600030101010101" pitchFamily="2" charset="-122"/>
              </a:rPr>
              <a:t> 软件开发</a:t>
            </a:r>
          </a:p>
          <a:p>
            <a:pPr lvl="1" eaLnBrk="1" hangingPunct="1">
              <a:spcBef>
                <a:spcPct val="50000"/>
              </a:spcBef>
              <a:buClr>
                <a:schemeClr val="accent2"/>
              </a:buClr>
              <a:buFont typeface="Times New Roman" panose="02020603050405020304" pitchFamily="18" charset="0"/>
              <a:buChar char="─"/>
            </a:pPr>
            <a:r>
              <a:rPr lang="zh-CN" altLang="en-US" sz="2000">
                <a:latin typeface="宋体" panose="02010600030101010101" pitchFamily="2" charset="-122"/>
              </a:rPr>
              <a:t> 软件使用与维护</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4002" name="Group 162">
            <a:extLst>
              <a:ext uri="{FF2B5EF4-FFF2-40B4-BE49-F238E27FC236}">
                <a16:creationId xmlns:a16="http://schemas.microsoft.com/office/drawing/2014/main" id="{0D0F086D-00A4-2141-BC86-B452D5EC7824}"/>
              </a:ext>
            </a:extLst>
          </p:cNvPr>
          <p:cNvGraphicFramePr>
            <a:graphicFrameLocks noGrp="1"/>
          </p:cNvGraphicFramePr>
          <p:nvPr>
            <p:ph idx="1"/>
          </p:nvPr>
        </p:nvGraphicFramePr>
        <p:xfrm>
          <a:off x="971550" y="2420938"/>
          <a:ext cx="7416800" cy="4110036"/>
        </p:xfrm>
        <a:graphic>
          <a:graphicData uri="http://schemas.openxmlformats.org/drawingml/2006/table">
            <a:tbl>
              <a:tblPr/>
              <a:tblGrid>
                <a:gridCol w="1511300">
                  <a:extLst>
                    <a:ext uri="{9D8B030D-6E8A-4147-A177-3AD203B41FA5}">
                      <a16:colId xmlns:a16="http://schemas.microsoft.com/office/drawing/2014/main" val="20000"/>
                    </a:ext>
                  </a:extLst>
                </a:gridCol>
                <a:gridCol w="5905500">
                  <a:extLst>
                    <a:ext uri="{9D8B030D-6E8A-4147-A177-3AD203B41FA5}">
                      <a16:colId xmlns:a16="http://schemas.microsoft.com/office/drawing/2014/main" val="20001"/>
                    </a:ext>
                  </a:extLst>
                </a:gridCol>
              </a:tblGrid>
              <a:tr h="396301">
                <a:tc>
                  <a:txBody>
                    <a:bodyPr/>
                    <a:lstStyle>
                      <a:lvl1pPr>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阶段</a:t>
                      </a:r>
                      <a:endPar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     </a:t>
                      </a:r>
                      <a:r>
                        <a:rPr kumimoji="1" lang="zh-CN" altLang="en-US"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需要监控的关键元素</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01">
                <a:tc>
                  <a:txBody>
                    <a:bodyPr/>
                    <a:lstStyle>
                      <a:lvl1pPr>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问题定义</a:t>
                      </a:r>
                      <a:endPar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     </a:t>
                      </a:r>
                      <a:r>
                        <a:rPr kumimoji="1" lang="zh-CN" altLang="en-US"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关于规模和目标的报告书</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301">
                <a:tc>
                  <a:txBody>
                    <a:bodyPr/>
                    <a:lstStyle>
                      <a:lvl1pPr>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可行性研究</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6700">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2667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系统的高层逻辑模型：数据流图</a:t>
                      </a: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成本</a:t>
                      </a:r>
                      <a:r>
                        <a:rPr kumimoji="1"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t>
                      </a:r>
                      <a:r>
                        <a:rPr kumimoji="1" lang="zh-CN" altLang="en-US"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效益分析</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19249">
                <a:tc>
                  <a:txBody>
                    <a:bodyPr/>
                    <a:lstStyle>
                      <a:lvl1pPr>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需求分析</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6700">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2667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系统的逻辑模型：数据流图（</a:t>
                      </a:r>
                      <a:r>
                        <a:rPr kumimoji="1"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MSC</a:t>
                      </a:r>
                      <a:r>
                        <a:rPr kumimoji="1" lang="zh-CN" altLang="en-US"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图），数据字典（类清单、对象间关系）</a:t>
                      </a: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算法描述</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01148">
                <a:tc>
                  <a:txBody>
                    <a:bodyPr/>
                    <a:lstStyle>
                      <a:lvl1pPr>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总体设计</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6700">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2667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可能的解法：系统流程图</a:t>
                      </a: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成本</a:t>
                      </a:r>
                      <a:r>
                        <a:rPr kumimoji="1"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t>
                      </a:r>
                      <a:r>
                        <a:rPr kumimoji="1" lang="zh-CN" altLang="en-US"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效益分析</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推荐的系统结构：层次图 ，结构图</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301">
                <a:tc>
                  <a:txBody>
                    <a:bodyPr/>
                    <a:lstStyle>
                      <a:lvl1pPr>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详细设计</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30000"/>
                        </a:spcBef>
                        <a:buClr>
                          <a:srgbClr val="0000FF"/>
                        </a:buClr>
                        <a:buFont typeface="Wingdings 2" panose="05020102010507070707" pitchFamily="18" charset="2"/>
                        <a:tabLst>
                          <a:tab pos="619125" algn="l"/>
                          <a:tab pos="2416175" algn="l"/>
                          <a:tab pos="3624263" algn="l"/>
                        </a:tabLst>
                        <a:defRPr sz="24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tabLst>
                          <a:tab pos="619125" algn="l"/>
                          <a:tab pos="2416175" algn="l"/>
                          <a:tab pos="3624263" algn="l"/>
                        </a:tabLst>
                        <a:defRPr sz="2000" b="1">
                          <a:solidFill>
                            <a:schemeClr val="tx1"/>
                          </a:solidFill>
                          <a:latin typeface="Arial" panose="020B0604020202020204" pitchFamily="34" charset="0"/>
                          <a:ea typeface="宋体" panose="02010600030101010101" pitchFamily="2" charset="-122"/>
                        </a:defRPr>
                      </a:lvl2pPr>
                      <a:lvl3pPr>
                        <a:spcBef>
                          <a:spcPct val="20000"/>
                        </a:spcBef>
                        <a:buClr>
                          <a:srgbClr val="0000FF"/>
                        </a:buClr>
                        <a:buFont typeface="黑体" panose="02010609060101010101" pitchFamily="49" charset="-122"/>
                        <a:tabLst>
                          <a:tab pos="619125" algn="l"/>
                          <a:tab pos="2416175" algn="l"/>
                          <a:tab pos="3624263" algn="l"/>
                        </a:tabLst>
                        <a:defRPr b="1">
                          <a:solidFill>
                            <a:schemeClr val="tx1"/>
                          </a:solidFill>
                          <a:latin typeface="Arial" panose="020B0604020202020204" pitchFamily="34" charset="0"/>
                          <a:ea typeface="宋体" panose="02010600030101010101" pitchFamily="2" charset="-122"/>
                        </a:defRPr>
                      </a:lvl3pPr>
                      <a:lvl4pPr>
                        <a:spcBef>
                          <a:spcPct val="20000"/>
                        </a:spcBef>
                        <a:buClr>
                          <a:srgbClr val="0000FF"/>
                        </a:buClr>
                        <a:buFont typeface="Wingdings" panose="05000000000000000000" pitchFamily="2" charset="2"/>
                        <a:tabLst>
                          <a:tab pos="619125" algn="l"/>
                          <a:tab pos="2416175" algn="l"/>
                          <a:tab pos="3624263" algn="l"/>
                        </a:tabLst>
                        <a:defRPr>
                          <a:solidFill>
                            <a:schemeClr val="tx1"/>
                          </a:solidFill>
                          <a:latin typeface="Arial" panose="020B0604020202020204" pitchFamily="34" charset="0"/>
                          <a:ea typeface="宋体" panose="02010600030101010101" pitchFamily="2" charset="-122"/>
                        </a:defRPr>
                      </a:lvl4pPr>
                      <a:lvl5pPr>
                        <a:buClr>
                          <a:srgbClr val="0000FF"/>
                        </a:buClr>
                        <a:buFont typeface="Wingdings" panose="05000000000000000000" pitchFamily="2" charset="2"/>
                        <a:tabLst>
                          <a:tab pos="619125" algn="l"/>
                          <a:tab pos="2416175" algn="l"/>
                          <a:tab pos="3624263" algn="l"/>
                        </a:tabLst>
                        <a:defRPr sz="16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Clr>
                          <a:srgbClr val="0000FF"/>
                        </a:buClr>
                        <a:buFont typeface="Wingdings" panose="05000000000000000000" pitchFamily="2" charset="2"/>
                        <a:tabLst>
                          <a:tab pos="619125" algn="l"/>
                          <a:tab pos="2416175" algn="l"/>
                          <a:tab pos="3624263" algn="l"/>
                        </a:tabLst>
                        <a:defRPr sz="16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Clr>
                          <a:srgbClr val="0000FF"/>
                        </a:buClr>
                        <a:buFont typeface="Wingdings" panose="05000000000000000000" pitchFamily="2" charset="2"/>
                        <a:tabLst>
                          <a:tab pos="619125" algn="l"/>
                          <a:tab pos="2416175" algn="l"/>
                          <a:tab pos="3624263" algn="l"/>
                        </a:tabLst>
                        <a:defRPr sz="16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Clr>
                          <a:srgbClr val="0000FF"/>
                        </a:buClr>
                        <a:buFont typeface="Wingdings" panose="05000000000000000000" pitchFamily="2" charset="2"/>
                        <a:tabLst>
                          <a:tab pos="619125" algn="l"/>
                          <a:tab pos="2416175" algn="l"/>
                          <a:tab pos="3624263" algn="l"/>
                        </a:tabLst>
                        <a:defRPr sz="16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Clr>
                          <a:srgbClr val="0000FF"/>
                        </a:buClr>
                        <a:buFont typeface="Wingdings" panose="05000000000000000000" pitchFamily="2" charset="2"/>
                        <a:tabLst>
                          <a:tab pos="619125" algn="l"/>
                          <a:tab pos="2416175" algn="l"/>
                          <a:tab pos="3624263" algn="l"/>
                        </a:tabLst>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619125" algn="l"/>
                          <a:tab pos="2416175" algn="l"/>
                          <a:tab pos="3624263" algn="l"/>
                        </a:tabLst>
                      </a:pPr>
                      <a:r>
                        <a:rPr kumimoji="1"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     </a:t>
                      </a:r>
                      <a:r>
                        <a:rPr kumimoji="1" lang="zh-CN" altLang="en-US"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编码规格说明</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01148">
                <a:tc>
                  <a:txBody>
                    <a:bodyPr/>
                    <a:lstStyle>
                      <a:lvl1pPr>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编码测试</a:t>
                      </a:r>
                      <a:endPar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266700">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26670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编码、综合测试方案和结果</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完整性一致的软件配置</a:t>
                      </a:r>
                      <a:endPar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3287">
                <a:tc>
                  <a:txBody>
                    <a:bodyPr/>
                    <a:lstStyle>
                      <a:lvl1pPr>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维护</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30000"/>
                        </a:spcBef>
                        <a:buClr>
                          <a:srgbClr val="0000FF"/>
                        </a:buClr>
                        <a:buFont typeface="Wingdings 2" panose="05020102010507070707" pitchFamily="18" charset="2"/>
                        <a:defRPr sz="24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defRPr sz="2000" b="1">
                          <a:solidFill>
                            <a:schemeClr val="tx1"/>
                          </a:solidFill>
                          <a:latin typeface="Arial" panose="020B0604020202020204" pitchFamily="34" charset="0"/>
                          <a:ea typeface="宋体" panose="02010600030101010101" pitchFamily="2" charset="-122"/>
                        </a:defRPr>
                      </a:lvl2pPr>
                      <a:lvl3pPr>
                        <a:spcBef>
                          <a:spcPct val="20000"/>
                        </a:spcBef>
                        <a:buClr>
                          <a:srgbClr val="0000FF"/>
                        </a:buClr>
                        <a:buFont typeface="黑体" panose="02010609060101010101" pitchFamily="49" charset="-122"/>
                        <a:defRPr b="1">
                          <a:solidFill>
                            <a:schemeClr val="tx1"/>
                          </a:solidFill>
                          <a:latin typeface="Arial" panose="020B0604020202020204" pitchFamily="34" charset="0"/>
                          <a:ea typeface="宋体" panose="02010600030101010101" pitchFamily="2" charset="-122"/>
                        </a:defRPr>
                      </a:lvl3pPr>
                      <a:lvl4pPr>
                        <a:spcBef>
                          <a:spcPct val="20000"/>
                        </a:spcBef>
                        <a:buClr>
                          <a:srgbClr val="0000FF"/>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Clr>
                          <a:srgbClr val="0000FF"/>
                        </a:buClr>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　 完整准确的维护记录</a:t>
                      </a:r>
                      <a:endPar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68639" name="Rectangle 154">
            <a:extLst>
              <a:ext uri="{FF2B5EF4-FFF2-40B4-BE49-F238E27FC236}">
                <a16:creationId xmlns:a16="http://schemas.microsoft.com/office/drawing/2014/main" id="{16112632-8AAB-B23D-BBC1-2707DA110F70}"/>
              </a:ext>
            </a:extLst>
          </p:cNvPr>
          <p:cNvSpPr>
            <a:spLocks noGrp="1" noChangeArrowheads="1"/>
          </p:cNvSpPr>
          <p:nvPr>
            <p:ph type="title"/>
          </p:nvPr>
        </p:nvSpPr>
        <p:spPr>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3.4.4  </a:t>
            </a:r>
            <a:r>
              <a:rPr kumimoji="1" lang="zh-CN" altLang="en-US"/>
              <a:t>质量目标 </a:t>
            </a:r>
          </a:p>
        </p:txBody>
      </p:sp>
      <p:sp>
        <p:nvSpPr>
          <p:cNvPr id="68640" name="Text Box 156">
            <a:extLst>
              <a:ext uri="{FF2B5EF4-FFF2-40B4-BE49-F238E27FC236}">
                <a16:creationId xmlns:a16="http://schemas.microsoft.com/office/drawing/2014/main" id="{E1EB7186-40BF-9DE2-54B4-BF824BB1DE84}"/>
              </a:ext>
            </a:extLst>
          </p:cNvPr>
          <p:cNvSpPr txBox="1">
            <a:spLocks noChangeArrowheads="1"/>
          </p:cNvSpPr>
          <p:nvPr/>
        </p:nvSpPr>
        <p:spPr bwMode="auto">
          <a:xfrm>
            <a:off x="735013" y="162877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zh-CN" sz="2400" b="0">
              <a:latin typeface="Times New Roman" panose="02020603050405020304" pitchFamily="18" charset="0"/>
            </a:endParaRPr>
          </a:p>
        </p:txBody>
      </p:sp>
      <p:sp>
        <p:nvSpPr>
          <p:cNvPr id="68641" name="Text Box 159">
            <a:extLst>
              <a:ext uri="{FF2B5EF4-FFF2-40B4-BE49-F238E27FC236}">
                <a16:creationId xmlns:a16="http://schemas.microsoft.com/office/drawing/2014/main" id="{BD479953-6D25-32AB-700C-87ABA36B1022}"/>
              </a:ext>
            </a:extLst>
          </p:cNvPr>
          <p:cNvSpPr txBox="1">
            <a:spLocks noChangeArrowheads="1"/>
          </p:cNvSpPr>
          <p:nvPr/>
        </p:nvSpPr>
        <p:spPr bwMode="auto">
          <a:xfrm>
            <a:off x="798513" y="1844675"/>
            <a:ext cx="3692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Pct val="70000"/>
              <a:buFont typeface="Wingdings" panose="05000000000000000000" pitchFamily="2" charset="2"/>
              <a:buChar char="n"/>
            </a:pPr>
            <a:r>
              <a:rPr kumimoji="0" lang="zh-CN" altLang="en-US" sz="2400">
                <a:solidFill>
                  <a:schemeClr val="accent2"/>
                </a:solidFill>
                <a:latin typeface="Times New Roman" panose="02020603050405020304" pitchFamily="18" charset="0"/>
                <a:ea typeface="黑体" panose="02010609060101010101" pitchFamily="49" charset="-122"/>
              </a:rPr>
              <a:t>　各阶段的关键元素</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5A0DB463-BDE8-0327-A87A-080F1780D24A}"/>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3.4.5  </a:t>
            </a:r>
            <a:r>
              <a:rPr kumimoji="1" lang="zh-CN" altLang="en-US"/>
              <a:t>项目质量计划的编写 </a:t>
            </a:r>
          </a:p>
        </p:txBody>
      </p:sp>
      <p:sp>
        <p:nvSpPr>
          <p:cNvPr id="69635" name="Text Box 5">
            <a:extLst>
              <a:ext uri="{FF2B5EF4-FFF2-40B4-BE49-F238E27FC236}">
                <a16:creationId xmlns:a16="http://schemas.microsoft.com/office/drawing/2014/main" id="{15107D8D-26DB-86E5-699E-D6A92C79977C}"/>
              </a:ext>
            </a:extLst>
          </p:cNvPr>
          <p:cNvSpPr txBox="1">
            <a:spLocks noChangeArrowheads="1"/>
          </p:cNvSpPr>
          <p:nvPr/>
        </p:nvSpPr>
        <p:spPr bwMode="auto">
          <a:xfrm>
            <a:off x="815975" y="2284413"/>
            <a:ext cx="7859713" cy="331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accent2"/>
              </a:buClr>
              <a:buSzPct val="70000"/>
              <a:buFont typeface="Wingdings" panose="05000000000000000000" pitchFamily="2" charset="2"/>
              <a:buChar char="n"/>
            </a:pPr>
            <a:r>
              <a:rPr lang="en-US" altLang="zh-CN" sz="2400" b="0">
                <a:latin typeface="Times New Roman" panose="02020603050405020304" pitchFamily="18" charset="0"/>
              </a:rPr>
              <a:t>    </a:t>
            </a:r>
            <a:r>
              <a:rPr lang="zh-CN" altLang="en-US" sz="2400">
                <a:solidFill>
                  <a:schemeClr val="accent2"/>
                </a:solidFill>
                <a:latin typeface="Times New Roman" panose="02020603050405020304" pitchFamily="18" charset="0"/>
                <a:ea typeface="黑体" panose="02010609060101010101" pitchFamily="49" charset="-122"/>
              </a:rPr>
              <a:t>质量计划</a:t>
            </a:r>
          </a:p>
          <a:p>
            <a:pPr eaLnBrk="1" hangingPunct="1">
              <a:spcBef>
                <a:spcPct val="50000"/>
              </a:spcBef>
              <a:buClrTx/>
              <a:buFontTx/>
              <a:buNone/>
            </a:pPr>
            <a:r>
              <a:rPr lang="zh-CN" altLang="en-US" sz="2000">
                <a:latin typeface="Times New Roman" panose="02020603050405020304" pitchFamily="18" charset="0"/>
              </a:rPr>
              <a:t>       应说明项目管理小组如何具体执行它的质量策略。</a:t>
            </a:r>
          </a:p>
          <a:p>
            <a:pPr eaLnBrk="1" hangingPunct="1">
              <a:spcBef>
                <a:spcPct val="50000"/>
              </a:spcBef>
              <a:buClrTx/>
              <a:buSzPct val="70000"/>
              <a:buFont typeface="Wingdings" panose="05000000000000000000" pitchFamily="2" charset="2"/>
              <a:buChar char="n"/>
            </a:pPr>
            <a:r>
              <a:rPr lang="zh-CN" altLang="en-US" sz="2400">
                <a:solidFill>
                  <a:schemeClr val="accent2"/>
                </a:solidFill>
                <a:latin typeface="Times New Roman" panose="02020603050405020304" pitchFamily="18" charset="0"/>
                <a:ea typeface="黑体" panose="02010609060101010101" pitchFamily="49" charset="-122"/>
              </a:rPr>
              <a:t>    目的</a:t>
            </a:r>
          </a:p>
          <a:p>
            <a:pPr eaLnBrk="1" hangingPunct="1">
              <a:spcBef>
                <a:spcPct val="50000"/>
              </a:spcBef>
              <a:buClrTx/>
              <a:buSzPct val="70000"/>
              <a:buFont typeface="Wingdings" panose="05000000000000000000" pitchFamily="2" charset="2"/>
              <a:buNone/>
            </a:pPr>
            <a:r>
              <a:rPr lang="zh-CN" altLang="en-US" sz="2000">
                <a:latin typeface="Times New Roman" panose="02020603050405020304" pitchFamily="18" charset="0"/>
              </a:rPr>
              <a:t>       规划出哪些是需要被跟踪的质量工作，并建立文档，此文档可以作为软件质量工作指南，帮助项目经理确保所有工作按计划完成。</a:t>
            </a:r>
          </a:p>
          <a:p>
            <a:pPr eaLnBrk="1" hangingPunct="1">
              <a:spcBef>
                <a:spcPct val="50000"/>
              </a:spcBef>
              <a:buClr>
                <a:schemeClr val="accent2"/>
              </a:buClr>
              <a:buSzPct val="70000"/>
              <a:buFont typeface="Wingdings" panose="05000000000000000000" pitchFamily="2" charset="2"/>
              <a:buChar char="n"/>
            </a:pPr>
            <a:r>
              <a:rPr lang="zh-CN" altLang="en-US" sz="2400" b="0">
                <a:latin typeface="Times New Roman" panose="02020603050405020304" pitchFamily="18" charset="0"/>
              </a:rPr>
              <a:t>    </a:t>
            </a:r>
            <a:r>
              <a:rPr lang="zh-CN" altLang="en-US" sz="2400">
                <a:solidFill>
                  <a:schemeClr val="accent2"/>
                </a:solidFill>
                <a:latin typeface="Times New Roman" panose="02020603050405020304" pitchFamily="18" charset="0"/>
                <a:ea typeface="黑体" panose="02010609060101010101" pitchFamily="49" charset="-122"/>
              </a:rPr>
              <a:t>编写准则</a:t>
            </a:r>
          </a:p>
          <a:p>
            <a:pPr eaLnBrk="1" hangingPunct="1">
              <a:spcBef>
                <a:spcPct val="50000"/>
              </a:spcBef>
              <a:buClr>
                <a:schemeClr val="accent2"/>
              </a:buClr>
              <a:buSzPct val="70000"/>
              <a:buFont typeface="Wingdings" panose="05000000000000000000" pitchFamily="2" charset="2"/>
              <a:buNone/>
            </a:pPr>
            <a:r>
              <a:rPr lang="zh-CN" altLang="en-US" sz="2000">
                <a:latin typeface="Times New Roman" panose="02020603050405020304" pitchFamily="18" charset="0"/>
              </a:rPr>
              <a:t>       具体情况具体对待，没有统一定律。</a:t>
            </a:r>
            <a:r>
              <a:rPr lang="zh-CN" altLang="en-US" sz="2400" b="0">
                <a:latin typeface="Times New Roman" panose="02020603050405020304" pitchFamily="18" charset="0"/>
              </a:rPr>
              <a:t>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31731966-2F3A-6628-D715-0FDC0E163247}"/>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3.4.6  </a:t>
            </a:r>
            <a:r>
              <a:rPr kumimoji="1" lang="zh-CN" altLang="en-US"/>
              <a:t>按照质量计划实施有效的质量控制 </a:t>
            </a:r>
          </a:p>
        </p:txBody>
      </p:sp>
      <p:sp>
        <p:nvSpPr>
          <p:cNvPr id="70659" name="Text Box 5">
            <a:extLst>
              <a:ext uri="{FF2B5EF4-FFF2-40B4-BE49-F238E27FC236}">
                <a16:creationId xmlns:a16="http://schemas.microsoft.com/office/drawing/2014/main" id="{BB82DDD7-970A-9A4E-F299-0B745905F8BA}"/>
              </a:ext>
            </a:extLst>
          </p:cNvPr>
          <p:cNvSpPr txBox="1">
            <a:spLocks noChangeArrowheads="1"/>
          </p:cNvSpPr>
          <p:nvPr/>
        </p:nvSpPr>
        <p:spPr bwMode="auto">
          <a:xfrm>
            <a:off x="773113" y="1819275"/>
            <a:ext cx="7864475" cy="466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accent2"/>
              </a:buClr>
              <a:buFont typeface="Times New Roman" panose="02020603050405020304" pitchFamily="18" charset="0"/>
              <a:buNone/>
            </a:pPr>
            <a:r>
              <a:rPr lang="zh-CN" altLang="en-US" sz="2400" b="0">
                <a:latin typeface="Times New Roman" panose="02020603050405020304" pitchFamily="18" charset="0"/>
              </a:rPr>
              <a:t>　　</a:t>
            </a:r>
            <a:r>
              <a:rPr lang="zh-CN" altLang="en-US" sz="2400">
                <a:latin typeface="宋体" panose="02010600030101010101" pitchFamily="2" charset="-122"/>
              </a:rPr>
              <a:t>质量计划确定后，按其建立的质量管理体系，各责任单位必须按</a:t>
            </a:r>
            <a:r>
              <a:rPr lang="en-US" altLang="zh-CN" sz="2400">
                <a:latin typeface="宋体" panose="02010600030101010101" pitchFamily="2" charset="-122"/>
              </a:rPr>
              <a:t>PDCA</a:t>
            </a:r>
            <a:r>
              <a:rPr lang="zh-CN" altLang="en-US" sz="2400">
                <a:latin typeface="宋体" panose="02010600030101010101" pitchFamily="2" charset="-122"/>
              </a:rPr>
              <a:t>质量环的要求，实施有效的质量控制。</a:t>
            </a:r>
          </a:p>
          <a:p>
            <a:pPr eaLnBrk="1" hangingPunct="1">
              <a:spcBef>
                <a:spcPct val="50000"/>
              </a:spcBef>
              <a:buClr>
                <a:schemeClr val="accent2"/>
              </a:buClr>
              <a:buSzPct val="70000"/>
              <a:buFont typeface="Wingdings" panose="05000000000000000000" pitchFamily="2" charset="2"/>
              <a:buChar char="n"/>
            </a:pPr>
            <a:r>
              <a:rPr lang="zh-CN" altLang="en-US" sz="2400" b="0">
                <a:solidFill>
                  <a:schemeClr val="accent2"/>
                </a:solidFill>
                <a:latin typeface="Times New Roman" panose="02020603050405020304" pitchFamily="18" charset="0"/>
                <a:ea typeface="黑体" panose="02010609060101010101" pitchFamily="49" charset="-122"/>
              </a:rPr>
              <a:t>　</a:t>
            </a:r>
            <a:r>
              <a:rPr lang="zh-CN" altLang="en-US" sz="2400">
                <a:solidFill>
                  <a:schemeClr val="accent2"/>
                </a:solidFill>
                <a:latin typeface="Times New Roman" panose="02020603050405020304" pitchFamily="18" charset="0"/>
                <a:ea typeface="黑体" panose="02010609060101010101" pitchFamily="49" charset="-122"/>
              </a:rPr>
              <a:t>质量控制可分为两个阶段</a:t>
            </a:r>
          </a:p>
          <a:p>
            <a:pPr lvl="1" eaLnBrk="1" hangingPunct="1">
              <a:spcBef>
                <a:spcPct val="50000"/>
              </a:spcBef>
              <a:buClr>
                <a:schemeClr val="accent2"/>
              </a:buClr>
              <a:buFont typeface="Times New Roman" panose="02020603050405020304" pitchFamily="18" charset="0"/>
              <a:buChar char="─"/>
            </a:pPr>
            <a:r>
              <a:rPr lang="zh-CN" altLang="en-US" sz="2000">
                <a:latin typeface="Times New Roman" panose="02020603050405020304" pitchFamily="18" charset="0"/>
              </a:rPr>
              <a:t>监测</a:t>
            </a:r>
          </a:p>
          <a:p>
            <a:pPr lvl="1" eaLnBrk="1" hangingPunct="1">
              <a:spcBef>
                <a:spcPct val="50000"/>
              </a:spcBef>
              <a:buClr>
                <a:schemeClr val="accent2"/>
              </a:buClr>
              <a:buFont typeface="Times New Roman" panose="02020603050405020304" pitchFamily="18" charset="0"/>
              <a:buChar char="─"/>
            </a:pPr>
            <a:r>
              <a:rPr lang="zh-CN" altLang="en-US" sz="2000">
                <a:latin typeface="Times New Roman" panose="02020603050405020304" pitchFamily="18" charset="0"/>
              </a:rPr>
              <a:t>控制</a:t>
            </a:r>
          </a:p>
          <a:p>
            <a:pPr lvl="1" eaLnBrk="1" hangingPunct="1">
              <a:spcBef>
                <a:spcPct val="50000"/>
              </a:spcBef>
              <a:buClr>
                <a:schemeClr val="accent2"/>
              </a:buClr>
              <a:buFont typeface="Times New Roman" panose="02020603050405020304" pitchFamily="18" charset="0"/>
              <a:buNone/>
            </a:pPr>
            <a:r>
              <a:rPr lang="zh-CN" altLang="en-US" sz="2000">
                <a:latin typeface="Times New Roman" panose="02020603050405020304" pitchFamily="18" charset="0"/>
              </a:rPr>
              <a:t>质量控制应贯穿于项目的整个过程。</a:t>
            </a:r>
          </a:p>
          <a:p>
            <a:pPr eaLnBrk="1" hangingPunct="1">
              <a:spcBef>
                <a:spcPct val="50000"/>
              </a:spcBef>
              <a:buClr>
                <a:schemeClr val="accent2"/>
              </a:buClr>
              <a:buSzPct val="70000"/>
              <a:buFont typeface="Wingdings" panose="05000000000000000000" pitchFamily="2" charset="2"/>
              <a:buChar char="n"/>
            </a:pPr>
            <a:r>
              <a:rPr lang="zh-CN" altLang="en-US" sz="2400">
                <a:solidFill>
                  <a:schemeClr val="accent2"/>
                </a:solidFill>
                <a:latin typeface="Times New Roman" panose="02020603050405020304" pitchFamily="18" charset="0"/>
                <a:ea typeface="黑体" panose="02010609060101010101" pitchFamily="49" charset="-122"/>
              </a:rPr>
              <a:t>　项目收尾的两个阶段</a:t>
            </a:r>
          </a:p>
          <a:p>
            <a:pPr lvl="1" eaLnBrk="1" hangingPunct="1">
              <a:spcBef>
                <a:spcPct val="50000"/>
              </a:spcBef>
              <a:buClr>
                <a:schemeClr val="accent2"/>
              </a:buClr>
              <a:buFont typeface="Times New Roman" panose="02020603050405020304" pitchFamily="18" charset="0"/>
              <a:buChar char="─"/>
            </a:pPr>
            <a:r>
              <a:rPr lang="zh-CN" altLang="en-US" sz="2000">
                <a:latin typeface="Times New Roman" panose="02020603050405020304" pitchFamily="18" charset="0"/>
              </a:rPr>
              <a:t>项目评估</a:t>
            </a:r>
          </a:p>
          <a:p>
            <a:pPr lvl="1" eaLnBrk="1" hangingPunct="1">
              <a:spcBef>
                <a:spcPct val="50000"/>
              </a:spcBef>
              <a:buClr>
                <a:schemeClr val="accent2"/>
              </a:buClr>
              <a:buFont typeface="Times New Roman" panose="02020603050405020304" pitchFamily="18" charset="0"/>
              <a:buChar char="─"/>
            </a:pPr>
            <a:r>
              <a:rPr lang="zh-CN" altLang="en-US" sz="2000">
                <a:latin typeface="Times New Roman" panose="02020603050405020304" pitchFamily="18" charset="0"/>
              </a:rPr>
              <a:t>项目终止</a:t>
            </a:r>
          </a:p>
          <a:p>
            <a:pPr lvl="1" eaLnBrk="1" hangingPunct="1">
              <a:spcBef>
                <a:spcPct val="50000"/>
              </a:spcBef>
              <a:buClr>
                <a:schemeClr val="accent2"/>
              </a:buClr>
              <a:buFont typeface="Times New Roman" panose="02020603050405020304" pitchFamily="18" charset="0"/>
              <a:buNone/>
            </a:pPr>
            <a:r>
              <a:rPr lang="zh-CN" altLang="en-US" sz="2000">
                <a:latin typeface="Times New Roman" panose="02020603050405020304" pitchFamily="18" charset="0"/>
              </a:rPr>
              <a:t>项目收尾阶段的质量控制是一个非常重要而又容易忽视的内容。</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6D1F54D3-601F-5857-AD32-CA4FE6868566}"/>
              </a:ext>
            </a:extLst>
          </p:cNvPr>
          <p:cNvSpPr>
            <a:spLocks noGrp="1" noChangeArrowheads="1"/>
          </p:cNvSpPr>
          <p:nvPr>
            <p:ph type="title"/>
          </p:nvPr>
        </p:nvSpPr>
        <p:spPr/>
        <p:txBody>
          <a:bodyPr/>
          <a:lstStyle/>
          <a:p>
            <a:pPr eaLnBrk="1" hangingPunct="1"/>
            <a:r>
              <a:rPr lang="zh-CN" altLang="en-US"/>
              <a:t>本章内容提要</a:t>
            </a:r>
          </a:p>
        </p:txBody>
      </p:sp>
      <p:sp>
        <p:nvSpPr>
          <p:cNvPr id="71683" name="AutoShape 3">
            <a:extLst>
              <a:ext uri="{FF2B5EF4-FFF2-40B4-BE49-F238E27FC236}">
                <a16:creationId xmlns:a16="http://schemas.microsoft.com/office/drawing/2014/main" id="{0848D0E4-4DF8-CF94-1851-059F7BE6BFDF}"/>
              </a:ext>
            </a:extLst>
          </p:cNvPr>
          <p:cNvSpPr>
            <a:spLocks noChangeArrowheads="1"/>
          </p:cNvSpPr>
          <p:nvPr/>
        </p:nvSpPr>
        <p:spPr bwMode="auto">
          <a:xfrm>
            <a:off x="736600" y="2343150"/>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1684" name="Text Box 4">
            <a:extLst>
              <a:ext uri="{FF2B5EF4-FFF2-40B4-BE49-F238E27FC236}">
                <a16:creationId xmlns:a16="http://schemas.microsoft.com/office/drawing/2014/main" id="{14E86230-320E-3B5B-8303-6A54FBE47268}"/>
              </a:ext>
            </a:extLst>
          </p:cNvPr>
          <p:cNvSpPr txBox="1">
            <a:spLocks noChangeArrowheads="1"/>
          </p:cNvSpPr>
          <p:nvPr/>
        </p:nvSpPr>
        <p:spPr bwMode="auto">
          <a:xfrm>
            <a:off x="993775" y="2376488"/>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200">
                <a:latin typeface="Times New Roman" panose="02020603050405020304" pitchFamily="18" charset="0"/>
                <a:ea typeface="黑体" panose="02010609060101010101" pitchFamily="49" charset="-122"/>
              </a:rPr>
              <a:t>CMM</a:t>
            </a:r>
            <a:r>
              <a:rPr lang="zh-CN" altLang="en-US" sz="2200">
                <a:latin typeface="Times New Roman" panose="02020603050405020304" pitchFamily="18" charset="0"/>
                <a:ea typeface="黑体" panose="02010609060101010101" pitchFamily="49" charset="-122"/>
              </a:rPr>
              <a:t>和</a:t>
            </a:r>
            <a:r>
              <a:rPr lang="en-US" altLang="zh-CN" sz="2200">
                <a:latin typeface="Times New Roman" panose="02020603050405020304" pitchFamily="18" charset="0"/>
                <a:ea typeface="黑体" panose="02010609060101010101" pitchFamily="49" charset="-122"/>
              </a:rPr>
              <a:t>ISO9000</a:t>
            </a:r>
            <a:r>
              <a:rPr lang="en-US" altLang="zh-CN" sz="2400" b="0">
                <a:latin typeface="Times New Roman" panose="02020603050405020304" pitchFamily="18" charset="0"/>
              </a:rPr>
              <a:t> </a:t>
            </a:r>
          </a:p>
        </p:txBody>
      </p:sp>
      <p:sp>
        <p:nvSpPr>
          <p:cNvPr id="71685" name="AutoShape 5">
            <a:extLst>
              <a:ext uri="{FF2B5EF4-FFF2-40B4-BE49-F238E27FC236}">
                <a16:creationId xmlns:a16="http://schemas.microsoft.com/office/drawing/2014/main" id="{5FB2A1BE-F93F-7876-9028-90C660352AA0}"/>
              </a:ext>
            </a:extLst>
          </p:cNvPr>
          <p:cNvSpPr>
            <a:spLocks noChangeArrowheads="1"/>
          </p:cNvSpPr>
          <p:nvPr/>
        </p:nvSpPr>
        <p:spPr bwMode="auto">
          <a:xfrm>
            <a:off x="747713" y="2890838"/>
            <a:ext cx="5545137"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1686" name="Text Box 6">
            <a:extLst>
              <a:ext uri="{FF2B5EF4-FFF2-40B4-BE49-F238E27FC236}">
                <a16:creationId xmlns:a16="http://schemas.microsoft.com/office/drawing/2014/main" id="{0046C869-769B-D109-EAD7-52C636CB99CE}"/>
              </a:ext>
            </a:extLst>
          </p:cNvPr>
          <p:cNvSpPr txBox="1">
            <a:spLocks noChangeArrowheads="1"/>
          </p:cNvSpPr>
          <p:nvPr/>
        </p:nvSpPr>
        <p:spPr bwMode="auto">
          <a:xfrm>
            <a:off x="1004888" y="2932113"/>
            <a:ext cx="49196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传统软件开发生命周期模型</a:t>
            </a:r>
            <a:r>
              <a:rPr lang="zh-CN" altLang="en-US" sz="2400" b="0">
                <a:latin typeface="Times New Roman" panose="02020603050405020304" pitchFamily="18" charset="0"/>
              </a:rPr>
              <a:t> </a:t>
            </a:r>
          </a:p>
        </p:txBody>
      </p:sp>
      <p:sp>
        <p:nvSpPr>
          <p:cNvPr id="71687" name="AutoShape 7">
            <a:extLst>
              <a:ext uri="{FF2B5EF4-FFF2-40B4-BE49-F238E27FC236}">
                <a16:creationId xmlns:a16="http://schemas.microsoft.com/office/drawing/2014/main" id="{A2027972-59AB-4749-C651-1E025A2EE332}"/>
              </a:ext>
            </a:extLst>
          </p:cNvPr>
          <p:cNvSpPr>
            <a:spLocks noChangeArrowheads="1"/>
          </p:cNvSpPr>
          <p:nvPr/>
        </p:nvSpPr>
        <p:spPr bwMode="auto">
          <a:xfrm>
            <a:off x="747713" y="3440113"/>
            <a:ext cx="5545137"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1688" name="Text Box 8">
            <a:extLst>
              <a:ext uri="{FF2B5EF4-FFF2-40B4-BE49-F238E27FC236}">
                <a16:creationId xmlns:a16="http://schemas.microsoft.com/office/drawing/2014/main" id="{979D810D-3931-AECD-9C32-B23D761A3317}"/>
              </a:ext>
            </a:extLst>
          </p:cNvPr>
          <p:cNvSpPr txBox="1">
            <a:spLocks noChangeArrowheads="1"/>
          </p:cNvSpPr>
          <p:nvPr/>
        </p:nvSpPr>
        <p:spPr bwMode="auto">
          <a:xfrm>
            <a:off x="1004888" y="3511550"/>
            <a:ext cx="49196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扩展软件开发生命周期模型</a:t>
            </a:r>
            <a:r>
              <a:rPr lang="zh-CN" altLang="en-US" sz="2400" b="0">
                <a:latin typeface="Times New Roman" panose="02020603050405020304" pitchFamily="18" charset="0"/>
              </a:rPr>
              <a:t> </a:t>
            </a:r>
          </a:p>
        </p:txBody>
      </p:sp>
      <p:sp>
        <p:nvSpPr>
          <p:cNvPr id="71689" name="Rectangle 9">
            <a:extLst>
              <a:ext uri="{FF2B5EF4-FFF2-40B4-BE49-F238E27FC236}">
                <a16:creationId xmlns:a16="http://schemas.microsoft.com/office/drawing/2014/main" id="{CF63DF87-08BC-57BF-2DCB-7B96E894BEB5}"/>
              </a:ext>
            </a:extLst>
          </p:cNvPr>
          <p:cNvSpPr>
            <a:spLocks noChangeArrowheads="1"/>
          </p:cNvSpPr>
          <p:nvPr/>
        </p:nvSpPr>
        <p:spPr bwMode="auto">
          <a:xfrm>
            <a:off x="611188" y="2432050"/>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3.1</a:t>
            </a:r>
            <a:endParaRPr lang="en-US" altLang="zh-CN" sz="1800">
              <a:solidFill>
                <a:srgbClr val="000000"/>
              </a:solidFill>
            </a:endParaRPr>
          </a:p>
        </p:txBody>
      </p:sp>
      <p:sp>
        <p:nvSpPr>
          <p:cNvPr id="71690" name="AutoShape 10">
            <a:extLst>
              <a:ext uri="{FF2B5EF4-FFF2-40B4-BE49-F238E27FC236}">
                <a16:creationId xmlns:a16="http://schemas.microsoft.com/office/drawing/2014/main" id="{07A0C7A3-2D6A-6EFE-DF14-33AA8211973C}"/>
              </a:ext>
            </a:extLst>
          </p:cNvPr>
          <p:cNvSpPr>
            <a:spLocks noChangeArrowheads="1"/>
          </p:cNvSpPr>
          <p:nvPr/>
        </p:nvSpPr>
        <p:spPr bwMode="auto">
          <a:xfrm>
            <a:off x="752475" y="3992563"/>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1691" name="Text Box 11">
            <a:extLst>
              <a:ext uri="{FF2B5EF4-FFF2-40B4-BE49-F238E27FC236}">
                <a16:creationId xmlns:a16="http://schemas.microsoft.com/office/drawing/2014/main" id="{4771EA37-CBA1-D8F6-1BBA-D36AE6DA79B8}"/>
              </a:ext>
            </a:extLst>
          </p:cNvPr>
          <p:cNvSpPr txBox="1">
            <a:spLocks noChangeArrowheads="1"/>
          </p:cNvSpPr>
          <p:nvPr/>
        </p:nvSpPr>
        <p:spPr bwMode="auto">
          <a:xfrm>
            <a:off x="1009650" y="4025900"/>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质量计划</a:t>
            </a:r>
            <a:r>
              <a:rPr lang="zh-CN" altLang="en-US" sz="2400" b="0">
                <a:latin typeface="Times New Roman" panose="02020603050405020304" pitchFamily="18" charset="0"/>
              </a:rPr>
              <a:t> </a:t>
            </a:r>
          </a:p>
        </p:txBody>
      </p:sp>
      <p:sp>
        <p:nvSpPr>
          <p:cNvPr id="71692" name="Rectangle 12">
            <a:extLst>
              <a:ext uri="{FF2B5EF4-FFF2-40B4-BE49-F238E27FC236}">
                <a16:creationId xmlns:a16="http://schemas.microsoft.com/office/drawing/2014/main" id="{7A343EC6-D5DC-33E2-DA24-1B6D03C6FD7A}"/>
              </a:ext>
            </a:extLst>
          </p:cNvPr>
          <p:cNvSpPr>
            <a:spLocks noChangeArrowheads="1"/>
          </p:cNvSpPr>
          <p:nvPr/>
        </p:nvSpPr>
        <p:spPr bwMode="auto">
          <a:xfrm>
            <a:off x="627063" y="4081463"/>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3.4</a:t>
            </a:r>
            <a:endParaRPr lang="en-US" altLang="zh-CN" sz="1800">
              <a:solidFill>
                <a:srgbClr val="000000"/>
              </a:solidFill>
            </a:endParaRPr>
          </a:p>
        </p:txBody>
      </p:sp>
      <p:sp>
        <p:nvSpPr>
          <p:cNvPr id="71693" name="AutoShape 13">
            <a:extLst>
              <a:ext uri="{FF2B5EF4-FFF2-40B4-BE49-F238E27FC236}">
                <a16:creationId xmlns:a16="http://schemas.microsoft.com/office/drawing/2014/main" id="{011EEA32-DC5D-BC68-B789-65576D23DE1F}"/>
              </a:ext>
            </a:extLst>
          </p:cNvPr>
          <p:cNvSpPr>
            <a:spLocks noChangeArrowheads="1"/>
          </p:cNvSpPr>
          <p:nvPr/>
        </p:nvSpPr>
        <p:spPr bwMode="auto">
          <a:xfrm>
            <a:off x="750888" y="4546600"/>
            <a:ext cx="5545137"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1694" name="Text Box 14">
            <a:extLst>
              <a:ext uri="{FF2B5EF4-FFF2-40B4-BE49-F238E27FC236}">
                <a16:creationId xmlns:a16="http://schemas.microsoft.com/office/drawing/2014/main" id="{D917F614-E376-E845-E4C7-B47BA61559EF}"/>
              </a:ext>
            </a:extLst>
          </p:cNvPr>
          <p:cNvSpPr txBox="1">
            <a:spLocks noChangeArrowheads="1"/>
          </p:cNvSpPr>
          <p:nvPr/>
        </p:nvSpPr>
        <p:spPr bwMode="auto">
          <a:xfrm>
            <a:off x="1008063" y="4594225"/>
            <a:ext cx="4919662"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案例分析</a:t>
            </a:r>
            <a:r>
              <a:rPr lang="zh-CN" altLang="en-US" sz="2200">
                <a:latin typeface="Times New Roman" panose="02020603050405020304" pitchFamily="18" charset="0"/>
              </a:rPr>
              <a:t> </a:t>
            </a:r>
          </a:p>
        </p:txBody>
      </p:sp>
      <p:sp>
        <p:nvSpPr>
          <p:cNvPr id="71695" name="Rectangle 15">
            <a:extLst>
              <a:ext uri="{FF2B5EF4-FFF2-40B4-BE49-F238E27FC236}">
                <a16:creationId xmlns:a16="http://schemas.microsoft.com/office/drawing/2014/main" id="{8FFFF5EF-54A1-9076-6044-EAC18C6EDB4B}"/>
              </a:ext>
            </a:extLst>
          </p:cNvPr>
          <p:cNvSpPr>
            <a:spLocks noChangeArrowheads="1"/>
          </p:cNvSpPr>
          <p:nvPr/>
        </p:nvSpPr>
        <p:spPr bwMode="auto">
          <a:xfrm>
            <a:off x="625475" y="4635500"/>
            <a:ext cx="334963" cy="260350"/>
          </a:xfrm>
          <a:prstGeom prst="rect">
            <a:avLst/>
          </a:prstGeom>
          <a:solidFill>
            <a:srgbClr val="0000FF"/>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3.5</a:t>
            </a:r>
            <a:endParaRPr lang="en-US" altLang="zh-CN" sz="1800">
              <a:solidFill>
                <a:srgbClr val="000000"/>
              </a:solidFill>
            </a:endParaRPr>
          </a:p>
        </p:txBody>
      </p:sp>
      <p:sp>
        <p:nvSpPr>
          <p:cNvPr id="71696" name="AutoShape 16">
            <a:extLst>
              <a:ext uri="{FF2B5EF4-FFF2-40B4-BE49-F238E27FC236}">
                <a16:creationId xmlns:a16="http://schemas.microsoft.com/office/drawing/2014/main" id="{D28E8F2C-C40B-497D-DAA5-11F51B37822A}"/>
              </a:ext>
            </a:extLst>
          </p:cNvPr>
          <p:cNvSpPr>
            <a:spLocks noChangeArrowheads="1"/>
          </p:cNvSpPr>
          <p:nvPr/>
        </p:nvSpPr>
        <p:spPr bwMode="auto">
          <a:xfrm>
            <a:off x="755650" y="5106988"/>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1697" name="Text Box 17">
            <a:extLst>
              <a:ext uri="{FF2B5EF4-FFF2-40B4-BE49-F238E27FC236}">
                <a16:creationId xmlns:a16="http://schemas.microsoft.com/office/drawing/2014/main" id="{4443B722-C8F5-4DF4-0BC8-9948C453668D}"/>
              </a:ext>
            </a:extLst>
          </p:cNvPr>
          <p:cNvSpPr txBox="1">
            <a:spLocks noChangeArrowheads="1"/>
          </p:cNvSpPr>
          <p:nvPr/>
        </p:nvSpPr>
        <p:spPr bwMode="auto">
          <a:xfrm>
            <a:off x="1012825" y="5140325"/>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71698" name="Rectangle 18">
            <a:extLst>
              <a:ext uri="{FF2B5EF4-FFF2-40B4-BE49-F238E27FC236}">
                <a16:creationId xmlns:a16="http://schemas.microsoft.com/office/drawing/2014/main" id="{8282574C-A7C0-F2F2-8224-32DC2F239BFA}"/>
              </a:ext>
            </a:extLst>
          </p:cNvPr>
          <p:cNvSpPr>
            <a:spLocks noChangeArrowheads="1"/>
          </p:cNvSpPr>
          <p:nvPr/>
        </p:nvSpPr>
        <p:spPr bwMode="auto">
          <a:xfrm>
            <a:off x="630238" y="5195888"/>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3.6</a:t>
            </a:r>
            <a:endParaRPr lang="en-US" altLang="zh-CN" sz="1800">
              <a:solidFill>
                <a:srgbClr val="000000"/>
              </a:solidFill>
            </a:endParaRPr>
          </a:p>
        </p:txBody>
      </p:sp>
      <p:sp>
        <p:nvSpPr>
          <p:cNvPr id="71699" name="AutoShape 19">
            <a:extLst>
              <a:ext uri="{FF2B5EF4-FFF2-40B4-BE49-F238E27FC236}">
                <a16:creationId xmlns:a16="http://schemas.microsoft.com/office/drawing/2014/main" id="{A6313A9D-911A-E8FF-C6F4-2A78FF6209F5}"/>
              </a:ext>
            </a:extLst>
          </p:cNvPr>
          <p:cNvSpPr>
            <a:spLocks noChangeArrowheads="1"/>
          </p:cNvSpPr>
          <p:nvPr/>
        </p:nvSpPr>
        <p:spPr bwMode="auto">
          <a:xfrm>
            <a:off x="755650" y="5651500"/>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1700" name="Text Box 20">
            <a:extLst>
              <a:ext uri="{FF2B5EF4-FFF2-40B4-BE49-F238E27FC236}">
                <a16:creationId xmlns:a16="http://schemas.microsoft.com/office/drawing/2014/main" id="{729DF7C9-0290-1450-CC65-F9E7C9CC51C7}"/>
              </a:ext>
            </a:extLst>
          </p:cNvPr>
          <p:cNvSpPr txBox="1">
            <a:spLocks noChangeArrowheads="1"/>
          </p:cNvSpPr>
          <p:nvPr/>
        </p:nvSpPr>
        <p:spPr bwMode="auto">
          <a:xfrm>
            <a:off x="1012825" y="5684838"/>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复习思考题</a:t>
            </a:r>
            <a:r>
              <a:rPr lang="zh-CN" altLang="en-US" sz="2400" b="0">
                <a:latin typeface="Times New Roman" panose="02020603050405020304" pitchFamily="18" charset="0"/>
              </a:rPr>
              <a:t> </a:t>
            </a:r>
          </a:p>
        </p:txBody>
      </p:sp>
      <p:sp>
        <p:nvSpPr>
          <p:cNvPr id="71701" name="Rectangle 21">
            <a:extLst>
              <a:ext uri="{FF2B5EF4-FFF2-40B4-BE49-F238E27FC236}">
                <a16:creationId xmlns:a16="http://schemas.microsoft.com/office/drawing/2014/main" id="{9519EE19-027F-417C-710E-A2857CA1BBEA}"/>
              </a:ext>
            </a:extLst>
          </p:cNvPr>
          <p:cNvSpPr>
            <a:spLocks noChangeArrowheads="1"/>
          </p:cNvSpPr>
          <p:nvPr/>
        </p:nvSpPr>
        <p:spPr bwMode="auto">
          <a:xfrm>
            <a:off x="630238" y="5740400"/>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3.7</a:t>
            </a:r>
            <a:endParaRPr lang="en-US" altLang="zh-CN" sz="1800">
              <a:solidFill>
                <a:srgbClr val="000000"/>
              </a:solidFill>
            </a:endParaRPr>
          </a:p>
        </p:txBody>
      </p:sp>
      <p:sp>
        <p:nvSpPr>
          <p:cNvPr id="71702" name="Rectangle 22">
            <a:extLst>
              <a:ext uri="{FF2B5EF4-FFF2-40B4-BE49-F238E27FC236}">
                <a16:creationId xmlns:a16="http://schemas.microsoft.com/office/drawing/2014/main" id="{2544BCF9-A8D3-A578-12A4-A33A6A10A6C2}"/>
              </a:ext>
            </a:extLst>
          </p:cNvPr>
          <p:cNvSpPr>
            <a:spLocks noChangeArrowheads="1"/>
          </p:cNvSpPr>
          <p:nvPr/>
        </p:nvSpPr>
        <p:spPr bwMode="auto">
          <a:xfrm>
            <a:off x="604838" y="2992438"/>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3.2</a:t>
            </a:r>
          </a:p>
        </p:txBody>
      </p:sp>
      <p:sp>
        <p:nvSpPr>
          <p:cNvPr id="71703" name="Rectangle 23">
            <a:extLst>
              <a:ext uri="{FF2B5EF4-FFF2-40B4-BE49-F238E27FC236}">
                <a16:creationId xmlns:a16="http://schemas.microsoft.com/office/drawing/2014/main" id="{34261300-517B-FDE5-9D1D-C5B714FB8057}"/>
              </a:ext>
            </a:extLst>
          </p:cNvPr>
          <p:cNvSpPr>
            <a:spLocks noChangeArrowheads="1"/>
          </p:cNvSpPr>
          <p:nvPr/>
        </p:nvSpPr>
        <p:spPr bwMode="auto">
          <a:xfrm>
            <a:off x="604838" y="3536950"/>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3.3</a:t>
            </a:r>
            <a:endParaRPr lang="en-US" altLang="zh-CN" sz="1800">
              <a:solidFill>
                <a:srgbClr val="000000"/>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0FAC11BB-FF7B-79E3-7D0F-894B9A763A48}"/>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3.5 </a:t>
            </a:r>
            <a:r>
              <a:rPr kumimoji="1" lang="zh-CN" altLang="en-US"/>
              <a:t>案例分析</a:t>
            </a:r>
            <a:endParaRPr lang="zh-CN" altLang="en-US"/>
          </a:p>
        </p:txBody>
      </p:sp>
      <p:sp>
        <p:nvSpPr>
          <p:cNvPr id="72707" name="Text Box 3">
            <a:extLst>
              <a:ext uri="{FF2B5EF4-FFF2-40B4-BE49-F238E27FC236}">
                <a16:creationId xmlns:a16="http://schemas.microsoft.com/office/drawing/2014/main" id="{7ED58535-6176-7594-DC09-6AB8C2201FE5}"/>
              </a:ext>
            </a:extLst>
          </p:cNvPr>
          <p:cNvSpPr txBox="1">
            <a:spLocks noChangeArrowheads="1"/>
          </p:cNvSpPr>
          <p:nvPr/>
        </p:nvSpPr>
        <p:spPr bwMode="auto">
          <a:xfrm>
            <a:off x="1004888" y="1935163"/>
            <a:ext cx="7410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endParaRPr kumimoji="0" lang="zh-CN" altLang="zh-CN" sz="2400">
              <a:ea typeface="黑体" panose="02010609060101010101" pitchFamily="49" charset="-122"/>
            </a:endParaRPr>
          </a:p>
        </p:txBody>
      </p:sp>
      <p:sp>
        <p:nvSpPr>
          <p:cNvPr id="72708" name="Text Box 4">
            <a:extLst>
              <a:ext uri="{FF2B5EF4-FFF2-40B4-BE49-F238E27FC236}">
                <a16:creationId xmlns:a16="http://schemas.microsoft.com/office/drawing/2014/main" id="{FF50F6AB-7190-9E31-7888-656113524380}"/>
              </a:ext>
            </a:extLst>
          </p:cNvPr>
          <p:cNvSpPr txBox="1">
            <a:spLocks noChangeArrowheads="1"/>
          </p:cNvSpPr>
          <p:nvPr/>
        </p:nvSpPr>
        <p:spPr bwMode="auto">
          <a:xfrm>
            <a:off x="1042988" y="4076700"/>
            <a:ext cx="7172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kumimoji="0" lang="zh-CN" altLang="zh-CN" sz="2400">
              <a:latin typeface="Times New Roman" panose="02020603050405020304" pitchFamily="18" charset="0"/>
            </a:endParaRPr>
          </a:p>
        </p:txBody>
      </p:sp>
      <p:sp>
        <p:nvSpPr>
          <p:cNvPr id="72709" name="Text Box 5">
            <a:extLst>
              <a:ext uri="{FF2B5EF4-FFF2-40B4-BE49-F238E27FC236}">
                <a16:creationId xmlns:a16="http://schemas.microsoft.com/office/drawing/2014/main" id="{C189F342-49CE-5099-E80A-94804B9BC17B}"/>
              </a:ext>
            </a:extLst>
          </p:cNvPr>
          <p:cNvSpPr txBox="1">
            <a:spLocks noChangeArrowheads="1"/>
          </p:cNvSpPr>
          <p:nvPr/>
        </p:nvSpPr>
        <p:spPr bwMode="auto">
          <a:xfrm>
            <a:off x="1116013" y="2060575"/>
            <a:ext cx="6480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endParaRPr lang="zh-CN" altLang="zh-CN" sz="2400" b="0">
              <a:latin typeface="Times New Roman" panose="02020603050405020304" pitchFamily="18" charset="0"/>
            </a:endParaRPr>
          </a:p>
        </p:txBody>
      </p:sp>
      <p:sp>
        <p:nvSpPr>
          <p:cNvPr id="72710" name="Text Box 6">
            <a:extLst>
              <a:ext uri="{FF2B5EF4-FFF2-40B4-BE49-F238E27FC236}">
                <a16:creationId xmlns:a16="http://schemas.microsoft.com/office/drawing/2014/main" id="{0DAF8AC5-F006-DBB9-3475-D046E865B81A}"/>
              </a:ext>
            </a:extLst>
          </p:cNvPr>
          <p:cNvSpPr txBox="1">
            <a:spLocks noChangeArrowheads="1"/>
          </p:cNvSpPr>
          <p:nvPr/>
        </p:nvSpPr>
        <p:spPr bwMode="auto">
          <a:xfrm>
            <a:off x="722313" y="2205038"/>
            <a:ext cx="7488237" cy="284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lnSpc>
                <a:spcPts val="3000"/>
              </a:lnSpc>
              <a:spcBef>
                <a:spcPct val="50000"/>
              </a:spcBef>
              <a:buClr>
                <a:schemeClr val="accent2"/>
              </a:buClr>
              <a:buSzPct val="70000"/>
              <a:buFont typeface="Wingdings" panose="05000000000000000000" pitchFamily="2" charset="2"/>
              <a:buChar char="n"/>
            </a:pPr>
            <a:r>
              <a:rPr lang="en-US" altLang="zh-CN" sz="2400" b="0">
                <a:latin typeface="Times New Roman" panose="02020603050405020304" pitchFamily="18" charset="0"/>
              </a:rPr>
              <a:t>    </a:t>
            </a:r>
            <a:r>
              <a:rPr lang="en-US" altLang="zh-CN" sz="2400">
                <a:solidFill>
                  <a:schemeClr val="accent2"/>
                </a:solidFill>
                <a:latin typeface="黑体" panose="02010609060101010101" pitchFamily="49" charset="-122"/>
                <a:ea typeface="黑体" panose="02010609060101010101" pitchFamily="49" charset="-122"/>
              </a:rPr>
              <a:t>HRMS</a:t>
            </a:r>
            <a:r>
              <a:rPr lang="zh-CN" altLang="en-US" sz="2400">
                <a:solidFill>
                  <a:schemeClr val="accent2"/>
                </a:solidFill>
                <a:latin typeface="黑体" panose="02010609060101010101" pitchFamily="49" charset="-122"/>
                <a:ea typeface="黑体" panose="02010609060101010101" pitchFamily="49" charset="-122"/>
              </a:rPr>
              <a:t>系统</a:t>
            </a:r>
          </a:p>
          <a:p>
            <a:pPr lvl="1" eaLnBrk="1" hangingPunct="1">
              <a:lnSpc>
                <a:spcPts val="3000"/>
              </a:lnSpc>
              <a:spcBef>
                <a:spcPct val="50000"/>
              </a:spcBef>
              <a:buClr>
                <a:schemeClr val="accent2"/>
              </a:buClr>
              <a:buFont typeface="Times New Roman" panose="02020603050405020304" pitchFamily="18" charset="0"/>
              <a:buChar char="─"/>
            </a:pPr>
            <a:r>
              <a:rPr lang="zh-CN" altLang="en-US" sz="2000">
                <a:latin typeface="Times New Roman" panose="02020603050405020304" pitchFamily="18" charset="0"/>
              </a:rPr>
              <a:t>　即人力资源管理系统，是为某跨国企业的</a:t>
            </a:r>
            <a:r>
              <a:rPr lang="en-US" altLang="zh-CN" sz="2000">
                <a:latin typeface="Times New Roman" panose="02020603050405020304" pitchFamily="18" charset="0"/>
              </a:rPr>
              <a:t>ISS</a:t>
            </a:r>
            <a:r>
              <a:rPr lang="zh-CN" altLang="en-US" sz="2000">
                <a:latin typeface="Times New Roman" panose="02020603050405020304" pitchFamily="18" charset="0"/>
              </a:rPr>
              <a:t>部门而开发的。</a:t>
            </a:r>
          </a:p>
          <a:p>
            <a:pPr eaLnBrk="1" hangingPunct="1">
              <a:spcBef>
                <a:spcPct val="50000"/>
              </a:spcBef>
              <a:buClr>
                <a:schemeClr val="accent2"/>
              </a:buClr>
              <a:buSzPct val="70000"/>
              <a:buFont typeface="Wingdings" panose="05000000000000000000" pitchFamily="2" charset="2"/>
              <a:buChar char="n"/>
            </a:pPr>
            <a:r>
              <a:rPr lang="zh-CN" altLang="en-US" sz="2400">
                <a:solidFill>
                  <a:schemeClr val="accent2"/>
                </a:solidFill>
                <a:latin typeface="黑体" panose="02010609060101010101" pitchFamily="49" charset="-122"/>
                <a:ea typeface="黑体" panose="02010609060101010101" pitchFamily="49" charset="-122"/>
              </a:rPr>
              <a:t>  </a:t>
            </a:r>
            <a:r>
              <a:rPr lang="en-US" altLang="zh-CN" sz="2400">
                <a:solidFill>
                  <a:schemeClr val="accent2"/>
                </a:solidFill>
                <a:latin typeface="黑体" panose="02010609060101010101" pitchFamily="49" charset="-122"/>
                <a:ea typeface="黑体" panose="02010609060101010101" pitchFamily="49" charset="-122"/>
              </a:rPr>
              <a:t>HRMS</a:t>
            </a:r>
            <a:r>
              <a:rPr lang="zh-CN" altLang="en-US" sz="2400">
                <a:solidFill>
                  <a:schemeClr val="accent2"/>
                </a:solidFill>
                <a:latin typeface="黑体" panose="02010609060101010101" pitchFamily="49" charset="-122"/>
                <a:ea typeface="黑体" panose="02010609060101010101" pitchFamily="49" charset="-122"/>
              </a:rPr>
              <a:t>系统生存期模型选择过程</a:t>
            </a:r>
          </a:p>
          <a:p>
            <a:pPr lvl="1" eaLnBrk="1" hangingPunct="1">
              <a:lnSpc>
                <a:spcPts val="3000"/>
              </a:lnSpc>
              <a:spcBef>
                <a:spcPct val="50000"/>
              </a:spcBef>
              <a:buClr>
                <a:schemeClr val="accent2"/>
              </a:buClr>
              <a:buFont typeface="Times New Roman" panose="02020603050405020304" pitchFamily="18" charset="0"/>
              <a:buChar char="─"/>
            </a:pPr>
            <a:r>
              <a:rPr lang="zh-CN" altLang="en-US" sz="2000">
                <a:latin typeface="Times New Roman" panose="02020603050405020304" pitchFamily="18" charset="0"/>
              </a:rPr>
              <a:t>　针对本项目的开发特点，参考企业的生存期模型说明和软件过程体系，决定采用迭代增量式模型。</a:t>
            </a:r>
            <a:r>
              <a:rPr lang="zh-CN" altLang="en-US" b="0">
                <a:latin typeface="Times New Roman" panose="02020603050405020304" pitchFamily="18" charset="0"/>
              </a:rPr>
              <a:t>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3ADC47EB-5AAB-8164-18C8-60ED147BF89C}"/>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3.5 </a:t>
            </a:r>
            <a:r>
              <a:rPr kumimoji="1" lang="zh-CN" altLang="en-US"/>
              <a:t>案例分析</a:t>
            </a:r>
            <a:endParaRPr lang="zh-CN" altLang="en-US"/>
          </a:p>
        </p:txBody>
      </p:sp>
      <p:sp>
        <p:nvSpPr>
          <p:cNvPr id="73731" name="Text Box 4">
            <a:extLst>
              <a:ext uri="{FF2B5EF4-FFF2-40B4-BE49-F238E27FC236}">
                <a16:creationId xmlns:a16="http://schemas.microsoft.com/office/drawing/2014/main" id="{E3467C34-2FD7-60CD-CAC1-E6006FC6811B}"/>
              </a:ext>
            </a:extLst>
          </p:cNvPr>
          <p:cNvSpPr txBox="1">
            <a:spLocks noChangeArrowheads="1"/>
          </p:cNvSpPr>
          <p:nvPr/>
        </p:nvSpPr>
        <p:spPr bwMode="auto">
          <a:xfrm>
            <a:off x="1042988" y="4076700"/>
            <a:ext cx="7172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8" tIns="45714" rIns="91428" bIns="45714">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kumimoji="0" lang="zh-CN" altLang="zh-CN" sz="2400">
              <a:latin typeface="Times New Roman" panose="02020603050405020304" pitchFamily="18" charset="0"/>
            </a:endParaRPr>
          </a:p>
        </p:txBody>
      </p:sp>
      <p:sp>
        <p:nvSpPr>
          <p:cNvPr id="73732" name="Rectangle 8">
            <a:extLst>
              <a:ext uri="{FF2B5EF4-FFF2-40B4-BE49-F238E27FC236}">
                <a16:creationId xmlns:a16="http://schemas.microsoft.com/office/drawing/2014/main" id="{63DA692D-0219-4BBE-392C-4D66E8D683F8}"/>
              </a:ext>
            </a:extLst>
          </p:cNvPr>
          <p:cNvSpPr>
            <a:spLocks noChangeArrowheads="1"/>
          </p:cNvSpPr>
          <p:nvPr/>
        </p:nvSpPr>
        <p:spPr bwMode="auto">
          <a:xfrm>
            <a:off x="0" y="742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graphicFrame>
        <p:nvGraphicFramePr>
          <p:cNvPr id="183303" name="Object 7">
            <a:extLst>
              <a:ext uri="{FF2B5EF4-FFF2-40B4-BE49-F238E27FC236}">
                <a16:creationId xmlns:a16="http://schemas.microsoft.com/office/drawing/2014/main" id="{FAD8109A-5C93-4924-B7CE-CA473A197A9C}"/>
              </a:ext>
            </a:extLst>
          </p:cNvPr>
          <p:cNvGraphicFramePr>
            <a:graphicFrameLocks noChangeAspect="1"/>
          </p:cNvGraphicFramePr>
          <p:nvPr/>
        </p:nvGraphicFramePr>
        <p:xfrm>
          <a:off x="2771775" y="1484313"/>
          <a:ext cx="5684838" cy="5221287"/>
        </p:xfrm>
        <a:graphic>
          <a:graphicData uri="http://schemas.openxmlformats.org/presentationml/2006/ole">
            <mc:AlternateContent xmlns:mc="http://schemas.openxmlformats.org/markup-compatibility/2006">
              <mc:Choice xmlns:v="urn:schemas-microsoft-com:vml" Requires="v">
                <p:oleObj name="Visio" r:id="rId2" imgW="8062570" imgH="9010802" progId="Visio.Drawing.11">
                  <p:embed/>
                </p:oleObj>
              </mc:Choice>
              <mc:Fallback>
                <p:oleObj name="Visio" r:id="rId2" imgW="8062570" imgH="9010802" progId="Visio.Drawing.11">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775" y="1484313"/>
                        <a:ext cx="5684838" cy="522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3306" name="Text Box 10">
            <a:extLst>
              <a:ext uri="{FF2B5EF4-FFF2-40B4-BE49-F238E27FC236}">
                <a16:creationId xmlns:a16="http://schemas.microsoft.com/office/drawing/2014/main" id="{48806DA2-A7CA-2FDE-0FFA-BDEB94E41504}"/>
              </a:ext>
            </a:extLst>
          </p:cNvPr>
          <p:cNvSpPr txBox="1">
            <a:spLocks noChangeArrowheads="1"/>
          </p:cNvSpPr>
          <p:nvPr/>
        </p:nvSpPr>
        <p:spPr bwMode="auto">
          <a:xfrm>
            <a:off x="942975" y="2101850"/>
            <a:ext cx="566738" cy="4108450"/>
          </a:xfrm>
          <a:prstGeom prst="rect">
            <a:avLst/>
          </a:prstGeom>
          <a:noFill/>
          <a:ln>
            <a:noFill/>
          </a:ln>
          <a:effectLst/>
        </p:spPr>
        <p:txBody>
          <a:bodyPr>
            <a:spAutoFit/>
          </a:bodyPr>
          <a:lstStyle/>
          <a:p>
            <a:pPr algn="ctr" eaLnBrk="1" hangingPunct="1">
              <a:defRPr/>
            </a:pPr>
            <a:r>
              <a:rPr lang="en-US" altLang="zh-CN" b="1">
                <a:solidFill>
                  <a:schemeClr val="accent2"/>
                </a:solidFill>
                <a:latin typeface="黑体" panose="02010609060101010101" pitchFamily="49" charset="-122"/>
                <a:ea typeface="黑体" panose="02010609060101010101" pitchFamily="49" charset="-122"/>
              </a:rPr>
              <a:t>H</a:t>
            </a:r>
          </a:p>
          <a:p>
            <a:pPr algn="ctr" eaLnBrk="1" hangingPunct="1">
              <a:defRPr/>
            </a:pPr>
            <a:r>
              <a:rPr lang="en-US" altLang="zh-CN" b="1">
                <a:solidFill>
                  <a:schemeClr val="accent2"/>
                </a:solidFill>
                <a:latin typeface="黑体" panose="02010609060101010101" pitchFamily="49" charset="-122"/>
                <a:ea typeface="黑体" panose="02010609060101010101" pitchFamily="49" charset="-122"/>
              </a:rPr>
              <a:t>R</a:t>
            </a:r>
          </a:p>
          <a:p>
            <a:pPr algn="ctr" eaLnBrk="1" hangingPunct="1">
              <a:defRPr/>
            </a:pPr>
            <a:r>
              <a:rPr lang="en-US" altLang="zh-CN" b="1">
                <a:solidFill>
                  <a:schemeClr val="accent2"/>
                </a:solidFill>
                <a:latin typeface="黑体" panose="02010609060101010101" pitchFamily="49" charset="-122"/>
                <a:ea typeface="黑体" panose="02010609060101010101" pitchFamily="49" charset="-122"/>
              </a:rPr>
              <a:t>M</a:t>
            </a:r>
          </a:p>
          <a:p>
            <a:pPr algn="ctr" eaLnBrk="1" hangingPunct="1">
              <a:defRPr/>
            </a:pPr>
            <a:r>
              <a:rPr lang="en-US" altLang="zh-CN" b="1">
                <a:solidFill>
                  <a:schemeClr val="accent2"/>
                </a:solidFill>
                <a:latin typeface="黑体" panose="02010609060101010101" pitchFamily="49" charset="-122"/>
                <a:ea typeface="黑体" panose="02010609060101010101" pitchFamily="49" charset="-122"/>
              </a:rPr>
              <a:t>S</a:t>
            </a:r>
          </a:p>
          <a:p>
            <a:pPr algn="ctr" eaLnBrk="1" hangingPunct="1">
              <a:defRPr/>
            </a:pPr>
            <a:r>
              <a:rPr lang="zh-CN" altLang="en-US" b="1">
                <a:solidFill>
                  <a:schemeClr val="accent2"/>
                </a:solidFill>
                <a:latin typeface="黑体" panose="02010609060101010101" pitchFamily="49" charset="-122"/>
                <a:ea typeface="黑体" panose="02010609060101010101" pitchFamily="49" charset="-122"/>
              </a:rPr>
              <a:t>项</a:t>
            </a:r>
          </a:p>
          <a:p>
            <a:pPr algn="ctr" eaLnBrk="1" hangingPunct="1">
              <a:defRPr/>
            </a:pPr>
            <a:r>
              <a:rPr lang="zh-CN" altLang="en-US" b="1">
                <a:solidFill>
                  <a:schemeClr val="accent2"/>
                </a:solidFill>
                <a:latin typeface="黑体" panose="02010609060101010101" pitchFamily="49" charset="-122"/>
                <a:ea typeface="黑体" panose="02010609060101010101" pitchFamily="49" charset="-122"/>
              </a:rPr>
              <a:t>目</a:t>
            </a:r>
          </a:p>
          <a:p>
            <a:pPr algn="ctr" eaLnBrk="1" hangingPunct="1">
              <a:defRPr/>
            </a:pPr>
            <a:r>
              <a:rPr lang="zh-CN" altLang="en-US" b="1">
                <a:solidFill>
                  <a:schemeClr val="accent2"/>
                </a:solidFill>
                <a:latin typeface="黑体" panose="02010609060101010101" pitchFamily="49" charset="-122"/>
                <a:ea typeface="黑体" panose="02010609060101010101" pitchFamily="49" charset="-122"/>
              </a:rPr>
              <a:t>生</a:t>
            </a:r>
          </a:p>
          <a:p>
            <a:pPr algn="ctr" eaLnBrk="1" hangingPunct="1">
              <a:defRPr/>
            </a:pPr>
            <a:r>
              <a:rPr lang="zh-CN" altLang="en-US" b="1">
                <a:solidFill>
                  <a:schemeClr val="accent2"/>
                </a:solidFill>
                <a:latin typeface="黑体" panose="02010609060101010101" pitchFamily="49" charset="-122"/>
                <a:ea typeface="黑体" panose="02010609060101010101" pitchFamily="49" charset="-122"/>
              </a:rPr>
              <a:t>存</a:t>
            </a:r>
          </a:p>
          <a:p>
            <a:pPr algn="ctr" eaLnBrk="1" hangingPunct="1">
              <a:defRPr/>
            </a:pPr>
            <a:r>
              <a:rPr lang="zh-CN" altLang="en-US" b="1">
                <a:solidFill>
                  <a:schemeClr val="accent2"/>
                </a:solidFill>
                <a:latin typeface="黑体" panose="02010609060101010101" pitchFamily="49" charset="-122"/>
                <a:ea typeface="黑体" panose="02010609060101010101" pitchFamily="49" charset="-122"/>
              </a:rPr>
              <a:t>期</a:t>
            </a:r>
          </a:p>
          <a:p>
            <a:pPr algn="ctr" eaLnBrk="1" hangingPunct="1">
              <a:defRPr/>
            </a:pPr>
            <a:r>
              <a:rPr lang="zh-CN" altLang="en-US" b="1">
                <a:solidFill>
                  <a:schemeClr val="accent2"/>
                </a:solidFill>
                <a:latin typeface="黑体" panose="02010609060101010101" pitchFamily="49" charset="-122"/>
                <a:ea typeface="黑体" panose="02010609060101010101" pitchFamily="49" charset="-122"/>
              </a:rPr>
              <a:t>模</a:t>
            </a:r>
          </a:p>
          <a:p>
            <a:pPr algn="ctr" eaLnBrk="1" hangingPunct="1">
              <a:defRPr/>
            </a:pPr>
            <a:r>
              <a:rPr lang="zh-CN" altLang="en-US" b="1">
                <a:solidFill>
                  <a:schemeClr val="accent2"/>
                </a:solidFill>
                <a:latin typeface="黑体" panose="02010609060101010101" pitchFamily="49" charset="-122"/>
                <a:ea typeface="黑体" panose="02010609060101010101" pitchFamily="49" charset="-122"/>
              </a:rPr>
              <a:t>型</a:t>
            </a:r>
            <a:r>
              <a:rPr lang="zh-CN" altLang="en-US">
                <a:effectLst>
                  <a:outerShdw blurRad="38100" dist="38100" dir="2700000" algn="tl">
                    <a:srgbClr val="C0C0C0"/>
                  </a:outerShdw>
                </a:effectLst>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3306"/>
                                        </p:tgtEl>
                                        <p:attrNameLst>
                                          <p:attrName>style.visibility</p:attrName>
                                        </p:attrNameLst>
                                      </p:cBhvr>
                                      <p:to>
                                        <p:strVal val="visible"/>
                                      </p:to>
                                    </p:set>
                                    <p:anim calcmode="lin" valueType="num">
                                      <p:cBhvr additive="base">
                                        <p:cTn id="7" dur="500" fill="hold"/>
                                        <p:tgtEl>
                                          <p:spTgt spid="183306"/>
                                        </p:tgtEl>
                                        <p:attrNameLst>
                                          <p:attrName>ppt_x</p:attrName>
                                        </p:attrNameLst>
                                      </p:cBhvr>
                                      <p:tavLst>
                                        <p:tav tm="0">
                                          <p:val>
                                            <p:strVal val="#ppt_x"/>
                                          </p:val>
                                        </p:tav>
                                        <p:tav tm="100000">
                                          <p:val>
                                            <p:strVal val="#ppt_x"/>
                                          </p:val>
                                        </p:tav>
                                      </p:tavLst>
                                    </p:anim>
                                    <p:anim calcmode="lin" valueType="num">
                                      <p:cBhvr additive="base">
                                        <p:cTn id="8" dur="500" fill="hold"/>
                                        <p:tgtEl>
                                          <p:spTgt spid="18330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83303"/>
                                        </p:tgtEl>
                                        <p:attrNameLst>
                                          <p:attrName>style.visibility</p:attrName>
                                        </p:attrNameLst>
                                      </p:cBhvr>
                                      <p:to>
                                        <p:strVal val="visible"/>
                                      </p:to>
                                    </p:set>
                                    <p:anim calcmode="lin" valueType="num">
                                      <p:cBhvr additive="base">
                                        <p:cTn id="13" dur="500" fill="hold"/>
                                        <p:tgtEl>
                                          <p:spTgt spid="183303"/>
                                        </p:tgtEl>
                                        <p:attrNameLst>
                                          <p:attrName>ppt_x</p:attrName>
                                        </p:attrNameLst>
                                      </p:cBhvr>
                                      <p:tavLst>
                                        <p:tav tm="0">
                                          <p:val>
                                            <p:strVal val="#ppt_x"/>
                                          </p:val>
                                        </p:tav>
                                        <p:tav tm="100000">
                                          <p:val>
                                            <p:strVal val="#ppt_x"/>
                                          </p:val>
                                        </p:tav>
                                      </p:tavLst>
                                    </p:anim>
                                    <p:anim calcmode="lin" valueType="num">
                                      <p:cBhvr additive="base">
                                        <p:cTn id="14" dur="500" fill="hold"/>
                                        <p:tgtEl>
                                          <p:spTgt spid="1833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06"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E3544123-1408-30D6-D3E7-CA84F0711145}"/>
              </a:ext>
            </a:extLst>
          </p:cNvPr>
          <p:cNvSpPr>
            <a:spLocks noGrp="1" noChangeArrowheads="1"/>
          </p:cNvSpPr>
          <p:nvPr>
            <p:ph type="title"/>
          </p:nvPr>
        </p:nvSpPr>
        <p:spPr/>
        <p:txBody>
          <a:bodyPr/>
          <a:lstStyle/>
          <a:p>
            <a:pPr eaLnBrk="1" hangingPunct="1"/>
            <a:r>
              <a:rPr lang="zh-CN" altLang="en-US"/>
              <a:t>本章内容提要</a:t>
            </a:r>
          </a:p>
        </p:txBody>
      </p:sp>
      <p:sp>
        <p:nvSpPr>
          <p:cNvPr id="74755" name="AutoShape 3">
            <a:extLst>
              <a:ext uri="{FF2B5EF4-FFF2-40B4-BE49-F238E27FC236}">
                <a16:creationId xmlns:a16="http://schemas.microsoft.com/office/drawing/2014/main" id="{1ADF8B31-3963-1345-0E73-819CB2047A9A}"/>
              </a:ext>
            </a:extLst>
          </p:cNvPr>
          <p:cNvSpPr>
            <a:spLocks noChangeArrowheads="1"/>
          </p:cNvSpPr>
          <p:nvPr/>
        </p:nvSpPr>
        <p:spPr bwMode="auto">
          <a:xfrm>
            <a:off x="736600" y="2343150"/>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4756" name="Text Box 4">
            <a:extLst>
              <a:ext uri="{FF2B5EF4-FFF2-40B4-BE49-F238E27FC236}">
                <a16:creationId xmlns:a16="http://schemas.microsoft.com/office/drawing/2014/main" id="{60EEB7AF-D537-C9A6-2F97-92F696AB0016}"/>
              </a:ext>
            </a:extLst>
          </p:cNvPr>
          <p:cNvSpPr txBox="1">
            <a:spLocks noChangeArrowheads="1"/>
          </p:cNvSpPr>
          <p:nvPr/>
        </p:nvSpPr>
        <p:spPr bwMode="auto">
          <a:xfrm>
            <a:off x="993775" y="2376488"/>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200">
                <a:latin typeface="Times New Roman" panose="02020603050405020304" pitchFamily="18" charset="0"/>
                <a:ea typeface="黑体" panose="02010609060101010101" pitchFamily="49" charset="-122"/>
              </a:rPr>
              <a:t>CMM</a:t>
            </a:r>
            <a:r>
              <a:rPr lang="zh-CN" altLang="en-US" sz="2200">
                <a:latin typeface="Times New Roman" panose="02020603050405020304" pitchFamily="18" charset="0"/>
                <a:ea typeface="黑体" panose="02010609060101010101" pitchFamily="49" charset="-122"/>
              </a:rPr>
              <a:t>和</a:t>
            </a:r>
            <a:r>
              <a:rPr lang="en-US" altLang="zh-CN" sz="2200">
                <a:latin typeface="Times New Roman" panose="02020603050405020304" pitchFamily="18" charset="0"/>
                <a:ea typeface="黑体" panose="02010609060101010101" pitchFamily="49" charset="-122"/>
              </a:rPr>
              <a:t>ISO9000</a:t>
            </a:r>
            <a:r>
              <a:rPr lang="en-US" altLang="zh-CN" sz="2400" b="0">
                <a:latin typeface="Times New Roman" panose="02020603050405020304" pitchFamily="18" charset="0"/>
              </a:rPr>
              <a:t> </a:t>
            </a:r>
          </a:p>
        </p:txBody>
      </p:sp>
      <p:sp>
        <p:nvSpPr>
          <p:cNvPr id="74757" name="AutoShape 5">
            <a:extLst>
              <a:ext uri="{FF2B5EF4-FFF2-40B4-BE49-F238E27FC236}">
                <a16:creationId xmlns:a16="http://schemas.microsoft.com/office/drawing/2014/main" id="{FCE3943E-5B68-414F-046D-57AB068A2788}"/>
              </a:ext>
            </a:extLst>
          </p:cNvPr>
          <p:cNvSpPr>
            <a:spLocks noChangeArrowheads="1"/>
          </p:cNvSpPr>
          <p:nvPr/>
        </p:nvSpPr>
        <p:spPr bwMode="auto">
          <a:xfrm>
            <a:off x="747713" y="2890838"/>
            <a:ext cx="5545137"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4758" name="Text Box 6">
            <a:extLst>
              <a:ext uri="{FF2B5EF4-FFF2-40B4-BE49-F238E27FC236}">
                <a16:creationId xmlns:a16="http://schemas.microsoft.com/office/drawing/2014/main" id="{B6E32CEF-7FF0-D549-4472-5A245B7E3C0F}"/>
              </a:ext>
            </a:extLst>
          </p:cNvPr>
          <p:cNvSpPr txBox="1">
            <a:spLocks noChangeArrowheads="1"/>
          </p:cNvSpPr>
          <p:nvPr/>
        </p:nvSpPr>
        <p:spPr bwMode="auto">
          <a:xfrm>
            <a:off x="1004888" y="2932113"/>
            <a:ext cx="49196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传统软件开发生命周期模型</a:t>
            </a:r>
            <a:r>
              <a:rPr lang="zh-CN" altLang="en-US" sz="2400" b="0">
                <a:latin typeface="Times New Roman" panose="02020603050405020304" pitchFamily="18" charset="0"/>
              </a:rPr>
              <a:t> </a:t>
            </a:r>
          </a:p>
        </p:txBody>
      </p:sp>
      <p:sp>
        <p:nvSpPr>
          <p:cNvPr id="74759" name="AutoShape 7">
            <a:extLst>
              <a:ext uri="{FF2B5EF4-FFF2-40B4-BE49-F238E27FC236}">
                <a16:creationId xmlns:a16="http://schemas.microsoft.com/office/drawing/2014/main" id="{64E87F1A-1862-EC0A-6630-B0FB7FDCC1A9}"/>
              </a:ext>
            </a:extLst>
          </p:cNvPr>
          <p:cNvSpPr>
            <a:spLocks noChangeArrowheads="1"/>
          </p:cNvSpPr>
          <p:nvPr/>
        </p:nvSpPr>
        <p:spPr bwMode="auto">
          <a:xfrm>
            <a:off x="747713" y="3440113"/>
            <a:ext cx="5545137"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4760" name="Text Box 8">
            <a:extLst>
              <a:ext uri="{FF2B5EF4-FFF2-40B4-BE49-F238E27FC236}">
                <a16:creationId xmlns:a16="http://schemas.microsoft.com/office/drawing/2014/main" id="{DCBC1789-30E4-4450-D9FE-3CA54ABF7D20}"/>
              </a:ext>
            </a:extLst>
          </p:cNvPr>
          <p:cNvSpPr txBox="1">
            <a:spLocks noChangeArrowheads="1"/>
          </p:cNvSpPr>
          <p:nvPr/>
        </p:nvSpPr>
        <p:spPr bwMode="auto">
          <a:xfrm>
            <a:off x="1004888" y="3511550"/>
            <a:ext cx="49196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扩展软件开发生命周期模型</a:t>
            </a:r>
            <a:r>
              <a:rPr lang="zh-CN" altLang="en-US" sz="2400" b="0">
                <a:latin typeface="Times New Roman" panose="02020603050405020304" pitchFamily="18" charset="0"/>
              </a:rPr>
              <a:t> </a:t>
            </a:r>
          </a:p>
        </p:txBody>
      </p:sp>
      <p:sp>
        <p:nvSpPr>
          <p:cNvPr id="74761" name="Rectangle 9">
            <a:extLst>
              <a:ext uri="{FF2B5EF4-FFF2-40B4-BE49-F238E27FC236}">
                <a16:creationId xmlns:a16="http://schemas.microsoft.com/office/drawing/2014/main" id="{8CE12041-A919-D7F1-4636-34AAB8EAA4A1}"/>
              </a:ext>
            </a:extLst>
          </p:cNvPr>
          <p:cNvSpPr>
            <a:spLocks noChangeArrowheads="1"/>
          </p:cNvSpPr>
          <p:nvPr/>
        </p:nvSpPr>
        <p:spPr bwMode="auto">
          <a:xfrm>
            <a:off x="611188" y="2432050"/>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3.1</a:t>
            </a:r>
            <a:endParaRPr lang="en-US" altLang="zh-CN" sz="1800">
              <a:solidFill>
                <a:srgbClr val="000000"/>
              </a:solidFill>
            </a:endParaRPr>
          </a:p>
        </p:txBody>
      </p:sp>
      <p:sp>
        <p:nvSpPr>
          <p:cNvPr id="74762" name="AutoShape 10">
            <a:extLst>
              <a:ext uri="{FF2B5EF4-FFF2-40B4-BE49-F238E27FC236}">
                <a16:creationId xmlns:a16="http://schemas.microsoft.com/office/drawing/2014/main" id="{7A2EA632-8995-C37D-3ED9-4022AB5A768D}"/>
              </a:ext>
            </a:extLst>
          </p:cNvPr>
          <p:cNvSpPr>
            <a:spLocks noChangeArrowheads="1"/>
          </p:cNvSpPr>
          <p:nvPr/>
        </p:nvSpPr>
        <p:spPr bwMode="auto">
          <a:xfrm>
            <a:off x="752475" y="3992563"/>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4763" name="Text Box 11">
            <a:extLst>
              <a:ext uri="{FF2B5EF4-FFF2-40B4-BE49-F238E27FC236}">
                <a16:creationId xmlns:a16="http://schemas.microsoft.com/office/drawing/2014/main" id="{79F0BB94-DF0C-6A30-534E-72709558A9E5}"/>
              </a:ext>
            </a:extLst>
          </p:cNvPr>
          <p:cNvSpPr txBox="1">
            <a:spLocks noChangeArrowheads="1"/>
          </p:cNvSpPr>
          <p:nvPr/>
        </p:nvSpPr>
        <p:spPr bwMode="auto">
          <a:xfrm>
            <a:off x="1009650" y="4025900"/>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质量计划</a:t>
            </a:r>
            <a:r>
              <a:rPr lang="zh-CN" altLang="en-US" sz="2400" b="0">
                <a:latin typeface="Times New Roman" panose="02020603050405020304" pitchFamily="18" charset="0"/>
              </a:rPr>
              <a:t> </a:t>
            </a:r>
          </a:p>
        </p:txBody>
      </p:sp>
      <p:sp>
        <p:nvSpPr>
          <p:cNvPr id="74764" name="Rectangle 12">
            <a:extLst>
              <a:ext uri="{FF2B5EF4-FFF2-40B4-BE49-F238E27FC236}">
                <a16:creationId xmlns:a16="http://schemas.microsoft.com/office/drawing/2014/main" id="{A31BC44B-022A-7C20-614E-8E43BD7B27A3}"/>
              </a:ext>
            </a:extLst>
          </p:cNvPr>
          <p:cNvSpPr>
            <a:spLocks noChangeArrowheads="1"/>
          </p:cNvSpPr>
          <p:nvPr/>
        </p:nvSpPr>
        <p:spPr bwMode="auto">
          <a:xfrm>
            <a:off x="627063" y="4081463"/>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3.4</a:t>
            </a:r>
            <a:endParaRPr lang="en-US" altLang="zh-CN" sz="1800">
              <a:solidFill>
                <a:srgbClr val="000000"/>
              </a:solidFill>
            </a:endParaRPr>
          </a:p>
        </p:txBody>
      </p:sp>
      <p:sp>
        <p:nvSpPr>
          <p:cNvPr id="74765" name="AutoShape 13">
            <a:extLst>
              <a:ext uri="{FF2B5EF4-FFF2-40B4-BE49-F238E27FC236}">
                <a16:creationId xmlns:a16="http://schemas.microsoft.com/office/drawing/2014/main" id="{4D61E794-C0C4-9ACE-5E78-C4BC925834B6}"/>
              </a:ext>
            </a:extLst>
          </p:cNvPr>
          <p:cNvSpPr>
            <a:spLocks noChangeArrowheads="1"/>
          </p:cNvSpPr>
          <p:nvPr/>
        </p:nvSpPr>
        <p:spPr bwMode="auto">
          <a:xfrm>
            <a:off x="750888" y="4546600"/>
            <a:ext cx="5545137"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4766" name="Text Box 14">
            <a:extLst>
              <a:ext uri="{FF2B5EF4-FFF2-40B4-BE49-F238E27FC236}">
                <a16:creationId xmlns:a16="http://schemas.microsoft.com/office/drawing/2014/main" id="{9C212BD8-5A95-74C0-1071-AB98E21FAD89}"/>
              </a:ext>
            </a:extLst>
          </p:cNvPr>
          <p:cNvSpPr txBox="1">
            <a:spLocks noChangeArrowheads="1"/>
          </p:cNvSpPr>
          <p:nvPr/>
        </p:nvSpPr>
        <p:spPr bwMode="auto">
          <a:xfrm>
            <a:off x="1008063" y="4594225"/>
            <a:ext cx="4919662"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案例分析</a:t>
            </a:r>
            <a:r>
              <a:rPr lang="zh-CN" altLang="en-US" sz="2200">
                <a:latin typeface="Times New Roman" panose="02020603050405020304" pitchFamily="18" charset="0"/>
              </a:rPr>
              <a:t> </a:t>
            </a:r>
          </a:p>
        </p:txBody>
      </p:sp>
      <p:sp>
        <p:nvSpPr>
          <p:cNvPr id="74767" name="Rectangle 15">
            <a:extLst>
              <a:ext uri="{FF2B5EF4-FFF2-40B4-BE49-F238E27FC236}">
                <a16:creationId xmlns:a16="http://schemas.microsoft.com/office/drawing/2014/main" id="{45BAF416-7226-BB85-615F-1BE8B9A69A6E}"/>
              </a:ext>
            </a:extLst>
          </p:cNvPr>
          <p:cNvSpPr>
            <a:spLocks noChangeArrowheads="1"/>
          </p:cNvSpPr>
          <p:nvPr/>
        </p:nvSpPr>
        <p:spPr bwMode="auto">
          <a:xfrm>
            <a:off x="625475" y="4635500"/>
            <a:ext cx="334963"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3.5</a:t>
            </a:r>
            <a:endParaRPr lang="en-US" altLang="zh-CN" sz="1800">
              <a:solidFill>
                <a:srgbClr val="000000"/>
              </a:solidFill>
            </a:endParaRPr>
          </a:p>
        </p:txBody>
      </p:sp>
      <p:sp>
        <p:nvSpPr>
          <p:cNvPr id="74768" name="AutoShape 16">
            <a:extLst>
              <a:ext uri="{FF2B5EF4-FFF2-40B4-BE49-F238E27FC236}">
                <a16:creationId xmlns:a16="http://schemas.microsoft.com/office/drawing/2014/main" id="{35B01E02-EC8D-F6A2-D518-609C7E934D7B}"/>
              </a:ext>
            </a:extLst>
          </p:cNvPr>
          <p:cNvSpPr>
            <a:spLocks noChangeArrowheads="1"/>
          </p:cNvSpPr>
          <p:nvPr/>
        </p:nvSpPr>
        <p:spPr bwMode="auto">
          <a:xfrm>
            <a:off x="755650" y="5106988"/>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4769" name="Text Box 17">
            <a:extLst>
              <a:ext uri="{FF2B5EF4-FFF2-40B4-BE49-F238E27FC236}">
                <a16:creationId xmlns:a16="http://schemas.microsoft.com/office/drawing/2014/main" id="{8BB7DFB8-008F-A06C-F12E-FB8E0C5C2097}"/>
              </a:ext>
            </a:extLst>
          </p:cNvPr>
          <p:cNvSpPr txBox="1">
            <a:spLocks noChangeArrowheads="1"/>
          </p:cNvSpPr>
          <p:nvPr/>
        </p:nvSpPr>
        <p:spPr bwMode="auto">
          <a:xfrm>
            <a:off x="1012825" y="5154613"/>
            <a:ext cx="4919663"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本章小结 </a:t>
            </a:r>
          </a:p>
        </p:txBody>
      </p:sp>
      <p:sp>
        <p:nvSpPr>
          <p:cNvPr id="74770" name="Rectangle 18">
            <a:extLst>
              <a:ext uri="{FF2B5EF4-FFF2-40B4-BE49-F238E27FC236}">
                <a16:creationId xmlns:a16="http://schemas.microsoft.com/office/drawing/2014/main" id="{70BD9A40-2183-B4E3-11FD-557D092CFEE6}"/>
              </a:ext>
            </a:extLst>
          </p:cNvPr>
          <p:cNvSpPr>
            <a:spLocks noChangeArrowheads="1"/>
          </p:cNvSpPr>
          <p:nvPr/>
        </p:nvSpPr>
        <p:spPr bwMode="auto">
          <a:xfrm>
            <a:off x="630238" y="5195888"/>
            <a:ext cx="334962" cy="260350"/>
          </a:xfrm>
          <a:prstGeom prst="rect">
            <a:avLst/>
          </a:prstGeom>
          <a:solidFill>
            <a:srgbClr val="0000FF"/>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3.6</a:t>
            </a:r>
            <a:endParaRPr lang="en-US" altLang="zh-CN" sz="1800">
              <a:solidFill>
                <a:srgbClr val="000000"/>
              </a:solidFill>
            </a:endParaRPr>
          </a:p>
        </p:txBody>
      </p:sp>
      <p:sp>
        <p:nvSpPr>
          <p:cNvPr id="74771" name="AutoShape 19">
            <a:extLst>
              <a:ext uri="{FF2B5EF4-FFF2-40B4-BE49-F238E27FC236}">
                <a16:creationId xmlns:a16="http://schemas.microsoft.com/office/drawing/2014/main" id="{A803766F-5B0F-4F6C-6C22-A578C3F5B01E}"/>
              </a:ext>
            </a:extLst>
          </p:cNvPr>
          <p:cNvSpPr>
            <a:spLocks noChangeArrowheads="1"/>
          </p:cNvSpPr>
          <p:nvPr/>
        </p:nvSpPr>
        <p:spPr bwMode="auto">
          <a:xfrm>
            <a:off x="755650" y="5651500"/>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4772" name="Text Box 20">
            <a:extLst>
              <a:ext uri="{FF2B5EF4-FFF2-40B4-BE49-F238E27FC236}">
                <a16:creationId xmlns:a16="http://schemas.microsoft.com/office/drawing/2014/main" id="{A200A0E0-0617-63BD-C8CF-D06FC1C8FEEE}"/>
              </a:ext>
            </a:extLst>
          </p:cNvPr>
          <p:cNvSpPr txBox="1">
            <a:spLocks noChangeArrowheads="1"/>
          </p:cNvSpPr>
          <p:nvPr/>
        </p:nvSpPr>
        <p:spPr bwMode="auto">
          <a:xfrm>
            <a:off x="1012825" y="5684838"/>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Times New Roman" panose="02020603050405020304" pitchFamily="18" charset="0"/>
                <a:ea typeface="黑体" panose="02010609060101010101" pitchFamily="49" charset="-122"/>
              </a:rPr>
              <a:t>复习思考题</a:t>
            </a:r>
            <a:r>
              <a:rPr lang="zh-CN" altLang="en-US" sz="2400" b="0">
                <a:latin typeface="Times New Roman" panose="02020603050405020304" pitchFamily="18" charset="0"/>
              </a:rPr>
              <a:t> </a:t>
            </a:r>
          </a:p>
        </p:txBody>
      </p:sp>
      <p:sp>
        <p:nvSpPr>
          <p:cNvPr id="74773" name="Rectangle 21">
            <a:extLst>
              <a:ext uri="{FF2B5EF4-FFF2-40B4-BE49-F238E27FC236}">
                <a16:creationId xmlns:a16="http://schemas.microsoft.com/office/drawing/2014/main" id="{323C219C-12CB-1AEB-7F6B-4E941AF948F1}"/>
              </a:ext>
            </a:extLst>
          </p:cNvPr>
          <p:cNvSpPr>
            <a:spLocks noChangeArrowheads="1"/>
          </p:cNvSpPr>
          <p:nvPr/>
        </p:nvSpPr>
        <p:spPr bwMode="auto">
          <a:xfrm>
            <a:off x="630238" y="5740400"/>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3.7</a:t>
            </a:r>
            <a:endParaRPr lang="en-US" altLang="zh-CN" sz="1800">
              <a:solidFill>
                <a:srgbClr val="000000"/>
              </a:solidFill>
            </a:endParaRPr>
          </a:p>
        </p:txBody>
      </p:sp>
      <p:sp>
        <p:nvSpPr>
          <p:cNvPr id="74774" name="Rectangle 22">
            <a:extLst>
              <a:ext uri="{FF2B5EF4-FFF2-40B4-BE49-F238E27FC236}">
                <a16:creationId xmlns:a16="http://schemas.microsoft.com/office/drawing/2014/main" id="{7B907F2C-5798-01D9-F658-F3A810796CD7}"/>
              </a:ext>
            </a:extLst>
          </p:cNvPr>
          <p:cNvSpPr>
            <a:spLocks noChangeArrowheads="1"/>
          </p:cNvSpPr>
          <p:nvPr/>
        </p:nvSpPr>
        <p:spPr bwMode="auto">
          <a:xfrm>
            <a:off x="604838" y="2992438"/>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3.2</a:t>
            </a:r>
          </a:p>
        </p:txBody>
      </p:sp>
      <p:sp>
        <p:nvSpPr>
          <p:cNvPr id="74775" name="Rectangle 23">
            <a:extLst>
              <a:ext uri="{FF2B5EF4-FFF2-40B4-BE49-F238E27FC236}">
                <a16:creationId xmlns:a16="http://schemas.microsoft.com/office/drawing/2014/main" id="{A517083A-8618-662A-E94C-D756490EA96C}"/>
              </a:ext>
            </a:extLst>
          </p:cNvPr>
          <p:cNvSpPr>
            <a:spLocks noChangeArrowheads="1"/>
          </p:cNvSpPr>
          <p:nvPr/>
        </p:nvSpPr>
        <p:spPr bwMode="auto">
          <a:xfrm>
            <a:off x="604838" y="3536950"/>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3.3</a:t>
            </a:r>
            <a:endParaRPr lang="en-US" altLang="zh-CN" sz="1800">
              <a:solidFill>
                <a:srgbClr val="000000"/>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EFE5D3CC-6151-ABF6-A9F4-24CAA8EF178B}"/>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3.6 </a:t>
            </a:r>
            <a:r>
              <a:rPr lang="zh-CN" altLang="en-US"/>
              <a:t>本章小结</a:t>
            </a:r>
            <a:r>
              <a:rPr kumimoji="1" lang="zh-CN" altLang="en-US"/>
              <a:t> </a:t>
            </a:r>
          </a:p>
        </p:txBody>
      </p:sp>
      <p:sp>
        <p:nvSpPr>
          <p:cNvPr id="75779" name="Rectangle 5">
            <a:extLst>
              <a:ext uri="{FF2B5EF4-FFF2-40B4-BE49-F238E27FC236}">
                <a16:creationId xmlns:a16="http://schemas.microsoft.com/office/drawing/2014/main" id="{24B8A4AA-8CD1-F89A-F660-EBA1D5CDE767}"/>
              </a:ext>
            </a:extLst>
          </p:cNvPr>
          <p:cNvSpPr>
            <a:spLocks noGrp="1" noChangeArrowheads="1"/>
          </p:cNvSpPr>
          <p:nvPr>
            <p:ph type="body" sz="half" idx="1"/>
          </p:nvPr>
        </p:nvSpPr>
        <p:spPr>
          <a:xfrm>
            <a:off x="882650" y="2047875"/>
            <a:ext cx="7577138" cy="3973513"/>
          </a:xfrm>
          <a:solidFill>
            <a:srgbClr val="FFFFCC"/>
          </a:solidFill>
        </p:spPr>
        <p:txBody>
          <a:bodyPr/>
          <a:lstStyle/>
          <a:p>
            <a:pPr eaLnBrk="1" hangingPunct="1">
              <a:lnSpc>
                <a:spcPct val="80000"/>
              </a:lnSpc>
            </a:pPr>
            <a:endParaRPr lang="en-US" altLang="zh-CN" sz="1000"/>
          </a:p>
          <a:p>
            <a:pPr eaLnBrk="1" hangingPunct="1">
              <a:lnSpc>
                <a:spcPts val="3000"/>
              </a:lnSpc>
            </a:pPr>
            <a:r>
              <a:rPr lang="zh-CN" altLang="en-US" sz="1800">
                <a:solidFill>
                  <a:srgbClr val="CA5B08"/>
                </a:solidFill>
              </a:rPr>
              <a:t>讲述了软件开发过程管理需要掌握的部分知识。</a:t>
            </a:r>
          </a:p>
          <a:p>
            <a:pPr eaLnBrk="1" hangingPunct="1">
              <a:lnSpc>
                <a:spcPts val="3000"/>
              </a:lnSpc>
            </a:pPr>
            <a:r>
              <a:rPr lang="zh-CN" altLang="en-US" sz="1800">
                <a:solidFill>
                  <a:srgbClr val="CA5B08"/>
                </a:solidFill>
              </a:rPr>
              <a:t>介绍了</a:t>
            </a:r>
            <a:r>
              <a:rPr lang="en-US" altLang="zh-CN" sz="1800">
                <a:solidFill>
                  <a:srgbClr val="CA5B08"/>
                </a:solidFill>
              </a:rPr>
              <a:t>ISO9000</a:t>
            </a:r>
            <a:r>
              <a:rPr lang="zh-CN" altLang="en-US" sz="1800">
                <a:solidFill>
                  <a:srgbClr val="CA5B08"/>
                </a:solidFill>
              </a:rPr>
              <a:t>，</a:t>
            </a:r>
            <a:r>
              <a:rPr lang="en-US" altLang="zh-CN" sz="1800">
                <a:solidFill>
                  <a:srgbClr val="CA5B08"/>
                </a:solidFill>
              </a:rPr>
              <a:t>CMM</a:t>
            </a:r>
            <a:r>
              <a:rPr lang="zh-CN" altLang="en-US" sz="1800">
                <a:solidFill>
                  <a:srgbClr val="CA5B08"/>
                </a:solidFill>
              </a:rPr>
              <a:t>和</a:t>
            </a:r>
            <a:r>
              <a:rPr lang="en-US" altLang="zh-CN" sz="1800">
                <a:solidFill>
                  <a:srgbClr val="CA5B08"/>
                </a:solidFill>
              </a:rPr>
              <a:t>CMMI</a:t>
            </a:r>
            <a:r>
              <a:rPr lang="zh-CN" altLang="en-US" sz="1800">
                <a:solidFill>
                  <a:srgbClr val="CA5B08"/>
                </a:solidFill>
              </a:rPr>
              <a:t>三种常见的软件过程改进方法，并比较了它们之间的异同，对于选取哪种方法给予了建议。</a:t>
            </a:r>
          </a:p>
          <a:p>
            <a:pPr eaLnBrk="1" hangingPunct="1">
              <a:lnSpc>
                <a:spcPts val="3000"/>
              </a:lnSpc>
            </a:pPr>
            <a:r>
              <a:rPr lang="zh-CN" altLang="en-US" sz="1800">
                <a:solidFill>
                  <a:srgbClr val="CA5B08"/>
                </a:solidFill>
              </a:rPr>
              <a:t>详细介绍了多种软件开发生命周期模型的特点、优缺点，对于软件开发中的相当重要的项目选型工作提供了参照。</a:t>
            </a:r>
          </a:p>
          <a:p>
            <a:pPr eaLnBrk="1" hangingPunct="1">
              <a:lnSpc>
                <a:spcPts val="3000"/>
              </a:lnSpc>
            </a:pPr>
            <a:r>
              <a:rPr lang="zh-CN" altLang="en-US" sz="1800">
                <a:solidFill>
                  <a:srgbClr val="CA5B08"/>
                </a:solidFill>
              </a:rPr>
              <a:t>此外还介绍了质量计划的定义和详细的模版。</a:t>
            </a:r>
            <a:r>
              <a:rPr lang="en-US" altLang="zh-CN" sz="1800">
                <a:solidFill>
                  <a:srgbClr val="CA5B08"/>
                </a:solidFill>
              </a:rPr>
              <a:t>(</a:t>
            </a:r>
            <a:r>
              <a:rPr lang="zh-CN" altLang="en-US" sz="1800">
                <a:solidFill>
                  <a:srgbClr val="CA5B08"/>
                </a:solidFill>
              </a:rPr>
              <a:t>质量计划的制定对于软件质量控制的重要性非同小可，它涉及的范围很广，需要制定的内容相当多，部分内容读者可以在其它章节去详细了解。</a:t>
            </a:r>
            <a:r>
              <a:rPr lang="en-US" altLang="zh-CN" sz="1800">
                <a:solidFill>
                  <a:srgbClr val="CA5B08"/>
                </a:solidFill>
              </a:rPr>
              <a: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BCE20C22-9487-C92D-D26C-6CA7A961D340}"/>
              </a:ext>
            </a:extLst>
          </p:cNvPr>
          <p:cNvSpPr>
            <a:spLocks noGrp="1" noChangeArrowheads="1"/>
          </p:cNvSpPr>
          <p:nvPr>
            <p:ph type="title"/>
          </p:nvPr>
        </p:nvSpPr>
        <p:spPr/>
        <p:txBody>
          <a:bodyPr/>
          <a:lstStyle/>
          <a:p>
            <a:pPr eaLnBrk="1" hangingPunct="1"/>
            <a:r>
              <a:rPr lang="zh-CN" altLang="en-US"/>
              <a:t>本章内容提要</a:t>
            </a:r>
          </a:p>
        </p:txBody>
      </p:sp>
      <p:sp>
        <p:nvSpPr>
          <p:cNvPr id="76803" name="AutoShape 3">
            <a:extLst>
              <a:ext uri="{FF2B5EF4-FFF2-40B4-BE49-F238E27FC236}">
                <a16:creationId xmlns:a16="http://schemas.microsoft.com/office/drawing/2014/main" id="{507B54A3-E4B5-90C5-F22D-44F3CD386D5B}"/>
              </a:ext>
            </a:extLst>
          </p:cNvPr>
          <p:cNvSpPr>
            <a:spLocks noChangeArrowheads="1"/>
          </p:cNvSpPr>
          <p:nvPr/>
        </p:nvSpPr>
        <p:spPr bwMode="auto">
          <a:xfrm>
            <a:off x="736600" y="2343150"/>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6804" name="Text Box 4">
            <a:extLst>
              <a:ext uri="{FF2B5EF4-FFF2-40B4-BE49-F238E27FC236}">
                <a16:creationId xmlns:a16="http://schemas.microsoft.com/office/drawing/2014/main" id="{5444C1EA-B5A3-498D-B506-C91A792002F1}"/>
              </a:ext>
            </a:extLst>
          </p:cNvPr>
          <p:cNvSpPr txBox="1">
            <a:spLocks noChangeArrowheads="1"/>
          </p:cNvSpPr>
          <p:nvPr/>
        </p:nvSpPr>
        <p:spPr bwMode="auto">
          <a:xfrm>
            <a:off x="993775" y="2376488"/>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200">
                <a:latin typeface="黑体" panose="02010609060101010101" pitchFamily="49" charset="-122"/>
                <a:ea typeface="黑体" panose="02010609060101010101" pitchFamily="49" charset="-122"/>
              </a:rPr>
              <a:t>CMM</a:t>
            </a:r>
            <a:r>
              <a:rPr lang="zh-CN" altLang="en-US" sz="2200">
                <a:latin typeface="黑体" panose="02010609060101010101" pitchFamily="49" charset="-122"/>
                <a:ea typeface="黑体" panose="02010609060101010101" pitchFamily="49" charset="-122"/>
              </a:rPr>
              <a:t>和</a:t>
            </a:r>
            <a:r>
              <a:rPr lang="en-US" altLang="zh-CN" sz="2200">
                <a:latin typeface="黑体" panose="02010609060101010101" pitchFamily="49" charset="-122"/>
                <a:ea typeface="黑体" panose="02010609060101010101" pitchFamily="49" charset="-122"/>
              </a:rPr>
              <a:t>ISO9000</a:t>
            </a:r>
            <a:r>
              <a:rPr lang="en-US" altLang="zh-CN" sz="2400" b="0">
                <a:latin typeface="Times New Roman" panose="02020603050405020304" pitchFamily="18" charset="0"/>
              </a:rPr>
              <a:t> </a:t>
            </a:r>
          </a:p>
        </p:txBody>
      </p:sp>
      <p:sp>
        <p:nvSpPr>
          <p:cNvPr id="76805" name="AutoShape 5">
            <a:extLst>
              <a:ext uri="{FF2B5EF4-FFF2-40B4-BE49-F238E27FC236}">
                <a16:creationId xmlns:a16="http://schemas.microsoft.com/office/drawing/2014/main" id="{BF361B5D-CB5F-E30A-8AA3-2AEE88305A20}"/>
              </a:ext>
            </a:extLst>
          </p:cNvPr>
          <p:cNvSpPr>
            <a:spLocks noChangeArrowheads="1"/>
          </p:cNvSpPr>
          <p:nvPr/>
        </p:nvSpPr>
        <p:spPr bwMode="auto">
          <a:xfrm>
            <a:off x="747713" y="2890838"/>
            <a:ext cx="5545137"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6806" name="Text Box 6">
            <a:extLst>
              <a:ext uri="{FF2B5EF4-FFF2-40B4-BE49-F238E27FC236}">
                <a16:creationId xmlns:a16="http://schemas.microsoft.com/office/drawing/2014/main" id="{C7500035-1FB5-A1F8-007C-F438082A9C10}"/>
              </a:ext>
            </a:extLst>
          </p:cNvPr>
          <p:cNvSpPr txBox="1">
            <a:spLocks noChangeArrowheads="1"/>
          </p:cNvSpPr>
          <p:nvPr/>
        </p:nvSpPr>
        <p:spPr bwMode="auto">
          <a:xfrm>
            <a:off x="1004888" y="2932113"/>
            <a:ext cx="49196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黑体" panose="02010609060101010101" pitchFamily="49" charset="-122"/>
                <a:ea typeface="黑体" panose="02010609060101010101" pitchFamily="49" charset="-122"/>
              </a:rPr>
              <a:t>传统软件开发生命周期模型</a:t>
            </a:r>
            <a:r>
              <a:rPr lang="zh-CN" altLang="en-US" sz="2400" b="0">
                <a:latin typeface="Times New Roman" panose="02020603050405020304" pitchFamily="18" charset="0"/>
              </a:rPr>
              <a:t> </a:t>
            </a:r>
          </a:p>
        </p:txBody>
      </p:sp>
      <p:sp>
        <p:nvSpPr>
          <p:cNvPr id="76807" name="AutoShape 7">
            <a:extLst>
              <a:ext uri="{FF2B5EF4-FFF2-40B4-BE49-F238E27FC236}">
                <a16:creationId xmlns:a16="http://schemas.microsoft.com/office/drawing/2014/main" id="{A77A97CF-1D6A-6D19-ECE6-474C16E5B2F8}"/>
              </a:ext>
            </a:extLst>
          </p:cNvPr>
          <p:cNvSpPr>
            <a:spLocks noChangeArrowheads="1"/>
          </p:cNvSpPr>
          <p:nvPr/>
        </p:nvSpPr>
        <p:spPr bwMode="auto">
          <a:xfrm>
            <a:off x="747713" y="3440113"/>
            <a:ext cx="5545137"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6808" name="Text Box 8">
            <a:extLst>
              <a:ext uri="{FF2B5EF4-FFF2-40B4-BE49-F238E27FC236}">
                <a16:creationId xmlns:a16="http://schemas.microsoft.com/office/drawing/2014/main" id="{FA368DF2-54A8-D83B-6F2C-17C5C41AE573}"/>
              </a:ext>
            </a:extLst>
          </p:cNvPr>
          <p:cNvSpPr txBox="1">
            <a:spLocks noChangeArrowheads="1"/>
          </p:cNvSpPr>
          <p:nvPr/>
        </p:nvSpPr>
        <p:spPr bwMode="auto">
          <a:xfrm>
            <a:off x="1004888" y="3511550"/>
            <a:ext cx="49196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黑体" panose="02010609060101010101" pitchFamily="49" charset="-122"/>
                <a:ea typeface="黑体" panose="02010609060101010101" pitchFamily="49" charset="-122"/>
              </a:rPr>
              <a:t>扩展软件开发生命周期模型</a:t>
            </a:r>
            <a:r>
              <a:rPr lang="zh-CN" altLang="en-US" sz="2400" b="0">
                <a:latin typeface="Times New Roman" panose="02020603050405020304" pitchFamily="18" charset="0"/>
              </a:rPr>
              <a:t> </a:t>
            </a:r>
          </a:p>
        </p:txBody>
      </p:sp>
      <p:sp>
        <p:nvSpPr>
          <p:cNvPr id="76809" name="Rectangle 9">
            <a:extLst>
              <a:ext uri="{FF2B5EF4-FFF2-40B4-BE49-F238E27FC236}">
                <a16:creationId xmlns:a16="http://schemas.microsoft.com/office/drawing/2014/main" id="{0A804504-AA74-0871-81A4-76E3F6E1CE02}"/>
              </a:ext>
            </a:extLst>
          </p:cNvPr>
          <p:cNvSpPr>
            <a:spLocks noChangeArrowheads="1"/>
          </p:cNvSpPr>
          <p:nvPr/>
        </p:nvSpPr>
        <p:spPr bwMode="auto">
          <a:xfrm>
            <a:off x="611188" y="2432050"/>
            <a:ext cx="334962" cy="260350"/>
          </a:xfrm>
          <a:prstGeom prst="rect">
            <a:avLst/>
          </a:prstGeom>
          <a:solidFill>
            <a:srgbClr val="000000"/>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3.1</a:t>
            </a:r>
            <a:endParaRPr lang="en-US" altLang="zh-CN" sz="1800">
              <a:solidFill>
                <a:srgbClr val="000000"/>
              </a:solidFill>
            </a:endParaRPr>
          </a:p>
        </p:txBody>
      </p:sp>
      <p:sp>
        <p:nvSpPr>
          <p:cNvPr id="76810" name="AutoShape 10">
            <a:extLst>
              <a:ext uri="{FF2B5EF4-FFF2-40B4-BE49-F238E27FC236}">
                <a16:creationId xmlns:a16="http://schemas.microsoft.com/office/drawing/2014/main" id="{384E9AD5-E566-B3B4-8374-F18AC9AB7991}"/>
              </a:ext>
            </a:extLst>
          </p:cNvPr>
          <p:cNvSpPr>
            <a:spLocks noChangeArrowheads="1"/>
          </p:cNvSpPr>
          <p:nvPr/>
        </p:nvSpPr>
        <p:spPr bwMode="auto">
          <a:xfrm>
            <a:off x="752475" y="3992563"/>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6811" name="Text Box 11">
            <a:extLst>
              <a:ext uri="{FF2B5EF4-FFF2-40B4-BE49-F238E27FC236}">
                <a16:creationId xmlns:a16="http://schemas.microsoft.com/office/drawing/2014/main" id="{7BE47AB9-98E6-F42C-FAF8-DB7F025E21DE}"/>
              </a:ext>
            </a:extLst>
          </p:cNvPr>
          <p:cNvSpPr txBox="1">
            <a:spLocks noChangeArrowheads="1"/>
          </p:cNvSpPr>
          <p:nvPr/>
        </p:nvSpPr>
        <p:spPr bwMode="auto">
          <a:xfrm>
            <a:off x="1009650" y="4040188"/>
            <a:ext cx="4919663"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黑体" panose="02010609060101010101" pitchFamily="49" charset="-122"/>
                <a:ea typeface="黑体" panose="02010609060101010101" pitchFamily="49" charset="-122"/>
              </a:rPr>
              <a:t>质量计划 </a:t>
            </a:r>
          </a:p>
        </p:txBody>
      </p:sp>
      <p:sp>
        <p:nvSpPr>
          <p:cNvPr id="76812" name="Rectangle 12">
            <a:extLst>
              <a:ext uri="{FF2B5EF4-FFF2-40B4-BE49-F238E27FC236}">
                <a16:creationId xmlns:a16="http://schemas.microsoft.com/office/drawing/2014/main" id="{74EB3A4D-97B2-3B1E-32BD-E316A08DBA0D}"/>
              </a:ext>
            </a:extLst>
          </p:cNvPr>
          <p:cNvSpPr>
            <a:spLocks noChangeArrowheads="1"/>
          </p:cNvSpPr>
          <p:nvPr/>
        </p:nvSpPr>
        <p:spPr bwMode="auto">
          <a:xfrm>
            <a:off x="627063" y="4081463"/>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3.4</a:t>
            </a:r>
            <a:endParaRPr lang="en-US" altLang="zh-CN" sz="1800">
              <a:solidFill>
                <a:srgbClr val="000000"/>
              </a:solidFill>
            </a:endParaRPr>
          </a:p>
        </p:txBody>
      </p:sp>
      <p:sp>
        <p:nvSpPr>
          <p:cNvPr id="76813" name="AutoShape 13">
            <a:extLst>
              <a:ext uri="{FF2B5EF4-FFF2-40B4-BE49-F238E27FC236}">
                <a16:creationId xmlns:a16="http://schemas.microsoft.com/office/drawing/2014/main" id="{F62D7C19-82F8-E13E-9DD7-06F9A309898C}"/>
              </a:ext>
            </a:extLst>
          </p:cNvPr>
          <p:cNvSpPr>
            <a:spLocks noChangeArrowheads="1"/>
          </p:cNvSpPr>
          <p:nvPr/>
        </p:nvSpPr>
        <p:spPr bwMode="auto">
          <a:xfrm>
            <a:off x="750888" y="4546600"/>
            <a:ext cx="5545137"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6814" name="Text Box 14">
            <a:extLst>
              <a:ext uri="{FF2B5EF4-FFF2-40B4-BE49-F238E27FC236}">
                <a16:creationId xmlns:a16="http://schemas.microsoft.com/office/drawing/2014/main" id="{417AE7B7-6BEC-A23C-8723-2EF3EBB6C72F}"/>
              </a:ext>
            </a:extLst>
          </p:cNvPr>
          <p:cNvSpPr txBox="1">
            <a:spLocks noChangeArrowheads="1"/>
          </p:cNvSpPr>
          <p:nvPr/>
        </p:nvSpPr>
        <p:spPr bwMode="auto">
          <a:xfrm>
            <a:off x="1008063" y="4594225"/>
            <a:ext cx="4919662"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黑体" panose="02010609060101010101" pitchFamily="49" charset="-122"/>
                <a:ea typeface="黑体" panose="02010609060101010101" pitchFamily="49" charset="-122"/>
              </a:rPr>
              <a:t>案例分析</a:t>
            </a:r>
            <a:r>
              <a:rPr lang="zh-CN" altLang="en-US" sz="2200">
                <a:latin typeface="Times New Roman" panose="02020603050405020304" pitchFamily="18" charset="0"/>
              </a:rPr>
              <a:t> </a:t>
            </a:r>
          </a:p>
        </p:txBody>
      </p:sp>
      <p:sp>
        <p:nvSpPr>
          <p:cNvPr id="76815" name="Rectangle 15">
            <a:extLst>
              <a:ext uri="{FF2B5EF4-FFF2-40B4-BE49-F238E27FC236}">
                <a16:creationId xmlns:a16="http://schemas.microsoft.com/office/drawing/2014/main" id="{5601CC45-5757-9968-29D0-7E964B0FB616}"/>
              </a:ext>
            </a:extLst>
          </p:cNvPr>
          <p:cNvSpPr>
            <a:spLocks noChangeArrowheads="1"/>
          </p:cNvSpPr>
          <p:nvPr/>
        </p:nvSpPr>
        <p:spPr bwMode="auto">
          <a:xfrm>
            <a:off x="625475" y="4635500"/>
            <a:ext cx="334963"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3.5</a:t>
            </a:r>
            <a:endParaRPr lang="en-US" altLang="zh-CN" sz="1800">
              <a:solidFill>
                <a:srgbClr val="000000"/>
              </a:solidFill>
            </a:endParaRPr>
          </a:p>
        </p:txBody>
      </p:sp>
      <p:sp>
        <p:nvSpPr>
          <p:cNvPr id="76816" name="AutoShape 16">
            <a:extLst>
              <a:ext uri="{FF2B5EF4-FFF2-40B4-BE49-F238E27FC236}">
                <a16:creationId xmlns:a16="http://schemas.microsoft.com/office/drawing/2014/main" id="{2CC345B2-2499-7B2C-72DD-D494309033C6}"/>
              </a:ext>
            </a:extLst>
          </p:cNvPr>
          <p:cNvSpPr>
            <a:spLocks noChangeArrowheads="1"/>
          </p:cNvSpPr>
          <p:nvPr/>
        </p:nvSpPr>
        <p:spPr bwMode="auto">
          <a:xfrm>
            <a:off x="755650" y="5106988"/>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6817" name="Text Box 17">
            <a:extLst>
              <a:ext uri="{FF2B5EF4-FFF2-40B4-BE49-F238E27FC236}">
                <a16:creationId xmlns:a16="http://schemas.microsoft.com/office/drawing/2014/main" id="{34E5DA70-FF8A-7B00-6CC2-4D6F1F12BC27}"/>
              </a:ext>
            </a:extLst>
          </p:cNvPr>
          <p:cNvSpPr txBox="1">
            <a:spLocks noChangeArrowheads="1"/>
          </p:cNvSpPr>
          <p:nvPr/>
        </p:nvSpPr>
        <p:spPr bwMode="auto">
          <a:xfrm>
            <a:off x="1012825" y="5140325"/>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黑体" panose="02010609060101010101" pitchFamily="49" charset="-122"/>
                <a:ea typeface="黑体" panose="02010609060101010101" pitchFamily="49" charset="-122"/>
              </a:rPr>
              <a:t>本章小结</a:t>
            </a:r>
            <a:r>
              <a:rPr lang="zh-CN" altLang="en-US" sz="2400" b="0">
                <a:latin typeface="Times New Roman" panose="02020603050405020304" pitchFamily="18" charset="0"/>
              </a:rPr>
              <a:t> </a:t>
            </a:r>
          </a:p>
        </p:txBody>
      </p:sp>
      <p:sp>
        <p:nvSpPr>
          <p:cNvPr id="76818" name="Rectangle 18">
            <a:extLst>
              <a:ext uri="{FF2B5EF4-FFF2-40B4-BE49-F238E27FC236}">
                <a16:creationId xmlns:a16="http://schemas.microsoft.com/office/drawing/2014/main" id="{0AF60AFA-A421-53A7-D90A-4631727EDA84}"/>
              </a:ext>
            </a:extLst>
          </p:cNvPr>
          <p:cNvSpPr>
            <a:spLocks noChangeArrowheads="1"/>
          </p:cNvSpPr>
          <p:nvPr/>
        </p:nvSpPr>
        <p:spPr bwMode="auto">
          <a:xfrm>
            <a:off x="630238" y="5195888"/>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3.6</a:t>
            </a:r>
            <a:endParaRPr lang="en-US" altLang="zh-CN" sz="1800">
              <a:solidFill>
                <a:srgbClr val="000000"/>
              </a:solidFill>
            </a:endParaRPr>
          </a:p>
        </p:txBody>
      </p:sp>
      <p:sp>
        <p:nvSpPr>
          <p:cNvPr id="76819" name="AutoShape 19">
            <a:extLst>
              <a:ext uri="{FF2B5EF4-FFF2-40B4-BE49-F238E27FC236}">
                <a16:creationId xmlns:a16="http://schemas.microsoft.com/office/drawing/2014/main" id="{2EAC2D0D-18CC-110D-A188-78612390A7EC}"/>
              </a:ext>
            </a:extLst>
          </p:cNvPr>
          <p:cNvSpPr>
            <a:spLocks noChangeArrowheads="1"/>
          </p:cNvSpPr>
          <p:nvPr/>
        </p:nvSpPr>
        <p:spPr bwMode="auto">
          <a:xfrm>
            <a:off x="755650" y="5651500"/>
            <a:ext cx="5545138" cy="488950"/>
          </a:xfrm>
          <a:prstGeom prst="homePlate">
            <a:avLst>
              <a:gd name="adj" fmla="val 32500"/>
            </a:avLst>
          </a:prstGeom>
          <a:solidFill>
            <a:schemeClr val="bg1">
              <a:alpha val="0"/>
            </a:scheme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2400" b="0">
              <a:latin typeface="Times New Roman" panose="02020603050405020304" pitchFamily="18" charset="0"/>
            </a:endParaRPr>
          </a:p>
        </p:txBody>
      </p:sp>
      <p:sp>
        <p:nvSpPr>
          <p:cNvPr id="76820" name="Text Box 20">
            <a:extLst>
              <a:ext uri="{FF2B5EF4-FFF2-40B4-BE49-F238E27FC236}">
                <a16:creationId xmlns:a16="http://schemas.microsoft.com/office/drawing/2014/main" id="{9E88CDD2-CECF-2179-E310-B2B8311B211C}"/>
              </a:ext>
            </a:extLst>
          </p:cNvPr>
          <p:cNvSpPr txBox="1">
            <a:spLocks noChangeArrowheads="1"/>
          </p:cNvSpPr>
          <p:nvPr/>
        </p:nvSpPr>
        <p:spPr bwMode="auto">
          <a:xfrm>
            <a:off x="1012825" y="5684838"/>
            <a:ext cx="49196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200">
                <a:latin typeface="黑体" panose="02010609060101010101" pitchFamily="49" charset="-122"/>
                <a:ea typeface="黑体" panose="02010609060101010101" pitchFamily="49" charset="-122"/>
              </a:rPr>
              <a:t>复习思考题</a:t>
            </a:r>
            <a:r>
              <a:rPr lang="zh-CN" altLang="en-US" sz="2400" b="0">
                <a:latin typeface="Times New Roman" panose="02020603050405020304" pitchFamily="18" charset="0"/>
              </a:rPr>
              <a:t> </a:t>
            </a:r>
          </a:p>
        </p:txBody>
      </p:sp>
      <p:sp>
        <p:nvSpPr>
          <p:cNvPr id="76821" name="Rectangle 21">
            <a:extLst>
              <a:ext uri="{FF2B5EF4-FFF2-40B4-BE49-F238E27FC236}">
                <a16:creationId xmlns:a16="http://schemas.microsoft.com/office/drawing/2014/main" id="{BFB2FA99-4AAC-42D6-600D-6AA5A20AE632}"/>
              </a:ext>
            </a:extLst>
          </p:cNvPr>
          <p:cNvSpPr>
            <a:spLocks noChangeArrowheads="1"/>
          </p:cNvSpPr>
          <p:nvPr/>
        </p:nvSpPr>
        <p:spPr bwMode="auto">
          <a:xfrm>
            <a:off x="630238" y="5740400"/>
            <a:ext cx="334962" cy="260350"/>
          </a:xfrm>
          <a:prstGeom prst="rect">
            <a:avLst/>
          </a:prstGeom>
          <a:solidFill>
            <a:srgbClr val="0000FF"/>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3.7</a:t>
            </a:r>
            <a:endParaRPr lang="en-US" altLang="zh-CN" sz="1800">
              <a:solidFill>
                <a:srgbClr val="000000"/>
              </a:solidFill>
            </a:endParaRPr>
          </a:p>
        </p:txBody>
      </p:sp>
      <p:sp>
        <p:nvSpPr>
          <p:cNvPr id="76822" name="Rectangle 22">
            <a:extLst>
              <a:ext uri="{FF2B5EF4-FFF2-40B4-BE49-F238E27FC236}">
                <a16:creationId xmlns:a16="http://schemas.microsoft.com/office/drawing/2014/main" id="{4FB94517-B251-BDF4-BB58-C756A2A905DA}"/>
              </a:ext>
            </a:extLst>
          </p:cNvPr>
          <p:cNvSpPr>
            <a:spLocks noChangeArrowheads="1"/>
          </p:cNvSpPr>
          <p:nvPr/>
        </p:nvSpPr>
        <p:spPr bwMode="auto">
          <a:xfrm>
            <a:off x="604838" y="2992438"/>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3.2</a:t>
            </a:r>
          </a:p>
        </p:txBody>
      </p:sp>
      <p:sp>
        <p:nvSpPr>
          <p:cNvPr id="76823" name="Rectangle 23">
            <a:extLst>
              <a:ext uri="{FF2B5EF4-FFF2-40B4-BE49-F238E27FC236}">
                <a16:creationId xmlns:a16="http://schemas.microsoft.com/office/drawing/2014/main" id="{9A922E63-62AB-A941-94E4-E27CD69045F0}"/>
              </a:ext>
            </a:extLst>
          </p:cNvPr>
          <p:cNvSpPr>
            <a:spLocks noChangeArrowheads="1"/>
          </p:cNvSpPr>
          <p:nvPr/>
        </p:nvSpPr>
        <p:spPr bwMode="auto">
          <a:xfrm>
            <a:off x="604838" y="3536950"/>
            <a:ext cx="334962" cy="260350"/>
          </a:xfrm>
          <a:prstGeom prst="rect">
            <a:avLst/>
          </a:prstGeom>
          <a:solidFill>
            <a:schemeClr val="tx1"/>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3.3</a:t>
            </a:r>
            <a:endParaRPr lang="en-US" altLang="zh-CN" sz="1800">
              <a:solidFill>
                <a:srgbClr val="000000"/>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CBE3A50E-1FCF-7278-5B1E-CBC8C471E63A}"/>
              </a:ext>
            </a:extLst>
          </p:cNvPr>
          <p:cNvSpPr>
            <a:spLocks noGrp="1" noChangeArrowheads="1"/>
          </p:cNvSpPr>
          <p:nvPr>
            <p:ph type="title"/>
          </p:nvPr>
        </p:nvSpPr>
        <p:spPr>
          <a:xfrm>
            <a:off x="177800" y="1054100"/>
            <a:ext cx="8788400" cy="71755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a:t>3.7 </a:t>
            </a:r>
            <a:r>
              <a:rPr kumimoji="1" lang="zh-CN" altLang="en-US"/>
              <a:t>复习思考题 </a:t>
            </a:r>
          </a:p>
        </p:txBody>
      </p:sp>
      <p:sp>
        <p:nvSpPr>
          <p:cNvPr id="66563" name="Text Box 3">
            <a:extLst>
              <a:ext uri="{FF2B5EF4-FFF2-40B4-BE49-F238E27FC236}">
                <a16:creationId xmlns:a16="http://schemas.microsoft.com/office/drawing/2014/main" id="{EAF49AE0-D604-777A-AB14-6F9C5735A369}"/>
              </a:ext>
            </a:extLst>
          </p:cNvPr>
          <p:cNvSpPr txBox="1">
            <a:spLocks noChangeArrowheads="1"/>
          </p:cNvSpPr>
          <p:nvPr/>
        </p:nvSpPr>
        <p:spPr bwMode="auto">
          <a:xfrm>
            <a:off x="846138" y="2157413"/>
            <a:ext cx="7527925" cy="4149072"/>
          </a:xfrm>
          <a:prstGeom prst="rect">
            <a:avLst/>
          </a:prstGeom>
          <a:noFill/>
          <a:ln>
            <a:noFill/>
          </a:ln>
          <a:effectLst/>
        </p:spPr>
        <p:txBody>
          <a:bodyPr lIns="91428" tIns="45714" rIns="91428" bIns="45714">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3200"/>
              </a:lnSpc>
              <a:buFontTx/>
              <a:buAutoNum type="arabicPeriod"/>
              <a:defRPr/>
            </a:pPr>
            <a:r>
              <a:rPr kumimoji="0" lang="en-US" altLang="zh-CN" sz="2000" b="1" dirty="0"/>
              <a:t> CMM</a:t>
            </a:r>
            <a:r>
              <a:rPr kumimoji="0" lang="zh-CN" altLang="en-US" sz="2000" b="1" dirty="0"/>
              <a:t>和</a:t>
            </a:r>
            <a:r>
              <a:rPr kumimoji="0" lang="en-US" altLang="zh-CN" sz="2000" b="1" dirty="0"/>
              <a:t>CMMI</a:t>
            </a:r>
            <a:r>
              <a:rPr kumimoji="0" lang="zh-CN" altLang="en-US" sz="2000" b="1" dirty="0"/>
              <a:t>的五个级别分别是什么？到底是选择</a:t>
            </a:r>
            <a:r>
              <a:rPr kumimoji="0" lang="en-US" altLang="zh-CN" sz="2000" b="1" dirty="0"/>
              <a:t>SW-CMM</a:t>
            </a:r>
            <a:r>
              <a:rPr kumimoji="0" lang="zh-CN" altLang="en-US" sz="2000" b="1" dirty="0"/>
              <a:t>还是</a:t>
            </a:r>
            <a:r>
              <a:rPr kumimoji="0" lang="en-US" altLang="zh-CN" sz="2000" b="1" dirty="0"/>
              <a:t>CMMI</a:t>
            </a:r>
            <a:r>
              <a:rPr kumimoji="0" lang="zh-CN" altLang="en-US" sz="2000" b="1" dirty="0"/>
              <a:t>？</a:t>
            </a:r>
          </a:p>
          <a:p>
            <a:pPr eaLnBrk="1" hangingPunct="1">
              <a:lnSpc>
                <a:spcPts val="3200"/>
              </a:lnSpc>
              <a:buFontTx/>
              <a:buAutoNum type="arabicPeriod"/>
              <a:defRPr/>
            </a:pPr>
            <a:r>
              <a:rPr kumimoji="0" lang="zh-CN" altLang="en-US" sz="2000" b="1" dirty="0"/>
              <a:t>中国软件企业之所以要进行</a:t>
            </a:r>
            <a:r>
              <a:rPr kumimoji="0" lang="en-US" altLang="zh-CN" sz="2000" b="1" dirty="0"/>
              <a:t>ISO9001</a:t>
            </a:r>
            <a:r>
              <a:rPr kumimoji="0" lang="zh-CN" altLang="en-US" sz="2000" b="1" dirty="0"/>
              <a:t>质量体系认证，原因是什么？</a:t>
            </a:r>
          </a:p>
          <a:p>
            <a:pPr eaLnBrk="1" hangingPunct="1">
              <a:lnSpc>
                <a:spcPts val="3200"/>
              </a:lnSpc>
              <a:buFontTx/>
              <a:buAutoNum type="arabicPeriod"/>
              <a:defRPr/>
            </a:pPr>
            <a:r>
              <a:rPr kumimoji="0" lang="zh-CN" altLang="en-US" sz="2000" b="1" dirty="0"/>
              <a:t>传统的软件开发生命周期可以分为哪几个子阶段？</a:t>
            </a:r>
          </a:p>
          <a:p>
            <a:pPr eaLnBrk="1" hangingPunct="1">
              <a:lnSpc>
                <a:spcPts val="3200"/>
              </a:lnSpc>
              <a:buFontTx/>
              <a:buAutoNum type="arabicPeriod"/>
              <a:defRPr/>
            </a:pPr>
            <a:r>
              <a:rPr kumimoji="0" lang="zh-CN" altLang="en-US" sz="2000" b="1" dirty="0"/>
              <a:t>原型模型可以细分为哪两种？它们的内容是什么？</a:t>
            </a:r>
          </a:p>
          <a:p>
            <a:pPr eaLnBrk="1" hangingPunct="1">
              <a:lnSpc>
                <a:spcPts val="3200"/>
              </a:lnSpc>
              <a:buFontTx/>
              <a:buAutoNum type="arabicPeriod"/>
              <a:defRPr/>
            </a:pPr>
            <a:r>
              <a:rPr kumimoji="0" lang="zh-CN" altLang="en-US" sz="2000" b="1" dirty="0">
                <a:highlight>
                  <a:srgbClr val="FFFF00"/>
                </a:highlight>
              </a:rPr>
              <a:t>你觉得进化模型和螺旋模型有哪些相似之处吗？它们的核心思想是什么？</a:t>
            </a:r>
          </a:p>
          <a:p>
            <a:pPr eaLnBrk="1" hangingPunct="1">
              <a:lnSpc>
                <a:spcPts val="3200"/>
              </a:lnSpc>
              <a:buFontTx/>
              <a:buAutoNum type="arabicPeriod"/>
              <a:defRPr/>
            </a:pPr>
            <a:r>
              <a:rPr kumimoji="0" lang="zh-CN" altLang="en-US" sz="2000" b="1" dirty="0">
                <a:highlight>
                  <a:srgbClr val="FFFF00"/>
                </a:highlight>
              </a:rPr>
              <a:t>质量体系、质量手册和质量计划的联系何在？</a:t>
            </a:r>
          </a:p>
          <a:p>
            <a:pPr eaLnBrk="1" hangingPunct="1">
              <a:lnSpc>
                <a:spcPts val="3200"/>
              </a:lnSpc>
              <a:buFontTx/>
              <a:buAutoNum type="arabicPeriod"/>
              <a:defRPr/>
            </a:pPr>
            <a:r>
              <a:rPr kumimoji="0" lang="zh-CN" altLang="en-US" sz="2000" b="1" dirty="0">
                <a:highlight>
                  <a:srgbClr val="FFFF00"/>
                </a:highlight>
              </a:rPr>
              <a:t>在需求分析阶段需要监控的关键元素是什么？</a:t>
            </a:r>
            <a:endParaRPr kumimoji="0" lang="zh-CN" altLang="en-US" b="1" dirty="0">
              <a:highlight>
                <a:srgbClr val="FFFF00"/>
              </a:highlight>
              <a:latin typeface="Arial" panose="020B0604020202020204" pitchFamily="34" charset="0"/>
              <a:ea typeface="黑体" panose="02010609060101010101" pitchFamily="49" charset="-122"/>
            </a:endParaRPr>
          </a:p>
        </p:txBody>
      </p:sp>
    </p:spTree>
  </p:cSld>
  <p:clrMapOvr>
    <a:masterClrMapping/>
  </p:clrMapOvr>
</p:sld>
</file>

<file path=ppt/theme/theme1.xml><?xml version="1.0" encoding="utf-8"?>
<a:theme xmlns:a="http://schemas.openxmlformats.org/drawingml/2006/main" name="1_默认设计模板">
  <a:themeElements>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80808"/>
      </a:hlink>
      <a:folHlink>
        <a:srgbClr val="000000"/>
      </a:folHlink>
    </a:clrScheme>
    <a:fontScheme name="1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1_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80808"/>
        </a:hlink>
        <a:folHlink>
          <a:srgbClr val="00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2158</TotalTime>
  <Words>6805</Words>
  <Application>Microsoft Office PowerPoint</Application>
  <PresentationFormat>全屏显示(4:3)</PresentationFormat>
  <Paragraphs>634</Paragraphs>
  <Slides>77</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77</vt:i4>
      </vt:variant>
    </vt:vector>
  </HeadingPairs>
  <TitlesOfParts>
    <vt:vector size="92" baseType="lpstr">
      <vt:lpstr>黑体</vt:lpstr>
      <vt:lpstr>宋体</vt:lpstr>
      <vt:lpstr>Arial</vt:lpstr>
      <vt:lpstr>Arial Black</vt:lpstr>
      <vt:lpstr>Arial Narrow</vt:lpstr>
      <vt:lpstr>Comic Sans MS</vt:lpstr>
      <vt:lpstr>Tahoma</vt:lpstr>
      <vt:lpstr>Times New Roman</vt:lpstr>
      <vt:lpstr>Verdana</vt:lpstr>
      <vt:lpstr>Wingdings</vt:lpstr>
      <vt:lpstr>Wingdings 2</vt:lpstr>
      <vt:lpstr>1_默认设计模板</vt:lpstr>
      <vt:lpstr>Drawing</vt:lpstr>
      <vt:lpstr>Visio</vt:lpstr>
      <vt:lpstr>位图图像</vt:lpstr>
      <vt:lpstr>第 3 章   软件开发过程管理 </vt:lpstr>
      <vt:lpstr>本章内容提要</vt:lpstr>
      <vt:lpstr>3.1  CMM和ISO9000 </vt:lpstr>
      <vt:lpstr>3.1.1  SW-CMM和CMMI </vt:lpstr>
      <vt:lpstr>3.1.1  SW-CMM和CMMI </vt:lpstr>
      <vt:lpstr>3.1.1  SW-CMM和CMMI </vt:lpstr>
      <vt:lpstr>3.1.1  SW-CMM和CMMI </vt:lpstr>
      <vt:lpstr>3.1.1  SW-CMM和CMMI </vt:lpstr>
      <vt:lpstr>3.1.1  SW-CMM和CMMI </vt:lpstr>
      <vt:lpstr>3.1.1  SW-CMM和CMMI </vt:lpstr>
      <vt:lpstr>3.1.1  SW-CMM和CMMI </vt:lpstr>
      <vt:lpstr>3.1.1  SW-CMM和CMMI </vt:lpstr>
      <vt:lpstr>3.1.1  SW-CMM和CMMI </vt:lpstr>
      <vt:lpstr>PowerPoint 演示文稿</vt:lpstr>
      <vt:lpstr>3.1.2  ISO9000质量标准 </vt:lpstr>
      <vt:lpstr>3.1.3  三者之间的比较 </vt:lpstr>
      <vt:lpstr>PowerPoint 演示文稿</vt:lpstr>
      <vt:lpstr>本章内容提要</vt:lpstr>
      <vt:lpstr>3.2  传统软件开发生命周期模型  </vt:lpstr>
      <vt:lpstr>3.2.1  瀑布模型</vt:lpstr>
      <vt:lpstr>3.2.1  瀑布模型</vt:lpstr>
      <vt:lpstr>3.2.1  瀑布模型</vt:lpstr>
      <vt:lpstr>3.2.2  原型模型 </vt:lpstr>
      <vt:lpstr>3.2.2  原型模型 </vt:lpstr>
      <vt:lpstr>3.2.2  原型模型 </vt:lpstr>
      <vt:lpstr>3.2.2  原型模型 </vt:lpstr>
      <vt:lpstr>3.2.2  原型模型 </vt:lpstr>
      <vt:lpstr>3.2.2  原型模型 </vt:lpstr>
      <vt:lpstr>3.2.2  原型模型 </vt:lpstr>
      <vt:lpstr>3.2.3  增量模型 </vt:lpstr>
      <vt:lpstr>3.2.3  增量模型 </vt:lpstr>
      <vt:lpstr>3.2.3  增量模型 </vt:lpstr>
      <vt:lpstr>3.2.3  增量模型 </vt:lpstr>
      <vt:lpstr>3.2.4  进化模型 </vt:lpstr>
      <vt:lpstr>3.2.4  进化模型 </vt:lpstr>
      <vt:lpstr>3.2.4  进化模型 </vt:lpstr>
      <vt:lpstr>3.2.4  进化模型 </vt:lpstr>
      <vt:lpstr>3.2.4  进化模型 </vt:lpstr>
      <vt:lpstr>3.2.5  螺旋模型</vt:lpstr>
      <vt:lpstr>3.2.5  螺旋模型 </vt:lpstr>
      <vt:lpstr>3.2.5  螺旋模型 </vt:lpstr>
      <vt:lpstr>3.2.5  螺旋模型 </vt:lpstr>
      <vt:lpstr>本章内容提要</vt:lpstr>
      <vt:lpstr>3.3.1  极限模型 </vt:lpstr>
      <vt:lpstr>3.3.1  极限模型 </vt:lpstr>
      <vt:lpstr>3.3.1  极限模型 </vt:lpstr>
      <vt:lpstr>3.3.1  极限模型 </vt:lpstr>
      <vt:lpstr>3.3.1  极限模型 </vt:lpstr>
      <vt:lpstr>3.3.1  极限模型 </vt:lpstr>
      <vt:lpstr>3.3.2  Rational统一过程 （RUP）</vt:lpstr>
      <vt:lpstr>3.3.2  Rational统一过程 （RUP）</vt:lpstr>
      <vt:lpstr>3.3.2  Rational统一过程 （RUP）</vt:lpstr>
      <vt:lpstr>3.3.2  Rational统一过程 （RUP）</vt:lpstr>
      <vt:lpstr>3.3.2  Rational统一过程 （RUP）</vt:lpstr>
      <vt:lpstr>3.3.2  Rational统一过程 （RUP）</vt:lpstr>
      <vt:lpstr>3.3.3  微软产品开发周期模型 </vt:lpstr>
      <vt:lpstr>3.3.3  微软产品开发周期模型 </vt:lpstr>
      <vt:lpstr>3.3.3  微软产品开发周期模型 </vt:lpstr>
      <vt:lpstr>3.3.3  微软产品开发周期模型 </vt:lpstr>
      <vt:lpstr>本章内容提要</vt:lpstr>
      <vt:lpstr>3.4.1  质量与质量规划 </vt:lpstr>
      <vt:lpstr>3.4.1  质量与质量规划 </vt:lpstr>
      <vt:lpstr>3.4.2  质量体系、质量手册和质量计划 </vt:lpstr>
      <vt:lpstr>3.4.2  质量体系、质量手册和质量计划 </vt:lpstr>
      <vt:lpstr>3.4.3  项目质量计划的内容 </vt:lpstr>
      <vt:lpstr>3.4.3  项目质量计划的内容 </vt:lpstr>
      <vt:lpstr>3.4.4  质量目标 </vt:lpstr>
      <vt:lpstr>3.4.4  质量目标 </vt:lpstr>
      <vt:lpstr>3.4.5  项目质量计划的编写 </vt:lpstr>
      <vt:lpstr>3.4.6  按照质量计划实施有效的质量控制 </vt:lpstr>
      <vt:lpstr>本章内容提要</vt:lpstr>
      <vt:lpstr>3.5 案例分析</vt:lpstr>
      <vt:lpstr>3.5 案例分析</vt:lpstr>
      <vt:lpstr>本章内容提要</vt:lpstr>
      <vt:lpstr>3.6 本章小结 </vt:lpstr>
      <vt:lpstr>本章内容提要</vt:lpstr>
      <vt:lpstr>3.7 复习思考题 </vt:lpstr>
    </vt:vector>
  </TitlesOfParts>
  <Manager>杨立东</Manager>
  <Company>CRS Tech（上海连陆）</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P01-CMMI实践解析－CMMI模型概述</dc:title>
  <dc:subject>CMMI模型概述</dc:subject>
  <dc:creator>杨立东</dc:creator>
  <cp:lastModifiedBy>Mingjian Jiang</cp:lastModifiedBy>
  <cp:revision>386</cp:revision>
  <dcterms:created xsi:type="dcterms:W3CDTF">2005-05-27T08:51:01Z</dcterms:created>
  <dcterms:modified xsi:type="dcterms:W3CDTF">2024-08-29T01:34:13Z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说明">
    <vt:lpwstr>PowerPoint 打印文稿</vt:lpwstr>
  </property>
</Properties>
</file>