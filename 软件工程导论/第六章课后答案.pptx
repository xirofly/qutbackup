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custDataLst>
    <p:tags r:id="rId2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gs" Target="tags/tag63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image" Target="../media/image7.emf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>
              <a:spcBef>
                <a:spcPct val="0"/>
              </a:spcBef>
            </a:pP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13:07:42</a:t>
            </a:r>
            <a:endParaRPr lang="zh-CN" altLang="zh-CN" sz="16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random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3.emf"/><Relationship Id="rId1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3.emf"/><Relationship Id="rId1" Type="http://schemas.openxmlformats.org/officeDocument/2006/relationships/oleObject" Target="../embeddings/oleObject2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3.vml"/><Relationship Id="rId6" Type="http://schemas.openxmlformats.org/officeDocument/2006/relationships/slideLayout" Target="../slideLayouts/slideLayout4.xml"/><Relationship Id="rId5" Type="http://schemas.openxmlformats.org/officeDocument/2006/relationships/slide" Target="slide1.xml"/><Relationship Id="rId4" Type="http://schemas.openxmlformats.org/officeDocument/2006/relationships/image" Target="../media/image8.emf"/><Relationship Id="rId3" Type="http://schemas.openxmlformats.org/officeDocument/2006/relationships/oleObject" Target="../embeddings/oleObject4.bin"/><Relationship Id="rId2" Type="http://schemas.openxmlformats.org/officeDocument/2006/relationships/image" Target="../media/image7.emf"/><Relationship Id="rId1" Type="http://schemas.openxmlformats.org/officeDocument/2006/relationships/oleObject" Target="../embeddings/oleObject3.bin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/>
          <p:nvPr>
            <p:ph type="dt" sz="half" idx="10"/>
          </p:nvPr>
        </p:nvSpPr>
        <p:spPr/>
        <p:txBody>
          <a:bodyPr>
            <a:noAutofit/>
          </a:bodyPr>
          <a:p>
            <a:pPr lvl="0" eaLnBrk="1" hangingPunct="1">
              <a:spcBef>
                <a:spcPct val="0"/>
              </a:spcBef>
            </a:pPr>
            <a:r>
              <a:rPr lang="zh-CN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13:07:42</a:t>
            </a:r>
            <a:endParaRPr lang="zh-CN" altLang="zh-CN" sz="16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97603" name="文本占位符 3097602"/>
          <p:cNvSpPr>
            <a:spLocks noGrp="1"/>
          </p:cNvSpPr>
          <p:nvPr>
            <p:ph type="body" idx="1"/>
          </p:nvPr>
        </p:nvSpPr>
        <p:spPr>
          <a:xfrm>
            <a:off x="1765300" y="1092200"/>
            <a:ext cx="8712200" cy="5384800"/>
          </a:xfrm>
        </p:spPr>
        <p:txBody>
          <a:bodyPr lIns="82550" tIns="41275" rIns="82550" bIns="41275">
            <a:normAutofit fontScale="90000" lnSpcReduction="20000"/>
          </a:bodyPr>
          <a:p>
            <a:pPr marL="342900" indent="-342900" defTabSz="914400">
              <a:spcBef>
                <a:spcPct val="0"/>
              </a:spcBef>
              <a:buNone/>
            </a:pPr>
            <a:r>
              <a:rPr lang="en-US" altLang="zh-CN" sz="1780"/>
              <a:t>P141:3  </a:t>
            </a:r>
            <a:r>
              <a:rPr lang="zh-CN" altLang="en-US" sz="1780" dirty="0"/>
              <a:t>画出下列伪码程序的程序流程图和盒图</a:t>
            </a:r>
            <a:endParaRPr lang="zh-CN" altLang="en-US" sz="1780" dirty="0"/>
          </a:p>
          <a:p>
            <a:pPr marL="342900" indent="-342900" defTabSz="914400">
              <a:spcBef>
                <a:spcPct val="0"/>
              </a:spcBef>
              <a:buNone/>
            </a:pPr>
            <a:r>
              <a:rPr lang="en-US" altLang="zh-CN" sz="1780"/>
              <a:t>START</a:t>
            </a:r>
            <a:endParaRPr lang="en-US" altLang="zh-CN" sz="1780"/>
          </a:p>
          <a:p>
            <a:pPr marL="342900" indent="-342900" defTabSz="914400">
              <a:spcBef>
                <a:spcPct val="0"/>
              </a:spcBef>
              <a:buNone/>
            </a:pPr>
            <a:r>
              <a:rPr lang="en-US" altLang="zh-CN" sz="1780"/>
              <a:t>IF  p  THEN</a:t>
            </a:r>
            <a:endParaRPr lang="en-US" altLang="zh-CN" sz="1780"/>
          </a:p>
          <a:p>
            <a:pPr marL="342900" indent="-342900" defTabSz="914400">
              <a:spcBef>
                <a:spcPct val="0"/>
              </a:spcBef>
              <a:buNone/>
            </a:pPr>
            <a:r>
              <a:rPr lang="en-US" altLang="zh-CN" sz="1780"/>
              <a:t>     WHILE  q  DO</a:t>
            </a:r>
            <a:endParaRPr lang="en-US" altLang="zh-CN" sz="1780"/>
          </a:p>
          <a:p>
            <a:pPr marL="342900" indent="-342900" defTabSz="914400">
              <a:spcBef>
                <a:spcPct val="0"/>
              </a:spcBef>
              <a:buNone/>
            </a:pPr>
            <a:r>
              <a:rPr lang="en-US" altLang="zh-CN" sz="1780"/>
              <a:t>                   f</a:t>
            </a:r>
            <a:endParaRPr lang="en-US" altLang="zh-CN" sz="1780"/>
          </a:p>
          <a:p>
            <a:pPr marL="342900" indent="-342900" defTabSz="914400">
              <a:spcBef>
                <a:spcPct val="0"/>
              </a:spcBef>
              <a:buNone/>
            </a:pPr>
            <a:r>
              <a:rPr lang="en-US" altLang="zh-CN" sz="1780"/>
              <a:t>     END  DO</a:t>
            </a:r>
            <a:endParaRPr lang="en-US" altLang="zh-CN" sz="1780"/>
          </a:p>
          <a:p>
            <a:pPr marL="342900" indent="-342900" defTabSz="914400">
              <a:spcBef>
                <a:spcPct val="0"/>
              </a:spcBef>
              <a:buNone/>
            </a:pPr>
            <a:r>
              <a:rPr lang="en-US" altLang="zh-CN" sz="1780"/>
              <a:t>ELSE</a:t>
            </a:r>
            <a:endParaRPr lang="en-US" altLang="zh-CN" sz="1780"/>
          </a:p>
          <a:p>
            <a:pPr marL="342900" indent="-342900" defTabSz="914400">
              <a:spcBef>
                <a:spcPct val="0"/>
              </a:spcBef>
              <a:buNone/>
            </a:pPr>
            <a:r>
              <a:rPr lang="en-US" altLang="zh-CN" sz="1780"/>
              <a:t>     BLOCK</a:t>
            </a:r>
            <a:endParaRPr lang="en-US" altLang="zh-CN" sz="1780"/>
          </a:p>
          <a:p>
            <a:pPr marL="342900" indent="-342900" defTabSz="914400">
              <a:spcBef>
                <a:spcPct val="0"/>
              </a:spcBef>
              <a:buNone/>
            </a:pPr>
            <a:r>
              <a:rPr lang="en-US" altLang="zh-CN" sz="1780"/>
              <a:t>     g</a:t>
            </a:r>
            <a:endParaRPr lang="en-US" altLang="zh-CN" sz="1780"/>
          </a:p>
          <a:p>
            <a:pPr marL="342900" indent="-342900" defTabSz="914400">
              <a:spcBef>
                <a:spcPct val="0"/>
              </a:spcBef>
              <a:buNone/>
            </a:pPr>
            <a:r>
              <a:rPr lang="en-US" altLang="zh-CN" sz="1780"/>
              <a:t>     n</a:t>
            </a:r>
            <a:endParaRPr lang="en-US" altLang="zh-CN" sz="1780"/>
          </a:p>
          <a:p>
            <a:pPr marL="342900" indent="-342900" defTabSz="914400">
              <a:spcBef>
                <a:spcPct val="0"/>
              </a:spcBef>
              <a:buNone/>
            </a:pPr>
            <a:r>
              <a:rPr lang="en-US" altLang="zh-CN" sz="1780"/>
              <a:t>     END  BLOCK</a:t>
            </a:r>
            <a:endParaRPr lang="en-US" altLang="zh-CN" sz="1780"/>
          </a:p>
          <a:p>
            <a:pPr marL="342900" indent="-342900" defTabSz="914400">
              <a:spcBef>
                <a:spcPct val="0"/>
              </a:spcBef>
              <a:buNone/>
            </a:pPr>
            <a:r>
              <a:rPr lang="en-US" altLang="zh-CN" sz="1780"/>
              <a:t>END  IF</a:t>
            </a:r>
            <a:endParaRPr lang="en-US" altLang="zh-CN" sz="1780"/>
          </a:p>
          <a:p>
            <a:pPr marL="342900" indent="-342900" defTabSz="914400">
              <a:spcBef>
                <a:spcPct val="0"/>
              </a:spcBef>
              <a:buNone/>
            </a:pPr>
            <a:r>
              <a:rPr lang="en-US" altLang="zh-CN" sz="1780"/>
              <a:t>STOP</a:t>
            </a:r>
            <a:endParaRPr lang="en-US" altLang="zh-CN" sz="1780"/>
          </a:p>
        </p:txBody>
      </p:sp>
      <p:sp>
        <p:nvSpPr>
          <p:cNvPr id="3097605" name="矩形 3097604"/>
          <p:cNvSpPr/>
          <p:nvPr/>
        </p:nvSpPr>
        <p:spPr>
          <a:xfrm>
            <a:off x="2209800" y="152400"/>
            <a:ext cx="7772400" cy="576263"/>
          </a:xfrm>
          <a:prstGeom prst="rect">
            <a:avLst/>
          </a:prstGeom>
          <a:noFill/>
          <a:ln w="9525">
            <a:noFill/>
          </a:ln>
        </p:spPr>
        <p:txBody>
          <a:bodyPr lIns="82550" tIns="41275" rIns="82550" bIns="41275"/>
          <a:lstStyle>
            <a:lvl1pPr marL="0" lvl="0" indent="0" algn="ctr" defTabSz="67818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3200" b="1" u="none" kern="1200" baseline="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 eaLnBrk="1" fontAlgn="t" hangingPunct="1">
              <a:lnSpc>
                <a:spcPct val="100000"/>
              </a:lnSpc>
              <a:buFontTx/>
              <a:buNone/>
            </a:pPr>
            <a:r>
              <a:rPr lang="zh-CN" altLang="en-US" sz="1600" b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作业及解答（第</a:t>
            </a:r>
            <a:r>
              <a:rPr lang="en-US" altLang="zh-CN" sz="1600" b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6</a:t>
            </a:r>
            <a:r>
              <a:rPr lang="zh-CN" altLang="en-US" sz="1600" b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章）</a:t>
            </a:r>
            <a:endParaRPr lang="zh-CN" altLang="en-US" sz="1600" b="0" dirty="0">
              <a:solidFill>
                <a:schemeClr val="bg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p>
            <a:pPr lvl="0" eaLnBrk="1" hangingPunct="1">
              <a:spcBef>
                <a:spcPct val="0"/>
              </a:spcBef>
            </a:pP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13:07:42</a:t>
            </a:r>
            <a:endParaRPr lang="zh-CN" altLang="zh-CN" sz="16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00674" name="标题 3100673"/>
          <p:cNvSpPr>
            <a:spLocks noGrp="1"/>
          </p:cNvSpPr>
          <p:nvPr>
            <p:ph type="title"/>
          </p:nvPr>
        </p:nvSpPr>
        <p:spPr/>
        <p:txBody>
          <a:bodyPr lIns="82550" tIns="41275" rIns="82550" bIns="41275"/>
          <a:p>
            <a:pPr algn="just" defTabSz="914400"/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　　</a:t>
            </a:r>
            <a:endParaRPr lang="zh-CN" altLang="en-US" dirty="0">
              <a:solidFill>
                <a:schemeClr val="tx1"/>
              </a:solidFill>
            </a:endParaRPr>
          </a:p>
        </p:txBody>
      </p:sp>
      <p:pic>
        <p:nvPicPr>
          <p:cNvPr id="3100678" name="图片 310067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0" y="1095375"/>
            <a:ext cx="4214813" cy="55197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100679" name="图片 310067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2013" y="1882775"/>
            <a:ext cx="4473575" cy="36639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100681" name="矩形 3100680"/>
          <p:cNvSpPr/>
          <p:nvPr/>
        </p:nvSpPr>
        <p:spPr>
          <a:xfrm>
            <a:off x="2209800" y="152400"/>
            <a:ext cx="7772400" cy="576263"/>
          </a:xfrm>
          <a:prstGeom prst="rect">
            <a:avLst/>
          </a:prstGeom>
          <a:noFill/>
          <a:ln w="9525">
            <a:noFill/>
          </a:ln>
        </p:spPr>
        <p:txBody>
          <a:bodyPr lIns="82550" tIns="41275" rIns="82550" bIns="41275"/>
          <a:lstStyle>
            <a:lvl1pPr marL="0" lvl="0" indent="0" algn="ctr" defTabSz="67818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3200" b="1" u="none" kern="1200" baseline="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 eaLnBrk="1" fontAlgn="t" hangingPunct="1">
              <a:lnSpc>
                <a:spcPct val="100000"/>
              </a:lnSpc>
              <a:buFontTx/>
              <a:buNone/>
            </a:pPr>
            <a:r>
              <a:rPr lang="zh-CN" altLang="en-US" sz="3600" b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作业及解答（第</a:t>
            </a:r>
            <a:r>
              <a:rPr lang="en-US" altLang="zh-CN" sz="3600" b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6</a:t>
            </a:r>
            <a:r>
              <a:rPr lang="zh-CN" altLang="en-US" sz="3600" b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章）</a:t>
            </a:r>
            <a:endParaRPr lang="zh-CN" altLang="en-US" sz="3600" b="0" dirty="0">
              <a:solidFill>
                <a:schemeClr val="bg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p>
            <a:pPr lvl="0" eaLnBrk="1" hangingPunct="1">
              <a:spcBef>
                <a:spcPct val="0"/>
              </a:spcBef>
            </a:pP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13:07:42</a:t>
            </a:r>
            <a:endParaRPr lang="zh-CN" altLang="zh-CN" sz="16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98626" name="标题 3098625"/>
          <p:cNvSpPr>
            <a:spLocks noGrp="1"/>
          </p:cNvSpPr>
          <p:nvPr>
            <p:ph type="title"/>
          </p:nvPr>
        </p:nvSpPr>
        <p:spPr/>
        <p:txBody>
          <a:bodyPr lIns="82550" tIns="41275" rIns="82550" bIns="41275"/>
          <a:p>
            <a:pPr algn="just" defTabSz="914400"/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　　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098627" name="文本占位符 3098626"/>
          <p:cNvSpPr>
            <a:spLocks noGrp="1"/>
          </p:cNvSpPr>
          <p:nvPr>
            <p:ph type="body" sz="half" idx="1"/>
          </p:nvPr>
        </p:nvSpPr>
        <p:spPr>
          <a:xfrm>
            <a:off x="1625600" y="1016000"/>
            <a:ext cx="6318250" cy="5422900"/>
          </a:xfrm>
        </p:spPr>
        <p:txBody>
          <a:bodyPr lIns="82550" tIns="41275" rIns="82550" bIns="41275"/>
          <a:p>
            <a:pPr marL="342900" indent="-342900" defTabSz="914400">
              <a:spcBef>
                <a:spcPct val="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CN"/>
              <a:t>P141:4  </a:t>
            </a:r>
            <a:r>
              <a:rPr lang="zh-CN" altLang="en-US" dirty="0"/>
              <a:t>下图给出的程序流程图代表一个非结构化的程序，请问：</a:t>
            </a:r>
            <a:endParaRPr lang="zh-CN" altLang="en-US" dirty="0"/>
          </a:p>
          <a:p>
            <a:pPr marL="342900" indent="-342900" defTabSz="914400">
              <a:spcBef>
                <a:spcPct val="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zh-CN" altLang="en-US" dirty="0"/>
              <a:t>（</a:t>
            </a:r>
            <a:r>
              <a:rPr lang="en-US" altLang="zh-CN"/>
              <a:t>1</a:t>
            </a:r>
            <a:r>
              <a:rPr lang="zh-CN" altLang="en-US" dirty="0"/>
              <a:t>）为什么说它是非结构化的？</a:t>
            </a:r>
            <a:endParaRPr lang="zh-CN" altLang="en-US" dirty="0"/>
          </a:p>
          <a:p>
            <a:pPr marL="342900" indent="-342900" defTabSz="914400">
              <a:spcBef>
                <a:spcPct val="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zh-CN" altLang="en-US" dirty="0"/>
              <a:t>（</a:t>
            </a:r>
            <a:r>
              <a:rPr lang="en-US" altLang="zh-CN"/>
              <a:t>2</a:t>
            </a:r>
            <a:r>
              <a:rPr lang="zh-CN" altLang="en-US" dirty="0"/>
              <a:t>）设计一个等价的结构化程序。</a:t>
            </a:r>
            <a:endParaRPr lang="zh-CN" altLang="en-US" dirty="0"/>
          </a:p>
          <a:p>
            <a:pPr marL="342900" indent="-342900" defTabSz="914400">
              <a:spcBef>
                <a:spcPct val="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zh-CN" altLang="en-US" dirty="0"/>
              <a:t>（</a:t>
            </a:r>
            <a:r>
              <a:rPr lang="en-US" altLang="zh-CN"/>
              <a:t>3</a:t>
            </a:r>
            <a:r>
              <a:rPr lang="zh-CN" altLang="en-US" dirty="0"/>
              <a:t>）在（</a:t>
            </a:r>
            <a:r>
              <a:rPr lang="en-US" altLang="zh-CN"/>
              <a:t>2</a:t>
            </a:r>
            <a:r>
              <a:rPr lang="zh-CN" altLang="en-US" dirty="0"/>
              <a:t>）题的设计中你使用附加的标志变量</a:t>
            </a:r>
            <a:r>
              <a:rPr lang="en-US" altLang="zh-CN"/>
              <a:t>flag</a:t>
            </a:r>
            <a:r>
              <a:rPr lang="zh-CN" altLang="en-US" dirty="0"/>
              <a:t>吗？若没用，请再设计一个使用</a:t>
            </a:r>
            <a:r>
              <a:rPr lang="en-US" altLang="zh-CN"/>
              <a:t>flag</a:t>
            </a:r>
            <a:r>
              <a:rPr lang="zh-CN" altLang="en-US" dirty="0"/>
              <a:t>的程序；若用了，再设计一个不用</a:t>
            </a:r>
            <a:r>
              <a:rPr lang="en-US" altLang="zh-CN"/>
              <a:t>flag</a:t>
            </a:r>
            <a:r>
              <a:rPr lang="zh-CN" altLang="en-US" dirty="0"/>
              <a:t>的程序</a:t>
            </a:r>
            <a:endParaRPr lang="zh-CN" altLang="en-US" dirty="0"/>
          </a:p>
          <a:p>
            <a:pPr marL="342900" indent="-342900" defTabSz="914400">
              <a:spcBef>
                <a:spcPct val="0"/>
              </a:spcBef>
              <a:buClrTx/>
              <a:buSzPct val="75000"/>
              <a:buFont typeface="Wingdings" panose="05000000000000000000" pitchFamily="2" charset="2"/>
              <a:buNone/>
            </a:pPr>
            <a:endParaRPr lang="zh-CN" altLang="en-US" dirty="0"/>
          </a:p>
        </p:txBody>
      </p:sp>
      <p:graphicFrame>
        <p:nvGraphicFramePr>
          <p:cNvPr id="3098629" name="内容占位符 3098628"/>
          <p:cNvGraphicFramePr/>
          <p:nvPr>
            <p:ph sz="half" idx="2"/>
          </p:nvPr>
        </p:nvGraphicFramePr>
        <p:xfrm>
          <a:off x="8027988" y="1135063"/>
          <a:ext cx="2263775" cy="4003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name="" r:id="rId1" imgW="1456055" imgH="2573655" progId="Visio.Drawing.11">
                  <p:embed/>
                </p:oleObj>
              </mc:Choice>
              <mc:Fallback>
                <p:oleObj name="" r:id="rId1" imgW="1456055" imgH="2573655" progId="Visio.Drawing.11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027988" y="1135063"/>
                        <a:ext cx="2263775" cy="400367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98630" name="矩形 3098629"/>
          <p:cNvSpPr/>
          <p:nvPr/>
        </p:nvSpPr>
        <p:spPr>
          <a:xfrm>
            <a:off x="2209800" y="152400"/>
            <a:ext cx="7772400" cy="576263"/>
          </a:xfrm>
          <a:prstGeom prst="rect">
            <a:avLst/>
          </a:prstGeom>
          <a:noFill/>
          <a:ln w="9525">
            <a:noFill/>
          </a:ln>
        </p:spPr>
        <p:txBody>
          <a:bodyPr lIns="82550" tIns="41275" rIns="82550" bIns="41275"/>
          <a:lstStyle>
            <a:lvl1pPr marL="0" lvl="0" indent="0" algn="ctr" defTabSz="67818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3200" b="1" u="none" kern="1200" baseline="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 eaLnBrk="1" fontAlgn="t" hangingPunct="1">
              <a:lnSpc>
                <a:spcPct val="100000"/>
              </a:lnSpc>
              <a:buFontTx/>
              <a:buNone/>
            </a:pPr>
            <a:r>
              <a:rPr lang="zh-CN" altLang="en-US" sz="3600" b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作业及解答（第</a:t>
            </a:r>
            <a:r>
              <a:rPr lang="en-US" altLang="zh-CN" sz="3600" b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6</a:t>
            </a:r>
            <a:r>
              <a:rPr lang="zh-CN" altLang="en-US" sz="3600" b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章）</a:t>
            </a:r>
            <a:endParaRPr lang="zh-CN" altLang="en-US" sz="3600" b="0" dirty="0">
              <a:solidFill>
                <a:schemeClr val="bg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p>
            <a:pPr lvl="0" eaLnBrk="1" hangingPunct="1">
              <a:spcBef>
                <a:spcPct val="0"/>
              </a:spcBef>
            </a:pP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13:07:42</a:t>
            </a:r>
            <a:endParaRPr lang="zh-CN" altLang="zh-CN" sz="16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01698" name="标题 3101697"/>
          <p:cNvSpPr>
            <a:spLocks noGrp="1"/>
          </p:cNvSpPr>
          <p:nvPr>
            <p:ph type="title"/>
          </p:nvPr>
        </p:nvSpPr>
        <p:spPr/>
        <p:txBody>
          <a:bodyPr lIns="82550" tIns="41275" rIns="82550" bIns="41275"/>
          <a:p>
            <a:pPr algn="just" defTabSz="914400"/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　　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101699" name="文本占位符 3101698"/>
          <p:cNvSpPr>
            <a:spLocks noGrp="1"/>
          </p:cNvSpPr>
          <p:nvPr>
            <p:ph type="body" sz="half" idx="1"/>
          </p:nvPr>
        </p:nvSpPr>
        <p:spPr>
          <a:xfrm>
            <a:off x="1625600" y="1016000"/>
            <a:ext cx="5403850" cy="5422900"/>
          </a:xfrm>
        </p:spPr>
        <p:txBody>
          <a:bodyPr lIns="82550" tIns="41275" rIns="82550" bIns="41275"/>
          <a:p>
            <a:pPr marL="342900" indent="-342900" algn="just" defTabSz="914400">
              <a:spcBef>
                <a:spcPct val="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CN" sz="2800"/>
              <a:t>(1)</a:t>
            </a:r>
            <a:r>
              <a:rPr lang="zh-CN" altLang="en-US" sz="2800" dirty="0"/>
              <a:t>通常所说的结构化程序，是按照狭义的结构程序的定义衡量，符合定义规定的程序。</a:t>
            </a:r>
            <a:r>
              <a:rPr lang="zh-CN" altLang="en-US" sz="2800" dirty="0">
                <a:solidFill>
                  <a:srgbClr val="003300"/>
                </a:solidFill>
              </a:rPr>
              <a:t>图示的程序的循环控制结构有</a:t>
            </a:r>
            <a:r>
              <a:rPr lang="zh-CN" altLang="en-US" sz="2800" dirty="0">
                <a:solidFill>
                  <a:srgbClr val="FF0000"/>
                </a:solidFill>
              </a:rPr>
              <a:t>两个出口</a:t>
            </a:r>
            <a:r>
              <a:rPr lang="zh-CN" altLang="en-US" sz="2800" dirty="0">
                <a:solidFill>
                  <a:srgbClr val="003300"/>
                </a:solidFill>
              </a:rPr>
              <a:t>，显然不符合狭义的结构程序的定义，因此</a:t>
            </a:r>
            <a:r>
              <a:rPr lang="zh-CN" altLang="en-US" sz="2800" dirty="0">
                <a:solidFill>
                  <a:srgbClr val="FF0000"/>
                </a:solidFill>
              </a:rPr>
              <a:t>是非结构化的程序。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graphicFrame>
        <p:nvGraphicFramePr>
          <p:cNvPr id="3101701" name="内容占位符 3101700"/>
          <p:cNvGraphicFramePr/>
          <p:nvPr>
            <p:ph sz="half" idx="2"/>
          </p:nvPr>
        </p:nvGraphicFramePr>
        <p:xfrm>
          <a:off x="8027988" y="1135063"/>
          <a:ext cx="2263775" cy="4003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" name="" r:id="rId1" imgW="1456055" imgH="2573655" progId="Visio.Drawing.11">
                  <p:embed/>
                </p:oleObj>
              </mc:Choice>
              <mc:Fallback>
                <p:oleObj name="" r:id="rId1" imgW="1456055" imgH="2573655" progId="Visio.Drawing.11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027988" y="1135063"/>
                        <a:ext cx="2263775" cy="400367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01703" name="矩形 3101702"/>
          <p:cNvSpPr/>
          <p:nvPr/>
        </p:nvSpPr>
        <p:spPr>
          <a:xfrm>
            <a:off x="2209800" y="152400"/>
            <a:ext cx="7772400" cy="576263"/>
          </a:xfrm>
          <a:prstGeom prst="rect">
            <a:avLst/>
          </a:prstGeom>
          <a:noFill/>
          <a:ln w="9525">
            <a:noFill/>
          </a:ln>
        </p:spPr>
        <p:txBody>
          <a:bodyPr lIns="82550" tIns="41275" rIns="82550" bIns="41275"/>
          <a:lstStyle>
            <a:lvl1pPr marL="0" lvl="0" indent="0" algn="ctr" defTabSz="67818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3200" b="1" u="none" kern="1200" baseline="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 eaLnBrk="1" fontAlgn="t" hangingPunct="1">
              <a:lnSpc>
                <a:spcPct val="100000"/>
              </a:lnSpc>
              <a:buFontTx/>
              <a:buNone/>
            </a:pPr>
            <a:r>
              <a:rPr lang="zh-CN" altLang="en-US" sz="3600" b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作业及解答（第</a:t>
            </a:r>
            <a:r>
              <a:rPr lang="en-US" altLang="zh-CN" sz="3600" b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6</a:t>
            </a:r>
            <a:r>
              <a:rPr lang="zh-CN" altLang="en-US" sz="3600" b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章）</a:t>
            </a:r>
            <a:endParaRPr lang="zh-CN" altLang="en-US" sz="3600" b="0" dirty="0">
              <a:solidFill>
                <a:schemeClr val="bg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p>
            <a:pPr lvl="0" eaLnBrk="1" hangingPunct="1">
              <a:spcBef>
                <a:spcPct val="0"/>
              </a:spcBef>
            </a:pP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13:07:42</a:t>
            </a:r>
            <a:endParaRPr lang="zh-CN" altLang="zh-CN" sz="16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02722" name="标题 3102721"/>
          <p:cNvSpPr>
            <a:spLocks noGrp="1"/>
          </p:cNvSpPr>
          <p:nvPr>
            <p:ph type="title"/>
          </p:nvPr>
        </p:nvSpPr>
        <p:spPr/>
        <p:txBody>
          <a:bodyPr lIns="82550" tIns="41275" rIns="82550" bIns="41275"/>
          <a:p>
            <a:pPr algn="just" defTabSz="914400"/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　　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102723" name="文本占位符 3102722"/>
          <p:cNvSpPr>
            <a:spLocks noGrp="1"/>
          </p:cNvSpPr>
          <p:nvPr>
            <p:ph type="body" sz="half" idx="1"/>
          </p:nvPr>
        </p:nvSpPr>
        <p:spPr>
          <a:xfrm>
            <a:off x="1625600" y="1016000"/>
            <a:ext cx="9042400" cy="1346200"/>
          </a:xfrm>
        </p:spPr>
        <p:txBody>
          <a:bodyPr lIns="82550" tIns="41275" rIns="82550" bIns="41275"/>
          <a:p>
            <a:pPr marL="342900" indent="-342900" algn="just" defTabSz="914400">
              <a:lnSpc>
                <a:spcPct val="90000"/>
              </a:lnSpc>
              <a:spcBef>
                <a:spcPct val="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CN" sz="2800"/>
              <a:t>(2)</a:t>
            </a:r>
            <a:r>
              <a:rPr lang="zh-CN" altLang="en-US" sz="2800" dirty="0"/>
              <a:t>使用附加的标志变量</a:t>
            </a:r>
            <a:r>
              <a:rPr lang="en-US" altLang="zh-CN" sz="2800"/>
              <a:t>flag</a:t>
            </a:r>
            <a:r>
              <a:rPr lang="zh-CN" altLang="en-US" sz="2800" dirty="0"/>
              <a:t>，至少有两种方法可以把该程序改造为等价的结构化程序，图示盒图描绘了等价的结构化程序。</a:t>
            </a:r>
            <a:endParaRPr lang="zh-CN" altLang="en-US" sz="2800" dirty="0"/>
          </a:p>
        </p:txBody>
      </p:sp>
      <p:pic>
        <p:nvPicPr>
          <p:cNvPr id="3102727" name="图片 31027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0" y="2176463"/>
            <a:ext cx="4584700" cy="41100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102728" name="图片 31027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2350" y="2124075"/>
            <a:ext cx="4565650" cy="42783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102729" name="矩形 3102728"/>
          <p:cNvSpPr/>
          <p:nvPr/>
        </p:nvSpPr>
        <p:spPr>
          <a:xfrm>
            <a:off x="2209800" y="152400"/>
            <a:ext cx="7772400" cy="576263"/>
          </a:xfrm>
          <a:prstGeom prst="rect">
            <a:avLst/>
          </a:prstGeom>
          <a:noFill/>
          <a:ln w="9525">
            <a:noFill/>
          </a:ln>
        </p:spPr>
        <p:txBody>
          <a:bodyPr lIns="82550" tIns="41275" rIns="82550" bIns="41275"/>
          <a:lstStyle>
            <a:lvl1pPr marL="0" lvl="0" indent="0" algn="ctr" defTabSz="67818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3200" b="1" u="none" kern="1200" baseline="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 eaLnBrk="1" fontAlgn="t" hangingPunct="1">
              <a:lnSpc>
                <a:spcPct val="100000"/>
              </a:lnSpc>
              <a:buFontTx/>
              <a:buNone/>
            </a:pPr>
            <a:r>
              <a:rPr lang="zh-CN" altLang="en-US" sz="3600" b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作业及解答（第</a:t>
            </a:r>
            <a:r>
              <a:rPr lang="en-US" altLang="zh-CN" sz="3600" b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6</a:t>
            </a:r>
            <a:r>
              <a:rPr lang="zh-CN" altLang="en-US" sz="3600" b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章）</a:t>
            </a:r>
            <a:endParaRPr lang="zh-CN" altLang="en-US" sz="3600" b="0" dirty="0">
              <a:solidFill>
                <a:schemeClr val="bg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p>
            <a:pPr lvl="0" eaLnBrk="1" hangingPunct="1">
              <a:spcBef>
                <a:spcPct val="0"/>
              </a:spcBef>
            </a:pP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13:07:42</a:t>
            </a:r>
            <a:endParaRPr lang="zh-CN" altLang="zh-CN" sz="16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03746" name="标题 3103745"/>
          <p:cNvSpPr>
            <a:spLocks noGrp="1"/>
          </p:cNvSpPr>
          <p:nvPr>
            <p:ph type="title"/>
          </p:nvPr>
        </p:nvSpPr>
        <p:spPr/>
        <p:txBody>
          <a:bodyPr lIns="82550" tIns="41275" rIns="82550" bIns="41275"/>
          <a:p>
            <a:pPr algn="just" defTabSz="914400"/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　　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103747" name="文本占位符 3103746"/>
          <p:cNvSpPr>
            <a:spLocks noGrp="1"/>
          </p:cNvSpPr>
          <p:nvPr>
            <p:ph type="body" sz="half" idx="1"/>
          </p:nvPr>
        </p:nvSpPr>
        <p:spPr>
          <a:xfrm>
            <a:off x="1625600" y="1016000"/>
            <a:ext cx="9042400" cy="1346200"/>
          </a:xfrm>
        </p:spPr>
        <p:txBody>
          <a:bodyPr lIns="82550" tIns="41275" rIns="82550" bIns="41275"/>
          <a:p>
            <a:pPr marL="342900" indent="-342900" algn="just" defTabSz="914400">
              <a:spcBef>
                <a:spcPct val="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CN" sz="2800"/>
              <a:t>(3)</a:t>
            </a:r>
            <a:r>
              <a:rPr lang="zh-CN" altLang="en-US" sz="2800" dirty="0"/>
              <a:t>不使用</a:t>
            </a:r>
            <a:r>
              <a:rPr lang="en-US" altLang="zh-CN" sz="2800"/>
              <a:t>flag</a:t>
            </a:r>
            <a:r>
              <a:rPr lang="zh-CN" altLang="en-US" sz="2800" dirty="0"/>
              <a:t>把该程序改造为等价的结构化程序的方法如图所示。 </a:t>
            </a:r>
            <a:endParaRPr lang="zh-CN" altLang="en-US" sz="2800" dirty="0"/>
          </a:p>
        </p:txBody>
      </p:sp>
      <p:pic>
        <p:nvPicPr>
          <p:cNvPr id="3103751" name="图片 31037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8400" y="2322513"/>
            <a:ext cx="6315075" cy="38623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103752" name="矩形 3103751"/>
          <p:cNvSpPr/>
          <p:nvPr/>
        </p:nvSpPr>
        <p:spPr>
          <a:xfrm>
            <a:off x="2209800" y="152400"/>
            <a:ext cx="7772400" cy="576263"/>
          </a:xfrm>
          <a:prstGeom prst="rect">
            <a:avLst/>
          </a:prstGeom>
          <a:noFill/>
          <a:ln w="9525">
            <a:noFill/>
          </a:ln>
        </p:spPr>
        <p:txBody>
          <a:bodyPr lIns="82550" tIns="41275" rIns="82550" bIns="41275"/>
          <a:lstStyle>
            <a:lvl1pPr marL="0" lvl="0" indent="0" algn="ctr" defTabSz="67818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3200" b="1" u="none" kern="1200" baseline="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 eaLnBrk="1" fontAlgn="t" hangingPunct="1">
              <a:lnSpc>
                <a:spcPct val="100000"/>
              </a:lnSpc>
              <a:buFontTx/>
              <a:buNone/>
            </a:pPr>
            <a:r>
              <a:rPr lang="zh-CN" altLang="en-US" sz="3600" b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作业及解答（第</a:t>
            </a:r>
            <a:r>
              <a:rPr lang="en-US" altLang="zh-CN" sz="3600" b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6</a:t>
            </a:r>
            <a:r>
              <a:rPr lang="zh-CN" altLang="en-US" sz="3600" b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章）</a:t>
            </a:r>
            <a:endParaRPr lang="zh-CN" altLang="en-US" sz="3600" b="0" dirty="0">
              <a:solidFill>
                <a:schemeClr val="bg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p>
            <a:pPr lvl="0" eaLnBrk="1" hangingPunct="1">
              <a:spcBef>
                <a:spcPct val="0"/>
              </a:spcBef>
            </a:pP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13:07:42</a:t>
            </a:r>
            <a:endParaRPr lang="zh-CN" altLang="zh-CN" sz="16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04770" name="标题 3104769"/>
          <p:cNvSpPr>
            <a:spLocks noGrp="1"/>
          </p:cNvSpPr>
          <p:nvPr>
            <p:ph type="title"/>
          </p:nvPr>
        </p:nvSpPr>
        <p:spPr/>
        <p:txBody>
          <a:bodyPr lIns="82550" tIns="41275" rIns="82550" bIns="41275"/>
          <a:p>
            <a:pPr algn="just" defTabSz="914400"/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　　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104771" name="文本占位符 3104770"/>
          <p:cNvSpPr>
            <a:spLocks noGrp="1"/>
          </p:cNvSpPr>
          <p:nvPr>
            <p:ph type="body" idx="1"/>
          </p:nvPr>
        </p:nvSpPr>
        <p:spPr>
          <a:xfrm>
            <a:off x="1689100" y="1714500"/>
            <a:ext cx="4025900" cy="4978400"/>
          </a:xfrm>
        </p:spPr>
        <p:txBody>
          <a:bodyPr lIns="82550" tIns="41275" rIns="82550" bIns="41275">
            <a:normAutofit fontScale="60000"/>
          </a:bodyPr>
          <a:p>
            <a:pPr marL="342900" indent="-342900" defTabSz="9144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500"/>
              <a:t>C   EXAMPLE</a:t>
            </a:r>
            <a:endParaRPr lang="en-US" altLang="zh-CN" sz="2500"/>
          </a:p>
          <a:p>
            <a:pPr marL="342900" indent="-342900" defTabSz="9144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500"/>
              <a:t>LOOP:DO WHILE  X&gt;0</a:t>
            </a:r>
            <a:endParaRPr lang="en-US" altLang="zh-CN" sz="2500"/>
          </a:p>
          <a:p>
            <a:pPr marL="342900" indent="-342900" defTabSz="9144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500"/>
              <a:t>           A=B+1</a:t>
            </a:r>
            <a:endParaRPr lang="en-US" altLang="zh-CN" sz="2500"/>
          </a:p>
          <a:p>
            <a:pPr marL="342900" indent="-342900" defTabSz="9144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500"/>
              <a:t>           IF A&gt;10 </a:t>
            </a:r>
            <a:endParaRPr lang="en-US" altLang="zh-CN" sz="2500"/>
          </a:p>
          <a:p>
            <a:pPr marL="342900" indent="-342900" defTabSz="9144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500"/>
              <a:t>               THEN X=A</a:t>
            </a:r>
            <a:endParaRPr lang="en-US" altLang="zh-CN" sz="2500"/>
          </a:p>
          <a:p>
            <a:pPr marL="342900" indent="-342900" defTabSz="9144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500"/>
              <a:t>           ELSE Y=Z</a:t>
            </a:r>
            <a:endParaRPr lang="en-US" altLang="zh-CN" sz="2500"/>
          </a:p>
          <a:p>
            <a:pPr marL="342900" indent="-342900" defTabSz="9144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500"/>
              <a:t>           END IF</a:t>
            </a:r>
            <a:endParaRPr lang="en-US" altLang="zh-CN" sz="2500"/>
          </a:p>
          <a:p>
            <a:pPr marL="342900" indent="-342900" defTabSz="9144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500"/>
              <a:t>IF Y&lt;5</a:t>
            </a:r>
            <a:endParaRPr lang="en-US" altLang="zh-CN" sz="2500"/>
          </a:p>
          <a:p>
            <a:pPr marL="342900" indent="-342900" defTabSz="9144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500"/>
              <a:t>    THEN PRINT X,Y</a:t>
            </a:r>
            <a:endParaRPr lang="en-US" altLang="zh-CN" sz="2500"/>
          </a:p>
          <a:p>
            <a:pPr marL="342900" indent="-342900" defTabSz="9144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500"/>
              <a:t>    ELSE IF Y=2</a:t>
            </a:r>
            <a:endParaRPr lang="en-US" altLang="zh-CN" sz="2500"/>
          </a:p>
          <a:p>
            <a:pPr marL="342900" indent="-342900" defTabSz="9144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500"/>
              <a:t>              THEN GOTO LOOP</a:t>
            </a:r>
            <a:endParaRPr lang="en-US" altLang="zh-CN" sz="2500"/>
          </a:p>
          <a:p>
            <a:pPr marL="342900" indent="-342900" defTabSz="9144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500"/>
              <a:t>              ELSE C=3</a:t>
            </a:r>
            <a:endParaRPr lang="en-US" altLang="zh-CN" sz="2500"/>
          </a:p>
          <a:p>
            <a:pPr marL="342900" indent="-342900" defTabSz="9144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500"/>
              <a:t>              END IF</a:t>
            </a:r>
            <a:endParaRPr lang="en-US" altLang="zh-CN" sz="2500"/>
          </a:p>
          <a:p>
            <a:pPr marL="342900" indent="-342900" defTabSz="9144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500"/>
              <a:t>END IF</a:t>
            </a:r>
            <a:endParaRPr lang="en-US" altLang="zh-CN" sz="2500"/>
          </a:p>
        </p:txBody>
      </p:sp>
      <p:sp>
        <p:nvSpPr>
          <p:cNvPr id="3104773" name="文本框 3104772"/>
          <p:cNvSpPr txBox="1"/>
          <p:nvPr/>
        </p:nvSpPr>
        <p:spPr>
          <a:xfrm>
            <a:off x="1698625" y="993775"/>
            <a:ext cx="8591550" cy="721995"/>
          </a:xfrm>
          <a:prstGeom prst="rect">
            <a:avLst/>
          </a:prstGeom>
          <a:noFill/>
          <a:ln w="9525">
            <a:noFill/>
          </a:ln>
        </p:spPr>
        <p:txBody>
          <a:bodyPr lIns="82550" tIns="41275" rIns="82550" bIns="41275">
            <a:spAutoFit/>
          </a:bodyPr>
          <a:p>
            <a:pPr algn="l">
              <a:lnSpc>
                <a:spcPct val="80000"/>
              </a:lnSpc>
              <a:spcBef>
                <a:spcPct val="0"/>
              </a:spcBef>
              <a:buSzPct val="75000"/>
              <a:buFont typeface="Wingdings" panose="05000000000000000000" pitchFamily="2" charset="2"/>
            </a:pPr>
            <a:r>
              <a:rPr lang="en-US" altLang="zh-CN" sz="2600">
                <a:solidFill>
                  <a:srgbClr val="99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P142:8 </a:t>
            </a:r>
            <a:r>
              <a:rPr lang="zh-CN" altLang="en-US" sz="26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画出下列伪码程序的流图，计算它的环形复杂度。你觉得这个程序的逻辑有什么问题吗？</a:t>
            </a:r>
            <a:endParaRPr lang="zh-CN" altLang="en-US" sz="2600" dirty="0"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3104774" name="文本框 3104773"/>
          <p:cNvSpPr txBox="1"/>
          <p:nvPr/>
        </p:nvSpPr>
        <p:spPr>
          <a:xfrm>
            <a:off x="5865813" y="1706563"/>
            <a:ext cx="2744470" cy="3160395"/>
          </a:xfrm>
          <a:prstGeom prst="rect">
            <a:avLst/>
          </a:prstGeom>
          <a:noFill/>
          <a:ln w="9525">
            <a:noFill/>
          </a:ln>
        </p:spPr>
        <p:txBody>
          <a:bodyPr wrap="none" lIns="82550" tIns="41275" rIns="82550" bIns="41275" anchor="t" anchorCtr="0">
            <a:spAutoFit/>
          </a:bodyPr>
          <a:p>
            <a:pPr algn="l">
              <a:buSzPct val="75000"/>
              <a:buFont typeface="Wingdings" panose="05000000000000000000" pitchFamily="2" charset="2"/>
            </a:pPr>
            <a:r>
              <a:rPr lang="en-US" altLang="zh-CN" sz="2500">
                <a:solidFill>
                  <a:srgbClr val="990000"/>
                </a:solidFill>
                <a:latin typeface="Arial" panose="020B0604020202020204" pitchFamily="34" charset="0"/>
                <a:ea typeface="楷体_GB2312" panose="02010609030101010101" pitchFamily="49" charset="-122"/>
              </a:rPr>
              <a:t>G=H+R</a:t>
            </a:r>
            <a:endParaRPr lang="en-US" altLang="zh-CN" sz="2500">
              <a:solidFill>
                <a:srgbClr val="990000"/>
              </a:solidFill>
              <a:latin typeface="Arial" panose="020B0604020202020204" pitchFamily="34" charset="0"/>
              <a:ea typeface="楷体_GB2312" panose="02010609030101010101" pitchFamily="49" charset="-122"/>
            </a:endParaRPr>
          </a:p>
          <a:p>
            <a:pPr algn="l">
              <a:buSzPct val="75000"/>
              <a:buFont typeface="Wingdings" panose="05000000000000000000" pitchFamily="2" charset="2"/>
            </a:pPr>
            <a:r>
              <a:rPr lang="en-US" altLang="zh-CN" sz="2500">
                <a:solidFill>
                  <a:srgbClr val="990000"/>
                </a:solidFill>
                <a:latin typeface="Arial" panose="020B0604020202020204" pitchFamily="34" charset="0"/>
                <a:ea typeface="楷体_GB2312" panose="02010609030101010101" pitchFamily="49" charset="-122"/>
              </a:rPr>
              <a:t>END DO</a:t>
            </a:r>
            <a:endParaRPr lang="en-US" altLang="zh-CN" sz="2500">
              <a:solidFill>
                <a:srgbClr val="990000"/>
              </a:solidFill>
              <a:latin typeface="Arial" panose="020B0604020202020204" pitchFamily="34" charset="0"/>
              <a:ea typeface="楷体_GB2312" panose="02010609030101010101" pitchFamily="49" charset="-122"/>
            </a:endParaRPr>
          </a:p>
          <a:p>
            <a:pPr algn="l">
              <a:buSzPct val="75000"/>
              <a:buFont typeface="Wingdings" panose="05000000000000000000" pitchFamily="2" charset="2"/>
            </a:pPr>
            <a:r>
              <a:rPr lang="en-US" altLang="zh-CN" sz="2500">
                <a:solidFill>
                  <a:srgbClr val="990000"/>
                </a:solidFill>
                <a:latin typeface="Arial" panose="020B0604020202020204" pitchFamily="34" charset="0"/>
                <a:ea typeface="楷体_GB2312" panose="02010609030101010101" pitchFamily="49" charset="-122"/>
              </a:rPr>
              <a:t>IF F&gt;0</a:t>
            </a:r>
            <a:endParaRPr lang="en-US" altLang="zh-CN" sz="2500">
              <a:solidFill>
                <a:srgbClr val="990000"/>
              </a:solidFill>
              <a:latin typeface="Arial" panose="020B0604020202020204" pitchFamily="34" charset="0"/>
              <a:ea typeface="楷体_GB2312" panose="02010609030101010101" pitchFamily="49" charset="-122"/>
            </a:endParaRPr>
          </a:p>
          <a:p>
            <a:pPr algn="l">
              <a:buSzPct val="75000"/>
              <a:buFont typeface="Wingdings" panose="05000000000000000000" pitchFamily="2" charset="2"/>
            </a:pPr>
            <a:r>
              <a:rPr lang="en-US" altLang="zh-CN" sz="2500">
                <a:solidFill>
                  <a:srgbClr val="990000"/>
                </a:solidFill>
                <a:latin typeface="Arial" panose="020B0604020202020204" pitchFamily="34" charset="0"/>
                <a:ea typeface="楷体_GB2312" panose="02010609030101010101" pitchFamily="49" charset="-122"/>
              </a:rPr>
              <a:t>    THEN PRINT G</a:t>
            </a:r>
            <a:endParaRPr lang="en-US" altLang="zh-CN" sz="2500">
              <a:solidFill>
                <a:srgbClr val="990000"/>
              </a:solidFill>
              <a:latin typeface="Arial" panose="020B0604020202020204" pitchFamily="34" charset="0"/>
              <a:ea typeface="楷体_GB2312" panose="02010609030101010101" pitchFamily="49" charset="-122"/>
            </a:endParaRPr>
          </a:p>
          <a:p>
            <a:pPr algn="l">
              <a:buSzPct val="75000"/>
              <a:buFont typeface="Wingdings" panose="05000000000000000000" pitchFamily="2" charset="2"/>
            </a:pPr>
            <a:r>
              <a:rPr lang="en-US" altLang="zh-CN" sz="2500">
                <a:solidFill>
                  <a:srgbClr val="990000"/>
                </a:solidFill>
                <a:latin typeface="Arial" panose="020B0604020202020204" pitchFamily="34" charset="0"/>
                <a:ea typeface="楷体_GB2312" panose="02010609030101010101" pitchFamily="49" charset="-122"/>
              </a:rPr>
              <a:t>    ELSE PRINT K</a:t>
            </a:r>
            <a:endParaRPr lang="en-US" altLang="zh-CN" sz="2500">
              <a:solidFill>
                <a:srgbClr val="990000"/>
              </a:solidFill>
              <a:latin typeface="Arial" panose="020B0604020202020204" pitchFamily="34" charset="0"/>
              <a:ea typeface="楷体_GB2312" panose="02010609030101010101" pitchFamily="49" charset="-122"/>
            </a:endParaRPr>
          </a:p>
          <a:p>
            <a:pPr algn="l">
              <a:buSzPct val="75000"/>
              <a:buFont typeface="Wingdings" panose="05000000000000000000" pitchFamily="2" charset="2"/>
            </a:pPr>
            <a:r>
              <a:rPr lang="en-US" altLang="zh-CN" sz="2500">
                <a:solidFill>
                  <a:srgbClr val="990000"/>
                </a:solidFill>
                <a:latin typeface="Arial" panose="020B0604020202020204" pitchFamily="34" charset="0"/>
                <a:ea typeface="楷体_GB2312" panose="02010609030101010101" pitchFamily="49" charset="-122"/>
              </a:rPr>
              <a:t>END IF</a:t>
            </a:r>
            <a:endParaRPr lang="en-US" altLang="zh-CN" sz="2500">
              <a:solidFill>
                <a:srgbClr val="990000"/>
              </a:solidFill>
              <a:latin typeface="Arial" panose="020B0604020202020204" pitchFamily="34" charset="0"/>
              <a:ea typeface="楷体_GB2312" panose="02010609030101010101" pitchFamily="49" charset="-122"/>
            </a:endParaRPr>
          </a:p>
          <a:p>
            <a:pPr algn="l">
              <a:buSzPct val="75000"/>
              <a:buFont typeface="Wingdings" panose="05000000000000000000" pitchFamily="2" charset="2"/>
            </a:pPr>
            <a:r>
              <a:rPr lang="en-US" altLang="zh-CN" sz="2500">
                <a:solidFill>
                  <a:srgbClr val="990000"/>
                </a:solidFill>
                <a:latin typeface="Arial" panose="020B0604020202020204" pitchFamily="34" charset="0"/>
                <a:ea typeface="楷体_GB2312" panose="02010609030101010101" pitchFamily="49" charset="-122"/>
              </a:rPr>
              <a:t>STOP</a:t>
            </a:r>
            <a:endParaRPr lang="en-US" altLang="zh-CN" sz="2500">
              <a:solidFill>
                <a:srgbClr val="990000"/>
              </a:solidFill>
              <a:latin typeface="Arial" panose="020B0604020202020204" pitchFamily="34" charset="0"/>
              <a:ea typeface="楷体_GB2312" panose="02010609030101010101" pitchFamily="49" charset="-122"/>
            </a:endParaRPr>
          </a:p>
          <a:p>
            <a:pPr algn="l">
              <a:buSzPct val="75000"/>
              <a:buFont typeface="Wingdings" panose="05000000000000000000" pitchFamily="2" charset="2"/>
            </a:pPr>
            <a:endParaRPr lang="en-US" altLang="zh-CN" sz="2500" dirty="0">
              <a:solidFill>
                <a:srgbClr val="990000"/>
              </a:solidFill>
              <a:latin typeface="Arial" panose="020B0604020202020204" pitchFamily="34" charset="0"/>
              <a:ea typeface="楷体_GB2312" panose="02010609030101010101" pitchFamily="49" charset="-122"/>
            </a:endParaRPr>
          </a:p>
        </p:txBody>
      </p:sp>
      <p:sp>
        <p:nvSpPr>
          <p:cNvPr id="3104777" name="矩形 3104776"/>
          <p:cNvSpPr/>
          <p:nvPr/>
        </p:nvSpPr>
        <p:spPr>
          <a:xfrm>
            <a:off x="2209800" y="152400"/>
            <a:ext cx="7772400" cy="576263"/>
          </a:xfrm>
          <a:prstGeom prst="rect">
            <a:avLst/>
          </a:prstGeom>
          <a:noFill/>
          <a:ln w="9525">
            <a:noFill/>
          </a:ln>
        </p:spPr>
        <p:txBody>
          <a:bodyPr lIns="82550" tIns="41275" rIns="82550" bIns="41275"/>
          <a:lstStyle>
            <a:lvl1pPr marL="0" lvl="0" indent="0" algn="ctr" defTabSz="67818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3200" b="1" u="none" kern="1200" baseline="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 eaLnBrk="1" fontAlgn="t" hangingPunct="1">
              <a:lnSpc>
                <a:spcPct val="100000"/>
              </a:lnSpc>
              <a:buFontTx/>
              <a:buNone/>
            </a:pPr>
            <a:r>
              <a:rPr lang="zh-CN" altLang="en-US" sz="3600" b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作业及解答（第</a:t>
            </a:r>
            <a:r>
              <a:rPr lang="en-US" altLang="zh-CN" sz="3600" b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6</a:t>
            </a:r>
            <a:r>
              <a:rPr lang="zh-CN" altLang="en-US" sz="3600" b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章）</a:t>
            </a:r>
            <a:endParaRPr lang="zh-CN" altLang="en-US" sz="3600" b="0" dirty="0">
              <a:solidFill>
                <a:schemeClr val="bg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p>
            <a:pPr lvl="0" eaLnBrk="1" hangingPunct="1">
              <a:spcBef>
                <a:spcPct val="0"/>
              </a:spcBef>
            </a:pP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13:07:42</a:t>
            </a:r>
            <a:endParaRPr lang="zh-CN" altLang="zh-CN" sz="16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99650" name="标题 3099649"/>
          <p:cNvSpPr>
            <a:spLocks noGrp="1"/>
          </p:cNvSpPr>
          <p:nvPr>
            <p:ph type="title"/>
          </p:nvPr>
        </p:nvSpPr>
        <p:spPr/>
        <p:txBody>
          <a:bodyPr lIns="82550" tIns="41275" rIns="82550" bIns="41275"/>
          <a:p>
            <a:pPr algn="just" defTabSz="914400"/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　　</a:t>
            </a:r>
            <a:endParaRPr lang="zh-CN" altLang="en-US" dirty="0">
              <a:solidFill>
                <a:schemeClr val="tx1"/>
              </a:solidFill>
            </a:endParaRPr>
          </a:p>
        </p:txBody>
      </p:sp>
      <p:graphicFrame>
        <p:nvGraphicFramePr>
          <p:cNvPr id="3099657" name="内容占位符 3099656"/>
          <p:cNvGraphicFramePr/>
          <p:nvPr>
            <p:ph sz="half" idx="1"/>
          </p:nvPr>
        </p:nvGraphicFramePr>
        <p:xfrm>
          <a:off x="2447925" y="0"/>
          <a:ext cx="3446463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2" name="" r:id="rId1" imgW="3183255" imgH="6322060" progId="Visio.Drawing.11">
                  <p:embed/>
                </p:oleObj>
              </mc:Choice>
              <mc:Fallback>
                <p:oleObj name="" r:id="rId1" imgW="3183255" imgH="6322060" progId="Visio.Drawing.11">
                  <p:embed/>
                  <p:pic>
                    <p:nvPicPr>
                      <p:cNvPr id="0" name="图片 310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447925" y="0"/>
                        <a:ext cx="3446463" cy="685800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99659" name="内容占位符 3099658"/>
          <p:cNvGraphicFramePr/>
          <p:nvPr>
            <p:ph sz="half" idx="2"/>
          </p:nvPr>
        </p:nvGraphicFramePr>
        <p:xfrm>
          <a:off x="6497638" y="185738"/>
          <a:ext cx="3898900" cy="6381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" name="" r:id="rId3" imgW="3510915" imgH="5734685" progId="Visio.Drawing.11">
                  <p:embed/>
                </p:oleObj>
              </mc:Choice>
              <mc:Fallback>
                <p:oleObj name="" r:id="rId3" imgW="3510915" imgH="5734685" progId="Visio.Drawing.11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497638" y="185738"/>
                        <a:ext cx="3898900" cy="638175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99661" name="动作按钮: 第一张 3099660">
            <a:hlinkClick r:id="rId5" action="ppaction://hlinksldjump"/>
          </p:cNvPr>
          <p:cNvSpPr>
            <a:spLocks noChangeAspect="1"/>
          </p:cNvSpPr>
          <p:nvPr/>
        </p:nvSpPr>
        <p:spPr>
          <a:xfrm>
            <a:off x="9501188" y="6054725"/>
            <a:ext cx="1012825" cy="536575"/>
          </a:xfrm>
          <a:prstGeom prst="actionButtonHome">
            <a:avLst/>
          </a:prstGeom>
          <a:solidFill>
            <a:srgbClr val="FFFF00"/>
          </a:solidFill>
          <a:ln w="63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3099662" name="矩形 3099661"/>
          <p:cNvSpPr/>
          <p:nvPr/>
        </p:nvSpPr>
        <p:spPr>
          <a:xfrm>
            <a:off x="4759325" y="0"/>
            <a:ext cx="2590800" cy="1467485"/>
          </a:xfrm>
          <a:prstGeom prst="rect">
            <a:avLst/>
          </a:prstGeom>
          <a:noFill/>
          <a:ln w="9525">
            <a:noFill/>
          </a:ln>
        </p:spPr>
        <p:txBody>
          <a:bodyPr wrap="none" lIns="82550" tIns="41275" rIns="82550" bIns="41275" anchor="t" anchorCtr="0">
            <a:spAutoFit/>
          </a:bodyPr>
          <a:p>
            <a:pPr algn="l">
              <a:spcBef>
                <a:spcPct val="0"/>
              </a:spcBef>
              <a:buSzPct val="75000"/>
              <a:buFont typeface="Wingdings" panose="05000000000000000000" pitchFamily="2" charset="2"/>
            </a:pPr>
            <a:r>
              <a:rPr lang="en-US" altLang="zh-CN" i="1">
                <a:solidFill>
                  <a:srgbClr val="FF33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V</a:t>
            </a:r>
            <a:r>
              <a:rPr lang="en-US" altLang="zh-CN">
                <a:solidFill>
                  <a:srgbClr val="FF33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(</a:t>
            </a:r>
            <a:r>
              <a:rPr lang="en-US" altLang="zh-CN" i="1">
                <a:solidFill>
                  <a:srgbClr val="FF33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G</a:t>
            </a:r>
            <a:r>
              <a:rPr lang="en-US" altLang="zh-CN">
                <a:solidFill>
                  <a:srgbClr val="FF33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)</a:t>
            </a:r>
            <a:r>
              <a:rPr lang="zh-CN" altLang="en-US" dirty="0">
                <a:solidFill>
                  <a:srgbClr val="FF33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＝</a:t>
            </a:r>
            <a:r>
              <a:rPr lang="zh-CN" altLang="en-US" dirty="0">
                <a:solidFill>
                  <a:srgbClr val="99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结点</a:t>
            </a:r>
            <a:r>
              <a:rPr lang="en-US" altLang="zh-CN" i="1">
                <a:solidFill>
                  <a:srgbClr val="FF33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E</a:t>
            </a:r>
            <a:r>
              <a:rPr lang="zh-CN" altLang="en-US" dirty="0">
                <a:solidFill>
                  <a:srgbClr val="FF33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－</a:t>
            </a:r>
            <a:r>
              <a:rPr lang="zh-CN" altLang="en-US" dirty="0">
                <a:solidFill>
                  <a:srgbClr val="99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弧数</a:t>
            </a:r>
            <a:r>
              <a:rPr lang="en-US" altLang="zh-CN" i="1">
                <a:solidFill>
                  <a:srgbClr val="FF33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n</a:t>
            </a:r>
            <a:r>
              <a:rPr lang="zh-CN" altLang="en-US" dirty="0">
                <a:solidFill>
                  <a:srgbClr val="FF33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＋</a:t>
            </a:r>
            <a:r>
              <a:rPr lang="en-US" altLang="zh-CN">
                <a:solidFill>
                  <a:srgbClr val="FF33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1</a:t>
            </a:r>
            <a:endParaRPr lang="en-US" altLang="zh-CN">
              <a:solidFill>
                <a:srgbClr val="FF3300"/>
              </a:solidFill>
              <a:latin typeface="Times New Roman" panose="02020603050405020304" pitchFamily="18" charset="0"/>
              <a:ea typeface="楷体_GB2312" panose="02010609030101010101" pitchFamily="49" charset="-122"/>
            </a:endParaRPr>
          </a:p>
          <a:p>
            <a:pPr algn="l">
              <a:spcBef>
                <a:spcPct val="0"/>
              </a:spcBef>
              <a:buSzPct val="75000"/>
              <a:buFont typeface="Wingdings" panose="05000000000000000000" pitchFamily="2" charset="2"/>
            </a:pPr>
            <a:r>
              <a:rPr lang="en-US" altLang="zh-CN">
                <a:solidFill>
                  <a:srgbClr val="FF33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         =17-11+1=7</a:t>
            </a:r>
            <a:endParaRPr lang="en-US" altLang="zh-CN">
              <a:solidFill>
                <a:srgbClr val="FF3300"/>
              </a:solidFill>
              <a:latin typeface="Times New Roman" panose="02020603050405020304" pitchFamily="18" charset="0"/>
              <a:ea typeface="楷体_GB2312" panose="02010609030101010101" pitchFamily="49" charset="-122"/>
            </a:endParaRPr>
          </a:p>
          <a:p>
            <a:pPr algn="l">
              <a:spcBef>
                <a:spcPct val="0"/>
              </a:spcBef>
              <a:buSzPct val="75000"/>
              <a:buFont typeface="Wingdings" panose="05000000000000000000" pitchFamily="2" charset="2"/>
            </a:pPr>
            <a:r>
              <a:rPr lang="en-US" altLang="zh-CN" i="1">
                <a:solidFill>
                  <a:srgbClr val="FF33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         =</a:t>
            </a:r>
            <a:r>
              <a:rPr lang="zh-CN" altLang="en-US" dirty="0">
                <a:solidFill>
                  <a:srgbClr val="FF33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判断</a:t>
            </a:r>
            <a:r>
              <a:rPr lang="zh-CN" altLang="en-US" dirty="0">
                <a:solidFill>
                  <a:srgbClr val="99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结点</a:t>
            </a:r>
            <a:r>
              <a:rPr lang="zh-CN" altLang="en-US">
                <a:solidFill>
                  <a:srgbClr val="FF33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 </a:t>
            </a:r>
            <a:r>
              <a:rPr lang="zh-CN" altLang="en-US" dirty="0">
                <a:solidFill>
                  <a:srgbClr val="FF33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＋</a:t>
            </a:r>
            <a:r>
              <a:rPr lang="en-US" altLang="zh-CN" i="1">
                <a:solidFill>
                  <a:srgbClr val="FF33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1</a:t>
            </a:r>
            <a:endParaRPr lang="en-US" altLang="zh-CN" i="1">
              <a:solidFill>
                <a:srgbClr val="FF3300"/>
              </a:solidFill>
              <a:latin typeface="Times New Roman" panose="02020603050405020304" pitchFamily="18" charset="0"/>
              <a:ea typeface="楷体_GB2312" panose="02010609030101010101" pitchFamily="49" charset="-122"/>
            </a:endParaRPr>
          </a:p>
          <a:p>
            <a:pPr algn="l">
              <a:spcBef>
                <a:spcPct val="0"/>
              </a:spcBef>
              <a:buSzPct val="75000"/>
              <a:buFont typeface="Wingdings" panose="05000000000000000000" pitchFamily="2" charset="2"/>
            </a:pPr>
            <a:r>
              <a:rPr lang="en-US" altLang="zh-CN" i="1">
                <a:solidFill>
                  <a:srgbClr val="FF33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         =6</a:t>
            </a:r>
            <a:r>
              <a:rPr lang="en-US" altLang="zh-CN">
                <a:solidFill>
                  <a:srgbClr val="FF33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 </a:t>
            </a:r>
            <a:r>
              <a:rPr lang="zh-CN" altLang="en-US" dirty="0">
                <a:solidFill>
                  <a:srgbClr val="FF33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＋</a:t>
            </a:r>
            <a:r>
              <a:rPr lang="en-US" altLang="zh-CN" i="1">
                <a:solidFill>
                  <a:srgbClr val="FF33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1</a:t>
            </a:r>
            <a:r>
              <a:rPr lang="zh-CN" altLang="en-US" i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＝</a:t>
            </a:r>
            <a:r>
              <a:rPr lang="en-US" altLang="zh-CN" i="1">
                <a:solidFill>
                  <a:srgbClr val="FF33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7</a:t>
            </a:r>
            <a:endParaRPr lang="en-US" altLang="zh-CN" i="1">
              <a:solidFill>
                <a:srgbClr val="FF3300"/>
              </a:solidFill>
              <a:latin typeface="Times New Roman" panose="02020603050405020304" pitchFamily="18" charset="0"/>
              <a:ea typeface="楷体_GB2312" panose="02010609030101010101" pitchFamily="49" charset="-122"/>
            </a:endParaRPr>
          </a:p>
          <a:p>
            <a:pPr algn="l">
              <a:spcBef>
                <a:spcPct val="0"/>
              </a:spcBef>
              <a:buSzPct val="75000"/>
              <a:buFont typeface="Wingdings" panose="05000000000000000000" pitchFamily="2" charset="2"/>
            </a:pP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        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＝封闭的区域数</a:t>
            </a:r>
            <a:endParaRPr lang="zh-CN" altLang="en-US">
              <a:solidFill>
                <a:srgbClr val="FF0000"/>
              </a:solidFill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p>
            <a:pPr lvl="0" eaLnBrk="1" hangingPunct="1">
              <a:spcBef>
                <a:spcPct val="0"/>
              </a:spcBef>
            </a:pP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13:07:42</a:t>
            </a:r>
            <a:endParaRPr lang="zh-CN" altLang="zh-CN" sz="16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27298" name="矩形 3127297"/>
          <p:cNvSpPr/>
          <p:nvPr/>
        </p:nvSpPr>
        <p:spPr>
          <a:xfrm>
            <a:off x="152400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3127299" name="矩形 3127298"/>
          <p:cNvSpPr/>
          <p:nvPr/>
        </p:nvSpPr>
        <p:spPr>
          <a:xfrm>
            <a:off x="1765300" y="1092200"/>
            <a:ext cx="8712200" cy="5384800"/>
          </a:xfrm>
          <a:prstGeom prst="rect">
            <a:avLst/>
          </a:prstGeom>
          <a:noFill/>
          <a:ln w="9525">
            <a:noFill/>
          </a:ln>
        </p:spPr>
        <p:txBody>
          <a:bodyPr lIns="82550" tIns="41275" rIns="82550" bIns="41275"/>
          <a:lstStyle>
            <a:lvl1pPr marL="254000" lvl="0" indent="-254000" algn="l" defTabSz="67818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sz="2600" b="1" u="none" kern="1200" baseline="0">
                <a:solidFill>
                  <a:srgbClr val="990000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1pPr>
            <a:lvl2pPr marL="609600" lvl="1" indent="-203200" algn="l" defTabSz="67818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ü"/>
              <a:defRPr sz="2500" b="1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2pPr>
            <a:lvl3pPr marL="1017905" lvl="2" indent="-203200" algn="l" defTabSz="67818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Ø"/>
              <a:defRPr sz="2500" b="1" i="0" u="none" kern="1200" baseline="0">
                <a:solidFill>
                  <a:srgbClr val="003300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3pPr>
            <a:lvl4pPr marL="1600200" lvl="3" indent="-228600" algn="l" defTabSz="67818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p"/>
              <a:defRPr sz="2400" b="1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4pPr>
            <a:lvl5pPr marL="2057400" lvl="4" indent="-228600" algn="l" defTabSz="67818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sz="2000" b="1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5pPr>
          </a:lstStyle>
          <a:p>
            <a:pPr lvl="0">
              <a:spcBef>
                <a:spcPct val="0"/>
              </a:spcBef>
            </a:pPr>
            <a:r>
              <a:rPr lang="en-US" altLang="zh-CN" sz="2800">
                <a:solidFill>
                  <a:schemeClr val="accent2"/>
                </a:solidFill>
              </a:rPr>
              <a:t>P142: 7</a:t>
            </a:r>
            <a:endParaRPr lang="en-US" altLang="zh-CN" sz="2800">
              <a:solidFill>
                <a:schemeClr val="accent2"/>
              </a:solidFill>
            </a:endParaRPr>
          </a:p>
          <a:p>
            <a:pPr lvl="0">
              <a:spcBef>
                <a:spcPct val="0"/>
              </a:spcBef>
            </a:pPr>
            <a:r>
              <a:rPr lang="zh-CN" altLang="en-US" dirty="0"/>
              <a:t>令</a:t>
            </a:r>
            <a:r>
              <a:rPr lang="en-US" altLang="zh-CN"/>
              <a:t>P</a:t>
            </a:r>
            <a:r>
              <a:rPr lang="zh-CN" altLang="en-US" dirty="0"/>
              <a:t>代表交易的总金额，</a:t>
            </a:r>
            <a:r>
              <a:rPr lang="en-US" altLang="zh-CN"/>
              <a:t>Q</a:t>
            </a:r>
            <a:r>
              <a:rPr lang="zh-CN" altLang="en-US" dirty="0"/>
              <a:t>代表每股的售价，</a:t>
            </a:r>
            <a:r>
              <a:rPr lang="en-US" altLang="zh-CN"/>
              <a:t>n</a:t>
            </a:r>
            <a:r>
              <a:rPr lang="zh-CN" altLang="en-US" dirty="0"/>
              <a:t>代表交易的股数。</a:t>
            </a:r>
            <a:endParaRPr lang="zh-CN" altLang="en-US" dirty="0"/>
          </a:p>
          <a:p>
            <a:pPr lvl="0">
              <a:spcBef>
                <a:spcPct val="0"/>
              </a:spcBef>
            </a:pPr>
            <a:r>
              <a:rPr lang="en-US" altLang="zh-CN"/>
              <a:t>(1)</a:t>
            </a:r>
            <a:r>
              <a:rPr lang="zh-CN" altLang="en-US" dirty="0"/>
              <a:t>表示手续费计算方法的判定表如图所示。</a:t>
            </a:r>
            <a:endParaRPr lang="zh-CN" altLang="en-US" dirty="0"/>
          </a:p>
          <a:p>
            <a:pPr lvl="0">
              <a:spcBef>
                <a:spcPct val="0"/>
              </a:spcBef>
            </a:pPr>
            <a:r>
              <a:rPr lang="zh-CN" altLang="en-US" dirty="0"/>
              <a:t>判定表</a:t>
            </a:r>
            <a:r>
              <a:rPr lang="zh-CN" altLang="en-US" dirty="0"/>
              <a:t>的每一列是一条计算规则。例如，第</a:t>
            </a:r>
            <a:r>
              <a:rPr lang="en-US" altLang="zh-CN"/>
              <a:t>1</a:t>
            </a:r>
            <a:r>
              <a:rPr lang="zh-CN" altLang="en-US" dirty="0"/>
              <a:t>列</a:t>
            </a:r>
            <a:r>
              <a:rPr lang="en-US" altLang="zh-CN"/>
              <a:t>(</a:t>
            </a:r>
            <a:r>
              <a:rPr lang="zh-CN" altLang="en-US" dirty="0"/>
              <a:t>规则</a:t>
            </a:r>
            <a:r>
              <a:rPr lang="en-US" altLang="zh-CN"/>
              <a:t>1)</a:t>
            </a:r>
            <a:r>
              <a:rPr lang="zh-CN" altLang="en-US" dirty="0"/>
              <a:t>规定，当交易总金额</a:t>
            </a:r>
            <a:r>
              <a:rPr lang="en-US" altLang="zh-CN"/>
              <a:t>P</a:t>
            </a:r>
            <a:r>
              <a:rPr lang="zh-CN" altLang="en-US" dirty="0"/>
              <a:t>少于</a:t>
            </a:r>
            <a:r>
              <a:rPr lang="en-US" altLang="zh-CN"/>
              <a:t>1000</a:t>
            </a:r>
            <a:r>
              <a:rPr lang="zh-CN" altLang="en-US" dirty="0"/>
              <a:t>元，且每股售价</a:t>
            </a:r>
            <a:r>
              <a:rPr lang="en-US" altLang="zh-CN"/>
              <a:t>Q</a:t>
            </a:r>
            <a:r>
              <a:rPr lang="zh-CN" altLang="en-US" dirty="0"/>
              <a:t>低于</a:t>
            </a:r>
            <a:r>
              <a:rPr lang="en-US" altLang="zh-CN"/>
              <a:t>14</a:t>
            </a:r>
            <a:r>
              <a:rPr lang="zh-CN" altLang="en-US" dirty="0"/>
              <a:t>元，且交易的股数</a:t>
            </a:r>
            <a:r>
              <a:rPr lang="en-US" altLang="zh-CN"/>
              <a:t>n</a:t>
            </a:r>
            <a:r>
              <a:rPr lang="zh-CN" altLang="en-US" dirty="0"/>
              <a:t>是</a:t>
            </a:r>
            <a:r>
              <a:rPr lang="en-US" altLang="zh-CN"/>
              <a:t>100</a:t>
            </a:r>
            <a:r>
              <a:rPr lang="zh-CN" altLang="en-US" dirty="0"/>
              <a:t>的倍数时，给经纪人的手续费为</a:t>
            </a:r>
            <a:endParaRPr lang="zh-CN" altLang="en-US" dirty="0"/>
          </a:p>
          <a:p>
            <a:pPr lvl="0">
              <a:spcBef>
                <a:spcPct val="0"/>
              </a:spcBef>
            </a:pPr>
            <a:r>
              <a:rPr lang="en-US" altLang="zh-CN"/>
              <a:t>(l+0.05)×0.084P</a:t>
            </a:r>
            <a:endParaRPr lang="en-US" altLang="zh-CN"/>
          </a:p>
          <a:p>
            <a:pPr lvl="0">
              <a:spcBef>
                <a:spcPct val="0"/>
              </a:spcBef>
            </a:pPr>
            <a:r>
              <a:rPr lang="zh-CN" altLang="en-US" dirty="0"/>
              <a:t>第</a:t>
            </a:r>
            <a:r>
              <a:rPr lang="en-US" altLang="zh-CN"/>
              <a:t>16</a:t>
            </a:r>
            <a:r>
              <a:rPr lang="zh-CN" altLang="en-US" dirty="0"/>
              <a:t>列</a:t>
            </a:r>
            <a:r>
              <a:rPr lang="en-US" altLang="zh-CN"/>
              <a:t>(</a:t>
            </a:r>
            <a:r>
              <a:rPr lang="zh-CN" altLang="en-US" dirty="0"/>
              <a:t>规则</a:t>
            </a:r>
            <a:r>
              <a:rPr lang="en-US" altLang="zh-CN"/>
              <a:t>16)</a:t>
            </a:r>
            <a:r>
              <a:rPr lang="zh-CN" altLang="en-US" dirty="0"/>
              <a:t>表明，当交易总金额</a:t>
            </a:r>
            <a:r>
              <a:rPr lang="en-US" altLang="zh-CN"/>
              <a:t>P</a:t>
            </a:r>
            <a:r>
              <a:rPr lang="zh-CN" altLang="en-US" dirty="0"/>
              <a:t>超过</a:t>
            </a:r>
            <a:r>
              <a:rPr lang="en-US" altLang="zh-CN"/>
              <a:t>10000</a:t>
            </a:r>
            <a:r>
              <a:rPr lang="zh-CN" altLang="en-US" dirty="0"/>
              <a:t>元，且每股售价</a:t>
            </a:r>
            <a:r>
              <a:rPr lang="en-US" altLang="zh-CN"/>
              <a:t>Q</a:t>
            </a:r>
            <a:r>
              <a:rPr lang="zh-CN" altLang="en-US" dirty="0"/>
              <a:t>在</a:t>
            </a:r>
            <a:r>
              <a:rPr lang="en-US" altLang="zh-CN"/>
              <a:t>14</a:t>
            </a:r>
            <a:r>
              <a:rPr lang="zh-CN" altLang="en-US" dirty="0"/>
              <a:t>元到</a:t>
            </a:r>
            <a:r>
              <a:rPr lang="en-US" altLang="zh-CN"/>
              <a:t>25</a:t>
            </a:r>
            <a:r>
              <a:rPr lang="zh-CN" altLang="en-US" dirty="0"/>
              <a:t>元之间，且交易的股数</a:t>
            </a:r>
            <a:r>
              <a:rPr lang="en-US" altLang="zh-CN"/>
              <a:t>n</a:t>
            </a:r>
            <a:r>
              <a:rPr lang="zh-CN" altLang="en-US" dirty="0"/>
              <a:t>不是</a:t>
            </a:r>
            <a:r>
              <a:rPr lang="en-US" altLang="zh-CN"/>
              <a:t>100</a:t>
            </a:r>
            <a:r>
              <a:rPr lang="zh-CN" altLang="en-US" dirty="0"/>
              <a:t>的倍数时，手续费为</a:t>
            </a:r>
            <a:endParaRPr lang="zh-CN" altLang="en-US" dirty="0"/>
          </a:p>
          <a:p>
            <a:pPr lvl="0">
              <a:spcBef>
                <a:spcPct val="0"/>
              </a:spcBef>
            </a:pPr>
            <a:r>
              <a:rPr lang="en-US" altLang="zh-CN"/>
              <a:t>(1+0.06)×(0.04P+134)</a:t>
            </a:r>
            <a:endParaRPr lang="en-US" altLang="zh-CN"/>
          </a:p>
          <a:p>
            <a:pPr lvl="0">
              <a:spcBef>
                <a:spcPct val="0"/>
              </a:spcBef>
            </a:pPr>
            <a:r>
              <a:rPr lang="en-US" altLang="zh-CN"/>
              <a:t>(2)</a:t>
            </a:r>
            <a:r>
              <a:rPr lang="zh-CN" altLang="en-US" dirty="0"/>
              <a:t>表示手续费计算方法的判定树如图所示。 </a:t>
            </a:r>
            <a:endParaRPr lang="zh-CN" altLang="en-US"/>
          </a:p>
        </p:txBody>
      </p:sp>
      <p:sp>
        <p:nvSpPr>
          <p:cNvPr id="3127300" name="矩形 3127299"/>
          <p:cNvSpPr/>
          <p:nvPr/>
        </p:nvSpPr>
        <p:spPr>
          <a:xfrm>
            <a:off x="2209800" y="152400"/>
            <a:ext cx="7772400" cy="576263"/>
          </a:xfrm>
          <a:prstGeom prst="rect">
            <a:avLst/>
          </a:prstGeom>
          <a:noFill/>
          <a:ln w="9525">
            <a:noFill/>
          </a:ln>
        </p:spPr>
        <p:txBody>
          <a:bodyPr lIns="82550" tIns="41275" rIns="82550" bIns="41275"/>
          <a:lstStyle>
            <a:lvl1pPr marL="0" lvl="0" indent="0" algn="ctr" defTabSz="67818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3200" b="1" u="none" kern="1200" baseline="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 eaLnBrk="1" fontAlgn="t" hangingPunct="1">
              <a:lnSpc>
                <a:spcPct val="100000"/>
              </a:lnSpc>
              <a:buFontTx/>
              <a:buNone/>
            </a:pPr>
            <a:r>
              <a:rPr lang="zh-CN" altLang="en-US" sz="3600" b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作业及解答（第</a:t>
            </a:r>
            <a:r>
              <a:rPr lang="en-US" altLang="zh-CN" sz="3600" b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6</a:t>
            </a:r>
            <a:r>
              <a:rPr lang="zh-CN" altLang="en-US" sz="3600" b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章）</a:t>
            </a:r>
            <a:endParaRPr lang="zh-CN" altLang="en-US" sz="3600" b="0" dirty="0">
              <a:solidFill>
                <a:schemeClr val="bg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p>
            <a:pPr lvl="0" eaLnBrk="1" hangingPunct="1">
              <a:spcBef>
                <a:spcPct val="0"/>
              </a:spcBef>
            </a:pP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13:07:42</a:t>
            </a:r>
            <a:endParaRPr lang="zh-CN" altLang="zh-CN" sz="16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28322" name="矩形 3128321"/>
          <p:cNvSpPr/>
          <p:nvPr/>
        </p:nvSpPr>
        <p:spPr>
          <a:xfrm>
            <a:off x="152400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3128324" name="矩形 3128323"/>
          <p:cNvSpPr/>
          <p:nvPr/>
        </p:nvSpPr>
        <p:spPr>
          <a:xfrm>
            <a:off x="2209800" y="152400"/>
            <a:ext cx="7772400" cy="576263"/>
          </a:xfrm>
          <a:prstGeom prst="rect">
            <a:avLst/>
          </a:prstGeom>
          <a:noFill/>
          <a:ln w="9525">
            <a:noFill/>
          </a:ln>
        </p:spPr>
        <p:txBody>
          <a:bodyPr lIns="82550" tIns="41275" rIns="82550" bIns="41275"/>
          <a:lstStyle>
            <a:lvl1pPr marL="0" lvl="0" indent="0" algn="ctr" defTabSz="67818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3200" b="1" u="none" kern="1200" baseline="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 eaLnBrk="1" fontAlgn="t" hangingPunct="1">
              <a:lnSpc>
                <a:spcPct val="100000"/>
              </a:lnSpc>
              <a:buFontTx/>
              <a:buNone/>
            </a:pPr>
            <a:r>
              <a:rPr lang="zh-CN" altLang="en-US" sz="3600" b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作业及解答（第</a:t>
            </a:r>
            <a:r>
              <a:rPr lang="en-US" altLang="zh-CN" sz="3600" b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7</a:t>
            </a:r>
            <a:r>
              <a:rPr lang="zh-CN" altLang="en-US" sz="3600" b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章）</a:t>
            </a:r>
            <a:endParaRPr lang="zh-CN" altLang="en-US" sz="3600" b="0" dirty="0">
              <a:solidFill>
                <a:schemeClr val="bg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pic>
        <p:nvPicPr>
          <p:cNvPr id="3128328" name="图片 31283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p>
            <a:pPr lvl="0" eaLnBrk="1" hangingPunct="1">
              <a:spcBef>
                <a:spcPct val="0"/>
              </a:spcBef>
            </a:pP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13:07:42</a:t>
            </a:r>
            <a:endParaRPr lang="zh-CN" altLang="zh-CN" sz="16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29346" name="矩形 3129345"/>
          <p:cNvSpPr/>
          <p:nvPr/>
        </p:nvSpPr>
        <p:spPr>
          <a:xfrm>
            <a:off x="152400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3129347" name="矩形 3129346"/>
          <p:cNvSpPr/>
          <p:nvPr/>
        </p:nvSpPr>
        <p:spPr>
          <a:xfrm>
            <a:off x="2209800" y="152400"/>
            <a:ext cx="7772400" cy="576263"/>
          </a:xfrm>
          <a:prstGeom prst="rect">
            <a:avLst/>
          </a:prstGeom>
          <a:noFill/>
          <a:ln w="9525">
            <a:noFill/>
          </a:ln>
        </p:spPr>
        <p:txBody>
          <a:bodyPr lIns="82550" tIns="41275" rIns="82550" bIns="41275"/>
          <a:lstStyle>
            <a:lvl1pPr marL="0" lvl="0" indent="0" algn="ctr" defTabSz="67818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3200" b="1" u="none" kern="1200" baseline="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 eaLnBrk="1" fontAlgn="t" hangingPunct="1">
              <a:lnSpc>
                <a:spcPct val="100000"/>
              </a:lnSpc>
              <a:buFontTx/>
              <a:buNone/>
            </a:pPr>
            <a:r>
              <a:rPr lang="zh-CN" altLang="en-US" sz="3600" b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作业及解答（第</a:t>
            </a:r>
            <a:r>
              <a:rPr lang="en-US" altLang="zh-CN" sz="3600" b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7</a:t>
            </a:r>
            <a:r>
              <a:rPr lang="zh-CN" altLang="en-US" sz="3600" b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章）</a:t>
            </a:r>
            <a:endParaRPr lang="zh-CN" altLang="en-US" sz="3600" b="0" dirty="0">
              <a:solidFill>
                <a:schemeClr val="bg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pic>
        <p:nvPicPr>
          <p:cNvPr id="3129349" name="图片 312934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0" y="0"/>
            <a:ext cx="9144000" cy="69738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p>
            <a:pPr lvl="0" eaLnBrk="1" hangingPunct="1">
              <a:spcBef>
                <a:spcPct val="0"/>
              </a:spcBef>
            </a:pP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13:07:42</a:t>
            </a:r>
            <a:endParaRPr lang="zh-CN" altLang="zh-CN" sz="16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68930" name="矩形 3068929"/>
          <p:cNvSpPr/>
          <p:nvPr/>
        </p:nvSpPr>
        <p:spPr>
          <a:xfrm>
            <a:off x="152400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3068931" name="矩形 3068930"/>
          <p:cNvSpPr/>
          <p:nvPr/>
        </p:nvSpPr>
        <p:spPr>
          <a:xfrm>
            <a:off x="1765300" y="1092200"/>
            <a:ext cx="8712200" cy="5384800"/>
          </a:xfrm>
          <a:prstGeom prst="rect">
            <a:avLst/>
          </a:prstGeom>
          <a:noFill/>
          <a:ln w="9525">
            <a:noFill/>
          </a:ln>
        </p:spPr>
        <p:txBody>
          <a:bodyPr lIns="82550" tIns="41275" rIns="82550" bIns="41275"/>
          <a:lstStyle>
            <a:lvl1pPr marL="254000" lvl="0" indent="-254000" algn="l" defTabSz="67818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sz="2600" b="1" u="none" kern="1200" baseline="0">
                <a:solidFill>
                  <a:srgbClr val="990000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1pPr>
            <a:lvl2pPr marL="609600" lvl="1" indent="-203200" algn="l" defTabSz="67818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ü"/>
              <a:defRPr sz="2500" b="1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2pPr>
            <a:lvl3pPr marL="1017905" lvl="2" indent="-203200" algn="l" defTabSz="67818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Ø"/>
              <a:defRPr sz="2500" b="1" i="0" u="none" kern="1200" baseline="0">
                <a:solidFill>
                  <a:srgbClr val="003300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3pPr>
            <a:lvl4pPr marL="1600200" lvl="3" indent="-228600" algn="l" defTabSz="67818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p"/>
              <a:defRPr sz="2400" b="1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4pPr>
            <a:lvl5pPr marL="2057400" lvl="4" indent="-228600" algn="l" defTabSz="67818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sz="2000" b="1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5pPr>
          </a:lstStyle>
          <a:p>
            <a:pPr lvl="0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zh-CN" altLang="en-US" sz="3300" dirty="0">
                <a:latin typeface="楷体_GB2312" panose="02010609030101010101" pitchFamily="49" charset="-122"/>
              </a:rPr>
              <a:t>补充</a:t>
            </a:r>
            <a:r>
              <a:rPr lang="en-US" altLang="zh-CN" sz="3300">
                <a:latin typeface="楷体_GB2312" panose="02010609030101010101" pitchFamily="49" charset="-122"/>
              </a:rPr>
              <a:t>1</a:t>
            </a:r>
            <a:r>
              <a:rPr lang="zh-CN" altLang="en-US" sz="3300" dirty="0">
                <a:latin typeface="楷体_GB2312" panose="02010609030101010101" pitchFamily="49" charset="-122"/>
              </a:rPr>
              <a:t>、某高校研究生招生系统的初选方法如下：总分</a:t>
            </a:r>
            <a:r>
              <a:rPr lang="en-US" altLang="zh-CN" sz="3300">
                <a:latin typeface="楷体_GB2312" panose="02010609030101010101" pitchFamily="49" charset="-122"/>
              </a:rPr>
              <a:t>300</a:t>
            </a:r>
            <a:r>
              <a:rPr lang="zh-CN" altLang="en-US" sz="3300" dirty="0">
                <a:latin typeface="楷体_GB2312" panose="02010609030101010101" pitchFamily="49" charset="-122"/>
              </a:rPr>
              <a:t>（含）以上进入候选学生库，否则退档；数学分数不低于</a:t>
            </a:r>
            <a:r>
              <a:rPr lang="en-US" altLang="zh-CN" sz="3300">
                <a:latin typeface="楷体_GB2312" panose="02010609030101010101" pitchFamily="49" charset="-122"/>
              </a:rPr>
              <a:t>70</a:t>
            </a:r>
            <a:r>
              <a:rPr lang="zh-CN" altLang="en-US" sz="3300" dirty="0">
                <a:latin typeface="楷体_GB2312" panose="02010609030101010101" pitchFamily="49" charset="-122"/>
              </a:rPr>
              <a:t>分，则进入三级备选库，否则进入四级备选库；在三级备选库的基础上，如果专业课分数高于</a:t>
            </a:r>
            <a:r>
              <a:rPr lang="en-US" altLang="zh-CN" sz="3300">
                <a:latin typeface="楷体_GB2312" panose="02010609030101010101" pitchFamily="49" charset="-122"/>
              </a:rPr>
              <a:t>100</a:t>
            </a:r>
            <a:r>
              <a:rPr lang="zh-CN" altLang="en-US" sz="3300" dirty="0">
                <a:latin typeface="楷体_GB2312" panose="02010609030101010101" pitchFamily="49" charset="-122"/>
              </a:rPr>
              <a:t>分，则进入一级备选库，否则进入二级备选库，请画出对应的判定树。</a:t>
            </a:r>
            <a:endParaRPr lang="zh-CN" altLang="en-US" sz="3300" dirty="0">
              <a:latin typeface="楷体_GB2312" panose="02010609030101010101" pitchFamily="49" charset="-122"/>
            </a:endParaRPr>
          </a:p>
        </p:txBody>
      </p:sp>
      <p:sp>
        <p:nvSpPr>
          <p:cNvPr id="3068932" name="矩形 3068931"/>
          <p:cNvSpPr/>
          <p:nvPr/>
        </p:nvSpPr>
        <p:spPr>
          <a:xfrm>
            <a:off x="2209800" y="152400"/>
            <a:ext cx="7772400" cy="576263"/>
          </a:xfrm>
          <a:prstGeom prst="rect">
            <a:avLst/>
          </a:prstGeom>
          <a:noFill/>
          <a:ln w="9525">
            <a:noFill/>
          </a:ln>
        </p:spPr>
        <p:txBody>
          <a:bodyPr lIns="82550" tIns="41275" rIns="82550" bIns="41275"/>
          <a:lstStyle>
            <a:lvl1pPr marL="0" lvl="0" indent="0" algn="ctr" defTabSz="67818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3200" b="1" u="none" kern="1200" baseline="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 eaLnBrk="1" fontAlgn="t" hangingPunct="1">
              <a:lnSpc>
                <a:spcPct val="100000"/>
              </a:lnSpc>
              <a:buFontTx/>
              <a:buNone/>
            </a:pPr>
            <a:r>
              <a:rPr lang="zh-CN" altLang="en-US" sz="3600" b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作业及解答（第</a:t>
            </a:r>
            <a:r>
              <a:rPr lang="en-US" altLang="zh-CN" sz="3600" b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6</a:t>
            </a:r>
            <a:r>
              <a:rPr lang="zh-CN" altLang="en-US" sz="3600" b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章）</a:t>
            </a:r>
            <a:endParaRPr lang="zh-CN" altLang="en-US" sz="3600" b="0" dirty="0">
              <a:solidFill>
                <a:schemeClr val="bg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p>
            <a:pPr lvl="0" eaLnBrk="1" hangingPunct="1">
              <a:spcBef>
                <a:spcPct val="0"/>
              </a:spcBef>
            </a:pP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13:07:42</a:t>
            </a:r>
            <a:endParaRPr lang="zh-CN" altLang="zh-CN" sz="16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31394" name="矩形 3131393"/>
          <p:cNvSpPr/>
          <p:nvPr/>
        </p:nvSpPr>
        <p:spPr>
          <a:xfrm>
            <a:off x="152400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3131396" name="矩形 3131395"/>
          <p:cNvSpPr/>
          <p:nvPr/>
        </p:nvSpPr>
        <p:spPr>
          <a:xfrm>
            <a:off x="2209800" y="152400"/>
            <a:ext cx="7772400" cy="576263"/>
          </a:xfrm>
          <a:prstGeom prst="rect">
            <a:avLst/>
          </a:prstGeom>
          <a:noFill/>
          <a:ln w="9525">
            <a:noFill/>
          </a:ln>
        </p:spPr>
        <p:txBody>
          <a:bodyPr lIns="82550" tIns="41275" rIns="82550" bIns="41275"/>
          <a:lstStyle>
            <a:lvl1pPr marL="0" lvl="0" indent="0" algn="ctr" defTabSz="67818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3200" b="1" u="none" kern="1200" baseline="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 eaLnBrk="1" fontAlgn="t" hangingPunct="1">
              <a:lnSpc>
                <a:spcPct val="100000"/>
              </a:lnSpc>
              <a:buFontTx/>
              <a:buNone/>
            </a:pPr>
            <a:r>
              <a:rPr lang="zh-CN" altLang="en-US" sz="3600" b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作业及解答（第</a:t>
            </a:r>
            <a:r>
              <a:rPr lang="en-US" altLang="zh-CN" sz="3600" b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6</a:t>
            </a:r>
            <a:r>
              <a:rPr lang="zh-CN" altLang="en-US" sz="3600" b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章）</a:t>
            </a:r>
            <a:endParaRPr lang="zh-CN" altLang="en-US" sz="3600" b="0" dirty="0">
              <a:solidFill>
                <a:schemeClr val="bg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pic>
        <p:nvPicPr>
          <p:cNvPr id="3131426" name="图片 31314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3888" y="1117600"/>
            <a:ext cx="8607425" cy="46609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p>
            <a:pPr lvl="0" eaLnBrk="1" hangingPunct="1">
              <a:spcBef>
                <a:spcPct val="0"/>
              </a:spcBef>
            </a:pP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13:07:42</a:t>
            </a:r>
            <a:endParaRPr lang="zh-CN" altLang="zh-CN" sz="16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32418" name="矩形 3132417"/>
          <p:cNvSpPr/>
          <p:nvPr/>
        </p:nvSpPr>
        <p:spPr>
          <a:xfrm>
            <a:off x="152400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3132419" name="矩形 3132418"/>
          <p:cNvSpPr/>
          <p:nvPr/>
        </p:nvSpPr>
        <p:spPr>
          <a:xfrm>
            <a:off x="1765300" y="1092200"/>
            <a:ext cx="8712200" cy="5384800"/>
          </a:xfrm>
          <a:prstGeom prst="rect">
            <a:avLst/>
          </a:prstGeom>
          <a:noFill/>
          <a:ln w="9525">
            <a:noFill/>
          </a:ln>
        </p:spPr>
        <p:txBody>
          <a:bodyPr lIns="82550" tIns="41275" rIns="82550" bIns="41275"/>
          <a:lstStyle>
            <a:lvl1pPr marL="254000" lvl="0" indent="-254000" algn="l" defTabSz="67818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sz="2600" b="1" u="none" kern="1200" baseline="0">
                <a:solidFill>
                  <a:srgbClr val="990000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1pPr>
            <a:lvl2pPr marL="609600" lvl="1" indent="-203200" algn="l" defTabSz="67818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ü"/>
              <a:defRPr sz="2500" b="1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2pPr>
            <a:lvl3pPr marL="1017905" lvl="2" indent="-203200" algn="l" defTabSz="67818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Ø"/>
              <a:defRPr sz="2500" b="1" i="0" u="none" kern="1200" baseline="0">
                <a:solidFill>
                  <a:srgbClr val="003300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3pPr>
            <a:lvl4pPr marL="1600200" lvl="3" indent="-228600" algn="l" defTabSz="67818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p"/>
              <a:defRPr sz="2400" b="1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4pPr>
            <a:lvl5pPr marL="2057400" lvl="4" indent="-228600" algn="l" defTabSz="67818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sz="2000" b="1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5pPr>
          </a:lstStyle>
          <a:p>
            <a:pPr lvl="0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zh-CN" altLang="en-US" sz="3500" dirty="0">
                <a:latin typeface="楷体_GB2312" panose="02010609030101010101" pitchFamily="49" charset="-122"/>
              </a:rPr>
              <a:t>补充</a:t>
            </a:r>
            <a:r>
              <a:rPr lang="en-US" altLang="zh-CN" sz="3500">
                <a:latin typeface="楷体_GB2312" panose="02010609030101010101" pitchFamily="49" charset="-122"/>
              </a:rPr>
              <a:t>2</a:t>
            </a:r>
            <a:r>
              <a:rPr lang="zh-CN" altLang="en-US" sz="3500" dirty="0">
                <a:latin typeface="楷体_GB2312" panose="02010609030101010101" pitchFamily="49" charset="-122"/>
              </a:rPr>
              <a:t>、某校的课酬计算方案如下：</a:t>
            </a:r>
            <a:r>
              <a:rPr lang="en-US" altLang="zh-CN" sz="3500">
                <a:latin typeface="楷体_GB2312" panose="02010609030101010101" pitchFamily="49" charset="-122"/>
              </a:rPr>
              <a:t>(l)</a:t>
            </a:r>
            <a:r>
              <a:rPr lang="zh-CN" altLang="en-US" sz="3500" dirty="0">
                <a:latin typeface="楷体_GB2312" panose="02010609030101010101" pitchFamily="49" charset="-122"/>
              </a:rPr>
              <a:t>基本课酬为每节课</a:t>
            </a:r>
            <a:r>
              <a:rPr lang="en-US" altLang="zh-CN" sz="3500">
                <a:latin typeface="楷体_GB2312" panose="02010609030101010101" pitchFamily="49" charset="-122"/>
              </a:rPr>
              <a:t>10</a:t>
            </a:r>
            <a:r>
              <a:rPr lang="zh-CN" altLang="en-US" sz="3500" dirty="0">
                <a:latin typeface="楷体_GB2312" panose="02010609030101010101" pitchFamily="49" charset="-122"/>
              </a:rPr>
              <a:t>元；</a:t>
            </a:r>
            <a:r>
              <a:rPr lang="en-US" altLang="zh-CN" sz="3500">
                <a:latin typeface="楷体_GB2312" panose="02010609030101010101" pitchFamily="49" charset="-122"/>
              </a:rPr>
              <a:t>(2)</a:t>
            </a:r>
            <a:r>
              <a:rPr lang="zh-CN" altLang="en-US" sz="3500" dirty="0">
                <a:latin typeface="楷体_GB2312" panose="02010609030101010101" pitchFamily="49" charset="-122"/>
              </a:rPr>
              <a:t>如果班级人数超过</a:t>
            </a:r>
            <a:r>
              <a:rPr lang="en-US" altLang="zh-CN" sz="3500">
                <a:latin typeface="楷体_GB2312" panose="02010609030101010101" pitchFamily="49" charset="-122"/>
              </a:rPr>
              <a:t>40</a:t>
            </a:r>
            <a:r>
              <a:rPr lang="zh-CN" altLang="en-US" sz="3500" dirty="0">
                <a:latin typeface="楷体_GB2312" panose="02010609030101010101" pitchFamily="49" charset="-122"/>
              </a:rPr>
              <a:t>人，课酬增加：基本课酬</a:t>
            </a:r>
            <a:r>
              <a:rPr lang="en-US" altLang="zh-CN" sz="3500">
                <a:latin typeface="楷体_GB2312" panose="02010609030101010101" pitchFamily="49" charset="-122"/>
              </a:rPr>
              <a:t>×0.1</a:t>
            </a:r>
            <a:r>
              <a:rPr lang="zh-CN" altLang="en-US" sz="3500" dirty="0">
                <a:latin typeface="楷体_GB2312" panose="02010609030101010101" pitchFamily="49" charset="-122"/>
              </a:rPr>
              <a:t>；</a:t>
            </a:r>
            <a:r>
              <a:rPr lang="en-US" altLang="zh-CN" sz="3500">
                <a:latin typeface="楷体_GB2312" panose="02010609030101010101" pitchFamily="49" charset="-122"/>
              </a:rPr>
              <a:t>(3)</a:t>
            </a:r>
            <a:r>
              <a:rPr lang="zh-CN" altLang="en-US" sz="3500" dirty="0">
                <a:latin typeface="楷体_GB2312" panose="02010609030101010101" pitchFamily="49" charset="-122"/>
              </a:rPr>
              <a:t>如果班级人数超过</a:t>
            </a:r>
            <a:r>
              <a:rPr lang="en-US" altLang="zh-CN" sz="3500">
                <a:latin typeface="楷体_GB2312" panose="02010609030101010101" pitchFamily="49" charset="-122"/>
              </a:rPr>
              <a:t>60</a:t>
            </a:r>
            <a:r>
              <a:rPr lang="zh-CN" altLang="en-US" sz="3500" dirty="0">
                <a:latin typeface="楷体_GB2312" panose="02010609030101010101" pitchFamily="49" charset="-122"/>
              </a:rPr>
              <a:t>人，课酬增加：基本课酬</a:t>
            </a:r>
            <a:r>
              <a:rPr lang="en-US" altLang="zh-CN" sz="3500">
                <a:latin typeface="楷体_GB2312" panose="02010609030101010101" pitchFamily="49" charset="-122"/>
              </a:rPr>
              <a:t>×0.2</a:t>
            </a:r>
            <a:r>
              <a:rPr lang="zh-CN" altLang="en-US" sz="3500" dirty="0">
                <a:latin typeface="楷体_GB2312" panose="02010609030101010101" pitchFamily="49" charset="-122"/>
              </a:rPr>
              <a:t>；</a:t>
            </a:r>
            <a:r>
              <a:rPr lang="en-US" altLang="zh-CN" sz="3500">
                <a:latin typeface="楷体_GB2312" panose="02010609030101010101" pitchFamily="49" charset="-122"/>
              </a:rPr>
              <a:t>(4)</a:t>
            </a:r>
            <a:r>
              <a:rPr lang="zh-CN" altLang="en-US" sz="3500" dirty="0">
                <a:latin typeface="楷体_GB2312" panose="02010609030101010101" pitchFamily="49" charset="-122"/>
              </a:rPr>
              <a:t>如果教师是副教授，课酬增加：基本课酬</a:t>
            </a:r>
            <a:r>
              <a:rPr lang="en-US" altLang="zh-CN" sz="3500">
                <a:latin typeface="楷体_GB2312" panose="02010609030101010101" pitchFamily="49" charset="-122"/>
              </a:rPr>
              <a:t>×0.1</a:t>
            </a:r>
            <a:r>
              <a:rPr lang="zh-CN" altLang="en-US" sz="3500" dirty="0">
                <a:latin typeface="楷体_GB2312" panose="02010609030101010101" pitchFamily="49" charset="-122"/>
              </a:rPr>
              <a:t>；</a:t>
            </a:r>
            <a:r>
              <a:rPr lang="en-US" altLang="zh-CN" sz="3500">
                <a:latin typeface="楷体_GB2312" panose="02010609030101010101" pitchFamily="49" charset="-122"/>
              </a:rPr>
              <a:t>(5)</a:t>
            </a:r>
            <a:r>
              <a:rPr lang="zh-CN" altLang="en-US" sz="3500" dirty="0">
                <a:latin typeface="楷体_GB2312" panose="02010609030101010101" pitchFamily="49" charset="-122"/>
              </a:rPr>
              <a:t>如果教师是教授，课酬增加：基本课酬</a:t>
            </a:r>
            <a:r>
              <a:rPr lang="en-US" altLang="zh-CN" sz="3500">
                <a:latin typeface="楷体_GB2312" panose="02010609030101010101" pitchFamily="49" charset="-122"/>
              </a:rPr>
              <a:t>×0.2</a:t>
            </a:r>
            <a:r>
              <a:rPr lang="zh-CN" altLang="en-US" sz="3500" dirty="0">
                <a:latin typeface="楷体_GB2312" panose="02010609030101010101" pitchFamily="49" charset="-122"/>
              </a:rPr>
              <a:t>；</a:t>
            </a:r>
            <a:r>
              <a:rPr lang="en-US" altLang="zh-CN" sz="3500">
                <a:latin typeface="楷体_GB2312" panose="02010609030101010101" pitchFamily="49" charset="-122"/>
              </a:rPr>
              <a:t>(6)</a:t>
            </a:r>
            <a:r>
              <a:rPr lang="zh-CN" altLang="en-US" sz="3500" dirty="0">
                <a:latin typeface="楷体_GB2312" panose="02010609030101010101" pitchFamily="49" charset="-122"/>
              </a:rPr>
              <a:t>讲师，课酬不增加；</a:t>
            </a:r>
            <a:r>
              <a:rPr lang="en-US" altLang="zh-CN" sz="3500">
                <a:latin typeface="楷体_GB2312" panose="02010609030101010101" pitchFamily="49" charset="-122"/>
              </a:rPr>
              <a:t>(7)</a:t>
            </a:r>
            <a:r>
              <a:rPr lang="zh-CN" altLang="en-US" sz="3500" dirty="0">
                <a:latin typeface="楷体_GB2312" panose="02010609030101010101" pitchFamily="49" charset="-122"/>
              </a:rPr>
              <a:t>助教，课酬减少：基本课酬</a:t>
            </a:r>
            <a:r>
              <a:rPr lang="en-US" altLang="zh-CN" sz="3500">
                <a:latin typeface="楷体_GB2312" panose="02010609030101010101" pitchFamily="49" charset="-122"/>
              </a:rPr>
              <a:t>×0.1</a:t>
            </a:r>
            <a:r>
              <a:rPr lang="zh-CN" altLang="en-US" sz="3500" dirty="0">
                <a:latin typeface="楷体_GB2312" panose="02010609030101010101" pitchFamily="49" charset="-122"/>
              </a:rPr>
              <a:t>。请用判定表表达上述计算方案。</a:t>
            </a:r>
            <a:endParaRPr lang="zh-CN" altLang="en-US" sz="3500" dirty="0">
              <a:latin typeface="楷体_GB2312" panose="02010609030101010101" pitchFamily="49" charset="-122"/>
            </a:endParaRPr>
          </a:p>
        </p:txBody>
      </p:sp>
      <p:sp>
        <p:nvSpPr>
          <p:cNvPr id="3132420" name="矩形 3132419"/>
          <p:cNvSpPr/>
          <p:nvPr/>
        </p:nvSpPr>
        <p:spPr>
          <a:xfrm>
            <a:off x="2209800" y="152400"/>
            <a:ext cx="7772400" cy="576263"/>
          </a:xfrm>
          <a:prstGeom prst="rect">
            <a:avLst/>
          </a:prstGeom>
          <a:noFill/>
          <a:ln w="9525">
            <a:noFill/>
          </a:ln>
        </p:spPr>
        <p:txBody>
          <a:bodyPr lIns="82550" tIns="41275" rIns="82550" bIns="41275"/>
          <a:lstStyle>
            <a:lvl1pPr marL="0" lvl="0" indent="0" algn="ctr" defTabSz="67818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3200" b="1" u="none" kern="1200" baseline="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 eaLnBrk="1" fontAlgn="t" hangingPunct="1">
              <a:lnSpc>
                <a:spcPct val="100000"/>
              </a:lnSpc>
              <a:buFontTx/>
              <a:buNone/>
            </a:pPr>
            <a:r>
              <a:rPr lang="zh-CN" altLang="en-US" sz="3600" b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作业及解答（第</a:t>
            </a:r>
            <a:r>
              <a:rPr lang="en-US" altLang="zh-CN" sz="3600" b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6</a:t>
            </a:r>
            <a:r>
              <a:rPr lang="zh-CN" altLang="en-US" sz="3600" b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章）</a:t>
            </a:r>
            <a:endParaRPr lang="zh-CN" altLang="en-US" sz="3600" b="0" dirty="0">
              <a:solidFill>
                <a:schemeClr val="bg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p>
            <a:pPr lvl="0" eaLnBrk="1" hangingPunct="1">
              <a:spcBef>
                <a:spcPct val="0"/>
              </a:spcBef>
            </a:pP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13:07:42</a:t>
            </a:r>
            <a:endParaRPr lang="zh-CN" altLang="zh-CN" sz="16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33442" name="矩形 3133441"/>
          <p:cNvSpPr/>
          <p:nvPr/>
        </p:nvSpPr>
        <p:spPr>
          <a:xfrm>
            <a:off x="152400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/>
          </a:p>
        </p:txBody>
      </p:sp>
      <p:graphicFrame>
        <p:nvGraphicFramePr>
          <p:cNvPr id="3134679" name="表格 3134678"/>
          <p:cNvGraphicFramePr/>
          <p:nvPr/>
        </p:nvGraphicFramePr>
        <p:xfrm>
          <a:off x="1854200" y="38100"/>
          <a:ext cx="8648700" cy="6489700"/>
        </p:xfrm>
        <a:graphic>
          <a:graphicData uri="http://schemas.openxmlformats.org/drawingml/2006/table">
            <a:tbl>
              <a:tblPr/>
              <a:tblGrid>
                <a:gridCol w="2441575"/>
                <a:gridCol w="473075"/>
                <a:gridCol w="469900"/>
                <a:gridCol w="469900"/>
                <a:gridCol w="469900"/>
                <a:gridCol w="501650"/>
                <a:gridCol w="438150"/>
                <a:gridCol w="469900"/>
                <a:gridCol w="473075"/>
                <a:gridCol w="441325"/>
                <a:gridCol w="684530"/>
                <a:gridCol w="679450"/>
                <a:gridCol w="636270"/>
              </a:tblGrid>
              <a:tr h="463550"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5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lang="zh-CN" altLang="en-US" sz="25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5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lang="zh-CN" altLang="en-US" sz="25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5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lang="zh-CN" altLang="en-US" sz="25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5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lang="zh-CN" altLang="en-US" sz="25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5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lang="zh-CN" altLang="en-US" sz="25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5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lang="zh-CN" altLang="en-US" sz="25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5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lang="zh-CN" altLang="en-US" sz="25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5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endParaRPr lang="zh-CN" altLang="en-US" sz="25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5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</a:t>
                      </a:r>
                      <a:endParaRPr lang="zh-CN" altLang="en-US" sz="25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5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</a:t>
                      </a:r>
                      <a:endParaRPr lang="zh-CN" altLang="en-US" sz="25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5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</a:t>
                      </a:r>
                      <a:endParaRPr lang="zh-CN" altLang="en-US" sz="25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5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12</a:t>
                      </a:r>
                      <a:endParaRPr lang="zh-CN" altLang="en-US" sz="25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3550"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zh-CN" altLang="en-US" sz="2500" dirty="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人数</a:t>
                      </a:r>
                      <a:r>
                        <a:rPr lang="en-US" altLang="zh-CN" sz="2500" dirty="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≤</a:t>
                      </a:r>
                      <a:r>
                        <a:rPr lang="en-US" altLang="zh-CN" sz="25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40</a:t>
                      </a:r>
                      <a:endParaRPr lang="zh-CN" altLang="en-US" sz="25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5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endParaRPr lang="zh-CN" altLang="en-US" sz="25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5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endParaRPr lang="zh-CN" altLang="en-US" sz="25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5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endParaRPr lang="zh-CN" altLang="en-US" sz="25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5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endParaRPr lang="zh-CN" altLang="en-US" sz="25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3550"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5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40</a:t>
                      </a:r>
                      <a:r>
                        <a:rPr lang="zh-CN" altLang="en-US" sz="2500" dirty="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＜人数</a:t>
                      </a:r>
                      <a:r>
                        <a:rPr lang="en-US" altLang="zh-CN" sz="2500" dirty="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≤</a:t>
                      </a:r>
                      <a:r>
                        <a:rPr lang="en-US" altLang="zh-CN" sz="25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60</a:t>
                      </a:r>
                      <a:endParaRPr lang="zh-CN" altLang="en-US" sz="25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5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endParaRPr lang="zh-CN" altLang="en-US" sz="25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5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endParaRPr lang="zh-CN" altLang="en-US" sz="25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5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endParaRPr lang="zh-CN" altLang="en-US" sz="25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5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endParaRPr lang="zh-CN" altLang="en-US" sz="25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3550"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zh-CN" altLang="en-US" sz="2500" dirty="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人数＞</a:t>
                      </a:r>
                      <a:r>
                        <a:rPr lang="en-US" altLang="zh-CN" sz="25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60</a:t>
                      </a:r>
                      <a:endParaRPr lang="zh-CN" altLang="en-US" sz="25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5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endParaRPr lang="zh-CN" altLang="en-US" sz="25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5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endParaRPr lang="zh-CN" altLang="en-US" sz="25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5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endParaRPr lang="zh-CN" altLang="en-US" sz="25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5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endParaRPr lang="zh-CN" altLang="en-US" sz="25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3550"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zh-CN" altLang="en-US" sz="2500" dirty="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助教</a:t>
                      </a:r>
                      <a:endParaRPr lang="zh-CN" altLang="en-US" sz="2500" dirty="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5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endParaRPr lang="zh-CN" altLang="en-US" sz="25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5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endParaRPr lang="zh-CN" altLang="en-US" sz="25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5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endParaRPr lang="zh-CN" altLang="en-US" sz="25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3550"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zh-CN" altLang="en-US" sz="2500" dirty="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讲师</a:t>
                      </a:r>
                      <a:endParaRPr lang="zh-CN" altLang="en-US" sz="2500" dirty="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5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endParaRPr lang="zh-CN" altLang="en-US" sz="25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5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endParaRPr lang="zh-CN" altLang="en-US" sz="25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5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endParaRPr lang="zh-CN" altLang="en-US" sz="25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3550"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zh-CN" altLang="en-US" sz="2500" dirty="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副教授</a:t>
                      </a:r>
                      <a:endParaRPr lang="zh-CN" altLang="en-US" sz="2500" dirty="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5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endParaRPr lang="zh-CN" altLang="en-US" sz="25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5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endParaRPr lang="zh-CN" altLang="en-US" sz="25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5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endParaRPr lang="zh-CN" altLang="en-US" sz="25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3550"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zh-CN" altLang="en-US" sz="2500" dirty="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教授</a:t>
                      </a:r>
                      <a:endParaRPr lang="zh-CN" altLang="en-US" sz="2500" dirty="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5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endParaRPr lang="zh-CN" altLang="en-US" sz="25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5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endParaRPr lang="zh-CN" altLang="en-US" sz="25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5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endParaRPr lang="zh-CN" altLang="en-US" sz="250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3550"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zh-CN" altLang="en-US" sz="2500" dirty="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课酬：</a:t>
                      </a:r>
                      <a:r>
                        <a:rPr lang="en-US" altLang="zh-CN" sz="25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</a:t>
                      </a:r>
                      <a:r>
                        <a:rPr lang="zh-CN" altLang="en-US" sz="2500" dirty="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元</a:t>
                      </a:r>
                      <a:r>
                        <a:rPr lang="en-US" altLang="zh-CN" sz="25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/</a:t>
                      </a:r>
                      <a:r>
                        <a:rPr lang="zh-CN" altLang="en-US" sz="2500" dirty="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节</a:t>
                      </a:r>
                      <a:endParaRPr lang="zh-CN" altLang="en-US" sz="2500" dirty="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500" dirty="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√</a:t>
                      </a:r>
                      <a:endParaRPr lang="zh-CN" altLang="en-US" sz="2500" dirty="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3550"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zh-CN" altLang="en-US" sz="2500" dirty="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课酬：</a:t>
                      </a:r>
                      <a:r>
                        <a:rPr lang="en-US" altLang="zh-CN" sz="25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</a:t>
                      </a:r>
                      <a:r>
                        <a:rPr lang="zh-CN" altLang="en-US" sz="2500" dirty="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元</a:t>
                      </a:r>
                      <a:r>
                        <a:rPr lang="en-US" altLang="zh-CN" sz="25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/</a:t>
                      </a:r>
                      <a:r>
                        <a:rPr lang="zh-CN" altLang="en-US" sz="2500" dirty="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节</a:t>
                      </a:r>
                      <a:endParaRPr lang="zh-CN" altLang="en-US" sz="2500" dirty="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500" dirty="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√</a:t>
                      </a:r>
                      <a:endParaRPr lang="zh-CN" altLang="en-US" sz="2500" dirty="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500" dirty="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√</a:t>
                      </a:r>
                      <a:endParaRPr lang="zh-CN" altLang="en-US" sz="2500" dirty="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3550"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zh-CN" altLang="en-US" sz="2500" dirty="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课酬：</a:t>
                      </a:r>
                      <a:r>
                        <a:rPr lang="en-US" altLang="zh-CN" sz="25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</a:t>
                      </a:r>
                      <a:r>
                        <a:rPr lang="zh-CN" altLang="en-US" sz="2500" dirty="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元</a:t>
                      </a:r>
                      <a:r>
                        <a:rPr lang="en-US" altLang="zh-CN" sz="25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/</a:t>
                      </a:r>
                      <a:r>
                        <a:rPr lang="zh-CN" altLang="en-US" sz="2500" dirty="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节</a:t>
                      </a:r>
                      <a:endParaRPr lang="zh-CN" altLang="en-US" sz="2500" dirty="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500" dirty="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√</a:t>
                      </a:r>
                      <a:endParaRPr lang="zh-CN" altLang="en-US" sz="2500" dirty="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500" dirty="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√</a:t>
                      </a:r>
                      <a:endParaRPr lang="zh-CN" altLang="en-US" sz="2500" dirty="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500" dirty="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√</a:t>
                      </a:r>
                      <a:endParaRPr lang="zh-CN" altLang="en-US" sz="2500" dirty="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3550"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zh-CN" altLang="en-US" sz="2500" dirty="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课酬：</a:t>
                      </a:r>
                      <a:r>
                        <a:rPr lang="en-US" altLang="zh-CN" sz="25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12</a:t>
                      </a:r>
                      <a:r>
                        <a:rPr lang="zh-CN" altLang="en-US" sz="2500" dirty="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元</a:t>
                      </a:r>
                      <a:r>
                        <a:rPr lang="en-US" altLang="zh-CN" sz="25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/</a:t>
                      </a:r>
                      <a:r>
                        <a:rPr lang="zh-CN" altLang="en-US" sz="2500" dirty="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节</a:t>
                      </a:r>
                      <a:endParaRPr lang="zh-CN" altLang="en-US" sz="2500" dirty="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500" dirty="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√</a:t>
                      </a:r>
                      <a:endParaRPr lang="zh-CN" altLang="en-US" sz="2500" dirty="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500" dirty="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√</a:t>
                      </a:r>
                      <a:endParaRPr lang="zh-CN" altLang="en-US" sz="2500" dirty="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500" dirty="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√</a:t>
                      </a:r>
                      <a:endParaRPr lang="zh-CN" altLang="en-US" sz="2500" dirty="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3550"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zh-CN" altLang="en-US" sz="2500" dirty="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课酬：</a:t>
                      </a:r>
                      <a:r>
                        <a:rPr lang="en-US" altLang="zh-CN" sz="25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13</a:t>
                      </a:r>
                      <a:r>
                        <a:rPr lang="zh-CN" altLang="en-US" sz="2500" dirty="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元</a:t>
                      </a:r>
                      <a:r>
                        <a:rPr lang="en-US" altLang="zh-CN" sz="25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/</a:t>
                      </a:r>
                      <a:r>
                        <a:rPr lang="zh-CN" altLang="en-US" sz="2500" dirty="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节</a:t>
                      </a:r>
                      <a:endParaRPr lang="zh-CN" altLang="en-US" sz="2500" dirty="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500" dirty="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√</a:t>
                      </a:r>
                      <a:endParaRPr lang="zh-CN" altLang="en-US" sz="2500" dirty="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500" dirty="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√</a:t>
                      </a:r>
                      <a:endParaRPr lang="zh-CN" altLang="en-US" sz="2500" dirty="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3550"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zh-CN" altLang="en-US" sz="2500" dirty="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课酬：</a:t>
                      </a:r>
                      <a:r>
                        <a:rPr lang="en-US" altLang="zh-CN" sz="25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14</a:t>
                      </a:r>
                      <a:r>
                        <a:rPr lang="zh-CN" altLang="en-US" sz="2500" dirty="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元</a:t>
                      </a:r>
                      <a:r>
                        <a:rPr lang="en-US" altLang="zh-CN" sz="250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/</a:t>
                      </a:r>
                      <a:r>
                        <a:rPr lang="zh-CN" altLang="en-US" sz="2500" dirty="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节</a:t>
                      </a:r>
                      <a:endParaRPr lang="zh-CN" altLang="en-US" sz="2500" dirty="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500" dirty="0">
                        <a:solidFill>
                          <a:srgbClr val="003300"/>
                        </a:solidFill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54000" lvl="0" indent="-2540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2200" b="1" u="none" kern="1200" baseline="0">
                          <a:solidFill>
                            <a:srgbClr val="9900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1pPr>
                      <a:lvl2pPr marL="609600" lvl="1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ü"/>
                        <a:defRPr sz="21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2pPr>
                      <a:lvl3pPr marL="1017905" lvl="2" indent="-2032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Ø"/>
                        <a:defRPr sz="2100" b="1" i="0" u="none" kern="1200" baseline="0">
                          <a:solidFill>
                            <a:srgbClr val="003300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3pPr>
                      <a:lvl4pPr marL="1600200" lvl="3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p"/>
                        <a:defRPr sz="20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4pPr>
                      <a:lvl5pPr marL="2057400" lvl="4" indent="-228600" algn="l" defTabSz="67818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ingdings" panose="05000000000000000000" pitchFamily="2" charset="2"/>
                        <a:buChar char="l"/>
                        <a:defRPr sz="1800" b="1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楷体_GB2312" panose="02010609030101010101" pitchFamily="49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spcBef>
                          <a:spcPct val="0"/>
                        </a:spcBef>
                        <a:buSzTx/>
                        <a:buFontTx/>
                        <a:buNone/>
                      </a:pPr>
                      <a:r>
                        <a:rPr lang="en-US" altLang="zh-CN" sz="2500" dirty="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√</a:t>
                      </a:r>
                      <a:endParaRPr lang="zh-CN" altLang="en-US" sz="2500" dirty="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550" marR="82550" marT="41275" marB="4127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134680" name="动作按钮: 第一张 3134679">
            <a:hlinkClick r:id="rId1" action="ppaction://hlinksldjump"/>
          </p:cNvPr>
          <p:cNvSpPr>
            <a:spLocks noChangeAspect="1"/>
          </p:cNvSpPr>
          <p:nvPr/>
        </p:nvSpPr>
        <p:spPr>
          <a:xfrm>
            <a:off x="8866188" y="6321425"/>
            <a:ext cx="1012825" cy="536575"/>
          </a:xfrm>
          <a:prstGeom prst="actionButtonHome">
            <a:avLst/>
          </a:prstGeom>
          <a:solidFill>
            <a:srgbClr val="FFFF00"/>
          </a:solidFill>
          <a:ln w="63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COMMONDATA" val="eyJoZGlkIjoiZDVhZDQ3ZWUyM2ZkYzQ0ZGU4M2E1ZGZiMzVjZGYxYjQifQ==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1839</Words>
  <Application>WPS 演示</Application>
  <PresentationFormat>宽屏</PresentationFormat>
  <Paragraphs>263</Paragraphs>
  <Slides>15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15</vt:i4>
      </vt:variant>
    </vt:vector>
  </HeadingPairs>
  <TitlesOfParts>
    <vt:vector size="30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Times New Roman</vt:lpstr>
      <vt:lpstr>黑体</vt:lpstr>
      <vt:lpstr>楷体_GB2312</vt:lpstr>
      <vt:lpstr>Office 主题​​</vt:lpstr>
      <vt:lpstr>Visio.Drawing.11</vt:lpstr>
      <vt:lpstr>Visio.Drawing.11</vt:lpstr>
      <vt:lpstr>Visio.Drawing.11</vt:lpstr>
      <vt:lpstr>Visio.Drawing.11</vt:lpstr>
      <vt:lpstr>　　</vt:lpstr>
      <vt:lpstr>　　</vt:lpstr>
      <vt:lpstr>　　</vt:lpstr>
      <vt:lpstr>　　</vt:lpstr>
      <vt:lpstr>　　</vt:lpstr>
      <vt:lpstr>　　</vt:lpstr>
      <vt:lpstr>　　</vt:lpstr>
      <vt:lpstr>　　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永旖（梁俊卿）</cp:lastModifiedBy>
  <cp:revision>155</cp:revision>
  <dcterms:created xsi:type="dcterms:W3CDTF">2019-06-19T02:08:00Z</dcterms:created>
  <dcterms:modified xsi:type="dcterms:W3CDTF">2023-05-04T10:34:51Z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2052-11.1.0.14036</vt:lpwstr>
  </property>
  <property fmtid="{D5CDD505-2E9C-101B-9397-08002B2CF9AE}" pid="3" name="ICV">
    <vt:lpwstr>3FBE5540C9404E0F929DD2EE4FAE9DC6_11</vt:lpwstr>
  </property>
</Properties>
</file>