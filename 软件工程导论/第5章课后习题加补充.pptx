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gs" Target="tags/tag63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6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emf"/><Relationship Id="rId1" Type="http://schemas.openxmlformats.org/officeDocument/2006/relationships/oleObject" Target="../embeddings/oleObject7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8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emf"/><Relationship Id="rId1" Type="http://schemas.openxmlformats.org/officeDocument/2006/relationships/oleObject" Target="../embeddings/oleObject9.bin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emf"/><Relationship Id="rId1" Type="http://schemas.openxmlformats.org/officeDocument/2006/relationships/oleObject" Target="../embeddings/oleObject10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emf"/><Relationship Id="rId1" Type="http://schemas.openxmlformats.org/officeDocument/2006/relationships/oleObject" Target="../embeddings/oleObject11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emf"/><Relationship Id="rId1" Type="http://schemas.openxmlformats.org/officeDocument/2006/relationships/oleObject" Target="../embeddings/oleObject12.bin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emf"/><Relationship Id="rId1" Type="http://schemas.openxmlformats.org/officeDocument/2006/relationships/oleObject" Target="../embeddings/oleObject13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emf"/><Relationship Id="rId1" Type="http://schemas.openxmlformats.org/officeDocument/2006/relationships/oleObject" Target="../embeddings/oleObject14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emf"/><Relationship Id="rId1" Type="http://schemas.openxmlformats.org/officeDocument/2006/relationships/oleObject" Target="../embeddings/oleObject15.bin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emf"/><Relationship Id="rId1" Type="http://schemas.openxmlformats.org/officeDocument/2006/relationships/oleObject" Target="../embeddings/oleObject16.bin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emf"/><Relationship Id="rId1" Type="http://schemas.openxmlformats.org/officeDocument/2006/relationships/oleObject" Target="../embeddings/oleObject17.bin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emf"/><Relationship Id="rId1" Type="http://schemas.openxmlformats.org/officeDocument/2006/relationships/oleObject" Target="../embeddings/oleObject18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63810" name="矩形 3063809"/>
          <p:cNvSpPr/>
          <p:nvPr/>
        </p:nvSpPr>
        <p:spPr>
          <a:xfrm>
            <a:off x="1714500" y="1054100"/>
            <a:ext cx="87630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>
              <a:lnSpc>
                <a:spcPct val="120000"/>
              </a:lnSpc>
              <a:spcBef>
                <a:spcPct val="10000"/>
              </a:spcBef>
              <a:buNone/>
            </a:pPr>
            <a:r>
              <a:rPr lang="zh-CN" altLang="en-US" dirty="0">
                <a:solidFill>
                  <a:srgbClr val="003300"/>
                </a:solidFill>
              </a:rPr>
              <a:t>补充</a:t>
            </a:r>
            <a:r>
              <a:rPr lang="en-US" altLang="zh-CN">
                <a:solidFill>
                  <a:srgbClr val="003300"/>
                </a:solidFill>
              </a:rPr>
              <a:t>1</a:t>
            </a:r>
            <a:r>
              <a:rPr lang="zh-CN" altLang="en-US" dirty="0"/>
              <a:t>：请为某仓库的管理设计一个</a:t>
            </a:r>
            <a:r>
              <a:rPr lang="en-US" altLang="zh-CN"/>
              <a:t>ER</a:t>
            </a:r>
            <a:r>
              <a:rPr lang="zh-CN" altLang="en-US" dirty="0"/>
              <a:t>模型。该仓库主要管理零件的订购和供应等事项。仓库向工程项目供应零件，并且根据需要向供应商订购零件。</a:t>
            </a:r>
            <a:endParaRPr lang="zh-CN" altLang="en-US" dirty="0"/>
          </a:p>
        </p:txBody>
      </p:sp>
      <p:sp>
        <p:nvSpPr>
          <p:cNvPr id="3063811" name="矩形 3063810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63813" name="矩形 3063812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66882" name="矩形 3066881"/>
          <p:cNvSpPr/>
          <p:nvPr/>
        </p:nvSpPr>
        <p:spPr>
          <a:xfrm>
            <a:off x="1714500" y="1054100"/>
            <a:ext cx="87630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/>
            <a:r>
              <a:rPr lang="zh-CN" altLang="en-US" dirty="0"/>
              <a:t>本问题中共有三类实体，分别是“零件”、“工程项目”和“供应商”。</a:t>
            </a:r>
            <a:endParaRPr lang="zh-CN" altLang="en-US" dirty="0"/>
          </a:p>
          <a:p>
            <a:pPr lvl="0"/>
            <a:r>
              <a:rPr lang="zh-CN" altLang="en-US" dirty="0">
                <a:solidFill>
                  <a:srgbClr val="003300"/>
                </a:solidFill>
              </a:rPr>
              <a:t>一种零件可供应多个工程项目，一个工程项目需要使用多种零件，因此，零件与工程项目之间的联系“供应”，是多对多（ </a:t>
            </a:r>
            <a:r>
              <a:rPr lang="en-US" altLang="zh-CN">
                <a:solidFill>
                  <a:srgbClr val="003300"/>
                </a:solidFill>
              </a:rPr>
              <a:t>M ' N </a:t>
            </a:r>
            <a:r>
              <a:rPr lang="zh-CN" altLang="en-US" dirty="0">
                <a:solidFill>
                  <a:srgbClr val="003300"/>
                </a:solidFill>
              </a:rPr>
              <a:t>）联系；类似地，零件与供应商之间的联系“订购”，也是多对多（ </a:t>
            </a:r>
            <a:r>
              <a:rPr lang="en-US" altLang="zh-CN">
                <a:solidFill>
                  <a:srgbClr val="003300"/>
                </a:solidFill>
              </a:rPr>
              <a:t>M ' N </a:t>
            </a:r>
            <a:r>
              <a:rPr lang="zh-CN" altLang="en-US" dirty="0">
                <a:solidFill>
                  <a:srgbClr val="003300"/>
                </a:solidFill>
              </a:rPr>
              <a:t>）联系。</a:t>
            </a:r>
            <a:endParaRPr lang="zh-CN" altLang="en-US" dirty="0">
              <a:solidFill>
                <a:srgbClr val="003300"/>
              </a:solidFill>
            </a:endParaRPr>
          </a:p>
          <a:p>
            <a:pPr lvl="0"/>
            <a:r>
              <a:rPr lang="zh-CN" altLang="en-US" dirty="0"/>
              <a:t>实体类型“零</a:t>
            </a:r>
            <a:r>
              <a:rPr lang="zh-CN" altLang="en-US" dirty="0"/>
              <a:t>件”的主要属性是：零件编号，零件名称，颜色，重量。实体类型“工程项目”的属性主要是：项目编号，项目名称，开工日期。实体类型“供应商”的属性主要有：供应商编号，供应商名称，地址。联系类型“供应”的属性是，向某工程项目供应的某种零件的数量。联系类型“订购”的属性是，向某供应商订购的某种零件的数量。</a:t>
            </a:r>
            <a:endParaRPr lang="zh-CN" altLang="en-US" dirty="0"/>
          </a:p>
        </p:txBody>
      </p:sp>
      <p:sp>
        <p:nvSpPr>
          <p:cNvPr id="3066883" name="矩形 3066882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66884" name="矩形 3066883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67907" name="矩形 3067906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3067909" name="图片 30679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513" y="319088"/>
            <a:ext cx="8189912" cy="6175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91459" name="矩形 3091458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91460" name="矩形 3091459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091461" name="矩形 3091460"/>
          <p:cNvSpPr/>
          <p:nvPr/>
        </p:nvSpPr>
        <p:spPr>
          <a:xfrm>
            <a:off x="1816100" y="1079500"/>
            <a:ext cx="8191500" cy="5842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marL="0" lvl="0" indent="0" defTabSz="914400">
              <a:lnSpc>
                <a:spcPct val="105000"/>
              </a:lnSpc>
              <a:buNone/>
            </a:pPr>
            <a:r>
              <a:rPr lang="zh-CN" altLang="en-US" sz="3000" dirty="0">
                <a:latin typeface="楷体_GB2312" panose="02010609030101010101" pitchFamily="49" charset="-122"/>
              </a:rPr>
              <a:t>补充</a:t>
            </a:r>
            <a:r>
              <a:rPr lang="en-US" altLang="zh-CN" sz="3000">
                <a:latin typeface="楷体_GB2312" panose="02010609030101010101" pitchFamily="49" charset="-122"/>
              </a:rPr>
              <a:t>2</a:t>
            </a:r>
            <a:r>
              <a:rPr lang="zh-CN" altLang="en-US" sz="3000" dirty="0">
                <a:latin typeface="楷体_GB2312" panose="02010609030101010101" pitchFamily="49" charset="-122"/>
              </a:rPr>
              <a:t>：</a:t>
            </a:r>
            <a:r>
              <a:rPr lang="zh-CN" altLang="en-US" sz="3000" dirty="0">
                <a:solidFill>
                  <a:schemeClr val="tx1"/>
                </a:solidFill>
                <a:latin typeface="楷体_GB2312" panose="02010609030101010101" pitchFamily="49" charset="-122"/>
              </a:rPr>
              <a:t>某</a:t>
            </a:r>
            <a:r>
              <a:rPr lang="zh-CN" altLang="en-US" sz="3000" dirty="0">
                <a:solidFill>
                  <a:schemeClr val="tx1"/>
                </a:solidFill>
                <a:latin typeface="楷体_GB2312" panose="02010609030101010101" pitchFamily="49" charset="-122"/>
              </a:rPr>
              <a:t>火车售票系统的数据流程图如下所示</a:t>
            </a:r>
            <a:endParaRPr lang="zh-CN" altLang="en-US" sz="3000" dirty="0">
              <a:solidFill>
                <a:schemeClr val="tx1"/>
              </a:solidFill>
              <a:latin typeface="楷体_GB2312" panose="02010609030101010101" pitchFamily="49" charset="-122"/>
            </a:endParaRPr>
          </a:p>
        </p:txBody>
      </p:sp>
      <p:grpSp>
        <p:nvGrpSpPr>
          <p:cNvPr id="3091462" name="组合 3091461"/>
          <p:cNvGrpSpPr/>
          <p:nvPr/>
        </p:nvGrpSpPr>
        <p:grpSpPr>
          <a:xfrm>
            <a:off x="1689100" y="3454400"/>
            <a:ext cx="900113" cy="900113"/>
            <a:chOff x="3232" y="1192"/>
            <a:chExt cx="752" cy="736"/>
          </a:xfrm>
        </p:grpSpPr>
        <p:sp>
          <p:nvSpPr>
            <p:cNvPr id="3091463" name="矩形 3091462"/>
            <p:cNvSpPr/>
            <p:nvPr/>
          </p:nvSpPr>
          <p:spPr>
            <a:xfrm>
              <a:off x="3288" y="1240"/>
              <a:ext cx="696" cy="6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zh-CN" altLang="en-US" sz="22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录入员</a:t>
              </a:r>
              <a:endPara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pSp>
          <p:nvGrpSpPr>
            <p:cNvPr id="3091464" name="组合 3091463"/>
            <p:cNvGrpSpPr/>
            <p:nvPr/>
          </p:nvGrpSpPr>
          <p:grpSpPr>
            <a:xfrm>
              <a:off x="3232" y="1192"/>
              <a:ext cx="272" cy="320"/>
              <a:chOff x="3232" y="1192"/>
              <a:chExt cx="272" cy="320"/>
            </a:xfrm>
          </p:grpSpPr>
          <p:sp>
            <p:nvSpPr>
              <p:cNvPr id="3091465" name="直接连接符 3091464"/>
              <p:cNvSpPr/>
              <p:nvPr/>
            </p:nvSpPr>
            <p:spPr>
              <a:xfrm>
                <a:off x="3240" y="1200"/>
                <a:ext cx="0" cy="31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91466" name="直接连接符 3091465"/>
              <p:cNvSpPr/>
              <p:nvPr/>
            </p:nvSpPr>
            <p:spPr>
              <a:xfrm>
                <a:off x="3232" y="1192"/>
                <a:ext cx="27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091467" name="组合 3091466"/>
          <p:cNvGrpSpPr/>
          <p:nvPr/>
        </p:nvGrpSpPr>
        <p:grpSpPr>
          <a:xfrm>
            <a:off x="3357563" y="3370263"/>
            <a:ext cx="1041400" cy="1181100"/>
            <a:chOff x="3241" y="3089"/>
            <a:chExt cx="776" cy="896"/>
          </a:xfrm>
        </p:grpSpPr>
        <p:grpSp>
          <p:nvGrpSpPr>
            <p:cNvPr id="3091468" name="组合 3091467"/>
            <p:cNvGrpSpPr/>
            <p:nvPr/>
          </p:nvGrpSpPr>
          <p:grpSpPr>
            <a:xfrm>
              <a:off x="3241" y="3089"/>
              <a:ext cx="776" cy="896"/>
              <a:chOff x="3392" y="344"/>
              <a:chExt cx="776" cy="896"/>
            </a:xfrm>
          </p:grpSpPr>
          <p:sp>
            <p:nvSpPr>
              <p:cNvPr id="3091469" name="流程图: 可选过程 3091468"/>
              <p:cNvSpPr/>
              <p:nvPr/>
            </p:nvSpPr>
            <p:spPr>
              <a:xfrm>
                <a:off x="3397" y="344"/>
                <a:ext cx="766" cy="896"/>
              </a:xfrm>
              <a:prstGeom prst="flowChartAlternateProcess">
                <a:avLst/>
              </a:prstGeom>
              <a:noFill/>
              <a:ln w="25400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91470" name="直接连接符 3091469"/>
              <p:cNvSpPr/>
              <p:nvPr/>
            </p:nvSpPr>
            <p:spPr>
              <a:xfrm flipV="1">
                <a:off x="3392" y="608"/>
                <a:ext cx="776" cy="5"/>
              </a:xfrm>
              <a:prstGeom prst="line">
                <a:avLst/>
              </a:prstGeom>
              <a:ln w="254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91471" name="文本框 3091470"/>
            <p:cNvSpPr txBox="1"/>
            <p:nvPr/>
          </p:nvSpPr>
          <p:spPr>
            <a:xfrm>
              <a:off x="3247" y="3105"/>
              <a:ext cx="768" cy="76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82550" tIns="41275" rIns="82550" bIns="41275">
              <a:spAutoFit/>
            </a:bodyPr>
            <a:p>
              <a:pPr algn="l"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      </a:t>
              </a:r>
              <a:r>
                <a:rPr lang="en-US" altLang="zh-CN" sz="200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1</a:t>
              </a:r>
              <a:endParaRPr lang="en-US" altLang="zh-CN" sz="2000">
                <a:solidFill>
                  <a:srgbClr val="00660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  <a:p>
              <a:pPr>
                <a:buSzPct val="75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接受查询</a:t>
              </a:r>
              <a:endParaRPr lang="zh-CN" altLang="en-US" sz="2000">
                <a:solidFill>
                  <a:srgbClr val="00660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sp>
        <p:nvSpPr>
          <p:cNvPr id="3091472" name="直接连接符 3091471"/>
          <p:cNvSpPr/>
          <p:nvPr/>
        </p:nvSpPr>
        <p:spPr>
          <a:xfrm flipV="1">
            <a:off x="2606675" y="3978275"/>
            <a:ext cx="749300" cy="127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091473" name="文本框 3091472"/>
          <p:cNvSpPr txBox="1"/>
          <p:nvPr/>
        </p:nvSpPr>
        <p:spPr>
          <a:xfrm>
            <a:off x="2614613" y="3162300"/>
            <a:ext cx="690880" cy="706755"/>
          </a:xfrm>
          <a:prstGeom prst="rect">
            <a:avLst/>
          </a:prstGeom>
          <a:noFill/>
          <a:ln w="57150">
            <a:noFill/>
          </a:ln>
        </p:spPr>
        <p:txBody>
          <a:bodyPr wrap="none" anchor="t" anchorCtr="0">
            <a:spAutoFit/>
          </a:bodyPr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查询</a:t>
            </a:r>
            <a:endParaRPr lang="zh-CN" altLang="en-US" sz="2000" dirty="0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信息</a:t>
            </a:r>
            <a:endParaRPr lang="zh-CN" altLang="en-US" sz="2000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3091474" name="直接连接符 3091473"/>
          <p:cNvSpPr/>
          <p:nvPr/>
        </p:nvSpPr>
        <p:spPr>
          <a:xfrm flipV="1">
            <a:off x="4398963" y="3992563"/>
            <a:ext cx="749300" cy="127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091475" name="文本框 3091474"/>
          <p:cNvSpPr txBox="1"/>
          <p:nvPr/>
        </p:nvSpPr>
        <p:spPr>
          <a:xfrm>
            <a:off x="4457700" y="3214688"/>
            <a:ext cx="690880" cy="706755"/>
          </a:xfrm>
          <a:prstGeom prst="rect">
            <a:avLst/>
          </a:prstGeom>
          <a:noFill/>
          <a:ln w="57150">
            <a:noFill/>
          </a:ln>
        </p:spPr>
        <p:txBody>
          <a:bodyPr wrap="none" anchor="t" anchorCtr="0">
            <a:spAutoFit/>
          </a:bodyPr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查询</a:t>
            </a:r>
            <a:endParaRPr lang="zh-CN" altLang="en-US" sz="2000" dirty="0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信息</a:t>
            </a:r>
            <a:endParaRPr lang="zh-CN" altLang="en-US" sz="2000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pSp>
        <p:nvGrpSpPr>
          <p:cNvPr id="3091476" name="组合 3091475"/>
          <p:cNvGrpSpPr/>
          <p:nvPr/>
        </p:nvGrpSpPr>
        <p:grpSpPr>
          <a:xfrm>
            <a:off x="5124450" y="3409950"/>
            <a:ext cx="1041400" cy="1181100"/>
            <a:chOff x="3241" y="3089"/>
            <a:chExt cx="776" cy="896"/>
          </a:xfrm>
        </p:grpSpPr>
        <p:grpSp>
          <p:nvGrpSpPr>
            <p:cNvPr id="3091477" name="组合 3091476"/>
            <p:cNvGrpSpPr/>
            <p:nvPr/>
          </p:nvGrpSpPr>
          <p:grpSpPr>
            <a:xfrm>
              <a:off x="3241" y="3089"/>
              <a:ext cx="776" cy="896"/>
              <a:chOff x="3392" y="344"/>
              <a:chExt cx="776" cy="896"/>
            </a:xfrm>
          </p:grpSpPr>
          <p:sp>
            <p:nvSpPr>
              <p:cNvPr id="3091478" name="流程图: 可选过程 3091477"/>
              <p:cNvSpPr/>
              <p:nvPr/>
            </p:nvSpPr>
            <p:spPr>
              <a:xfrm>
                <a:off x="3397" y="344"/>
                <a:ext cx="766" cy="896"/>
              </a:xfrm>
              <a:prstGeom prst="flowChartAlternateProcess">
                <a:avLst/>
              </a:prstGeom>
              <a:noFill/>
              <a:ln w="25400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91479" name="直接连接符 3091478"/>
              <p:cNvSpPr/>
              <p:nvPr/>
            </p:nvSpPr>
            <p:spPr>
              <a:xfrm flipV="1">
                <a:off x="3392" y="608"/>
                <a:ext cx="776" cy="5"/>
              </a:xfrm>
              <a:prstGeom prst="line">
                <a:avLst/>
              </a:prstGeom>
              <a:ln w="254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91480" name="文本框 3091479"/>
            <p:cNvSpPr txBox="1"/>
            <p:nvPr/>
          </p:nvSpPr>
          <p:spPr>
            <a:xfrm>
              <a:off x="3247" y="3105"/>
              <a:ext cx="768" cy="76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82550" tIns="41275" rIns="82550" bIns="41275">
              <a:spAutoFit/>
            </a:bodyPr>
            <a:p>
              <a:pPr algn="l"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      </a:t>
              </a:r>
              <a:r>
                <a:rPr lang="en-US" altLang="zh-CN" sz="200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2</a:t>
              </a:r>
              <a:endParaRPr lang="en-US" altLang="zh-CN" sz="2000">
                <a:solidFill>
                  <a:srgbClr val="00660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  <a:p>
              <a:pPr>
                <a:buSzPct val="75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分析查询</a:t>
              </a:r>
              <a:endParaRPr lang="zh-CN" altLang="en-US" sz="2000">
                <a:solidFill>
                  <a:srgbClr val="00660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3091481" name="组合 3091480"/>
          <p:cNvGrpSpPr/>
          <p:nvPr/>
        </p:nvGrpSpPr>
        <p:grpSpPr>
          <a:xfrm>
            <a:off x="6827838" y="3360738"/>
            <a:ext cx="1041400" cy="1181100"/>
            <a:chOff x="3241" y="3089"/>
            <a:chExt cx="776" cy="896"/>
          </a:xfrm>
        </p:grpSpPr>
        <p:grpSp>
          <p:nvGrpSpPr>
            <p:cNvPr id="3091482" name="组合 3091481"/>
            <p:cNvGrpSpPr/>
            <p:nvPr/>
          </p:nvGrpSpPr>
          <p:grpSpPr>
            <a:xfrm>
              <a:off x="3241" y="3089"/>
              <a:ext cx="776" cy="896"/>
              <a:chOff x="3392" y="344"/>
              <a:chExt cx="776" cy="896"/>
            </a:xfrm>
          </p:grpSpPr>
          <p:sp>
            <p:nvSpPr>
              <p:cNvPr id="3091483" name="流程图: 可选过程 3091482"/>
              <p:cNvSpPr/>
              <p:nvPr/>
            </p:nvSpPr>
            <p:spPr>
              <a:xfrm>
                <a:off x="3397" y="344"/>
                <a:ext cx="766" cy="896"/>
              </a:xfrm>
              <a:prstGeom prst="flowChartAlternateProcess">
                <a:avLst/>
              </a:prstGeom>
              <a:noFill/>
              <a:ln w="25400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91484" name="直接连接符 3091483"/>
              <p:cNvSpPr/>
              <p:nvPr/>
            </p:nvSpPr>
            <p:spPr>
              <a:xfrm flipV="1">
                <a:off x="3392" y="608"/>
                <a:ext cx="776" cy="5"/>
              </a:xfrm>
              <a:prstGeom prst="line">
                <a:avLst/>
              </a:prstGeom>
              <a:ln w="254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91485" name="文本框 3091484"/>
            <p:cNvSpPr txBox="1"/>
            <p:nvPr/>
          </p:nvSpPr>
          <p:spPr>
            <a:xfrm>
              <a:off x="3247" y="3105"/>
              <a:ext cx="768" cy="76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82550" tIns="41275" rIns="82550" bIns="41275">
              <a:spAutoFit/>
            </a:bodyPr>
            <a:p>
              <a:pPr algn="l"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      </a:t>
              </a:r>
              <a:r>
                <a:rPr lang="en-US" altLang="zh-CN" sz="200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4</a:t>
              </a:r>
              <a:endParaRPr lang="en-US" altLang="zh-CN" sz="2000">
                <a:solidFill>
                  <a:srgbClr val="00660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  <a:p>
              <a:pPr>
                <a:buSzPct val="75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按班次查询</a:t>
              </a:r>
              <a:endParaRPr lang="zh-CN" altLang="en-US" sz="2000">
                <a:solidFill>
                  <a:srgbClr val="00660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3091486" name="组合 3091485"/>
          <p:cNvGrpSpPr/>
          <p:nvPr/>
        </p:nvGrpSpPr>
        <p:grpSpPr>
          <a:xfrm>
            <a:off x="8529638" y="3360738"/>
            <a:ext cx="1041400" cy="1181100"/>
            <a:chOff x="3241" y="3089"/>
            <a:chExt cx="776" cy="896"/>
          </a:xfrm>
        </p:grpSpPr>
        <p:grpSp>
          <p:nvGrpSpPr>
            <p:cNvPr id="3091487" name="组合 3091486"/>
            <p:cNvGrpSpPr/>
            <p:nvPr/>
          </p:nvGrpSpPr>
          <p:grpSpPr>
            <a:xfrm>
              <a:off x="3241" y="3089"/>
              <a:ext cx="776" cy="896"/>
              <a:chOff x="3392" y="344"/>
              <a:chExt cx="776" cy="896"/>
            </a:xfrm>
          </p:grpSpPr>
          <p:sp>
            <p:nvSpPr>
              <p:cNvPr id="3091488" name="流程图: 可选过程 3091487"/>
              <p:cNvSpPr/>
              <p:nvPr/>
            </p:nvSpPr>
            <p:spPr>
              <a:xfrm>
                <a:off x="3397" y="344"/>
                <a:ext cx="766" cy="896"/>
              </a:xfrm>
              <a:prstGeom prst="flowChartAlternateProcess">
                <a:avLst/>
              </a:prstGeom>
              <a:noFill/>
              <a:ln w="25400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91489" name="直接连接符 3091488"/>
              <p:cNvSpPr/>
              <p:nvPr/>
            </p:nvSpPr>
            <p:spPr>
              <a:xfrm flipV="1">
                <a:off x="3392" y="608"/>
                <a:ext cx="776" cy="5"/>
              </a:xfrm>
              <a:prstGeom prst="line">
                <a:avLst/>
              </a:prstGeom>
              <a:ln w="254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91490" name="文本框 3091489"/>
            <p:cNvSpPr txBox="1"/>
            <p:nvPr/>
          </p:nvSpPr>
          <p:spPr>
            <a:xfrm>
              <a:off x="3247" y="3105"/>
              <a:ext cx="768" cy="76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82550" tIns="41275" rIns="82550" bIns="41275">
              <a:spAutoFit/>
            </a:bodyPr>
            <a:p>
              <a:pPr algn="l"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      </a:t>
              </a:r>
              <a:r>
                <a:rPr lang="en-US" altLang="zh-CN" sz="200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6</a:t>
              </a:r>
              <a:endParaRPr lang="en-US" altLang="zh-CN" sz="2000">
                <a:solidFill>
                  <a:srgbClr val="00660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  <a:p>
              <a:pPr>
                <a:buSzPct val="75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查询显示</a:t>
              </a:r>
              <a:endParaRPr lang="zh-CN" altLang="en-US" sz="2000">
                <a:solidFill>
                  <a:srgbClr val="00660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3091491" name="组合 3091490"/>
          <p:cNvGrpSpPr/>
          <p:nvPr/>
        </p:nvGrpSpPr>
        <p:grpSpPr>
          <a:xfrm>
            <a:off x="6880225" y="1762125"/>
            <a:ext cx="1041400" cy="1181100"/>
            <a:chOff x="3241" y="3089"/>
            <a:chExt cx="776" cy="896"/>
          </a:xfrm>
        </p:grpSpPr>
        <p:grpSp>
          <p:nvGrpSpPr>
            <p:cNvPr id="3091492" name="组合 3091491"/>
            <p:cNvGrpSpPr/>
            <p:nvPr/>
          </p:nvGrpSpPr>
          <p:grpSpPr>
            <a:xfrm>
              <a:off x="3241" y="3089"/>
              <a:ext cx="776" cy="896"/>
              <a:chOff x="3392" y="344"/>
              <a:chExt cx="776" cy="896"/>
            </a:xfrm>
          </p:grpSpPr>
          <p:sp>
            <p:nvSpPr>
              <p:cNvPr id="3091493" name="流程图: 可选过程 3091492"/>
              <p:cNvSpPr/>
              <p:nvPr/>
            </p:nvSpPr>
            <p:spPr>
              <a:xfrm>
                <a:off x="3397" y="344"/>
                <a:ext cx="766" cy="896"/>
              </a:xfrm>
              <a:prstGeom prst="flowChartAlternateProcess">
                <a:avLst/>
              </a:prstGeom>
              <a:noFill/>
              <a:ln w="25400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91494" name="直接连接符 3091493"/>
              <p:cNvSpPr/>
              <p:nvPr/>
            </p:nvSpPr>
            <p:spPr>
              <a:xfrm flipV="1">
                <a:off x="3392" y="608"/>
                <a:ext cx="776" cy="5"/>
              </a:xfrm>
              <a:prstGeom prst="line">
                <a:avLst/>
              </a:prstGeom>
              <a:ln w="254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91495" name="文本框 3091494"/>
            <p:cNvSpPr txBox="1"/>
            <p:nvPr/>
          </p:nvSpPr>
          <p:spPr>
            <a:xfrm>
              <a:off x="3247" y="3105"/>
              <a:ext cx="768" cy="76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82550" tIns="41275" rIns="82550" bIns="41275">
              <a:spAutoFit/>
            </a:bodyPr>
            <a:p>
              <a:pPr algn="l"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      </a:t>
              </a:r>
              <a:r>
                <a:rPr lang="en-US" altLang="zh-CN" sz="200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3</a:t>
              </a:r>
              <a:endParaRPr lang="en-US" altLang="zh-CN" sz="2000">
                <a:solidFill>
                  <a:srgbClr val="00660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  <a:p>
              <a:pPr>
                <a:buSzPct val="75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按日期查询</a:t>
              </a:r>
              <a:endParaRPr lang="zh-CN" altLang="en-US" sz="2000">
                <a:solidFill>
                  <a:srgbClr val="00660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3091496" name="组合 3091495"/>
          <p:cNvGrpSpPr/>
          <p:nvPr/>
        </p:nvGrpSpPr>
        <p:grpSpPr>
          <a:xfrm>
            <a:off x="6854825" y="4962525"/>
            <a:ext cx="1041400" cy="1181100"/>
            <a:chOff x="3241" y="3089"/>
            <a:chExt cx="776" cy="896"/>
          </a:xfrm>
        </p:grpSpPr>
        <p:grpSp>
          <p:nvGrpSpPr>
            <p:cNvPr id="3091497" name="组合 3091496"/>
            <p:cNvGrpSpPr/>
            <p:nvPr/>
          </p:nvGrpSpPr>
          <p:grpSpPr>
            <a:xfrm>
              <a:off x="3241" y="3089"/>
              <a:ext cx="776" cy="896"/>
              <a:chOff x="3392" y="344"/>
              <a:chExt cx="776" cy="896"/>
            </a:xfrm>
          </p:grpSpPr>
          <p:sp>
            <p:nvSpPr>
              <p:cNvPr id="3091498" name="流程图: 可选过程 3091497"/>
              <p:cNvSpPr/>
              <p:nvPr/>
            </p:nvSpPr>
            <p:spPr>
              <a:xfrm>
                <a:off x="3397" y="344"/>
                <a:ext cx="766" cy="896"/>
              </a:xfrm>
              <a:prstGeom prst="flowChartAlternateProcess">
                <a:avLst/>
              </a:prstGeom>
              <a:noFill/>
              <a:ln w="25400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91499" name="直接连接符 3091498"/>
              <p:cNvSpPr/>
              <p:nvPr/>
            </p:nvSpPr>
            <p:spPr>
              <a:xfrm flipV="1">
                <a:off x="3392" y="608"/>
                <a:ext cx="776" cy="5"/>
              </a:xfrm>
              <a:prstGeom prst="line">
                <a:avLst/>
              </a:prstGeom>
              <a:ln w="254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91500" name="文本框 3091499"/>
            <p:cNvSpPr txBox="1"/>
            <p:nvPr/>
          </p:nvSpPr>
          <p:spPr>
            <a:xfrm>
              <a:off x="3247" y="3105"/>
              <a:ext cx="768" cy="763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82550" tIns="41275" rIns="82550" bIns="41275">
              <a:spAutoFit/>
            </a:bodyPr>
            <a:p>
              <a:pPr algn="l"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      </a:t>
              </a:r>
              <a:r>
                <a:rPr lang="en-US" altLang="zh-CN" sz="200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5</a:t>
              </a:r>
              <a:endParaRPr lang="en-US" altLang="zh-CN" sz="2000">
                <a:solidFill>
                  <a:srgbClr val="00660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  <a:p>
              <a:pPr>
                <a:buSzPct val="75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rgbClr val="0066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按线路查询</a:t>
              </a:r>
              <a:endParaRPr lang="zh-CN" altLang="en-US" sz="2000">
                <a:solidFill>
                  <a:srgbClr val="006600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3091501" name="组合 3091500"/>
          <p:cNvGrpSpPr/>
          <p:nvPr/>
        </p:nvGrpSpPr>
        <p:grpSpPr>
          <a:xfrm>
            <a:off x="9577388" y="5322888"/>
            <a:ext cx="900112" cy="900112"/>
            <a:chOff x="3232" y="1192"/>
            <a:chExt cx="752" cy="736"/>
          </a:xfrm>
        </p:grpSpPr>
        <p:sp>
          <p:nvSpPr>
            <p:cNvPr id="3091502" name="矩形 3091501"/>
            <p:cNvSpPr/>
            <p:nvPr/>
          </p:nvSpPr>
          <p:spPr>
            <a:xfrm>
              <a:off x="3288" y="1240"/>
              <a:ext cx="696" cy="68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zh-CN" altLang="en-US" sz="22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旅客</a:t>
              </a:r>
              <a:endPara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grpSp>
          <p:nvGrpSpPr>
            <p:cNvPr id="3091503" name="组合 3091502"/>
            <p:cNvGrpSpPr/>
            <p:nvPr/>
          </p:nvGrpSpPr>
          <p:grpSpPr>
            <a:xfrm>
              <a:off x="3232" y="1192"/>
              <a:ext cx="272" cy="320"/>
              <a:chOff x="3232" y="1192"/>
              <a:chExt cx="272" cy="320"/>
            </a:xfrm>
          </p:grpSpPr>
          <p:sp>
            <p:nvSpPr>
              <p:cNvPr id="3091504" name="直接连接符 3091503"/>
              <p:cNvSpPr/>
              <p:nvPr/>
            </p:nvSpPr>
            <p:spPr>
              <a:xfrm>
                <a:off x="3240" y="1200"/>
                <a:ext cx="0" cy="31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91505" name="直接连接符 3091504"/>
              <p:cNvSpPr/>
              <p:nvPr/>
            </p:nvSpPr>
            <p:spPr>
              <a:xfrm>
                <a:off x="3232" y="1192"/>
                <a:ext cx="27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091506" name="直接连接符 3091505"/>
          <p:cNvSpPr/>
          <p:nvPr/>
        </p:nvSpPr>
        <p:spPr>
          <a:xfrm flipV="1">
            <a:off x="6115050" y="4006850"/>
            <a:ext cx="749300" cy="127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091507" name="文本框 3091506"/>
          <p:cNvSpPr txBox="1"/>
          <p:nvPr/>
        </p:nvSpPr>
        <p:spPr>
          <a:xfrm>
            <a:off x="6135688" y="3533775"/>
            <a:ext cx="690880" cy="398780"/>
          </a:xfrm>
          <a:prstGeom prst="rect">
            <a:avLst/>
          </a:prstGeom>
          <a:noFill/>
          <a:ln w="57150">
            <a:noFill/>
          </a:ln>
        </p:spPr>
        <p:txBody>
          <a:bodyPr wrap="none" anchor="t" anchorCtr="0">
            <a:spAutoFit/>
          </a:bodyPr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班次</a:t>
            </a:r>
            <a:endParaRPr lang="zh-CN" altLang="en-US" sz="2000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3091508" name="直接连接符 3091507"/>
          <p:cNvSpPr/>
          <p:nvPr/>
        </p:nvSpPr>
        <p:spPr>
          <a:xfrm>
            <a:off x="5613400" y="4584700"/>
            <a:ext cx="0" cy="11176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1509" name="直接连接符 3091508"/>
          <p:cNvSpPr/>
          <p:nvPr/>
        </p:nvSpPr>
        <p:spPr>
          <a:xfrm flipV="1">
            <a:off x="5583238" y="5634038"/>
            <a:ext cx="1308100" cy="127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091510" name="直接连接符 3091509"/>
          <p:cNvSpPr/>
          <p:nvPr/>
        </p:nvSpPr>
        <p:spPr>
          <a:xfrm>
            <a:off x="5627688" y="2300288"/>
            <a:ext cx="0" cy="11176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1511" name="直接连接符 3091510"/>
          <p:cNvSpPr/>
          <p:nvPr/>
        </p:nvSpPr>
        <p:spPr>
          <a:xfrm flipV="1">
            <a:off x="5610225" y="2320925"/>
            <a:ext cx="1308100" cy="127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091512" name="直接连接符 3091511"/>
          <p:cNvSpPr/>
          <p:nvPr/>
        </p:nvSpPr>
        <p:spPr>
          <a:xfrm flipV="1">
            <a:off x="7843838" y="3957638"/>
            <a:ext cx="749300" cy="127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091513" name="直接连接符 3091512"/>
          <p:cNvSpPr/>
          <p:nvPr/>
        </p:nvSpPr>
        <p:spPr>
          <a:xfrm flipV="1">
            <a:off x="7923213" y="2297113"/>
            <a:ext cx="1092200" cy="127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3091514" name="直接连接符 3091513"/>
          <p:cNvSpPr/>
          <p:nvPr/>
        </p:nvSpPr>
        <p:spPr>
          <a:xfrm flipH="1">
            <a:off x="8997950" y="2330450"/>
            <a:ext cx="0" cy="9906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091515" name="直接连接符 3091514"/>
          <p:cNvSpPr/>
          <p:nvPr/>
        </p:nvSpPr>
        <p:spPr>
          <a:xfrm flipH="1">
            <a:off x="9024938" y="4541838"/>
            <a:ext cx="0" cy="10414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triangle" w="lg" len="lg"/>
            <a:tailEnd type="none" w="lg" len="lg"/>
          </a:ln>
        </p:spPr>
      </p:sp>
      <p:sp>
        <p:nvSpPr>
          <p:cNvPr id="3091516" name="直接连接符 3091515"/>
          <p:cNvSpPr/>
          <p:nvPr/>
        </p:nvSpPr>
        <p:spPr>
          <a:xfrm flipV="1">
            <a:off x="7861300" y="5600700"/>
            <a:ext cx="1181100" cy="127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3091517" name="直接连接符 3091516"/>
          <p:cNvSpPr/>
          <p:nvPr/>
        </p:nvSpPr>
        <p:spPr>
          <a:xfrm>
            <a:off x="10066338" y="3957638"/>
            <a:ext cx="12700" cy="14224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091518" name="直接连接符 3091517"/>
          <p:cNvSpPr/>
          <p:nvPr/>
        </p:nvSpPr>
        <p:spPr>
          <a:xfrm flipV="1">
            <a:off x="9555163" y="3954463"/>
            <a:ext cx="546100" cy="127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3091519" name="文本框 3091518"/>
          <p:cNvSpPr txBox="1"/>
          <p:nvPr/>
        </p:nvSpPr>
        <p:spPr>
          <a:xfrm>
            <a:off x="5705475" y="1909763"/>
            <a:ext cx="690880" cy="398780"/>
          </a:xfrm>
          <a:prstGeom prst="rect">
            <a:avLst/>
          </a:prstGeom>
          <a:noFill/>
          <a:ln w="57150">
            <a:noFill/>
          </a:ln>
        </p:spPr>
        <p:txBody>
          <a:bodyPr wrap="none" anchor="t" anchorCtr="0">
            <a:spAutoFit/>
          </a:bodyPr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日期</a:t>
            </a:r>
            <a:endParaRPr lang="zh-CN" altLang="en-US" sz="2000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3091520" name="文本框 3091519"/>
          <p:cNvSpPr txBox="1"/>
          <p:nvPr/>
        </p:nvSpPr>
        <p:spPr>
          <a:xfrm>
            <a:off x="5781675" y="5160963"/>
            <a:ext cx="690880" cy="398780"/>
          </a:xfrm>
          <a:prstGeom prst="rect">
            <a:avLst/>
          </a:prstGeom>
          <a:noFill/>
          <a:ln w="57150">
            <a:noFill/>
          </a:ln>
        </p:spPr>
        <p:txBody>
          <a:bodyPr wrap="none" anchor="t" anchorCtr="0">
            <a:spAutoFit/>
          </a:bodyPr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线路</a:t>
            </a:r>
            <a:endParaRPr lang="zh-CN" altLang="en-US" sz="2000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3091521" name="文本框 3091520"/>
          <p:cNvSpPr txBox="1"/>
          <p:nvPr/>
        </p:nvSpPr>
        <p:spPr>
          <a:xfrm>
            <a:off x="7978775" y="1873250"/>
            <a:ext cx="1198880" cy="398780"/>
          </a:xfrm>
          <a:prstGeom prst="rect">
            <a:avLst/>
          </a:prstGeom>
          <a:noFill/>
          <a:ln w="57150">
            <a:noFill/>
          </a:ln>
        </p:spPr>
        <p:txBody>
          <a:bodyPr wrap="none" anchor="t" anchorCtr="0">
            <a:spAutoFit/>
          </a:bodyPr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查询结果</a:t>
            </a:r>
            <a:endParaRPr lang="zh-CN" altLang="en-US" sz="2000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3091522" name="文本框 3091521"/>
          <p:cNvSpPr txBox="1"/>
          <p:nvPr/>
        </p:nvSpPr>
        <p:spPr>
          <a:xfrm>
            <a:off x="7829550" y="3221038"/>
            <a:ext cx="690880" cy="706755"/>
          </a:xfrm>
          <a:prstGeom prst="rect">
            <a:avLst/>
          </a:prstGeom>
          <a:noFill/>
          <a:ln w="57150">
            <a:noFill/>
          </a:ln>
        </p:spPr>
        <p:txBody>
          <a:bodyPr wrap="none" anchor="t" anchorCtr="0">
            <a:spAutoFit/>
          </a:bodyPr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查询</a:t>
            </a:r>
            <a:endParaRPr lang="zh-CN" altLang="en-US" sz="2000" dirty="0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结果</a:t>
            </a:r>
            <a:endParaRPr lang="zh-CN" altLang="en-US" sz="2000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3091523" name="文本框 3091522"/>
          <p:cNvSpPr txBox="1"/>
          <p:nvPr/>
        </p:nvSpPr>
        <p:spPr>
          <a:xfrm>
            <a:off x="7866063" y="5100638"/>
            <a:ext cx="1198880" cy="398780"/>
          </a:xfrm>
          <a:prstGeom prst="rect">
            <a:avLst/>
          </a:prstGeom>
          <a:noFill/>
          <a:ln w="57150">
            <a:noFill/>
          </a:ln>
        </p:spPr>
        <p:txBody>
          <a:bodyPr wrap="none" anchor="t" anchorCtr="0">
            <a:spAutoFit/>
          </a:bodyPr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查询结果</a:t>
            </a:r>
            <a:endParaRPr lang="zh-CN" altLang="en-US" sz="2000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3091524" name="文本框 3091523"/>
          <p:cNvSpPr txBox="1"/>
          <p:nvPr/>
        </p:nvSpPr>
        <p:spPr>
          <a:xfrm>
            <a:off x="9621838" y="3197225"/>
            <a:ext cx="690880" cy="706755"/>
          </a:xfrm>
          <a:prstGeom prst="rect">
            <a:avLst/>
          </a:prstGeom>
          <a:noFill/>
          <a:ln w="57150">
            <a:noFill/>
          </a:ln>
        </p:spPr>
        <p:txBody>
          <a:bodyPr wrap="none" anchor="t" anchorCtr="0">
            <a:spAutoFit/>
          </a:bodyPr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查询</a:t>
            </a:r>
            <a:endParaRPr lang="zh-CN" altLang="en-US" sz="2000" dirty="0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结果</a:t>
            </a:r>
            <a:endParaRPr lang="zh-CN" altLang="en-US" sz="2000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92483" name="矩形 3092482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 useBgFill="1">
        <p:nvSpPr>
          <p:cNvPr id="3092548" name="矩形 3092547"/>
          <p:cNvSpPr/>
          <p:nvPr/>
        </p:nvSpPr>
        <p:spPr>
          <a:xfrm>
            <a:off x="2020888" y="2935288"/>
            <a:ext cx="1587500" cy="609600"/>
          </a:xfrm>
          <a:prstGeom prst="rect">
            <a:avLst/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接受查询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3092549" name="直接连接符 3092548"/>
          <p:cNvSpPr/>
          <p:nvPr/>
        </p:nvSpPr>
        <p:spPr>
          <a:xfrm flipH="1">
            <a:off x="2971800" y="2006600"/>
            <a:ext cx="2641600" cy="9271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sp useBgFill="1">
        <p:nvSpPr>
          <p:cNvPr id="3092550" name="矩形 3092549"/>
          <p:cNvSpPr/>
          <p:nvPr/>
        </p:nvSpPr>
        <p:spPr>
          <a:xfrm>
            <a:off x="1755775" y="4956175"/>
            <a:ext cx="1473200" cy="609600"/>
          </a:xfrm>
          <a:prstGeom prst="rect">
            <a:avLst/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输入信息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3092551" name="直接连接符 3092550"/>
          <p:cNvSpPr/>
          <p:nvPr/>
        </p:nvSpPr>
        <p:spPr>
          <a:xfrm flipH="1">
            <a:off x="2452688" y="3557588"/>
            <a:ext cx="508000" cy="14351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grpSp>
        <p:nvGrpSpPr>
          <p:cNvPr id="3092552" name="组合 3092551"/>
          <p:cNvGrpSpPr/>
          <p:nvPr/>
        </p:nvGrpSpPr>
        <p:grpSpPr>
          <a:xfrm>
            <a:off x="3352800" y="2054225"/>
            <a:ext cx="784225" cy="436563"/>
            <a:chOff x="1592" y="1374"/>
            <a:chExt cx="494" cy="275"/>
          </a:xfrm>
        </p:grpSpPr>
        <p:sp>
          <p:nvSpPr>
            <p:cNvPr id="3092553" name="直接连接符 3092552"/>
            <p:cNvSpPr/>
            <p:nvPr/>
          </p:nvSpPr>
          <p:spPr>
            <a:xfrm flipV="1">
              <a:off x="1665" y="1374"/>
              <a:ext cx="421" cy="21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sm" len="sm"/>
              <a:tailEnd type="triangle" w="lg" len="lg"/>
            </a:ln>
          </p:spPr>
        </p:sp>
        <p:sp>
          <p:nvSpPr>
            <p:cNvPr id="3092554" name="椭圆 3092553"/>
            <p:cNvSpPr/>
            <p:nvPr/>
          </p:nvSpPr>
          <p:spPr>
            <a:xfrm>
              <a:off x="1592" y="1558"/>
              <a:ext cx="91" cy="91"/>
            </a:xfrm>
            <a:prstGeom prst="ellipse">
              <a:avLst/>
            </a:prstGeom>
            <a:noFill/>
            <a:ln w="254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092555" name="直接连接符 3092554"/>
          <p:cNvSpPr/>
          <p:nvPr/>
        </p:nvSpPr>
        <p:spPr>
          <a:xfrm flipV="1">
            <a:off x="2354263" y="3873500"/>
            <a:ext cx="236537" cy="63976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sm" len="sm"/>
            <a:tailEnd type="triangle" w="lg" len="lg"/>
          </a:ln>
        </p:spPr>
      </p:sp>
      <p:sp>
        <p:nvSpPr>
          <p:cNvPr id="3092556" name="椭圆 3092555"/>
          <p:cNvSpPr/>
          <p:nvPr/>
        </p:nvSpPr>
        <p:spPr>
          <a:xfrm>
            <a:off x="2263775" y="4483100"/>
            <a:ext cx="144463" cy="144463"/>
          </a:xfrm>
          <a:prstGeom prst="ellipse">
            <a:avLst/>
          </a:prstGeom>
          <a:noFill/>
          <a:ln w="254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092557" name="文本框 3092556"/>
          <p:cNvSpPr txBox="1"/>
          <p:nvPr/>
        </p:nvSpPr>
        <p:spPr>
          <a:xfrm>
            <a:off x="2498725" y="1811338"/>
            <a:ext cx="10972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>
              <a:spcBef>
                <a:spcPct val="40000"/>
              </a:spcBef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查询信息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 useBgFill="1">
        <p:nvSpPr>
          <p:cNvPr id="3092558" name="矩形 3092557"/>
          <p:cNvSpPr/>
          <p:nvPr/>
        </p:nvSpPr>
        <p:spPr>
          <a:xfrm>
            <a:off x="4622800" y="1397000"/>
            <a:ext cx="2108200" cy="609600"/>
          </a:xfrm>
          <a:prstGeom prst="rect">
            <a:avLst/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r>
              <a:rPr lang="zh-CN" altLang="en-US" sz="2200" dirty="0">
                <a:solidFill>
                  <a:srgbClr val="FF33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列车查询主模块</a:t>
            </a:r>
            <a:endParaRPr lang="zh-CN" altLang="en-US" sz="2200" dirty="0">
              <a:solidFill>
                <a:srgbClr val="FF33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 useBgFill="1">
        <p:nvSpPr>
          <p:cNvPr id="3092559" name="矩形 3092558"/>
          <p:cNvSpPr/>
          <p:nvPr/>
        </p:nvSpPr>
        <p:spPr>
          <a:xfrm>
            <a:off x="7510463" y="2874963"/>
            <a:ext cx="1917700" cy="609600"/>
          </a:xfrm>
          <a:prstGeom prst="rect">
            <a:avLst/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查询显示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3092560" name="直接连接符 3092559"/>
          <p:cNvSpPr/>
          <p:nvPr/>
        </p:nvSpPr>
        <p:spPr>
          <a:xfrm>
            <a:off x="5651500" y="1993900"/>
            <a:ext cx="2870200" cy="889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092561" name="矩形 3092560"/>
          <p:cNvSpPr/>
          <p:nvPr/>
        </p:nvSpPr>
        <p:spPr>
          <a:xfrm>
            <a:off x="4510088" y="2909888"/>
            <a:ext cx="2108200" cy="609600"/>
          </a:xfrm>
          <a:prstGeom prst="rect">
            <a:avLst/>
          </a:prstGeom>
          <a:solidFill>
            <a:srgbClr val="FFFF99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r>
              <a:rPr lang="zh-CN" altLang="en-US" sz="2200" dirty="0">
                <a:solidFill>
                  <a:srgbClr val="FF33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分析查询</a:t>
            </a:r>
            <a:endParaRPr lang="zh-CN" altLang="en-US" sz="2200" dirty="0">
              <a:solidFill>
                <a:srgbClr val="FF33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 useBgFill="1">
        <p:nvSpPr>
          <p:cNvPr id="3092562" name="矩形 3092561"/>
          <p:cNvSpPr/>
          <p:nvPr/>
        </p:nvSpPr>
        <p:spPr>
          <a:xfrm>
            <a:off x="4056063" y="4487863"/>
            <a:ext cx="1917700" cy="609600"/>
          </a:xfrm>
          <a:prstGeom prst="rect">
            <a:avLst/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按日期查询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 useBgFill="1">
        <p:nvSpPr>
          <p:cNvPr id="3092563" name="矩形 3092562"/>
          <p:cNvSpPr/>
          <p:nvPr/>
        </p:nvSpPr>
        <p:spPr>
          <a:xfrm>
            <a:off x="6153150" y="4489450"/>
            <a:ext cx="1917700" cy="609600"/>
          </a:xfrm>
          <a:prstGeom prst="rect">
            <a:avLst/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按班次查询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 useBgFill="1">
        <p:nvSpPr>
          <p:cNvPr id="3092564" name="矩形 3092563"/>
          <p:cNvSpPr/>
          <p:nvPr/>
        </p:nvSpPr>
        <p:spPr>
          <a:xfrm>
            <a:off x="8262938" y="4452938"/>
            <a:ext cx="1917700" cy="609600"/>
          </a:xfrm>
          <a:prstGeom prst="rect">
            <a:avLst/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按线路查询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3092565" name="菱形 3092564"/>
          <p:cNvSpPr/>
          <p:nvPr/>
        </p:nvSpPr>
        <p:spPr>
          <a:xfrm>
            <a:off x="5449888" y="3367088"/>
            <a:ext cx="736600" cy="368300"/>
          </a:xfrm>
          <a:prstGeom prst="diamond">
            <a:avLst/>
          </a:prstGeom>
          <a:solidFill>
            <a:srgbClr val="99CC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92566" name="直接连接符 3092565"/>
          <p:cNvSpPr/>
          <p:nvPr/>
        </p:nvSpPr>
        <p:spPr>
          <a:xfrm flipH="1">
            <a:off x="4967288" y="3684588"/>
            <a:ext cx="723900" cy="812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092567" name="直接连接符 3092566"/>
          <p:cNvSpPr/>
          <p:nvPr/>
        </p:nvSpPr>
        <p:spPr>
          <a:xfrm>
            <a:off x="5818188" y="3735388"/>
            <a:ext cx="1206500" cy="7493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092568" name="直接连接符 3092567"/>
          <p:cNvSpPr/>
          <p:nvPr/>
        </p:nvSpPr>
        <p:spPr>
          <a:xfrm>
            <a:off x="5957888" y="3646488"/>
            <a:ext cx="3162300" cy="787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092569" name="直接连接符 3092568"/>
          <p:cNvSpPr/>
          <p:nvPr/>
        </p:nvSpPr>
        <p:spPr>
          <a:xfrm>
            <a:off x="5878513" y="4006850"/>
            <a:ext cx="528637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sm" len="sm"/>
            <a:tailEnd type="triangle" w="lg" len="lg"/>
          </a:ln>
        </p:spPr>
      </p:sp>
      <p:sp>
        <p:nvSpPr>
          <p:cNvPr id="3092570" name="椭圆 3092569"/>
          <p:cNvSpPr/>
          <p:nvPr/>
        </p:nvSpPr>
        <p:spPr>
          <a:xfrm>
            <a:off x="5765800" y="3886200"/>
            <a:ext cx="144463" cy="144463"/>
          </a:xfrm>
          <a:prstGeom prst="ellipse">
            <a:avLst/>
          </a:prstGeom>
          <a:noFill/>
          <a:ln w="254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092571" name="直接连接符 3092570"/>
          <p:cNvSpPr/>
          <p:nvPr/>
        </p:nvSpPr>
        <p:spPr>
          <a:xfrm>
            <a:off x="6896100" y="3716338"/>
            <a:ext cx="706438" cy="203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sm" len="sm"/>
            <a:tailEnd type="triangle" w="lg" len="lg"/>
          </a:ln>
        </p:spPr>
      </p:sp>
      <p:sp>
        <p:nvSpPr>
          <p:cNvPr id="3092572" name="椭圆 3092571"/>
          <p:cNvSpPr/>
          <p:nvPr/>
        </p:nvSpPr>
        <p:spPr>
          <a:xfrm>
            <a:off x="6783388" y="3595688"/>
            <a:ext cx="144462" cy="144462"/>
          </a:xfrm>
          <a:prstGeom prst="ellipse">
            <a:avLst/>
          </a:prstGeom>
          <a:noFill/>
          <a:ln w="254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092573" name="直接连接符 3092572"/>
          <p:cNvSpPr/>
          <p:nvPr/>
        </p:nvSpPr>
        <p:spPr>
          <a:xfrm flipH="1">
            <a:off x="4833938" y="3881438"/>
            <a:ext cx="461962" cy="469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sm" len="sm"/>
            <a:tailEnd type="triangle" w="lg" len="lg"/>
          </a:ln>
        </p:spPr>
      </p:sp>
      <p:sp>
        <p:nvSpPr>
          <p:cNvPr id="3092574" name="椭圆 3092573"/>
          <p:cNvSpPr/>
          <p:nvPr/>
        </p:nvSpPr>
        <p:spPr>
          <a:xfrm>
            <a:off x="5259388" y="3773488"/>
            <a:ext cx="144462" cy="144462"/>
          </a:xfrm>
          <a:prstGeom prst="ellipse">
            <a:avLst/>
          </a:prstGeom>
          <a:noFill/>
          <a:ln w="254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092575" name="直接连接符 3092574"/>
          <p:cNvSpPr/>
          <p:nvPr/>
        </p:nvSpPr>
        <p:spPr>
          <a:xfrm flipH="1">
            <a:off x="5564188" y="2033588"/>
            <a:ext cx="50800" cy="914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3092576" name="文本框 3092575"/>
          <p:cNvSpPr txBox="1"/>
          <p:nvPr/>
        </p:nvSpPr>
        <p:spPr>
          <a:xfrm>
            <a:off x="1712913" y="3808413"/>
            <a:ext cx="690880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>
              <a:spcBef>
                <a:spcPct val="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查询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l" eaLnBrk="1" hangingPunct="1">
              <a:spcBef>
                <a:spcPct val="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信息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3092577" name="直接连接符 3092576"/>
          <p:cNvSpPr/>
          <p:nvPr/>
        </p:nvSpPr>
        <p:spPr>
          <a:xfrm flipH="1">
            <a:off x="5305425" y="2333625"/>
            <a:ext cx="80963" cy="482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sm" len="sm"/>
            <a:tailEnd type="triangle" w="lg" len="lg"/>
          </a:ln>
        </p:spPr>
      </p:sp>
      <p:sp>
        <p:nvSpPr>
          <p:cNvPr id="3092578" name="椭圆 3092577"/>
          <p:cNvSpPr/>
          <p:nvPr/>
        </p:nvSpPr>
        <p:spPr>
          <a:xfrm>
            <a:off x="5349875" y="2225675"/>
            <a:ext cx="144463" cy="144463"/>
          </a:xfrm>
          <a:prstGeom prst="ellipse">
            <a:avLst/>
          </a:prstGeom>
          <a:noFill/>
          <a:ln w="254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092579" name="文本框 3092578"/>
          <p:cNvSpPr txBox="1"/>
          <p:nvPr/>
        </p:nvSpPr>
        <p:spPr>
          <a:xfrm>
            <a:off x="4138613" y="2386013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>
              <a:spcBef>
                <a:spcPct val="400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查询信息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3092580" name="直接连接符 3092579"/>
          <p:cNvSpPr/>
          <p:nvPr/>
        </p:nvSpPr>
        <p:spPr>
          <a:xfrm flipV="1">
            <a:off x="5819775" y="2144713"/>
            <a:ext cx="20638" cy="55086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sm" len="sm"/>
            <a:tailEnd type="triangle" w="lg" len="lg"/>
          </a:ln>
        </p:spPr>
      </p:sp>
      <p:sp>
        <p:nvSpPr>
          <p:cNvPr id="3092581" name="椭圆 3092580"/>
          <p:cNvSpPr/>
          <p:nvPr/>
        </p:nvSpPr>
        <p:spPr>
          <a:xfrm>
            <a:off x="5741988" y="2652713"/>
            <a:ext cx="144462" cy="144462"/>
          </a:xfrm>
          <a:prstGeom prst="ellipse">
            <a:avLst/>
          </a:prstGeom>
          <a:noFill/>
          <a:ln w="254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092582" name="文本框 3092581"/>
          <p:cNvSpPr txBox="1"/>
          <p:nvPr/>
        </p:nvSpPr>
        <p:spPr>
          <a:xfrm>
            <a:off x="5867400" y="2311400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>
              <a:spcBef>
                <a:spcPct val="400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查询结果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3092583" name="直接连接符 3092582"/>
          <p:cNvSpPr/>
          <p:nvPr/>
        </p:nvSpPr>
        <p:spPr>
          <a:xfrm>
            <a:off x="7050088" y="2193925"/>
            <a:ext cx="706437" cy="203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sm" len="sm"/>
            <a:tailEnd type="triangle" w="lg" len="lg"/>
          </a:ln>
        </p:spPr>
      </p:sp>
      <p:sp>
        <p:nvSpPr>
          <p:cNvPr id="3092584" name="椭圆 3092583"/>
          <p:cNvSpPr/>
          <p:nvPr/>
        </p:nvSpPr>
        <p:spPr>
          <a:xfrm>
            <a:off x="6937375" y="2073275"/>
            <a:ext cx="144463" cy="144463"/>
          </a:xfrm>
          <a:prstGeom prst="ellipse">
            <a:avLst/>
          </a:prstGeom>
          <a:noFill/>
          <a:ln w="25400" cap="sq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092585" name="文本框 3092584"/>
          <p:cNvSpPr txBox="1"/>
          <p:nvPr/>
        </p:nvSpPr>
        <p:spPr>
          <a:xfrm>
            <a:off x="7253288" y="1804988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>
              <a:spcBef>
                <a:spcPct val="400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查询结果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3092586" name="文本框 3092585"/>
          <p:cNvSpPr txBox="1"/>
          <p:nvPr/>
        </p:nvSpPr>
        <p:spPr>
          <a:xfrm>
            <a:off x="4394200" y="3797300"/>
            <a:ext cx="690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>
              <a:spcBef>
                <a:spcPct val="400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日期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3092587" name="文本框 3092586"/>
          <p:cNvSpPr txBox="1"/>
          <p:nvPr/>
        </p:nvSpPr>
        <p:spPr>
          <a:xfrm>
            <a:off x="5461000" y="4000500"/>
            <a:ext cx="690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>
              <a:spcBef>
                <a:spcPct val="400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班次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3092588" name="文本框 3092587"/>
          <p:cNvSpPr txBox="1"/>
          <p:nvPr/>
        </p:nvSpPr>
        <p:spPr>
          <a:xfrm>
            <a:off x="6986588" y="3392488"/>
            <a:ext cx="690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>
              <a:spcBef>
                <a:spcPct val="400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线路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43332" name="矩形 3043331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43333" name="矩形 3043332"/>
          <p:cNvSpPr/>
          <p:nvPr/>
        </p:nvSpPr>
        <p:spPr>
          <a:xfrm>
            <a:off x="1778000" y="774700"/>
            <a:ext cx="87122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dirty="0">
                <a:solidFill>
                  <a:srgbClr val="0000FF"/>
                </a:solidFill>
              </a:rPr>
              <a:t>补充</a:t>
            </a:r>
            <a:r>
              <a:rPr lang="en-US" altLang="zh-CN">
                <a:solidFill>
                  <a:srgbClr val="0000FF"/>
                </a:solidFill>
              </a:rPr>
              <a:t>3</a:t>
            </a:r>
            <a:r>
              <a:rPr lang="zh-CN" altLang="en-US" dirty="0">
                <a:solidFill>
                  <a:srgbClr val="0000FF"/>
                </a:solidFill>
              </a:rPr>
              <a:t>、已知某定货系统的需求分析</a:t>
            </a:r>
            <a:r>
              <a:rPr lang="en-US" altLang="zh-CN">
                <a:solidFill>
                  <a:srgbClr val="0000FF"/>
                </a:solidFill>
              </a:rPr>
              <a:t>DFD</a:t>
            </a:r>
            <a:r>
              <a:rPr lang="zh-CN" altLang="en-US" dirty="0">
                <a:solidFill>
                  <a:srgbClr val="0000FF"/>
                </a:solidFill>
              </a:rPr>
              <a:t>图如下，请按</a:t>
            </a:r>
            <a:r>
              <a:rPr lang="en-US" altLang="zh-CN">
                <a:solidFill>
                  <a:srgbClr val="0000FF"/>
                </a:solidFill>
              </a:rPr>
              <a:t>SD</a:t>
            </a:r>
            <a:r>
              <a:rPr lang="zh-CN" altLang="en-US" dirty="0">
                <a:solidFill>
                  <a:srgbClr val="0000FF"/>
                </a:solidFill>
              </a:rPr>
              <a:t>方法的设计步骤画出结构图。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pSp>
        <p:nvGrpSpPr>
          <p:cNvPr id="3043334" name="组合 3043333"/>
          <p:cNvGrpSpPr/>
          <p:nvPr/>
        </p:nvGrpSpPr>
        <p:grpSpPr>
          <a:xfrm>
            <a:off x="1524000" y="1612900"/>
            <a:ext cx="9144000" cy="5054797"/>
            <a:chOff x="192" y="912"/>
            <a:chExt cx="5280" cy="2833"/>
          </a:xfrm>
        </p:grpSpPr>
        <p:sp>
          <p:nvSpPr>
            <p:cNvPr id="3043335" name="矩形 3043334"/>
            <p:cNvSpPr/>
            <p:nvPr/>
          </p:nvSpPr>
          <p:spPr>
            <a:xfrm>
              <a:off x="576" y="960"/>
              <a:ext cx="240" cy="62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顾</a:t>
              </a:r>
              <a:endParaRPr lang="zh-CN" altLang="en-US" sz="2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客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043336" name="组合 3043335"/>
            <p:cNvGrpSpPr/>
            <p:nvPr/>
          </p:nvGrpSpPr>
          <p:grpSpPr>
            <a:xfrm>
              <a:off x="1392" y="912"/>
              <a:ext cx="432" cy="1152"/>
              <a:chOff x="1392" y="912"/>
              <a:chExt cx="576" cy="1392"/>
            </a:xfrm>
          </p:grpSpPr>
          <p:sp>
            <p:nvSpPr>
              <p:cNvPr id="3043337" name="矩形 3043336"/>
              <p:cNvSpPr/>
              <p:nvPr/>
            </p:nvSpPr>
            <p:spPr>
              <a:xfrm>
                <a:off x="1392" y="912"/>
                <a:ext cx="576" cy="139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编辑</a:t>
                </a:r>
                <a:endPara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定货</a:t>
                </a:r>
                <a:endPara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单</a:t>
                </a:r>
                <a:endParaRPr lang="zh-CN" altLang="en-US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43338" name="直接连接符 3043337"/>
              <p:cNvSpPr/>
              <p:nvPr/>
            </p:nvSpPr>
            <p:spPr>
              <a:xfrm>
                <a:off x="1392" y="100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43339" name="组合 3043338"/>
            <p:cNvGrpSpPr/>
            <p:nvPr/>
          </p:nvGrpSpPr>
          <p:grpSpPr>
            <a:xfrm>
              <a:off x="2400" y="912"/>
              <a:ext cx="384" cy="1152"/>
              <a:chOff x="1392" y="912"/>
              <a:chExt cx="576" cy="1392"/>
            </a:xfrm>
          </p:grpSpPr>
          <p:sp>
            <p:nvSpPr>
              <p:cNvPr id="3043340" name="矩形 3043339"/>
              <p:cNvSpPr/>
              <p:nvPr/>
            </p:nvSpPr>
            <p:spPr>
              <a:xfrm>
                <a:off x="1392" y="912"/>
                <a:ext cx="576" cy="139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确定</a:t>
                </a:r>
                <a:endPara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顾客</a:t>
                </a:r>
                <a:endPara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订货</a:t>
                </a:r>
                <a:endParaRPr lang="zh-CN" altLang="en-US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43341" name="直接连接符 3043340"/>
              <p:cNvSpPr/>
              <p:nvPr/>
            </p:nvSpPr>
            <p:spPr>
              <a:xfrm>
                <a:off x="1392" y="100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43342" name="组合 3043341"/>
            <p:cNvGrpSpPr/>
            <p:nvPr/>
          </p:nvGrpSpPr>
          <p:grpSpPr>
            <a:xfrm>
              <a:off x="3312" y="912"/>
              <a:ext cx="480" cy="1152"/>
              <a:chOff x="1392" y="912"/>
              <a:chExt cx="576" cy="1392"/>
            </a:xfrm>
          </p:grpSpPr>
          <p:sp>
            <p:nvSpPr>
              <p:cNvPr id="3043343" name="矩形 3043342"/>
              <p:cNvSpPr/>
              <p:nvPr/>
            </p:nvSpPr>
            <p:spPr>
              <a:xfrm>
                <a:off x="1392" y="912"/>
                <a:ext cx="576" cy="139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产生</a:t>
                </a:r>
                <a:endPara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暂存</a:t>
                </a:r>
                <a:endPara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订货单</a:t>
                </a:r>
                <a:endParaRPr lang="zh-CN" altLang="en-US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43344" name="直接连接符 3043343"/>
              <p:cNvSpPr/>
              <p:nvPr/>
            </p:nvSpPr>
            <p:spPr>
              <a:xfrm>
                <a:off x="1392" y="100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43345" name="组合 3043344"/>
            <p:cNvGrpSpPr/>
            <p:nvPr/>
          </p:nvGrpSpPr>
          <p:grpSpPr>
            <a:xfrm>
              <a:off x="3024" y="2160"/>
              <a:ext cx="432" cy="1248"/>
              <a:chOff x="1392" y="912"/>
              <a:chExt cx="576" cy="1392"/>
            </a:xfrm>
          </p:grpSpPr>
          <p:sp>
            <p:nvSpPr>
              <p:cNvPr id="3043346" name="矩形 3043345"/>
              <p:cNvSpPr/>
              <p:nvPr/>
            </p:nvSpPr>
            <p:spPr>
              <a:xfrm>
                <a:off x="1392" y="912"/>
                <a:ext cx="576" cy="139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开发</a:t>
                </a:r>
                <a:endPara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货单</a:t>
                </a:r>
                <a:endPara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并改</a:t>
                </a:r>
                <a:endPara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库存</a:t>
                </a:r>
                <a:endParaRPr lang="zh-CN" altLang="en-US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43347" name="直接连接符 3043346"/>
              <p:cNvSpPr/>
              <p:nvPr/>
            </p:nvSpPr>
            <p:spPr>
              <a:xfrm>
                <a:off x="1392" y="100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43348" name="组合 3043347"/>
            <p:cNvGrpSpPr/>
            <p:nvPr/>
          </p:nvGrpSpPr>
          <p:grpSpPr>
            <a:xfrm>
              <a:off x="192" y="1872"/>
              <a:ext cx="816" cy="288"/>
              <a:chOff x="768" y="2688"/>
              <a:chExt cx="1056" cy="288"/>
            </a:xfrm>
          </p:grpSpPr>
          <p:sp>
            <p:nvSpPr>
              <p:cNvPr id="3043349" name="矩形 3043348"/>
              <p:cNvSpPr/>
              <p:nvPr/>
            </p:nvSpPr>
            <p:spPr>
              <a:xfrm>
                <a:off x="768" y="2688"/>
                <a:ext cx="96" cy="28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43350" name="直接连接符 3043349"/>
              <p:cNvSpPr/>
              <p:nvPr/>
            </p:nvSpPr>
            <p:spPr>
              <a:xfrm>
                <a:off x="864" y="2688"/>
                <a:ext cx="9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43351" name="直接连接符 3043350"/>
              <p:cNvSpPr/>
              <p:nvPr/>
            </p:nvSpPr>
            <p:spPr>
              <a:xfrm>
                <a:off x="864" y="2976"/>
                <a:ext cx="9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43352" name="组合 3043351"/>
            <p:cNvGrpSpPr/>
            <p:nvPr/>
          </p:nvGrpSpPr>
          <p:grpSpPr>
            <a:xfrm>
              <a:off x="288" y="2400"/>
              <a:ext cx="912" cy="288"/>
              <a:chOff x="768" y="2688"/>
              <a:chExt cx="1056" cy="288"/>
            </a:xfrm>
          </p:grpSpPr>
          <p:sp>
            <p:nvSpPr>
              <p:cNvPr id="3043353" name="矩形 3043352"/>
              <p:cNvSpPr/>
              <p:nvPr/>
            </p:nvSpPr>
            <p:spPr>
              <a:xfrm>
                <a:off x="768" y="2688"/>
                <a:ext cx="96" cy="28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43354" name="直接连接符 3043353"/>
              <p:cNvSpPr/>
              <p:nvPr/>
            </p:nvSpPr>
            <p:spPr>
              <a:xfrm>
                <a:off x="864" y="2688"/>
                <a:ext cx="9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43355" name="直接连接符 3043354"/>
              <p:cNvSpPr/>
              <p:nvPr/>
            </p:nvSpPr>
            <p:spPr>
              <a:xfrm>
                <a:off x="864" y="2976"/>
                <a:ext cx="9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43356" name="组合 3043355"/>
            <p:cNvGrpSpPr/>
            <p:nvPr/>
          </p:nvGrpSpPr>
          <p:grpSpPr>
            <a:xfrm>
              <a:off x="3744" y="3024"/>
              <a:ext cx="1056" cy="288"/>
              <a:chOff x="768" y="2688"/>
              <a:chExt cx="1056" cy="288"/>
            </a:xfrm>
          </p:grpSpPr>
          <p:sp>
            <p:nvSpPr>
              <p:cNvPr id="3043357" name="矩形 3043356"/>
              <p:cNvSpPr/>
              <p:nvPr/>
            </p:nvSpPr>
            <p:spPr>
              <a:xfrm>
                <a:off x="768" y="2688"/>
                <a:ext cx="96" cy="28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43358" name="直接连接符 3043357"/>
              <p:cNvSpPr/>
              <p:nvPr/>
            </p:nvSpPr>
            <p:spPr>
              <a:xfrm>
                <a:off x="864" y="2688"/>
                <a:ext cx="9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43359" name="直接连接符 3043358"/>
              <p:cNvSpPr/>
              <p:nvPr/>
            </p:nvSpPr>
            <p:spPr>
              <a:xfrm>
                <a:off x="864" y="2976"/>
                <a:ext cx="9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43360" name="组合 3043359"/>
            <p:cNvGrpSpPr/>
            <p:nvPr/>
          </p:nvGrpSpPr>
          <p:grpSpPr>
            <a:xfrm>
              <a:off x="4080" y="1440"/>
              <a:ext cx="1056" cy="288"/>
              <a:chOff x="768" y="2688"/>
              <a:chExt cx="1056" cy="288"/>
            </a:xfrm>
          </p:grpSpPr>
          <p:sp>
            <p:nvSpPr>
              <p:cNvPr id="3043361" name="矩形 3043360"/>
              <p:cNvSpPr/>
              <p:nvPr/>
            </p:nvSpPr>
            <p:spPr>
              <a:xfrm>
                <a:off x="768" y="2688"/>
                <a:ext cx="96" cy="28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43362" name="直接连接符 3043361"/>
              <p:cNvSpPr/>
              <p:nvPr/>
            </p:nvSpPr>
            <p:spPr>
              <a:xfrm>
                <a:off x="864" y="2688"/>
                <a:ext cx="9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43363" name="直接连接符 3043362"/>
              <p:cNvSpPr/>
              <p:nvPr/>
            </p:nvSpPr>
            <p:spPr>
              <a:xfrm>
                <a:off x="864" y="2976"/>
                <a:ext cx="9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43364" name="组合 3043363"/>
            <p:cNvGrpSpPr/>
            <p:nvPr/>
          </p:nvGrpSpPr>
          <p:grpSpPr>
            <a:xfrm>
              <a:off x="3744" y="2592"/>
              <a:ext cx="1056" cy="288"/>
              <a:chOff x="768" y="2688"/>
              <a:chExt cx="1056" cy="288"/>
            </a:xfrm>
          </p:grpSpPr>
          <p:sp>
            <p:nvSpPr>
              <p:cNvPr id="3043365" name="矩形 3043364"/>
              <p:cNvSpPr/>
              <p:nvPr/>
            </p:nvSpPr>
            <p:spPr>
              <a:xfrm>
                <a:off x="768" y="2688"/>
                <a:ext cx="96" cy="28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43366" name="直接连接符 3043365"/>
              <p:cNvSpPr/>
              <p:nvPr/>
            </p:nvSpPr>
            <p:spPr>
              <a:xfrm>
                <a:off x="864" y="2688"/>
                <a:ext cx="9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43367" name="直接连接符 3043366"/>
              <p:cNvSpPr/>
              <p:nvPr/>
            </p:nvSpPr>
            <p:spPr>
              <a:xfrm>
                <a:off x="864" y="2976"/>
                <a:ext cx="9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43368" name="组合 3043367"/>
            <p:cNvGrpSpPr/>
            <p:nvPr/>
          </p:nvGrpSpPr>
          <p:grpSpPr>
            <a:xfrm>
              <a:off x="3744" y="3456"/>
              <a:ext cx="1056" cy="288"/>
              <a:chOff x="768" y="2688"/>
              <a:chExt cx="1056" cy="288"/>
            </a:xfrm>
          </p:grpSpPr>
          <p:sp>
            <p:nvSpPr>
              <p:cNvPr id="3043369" name="矩形 3043368"/>
              <p:cNvSpPr/>
              <p:nvPr/>
            </p:nvSpPr>
            <p:spPr>
              <a:xfrm>
                <a:off x="768" y="2688"/>
                <a:ext cx="96" cy="28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43370" name="直接连接符 3043369"/>
              <p:cNvSpPr/>
              <p:nvPr/>
            </p:nvSpPr>
            <p:spPr>
              <a:xfrm>
                <a:off x="864" y="2688"/>
                <a:ext cx="9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43371" name="直接连接符 3043370"/>
              <p:cNvSpPr/>
              <p:nvPr/>
            </p:nvSpPr>
            <p:spPr>
              <a:xfrm>
                <a:off x="864" y="2976"/>
                <a:ext cx="9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43372" name="组合 3043371"/>
            <p:cNvGrpSpPr/>
            <p:nvPr/>
          </p:nvGrpSpPr>
          <p:grpSpPr>
            <a:xfrm>
              <a:off x="1680" y="2400"/>
              <a:ext cx="1056" cy="288"/>
              <a:chOff x="768" y="2688"/>
              <a:chExt cx="1056" cy="288"/>
            </a:xfrm>
          </p:grpSpPr>
          <p:sp>
            <p:nvSpPr>
              <p:cNvPr id="3043373" name="矩形 3043372"/>
              <p:cNvSpPr/>
              <p:nvPr/>
            </p:nvSpPr>
            <p:spPr>
              <a:xfrm>
                <a:off x="768" y="2688"/>
                <a:ext cx="96" cy="28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43374" name="直接连接符 3043373"/>
              <p:cNvSpPr/>
              <p:nvPr/>
            </p:nvSpPr>
            <p:spPr>
              <a:xfrm>
                <a:off x="864" y="2688"/>
                <a:ext cx="9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43375" name="直接连接符 3043374"/>
              <p:cNvSpPr/>
              <p:nvPr/>
            </p:nvSpPr>
            <p:spPr>
              <a:xfrm>
                <a:off x="864" y="2976"/>
                <a:ext cx="96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43376" name="矩形 3043375"/>
            <p:cNvSpPr/>
            <p:nvPr/>
          </p:nvSpPr>
          <p:spPr>
            <a:xfrm>
              <a:off x="1296" y="3168"/>
              <a:ext cx="624" cy="19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业务员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3377" name="矩形 3043376"/>
            <p:cNvSpPr/>
            <p:nvPr/>
          </p:nvSpPr>
          <p:spPr>
            <a:xfrm>
              <a:off x="4176" y="2208"/>
              <a:ext cx="480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顾客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3378" name="文本框 3043377"/>
            <p:cNvSpPr txBox="1"/>
            <p:nvPr/>
          </p:nvSpPr>
          <p:spPr>
            <a:xfrm>
              <a:off x="273" y="1890"/>
              <a:ext cx="768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D1</a:t>
              </a: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配件</a:t>
              </a:r>
              <a:endParaRPr lang="zh-CN" altLang="en-US" sz="2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3379" name="文本框 3043378"/>
            <p:cNvSpPr txBox="1"/>
            <p:nvPr/>
          </p:nvSpPr>
          <p:spPr>
            <a:xfrm>
              <a:off x="384" y="2448"/>
              <a:ext cx="1056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D2</a:t>
              </a: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顾客文件</a:t>
              </a:r>
              <a:endParaRPr lang="zh-CN" altLang="en-US" sz="2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3380" name="文本框 3043379"/>
            <p:cNvSpPr txBox="1"/>
            <p:nvPr/>
          </p:nvSpPr>
          <p:spPr>
            <a:xfrm>
              <a:off x="1776" y="2448"/>
              <a:ext cx="1152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D3</a:t>
              </a: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配件库存</a:t>
              </a:r>
              <a:endParaRPr lang="zh-CN" altLang="en-US" sz="2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3381" name="文本框 3043380"/>
            <p:cNvSpPr txBox="1"/>
            <p:nvPr/>
          </p:nvSpPr>
          <p:spPr>
            <a:xfrm>
              <a:off x="3888" y="2640"/>
              <a:ext cx="1344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D4</a:t>
              </a: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暂存订货单</a:t>
              </a:r>
              <a:endParaRPr lang="zh-CN" altLang="en-US" sz="2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3382" name="文本框 3043381"/>
            <p:cNvSpPr txBox="1"/>
            <p:nvPr/>
          </p:nvSpPr>
          <p:spPr>
            <a:xfrm>
              <a:off x="4176" y="1488"/>
              <a:ext cx="1296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D4</a:t>
              </a: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暂存订货单</a:t>
              </a:r>
              <a:endParaRPr lang="zh-CN" altLang="en-US" sz="2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3383" name="文本框 3043382"/>
            <p:cNvSpPr txBox="1"/>
            <p:nvPr/>
          </p:nvSpPr>
          <p:spPr>
            <a:xfrm>
              <a:off x="3888" y="3072"/>
              <a:ext cx="1104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D5</a:t>
              </a: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销售历史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3384" name="文本框 3043383"/>
            <p:cNvSpPr txBox="1"/>
            <p:nvPr/>
          </p:nvSpPr>
          <p:spPr>
            <a:xfrm>
              <a:off x="3840" y="3504"/>
              <a:ext cx="1536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D6</a:t>
              </a: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应收款明细帐</a:t>
              </a:r>
              <a:endParaRPr lang="zh-CN" altLang="en-US" sz="2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3385" name="直接连接符 3043384"/>
            <p:cNvSpPr/>
            <p:nvPr/>
          </p:nvSpPr>
          <p:spPr>
            <a:xfrm>
              <a:off x="816" y="1200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3386" name="直接连接符 3043385"/>
            <p:cNvSpPr/>
            <p:nvPr/>
          </p:nvSpPr>
          <p:spPr>
            <a:xfrm flipV="1">
              <a:off x="480" y="1584"/>
              <a:ext cx="912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3387" name="直接连接符 3043386"/>
            <p:cNvSpPr/>
            <p:nvPr/>
          </p:nvSpPr>
          <p:spPr>
            <a:xfrm flipV="1">
              <a:off x="672" y="1872"/>
              <a:ext cx="72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3388" name="直接连接符 3043387"/>
            <p:cNvSpPr/>
            <p:nvPr/>
          </p:nvSpPr>
          <p:spPr>
            <a:xfrm>
              <a:off x="1584" y="2064"/>
              <a:ext cx="0" cy="110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3389" name="直接连接符 3043388"/>
            <p:cNvSpPr/>
            <p:nvPr/>
          </p:nvSpPr>
          <p:spPr>
            <a:xfrm flipV="1">
              <a:off x="2160" y="2064"/>
              <a:ext cx="384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3390" name="直接连接符 3043389"/>
            <p:cNvSpPr/>
            <p:nvPr/>
          </p:nvSpPr>
          <p:spPr>
            <a:xfrm>
              <a:off x="1824" y="1440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3391" name="直接连接符 3043390"/>
            <p:cNvSpPr/>
            <p:nvPr/>
          </p:nvSpPr>
          <p:spPr>
            <a:xfrm>
              <a:off x="2784" y="1440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3392" name="直接连接符 3043391"/>
            <p:cNvSpPr/>
            <p:nvPr/>
          </p:nvSpPr>
          <p:spPr>
            <a:xfrm>
              <a:off x="3792" y="1584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3393" name="直接连接符 3043392"/>
            <p:cNvSpPr/>
            <p:nvPr/>
          </p:nvSpPr>
          <p:spPr>
            <a:xfrm>
              <a:off x="2784" y="2016"/>
              <a:ext cx="24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3394" name="直接连接符 3043393"/>
            <p:cNvSpPr/>
            <p:nvPr/>
          </p:nvSpPr>
          <p:spPr>
            <a:xfrm>
              <a:off x="3456" y="2352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3395" name="直接连接符 3043394"/>
            <p:cNvSpPr/>
            <p:nvPr/>
          </p:nvSpPr>
          <p:spPr>
            <a:xfrm>
              <a:off x="3456" y="2688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3396" name="直接连接符 3043395"/>
            <p:cNvSpPr/>
            <p:nvPr/>
          </p:nvSpPr>
          <p:spPr>
            <a:xfrm>
              <a:off x="3456" y="3168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3397" name="直接连接符 3043396"/>
            <p:cNvSpPr/>
            <p:nvPr/>
          </p:nvSpPr>
          <p:spPr>
            <a:xfrm>
              <a:off x="3456" y="3360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3398" name="文本框 3043397"/>
            <p:cNvSpPr txBox="1"/>
            <p:nvPr/>
          </p:nvSpPr>
          <p:spPr>
            <a:xfrm>
              <a:off x="3504" y="2160"/>
              <a:ext cx="672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发货单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3399" name="文本框 3043398"/>
            <p:cNvSpPr txBox="1"/>
            <p:nvPr/>
          </p:nvSpPr>
          <p:spPr>
            <a:xfrm>
              <a:off x="2496" y="2160"/>
              <a:ext cx="576" cy="4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可发货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3400" name="文本框 3043399"/>
            <p:cNvSpPr txBox="1"/>
            <p:nvPr/>
          </p:nvSpPr>
          <p:spPr>
            <a:xfrm>
              <a:off x="1296" y="2880"/>
              <a:ext cx="1248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</a:t>
              </a: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合格订货单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3401" name="文本框 3043400"/>
            <p:cNvSpPr txBox="1"/>
            <p:nvPr/>
          </p:nvSpPr>
          <p:spPr>
            <a:xfrm>
              <a:off x="828" y="960"/>
              <a:ext cx="804" cy="2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订货单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3402" name="文本框 3043401"/>
            <p:cNvSpPr txBox="1"/>
            <p:nvPr/>
          </p:nvSpPr>
          <p:spPr>
            <a:xfrm>
              <a:off x="1842" y="1107"/>
              <a:ext cx="558" cy="6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合格订货单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3403" name="文本框 3043402"/>
            <p:cNvSpPr txBox="1"/>
            <p:nvPr/>
          </p:nvSpPr>
          <p:spPr>
            <a:xfrm>
              <a:off x="2772" y="1074"/>
              <a:ext cx="576" cy="6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</a:t>
              </a: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满足订货单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43404" name="矩形 3043403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93506" name="矩形 3093505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093507" name="对象 3093506"/>
          <p:cNvGraphicFramePr/>
          <p:nvPr/>
        </p:nvGraphicFramePr>
        <p:xfrm>
          <a:off x="1524000" y="0"/>
          <a:ext cx="9144000" cy="683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7823200" imgH="5847715" progId="Visio.Drawing.11">
                  <p:embed/>
                </p:oleObj>
              </mc:Choice>
              <mc:Fallback>
                <p:oleObj name="" r:id="rId1" imgW="7823200" imgH="5847715" progId="Visio.Drawing.11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000" y="0"/>
                        <a:ext cx="9144000" cy="6831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44355" name="矩形 3044354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44427" name="矩形 3044426"/>
          <p:cNvSpPr/>
          <p:nvPr/>
        </p:nvSpPr>
        <p:spPr>
          <a:xfrm>
            <a:off x="1765300" y="1092200"/>
            <a:ext cx="87122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>
              <a:spcBef>
                <a:spcPct val="50000"/>
              </a:spcBef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仿宋_GB2312" pitchFamily="49" charset="-122"/>
              </a:rPr>
              <a:t>补充</a:t>
            </a:r>
            <a:r>
              <a:rPr lang="en-US" altLang="zh-CN" sz="2400">
                <a:solidFill>
                  <a:srgbClr val="0000FF"/>
                </a:solidFill>
                <a:latin typeface="仿宋_GB2312" pitchFamily="49" charset="-122"/>
              </a:rPr>
              <a:t>4</a:t>
            </a:r>
            <a:r>
              <a:rPr lang="zh-CN" altLang="en-US" sz="2400" dirty="0">
                <a:solidFill>
                  <a:srgbClr val="0000FF"/>
                </a:solidFill>
                <a:latin typeface="仿宋_GB2312" pitchFamily="49" charset="-122"/>
              </a:rPr>
              <a:t>、已知某系统的需求分析给出的系统数据流程图如下，画出结构图</a:t>
            </a:r>
            <a:endParaRPr lang="zh-CN" altLang="en-US" sz="2400" dirty="0">
              <a:solidFill>
                <a:srgbClr val="0000FF"/>
              </a:solidFill>
              <a:latin typeface="仿宋_GB2312" pitchFamily="49" charset="-122"/>
            </a:endParaRPr>
          </a:p>
        </p:txBody>
      </p:sp>
      <p:grpSp>
        <p:nvGrpSpPr>
          <p:cNvPr id="3044428" name="组合 3044427"/>
          <p:cNvGrpSpPr/>
          <p:nvPr/>
        </p:nvGrpSpPr>
        <p:grpSpPr>
          <a:xfrm>
            <a:off x="1676400" y="3200400"/>
            <a:ext cx="8915400" cy="2570163"/>
            <a:chOff x="144" y="3024"/>
            <a:chExt cx="4848" cy="1056"/>
          </a:xfrm>
        </p:grpSpPr>
        <p:sp>
          <p:nvSpPr>
            <p:cNvPr id="3044429" name="矩形 3044428"/>
            <p:cNvSpPr/>
            <p:nvPr/>
          </p:nvSpPr>
          <p:spPr>
            <a:xfrm>
              <a:off x="432" y="3456"/>
              <a:ext cx="240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30" name="矩形 3044429"/>
            <p:cNvSpPr/>
            <p:nvPr/>
          </p:nvSpPr>
          <p:spPr>
            <a:xfrm>
              <a:off x="1584" y="3840"/>
              <a:ext cx="240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C3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31" name="矩形 3044430"/>
            <p:cNvSpPr/>
            <p:nvPr/>
          </p:nvSpPr>
          <p:spPr>
            <a:xfrm>
              <a:off x="1584" y="3456"/>
              <a:ext cx="240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C2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32" name="矩形 3044431"/>
            <p:cNvSpPr/>
            <p:nvPr/>
          </p:nvSpPr>
          <p:spPr>
            <a:xfrm>
              <a:off x="1584" y="3072"/>
              <a:ext cx="240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C1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33" name="矩形 3044432"/>
            <p:cNvSpPr/>
            <p:nvPr/>
          </p:nvSpPr>
          <p:spPr>
            <a:xfrm>
              <a:off x="2928" y="3168"/>
              <a:ext cx="240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34" name="矩形 3044433"/>
            <p:cNvSpPr/>
            <p:nvPr/>
          </p:nvSpPr>
          <p:spPr>
            <a:xfrm>
              <a:off x="3408" y="3312"/>
              <a:ext cx="240" cy="62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35" name="矩形 3044434"/>
            <p:cNvSpPr/>
            <p:nvPr/>
          </p:nvSpPr>
          <p:spPr>
            <a:xfrm>
              <a:off x="3936" y="3504"/>
              <a:ext cx="240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36" name="矩形 3044435"/>
            <p:cNvSpPr/>
            <p:nvPr/>
          </p:nvSpPr>
          <p:spPr>
            <a:xfrm>
              <a:off x="4416" y="3504"/>
              <a:ext cx="240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37" name="矩形 3044436"/>
            <p:cNvSpPr/>
            <p:nvPr/>
          </p:nvSpPr>
          <p:spPr>
            <a:xfrm>
              <a:off x="2976" y="3792"/>
              <a:ext cx="240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38" name="矩形 3044437"/>
            <p:cNvSpPr/>
            <p:nvPr/>
          </p:nvSpPr>
          <p:spPr>
            <a:xfrm>
              <a:off x="2496" y="3264"/>
              <a:ext cx="240" cy="67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39" name="矩形 3044438"/>
            <p:cNvSpPr/>
            <p:nvPr/>
          </p:nvSpPr>
          <p:spPr>
            <a:xfrm>
              <a:off x="1008" y="3168"/>
              <a:ext cx="240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40" name="矩形 3044439"/>
            <p:cNvSpPr/>
            <p:nvPr/>
          </p:nvSpPr>
          <p:spPr>
            <a:xfrm>
              <a:off x="2064" y="3120"/>
              <a:ext cx="240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41" name="直接连接符 3044440"/>
            <p:cNvSpPr/>
            <p:nvPr/>
          </p:nvSpPr>
          <p:spPr>
            <a:xfrm>
              <a:off x="672" y="3600"/>
              <a:ext cx="336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4442" name="直接连接符 3044441"/>
            <p:cNvSpPr/>
            <p:nvPr/>
          </p:nvSpPr>
          <p:spPr>
            <a:xfrm>
              <a:off x="1248" y="3600"/>
              <a:ext cx="336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4443" name="直接连接符 3044442"/>
            <p:cNvSpPr/>
            <p:nvPr/>
          </p:nvSpPr>
          <p:spPr>
            <a:xfrm flipV="1">
              <a:off x="1248" y="3168"/>
              <a:ext cx="336" cy="19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4444" name="直接连接符 3044443"/>
            <p:cNvSpPr/>
            <p:nvPr/>
          </p:nvSpPr>
          <p:spPr>
            <a:xfrm>
              <a:off x="1248" y="3840"/>
              <a:ext cx="336" cy="144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4445" name="直接连接符 3044444"/>
            <p:cNvSpPr/>
            <p:nvPr/>
          </p:nvSpPr>
          <p:spPr>
            <a:xfrm>
              <a:off x="1824" y="3168"/>
              <a:ext cx="240" cy="24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4446" name="直接连接符 3044445"/>
            <p:cNvSpPr/>
            <p:nvPr/>
          </p:nvSpPr>
          <p:spPr>
            <a:xfrm>
              <a:off x="1824" y="3600"/>
              <a:ext cx="240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4447" name="直接连接符 3044446"/>
            <p:cNvSpPr/>
            <p:nvPr/>
          </p:nvSpPr>
          <p:spPr>
            <a:xfrm flipV="1">
              <a:off x="1824" y="3744"/>
              <a:ext cx="240" cy="24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4448" name="直接连接符 3044447"/>
            <p:cNvSpPr/>
            <p:nvPr/>
          </p:nvSpPr>
          <p:spPr>
            <a:xfrm>
              <a:off x="2304" y="3552"/>
              <a:ext cx="192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4449" name="直接连接符 3044448"/>
            <p:cNvSpPr/>
            <p:nvPr/>
          </p:nvSpPr>
          <p:spPr>
            <a:xfrm flipV="1">
              <a:off x="2736" y="3312"/>
              <a:ext cx="192" cy="19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4450" name="直接连接符 3044449"/>
            <p:cNvSpPr/>
            <p:nvPr/>
          </p:nvSpPr>
          <p:spPr>
            <a:xfrm>
              <a:off x="2736" y="3600"/>
              <a:ext cx="240" cy="288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4451" name="直接连接符 3044450"/>
            <p:cNvSpPr/>
            <p:nvPr/>
          </p:nvSpPr>
          <p:spPr>
            <a:xfrm flipV="1">
              <a:off x="3072" y="3408"/>
              <a:ext cx="0" cy="384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4452" name="直接连接符 3044451"/>
            <p:cNvSpPr/>
            <p:nvPr/>
          </p:nvSpPr>
          <p:spPr>
            <a:xfrm>
              <a:off x="3168" y="3312"/>
              <a:ext cx="240" cy="288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4453" name="直接连接符 3044452"/>
            <p:cNvSpPr/>
            <p:nvPr/>
          </p:nvSpPr>
          <p:spPr>
            <a:xfrm flipV="1">
              <a:off x="3216" y="3648"/>
              <a:ext cx="192" cy="288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4454" name="直接连接符 3044453"/>
            <p:cNvSpPr/>
            <p:nvPr/>
          </p:nvSpPr>
          <p:spPr>
            <a:xfrm>
              <a:off x="3648" y="3600"/>
              <a:ext cx="288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4455" name="直接连接符 3044454"/>
            <p:cNvSpPr/>
            <p:nvPr/>
          </p:nvSpPr>
          <p:spPr>
            <a:xfrm>
              <a:off x="4176" y="3600"/>
              <a:ext cx="240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4456" name="直接连接符 3044455"/>
            <p:cNvSpPr/>
            <p:nvPr/>
          </p:nvSpPr>
          <p:spPr>
            <a:xfrm>
              <a:off x="4656" y="3600"/>
              <a:ext cx="336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4457" name="文本框 3044456"/>
            <p:cNvSpPr txBox="1"/>
            <p:nvPr/>
          </p:nvSpPr>
          <p:spPr>
            <a:xfrm>
              <a:off x="144" y="3264"/>
              <a:ext cx="192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58" name="文本框 3044457"/>
            <p:cNvSpPr txBox="1"/>
            <p:nvPr/>
          </p:nvSpPr>
          <p:spPr>
            <a:xfrm>
              <a:off x="720" y="3312"/>
              <a:ext cx="192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59" name="文本框 3044458"/>
            <p:cNvSpPr txBox="1"/>
            <p:nvPr/>
          </p:nvSpPr>
          <p:spPr>
            <a:xfrm>
              <a:off x="1296" y="3024"/>
              <a:ext cx="432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b1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60" name="文本框 3044459"/>
            <p:cNvSpPr txBox="1"/>
            <p:nvPr/>
          </p:nvSpPr>
          <p:spPr>
            <a:xfrm>
              <a:off x="1296" y="3360"/>
              <a:ext cx="3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b2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61" name="文本框 3044460"/>
            <p:cNvSpPr txBox="1"/>
            <p:nvPr/>
          </p:nvSpPr>
          <p:spPr>
            <a:xfrm>
              <a:off x="1296" y="3648"/>
              <a:ext cx="3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b3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62" name="文本框 3044461"/>
            <p:cNvSpPr txBox="1"/>
            <p:nvPr/>
          </p:nvSpPr>
          <p:spPr>
            <a:xfrm>
              <a:off x="1824" y="3024"/>
              <a:ext cx="432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c1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63" name="文本框 3044462"/>
            <p:cNvSpPr txBox="1"/>
            <p:nvPr/>
          </p:nvSpPr>
          <p:spPr>
            <a:xfrm>
              <a:off x="1806" y="3372"/>
              <a:ext cx="336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c2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64" name="文本框 3044463"/>
            <p:cNvSpPr txBox="1"/>
            <p:nvPr/>
          </p:nvSpPr>
          <p:spPr>
            <a:xfrm>
              <a:off x="1827" y="3828"/>
              <a:ext cx="384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c3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65" name="文本框 3044464"/>
            <p:cNvSpPr txBox="1"/>
            <p:nvPr/>
          </p:nvSpPr>
          <p:spPr>
            <a:xfrm>
              <a:off x="2304" y="3291"/>
              <a:ext cx="192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66" name="文本框 3044465"/>
            <p:cNvSpPr txBox="1"/>
            <p:nvPr/>
          </p:nvSpPr>
          <p:spPr>
            <a:xfrm>
              <a:off x="2736" y="3120"/>
              <a:ext cx="192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67" name="文本框 3044466"/>
            <p:cNvSpPr txBox="1"/>
            <p:nvPr/>
          </p:nvSpPr>
          <p:spPr>
            <a:xfrm>
              <a:off x="2739" y="3654"/>
              <a:ext cx="192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68" name="文本框 3044467"/>
            <p:cNvSpPr txBox="1"/>
            <p:nvPr/>
          </p:nvSpPr>
          <p:spPr>
            <a:xfrm>
              <a:off x="2907" y="3429"/>
              <a:ext cx="192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69" name="文本框 3044468"/>
            <p:cNvSpPr txBox="1"/>
            <p:nvPr/>
          </p:nvSpPr>
          <p:spPr>
            <a:xfrm>
              <a:off x="3216" y="3216"/>
              <a:ext cx="192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70" name="文本框 3044469"/>
            <p:cNvSpPr txBox="1"/>
            <p:nvPr/>
          </p:nvSpPr>
          <p:spPr>
            <a:xfrm>
              <a:off x="3225" y="3804"/>
              <a:ext cx="192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71" name="文本框 3044470"/>
            <p:cNvSpPr txBox="1"/>
            <p:nvPr/>
          </p:nvSpPr>
          <p:spPr>
            <a:xfrm>
              <a:off x="3687" y="3339"/>
              <a:ext cx="192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72" name="文本框 3044471"/>
            <p:cNvSpPr txBox="1"/>
            <p:nvPr/>
          </p:nvSpPr>
          <p:spPr>
            <a:xfrm>
              <a:off x="4176" y="3360"/>
              <a:ext cx="192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4473" name="文本框 3044472"/>
            <p:cNvSpPr txBox="1"/>
            <p:nvPr/>
          </p:nvSpPr>
          <p:spPr>
            <a:xfrm>
              <a:off x="4704" y="3360"/>
              <a:ext cx="192" cy="2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600" b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26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44475" name="矩形 3044474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044476" name="直接连接符 3044475"/>
          <p:cNvSpPr/>
          <p:nvPr/>
        </p:nvSpPr>
        <p:spPr>
          <a:xfrm>
            <a:off x="1524000" y="4559300"/>
            <a:ext cx="698500" cy="0"/>
          </a:xfrm>
          <a:prstGeom prst="line">
            <a:avLst/>
          </a:prstGeom>
          <a:ln w="6350" cap="flat" cmpd="sng">
            <a:solidFill>
              <a:srgbClr val="0000FF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94530" name="矩形 3094529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3094531" name="图片 30945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500" y="4086225"/>
            <a:ext cx="9163050" cy="284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94532" name="图片 30945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0"/>
            <a:ext cx="9220200" cy="40862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094533" name="对象 3094532"/>
          <p:cNvGraphicFramePr/>
          <p:nvPr/>
        </p:nvGraphicFramePr>
        <p:xfrm>
          <a:off x="4627563" y="2341563"/>
          <a:ext cx="3810000" cy="292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2618740" imgH="1693545" progId="Visio.Drawing.11">
                  <p:embed/>
                </p:oleObj>
              </mc:Choice>
              <mc:Fallback>
                <p:oleObj name="" r:id="rId3" imgW="2618740" imgH="1693545" progId="Visio.Drawing.11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27563" y="2341563"/>
                        <a:ext cx="3810000" cy="292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95554" name="标题 3095553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95555" name="文本占位符 3095554"/>
          <p:cNvSpPr>
            <a:spLocks noGrp="1"/>
          </p:cNvSpPr>
          <p:nvPr>
            <p:ph type="body" sz="half" idx="1"/>
          </p:nvPr>
        </p:nvSpPr>
        <p:spPr>
          <a:xfrm>
            <a:off x="1625600" y="1016000"/>
            <a:ext cx="8832850" cy="5486400"/>
          </a:xfrm>
        </p:spPr>
        <p:txBody>
          <a:bodyPr lIns="82550" tIns="41275" rIns="82550" bIns="41275"/>
          <a:p>
            <a:pPr marL="342900" indent="-342900" defTabSz="914400">
              <a:spcBef>
                <a:spcPct val="0"/>
              </a:spcBef>
              <a:buClr>
                <a:srgbClr val="990099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/>
              <a:t> </a:t>
            </a:r>
            <a:r>
              <a:rPr lang="zh-CN" altLang="en-US" dirty="0"/>
              <a:t>用面向数据流的方法设计下列系统的软件结构</a:t>
            </a:r>
            <a:endParaRPr lang="zh-CN" altLang="en-US" dirty="0"/>
          </a:p>
          <a:p>
            <a:pPr marL="342900" indent="-342900" defTabSz="914400">
              <a:spcBef>
                <a:spcPct val="0"/>
              </a:spcBef>
              <a:buClr>
                <a:srgbClr val="990099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/>
              <a:t>1</a:t>
            </a:r>
            <a:r>
              <a:rPr lang="zh-CN" altLang="en-US" dirty="0"/>
              <a:t>）储蓄系统</a:t>
            </a:r>
            <a:r>
              <a:rPr lang="en-US" altLang="zh-CN"/>
              <a:t>2-2</a:t>
            </a:r>
            <a:endParaRPr lang="en-US" altLang="zh-CN"/>
          </a:p>
          <a:p>
            <a:pPr marL="342900" indent="-342900" defTabSz="914400">
              <a:spcBef>
                <a:spcPct val="0"/>
              </a:spcBef>
              <a:buClr>
                <a:srgbClr val="990099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/>
              <a:t>2</a:t>
            </a:r>
            <a:r>
              <a:rPr lang="zh-CN" altLang="en-US" dirty="0"/>
              <a:t>）机票预定系统</a:t>
            </a:r>
            <a:r>
              <a:rPr lang="en-US" altLang="zh-CN"/>
              <a:t>2-3</a:t>
            </a:r>
            <a:endParaRPr lang="en-US" altLang="zh-CN"/>
          </a:p>
          <a:p>
            <a:pPr marL="342900" indent="-342900" defTabSz="914400">
              <a:spcBef>
                <a:spcPct val="0"/>
              </a:spcBef>
              <a:buClr>
                <a:srgbClr val="990099"/>
              </a:buClr>
              <a:buSzPct val="75000"/>
              <a:buFont typeface="Wingdings" panose="05000000000000000000" pitchFamily="2" charset="2"/>
            </a:pPr>
            <a:r>
              <a:rPr lang="zh-CN" altLang="en-US" dirty="0">
                <a:solidFill>
                  <a:srgbClr val="000099"/>
                </a:solidFill>
              </a:rPr>
              <a:t>为了方便</a:t>
            </a:r>
            <a:r>
              <a:rPr lang="zh-CN" altLang="en-US" dirty="0">
                <a:solidFill>
                  <a:srgbClr val="003300"/>
                </a:solidFill>
              </a:rPr>
              <a:t>旅客</a:t>
            </a:r>
            <a:r>
              <a:rPr lang="zh-CN" altLang="en-US" dirty="0">
                <a:solidFill>
                  <a:srgbClr val="000099"/>
                </a:solidFill>
              </a:rPr>
              <a:t>，某航空公司拟开发一个</a:t>
            </a:r>
            <a:r>
              <a:rPr lang="zh-CN" altLang="en-US" dirty="0">
                <a:solidFill>
                  <a:srgbClr val="003300"/>
                </a:solidFill>
              </a:rPr>
              <a:t>机票预定系统</a:t>
            </a:r>
            <a:r>
              <a:rPr lang="zh-CN" altLang="en-US" dirty="0">
                <a:solidFill>
                  <a:srgbClr val="000099"/>
                </a:solidFill>
              </a:rPr>
              <a:t>。</a:t>
            </a:r>
            <a:r>
              <a:rPr lang="zh-CN" altLang="en-US" dirty="0">
                <a:solidFill>
                  <a:srgbClr val="003300"/>
                </a:solidFill>
              </a:rPr>
              <a:t>旅行社</a:t>
            </a:r>
            <a:r>
              <a:rPr lang="zh-CN" altLang="en-US" dirty="0">
                <a:solidFill>
                  <a:srgbClr val="000099"/>
                </a:solidFill>
              </a:rPr>
              <a:t>把预定机票的旅客信息（</a:t>
            </a:r>
            <a:r>
              <a:rPr lang="zh-CN" altLang="en-US" dirty="0"/>
              <a:t>姓名、性别、工作单位、身份证号码、旅行时间、旅行目的地</a:t>
            </a:r>
            <a:r>
              <a:rPr lang="zh-CN" altLang="en-US" dirty="0">
                <a:solidFill>
                  <a:srgbClr val="000099"/>
                </a:solidFill>
              </a:rPr>
              <a:t>等）</a:t>
            </a:r>
            <a:r>
              <a:rPr lang="zh-CN" altLang="en-US" dirty="0">
                <a:solidFill>
                  <a:srgbClr val="003300"/>
                </a:solidFill>
              </a:rPr>
              <a:t>输入</a:t>
            </a:r>
            <a:r>
              <a:rPr lang="zh-CN" altLang="en-US" dirty="0">
                <a:solidFill>
                  <a:srgbClr val="000099"/>
                </a:solidFill>
              </a:rPr>
              <a:t>该系统，系统为旅客</a:t>
            </a:r>
            <a:r>
              <a:rPr lang="zh-CN" altLang="en-US" dirty="0">
                <a:solidFill>
                  <a:srgbClr val="003300"/>
                </a:solidFill>
              </a:rPr>
              <a:t>安排</a:t>
            </a:r>
            <a:r>
              <a:rPr lang="zh-CN" altLang="en-US" dirty="0">
                <a:solidFill>
                  <a:srgbClr val="FF0000"/>
                </a:solidFill>
              </a:rPr>
              <a:t>航班</a:t>
            </a:r>
            <a:r>
              <a:rPr lang="zh-CN" altLang="en-US" dirty="0">
                <a:solidFill>
                  <a:srgbClr val="000099"/>
                </a:solidFill>
              </a:rPr>
              <a:t>，旅客在飞机</a:t>
            </a:r>
            <a:r>
              <a:rPr lang="zh-CN" altLang="en-US" dirty="0">
                <a:solidFill>
                  <a:srgbClr val="003300"/>
                </a:solidFill>
              </a:rPr>
              <a:t>起飞前一天</a:t>
            </a:r>
            <a:r>
              <a:rPr lang="zh-CN" altLang="en-US" dirty="0">
                <a:solidFill>
                  <a:srgbClr val="000099"/>
                </a:solidFill>
              </a:rPr>
              <a:t>凭</a:t>
            </a:r>
            <a:r>
              <a:rPr lang="zh-CN" altLang="en-US" dirty="0">
                <a:solidFill>
                  <a:srgbClr val="003300"/>
                </a:solidFill>
              </a:rPr>
              <a:t>取票通知</a:t>
            </a:r>
            <a:r>
              <a:rPr lang="zh-CN" altLang="en-US" dirty="0">
                <a:solidFill>
                  <a:srgbClr val="000099"/>
                </a:solidFill>
              </a:rPr>
              <a:t>和</a:t>
            </a:r>
            <a:r>
              <a:rPr lang="zh-CN" altLang="en-US" dirty="0">
                <a:solidFill>
                  <a:srgbClr val="003300"/>
                </a:solidFill>
              </a:rPr>
              <a:t>账单</a:t>
            </a:r>
            <a:r>
              <a:rPr lang="zh-CN" altLang="en-US" dirty="0">
                <a:solidFill>
                  <a:srgbClr val="FF0000"/>
                </a:solidFill>
              </a:rPr>
              <a:t>交款取票</a:t>
            </a:r>
            <a:r>
              <a:rPr lang="zh-CN" altLang="en-US" dirty="0">
                <a:solidFill>
                  <a:srgbClr val="000099"/>
                </a:solidFill>
              </a:rPr>
              <a:t>，系统</a:t>
            </a:r>
            <a:r>
              <a:rPr lang="zh-CN" altLang="en-US" dirty="0">
                <a:solidFill>
                  <a:srgbClr val="FF0000"/>
                </a:solidFill>
              </a:rPr>
              <a:t>核对无误</a:t>
            </a:r>
            <a:r>
              <a:rPr lang="zh-CN" altLang="en-US" dirty="0">
                <a:solidFill>
                  <a:srgbClr val="000099"/>
                </a:solidFill>
              </a:rPr>
              <a:t>即</a:t>
            </a:r>
            <a:r>
              <a:rPr lang="zh-CN" altLang="en-US" dirty="0">
                <a:solidFill>
                  <a:srgbClr val="FF0000"/>
                </a:solidFill>
              </a:rPr>
              <a:t>印出机票</a:t>
            </a:r>
            <a:r>
              <a:rPr lang="zh-CN" altLang="en-US" dirty="0">
                <a:solidFill>
                  <a:srgbClr val="000099"/>
                </a:solidFill>
              </a:rPr>
              <a:t>给</a:t>
            </a:r>
            <a:r>
              <a:rPr lang="zh-CN" altLang="en-US" dirty="0">
                <a:solidFill>
                  <a:srgbClr val="FF0000"/>
                </a:solidFill>
              </a:rPr>
              <a:t>顾客</a:t>
            </a:r>
            <a:endParaRPr lang="zh-CN" altLang="en-US" dirty="0">
              <a:solidFill>
                <a:srgbClr val="FF0000"/>
              </a:solidFill>
            </a:endParaRPr>
          </a:p>
          <a:p>
            <a:pPr marL="342900" indent="-342900" defTabSz="914400">
              <a:spcBef>
                <a:spcPct val="0"/>
              </a:spcBef>
              <a:buClr>
                <a:srgbClr val="990099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dirty="0"/>
              <a:t>（</a:t>
            </a:r>
            <a:r>
              <a:rPr lang="en-US" altLang="zh-CN"/>
              <a:t>2</a:t>
            </a:r>
            <a:r>
              <a:rPr lang="zh-CN" altLang="en-US" dirty="0"/>
              <a:t>）患者监护系统</a:t>
            </a:r>
            <a:r>
              <a:rPr lang="en-US" altLang="zh-CN"/>
              <a:t>2-4</a:t>
            </a:r>
            <a:endParaRPr lang="en-US" altLang="zh-CN"/>
          </a:p>
        </p:txBody>
      </p:sp>
      <p:sp>
        <p:nvSpPr>
          <p:cNvPr id="3095557" name="矩形 3095556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07842" name="矩形 3107841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107843" name="对象 3107842"/>
          <p:cNvGraphicFramePr/>
          <p:nvPr/>
        </p:nvGraphicFramePr>
        <p:xfrm>
          <a:off x="1760538" y="100013"/>
          <a:ext cx="8153400" cy="642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6434455" imgH="5068570" progId="Visio.Drawing.11">
                  <p:embed/>
                </p:oleObj>
              </mc:Choice>
              <mc:Fallback>
                <p:oleObj name="" r:id="rId1" imgW="6434455" imgH="5068570" progId="Visio.Drawing.11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0538" y="100013"/>
                        <a:ext cx="8153400" cy="6421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08866" name="矩形 3108865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108867" name="对象 3108866"/>
          <p:cNvGraphicFramePr/>
          <p:nvPr/>
        </p:nvGraphicFramePr>
        <p:xfrm>
          <a:off x="1738313" y="1457325"/>
          <a:ext cx="7677150" cy="347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5814060" imgH="2641600" progId="Visio.Drawing.11">
                  <p:embed/>
                </p:oleObj>
              </mc:Choice>
              <mc:Fallback>
                <p:oleObj name="" r:id="rId1" imgW="5814060" imgH="2641600" progId="Visio.Drawing.11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38313" y="1457325"/>
                        <a:ext cx="7677150" cy="3475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8868" name="矩形 3108867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09890" name="矩形 3109889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109895" name="对象 3109894"/>
          <p:cNvGraphicFramePr/>
          <p:nvPr/>
        </p:nvGraphicFramePr>
        <p:xfrm>
          <a:off x="1887538" y="982663"/>
          <a:ext cx="8294687" cy="534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6017260" imgH="3883660" progId="Visio.Drawing.11">
                  <p:embed/>
                </p:oleObj>
              </mc:Choice>
              <mc:Fallback>
                <p:oleObj name="" r:id="rId1" imgW="6017260" imgH="3883660" progId="Visio.Drawing.11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87538" y="982663"/>
                        <a:ext cx="8294687" cy="5349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9896" name="文本框 3109895"/>
          <p:cNvSpPr txBox="1"/>
          <p:nvPr/>
        </p:nvSpPr>
        <p:spPr>
          <a:xfrm>
            <a:off x="2747963" y="190500"/>
            <a:ext cx="5194300" cy="359410"/>
          </a:xfrm>
          <a:prstGeom prst="rect">
            <a:avLst/>
          </a:prstGeom>
          <a:noFill/>
          <a:ln w="9525">
            <a:noFill/>
          </a:ln>
        </p:spPr>
        <p:txBody>
          <a:bodyPr wrap="none" lIns="82550" tIns="41275" rIns="82550" bIns="41275" anchor="t" anchorCtr="0">
            <a:spAutoFit/>
          </a:bodyPr>
          <a:p>
            <a:pPr>
              <a:buSzPct val="75000"/>
              <a:buFont typeface="Wingdings" panose="05000000000000000000" pitchFamily="2" charset="2"/>
            </a:pPr>
            <a:r>
              <a: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rPr>
              <a:t>不能是两个分开的子系统，是相同的前台单个处理</a:t>
            </a: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18082" name="矩形 3118081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18084" name="文本框 3118083"/>
          <p:cNvSpPr txBox="1"/>
          <p:nvPr/>
        </p:nvSpPr>
        <p:spPr>
          <a:xfrm>
            <a:off x="2747963" y="190500"/>
            <a:ext cx="5194300" cy="359410"/>
          </a:xfrm>
          <a:prstGeom prst="rect">
            <a:avLst/>
          </a:prstGeom>
          <a:noFill/>
          <a:ln w="9525">
            <a:noFill/>
          </a:ln>
        </p:spPr>
        <p:txBody>
          <a:bodyPr wrap="none" lIns="82550" tIns="41275" rIns="82550" bIns="41275" anchor="t" anchorCtr="0">
            <a:spAutoFit/>
          </a:bodyPr>
          <a:p>
            <a:pPr>
              <a:buSzPct val="75000"/>
              <a:buFont typeface="Wingdings" panose="05000000000000000000" pitchFamily="2" charset="2"/>
            </a:pPr>
            <a:r>
              <a: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rPr>
              <a:t>不能是两个分开的子系统，是相同的前台单个处理</a:t>
            </a: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aphicFrame>
        <p:nvGraphicFramePr>
          <p:cNvPr id="3118085" name="对象 3118084"/>
          <p:cNvGraphicFramePr/>
          <p:nvPr/>
        </p:nvGraphicFramePr>
        <p:xfrm>
          <a:off x="1781175" y="939800"/>
          <a:ext cx="8886825" cy="507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7405370" imgH="3352800" progId="Visio.Drawing.11">
                  <p:embed/>
                </p:oleObj>
              </mc:Choice>
              <mc:Fallback>
                <p:oleObj name="" r:id="rId1" imgW="7405370" imgH="3352800" progId="Visio.Drawing.11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81175" y="939800"/>
                        <a:ext cx="8886825" cy="5070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17058" name="矩形 3117057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117059" name="对象 3117058"/>
          <p:cNvGraphicFramePr/>
          <p:nvPr/>
        </p:nvGraphicFramePr>
        <p:xfrm>
          <a:off x="2097088" y="1308100"/>
          <a:ext cx="8280400" cy="368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6242685" imgH="2788285" progId="Visio.Drawing.11">
                  <p:embed/>
                </p:oleObj>
              </mc:Choice>
              <mc:Fallback>
                <p:oleObj name="" r:id="rId1" imgW="6242685" imgH="2788285" progId="Visio.Drawing.11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97088" y="1308100"/>
                        <a:ext cx="8280400" cy="3684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7060" name="矩形 3117059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11938" name="矩形 3111937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111940" name="对象 3111939"/>
          <p:cNvGraphicFramePr/>
          <p:nvPr/>
        </p:nvGraphicFramePr>
        <p:xfrm>
          <a:off x="1866900" y="1000125"/>
          <a:ext cx="7848600" cy="547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6367145" imgH="4447540" progId="Visio.Drawing.11">
                  <p:embed/>
                </p:oleObj>
              </mc:Choice>
              <mc:Fallback>
                <p:oleObj name="" r:id="rId1" imgW="6367145" imgH="4447540" progId="Visio.Drawing.11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66900" y="1000125"/>
                        <a:ext cx="7848600" cy="547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1941" name="矩形 3111940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12962" name="矩形 3112961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112964" name="对象 3112963"/>
          <p:cNvGraphicFramePr/>
          <p:nvPr/>
        </p:nvGraphicFramePr>
        <p:xfrm>
          <a:off x="1979613" y="1100138"/>
          <a:ext cx="6099175" cy="534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4323715" imgH="3782060" progId="Visio.Drawing.11">
                  <p:embed/>
                </p:oleObj>
              </mc:Choice>
              <mc:Fallback>
                <p:oleObj name="" r:id="rId1" imgW="4323715" imgH="3782060" progId="Visio.Drawing.11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79613" y="1100138"/>
                        <a:ext cx="6099175" cy="5343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2965" name="矩形 3112964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13986" name="矩形 3113985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113988" name="对象 3113987"/>
          <p:cNvGraphicFramePr/>
          <p:nvPr/>
        </p:nvGraphicFramePr>
        <p:xfrm>
          <a:off x="1860550" y="1130300"/>
          <a:ext cx="6745288" cy="535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4425315" imgH="4763770" progId="Visio.Drawing.11">
                  <p:embed/>
                </p:oleObj>
              </mc:Choice>
              <mc:Fallback>
                <p:oleObj name="" r:id="rId1" imgW="4425315" imgH="4763770" progId="Visio.Drawing.11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60550" y="1130300"/>
                        <a:ext cx="6745288" cy="5354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989" name="矩形 3113988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15010" name="矩形 3115009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115013" name="对象 3115012"/>
          <p:cNvGraphicFramePr/>
          <p:nvPr/>
        </p:nvGraphicFramePr>
        <p:xfrm>
          <a:off x="2435225" y="0"/>
          <a:ext cx="4422775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4741545" imgH="7348855" progId="Visio.Drawing.11">
                  <p:embed/>
                </p:oleObj>
              </mc:Choice>
              <mc:Fallback>
                <p:oleObj name="" r:id="rId1" imgW="4741545" imgH="7348855" progId="Visio.Drawing.11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35225" y="0"/>
                        <a:ext cx="4422775" cy="685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5014" name="文本框 3115013"/>
          <p:cNvSpPr txBox="1"/>
          <p:nvPr/>
        </p:nvSpPr>
        <p:spPr>
          <a:xfrm>
            <a:off x="7265988" y="1079500"/>
            <a:ext cx="3176587" cy="91313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>
            <a:spAutoFit/>
          </a:bodyPr>
          <a:p>
            <a:pPr algn="l">
              <a:buSzPct val="75000"/>
              <a:buFont typeface="Wingdings" panose="05000000000000000000" pitchFamily="2" charset="2"/>
            </a:pPr>
            <a:r>
              <a: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可以是两个子系统，预定和取票是不同的处理方式（后台批量和前台单个）</a:t>
            </a: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16034" name="矩形 3116033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116037" name="对象 3116036"/>
          <p:cNvGraphicFramePr/>
          <p:nvPr/>
        </p:nvGraphicFramePr>
        <p:xfrm>
          <a:off x="1771650" y="228600"/>
          <a:ext cx="8896350" cy="581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8150860" imgH="4526915" progId="Visio.Drawing.11">
                  <p:embed/>
                </p:oleObj>
              </mc:Choice>
              <mc:Fallback>
                <p:oleObj name="" r:id="rId1" imgW="8150860" imgH="4526915" progId="Visio.Drawing.11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71650" y="228600"/>
                        <a:ext cx="8896350" cy="5810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10914" name="矩形 3110913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110915" name="对象 3110914"/>
          <p:cNvGraphicFramePr/>
          <p:nvPr/>
        </p:nvGraphicFramePr>
        <p:xfrm>
          <a:off x="2008188" y="161925"/>
          <a:ext cx="7375525" cy="672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7901940" imgH="7100570" progId="Visio.Drawing.11">
                  <p:embed/>
                </p:oleObj>
              </mc:Choice>
              <mc:Fallback>
                <p:oleObj name="" r:id="rId1" imgW="7901940" imgH="7100570" progId="Visio.Drawing.11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08188" y="161925"/>
                        <a:ext cx="7375525" cy="672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19106" name="矩形 3119105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119108" name="对象 3119107"/>
          <p:cNvGraphicFramePr/>
          <p:nvPr/>
        </p:nvGraphicFramePr>
        <p:xfrm>
          <a:off x="1524000" y="206375"/>
          <a:ext cx="9144000" cy="589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7620000" imgH="4368800" progId="Visio.Drawing.11">
                  <p:embed/>
                </p:oleObj>
              </mc:Choice>
              <mc:Fallback>
                <p:oleObj name="" r:id="rId1" imgW="7620000" imgH="4368800" progId="Visio.Drawing.11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000" y="206375"/>
                        <a:ext cx="9144000" cy="5894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96578" name="标题 3096577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96579" name="文本占位符 3096578"/>
          <p:cNvSpPr>
            <a:spLocks noGrp="1"/>
          </p:cNvSpPr>
          <p:nvPr>
            <p:ph type="body" sz="half" idx="1"/>
          </p:nvPr>
        </p:nvSpPr>
        <p:spPr>
          <a:xfrm>
            <a:off x="1571625" y="183515"/>
            <a:ext cx="9042400" cy="6447790"/>
          </a:xfrm>
        </p:spPr>
        <p:txBody>
          <a:bodyPr lIns="82550" tIns="41275" rIns="82550" bIns="41275">
            <a:normAutofit lnSpcReduction="10000"/>
          </a:bodyPr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Clr>
                <a:srgbClr val="990099"/>
              </a:buClr>
              <a:buSzPct val="75000"/>
              <a:buFont typeface="Wingdings" panose="05000000000000000000" pitchFamily="2" charset="2"/>
            </a:pPr>
            <a:r>
              <a:rPr lang="zh-CN" altLang="en-US" sz="2500" dirty="0">
                <a:solidFill>
                  <a:srgbClr val="FF0000"/>
                </a:solidFill>
              </a:rPr>
              <a:t>美国某大学有</a:t>
            </a:r>
            <a:r>
              <a:rPr lang="en-US" altLang="zh-CN" sz="2500">
                <a:solidFill>
                  <a:srgbClr val="FF0000"/>
                </a:solidFill>
              </a:rPr>
              <a:t>200</a:t>
            </a:r>
            <a:r>
              <a:rPr lang="zh-CN" altLang="en-US" sz="2500" dirty="0">
                <a:solidFill>
                  <a:srgbClr val="FF0000"/>
                </a:solidFill>
              </a:rPr>
              <a:t>名教师，校方与教师工会刚刚签订一项协议。按照协议，所有年工资超过</a:t>
            </a:r>
            <a:r>
              <a:rPr lang="en-US" altLang="zh-CN" sz="2500">
                <a:solidFill>
                  <a:srgbClr val="FF0000"/>
                </a:solidFill>
              </a:rPr>
              <a:t>$26000</a:t>
            </a:r>
            <a:r>
              <a:rPr lang="zh-CN" altLang="en-US" sz="2500" dirty="0">
                <a:solidFill>
                  <a:srgbClr val="FF0000"/>
                </a:solidFill>
              </a:rPr>
              <a:t>（含</a:t>
            </a:r>
            <a:r>
              <a:rPr lang="en-US" altLang="zh-CN" sz="2500">
                <a:solidFill>
                  <a:srgbClr val="FF0000"/>
                </a:solidFill>
              </a:rPr>
              <a:t>$26000 </a:t>
            </a:r>
            <a:r>
              <a:rPr lang="zh-CN" altLang="en-US" sz="2500" dirty="0">
                <a:solidFill>
                  <a:srgbClr val="FF0000"/>
                </a:solidFill>
              </a:rPr>
              <a:t>）的教师工资将保持不变，年工资少于</a:t>
            </a:r>
            <a:r>
              <a:rPr lang="en-US" altLang="zh-CN" sz="2500">
                <a:solidFill>
                  <a:srgbClr val="FF0000"/>
                </a:solidFill>
              </a:rPr>
              <a:t>$26000</a:t>
            </a:r>
            <a:r>
              <a:rPr lang="zh-CN" altLang="en-US" sz="2500" dirty="0">
                <a:solidFill>
                  <a:srgbClr val="FF0000"/>
                </a:solidFill>
              </a:rPr>
              <a:t>的教师将增加工资，所增加工资数额按下述方法计算：给每位教师所赡养的人（包括教师本人）每年补助</a:t>
            </a:r>
            <a:r>
              <a:rPr lang="en-US" altLang="zh-CN" sz="2500">
                <a:solidFill>
                  <a:srgbClr val="FF0000"/>
                </a:solidFill>
              </a:rPr>
              <a:t>$100</a:t>
            </a:r>
            <a:r>
              <a:rPr lang="zh-CN" altLang="en-US" sz="2500" dirty="0">
                <a:solidFill>
                  <a:srgbClr val="FF0000"/>
                </a:solidFill>
              </a:rPr>
              <a:t>，此外，教师有一年工龄每年再多补助￥</a:t>
            </a:r>
            <a:r>
              <a:rPr lang="en-US" altLang="zh-CN" sz="2500">
                <a:solidFill>
                  <a:srgbClr val="FF0000"/>
                </a:solidFill>
              </a:rPr>
              <a:t>50</a:t>
            </a:r>
            <a:r>
              <a:rPr lang="zh-CN" altLang="en-US" sz="2500" dirty="0">
                <a:solidFill>
                  <a:srgbClr val="FF0000"/>
                </a:solidFill>
              </a:rPr>
              <a:t>，但是，增加后的年工资总额不能多于</a:t>
            </a:r>
            <a:r>
              <a:rPr lang="en-US" altLang="zh-CN" sz="2500">
                <a:solidFill>
                  <a:srgbClr val="FF0000"/>
                </a:solidFill>
              </a:rPr>
              <a:t>$26000</a:t>
            </a:r>
            <a:r>
              <a:rPr lang="zh-CN" altLang="en-US" sz="2500" dirty="0">
                <a:solidFill>
                  <a:srgbClr val="FF0000"/>
                </a:solidFill>
              </a:rPr>
              <a:t>。</a:t>
            </a:r>
            <a:endParaRPr lang="zh-CN" altLang="en-US" sz="2500" dirty="0">
              <a:solidFill>
                <a:srgbClr val="FF0000"/>
              </a:solidFill>
            </a:endParaRPr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Clr>
                <a:srgbClr val="990099"/>
              </a:buClr>
              <a:buSzPct val="75000"/>
              <a:buFont typeface="Wingdings" panose="05000000000000000000" pitchFamily="2" charset="2"/>
            </a:pPr>
            <a:r>
              <a:rPr lang="zh-CN" altLang="en-US" sz="2500" dirty="0">
                <a:solidFill>
                  <a:srgbClr val="008000"/>
                </a:solidFill>
              </a:rPr>
              <a:t>教师工资档案存储在行政办公室的磁带上，档案中有目前的年工资、赡养的人数、雇佣日期等信息。需要写一个程序计算并印出每名教师的原工资和调整后的新工资。</a:t>
            </a:r>
            <a:endParaRPr lang="zh-CN" altLang="en-US" sz="2500" dirty="0">
              <a:solidFill>
                <a:srgbClr val="008000"/>
              </a:solidFill>
            </a:endParaRPr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Clr>
                <a:srgbClr val="990099"/>
              </a:buClr>
              <a:buSzPct val="75000"/>
              <a:buFont typeface="Wingdings" panose="05000000000000000000" pitchFamily="2" charset="2"/>
            </a:pPr>
            <a:r>
              <a:rPr lang="zh-CN" altLang="en-US" sz="2500" dirty="0">
                <a:solidFill>
                  <a:srgbClr val="008000"/>
                </a:solidFill>
              </a:rPr>
              <a:t>要求：（</a:t>
            </a:r>
            <a:r>
              <a:rPr lang="en-US" altLang="zh-CN" sz="2500">
                <a:solidFill>
                  <a:srgbClr val="008000"/>
                </a:solidFill>
              </a:rPr>
              <a:t>1</a:t>
            </a:r>
            <a:r>
              <a:rPr lang="zh-CN" altLang="en-US" sz="2500" dirty="0">
                <a:solidFill>
                  <a:srgbClr val="008000"/>
                </a:solidFill>
              </a:rPr>
              <a:t>）画出此系统的数据流图；（</a:t>
            </a:r>
            <a:r>
              <a:rPr lang="en-US" altLang="zh-CN" sz="2500">
                <a:solidFill>
                  <a:srgbClr val="008000"/>
                </a:solidFill>
              </a:rPr>
              <a:t>2</a:t>
            </a:r>
            <a:r>
              <a:rPr lang="zh-CN" altLang="en-US" sz="2500" dirty="0">
                <a:solidFill>
                  <a:srgbClr val="008000"/>
                </a:solidFill>
              </a:rPr>
              <a:t>）写出需求说明；</a:t>
            </a:r>
            <a:endParaRPr lang="zh-CN" altLang="en-US" sz="2500" dirty="0">
              <a:solidFill>
                <a:srgbClr val="008000"/>
              </a:solidFill>
            </a:endParaRPr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Clr>
                <a:srgbClr val="990099"/>
              </a:buClr>
              <a:buSzPct val="75000"/>
              <a:buFont typeface="Wingdings" panose="05000000000000000000" pitchFamily="2" charset="2"/>
            </a:pPr>
            <a:r>
              <a:rPr lang="zh-CN" altLang="en-US" sz="2500" dirty="0">
                <a:solidFill>
                  <a:srgbClr val="008000"/>
                </a:solidFill>
              </a:rPr>
              <a:t>（</a:t>
            </a:r>
            <a:r>
              <a:rPr lang="en-US" altLang="zh-CN" sz="2500">
                <a:solidFill>
                  <a:srgbClr val="008000"/>
                </a:solidFill>
              </a:rPr>
              <a:t>3</a:t>
            </a:r>
            <a:r>
              <a:rPr lang="zh-CN" altLang="en-US" sz="2500" dirty="0">
                <a:solidFill>
                  <a:srgbClr val="008000"/>
                </a:solidFill>
              </a:rPr>
              <a:t>）设计上述的工资调整程序</a:t>
            </a:r>
            <a:r>
              <a:rPr lang="en-US" altLang="zh-CN" sz="2500">
                <a:solidFill>
                  <a:srgbClr val="008000"/>
                </a:solidFill>
              </a:rPr>
              <a:t>(</a:t>
            </a:r>
            <a:r>
              <a:rPr lang="zh-CN" altLang="en-US" sz="2500" dirty="0">
                <a:solidFill>
                  <a:srgbClr val="008000"/>
                </a:solidFill>
              </a:rPr>
              <a:t>要求用</a:t>
            </a:r>
            <a:r>
              <a:rPr lang="en-US" altLang="zh-CN" sz="2500">
                <a:solidFill>
                  <a:srgbClr val="008000"/>
                </a:solidFill>
              </a:rPr>
              <a:t>HIPO</a:t>
            </a:r>
            <a:r>
              <a:rPr lang="zh-CN" altLang="en-US" sz="2500" dirty="0">
                <a:solidFill>
                  <a:srgbClr val="008000"/>
                </a:solidFill>
              </a:rPr>
              <a:t>图描绘设计结果</a:t>
            </a:r>
            <a:r>
              <a:rPr lang="en-US" altLang="zh-CN" sz="2500">
                <a:solidFill>
                  <a:srgbClr val="008000"/>
                </a:solidFill>
              </a:rPr>
              <a:t>)</a:t>
            </a:r>
            <a:r>
              <a:rPr lang="zh-CN" altLang="en-US" sz="2500" dirty="0">
                <a:solidFill>
                  <a:srgbClr val="008000"/>
                </a:solidFill>
              </a:rPr>
              <a:t>，设计时分别采用两种算法，并比较两种算法的优缺点：</a:t>
            </a:r>
            <a:endParaRPr lang="zh-CN" altLang="en-US" sz="2500" dirty="0">
              <a:solidFill>
                <a:srgbClr val="008000"/>
              </a:solidFill>
            </a:endParaRPr>
          </a:p>
          <a:p>
            <a:pPr marL="742950" lvl="1" indent="-285750" defTabSz="914400">
              <a:lnSpc>
                <a:spcPct val="90000"/>
              </a:lnSpc>
              <a:spcBef>
                <a:spcPct val="0"/>
              </a:spcBef>
              <a:buClr>
                <a:srgbClr val="990099"/>
              </a:buClr>
              <a:buSzPct val="75000"/>
              <a:buFont typeface="Wingdings" panose="05000000000000000000" pitchFamily="2" charset="2"/>
            </a:pPr>
            <a:r>
              <a:rPr lang="zh-CN" altLang="en-US" dirty="0"/>
              <a:t>（</a:t>
            </a:r>
            <a:r>
              <a:rPr lang="en-US" altLang="zh-CN"/>
              <a:t>a</a:t>
            </a:r>
            <a:r>
              <a:rPr lang="zh-CN" altLang="en-US" dirty="0"/>
              <a:t>）搜索工资档案数据，找出年工资少于</a:t>
            </a:r>
            <a:r>
              <a:rPr lang="en-US" altLang="zh-CN"/>
              <a:t>$26000</a:t>
            </a:r>
            <a:r>
              <a:rPr lang="zh-CN" altLang="en-US" dirty="0"/>
              <a:t>的人，计算新工资，校核是否超过</a:t>
            </a:r>
            <a:r>
              <a:rPr lang="en-US" altLang="zh-CN"/>
              <a:t>$26000</a:t>
            </a:r>
            <a:r>
              <a:rPr lang="zh-CN" altLang="en-US" dirty="0"/>
              <a:t>，存储新工资，印出新旧工资对照表；</a:t>
            </a:r>
            <a:endParaRPr lang="zh-CN" altLang="en-US" dirty="0"/>
          </a:p>
          <a:p>
            <a:pPr marL="742950" lvl="1" indent="-285750" defTabSz="914400">
              <a:lnSpc>
                <a:spcPct val="90000"/>
              </a:lnSpc>
              <a:spcBef>
                <a:spcPct val="0"/>
              </a:spcBef>
              <a:buClr>
                <a:srgbClr val="990099"/>
              </a:buClr>
              <a:buSzPct val="75000"/>
              <a:buFont typeface="Wingdings" panose="05000000000000000000" pitchFamily="2" charset="2"/>
            </a:pPr>
            <a:r>
              <a:rPr lang="zh-CN" altLang="en-US" dirty="0"/>
              <a:t>（</a:t>
            </a:r>
            <a:r>
              <a:rPr lang="en-US" altLang="zh-CN"/>
              <a:t>b</a:t>
            </a:r>
            <a:r>
              <a:rPr lang="zh-CN" altLang="en-US" dirty="0"/>
              <a:t>）把工资档案数据按工资从最低到最高的次序排序，当工资数额超过</a:t>
            </a:r>
            <a:r>
              <a:rPr lang="en-US" altLang="zh-CN"/>
              <a:t>$26000</a:t>
            </a:r>
            <a:r>
              <a:rPr lang="zh-CN" altLang="en-US" dirty="0"/>
              <a:t>时即停止排序，计算新工资，校核是否超过限额，存储新工资，印出结果。</a:t>
            </a:r>
            <a:endParaRPr lang="zh-CN" altLang="en-US" dirty="0"/>
          </a:p>
          <a:p>
            <a:pPr marL="342900" indent="-342900" defTabSz="914400">
              <a:lnSpc>
                <a:spcPct val="90000"/>
              </a:lnSpc>
              <a:spcBef>
                <a:spcPct val="0"/>
              </a:spcBef>
              <a:buClr>
                <a:srgbClr val="990099"/>
              </a:buClr>
              <a:buSzPct val="75000"/>
              <a:buFont typeface="Wingdings" panose="05000000000000000000" pitchFamily="2" charset="2"/>
            </a:pPr>
            <a:r>
              <a:rPr lang="zh-CN" altLang="en-US" sz="2500" dirty="0"/>
              <a:t>（</a:t>
            </a:r>
            <a:r>
              <a:rPr lang="en-US" altLang="zh-CN" sz="2500"/>
              <a:t>4</a:t>
            </a:r>
            <a:r>
              <a:rPr lang="zh-CN" altLang="en-US" sz="2500" dirty="0"/>
              <a:t>）你所画出的数据流图适应用那种算法？</a:t>
            </a:r>
            <a:endParaRPr lang="zh-CN" altLang="en-US" sz="2500" dirty="0"/>
          </a:p>
        </p:txBody>
      </p:sp>
    </p:spTree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20130" name="标题 3120129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120136" name="内容占位符 3120135"/>
          <p:cNvGraphicFramePr/>
          <p:nvPr>
            <p:ph idx="1"/>
          </p:nvPr>
        </p:nvGraphicFramePr>
        <p:xfrm>
          <a:off x="1651000" y="2001838"/>
          <a:ext cx="8756650" cy="276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5814060" imgH="1840230" progId="Visio.Drawing.11">
                  <p:embed/>
                </p:oleObj>
              </mc:Choice>
              <mc:Fallback>
                <p:oleObj name="" r:id="rId1" imgW="5814060" imgH="1840230" progId="Visio.Drawing.11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51000" y="2001838"/>
                        <a:ext cx="8756650" cy="276701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0142" name="矩形 3120141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25250" name="标题 3125249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125253" name="内容占位符 3125252"/>
          <p:cNvGraphicFramePr/>
          <p:nvPr>
            <p:ph idx="1"/>
          </p:nvPr>
        </p:nvGraphicFramePr>
        <p:xfrm>
          <a:off x="1987550" y="1046163"/>
          <a:ext cx="8164513" cy="546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6457315" imgH="4323715" progId="Visio.Drawing.11">
                  <p:embed/>
                </p:oleObj>
              </mc:Choice>
              <mc:Fallback>
                <p:oleObj name="" r:id="rId1" imgW="6457315" imgH="4323715" progId="Visio.Drawing.11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7550" y="1046163"/>
                        <a:ext cx="8164513" cy="54625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5255" name="矩形 3125254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22178" name="标题 3122177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122179" name="内容占位符 3122178"/>
          <p:cNvGraphicFramePr/>
          <p:nvPr>
            <p:ph idx="1"/>
          </p:nvPr>
        </p:nvGraphicFramePr>
        <p:xfrm>
          <a:off x="1739900" y="1100138"/>
          <a:ext cx="7886700" cy="475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5599430" imgH="3375660" progId="Visio.Drawing.11">
                  <p:embed/>
                </p:oleObj>
              </mc:Choice>
              <mc:Fallback>
                <p:oleObj name="" r:id="rId1" imgW="5599430" imgH="3375660" progId="Visio.Drawing.11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39900" y="1100138"/>
                        <a:ext cx="7886700" cy="47545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2180" name="矩形 3122179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26274" name="标题 3126273"/>
          <p:cNvSpPr>
            <a:spLocks noGrp="1"/>
          </p:cNvSpPr>
          <p:nvPr>
            <p:ph type="title"/>
          </p:nvPr>
        </p:nvSpPr>
        <p:spPr/>
        <p:txBody>
          <a:bodyPr lIns="82550" tIns="41275" rIns="82550" bIns="41275"/>
          <a:p>
            <a:pPr algn="just" defTabSz="914400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　　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126277" name="内容占位符 3126276"/>
          <p:cNvGraphicFramePr/>
          <p:nvPr>
            <p:ph idx="1"/>
          </p:nvPr>
        </p:nvGraphicFramePr>
        <p:xfrm>
          <a:off x="1739900" y="998538"/>
          <a:ext cx="8648700" cy="521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5599430" imgH="3375660" progId="Visio.Drawing.11">
                  <p:embed/>
                </p:oleObj>
              </mc:Choice>
              <mc:Fallback>
                <p:oleObj name="" r:id="rId1" imgW="5599430" imgH="3375660" progId="Visio.Drawing.11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39900" y="998538"/>
                        <a:ext cx="8648700" cy="52133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6279" name="矩形 3126278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045378" name="组合 3045377"/>
          <p:cNvGrpSpPr/>
          <p:nvPr/>
        </p:nvGrpSpPr>
        <p:grpSpPr>
          <a:xfrm>
            <a:off x="1595438" y="228600"/>
            <a:ext cx="8310562" cy="6400800"/>
            <a:chOff x="45" y="288"/>
            <a:chExt cx="5235" cy="3888"/>
          </a:xfrm>
        </p:grpSpPr>
        <p:grpSp>
          <p:nvGrpSpPr>
            <p:cNvPr id="3045379" name="组合 3045378"/>
            <p:cNvGrpSpPr/>
            <p:nvPr/>
          </p:nvGrpSpPr>
          <p:grpSpPr>
            <a:xfrm>
              <a:off x="2064" y="318"/>
              <a:ext cx="1008" cy="816"/>
              <a:chOff x="1872" y="144"/>
              <a:chExt cx="1008" cy="1152"/>
            </a:xfrm>
          </p:grpSpPr>
          <p:sp>
            <p:nvSpPr>
              <p:cNvPr id="3045380" name="矩形 3045379"/>
              <p:cNvSpPr/>
              <p:nvPr/>
            </p:nvSpPr>
            <p:spPr>
              <a:xfrm>
                <a:off x="1872" y="144"/>
                <a:ext cx="1008" cy="1152"/>
              </a:xfrm>
              <a:prstGeom prst="rect">
                <a:avLst/>
              </a:prstGeom>
              <a:solidFill>
                <a:srgbClr val="C0C0C0"/>
              </a:solidFill>
              <a:ln w="9525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200" b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b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杨辉</a:t>
                </a:r>
                <a:r>
                  <a:rPr lang="zh-CN" altLang="en-US" sz="2200" b="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三角形</a:t>
                </a:r>
                <a:endPara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b="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系数求解</a:t>
                </a:r>
                <a:endParaRPr lang="zh-CN" altLang="en-US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45381" name="直接连接符 3045380"/>
              <p:cNvSpPr/>
              <p:nvPr/>
            </p:nvSpPr>
            <p:spPr>
              <a:xfrm>
                <a:off x="1872" y="480"/>
                <a:ext cx="1008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45382" name="直接连接符 3045381"/>
            <p:cNvSpPr/>
            <p:nvPr/>
          </p:nvSpPr>
          <p:spPr>
            <a:xfrm>
              <a:off x="960" y="789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5383" name="直接连接符 3045382"/>
            <p:cNvSpPr/>
            <p:nvPr/>
          </p:nvSpPr>
          <p:spPr>
            <a:xfrm>
              <a:off x="3072" y="516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5384" name="直接连接符 3045383"/>
            <p:cNvSpPr/>
            <p:nvPr/>
          </p:nvSpPr>
          <p:spPr>
            <a:xfrm>
              <a:off x="3072" y="993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5385" name="文本框 3045384"/>
            <p:cNvSpPr txBox="1"/>
            <p:nvPr/>
          </p:nvSpPr>
          <p:spPr>
            <a:xfrm>
              <a:off x="1152" y="501"/>
              <a:ext cx="912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输入阶数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5386" name="文本框 3045385"/>
            <p:cNvSpPr txBox="1"/>
            <p:nvPr/>
          </p:nvSpPr>
          <p:spPr>
            <a:xfrm>
              <a:off x="3168" y="288"/>
              <a:ext cx="864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系数表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5387" name="文本框 3045386"/>
            <p:cNvSpPr txBox="1"/>
            <p:nvPr/>
          </p:nvSpPr>
          <p:spPr>
            <a:xfrm>
              <a:off x="3072" y="702"/>
              <a:ext cx="1056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不合理阶数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5388" name="文本框 3045387"/>
            <p:cNvSpPr txBox="1"/>
            <p:nvPr/>
          </p:nvSpPr>
          <p:spPr>
            <a:xfrm>
              <a:off x="3192" y="558"/>
              <a:ext cx="288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⊕</a:t>
              </a:r>
              <a:endParaRPr lang="en-US" altLang="zh-CN" sz="2200" b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5389" name="文本框 3045388"/>
            <p:cNvSpPr txBox="1"/>
            <p:nvPr/>
          </p:nvSpPr>
          <p:spPr>
            <a:xfrm>
              <a:off x="4320" y="702"/>
              <a:ext cx="624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DFD0</a:t>
              </a:r>
              <a:endParaRPr lang="en-US" altLang="zh-CN" sz="2200" b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045390" name="组合 3045389"/>
            <p:cNvGrpSpPr/>
            <p:nvPr/>
          </p:nvGrpSpPr>
          <p:grpSpPr>
            <a:xfrm>
              <a:off x="669" y="1191"/>
              <a:ext cx="720" cy="777"/>
              <a:chOff x="1872" y="144"/>
              <a:chExt cx="1008" cy="1152"/>
            </a:xfrm>
          </p:grpSpPr>
          <p:sp>
            <p:nvSpPr>
              <p:cNvPr id="3045391" name="矩形 3045390"/>
              <p:cNvSpPr/>
              <p:nvPr/>
            </p:nvSpPr>
            <p:spPr>
              <a:xfrm>
                <a:off x="1872" y="144"/>
                <a:ext cx="1008" cy="1152"/>
              </a:xfrm>
              <a:prstGeom prst="rect">
                <a:avLst/>
              </a:prstGeom>
              <a:solidFill>
                <a:srgbClr val="C0C0C0"/>
              </a:solidFill>
              <a:ln w="9525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200" b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b="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检验</a:t>
                </a:r>
                <a:endPara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b="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阶数</a:t>
                </a:r>
                <a:endPara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45392" name="直接连接符 3045391"/>
              <p:cNvSpPr/>
              <p:nvPr/>
            </p:nvSpPr>
            <p:spPr>
              <a:xfrm>
                <a:off x="1872" y="480"/>
                <a:ext cx="1008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45393" name="组合 3045392"/>
            <p:cNvGrpSpPr/>
            <p:nvPr/>
          </p:nvGrpSpPr>
          <p:grpSpPr>
            <a:xfrm>
              <a:off x="1965" y="1191"/>
              <a:ext cx="720" cy="777"/>
              <a:chOff x="1872" y="144"/>
              <a:chExt cx="1008" cy="1152"/>
            </a:xfrm>
          </p:grpSpPr>
          <p:sp>
            <p:nvSpPr>
              <p:cNvPr id="3045394" name="矩形 3045393"/>
              <p:cNvSpPr/>
              <p:nvPr/>
            </p:nvSpPr>
            <p:spPr>
              <a:xfrm>
                <a:off x="1872" y="144"/>
                <a:ext cx="1008" cy="1152"/>
              </a:xfrm>
              <a:prstGeom prst="rect">
                <a:avLst/>
              </a:prstGeom>
              <a:solidFill>
                <a:srgbClr val="C0C0C0"/>
              </a:solidFill>
              <a:ln w="9525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200" b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b="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计算</a:t>
                </a:r>
                <a:endPara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b="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阶数</a:t>
                </a:r>
                <a:endPara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45395" name="直接连接符 3045394"/>
              <p:cNvSpPr/>
              <p:nvPr/>
            </p:nvSpPr>
            <p:spPr>
              <a:xfrm>
                <a:off x="1872" y="480"/>
                <a:ext cx="1008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45396" name="组合 3045395"/>
            <p:cNvGrpSpPr/>
            <p:nvPr/>
          </p:nvGrpSpPr>
          <p:grpSpPr>
            <a:xfrm>
              <a:off x="3261" y="1191"/>
              <a:ext cx="720" cy="777"/>
              <a:chOff x="1872" y="144"/>
              <a:chExt cx="1008" cy="1152"/>
            </a:xfrm>
          </p:grpSpPr>
          <p:sp>
            <p:nvSpPr>
              <p:cNvPr id="3045397" name="矩形 3045396"/>
              <p:cNvSpPr/>
              <p:nvPr/>
            </p:nvSpPr>
            <p:spPr>
              <a:xfrm>
                <a:off x="1872" y="144"/>
                <a:ext cx="1008" cy="1152"/>
              </a:xfrm>
              <a:prstGeom prst="rect">
                <a:avLst/>
              </a:prstGeom>
              <a:solidFill>
                <a:srgbClr val="C0C0C0"/>
              </a:solidFill>
              <a:ln w="9525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200" b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b="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打印</a:t>
                </a:r>
                <a:endPara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b="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阶数</a:t>
                </a:r>
                <a:endPara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45398" name="直接连接符 3045397"/>
              <p:cNvSpPr/>
              <p:nvPr/>
            </p:nvSpPr>
            <p:spPr>
              <a:xfrm>
                <a:off x="1872" y="480"/>
                <a:ext cx="1008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45399" name="直接连接符 3045398"/>
            <p:cNvSpPr/>
            <p:nvPr/>
          </p:nvSpPr>
          <p:spPr>
            <a:xfrm>
              <a:off x="3981" y="1671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5400" name="直接连接符 3045399"/>
            <p:cNvSpPr/>
            <p:nvPr/>
          </p:nvSpPr>
          <p:spPr>
            <a:xfrm>
              <a:off x="2685" y="1671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5401" name="直接连接符 3045400"/>
            <p:cNvSpPr/>
            <p:nvPr/>
          </p:nvSpPr>
          <p:spPr>
            <a:xfrm>
              <a:off x="1389" y="1575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5402" name="直接连接符 3045401"/>
            <p:cNvSpPr/>
            <p:nvPr/>
          </p:nvSpPr>
          <p:spPr>
            <a:xfrm>
              <a:off x="45" y="1575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3045403" name="组合 3045402"/>
            <p:cNvGrpSpPr/>
            <p:nvPr/>
          </p:nvGrpSpPr>
          <p:grpSpPr>
            <a:xfrm>
              <a:off x="2400" y="2928"/>
              <a:ext cx="240" cy="240"/>
              <a:chOff x="1389" y="1893"/>
              <a:chExt cx="240" cy="240"/>
            </a:xfrm>
          </p:grpSpPr>
          <p:sp>
            <p:nvSpPr>
              <p:cNvPr id="3045404" name="直接连接符 3045403"/>
              <p:cNvSpPr/>
              <p:nvPr/>
            </p:nvSpPr>
            <p:spPr>
              <a:xfrm>
                <a:off x="1389" y="1893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45405" name="直接连接符 3045404"/>
              <p:cNvSpPr/>
              <p:nvPr/>
            </p:nvSpPr>
            <p:spPr>
              <a:xfrm>
                <a:off x="1629" y="1893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3045406" name="文本框 3045405"/>
            <p:cNvSpPr txBox="1"/>
            <p:nvPr/>
          </p:nvSpPr>
          <p:spPr>
            <a:xfrm>
              <a:off x="3984" y="1392"/>
              <a:ext cx="915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系数表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5407" name="文本框 3045406"/>
            <p:cNvSpPr txBox="1"/>
            <p:nvPr/>
          </p:nvSpPr>
          <p:spPr>
            <a:xfrm>
              <a:off x="2736" y="1392"/>
              <a:ext cx="480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系数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5408" name="文本框 3045407"/>
            <p:cNvSpPr txBox="1"/>
            <p:nvPr/>
          </p:nvSpPr>
          <p:spPr>
            <a:xfrm>
              <a:off x="1488" y="1939"/>
              <a:ext cx="1296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不合理阶数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5409" name="文本框 3045408"/>
            <p:cNvSpPr txBox="1"/>
            <p:nvPr/>
          </p:nvSpPr>
          <p:spPr>
            <a:xfrm>
              <a:off x="1389" y="1506"/>
              <a:ext cx="288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⊕</a:t>
              </a:r>
              <a:endParaRPr lang="en-US" altLang="zh-CN" sz="2200" b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5410" name="文本框 3045409"/>
            <p:cNvSpPr txBox="1"/>
            <p:nvPr/>
          </p:nvSpPr>
          <p:spPr>
            <a:xfrm>
              <a:off x="1437" y="1104"/>
              <a:ext cx="675" cy="46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0"/>
                </a:spcBef>
              </a:pP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合理</a:t>
              </a:r>
              <a:endParaRPr lang="zh-CN" altLang="en-US" sz="2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l">
                <a:spcBef>
                  <a:spcPct val="0"/>
                </a:spcBef>
              </a:pP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阶数</a:t>
              </a:r>
              <a:endParaRPr lang="zh-CN" altLang="en-US" sz="2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5411" name="文本框 3045410"/>
            <p:cNvSpPr txBox="1"/>
            <p:nvPr/>
          </p:nvSpPr>
          <p:spPr>
            <a:xfrm>
              <a:off x="45" y="1104"/>
              <a:ext cx="768" cy="46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输入阶数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5412" name="文本框 3045411"/>
            <p:cNvSpPr txBox="1"/>
            <p:nvPr/>
          </p:nvSpPr>
          <p:spPr>
            <a:xfrm>
              <a:off x="4368" y="1104"/>
              <a:ext cx="624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DFD1</a:t>
              </a:r>
              <a:endParaRPr lang="en-US" altLang="zh-CN" sz="2200" b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045413" name="组合 3045412"/>
            <p:cNvGrpSpPr/>
            <p:nvPr/>
          </p:nvGrpSpPr>
          <p:grpSpPr>
            <a:xfrm>
              <a:off x="624" y="2304"/>
              <a:ext cx="624" cy="816"/>
              <a:chOff x="480" y="2400"/>
              <a:chExt cx="720" cy="777"/>
            </a:xfrm>
          </p:grpSpPr>
          <p:sp>
            <p:nvSpPr>
              <p:cNvPr id="3045414" name="矩形 3045413"/>
              <p:cNvSpPr/>
              <p:nvPr/>
            </p:nvSpPr>
            <p:spPr>
              <a:xfrm>
                <a:off x="480" y="2400"/>
                <a:ext cx="720" cy="777"/>
              </a:xfrm>
              <a:prstGeom prst="rect">
                <a:avLst/>
              </a:prstGeom>
              <a:solidFill>
                <a:srgbClr val="C0C0C0"/>
              </a:solidFill>
              <a:ln w="9525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200" b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1.1</a:t>
                </a: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b="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输入</a:t>
                </a:r>
                <a:endPara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b="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阶数</a:t>
                </a:r>
                <a:endPara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45415" name="直接连接符 3045414"/>
              <p:cNvSpPr/>
              <p:nvPr/>
            </p:nvSpPr>
            <p:spPr>
              <a:xfrm>
                <a:off x="480" y="2654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45416" name="组合 3045415"/>
            <p:cNvGrpSpPr/>
            <p:nvPr/>
          </p:nvGrpSpPr>
          <p:grpSpPr>
            <a:xfrm>
              <a:off x="1776" y="2304"/>
              <a:ext cx="624" cy="816"/>
              <a:chOff x="480" y="2400"/>
              <a:chExt cx="720" cy="777"/>
            </a:xfrm>
          </p:grpSpPr>
          <p:sp>
            <p:nvSpPr>
              <p:cNvPr id="3045417" name="矩形 3045416"/>
              <p:cNvSpPr/>
              <p:nvPr/>
            </p:nvSpPr>
            <p:spPr>
              <a:xfrm>
                <a:off x="480" y="2400"/>
                <a:ext cx="720" cy="777"/>
              </a:xfrm>
              <a:prstGeom prst="rect">
                <a:avLst/>
              </a:prstGeom>
              <a:solidFill>
                <a:srgbClr val="C0C0C0"/>
              </a:solidFill>
              <a:ln w="9525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200" b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1.2</a:t>
                </a: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b="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检验</a:t>
                </a:r>
                <a:endPara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b="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阶数</a:t>
                </a:r>
                <a:endPara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45418" name="直接连接符 3045417"/>
              <p:cNvSpPr/>
              <p:nvPr/>
            </p:nvSpPr>
            <p:spPr>
              <a:xfrm>
                <a:off x="480" y="2654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45419" name="文本框 3045418"/>
            <p:cNvSpPr txBox="1"/>
            <p:nvPr/>
          </p:nvSpPr>
          <p:spPr>
            <a:xfrm>
              <a:off x="2496" y="2064"/>
              <a:ext cx="480" cy="46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0"/>
                </a:spcBef>
              </a:pP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合理</a:t>
              </a:r>
              <a:endParaRPr lang="zh-CN" altLang="en-US" sz="2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l">
                <a:spcBef>
                  <a:spcPct val="0"/>
                </a:spcBef>
              </a:pP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阶数</a:t>
              </a:r>
              <a:endParaRPr lang="zh-CN" altLang="en-US" sz="2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5420" name="直接连接符 3045419"/>
            <p:cNvSpPr/>
            <p:nvPr/>
          </p:nvSpPr>
          <p:spPr>
            <a:xfrm>
              <a:off x="2400" y="2544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5421" name="文本框 3045420"/>
            <p:cNvSpPr txBox="1"/>
            <p:nvPr/>
          </p:nvSpPr>
          <p:spPr>
            <a:xfrm>
              <a:off x="2448" y="2544"/>
              <a:ext cx="288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⊕</a:t>
              </a:r>
              <a:endParaRPr lang="en-US" altLang="zh-CN" sz="2200" b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5422" name="文本框 3045421"/>
            <p:cNvSpPr txBox="1"/>
            <p:nvPr/>
          </p:nvSpPr>
          <p:spPr>
            <a:xfrm>
              <a:off x="2577" y="2592"/>
              <a:ext cx="639" cy="67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不合理阶数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045423" name="组合 3045422"/>
            <p:cNvGrpSpPr/>
            <p:nvPr/>
          </p:nvGrpSpPr>
          <p:grpSpPr>
            <a:xfrm>
              <a:off x="1395" y="1818"/>
              <a:ext cx="240" cy="240"/>
              <a:chOff x="1389" y="1893"/>
              <a:chExt cx="240" cy="240"/>
            </a:xfrm>
          </p:grpSpPr>
          <p:sp>
            <p:nvSpPr>
              <p:cNvPr id="3045424" name="直接连接符 3045423"/>
              <p:cNvSpPr/>
              <p:nvPr/>
            </p:nvSpPr>
            <p:spPr>
              <a:xfrm>
                <a:off x="1389" y="1893"/>
                <a:ext cx="24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45425" name="直接连接符 3045424"/>
              <p:cNvSpPr/>
              <p:nvPr/>
            </p:nvSpPr>
            <p:spPr>
              <a:xfrm>
                <a:off x="1629" y="1893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3045426" name="直接连接符 3045425"/>
            <p:cNvSpPr/>
            <p:nvPr/>
          </p:nvSpPr>
          <p:spPr>
            <a:xfrm>
              <a:off x="1248" y="2688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5427" name="文本框 3045426"/>
            <p:cNvSpPr txBox="1"/>
            <p:nvPr/>
          </p:nvSpPr>
          <p:spPr>
            <a:xfrm>
              <a:off x="1296" y="2400"/>
              <a:ext cx="576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045428" name="组合 3045427"/>
            <p:cNvGrpSpPr/>
            <p:nvPr/>
          </p:nvGrpSpPr>
          <p:grpSpPr>
            <a:xfrm>
              <a:off x="3696" y="2304"/>
              <a:ext cx="624" cy="816"/>
              <a:chOff x="480" y="2400"/>
              <a:chExt cx="720" cy="777"/>
            </a:xfrm>
          </p:grpSpPr>
          <p:sp>
            <p:nvSpPr>
              <p:cNvPr id="3045429" name="矩形 3045428"/>
              <p:cNvSpPr/>
              <p:nvPr/>
            </p:nvSpPr>
            <p:spPr>
              <a:xfrm>
                <a:off x="480" y="2400"/>
                <a:ext cx="720" cy="777"/>
              </a:xfrm>
              <a:prstGeom prst="rect">
                <a:avLst/>
              </a:prstGeom>
              <a:solidFill>
                <a:srgbClr val="C0C0C0"/>
              </a:solidFill>
              <a:ln w="9525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200" b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2.1</a:t>
                </a: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b="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计算</a:t>
                </a:r>
                <a:r>
                  <a:rPr lang="en-US" altLang="zh-CN" sz="2200" b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45430" name="直接连接符 3045429"/>
              <p:cNvSpPr/>
              <p:nvPr/>
            </p:nvSpPr>
            <p:spPr>
              <a:xfrm>
                <a:off x="480" y="2654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45431" name="文本框 3045430"/>
            <p:cNvSpPr txBox="1"/>
            <p:nvPr/>
          </p:nvSpPr>
          <p:spPr>
            <a:xfrm>
              <a:off x="4416" y="2064"/>
              <a:ext cx="624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DFD2</a:t>
              </a:r>
              <a:endParaRPr lang="en-US" altLang="zh-CN" sz="2200" b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5432" name="文本框 3045431"/>
            <p:cNvSpPr txBox="1"/>
            <p:nvPr/>
          </p:nvSpPr>
          <p:spPr>
            <a:xfrm>
              <a:off x="3264" y="2352"/>
              <a:ext cx="432" cy="8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0"/>
                </a:spcBef>
              </a:pP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合理</a:t>
              </a:r>
              <a:endParaRPr lang="zh-CN" altLang="en-US" sz="2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l">
                <a:spcBef>
                  <a:spcPct val="0"/>
                </a:spcBef>
              </a:pP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阶数</a:t>
              </a:r>
              <a:endParaRPr lang="zh-CN" altLang="en-US" sz="2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5433" name="直接连接符 3045432"/>
            <p:cNvSpPr/>
            <p:nvPr/>
          </p:nvSpPr>
          <p:spPr>
            <a:xfrm>
              <a:off x="3216" y="2688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5434" name="直接连接符 3045433"/>
            <p:cNvSpPr/>
            <p:nvPr/>
          </p:nvSpPr>
          <p:spPr>
            <a:xfrm>
              <a:off x="4320" y="2688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5435" name="文本框 3045434"/>
            <p:cNvSpPr txBox="1"/>
            <p:nvPr/>
          </p:nvSpPr>
          <p:spPr>
            <a:xfrm>
              <a:off x="4416" y="2448"/>
              <a:ext cx="480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系数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045436" name="组合 3045435"/>
            <p:cNvGrpSpPr/>
            <p:nvPr/>
          </p:nvGrpSpPr>
          <p:grpSpPr>
            <a:xfrm>
              <a:off x="624" y="3312"/>
              <a:ext cx="624" cy="816"/>
              <a:chOff x="480" y="2400"/>
              <a:chExt cx="720" cy="777"/>
            </a:xfrm>
          </p:grpSpPr>
          <p:sp>
            <p:nvSpPr>
              <p:cNvPr id="3045437" name="矩形 3045436"/>
              <p:cNvSpPr/>
              <p:nvPr/>
            </p:nvSpPr>
            <p:spPr>
              <a:xfrm>
                <a:off x="480" y="2400"/>
                <a:ext cx="720" cy="777"/>
              </a:xfrm>
              <a:prstGeom prst="rect">
                <a:avLst/>
              </a:prstGeom>
              <a:solidFill>
                <a:srgbClr val="C0C0C0"/>
              </a:solidFill>
              <a:ln w="9525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spcBef>
                    <a:spcPct val="0"/>
                  </a:spcBef>
                </a:pPr>
                <a:r>
                  <a:rPr lang="en-US" altLang="zh-CN" sz="2200" b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3.1</a:t>
                </a: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spcBef>
                    <a:spcPct val="0"/>
                  </a:spcBef>
                </a:pP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spcBef>
                    <a:spcPct val="0"/>
                  </a:spcBef>
                </a:pPr>
                <a:r>
                  <a:rPr lang="zh-CN" altLang="en-US" sz="2200" b="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打印</a:t>
                </a:r>
                <a:r>
                  <a:rPr lang="en-US" altLang="zh-CN" sz="2200" b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45438" name="直接连接符 3045437"/>
              <p:cNvSpPr/>
              <p:nvPr/>
            </p:nvSpPr>
            <p:spPr>
              <a:xfrm>
                <a:off x="480" y="2654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45439" name="直接连接符 3045438"/>
            <p:cNvSpPr/>
            <p:nvPr/>
          </p:nvSpPr>
          <p:spPr>
            <a:xfrm>
              <a:off x="96" y="3696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5440" name="文本框 3045439"/>
            <p:cNvSpPr txBox="1"/>
            <p:nvPr/>
          </p:nvSpPr>
          <p:spPr>
            <a:xfrm>
              <a:off x="144" y="3408"/>
              <a:ext cx="576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5441" name="直接连接符 3045440"/>
            <p:cNvSpPr/>
            <p:nvPr/>
          </p:nvSpPr>
          <p:spPr>
            <a:xfrm>
              <a:off x="1248" y="3744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5442" name="文本框 3045441"/>
            <p:cNvSpPr txBox="1"/>
            <p:nvPr/>
          </p:nvSpPr>
          <p:spPr>
            <a:xfrm>
              <a:off x="1200" y="3456"/>
              <a:ext cx="780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系数表</a:t>
              </a:r>
              <a:r>
                <a:rPr lang="en-US" altLang="zh-CN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045443" name="组合 3045442"/>
            <p:cNvGrpSpPr/>
            <p:nvPr/>
          </p:nvGrpSpPr>
          <p:grpSpPr>
            <a:xfrm>
              <a:off x="2448" y="3312"/>
              <a:ext cx="624" cy="816"/>
              <a:chOff x="480" y="2400"/>
              <a:chExt cx="720" cy="777"/>
            </a:xfrm>
          </p:grpSpPr>
          <p:sp>
            <p:nvSpPr>
              <p:cNvPr id="3045444" name="矩形 3045443"/>
              <p:cNvSpPr/>
              <p:nvPr/>
            </p:nvSpPr>
            <p:spPr>
              <a:xfrm>
                <a:off x="480" y="2400"/>
                <a:ext cx="720" cy="777"/>
              </a:xfrm>
              <a:prstGeom prst="rect">
                <a:avLst/>
              </a:prstGeom>
              <a:solidFill>
                <a:srgbClr val="C0C0C0"/>
              </a:solidFill>
              <a:ln w="9525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spcBef>
                    <a:spcPct val="0"/>
                  </a:spcBef>
                </a:pPr>
                <a:r>
                  <a:rPr lang="en-US" altLang="zh-CN" sz="2200" b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3.2</a:t>
                </a: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spcBef>
                    <a:spcPct val="0"/>
                  </a:spcBef>
                </a:pP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spcBef>
                    <a:spcPct val="0"/>
                  </a:spcBef>
                </a:pPr>
                <a:r>
                  <a:rPr lang="zh-CN" altLang="en-US" sz="2200" b="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打印</a:t>
                </a:r>
                <a:r>
                  <a:rPr lang="en-US" altLang="zh-CN" sz="2200" b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45445" name="直接连接符 3045444"/>
              <p:cNvSpPr/>
              <p:nvPr/>
            </p:nvSpPr>
            <p:spPr>
              <a:xfrm>
                <a:off x="480" y="2654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45446" name="直接连接符 3045445"/>
            <p:cNvSpPr/>
            <p:nvPr/>
          </p:nvSpPr>
          <p:spPr>
            <a:xfrm>
              <a:off x="1920" y="3696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5447" name="文本框 3045446"/>
            <p:cNvSpPr txBox="1"/>
            <p:nvPr/>
          </p:nvSpPr>
          <p:spPr>
            <a:xfrm>
              <a:off x="1968" y="3408"/>
              <a:ext cx="576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5448" name="直接连接符 3045447"/>
            <p:cNvSpPr/>
            <p:nvPr/>
          </p:nvSpPr>
          <p:spPr>
            <a:xfrm>
              <a:off x="3072" y="3744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5449" name="文本框 3045448"/>
            <p:cNvSpPr txBox="1"/>
            <p:nvPr/>
          </p:nvSpPr>
          <p:spPr>
            <a:xfrm>
              <a:off x="3060" y="3312"/>
              <a:ext cx="624" cy="46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系数表</a:t>
              </a:r>
              <a:r>
                <a:rPr lang="en-US" altLang="zh-CN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045450" name="组合 3045449"/>
            <p:cNvGrpSpPr/>
            <p:nvPr/>
          </p:nvGrpSpPr>
          <p:grpSpPr>
            <a:xfrm>
              <a:off x="4080" y="3360"/>
              <a:ext cx="624" cy="816"/>
              <a:chOff x="480" y="2400"/>
              <a:chExt cx="720" cy="777"/>
            </a:xfrm>
          </p:grpSpPr>
          <p:sp>
            <p:nvSpPr>
              <p:cNvPr id="3045451" name="矩形 3045450"/>
              <p:cNvSpPr/>
              <p:nvPr/>
            </p:nvSpPr>
            <p:spPr>
              <a:xfrm>
                <a:off x="480" y="2400"/>
                <a:ext cx="720" cy="777"/>
              </a:xfrm>
              <a:prstGeom prst="rect">
                <a:avLst/>
              </a:prstGeom>
              <a:solidFill>
                <a:srgbClr val="C0C0C0"/>
              </a:solidFill>
              <a:ln w="9525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>
                  <a:spcBef>
                    <a:spcPct val="0"/>
                  </a:spcBef>
                </a:pPr>
                <a:r>
                  <a:rPr lang="en-US" altLang="zh-CN" sz="2200" b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2.2</a:t>
                </a: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200" b="0" dirty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计算</a:t>
                </a:r>
                <a:r>
                  <a:rPr lang="en-US" altLang="zh-CN" sz="2200" b="0">
                    <a:solidFill>
                      <a:srgbClr val="FF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45452" name="直接连接符 3045451"/>
              <p:cNvSpPr/>
              <p:nvPr/>
            </p:nvSpPr>
            <p:spPr>
              <a:xfrm>
                <a:off x="480" y="2654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45453" name="文本框 3045452"/>
            <p:cNvSpPr txBox="1"/>
            <p:nvPr/>
          </p:nvSpPr>
          <p:spPr>
            <a:xfrm>
              <a:off x="3552" y="3264"/>
              <a:ext cx="624" cy="46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>
                <a:spcBef>
                  <a:spcPct val="0"/>
                </a:spcBef>
              </a:pP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合理</a:t>
              </a:r>
              <a:endParaRPr lang="zh-CN" altLang="en-US" sz="2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l">
                <a:spcBef>
                  <a:spcPct val="0"/>
                </a:spcBef>
              </a:pPr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阶数</a:t>
              </a:r>
              <a:endParaRPr lang="zh-CN" altLang="en-US" sz="2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5454" name="直接连接符 3045453"/>
            <p:cNvSpPr/>
            <p:nvPr/>
          </p:nvSpPr>
          <p:spPr>
            <a:xfrm>
              <a:off x="3600" y="3744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5455" name="直接连接符 3045454"/>
            <p:cNvSpPr/>
            <p:nvPr/>
          </p:nvSpPr>
          <p:spPr>
            <a:xfrm>
              <a:off x="4704" y="3744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5456" name="文本框 3045455"/>
            <p:cNvSpPr txBox="1"/>
            <p:nvPr/>
          </p:nvSpPr>
          <p:spPr>
            <a:xfrm>
              <a:off x="4800" y="3504"/>
              <a:ext cx="480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系数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45457" name="矩形 3045456"/>
          <p:cNvSpPr/>
          <p:nvPr/>
        </p:nvSpPr>
        <p:spPr>
          <a:xfrm>
            <a:off x="1752600" y="20638"/>
            <a:ext cx="30403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eaLnBrk="1" hangingPunct="1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补充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：求解杨辉三角形系数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46402" name="直接连接符 3046401"/>
          <p:cNvSpPr/>
          <p:nvPr/>
        </p:nvSpPr>
        <p:spPr>
          <a:xfrm>
            <a:off x="7696200" y="5486400"/>
            <a:ext cx="0" cy="11430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046403" name="组合 3046402"/>
          <p:cNvGrpSpPr/>
          <p:nvPr/>
        </p:nvGrpSpPr>
        <p:grpSpPr>
          <a:xfrm>
            <a:off x="1828800" y="0"/>
            <a:ext cx="8610600" cy="6553200"/>
            <a:chOff x="342" y="192"/>
            <a:chExt cx="5130" cy="3936"/>
          </a:xfrm>
        </p:grpSpPr>
        <p:sp>
          <p:nvSpPr>
            <p:cNvPr id="3046404" name="矩形 3046403"/>
            <p:cNvSpPr/>
            <p:nvPr/>
          </p:nvSpPr>
          <p:spPr>
            <a:xfrm>
              <a:off x="1824" y="192"/>
              <a:ext cx="1920" cy="432"/>
            </a:xfrm>
            <a:prstGeom prst="rect">
              <a:avLst/>
            </a:prstGeom>
            <a:solidFill>
              <a:srgbClr val="C0C0C0"/>
            </a:solidFill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求解杨辉三角形系数</a:t>
              </a:r>
              <a:endParaRPr lang="zh-CN" altLang="en-US" sz="2200" b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05" name="矩形 3046404"/>
            <p:cNvSpPr/>
            <p:nvPr/>
          </p:nvSpPr>
          <p:spPr>
            <a:xfrm>
              <a:off x="624" y="1344"/>
              <a:ext cx="1104" cy="384"/>
            </a:xfrm>
            <a:prstGeom prst="rect">
              <a:avLst/>
            </a:prstGeom>
            <a:solidFill>
              <a:srgbClr val="C0C0C0"/>
            </a:solidFill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取合理阶数</a:t>
              </a:r>
              <a:endParaRPr lang="zh-CN" altLang="en-US" sz="2200" b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06" name="矩形 3046405"/>
            <p:cNvSpPr/>
            <p:nvPr/>
          </p:nvSpPr>
          <p:spPr>
            <a:xfrm>
              <a:off x="3840" y="1296"/>
              <a:ext cx="960" cy="384"/>
            </a:xfrm>
            <a:prstGeom prst="rect">
              <a:avLst/>
            </a:prstGeom>
            <a:solidFill>
              <a:srgbClr val="C0C0C0"/>
            </a:solidFill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打印系数</a:t>
              </a:r>
              <a:endParaRPr lang="zh-CN" altLang="en-US" sz="2200" b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07" name="矩形 3046406"/>
            <p:cNvSpPr/>
            <p:nvPr/>
          </p:nvSpPr>
          <p:spPr>
            <a:xfrm>
              <a:off x="2112" y="1296"/>
              <a:ext cx="1200" cy="480"/>
            </a:xfrm>
            <a:prstGeom prst="rect">
              <a:avLst/>
            </a:prstGeom>
            <a:solidFill>
              <a:srgbClr val="C0C0C0"/>
            </a:solidFill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>
                <a:spcBef>
                  <a:spcPct val="0"/>
                </a:spcBef>
              </a:pPr>
              <a:r>
                <a: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计算系数方</a:t>
              </a:r>
              <a:endParaRPr lang="zh-CN" altLang="en-US" sz="2200" b="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法选用</a:t>
              </a:r>
              <a:endParaRPr lang="zh-CN" altLang="en-US" sz="2200" b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08" name="矩形 3046407"/>
            <p:cNvSpPr/>
            <p:nvPr/>
          </p:nvSpPr>
          <p:spPr>
            <a:xfrm>
              <a:off x="528" y="2640"/>
              <a:ext cx="480" cy="624"/>
            </a:xfrm>
            <a:prstGeom prst="rect">
              <a:avLst/>
            </a:prstGeom>
            <a:solidFill>
              <a:srgbClr val="C0C0C0"/>
            </a:solidFill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spcBef>
                  <a:spcPct val="0"/>
                </a:spcBef>
              </a:pPr>
              <a:r>
                <a: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输入</a:t>
              </a:r>
              <a:endParaRPr lang="zh-CN" altLang="en-US" sz="2200" b="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</a:pPr>
              <a:r>
                <a: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阶数</a:t>
              </a:r>
              <a:endParaRPr lang="zh-CN" altLang="en-US" sz="2200" b="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09" name="矩形 3046408"/>
            <p:cNvSpPr/>
            <p:nvPr/>
          </p:nvSpPr>
          <p:spPr>
            <a:xfrm>
              <a:off x="1200" y="2640"/>
              <a:ext cx="480" cy="624"/>
            </a:xfrm>
            <a:prstGeom prst="rect">
              <a:avLst/>
            </a:prstGeom>
            <a:solidFill>
              <a:srgbClr val="C0C0C0"/>
            </a:solidFill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spcBef>
                  <a:spcPct val="0"/>
                </a:spcBef>
              </a:pPr>
              <a:r>
                <a: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检验</a:t>
              </a:r>
              <a:endParaRPr lang="zh-CN" altLang="en-US" sz="2200" b="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</a:pPr>
              <a:r>
                <a: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阶数</a:t>
              </a:r>
              <a:endParaRPr lang="zh-CN" altLang="en-US" sz="2200" b="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10" name="矩形 3046409"/>
            <p:cNvSpPr/>
            <p:nvPr/>
          </p:nvSpPr>
          <p:spPr>
            <a:xfrm>
              <a:off x="2016" y="2640"/>
              <a:ext cx="384" cy="864"/>
            </a:xfrm>
            <a:prstGeom prst="rect">
              <a:avLst/>
            </a:prstGeom>
            <a:solidFill>
              <a:srgbClr val="C0C0C0"/>
            </a:solidFill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spcBef>
                  <a:spcPct val="0"/>
                </a:spcBef>
              </a:pPr>
              <a:r>
                <a: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计</a:t>
              </a:r>
              <a:endParaRPr lang="zh-CN" altLang="en-US" sz="2200" b="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</a:pPr>
              <a:r>
                <a: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算</a:t>
              </a:r>
              <a:endParaRPr lang="zh-CN" altLang="en-US" sz="2200" b="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</a:pPr>
              <a:r>
                <a: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200" b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11" name="矩形 3046410"/>
            <p:cNvSpPr/>
            <p:nvPr/>
          </p:nvSpPr>
          <p:spPr>
            <a:xfrm>
              <a:off x="2784" y="2640"/>
              <a:ext cx="384" cy="864"/>
            </a:xfrm>
            <a:prstGeom prst="rect">
              <a:avLst/>
            </a:prstGeom>
            <a:solidFill>
              <a:srgbClr val="C0C0C0"/>
            </a:solidFill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spcBef>
                  <a:spcPct val="0"/>
                </a:spcBef>
              </a:pPr>
              <a:r>
                <a: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计</a:t>
              </a:r>
              <a:endParaRPr lang="zh-CN" altLang="en-US" sz="2200" b="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</a:pPr>
              <a:r>
                <a: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算</a:t>
              </a:r>
              <a:endParaRPr lang="zh-CN" altLang="en-US" sz="2200" b="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</a:pPr>
              <a:r>
                <a: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200" b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12" name="矩形 3046411"/>
            <p:cNvSpPr/>
            <p:nvPr/>
          </p:nvSpPr>
          <p:spPr>
            <a:xfrm>
              <a:off x="3696" y="2592"/>
              <a:ext cx="384" cy="864"/>
            </a:xfrm>
            <a:prstGeom prst="rect">
              <a:avLst/>
            </a:prstGeom>
            <a:solidFill>
              <a:srgbClr val="C0C0C0"/>
            </a:solidFill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spcBef>
                  <a:spcPct val="0"/>
                </a:spcBef>
              </a:pPr>
              <a:r>
                <a: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打</a:t>
              </a:r>
              <a:endParaRPr lang="zh-CN" altLang="en-US" sz="2200" b="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</a:pPr>
              <a:r>
                <a: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印</a:t>
              </a:r>
              <a:endParaRPr lang="zh-CN" altLang="en-US" sz="2200" b="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</a:pPr>
              <a:r>
                <a: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200" b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13" name="矩形 3046412"/>
            <p:cNvSpPr/>
            <p:nvPr/>
          </p:nvSpPr>
          <p:spPr>
            <a:xfrm>
              <a:off x="4512" y="2592"/>
              <a:ext cx="384" cy="864"/>
            </a:xfrm>
            <a:prstGeom prst="rect">
              <a:avLst/>
            </a:prstGeom>
            <a:solidFill>
              <a:srgbClr val="C0C0C0"/>
            </a:solidFill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spcBef>
                  <a:spcPct val="0"/>
                </a:spcBef>
              </a:pPr>
              <a:r>
                <a: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打</a:t>
              </a:r>
              <a:endParaRPr lang="zh-CN" altLang="en-US" sz="2200" b="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</a:pPr>
              <a:r>
                <a:rPr lang="zh-CN" altLang="en-US" sz="2200" b="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印</a:t>
              </a:r>
              <a:endParaRPr lang="zh-CN" altLang="en-US" sz="2200" b="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</a:pPr>
              <a:r>
                <a:rPr lang="en-US" altLang="zh-CN" sz="2200" b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200" b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14" name="直接连接符 3046413"/>
            <p:cNvSpPr/>
            <p:nvPr/>
          </p:nvSpPr>
          <p:spPr>
            <a:xfrm>
              <a:off x="2640" y="624"/>
              <a:ext cx="0" cy="672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46415" name="直接连接符 3046414"/>
            <p:cNvSpPr/>
            <p:nvPr/>
          </p:nvSpPr>
          <p:spPr>
            <a:xfrm flipH="1">
              <a:off x="1152" y="624"/>
              <a:ext cx="1104" cy="720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46416" name="直接连接符 3046415"/>
            <p:cNvSpPr/>
            <p:nvPr/>
          </p:nvSpPr>
          <p:spPr>
            <a:xfrm>
              <a:off x="3120" y="624"/>
              <a:ext cx="1200" cy="672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46417" name="直接连接符 3046416"/>
            <p:cNvSpPr/>
            <p:nvPr/>
          </p:nvSpPr>
          <p:spPr>
            <a:xfrm>
              <a:off x="768" y="1728"/>
              <a:ext cx="0" cy="912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46418" name="直接连接符 3046417"/>
            <p:cNvSpPr/>
            <p:nvPr/>
          </p:nvSpPr>
          <p:spPr>
            <a:xfrm>
              <a:off x="1392" y="1728"/>
              <a:ext cx="0" cy="912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46419" name="直接连接符 3046418"/>
            <p:cNvSpPr/>
            <p:nvPr/>
          </p:nvSpPr>
          <p:spPr>
            <a:xfrm flipH="1">
              <a:off x="2208" y="1776"/>
              <a:ext cx="432" cy="864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46420" name="直接连接符 3046419"/>
            <p:cNvSpPr/>
            <p:nvPr/>
          </p:nvSpPr>
          <p:spPr>
            <a:xfrm>
              <a:off x="2640" y="1776"/>
              <a:ext cx="336" cy="864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46421" name="直接连接符 3046420"/>
            <p:cNvSpPr/>
            <p:nvPr/>
          </p:nvSpPr>
          <p:spPr>
            <a:xfrm flipH="1">
              <a:off x="3888" y="1680"/>
              <a:ext cx="432" cy="912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46422" name="直接连接符 3046421"/>
            <p:cNvSpPr/>
            <p:nvPr/>
          </p:nvSpPr>
          <p:spPr>
            <a:xfrm>
              <a:off x="4320" y="1680"/>
              <a:ext cx="384" cy="912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46423" name="直接连接符 3046422"/>
            <p:cNvSpPr/>
            <p:nvPr/>
          </p:nvSpPr>
          <p:spPr>
            <a:xfrm>
              <a:off x="1392" y="3264"/>
              <a:ext cx="0" cy="768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46424" name="直接连接符 3046423"/>
            <p:cNvSpPr/>
            <p:nvPr/>
          </p:nvSpPr>
          <p:spPr>
            <a:xfrm>
              <a:off x="4704" y="3456"/>
              <a:ext cx="0" cy="672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3046425" name="组合 3046424"/>
            <p:cNvGrpSpPr/>
            <p:nvPr/>
          </p:nvGrpSpPr>
          <p:grpSpPr>
            <a:xfrm>
              <a:off x="645" y="1920"/>
              <a:ext cx="48" cy="528"/>
              <a:chOff x="645" y="1920"/>
              <a:chExt cx="48" cy="528"/>
            </a:xfrm>
          </p:grpSpPr>
          <p:sp>
            <p:nvSpPr>
              <p:cNvPr id="3046426" name="直接连接符 3046425"/>
              <p:cNvSpPr/>
              <p:nvPr/>
            </p:nvSpPr>
            <p:spPr>
              <a:xfrm flipV="1">
                <a:off x="672" y="1920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46427" name="椭圆 3046426"/>
              <p:cNvSpPr/>
              <p:nvPr/>
            </p:nvSpPr>
            <p:spPr>
              <a:xfrm>
                <a:off x="645" y="240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46428" name="组合 3046427"/>
            <p:cNvGrpSpPr/>
            <p:nvPr/>
          </p:nvGrpSpPr>
          <p:grpSpPr>
            <a:xfrm>
              <a:off x="1440" y="1824"/>
              <a:ext cx="48" cy="528"/>
              <a:chOff x="645" y="1920"/>
              <a:chExt cx="48" cy="528"/>
            </a:xfrm>
          </p:grpSpPr>
          <p:sp>
            <p:nvSpPr>
              <p:cNvPr id="3046429" name="直接连接符 3046428"/>
              <p:cNvSpPr/>
              <p:nvPr/>
            </p:nvSpPr>
            <p:spPr>
              <a:xfrm flipV="1">
                <a:off x="672" y="1920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46430" name="椭圆 3046429"/>
              <p:cNvSpPr/>
              <p:nvPr/>
            </p:nvSpPr>
            <p:spPr>
              <a:xfrm>
                <a:off x="645" y="240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46431" name="组合 3046430"/>
            <p:cNvGrpSpPr/>
            <p:nvPr/>
          </p:nvGrpSpPr>
          <p:grpSpPr>
            <a:xfrm>
              <a:off x="2688" y="720"/>
              <a:ext cx="48" cy="528"/>
              <a:chOff x="645" y="1920"/>
              <a:chExt cx="48" cy="528"/>
            </a:xfrm>
          </p:grpSpPr>
          <p:sp>
            <p:nvSpPr>
              <p:cNvPr id="3046432" name="直接连接符 3046431"/>
              <p:cNvSpPr/>
              <p:nvPr/>
            </p:nvSpPr>
            <p:spPr>
              <a:xfrm flipV="1">
                <a:off x="672" y="1920"/>
                <a:ext cx="0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46433" name="椭圆 3046432"/>
              <p:cNvSpPr/>
              <p:nvPr/>
            </p:nvSpPr>
            <p:spPr>
              <a:xfrm>
                <a:off x="645" y="240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46434" name="组合 3046433"/>
            <p:cNvGrpSpPr/>
            <p:nvPr/>
          </p:nvGrpSpPr>
          <p:grpSpPr>
            <a:xfrm>
              <a:off x="1275" y="1869"/>
              <a:ext cx="48" cy="579"/>
              <a:chOff x="1275" y="1869"/>
              <a:chExt cx="48" cy="579"/>
            </a:xfrm>
          </p:grpSpPr>
          <p:sp>
            <p:nvSpPr>
              <p:cNvPr id="3046435" name="直接连接符 3046434"/>
              <p:cNvSpPr/>
              <p:nvPr/>
            </p:nvSpPr>
            <p:spPr>
              <a:xfrm>
                <a:off x="1296" y="1920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46436" name="椭圆 3046435"/>
              <p:cNvSpPr/>
              <p:nvPr/>
            </p:nvSpPr>
            <p:spPr>
              <a:xfrm>
                <a:off x="1275" y="1869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46437" name="组合 3046436"/>
            <p:cNvGrpSpPr/>
            <p:nvPr/>
          </p:nvGrpSpPr>
          <p:grpSpPr>
            <a:xfrm>
              <a:off x="3792" y="3504"/>
              <a:ext cx="48" cy="579"/>
              <a:chOff x="1275" y="1869"/>
              <a:chExt cx="48" cy="579"/>
            </a:xfrm>
          </p:grpSpPr>
          <p:sp>
            <p:nvSpPr>
              <p:cNvPr id="3046438" name="直接连接符 3046437"/>
              <p:cNvSpPr/>
              <p:nvPr/>
            </p:nvSpPr>
            <p:spPr>
              <a:xfrm>
                <a:off x="1296" y="1920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46439" name="椭圆 3046438"/>
              <p:cNvSpPr/>
              <p:nvPr/>
            </p:nvSpPr>
            <p:spPr>
              <a:xfrm>
                <a:off x="1275" y="1869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46440" name="组合 3046439"/>
            <p:cNvGrpSpPr/>
            <p:nvPr/>
          </p:nvGrpSpPr>
          <p:grpSpPr>
            <a:xfrm>
              <a:off x="4608" y="3504"/>
              <a:ext cx="48" cy="579"/>
              <a:chOff x="1275" y="1869"/>
              <a:chExt cx="48" cy="579"/>
            </a:xfrm>
          </p:grpSpPr>
          <p:sp>
            <p:nvSpPr>
              <p:cNvPr id="3046441" name="直接连接符 3046440"/>
              <p:cNvSpPr/>
              <p:nvPr/>
            </p:nvSpPr>
            <p:spPr>
              <a:xfrm>
                <a:off x="1296" y="1920"/>
                <a:ext cx="0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46442" name="椭圆 3046441"/>
              <p:cNvSpPr/>
              <p:nvPr/>
            </p:nvSpPr>
            <p:spPr>
              <a:xfrm>
                <a:off x="1275" y="1869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46443" name="组合 3046442"/>
            <p:cNvGrpSpPr/>
            <p:nvPr/>
          </p:nvGrpSpPr>
          <p:grpSpPr>
            <a:xfrm>
              <a:off x="2112" y="1929"/>
              <a:ext cx="324" cy="567"/>
              <a:chOff x="2112" y="1929"/>
              <a:chExt cx="324" cy="567"/>
            </a:xfrm>
          </p:grpSpPr>
          <p:sp>
            <p:nvSpPr>
              <p:cNvPr id="3046444" name="直接连接符 3046443"/>
              <p:cNvSpPr/>
              <p:nvPr/>
            </p:nvSpPr>
            <p:spPr>
              <a:xfrm flipH="1">
                <a:off x="2112" y="1968"/>
                <a:ext cx="288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46445" name="椭圆 3046444"/>
              <p:cNvSpPr/>
              <p:nvPr/>
            </p:nvSpPr>
            <p:spPr>
              <a:xfrm>
                <a:off x="2388" y="1929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46446" name="组合 3046445"/>
            <p:cNvGrpSpPr/>
            <p:nvPr/>
          </p:nvGrpSpPr>
          <p:grpSpPr>
            <a:xfrm>
              <a:off x="2763" y="1977"/>
              <a:ext cx="213" cy="519"/>
              <a:chOff x="2763" y="1977"/>
              <a:chExt cx="213" cy="519"/>
            </a:xfrm>
          </p:grpSpPr>
          <p:sp>
            <p:nvSpPr>
              <p:cNvPr id="3046447" name="直接连接符 3046446"/>
              <p:cNvSpPr/>
              <p:nvPr/>
            </p:nvSpPr>
            <p:spPr>
              <a:xfrm>
                <a:off x="2784" y="2016"/>
                <a:ext cx="192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46448" name="椭圆 3046447"/>
              <p:cNvSpPr/>
              <p:nvPr/>
            </p:nvSpPr>
            <p:spPr>
              <a:xfrm>
                <a:off x="2763" y="1977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46449" name="组合 3046448"/>
            <p:cNvGrpSpPr/>
            <p:nvPr/>
          </p:nvGrpSpPr>
          <p:grpSpPr>
            <a:xfrm>
              <a:off x="2706" y="2154"/>
              <a:ext cx="126" cy="327"/>
              <a:chOff x="2706" y="2154"/>
              <a:chExt cx="126" cy="327"/>
            </a:xfrm>
          </p:grpSpPr>
          <p:sp>
            <p:nvSpPr>
              <p:cNvPr id="3046450" name="直接连接符 3046449"/>
              <p:cNvSpPr/>
              <p:nvPr/>
            </p:nvSpPr>
            <p:spPr>
              <a:xfrm flipH="1" flipV="1">
                <a:off x="2706" y="2154"/>
                <a:ext cx="96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46451" name="椭圆 3046450"/>
              <p:cNvSpPr/>
              <p:nvPr/>
            </p:nvSpPr>
            <p:spPr>
              <a:xfrm>
                <a:off x="2784" y="2433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46452" name="组合 3046451"/>
            <p:cNvGrpSpPr/>
            <p:nvPr/>
          </p:nvGrpSpPr>
          <p:grpSpPr>
            <a:xfrm>
              <a:off x="3840" y="1872"/>
              <a:ext cx="324" cy="567"/>
              <a:chOff x="2112" y="1929"/>
              <a:chExt cx="324" cy="567"/>
            </a:xfrm>
          </p:grpSpPr>
          <p:sp>
            <p:nvSpPr>
              <p:cNvPr id="3046453" name="直接连接符 3046452"/>
              <p:cNvSpPr/>
              <p:nvPr/>
            </p:nvSpPr>
            <p:spPr>
              <a:xfrm flipH="1">
                <a:off x="2112" y="1968"/>
                <a:ext cx="288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46454" name="椭圆 3046453"/>
              <p:cNvSpPr/>
              <p:nvPr/>
            </p:nvSpPr>
            <p:spPr>
              <a:xfrm>
                <a:off x="2388" y="1929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46455" name="组合 3046454"/>
            <p:cNvGrpSpPr/>
            <p:nvPr/>
          </p:nvGrpSpPr>
          <p:grpSpPr>
            <a:xfrm>
              <a:off x="4464" y="1824"/>
              <a:ext cx="213" cy="519"/>
              <a:chOff x="2763" y="1977"/>
              <a:chExt cx="213" cy="519"/>
            </a:xfrm>
          </p:grpSpPr>
          <p:sp>
            <p:nvSpPr>
              <p:cNvPr id="3046456" name="直接连接符 3046455"/>
              <p:cNvSpPr/>
              <p:nvPr/>
            </p:nvSpPr>
            <p:spPr>
              <a:xfrm>
                <a:off x="2784" y="2016"/>
                <a:ext cx="192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46457" name="椭圆 3046456"/>
              <p:cNvSpPr/>
              <p:nvPr/>
            </p:nvSpPr>
            <p:spPr>
              <a:xfrm>
                <a:off x="2763" y="1977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46458" name="组合 3046457"/>
            <p:cNvGrpSpPr/>
            <p:nvPr/>
          </p:nvGrpSpPr>
          <p:grpSpPr>
            <a:xfrm>
              <a:off x="4368" y="1968"/>
              <a:ext cx="213" cy="519"/>
              <a:chOff x="2763" y="1977"/>
              <a:chExt cx="213" cy="519"/>
            </a:xfrm>
          </p:grpSpPr>
          <p:sp>
            <p:nvSpPr>
              <p:cNvPr id="3046459" name="直接连接符 3046458"/>
              <p:cNvSpPr/>
              <p:nvPr/>
            </p:nvSpPr>
            <p:spPr>
              <a:xfrm>
                <a:off x="2784" y="2016"/>
                <a:ext cx="192" cy="4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46460" name="椭圆 3046459"/>
              <p:cNvSpPr/>
              <p:nvPr/>
            </p:nvSpPr>
            <p:spPr>
              <a:xfrm>
                <a:off x="2763" y="1977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46461" name="组合 3046460"/>
            <p:cNvGrpSpPr/>
            <p:nvPr/>
          </p:nvGrpSpPr>
          <p:grpSpPr>
            <a:xfrm>
              <a:off x="3984" y="1968"/>
              <a:ext cx="324" cy="567"/>
              <a:chOff x="2112" y="1929"/>
              <a:chExt cx="324" cy="567"/>
            </a:xfrm>
          </p:grpSpPr>
          <p:sp>
            <p:nvSpPr>
              <p:cNvPr id="3046462" name="直接连接符 3046461"/>
              <p:cNvSpPr/>
              <p:nvPr/>
            </p:nvSpPr>
            <p:spPr>
              <a:xfrm flipH="1">
                <a:off x="2112" y="1968"/>
                <a:ext cx="288" cy="52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46463" name="椭圆 3046462"/>
              <p:cNvSpPr/>
              <p:nvPr/>
            </p:nvSpPr>
            <p:spPr>
              <a:xfrm>
                <a:off x="2388" y="1929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46464" name="组合 3046463"/>
            <p:cNvGrpSpPr/>
            <p:nvPr/>
          </p:nvGrpSpPr>
          <p:grpSpPr>
            <a:xfrm>
              <a:off x="1209" y="864"/>
              <a:ext cx="471" cy="327"/>
              <a:chOff x="1209" y="864"/>
              <a:chExt cx="471" cy="327"/>
            </a:xfrm>
          </p:grpSpPr>
          <p:sp>
            <p:nvSpPr>
              <p:cNvPr id="3046465" name="直接连接符 3046464"/>
              <p:cNvSpPr/>
              <p:nvPr/>
            </p:nvSpPr>
            <p:spPr>
              <a:xfrm flipV="1">
                <a:off x="1248" y="864"/>
                <a:ext cx="432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46466" name="椭圆 3046465"/>
              <p:cNvSpPr/>
              <p:nvPr/>
            </p:nvSpPr>
            <p:spPr>
              <a:xfrm>
                <a:off x="1209" y="1143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46467" name="组合 3046466"/>
            <p:cNvGrpSpPr/>
            <p:nvPr/>
          </p:nvGrpSpPr>
          <p:grpSpPr>
            <a:xfrm>
              <a:off x="1680" y="834"/>
              <a:ext cx="423" cy="270"/>
              <a:chOff x="1680" y="834"/>
              <a:chExt cx="423" cy="270"/>
            </a:xfrm>
          </p:grpSpPr>
          <p:sp>
            <p:nvSpPr>
              <p:cNvPr id="3046468" name="直接连接符 3046467"/>
              <p:cNvSpPr/>
              <p:nvPr/>
            </p:nvSpPr>
            <p:spPr>
              <a:xfrm flipH="1">
                <a:off x="1680" y="864"/>
                <a:ext cx="384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46469" name="椭圆 3046468"/>
              <p:cNvSpPr/>
              <p:nvPr/>
            </p:nvSpPr>
            <p:spPr>
              <a:xfrm>
                <a:off x="2055" y="83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46470" name="组合 3046469"/>
            <p:cNvGrpSpPr/>
            <p:nvPr/>
          </p:nvGrpSpPr>
          <p:grpSpPr>
            <a:xfrm>
              <a:off x="3360" y="819"/>
              <a:ext cx="480" cy="273"/>
              <a:chOff x="3360" y="819"/>
              <a:chExt cx="480" cy="273"/>
            </a:xfrm>
          </p:grpSpPr>
          <p:sp>
            <p:nvSpPr>
              <p:cNvPr id="3046471" name="直接连接符 3046470"/>
              <p:cNvSpPr/>
              <p:nvPr/>
            </p:nvSpPr>
            <p:spPr>
              <a:xfrm>
                <a:off x="3408" y="852"/>
                <a:ext cx="432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46472" name="椭圆 3046471"/>
              <p:cNvSpPr/>
              <p:nvPr/>
            </p:nvSpPr>
            <p:spPr>
              <a:xfrm>
                <a:off x="3360" y="819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046473" name="组合 3046472"/>
            <p:cNvGrpSpPr/>
            <p:nvPr/>
          </p:nvGrpSpPr>
          <p:grpSpPr>
            <a:xfrm>
              <a:off x="3552" y="777"/>
              <a:ext cx="528" cy="279"/>
              <a:chOff x="3552" y="777"/>
              <a:chExt cx="528" cy="279"/>
            </a:xfrm>
          </p:grpSpPr>
          <p:sp>
            <p:nvSpPr>
              <p:cNvPr id="3046474" name="直接连接符 3046473"/>
              <p:cNvSpPr/>
              <p:nvPr/>
            </p:nvSpPr>
            <p:spPr>
              <a:xfrm>
                <a:off x="3600" y="816"/>
                <a:ext cx="48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46475" name="椭圆 3046474"/>
              <p:cNvSpPr/>
              <p:nvPr/>
            </p:nvSpPr>
            <p:spPr>
              <a:xfrm>
                <a:off x="3552" y="777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046476" name="文本框 3046475"/>
            <p:cNvSpPr txBox="1"/>
            <p:nvPr/>
          </p:nvSpPr>
          <p:spPr>
            <a:xfrm>
              <a:off x="672" y="816"/>
              <a:ext cx="864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合理阶数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77" name="文本框 3046476"/>
            <p:cNvSpPr txBox="1"/>
            <p:nvPr/>
          </p:nvSpPr>
          <p:spPr>
            <a:xfrm>
              <a:off x="1824" y="931"/>
              <a:ext cx="828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合理阶数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78" name="文本框 3046477"/>
            <p:cNvSpPr txBox="1"/>
            <p:nvPr/>
          </p:nvSpPr>
          <p:spPr>
            <a:xfrm>
              <a:off x="3936" y="768"/>
              <a:ext cx="912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合理阶数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79" name="文本框 3046478"/>
            <p:cNvSpPr txBox="1"/>
            <p:nvPr/>
          </p:nvSpPr>
          <p:spPr>
            <a:xfrm>
              <a:off x="1728" y="2016"/>
              <a:ext cx="672" cy="4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合理阶数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80" name="文本框 3046479"/>
            <p:cNvSpPr txBox="1"/>
            <p:nvPr/>
          </p:nvSpPr>
          <p:spPr>
            <a:xfrm>
              <a:off x="2784" y="1872"/>
              <a:ext cx="909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合理阶数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81" name="文本框 3046480"/>
            <p:cNvSpPr txBox="1"/>
            <p:nvPr/>
          </p:nvSpPr>
          <p:spPr>
            <a:xfrm>
              <a:off x="3168" y="2083"/>
              <a:ext cx="960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合理阶数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82" name="文本框 3046481"/>
            <p:cNvSpPr txBox="1"/>
            <p:nvPr/>
          </p:nvSpPr>
          <p:spPr>
            <a:xfrm>
              <a:off x="4560" y="1920"/>
              <a:ext cx="912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合理阶数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83" name="文本框 3046482"/>
            <p:cNvSpPr txBox="1"/>
            <p:nvPr/>
          </p:nvSpPr>
          <p:spPr>
            <a:xfrm>
              <a:off x="1392" y="1824"/>
              <a:ext cx="672" cy="4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合理阶数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84" name="文本框 3046483"/>
            <p:cNvSpPr txBox="1"/>
            <p:nvPr/>
          </p:nvSpPr>
          <p:spPr>
            <a:xfrm>
              <a:off x="432" y="3552"/>
              <a:ext cx="1200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不合理阶数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85" name="文本框 3046484"/>
            <p:cNvSpPr txBox="1"/>
            <p:nvPr/>
          </p:nvSpPr>
          <p:spPr>
            <a:xfrm>
              <a:off x="342" y="2064"/>
              <a:ext cx="384" cy="4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86" name="文本框 3046485"/>
            <p:cNvSpPr txBox="1"/>
            <p:nvPr/>
          </p:nvSpPr>
          <p:spPr>
            <a:xfrm>
              <a:off x="960" y="2064"/>
              <a:ext cx="384" cy="4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阶数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87" name="文本框 3046486"/>
            <p:cNvSpPr txBox="1"/>
            <p:nvPr/>
          </p:nvSpPr>
          <p:spPr>
            <a:xfrm>
              <a:off x="2496" y="2241"/>
              <a:ext cx="384" cy="4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系数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88" name="文本框 3046487"/>
            <p:cNvSpPr txBox="1"/>
            <p:nvPr/>
          </p:nvSpPr>
          <p:spPr>
            <a:xfrm>
              <a:off x="4128" y="2112"/>
              <a:ext cx="384" cy="4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系数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89" name="文本框 3046488"/>
            <p:cNvSpPr txBox="1"/>
            <p:nvPr/>
          </p:nvSpPr>
          <p:spPr>
            <a:xfrm>
              <a:off x="2736" y="768"/>
              <a:ext cx="384" cy="4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系数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90" name="文本框 3046489"/>
            <p:cNvSpPr txBox="1"/>
            <p:nvPr/>
          </p:nvSpPr>
          <p:spPr>
            <a:xfrm>
              <a:off x="3264" y="912"/>
              <a:ext cx="384" cy="4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系数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91" name="文本框 3046490"/>
            <p:cNvSpPr txBox="1"/>
            <p:nvPr/>
          </p:nvSpPr>
          <p:spPr>
            <a:xfrm>
              <a:off x="3120" y="3600"/>
              <a:ext cx="741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系数表</a:t>
              </a:r>
              <a:r>
                <a:rPr lang="en-US" altLang="zh-CN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92" name="文本框 3046491"/>
            <p:cNvSpPr txBox="1"/>
            <p:nvPr/>
          </p:nvSpPr>
          <p:spPr>
            <a:xfrm>
              <a:off x="3888" y="3648"/>
              <a:ext cx="960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系数表</a:t>
              </a:r>
              <a:r>
                <a:rPr lang="en-US" altLang="zh-CN" sz="220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46493" name="菱形 3046492"/>
            <p:cNvSpPr/>
            <p:nvPr/>
          </p:nvSpPr>
          <p:spPr>
            <a:xfrm>
              <a:off x="2565" y="1776"/>
              <a:ext cx="144" cy="144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46494" name="菱形 3046493"/>
            <p:cNvSpPr/>
            <p:nvPr/>
          </p:nvSpPr>
          <p:spPr>
            <a:xfrm>
              <a:off x="4272" y="1680"/>
              <a:ext cx="144" cy="144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46495" name="菱形 3046494"/>
            <p:cNvSpPr/>
            <p:nvPr/>
          </p:nvSpPr>
          <p:spPr>
            <a:xfrm>
              <a:off x="1584" y="3696"/>
              <a:ext cx="144" cy="144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46496" name="文本框 3046495"/>
            <p:cNvSpPr txBox="1"/>
            <p:nvPr/>
          </p:nvSpPr>
          <p:spPr>
            <a:xfrm>
              <a:off x="1824" y="3648"/>
              <a:ext cx="879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l" eaLnBrk="1" hangingPunct="1"/>
              <a:r>
                <a:rPr lang="zh-CN" altLang="en-US" sz="2200" dirty="0">
                  <a:solidFill>
                    <a:srgbClr val="FF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表示选用</a:t>
              </a:r>
              <a:endParaRPr lang="zh-CN" altLang="en-US" sz="22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46497" name="动作按钮: 第一张 3046496">
            <a:hlinkClick r:id="rId1" action="ppaction://hlinksldjump"/>
          </p:cNvPr>
          <p:cNvSpPr>
            <a:spLocks noChangeAspect="1"/>
          </p:cNvSpPr>
          <p:nvPr/>
        </p:nvSpPr>
        <p:spPr>
          <a:xfrm>
            <a:off x="9285288" y="5788025"/>
            <a:ext cx="1012825" cy="536575"/>
          </a:xfrm>
          <a:prstGeom prst="actionButtonHome">
            <a:avLst/>
          </a:prstGeom>
          <a:solidFill>
            <a:srgbClr val="FFFF00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46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46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COMMONDATA" val="eyJoZGlkIjoiZDVhZDQ3ZWUyM2ZkYzQ0ZGU4M2E1ZGZiMzVjZGYxYjQ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2157</Words>
  <Application>WPS 演示</Application>
  <PresentationFormat>宽屏</PresentationFormat>
  <Paragraphs>482</Paragraphs>
  <Slides>29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</vt:i4>
      </vt:variant>
      <vt:variant>
        <vt:lpstr>幻灯片标题</vt:lpstr>
      </vt:variant>
      <vt:variant>
        <vt:i4>29</vt:i4>
      </vt:variant>
    </vt:vector>
  </HeadingPairs>
  <TitlesOfParts>
    <vt:vector size="6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楷体_GB2312</vt:lpstr>
      <vt:lpstr>黑体</vt:lpstr>
      <vt:lpstr>仿宋_GB2312</vt:lpstr>
      <vt:lpstr>仿宋</vt:lpstr>
      <vt:lpstr>Office 主题​​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　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　　</vt:lpstr>
      <vt:lpstr>　　</vt:lpstr>
      <vt:lpstr>　　</vt:lpstr>
      <vt:lpstr>　　</vt:lpstr>
      <vt:lpstr>　　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永旖（梁俊卿）</cp:lastModifiedBy>
  <cp:revision>155</cp:revision>
  <dcterms:created xsi:type="dcterms:W3CDTF">2019-06-19T02:08:00Z</dcterms:created>
  <dcterms:modified xsi:type="dcterms:W3CDTF">2023-03-20T03:16:13Z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2052-11.1.0.12980</vt:lpwstr>
  </property>
  <property fmtid="{D5CDD505-2E9C-101B-9397-08002B2CF9AE}" pid="3" name="ICV">
    <vt:lpwstr>21B6C91D8C36477883BE90EC4479F2C5</vt:lpwstr>
  </property>
</Properties>
</file>