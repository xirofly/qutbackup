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0370" name="矩形 313036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0371" name="矩形 3130370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zh-CN" altLang="en-US" sz="2800" dirty="0">
                <a:solidFill>
                  <a:srgbClr val="003300"/>
                </a:solidFill>
                <a:latin typeface="仿宋_GB2312" pitchFamily="49" charset="-122"/>
              </a:rPr>
              <a:t>补充作业：</a:t>
            </a:r>
            <a:r>
              <a:rPr lang="zh-CN" altLang="en-US" sz="2800" dirty="0">
                <a:solidFill>
                  <a:srgbClr val="0000FF"/>
                </a:solidFill>
                <a:latin typeface="仿宋_GB2312" pitchFamily="49" charset="-122"/>
              </a:rPr>
              <a:t>设计一个软件开发规范，假象一种开发环境（硬件、系统软件、支持软件、数据库、开发语言等）。规范内容尽量考虑多方面问题：如</a:t>
            </a:r>
            <a:r>
              <a:rPr lang="en-US" altLang="zh-CN" sz="2800">
                <a:solidFill>
                  <a:srgbClr val="0000FF"/>
                </a:solidFill>
                <a:latin typeface="仿宋_GB2312" pitchFamily="49" charset="-122"/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  <a:latin typeface="仿宋_GB2312" pitchFamily="49" charset="-122"/>
              </a:rPr>
              <a:t>语言规范、交互界面、编码风格、命名、设计文档、单元测试等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130372" name="矩形 313037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5490" name="矩形 31354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5491" name="矩形 3135490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en-US" altLang="zh-CN" sz="2800">
                <a:solidFill>
                  <a:schemeClr val="accent2"/>
                </a:solidFill>
              </a:rPr>
              <a:t>P185:  5</a:t>
            </a:r>
            <a:r>
              <a:rPr lang="zh-CN" altLang="en-US" sz="2800" dirty="0">
                <a:solidFill>
                  <a:schemeClr val="accent2"/>
                </a:solidFill>
              </a:rPr>
              <a:t>某图书馆有一个使用</a:t>
            </a:r>
            <a:r>
              <a:rPr lang="en-US" altLang="zh-CN" sz="2800">
                <a:solidFill>
                  <a:schemeClr val="accent2"/>
                </a:solidFill>
              </a:rPr>
              <a:t>CET</a:t>
            </a:r>
            <a:r>
              <a:rPr lang="zh-CN" altLang="en-US" sz="2800" dirty="0">
                <a:solidFill>
                  <a:schemeClr val="accent2"/>
                </a:solidFill>
              </a:rPr>
              <a:t>终端的信息检索系统，该系统有下列</a:t>
            </a:r>
            <a:r>
              <a:rPr lang="en-US" altLang="zh-CN" sz="2800">
                <a:solidFill>
                  <a:schemeClr val="accent2"/>
                </a:solidFill>
              </a:rPr>
              <a:t>4</a:t>
            </a:r>
            <a:r>
              <a:rPr lang="zh-CN" altLang="en-US" sz="2800" dirty="0">
                <a:solidFill>
                  <a:schemeClr val="accent2"/>
                </a:solidFill>
              </a:rPr>
              <a:t>个基本检索命令：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lvl="0">
              <a:buNone/>
            </a:pP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>
                <a:solidFill>
                  <a:schemeClr val="accent2"/>
                </a:solidFill>
              </a:rPr>
              <a:t>..</a:t>
            </a:r>
            <a:endParaRPr lang="en-US" altLang="zh-CN" sz="2800">
              <a:solidFill>
                <a:schemeClr val="accent2"/>
              </a:solidFill>
            </a:endParaRPr>
          </a:p>
          <a:p>
            <a:pPr lvl="0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（</a:t>
            </a:r>
            <a:r>
              <a:rPr lang="en-US" altLang="zh-CN" sz="2800">
                <a:solidFill>
                  <a:schemeClr val="accent2"/>
                </a:solidFill>
              </a:rPr>
              <a:t>1</a:t>
            </a:r>
            <a:r>
              <a:rPr lang="zh-CN" altLang="en-US" sz="2800" dirty="0">
                <a:solidFill>
                  <a:schemeClr val="accent2"/>
                </a:solidFill>
              </a:rPr>
              <a:t>）设计测试数据以全面系统的正常操作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lvl="0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（</a:t>
            </a:r>
            <a:r>
              <a:rPr lang="en-US" altLang="zh-CN" sz="2800">
                <a:solidFill>
                  <a:schemeClr val="accent2"/>
                </a:solidFill>
              </a:rPr>
              <a:t>2</a:t>
            </a:r>
            <a:r>
              <a:rPr lang="zh-CN" altLang="en-US" sz="2800" dirty="0">
                <a:solidFill>
                  <a:schemeClr val="accent2"/>
                </a:solidFill>
              </a:rPr>
              <a:t>）设计测试数据以测试系统的非正常操作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lvl="0">
              <a:buNone/>
            </a:pPr>
            <a:endParaRPr lang="zh-CN" altLang="en-US" sz="2800" dirty="0">
              <a:solidFill>
                <a:schemeClr val="accent2"/>
              </a:solidFill>
            </a:endParaRPr>
          </a:p>
          <a:p>
            <a:pPr lvl="0"/>
            <a:endParaRPr lang="zh-CN" altLang="en-US" sz="2800">
              <a:solidFill>
                <a:schemeClr val="accent2"/>
              </a:solidFill>
            </a:endParaRPr>
          </a:p>
        </p:txBody>
      </p:sp>
      <p:sp>
        <p:nvSpPr>
          <p:cNvPr id="3135492" name="矩形 313549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6514" name="矩形 313651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6515" name="矩形 3136514"/>
          <p:cNvSpPr/>
          <p:nvPr/>
        </p:nvSpPr>
        <p:spPr>
          <a:xfrm>
            <a:off x="2374900" y="1473200"/>
            <a:ext cx="3771900" cy="50292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START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INPUT (A, B, C)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66"/>
                </a:solidFill>
                <a:ea typeface="宋体" panose="02010600030101010101" pitchFamily="2" charset="-122"/>
              </a:rPr>
              <a:t>判定表达式</a:t>
            </a: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1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IF A&gt;5   THEN 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    X=10  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ELSE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    X=1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END IF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66"/>
                </a:solidFill>
                <a:ea typeface="宋体" panose="02010600030101010101" pitchFamily="2" charset="-122"/>
              </a:rPr>
              <a:t>判定表达式</a:t>
            </a: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2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IF   B&gt;10  THEN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      Y=20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ELSE 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      Y=2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381000" lvl="0" indent="-381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000066"/>
                </a:solidFill>
                <a:ea typeface="宋体" panose="02010600030101010101" pitchFamily="2" charset="-122"/>
              </a:rPr>
              <a:t>END IF</a:t>
            </a:r>
            <a:endParaRPr lang="en-US" altLang="zh-CN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3136516" name="矩形 3136515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36517" name="文本框 3136516"/>
          <p:cNvSpPr txBox="1"/>
          <p:nvPr/>
        </p:nvSpPr>
        <p:spPr>
          <a:xfrm>
            <a:off x="5935663" y="1473200"/>
            <a:ext cx="3482975" cy="369252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//</a:t>
            </a: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判定表达式</a:t>
            </a: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C&gt;15   THEN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Z=30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 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Z=3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 IF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 (X, Y, Z)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STOP</a:t>
            </a:r>
            <a:endParaRPr lang="en-US" altLang="zh-CN" sz="260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</a:pPr>
            <a:endParaRPr lang="en-US" altLang="zh-CN" sz="26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36518" name="文本框 3136517"/>
          <p:cNvSpPr txBox="1"/>
          <p:nvPr/>
        </p:nvSpPr>
        <p:spPr>
          <a:xfrm>
            <a:off x="1704975" y="650875"/>
            <a:ext cx="8963025" cy="89154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p>
            <a:pPr algn="l" eaLnBrk="1" hangingPunct="1">
              <a:spcBef>
                <a:spcPct val="0"/>
              </a:spcBef>
            </a:pPr>
            <a:r>
              <a:rPr lang="en-US" altLang="zh-CN" sz="260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P184:  4(3) 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sz="26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、设计下列伪码程序的语句覆盖和路径覆盖测试用例：</a:t>
            </a:r>
            <a:endParaRPr lang="zh-CN" altLang="en-US" sz="2600" dirty="0">
              <a:solidFill>
                <a:srgbClr val="99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7538" name="矩形 313753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7540" name="矩形 313753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137783" name="表格 3137782"/>
          <p:cNvGraphicFramePr/>
          <p:nvPr/>
        </p:nvGraphicFramePr>
        <p:xfrm>
          <a:off x="2579688" y="1662113"/>
          <a:ext cx="6182995" cy="3663950"/>
        </p:xfrm>
        <a:graphic>
          <a:graphicData uri="http://schemas.openxmlformats.org/drawingml/2006/table">
            <a:tbl>
              <a:tblPr/>
              <a:tblGrid>
                <a:gridCol w="736600"/>
                <a:gridCol w="738505"/>
                <a:gridCol w="737870"/>
                <a:gridCol w="652780"/>
                <a:gridCol w="539115"/>
                <a:gridCol w="565150"/>
                <a:gridCol w="553720"/>
                <a:gridCol w="554355"/>
                <a:gridCol w="512445"/>
                <a:gridCol w="592455"/>
              </a:tblGrid>
              <a:tr h="1184275">
                <a:tc rowSpan="2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判定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预期的输出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70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4275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37784" name="矩形 3137783"/>
          <p:cNvSpPr/>
          <p:nvPr/>
        </p:nvSpPr>
        <p:spPr>
          <a:xfrm>
            <a:off x="4184650" y="976154"/>
            <a:ext cx="3454400" cy="513080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ctr" anchorCtr="0">
            <a:spAutoFit/>
          </a:bodyPr>
          <a:p>
            <a:pPr algn="l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语句覆盖的测试用例 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8562" name="矩形 313856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8563" name="矩形 3138562"/>
          <p:cNvSpPr/>
          <p:nvPr/>
        </p:nvSpPr>
        <p:spPr>
          <a:xfrm>
            <a:off x="2209800" y="63500"/>
            <a:ext cx="57277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38564" name="动作按钮: 第一张 3138563">
            <a:hlinkClick r:id="rId1" action="ppaction://hlinksldjump"/>
          </p:cNvPr>
          <p:cNvSpPr>
            <a:spLocks noChangeAspect="1"/>
          </p:cNvSpPr>
          <p:nvPr/>
        </p:nvSpPr>
        <p:spPr>
          <a:xfrm>
            <a:off x="9655175" y="58388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39261" name="表格 3139260"/>
          <p:cNvGraphicFramePr/>
          <p:nvPr/>
        </p:nvGraphicFramePr>
        <p:xfrm>
          <a:off x="1936750" y="698500"/>
          <a:ext cx="7416800" cy="6003925"/>
        </p:xfrm>
        <a:graphic>
          <a:graphicData uri="http://schemas.openxmlformats.org/drawingml/2006/table">
            <a:tbl>
              <a:tblPr/>
              <a:tblGrid>
                <a:gridCol w="847725"/>
                <a:gridCol w="847725"/>
                <a:gridCol w="847725"/>
                <a:gridCol w="847725"/>
                <a:gridCol w="847725"/>
                <a:gridCol w="635000"/>
                <a:gridCol w="636905"/>
                <a:gridCol w="635000"/>
                <a:gridCol w="636270"/>
                <a:gridCol w="635000"/>
              </a:tblGrid>
              <a:tr h="876300">
                <a:tc rowSpan="2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判定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6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预期的输出</a:t>
                      </a:r>
                      <a:endParaRPr lang="zh-CN" altLang="en-US" sz="26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94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2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2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2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6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lang="zh-CN" altLang="en-US" sz="26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39262" name="矩形 3139261"/>
          <p:cNvSpPr/>
          <p:nvPr/>
        </p:nvSpPr>
        <p:spPr>
          <a:xfrm>
            <a:off x="7199313" y="150654"/>
            <a:ext cx="3454400" cy="513080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ctr" anchorCtr="0">
            <a:spAutoFit/>
          </a:bodyPr>
          <a:p>
            <a:pPr algn="l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路径覆盖的测试用例 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DVhZDQ3ZWUyM2ZkYzQ0ZGU4M2E1ZGZiMzVjZGYxYj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WPS 演示</Application>
  <PresentationFormat>宽屏</PresentationFormat>
  <Paragraphs>340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楷体_GB2312</vt:lpstr>
      <vt:lpstr>仿宋_GB2312</vt:lpstr>
      <vt:lpstr>仿宋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永旖（梁俊卿）</cp:lastModifiedBy>
  <cp:revision>155</cp:revision>
  <dcterms:created xsi:type="dcterms:W3CDTF">2019-06-19T02:08:00Z</dcterms:created>
  <dcterms:modified xsi:type="dcterms:W3CDTF">2023-05-04T10:37:06Z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A2C50B42B7A44EE48E99B5A283DA78E5_11</vt:lpwstr>
  </property>
</Properties>
</file>