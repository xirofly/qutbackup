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63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4.xml"/><Relationship Id="rId5" Type="http://schemas.openxmlformats.org/officeDocument/2006/relationships/slide" Target="slide1.xml"/><Relationship Id="rId4" Type="http://schemas.openxmlformats.org/officeDocument/2006/relationships/image" Target="../media/image8.e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7.emf"/><Relationship Id="rId1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00674" name="标题 3100673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3100678" name="图片 310067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095375"/>
            <a:ext cx="4214813" cy="5519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00679" name="图片 31006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013" y="1882775"/>
            <a:ext cx="4473575" cy="3663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00681" name="矩形 3100680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98626" name="标题 3098625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98627" name="文本占位符 3098626"/>
          <p:cNvSpPr>
            <a:spLocks noGrp="1"/>
          </p:cNvSpPr>
          <p:nvPr>
            <p:ph type="body" sz="half" idx="1"/>
          </p:nvPr>
        </p:nvSpPr>
        <p:spPr>
          <a:xfrm>
            <a:off x="1625600" y="1016000"/>
            <a:ext cx="6318250" cy="5422900"/>
          </a:xfrm>
        </p:spPr>
        <p:txBody>
          <a:bodyPr lIns="82550" tIns="41275" rIns="82550" bIns="41275"/>
          <a:p>
            <a:pPr marL="342900" indent="-342900" defTabSz="914400"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/>
              <a:t>P131:4  </a:t>
            </a:r>
            <a:r>
              <a:rPr lang="zh-CN" altLang="en-US" dirty="0"/>
              <a:t>下图给出的程序流程图代表一个非结构化的程序，请问：</a:t>
            </a:r>
            <a:endParaRPr lang="zh-CN" altLang="en-US" dirty="0"/>
          </a:p>
          <a:p>
            <a:pPr marL="342900" indent="-342900" defTabSz="914400"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/>
              <a:t>1</a:t>
            </a:r>
            <a:r>
              <a:rPr lang="zh-CN" altLang="en-US" dirty="0"/>
              <a:t>）为什么说它是非结构化的？</a:t>
            </a:r>
            <a:endParaRPr lang="zh-CN" altLang="en-US" dirty="0"/>
          </a:p>
          <a:p>
            <a:pPr marL="342900" indent="-342900" defTabSz="914400"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/>
              <a:t>2</a:t>
            </a:r>
            <a:r>
              <a:rPr lang="zh-CN" altLang="en-US" dirty="0"/>
              <a:t>）设计一个等价的结构化程序。</a:t>
            </a:r>
            <a:endParaRPr lang="zh-CN" altLang="en-US" dirty="0"/>
          </a:p>
          <a:p>
            <a:pPr marL="342900" indent="-342900" defTabSz="914400"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/>
              <a:t>3</a:t>
            </a:r>
            <a:r>
              <a:rPr lang="zh-CN" altLang="en-US" dirty="0"/>
              <a:t>）在（</a:t>
            </a:r>
            <a:r>
              <a:rPr lang="en-US" altLang="zh-CN"/>
              <a:t>2</a:t>
            </a:r>
            <a:r>
              <a:rPr lang="zh-CN" altLang="en-US" dirty="0"/>
              <a:t>）题的设计中你使用附加的标志变量</a:t>
            </a:r>
            <a:r>
              <a:rPr lang="en-US" altLang="zh-CN"/>
              <a:t>flag</a:t>
            </a:r>
            <a:r>
              <a:rPr lang="zh-CN" altLang="en-US" dirty="0"/>
              <a:t>吗？若没用，请再设计一个使用</a:t>
            </a:r>
            <a:r>
              <a:rPr lang="en-US" altLang="zh-CN"/>
              <a:t>flag</a:t>
            </a:r>
            <a:r>
              <a:rPr lang="zh-CN" altLang="en-US" dirty="0"/>
              <a:t>的程序；若用了，再设计一个不用</a:t>
            </a:r>
            <a:r>
              <a:rPr lang="en-US" altLang="zh-CN"/>
              <a:t>flag</a:t>
            </a:r>
            <a:r>
              <a:rPr lang="zh-CN" altLang="en-US" dirty="0"/>
              <a:t>的程序</a:t>
            </a:r>
            <a:endParaRPr lang="zh-CN" altLang="en-US" dirty="0"/>
          </a:p>
          <a:p>
            <a:pPr marL="342900" indent="-342900" defTabSz="914400"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graphicFrame>
        <p:nvGraphicFramePr>
          <p:cNvPr id="3098629" name="内容占位符 3098628"/>
          <p:cNvGraphicFramePr/>
          <p:nvPr>
            <p:ph sz="half" idx="2"/>
          </p:nvPr>
        </p:nvGraphicFramePr>
        <p:xfrm>
          <a:off x="8027988" y="1135063"/>
          <a:ext cx="2263775" cy="400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1456055" imgH="2573655" progId="Visio.Drawing.11">
                  <p:embed/>
                </p:oleObj>
              </mc:Choice>
              <mc:Fallback>
                <p:oleObj name="" r:id="rId1" imgW="1456055" imgH="2573655" progId="Visio.Drawing.11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27988" y="1135063"/>
                        <a:ext cx="2263775" cy="40036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8630" name="矩形 3098629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01698" name="标题 3101697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01699" name="文本占位符 3101698"/>
          <p:cNvSpPr>
            <a:spLocks noGrp="1"/>
          </p:cNvSpPr>
          <p:nvPr>
            <p:ph type="body" sz="half" idx="1"/>
          </p:nvPr>
        </p:nvSpPr>
        <p:spPr>
          <a:xfrm>
            <a:off x="1625600" y="1016000"/>
            <a:ext cx="5403850" cy="5422900"/>
          </a:xfrm>
        </p:spPr>
        <p:txBody>
          <a:bodyPr lIns="82550" tIns="41275" rIns="82550" bIns="41275"/>
          <a:p>
            <a:pPr marL="342900" indent="-342900" algn="just" defTabSz="914400"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800"/>
              <a:t>(1)</a:t>
            </a:r>
            <a:r>
              <a:rPr lang="zh-CN" altLang="en-US" sz="2800" dirty="0"/>
              <a:t>通常所说的结构化程序，是按照狭义的结构程序的定义衡量，符合定义规定的程序。</a:t>
            </a:r>
            <a:r>
              <a:rPr lang="zh-CN" altLang="en-US" sz="2800" dirty="0">
                <a:solidFill>
                  <a:srgbClr val="003300"/>
                </a:solidFill>
              </a:rPr>
              <a:t>图示的程序的循环控制结构有</a:t>
            </a:r>
            <a:r>
              <a:rPr lang="zh-CN" altLang="en-US" sz="2800" dirty="0">
                <a:solidFill>
                  <a:srgbClr val="FF0000"/>
                </a:solidFill>
              </a:rPr>
              <a:t>两个出口</a:t>
            </a:r>
            <a:r>
              <a:rPr lang="zh-CN" altLang="en-US" sz="2800" dirty="0">
                <a:solidFill>
                  <a:srgbClr val="003300"/>
                </a:solidFill>
              </a:rPr>
              <a:t>，显然不符合狭义的结构程序的定义，因此</a:t>
            </a:r>
            <a:r>
              <a:rPr lang="zh-CN" altLang="en-US" sz="2800" dirty="0">
                <a:solidFill>
                  <a:srgbClr val="FF0000"/>
                </a:solidFill>
              </a:rPr>
              <a:t>是非结构化的程序。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3101701" name="内容占位符 3101700"/>
          <p:cNvGraphicFramePr/>
          <p:nvPr>
            <p:ph sz="half" idx="2"/>
          </p:nvPr>
        </p:nvGraphicFramePr>
        <p:xfrm>
          <a:off x="8027988" y="1135063"/>
          <a:ext cx="2263775" cy="400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1456055" imgH="2573655" progId="Visio.Drawing.11">
                  <p:embed/>
                </p:oleObj>
              </mc:Choice>
              <mc:Fallback>
                <p:oleObj name="" r:id="rId1" imgW="1456055" imgH="2573655" progId="Visio.Drawing.11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27988" y="1135063"/>
                        <a:ext cx="2263775" cy="40036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1703" name="矩形 3101702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02722" name="标题 3102721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02723" name="文本占位符 3102722"/>
          <p:cNvSpPr>
            <a:spLocks noGrp="1"/>
          </p:cNvSpPr>
          <p:nvPr>
            <p:ph type="body" sz="half" idx="1"/>
          </p:nvPr>
        </p:nvSpPr>
        <p:spPr>
          <a:xfrm>
            <a:off x="1625600" y="1016000"/>
            <a:ext cx="9042400" cy="1346200"/>
          </a:xfrm>
        </p:spPr>
        <p:txBody>
          <a:bodyPr lIns="82550" tIns="41275" rIns="82550" bIns="41275"/>
          <a:p>
            <a:pPr marL="342900" indent="-342900" algn="just" defTabSz="914400">
              <a:lnSpc>
                <a:spcPct val="90000"/>
              </a:lnSpc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800"/>
              <a:t>(2)</a:t>
            </a:r>
            <a:r>
              <a:rPr lang="zh-CN" altLang="en-US" sz="2800" dirty="0"/>
              <a:t>使用附加的标志变量</a:t>
            </a:r>
            <a:r>
              <a:rPr lang="en-US" altLang="zh-CN" sz="2800"/>
              <a:t>flag</a:t>
            </a:r>
            <a:r>
              <a:rPr lang="zh-CN" altLang="en-US" sz="2800" dirty="0"/>
              <a:t>，至少有两种方法可以把该程序改造为等价的结构化程序，图示盒图描绘了等价的结构化程序。</a:t>
            </a:r>
            <a:endParaRPr lang="zh-CN" altLang="en-US" sz="2800" dirty="0"/>
          </a:p>
        </p:txBody>
      </p:sp>
      <p:pic>
        <p:nvPicPr>
          <p:cNvPr id="3102727" name="图片 31027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2176463"/>
            <a:ext cx="4584700" cy="41100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02728" name="图片 31027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350" y="2124075"/>
            <a:ext cx="4565650" cy="42783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02729" name="矩形 3102728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03746" name="标题 3103745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03747" name="文本占位符 3103746"/>
          <p:cNvSpPr>
            <a:spLocks noGrp="1"/>
          </p:cNvSpPr>
          <p:nvPr>
            <p:ph type="body" sz="half" idx="1"/>
          </p:nvPr>
        </p:nvSpPr>
        <p:spPr>
          <a:xfrm>
            <a:off x="1625600" y="1016000"/>
            <a:ext cx="9042400" cy="1346200"/>
          </a:xfrm>
        </p:spPr>
        <p:txBody>
          <a:bodyPr lIns="82550" tIns="41275" rIns="82550" bIns="41275"/>
          <a:p>
            <a:pPr marL="342900" indent="-342900" algn="just" defTabSz="914400"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800"/>
              <a:t>(3)</a:t>
            </a:r>
            <a:r>
              <a:rPr lang="zh-CN" altLang="en-US" sz="2800" dirty="0"/>
              <a:t>不使用</a:t>
            </a:r>
            <a:r>
              <a:rPr lang="en-US" altLang="zh-CN" sz="2800"/>
              <a:t>flag</a:t>
            </a:r>
            <a:r>
              <a:rPr lang="zh-CN" altLang="en-US" sz="2800" dirty="0"/>
              <a:t>把该程序改造为等价的结构化程序的方法如图所示。 </a:t>
            </a:r>
            <a:endParaRPr lang="zh-CN" altLang="en-US" sz="2800" dirty="0"/>
          </a:p>
        </p:txBody>
      </p:sp>
      <p:pic>
        <p:nvPicPr>
          <p:cNvPr id="3103751" name="图片 31037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0" y="2322513"/>
            <a:ext cx="6315075" cy="38623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03752" name="矩形 3103751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04770" name="标题 3104769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04771" name="文本占位符 3104770"/>
          <p:cNvSpPr>
            <a:spLocks noGrp="1"/>
          </p:cNvSpPr>
          <p:nvPr>
            <p:ph type="body" idx="1"/>
          </p:nvPr>
        </p:nvSpPr>
        <p:spPr>
          <a:xfrm>
            <a:off x="1689100" y="1714500"/>
            <a:ext cx="4025900" cy="4978400"/>
          </a:xfrm>
        </p:spPr>
        <p:txBody>
          <a:bodyPr lIns="82550" tIns="41275" rIns="82550" bIns="41275">
            <a:normAutofit fontScale="60000"/>
          </a:bodyPr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C   EXAMPLE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LOOP:DO WHILE  X&gt;0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       A=B+1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       IF A&gt;10 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           THEN X=A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       ELSE Y=Z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       END IF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IF Y&lt;5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THEN PRINT X,Y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ELSE IF Y=2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          THEN GOTO LOOP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          ELSE C=3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          END IF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END IF</a:t>
            </a:r>
            <a:endParaRPr lang="en-US" altLang="zh-CN" sz="2500"/>
          </a:p>
        </p:txBody>
      </p:sp>
      <p:sp>
        <p:nvSpPr>
          <p:cNvPr id="3104773" name="文本框 3104772"/>
          <p:cNvSpPr txBox="1"/>
          <p:nvPr/>
        </p:nvSpPr>
        <p:spPr>
          <a:xfrm>
            <a:off x="1698625" y="993775"/>
            <a:ext cx="8591550" cy="721995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>
            <a:spAutoFit/>
          </a:bodyPr>
          <a:p>
            <a:pPr algn="l">
              <a:lnSpc>
                <a:spcPct val="80000"/>
              </a:lnSpc>
              <a:spcBef>
                <a:spcPct val="0"/>
              </a:spcBef>
              <a:buSzPct val="75000"/>
              <a:buFont typeface="Wingdings" panose="05000000000000000000" pitchFamily="2" charset="2"/>
            </a:pPr>
            <a:r>
              <a:rPr lang="en-US" altLang="zh-CN" sz="2600">
                <a:solidFill>
                  <a:srgbClr val="99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P131:8 </a:t>
            </a:r>
            <a:r>
              <a:rPr lang="zh-CN" altLang="en-US" sz="26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画出下列伪码程序的流图，计算它的环形复杂度。你觉得这个程序的逻辑有什么问题吗？</a:t>
            </a:r>
            <a:endParaRPr lang="zh-CN" altLang="en-US" sz="26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3104774" name="文本框 3104773"/>
          <p:cNvSpPr txBox="1"/>
          <p:nvPr/>
        </p:nvSpPr>
        <p:spPr>
          <a:xfrm>
            <a:off x="5865813" y="1706563"/>
            <a:ext cx="2744470" cy="3160395"/>
          </a:xfrm>
          <a:prstGeom prst="rect">
            <a:avLst/>
          </a:prstGeom>
          <a:noFill/>
          <a:ln w="9525">
            <a:noFill/>
          </a:ln>
        </p:spPr>
        <p:txBody>
          <a:bodyPr wrap="none" lIns="82550" tIns="41275" rIns="82550" bIns="41275" anchor="t" anchorCtr="0">
            <a:spAutoFit/>
          </a:bodyPr>
          <a:p>
            <a:pPr algn="l">
              <a:buSzPct val="75000"/>
              <a:buFont typeface="Wingdings" panose="05000000000000000000" pitchFamily="2" charset="2"/>
            </a:pPr>
            <a:r>
              <a:rPr lang="en-US" altLang="zh-CN" sz="250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G=H+R</a:t>
            </a:r>
            <a:endParaRPr lang="en-US" altLang="zh-CN" sz="2500">
              <a:solidFill>
                <a:srgbClr val="9900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l">
              <a:buSzPct val="75000"/>
              <a:buFont typeface="Wingdings" panose="05000000000000000000" pitchFamily="2" charset="2"/>
            </a:pPr>
            <a:r>
              <a:rPr lang="en-US" altLang="zh-CN" sz="250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END DO</a:t>
            </a:r>
            <a:endParaRPr lang="en-US" altLang="zh-CN" sz="2500">
              <a:solidFill>
                <a:srgbClr val="9900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l">
              <a:buSzPct val="75000"/>
              <a:buFont typeface="Wingdings" panose="05000000000000000000" pitchFamily="2" charset="2"/>
            </a:pPr>
            <a:r>
              <a:rPr lang="en-US" altLang="zh-CN" sz="250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IF F&gt;0</a:t>
            </a:r>
            <a:endParaRPr lang="en-US" altLang="zh-CN" sz="2500">
              <a:solidFill>
                <a:srgbClr val="9900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l">
              <a:buSzPct val="75000"/>
              <a:buFont typeface="Wingdings" panose="05000000000000000000" pitchFamily="2" charset="2"/>
            </a:pPr>
            <a:r>
              <a:rPr lang="en-US" altLang="zh-CN" sz="250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    THEN PRINT G</a:t>
            </a:r>
            <a:endParaRPr lang="en-US" altLang="zh-CN" sz="2500">
              <a:solidFill>
                <a:srgbClr val="9900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l">
              <a:buSzPct val="75000"/>
              <a:buFont typeface="Wingdings" panose="05000000000000000000" pitchFamily="2" charset="2"/>
            </a:pPr>
            <a:r>
              <a:rPr lang="en-US" altLang="zh-CN" sz="250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    ELSE PRINT K</a:t>
            </a:r>
            <a:endParaRPr lang="en-US" altLang="zh-CN" sz="2500">
              <a:solidFill>
                <a:srgbClr val="9900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l">
              <a:buSzPct val="75000"/>
              <a:buFont typeface="Wingdings" panose="05000000000000000000" pitchFamily="2" charset="2"/>
            </a:pPr>
            <a:r>
              <a:rPr lang="en-US" altLang="zh-CN" sz="250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END IF</a:t>
            </a:r>
            <a:endParaRPr lang="en-US" altLang="zh-CN" sz="2500">
              <a:solidFill>
                <a:srgbClr val="9900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l">
              <a:buSzPct val="75000"/>
              <a:buFont typeface="Wingdings" panose="05000000000000000000" pitchFamily="2" charset="2"/>
            </a:pPr>
            <a:r>
              <a:rPr lang="en-US" altLang="zh-CN" sz="250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STOP</a:t>
            </a:r>
            <a:endParaRPr lang="en-US" altLang="zh-CN" sz="2500">
              <a:solidFill>
                <a:srgbClr val="9900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l">
              <a:buSzPct val="75000"/>
              <a:buFont typeface="Wingdings" panose="05000000000000000000" pitchFamily="2" charset="2"/>
            </a:pPr>
            <a:endParaRPr lang="en-US" altLang="zh-CN" sz="2500" dirty="0">
              <a:solidFill>
                <a:srgbClr val="9900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3104777" name="矩形 3104776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99650" name="标题 3099649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099657" name="内容占位符 3099656"/>
          <p:cNvGraphicFramePr/>
          <p:nvPr>
            <p:ph sz="half" idx="1"/>
          </p:nvPr>
        </p:nvGraphicFramePr>
        <p:xfrm>
          <a:off x="2447925" y="0"/>
          <a:ext cx="3446463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3183255" imgH="6322060" progId="Visio.Drawing.11">
                  <p:embed/>
                </p:oleObj>
              </mc:Choice>
              <mc:Fallback>
                <p:oleObj name="" r:id="rId1" imgW="3183255" imgH="6322060" progId="Visio.Drawing.11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47925" y="0"/>
                        <a:ext cx="3446463" cy="68580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9659" name="内容占位符 3099658"/>
          <p:cNvGraphicFramePr/>
          <p:nvPr>
            <p:ph sz="half" idx="2"/>
          </p:nvPr>
        </p:nvGraphicFramePr>
        <p:xfrm>
          <a:off x="6497638" y="185738"/>
          <a:ext cx="3898900" cy="638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3" imgW="3510915" imgH="5734685" progId="Visio.Drawing.11">
                  <p:embed/>
                </p:oleObj>
              </mc:Choice>
              <mc:Fallback>
                <p:oleObj name="" r:id="rId3" imgW="3510915" imgH="5734685" progId="Visio.Drawing.11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97638" y="185738"/>
                        <a:ext cx="3898900" cy="63817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9661" name="动作按钮: 第一张 3099660">
            <a:hlinkClick r:id="rId5" action="ppaction://hlinksldjump"/>
          </p:cNvPr>
          <p:cNvSpPr>
            <a:spLocks noChangeAspect="1"/>
          </p:cNvSpPr>
          <p:nvPr/>
        </p:nvSpPr>
        <p:spPr>
          <a:xfrm>
            <a:off x="9501188" y="6054725"/>
            <a:ext cx="1012825" cy="536575"/>
          </a:xfrm>
          <a:prstGeom prst="actionButtonHome">
            <a:avLst/>
          </a:prstGeom>
          <a:solidFill>
            <a:srgbClr val="FFFF00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099662" name="矩形 3099661"/>
          <p:cNvSpPr/>
          <p:nvPr/>
        </p:nvSpPr>
        <p:spPr>
          <a:xfrm>
            <a:off x="4759325" y="0"/>
            <a:ext cx="2590800" cy="1467485"/>
          </a:xfrm>
          <a:prstGeom prst="rect">
            <a:avLst/>
          </a:prstGeom>
          <a:noFill/>
          <a:ln w="9525">
            <a:noFill/>
          </a:ln>
        </p:spPr>
        <p:txBody>
          <a:bodyPr wrap="none" lIns="82550" tIns="41275" rIns="82550" bIns="41275" anchor="t" anchorCtr="0">
            <a:spAutoFit/>
          </a:bodyPr>
          <a:p>
            <a:pPr algn="l">
              <a:spcBef>
                <a:spcPct val="0"/>
              </a:spcBef>
              <a:buSzPct val="75000"/>
              <a:buFont typeface="Wingdings" panose="05000000000000000000" pitchFamily="2" charset="2"/>
            </a:pP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V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G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)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＝</a:t>
            </a:r>
            <a:r>
              <a:rPr lang="zh-CN" altLang="en-US" dirty="0">
                <a:solidFill>
                  <a:srgbClr val="99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结点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E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－</a:t>
            </a:r>
            <a:r>
              <a:rPr lang="zh-CN" altLang="en-US" dirty="0">
                <a:solidFill>
                  <a:srgbClr val="99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弧数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n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＋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1</a:t>
            </a:r>
            <a:endParaRPr lang="en-US" altLang="zh-CN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algn="l">
              <a:spcBef>
                <a:spcPct val="0"/>
              </a:spcBef>
              <a:buSzPct val="75000"/>
              <a:buFont typeface="Wingdings" panose="05000000000000000000" pitchFamily="2" charset="2"/>
            </a:pP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 =17-11+1=7</a:t>
            </a:r>
            <a:endParaRPr lang="en-US" altLang="zh-CN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algn="l">
              <a:spcBef>
                <a:spcPct val="0"/>
              </a:spcBef>
              <a:buSzPct val="75000"/>
              <a:buFont typeface="Wingdings" panose="05000000000000000000" pitchFamily="2" charset="2"/>
            </a:pP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 =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判断</a:t>
            </a:r>
            <a:r>
              <a:rPr lang="zh-CN" altLang="en-US" dirty="0">
                <a:solidFill>
                  <a:srgbClr val="99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结点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＋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1</a:t>
            </a:r>
            <a:endParaRPr lang="en-US" altLang="zh-CN" i="1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algn="l">
              <a:spcBef>
                <a:spcPct val="0"/>
              </a:spcBef>
              <a:buSzPct val="75000"/>
              <a:buFont typeface="Wingdings" panose="05000000000000000000" pitchFamily="2" charset="2"/>
            </a:pP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 =6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＋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1</a:t>
            </a:r>
            <a:r>
              <a:rPr lang="zh-CN" altLang="en-US" i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＝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7</a:t>
            </a:r>
            <a:endParaRPr lang="en-US" altLang="zh-CN" i="1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algn="l">
              <a:spcBef>
                <a:spcPct val="0"/>
              </a:spcBef>
              <a:buSzPct val="75000"/>
              <a:buFont typeface="Wingdings" panose="05000000000000000000" pitchFamily="2" charset="2"/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＝封闭的区域数</a:t>
            </a:r>
            <a:endParaRPr lang="zh-CN" altLang="en-US">
              <a:solidFill>
                <a:srgbClr val="FF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27298" name="矩形 3127297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27299" name="矩形 3127298"/>
          <p:cNvSpPr/>
          <p:nvPr/>
        </p:nvSpPr>
        <p:spPr>
          <a:xfrm>
            <a:off x="1765300" y="1092200"/>
            <a:ext cx="87122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>
              <a:spcBef>
                <a:spcPct val="0"/>
              </a:spcBef>
            </a:pPr>
            <a:r>
              <a:rPr lang="en-US" altLang="zh-CN" sz="2800">
                <a:solidFill>
                  <a:schemeClr val="accent2"/>
                </a:solidFill>
              </a:rPr>
              <a:t>P131: 7</a:t>
            </a:r>
            <a:endParaRPr lang="en-US" altLang="zh-CN" sz="2800">
              <a:solidFill>
                <a:schemeClr val="accent2"/>
              </a:solidFill>
            </a:endParaRPr>
          </a:p>
          <a:p>
            <a:pPr lvl="0">
              <a:spcBef>
                <a:spcPct val="0"/>
              </a:spcBef>
            </a:pPr>
            <a:r>
              <a:rPr lang="zh-CN" altLang="en-US" dirty="0"/>
              <a:t>令</a:t>
            </a:r>
            <a:r>
              <a:rPr lang="en-US" altLang="zh-CN"/>
              <a:t>P</a:t>
            </a:r>
            <a:r>
              <a:rPr lang="zh-CN" altLang="en-US" dirty="0"/>
              <a:t>代表交易的总金额，</a:t>
            </a:r>
            <a:r>
              <a:rPr lang="en-US" altLang="zh-CN"/>
              <a:t>Q</a:t>
            </a:r>
            <a:r>
              <a:rPr lang="zh-CN" altLang="en-US" dirty="0"/>
              <a:t>代表每股的售价，</a:t>
            </a:r>
            <a:r>
              <a:rPr lang="en-US" altLang="zh-CN"/>
              <a:t>n</a:t>
            </a:r>
            <a:r>
              <a:rPr lang="zh-CN" altLang="en-US" dirty="0"/>
              <a:t>代表交易的股数。</a:t>
            </a:r>
            <a:endParaRPr lang="zh-CN" altLang="en-US" dirty="0"/>
          </a:p>
          <a:p>
            <a:pPr lvl="0">
              <a:spcBef>
                <a:spcPct val="0"/>
              </a:spcBef>
            </a:pPr>
            <a:r>
              <a:rPr lang="en-US" altLang="zh-CN"/>
              <a:t>(1)</a:t>
            </a:r>
            <a:r>
              <a:rPr lang="zh-CN" altLang="en-US" dirty="0"/>
              <a:t>表示手续费计算方法的判定表如图所示。</a:t>
            </a:r>
            <a:endParaRPr lang="zh-CN" altLang="en-US" dirty="0"/>
          </a:p>
          <a:p>
            <a:pPr lvl="0">
              <a:spcBef>
                <a:spcPct val="0"/>
              </a:spcBef>
            </a:pPr>
            <a:r>
              <a:rPr lang="zh-CN" altLang="en-US" dirty="0"/>
              <a:t>判定表</a:t>
            </a:r>
            <a:r>
              <a:rPr lang="zh-CN" altLang="en-US" dirty="0"/>
              <a:t>的每一列是一条计算规则。例如，第</a:t>
            </a:r>
            <a:r>
              <a:rPr lang="en-US" altLang="zh-CN"/>
              <a:t>1</a:t>
            </a:r>
            <a:r>
              <a:rPr lang="zh-CN" altLang="en-US" dirty="0"/>
              <a:t>列</a:t>
            </a:r>
            <a:r>
              <a:rPr lang="en-US" altLang="zh-CN"/>
              <a:t>(</a:t>
            </a:r>
            <a:r>
              <a:rPr lang="zh-CN" altLang="en-US" dirty="0"/>
              <a:t>规则</a:t>
            </a:r>
            <a:r>
              <a:rPr lang="en-US" altLang="zh-CN"/>
              <a:t>1)</a:t>
            </a:r>
            <a:r>
              <a:rPr lang="zh-CN" altLang="en-US" dirty="0"/>
              <a:t>规定，当交易总金额</a:t>
            </a:r>
            <a:r>
              <a:rPr lang="en-US" altLang="zh-CN"/>
              <a:t>P</a:t>
            </a:r>
            <a:r>
              <a:rPr lang="zh-CN" altLang="en-US" dirty="0"/>
              <a:t>少于</a:t>
            </a:r>
            <a:r>
              <a:rPr lang="en-US" altLang="zh-CN"/>
              <a:t>1000</a:t>
            </a:r>
            <a:r>
              <a:rPr lang="zh-CN" altLang="en-US" dirty="0"/>
              <a:t>元，且每股售价</a:t>
            </a:r>
            <a:r>
              <a:rPr lang="en-US" altLang="zh-CN"/>
              <a:t>Q</a:t>
            </a:r>
            <a:r>
              <a:rPr lang="zh-CN" altLang="en-US" dirty="0"/>
              <a:t>低于</a:t>
            </a:r>
            <a:r>
              <a:rPr lang="en-US" altLang="zh-CN"/>
              <a:t>14</a:t>
            </a:r>
            <a:r>
              <a:rPr lang="zh-CN" altLang="en-US" dirty="0"/>
              <a:t>元，且交易的股数</a:t>
            </a:r>
            <a:r>
              <a:rPr lang="en-US" altLang="zh-CN"/>
              <a:t>n</a:t>
            </a:r>
            <a:r>
              <a:rPr lang="zh-CN" altLang="en-US" dirty="0"/>
              <a:t>是</a:t>
            </a:r>
            <a:r>
              <a:rPr lang="en-US" altLang="zh-CN"/>
              <a:t>100</a:t>
            </a:r>
            <a:r>
              <a:rPr lang="zh-CN" altLang="en-US" dirty="0"/>
              <a:t>的倍数时，给经纪人的手续费为</a:t>
            </a:r>
            <a:endParaRPr lang="zh-CN" altLang="en-US" dirty="0"/>
          </a:p>
          <a:p>
            <a:pPr lvl="0">
              <a:spcBef>
                <a:spcPct val="0"/>
              </a:spcBef>
            </a:pPr>
            <a:r>
              <a:rPr lang="en-US" altLang="zh-CN"/>
              <a:t>(l+0.05)×0.084P</a:t>
            </a:r>
            <a:endParaRPr lang="en-US" altLang="zh-CN"/>
          </a:p>
          <a:p>
            <a:pPr lvl="0">
              <a:spcBef>
                <a:spcPct val="0"/>
              </a:spcBef>
            </a:pPr>
            <a:r>
              <a:rPr lang="zh-CN" altLang="en-US" dirty="0"/>
              <a:t>第</a:t>
            </a:r>
            <a:r>
              <a:rPr lang="en-US" altLang="zh-CN"/>
              <a:t>16</a:t>
            </a:r>
            <a:r>
              <a:rPr lang="zh-CN" altLang="en-US" dirty="0"/>
              <a:t>列</a:t>
            </a:r>
            <a:r>
              <a:rPr lang="en-US" altLang="zh-CN"/>
              <a:t>(</a:t>
            </a:r>
            <a:r>
              <a:rPr lang="zh-CN" altLang="en-US" dirty="0"/>
              <a:t>规则</a:t>
            </a:r>
            <a:r>
              <a:rPr lang="en-US" altLang="zh-CN"/>
              <a:t>16)</a:t>
            </a:r>
            <a:r>
              <a:rPr lang="zh-CN" altLang="en-US" dirty="0"/>
              <a:t>表明，当交易总金额</a:t>
            </a:r>
            <a:r>
              <a:rPr lang="en-US" altLang="zh-CN"/>
              <a:t>P</a:t>
            </a:r>
            <a:r>
              <a:rPr lang="zh-CN" altLang="en-US" dirty="0"/>
              <a:t>超过</a:t>
            </a:r>
            <a:r>
              <a:rPr lang="en-US" altLang="zh-CN"/>
              <a:t>10000</a:t>
            </a:r>
            <a:r>
              <a:rPr lang="zh-CN" altLang="en-US" dirty="0"/>
              <a:t>元，且每股售价</a:t>
            </a:r>
            <a:r>
              <a:rPr lang="en-US" altLang="zh-CN"/>
              <a:t>Q</a:t>
            </a:r>
            <a:r>
              <a:rPr lang="zh-CN" altLang="en-US" dirty="0"/>
              <a:t>在</a:t>
            </a:r>
            <a:r>
              <a:rPr lang="en-US" altLang="zh-CN"/>
              <a:t>14</a:t>
            </a:r>
            <a:r>
              <a:rPr lang="zh-CN" altLang="en-US" dirty="0"/>
              <a:t>元到</a:t>
            </a:r>
            <a:r>
              <a:rPr lang="en-US" altLang="zh-CN"/>
              <a:t>25</a:t>
            </a:r>
            <a:r>
              <a:rPr lang="zh-CN" altLang="en-US" dirty="0"/>
              <a:t>元之间，且交易的股数</a:t>
            </a:r>
            <a:r>
              <a:rPr lang="en-US" altLang="zh-CN"/>
              <a:t>n</a:t>
            </a:r>
            <a:r>
              <a:rPr lang="zh-CN" altLang="en-US" dirty="0"/>
              <a:t>不是</a:t>
            </a:r>
            <a:r>
              <a:rPr lang="en-US" altLang="zh-CN"/>
              <a:t>100</a:t>
            </a:r>
            <a:r>
              <a:rPr lang="zh-CN" altLang="en-US" dirty="0"/>
              <a:t>的倍数时，手续费为</a:t>
            </a:r>
            <a:endParaRPr lang="zh-CN" altLang="en-US" dirty="0"/>
          </a:p>
          <a:p>
            <a:pPr lvl="0">
              <a:spcBef>
                <a:spcPct val="0"/>
              </a:spcBef>
            </a:pPr>
            <a:r>
              <a:rPr lang="en-US" altLang="zh-CN"/>
              <a:t>(1+0.06)×(0.04P+134)</a:t>
            </a:r>
            <a:endParaRPr lang="en-US" altLang="zh-CN"/>
          </a:p>
          <a:p>
            <a:pPr lvl="0">
              <a:spcBef>
                <a:spcPct val="0"/>
              </a:spcBef>
            </a:pPr>
            <a:r>
              <a:rPr lang="en-US" altLang="zh-CN"/>
              <a:t>(2)</a:t>
            </a:r>
            <a:r>
              <a:rPr lang="zh-CN" altLang="en-US" dirty="0"/>
              <a:t>表示手续费计算方法的判定树如图所示。 </a:t>
            </a:r>
            <a:endParaRPr lang="zh-CN" altLang="en-US"/>
          </a:p>
        </p:txBody>
      </p:sp>
      <p:sp>
        <p:nvSpPr>
          <p:cNvPr id="3127300" name="矩形 3127299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28322" name="矩形 3128321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28324" name="矩形 3128323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7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3128328" name="图片 31283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29346" name="矩形 3129345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29347" name="矩形 3129346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7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3129349" name="图片 31293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0"/>
            <a:ext cx="9144000" cy="69738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68930" name="矩形 3068929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68931" name="矩形 3068930"/>
          <p:cNvSpPr/>
          <p:nvPr/>
        </p:nvSpPr>
        <p:spPr>
          <a:xfrm>
            <a:off x="1765300" y="1092200"/>
            <a:ext cx="87122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zh-CN" altLang="en-US" sz="3300" dirty="0">
                <a:latin typeface="楷体_GB2312" panose="02010609030101010101" pitchFamily="49" charset="-122"/>
              </a:rPr>
              <a:t>补充</a:t>
            </a:r>
            <a:r>
              <a:rPr lang="en-US" altLang="zh-CN" sz="3300">
                <a:latin typeface="楷体_GB2312" panose="02010609030101010101" pitchFamily="49" charset="-122"/>
              </a:rPr>
              <a:t>1</a:t>
            </a:r>
            <a:r>
              <a:rPr lang="zh-CN" altLang="en-US" sz="3300" dirty="0">
                <a:latin typeface="楷体_GB2312" panose="02010609030101010101" pitchFamily="49" charset="-122"/>
              </a:rPr>
              <a:t>、某高校研究生招生系统的初选方法如下：总分</a:t>
            </a:r>
            <a:r>
              <a:rPr lang="en-US" altLang="zh-CN" sz="3300">
                <a:latin typeface="楷体_GB2312" panose="02010609030101010101" pitchFamily="49" charset="-122"/>
              </a:rPr>
              <a:t>300</a:t>
            </a:r>
            <a:r>
              <a:rPr lang="zh-CN" altLang="en-US" sz="3300" dirty="0">
                <a:latin typeface="楷体_GB2312" panose="02010609030101010101" pitchFamily="49" charset="-122"/>
              </a:rPr>
              <a:t>（含）以上进入候选学生库，否则退档；数学分数不低于</a:t>
            </a:r>
            <a:r>
              <a:rPr lang="en-US" altLang="zh-CN" sz="3300">
                <a:latin typeface="楷体_GB2312" panose="02010609030101010101" pitchFamily="49" charset="-122"/>
              </a:rPr>
              <a:t>70</a:t>
            </a:r>
            <a:r>
              <a:rPr lang="zh-CN" altLang="en-US" sz="3300" dirty="0">
                <a:latin typeface="楷体_GB2312" panose="02010609030101010101" pitchFamily="49" charset="-122"/>
              </a:rPr>
              <a:t>分，则进入三级备选库，否则进入四级备选库；在三级备选库的基础上，如果专业课分数高于</a:t>
            </a:r>
            <a:r>
              <a:rPr lang="en-US" altLang="zh-CN" sz="3300">
                <a:latin typeface="楷体_GB2312" panose="02010609030101010101" pitchFamily="49" charset="-122"/>
              </a:rPr>
              <a:t>100</a:t>
            </a:r>
            <a:r>
              <a:rPr lang="zh-CN" altLang="en-US" sz="3300" dirty="0">
                <a:latin typeface="楷体_GB2312" panose="02010609030101010101" pitchFamily="49" charset="-122"/>
              </a:rPr>
              <a:t>分，则进入一级备选库，否则进入二级备选库，请画出对应的判定树。</a:t>
            </a:r>
            <a:endParaRPr lang="zh-CN" altLang="en-US" sz="3300" dirty="0">
              <a:latin typeface="楷体_GB2312" panose="02010609030101010101" pitchFamily="49" charset="-122"/>
            </a:endParaRPr>
          </a:p>
        </p:txBody>
      </p:sp>
      <p:sp>
        <p:nvSpPr>
          <p:cNvPr id="3068932" name="矩形 3068931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31394" name="矩形 3131393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31396" name="矩形 3131395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3131426" name="图片 31314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3888" y="1117600"/>
            <a:ext cx="8607425" cy="4660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32418" name="矩形 3132417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32419" name="矩形 3132418"/>
          <p:cNvSpPr/>
          <p:nvPr/>
        </p:nvSpPr>
        <p:spPr>
          <a:xfrm>
            <a:off x="1765300" y="1092200"/>
            <a:ext cx="87122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zh-CN" altLang="en-US" sz="3500" dirty="0">
                <a:latin typeface="楷体_GB2312" panose="02010609030101010101" pitchFamily="49" charset="-122"/>
              </a:rPr>
              <a:t>补充</a:t>
            </a:r>
            <a:r>
              <a:rPr lang="en-US" altLang="zh-CN" sz="3500">
                <a:latin typeface="楷体_GB2312" panose="02010609030101010101" pitchFamily="49" charset="-122"/>
              </a:rPr>
              <a:t>2</a:t>
            </a:r>
            <a:r>
              <a:rPr lang="zh-CN" altLang="en-US" sz="3500" dirty="0">
                <a:latin typeface="楷体_GB2312" panose="02010609030101010101" pitchFamily="49" charset="-122"/>
              </a:rPr>
              <a:t>、某校的课酬计算方案如下：</a:t>
            </a:r>
            <a:r>
              <a:rPr lang="en-US" altLang="zh-CN" sz="3500">
                <a:latin typeface="楷体_GB2312" panose="02010609030101010101" pitchFamily="49" charset="-122"/>
              </a:rPr>
              <a:t>(l)</a:t>
            </a:r>
            <a:r>
              <a:rPr lang="zh-CN" altLang="en-US" sz="3500" dirty="0">
                <a:latin typeface="楷体_GB2312" panose="02010609030101010101" pitchFamily="49" charset="-122"/>
              </a:rPr>
              <a:t>基本课酬为每节课</a:t>
            </a:r>
            <a:r>
              <a:rPr lang="en-US" altLang="zh-CN" sz="3500">
                <a:latin typeface="楷体_GB2312" panose="02010609030101010101" pitchFamily="49" charset="-122"/>
              </a:rPr>
              <a:t>10</a:t>
            </a:r>
            <a:r>
              <a:rPr lang="zh-CN" altLang="en-US" sz="3500" dirty="0">
                <a:latin typeface="楷体_GB2312" panose="02010609030101010101" pitchFamily="49" charset="-122"/>
              </a:rPr>
              <a:t>元；</a:t>
            </a:r>
            <a:r>
              <a:rPr lang="en-US" altLang="zh-CN" sz="3500">
                <a:latin typeface="楷体_GB2312" panose="02010609030101010101" pitchFamily="49" charset="-122"/>
              </a:rPr>
              <a:t>(2)</a:t>
            </a:r>
            <a:r>
              <a:rPr lang="zh-CN" altLang="en-US" sz="3500" dirty="0">
                <a:latin typeface="楷体_GB2312" panose="02010609030101010101" pitchFamily="49" charset="-122"/>
              </a:rPr>
              <a:t>如果班级人数超过</a:t>
            </a:r>
            <a:r>
              <a:rPr lang="en-US" altLang="zh-CN" sz="3500">
                <a:latin typeface="楷体_GB2312" panose="02010609030101010101" pitchFamily="49" charset="-122"/>
              </a:rPr>
              <a:t>40</a:t>
            </a:r>
            <a:r>
              <a:rPr lang="zh-CN" altLang="en-US" sz="3500" dirty="0">
                <a:latin typeface="楷体_GB2312" panose="02010609030101010101" pitchFamily="49" charset="-122"/>
              </a:rPr>
              <a:t>人，课酬增加：基本课酬</a:t>
            </a:r>
            <a:r>
              <a:rPr lang="en-US" altLang="zh-CN" sz="3500">
                <a:latin typeface="楷体_GB2312" panose="02010609030101010101" pitchFamily="49" charset="-122"/>
              </a:rPr>
              <a:t>×0.1</a:t>
            </a:r>
            <a:r>
              <a:rPr lang="zh-CN" altLang="en-US" sz="3500" dirty="0">
                <a:latin typeface="楷体_GB2312" panose="02010609030101010101" pitchFamily="49" charset="-122"/>
              </a:rPr>
              <a:t>；</a:t>
            </a:r>
            <a:r>
              <a:rPr lang="en-US" altLang="zh-CN" sz="3500">
                <a:latin typeface="楷体_GB2312" panose="02010609030101010101" pitchFamily="49" charset="-122"/>
              </a:rPr>
              <a:t>(3)</a:t>
            </a:r>
            <a:r>
              <a:rPr lang="zh-CN" altLang="en-US" sz="3500" dirty="0">
                <a:latin typeface="楷体_GB2312" panose="02010609030101010101" pitchFamily="49" charset="-122"/>
              </a:rPr>
              <a:t>如果班级人数超过</a:t>
            </a:r>
            <a:r>
              <a:rPr lang="en-US" altLang="zh-CN" sz="3500">
                <a:latin typeface="楷体_GB2312" panose="02010609030101010101" pitchFamily="49" charset="-122"/>
              </a:rPr>
              <a:t>60</a:t>
            </a:r>
            <a:r>
              <a:rPr lang="zh-CN" altLang="en-US" sz="3500" dirty="0">
                <a:latin typeface="楷体_GB2312" panose="02010609030101010101" pitchFamily="49" charset="-122"/>
              </a:rPr>
              <a:t>人，课酬增加：基本课酬</a:t>
            </a:r>
            <a:r>
              <a:rPr lang="en-US" altLang="zh-CN" sz="3500">
                <a:latin typeface="楷体_GB2312" panose="02010609030101010101" pitchFamily="49" charset="-122"/>
              </a:rPr>
              <a:t>×0.2</a:t>
            </a:r>
            <a:r>
              <a:rPr lang="zh-CN" altLang="en-US" sz="3500" dirty="0">
                <a:latin typeface="楷体_GB2312" panose="02010609030101010101" pitchFamily="49" charset="-122"/>
              </a:rPr>
              <a:t>；</a:t>
            </a:r>
            <a:r>
              <a:rPr lang="en-US" altLang="zh-CN" sz="3500">
                <a:latin typeface="楷体_GB2312" panose="02010609030101010101" pitchFamily="49" charset="-122"/>
              </a:rPr>
              <a:t>(4)</a:t>
            </a:r>
            <a:r>
              <a:rPr lang="zh-CN" altLang="en-US" sz="3500" dirty="0">
                <a:latin typeface="楷体_GB2312" panose="02010609030101010101" pitchFamily="49" charset="-122"/>
              </a:rPr>
              <a:t>如果教师是副教授，课酬增加：基本课酬</a:t>
            </a:r>
            <a:r>
              <a:rPr lang="en-US" altLang="zh-CN" sz="3500">
                <a:latin typeface="楷体_GB2312" panose="02010609030101010101" pitchFamily="49" charset="-122"/>
              </a:rPr>
              <a:t>×0.1</a:t>
            </a:r>
            <a:r>
              <a:rPr lang="zh-CN" altLang="en-US" sz="3500" dirty="0">
                <a:latin typeface="楷体_GB2312" panose="02010609030101010101" pitchFamily="49" charset="-122"/>
              </a:rPr>
              <a:t>；</a:t>
            </a:r>
            <a:r>
              <a:rPr lang="en-US" altLang="zh-CN" sz="3500">
                <a:latin typeface="楷体_GB2312" panose="02010609030101010101" pitchFamily="49" charset="-122"/>
              </a:rPr>
              <a:t>(5)</a:t>
            </a:r>
            <a:r>
              <a:rPr lang="zh-CN" altLang="en-US" sz="3500" dirty="0">
                <a:latin typeface="楷体_GB2312" panose="02010609030101010101" pitchFamily="49" charset="-122"/>
              </a:rPr>
              <a:t>如果教师是教授，课酬增加：基本课酬</a:t>
            </a:r>
            <a:r>
              <a:rPr lang="en-US" altLang="zh-CN" sz="3500">
                <a:latin typeface="楷体_GB2312" panose="02010609030101010101" pitchFamily="49" charset="-122"/>
              </a:rPr>
              <a:t>×0.2</a:t>
            </a:r>
            <a:r>
              <a:rPr lang="zh-CN" altLang="en-US" sz="3500" dirty="0">
                <a:latin typeface="楷体_GB2312" panose="02010609030101010101" pitchFamily="49" charset="-122"/>
              </a:rPr>
              <a:t>；</a:t>
            </a:r>
            <a:r>
              <a:rPr lang="en-US" altLang="zh-CN" sz="3500">
                <a:latin typeface="楷体_GB2312" panose="02010609030101010101" pitchFamily="49" charset="-122"/>
              </a:rPr>
              <a:t>(6)</a:t>
            </a:r>
            <a:r>
              <a:rPr lang="zh-CN" altLang="en-US" sz="3500" dirty="0">
                <a:latin typeface="楷体_GB2312" panose="02010609030101010101" pitchFamily="49" charset="-122"/>
              </a:rPr>
              <a:t>讲师，课酬不增加；</a:t>
            </a:r>
            <a:r>
              <a:rPr lang="en-US" altLang="zh-CN" sz="3500">
                <a:latin typeface="楷体_GB2312" panose="02010609030101010101" pitchFamily="49" charset="-122"/>
              </a:rPr>
              <a:t>(7)</a:t>
            </a:r>
            <a:r>
              <a:rPr lang="zh-CN" altLang="en-US" sz="3500" dirty="0">
                <a:latin typeface="楷体_GB2312" panose="02010609030101010101" pitchFamily="49" charset="-122"/>
              </a:rPr>
              <a:t>助教，课酬减少：基本课酬</a:t>
            </a:r>
            <a:r>
              <a:rPr lang="en-US" altLang="zh-CN" sz="3500">
                <a:latin typeface="楷体_GB2312" panose="02010609030101010101" pitchFamily="49" charset="-122"/>
              </a:rPr>
              <a:t>×0.1</a:t>
            </a:r>
            <a:r>
              <a:rPr lang="zh-CN" altLang="en-US" sz="3500" dirty="0">
                <a:latin typeface="楷体_GB2312" panose="02010609030101010101" pitchFamily="49" charset="-122"/>
              </a:rPr>
              <a:t>。请用判定表表达上述计算方案。</a:t>
            </a:r>
            <a:endParaRPr lang="zh-CN" altLang="en-US" sz="3500" dirty="0">
              <a:latin typeface="楷体_GB2312" panose="02010609030101010101" pitchFamily="49" charset="-122"/>
            </a:endParaRPr>
          </a:p>
        </p:txBody>
      </p:sp>
      <p:sp>
        <p:nvSpPr>
          <p:cNvPr id="3132420" name="矩形 3132419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33442" name="矩形 3133441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134679" name="表格 3134678"/>
          <p:cNvGraphicFramePr/>
          <p:nvPr/>
        </p:nvGraphicFramePr>
        <p:xfrm>
          <a:off x="1854200" y="38100"/>
          <a:ext cx="8648700" cy="6489700"/>
        </p:xfrm>
        <a:graphic>
          <a:graphicData uri="http://schemas.openxmlformats.org/drawingml/2006/table">
            <a:tbl>
              <a:tblPr/>
              <a:tblGrid>
                <a:gridCol w="2441575"/>
                <a:gridCol w="473075"/>
                <a:gridCol w="469900"/>
                <a:gridCol w="469900"/>
                <a:gridCol w="469900"/>
                <a:gridCol w="501650"/>
                <a:gridCol w="438150"/>
                <a:gridCol w="469900"/>
                <a:gridCol w="473075"/>
                <a:gridCol w="441325"/>
                <a:gridCol w="684530"/>
                <a:gridCol w="679450"/>
                <a:gridCol w="636270"/>
              </a:tblGrid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人数</a:t>
                      </a: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≤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＜人数</a:t>
                      </a: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≤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人数＞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助教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讲师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副教授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教授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课酬：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元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节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课酬：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元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节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课酬：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元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节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课酬：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元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节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课酬：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元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节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课酬：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元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节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34680" name="动作按钮: 第一张 3134679">
            <a:hlinkClick r:id="rId1" action="ppaction://hlinksldjump"/>
          </p:cNvPr>
          <p:cNvSpPr>
            <a:spLocks noChangeAspect="1"/>
          </p:cNvSpPr>
          <p:nvPr/>
        </p:nvSpPr>
        <p:spPr>
          <a:xfrm>
            <a:off x="8866188" y="6321425"/>
            <a:ext cx="1012825" cy="536575"/>
          </a:xfrm>
          <a:prstGeom prst="actionButtonHome">
            <a:avLst/>
          </a:prstGeom>
          <a:solidFill>
            <a:srgbClr val="FFFF00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COMMONDATA" val="eyJoZGlkIjoiZDVhZDQ3ZWUyM2ZkYzQ0ZGU4M2E1ZGZiMzVjZGYxYjQ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1679</Words>
  <Application>WPS 演示</Application>
  <PresentationFormat>宽屏</PresentationFormat>
  <Paragraphs>245</Paragraphs>
  <Slides>14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黑体</vt:lpstr>
      <vt:lpstr>楷体_GB2312</vt:lpstr>
      <vt:lpstr>Office 主题​​</vt:lpstr>
      <vt:lpstr>Visio.Drawing.11</vt:lpstr>
      <vt:lpstr>Visio.Drawing.11</vt:lpstr>
      <vt:lpstr>Visio.Drawing.11</vt:lpstr>
      <vt:lpstr>Visio.Drawing.11</vt:lpstr>
      <vt:lpstr>　　</vt:lpstr>
      <vt:lpstr>　　</vt:lpstr>
      <vt:lpstr>　　</vt:lpstr>
      <vt:lpstr>　　</vt:lpstr>
      <vt:lpstr>　　</vt:lpstr>
      <vt:lpstr>　　</vt:lpstr>
      <vt:lpstr>　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永旖（梁俊卿）</cp:lastModifiedBy>
  <cp:revision>155</cp:revision>
  <dcterms:created xsi:type="dcterms:W3CDTF">2019-06-19T02:08:00Z</dcterms:created>
  <dcterms:modified xsi:type="dcterms:W3CDTF">2023-03-23T22:05:53Z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2052-11.1.0.14018</vt:lpwstr>
  </property>
  <property fmtid="{D5CDD505-2E9C-101B-9397-08002B2CF9AE}" pid="3" name="ICV">
    <vt:lpwstr>C70C5BB3D54849F8A408F6823233E9A5_11</vt:lpwstr>
  </property>
</Properties>
</file>