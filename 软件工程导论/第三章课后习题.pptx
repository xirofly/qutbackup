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6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38211" name="矩形 3038210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>
                <a:solidFill>
                  <a:srgbClr val="FF0000"/>
                </a:solidFill>
                <a:latin typeface="楷体_GB2312" panose="02010609030101010101" pitchFamily="49" charset="-122"/>
              </a:rPr>
              <a:t>3-3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银行计算机储蓄系统的工作过程大致如下：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储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户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填写的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存款单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或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取款单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由</a:t>
            </a:r>
            <a:r>
              <a:rPr lang="zh-CN" altLang="en-US" dirty="0">
                <a:latin typeface="楷体_GB2312" panose="02010609030101010101" pitchFamily="49" charset="-122"/>
              </a:rPr>
              <a:t>业务员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键入系统，如果是存款则系统</a:t>
            </a:r>
            <a:r>
              <a:rPr lang="zh-CN" altLang="en-US" dirty="0">
                <a:latin typeface="楷体_GB2312" panose="02010609030101010101" pitchFamily="49" charset="-122"/>
              </a:rPr>
              <a:t>记录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存款人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姓名、住址</a:t>
            </a:r>
            <a:r>
              <a:rPr lang="en-US" altLang="zh-CN">
                <a:solidFill>
                  <a:srgbClr val="003300"/>
                </a:solidFill>
                <a:latin typeface="楷体_GB2312" panose="02010609030101010101" pitchFamily="49" charset="-122"/>
              </a:rPr>
              <a:t>(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或电话号码</a:t>
            </a:r>
            <a:r>
              <a:rPr lang="en-US" altLang="zh-CN">
                <a:solidFill>
                  <a:srgbClr val="003300"/>
                </a:solidFill>
                <a:latin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、身份证号码、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存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款类型</a:t>
            </a:r>
            <a:r>
              <a:rPr lang="zh-CN" altLang="en-US" dirty="0">
                <a:latin typeface="楷体_GB2312" panose="02010609030101010101" pitchFamily="49" charset="-122"/>
              </a:rPr>
              <a:t>、存款日期、到期日期、利率及密码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(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可选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等信息，并印出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给储户；如果是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取款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而且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存款时留有密码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，则系统首先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核对储户密码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，若密码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正确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或存款时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未留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密码，则系统</a:t>
            </a:r>
            <a:r>
              <a:rPr lang="zh-CN" altLang="en-US" dirty="0">
                <a:latin typeface="楷体_GB2312" panose="02010609030101010101" pitchFamily="49" charset="-122"/>
              </a:rPr>
              <a:t>计算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利息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并</a:t>
            </a:r>
            <a:r>
              <a:rPr lang="zh-CN" altLang="en-US" dirty="0">
                <a:latin typeface="楷体_GB2312" panose="02010609030101010101" pitchFamily="49" charset="-122"/>
              </a:rPr>
              <a:t>印出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利息清单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给储户。</a:t>
            </a:r>
            <a:endParaRPr lang="zh-CN" altLang="en-US" dirty="0">
              <a:solidFill>
                <a:srgbClr val="000099"/>
              </a:solidFill>
              <a:latin typeface="楷体_GB2312" panose="02010609030101010101" pitchFamily="49" charset="-122"/>
            </a:endParaRPr>
          </a:p>
          <a:p>
            <a:pPr lvl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请用数据流图描绘本系统的功能，并用实体</a:t>
            </a:r>
            <a:r>
              <a:rPr lang="en-US" altLang="zh-CN">
                <a:solidFill>
                  <a:srgbClr val="FF0000"/>
                </a:solidFill>
                <a:latin typeface="楷体_GB2312" panose="02010609030101010101" pitchFamily="49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联系图描绘系统中的数据对象。</a:t>
            </a:r>
            <a:endParaRPr lang="zh-CN" altLang="en-US" dirty="0">
              <a:solidFill>
                <a:srgbClr val="FF0000"/>
              </a:solidFill>
              <a:latin typeface="楷体_GB2312" panose="02010609030101010101" pitchFamily="49" charset="-122"/>
            </a:endParaRPr>
          </a:p>
        </p:txBody>
      </p:sp>
      <p:sp>
        <p:nvSpPr>
          <p:cNvPr id="3038212" name="矩形 303821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38213" name="矩形 303821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6643" name="矩形 305664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56644" name="矩形 305664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056645" name="对象 3056644"/>
          <p:cNvGraphicFramePr/>
          <p:nvPr/>
        </p:nvGraphicFramePr>
        <p:xfrm>
          <a:off x="1638300" y="1739900"/>
          <a:ext cx="8775700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637655" imgH="2461260" progId="Visio.Drawing.11">
                  <p:embed/>
                </p:oleObj>
              </mc:Choice>
              <mc:Fallback>
                <p:oleObj name="" r:id="rId1" imgW="6637655" imgH="2461260" progId="Visio.Drawing.11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8300" y="1739900"/>
                        <a:ext cx="8775700" cy="324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7666" name="矩形 305766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57669" name="对象 3057668"/>
          <p:cNvGraphicFramePr/>
          <p:nvPr/>
        </p:nvGraphicFramePr>
        <p:xfrm>
          <a:off x="1760538" y="100013"/>
          <a:ext cx="8153400" cy="642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434455" imgH="5068570" progId="Visio.Drawing.11">
                  <p:embed/>
                </p:oleObj>
              </mc:Choice>
              <mc:Fallback>
                <p:oleObj name="" r:id="rId1" imgW="6434455" imgH="506857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0538" y="100013"/>
                        <a:ext cx="8153400" cy="6421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8690" name="矩形 30586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58692" name="对象 3058691"/>
          <p:cNvGraphicFramePr/>
          <p:nvPr/>
        </p:nvGraphicFramePr>
        <p:xfrm>
          <a:off x="1738313" y="1457325"/>
          <a:ext cx="7677150" cy="347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5814060" imgH="2641600" progId="Visio.Drawing.11">
                  <p:embed/>
                </p:oleObj>
              </mc:Choice>
              <mc:Fallback>
                <p:oleObj name="" r:id="rId1" imgW="5814060" imgH="2641600" progId="Visio.Drawing.11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8313" y="1457325"/>
                        <a:ext cx="7677150" cy="347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8694" name="矩形 305869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39235" name="矩形 3039234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en-US" altLang="zh-CN"/>
              <a:t>ER</a:t>
            </a:r>
            <a:r>
              <a:rPr lang="zh-CN" altLang="en-US" dirty="0"/>
              <a:t>模型</a:t>
            </a:r>
            <a:endParaRPr lang="zh-CN" altLang="en-US" dirty="0"/>
          </a:p>
          <a:p>
            <a:pPr lvl="1"/>
            <a:r>
              <a:rPr lang="zh-CN" altLang="en-US" dirty="0"/>
              <a:t>本问</a:t>
            </a:r>
            <a:r>
              <a:rPr lang="zh-CN" altLang="en-US" dirty="0"/>
              <a:t>题中共有两类实体，分别是“</a:t>
            </a:r>
            <a:r>
              <a:rPr lang="zh-CN" altLang="en-US" dirty="0">
                <a:solidFill>
                  <a:srgbClr val="990000"/>
                </a:solidFill>
              </a:rPr>
              <a:t>储户</a:t>
            </a:r>
            <a:r>
              <a:rPr lang="zh-CN" altLang="en-US" dirty="0"/>
              <a:t>”和“</a:t>
            </a:r>
            <a:r>
              <a:rPr lang="zh-CN" altLang="en-US" dirty="0">
                <a:solidFill>
                  <a:srgbClr val="990000"/>
                </a:solidFill>
              </a:rPr>
              <a:t>储蓄所</a:t>
            </a:r>
            <a:r>
              <a:rPr lang="zh-CN" altLang="en-US" dirty="0"/>
              <a:t>”，在它们之间存在“</a:t>
            </a:r>
            <a:r>
              <a:rPr lang="zh-CN" altLang="en-US" dirty="0">
                <a:solidFill>
                  <a:srgbClr val="990000"/>
                </a:solidFill>
              </a:rPr>
              <a:t>存取款</a:t>
            </a:r>
            <a:r>
              <a:rPr lang="zh-CN" altLang="en-US" dirty="0"/>
              <a:t>”关系。因为一位储户可以在多家储蓄所存取款，一家储蓄所拥有多位储户，所以“存取款”是多对多（</a:t>
            </a:r>
            <a:r>
              <a:rPr lang="en-US" altLang="zh-CN"/>
              <a:t>M:N</a:t>
            </a:r>
            <a:r>
              <a:rPr lang="zh-CN" altLang="en-US" dirty="0"/>
              <a:t>）关系。</a:t>
            </a:r>
            <a:endParaRPr lang="zh-CN" altLang="en-US" dirty="0"/>
          </a:p>
          <a:p>
            <a:pPr lvl="1"/>
            <a:r>
              <a:rPr lang="zh-CN" altLang="en-US" dirty="0"/>
              <a:t>储户的</a:t>
            </a:r>
            <a:r>
              <a:rPr lang="zh-CN" altLang="en-US" dirty="0"/>
              <a:t>属性主要有</a:t>
            </a:r>
            <a:r>
              <a:rPr lang="zh-CN" altLang="en-US" dirty="0">
                <a:solidFill>
                  <a:srgbClr val="990000"/>
                </a:solidFill>
              </a:rPr>
              <a:t>姓名、住址、电话号码和身份证号码</a:t>
            </a:r>
            <a:r>
              <a:rPr lang="zh-CN" altLang="en-US" dirty="0"/>
              <a:t>，储蓄所的属性主要是</a:t>
            </a:r>
            <a:r>
              <a:rPr lang="zh-CN" altLang="en-US" dirty="0">
                <a:solidFill>
                  <a:srgbClr val="990000"/>
                </a:solidFill>
              </a:rPr>
              <a:t>名称、地址和电话号码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3300"/>
                </a:solidFill>
              </a:rPr>
              <a:t>数额、类型、到期日期、利率和密码</a:t>
            </a:r>
            <a:r>
              <a:rPr lang="zh-CN" altLang="en-US" dirty="0"/>
              <a:t>则是</a:t>
            </a:r>
            <a:r>
              <a:rPr lang="zh-CN" altLang="en-US" dirty="0">
                <a:solidFill>
                  <a:srgbClr val="003300"/>
                </a:solidFill>
              </a:rPr>
              <a:t>关系类型存取款</a:t>
            </a:r>
            <a:r>
              <a:rPr lang="zh-CN" altLang="en-US" dirty="0"/>
              <a:t>的属性。</a:t>
            </a:r>
            <a:endParaRPr lang="zh-CN" altLang="en-US" dirty="0"/>
          </a:p>
        </p:txBody>
      </p:sp>
      <p:sp>
        <p:nvSpPr>
          <p:cNvPr id="3039236" name="矩形 303923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39237" name="矩形 303923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0739" name="矩形 3060738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0740" name="矩形 306073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60741" name="图片 30607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913" y="1090613"/>
            <a:ext cx="8280400" cy="466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9714" name="矩形 3059713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en-US" altLang="zh-CN"/>
              <a:t>3-6 </a:t>
            </a:r>
            <a:r>
              <a:rPr lang="zh-CN" altLang="en-US" dirty="0"/>
              <a:t>复印机的工作过程大致如下：未接到复印命令时处于</a:t>
            </a:r>
            <a:r>
              <a:rPr lang="zh-CN" altLang="en-US" dirty="0">
                <a:solidFill>
                  <a:srgbClr val="000099"/>
                </a:solidFill>
              </a:rPr>
              <a:t>闲置</a:t>
            </a:r>
            <a:r>
              <a:rPr lang="zh-CN" altLang="en-US" dirty="0"/>
              <a:t>状态</a:t>
            </a:r>
            <a:r>
              <a:rPr lang="zh-CN" altLang="en-US" dirty="0"/>
              <a:t>，一旦接到</a:t>
            </a:r>
            <a:r>
              <a:rPr lang="zh-CN" altLang="en-US" dirty="0">
                <a:solidFill>
                  <a:srgbClr val="003300"/>
                </a:solidFill>
              </a:rPr>
              <a:t>复印命令</a:t>
            </a:r>
            <a:r>
              <a:rPr lang="zh-CN" altLang="en-US" dirty="0"/>
              <a:t>则进入</a:t>
            </a:r>
            <a:r>
              <a:rPr lang="zh-CN" altLang="en-US" dirty="0">
                <a:solidFill>
                  <a:srgbClr val="000099"/>
                </a:solidFill>
              </a:rPr>
              <a:t>复印</a:t>
            </a:r>
            <a:r>
              <a:rPr lang="zh-CN" altLang="en-US" dirty="0"/>
              <a:t>状态，</a:t>
            </a:r>
            <a:r>
              <a:rPr lang="zh-CN" altLang="en-US" dirty="0">
                <a:solidFill>
                  <a:srgbClr val="003300"/>
                </a:solidFill>
              </a:rPr>
              <a:t>完成一个复印命令</a:t>
            </a:r>
            <a:r>
              <a:rPr lang="zh-CN" altLang="en-US" dirty="0"/>
              <a:t>规定的工作后又回到闲置状态，等待下一个复印命令；如果执行复印命令时</a:t>
            </a:r>
            <a:r>
              <a:rPr lang="zh-CN" altLang="en-US" dirty="0">
                <a:solidFill>
                  <a:srgbClr val="003300"/>
                </a:solidFill>
              </a:rPr>
              <a:t>发现没纸</a:t>
            </a:r>
            <a:r>
              <a:rPr lang="zh-CN" altLang="en-US" dirty="0"/>
              <a:t>，则进入</a:t>
            </a:r>
            <a:r>
              <a:rPr lang="zh-CN" altLang="en-US" dirty="0">
                <a:solidFill>
                  <a:srgbClr val="000099"/>
                </a:solidFill>
              </a:rPr>
              <a:t>缺纸</a:t>
            </a:r>
            <a:r>
              <a:rPr lang="zh-CN" altLang="en-US" dirty="0"/>
              <a:t>状态，发出警告，等待装纸，</a:t>
            </a:r>
            <a:r>
              <a:rPr lang="zh-CN" altLang="en-US" dirty="0">
                <a:solidFill>
                  <a:srgbClr val="003300"/>
                </a:solidFill>
              </a:rPr>
              <a:t>装满纸</a:t>
            </a:r>
            <a:r>
              <a:rPr lang="zh-CN" altLang="en-US" dirty="0"/>
              <a:t>后进入闲置状态，准备接收复印命令；如果复印时发生</a:t>
            </a:r>
            <a:r>
              <a:rPr lang="zh-CN" altLang="en-US" dirty="0">
                <a:solidFill>
                  <a:srgbClr val="003300"/>
                </a:solidFill>
              </a:rPr>
              <a:t>卡纸故障</a:t>
            </a:r>
            <a:r>
              <a:rPr lang="zh-CN" altLang="en-US" dirty="0"/>
              <a:t>，则进入</a:t>
            </a:r>
            <a:r>
              <a:rPr lang="zh-CN" altLang="en-US" dirty="0">
                <a:solidFill>
                  <a:srgbClr val="000099"/>
                </a:solidFill>
              </a:rPr>
              <a:t>卡纸</a:t>
            </a:r>
            <a:r>
              <a:rPr lang="zh-CN" altLang="en-US" dirty="0"/>
              <a:t>状态，发出警告等待维修人员来排除故障，</a:t>
            </a:r>
            <a:r>
              <a:rPr lang="zh-CN" altLang="en-US" dirty="0">
                <a:solidFill>
                  <a:srgbClr val="003300"/>
                </a:solidFill>
              </a:rPr>
              <a:t>故障排除</a:t>
            </a:r>
            <a:r>
              <a:rPr lang="zh-CN" altLang="en-US" dirty="0"/>
              <a:t>后回到闲置状态。</a:t>
            </a:r>
            <a:endParaRPr lang="zh-CN" altLang="en-US" dirty="0"/>
          </a:p>
          <a:p>
            <a:pPr lvl="0"/>
            <a:r>
              <a:rPr lang="zh-CN" altLang="en-US" dirty="0"/>
              <a:t>请用状态转换图描绘复印机的行为。 </a:t>
            </a:r>
            <a:endParaRPr lang="zh-CN" altLang="en-US" dirty="0"/>
          </a:p>
        </p:txBody>
      </p:sp>
      <p:sp>
        <p:nvSpPr>
          <p:cNvPr id="3059715" name="矩形 305971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59716" name="矩形 3059715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762" name="矩形 3061761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zh-CN" altLang="en-US" dirty="0"/>
              <a:t>从问题陈述可知，复印机的状态主要有</a:t>
            </a:r>
            <a:r>
              <a:rPr lang="zh-CN" altLang="en-US" dirty="0">
                <a:solidFill>
                  <a:srgbClr val="003300"/>
                </a:solidFill>
              </a:rPr>
              <a:t>“闲置”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3300"/>
                </a:solidFill>
              </a:rPr>
              <a:t>“复印”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3300"/>
                </a:solidFill>
              </a:rPr>
              <a:t>“缺纸”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3300"/>
                </a:solidFill>
              </a:rPr>
              <a:t>“卡纸”</a:t>
            </a:r>
            <a:r>
              <a:rPr lang="zh-CN" altLang="en-US" dirty="0"/>
              <a:t>。引起状态转换的事件主要是“</a:t>
            </a:r>
            <a:r>
              <a:rPr lang="zh-CN" altLang="en-US" dirty="0">
                <a:solidFill>
                  <a:srgbClr val="000099"/>
                </a:solidFill>
              </a:rPr>
              <a:t>复印命令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完成复印命令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发现缺纸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装满纸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发生卡纸故障</a:t>
            </a:r>
            <a:r>
              <a:rPr lang="zh-CN" altLang="en-US" dirty="0"/>
              <a:t>”和“</a:t>
            </a:r>
            <a:r>
              <a:rPr lang="zh-CN" altLang="en-US" dirty="0">
                <a:solidFill>
                  <a:srgbClr val="000099"/>
                </a:solidFill>
              </a:rPr>
              <a:t>排除了卡纸故障</a:t>
            </a:r>
            <a:r>
              <a:rPr lang="zh-CN" altLang="en-US" dirty="0"/>
              <a:t>”。 </a:t>
            </a:r>
            <a:endParaRPr lang="zh-CN" altLang="en-US" dirty="0"/>
          </a:p>
        </p:txBody>
      </p:sp>
      <p:sp>
        <p:nvSpPr>
          <p:cNvPr id="3061763" name="矩形 306176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1764" name="矩形 306176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61765" name="图片 30617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13" y="2636838"/>
            <a:ext cx="7478712" cy="4108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61766" name="动作按钮: 第一张 3061765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9285288" y="57880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WPS 演示</Application>
  <PresentationFormat>宽屏</PresentationFormat>
  <Paragraphs>42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楷体_GB2312</vt:lpstr>
      <vt:lpstr>黑体</vt:lpstr>
      <vt:lpstr>Office 主题​​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2023-03-16T22:24:02Z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CDB6B880B63B4DCF9E02FB72D60A1260</vt:lpwstr>
  </property>
</Properties>
</file>