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6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38211" name="矩形 3038210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>
              <a:lnSpc>
                <a:spcPct val="120000"/>
              </a:lnSpc>
              <a:buNone/>
            </a:pPr>
            <a:r>
              <a:rPr lang="en-US" altLang="zh-CN">
                <a:solidFill>
                  <a:srgbClr val="FF0000"/>
                </a:solidFill>
                <a:latin typeface="楷体_GB2312" panose="02010609030101010101" pitchFamily="49" charset="-122"/>
              </a:rPr>
              <a:t>3-3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 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银行计算机储蓄系统的工作过程大致如下：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储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户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填写的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存款单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或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取款单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由</a:t>
            </a:r>
            <a:r>
              <a:rPr lang="zh-CN" altLang="en-US" dirty="0">
                <a:latin typeface="楷体_GB2312" panose="02010609030101010101" pitchFamily="49" charset="-122"/>
              </a:rPr>
              <a:t>业务员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键入系统，如果是存款则系统</a:t>
            </a:r>
            <a:r>
              <a:rPr lang="zh-CN" altLang="en-US" dirty="0">
                <a:latin typeface="楷体_GB2312" panose="02010609030101010101" pitchFamily="49" charset="-122"/>
              </a:rPr>
              <a:t>记录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存款人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姓名、住址</a:t>
            </a:r>
            <a:r>
              <a:rPr lang="en-US" altLang="zh-CN">
                <a:solidFill>
                  <a:srgbClr val="003300"/>
                </a:solidFill>
                <a:latin typeface="楷体_GB2312" panose="02010609030101010101" pitchFamily="49" charset="-122"/>
              </a:rPr>
              <a:t>(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或电话号码</a:t>
            </a:r>
            <a:r>
              <a:rPr lang="en-US" altLang="zh-CN">
                <a:solidFill>
                  <a:srgbClr val="003300"/>
                </a:solidFill>
                <a:latin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、身份证号码、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存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款类型</a:t>
            </a:r>
            <a:r>
              <a:rPr lang="zh-CN" altLang="en-US" dirty="0">
                <a:latin typeface="楷体_GB2312" panose="02010609030101010101" pitchFamily="49" charset="-122"/>
              </a:rPr>
              <a:t>、存款日期、到期日期、利率及密码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(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可选</a:t>
            </a:r>
            <a:r>
              <a:rPr lang="en-US" altLang="zh-CN">
                <a:solidFill>
                  <a:srgbClr val="000099"/>
                </a:solidFill>
                <a:latin typeface="楷体_GB2312" panose="02010609030101010101" pitchFamily="49" charset="-122"/>
              </a:rPr>
              <a:t>)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等信息，并印出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给储户；如果是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取款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而且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存款时留有密码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，则系统首先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核对储户密码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，若密码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正确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或存款时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未留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密码，则系统</a:t>
            </a:r>
            <a:r>
              <a:rPr lang="zh-CN" altLang="en-US" dirty="0">
                <a:latin typeface="楷体_GB2312" panose="02010609030101010101" pitchFamily="49" charset="-122"/>
              </a:rPr>
              <a:t>计算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利息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并</a:t>
            </a:r>
            <a:r>
              <a:rPr lang="zh-CN" altLang="en-US" dirty="0">
                <a:latin typeface="楷体_GB2312" panose="02010609030101010101" pitchFamily="49" charset="-122"/>
              </a:rPr>
              <a:t>印出</a:t>
            </a:r>
            <a:r>
              <a:rPr lang="zh-CN" altLang="en-US" dirty="0">
                <a:solidFill>
                  <a:srgbClr val="003300"/>
                </a:solidFill>
                <a:latin typeface="楷体_GB2312" panose="02010609030101010101" pitchFamily="49" charset="-122"/>
              </a:rPr>
              <a:t>利息清单</a:t>
            </a: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给储户。</a:t>
            </a:r>
            <a:endParaRPr lang="zh-CN" altLang="en-US" dirty="0">
              <a:solidFill>
                <a:srgbClr val="000099"/>
              </a:solidFill>
              <a:latin typeface="楷体_GB2312" panose="02010609030101010101" pitchFamily="49" charset="-122"/>
            </a:endParaRPr>
          </a:p>
          <a:p>
            <a:pPr lvl="0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99"/>
                </a:solidFill>
                <a:latin typeface="楷体_GB2312" panose="02010609030101010101" pitchFamily="49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请用数据流图描绘本系统的功能，并用实体</a:t>
            </a:r>
            <a:r>
              <a:rPr lang="en-US" altLang="zh-CN">
                <a:solidFill>
                  <a:srgbClr val="FF0000"/>
                </a:solidFill>
                <a:latin typeface="楷体_GB2312" panose="02010609030101010101" pitchFamily="49" charset="-122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楷体_GB2312" panose="02010609030101010101" pitchFamily="49" charset="-122"/>
              </a:rPr>
              <a:t>联系图描绘系统中的数据对象。</a:t>
            </a:r>
            <a:endParaRPr lang="zh-CN" altLang="en-US" dirty="0">
              <a:solidFill>
                <a:srgbClr val="FF0000"/>
              </a:solidFill>
              <a:latin typeface="楷体_GB2312" panose="02010609030101010101" pitchFamily="49" charset="-122"/>
            </a:endParaRPr>
          </a:p>
        </p:txBody>
      </p:sp>
      <p:sp>
        <p:nvSpPr>
          <p:cNvPr id="3038212" name="矩形 3038211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38213" name="矩形 3038212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6643" name="矩形 305664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56644" name="矩形 305664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056645" name="对象 3056644"/>
          <p:cNvGraphicFramePr/>
          <p:nvPr/>
        </p:nvGraphicFramePr>
        <p:xfrm>
          <a:off x="1638300" y="1739900"/>
          <a:ext cx="8775700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637655" imgH="2461260" progId="Visio.Drawing.11">
                  <p:embed/>
                </p:oleObj>
              </mc:Choice>
              <mc:Fallback>
                <p:oleObj name="" r:id="rId1" imgW="6637655" imgH="2461260" progId="Visio.Drawing.11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38300" y="1739900"/>
                        <a:ext cx="8775700" cy="3241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7666" name="矩形 305766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57669" name="对象 3057668"/>
          <p:cNvGraphicFramePr/>
          <p:nvPr/>
        </p:nvGraphicFramePr>
        <p:xfrm>
          <a:off x="1760538" y="100013"/>
          <a:ext cx="8153400" cy="642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6434455" imgH="5068570" progId="Visio.Drawing.11">
                  <p:embed/>
                </p:oleObj>
              </mc:Choice>
              <mc:Fallback>
                <p:oleObj name="" r:id="rId1" imgW="6434455" imgH="5068570" progId="Visio.Drawing.11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60538" y="100013"/>
                        <a:ext cx="8153400" cy="6421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8690" name="矩形 30586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graphicFrame>
        <p:nvGraphicFramePr>
          <p:cNvPr id="3058692" name="对象 3058691"/>
          <p:cNvGraphicFramePr/>
          <p:nvPr/>
        </p:nvGraphicFramePr>
        <p:xfrm>
          <a:off x="1738313" y="1457325"/>
          <a:ext cx="7677150" cy="347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5814060" imgH="2641600" progId="Visio.Drawing.11">
                  <p:embed/>
                </p:oleObj>
              </mc:Choice>
              <mc:Fallback>
                <p:oleObj name="" r:id="rId1" imgW="5814060" imgH="2641600" progId="Visio.Drawing.11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8313" y="1457325"/>
                        <a:ext cx="7677150" cy="347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8694" name="矩形 305869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39235" name="矩形 3039234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en-US" altLang="zh-CN"/>
              <a:t>ER</a:t>
            </a:r>
            <a:r>
              <a:rPr lang="zh-CN" altLang="en-US" dirty="0"/>
              <a:t>模型</a:t>
            </a:r>
            <a:endParaRPr lang="zh-CN" altLang="en-US" dirty="0"/>
          </a:p>
          <a:p>
            <a:pPr lvl="1"/>
            <a:r>
              <a:rPr lang="zh-CN" altLang="en-US" dirty="0"/>
              <a:t>本问</a:t>
            </a:r>
            <a:r>
              <a:rPr lang="zh-CN" altLang="en-US" dirty="0"/>
              <a:t>题中共有两类实体，分别是“</a:t>
            </a:r>
            <a:r>
              <a:rPr lang="zh-CN" altLang="en-US" dirty="0">
                <a:solidFill>
                  <a:srgbClr val="990000"/>
                </a:solidFill>
              </a:rPr>
              <a:t>储户</a:t>
            </a:r>
            <a:r>
              <a:rPr lang="zh-CN" altLang="en-US" dirty="0"/>
              <a:t>”和“</a:t>
            </a:r>
            <a:r>
              <a:rPr lang="zh-CN" altLang="en-US" dirty="0">
                <a:solidFill>
                  <a:srgbClr val="990000"/>
                </a:solidFill>
              </a:rPr>
              <a:t>储蓄所</a:t>
            </a:r>
            <a:r>
              <a:rPr lang="zh-CN" altLang="en-US" dirty="0"/>
              <a:t>”，在它们之间存在“</a:t>
            </a:r>
            <a:r>
              <a:rPr lang="zh-CN" altLang="en-US" dirty="0">
                <a:solidFill>
                  <a:srgbClr val="990000"/>
                </a:solidFill>
              </a:rPr>
              <a:t>存取款</a:t>
            </a:r>
            <a:r>
              <a:rPr lang="zh-CN" altLang="en-US" dirty="0"/>
              <a:t>”关系。因为一位储户可以在多家储蓄所存取款，一家储蓄所拥有多位储户，所以“存取款”是多对多（</a:t>
            </a:r>
            <a:r>
              <a:rPr lang="en-US" altLang="zh-CN"/>
              <a:t>M:N</a:t>
            </a:r>
            <a:r>
              <a:rPr lang="zh-CN" altLang="en-US" dirty="0"/>
              <a:t>）关系。</a:t>
            </a:r>
            <a:endParaRPr lang="zh-CN" altLang="en-US" dirty="0"/>
          </a:p>
          <a:p>
            <a:pPr lvl="1"/>
            <a:r>
              <a:rPr lang="zh-CN" altLang="en-US" dirty="0"/>
              <a:t>储户的</a:t>
            </a:r>
            <a:r>
              <a:rPr lang="zh-CN" altLang="en-US" dirty="0"/>
              <a:t>属性主要有</a:t>
            </a:r>
            <a:r>
              <a:rPr lang="zh-CN" altLang="en-US" dirty="0">
                <a:solidFill>
                  <a:srgbClr val="990000"/>
                </a:solidFill>
              </a:rPr>
              <a:t>姓名、住址、电话号码和身份证号码</a:t>
            </a:r>
            <a:r>
              <a:rPr lang="zh-CN" altLang="en-US" dirty="0"/>
              <a:t>，储蓄所的属性主要是</a:t>
            </a:r>
            <a:r>
              <a:rPr lang="zh-CN" altLang="en-US" dirty="0">
                <a:solidFill>
                  <a:srgbClr val="990000"/>
                </a:solidFill>
              </a:rPr>
              <a:t>名称、地址和电话号码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3300"/>
                </a:solidFill>
              </a:rPr>
              <a:t>数额、类型、到期日期、利率和密码</a:t>
            </a:r>
            <a:r>
              <a:rPr lang="zh-CN" altLang="en-US" dirty="0"/>
              <a:t>则是</a:t>
            </a:r>
            <a:r>
              <a:rPr lang="zh-CN" altLang="en-US" dirty="0">
                <a:solidFill>
                  <a:srgbClr val="003300"/>
                </a:solidFill>
              </a:rPr>
              <a:t>关系类型存取款</a:t>
            </a:r>
            <a:r>
              <a:rPr lang="zh-CN" altLang="en-US" dirty="0"/>
              <a:t>的属性。</a:t>
            </a:r>
            <a:endParaRPr lang="zh-CN" altLang="en-US" dirty="0"/>
          </a:p>
        </p:txBody>
      </p:sp>
      <p:sp>
        <p:nvSpPr>
          <p:cNvPr id="3039236" name="矩形 3039235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39237" name="矩形 3039236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0739" name="矩形 3060738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0740" name="矩形 3060739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60741" name="图片 30607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0913" y="1090613"/>
            <a:ext cx="8280400" cy="46656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59714" name="矩形 3059713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en-US" altLang="zh-CN"/>
              <a:t>3-6 </a:t>
            </a:r>
            <a:r>
              <a:rPr lang="zh-CN" altLang="en-US" dirty="0"/>
              <a:t>复印机的工作过程大致如下：未接到复印命令时处于</a:t>
            </a:r>
            <a:r>
              <a:rPr lang="zh-CN" altLang="en-US" dirty="0">
                <a:solidFill>
                  <a:srgbClr val="000099"/>
                </a:solidFill>
              </a:rPr>
              <a:t>闲置</a:t>
            </a:r>
            <a:r>
              <a:rPr lang="zh-CN" altLang="en-US" dirty="0"/>
              <a:t>状态</a:t>
            </a:r>
            <a:r>
              <a:rPr lang="zh-CN" altLang="en-US" dirty="0"/>
              <a:t>，一旦接到</a:t>
            </a:r>
            <a:r>
              <a:rPr lang="zh-CN" altLang="en-US" dirty="0">
                <a:solidFill>
                  <a:srgbClr val="003300"/>
                </a:solidFill>
              </a:rPr>
              <a:t>复印命令</a:t>
            </a:r>
            <a:r>
              <a:rPr lang="zh-CN" altLang="en-US" dirty="0"/>
              <a:t>则进入</a:t>
            </a:r>
            <a:r>
              <a:rPr lang="zh-CN" altLang="en-US" dirty="0">
                <a:solidFill>
                  <a:srgbClr val="000099"/>
                </a:solidFill>
              </a:rPr>
              <a:t>复印</a:t>
            </a:r>
            <a:r>
              <a:rPr lang="zh-CN" altLang="en-US" dirty="0"/>
              <a:t>状态，</a:t>
            </a:r>
            <a:r>
              <a:rPr lang="zh-CN" altLang="en-US" dirty="0">
                <a:solidFill>
                  <a:srgbClr val="003300"/>
                </a:solidFill>
              </a:rPr>
              <a:t>完成一个复印命令</a:t>
            </a:r>
            <a:r>
              <a:rPr lang="zh-CN" altLang="en-US" dirty="0"/>
              <a:t>规定的工作后又回到闲置状态，等待下一个复印命令；如果执行复印命令时</a:t>
            </a:r>
            <a:r>
              <a:rPr lang="zh-CN" altLang="en-US" dirty="0">
                <a:solidFill>
                  <a:srgbClr val="003300"/>
                </a:solidFill>
              </a:rPr>
              <a:t>发现没纸</a:t>
            </a:r>
            <a:r>
              <a:rPr lang="zh-CN" altLang="en-US" dirty="0"/>
              <a:t>，则进入</a:t>
            </a:r>
            <a:r>
              <a:rPr lang="zh-CN" altLang="en-US" dirty="0">
                <a:solidFill>
                  <a:srgbClr val="000099"/>
                </a:solidFill>
              </a:rPr>
              <a:t>缺纸</a:t>
            </a:r>
            <a:r>
              <a:rPr lang="zh-CN" altLang="en-US" dirty="0"/>
              <a:t>状态，发出警告，等待装纸，</a:t>
            </a:r>
            <a:r>
              <a:rPr lang="zh-CN" altLang="en-US" dirty="0">
                <a:solidFill>
                  <a:srgbClr val="003300"/>
                </a:solidFill>
              </a:rPr>
              <a:t>装满纸</a:t>
            </a:r>
            <a:r>
              <a:rPr lang="zh-CN" altLang="en-US" dirty="0"/>
              <a:t>后进入闲置状态，准备接收复印命令；如果复印时发生</a:t>
            </a:r>
            <a:r>
              <a:rPr lang="zh-CN" altLang="en-US" dirty="0">
                <a:solidFill>
                  <a:srgbClr val="003300"/>
                </a:solidFill>
              </a:rPr>
              <a:t>卡纸故障</a:t>
            </a:r>
            <a:r>
              <a:rPr lang="zh-CN" altLang="en-US" dirty="0"/>
              <a:t>，则进入</a:t>
            </a:r>
            <a:r>
              <a:rPr lang="zh-CN" altLang="en-US" dirty="0">
                <a:solidFill>
                  <a:srgbClr val="000099"/>
                </a:solidFill>
              </a:rPr>
              <a:t>卡纸</a:t>
            </a:r>
            <a:r>
              <a:rPr lang="zh-CN" altLang="en-US" dirty="0"/>
              <a:t>状态，发出警告等待维修人员来排除故障，</a:t>
            </a:r>
            <a:r>
              <a:rPr lang="zh-CN" altLang="en-US" dirty="0">
                <a:solidFill>
                  <a:srgbClr val="003300"/>
                </a:solidFill>
              </a:rPr>
              <a:t>故障排除</a:t>
            </a:r>
            <a:r>
              <a:rPr lang="zh-CN" altLang="en-US" dirty="0"/>
              <a:t>后回到闲置状态。</a:t>
            </a:r>
            <a:endParaRPr lang="zh-CN" altLang="en-US" dirty="0"/>
          </a:p>
          <a:p>
            <a:pPr lvl="0"/>
            <a:r>
              <a:rPr lang="zh-CN" altLang="en-US" dirty="0"/>
              <a:t>请用状态转换图描绘复印机的行为。 </a:t>
            </a:r>
            <a:endParaRPr lang="zh-CN" altLang="en-US" dirty="0"/>
          </a:p>
        </p:txBody>
      </p:sp>
      <p:sp>
        <p:nvSpPr>
          <p:cNvPr id="3059715" name="矩形 305971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59716" name="矩形 3059715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 eaLnBrk="1" hangingPunct="1">
              <a:spcBef>
                <a:spcPct val="0"/>
              </a:spcBef>
            </a:pP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13:07:42</a:t>
            </a:r>
            <a:endParaRPr lang="zh-CN" altLang="zh-CN" sz="1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61762" name="矩形 3061761"/>
          <p:cNvSpPr/>
          <p:nvPr/>
        </p:nvSpPr>
        <p:spPr>
          <a:xfrm>
            <a:off x="1714500" y="1054100"/>
            <a:ext cx="8763000" cy="5384800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254000" lvl="0" indent="-2540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600" b="1" u="none" kern="1200" baseline="0">
                <a:solidFill>
                  <a:srgbClr val="9900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609600" lvl="1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ü"/>
              <a:defRPr sz="25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017905" lvl="2" indent="-2032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Ø"/>
              <a:defRPr sz="2500" b="1" i="0" u="none" kern="1200" baseline="0">
                <a:solidFill>
                  <a:srgbClr val="003300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lvl="3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p"/>
              <a:defRPr sz="24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lvl="4" indent="-228600" algn="l" defTabSz="67818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l"/>
              <a:defRPr sz="2000" b="1" i="0" u="none" kern="1200" baseline="0">
                <a:solidFill>
                  <a:srgbClr val="000066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</a:lstStyle>
          <a:p>
            <a:pPr lvl="0"/>
            <a:r>
              <a:rPr lang="zh-CN" altLang="en-US" dirty="0"/>
              <a:t>从问题陈述可知，复印机的状态主要有</a:t>
            </a:r>
            <a:r>
              <a:rPr lang="zh-CN" altLang="en-US" dirty="0">
                <a:solidFill>
                  <a:srgbClr val="003300"/>
                </a:solidFill>
              </a:rPr>
              <a:t>“闲置”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3300"/>
                </a:solidFill>
              </a:rPr>
              <a:t>“复印”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3300"/>
                </a:solidFill>
              </a:rPr>
              <a:t>“缺纸”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3300"/>
                </a:solidFill>
              </a:rPr>
              <a:t>“卡纸”</a:t>
            </a:r>
            <a:r>
              <a:rPr lang="zh-CN" altLang="en-US" dirty="0"/>
              <a:t>。引起状态转换的事件主要是“</a:t>
            </a:r>
            <a:r>
              <a:rPr lang="zh-CN" altLang="en-US" dirty="0">
                <a:solidFill>
                  <a:srgbClr val="000099"/>
                </a:solidFill>
              </a:rPr>
              <a:t>复印命令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完成复印命令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发现缺纸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装满纸</a:t>
            </a:r>
            <a:r>
              <a:rPr lang="zh-CN" altLang="en-US" dirty="0"/>
              <a:t>”、“</a:t>
            </a:r>
            <a:r>
              <a:rPr lang="zh-CN" altLang="en-US" dirty="0">
                <a:solidFill>
                  <a:srgbClr val="000099"/>
                </a:solidFill>
              </a:rPr>
              <a:t>发生卡纸故障</a:t>
            </a:r>
            <a:r>
              <a:rPr lang="zh-CN" altLang="en-US" dirty="0"/>
              <a:t>”和“</a:t>
            </a:r>
            <a:r>
              <a:rPr lang="zh-CN" altLang="en-US" dirty="0">
                <a:solidFill>
                  <a:srgbClr val="000099"/>
                </a:solidFill>
              </a:rPr>
              <a:t>排除了卡纸故障</a:t>
            </a:r>
            <a:r>
              <a:rPr lang="zh-CN" altLang="en-US" dirty="0"/>
              <a:t>”。 </a:t>
            </a:r>
            <a:endParaRPr lang="zh-CN" altLang="en-US" dirty="0"/>
          </a:p>
        </p:txBody>
      </p:sp>
      <p:sp>
        <p:nvSpPr>
          <p:cNvPr id="3061763" name="矩形 306176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61764" name="矩形 3061763"/>
          <p:cNvSpPr/>
          <p:nvPr/>
        </p:nvSpPr>
        <p:spPr>
          <a:xfrm>
            <a:off x="2209800" y="152400"/>
            <a:ext cx="7772400" cy="576263"/>
          </a:xfrm>
          <a:prstGeom prst="rect">
            <a:avLst/>
          </a:prstGeom>
          <a:noFill/>
          <a:ln w="9525">
            <a:noFill/>
          </a:ln>
        </p:spPr>
        <p:txBody>
          <a:bodyPr lIns="82550" tIns="41275" rIns="82550" bIns="41275"/>
          <a:lstStyle>
            <a:lvl1pPr marL="0" lvl="0" indent="0" algn="ctr" defTabSz="67818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sz="3200" b="1" u="none" kern="1200" baseline="0">
                <a:solidFill>
                  <a:srgbClr val="000066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fontAlgn="t" hangingPunct="1">
              <a:lnSpc>
                <a:spcPct val="100000"/>
              </a:lnSpc>
              <a:buFontTx/>
              <a:buNone/>
            </a:pP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作业及解答（第</a:t>
            </a:r>
            <a:r>
              <a:rPr lang="en-US" altLang="zh-CN" sz="3600" b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3600" b="0" dirty="0">
                <a:solidFill>
                  <a:schemeClr val="bg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章）</a:t>
            </a:r>
            <a:endParaRPr lang="zh-CN" altLang="en-US" sz="3600" b="0" dirty="0">
              <a:solidFill>
                <a:schemeClr val="bg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3061765" name="图片 30617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13" y="2636838"/>
            <a:ext cx="7478712" cy="4108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61766" name="动作按钮: 第一张 3061765">
            <a:hlinkClick r:id="rId2" action="ppaction://hlinksldjump"/>
          </p:cNvPr>
          <p:cNvSpPr>
            <a:spLocks noChangeAspect="1"/>
          </p:cNvSpPr>
          <p:nvPr/>
        </p:nvSpPr>
        <p:spPr>
          <a:xfrm>
            <a:off x="9285288" y="5788025"/>
            <a:ext cx="1012825" cy="536575"/>
          </a:xfrm>
          <a:prstGeom prst="actionButtonHome">
            <a:avLst/>
          </a:prstGeom>
          <a:solidFill>
            <a:srgbClr val="FFFF00"/>
          </a:solidFill>
          <a:ln w="63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ZDVhZDQ3ZWUyM2ZkYzQ0ZGU4M2E1ZGZiMzVjZGYxYjQ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WPS 演示</Application>
  <PresentationFormat>宽屏</PresentationFormat>
  <Paragraphs>42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楷体_GB2312</vt:lpstr>
      <vt:lpstr>黑体</vt:lpstr>
      <vt:lpstr>Office 主题​​</vt:lpstr>
      <vt:lpstr>Visio.Drawing.11</vt:lpstr>
      <vt:lpstr>Visio.Drawing.11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永旖（梁俊卿）</cp:lastModifiedBy>
  <cp:revision>155</cp:revision>
  <dcterms:created xsi:type="dcterms:W3CDTF">2019-06-19T02:08:00Z</dcterms:created>
  <dcterms:modified xsi:type="dcterms:W3CDTF">2023-03-11T09:26:11Z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2052-11.1.0.12980</vt:lpwstr>
  </property>
  <property fmtid="{D5CDD505-2E9C-101B-9397-08002B2CF9AE}" pid="3" name="ICV">
    <vt:lpwstr>6E0C4A803FB2499DBD360F9B5E838C2E</vt:lpwstr>
  </property>
</Properties>
</file>