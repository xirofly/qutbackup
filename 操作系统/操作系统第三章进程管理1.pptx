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notesMasterIdLst>
    <p:notesMasterId r:id="rId25"/>
  </p:notesMasterIdLst>
  <p:handoutMasterIdLst>
    <p:handoutMasterId r:id="rId26"/>
  </p:handoutMasterIdLst>
  <p:sldIdLst>
    <p:sldId id="289" r:id="rId4"/>
    <p:sldId id="260" r:id="rId5"/>
    <p:sldId id="295" r:id="rId6"/>
    <p:sldId id="302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29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7" autoAdjust="0"/>
    <p:restoredTop sz="90744" autoAdjust="0"/>
  </p:normalViewPr>
  <p:slideViewPr>
    <p:cSldViewPr snapToGrid="0">
      <p:cViewPr varScale="1">
        <p:scale>
          <a:sx n="67" d="100"/>
          <a:sy n="67" d="100"/>
        </p:scale>
        <p:origin x="8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CB84B-6A00-4441-A8E6-9FCA71C6ADFF}" type="datetimeFigureOut">
              <a:rPr lang="zh-CN" altLang="en-US" smtClean="0"/>
              <a:t>2023-10-07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28514-98A0-40EF-8E2B-A346CE837D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677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22D08D-015A-4468-8FD6-8EC1A3ED6E35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62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22D08D-015A-4468-8FD6-8EC1A3ED6E35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62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22D08D-015A-4468-8FD6-8EC1A3ED6E35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62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22D08D-015A-4468-8FD6-8EC1A3ED6E35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62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kern="0" dirty="0">
                <a:latin typeface="+mn-lt"/>
                <a:ea typeface="+mn-ea"/>
              </a:rPr>
              <a:t>对单个进程：</a:t>
            </a:r>
            <a:endParaRPr lang="en-US" altLang="zh-CN" sz="2800" kern="0" dirty="0">
              <a:latin typeface="+mn-lt"/>
              <a:ea typeface="+mn-ea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r>
              <a:rPr lang="zh-CN" altLang="en-US" b="0" dirty="0">
                <a:latin typeface="+mn-lt"/>
                <a:ea typeface="+mn-ea"/>
              </a:rPr>
              <a:t>任何时刻，进程只能处理三种基本状态之一；</a:t>
            </a:r>
            <a:endParaRPr lang="en-US" altLang="zh-CN" b="0" dirty="0">
              <a:latin typeface="+mn-lt"/>
              <a:ea typeface="+mn-ea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r>
              <a:rPr lang="zh-CN" altLang="en-US" b="0" dirty="0">
                <a:latin typeface="+mn-lt"/>
                <a:ea typeface="+mn-ea"/>
              </a:rPr>
              <a:t>随着进程自身的推进和外界条件的变化，进程的状态可以动态地转换</a:t>
            </a:r>
            <a:endParaRPr lang="en-US" altLang="zh-CN" b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dirty="0"/>
              <a:t>对整个系统：</a:t>
            </a:r>
            <a:endParaRPr lang="en-US" altLang="zh-CN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r>
              <a:rPr lang="zh-CN" altLang="en-US" b="0" dirty="0">
                <a:latin typeface="+mn-lt"/>
                <a:ea typeface="+mn-ea"/>
              </a:rPr>
              <a:t>每个时刻允许同时有多个进程处于就绪</a:t>
            </a:r>
            <a:r>
              <a:rPr lang="en-US" altLang="zh-CN" b="0" dirty="0">
                <a:latin typeface="+mn-lt"/>
                <a:ea typeface="+mn-ea"/>
              </a:rPr>
              <a:t>/</a:t>
            </a:r>
            <a:r>
              <a:rPr lang="en-US" altLang="zh-CN" b="0" dirty="0" err="1">
                <a:latin typeface="+mn-lt"/>
                <a:ea typeface="+mn-ea"/>
              </a:rPr>
              <a:t>阻塞状态</a:t>
            </a:r>
            <a:r>
              <a:rPr lang="en-US" altLang="zh-CN" b="0" dirty="0">
                <a:latin typeface="+mn-lt"/>
                <a:ea typeface="+mn-ea"/>
              </a:rPr>
              <a:t>；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r>
              <a:rPr lang="zh-CN" altLang="en-US" b="0" dirty="0">
                <a:latin typeface="+mn-lt"/>
                <a:ea typeface="+mn-ea"/>
              </a:rPr>
              <a:t>对于执行状态的进程，每个处理机最多只允许有一个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EDE87-FC43-4F0C-9C51-E666AB0AC5F3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577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1313" indent="-341313">
              <a:lnSpc>
                <a:spcPct val="110000"/>
              </a:lnSpc>
              <a:spcBef>
                <a:spcPts val="675"/>
              </a:spcBef>
              <a:buFont typeface="Arial" pitchFamily="34" charset="0"/>
              <a:buChar char="•"/>
              <a:defRPr/>
            </a:pPr>
            <a:r>
              <a:rPr lang="zh-CN" altLang="en-US" sz="2800" dirty="0">
                <a:solidFill>
                  <a:srgbClr val="C00000"/>
                </a:solidFill>
              </a:rPr>
              <a:t>引入创建状态的目的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b="0" dirty="0">
                <a:latin typeface="+mn-lt"/>
                <a:ea typeface="+mn-ea"/>
              </a:rPr>
              <a:t>保证进程的调度必须在创建工作完成后进行，确保进程控制块操作的完整性。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b="0" dirty="0">
                <a:latin typeface="+mn-lt"/>
                <a:ea typeface="+mn-ea"/>
              </a:rPr>
              <a:t>增加管理的灵活性，操作系统可以根据系统性能或主存容量的限制，推迟创建状态进程的提交。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EDE87-FC43-4F0C-9C51-E666AB0AC5F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309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C00000"/>
                </a:solidFill>
              </a:rPr>
              <a:t>PCB</a:t>
            </a:r>
            <a:r>
              <a:rPr lang="zh-CN" altLang="en-US" sz="1200" dirty="0">
                <a:solidFill>
                  <a:srgbClr val="C00000"/>
                </a:solidFill>
              </a:rPr>
              <a:t>必须长驻内存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EDE87-FC43-4F0C-9C51-E666AB0AC5F3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34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22D08D-015A-4468-8FD6-8EC1A3ED6E35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62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87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D7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08571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90962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08571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90962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15586" y="545879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9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5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9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988828"/>
            <a:ext cx="10515600" cy="518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11" name="矩形 1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31"/>
          <p:cNvSpPr txBox="1"/>
          <p:nvPr userDrawn="1"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rgbClr val="3D735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3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4595747" y="3188794"/>
            <a:ext cx="34541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第三章 进程管理</a:t>
            </a:r>
          </a:p>
        </p:txBody>
      </p:sp>
    </p:spTree>
    <p:extLst>
      <p:ext uri="{BB962C8B-B14F-4D97-AF65-F5344CB8AC3E}">
        <p14:creationId xmlns:p14="http://schemas.microsoft.com/office/powerpoint/2010/main" val="264625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1930331"/>
            <a:ext cx="7246275" cy="3663642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3152633" y="2191302"/>
            <a:ext cx="5887815" cy="2109625"/>
            <a:chOff x="4806642" y="2317346"/>
            <a:chExt cx="5065904" cy="2109625"/>
          </a:xfrm>
        </p:grpSpPr>
        <p:sp>
          <p:nvSpPr>
            <p:cNvPr id="15" name="文本框 13"/>
            <p:cNvSpPr txBox="1">
              <a:spLocks noChangeArrowheads="1"/>
            </p:cNvSpPr>
            <p:nvPr/>
          </p:nvSpPr>
          <p:spPr bwMode="auto">
            <a:xfrm>
              <a:off x="7948242" y="2340801"/>
              <a:ext cx="19243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前驱图和程序执行</a:t>
              </a:r>
            </a:p>
          </p:txBody>
        </p:sp>
        <p:sp>
          <p:nvSpPr>
            <p:cNvPr id="16" name="文本框 14"/>
            <p:cNvSpPr txBox="1">
              <a:spLocks noChangeArrowheads="1"/>
            </p:cNvSpPr>
            <p:nvPr/>
          </p:nvSpPr>
          <p:spPr bwMode="auto">
            <a:xfrm>
              <a:off x="7948242" y="2890121"/>
              <a:ext cx="12622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进程的描述</a:t>
              </a:r>
            </a:p>
          </p:txBody>
        </p:sp>
        <p:sp>
          <p:nvSpPr>
            <p:cNvPr id="18" name="文本框 15"/>
            <p:cNvSpPr txBox="1">
              <a:spLocks noChangeArrowheads="1"/>
            </p:cNvSpPr>
            <p:nvPr/>
          </p:nvSpPr>
          <p:spPr bwMode="auto">
            <a:xfrm>
              <a:off x="7948242" y="3439441"/>
              <a:ext cx="10415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进程控制</a:t>
              </a:r>
            </a:p>
          </p:txBody>
        </p:sp>
        <p:sp>
          <p:nvSpPr>
            <p:cNvPr id="19" name="文本框 16"/>
            <p:cNvSpPr txBox="1">
              <a:spLocks noChangeArrowheads="1"/>
            </p:cNvSpPr>
            <p:nvPr/>
          </p:nvSpPr>
          <p:spPr bwMode="auto">
            <a:xfrm>
              <a:off x="7948241" y="3988761"/>
              <a:ext cx="10415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进程同步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6132" y="2317346"/>
              <a:ext cx="606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6133" y="2866666"/>
              <a:ext cx="64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96132" y="3415986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496132" y="3965306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806642" y="2938055"/>
              <a:ext cx="2088107" cy="992892"/>
              <a:chOff x="2995095" y="2938055"/>
              <a:chExt cx="2088107" cy="992892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2995095" y="2938055"/>
                <a:ext cx="2088107" cy="992892"/>
                <a:chOff x="3053227" y="2938055"/>
                <a:chExt cx="2088107" cy="992892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>
                  <a:off x="3630124" y="3469282"/>
                  <a:ext cx="127415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>
                      <a:solidFill>
                        <a:srgbClr val="708265"/>
                      </a:solidFill>
                      <a:latin typeface="Impact" panose="020B0806030902050204" pitchFamily="34" charset="0"/>
                      <a:ea typeface="微软雅黑 Light" panose="020B0502040204020203" pitchFamily="34" charset="-122"/>
                    </a:rPr>
                    <a:t>CHAPTER</a:t>
                  </a:r>
                  <a:endParaRPr lang="zh-CN" altLang="en-US" sz="2400" dirty="0">
                    <a:solidFill>
                      <a:srgbClr val="708265"/>
                    </a:solidFill>
                    <a:latin typeface="Impact" panose="020B0806030902050204" pitchFamily="34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3053227" y="2938055"/>
                  <a:ext cx="208810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dirty="0">
                      <a:solidFill>
                        <a:srgbClr val="708265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</a:rPr>
                    <a:t>第三章</a:t>
                  </a:r>
                </a:p>
              </p:txBody>
            </p:sp>
          </p:grpSp>
          <p:sp>
            <p:nvSpPr>
              <p:cNvPr id="26" name="L 形 25"/>
              <p:cNvSpPr/>
              <p:nvPr/>
            </p:nvSpPr>
            <p:spPr>
              <a:xfrm rot="2493705" flipH="1" flipV="1">
                <a:off x="4575036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L 形 26"/>
              <p:cNvSpPr/>
              <p:nvPr/>
            </p:nvSpPr>
            <p:spPr>
              <a:xfrm rot="2493705" flipH="1" flipV="1">
                <a:off x="4649233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0" name="文本框 16"/>
          <p:cNvSpPr txBox="1">
            <a:spLocks noChangeArrowheads="1"/>
          </p:cNvSpPr>
          <p:nvPr/>
        </p:nvSpPr>
        <p:spPr bwMode="auto">
          <a:xfrm>
            <a:off x="6799945" y="4327099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经典进程的同步问题</a:t>
            </a:r>
          </a:p>
        </p:txBody>
      </p:sp>
      <p:sp>
        <p:nvSpPr>
          <p:cNvPr id="31" name="文本框 22"/>
          <p:cNvSpPr txBox="1"/>
          <p:nvPr/>
        </p:nvSpPr>
        <p:spPr>
          <a:xfrm>
            <a:off x="6274484" y="4303644"/>
            <a:ext cx="75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2400" dirty="0">
              <a:solidFill>
                <a:srgbClr val="70826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2" name="文本框 16"/>
          <p:cNvSpPr txBox="1">
            <a:spLocks noChangeArrowheads="1"/>
          </p:cNvSpPr>
          <p:nvPr/>
        </p:nvSpPr>
        <p:spPr bwMode="auto">
          <a:xfrm>
            <a:off x="6789187" y="480045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进程通信</a:t>
            </a:r>
          </a:p>
        </p:txBody>
      </p:sp>
      <p:sp>
        <p:nvSpPr>
          <p:cNvPr id="33" name="文本框 22"/>
          <p:cNvSpPr txBox="1"/>
          <p:nvPr/>
        </p:nvSpPr>
        <p:spPr>
          <a:xfrm>
            <a:off x="6263726" y="4776996"/>
            <a:ext cx="75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endParaRPr lang="zh-CN" altLang="en-US" sz="2400" dirty="0">
              <a:solidFill>
                <a:srgbClr val="70826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690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4252" y="110602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2138" y="110602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5400000">
            <a:off x="2363844" y="137322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1014252" y="1976953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722138" y="1976952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5" name="等腰三角形 64"/>
          <p:cNvSpPr/>
          <p:nvPr/>
        </p:nvSpPr>
        <p:spPr>
          <a:xfrm rot="5400000">
            <a:off x="2363844" y="2244147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1014252" y="2846136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722138" y="2846135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8" name="等腰三角形 67"/>
          <p:cNvSpPr/>
          <p:nvPr/>
        </p:nvSpPr>
        <p:spPr>
          <a:xfrm rot="5400000">
            <a:off x="2363844" y="3113330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1014252" y="3730709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722138" y="3730708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1" name="等腰三角形 70"/>
          <p:cNvSpPr/>
          <p:nvPr/>
        </p:nvSpPr>
        <p:spPr>
          <a:xfrm rot="5400000">
            <a:off x="2363844" y="3997903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20487" name="文本框 5"/>
          <p:cNvSpPr txBox="1">
            <a:spLocks noChangeArrowheads="1"/>
          </p:cNvSpPr>
          <p:nvPr/>
        </p:nvSpPr>
        <p:spPr bwMode="auto">
          <a:xfrm>
            <a:off x="1071855" y="1204453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8" name="文本框 71"/>
          <p:cNvSpPr txBox="1">
            <a:spLocks noChangeArrowheads="1"/>
          </p:cNvSpPr>
          <p:nvPr/>
        </p:nvSpPr>
        <p:spPr bwMode="auto">
          <a:xfrm>
            <a:off x="1071855" y="2075441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9" name="文本框 87"/>
          <p:cNvSpPr txBox="1">
            <a:spLocks noChangeArrowheads="1"/>
          </p:cNvSpPr>
          <p:nvPr/>
        </p:nvSpPr>
        <p:spPr bwMode="auto">
          <a:xfrm>
            <a:off x="1071855" y="2943894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90" name="文本框 88"/>
          <p:cNvSpPr txBox="1">
            <a:spLocks noChangeArrowheads="1"/>
          </p:cNvSpPr>
          <p:nvPr/>
        </p:nvSpPr>
        <p:spPr bwMode="auto">
          <a:xfrm>
            <a:off x="1071855" y="3828530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AutoShape 115"/>
          <p:cNvSpPr>
            <a:spLocks/>
          </p:cNvSpPr>
          <p:nvPr/>
        </p:nvSpPr>
        <p:spPr bwMode="auto">
          <a:xfrm>
            <a:off x="1970380" y="1275891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91" name="AutoShape 29"/>
          <p:cNvSpPr>
            <a:spLocks/>
          </p:cNvSpPr>
          <p:nvPr/>
        </p:nvSpPr>
        <p:spPr bwMode="auto">
          <a:xfrm>
            <a:off x="1970380" y="2151641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92" name="Group 2"/>
          <p:cNvGrpSpPr>
            <a:grpSpLocks/>
          </p:cNvGrpSpPr>
          <p:nvPr/>
        </p:nvGrpSpPr>
        <p:grpSpPr bwMode="auto">
          <a:xfrm>
            <a:off x="1969976" y="3019783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4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5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6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7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8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99" name="Group 587"/>
          <p:cNvGrpSpPr>
            <a:grpSpLocks/>
          </p:cNvGrpSpPr>
          <p:nvPr/>
        </p:nvGrpSpPr>
        <p:grpSpPr bwMode="auto">
          <a:xfrm>
            <a:off x="1960425" y="3951757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100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1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2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3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4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5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" name="直接连接符 7"/>
          <p:cNvCxnSpPr>
            <a:stCxn id="4" idx="0"/>
          </p:cNvCxnSpPr>
          <p:nvPr/>
        </p:nvCxnSpPr>
        <p:spPr>
          <a:xfrm flipV="1">
            <a:off x="2878430" y="1496553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878430" y="2364366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2878430" y="3224881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2878430" y="4106342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3683293" y="1444166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683293" y="2299279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683293" y="3170906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3683293" y="4041255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018414" y="1268902"/>
            <a:ext cx="45448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理解程序的顺序执行与并发执行的特征</a:t>
            </a: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039998" y="2064923"/>
            <a:ext cx="65966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掌握进程概念与特征、进程状态以及进程状态之间的转换</a:t>
            </a:r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026350" y="2969535"/>
            <a:ext cx="68531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了解进程管理中的数据结构，理解进程控制块的信息与作用</a:t>
            </a:r>
          </a:p>
        </p:txBody>
      </p:sp>
      <p:sp>
        <p:nvSpPr>
          <p:cNvPr id="59" name="文本框 58"/>
          <p:cNvSpPr txBox="1">
            <a:spLocks noChangeArrowheads="1"/>
          </p:cNvSpPr>
          <p:nvPr/>
        </p:nvSpPr>
        <p:spPr bwMode="auto">
          <a:xfrm>
            <a:off x="4053646" y="3886869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理解进程控制的功能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78" name="矩形 77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0" name="文本框 25"/>
          <p:cNvSpPr txBox="1">
            <a:spLocks noChangeArrowheads="1"/>
          </p:cNvSpPr>
          <p:nvPr/>
        </p:nvSpPr>
        <p:spPr bwMode="auto">
          <a:xfrm>
            <a:off x="902970" y="199077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本章学习目标</a:t>
            </a:r>
          </a:p>
        </p:txBody>
      </p:sp>
      <p:sp>
        <p:nvSpPr>
          <p:cNvPr id="6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1057468" y="462264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765354" y="462264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58" name="等腰三角形 57"/>
          <p:cNvSpPr/>
          <p:nvPr/>
        </p:nvSpPr>
        <p:spPr>
          <a:xfrm rot="5400000">
            <a:off x="2407060" y="488984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1071116" y="5520869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779002" y="5520868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3" name="等腰三角形 72"/>
          <p:cNvSpPr/>
          <p:nvPr/>
        </p:nvSpPr>
        <p:spPr>
          <a:xfrm rot="5400000">
            <a:off x="2420708" y="5788063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4" name="文本框 87"/>
          <p:cNvSpPr txBox="1">
            <a:spLocks noChangeArrowheads="1"/>
          </p:cNvSpPr>
          <p:nvPr/>
        </p:nvSpPr>
        <p:spPr bwMode="auto">
          <a:xfrm>
            <a:off x="1115071" y="4720406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5" name="文本框 88"/>
          <p:cNvSpPr txBox="1">
            <a:spLocks noChangeArrowheads="1"/>
          </p:cNvSpPr>
          <p:nvPr/>
        </p:nvSpPr>
        <p:spPr bwMode="auto">
          <a:xfrm>
            <a:off x="1128719" y="5618690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06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76" name="Group 2"/>
          <p:cNvGrpSpPr>
            <a:grpSpLocks/>
          </p:cNvGrpSpPr>
          <p:nvPr/>
        </p:nvGrpSpPr>
        <p:grpSpPr bwMode="auto">
          <a:xfrm>
            <a:off x="2013192" y="4796295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81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2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3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4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5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6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87" name="Group 587"/>
          <p:cNvGrpSpPr>
            <a:grpSpLocks/>
          </p:cNvGrpSpPr>
          <p:nvPr/>
        </p:nvGrpSpPr>
        <p:grpSpPr bwMode="auto">
          <a:xfrm>
            <a:off x="2017289" y="5741917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88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9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6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7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8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9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110" name="直接连接符 109"/>
          <p:cNvCxnSpPr/>
          <p:nvPr/>
        </p:nvCxnSpPr>
        <p:spPr>
          <a:xfrm flipV="1">
            <a:off x="2921646" y="5001393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V="1">
            <a:off x="2935294" y="5896502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/>
          <p:cNvSpPr/>
          <p:nvPr/>
        </p:nvSpPr>
        <p:spPr>
          <a:xfrm>
            <a:off x="3726509" y="4947418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3740157" y="5831415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4" name="文本框 56"/>
          <p:cNvSpPr txBox="1">
            <a:spLocks noChangeArrowheads="1"/>
          </p:cNvSpPr>
          <p:nvPr/>
        </p:nvSpPr>
        <p:spPr bwMode="auto">
          <a:xfrm>
            <a:off x="4096862" y="4786991"/>
            <a:ext cx="7366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掌握进程同步的基本概念，并会用信号量机制解决进程同步问题</a:t>
            </a:r>
          </a:p>
        </p:txBody>
      </p:sp>
      <p:sp>
        <p:nvSpPr>
          <p:cNvPr id="115" name="文本框 58"/>
          <p:cNvSpPr txBox="1">
            <a:spLocks noChangeArrowheads="1"/>
          </p:cNvSpPr>
          <p:nvPr/>
        </p:nvSpPr>
        <p:spPr bwMode="auto">
          <a:xfrm>
            <a:off x="4110510" y="5677029"/>
            <a:ext cx="45448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理解并会解决几个经典的进程同步问题</a:t>
            </a:r>
          </a:p>
        </p:txBody>
      </p:sp>
    </p:spTree>
    <p:extLst>
      <p:ext uri="{BB962C8B-B14F-4D97-AF65-F5344CB8AC3E}">
        <p14:creationId xmlns:p14="http://schemas.microsoft.com/office/powerpoint/2010/main" val="90357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7" grpId="0"/>
      <p:bldP spid="59" grpId="0"/>
      <p:bldP spid="114" grpId="0"/>
      <p:bldP spid="1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前驱图和程序执行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6" name="文本框 21"/>
          <p:cNvSpPr txBox="1">
            <a:spLocks noChangeArrowheads="1"/>
          </p:cNvSpPr>
          <p:nvPr/>
        </p:nvSpPr>
        <p:spPr bwMode="auto">
          <a:xfrm>
            <a:off x="2439935" y="3217837"/>
            <a:ext cx="7279201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         在</a:t>
            </a:r>
            <a:r>
              <a:rPr lang="zh-CN" altLang="en-US" sz="2400" b="1" dirty="0"/>
              <a:t>单道批处理系统</a:t>
            </a:r>
            <a:r>
              <a:rPr lang="zh-CN" altLang="en-US" sz="2400" dirty="0"/>
              <a:t>中，程序的执行方式是顺序执行，即在内存中仅装入一道用户程序，由它独占系统中的所有资源，只有在一个用户程序执行完成后，才允许装入另一个程序并执行。这种方式浪费资源、系统运行效率低。</a:t>
            </a:r>
            <a:endParaRPr lang="en-US" altLang="zh-CN" sz="2400" dirty="0"/>
          </a:p>
          <a:p>
            <a:r>
              <a:rPr lang="en-US" altLang="zh-CN" sz="2400" dirty="0"/>
              <a:t>          </a:t>
            </a:r>
            <a:r>
              <a:rPr lang="zh-CN" altLang="en-US" sz="2400" dirty="0"/>
              <a:t>在</a:t>
            </a:r>
            <a:r>
              <a:rPr lang="zh-CN" altLang="en-US" sz="2400" b="1" dirty="0"/>
              <a:t>多道程序系统</a:t>
            </a:r>
            <a:r>
              <a:rPr lang="zh-CN" altLang="en-US" sz="2400" dirty="0"/>
              <a:t>中，由于内存中可以同时装入多个程序，使它们共享资源，并发执行，可以克服上述缺点。</a:t>
            </a:r>
          </a:p>
        </p:txBody>
      </p:sp>
    </p:spTree>
    <p:extLst>
      <p:ext uri="{BB962C8B-B14F-4D97-AF65-F5344CB8AC3E}">
        <p14:creationId xmlns:p14="http://schemas.microsoft.com/office/powerpoint/2010/main" val="200562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17751" y="1590923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725801" y="1590923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5749510" y="1872402"/>
            <a:ext cx="572825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前趋图</a:t>
            </a:r>
            <a:r>
              <a:rPr lang="zh-CN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(Precedence Graph)是一个有向无循环图，记为DAG(Directed Acyclic Graph)，用于描述进程之间执行的前后关系。</a:t>
            </a:r>
          </a:p>
          <a:p>
            <a:pPr algn="just">
              <a:spcBef>
                <a:spcPct val="50000"/>
              </a:spcBef>
            </a:pPr>
            <a:r>
              <a:rPr lang="zh-CN" altLang="zh-CN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结点：</a:t>
            </a:r>
            <a:r>
              <a:rPr lang="zh-CN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一个程序段或进程，乃至一条语句</a:t>
            </a: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zh-CN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有向边：</a:t>
            </a:r>
            <a:r>
              <a:rPr lang="zh-CN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偏序或前趋关系</a:t>
            </a: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初始结点：</a:t>
            </a:r>
            <a:r>
              <a:rPr lang="zh-CN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把没有前趋的结点称为初始结点(Initial Node)</a:t>
            </a: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终止结点：</a:t>
            </a:r>
            <a:r>
              <a:rPr lang="zh-CN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没有后继的结点称为终止结点(Final Node)</a:t>
            </a:r>
            <a:endParaRPr lang="en-US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重量：</a:t>
            </a:r>
            <a:r>
              <a:rPr lang="zh-CN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每个结点还具有一个重量(Weight)，用于表示该结点所含有的程序量或结点的执行时间。 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5671701" y="1057523"/>
            <a:ext cx="2530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前驱图相关概念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385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前驱图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1" name="Picture 3" descr="C:\Users\Administrator\AppData\Roaming\Tencent\Users\21481383\QQ\WinTemp\RichOle\ZRTV(75DV08I7}REGY95IY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40" y="1058466"/>
            <a:ext cx="5131773" cy="360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Administrator\AppData\Roaming\Tencent\Users\21481383\QQ\WinTemp\RichOle\F`KI~{@7WLEQ{D[Q937~SDF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218" y="3685702"/>
            <a:ext cx="1726120" cy="295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166240" y="4659710"/>
            <a:ext cx="3889375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zh-CN" sz="2400" b="0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前趋图中</a:t>
            </a:r>
            <a:r>
              <a:rPr lang="zh-CN" altLang="en-US" sz="2400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一定不能</a:t>
            </a:r>
            <a:r>
              <a:rPr lang="zh-CN" altLang="zh-CN" sz="2400" b="0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存在循环</a:t>
            </a:r>
          </a:p>
        </p:txBody>
      </p:sp>
    </p:spTree>
    <p:extLst>
      <p:ext uri="{BB962C8B-B14F-4D97-AF65-F5344CB8AC3E}">
        <p14:creationId xmlns:p14="http://schemas.microsoft.com/office/powerpoint/2010/main" val="37303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17751" y="135890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725801" y="135890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5749510" y="1640386"/>
            <a:ext cx="5728256" cy="777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程序在执行时必须按照某种先后次序顺序执行，仅当前一个操作执行完后，才能执行后继操作。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5671701" y="825507"/>
            <a:ext cx="2530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程序顺序执行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程序顺序执行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22"/>
          <p:cNvSpPr>
            <a:spLocks noChangeArrowheads="1"/>
          </p:cNvSpPr>
          <p:nvPr/>
        </p:nvSpPr>
        <p:spPr bwMode="auto">
          <a:xfrm>
            <a:off x="1274415" y="4111170"/>
            <a:ext cx="25114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dirty="0"/>
              <a:t>S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:  a : = x + y;</a:t>
            </a:r>
          </a:p>
          <a:p>
            <a:pPr eaLnBrk="1" hangingPunct="1"/>
            <a:r>
              <a:rPr lang="en-US" altLang="zh-CN" sz="2800" dirty="0"/>
              <a:t>S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:  b : = a - 5;</a:t>
            </a:r>
          </a:p>
          <a:p>
            <a:pPr eaLnBrk="1" hangingPunct="1"/>
            <a:r>
              <a:rPr lang="en-US" altLang="zh-CN" sz="2800" dirty="0"/>
              <a:t>S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:  c : = b + 1;</a:t>
            </a:r>
            <a:endParaRPr lang="zh-CN" altLang="en-US" sz="2800" dirty="0"/>
          </a:p>
        </p:txBody>
      </p:sp>
      <p:sp>
        <p:nvSpPr>
          <p:cNvPr id="17" name="矩形 16"/>
          <p:cNvSpPr/>
          <p:nvPr/>
        </p:nvSpPr>
        <p:spPr>
          <a:xfrm>
            <a:off x="5772728" y="3162684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680778" y="3162684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9" name="文本框 51"/>
          <p:cNvSpPr txBox="1">
            <a:spLocks noChangeArrowheads="1"/>
          </p:cNvSpPr>
          <p:nvPr/>
        </p:nvSpPr>
        <p:spPr bwMode="auto">
          <a:xfrm>
            <a:off x="5759079" y="3894547"/>
            <a:ext cx="5728256" cy="774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在单道批处理系统中，对于多个用户程序来说，所有程序是依次执行的。</a:t>
            </a:r>
            <a:endParaRPr lang="zh-CN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55"/>
          <p:cNvSpPr txBox="1">
            <a:spLocks noChangeArrowheads="1"/>
          </p:cNvSpPr>
          <p:nvPr/>
        </p:nvSpPr>
        <p:spPr bwMode="auto">
          <a:xfrm>
            <a:off x="5626678" y="2629284"/>
            <a:ext cx="2530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两层含义</a:t>
            </a:r>
          </a:p>
        </p:txBody>
      </p:sp>
      <p:sp>
        <p:nvSpPr>
          <p:cNvPr id="22" name="文本框 54"/>
          <p:cNvSpPr txBox="1">
            <a:spLocks noChangeArrowheads="1"/>
          </p:cNvSpPr>
          <p:nvPr/>
        </p:nvSpPr>
        <p:spPr bwMode="auto">
          <a:xfrm>
            <a:off x="5772728" y="3431720"/>
            <a:ext cx="1920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外部顺序</a:t>
            </a:r>
          </a:p>
        </p:txBody>
      </p:sp>
      <p:sp>
        <p:nvSpPr>
          <p:cNvPr id="23" name="文本框 51"/>
          <p:cNvSpPr txBox="1">
            <a:spLocks noChangeArrowheads="1"/>
          </p:cNvSpPr>
          <p:nvPr/>
        </p:nvSpPr>
        <p:spPr bwMode="auto">
          <a:xfrm>
            <a:off x="5749510" y="5206063"/>
            <a:ext cx="5728256" cy="1134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对于一个程序来说，在若干个程序段之间，必须按照某种先后次序顺序执行；对同一个程序段中的多条指令，也是按某种顺序执行的。</a:t>
            </a:r>
            <a:endParaRPr lang="zh-CN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54"/>
          <p:cNvSpPr txBox="1">
            <a:spLocks noChangeArrowheads="1"/>
          </p:cNvSpPr>
          <p:nvPr/>
        </p:nvSpPr>
        <p:spPr bwMode="auto">
          <a:xfrm>
            <a:off x="5763159" y="4743236"/>
            <a:ext cx="1920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内部顺序</a:t>
            </a:r>
          </a:p>
        </p:txBody>
      </p: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1301552" y="5690831"/>
            <a:ext cx="503237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S</a:t>
            </a:r>
            <a:r>
              <a:rPr lang="en-US" altLang="zh-CN" b="0" baseline="-25000"/>
              <a:t>1</a:t>
            </a: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1804789" y="597816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Oval 21"/>
          <p:cNvSpPr>
            <a:spLocks noChangeArrowheads="1"/>
          </p:cNvSpPr>
          <p:nvPr/>
        </p:nvSpPr>
        <p:spPr bwMode="auto">
          <a:xfrm>
            <a:off x="2238177" y="5690831"/>
            <a:ext cx="503237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S</a:t>
            </a:r>
            <a:r>
              <a:rPr lang="en-US" altLang="zh-CN" b="0" baseline="-25000"/>
              <a:t>2</a:t>
            </a:r>
          </a:p>
        </p:txBody>
      </p:sp>
      <p:sp>
        <p:nvSpPr>
          <p:cNvPr id="34" name="Line 22"/>
          <p:cNvSpPr>
            <a:spLocks noChangeShapeType="1"/>
          </p:cNvSpPr>
          <p:nvPr/>
        </p:nvSpPr>
        <p:spPr bwMode="auto">
          <a:xfrm>
            <a:off x="2741414" y="597816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Oval 23"/>
          <p:cNvSpPr>
            <a:spLocks noChangeArrowheads="1"/>
          </p:cNvSpPr>
          <p:nvPr/>
        </p:nvSpPr>
        <p:spPr bwMode="auto">
          <a:xfrm>
            <a:off x="3174802" y="5690831"/>
            <a:ext cx="503237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S</a:t>
            </a:r>
            <a:r>
              <a:rPr lang="en-US" altLang="zh-CN" b="0" baseline="-25000"/>
              <a:t>3</a:t>
            </a:r>
          </a:p>
        </p:txBody>
      </p:sp>
      <p:sp>
        <p:nvSpPr>
          <p:cNvPr id="36" name="Oval 7"/>
          <p:cNvSpPr>
            <a:spLocks noChangeArrowheads="1"/>
          </p:cNvSpPr>
          <p:nvPr/>
        </p:nvSpPr>
        <p:spPr bwMode="auto">
          <a:xfrm>
            <a:off x="363339" y="3143081"/>
            <a:ext cx="503237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I</a:t>
            </a:r>
            <a:r>
              <a:rPr lang="en-US" altLang="zh-CN" b="0" baseline="-25000"/>
              <a:t>1</a:t>
            </a:r>
          </a:p>
        </p:txBody>
      </p:sp>
      <p:sp>
        <p:nvSpPr>
          <p:cNvPr id="37" name="Line 8"/>
          <p:cNvSpPr>
            <a:spLocks noChangeShapeType="1"/>
          </p:cNvSpPr>
          <p:nvPr/>
        </p:nvSpPr>
        <p:spPr bwMode="auto">
          <a:xfrm>
            <a:off x="866576" y="3430419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Oval 9"/>
          <p:cNvSpPr>
            <a:spLocks noChangeArrowheads="1"/>
          </p:cNvSpPr>
          <p:nvPr/>
        </p:nvSpPr>
        <p:spPr bwMode="auto">
          <a:xfrm>
            <a:off x="1299964" y="3143081"/>
            <a:ext cx="503237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C</a:t>
            </a:r>
            <a:r>
              <a:rPr lang="en-US" altLang="zh-CN" b="0" baseline="-25000"/>
              <a:t>1</a:t>
            </a: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>
            <a:off x="1803201" y="3430419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Oval 11"/>
          <p:cNvSpPr>
            <a:spLocks noChangeArrowheads="1"/>
          </p:cNvSpPr>
          <p:nvPr/>
        </p:nvSpPr>
        <p:spPr bwMode="auto">
          <a:xfrm>
            <a:off x="2236589" y="3143081"/>
            <a:ext cx="503237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P</a:t>
            </a:r>
            <a:r>
              <a:rPr lang="en-US" altLang="zh-CN" b="0" baseline="-25000"/>
              <a:t>1</a:t>
            </a:r>
          </a:p>
        </p:txBody>
      </p:sp>
      <p:sp>
        <p:nvSpPr>
          <p:cNvPr id="41" name="Line 12"/>
          <p:cNvSpPr>
            <a:spLocks noChangeShapeType="1"/>
          </p:cNvSpPr>
          <p:nvPr/>
        </p:nvSpPr>
        <p:spPr bwMode="auto">
          <a:xfrm>
            <a:off x="2738239" y="3430419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Oval 13"/>
          <p:cNvSpPr>
            <a:spLocks noChangeArrowheads="1"/>
          </p:cNvSpPr>
          <p:nvPr/>
        </p:nvSpPr>
        <p:spPr bwMode="auto">
          <a:xfrm>
            <a:off x="3171626" y="3143081"/>
            <a:ext cx="503238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I</a:t>
            </a:r>
            <a:r>
              <a:rPr lang="en-US" altLang="zh-CN" b="0" baseline="-25000"/>
              <a:t>2</a:t>
            </a:r>
          </a:p>
        </p:txBody>
      </p:sp>
      <p:sp>
        <p:nvSpPr>
          <p:cNvPr id="43" name="Line 14"/>
          <p:cNvSpPr>
            <a:spLocks noChangeShapeType="1"/>
          </p:cNvSpPr>
          <p:nvPr/>
        </p:nvSpPr>
        <p:spPr bwMode="auto">
          <a:xfrm>
            <a:off x="3674864" y="3430419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Oval 15"/>
          <p:cNvSpPr>
            <a:spLocks noChangeArrowheads="1"/>
          </p:cNvSpPr>
          <p:nvPr/>
        </p:nvSpPr>
        <p:spPr bwMode="auto">
          <a:xfrm>
            <a:off x="4108251" y="3143081"/>
            <a:ext cx="503238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 dirty="0"/>
              <a:t>C</a:t>
            </a:r>
            <a:r>
              <a:rPr lang="en-US" altLang="zh-CN" b="0" baseline="-25000" dirty="0"/>
              <a:t>2</a:t>
            </a:r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auto">
          <a:xfrm>
            <a:off x="4611489" y="3430419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Oval 17"/>
          <p:cNvSpPr>
            <a:spLocks noChangeArrowheads="1"/>
          </p:cNvSpPr>
          <p:nvPr/>
        </p:nvSpPr>
        <p:spPr bwMode="auto">
          <a:xfrm>
            <a:off x="5044876" y="3143081"/>
            <a:ext cx="503238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P</a:t>
            </a:r>
            <a:r>
              <a:rPr lang="en-US" altLang="zh-CN" b="0" baseline="-25000"/>
              <a:t>2</a:t>
            </a:r>
          </a:p>
        </p:txBody>
      </p:sp>
      <p:sp>
        <p:nvSpPr>
          <p:cNvPr id="47" name="矩形 23"/>
          <p:cNvSpPr>
            <a:spLocks noChangeArrowheads="1"/>
          </p:cNvSpPr>
          <p:nvPr/>
        </p:nvSpPr>
        <p:spPr bwMode="auto">
          <a:xfrm>
            <a:off x="1335682" y="1397112"/>
            <a:ext cx="23050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dirty="0"/>
              <a:t>I  :  </a:t>
            </a:r>
            <a:r>
              <a:rPr lang="en-US" altLang="zh-CN" sz="2800" dirty="0" err="1"/>
              <a:t>输入操作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C :  </a:t>
            </a:r>
            <a:r>
              <a:rPr lang="en-US" altLang="zh-CN" sz="2800" dirty="0" err="1"/>
              <a:t>计算操作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P  :  </a:t>
            </a:r>
            <a:r>
              <a:rPr lang="en-US" altLang="zh-CN" sz="2800" dirty="0" err="1"/>
              <a:t>打印操作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1141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26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891420" y="1501820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99306" y="1501819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5400000">
            <a:off x="2241012" y="1769014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891420" y="304149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599306" y="304149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5" name="等腰三角形 64"/>
          <p:cNvSpPr/>
          <p:nvPr/>
        </p:nvSpPr>
        <p:spPr>
          <a:xfrm rot="5400000">
            <a:off x="2241012" y="330869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891420" y="5043464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99306" y="5043463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8" name="等腰三角形 67"/>
          <p:cNvSpPr/>
          <p:nvPr/>
        </p:nvSpPr>
        <p:spPr>
          <a:xfrm rot="5400000">
            <a:off x="2241012" y="5310658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20487" name="文本框 5"/>
          <p:cNvSpPr txBox="1">
            <a:spLocks noChangeArrowheads="1"/>
          </p:cNvSpPr>
          <p:nvPr/>
        </p:nvSpPr>
        <p:spPr bwMode="auto">
          <a:xfrm>
            <a:off x="949023" y="1600245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8" name="文本框 71"/>
          <p:cNvSpPr txBox="1">
            <a:spLocks noChangeArrowheads="1"/>
          </p:cNvSpPr>
          <p:nvPr/>
        </p:nvSpPr>
        <p:spPr bwMode="auto">
          <a:xfrm>
            <a:off x="949023" y="3139985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9" name="文本框 87"/>
          <p:cNvSpPr txBox="1">
            <a:spLocks noChangeArrowheads="1"/>
          </p:cNvSpPr>
          <p:nvPr/>
        </p:nvSpPr>
        <p:spPr bwMode="auto">
          <a:xfrm>
            <a:off x="949023" y="5141222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AutoShape 115"/>
          <p:cNvSpPr>
            <a:spLocks/>
          </p:cNvSpPr>
          <p:nvPr/>
        </p:nvSpPr>
        <p:spPr bwMode="auto">
          <a:xfrm>
            <a:off x="1847548" y="1671683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91" name="AutoShape 29"/>
          <p:cNvSpPr>
            <a:spLocks/>
          </p:cNvSpPr>
          <p:nvPr/>
        </p:nvSpPr>
        <p:spPr bwMode="auto">
          <a:xfrm>
            <a:off x="1847548" y="3216185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92" name="Group 2"/>
          <p:cNvGrpSpPr>
            <a:grpSpLocks/>
          </p:cNvGrpSpPr>
          <p:nvPr/>
        </p:nvGrpSpPr>
        <p:grpSpPr bwMode="auto">
          <a:xfrm>
            <a:off x="1847144" y="5217111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4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5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6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7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8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" name="直接连接符 7"/>
          <p:cNvCxnSpPr>
            <a:stCxn id="4" idx="0"/>
          </p:cNvCxnSpPr>
          <p:nvPr/>
        </p:nvCxnSpPr>
        <p:spPr>
          <a:xfrm flipV="1">
            <a:off x="2755598" y="1892345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755598" y="342891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2755598" y="5422209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3560461" y="1839958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560461" y="336382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560461" y="5368234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080942" y="1298620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顺序性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4080942" y="1889742"/>
            <a:ext cx="72330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宋体" pitchFamily="2" charset="-122"/>
                <a:ea typeface="宋体" pitchFamily="2" charset="-122"/>
              </a:rPr>
              <a:t>处理机的操作严格按照程序所规定的顺序执行，即每一操作必须在下一操作开始之前结束（或者说下一操作必须在当前操作结束后才能开始）。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 </a:t>
            </a: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080942" y="3006635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封闭性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080942" y="3529517"/>
            <a:ext cx="7233052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宋体" pitchFamily="2" charset="-122"/>
                <a:ea typeface="宋体" pitchFamily="2" charset="-122"/>
              </a:rPr>
              <a:t>程序是在封闭的环境下执行的。即</a:t>
            </a:r>
            <a:endParaRPr kumimoji="1"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342900" indent="-342900">
              <a:spcBef>
                <a:spcPct val="15000"/>
              </a:spcBef>
              <a:buClr>
                <a:srgbClr val="0000FF"/>
              </a:buClr>
              <a:buBlip>
                <a:blip r:embed="rId3"/>
              </a:buBlip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</a:rPr>
              <a:t>程序运行时独占全机资源，资源的状态（除初始态外）只有本程序才能改变它</a:t>
            </a:r>
            <a:endParaRPr lang="en-US" altLang="zh-CN" sz="2000" dirty="0">
              <a:latin typeface="Times New Roman" pitchFamily="18" charset="0"/>
              <a:ea typeface="楷体_GB2312" pitchFamily="49" charset="-122"/>
            </a:endParaRPr>
          </a:p>
          <a:p>
            <a:pPr marL="342900" indent="-342900">
              <a:spcBef>
                <a:spcPct val="15000"/>
              </a:spcBef>
              <a:buClr>
                <a:srgbClr val="0000FF"/>
              </a:buClr>
              <a:buBlip>
                <a:blip r:embed="rId3"/>
              </a:buBlip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</a:rPr>
              <a:t>程序一旦开始执行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</a:rPr>
              <a:t>其执行结果不受外界影响。 </a:t>
            </a:r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080942" y="4934847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可再现性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080942" y="5498673"/>
            <a:ext cx="72330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宋体" pitchFamily="2" charset="-122"/>
                <a:ea typeface="宋体" pitchFamily="2" charset="-122"/>
              </a:rPr>
              <a:t>只要程序执行时的环境和初始条件相同，当程序重复执行时，都将获得相同的结果。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 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78" name="矩形 77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0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539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程序顺序执行时的特征</a:t>
            </a:r>
          </a:p>
        </p:txBody>
      </p:sp>
      <p:sp>
        <p:nvSpPr>
          <p:cNvPr id="6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033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81527" y="135890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889577" y="135890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5913286" y="1640386"/>
            <a:ext cx="572825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使一个程序分成若干个可同时执行的程序模块（结点）的方法称为并发程序设计，能够并发执行的程序称为并发程序。 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5835477" y="825507"/>
            <a:ext cx="2530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程序并发执行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程序并发执行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51"/>
          <p:cNvSpPr txBox="1">
            <a:spLocks noChangeArrowheads="1"/>
          </p:cNvSpPr>
          <p:nvPr/>
        </p:nvSpPr>
        <p:spPr bwMode="auto">
          <a:xfrm>
            <a:off x="477638" y="5549887"/>
            <a:ext cx="5001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Clr>
                <a:srgbClr val="CC3300"/>
              </a:buClr>
            </a:pP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对于一个程序来说，它的所有指令是按序执行的</a:t>
            </a:r>
            <a:r>
              <a:rPr kumimoji="1" lang="zh-CN" altLang="en-US" dirty="0">
                <a:latin typeface="宋体" pitchFamily="2" charset="-122"/>
              </a:rPr>
              <a:t>。</a:t>
            </a:r>
            <a:endParaRPr kumimoji="1" lang="zh-CN" altLang="en-US" dirty="0">
              <a:latin typeface="Tahoma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99683" y="4170124"/>
            <a:ext cx="4406900" cy="665162"/>
            <a:chOff x="399683" y="4170124"/>
            <a:chExt cx="4406900" cy="665162"/>
          </a:xfrm>
        </p:grpSpPr>
        <p:sp>
          <p:nvSpPr>
            <p:cNvPr id="17" name="矩形 16"/>
            <p:cNvSpPr/>
            <p:nvPr/>
          </p:nvSpPr>
          <p:spPr>
            <a:xfrm>
              <a:off x="545733" y="4703524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453783" y="4703524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文本框 55"/>
            <p:cNvSpPr txBox="1">
              <a:spLocks noChangeArrowheads="1"/>
            </p:cNvSpPr>
            <p:nvPr/>
          </p:nvSpPr>
          <p:spPr bwMode="auto">
            <a:xfrm>
              <a:off x="399683" y="4170124"/>
              <a:ext cx="253060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两层含义</a:t>
              </a:r>
            </a:p>
          </p:txBody>
        </p:sp>
      </p:grpSp>
      <p:sp>
        <p:nvSpPr>
          <p:cNvPr id="22" name="文本框 54"/>
          <p:cNvSpPr txBox="1">
            <a:spLocks noChangeArrowheads="1"/>
          </p:cNvSpPr>
          <p:nvPr/>
        </p:nvSpPr>
        <p:spPr bwMode="auto">
          <a:xfrm>
            <a:off x="545733" y="4972560"/>
            <a:ext cx="1920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内部顺序性</a:t>
            </a:r>
          </a:p>
        </p:txBody>
      </p:sp>
      <p:sp>
        <p:nvSpPr>
          <p:cNvPr id="23" name="文本框 51"/>
          <p:cNvSpPr txBox="1">
            <a:spLocks noChangeArrowheads="1"/>
          </p:cNvSpPr>
          <p:nvPr/>
        </p:nvSpPr>
        <p:spPr bwMode="auto">
          <a:xfrm>
            <a:off x="5749510" y="5397135"/>
            <a:ext cx="5728256" cy="774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对于多个执行中的程序</a:t>
            </a:r>
            <a: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来说，所有进程是交叉执行的。</a:t>
            </a:r>
            <a:endParaRPr lang="zh-CN" altLang="zh-CN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54"/>
          <p:cNvSpPr txBox="1">
            <a:spLocks noChangeArrowheads="1"/>
          </p:cNvSpPr>
          <p:nvPr/>
        </p:nvSpPr>
        <p:spPr bwMode="auto">
          <a:xfrm>
            <a:off x="5763159" y="4934308"/>
            <a:ext cx="1920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外部顺序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399683" y="1344528"/>
            <a:ext cx="7502373" cy="2571768"/>
            <a:chOff x="1214414" y="2500306"/>
            <a:chExt cx="7702574" cy="2571768"/>
          </a:xfrm>
        </p:grpSpPr>
        <p:sp>
          <p:nvSpPr>
            <p:cNvPr id="51" name="椭圆 50"/>
            <p:cNvSpPr/>
            <p:nvPr/>
          </p:nvSpPr>
          <p:spPr bwMode="auto">
            <a:xfrm>
              <a:off x="1214414" y="2500306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 dirty="0"/>
                <a:t>I</a:t>
              </a:r>
              <a:r>
                <a:rPr lang="en-US" altLang="zh-CN" sz="2000" baseline="-25000" dirty="0"/>
                <a:t>1</a:t>
              </a:r>
            </a:p>
            <a:p>
              <a:pPr>
                <a:defRPr/>
              </a:pPr>
              <a:endParaRPr lang="en-US" altLang="zh-CN" sz="3600" dirty="0"/>
            </a:p>
          </p:txBody>
        </p:sp>
        <p:sp>
          <p:nvSpPr>
            <p:cNvPr id="53" name="椭圆 52"/>
            <p:cNvSpPr/>
            <p:nvPr/>
          </p:nvSpPr>
          <p:spPr bwMode="auto">
            <a:xfrm>
              <a:off x="2428860" y="2500306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I</a:t>
              </a:r>
              <a:r>
                <a:rPr lang="en-US" altLang="zh-CN" sz="2000" baseline="-25000"/>
                <a:t>2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54" name="椭圆 53"/>
            <p:cNvSpPr/>
            <p:nvPr/>
          </p:nvSpPr>
          <p:spPr bwMode="auto">
            <a:xfrm>
              <a:off x="3714744" y="2500306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I</a:t>
              </a:r>
              <a:r>
                <a:rPr lang="en-US" altLang="zh-CN" sz="2000" baseline="-25000"/>
                <a:t>3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55" name="椭圆 54"/>
            <p:cNvSpPr/>
            <p:nvPr/>
          </p:nvSpPr>
          <p:spPr bwMode="auto">
            <a:xfrm>
              <a:off x="5072066" y="2500306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I</a:t>
              </a:r>
              <a:r>
                <a:rPr lang="en-US" altLang="zh-CN" sz="2000" baseline="-25000"/>
                <a:t>4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56" name="椭圆 55"/>
            <p:cNvSpPr/>
            <p:nvPr/>
          </p:nvSpPr>
          <p:spPr bwMode="auto">
            <a:xfrm>
              <a:off x="2428860" y="3500438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C</a:t>
              </a:r>
              <a:r>
                <a:rPr lang="en-US" altLang="zh-CN" sz="2000" baseline="-25000"/>
                <a:t>1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57" name="椭圆 56"/>
            <p:cNvSpPr/>
            <p:nvPr/>
          </p:nvSpPr>
          <p:spPr bwMode="auto">
            <a:xfrm>
              <a:off x="3714744" y="3500438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C</a:t>
              </a:r>
              <a:r>
                <a:rPr lang="en-US" altLang="zh-CN" sz="2000" baseline="-25000"/>
                <a:t>2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58" name="椭圆 57"/>
            <p:cNvSpPr/>
            <p:nvPr/>
          </p:nvSpPr>
          <p:spPr bwMode="auto">
            <a:xfrm>
              <a:off x="5072066" y="3500438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C</a:t>
              </a:r>
              <a:r>
                <a:rPr lang="en-US" altLang="zh-CN" sz="2000" baseline="-25000"/>
                <a:t>3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59" name="椭圆 58"/>
            <p:cNvSpPr/>
            <p:nvPr/>
          </p:nvSpPr>
          <p:spPr bwMode="auto">
            <a:xfrm>
              <a:off x="6286512" y="3500438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C</a:t>
              </a:r>
              <a:r>
                <a:rPr lang="en-US" altLang="zh-CN" sz="2000" baseline="-25000"/>
                <a:t>4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60" name="椭圆 59"/>
            <p:cNvSpPr/>
            <p:nvPr/>
          </p:nvSpPr>
          <p:spPr bwMode="auto">
            <a:xfrm>
              <a:off x="3714744" y="4572008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P</a:t>
              </a:r>
              <a:r>
                <a:rPr lang="en-US" altLang="zh-CN" sz="2000" baseline="-25000"/>
                <a:t>1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61" name="椭圆 60"/>
            <p:cNvSpPr/>
            <p:nvPr/>
          </p:nvSpPr>
          <p:spPr bwMode="auto">
            <a:xfrm>
              <a:off x="5072066" y="4572008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P</a:t>
              </a:r>
              <a:r>
                <a:rPr lang="en-US" altLang="zh-CN" sz="2000" baseline="-25000"/>
                <a:t>2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62" name="椭圆 61"/>
            <p:cNvSpPr/>
            <p:nvPr/>
          </p:nvSpPr>
          <p:spPr bwMode="auto">
            <a:xfrm>
              <a:off x="6286512" y="4572008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P</a:t>
              </a:r>
              <a:r>
                <a:rPr lang="en-US" altLang="zh-CN" sz="2000" baseline="-25000"/>
                <a:t>3</a:t>
              </a:r>
            </a:p>
            <a:p>
              <a:pPr>
                <a:defRPr/>
              </a:pPr>
              <a:endParaRPr lang="en-US" altLang="zh-CN" sz="3600"/>
            </a:p>
          </p:txBody>
        </p:sp>
        <p:sp>
          <p:nvSpPr>
            <p:cNvPr id="63" name="椭圆 62"/>
            <p:cNvSpPr/>
            <p:nvPr/>
          </p:nvSpPr>
          <p:spPr bwMode="auto">
            <a:xfrm>
              <a:off x="7572396" y="4572008"/>
              <a:ext cx="500066" cy="50006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sz="2000"/>
                <a:t>P</a:t>
              </a:r>
              <a:r>
                <a:rPr lang="en-US" altLang="zh-CN" sz="2000" baseline="-25000"/>
                <a:t>4</a:t>
              </a:r>
            </a:p>
            <a:p>
              <a:pPr>
                <a:defRPr/>
              </a:pPr>
              <a:endParaRPr lang="en-US" altLang="zh-CN" sz="3600"/>
            </a:p>
          </p:txBody>
        </p:sp>
        <p:cxnSp>
          <p:nvCxnSpPr>
            <p:cNvPr id="64" name="直接箭头连接符 63"/>
            <p:cNvCxnSpPr>
              <a:stCxn id="51" idx="6"/>
              <a:endCxn id="53" idx="2"/>
            </p:cNvCxnSpPr>
            <p:nvPr/>
          </p:nvCxnSpPr>
          <p:spPr bwMode="auto">
            <a:xfrm>
              <a:off x="1714500" y="2749550"/>
              <a:ext cx="714375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65" name="直接箭头连接符 64"/>
            <p:cNvCxnSpPr>
              <a:stCxn id="53" idx="6"/>
              <a:endCxn id="54" idx="2"/>
            </p:cNvCxnSpPr>
            <p:nvPr/>
          </p:nvCxnSpPr>
          <p:spPr bwMode="auto">
            <a:xfrm>
              <a:off x="2928938" y="2749550"/>
              <a:ext cx="785812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66" name="直接箭头连接符 65"/>
            <p:cNvCxnSpPr>
              <a:stCxn id="54" idx="6"/>
              <a:endCxn id="55" idx="2"/>
            </p:cNvCxnSpPr>
            <p:nvPr/>
          </p:nvCxnSpPr>
          <p:spPr bwMode="auto">
            <a:xfrm>
              <a:off x="4214813" y="2749550"/>
              <a:ext cx="857250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67" name="直接箭头连接符 66"/>
            <p:cNvCxnSpPr/>
            <p:nvPr/>
          </p:nvCxnSpPr>
          <p:spPr bwMode="auto">
            <a:xfrm>
              <a:off x="5572125" y="2763838"/>
              <a:ext cx="857250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68" name="直接箭头连接符 67"/>
            <p:cNvCxnSpPr>
              <a:stCxn id="51" idx="5"/>
              <a:endCxn id="56" idx="1"/>
            </p:cNvCxnSpPr>
            <p:nvPr/>
          </p:nvCxnSpPr>
          <p:spPr bwMode="auto">
            <a:xfrm rot="16200000" flipH="1">
              <a:off x="1748631" y="2820194"/>
              <a:ext cx="646113" cy="86042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69" name="直接箭头连接符 68"/>
            <p:cNvCxnSpPr>
              <a:stCxn id="56" idx="5"/>
              <a:endCxn id="60" idx="1"/>
            </p:cNvCxnSpPr>
            <p:nvPr/>
          </p:nvCxnSpPr>
          <p:spPr bwMode="auto">
            <a:xfrm rot="16200000" flipH="1">
              <a:off x="2963069" y="3820319"/>
              <a:ext cx="717550" cy="931862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0" name="直接箭头连接符 69"/>
            <p:cNvCxnSpPr>
              <a:stCxn id="56" idx="6"/>
              <a:endCxn id="57" idx="2"/>
            </p:cNvCxnSpPr>
            <p:nvPr/>
          </p:nvCxnSpPr>
          <p:spPr bwMode="auto">
            <a:xfrm>
              <a:off x="2928938" y="3751263"/>
              <a:ext cx="785812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1" name="直接箭头连接符 70"/>
            <p:cNvCxnSpPr>
              <a:stCxn id="57" idx="6"/>
              <a:endCxn id="58" idx="2"/>
            </p:cNvCxnSpPr>
            <p:nvPr/>
          </p:nvCxnSpPr>
          <p:spPr bwMode="auto">
            <a:xfrm>
              <a:off x="4214813" y="3751263"/>
              <a:ext cx="857250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2" name="直接箭头连接符 71"/>
            <p:cNvCxnSpPr>
              <a:stCxn id="58" idx="6"/>
              <a:endCxn id="59" idx="2"/>
            </p:cNvCxnSpPr>
            <p:nvPr/>
          </p:nvCxnSpPr>
          <p:spPr bwMode="auto">
            <a:xfrm>
              <a:off x="5572125" y="3751263"/>
              <a:ext cx="714375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3" name="直接箭头连接符 72"/>
            <p:cNvCxnSpPr>
              <a:stCxn id="60" idx="6"/>
              <a:endCxn id="61" idx="2"/>
            </p:cNvCxnSpPr>
            <p:nvPr/>
          </p:nvCxnSpPr>
          <p:spPr bwMode="auto">
            <a:xfrm>
              <a:off x="4214813" y="4822825"/>
              <a:ext cx="857250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4" name="直接箭头连接符 73"/>
            <p:cNvCxnSpPr>
              <a:stCxn id="61" idx="6"/>
              <a:endCxn id="62" idx="2"/>
            </p:cNvCxnSpPr>
            <p:nvPr/>
          </p:nvCxnSpPr>
          <p:spPr bwMode="auto">
            <a:xfrm>
              <a:off x="5572125" y="4822825"/>
              <a:ext cx="714375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5" name="直接箭头连接符 74"/>
            <p:cNvCxnSpPr>
              <a:stCxn id="62" idx="6"/>
              <a:endCxn id="63" idx="2"/>
            </p:cNvCxnSpPr>
            <p:nvPr/>
          </p:nvCxnSpPr>
          <p:spPr bwMode="auto">
            <a:xfrm>
              <a:off x="6786563" y="4822825"/>
              <a:ext cx="785812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6" name="直接箭头连接符 75"/>
            <p:cNvCxnSpPr/>
            <p:nvPr/>
          </p:nvCxnSpPr>
          <p:spPr bwMode="auto">
            <a:xfrm>
              <a:off x="6802438" y="3759200"/>
              <a:ext cx="857250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7" name="直接箭头连接符 76"/>
            <p:cNvCxnSpPr/>
            <p:nvPr/>
          </p:nvCxnSpPr>
          <p:spPr bwMode="auto">
            <a:xfrm>
              <a:off x="8059738" y="4816475"/>
              <a:ext cx="857250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8" name="直接箭头连接符 77"/>
            <p:cNvCxnSpPr>
              <a:stCxn id="53" idx="5"/>
              <a:endCxn id="57" idx="1"/>
            </p:cNvCxnSpPr>
            <p:nvPr/>
          </p:nvCxnSpPr>
          <p:spPr bwMode="auto">
            <a:xfrm rot="16200000" flipH="1">
              <a:off x="2998787" y="2784476"/>
              <a:ext cx="646113" cy="931862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9" name="直接箭头连接符 78"/>
            <p:cNvCxnSpPr>
              <a:stCxn id="57" idx="5"/>
              <a:endCxn id="61" idx="1"/>
            </p:cNvCxnSpPr>
            <p:nvPr/>
          </p:nvCxnSpPr>
          <p:spPr bwMode="auto">
            <a:xfrm rot="16200000" flipH="1">
              <a:off x="4284663" y="3784600"/>
              <a:ext cx="717550" cy="10033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80" name="直接箭头连接符 79"/>
            <p:cNvCxnSpPr>
              <a:stCxn id="58" idx="5"/>
              <a:endCxn id="62" idx="1"/>
            </p:cNvCxnSpPr>
            <p:nvPr/>
          </p:nvCxnSpPr>
          <p:spPr bwMode="auto">
            <a:xfrm rot="16200000" flipH="1">
              <a:off x="5570538" y="3856037"/>
              <a:ext cx="717550" cy="86042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81" name="直接箭头连接符 80"/>
            <p:cNvCxnSpPr>
              <a:stCxn id="54" idx="5"/>
              <a:endCxn id="58" idx="1"/>
            </p:cNvCxnSpPr>
            <p:nvPr/>
          </p:nvCxnSpPr>
          <p:spPr bwMode="auto">
            <a:xfrm rot="16200000" flipH="1">
              <a:off x="4320381" y="2748757"/>
              <a:ext cx="646113" cy="10033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82" name="直接箭头连接符 81"/>
            <p:cNvCxnSpPr>
              <a:stCxn id="55" idx="5"/>
              <a:endCxn id="59" idx="1"/>
            </p:cNvCxnSpPr>
            <p:nvPr/>
          </p:nvCxnSpPr>
          <p:spPr bwMode="auto">
            <a:xfrm rot="16200000" flipH="1">
              <a:off x="5606256" y="2820194"/>
              <a:ext cx="646113" cy="86042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83" name="直接箭头连接符 82"/>
            <p:cNvCxnSpPr>
              <a:stCxn id="59" idx="5"/>
              <a:endCxn id="63" idx="1"/>
            </p:cNvCxnSpPr>
            <p:nvPr/>
          </p:nvCxnSpPr>
          <p:spPr bwMode="auto">
            <a:xfrm rot="16200000" flipH="1">
              <a:off x="6820694" y="3820319"/>
              <a:ext cx="717550" cy="931862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76453"/>
              </p:ext>
            </p:extLst>
          </p:nvPr>
        </p:nvGraphicFramePr>
        <p:xfrm>
          <a:off x="7238907" y="3284135"/>
          <a:ext cx="4492864" cy="2101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2600" imgH="822960" progId="">
                  <p:embed/>
                </p:oleObj>
              </mc:Choice>
              <mc:Fallback>
                <p:oleObj r:id="rId3" imgW="1752600" imgH="82296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8907" y="3284135"/>
                        <a:ext cx="4492864" cy="2101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Text Box 2"/>
          <p:cNvSpPr txBox="1">
            <a:spLocks noChangeArrowheads="1"/>
          </p:cNvSpPr>
          <p:nvPr/>
        </p:nvSpPr>
        <p:spPr bwMode="auto">
          <a:xfrm>
            <a:off x="9464194" y="2402679"/>
            <a:ext cx="2013570" cy="1672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zh-CN" altLang="zh-CN" sz="2400" b="0" dirty="0">
                <a:latin typeface="黑体" pitchFamily="49" charset="-122"/>
                <a:ea typeface="黑体" pitchFamily="49" charset="-122"/>
              </a:rPr>
              <a:t>S</a:t>
            </a:r>
            <a:r>
              <a:rPr lang="zh-CN" altLang="zh-CN" sz="2400" b="0" baseline="-25000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zh-CN" sz="2400" b="0" dirty="0">
                <a:latin typeface="黑体" pitchFamily="49" charset="-122"/>
                <a:ea typeface="黑体" pitchFamily="49" charset="-122"/>
              </a:rPr>
              <a:t>: a∶=x+2</a:t>
            </a:r>
          </a:p>
          <a:p>
            <a:pPr algn="just" eaLnBrk="1" hangingPunct="1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zh-CN" altLang="zh-CN" sz="2400" b="0" dirty="0">
                <a:latin typeface="黑体" pitchFamily="49" charset="-122"/>
                <a:ea typeface="黑体" pitchFamily="49" charset="-122"/>
              </a:rPr>
              <a:t>S</a:t>
            </a:r>
            <a:r>
              <a:rPr lang="zh-CN" altLang="zh-CN" sz="2400" b="0" baseline="-25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zh-CN" sz="2400" b="0" dirty="0">
                <a:latin typeface="黑体" pitchFamily="49" charset="-122"/>
                <a:ea typeface="黑体" pitchFamily="49" charset="-122"/>
              </a:rPr>
              <a:t>: b∶=y+4</a:t>
            </a:r>
            <a:endParaRPr lang="en-US" altLang="zh-CN" sz="2400" b="0" dirty="0">
              <a:latin typeface="黑体" pitchFamily="49" charset="-122"/>
              <a:ea typeface="黑体" pitchFamily="49" charset="-122"/>
            </a:endParaRPr>
          </a:p>
          <a:p>
            <a:pPr algn="just" eaLnBrk="1" hangingPunct="1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zh-CN" altLang="zh-CN" sz="2400" b="0" dirty="0">
                <a:latin typeface="黑体" pitchFamily="49" charset="-122"/>
                <a:ea typeface="黑体" pitchFamily="49" charset="-122"/>
              </a:rPr>
              <a:t>S</a:t>
            </a:r>
            <a:r>
              <a:rPr lang="zh-CN" altLang="zh-CN" sz="2400" b="0" baseline="-25000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zh-CN" sz="2400" b="0" dirty="0">
                <a:latin typeface="黑体" pitchFamily="49" charset="-122"/>
                <a:ea typeface="黑体" pitchFamily="49" charset="-122"/>
              </a:rPr>
              <a:t>: c∶=a+b</a:t>
            </a:r>
            <a:endParaRPr lang="en-US" altLang="zh-CN" sz="2400" b="0" dirty="0">
              <a:latin typeface="黑体" pitchFamily="49" charset="-122"/>
              <a:ea typeface="黑体" pitchFamily="49" charset="-122"/>
            </a:endParaRPr>
          </a:p>
          <a:p>
            <a:pPr algn="just" eaLnBrk="1" hangingPunct="1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zh-CN" altLang="zh-CN" sz="2400" b="0" dirty="0">
                <a:latin typeface="黑体" pitchFamily="49" charset="-122"/>
                <a:ea typeface="黑体" pitchFamily="49" charset="-122"/>
              </a:rPr>
              <a:t>S</a:t>
            </a:r>
            <a:r>
              <a:rPr lang="zh-CN" altLang="zh-CN" sz="2400" b="0" baseline="-25000" dirty="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zh-CN" sz="2400" b="0" dirty="0">
                <a:latin typeface="黑体" pitchFamily="49" charset="-122"/>
                <a:ea typeface="黑体" pitchFamily="49" charset="-122"/>
              </a:rPr>
              <a:t>: d∶=c+b </a:t>
            </a:r>
          </a:p>
        </p:txBody>
      </p:sp>
    </p:spTree>
    <p:extLst>
      <p:ext uri="{BB962C8B-B14F-4D97-AF65-F5344CB8AC3E}">
        <p14:creationId xmlns:p14="http://schemas.microsoft.com/office/powerpoint/2010/main" val="299882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3" grpId="0"/>
      <p:bldP spid="24" grpId="0"/>
      <p:bldP spid="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891420" y="1501820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99306" y="1501819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5400000">
            <a:off x="2241012" y="1769014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891420" y="304149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599306" y="304149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5" name="等腰三角形 64"/>
          <p:cNvSpPr/>
          <p:nvPr/>
        </p:nvSpPr>
        <p:spPr>
          <a:xfrm rot="5400000">
            <a:off x="2241012" y="330869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891420" y="4770504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99306" y="4770503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8" name="等腰三角形 67"/>
          <p:cNvSpPr/>
          <p:nvPr/>
        </p:nvSpPr>
        <p:spPr>
          <a:xfrm rot="5400000">
            <a:off x="2241012" y="5037698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20487" name="文本框 5"/>
          <p:cNvSpPr txBox="1">
            <a:spLocks noChangeArrowheads="1"/>
          </p:cNvSpPr>
          <p:nvPr/>
        </p:nvSpPr>
        <p:spPr bwMode="auto">
          <a:xfrm>
            <a:off x="949023" y="1600245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8" name="文本框 71"/>
          <p:cNvSpPr txBox="1">
            <a:spLocks noChangeArrowheads="1"/>
          </p:cNvSpPr>
          <p:nvPr/>
        </p:nvSpPr>
        <p:spPr bwMode="auto">
          <a:xfrm>
            <a:off x="949023" y="3139985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9" name="文本框 87"/>
          <p:cNvSpPr txBox="1">
            <a:spLocks noChangeArrowheads="1"/>
          </p:cNvSpPr>
          <p:nvPr/>
        </p:nvSpPr>
        <p:spPr bwMode="auto">
          <a:xfrm>
            <a:off x="949023" y="4868262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AutoShape 115"/>
          <p:cNvSpPr>
            <a:spLocks/>
          </p:cNvSpPr>
          <p:nvPr/>
        </p:nvSpPr>
        <p:spPr bwMode="auto">
          <a:xfrm>
            <a:off x="1847548" y="1671683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91" name="AutoShape 29"/>
          <p:cNvSpPr>
            <a:spLocks/>
          </p:cNvSpPr>
          <p:nvPr/>
        </p:nvSpPr>
        <p:spPr bwMode="auto">
          <a:xfrm>
            <a:off x="1847548" y="3216185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92" name="Group 2"/>
          <p:cNvGrpSpPr>
            <a:grpSpLocks/>
          </p:cNvGrpSpPr>
          <p:nvPr/>
        </p:nvGrpSpPr>
        <p:grpSpPr bwMode="auto">
          <a:xfrm>
            <a:off x="1847144" y="4944151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4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5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6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7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8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" name="直接连接符 7"/>
          <p:cNvCxnSpPr>
            <a:stCxn id="4" idx="0"/>
          </p:cNvCxnSpPr>
          <p:nvPr/>
        </p:nvCxnSpPr>
        <p:spPr>
          <a:xfrm flipV="1">
            <a:off x="2755598" y="1892345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755598" y="342891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2755598" y="5149249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3560461" y="1839958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560461" y="336382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560461" y="5095274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080942" y="1298620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间断性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4080942" y="1889742"/>
            <a:ext cx="72330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宋体" pitchFamily="2" charset="-122"/>
                <a:ea typeface="宋体" pitchFamily="2" charset="-122"/>
              </a:rPr>
              <a:t>程序在并发执行时，由于它们共享系统资源，以及为完成同一任务而相互合作，致使这些并发执行的程序之间形成了相互制约的关系。（互斥关系、同步关系）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 </a:t>
            </a: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080942" y="3006635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失去封闭性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080942" y="3529517"/>
            <a:ext cx="72330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宋体" pitchFamily="2" charset="-122"/>
                <a:ea typeface="宋体" pitchFamily="2" charset="-122"/>
              </a:rPr>
              <a:t>程序在并发执行时，由于多个程序共享系统资源，因而这些资源的状态将由多个程序来改变，致使程序的运行已失去了封闭性。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 </a:t>
            </a:r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080942" y="4661887"/>
            <a:ext cx="4830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不可再现性</a:t>
            </a:r>
            <a:r>
              <a:rPr lang="en-US" altLang="zh-CN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与时间有关的错误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080942" y="5225713"/>
            <a:ext cx="72330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ea typeface="宋体" pitchFamily="2" charset="-122"/>
              </a:rPr>
              <a:t>程序在并发执行时，由于失去了封闭性，也将导致其失去可再现性。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78" name="矩形 77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0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539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程序并发执行时的特征</a:t>
            </a:r>
          </a:p>
        </p:txBody>
      </p:sp>
      <p:sp>
        <p:nvSpPr>
          <p:cNvPr id="6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539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不可再现性例子</a:t>
            </a:r>
          </a:p>
        </p:txBody>
      </p:sp>
      <p:sp>
        <p:nvSpPr>
          <p:cNvPr id="3" name="文本框 51"/>
          <p:cNvSpPr txBox="1">
            <a:spLocks noChangeArrowheads="1"/>
          </p:cNvSpPr>
          <p:nvPr/>
        </p:nvSpPr>
        <p:spPr bwMode="auto">
          <a:xfrm>
            <a:off x="904562" y="1033166"/>
            <a:ext cx="8099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Blip>
                <a:blip r:embed="rId2"/>
              </a:buBlip>
            </a:pPr>
            <a:r>
              <a:rPr kumimoji="1" lang="zh-CN" altLang="en-US" sz="2400" dirty="0"/>
              <a:t>有两个循环程序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B</a:t>
            </a:r>
            <a:r>
              <a:rPr kumimoji="1" lang="zh-CN" altLang="en-US" sz="2400" dirty="0"/>
              <a:t>，它们共享一个变量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。</a:t>
            </a:r>
            <a:endParaRPr lang="en-US" altLang="zh-CN" sz="24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904562" y="1563071"/>
            <a:ext cx="4034638" cy="946150"/>
            <a:chOff x="904562" y="1563071"/>
            <a:chExt cx="4034638" cy="946150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875423" y="1563071"/>
              <a:ext cx="3063777" cy="946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800" dirty="0">
                  <a:ea typeface="宋体" pitchFamily="2" charset="-122"/>
                </a:rPr>
                <a:t>L1</a:t>
              </a:r>
              <a:r>
                <a:rPr kumimoji="1" lang="zh-CN" altLang="en-US" sz="2800" dirty="0">
                  <a:ea typeface="宋体" pitchFamily="2" charset="-122"/>
                </a:rPr>
                <a:t>：</a:t>
              </a:r>
              <a:r>
                <a:rPr kumimoji="1" lang="en-US" altLang="zh-CN" sz="2800" dirty="0">
                  <a:ea typeface="宋体" pitchFamily="2" charset="-122"/>
                </a:rPr>
                <a:t>N = N+1</a:t>
              </a:r>
              <a:r>
                <a:rPr kumimoji="1" lang="zh-CN" altLang="en-US" sz="2800" dirty="0">
                  <a:ea typeface="宋体" pitchFamily="2" charset="-122"/>
                </a:rPr>
                <a:t>； </a:t>
              </a:r>
            </a:p>
            <a:p>
              <a:pPr>
                <a:spcBef>
                  <a:spcPct val="0"/>
                </a:spcBef>
              </a:pPr>
              <a:r>
                <a:rPr kumimoji="1" lang="zh-CN" altLang="en-US" sz="2800" dirty="0">
                  <a:ea typeface="宋体" pitchFamily="2" charset="-122"/>
                </a:rPr>
                <a:t>    </a:t>
              </a:r>
              <a:r>
                <a:rPr kumimoji="1" lang="en-US" altLang="zh-CN" sz="2800" dirty="0" err="1">
                  <a:ea typeface="宋体" pitchFamily="2" charset="-122"/>
                </a:rPr>
                <a:t>goto</a:t>
              </a:r>
              <a:r>
                <a:rPr kumimoji="1" lang="en-US" altLang="zh-CN" sz="2800" dirty="0">
                  <a:ea typeface="宋体" pitchFamily="2" charset="-122"/>
                </a:rPr>
                <a:t>  L1</a:t>
              </a:r>
              <a:r>
                <a:rPr kumimoji="1" lang="zh-CN" altLang="en-US" sz="2800" dirty="0">
                  <a:ea typeface="宋体" pitchFamily="2" charset="-122"/>
                </a:rPr>
                <a:t>；</a:t>
              </a:r>
              <a:r>
                <a:rPr kumimoji="1" lang="zh-CN" altLang="en-US" sz="2800" b="0" dirty="0">
                  <a:ea typeface="宋体" pitchFamily="2" charset="-122"/>
                </a:rPr>
                <a:t> </a:t>
              </a:r>
            </a:p>
          </p:txBody>
        </p:sp>
        <p:sp>
          <p:nvSpPr>
            <p:cNvPr id="6" name="文本框 54"/>
            <p:cNvSpPr txBox="1">
              <a:spLocks noChangeArrowheads="1"/>
            </p:cNvSpPr>
            <p:nvPr/>
          </p:nvSpPr>
          <p:spPr bwMode="auto">
            <a:xfrm>
              <a:off x="904562" y="1644155"/>
              <a:ext cx="112487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505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</a:t>
              </a:r>
              <a:r>
                <a:rPr lang="en-US" altLang="zh-CN" sz="2000" b="1" dirty="0">
                  <a:solidFill>
                    <a:srgbClr val="505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106639" y="1568450"/>
            <a:ext cx="4156477" cy="1244600"/>
            <a:chOff x="6106639" y="1568450"/>
            <a:chExt cx="4156477" cy="1244600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7075890" y="1568450"/>
              <a:ext cx="3187226" cy="1244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kumimoji="1" lang="en-US" altLang="zh-CN" sz="2800" dirty="0">
                  <a:ea typeface="宋体" pitchFamily="2" charset="-122"/>
                </a:rPr>
                <a:t>L2</a:t>
              </a:r>
              <a:r>
                <a:rPr kumimoji="1" lang="zh-CN" altLang="en-US" sz="2800" dirty="0">
                  <a:ea typeface="宋体" pitchFamily="2" charset="-122"/>
                </a:rPr>
                <a:t>：</a:t>
              </a:r>
              <a:r>
                <a:rPr kumimoji="1" lang="en-US" altLang="zh-CN" sz="2800" dirty="0">
                  <a:ea typeface="宋体" pitchFamily="2" charset="-122"/>
                </a:rPr>
                <a:t>print (N)</a:t>
              </a:r>
              <a:r>
                <a:rPr kumimoji="1" lang="zh-CN" altLang="en-US" sz="2800" dirty="0">
                  <a:ea typeface="宋体" pitchFamily="2" charset="-122"/>
                </a:rPr>
                <a:t>；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2800" dirty="0">
                  <a:ea typeface="宋体" pitchFamily="2" charset="-122"/>
                </a:rPr>
                <a:t>    </a:t>
              </a:r>
              <a:r>
                <a:rPr kumimoji="1" lang="en-US" altLang="zh-CN" sz="2800" dirty="0">
                  <a:ea typeface="宋体" pitchFamily="2" charset="-122"/>
                </a:rPr>
                <a:t>N = 0</a:t>
              </a:r>
              <a:r>
                <a:rPr kumimoji="1" lang="zh-CN" altLang="en-US" sz="2800" dirty="0">
                  <a:ea typeface="宋体" pitchFamily="2" charset="-122"/>
                </a:rPr>
                <a:t>；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2800" dirty="0">
                  <a:ea typeface="宋体" pitchFamily="2" charset="-122"/>
                </a:rPr>
                <a:t>    </a:t>
              </a:r>
              <a:r>
                <a:rPr kumimoji="1" lang="en-US" altLang="zh-CN" sz="2800" dirty="0" err="1">
                  <a:ea typeface="宋体" pitchFamily="2" charset="-122"/>
                </a:rPr>
                <a:t>goto</a:t>
              </a:r>
              <a:r>
                <a:rPr kumimoji="1" lang="en-US" altLang="zh-CN" sz="2800" dirty="0">
                  <a:ea typeface="宋体" pitchFamily="2" charset="-122"/>
                </a:rPr>
                <a:t>  L2</a:t>
              </a:r>
              <a:r>
                <a:rPr kumimoji="1" lang="zh-CN" altLang="en-US" sz="2800" dirty="0">
                  <a:ea typeface="宋体" pitchFamily="2" charset="-122"/>
                </a:rPr>
                <a:t>； </a:t>
              </a:r>
              <a:r>
                <a:rPr kumimoji="1" lang="zh-CN" altLang="en-US" sz="2800" b="0" dirty="0">
                  <a:ea typeface="宋体" pitchFamily="2" charset="-122"/>
                </a:rPr>
                <a:t> </a:t>
              </a:r>
            </a:p>
          </p:txBody>
        </p:sp>
        <p:sp>
          <p:nvSpPr>
            <p:cNvPr id="7" name="文本框 54"/>
            <p:cNvSpPr txBox="1">
              <a:spLocks noChangeArrowheads="1"/>
            </p:cNvSpPr>
            <p:nvPr/>
          </p:nvSpPr>
          <p:spPr bwMode="auto">
            <a:xfrm>
              <a:off x="6106639" y="1630934"/>
              <a:ext cx="112487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505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</a:t>
              </a:r>
              <a:r>
                <a:rPr lang="en-US" altLang="zh-CN" sz="2000" b="1" dirty="0">
                  <a:solidFill>
                    <a:srgbClr val="505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51"/>
          <p:cNvSpPr txBox="1">
            <a:spLocks noChangeArrowheads="1"/>
          </p:cNvSpPr>
          <p:nvPr/>
        </p:nvSpPr>
        <p:spPr bwMode="auto">
          <a:xfrm>
            <a:off x="904561" y="3109894"/>
            <a:ext cx="94950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Blip>
                <a:blip r:embed="rId2"/>
              </a:buBlip>
            </a:pPr>
            <a:r>
              <a:rPr lang="zh-CN" altLang="en-US" sz="2400" dirty="0"/>
              <a:t>程序并发执行时，可能出现以下三种顺序</a:t>
            </a:r>
            <a:r>
              <a:rPr kumimoji="1" lang="en-US" altLang="zh-CN" sz="2400" dirty="0"/>
              <a:t>(</a:t>
            </a:r>
            <a:r>
              <a:rPr kumimoji="1" lang="zh-CN" altLang="en-US" sz="2400" dirty="0"/>
              <a:t>设当前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的值为</a:t>
            </a:r>
            <a:r>
              <a:rPr kumimoji="1" lang="en-US" altLang="zh-CN" sz="2400" dirty="0"/>
              <a:t>10) </a:t>
            </a:r>
            <a:r>
              <a:rPr kumimoji="1" lang="zh-CN" altLang="en-US" sz="2400" dirty="0"/>
              <a:t>：</a:t>
            </a:r>
            <a:endParaRPr lang="en-US" altLang="zh-CN" sz="2400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940585" y="3803578"/>
            <a:ext cx="2334878" cy="27699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第一种：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 = N+1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print (N)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 = 0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</a:t>
            </a:r>
            <a:r>
              <a:rPr kumimoji="1" lang="zh-CN" altLang="en-US" sz="2800" dirty="0">
                <a:ea typeface="宋体" pitchFamily="2" charset="-122"/>
              </a:rPr>
              <a:t>值分别为</a:t>
            </a:r>
            <a:r>
              <a:rPr kumimoji="1" lang="en-US" altLang="zh-CN" sz="2800" dirty="0">
                <a:ea typeface="宋体" pitchFamily="2" charset="-122"/>
              </a:rPr>
              <a:t>11,11,0</a:t>
            </a:r>
            <a:r>
              <a:rPr kumimoji="1" lang="zh-CN" altLang="en-US" sz="2800" dirty="0">
                <a:ea typeface="宋体" pitchFamily="2" charset="-122"/>
              </a:rPr>
              <a:t> 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771761" y="3803578"/>
            <a:ext cx="2334878" cy="2726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第二种：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print (N)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 = 0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 = N+1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</a:t>
            </a:r>
            <a:r>
              <a:rPr kumimoji="1" lang="zh-CN" altLang="en-US" sz="2800" dirty="0">
                <a:ea typeface="宋体" pitchFamily="2" charset="-122"/>
              </a:rPr>
              <a:t>值分别为</a:t>
            </a:r>
            <a:r>
              <a:rPr kumimoji="1" lang="en-US" altLang="zh-CN" sz="2800" dirty="0">
                <a:ea typeface="宋体" pitchFamily="2" charset="-122"/>
              </a:rPr>
              <a:t>10,0,1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6669075" y="3803578"/>
            <a:ext cx="2334878" cy="2726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第三种：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print (N)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 = N+1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 = 0</a:t>
            </a:r>
            <a:r>
              <a:rPr kumimoji="1" lang="zh-CN" altLang="en-US" sz="2800" dirty="0">
                <a:ea typeface="宋体" pitchFamily="2" charset="-122"/>
              </a:rPr>
              <a:t>；</a:t>
            </a: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kumimoji="1"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sz="2800" dirty="0">
                <a:ea typeface="宋体" pitchFamily="2" charset="-122"/>
              </a:rPr>
              <a:t>N</a:t>
            </a:r>
            <a:r>
              <a:rPr kumimoji="1" lang="zh-CN" altLang="en-US" sz="2800" dirty="0">
                <a:ea typeface="宋体" pitchFamily="2" charset="-122"/>
              </a:rPr>
              <a:t>值分别为</a:t>
            </a:r>
            <a:r>
              <a:rPr kumimoji="1" lang="en-US" altLang="zh-CN" sz="2800" dirty="0">
                <a:ea typeface="宋体" pitchFamily="2" charset="-122"/>
              </a:rPr>
              <a:t>10,11,0</a:t>
            </a:r>
          </a:p>
        </p:txBody>
      </p:sp>
    </p:spTree>
    <p:extLst>
      <p:ext uri="{BB962C8B-B14F-4D97-AF65-F5344CB8AC3E}">
        <p14:creationId xmlns:p14="http://schemas.microsoft.com/office/powerpoint/2010/main" val="144459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进程的描述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7" name="文本框 19"/>
          <p:cNvSpPr txBox="1">
            <a:spLocks noChangeArrowheads="1"/>
          </p:cNvSpPr>
          <p:nvPr/>
        </p:nvSpPr>
        <p:spPr bwMode="auto">
          <a:xfrm>
            <a:off x="2439936" y="3952247"/>
            <a:ext cx="73290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进程？</a:t>
            </a:r>
            <a:r>
              <a:rPr lang="en-US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9"/>
          <p:cNvSpPr txBox="1">
            <a:spLocks noChangeArrowheads="1"/>
          </p:cNvSpPr>
          <p:nvPr/>
        </p:nvSpPr>
        <p:spPr bwMode="auto">
          <a:xfrm>
            <a:off x="2439936" y="3299445"/>
            <a:ext cx="7329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引入进程的目的：</a:t>
            </a:r>
            <a:r>
              <a:rPr lang="zh-CN" altLang="en-US" sz="2400" dirty="0"/>
              <a:t>为了使程序能够正确地并发执行</a:t>
            </a:r>
            <a:endParaRPr lang="en-US" altLang="zh-CN" sz="2400" dirty="0"/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667" y="3942097"/>
            <a:ext cx="6070600" cy="264318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20" name="文本框 51"/>
          <p:cNvSpPr txBox="1">
            <a:spLocks noChangeArrowheads="1"/>
          </p:cNvSpPr>
          <p:nvPr/>
        </p:nvSpPr>
        <p:spPr bwMode="auto">
          <a:xfrm>
            <a:off x="2439936" y="4475327"/>
            <a:ext cx="209337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-342900">
              <a:buBlip>
                <a:blip r:embed="rId3"/>
              </a:buBlip>
            </a:pPr>
            <a:r>
              <a:rPr lang="zh-CN" altLang="en-US" sz="2400" kern="0" dirty="0"/>
              <a:t>一个进程比一个程序的内容要多。</a:t>
            </a:r>
            <a:endParaRPr lang="en-US" altLang="zh-CN" sz="2400" kern="0" dirty="0"/>
          </a:p>
          <a:p>
            <a:pPr marL="342900" lvl="1" indent="-342900">
              <a:buBlip>
                <a:blip r:embed="rId3"/>
              </a:buBlip>
            </a:pPr>
            <a:r>
              <a:rPr lang="zh-CN" altLang="en-US" sz="2400" dirty="0"/>
              <a:t>程序只是进程状态的一部分内容。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2953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4252" y="110602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2138" y="110602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5400000">
            <a:off x="2363844" y="137322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1014252" y="208613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722138" y="208613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5" name="等腰三角形 64"/>
          <p:cNvSpPr/>
          <p:nvPr/>
        </p:nvSpPr>
        <p:spPr>
          <a:xfrm rot="5400000">
            <a:off x="2363844" y="235333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1014252" y="3487592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722138" y="3487591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8" name="等腰三角形 67"/>
          <p:cNvSpPr/>
          <p:nvPr/>
        </p:nvSpPr>
        <p:spPr>
          <a:xfrm rot="5400000">
            <a:off x="2363844" y="3754786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1014252" y="4467701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722138" y="4467700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1" name="等腰三角形 70"/>
          <p:cNvSpPr/>
          <p:nvPr/>
        </p:nvSpPr>
        <p:spPr>
          <a:xfrm rot="5400000">
            <a:off x="2363844" y="4734895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20487" name="文本框 5"/>
          <p:cNvSpPr txBox="1">
            <a:spLocks noChangeArrowheads="1"/>
          </p:cNvSpPr>
          <p:nvPr/>
        </p:nvSpPr>
        <p:spPr bwMode="auto">
          <a:xfrm>
            <a:off x="1071855" y="1204453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8" name="文本框 71"/>
          <p:cNvSpPr txBox="1">
            <a:spLocks noChangeArrowheads="1"/>
          </p:cNvSpPr>
          <p:nvPr/>
        </p:nvSpPr>
        <p:spPr bwMode="auto">
          <a:xfrm>
            <a:off x="1071855" y="2184625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9" name="文本框 87"/>
          <p:cNvSpPr txBox="1">
            <a:spLocks noChangeArrowheads="1"/>
          </p:cNvSpPr>
          <p:nvPr/>
        </p:nvSpPr>
        <p:spPr bwMode="auto">
          <a:xfrm>
            <a:off x="1071855" y="3585350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90" name="文本框 88"/>
          <p:cNvSpPr txBox="1">
            <a:spLocks noChangeArrowheads="1"/>
          </p:cNvSpPr>
          <p:nvPr/>
        </p:nvSpPr>
        <p:spPr bwMode="auto">
          <a:xfrm>
            <a:off x="1071855" y="4565522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AutoShape 115"/>
          <p:cNvSpPr>
            <a:spLocks/>
          </p:cNvSpPr>
          <p:nvPr/>
        </p:nvSpPr>
        <p:spPr bwMode="auto">
          <a:xfrm>
            <a:off x="1970380" y="1275891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91" name="AutoShape 29"/>
          <p:cNvSpPr>
            <a:spLocks/>
          </p:cNvSpPr>
          <p:nvPr/>
        </p:nvSpPr>
        <p:spPr bwMode="auto">
          <a:xfrm>
            <a:off x="1970380" y="2260825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92" name="Group 2"/>
          <p:cNvGrpSpPr>
            <a:grpSpLocks/>
          </p:cNvGrpSpPr>
          <p:nvPr/>
        </p:nvGrpSpPr>
        <p:grpSpPr bwMode="auto">
          <a:xfrm>
            <a:off x="1969976" y="3661239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4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5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6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7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8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99" name="Group 587"/>
          <p:cNvGrpSpPr>
            <a:grpSpLocks/>
          </p:cNvGrpSpPr>
          <p:nvPr/>
        </p:nvGrpSpPr>
        <p:grpSpPr bwMode="auto">
          <a:xfrm>
            <a:off x="1960425" y="4688749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100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1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2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3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4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5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" name="直接连接符 7"/>
          <p:cNvCxnSpPr>
            <a:stCxn id="4" idx="0"/>
          </p:cNvCxnSpPr>
          <p:nvPr/>
        </p:nvCxnSpPr>
        <p:spPr>
          <a:xfrm flipV="1">
            <a:off x="2878430" y="1496553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878430" y="247355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2878430" y="3866337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2878430" y="4843334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3683293" y="1444166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683293" y="240846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683293" y="3812362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3683293" y="4778247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018414" y="1268902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结构特征</a:t>
            </a: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039998" y="2174107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动态性</a:t>
            </a:r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026350" y="3610991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并发性</a:t>
            </a:r>
          </a:p>
        </p:txBody>
      </p:sp>
      <p:sp>
        <p:nvSpPr>
          <p:cNvPr id="59" name="文本框 58"/>
          <p:cNvSpPr txBox="1">
            <a:spLocks noChangeArrowheads="1"/>
          </p:cNvSpPr>
          <p:nvPr/>
        </p:nvSpPr>
        <p:spPr bwMode="auto">
          <a:xfrm>
            <a:off x="4053646" y="4623861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独立性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78" name="矩形 77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0" name="文本框 25"/>
          <p:cNvSpPr txBox="1">
            <a:spLocks noChangeArrowheads="1"/>
          </p:cNvSpPr>
          <p:nvPr/>
        </p:nvSpPr>
        <p:spPr bwMode="auto">
          <a:xfrm>
            <a:off x="902970" y="199077"/>
            <a:ext cx="20008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进程的特征</a:t>
            </a:r>
          </a:p>
        </p:txBody>
      </p:sp>
      <p:sp>
        <p:nvSpPr>
          <p:cNvPr id="6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1057468" y="557800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765354" y="557800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58" name="等腰三角形 57"/>
          <p:cNvSpPr/>
          <p:nvPr/>
        </p:nvSpPr>
        <p:spPr>
          <a:xfrm rot="5400000">
            <a:off x="2407060" y="584520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4" name="文本框 87"/>
          <p:cNvSpPr txBox="1">
            <a:spLocks noChangeArrowheads="1"/>
          </p:cNvSpPr>
          <p:nvPr/>
        </p:nvSpPr>
        <p:spPr bwMode="auto">
          <a:xfrm>
            <a:off x="1115071" y="5675766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76" name="Group 2"/>
          <p:cNvGrpSpPr>
            <a:grpSpLocks/>
          </p:cNvGrpSpPr>
          <p:nvPr/>
        </p:nvGrpSpPr>
        <p:grpSpPr bwMode="auto">
          <a:xfrm>
            <a:off x="2013192" y="5751655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81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2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3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4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5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6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110" name="直接连接符 109"/>
          <p:cNvCxnSpPr/>
          <p:nvPr/>
        </p:nvCxnSpPr>
        <p:spPr>
          <a:xfrm flipV="1">
            <a:off x="2921646" y="5956753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/>
          <p:cNvSpPr/>
          <p:nvPr/>
        </p:nvSpPr>
        <p:spPr>
          <a:xfrm>
            <a:off x="3726509" y="5902778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4" name="文本框 56"/>
          <p:cNvSpPr txBox="1">
            <a:spLocks noChangeArrowheads="1"/>
          </p:cNvSpPr>
          <p:nvPr/>
        </p:nvSpPr>
        <p:spPr bwMode="auto">
          <a:xfrm>
            <a:off x="4096862" y="5742351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异步性</a:t>
            </a:r>
          </a:p>
        </p:txBody>
      </p:sp>
      <p:sp>
        <p:nvSpPr>
          <p:cNvPr id="116" name="文本框 57"/>
          <p:cNvSpPr txBox="1"/>
          <p:nvPr/>
        </p:nvSpPr>
        <p:spPr>
          <a:xfrm>
            <a:off x="4026350" y="1648563"/>
            <a:ext cx="7233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进程实体 </a:t>
            </a:r>
            <a:r>
              <a:rPr lang="en-US" altLang="zh-CN" sz="2000" dirty="0"/>
              <a:t>= </a:t>
            </a:r>
            <a:r>
              <a:rPr lang="en-US" altLang="zh-CN" sz="2000" dirty="0" err="1"/>
              <a:t>程序段</a:t>
            </a:r>
            <a:r>
              <a:rPr lang="en-US" altLang="zh-CN" sz="2000" dirty="0"/>
              <a:t> + </a:t>
            </a:r>
            <a:r>
              <a:rPr lang="en-US" altLang="zh-CN" sz="2000" dirty="0" err="1"/>
              <a:t>数据段</a:t>
            </a:r>
            <a:r>
              <a:rPr lang="en-US" altLang="zh-CN" sz="2000" dirty="0"/>
              <a:t>  + PCB</a:t>
            </a:r>
            <a:endParaRPr kumimoji="1" lang="zh-CN" altLang="en-US" sz="20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7" name="文本框 57"/>
          <p:cNvSpPr txBox="1"/>
          <p:nvPr/>
        </p:nvSpPr>
        <p:spPr>
          <a:xfrm>
            <a:off x="4096862" y="4987585"/>
            <a:ext cx="72330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进程实体是一个能独立运行、独立分配资源和独立接受调度的基本单位。</a:t>
            </a:r>
            <a:endParaRPr kumimoji="1" lang="zh-CN" altLang="en-US" sz="20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8" name="文本框 57"/>
          <p:cNvSpPr txBox="1"/>
          <p:nvPr/>
        </p:nvSpPr>
        <p:spPr>
          <a:xfrm>
            <a:off x="4018414" y="4089249"/>
            <a:ext cx="7233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多个进程实体同存于内存中，且能在一段时间内同时运行。</a:t>
            </a:r>
            <a:endParaRPr kumimoji="1" lang="zh-CN" altLang="en-US" sz="20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0" name="文本框 57"/>
          <p:cNvSpPr txBox="1"/>
          <p:nvPr/>
        </p:nvSpPr>
        <p:spPr>
          <a:xfrm>
            <a:off x="4026350" y="6171770"/>
            <a:ext cx="7233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进程可按各自独立的不可预知的速度往前推进</a:t>
            </a:r>
          </a:p>
        </p:txBody>
      </p:sp>
      <p:sp>
        <p:nvSpPr>
          <p:cNvPr id="121" name="文本框 57"/>
          <p:cNvSpPr txBox="1"/>
          <p:nvPr/>
        </p:nvSpPr>
        <p:spPr>
          <a:xfrm>
            <a:off x="4018414" y="2590066"/>
            <a:ext cx="72330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宋体" pitchFamily="2" charset="-122"/>
                <a:ea typeface="宋体" pitchFamily="2" charset="-122"/>
              </a:rPr>
              <a:t>进程的实质是进程实体的一次执行过程，</a:t>
            </a:r>
            <a:endParaRPr kumimoji="1"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0" lvl="2"/>
            <a:r>
              <a:rPr lang="zh-CN" altLang="en-US" sz="2000" dirty="0"/>
              <a:t>进程具有一定的生命周期：由创建而产生，由调度而执行，由撤消而消亡。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89112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7" grpId="0"/>
      <p:bldP spid="59" grpId="0"/>
      <p:bldP spid="114" grpId="0"/>
      <p:bldP spid="116" grpId="0"/>
      <p:bldP spid="117" grpId="0"/>
      <p:bldP spid="118" grpId="0"/>
      <p:bldP spid="120" grpId="0"/>
      <p:bldP spid="1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程序与进程的比较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96282" y="1667692"/>
            <a:ext cx="8082084" cy="1323439"/>
            <a:chOff x="4441403" y="2949022"/>
            <a:chExt cx="6892790" cy="1323439"/>
          </a:xfrm>
        </p:grpSpPr>
        <p:sp>
          <p:nvSpPr>
            <p:cNvPr id="14" name="矩形 4"/>
            <p:cNvSpPr/>
            <p:nvPr/>
          </p:nvSpPr>
          <p:spPr>
            <a:xfrm>
              <a:off x="4441403" y="2962114"/>
              <a:ext cx="3600000" cy="1293812"/>
            </a:xfrm>
            <a:custGeom>
              <a:avLst/>
              <a:gdLst/>
              <a:ahLst/>
              <a:cxnLst/>
              <a:rect l="l" t="t" r="r" b="b"/>
              <a:pathLst>
                <a:path w="1652588" h="1293812">
                  <a:moveTo>
                    <a:pt x="0" y="0"/>
                  </a:moveTo>
                  <a:lnTo>
                    <a:pt x="1295400" y="0"/>
                  </a:lnTo>
                  <a:lnTo>
                    <a:pt x="1295400" y="548878"/>
                  </a:lnTo>
                  <a:lnTo>
                    <a:pt x="1481932" y="548878"/>
                  </a:lnTo>
                  <a:lnTo>
                    <a:pt x="1481932" y="463550"/>
                  </a:lnTo>
                  <a:lnTo>
                    <a:pt x="1652588" y="634206"/>
                  </a:lnTo>
                  <a:lnTo>
                    <a:pt x="1481932" y="804862"/>
                  </a:lnTo>
                  <a:lnTo>
                    <a:pt x="1481932" y="719534"/>
                  </a:lnTo>
                  <a:lnTo>
                    <a:pt x="1295400" y="719534"/>
                  </a:lnTo>
                  <a:lnTo>
                    <a:pt x="1295400" y="1293812"/>
                  </a:lnTo>
                  <a:lnTo>
                    <a:pt x="0" y="1293812"/>
                  </a:lnTo>
                  <a:close/>
                </a:path>
              </a:pathLst>
            </a:custGeom>
            <a:gradFill>
              <a:gsLst>
                <a:gs pos="30000">
                  <a:srgbClr val="6DAA2D">
                    <a:lumMod val="60000"/>
                    <a:lumOff val="40000"/>
                  </a:srgbClr>
                </a:gs>
                <a:gs pos="100000">
                  <a:srgbClr val="6DAA2D"/>
                </a:gs>
              </a:gsLst>
              <a:lin ang="5400000" scaled="0"/>
            </a:gradFill>
            <a:ln w="31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0000" rIns="4500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zh-CN" altLang="en-US" sz="4400" b="1" kern="0" dirty="0">
                <a:solidFill>
                  <a:sysClr val="window" lastClr="FFFFFF"/>
                </a:solidFill>
                <a:latin typeface="Impact" pitchFamily="34" charset="0"/>
                <a:ea typeface="微软雅黑" pitchFamily="34" charset="-122"/>
              </a:endParaRPr>
            </a:p>
          </p:txBody>
        </p:sp>
        <p:sp>
          <p:nvSpPr>
            <p:cNvPr id="15" name="矩形 5"/>
            <p:cNvSpPr/>
            <p:nvPr/>
          </p:nvSpPr>
          <p:spPr bwMode="auto">
            <a:xfrm>
              <a:off x="7446193" y="2962114"/>
              <a:ext cx="3888000" cy="1293812"/>
            </a:xfrm>
            <a:custGeom>
              <a:avLst/>
              <a:gdLst/>
              <a:ahLst/>
              <a:cxnLst/>
              <a:rect l="l" t="t" r="r" b="b"/>
              <a:pathLst>
                <a:path w="1296144" h="1294420">
                  <a:moveTo>
                    <a:pt x="0" y="0"/>
                  </a:moveTo>
                  <a:lnTo>
                    <a:pt x="1296144" y="0"/>
                  </a:lnTo>
                  <a:lnTo>
                    <a:pt x="1296144" y="1294420"/>
                  </a:lnTo>
                  <a:lnTo>
                    <a:pt x="0" y="1294420"/>
                  </a:lnTo>
                  <a:lnTo>
                    <a:pt x="0" y="791226"/>
                  </a:lnTo>
                  <a:lnTo>
                    <a:pt x="50180" y="791226"/>
                  </a:lnTo>
                  <a:lnTo>
                    <a:pt x="50180" y="935242"/>
                  </a:lnTo>
                  <a:lnTo>
                    <a:pt x="338212" y="647210"/>
                  </a:lnTo>
                  <a:lnTo>
                    <a:pt x="50180" y="359178"/>
                  </a:lnTo>
                  <a:lnTo>
                    <a:pt x="50180" y="503194"/>
                  </a:lnTo>
                  <a:lnTo>
                    <a:pt x="0" y="503194"/>
                  </a:lnTo>
                  <a:close/>
                </a:path>
              </a:pathLst>
            </a:custGeom>
            <a:gradFill>
              <a:gsLst>
                <a:gs pos="33000">
                  <a:srgbClr val="F9F9F9"/>
                </a:gs>
                <a:gs pos="100000">
                  <a:srgbClr val="D7D7D7"/>
                </a:gs>
              </a:gsLst>
              <a:lin ang="5400000" scaled="0"/>
            </a:gradFill>
            <a:ln w="3175" cap="flat" cmpd="sng" algn="ctr">
              <a:solidFill>
                <a:srgbClr val="EAEAEA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Ins="900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defRPr/>
              </a:pPr>
              <a:endParaRPr lang="zh-CN" altLang="en-US" sz="4400" kern="0" dirty="0">
                <a:solidFill>
                  <a:srgbClr val="4D4D4D"/>
                </a:solidFill>
                <a:latin typeface="Impact" pitchFamily="34" charset="0"/>
                <a:ea typeface="微软雅黑" pitchFamily="34" charset="-122"/>
              </a:endParaRPr>
            </a:p>
          </p:txBody>
        </p:sp>
        <p:sp>
          <p:nvSpPr>
            <p:cNvPr id="16" name="Text Box 44"/>
            <p:cNvSpPr txBox="1">
              <a:spLocks noChangeArrowheads="1"/>
            </p:cNvSpPr>
            <p:nvPr/>
          </p:nvSpPr>
          <p:spPr bwMode="auto">
            <a:xfrm>
              <a:off x="4608816" y="2990840"/>
              <a:ext cx="2559064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bg1"/>
                  </a:solidFill>
                </a:rPr>
                <a:t>程序是静态的，是有序代码的集合，对应着文件、静态和可以复制</a:t>
              </a:r>
              <a:r>
                <a:rPr lang="zh-CN" altLang="en-US" sz="2000" b="1" dirty="0">
                  <a:solidFill>
                    <a:srgbClr val="76B531"/>
                  </a:solidFill>
                </a:rPr>
                <a:t>。</a:t>
              </a:r>
              <a:endParaRPr lang="en-US" altLang="zh-CN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 Box 44"/>
            <p:cNvSpPr txBox="1">
              <a:spLocks noChangeArrowheads="1"/>
            </p:cNvSpPr>
            <p:nvPr/>
          </p:nvSpPr>
          <p:spPr bwMode="auto">
            <a:xfrm>
              <a:off x="8401843" y="2949022"/>
              <a:ext cx="2932350" cy="1323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76B531"/>
                  </a:solidFill>
                </a:rPr>
                <a:t>进程是动态的，是程序的执行。通常进程不可在计算机间迁移。</a:t>
              </a:r>
              <a:endParaRPr lang="en-US" altLang="zh-CN" sz="2000" b="1" dirty="0">
                <a:solidFill>
                  <a:srgbClr val="76B531"/>
                </a:solidFill>
              </a:endParaRPr>
            </a:p>
            <a:p>
              <a:pPr indent="0"/>
              <a:endParaRPr lang="en-US" altLang="zh-CN" sz="2000" b="1" dirty="0">
                <a:solidFill>
                  <a:srgbClr val="76B53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96282" y="3246372"/>
            <a:ext cx="8082084" cy="1194517"/>
            <a:chOff x="4441403" y="2962114"/>
            <a:chExt cx="6892790" cy="1293812"/>
          </a:xfrm>
        </p:grpSpPr>
        <p:sp>
          <p:nvSpPr>
            <p:cNvPr id="10" name="矩形 4"/>
            <p:cNvSpPr/>
            <p:nvPr/>
          </p:nvSpPr>
          <p:spPr>
            <a:xfrm>
              <a:off x="4441403" y="2962114"/>
              <a:ext cx="3600000" cy="1293812"/>
            </a:xfrm>
            <a:custGeom>
              <a:avLst/>
              <a:gdLst/>
              <a:ahLst/>
              <a:cxnLst/>
              <a:rect l="l" t="t" r="r" b="b"/>
              <a:pathLst>
                <a:path w="1652588" h="1293812">
                  <a:moveTo>
                    <a:pt x="0" y="0"/>
                  </a:moveTo>
                  <a:lnTo>
                    <a:pt x="1295400" y="0"/>
                  </a:lnTo>
                  <a:lnTo>
                    <a:pt x="1295400" y="548878"/>
                  </a:lnTo>
                  <a:lnTo>
                    <a:pt x="1481932" y="548878"/>
                  </a:lnTo>
                  <a:lnTo>
                    <a:pt x="1481932" y="463550"/>
                  </a:lnTo>
                  <a:lnTo>
                    <a:pt x="1652588" y="634206"/>
                  </a:lnTo>
                  <a:lnTo>
                    <a:pt x="1481932" y="804862"/>
                  </a:lnTo>
                  <a:lnTo>
                    <a:pt x="1481932" y="719534"/>
                  </a:lnTo>
                  <a:lnTo>
                    <a:pt x="1295400" y="719534"/>
                  </a:lnTo>
                  <a:lnTo>
                    <a:pt x="1295400" y="1293812"/>
                  </a:lnTo>
                  <a:lnTo>
                    <a:pt x="0" y="1293812"/>
                  </a:lnTo>
                  <a:close/>
                </a:path>
              </a:pathLst>
            </a:custGeom>
            <a:gradFill>
              <a:gsLst>
                <a:gs pos="30000">
                  <a:srgbClr val="6DAA2D">
                    <a:lumMod val="60000"/>
                    <a:lumOff val="40000"/>
                  </a:srgbClr>
                </a:gs>
                <a:gs pos="100000">
                  <a:srgbClr val="6DAA2D"/>
                </a:gs>
              </a:gsLst>
              <a:lin ang="5400000" scaled="0"/>
            </a:gradFill>
            <a:ln w="31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0000" rIns="4500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zh-CN" altLang="en-US" sz="4400" b="1" kern="0" dirty="0">
                <a:solidFill>
                  <a:sysClr val="window" lastClr="FFFFFF"/>
                </a:solidFill>
                <a:latin typeface="Impact" pitchFamily="34" charset="0"/>
                <a:ea typeface="微软雅黑" pitchFamily="34" charset="-122"/>
              </a:endParaRPr>
            </a:p>
          </p:txBody>
        </p:sp>
        <p:sp>
          <p:nvSpPr>
            <p:cNvPr id="11" name="矩形 5"/>
            <p:cNvSpPr/>
            <p:nvPr/>
          </p:nvSpPr>
          <p:spPr bwMode="auto">
            <a:xfrm>
              <a:off x="7446193" y="2962114"/>
              <a:ext cx="3888000" cy="1293812"/>
            </a:xfrm>
            <a:custGeom>
              <a:avLst/>
              <a:gdLst/>
              <a:ahLst/>
              <a:cxnLst/>
              <a:rect l="l" t="t" r="r" b="b"/>
              <a:pathLst>
                <a:path w="1296144" h="1294420">
                  <a:moveTo>
                    <a:pt x="0" y="0"/>
                  </a:moveTo>
                  <a:lnTo>
                    <a:pt x="1296144" y="0"/>
                  </a:lnTo>
                  <a:lnTo>
                    <a:pt x="1296144" y="1294420"/>
                  </a:lnTo>
                  <a:lnTo>
                    <a:pt x="0" y="1294420"/>
                  </a:lnTo>
                  <a:lnTo>
                    <a:pt x="0" y="791226"/>
                  </a:lnTo>
                  <a:lnTo>
                    <a:pt x="50180" y="791226"/>
                  </a:lnTo>
                  <a:lnTo>
                    <a:pt x="50180" y="935242"/>
                  </a:lnTo>
                  <a:lnTo>
                    <a:pt x="338212" y="647210"/>
                  </a:lnTo>
                  <a:lnTo>
                    <a:pt x="50180" y="359178"/>
                  </a:lnTo>
                  <a:lnTo>
                    <a:pt x="50180" y="503194"/>
                  </a:lnTo>
                  <a:lnTo>
                    <a:pt x="0" y="503194"/>
                  </a:lnTo>
                  <a:close/>
                </a:path>
              </a:pathLst>
            </a:custGeom>
            <a:gradFill>
              <a:gsLst>
                <a:gs pos="33000">
                  <a:srgbClr val="F9F9F9"/>
                </a:gs>
                <a:gs pos="100000">
                  <a:srgbClr val="D7D7D7"/>
                </a:gs>
              </a:gsLst>
              <a:lin ang="5400000" scaled="0"/>
            </a:gradFill>
            <a:ln w="3175" cap="flat" cmpd="sng" algn="ctr">
              <a:solidFill>
                <a:srgbClr val="EAEAEA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Ins="900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defRPr/>
              </a:pPr>
              <a:endParaRPr lang="zh-CN" altLang="en-US" sz="4400" kern="0" dirty="0">
                <a:solidFill>
                  <a:srgbClr val="4D4D4D"/>
                </a:solidFill>
                <a:latin typeface="Impact" pitchFamily="34" charset="0"/>
                <a:ea typeface="微软雅黑" pitchFamily="34" charset="-122"/>
              </a:endParaRPr>
            </a:p>
          </p:txBody>
        </p:sp>
        <p:sp>
          <p:nvSpPr>
            <p:cNvPr id="12" name="Text Box 44"/>
            <p:cNvSpPr txBox="1">
              <a:spLocks noChangeArrowheads="1"/>
            </p:cNvSpPr>
            <p:nvPr/>
          </p:nvSpPr>
          <p:spPr bwMode="auto">
            <a:xfrm>
              <a:off x="4608816" y="3140968"/>
              <a:ext cx="2559064" cy="766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chemeClr val="bg1"/>
                  </a:solidFill>
                </a:rPr>
                <a:t>程序是永久的，可永久保存。</a:t>
              </a:r>
              <a:endParaRPr lang="en-US" altLang="zh-CN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 Box 44"/>
            <p:cNvSpPr txBox="1">
              <a:spLocks noChangeArrowheads="1"/>
            </p:cNvSpPr>
            <p:nvPr/>
          </p:nvSpPr>
          <p:spPr bwMode="auto">
            <a:xfrm>
              <a:off x="8401843" y="3109394"/>
              <a:ext cx="2932350" cy="11000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76B531"/>
                  </a:solidFill>
                </a:rPr>
                <a:t>进程是暂时的。是一个状态变化的过程。一个进程可以执行一个或多个程序</a:t>
              </a:r>
              <a:endParaRPr lang="en-US" altLang="zh-CN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96282" y="4716424"/>
            <a:ext cx="8082084" cy="1293812"/>
            <a:chOff x="4441403" y="2962114"/>
            <a:chExt cx="6892790" cy="1293812"/>
          </a:xfrm>
        </p:grpSpPr>
        <p:sp>
          <p:nvSpPr>
            <p:cNvPr id="6" name="矩形 4"/>
            <p:cNvSpPr/>
            <p:nvPr/>
          </p:nvSpPr>
          <p:spPr>
            <a:xfrm>
              <a:off x="4441403" y="2962114"/>
              <a:ext cx="3600000" cy="1293812"/>
            </a:xfrm>
            <a:custGeom>
              <a:avLst/>
              <a:gdLst/>
              <a:ahLst/>
              <a:cxnLst/>
              <a:rect l="l" t="t" r="r" b="b"/>
              <a:pathLst>
                <a:path w="1652588" h="1293812">
                  <a:moveTo>
                    <a:pt x="0" y="0"/>
                  </a:moveTo>
                  <a:lnTo>
                    <a:pt x="1295400" y="0"/>
                  </a:lnTo>
                  <a:lnTo>
                    <a:pt x="1295400" y="548878"/>
                  </a:lnTo>
                  <a:lnTo>
                    <a:pt x="1481932" y="548878"/>
                  </a:lnTo>
                  <a:lnTo>
                    <a:pt x="1481932" y="463550"/>
                  </a:lnTo>
                  <a:lnTo>
                    <a:pt x="1652588" y="634206"/>
                  </a:lnTo>
                  <a:lnTo>
                    <a:pt x="1481932" y="804862"/>
                  </a:lnTo>
                  <a:lnTo>
                    <a:pt x="1481932" y="719534"/>
                  </a:lnTo>
                  <a:lnTo>
                    <a:pt x="1295400" y="719534"/>
                  </a:lnTo>
                  <a:lnTo>
                    <a:pt x="1295400" y="1293812"/>
                  </a:lnTo>
                  <a:lnTo>
                    <a:pt x="0" y="1293812"/>
                  </a:lnTo>
                  <a:close/>
                </a:path>
              </a:pathLst>
            </a:custGeom>
            <a:gradFill>
              <a:gsLst>
                <a:gs pos="30000">
                  <a:srgbClr val="6DAA2D">
                    <a:lumMod val="60000"/>
                    <a:lumOff val="40000"/>
                  </a:srgbClr>
                </a:gs>
                <a:gs pos="100000">
                  <a:srgbClr val="6DAA2D"/>
                </a:gs>
              </a:gsLst>
              <a:lin ang="5400000" scaled="0"/>
            </a:gradFill>
            <a:ln w="31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0000" rIns="4500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zh-CN" altLang="en-US" sz="4400" b="1" kern="0" dirty="0">
                <a:solidFill>
                  <a:sysClr val="window" lastClr="FFFFFF"/>
                </a:solidFill>
                <a:latin typeface="Impact" pitchFamily="34" charset="0"/>
                <a:ea typeface="微软雅黑" pitchFamily="34" charset="-122"/>
              </a:endParaRPr>
            </a:p>
          </p:txBody>
        </p:sp>
        <p:sp>
          <p:nvSpPr>
            <p:cNvPr id="7" name="矩形 5"/>
            <p:cNvSpPr/>
            <p:nvPr/>
          </p:nvSpPr>
          <p:spPr bwMode="auto">
            <a:xfrm>
              <a:off x="7446193" y="2962114"/>
              <a:ext cx="3888000" cy="1293812"/>
            </a:xfrm>
            <a:custGeom>
              <a:avLst/>
              <a:gdLst/>
              <a:ahLst/>
              <a:cxnLst/>
              <a:rect l="l" t="t" r="r" b="b"/>
              <a:pathLst>
                <a:path w="1296144" h="1294420">
                  <a:moveTo>
                    <a:pt x="0" y="0"/>
                  </a:moveTo>
                  <a:lnTo>
                    <a:pt x="1296144" y="0"/>
                  </a:lnTo>
                  <a:lnTo>
                    <a:pt x="1296144" y="1294420"/>
                  </a:lnTo>
                  <a:lnTo>
                    <a:pt x="0" y="1294420"/>
                  </a:lnTo>
                  <a:lnTo>
                    <a:pt x="0" y="791226"/>
                  </a:lnTo>
                  <a:lnTo>
                    <a:pt x="50180" y="791226"/>
                  </a:lnTo>
                  <a:lnTo>
                    <a:pt x="50180" y="935242"/>
                  </a:lnTo>
                  <a:lnTo>
                    <a:pt x="338212" y="647210"/>
                  </a:lnTo>
                  <a:lnTo>
                    <a:pt x="50180" y="359178"/>
                  </a:lnTo>
                  <a:lnTo>
                    <a:pt x="50180" y="503194"/>
                  </a:lnTo>
                  <a:lnTo>
                    <a:pt x="0" y="503194"/>
                  </a:lnTo>
                  <a:close/>
                </a:path>
              </a:pathLst>
            </a:custGeom>
            <a:gradFill>
              <a:gsLst>
                <a:gs pos="33000">
                  <a:srgbClr val="F9F9F9"/>
                </a:gs>
                <a:gs pos="100000">
                  <a:srgbClr val="D7D7D7"/>
                </a:gs>
              </a:gsLst>
              <a:lin ang="5400000" scaled="0"/>
            </a:gradFill>
            <a:ln w="3175" cap="flat" cmpd="sng" algn="ctr">
              <a:solidFill>
                <a:srgbClr val="EAEAEA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Ins="900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defRPr/>
              </a:pPr>
              <a:endParaRPr lang="zh-CN" altLang="en-US" sz="4400" kern="0" dirty="0">
                <a:solidFill>
                  <a:srgbClr val="4D4D4D"/>
                </a:solidFill>
                <a:latin typeface="Impact" pitchFamily="34" charset="0"/>
                <a:ea typeface="微软雅黑" pitchFamily="34" charset="-122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4608816" y="3140968"/>
              <a:ext cx="255906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bg1"/>
                  </a:solidFill>
                </a:rPr>
                <a:t>程序只能顺序执行。</a:t>
              </a:r>
              <a:endParaRPr lang="en-US" altLang="zh-CN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 Box 44"/>
            <p:cNvSpPr txBox="1">
              <a:spLocks noChangeArrowheads="1"/>
            </p:cNvSpPr>
            <p:nvPr/>
          </p:nvSpPr>
          <p:spPr bwMode="auto">
            <a:xfrm>
              <a:off x="8401843" y="3099150"/>
              <a:ext cx="2932350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/>
              <a:r>
                <a:rPr lang="zh-CN" altLang="en-US" sz="2000" b="1" dirty="0">
                  <a:solidFill>
                    <a:srgbClr val="76B531"/>
                  </a:solidFill>
                </a:rPr>
                <a:t>进程是系统分配调度的独立单位，可与其他进程并发执行。</a:t>
              </a:r>
              <a:endParaRPr lang="en-US" altLang="zh-CN" sz="2000" b="1" dirty="0">
                <a:solidFill>
                  <a:srgbClr val="76B531"/>
                </a:solidFill>
              </a:endParaRPr>
            </a:p>
          </p:txBody>
        </p:sp>
      </p:grpSp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5717381" y="986255"/>
            <a:ext cx="108156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</a:pPr>
            <a:r>
              <a:rPr lang="zh-CN" altLang="en-US" sz="3200" b="1" dirty="0">
                <a:solidFill>
                  <a:srgbClr val="00BD3C"/>
                </a:solidFill>
              </a:rPr>
              <a:t>进程</a:t>
            </a:r>
            <a:endParaRPr lang="en-US" altLang="zh-CN" sz="3200" b="1" dirty="0">
              <a:solidFill>
                <a:srgbClr val="00BD3C"/>
              </a:solidFill>
            </a:endParaRPr>
          </a:p>
        </p:txBody>
      </p:sp>
      <p:sp>
        <p:nvSpPr>
          <p:cNvPr id="19" name="Text Box 44"/>
          <p:cNvSpPr txBox="1">
            <a:spLocks noChangeArrowheads="1"/>
          </p:cNvSpPr>
          <p:nvPr/>
        </p:nvSpPr>
        <p:spPr bwMode="auto">
          <a:xfrm>
            <a:off x="2369681" y="986256"/>
            <a:ext cx="108156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</a:pPr>
            <a:r>
              <a:rPr lang="zh-CN" altLang="en-US" sz="3200" b="1" dirty="0">
                <a:solidFill>
                  <a:srgbClr val="00BD3C"/>
                </a:solidFill>
              </a:rPr>
              <a:t>程序</a:t>
            </a:r>
            <a:endParaRPr lang="en-US" altLang="zh-CN" sz="3200" b="1" dirty="0">
              <a:solidFill>
                <a:srgbClr val="00BD3C"/>
              </a:solidFill>
            </a:endParaRPr>
          </a:p>
        </p:txBody>
      </p:sp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4231404" y="987230"/>
            <a:ext cx="10815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</a:pPr>
            <a:r>
              <a:rPr lang="en-US" altLang="zh-CN" sz="2800" b="1" dirty="0">
                <a:solidFill>
                  <a:srgbClr val="00BD3C"/>
                </a:solidFill>
              </a:rPr>
              <a:t>PK</a:t>
            </a:r>
          </a:p>
        </p:txBody>
      </p:sp>
      <p:grpSp>
        <p:nvGrpSpPr>
          <p:cNvPr id="21" name="深色1"/>
          <p:cNvGrpSpPr/>
          <p:nvPr/>
        </p:nvGrpSpPr>
        <p:grpSpPr>
          <a:xfrm>
            <a:off x="9347825" y="1673865"/>
            <a:ext cx="2558493" cy="604800"/>
            <a:chOff x="1516381" y="1647128"/>
            <a:chExt cx="1886034" cy="604800"/>
          </a:xfrm>
        </p:grpSpPr>
        <p:grpSp>
          <p:nvGrpSpPr>
            <p:cNvPr id="26" name="组合 25"/>
            <p:cNvGrpSpPr/>
            <p:nvPr/>
          </p:nvGrpSpPr>
          <p:grpSpPr>
            <a:xfrm>
              <a:off x="1516381" y="1647128"/>
              <a:ext cx="1886034" cy="604800"/>
              <a:chOff x="1985713" y="1196752"/>
              <a:chExt cx="361172" cy="353896"/>
            </a:xfrm>
          </p:grpSpPr>
          <p:sp>
            <p:nvSpPr>
              <p:cNvPr id="28" name="Rectangle 22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61172" cy="353896"/>
              </a:xfrm>
              <a:prstGeom prst="round2SameRect">
                <a:avLst/>
              </a:prstGeom>
              <a:gradFill rotWithShape="1">
                <a:gsLst>
                  <a:gs pos="0">
                    <a:srgbClr val="6DAA2D"/>
                  </a:gs>
                  <a:gs pos="100000">
                    <a:srgbClr val="6DAA2D">
                      <a:lumMod val="60000"/>
                      <a:lumOff val="40000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29" name="AutoShape 10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53000" cy="182522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DAA2D">
                      <a:lumMod val="60000"/>
                      <a:lumOff val="40000"/>
                      <a:alpha val="4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27" name="TextBox 65"/>
            <p:cNvSpPr txBox="1"/>
            <p:nvPr/>
          </p:nvSpPr>
          <p:spPr>
            <a:xfrm>
              <a:off x="1936958" y="1750637"/>
              <a:ext cx="1037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zh-CN" altLang="en-US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进程的定义 </a:t>
              </a:r>
            </a:p>
          </p:txBody>
        </p:sp>
      </p:grpSp>
      <p:grpSp>
        <p:nvGrpSpPr>
          <p:cNvPr id="22" name="文本1"/>
          <p:cNvGrpSpPr/>
          <p:nvPr/>
        </p:nvGrpSpPr>
        <p:grpSpPr>
          <a:xfrm>
            <a:off x="9347824" y="2288190"/>
            <a:ext cx="2544222" cy="3866950"/>
            <a:chOff x="1504506" y="2261453"/>
            <a:chExt cx="1875514" cy="1843472"/>
          </a:xfrm>
        </p:grpSpPr>
        <p:sp>
          <p:nvSpPr>
            <p:cNvPr id="24" name="矩形 23"/>
            <p:cNvSpPr/>
            <p:nvPr/>
          </p:nvSpPr>
          <p:spPr>
            <a:xfrm>
              <a:off x="1515026" y="2261453"/>
              <a:ext cx="1864994" cy="1671603"/>
            </a:xfrm>
            <a:prstGeom prst="rect">
              <a:avLst/>
            </a:prstGeom>
            <a:gradFill rotWithShape="1">
              <a:gsLst>
                <a:gs pos="0">
                  <a:srgbClr val="F9F9F9"/>
                </a:gs>
                <a:gs pos="100000">
                  <a:srgbClr val="EAEAEA"/>
                </a:gs>
              </a:gsLst>
              <a:lin ang="5400000" scaled="1"/>
            </a:gradFill>
            <a:ln w="19050">
              <a:solidFill>
                <a:srgbClr val="EAEAEA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lvl="1" indent="-171450">
                <a:lnSpc>
                  <a:spcPct val="150000"/>
                </a:lnSpc>
                <a:buFont typeface="Arial" pitchFamily="34" charset="0"/>
                <a:buChar char="•"/>
              </a:pPr>
              <a:endParaRPr lang="zh-CN" altLang="en-US" sz="14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AutoShape 20"/>
            <p:cNvSpPr>
              <a:spLocks noChangeArrowheads="1"/>
            </p:cNvSpPr>
            <p:nvPr/>
          </p:nvSpPr>
          <p:spPr bwMode="auto">
            <a:xfrm>
              <a:off x="1504506" y="3933056"/>
              <a:ext cx="1875514" cy="171869"/>
            </a:xfrm>
            <a:custGeom>
              <a:avLst/>
              <a:gdLst>
                <a:gd name="T0" fmla="*/ 856 w 21600"/>
                <a:gd name="T1" fmla="*/ 1 h 21600"/>
                <a:gd name="T2" fmla="*/ 439 w 21600"/>
                <a:gd name="T3" fmla="*/ 2 h 21600"/>
                <a:gd name="T4" fmla="*/ 22 w 21600"/>
                <a:gd name="T5" fmla="*/ 1 h 21600"/>
                <a:gd name="T6" fmla="*/ 43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37 w 21600"/>
                <a:gd name="T13" fmla="*/ 2387 h 21600"/>
                <a:gd name="T14" fmla="*/ 19263 w 21600"/>
                <a:gd name="T15" fmla="*/ 192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72" y="21600"/>
                  </a:lnTo>
                  <a:lnTo>
                    <a:pt x="2052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ea typeface="微软雅黑" pitchFamily="34" charset="-122"/>
              </a:endParaRPr>
            </a:p>
          </p:txBody>
        </p:sp>
      </p:grpSp>
      <p:sp>
        <p:nvSpPr>
          <p:cNvPr id="23" name="TextBox 1"/>
          <p:cNvSpPr txBox="1"/>
          <p:nvPr/>
        </p:nvSpPr>
        <p:spPr>
          <a:xfrm>
            <a:off x="9414346" y="2372458"/>
            <a:ext cx="2448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进程是一个</a:t>
            </a:r>
            <a:r>
              <a:rPr lang="zh-CN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可并发执行</a:t>
            </a:r>
            <a:r>
              <a:rPr lang="zh-CN" altLang="en-US" sz="2400" dirty="0"/>
              <a:t>的</a:t>
            </a:r>
            <a:r>
              <a:rPr lang="zh-CN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程序</a:t>
            </a:r>
            <a:r>
              <a:rPr lang="zh-CN" altLang="en-US" sz="2400" dirty="0"/>
              <a:t>，在一个数据集合上的</a:t>
            </a:r>
            <a:r>
              <a:rPr lang="zh-CN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一次运行过程</a:t>
            </a:r>
            <a:r>
              <a:rPr lang="zh-CN" altLang="en-US" sz="2400" dirty="0"/>
              <a:t>。它是系统进行资源分配和调度的一个</a:t>
            </a:r>
            <a:r>
              <a:rPr lang="zh-CN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独立单位。</a:t>
            </a:r>
          </a:p>
        </p:txBody>
      </p:sp>
    </p:spTree>
    <p:extLst>
      <p:ext uri="{BB962C8B-B14F-4D97-AF65-F5344CB8AC3E}">
        <p14:creationId xmlns:p14="http://schemas.microsoft.com/office/powerpoint/2010/main" val="425466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进程的三种基本状态及转换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363212" y="3428023"/>
            <a:ext cx="3465675" cy="1808882"/>
            <a:chOff x="2732611" y="4284414"/>
            <a:chExt cx="3465675" cy="1808882"/>
          </a:xfrm>
        </p:grpSpPr>
        <p:sp>
          <p:nvSpPr>
            <p:cNvPr id="26" name="六边形 25"/>
            <p:cNvSpPr/>
            <p:nvPr/>
          </p:nvSpPr>
          <p:spPr>
            <a:xfrm>
              <a:off x="2745674" y="4375855"/>
              <a:ext cx="1336469" cy="1152128"/>
            </a:xfrm>
            <a:prstGeom prst="hexagon">
              <a:avLst/>
            </a:prstGeom>
            <a:gradFill flip="none" rotWithShape="1">
              <a:gsLst>
                <a:gs pos="0">
                  <a:srgbClr val="00B0F0"/>
                </a:gs>
                <a:gs pos="41000">
                  <a:srgbClr val="007DDA"/>
                </a:gs>
                <a:gs pos="97000">
                  <a:srgbClr val="00569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六边形 26"/>
            <p:cNvSpPr/>
            <p:nvPr/>
          </p:nvSpPr>
          <p:spPr>
            <a:xfrm>
              <a:off x="2732611" y="4297477"/>
              <a:ext cx="1336469" cy="1152128"/>
            </a:xfrm>
            <a:prstGeom prst="hexagon">
              <a:avLst/>
            </a:prstGeom>
            <a:gradFill flip="none" rotWithShape="1">
              <a:gsLst>
                <a:gs pos="0">
                  <a:srgbClr val="57D3FF"/>
                </a:gs>
                <a:gs pos="71000">
                  <a:srgbClr val="00B0F0"/>
                </a:gs>
                <a:gs pos="97000">
                  <a:srgbClr val="0091FE"/>
                </a:gs>
              </a:gsLst>
              <a:path path="rect">
                <a:fillToRect l="100000" t="100000"/>
              </a:path>
              <a:tileRect r="-100000" b="-100000"/>
            </a:gradFill>
            <a:ln w="63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六边形 27"/>
            <p:cNvSpPr/>
            <p:nvPr/>
          </p:nvSpPr>
          <p:spPr>
            <a:xfrm>
              <a:off x="4861817" y="4362792"/>
              <a:ext cx="1336469" cy="1152128"/>
            </a:xfrm>
            <a:prstGeom prst="hexagon">
              <a:avLst/>
            </a:prstGeom>
            <a:gradFill flip="none" rotWithShape="1">
              <a:gsLst>
                <a:gs pos="0">
                  <a:srgbClr val="A8E53B"/>
                </a:gs>
                <a:gs pos="55000">
                  <a:srgbClr val="679D07"/>
                </a:gs>
                <a:gs pos="97000">
                  <a:srgbClr val="41630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六边形 28"/>
            <p:cNvSpPr/>
            <p:nvPr/>
          </p:nvSpPr>
          <p:spPr>
            <a:xfrm>
              <a:off x="4848754" y="4284414"/>
              <a:ext cx="1336469" cy="1152128"/>
            </a:xfrm>
            <a:prstGeom prst="hexagon">
              <a:avLst/>
            </a:prstGeom>
            <a:gradFill flip="none" rotWithShape="1">
              <a:gsLst>
                <a:gs pos="0">
                  <a:srgbClr val="A8E53B"/>
                </a:gs>
                <a:gs pos="70000">
                  <a:srgbClr val="A1B90F"/>
                </a:gs>
                <a:gs pos="97000">
                  <a:srgbClr val="6FA808"/>
                </a:gs>
              </a:gsLst>
              <a:path path="rect">
                <a:fillToRect l="100000" t="100000"/>
              </a:path>
              <a:tileRect r="-100000" b="-100000"/>
            </a:gradFill>
            <a:ln w="63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六边形 29"/>
            <p:cNvSpPr/>
            <p:nvPr/>
          </p:nvSpPr>
          <p:spPr>
            <a:xfrm>
              <a:off x="3811595" y="4941168"/>
              <a:ext cx="1336469" cy="1152128"/>
            </a:xfrm>
            <a:prstGeom prst="hexagon">
              <a:avLst/>
            </a:prstGeom>
            <a:gradFill flip="none" rotWithShape="1">
              <a:gsLst>
                <a:gs pos="0">
                  <a:srgbClr val="C49500"/>
                </a:gs>
                <a:gs pos="32000">
                  <a:srgbClr val="E06B0A"/>
                </a:gs>
                <a:gs pos="97000">
                  <a:srgbClr val="884106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六边形 30"/>
            <p:cNvSpPr/>
            <p:nvPr/>
          </p:nvSpPr>
          <p:spPr>
            <a:xfrm>
              <a:off x="3798532" y="4862790"/>
              <a:ext cx="1336469" cy="1152128"/>
            </a:xfrm>
            <a:prstGeom prst="hexagon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 31"/>
          <p:cNvSpPr/>
          <p:nvPr/>
        </p:nvSpPr>
        <p:spPr>
          <a:xfrm>
            <a:off x="1073017" y="1210548"/>
            <a:ext cx="2041399" cy="1580641"/>
          </a:xfrm>
          <a:prstGeom prst="rect">
            <a:avLst/>
          </a:prstGeom>
          <a:gradFill flip="none" rotWithShape="1">
            <a:gsLst>
              <a:gs pos="0">
                <a:srgbClr val="57D3FF"/>
              </a:gs>
              <a:gs pos="71000">
                <a:srgbClr val="00B0F0"/>
              </a:gs>
              <a:gs pos="97000">
                <a:srgbClr val="0091FE"/>
              </a:gs>
            </a:gsLst>
            <a:path path="rect">
              <a:fillToRect l="100000" t="100000"/>
            </a:path>
            <a:tileRect r="-100000" b="-100000"/>
          </a:gra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137871" y="1210548"/>
            <a:ext cx="2041399" cy="1580641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71000">
                <a:schemeClr val="accent6"/>
              </a:gs>
              <a:gs pos="97000">
                <a:srgbClr val="F28416"/>
              </a:gs>
            </a:gsLst>
            <a:path path="rect">
              <a:fillToRect l="100000" t="100000"/>
            </a:path>
            <a:tileRect r="-100000" b="-100000"/>
          </a:gra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202725" y="1210548"/>
            <a:ext cx="2496974" cy="1580641"/>
          </a:xfrm>
          <a:prstGeom prst="rect">
            <a:avLst/>
          </a:prstGeom>
          <a:gradFill flip="none" rotWithShape="1">
            <a:gsLst>
              <a:gs pos="0">
                <a:srgbClr val="A8E53B"/>
              </a:gs>
              <a:gs pos="70000">
                <a:srgbClr val="A1B90F"/>
              </a:gs>
              <a:gs pos="97000">
                <a:srgbClr val="6FA808"/>
              </a:gs>
            </a:gsLst>
            <a:path path="rect">
              <a:fillToRect l="100000" t="100000"/>
            </a:path>
            <a:tileRect r="-100000" b="-100000"/>
          </a:gra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171662" y="1286928"/>
            <a:ext cx="1844106" cy="1427878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3236516" y="1286928"/>
            <a:ext cx="1844106" cy="1427878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274073" y="1286928"/>
            <a:ext cx="2289147" cy="1427878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2545673" y="3806359"/>
            <a:ext cx="106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就绪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6598" y="4364694"/>
            <a:ext cx="106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执行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460" y="3786318"/>
            <a:ext cx="106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阻塞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71663" y="1241607"/>
            <a:ext cx="1873418" cy="2813637"/>
            <a:chOff x="1171663" y="1241607"/>
            <a:chExt cx="1873418" cy="2813637"/>
          </a:xfrm>
        </p:grpSpPr>
        <p:sp>
          <p:nvSpPr>
            <p:cNvPr id="41" name="TextBox 40"/>
            <p:cNvSpPr txBox="1"/>
            <p:nvPr/>
          </p:nvSpPr>
          <p:spPr>
            <a:xfrm>
              <a:off x="1171663" y="1241607"/>
              <a:ext cx="187341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当进程已分配到除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以外的所有资源后，只要再获得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，便可立即执行，进程这时的状态称为就绪状态。 </a:t>
              </a:r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1994234" y="2825078"/>
              <a:ext cx="404949" cy="1230166"/>
            </a:xfrm>
            <a:custGeom>
              <a:avLst/>
              <a:gdLst>
                <a:gd name="connsiteX0" fmla="*/ 404949 w 404949"/>
                <a:gd name="connsiteY0" fmla="*/ 1737360 h 1737360"/>
                <a:gd name="connsiteX1" fmla="*/ 0 w 404949"/>
                <a:gd name="connsiteY1" fmla="*/ 1737360 h 1737360"/>
                <a:gd name="connsiteX2" fmla="*/ 0 w 404949"/>
                <a:gd name="connsiteY2" fmla="*/ 0 h 173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949" h="1737360">
                  <a:moveTo>
                    <a:pt x="404949" y="1737360"/>
                  </a:moveTo>
                  <a:lnTo>
                    <a:pt x="0" y="1737360"/>
                  </a:lnTo>
                  <a:lnTo>
                    <a:pt x="0" y="0"/>
                  </a:lnTo>
                </a:path>
              </a:pathLst>
            </a:custGeom>
            <a:noFill/>
            <a:ln w="57150">
              <a:solidFill>
                <a:schemeClr val="bg1">
                  <a:lumMod val="75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315017" y="1286928"/>
            <a:ext cx="2289147" cy="2782474"/>
            <a:chOff x="5315017" y="1286928"/>
            <a:chExt cx="2289147" cy="2782474"/>
          </a:xfrm>
        </p:grpSpPr>
        <p:sp>
          <p:nvSpPr>
            <p:cNvPr id="43" name="TextBox 42"/>
            <p:cNvSpPr txBox="1"/>
            <p:nvPr/>
          </p:nvSpPr>
          <p:spPr>
            <a:xfrm>
              <a:off x="5315017" y="1286928"/>
              <a:ext cx="2289147" cy="1372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正在执行的进程由于发生某事件而暂时无法继续执行时，便放弃处理机而处于暂停状态。</a:t>
              </a:r>
            </a:p>
          </p:txBody>
        </p:sp>
        <p:sp>
          <p:nvSpPr>
            <p:cNvPr id="45" name="任意多边形 44"/>
            <p:cNvSpPr/>
            <p:nvPr/>
          </p:nvSpPr>
          <p:spPr>
            <a:xfrm flipH="1">
              <a:off x="5858040" y="2825078"/>
              <a:ext cx="404949" cy="1244324"/>
            </a:xfrm>
            <a:custGeom>
              <a:avLst/>
              <a:gdLst>
                <a:gd name="connsiteX0" fmla="*/ 404949 w 404949"/>
                <a:gd name="connsiteY0" fmla="*/ 1737360 h 1737360"/>
                <a:gd name="connsiteX1" fmla="*/ 0 w 404949"/>
                <a:gd name="connsiteY1" fmla="*/ 1737360 h 1737360"/>
                <a:gd name="connsiteX2" fmla="*/ 0 w 404949"/>
                <a:gd name="connsiteY2" fmla="*/ 0 h 173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949" h="1737360">
                  <a:moveTo>
                    <a:pt x="404949" y="1737360"/>
                  </a:moveTo>
                  <a:lnTo>
                    <a:pt x="0" y="1737360"/>
                  </a:lnTo>
                  <a:lnTo>
                    <a:pt x="0" y="0"/>
                  </a:lnTo>
                </a:path>
              </a:pathLst>
            </a:custGeom>
            <a:noFill/>
            <a:ln w="57150">
              <a:solidFill>
                <a:schemeClr val="bg1">
                  <a:lumMod val="75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36517" y="1541863"/>
            <a:ext cx="1844106" cy="2462226"/>
            <a:chOff x="3236517" y="1541863"/>
            <a:chExt cx="1844106" cy="2462226"/>
          </a:xfrm>
        </p:grpSpPr>
        <p:sp>
          <p:nvSpPr>
            <p:cNvPr id="42" name="TextBox 41"/>
            <p:cNvSpPr txBox="1"/>
            <p:nvPr/>
          </p:nvSpPr>
          <p:spPr>
            <a:xfrm>
              <a:off x="3236517" y="1541863"/>
              <a:ext cx="18441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进程已获得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，其程序正在执行。 </a:t>
              </a:r>
            </a:p>
          </p:txBody>
        </p:sp>
        <p:cxnSp>
          <p:nvCxnSpPr>
            <p:cNvPr id="46" name="直接连接符 45"/>
            <p:cNvCxnSpPr/>
            <p:nvPr/>
          </p:nvCxnSpPr>
          <p:spPr>
            <a:xfrm flipH="1" flipV="1">
              <a:off x="4110430" y="2825078"/>
              <a:ext cx="26629" cy="1179011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8" name="AutoShape 22"/>
          <p:cNvSpPr>
            <a:spLocks noChangeArrowheads="1"/>
          </p:cNvSpPr>
          <p:nvPr/>
        </p:nvSpPr>
        <p:spPr bwMode="auto">
          <a:xfrm>
            <a:off x="2715904" y="5394408"/>
            <a:ext cx="2999481" cy="924505"/>
          </a:xfrm>
          <a:prstGeom prst="wedgeRoundRectCallout">
            <a:avLst>
              <a:gd name="adj1" fmla="val -2772"/>
              <a:gd name="adj2" fmla="val -6077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zh-CN" altLang="en-US" sz="2400" dirty="0">
                <a:ea typeface="华文楷体" pitchFamily="2" charset="-122"/>
              </a:rPr>
              <a:t>每个处理机最多只允许一个进程执行。</a:t>
            </a:r>
          </a:p>
        </p:txBody>
      </p:sp>
      <p:sp>
        <p:nvSpPr>
          <p:cNvPr id="49" name="Oval 6"/>
          <p:cNvSpPr>
            <a:spLocks noChangeArrowheads="1"/>
          </p:cNvSpPr>
          <p:nvPr/>
        </p:nvSpPr>
        <p:spPr bwMode="auto">
          <a:xfrm>
            <a:off x="8792333" y="2806360"/>
            <a:ext cx="719137" cy="6477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>
                <a:solidFill>
                  <a:schemeClr val="bg1"/>
                </a:solidFill>
              </a:rPr>
              <a:t>就绪</a:t>
            </a:r>
          </a:p>
        </p:txBody>
      </p:sp>
      <p:sp>
        <p:nvSpPr>
          <p:cNvPr id="50" name="Oval 7"/>
          <p:cNvSpPr>
            <a:spLocks noChangeArrowheads="1"/>
          </p:cNvSpPr>
          <p:nvPr/>
        </p:nvSpPr>
        <p:spPr bwMode="auto">
          <a:xfrm>
            <a:off x="10305220" y="4678022"/>
            <a:ext cx="719138" cy="6477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>
                <a:solidFill>
                  <a:schemeClr val="bg1"/>
                </a:solidFill>
              </a:rPr>
              <a:t>执行</a:t>
            </a:r>
          </a:p>
        </p:txBody>
      </p:sp>
      <p:sp>
        <p:nvSpPr>
          <p:cNvPr id="51" name="Oval 8"/>
          <p:cNvSpPr>
            <a:spLocks noChangeArrowheads="1"/>
          </p:cNvSpPr>
          <p:nvPr/>
        </p:nvSpPr>
        <p:spPr bwMode="auto">
          <a:xfrm>
            <a:off x="7352470" y="4678022"/>
            <a:ext cx="719138" cy="6477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>
                <a:solidFill>
                  <a:schemeClr val="bg1"/>
                </a:solidFill>
              </a:rPr>
              <a:t>阻塞</a:t>
            </a:r>
          </a:p>
        </p:txBody>
      </p:sp>
      <p:cxnSp>
        <p:nvCxnSpPr>
          <p:cNvPr id="52" name="AutoShape 9"/>
          <p:cNvCxnSpPr>
            <a:cxnSpLocks noChangeShapeType="1"/>
            <a:stCxn id="51" idx="0"/>
            <a:endCxn id="49" idx="2"/>
          </p:cNvCxnSpPr>
          <p:nvPr/>
        </p:nvCxnSpPr>
        <p:spPr bwMode="auto">
          <a:xfrm rot="16200000">
            <a:off x="7478677" y="3364366"/>
            <a:ext cx="1547812" cy="1079500"/>
          </a:xfrm>
          <a:prstGeom prst="curvedConnector2">
            <a:avLst/>
          </a:prstGeom>
          <a:ln>
            <a:headEnd/>
            <a:tailEnd type="triangl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cxnSp>
      <p:cxnSp>
        <p:nvCxnSpPr>
          <p:cNvPr id="53" name="AutoShape 10"/>
          <p:cNvCxnSpPr>
            <a:cxnSpLocks noChangeShapeType="1"/>
            <a:stCxn id="50" idx="0"/>
            <a:endCxn id="49" idx="6"/>
          </p:cNvCxnSpPr>
          <p:nvPr/>
        </p:nvCxnSpPr>
        <p:spPr bwMode="auto">
          <a:xfrm rot="5400000" flipH="1">
            <a:off x="9314621" y="3327059"/>
            <a:ext cx="1547812" cy="1154113"/>
          </a:xfrm>
          <a:prstGeom prst="curvedConnector2">
            <a:avLst/>
          </a:prstGeom>
          <a:ln>
            <a:headEnd/>
            <a:tailEnd type="triangl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cxnSp>
      <p:cxnSp>
        <p:nvCxnSpPr>
          <p:cNvPr id="54" name="AutoShape 11"/>
          <p:cNvCxnSpPr>
            <a:cxnSpLocks noChangeShapeType="1"/>
            <a:stCxn id="49" idx="4"/>
            <a:endCxn id="50" idx="2"/>
          </p:cNvCxnSpPr>
          <p:nvPr/>
        </p:nvCxnSpPr>
        <p:spPr bwMode="auto">
          <a:xfrm rot="16200000" flipH="1">
            <a:off x="8955052" y="3651703"/>
            <a:ext cx="1547812" cy="1152525"/>
          </a:xfrm>
          <a:prstGeom prst="curvedConnector2">
            <a:avLst/>
          </a:prstGeom>
          <a:ln>
            <a:headEnd/>
            <a:tailEnd type="triangl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cxnSp>
      <p:cxnSp>
        <p:nvCxnSpPr>
          <p:cNvPr id="55" name="AutoShape 12"/>
          <p:cNvCxnSpPr>
            <a:cxnSpLocks noChangeShapeType="1"/>
            <a:stCxn id="50" idx="4"/>
            <a:endCxn id="51" idx="4"/>
          </p:cNvCxnSpPr>
          <p:nvPr/>
        </p:nvCxnSpPr>
        <p:spPr bwMode="auto">
          <a:xfrm rot="5400000">
            <a:off x="9188414" y="3850141"/>
            <a:ext cx="1588" cy="2952750"/>
          </a:xfrm>
          <a:prstGeom prst="curvedConnector3">
            <a:avLst>
              <a:gd name="adj1" fmla="val 33300009"/>
            </a:avLst>
          </a:prstGeom>
          <a:ln>
            <a:headEnd/>
            <a:tailEnd type="triangl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cxnSp>
      <p:sp>
        <p:nvSpPr>
          <p:cNvPr id="56" name="Text Box 14"/>
          <p:cNvSpPr txBox="1">
            <a:spLocks noChangeArrowheads="1"/>
          </p:cNvSpPr>
          <p:nvPr/>
        </p:nvSpPr>
        <p:spPr bwMode="auto">
          <a:xfrm>
            <a:off x="8865358" y="3885860"/>
            <a:ext cx="165576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进程调度</a:t>
            </a:r>
          </a:p>
        </p:txBody>
      </p:sp>
      <p:sp>
        <p:nvSpPr>
          <p:cNvPr id="57" name="Text Box 15"/>
          <p:cNvSpPr txBox="1">
            <a:spLocks noChangeArrowheads="1"/>
          </p:cNvSpPr>
          <p:nvPr/>
        </p:nvSpPr>
        <p:spPr bwMode="auto">
          <a:xfrm>
            <a:off x="8504995" y="5516794"/>
            <a:ext cx="165576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I/O</a:t>
            </a:r>
            <a:r>
              <a:rPr lang="zh-CN" altLang="en-US"/>
              <a:t>请求</a:t>
            </a:r>
          </a:p>
        </p:txBody>
      </p:sp>
      <p:sp>
        <p:nvSpPr>
          <p:cNvPr id="58" name="Text Box 16"/>
          <p:cNvSpPr txBox="1">
            <a:spLocks noChangeArrowheads="1"/>
          </p:cNvSpPr>
          <p:nvPr/>
        </p:nvSpPr>
        <p:spPr bwMode="auto">
          <a:xfrm>
            <a:off x="7281033" y="3957297"/>
            <a:ext cx="165576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I/O</a:t>
            </a:r>
            <a:r>
              <a:rPr lang="zh-CN" altLang="en-US"/>
              <a:t>完成</a:t>
            </a:r>
          </a:p>
        </p:txBody>
      </p:sp>
      <p:sp>
        <p:nvSpPr>
          <p:cNvPr id="59" name="Text Box 12"/>
          <p:cNvSpPr txBox="1">
            <a:spLocks noChangeArrowheads="1"/>
          </p:cNvSpPr>
          <p:nvPr/>
        </p:nvSpPr>
        <p:spPr bwMode="auto">
          <a:xfrm>
            <a:off x="9554333" y="3177835"/>
            <a:ext cx="165576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时间片完</a:t>
            </a:r>
          </a:p>
        </p:txBody>
      </p:sp>
    </p:spTree>
    <p:extLst>
      <p:ext uri="{BB962C8B-B14F-4D97-AF65-F5344CB8AC3E}">
        <p14:creationId xmlns:p14="http://schemas.microsoft.com/office/powerpoint/2010/main" val="422960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2000" fill="hold"/>
                                        <p:tgtEl>
                                          <p:spTgt spid="4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000" fill="hold"/>
                                        <p:tgtEl>
                                          <p:spTgt spid="5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49" grpId="1"/>
      <p:bldP spid="50" grpId="0" animBg="1"/>
      <p:bldP spid="50" grpId="1"/>
      <p:bldP spid="51" grpId="0" animBg="1"/>
      <p:bldP spid="56" grpId="0"/>
      <p:bldP spid="57" grpId="0"/>
      <p:bldP spid="58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进程的创建状态和终止状态</a:t>
            </a:r>
          </a:p>
        </p:txBody>
      </p:sp>
      <p:sp>
        <p:nvSpPr>
          <p:cNvPr id="3" name="Oval 6"/>
          <p:cNvSpPr>
            <a:spLocks noChangeArrowheads="1"/>
          </p:cNvSpPr>
          <p:nvPr/>
        </p:nvSpPr>
        <p:spPr bwMode="auto">
          <a:xfrm>
            <a:off x="8171936" y="2124075"/>
            <a:ext cx="719137" cy="6477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>
                <a:solidFill>
                  <a:schemeClr val="bg1"/>
                </a:solidFill>
              </a:rPr>
              <a:t>就绪</a:t>
            </a:r>
          </a:p>
        </p:txBody>
      </p:sp>
      <p:sp>
        <p:nvSpPr>
          <p:cNvPr id="4" name="Oval 7"/>
          <p:cNvSpPr>
            <a:spLocks noChangeArrowheads="1"/>
          </p:cNvSpPr>
          <p:nvPr/>
        </p:nvSpPr>
        <p:spPr bwMode="auto">
          <a:xfrm>
            <a:off x="9684823" y="3995738"/>
            <a:ext cx="719138" cy="6477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>
                <a:solidFill>
                  <a:schemeClr val="bg1"/>
                </a:solidFill>
              </a:rPr>
              <a:t>执行</a:t>
            </a:r>
          </a:p>
        </p:txBody>
      </p:sp>
      <p:sp>
        <p:nvSpPr>
          <p:cNvPr id="5" name="Oval 8"/>
          <p:cNvSpPr>
            <a:spLocks noChangeArrowheads="1"/>
          </p:cNvSpPr>
          <p:nvPr/>
        </p:nvSpPr>
        <p:spPr bwMode="auto">
          <a:xfrm>
            <a:off x="6732073" y="3995738"/>
            <a:ext cx="719138" cy="6477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>
                <a:solidFill>
                  <a:schemeClr val="bg1"/>
                </a:solidFill>
              </a:rPr>
              <a:t>阻塞</a:t>
            </a:r>
          </a:p>
        </p:txBody>
      </p:sp>
      <p:cxnSp>
        <p:nvCxnSpPr>
          <p:cNvPr id="6" name="AutoShape 9"/>
          <p:cNvCxnSpPr>
            <a:cxnSpLocks noChangeShapeType="1"/>
            <a:stCxn id="5" idx="0"/>
            <a:endCxn id="3" idx="2"/>
          </p:cNvCxnSpPr>
          <p:nvPr/>
        </p:nvCxnSpPr>
        <p:spPr bwMode="auto">
          <a:xfrm rot="16200000">
            <a:off x="6858279" y="2682082"/>
            <a:ext cx="1547813" cy="10795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10"/>
          <p:cNvCxnSpPr>
            <a:cxnSpLocks noChangeShapeType="1"/>
            <a:stCxn id="4" idx="0"/>
            <a:endCxn id="3" idx="6"/>
          </p:cNvCxnSpPr>
          <p:nvPr/>
        </p:nvCxnSpPr>
        <p:spPr bwMode="auto">
          <a:xfrm rot="5400000" flipH="1">
            <a:off x="8694223" y="2644775"/>
            <a:ext cx="1547813" cy="1154113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11"/>
          <p:cNvCxnSpPr>
            <a:cxnSpLocks noChangeShapeType="1"/>
            <a:stCxn id="3" idx="4"/>
            <a:endCxn id="4" idx="2"/>
          </p:cNvCxnSpPr>
          <p:nvPr/>
        </p:nvCxnSpPr>
        <p:spPr bwMode="auto">
          <a:xfrm rot="16200000" flipH="1">
            <a:off x="8334654" y="2969419"/>
            <a:ext cx="1547813" cy="1152525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12"/>
          <p:cNvCxnSpPr>
            <a:cxnSpLocks noChangeShapeType="1"/>
            <a:stCxn id="4" idx="4"/>
            <a:endCxn id="5" idx="4"/>
          </p:cNvCxnSpPr>
          <p:nvPr/>
        </p:nvCxnSpPr>
        <p:spPr bwMode="auto">
          <a:xfrm rot="5400000">
            <a:off x="8568017" y="3167857"/>
            <a:ext cx="1587" cy="2952750"/>
          </a:xfrm>
          <a:prstGeom prst="curvedConnector3">
            <a:avLst>
              <a:gd name="adj1" fmla="val 33300009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684823" y="2843213"/>
            <a:ext cx="165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时间片完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8244961" y="3203575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进程调度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7884598" y="4643438"/>
            <a:ext cx="165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I/O</a:t>
            </a:r>
            <a:r>
              <a:rPr lang="zh-CN" altLang="en-US"/>
              <a:t>请求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6660636" y="3275013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I/O</a:t>
            </a:r>
            <a:r>
              <a:rPr lang="zh-CN" altLang="en-US"/>
              <a:t>完成</a:t>
            </a:r>
          </a:p>
        </p:txBody>
      </p:sp>
      <p:sp>
        <p:nvSpPr>
          <p:cNvPr id="14" name="Oval 6"/>
          <p:cNvSpPr>
            <a:spLocks noChangeArrowheads="1"/>
          </p:cNvSpPr>
          <p:nvPr/>
        </p:nvSpPr>
        <p:spPr bwMode="auto">
          <a:xfrm>
            <a:off x="6552127" y="1933575"/>
            <a:ext cx="719138" cy="6477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>
                <a:solidFill>
                  <a:schemeClr val="bg1"/>
                </a:solidFill>
              </a:rPr>
              <a:t>创建</a:t>
            </a: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 flipV="1">
            <a:off x="7240247" y="2293938"/>
            <a:ext cx="100312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240247" y="1789113"/>
            <a:ext cx="108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许可</a:t>
            </a:r>
          </a:p>
        </p:txBody>
      </p:sp>
      <p:sp>
        <p:nvSpPr>
          <p:cNvPr id="17" name="Oval 7"/>
          <p:cNvSpPr>
            <a:spLocks noChangeArrowheads="1"/>
          </p:cNvSpPr>
          <p:nvPr/>
        </p:nvSpPr>
        <p:spPr bwMode="auto">
          <a:xfrm>
            <a:off x="11160404" y="4041468"/>
            <a:ext cx="719137" cy="6477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>
                <a:solidFill>
                  <a:schemeClr val="bg1"/>
                </a:solidFill>
              </a:rPr>
              <a:t>终止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10332523" y="3949700"/>
            <a:ext cx="165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释放</a:t>
            </a: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 flipV="1">
            <a:off x="10403961" y="4381500"/>
            <a:ext cx="75644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150228" y="1656846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058278" y="1656846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50228" y="4039285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058278" y="4039285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7" name="文本框 55"/>
          <p:cNvSpPr txBox="1">
            <a:spLocks noChangeArrowheads="1"/>
          </p:cNvSpPr>
          <p:nvPr/>
        </p:nvSpPr>
        <p:spPr bwMode="auto">
          <a:xfrm>
            <a:off x="1004178" y="1123446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创建状态</a:t>
            </a:r>
          </a:p>
        </p:txBody>
      </p:sp>
      <p:sp>
        <p:nvSpPr>
          <p:cNvPr id="28" name="文本框 56"/>
          <p:cNvSpPr txBox="1">
            <a:spLocks noChangeArrowheads="1"/>
          </p:cNvSpPr>
          <p:nvPr/>
        </p:nvSpPr>
        <p:spPr bwMode="auto">
          <a:xfrm>
            <a:off x="1004178" y="3493185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终止状态</a:t>
            </a:r>
          </a:p>
        </p:txBody>
      </p:sp>
      <p:sp>
        <p:nvSpPr>
          <p:cNvPr id="29" name="文本框 19"/>
          <p:cNvSpPr txBox="1">
            <a:spLocks noChangeArrowheads="1"/>
          </p:cNvSpPr>
          <p:nvPr/>
        </p:nvSpPr>
        <p:spPr bwMode="auto">
          <a:xfrm>
            <a:off x="1150227" y="1810171"/>
            <a:ext cx="54019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申请空白进程控制块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填写控制和管理的信息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分配必需的资源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进程置为就绪状态，并插入就绪队列</a:t>
            </a:r>
            <a:endParaRPr lang="en-US" altLang="zh-CN" sz="2400" dirty="0"/>
          </a:p>
        </p:txBody>
      </p:sp>
      <p:sp>
        <p:nvSpPr>
          <p:cNvPr id="30" name="文本框 19"/>
          <p:cNvSpPr txBox="1">
            <a:spLocks noChangeArrowheads="1"/>
          </p:cNvSpPr>
          <p:nvPr/>
        </p:nvSpPr>
        <p:spPr bwMode="auto">
          <a:xfrm>
            <a:off x="1150228" y="4306411"/>
            <a:ext cx="559297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en-US" altLang="zh-CN" sz="2400" dirty="0"/>
              <a:t>OS</a:t>
            </a:r>
            <a:r>
              <a:rPr lang="zh-CN" altLang="en-US" sz="2400" dirty="0"/>
              <a:t>保留该进程记录，其中保存状态和一些计时统计数据供其它进程收集；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收集结束后</a:t>
            </a:r>
            <a:r>
              <a:rPr lang="en-US" altLang="zh-CN" sz="2400" dirty="0" err="1"/>
              <a:t>os</a:t>
            </a:r>
            <a:r>
              <a:rPr lang="zh-CN" altLang="en-US" sz="2400" dirty="0"/>
              <a:t>将进程</a:t>
            </a:r>
            <a:r>
              <a:rPr lang="en-US" altLang="zh-CN" sz="2400" dirty="0" err="1"/>
              <a:t>pcb</a:t>
            </a:r>
            <a:r>
              <a:rPr lang="zh-CN" altLang="en-US" sz="2400" dirty="0"/>
              <a:t>清零并返还系统。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81775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512" y="249951"/>
            <a:ext cx="3967716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进程管理中的数据结构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863650" y="652967"/>
            <a:ext cx="4406900" cy="665162"/>
            <a:chOff x="6863650" y="652967"/>
            <a:chExt cx="4406900" cy="665162"/>
          </a:xfrm>
        </p:grpSpPr>
        <p:sp>
          <p:nvSpPr>
            <p:cNvPr id="20" name="矩形 19"/>
            <p:cNvSpPr/>
            <p:nvPr/>
          </p:nvSpPr>
          <p:spPr>
            <a:xfrm>
              <a:off x="7009700" y="1186367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7917750" y="1186367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7" name="文本框 55"/>
            <p:cNvSpPr txBox="1">
              <a:spLocks noChangeArrowheads="1"/>
            </p:cNvSpPr>
            <p:nvPr/>
          </p:nvSpPr>
          <p:spPr bwMode="auto">
            <a:xfrm>
              <a:off x="6863650" y="652967"/>
              <a:ext cx="37433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资源信息表或进程信息表</a:t>
              </a:r>
            </a:p>
          </p:txBody>
        </p:sp>
      </p:grpSp>
      <p:sp>
        <p:nvSpPr>
          <p:cNvPr id="29" name="文本框 19"/>
          <p:cNvSpPr txBox="1">
            <a:spLocks noChangeArrowheads="1"/>
          </p:cNvSpPr>
          <p:nvPr/>
        </p:nvSpPr>
        <p:spPr bwMode="auto">
          <a:xfrm>
            <a:off x="6983999" y="1355145"/>
            <a:ext cx="454995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在计算机系统中，对于每个资源和每个进程都设置了一个数据结构，用于表征其实体。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其中包含了资源或进程的标识、描述、状态等信息以及一批指针。</a:t>
            </a:r>
            <a:endParaRPr lang="en-US" altLang="zh-CN" sz="2400" dirty="0"/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302710" y="1623760"/>
            <a:ext cx="1439862" cy="431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内存</a:t>
            </a: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302710" y="2073023"/>
            <a:ext cx="1439862" cy="431800"/>
          </a:xfrm>
          <a:prstGeom prst="rect">
            <a:avLst/>
          </a:prstGeom>
          <a:ln>
            <a:solidFill>
              <a:srgbClr val="FFC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设备</a:t>
            </a: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302710" y="2531810"/>
            <a:ext cx="1439862" cy="431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文件</a:t>
            </a:r>
          </a:p>
        </p:txBody>
      </p:sp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302710" y="2992185"/>
            <a:ext cx="1439862" cy="431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进程</a:t>
            </a: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2534735" y="1569785"/>
            <a:ext cx="1439862" cy="431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内存表</a:t>
            </a:r>
          </a:p>
        </p:txBody>
      </p:sp>
      <p:sp>
        <p:nvSpPr>
          <p:cNvPr id="36" name="Rectangle 6"/>
          <p:cNvSpPr>
            <a:spLocks noChangeArrowheads="1"/>
          </p:cNvSpPr>
          <p:nvPr/>
        </p:nvSpPr>
        <p:spPr bwMode="auto">
          <a:xfrm>
            <a:off x="2534735" y="2144460"/>
            <a:ext cx="1439862" cy="431800"/>
          </a:xfrm>
          <a:prstGeom prst="rect">
            <a:avLst/>
          </a:prstGeom>
          <a:ln>
            <a:solidFill>
              <a:srgbClr val="FFC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设备表</a:t>
            </a:r>
          </a:p>
        </p:txBody>
      </p:sp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2534735" y="2720723"/>
            <a:ext cx="1439862" cy="431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文件表</a:t>
            </a:r>
          </a:p>
        </p:txBody>
      </p: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2534735" y="3296985"/>
            <a:ext cx="1439862" cy="431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进程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2534735" y="3728785"/>
            <a:ext cx="1439862" cy="431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进程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0" name="Rectangle 6"/>
          <p:cNvSpPr>
            <a:spLocks noChangeArrowheads="1"/>
          </p:cNvSpPr>
          <p:nvPr/>
        </p:nvSpPr>
        <p:spPr bwMode="auto">
          <a:xfrm>
            <a:off x="2534735" y="4160585"/>
            <a:ext cx="1439862" cy="431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进程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1" name="Rectangle 6"/>
          <p:cNvSpPr>
            <a:spLocks noChangeArrowheads="1"/>
          </p:cNvSpPr>
          <p:nvPr/>
        </p:nvSpPr>
        <p:spPr bwMode="auto">
          <a:xfrm>
            <a:off x="2534735" y="5170235"/>
            <a:ext cx="1439862" cy="431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进程</a:t>
            </a:r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2" name="Rectangle 6"/>
          <p:cNvSpPr>
            <a:spLocks noChangeArrowheads="1"/>
          </p:cNvSpPr>
          <p:nvPr/>
        </p:nvSpPr>
        <p:spPr bwMode="auto">
          <a:xfrm rot="5400000">
            <a:off x="2822865" y="4705892"/>
            <a:ext cx="639763" cy="4318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43" name="肘形连接符 42"/>
          <p:cNvCxnSpPr>
            <a:stCxn id="31" idx="3"/>
            <a:endCxn id="35" idx="1"/>
          </p:cNvCxnSpPr>
          <p:nvPr/>
        </p:nvCxnSpPr>
        <p:spPr bwMode="auto">
          <a:xfrm flipV="1">
            <a:off x="1742572" y="1785685"/>
            <a:ext cx="792163" cy="5397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32" idx="3"/>
            <a:endCxn id="36" idx="1"/>
          </p:cNvCxnSpPr>
          <p:nvPr/>
        </p:nvCxnSpPr>
        <p:spPr bwMode="auto">
          <a:xfrm>
            <a:off x="1742572" y="2288923"/>
            <a:ext cx="792163" cy="7143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33" idx="3"/>
            <a:endCxn id="37" idx="1"/>
          </p:cNvCxnSpPr>
          <p:nvPr/>
        </p:nvCxnSpPr>
        <p:spPr bwMode="auto">
          <a:xfrm>
            <a:off x="1742572" y="2747710"/>
            <a:ext cx="792163" cy="18891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34" idx="3"/>
            <a:endCxn id="38" idx="1"/>
          </p:cNvCxnSpPr>
          <p:nvPr/>
        </p:nvCxnSpPr>
        <p:spPr bwMode="auto">
          <a:xfrm>
            <a:off x="1742572" y="3208085"/>
            <a:ext cx="792163" cy="3048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4911222" y="2865185"/>
            <a:ext cx="1150938" cy="792163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进程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8" name="Text Box 15"/>
          <p:cNvSpPr txBox="1">
            <a:spLocks noChangeArrowheads="1"/>
          </p:cNvSpPr>
          <p:nvPr/>
        </p:nvSpPr>
        <p:spPr bwMode="auto">
          <a:xfrm>
            <a:off x="4135432" y="2378378"/>
            <a:ext cx="27025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/>
              <a:t>进程实体及所用资源列表</a:t>
            </a:r>
          </a:p>
        </p:txBody>
      </p:sp>
      <p:sp>
        <p:nvSpPr>
          <p:cNvPr id="49" name="Rectangle 6"/>
          <p:cNvSpPr>
            <a:spLocks noChangeArrowheads="1"/>
          </p:cNvSpPr>
          <p:nvPr/>
        </p:nvSpPr>
        <p:spPr bwMode="auto">
          <a:xfrm rot="5400000">
            <a:off x="5166015" y="3832767"/>
            <a:ext cx="639763" cy="4318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4911222" y="4695573"/>
            <a:ext cx="1150938" cy="792162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CN" altLang="en-US" dirty="0"/>
              <a:t>进程</a:t>
            </a:r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51" name="Text Box 15"/>
          <p:cNvSpPr txBox="1">
            <a:spLocks noChangeArrowheads="1"/>
          </p:cNvSpPr>
          <p:nvPr/>
        </p:nvSpPr>
        <p:spPr bwMode="auto">
          <a:xfrm>
            <a:off x="4153699" y="5629420"/>
            <a:ext cx="27394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/>
              <a:t>进程实体及所用资源列表</a:t>
            </a:r>
          </a:p>
        </p:txBody>
      </p:sp>
      <p:cxnSp>
        <p:nvCxnSpPr>
          <p:cNvPr id="52" name="肘形连接符 51"/>
          <p:cNvCxnSpPr>
            <a:stCxn id="38" idx="3"/>
            <a:endCxn id="47" idx="1"/>
          </p:cNvCxnSpPr>
          <p:nvPr/>
        </p:nvCxnSpPr>
        <p:spPr bwMode="auto">
          <a:xfrm flipV="1">
            <a:off x="3974597" y="3260473"/>
            <a:ext cx="936625" cy="252412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肘形连接符 52"/>
          <p:cNvCxnSpPr>
            <a:stCxn id="41" idx="3"/>
            <a:endCxn id="50" idx="1"/>
          </p:cNvCxnSpPr>
          <p:nvPr/>
        </p:nvCxnSpPr>
        <p:spPr bwMode="auto">
          <a:xfrm flipV="1">
            <a:off x="3974597" y="5090860"/>
            <a:ext cx="936625" cy="29527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37948" y="3416308"/>
            <a:ext cx="5354052" cy="665162"/>
            <a:chOff x="6837948" y="3416308"/>
            <a:chExt cx="5354052" cy="665162"/>
          </a:xfrm>
        </p:grpSpPr>
        <p:sp>
          <p:nvSpPr>
            <p:cNvPr id="54" name="矩形 53"/>
            <p:cNvSpPr/>
            <p:nvPr/>
          </p:nvSpPr>
          <p:spPr>
            <a:xfrm>
              <a:off x="6983999" y="3949708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7892049" y="3949708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6" name="文本框 55"/>
            <p:cNvSpPr txBox="1">
              <a:spLocks noChangeArrowheads="1"/>
            </p:cNvSpPr>
            <p:nvPr/>
          </p:nvSpPr>
          <p:spPr bwMode="auto">
            <a:xfrm>
              <a:off x="6837948" y="3416308"/>
              <a:ext cx="53540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进程控制块</a:t>
              </a:r>
              <a:r>
                <a:rPr lang="en-US" altLang="zh-CN" sz="2400" dirty="0">
                  <a:solidFill>
                    <a:srgbClr val="C00000"/>
                  </a:solidFill>
                </a:rPr>
                <a:t>PCB</a:t>
              </a:r>
              <a:r>
                <a:rPr lang="zh-CN" altLang="en-US" sz="2400" dirty="0"/>
                <a:t>（</a:t>
              </a:r>
              <a:r>
                <a:rPr lang="en-US" altLang="zh-CN" sz="2400" dirty="0"/>
                <a:t>Process Control Block</a:t>
              </a:r>
              <a:r>
                <a:rPr lang="zh-CN" altLang="en-US" sz="2400" dirty="0"/>
                <a:t>）</a:t>
              </a:r>
              <a:endPara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文本框 19"/>
          <p:cNvSpPr txBox="1">
            <a:spLocks noChangeArrowheads="1"/>
          </p:cNvSpPr>
          <p:nvPr/>
        </p:nvSpPr>
        <p:spPr bwMode="auto">
          <a:xfrm>
            <a:off x="6983982" y="4160585"/>
            <a:ext cx="4549971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是进程实体的一部分。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是操作系统中最重要的记录型数据结构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记录了操作系统所需的、用于描述进程当前情况以及控制进程运行的全部信息。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52595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4252" y="172018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2138" y="172018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5400000">
            <a:off x="2363844" y="198738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1014252" y="270029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722138" y="270029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5" name="等腰三角形 64"/>
          <p:cNvSpPr/>
          <p:nvPr/>
        </p:nvSpPr>
        <p:spPr>
          <a:xfrm rot="5400000">
            <a:off x="2363844" y="296749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1014252" y="365136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722138" y="365136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8" name="等腰三角形 67"/>
          <p:cNvSpPr/>
          <p:nvPr/>
        </p:nvSpPr>
        <p:spPr>
          <a:xfrm rot="5400000">
            <a:off x="2363844" y="391856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1014252" y="463147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722138" y="463147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1" name="等腰三角形 70"/>
          <p:cNvSpPr/>
          <p:nvPr/>
        </p:nvSpPr>
        <p:spPr>
          <a:xfrm rot="5400000">
            <a:off x="2363844" y="489867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20487" name="文本框 5"/>
          <p:cNvSpPr txBox="1">
            <a:spLocks noChangeArrowheads="1"/>
          </p:cNvSpPr>
          <p:nvPr/>
        </p:nvSpPr>
        <p:spPr bwMode="auto">
          <a:xfrm>
            <a:off x="1071855" y="1818613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8" name="文本框 71"/>
          <p:cNvSpPr txBox="1">
            <a:spLocks noChangeArrowheads="1"/>
          </p:cNvSpPr>
          <p:nvPr/>
        </p:nvSpPr>
        <p:spPr bwMode="auto">
          <a:xfrm>
            <a:off x="1071855" y="2798785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9" name="文本框 87"/>
          <p:cNvSpPr txBox="1">
            <a:spLocks noChangeArrowheads="1"/>
          </p:cNvSpPr>
          <p:nvPr/>
        </p:nvSpPr>
        <p:spPr bwMode="auto">
          <a:xfrm>
            <a:off x="1071855" y="3749126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90" name="文本框 88"/>
          <p:cNvSpPr txBox="1">
            <a:spLocks noChangeArrowheads="1"/>
          </p:cNvSpPr>
          <p:nvPr/>
        </p:nvSpPr>
        <p:spPr bwMode="auto">
          <a:xfrm>
            <a:off x="1071855" y="4729298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AutoShape 115"/>
          <p:cNvSpPr>
            <a:spLocks/>
          </p:cNvSpPr>
          <p:nvPr/>
        </p:nvSpPr>
        <p:spPr bwMode="auto">
          <a:xfrm>
            <a:off x="1970380" y="1890051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91" name="AutoShape 29"/>
          <p:cNvSpPr>
            <a:spLocks/>
          </p:cNvSpPr>
          <p:nvPr/>
        </p:nvSpPr>
        <p:spPr bwMode="auto">
          <a:xfrm>
            <a:off x="1970380" y="2874985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92" name="Group 2"/>
          <p:cNvGrpSpPr>
            <a:grpSpLocks/>
          </p:cNvGrpSpPr>
          <p:nvPr/>
        </p:nvGrpSpPr>
        <p:grpSpPr bwMode="auto">
          <a:xfrm>
            <a:off x="1969976" y="3825015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4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5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6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7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8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99" name="Group 587"/>
          <p:cNvGrpSpPr>
            <a:grpSpLocks/>
          </p:cNvGrpSpPr>
          <p:nvPr/>
        </p:nvGrpSpPr>
        <p:grpSpPr bwMode="auto">
          <a:xfrm>
            <a:off x="1960425" y="4852525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100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1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2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3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4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5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" name="直接连接符 7"/>
          <p:cNvCxnSpPr>
            <a:stCxn id="4" idx="0"/>
          </p:cNvCxnSpPr>
          <p:nvPr/>
        </p:nvCxnSpPr>
        <p:spPr>
          <a:xfrm flipV="1">
            <a:off x="2878430" y="2110713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878430" y="308771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2878430" y="4030113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2878430" y="500711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3683293" y="2058326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683293" y="302262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683293" y="3976138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3683293" y="494202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018414" y="1883062"/>
            <a:ext cx="30059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75"/>
              </a:spcBef>
              <a:defRPr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作为独立运行单位的标志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039998" y="2788267"/>
            <a:ext cx="27494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75"/>
              </a:spcBef>
              <a:defRPr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能实现间断性运行方式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026350" y="3774767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提供进程管理所需要的信息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>
            <a:spLocks noChangeArrowheads="1"/>
          </p:cNvSpPr>
          <p:nvPr/>
        </p:nvSpPr>
        <p:spPr bwMode="auto">
          <a:xfrm>
            <a:off x="4053646" y="4787637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提供进程调度所需要的信息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78" name="矩形 77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0" name="文本框 25"/>
          <p:cNvSpPr txBox="1">
            <a:spLocks noChangeArrowheads="1"/>
          </p:cNvSpPr>
          <p:nvPr/>
        </p:nvSpPr>
        <p:spPr bwMode="auto">
          <a:xfrm>
            <a:off x="902970" y="199077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进程控制块的作用</a:t>
            </a:r>
          </a:p>
        </p:txBody>
      </p:sp>
      <p:sp>
        <p:nvSpPr>
          <p:cNvPr id="6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1057468" y="5605304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765354" y="5605303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58" name="等腰三角形 57"/>
          <p:cNvSpPr/>
          <p:nvPr/>
        </p:nvSpPr>
        <p:spPr>
          <a:xfrm rot="5400000">
            <a:off x="2407060" y="5872498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4" name="文本框 87"/>
          <p:cNvSpPr txBox="1">
            <a:spLocks noChangeArrowheads="1"/>
          </p:cNvSpPr>
          <p:nvPr/>
        </p:nvSpPr>
        <p:spPr bwMode="auto">
          <a:xfrm>
            <a:off x="1115071" y="5703062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76" name="Group 2"/>
          <p:cNvGrpSpPr>
            <a:grpSpLocks/>
          </p:cNvGrpSpPr>
          <p:nvPr/>
        </p:nvGrpSpPr>
        <p:grpSpPr bwMode="auto">
          <a:xfrm>
            <a:off x="2013192" y="5778951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81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2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3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4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5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6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110" name="直接连接符 109"/>
          <p:cNvCxnSpPr/>
          <p:nvPr/>
        </p:nvCxnSpPr>
        <p:spPr>
          <a:xfrm flipV="1">
            <a:off x="2921646" y="5984049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/>
          <p:cNvSpPr/>
          <p:nvPr/>
        </p:nvSpPr>
        <p:spPr>
          <a:xfrm>
            <a:off x="3726509" y="5930074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4" name="文本框 56"/>
          <p:cNvSpPr txBox="1">
            <a:spLocks noChangeArrowheads="1"/>
          </p:cNvSpPr>
          <p:nvPr/>
        </p:nvSpPr>
        <p:spPr bwMode="auto">
          <a:xfrm>
            <a:off x="4096862" y="5769647"/>
            <a:ext cx="35189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75"/>
              </a:spcBef>
              <a:defRPr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实现与其他进程的同步与通信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57"/>
          <p:cNvSpPr txBox="1"/>
          <p:nvPr/>
        </p:nvSpPr>
        <p:spPr>
          <a:xfrm>
            <a:off x="4026350" y="2262723"/>
            <a:ext cx="7233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75"/>
              </a:spcBef>
              <a:defRPr/>
            </a:pPr>
            <a:r>
              <a:rPr kumimoji="1" lang="en-US" altLang="zh-CN" sz="2000" dirty="0">
                <a:latin typeface="Tahoma" pitchFamily="34" charset="0"/>
                <a:ea typeface="宋体" pitchFamily="2" charset="-122"/>
              </a:rPr>
              <a:t>PCB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是进程存在的唯一标志</a:t>
            </a:r>
            <a:endParaRPr kumimoji="1" lang="en-US" altLang="zh-CN" sz="20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7" name="文本框 57"/>
          <p:cNvSpPr txBox="1"/>
          <p:nvPr/>
        </p:nvSpPr>
        <p:spPr>
          <a:xfrm>
            <a:off x="4096862" y="5151361"/>
            <a:ext cx="7233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75"/>
              </a:spcBef>
              <a:defRPr/>
            </a:pP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进程状态、优先级等</a:t>
            </a:r>
            <a:endParaRPr kumimoji="1" lang="en-US" altLang="zh-CN" sz="20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8" name="文本框 57"/>
          <p:cNvSpPr txBox="1"/>
          <p:nvPr/>
        </p:nvSpPr>
        <p:spPr>
          <a:xfrm>
            <a:off x="4018414" y="4253025"/>
            <a:ext cx="7233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75"/>
              </a:spcBef>
              <a:defRPr/>
            </a:pP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在进程的生命期中，</a:t>
            </a:r>
            <a:r>
              <a:rPr kumimoji="1" lang="en-US" altLang="zh-CN" sz="2000" dirty="0">
                <a:latin typeface="Tahoma" pitchFamily="34" charset="0"/>
                <a:ea typeface="宋体" pitchFamily="2" charset="-122"/>
              </a:rPr>
              <a:t>OS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总是通过</a:t>
            </a:r>
            <a:r>
              <a:rPr kumimoji="1" lang="en-US" altLang="zh-CN" sz="2000" dirty="0">
                <a:latin typeface="Tahoma" pitchFamily="34" charset="0"/>
                <a:ea typeface="宋体" pitchFamily="2" charset="-122"/>
              </a:rPr>
              <a:t>PCB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实施对进程的控制和管理</a:t>
            </a:r>
            <a:endParaRPr kumimoji="1" lang="en-US" altLang="zh-CN" sz="20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0" name="文本框 57"/>
          <p:cNvSpPr txBox="1"/>
          <p:nvPr/>
        </p:nvSpPr>
        <p:spPr>
          <a:xfrm>
            <a:off x="4026350" y="6199066"/>
            <a:ext cx="7233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75"/>
              </a:spcBef>
              <a:defRPr/>
            </a:pP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在</a:t>
            </a:r>
            <a:r>
              <a:rPr kumimoji="1" lang="en-US" altLang="zh-CN" sz="2000" dirty="0">
                <a:latin typeface="Tahoma" pitchFamily="34" charset="0"/>
                <a:ea typeface="宋体" pitchFamily="2" charset="-122"/>
              </a:rPr>
              <a:t>PCB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中还具有实现进程通信的区域或通信队列指针</a:t>
            </a:r>
          </a:p>
        </p:txBody>
      </p:sp>
      <p:sp>
        <p:nvSpPr>
          <p:cNvPr id="121" name="文本框 57"/>
          <p:cNvSpPr txBox="1"/>
          <p:nvPr/>
        </p:nvSpPr>
        <p:spPr>
          <a:xfrm>
            <a:off x="4018414" y="3204226"/>
            <a:ext cx="7233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具有保存与恢复</a:t>
            </a:r>
            <a:r>
              <a:rPr kumimoji="1" lang="en-US" altLang="zh-CN" sz="2000" dirty="0">
                <a:latin typeface="Tahoma" pitchFamily="34" charset="0"/>
                <a:ea typeface="宋体" pitchFamily="2" charset="-122"/>
              </a:rPr>
              <a:t>CPU</a:t>
            </a:r>
            <a:r>
              <a:rPr kumimoji="1" lang="zh-CN" altLang="en-US" sz="2000" dirty="0">
                <a:latin typeface="Tahoma" pitchFamily="34" charset="0"/>
                <a:ea typeface="宋体" pitchFamily="2" charset="-122"/>
              </a:rPr>
              <a:t>现场的手段</a:t>
            </a:r>
            <a:endParaRPr kumimoji="1" lang="en-US" altLang="zh-CN" sz="20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2" name="文本框 52"/>
          <p:cNvSpPr txBox="1">
            <a:spLocks noChangeArrowheads="1"/>
          </p:cNvSpPr>
          <p:nvPr/>
        </p:nvSpPr>
        <p:spPr bwMode="auto">
          <a:xfrm>
            <a:off x="902969" y="916765"/>
            <a:ext cx="1080680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使一个在多道程序环境下不能独立运行的程序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含数据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，成为一个能独立运行的基本单位，一个能与其它进程并发执行的进程。或者说，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是根据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来对并发进程进行控制和管理的。 </a:t>
            </a:r>
          </a:p>
        </p:txBody>
      </p:sp>
    </p:spTree>
    <p:extLst>
      <p:ext uri="{BB962C8B-B14F-4D97-AF65-F5344CB8AC3E}">
        <p14:creationId xmlns:p14="http://schemas.microsoft.com/office/powerpoint/2010/main" val="401664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7" grpId="0"/>
      <p:bldP spid="59" grpId="0"/>
      <p:bldP spid="114" grpId="0"/>
      <p:bldP spid="116" grpId="0"/>
      <p:bldP spid="117" grpId="0"/>
      <p:bldP spid="118" grpId="0"/>
      <p:bldP spid="120" grpId="0"/>
      <p:bldP spid="121" grpId="0"/>
      <p:bldP spid="7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50228" y="1656846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58278" y="1656846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1004178" y="1123446"/>
            <a:ext cx="26124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进程标识符</a:t>
            </a:r>
            <a:endParaRPr lang="zh-CN" altLang="en-US" sz="2400" b="1" dirty="0">
              <a:solidFill>
                <a:srgbClr val="4C7E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954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进程控制块中的信息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9"/>
          <p:cNvSpPr txBox="1">
            <a:spLocks noChangeArrowheads="1"/>
          </p:cNvSpPr>
          <p:nvPr/>
        </p:nvSpPr>
        <p:spPr bwMode="auto">
          <a:xfrm>
            <a:off x="1150228" y="1885665"/>
            <a:ext cx="1053225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zh-CN" sz="2400" dirty="0">
                <a:latin typeface="宋体" pitchFamily="2" charset="-122"/>
              </a:rPr>
              <a:t>进程标识符用于惟一地标识一个进程。一个进程通常有两种标识符：内部标识符、外部标识符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10528" y="2708319"/>
            <a:ext cx="4406900" cy="665162"/>
            <a:chOff x="1010528" y="2708319"/>
            <a:chExt cx="4406900" cy="665162"/>
          </a:xfrm>
        </p:grpSpPr>
        <p:sp>
          <p:nvSpPr>
            <p:cNvPr id="17" name="矩形 16"/>
            <p:cNvSpPr/>
            <p:nvPr/>
          </p:nvSpPr>
          <p:spPr>
            <a:xfrm>
              <a:off x="1156578" y="3241719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2064628" y="3241719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文本框 55"/>
            <p:cNvSpPr txBox="1">
              <a:spLocks noChangeArrowheads="1"/>
            </p:cNvSpPr>
            <p:nvPr/>
          </p:nvSpPr>
          <p:spPr bwMode="auto">
            <a:xfrm>
              <a:off x="1010528" y="2708319"/>
              <a:ext cx="26124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）处理机状态</a:t>
              </a:r>
            </a:p>
          </p:txBody>
        </p:sp>
      </p:grpSp>
      <p:sp>
        <p:nvSpPr>
          <p:cNvPr id="22" name="文本框 19"/>
          <p:cNvSpPr txBox="1">
            <a:spLocks noChangeArrowheads="1"/>
          </p:cNvSpPr>
          <p:nvPr/>
        </p:nvSpPr>
        <p:spPr bwMode="auto">
          <a:xfrm>
            <a:off x="1156578" y="3470538"/>
            <a:ext cx="1053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>
                <a:latin typeface="宋体" pitchFamily="2" charset="-122"/>
              </a:rPr>
              <a:t>通用寄存器、指令计数器、程序状态字</a:t>
            </a:r>
            <a:r>
              <a:rPr lang="en-US" altLang="zh-CN" sz="2400" dirty="0">
                <a:latin typeface="宋体" pitchFamily="2" charset="-122"/>
              </a:rPr>
              <a:t>PSW</a:t>
            </a:r>
            <a:r>
              <a:rPr lang="zh-CN" altLang="en-US" sz="2400" dirty="0">
                <a:latin typeface="宋体" pitchFamily="2" charset="-122"/>
              </a:rPr>
              <a:t>、用户栈指针</a:t>
            </a:r>
            <a:endParaRPr lang="zh-CN" altLang="zh-CN" sz="2400" dirty="0">
              <a:latin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04178" y="3990665"/>
            <a:ext cx="4406900" cy="665162"/>
            <a:chOff x="1004178" y="3990665"/>
            <a:chExt cx="4406900" cy="665162"/>
          </a:xfrm>
        </p:grpSpPr>
        <p:sp>
          <p:nvSpPr>
            <p:cNvPr id="23" name="矩形 22"/>
            <p:cNvSpPr/>
            <p:nvPr/>
          </p:nvSpPr>
          <p:spPr>
            <a:xfrm>
              <a:off x="1150228" y="4524065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2058278" y="4524065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5" name="文本框 55"/>
            <p:cNvSpPr txBox="1">
              <a:spLocks noChangeArrowheads="1"/>
            </p:cNvSpPr>
            <p:nvPr/>
          </p:nvSpPr>
          <p:spPr bwMode="auto">
            <a:xfrm>
              <a:off x="1004178" y="3990665"/>
              <a:ext cx="26124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程调度信息</a:t>
              </a:r>
            </a:p>
          </p:txBody>
        </p:sp>
      </p:grpSp>
      <p:sp>
        <p:nvSpPr>
          <p:cNvPr id="26" name="文本框 19"/>
          <p:cNvSpPr txBox="1">
            <a:spLocks noChangeArrowheads="1"/>
          </p:cNvSpPr>
          <p:nvPr/>
        </p:nvSpPr>
        <p:spPr bwMode="auto">
          <a:xfrm>
            <a:off x="1150228" y="4780180"/>
            <a:ext cx="1053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zh-CN" sz="2400" dirty="0">
                <a:latin typeface="宋体" pitchFamily="2" charset="-122"/>
              </a:rPr>
              <a:t>进程</a:t>
            </a:r>
            <a:r>
              <a:rPr lang="zh-CN" altLang="en-US" sz="2400" dirty="0">
                <a:latin typeface="宋体" pitchFamily="2" charset="-122"/>
              </a:rPr>
              <a:t>状态、进程优先级、进程调度所需的其他信息、事件</a:t>
            </a:r>
            <a:endParaRPr lang="zh-CN" altLang="zh-CN" sz="2400" dirty="0">
              <a:latin typeface="宋体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4178" y="5314653"/>
            <a:ext cx="4406900" cy="665162"/>
            <a:chOff x="1004178" y="5314653"/>
            <a:chExt cx="4406900" cy="665162"/>
          </a:xfrm>
        </p:grpSpPr>
        <p:sp>
          <p:nvSpPr>
            <p:cNvPr id="32" name="矩形 31"/>
            <p:cNvSpPr/>
            <p:nvPr/>
          </p:nvSpPr>
          <p:spPr>
            <a:xfrm>
              <a:off x="1150228" y="5848053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2058278" y="5848053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4" name="文本框 55"/>
            <p:cNvSpPr txBox="1">
              <a:spLocks noChangeArrowheads="1"/>
            </p:cNvSpPr>
            <p:nvPr/>
          </p:nvSpPr>
          <p:spPr bwMode="auto">
            <a:xfrm>
              <a:off x="1004178" y="5314653"/>
              <a:ext cx="26124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程控制信息</a:t>
              </a:r>
            </a:p>
          </p:txBody>
        </p:sp>
      </p:grpSp>
      <p:sp>
        <p:nvSpPr>
          <p:cNvPr id="35" name="文本框 19"/>
          <p:cNvSpPr txBox="1">
            <a:spLocks noChangeArrowheads="1"/>
          </p:cNvSpPr>
          <p:nvPr/>
        </p:nvSpPr>
        <p:spPr bwMode="auto">
          <a:xfrm>
            <a:off x="1150228" y="6145112"/>
            <a:ext cx="1053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>
                <a:latin typeface="宋体" pitchFamily="2" charset="-122"/>
              </a:rPr>
              <a:t>程序和数据的地址、进程同步和通信的机制、资源清单、链接指针</a:t>
            </a:r>
            <a:endParaRPr lang="zh-CN" altLang="zh-CN" sz="2400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079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6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>
            <a:spLocks noChangeArrowheads="1"/>
          </p:cNvSpPr>
          <p:nvPr/>
        </p:nvSpPr>
        <p:spPr bwMode="auto">
          <a:xfrm>
            <a:off x="1574789" y="996457"/>
            <a:ext cx="1784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线性方式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/>
        </p:nvSpPr>
        <p:spPr bwMode="auto">
          <a:xfrm>
            <a:off x="5584118" y="959603"/>
            <a:ext cx="1784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链接方式</a:t>
            </a:r>
            <a:r>
              <a: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61" name="矩形 6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63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进程控制块的组织方式</a:t>
            </a:r>
          </a:p>
        </p:txBody>
      </p:sp>
      <p:sp>
        <p:nvSpPr>
          <p:cNvPr id="65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74789" y="1542029"/>
            <a:ext cx="2160587" cy="3168650"/>
            <a:chOff x="923910" y="2044459"/>
            <a:chExt cx="2160587" cy="3168650"/>
          </a:xfrm>
        </p:grpSpPr>
        <p:sp>
          <p:nvSpPr>
            <p:cNvPr id="66" name="Rectangle 5"/>
            <p:cNvSpPr>
              <a:spLocks noChangeArrowheads="1"/>
            </p:cNvSpPr>
            <p:nvPr/>
          </p:nvSpPr>
          <p:spPr bwMode="auto">
            <a:xfrm>
              <a:off x="923910" y="2044459"/>
              <a:ext cx="2160587" cy="5048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PCB1</a:t>
              </a:r>
              <a:endParaRPr lang="zh-CN" altLang="en-US"/>
            </a:p>
          </p:txBody>
        </p:sp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923910" y="2549284"/>
              <a:ext cx="2160587" cy="5048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PCB2</a:t>
              </a:r>
              <a:endParaRPr lang="zh-CN" altLang="en-US"/>
            </a:p>
          </p:txBody>
        </p:sp>
        <p:sp>
          <p:nvSpPr>
            <p:cNvPr id="68" name="Rectangle 5"/>
            <p:cNvSpPr>
              <a:spLocks noChangeArrowheads="1"/>
            </p:cNvSpPr>
            <p:nvPr/>
          </p:nvSpPr>
          <p:spPr bwMode="auto">
            <a:xfrm>
              <a:off x="923910" y="3052521"/>
              <a:ext cx="2160587" cy="5048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PCB3</a:t>
              </a:r>
              <a:endParaRPr lang="zh-CN" altLang="en-US"/>
            </a:p>
          </p:txBody>
        </p:sp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923910" y="3557346"/>
              <a:ext cx="2160587" cy="1150938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sp>
          <p:nvSpPr>
            <p:cNvPr id="70" name="Rectangle 5"/>
            <p:cNvSpPr>
              <a:spLocks noChangeArrowheads="1"/>
            </p:cNvSpPr>
            <p:nvPr/>
          </p:nvSpPr>
          <p:spPr bwMode="auto">
            <a:xfrm>
              <a:off x="923910" y="4708284"/>
              <a:ext cx="2160587" cy="5048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PCBn</a:t>
              </a:r>
              <a:endParaRPr lang="zh-CN" altLang="en-US"/>
            </a:p>
          </p:txBody>
        </p:sp>
      </p:grpSp>
      <p:cxnSp>
        <p:nvCxnSpPr>
          <p:cNvPr id="87" name="AutoShape 35"/>
          <p:cNvCxnSpPr>
            <a:cxnSpLocks noChangeShapeType="1"/>
            <a:stCxn id="100" idx="3"/>
            <a:endCxn id="102" idx="3"/>
          </p:cNvCxnSpPr>
          <p:nvPr/>
        </p:nvCxnSpPr>
        <p:spPr bwMode="auto">
          <a:xfrm>
            <a:off x="10238449" y="1748945"/>
            <a:ext cx="1587" cy="503237"/>
          </a:xfrm>
          <a:prstGeom prst="bentConnector3">
            <a:avLst>
              <a:gd name="adj1" fmla="val 14300005"/>
            </a:avLst>
          </a:prstGeom>
          <a:noFill/>
          <a:ln w="38100">
            <a:solidFill>
              <a:schemeClr val="bg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Freeform 37"/>
          <p:cNvSpPr>
            <a:spLocks/>
          </p:cNvSpPr>
          <p:nvPr/>
        </p:nvSpPr>
        <p:spPr bwMode="auto">
          <a:xfrm>
            <a:off x="10220986" y="1207607"/>
            <a:ext cx="646113" cy="1439863"/>
          </a:xfrm>
          <a:custGeom>
            <a:avLst/>
            <a:gdLst>
              <a:gd name="T0" fmla="*/ 2147483647 w 407"/>
              <a:gd name="T1" fmla="*/ 0 h 998"/>
              <a:gd name="T2" fmla="*/ 2147483647 w 407"/>
              <a:gd name="T3" fmla="*/ 0 h 998"/>
              <a:gd name="T4" fmla="*/ 2147483647 w 407"/>
              <a:gd name="T5" fmla="*/ 2147483647 h 998"/>
              <a:gd name="T6" fmla="*/ 0 w 407"/>
              <a:gd name="T7" fmla="*/ 2147483647 h 998"/>
              <a:gd name="T8" fmla="*/ 0 60000 65536"/>
              <a:gd name="T9" fmla="*/ 0 60000 65536"/>
              <a:gd name="T10" fmla="*/ 0 60000 65536"/>
              <a:gd name="T11" fmla="*/ 0 60000 65536"/>
              <a:gd name="T12" fmla="*/ 0 w 407"/>
              <a:gd name="T13" fmla="*/ 0 h 998"/>
              <a:gd name="T14" fmla="*/ 407 w 407"/>
              <a:gd name="T15" fmla="*/ 998 h 9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7" h="998">
                <a:moveTo>
                  <a:pt x="11" y="0"/>
                </a:moveTo>
                <a:lnTo>
                  <a:pt x="407" y="0"/>
                </a:lnTo>
                <a:lnTo>
                  <a:pt x="407" y="998"/>
                </a:lnTo>
                <a:lnTo>
                  <a:pt x="0" y="993"/>
                </a:ln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" name="Freeform 38"/>
          <p:cNvSpPr>
            <a:spLocks/>
          </p:cNvSpPr>
          <p:nvPr/>
        </p:nvSpPr>
        <p:spPr bwMode="auto">
          <a:xfrm>
            <a:off x="10236861" y="2783995"/>
            <a:ext cx="722313" cy="1908175"/>
          </a:xfrm>
          <a:custGeom>
            <a:avLst/>
            <a:gdLst>
              <a:gd name="T0" fmla="*/ 2147483647 w 455"/>
              <a:gd name="T1" fmla="*/ 2147483647 h 1202"/>
              <a:gd name="T2" fmla="*/ 2147483647 w 455"/>
              <a:gd name="T3" fmla="*/ 0 h 1202"/>
              <a:gd name="T4" fmla="*/ 2147483647 w 455"/>
              <a:gd name="T5" fmla="*/ 2147483647 h 1202"/>
              <a:gd name="T6" fmla="*/ 0 w 455"/>
              <a:gd name="T7" fmla="*/ 2147483647 h 1202"/>
              <a:gd name="T8" fmla="*/ 0 60000 65536"/>
              <a:gd name="T9" fmla="*/ 0 60000 65536"/>
              <a:gd name="T10" fmla="*/ 0 60000 65536"/>
              <a:gd name="T11" fmla="*/ 0 60000 65536"/>
              <a:gd name="T12" fmla="*/ 0 w 455"/>
              <a:gd name="T13" fmla="*/ 0 h 1202"/>
              <a:gd name="T14" fmla="*/ 455 w 455"/>
              <a:gd name="T15" fmla="*/ 1202 h 12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5" h="1202">
                <a:moveTo>
                  <a:pt x="1" y="7"/>
                </a:moveTo>
                <a:lnTo>
                  <a:pt x="455" y="0"/>
                </a:lnTo>
                <a:lnTo>
                  <a:pt x="447" y="1202"/>
                </a:lnTo>
                <a:lnTo>
                  <a:pt x="0" y="1202"/>
                </a:ln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0" name="Freeform 39"/>
          <p:cNvSpPr>
            <a:spLocks/>
          </p:cNvSpPr>
          <p:nvPr/>
        </p:nvSpPr>
        <p:spPr bwMode="auto">
          <a:xfrm>
            <a:off x="10220986" y="3655532"/>
            <a:ext cx="377825" cy="504825"/>
          </a:xfrm>
          <a:custGeom>
            <a:avLst/>
            <a:gdLst>
              <a:gd name="T0" fmla="*/ 2147483647 w 337"/>
              <a:gd name="T1" fmla="*/ 0 h 385"/>
              <a:gd name="T2" fmla="*/ 2147483647 w 337"/>
              <a:gd name="T3" fmla="*/ 2147483647 h 385"/>
              <a:gd name="T4" fmla="*/ 2147483647 w 337"/>
              <a:gd name="T5" fmla="*/ 2147483647 h 385"/>
              <a:gd name="T6" fmla="*/ 0 w 337"/>
              <a:gd name="T7" fmla="*/ 2147483647 h 385"/>
              <a:gd name="T8" fmla="*/ 0 60000 65536"/>
              <a:gd name="T9" fmla="*/ 0 60000 65536"/>
              <a:gd name="T10" fmla="*/ 0 60000 65536"/>
              <a:gd name="T11" fmla="*/ 0 60000 65536"/>
              <a:gd name="T12" fmla="*/ 0 w 337"/>
              <a:gd name="T13" fmla="*/ 0 h 385"/>
              <a:gd name="T14" fmla="*/ 337 w 337"/>
              <a:gd name="T15" fmla="*/ 385 h 3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7" h="385">
                <a:moveTo>
                  <a:pt x="11" y="0"/>
                </a:moveTo>
                <a:lnTo>
                  <a:pt x="337" y="7"/>
                </a:lnTo>
                <a:lnTo>
                  <a:pt x="337" y="385"/>
                </a:lnTo>
                <a:lnTo>
                  <a:pt x="0" y="385"/>
                </a:ln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" name="Freeform 40"/>
          <p:cNvSpPr>
            <a:spLocks/>
          </p:cNvSpPr>
          <p:nvPr/>
        </p:nvSpPr>
        <p:spPr bwMode="auto">
          <a:xfrm>
            <a:off x="10238449" y="4296882"/>
            <a:ext cx="455612" cy="727075"/>
          </a:xfrm>
          <a:custGeom>
            <a:avLst/>
            <a:gdLst>
              <a:gd name="T0" fmla="*/ 0 w 287"/>
              <a:gd name="T1" fmla="*/ 2147483647 h 547"/>
              <a:gd name="T2" fmla="*/ 2147483647 w 287"/>
              <a:gd name="T3" fmla="*/ 0 h 547"/>
              <a:gd name="T4" fmla="*/ 2147483647 w 287"/>
              <a:gd name="T5" fmla="*/ 2147483647 h 547"/>
              <a:gd name="T6" fmla="*/ 2147483647 w 287"/>
              <a:gd name="T7" fmla="*/ 2147483647 h 547"/>
              <a:gd name="T8" fmla="*/ 0 60000 65536"/>
              <a:gd name="T9" fmla="*/ 0 60000 65536"/>
              <a:gd name="T10" fmla="*/ 0 60000 65536"/>
              <a:gd name="T11" fmla="*/ 0 60000 65536"/>
              <a:gd name="T12" fmla="*/ 0 w 287"/>
              <a:gd name="T13" fmla="*/ 0 h 547"/>
              <a:gd name="T14" fmla="*/ 287 w 287"/>
              <a:gd name="T15" fmla="*/ 547 h 54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7" h="547">
                <a:moveTo>
                  <a:pt x="0" y="5"/>
                </a:moveTo>
                <a:lnTo>
                  <a:pt x="287" y="0"/>
                </a:lnTo>
                <a:lnTo>
                  <a:pt x="277" y="547"/>
                </a:lnTo>
                <a:lnTo>
                  <a:pt x="9" y="547"/>
                </a:ln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" name="Freeform 41"/>
          <p:cNvSpPr>
            <a:spLocks/>
          </p:cNvSpPr>
          <p:nvPr/>
        </p:nvSpPr>
        <p:spPr bwMode="auto">
          <a:xfrm>
            <a:off x="10238449" y="5168420"/>
            <a:ext cx="439737" cy="720725"/>
          </a:xfrm>
          <a:custGeom>
            <a:avLst/>
            <a:gdLst>
              <a:gd name="T0" fmla="*/ 0 w 277"/>
              <a:gd name="T1" fmla="*/ 0 h 454"/>
              <a:gd name="T2" fmla="*/ 2147483647 w 277"/>
              <a:gd name="T3" fmla="*/ 2147483647 h 454"/>
              <a:gd name="T4" fmla="*/ 2147483647 w 277"/>
              <a:gd name="T5" fmla="*/ 2147483647 h 454"/>
              <a:gd name="T6" fmla="*/ 0 60000 65536"/>
              <a:gd name="T7" fmla="*/ 0 60000 65536"/>
              <a:gd name="T8" fmla="*/ 0 60000 65536"/>
              <a:gd name="T9" fmla="*/ 0 w 277"/>
              <a:gd name="T10" fmla="*/ 0 h 454"/>
              <a:gd name="T11" fmla="*/ 277 w 277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7" h="454">
                <a:moveTo>
                  <a:pt x="0" y="0"/>
                </a:moveTo>
                <a:lnTo>
                  <a:pt x="277" y="8"/>
                </a:lnTo>
                <a:lnTo>
                  <a:pt x="277" y="454"/>
                </a:ln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" name="Rectangle 5"/>
          <p:cNvSpPr>
            <a:spLocks noChangeArrowheads="1"/>
          </p:cNvSpPr>
          <p:nvPr/>
        </p:nvSpPr>
        <p:spPr bwMode="auto">
          <a:xfrm>
            <a:off x="5176192" y="1494945"/>
            <a:ext cx="216058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执行指针</a:t>
            </a:r>
          </a:p>
        </p:txBody>
      </p:sp>
      <p:sp>
        <p:nvSpPr>
          <p:cNvPr id="94" name="Rectangle 6"/>
          <p:cNvSpPr>
            <a:spLocks noChangeArrowheads="1"/>
          </p:cNvSpPr>
          <p:nvPr/>
        </p:nvSpPr>
        <p:spPr bwMode="auto">
          <a:xfrm>
            <a:off x="5176191" y="2387967"/>
            <a:ext cx="216058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就绪队列指针</a:t>
            </a:r>
          </a:p>
        </p:txBody>
      </p:sp>
      <p:sp>
        <p:nvSpPr>
          <p:cNvPr id="95" name="Rectangle 7"/>
          <p:cNvSpPr>
            <a:spLocks noChangeArrowheads="1"/>
          </p:cNvSpPr>
          <p:nvPr/>
        </p:nvSpPr>
        <p:spPr bwMode="auto">
          <a:xfrm>
            <a:off x="5176192" y="3233257"/>
            <a:ext cx="216058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阻塞队列指针</a:t>
            </a:r>
          </a:p>
        </p:txBody>
      </p:sp>
      <p:sp>
        <p:nvSpPr>
          <p:cNvPr id="96" name="Rectangle 8"/>
          <p:cNvSpPr>
            <a:spLocks noChangeArrowheads="1"/>
          </p:cNvSpPr>
          <p:nvPr/>
        </p:nvSpPr>
        <p:spPr bwMode="auto">
          <a:xfrm>
            <a:off x="5207994" y="4053638"/>
            <a:ext cx="216058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空闲队列指针</a:t>
            </a:r>
          </a:p>
        </p:txBody>
      </p:sp>
      <p:sp>
        <p:nvSpPr>
          <p:cNvPr id="97" name="Rectangle 10"/>
          <p:cNvSpPr>
            <a:spLocks noChangeArrowheads="1"/>
          </p:cNvSpPr>
          <p:nvPr/>
        </p:nvSpPr>
        <p:spPr bwMode="auto">
          <a:xfrm>
            <a:off x="8006424" y="991707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PCB1</a:t>
            </a:r>
          </a:p>
        </p:txBody>
      </p:sp>
      <p:sp>
        <p:nvSpPr>
          <p:cNvPr id="98" name="Rectangle 11"/>
          <p:cNvSpPr>
            <a:spLocks noChangeArrowheads="1"/>
          </p:cNvSpPr>
          <p:nvPr/>
        </p:nvSpPr>
        <p:spPr bwMode="auto">
          <a:xfrm>
            <a:off x="9446286" y="991707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4</a:t>
            </a:r>
          </a:p>
        </p:txBody>
      </p:sp>
      <p:sp>
        <p:nvSpPr>
          <p:cNvPr id="99" name="Rectangle 12"/>
          <p:cNvSpPr>
            <a:spLocks noChangeArrowheads="1"/>
          </p:cNvSpPr>
          <p:nvPr/>
        </p:nvSpPr>
        <p:spPr bwMode="auto">
          <a:xfrm>
            <a:off x="8006424" y="1496532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PCB2</a:t>
            </a:r>
          </a:p>
        </p:txBody>
      </p:sp>
      <p:sp>
        <p:nvSpPr>
          <p:cNvPr id="100" name="Rectangle 13"/>
          <p:cNvSpPr>
            <a:spLocks noChangeArrowheads="1"/>
          </p:cNvSpPr>
          <p:nvPr/>
        </p:nvSpPr>
        <p:spPr bwMode="auto">
          <a:xfrm>
            <a:off x="9446286" y="1496532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3</a:t>
            </a:r>
          </a:p>
        </p:txBody>
      </p:sp>
      <p:sp>
        <p:nvSpPr>
          <p:cNvPr id="101" name="Rectangle 14"/>
          <p:cNvSpPr>
            <a:spLocks noChangeArrowheads="1"/>
          </p:cNvSpPr>
          <p:nvPr/>
        </p:nvSpPr>
        <p:spPr bwMode="auto">
          <a:xfrm>
            <a:off x="8006424" y="1999770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PCB3</a:t>
            </a:r>
          </a:p>
        </p:txBody>
      </p:sp>
      <p:sp>
        <p:nvSpPr>
          <p:cNvPr id="102" name="Rectangle 15"/>
          <p:cNvSpPr>
            <a:spLocks noChangeArrowheads="1"/>
          </p:cNvSpPr>
          <p:nvPr/>
        </p:nvSpPr>
        <p:spPr bwMode="auto">
          <a:xfrm>
            <a:off x="9446286" y="1999770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0</a:t>
            </a:r>
          </a:p>
        </p:txBody>
      </p:sp>
      <p:sp>
        <p:nvSpPr>
          <p:cNvPr id="103" name="Rectangle 16"/>
          <p:cNvSpPr>
            <a:spLocks noChangeArrowheads="1"/>
          </p:cNvSpPr>
          <p:nvPr/>
        </p:nvSpPr>
        <p:spPr bwMode="auto">
          <a:xfrm>
            <a:off x="8006424" y="2499832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PCB4</a:t>
            </a:r>
          </a:p>
        </p:txBody>
      </p:sp>
      <p:sp>
        <p:nvSpPr>
          <p:cNvPr id="104" name="Rectangle 17"/>
          <p:cNvSpPr>
            <a:spLocks noChangeArrowheads="1"/>
          </p:cNvSpPr>
          <p:nvPr/>
        </p:nvSpPr>
        <p:spPr bwMode="auto">
          <a:xfrm>
            <a:off x="9446286" y="2499832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8</a:t>
            </a:r>
          </a:p>
        </p:txBody>
      </p:sp>
      <p:sp>
        <p:nvSpPr>
          <p:cNvPr id="105" name="Rectangle 18"/>
          <p:cNvSpPr>
            <a:spLocks noChangeArrowheads="1"/>
          </p:cNvSpPr>
          <p:nvPr/>
        </p:nvSpPr>
        <p:spPr bwMode="auto">
          <a:xfrm>
            <a:off x="8006424" y="2936395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PCB5</a:t>
            </a:r>
          </a:p>
        </p:txBody>
      </p:sp>
      <p:sp>
        <p:nvSpPr>
          <p:cNvPr id="106" name="Rectangle 19"/>
          <p:cNvSpPr>
            <a:spLocks noChangeArrowheads="1"/>
          </p:cNvSpPr>
          <p:nvPr/>
        </p:nvSpPr>
        <p:spPr bwMode="auto">
          <a:xfrm>
            <a:off x="9446286" y="2936395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" name="Rectangle 20"/>
          <p:cNvSpPr>
            <a:spLocks noChangeArrowheads="1"/>
          </p:cNvSpPr>
          <p:nvPr/>
        </p:nvSpPr>
        <p:spPr bwMode="auto">
          <a:xfrm>
            <a:off x="8006424" y="3441220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PCB6</a:t>
            </a:r>
          </a:p>
        </p:txBody>
      </p:sp>
      <p:sp>
        <p:nvSpPr>
          <p:cNvPr id="108" name="Rectangle 21"/>
          <p:cNvSpPr>
            <a:spLocks noChangeArrowheads="1"/>
          </p:cNvSpPr>
          <p:nvPr/>
        </p:nvSpPr>
        <p:spPr bwMode="auto">
          <a:xfrm>
            <a:off x="9446286" y="3441220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7</a:t>
            </a:r>
          </a:p>
        </p:txBody>
      </p:sp>
      <p:sp>
        <p:nvSpPr>
          <p:cNvPr id="109" name="Rectangle 22"/>
          <p:cNvSpPr>
            <a:spLocks noChangeArrowheads="1"/>
          </p:cNvSpPr>
          <p:nvPr/>
        </p:nvSpPr>
        <p:spPr bwMode="auto">
          <a:xfrm>
            <a:off x="8006424" y="3944457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PCB7</a:t>
            </a:r>
          </a:p>
        </p:txBody>
      </p:sp>
      <p:sp>
        <p:nvSpPr>
          <p:cNvPr id="110" name="Rectangle 23"/>
          <p:cNvSpPr>
            <a:spLocks noChangeArrowheads="1"/>
          </p:cNvSpPr>
          <p:nvPr/>
        </p:nvSpPr>
        <p:spPr bwMode="auto">
          <a:xfrm>
            <a:off x="9446286" y="3944457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9</a:t>
            </a:r>
          </a:p>
        </p:txBody>
      </p:sp>
      <p:sp>
        <p:nvSpPr>
          <p:cNvPr id="111" name="Rectangle 24"/>
          <p:cNvSpPr>
            <a:spLocks noChangeArrowheads="1"/>
          </p:cNvSpPr>
          <p:nvPr/>
        </p:nvSpPr>
        <p:spPr bwMode="auto">
          <a:xfrm>
            <a:off x="8006424" y="4449282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PCB8</a:t>
            </a:r>
          </a:p>
        </p:txBody>
      </p:sp>
      <p:sp>
        <p:nvSpPr>
          <p:cNvPr id="112" name="Rectangle 25"/>
          <p:cNvSpPr>
            <a:spLocks noChangeArrowheads="1"/>
          </p:cNvSpPr>
          <p:nvPr/>
        </p:nvSpPr>
        <p:spPr bwMode="auto">
          <a:xfrm>
            <a:off x="9446286" y="4449282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0</a:t>
            </a:r>
          </a:p>
        </p:txBody>
      </p:sp>
      <p:sp>
        <p:nvSpPr>
          <p:cNvPr id="113" name="Rectangle 26"/>
          <p:cNvSpPr>
            <a:spLocks noChangeArrowheads="1"/>
          </p:cNvSpPr>
          <p:nvPr/>
        </p:nvSpPr>
        <p:spPr bwMode="auto">
          <a:xfrm>
            <a:off x="8006424" y="4879495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PCB9</a:t>
            </a:r>
          </a:p>
        </p:txBody>
      </p:sp>
      <p:sp>
        <p:nvSpPr>
          <p:cNvPr id="114" name="Rectangle 27"/>
          <p:cNvSpPr>
            <a:spLocks noChangeArrowheads="1"/>
          </p:cNvSpPr>
          <p:nvPr/>
        </p:nvSpPr>
        <p:spPr bwMode="auto">
          <a:xfrm>
            <a:off x="9446286" y="4879495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15</a:t>
            </a:r>
          </a:p>
        </p:txBody>
      </p:sp>
      <p:sp>
        <p:nvSpPr>
          <p:cNvPr id="115" name="Rectangle 28"/>
          <p:cNvSpPr>
            <a:spLocks noChangeArrowheads="1"/>
          </p:cNvSpPr>
          <p:nvPr/>
        </p:nvSpPr>
        <p:spPr bwMode="auto">
          <a:xfrm>
            <a:off x="8006424" y="5311295"/>
            <a:ext cx="1439862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/>
              <a:t>…</a:t>
            </a:r>
          </a:p>
        </p:txBody>
      </p:sp>
      <p:sp>
        <p:nvSpPr>
          <p:cNvPr id="116" name="Rectangle 29"/>
          <p:cNvSpPr>
            <a:spLocks noChangeArrowheads="1"/>
          </p:cNvSpPr>
          <p:nvPr/>
        </p:nvSpPr>
        <p:spPr bwMode="auto">
          <a:xfrm>
            <a:off x="9446286" y="5311295"/>
            <a:ext cx="792163" cy="5048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7" name="Line 30"/>
          <p:cNvSpPr>
            <a:spLocks noChangeShapeType="1"/>
          </p:cNvSpPr>
          <p:nvPr/>
        </p:nvSpPr>
        <p:spPr bwMode="auto">
          <a:xfrm>
            <a:off x="7096786" y="1803896"/>
            <a:ext cx="909638" cy="1419836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8" name="Line 31"/>
          <p:cNvSpPr>
            <a:spLocks noChangeShapeType="1"/>
          </p:cNvSpPr>
          <p:nvPr/>
        </p:nvSpPr>
        <p:spPr bwMode="auto">
          <a:xfrm flipV="1">
            <a:off x="7336778" y="1207606"/>
            <a:ext cx="669646" cy="1440656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9" name="Line 32"/>
          <p:cNvSpPr>
            <a:spLocks noChangeShapeType="1"/>
          </p:cNvSpPr>
          <p:nvPr/>
        </p:nvSpPr>
        <p:spPr bwMode="auto">
          <a:xfrm flipV="1">
            <a:off x="7328882" y="1783869"/>
            <a:ext cx="677542" cy="1737252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0" name="Line 33"/>
          <p:cNvSpPr>
            <a:spLocks noChangeShapeType="1"/>
          </p:cNvSpPr>
          <p:nvPr/>
        </p:nvSpPr>
        <p:spPr bwMode="auto">
          <a:xfrm flipV="1">
            <a:off x="7368581" y="3728557"/>
            <a:ext cx="637843" cy="577493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22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 tmFilter="0, 0; .2, .5; .8, .5; 1, 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nimBg="1"/>
      <p:bldP spid="91" grpId="0" animBg="1"/>
      <p:bldP spid="92" grpId="0" animBg="1"/>
      <p:bldP spid="106" grpId="0" animBg="1"/>
      <p:bldP spid="117" grpId="0" animBg="1"/>
      <p:bldP spid="118" grpId="0" animBg="1"/>
      <p:bldP spid="119" grpId="0" animBg="1"/>
      <p:bldP spid="1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>
            <a:spLocks noChangeArrowheads="1"/>
          </p:cNvSpPr>
          <p:nvPr/>
        </p:nvSpPr>
        <p:spPr bwMode="auto">
          <a:xfrm>
            <a:off x="1574789" y="996457"/>
            <a:ext cx="1784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索引方式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61" name="矩形 6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63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进程控制块的组织方式</a:t>
            </a:r>
          </a:p>
        </p:txBody>
      </p:sp>
      <p:sp>
        <p:nvSpPr>
          <p:cNvPr id="65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8038000" y="1641022"/>
            <a:ext cx="1439862" cy="533400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PCB1</a:t>
            </a:r>
          </a:p>
        </p:txBody>
      </p:sp>
      <p:sp>
        <p:nvSpPr>
          <p:cNvPr id="53" name="Line 12"/>
          <p:cNvSpPr>
            <a:spLocks noChangeShapeType="1"/>
          </p:cNvSpPr>
          <p:nvPr/>
        </p:nvSpPr>
        <p:spPr bwMode="auto">
          <a:xfrm>
            <a:off x="8044350" y="5246235"/>
            <a:ext cx="0" cy="4318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13"/>
          <p:cNvSpPr>
            <a:spLocks noChangeShapeType="1"/>
          </p:cNvSpPr>
          <p:nvPr/>
        </p:nvSpPr>
        <p:spPr bwMode="auto">
          <a:xfrm>
            <a:off x="9477862" y="5246235"/>
            <a:ext cx="0" cy="4318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1916600" y="1714047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执行指针</a:t>
            </a:r>
          </a:p>
        </p:txBody>
      </p:sp>
      <p:sp>
        <p:nvSpPr>
          <p:cNvPr id="56" name="Rectangle 15"/>
          <p:cNvSpPr>
            <a:spLocks noChangeArrowheads="1"/>
          </p:cNvSpPr>
          <p:nvPr/>
        </p:nvSpPr>
        <p:spPr bwMode="auto">
          <a:xfrm>
            <a:off x="1916600" y="2938010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就绪表指针</a:t>
            </a:r>
          </a:p>
        </p:txBody>
      </p:sp>
      <p:sp>
        <p:nvSpPr>
          <p:cNvPr id="57" name="Rectangle 16"/>
          <p:cNvSpPr>
            <a:spLocks noChangeArrowheads="1"/>
          </p:cNvSpPr>
          <p:nvPr/>
        </p:nvSpPr>
        <p:spPr bwMode="auto">
          <a:xfrm>
            <a:off x="1916600" y="4449310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阻塞表指针</a:t>
            </a:r>
          </a:p>
        </p:txBody>
      </p:sp>
      <p:sp>
        <p:nvSpPr>
          <p:cNvPr id="64" name="Rectangle 17"/>
          <p:cNvSpPr>
            <a:spLocks noChangeArrowheads="1"/>
          </p:cNvSpPr>
          <p:nvPr/>
        </p:nvSpPr>
        <p:spPr bwMode="auto">
          <a:xfrm>
            <a:off x="4580425" y="2577647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" name="Rectangle 18"/>
          <p:cNvSpPr>
            <a:spLocks noChangeArrowheads="1"/>
          </p:cNvSpPr>
          <p:nvPr/>
        </p:nvSpPr>
        <p:spPr bwMode="auto">
          <a:xfrm>
            <a:off x="4580425" y="3009447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3" name="Rectangle 19"/>
          <p:cNvSpPr>
            <a:spLocks noChangeArrowheads="1"/>
          </p:cNvSpPr>
          <p:nvPr/>
        </p:nvSpPr>
        <p:spPr bwMode="auto">
          <a:xfrm>
            <a:off x="4580425" y="4449310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4" name="Rectangle 20"/>
          <p:cNvSpPr>
            <a:spLocks noChangeArrowheads="1"/>
          </p:cNvSpPr>
          <p:nvPr/>
        </p:nvSpPr>
        <p:spPr bwMode="auto">
          <a:xfrm>
            <a:off x="4580425" y="4882697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" name="Rectangle 21"/>
          <p:cNvSpPr>
            <a:spLocks noChangeArrowheads="1"/>
          </p:cNvSpPr>
          <p:nvPr/>
        </p:nvSpPr>
        <p:spPr bwMode="auto">
          <a:xfrm>
            <a:off x="4580425" y="5314497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6" name="Rectangle 22"/>
          <p:cNvSpPr>
            <a:spLocks noChangeArrowheads="1"/>
          </p:cNvSpPr>
          <p:nvPr/>
        </p:nvSpPr>
        <p:spPr bwMode="auto">
          <a:xfrm>
            <a:off x="4580425" y="3441247"/>
            <a:ext cx="187166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4508987" y="2001385"/>
            <a:ext cx="2232025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就绪索引表</a:t>
            </a: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4508987" y="3946072"/>
            <a:ext cx="2232025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阻塞索引表</a:t>
            </a:r>
          </a:p>
        </p:txBody>
      </p:sp>
      <p:sp>
        <p:nvSpPr>
          <p:cNvPr id="79" name="Line 26"/>
          <p:cNvSpPr>
            <a:spLocks noChangeShapeType="1"/>
          </p:cNvSpPr>
          <p:nvPr/>
        </p:nvSpPr>
        <p:spPr bwMode="auto">
          <a:xfrm>
            <a:off x="3572362" y="1929947"/>
            <a:ext cx="446405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" name="Line 27"/>
          <p:cNvSpPr>
            <a:spLocks noChangeShapeType="1"/>
          </p:cNvSpPr>
          <p:nvPr/>
        </p:nvSpPr>
        <p:spPr bwMode="auto">
          <a:xfrm flipV="1">
            <a:off x="3643800" y="2577647"/>
            <a:ext cx="936625" cy="576263"/>
          </a:xfrm>
          <a:prstGeom prst="line">
            <a:avLst/>
          </a:prstGeom>
          <a:ln>
            <a:headEnd type="oval" w="med" len="med"/>
            <a:tailEnd type="stealth" w="med" len="lg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endParaRPr lang="zh-CN" altLang="en-US"/>
          </a:p>
        </p:txBody>
      </p:sp>
      <p:sp>
        <p:nvSpPr>
          <p:cNvPr id="81" name="Line 28"/>
          <p:cNvSpPr>
            <a:spLocks noChangeShapeType="1"/>
          </p:cNvSpPr>
          <p:nvPr/>
        </p:nvSpPr>
        <p:spPr bwMode="auto">
          <a:xfrm flipV="1">
            <a:off x="3643800" y="4449310"/>
            <a:ext cx="936625" cy="215900"/>
          </a:xfrm>
          <a:prstGeom prst="line">
            <a:avLst/>
          </a:prstGeom>
          <a:ln>
            <a:headEnd type="oval" w="med" len="med"/>
            <a:tailEnd type="stealth" w="med" len="lg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endParaRPr lang="zh-CN" altLang="en-US"/>
          </a:p>
        </p:txBody>
      </p:sp>
      <p:sp>
        <p:nvSpPr>
          <p:cNvPr id="82" name="Line 30"/>
          <p:cNvSpPr>
            <a:spLocks noChangeShapeType="1"/>
          </p:cNvSpPr>
          <p:nvPr/>
        </p:nvSpPr>
        <p:spPr bwMode="auto">
          <a:xfrm flipV="1">
            <a:off x="6236187" y="2433185"/>
            <a:ext cx="1800225" cy="1296987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3" name="Line 32"/>
          <p:cNvSpPr>
            <a:spLocks noChangeShapeType="1"/>
          </p:cNvSpPr>
          <p:nvPr/>
        </p:nvSpPr>
        <p:spPr bwMode="auto">
          <a:xfrm>
            <a:off x="6236187" y="2722110"/>
            <a:ext cx="1849438" cy="2381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4" name="Line 33"/>
          <p:cNvSpPr>
            <a:spLocks noChangeShapeType="1"/>
          </p:cNvSpPr>
          <p:nvPr/>
        </p:nvSpPr>
        <p:spPr bwMode="auto">
          <a:xfrm>
            <a:off x="6309212" y="3225347"/>
            <a:ext cx="1776413" cy="23495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" name="Line 34"/>
          <p:cNvSpPr>
            <a:spLocks noChangeShapeType="1"/>
          </p:cNvSpPr>
          <p:nvPr/>
        </p:nvSpPr>
        <p:spPr bwMode="auto">
          <a:xfrm>
            <a:off x="6309212" y="4665210"/>
            <a:ext cx="1776413" cy="366712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6" name="Rectangle 36"/>
          <p:cNvSpPr>
            <a:spLocks noChangeArrowheads="1"/>
          </p:cNvSpPr>
          <p:nvPr/>
        </p:nvSpPr>
        <p:spPr bwMode="auto">
          <a:xfrm>
            <a:off x="8038000" y="2147435"/>
            <a:ext cx="1439862" cy="527050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PCB2</a:t>
            </a:r>
          </a:p>
        </p:txBody>
      </p:sp>
      <p:sp>
        <p:nvSpPr>
          <p:cNvPr id="121" name="Rectangle 37"/>
          <p:cNvSpPr>
            <a:spLocks noChangeArrowheads="1"/>
          </p:cNvSpPr>
          <p:nvPr/>
        </p:nvSpPr>
        <p:spPr bwMode="auto">
          <a:xfrm>
            <a:off x="8038000" y="2674485"/>
            <a:ext cx="1439862" cy="522287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PCB3</a:t>
            </a:r>
          </a:p>
        </p:txBody>
      </p:sp>
      <p:sp>
        <p:nvSpPr>
          <p:cNvPr id="123" name="Rectangle 38"/>
          <p:cNvSpPr>
            <a:spLocks noChangeArrowheads="1"/>
          </p:cNvSpPr>
          <p:nvPr/>
        </p:nvSpPr>
        <p:spPr bwMode="auto">
          <a:xfrm>
            <a:off x="8041175" y="3218997"/>
            <a:ext cx="1439862" cy="517525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PCB4</a:t>
            </a:r>
          </a:p>
        </p:txBody>
      </p:sp>
      <p:sp>
        <p:nvSpPr>
          <p:cNvPr id="124" name="Rectangle 39"/>
          <p:cNvSpPr>
            <a:spLocks noChangeArrowheads="1"/>
          </p:cNvSpPr>
          <p:nvPr/>
        </p:nvSpPr>
        <p:spPr bwMode="auto">
          <a:xfrm>
            <a:off x="8038000" y="3746047"/>
            <a:ext cx="1439862" cy="500063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PCB5</a:t>
            </a:r>
          </a:p>
        </p:txBody>
      </p:sp>
      <p:sp>
        <p:nvSpPr>
          <p:cNvPr id="125" name="Rectangle 40"/>
          <p:cNvSpPr>
            <a:spLocks noChangeArrowheads="1"/>
          </p:cNvSpPr>
          <p:nvPr/>
        </p:nvSpPr>
        <p:spPr bwMode="auto">
          <a:xfrm>
            <a:off x="8038000" y="4246110"/>
            <a:ext cx="1439862" cy="493712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PCB6</a:t>
            </a:r>
          </a:p>
        </p:txBody>
      </p:sp>
      <p:sp>
        <p:nvSpPr>
          <p:cNvPr id="126" name="Rectangle 41"/>
          <p:cNvSpPr>
            <a:spLocks noChangeArrowheads="1"/>
          </p:cNvSpPr>
          <p:nvPr/>
        </p:nvSpPr>
        <p:spPr bwMode="auto">
          <a:xfrm>
            <a:off x="8038000" y="4760460"/>
            <a:ext cx="1439862" cy="487362"/>
          </a:xfrm>
          <a:prstGeom prst="rect">
            <a:avLst/>
          </a:prstGeom>
          <a:solidFill>
            <a:srgbClr val="66FF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/>
              <a:t>PCB7</a:t>
            </a:r>
          </a:p>
        </p:txBody>
      </p:sp>
      <p:sp>
        <p:nvSpPr>
          <p:cNvPr id="127" name="Line 42"/>
          <p:cNvSpPr>
            <a:spLocks noChangeShapeType="1"/>
          </p:cNvSpPr>
          <p:nvPr/>
        </p:nvSpPr>
        <p:spPr bwMode="auto">
          <a:xfrm flipV="1">
            <a:off x="6309212" y="4031797"/>
            <a:ext cx="1704975" cy="1570038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8" name="Line 43"/>
          <p:cNvSpPr>
            <a:spLocks noChangeShapeType="1"/>
          </p:cNvSpPr>
          <p:nvPr/>
        </p:nvSpPr>
        <p:spPr bwMode="auto">
          <a:xfrm flipV="1">
            <a:off x="6236187" y="4531860"/>
            <a:ext cx="1778000" cy="566737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72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3" grpId="0" animBg="1"/>
      <p:bldP spid="84" grpId="0" animBg="1"/>
      <p:bldP spid="85" grpId="0" animBg="1"/>
      <p:bldP spid="127" grpId="0" animBg="1"/>
      <p:bldP spid="1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34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5079</TotalTime>
  <Words>2102</Words>
  <Application>Microsoft Office PowerPoint</Application>
  <PresentationFormat>宽屏</PresentationFormat>
  <Paragraphs>351</Paragraphs>
  <Slides>21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Gill Sans</vt:lpstr>
      <vt:lpstr>等线</vt:lpstr>
      <vt:lpstr>等线 Light</vt:lpstr>
      <vt:lpstr>方正清刻本悦宋简体</vt:lpstr>
      <vt:lpstr>黑体</vt:lpstr>
      <vt:lpstr>宋体</vt:lpstr>
      <vt:lpstr>微软雅黑</vt:lpstr>
      <vt:lpstr>微软雅黑 Light</vt:lpstr>
      <vt:lpstr>Arial</vt:lpstr>
      <vt:lpstr>Calibri</vt:lpstr>
      <vt:lpstr>Impact</vt:lpstr>
      <vt:lpstr>Open Sans Light</vt:lpstr>
      <vt:lpstr>Tahoma</vt:lpstr>
      <vt:lpstr>Times New Roman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不可再现性例子</vt:lpstr>
      <vt:lpstr>PowerPoint 演示文稿</vt:lpstr>
      <vt:lpstr>PowerPoint 演示文稿</vt:lpstr>
      <vt:lpstr>程序与进程的比较</vt:lpstr>
      <vt:lpstr>2.进程的三种基本状态及转换</vt:lpstr>
      <vt:lpstr>3.进程的创建状态和终止状态</vt:lpstr>
      <vt:lpstr>4.进程管理中的数据结构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子 麦</cp:lastModifiedBy>
  <cp:revision>169</cp:revision>
  <dcterms:created xsi:type="dcterms:W3CDTF">2016-05-18T19:05:46Z</dcterms:created>
  <dcterms:modified xsi:type="dcterms:W3CDTF">2023-10-07T01:51:31Z</dcterms:modified>
</cp:coreProperties>
</file>