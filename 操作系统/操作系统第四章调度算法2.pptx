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6" r:id="rId2"/>
    <p:sldMasterId id="2147483648" r:id="rId3"/>
    <p:sldMasterId id="2147483698" r:id="rId4"/>
  </p:sldMasterIdLst>
  <p:notesMasterIdLst>
    <p:notesMasterId r:id="rId30"/>
  </p:notesMasterIdLst>
  <p:sldIdLst>
    <p:sldId id="328" r:id="rId5"/>
    <p:sldId id="341" r:id="rId6"/>
    <p:sldId id="342" r:id="rId7"/>
    <p:sldId id="343" r:id="rId8"/>
    <p:sldId id="344" r:id="rId9"/>
    <p:sldId id="345" r:id="rId10"/>
    <p:sldId id="346" r:id="rId11"/>
    <p:sldId id="347" r:id="rId12"/>
    <p:sldId id="348" r:id="rId13"/>
    <p:sldId id="349" r:id="rId14"/>
    <p:sldId id="354" r:id="rId15"/>
    <p:sldId id="350" r:id="rId16"/>
    <p:sldId id="352" r:id="rId17"/>
    <p:sldId id="355" r:id="rId18"/>
    <p:sldId id="356" r:id="rId19"/>
    <p:sldId id="357" r:id="rId20"/>
    <p:sldId id="359" r:id="rId21"/>
    <p:sldId id="360" r:id="rId22"/>
    <p:sldId id="351" r:id="rId23"/>
    <p:sldId id="361" r:id="rId24"/>
    <p:sldId id="358" r:id="rId25"/>
    <p:sldId id="362" r:id="rId26"/>
    <p:sldId id="363" r:id="rId27"/>
    <p:sldId id="364" r:id="rId28"/>
    <p:sldId id="353"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294" autoAdjust="0"/>
  </p:normalViewPr>
  <p:slideViewPr>
    <p:cSldViewPr snapToGrid="0">
      <p:cViewPr varScale="1">
        <p:scale>
          <a:sx n="69" d="100"/>
          <a:sy n="69" d="100"/>
        </p:scale>
        <p:origin x="738" y="60"/>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93AD-7C06-486F-9754-D5B73F7C37DE}" type="datetimeFigureOut">
              <a:rPr lang="zh-CN" altLang="en-US" smtClean="0"/>
              <a:pPr/>
              <a:t>2023-10-19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DE87-FC43-4F0C-9C51-E666AB0AC5F3}" type="slidenum">
              <a:rPr lang="zh-CN" altLang="en-US" smtClean="0"/>
              <a:pPr/>
              <a:t>‹#›</a:t>
            </a:fld>
            <a:endParaRPr lang="zh-CN" altLang="en-US"/>
          </a:p>
        </p:txBody>
      </p:sp>
    </p:spTree>
    <p:extLst>
      <p:ext uri="{BB962C8B-B14F-4D97-AF65-F5344CB8AC3E}">
        <p14:creationId xmlns:p14="http://schemas.microsoft.com/office/powerpoint/2010/main" val="164044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13EDE87-FC43-4F0C-9C51-E666AB0AC5F3}"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25</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6372478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pic>
        <p:nvPicPr>
          <p:cNvPr id="8" name="图片 7"/>
          <p:cNvPicPr>
            <a:picLocks noChangeAspect="1"/>
          </p:cNvPicPr>
          <p:nvPr userDrawn="1"/>
        </p:nvPicPr>
        <p:blipFill rotWithShape="1">
          <a:blip r:embed="rId4" cstate="print"/>
          <a:srcRect r="42146" b="48018"/>
          <a:stretch/>
        </p:blipFill>
        <p:spPr>
          <a:xfrm>
            <a:off x="7346062" y="2511276"/>
            <a:ext cx="4845938" cy="4346724"/>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1479587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txBox="1">
            <a:spLocks/>
          </p:cNvSpPr>
          <p:nvPr userDrawn="1"/>
        </p:nvSpPr>
        <p:spPr>
          <a:xfrm>
            <a:off x="848833" y="202028"/>
            <a:ext cx="3967716" cy="45719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3D7351"/>
                </a:solidFill>
                <a:effectLst/>
                <a:uLnTx/>
                <a:uFillTx/>
                <a:latin typeface="微软雅黑" panose="020B0503020204020204" pitchFamily="34" charset="-122"/>
                <a:ea typeface="微软雅黑" panose="020B0503020204020204" pitchFamily="34" charset="-122"/>
                <a:cs typeface="+mn-cs"/>
              </a:rPr>
              <a:t>单击此处编辑母版标题样式</a:t>
            </a:r>
          </a:p>
        </p:txBody>
      </p:sp>
    </p:spTree>
    <p:extLst>
      <p:ext uri="{BB962C8B-B14F-4D97-AF65-F5344CB8AC3E}">
        <p14:creationId xmlns:p14="http://schemas.microsoft.com/office/powerpoint/2010/main" val="4000202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08571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190962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571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190962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10"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886203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093247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25305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3315586" y="545879"/>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0953898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2324679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00282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3.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16" cstate="print"/>
          <a:srcRect r="42146" b="48018"/>
          <a:stretch/>
        </p:blipFill>
        <p:spPr>
          <a:xfrm>
            <a:off x="7346062" y="2511276"/>
            <a:ext cx="4845938" cy="4346724"/>
          </a:xfrm>
          <a:prstGeom prst="rect">
            <a:avLst/>
          </a:prstGeom>
        </p:spPr>
      </p:pic>
      <p:pic>
        <p:nvPicPr>
          <p:cNvPr id="8" name="图片 7"/>
          <p:cNvPicPr>
            <a:picLocks noChangeAspect="1"/>
          </p:cNvPicPr>
          <p:nvPr userDrawn="1"/>
        </p:nvPicPr>
        <p:blipFill rotWithShape="1">
          <a:blip r:embed="rId17" cstate="print">
            <a:extLst>
              <a:ext uri="{BEBA8EAE-BF5A-486C-A8C5-ECC9F3942E4B}">
                <a14:imgProps xmlns:a14="http://schemas.microsoft.com/office/drawing/2010/main">
                  <a14:imgLayer r:embed="rId18">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71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
        <p:nvSpPr>
          <p:cNvPr id="2" name="标题占位符 1"/>
          <p:cNvSpPr>
            <a:spLocks noGrp="1"/>
          </p:cNvSpPr>
          <p:nvPr>
            <p:ph type="title"/>
          </p:nvPr>
        </p:nvSpPr>
        <p:spPr>
          <a:xfrm>
            <a:off x="848833" y="202028"/>
            <a:ext cx="3967716" cy="45719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988828"/>
            <a:ext cx="10515600" cy="5188135"/>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8"/>
          <p:cNvSpPr/>
          <p:nvPr userDrawn="1"/>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7" name="组合 9"/>
          <p:cNvGrpSpPr/>
          <p:nvPr userDrawn="1"/>
        </p:nvGrpSpPr>
        <p:grpSpPr>
          <a:xfrm>
            <a:off x="245745" y="213360"/>
            <a:ext cx="563880" cy="563880"/>
            <a:chOff x="276225" y="213360"/>
            <a:chExt cx="563880" cy="563880"/>
          </a:xfrm>
          <a:solidFill>
            <a:srgbClr val="3D7351"/>
          </a:solidFill>
        </p:grpSpPr>
        <p:sp>
          <p:nvSpPr>
            <p:cNvPr id="11" name="矩形 10"/>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12" name="椭圆 11"/>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14" name="文本框 31"/>
          <p:cNvSpPr txBox="1"/>
          <p:nvPr userDrawn="1"/>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711" r:id="rId12"/>
  </p:sldLayoutIdLst>
  <p:txStyles>
    <p:title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Tx/>
        <a:buBlip>
          <a:blip r:embed="rId14"/>
        </a:buBli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AEA"/>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20.x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20.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3.xml"/><Relationship Id="rId1" Type="http://schemas.openxmlformats.org/officeDocument/2006/relationships/slideLayout" Target="../slideLayouts/slideLayout20.xml"/><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2" cstate="print"/>
          <a:srcRect r="42146" b="48018"/>
          <a:stretch/>
        </p:blipFill>
        <p:spPr>
          <a:xfrm>
            <a:off x="7346062" y="2511276"/>
            <a:ext cx="4845938" cy="4346724"/>
          </a:xfrm>
          <a:prstGeom prst="rect">
            <a:avLst/>
          </a:prstGeom>
        </p:spPr>
      </p:pic>
      <p:sp>
        <p:nvSpPr>
          <p:cNvPr id="13" name="Rectangle 5"/>
          <p:cNvSpPr>
            <a:spLocks noChangeArrowheads="1"/>
          </p:cNvSpPr>
          <p:nvPr/>
        </p:nvSpPr>
        <p:spPr bwMode="auto">
          <a:xfrm>
            <a:off x="2472862" y="2048669"/>
            <a:ext cx="7246275" cy="2760663"/>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7" name="图片 1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6" name="文本框 5"/>
          <p:cNvSpPr txBox="1"/>
          <p:nvPr/>
        </p:nvSpPr>
        <p:spPr>
          <a:xfrm>
            <a:off x="4595747" y="2251341"/>
            <a:ext cx="3109978" cy="938719"/>
          </a:xfrm>
          <a:prstGeom prst="rect">
            <a:avLst/>
          </a:prstGeom>
          <a:noFill/>
        </p:spPr>
        <p:txBody>
          <a:bodyPr wrap="square" rtlCol="0">
            <a:spAutoFit/>
          </a:bodyPr>
          <a:lstStyle/>
          <a:p>
            <a:r>
              <a:rPr lang="zh-CN" altLang="en-US" sz="5500" dirty="0">
                <a:solidFill>
                  <a:srgbClr val="3D7351"/>
                </a:solidFill>
                <a:latin typeface="方正清刻本悦宋简体" panose="02000000000000000000" pitchFamily="2" charset="-122"/>
                <a:ea typeface="方正清刻本悦宋简体" panose="02000000000000000000" pitchFamily="2" charset="-122"/>
              </a:rPr>
              <a:t>操作系统</a:t>
            </a:r>
          </a:p>
        </p:txBody>
      </p:sp>
      <p:sp>
        <p:nvSpPr>
          <p:cNvPr id="8" name="文本框 7"/>
          <p:cNvSpPr txBox="1"/>
          <p:nvPr/>
        </p:nvSpPr>
        <p:spPr>
          <a:xfrm>
            <a:off x="3939822" y="3912068"/>
            <a:ext cx="4417602" cy="276999"/>
          </a:xfrm>
          <a:prstGeom prst="rect">
            <a:avLst/>
          </a:prstGeom>
          <a:noFill/>
        </p:spPr>
        <p:txBody>
          <a:bodyPr wrap="square" rtlCol="0">
            <a:spAutoFit/>
          </a:bodyPr>
          <a:lstStyle/>
          <a:p>
            <a:pPr algn="dist"/>
            <a:r>
              <a:rPr lang="en-US" altLang="zh-CN" sz="1200" dirty="0">
                <a:solidFill>
                  <a:srgbClr val="3D7351"/>
                </a:solidFill>
                <a:latin typeface="微软雅黑" panose="020B0503020204020204" pitchFamily="34" charset="-122"/>
                <a:ea typeface="微软雅黑" panose="020B0503020204020204" pitchFamily="34" charset="-122"/>
              </a:rPr>
              <a:t>OPERATING SYSTEM</a:t>
            </a:r>
            <a:endParaRPr lang="zh-CN" altLang="en-US" sz="1200" dirty="0">
              <a:solidFill>
                <a:srgbClr val="3D7351"/>
              </a:solidFill>
              <a:latin typeface="微软雅黑" panose="020B0503020204020204" pitchFamily="34" charset="-122"/>
              <a:ea typeface="微软雅黑" panose="020B0503020204020204" pitchFamily="34" charset="-122"/>
            </a:endParaRPr>
          </a:p>
        </p:txBody>
      </p:sp>
      <p:sp>
        <p:nvSpPr>
          <p:cNvPr id="9" name="文本框 32"/>
          <p:cNvSpPr txBox="1">
            <a:spLocks noChangeArrowheads="1"/>
          </p:cNvSpPr>
          <p:nvPr/>
        </p:nvSpPr>
        <p:spPr bwMode="auto">
          <a:xfrm>
            <a:off x="5512250" y="4270955"/>
            <a:ext cx="1383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200" dirty="0">
                <a:solidFill>
                  <a:srgbClr val="3D735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主讲人：房斐斐</a:t>
            </a:r>
          </a:p>
        </p:txBody>
      </p:sp>
      <p:cxnSp>
        <p:nvCxnSpPr>
          <p:cNvPr id="11" name="直接连接符 10"/>
          <p:cNvCxnSpPr/>
          <p:nvPr/>
        </p:nvCxnSpPr>
        <p:spPr>
          <a:xfrm>
            <a:off x="4143375"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96100"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sp>
        <p:nvSpPr>
          <p:cNvPr id="14" name="文本框 6"/>
          <p:cNvSpPr txBox="1"/>
          <p:nvPr/>
        </p:nvSpPr>
        <p:spPr>
          <a:xfrm>
            <a:off x="3668362" y="3208741"/>
            <a:ext cx="4948518" cy="584775"/>
          </a:xfrm>
          <a:prstGeom prst="rect">
            <a:avLst/>
          </a:prstGeom>
          <a:noFill/>
        </p:spPr>
        <p:txBody>
          <a:bodyPr wrap="square" rtlCol="0">
            <a:spAutoFit/>
          </a:bodyPr>
          <a:lstStyle/>
          <a:p>
            <a:r>
              <a:rPr lang="zh-CN" altLang="en-US" sz="3200" dirty="0">
                <a:solidFill>
                  <a:srgbClr val="3D7351"/>
                </a:solidFill>
                <a:latin typeface="方正清刻本悦宋简体" panose="02000000000000000000" pitchFamily="2" charset="-122"/>
                <a:ea typeface="方正清刻本悦宋简体" panose="02000000000000000000" pitchFamily="2" charset="-122"/>
              </a:rPr>
              <a:t>第四章 处理机调度与死锁</a:t>
            </a:r>
          </a:p>
        </p:txBody>
      </p:sp>
    </p:spTree>
    <p:extLst>
      <p:ext uri="{BB962C8B-B14F-4D97-AF65-F5344CB8AC3E}">
        <p14:creationId xmlns:p14="http://schemas.microsoft.com/office/powerpoint/2010/main" val="264625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调度算法</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4.2</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22" name="文本框 21"/>
          <p:cNvSpPr txBox="1">
            <a:spLocks noChangeArrowheads="1"/>
          </p:cNvSpPr>
          <p:nvPr/>
        </p:nvSpPr>
        <p:spPr bwMode="auto">
          <a:xfrm>
            <a:off x="2439935" y="3217837"/>
            <a:ext cx="7279201"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t>         在</a:t>
            </a:r>
            <a:r>
              <a:rPr lang="zh-CN" altLang="en-US" sz="2400" b="1" dirty="0"/>
              <a:t>多道批处理系统</a:t>
            </a:r>
            <a:r>
              <a:rPr lang="zh-CN" altLang="en-US" sz="2400" dirty="0"/>
              <a:t>中，作业是用户提交给系统的一项相对独立的工作。操作员把用户提交的作业通过相应的输入设备输入到磁盘存储器，并保存在一个后备作业队列中。再由作业调度程序将其从外存调入内存。</a:t>
            </a:r>
            <a:endParaRPr lang="en-US" altLang="zh-CN" sz="2400" dirty="0"/>
          </a:p>
        </p:txBody>
      </p:sp>
    </p:spTree>
    <p:extLst>
      <p:ext uri="{BB962C8B-B14F-4D97-AF65-F5344CB8AC3E}">
        <p14:creationId xmlns:p14="http://schemas.microsoft.com/office/powerpoint/2010/main" val="200562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）作业和作业步</a:t>
            </a:r>
          </a:p>
        </p:txBody>
      </p:sp>
      <p:sp>
        <p:nvSpPr>
          <p:cNvPr id="3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批处理系统中的作业</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3" name="文本框 54"/>
          <p:cNvSpPr txBox="1">
            <a:spLocks noChangeArrowheads="1"/>
          </p:cNvSpPr>
          <p:nvPr/>
        </p:nvSpPr>
        <p:spPr bwMode="auto">
          <a:xfrm>
            <a:off x="1107897" y="1963661"/>
            <a:ext cx="16706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作业（</a:t>
            </a:r>
            <a:r>
              <a:rPr lang="en-US" altLang="zh-CN" sz="2000" b="1" dirty="0">
                <a:solidFill>
                  <a:srgbClr val="595959"/>
                </a:solidFill>
                <a:latin typeface="微软雅黑" panose="020B0503020204020204" pitchFamily="34" charset="-122"/>
                <a:ea typeface="微软雅黑" panose="020B0503020204020204" pitchFamily="34" charset="-122"/>
              </a:rPr>
              <a:t>Job</a:t>
            </a:r>
            <a:r>
              <a:rPr lang="zh-CN" altLang="en-US" sz="2000" b="1" dirty="0">
                <a:solidFill>
                  <a:srgbClr val="595959"/>
                </a:solidFill>
                <a:latin typeface="微软雅黑" panose="020B0503020204020204" pitchFamily="34" charset="-122"/>
                <a:ea typeface="微软雅黑" panose="020B0503020204020204" pitchFamily="34" charset="-122"/>
              </a:rPr>
              <a:t>）</a:t>
            </a:r>
          </a:p>
        </p:txBody>
      </p:sp>
      <p:sp>
        <p:nvSpPr>
          <p:cNvPr id="29" name="文本框 19"/>
          <p:cNvSpPr txBox="1">
            <a:spLocks noChangeArrowheads="1"/>
          </p:cNvSpPr>
          <p:nvPr/>
        </p:nvSpPr>
        <p:spPr bwMode="auto">
          <a:xfrm>
            <a:off x="1126172" y="2331599"/>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400" dirty="0">
                <a:latin typeface="Times New Roman" pitchFamily="18" charset="0"/>
              </a:rPr>
              <a:t>由程序、数据以及作业说明书三部分组成。</a:t>
            </a:r>
            <a:endParaRPr lang="zh-CN" altLang="en-US" sz="2400" dirty="0"/>
          </a:p>
        </p:txBody>
      </p:sp>
      <p:sp>
        <p:nvSpPr>
          <p:cNvPr id="34" name="文本框 54"/>
          <p:cNvSpPr txBox="1">
            <a:spLocks noChangeArrowheads="1"/>
          </p:cNvSpPr>
          <p:nvPr/>
        </p:nvSpPr>
        <p:spPr bwMode="auto">
          <a:xfrm>
            <a:off x="1091855" y="2970263"/>
            <a:ext cx="25760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作业步（</a:t>
            </a:r>
            <a:r>
              <a:rPr lang="en-US" altLang="zh-CN" sz="2000" b="1" dirty="0">
                <a:solidFill>
                  <a:srgbClr val="595959"/>
                </a:solidFill>
                <a:latin typeface="微软雅黑" panose="020B0503020204020204" pitchFamily="34" charset="-122"/>
                <a:ea typeface="微软雅黑" panose="020B0503020204020204" pitchFamily="34" charset="-122"/>
              </a:rPr>
              <a:t>Job Step</a:t>
            </a:r>
            <a:r>
              <a:rPr lang="zh-CN" altLang="en-US" sz="2000" b="1" dirty="0">
                <a:solidFill>
                  <a:srgbClr val="595959"/>
                </a:solidFill>
                <a:latin typeface="微软雅黑" panose="020B0503020204020204" pitchFamily="34" charset="-122"/>
                <a:ea typeface="微软雅黑" panose="020B0503020204020204" pitchFamily="34" charset="-122"/>
              </a:rPr>
              <a:t>）</a:t>
            </a:r>
          </a:p>
        </p:txBody>
      </p:sp>
      <p:sp>
        <p:nvSpPr>
          <p:cNvPr id="35" name="文本框 19"/>
          <p:cNvSpPr txBox="1">
            <a:spLocks noChangeArrowheads="1"/>
          </p:cNvSpPr>
          <p:nvPr/>
        </p:nvSpPr>
        <p:spPr bwMode="auto">
          <a:xfrm>
            <a:off x="1110130" y="3410393"/>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400" dirty="0">
                <a:latin typeface="Times New Roman" pitchFamily="18" charset="0"/>
              </a:rPr>
              <a:t>作业运行期间，每个作业都必须经过若干个相对独立，又相互关联的顺序加工步骤才能得到结果，其中每一个加工步骤称为一个作业步。</a:t>
            </a:r>
            <a:endParaRPr lang="zh-CN" altLang="en-US" sz="2400" dirty="0"/>
          </a:p>
        </p:txBody>
      </p:sp>
      <p:grpSp>
        <p:nvGrpSpPr>
          <p:cNvPr id="3" name="组合 2"/>
          <p:cNvGrpSpPr/>
          <p:nvPr/>
        </p:nvGrpSpPr>
        <p:grpSpPr>
          <a:xfrm>
            <a:off x="2246608" y="4443381"/>
            <a:ext cx="7044735" cy="1070011"/>
            <a:chOff x="2246608" y="4443381"/>
            <a:chExt cx="7044735" cy="1070011"/>
          </a:xfrm>
        </p:grpSpPr>
        <p:sp>
          <p:nvSpPr>
            <p:cNvPr id="11" name="Shape 2205"/>
            <p:cNvSpPr/>
            <p:nvPr/>
          </p:nvSpPr>
          <p:spPr>
            <a:xfrm>
              <a:off x="6673728" y="4443381"/>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ln/>
          </p:spPr>
          <p:style>
            <a:lnRef idx="3">
              <a:schemeClr val="lt1"/>
            </a:lnRef>
            <a:fillRef idx="1">
              <a:schemeClr val="accent6"/>
            </a:fillRef>
            <a:effectRef idx="1">
              <a:schemeClr val="accent6"/>
            </a:effectRef>
            <a:fontRef idx="minor">
              <a:schemeClr val="lt1"/>
            </a:fontRef>
          </p:style>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200">
                  <a:solidFill>
                    <a:srgbClr val="FFFFFF"/>
                  </a:solidFill>
                  <a:latin typeface="Helvetica Light"/>
                  <a:ea typeface="Helvetica Light"/>
                  <a:cs typeface="Helvetica Light"/>
                  <a:sym typeface="Helvetica Light"/>
                </a:defRPr>
              </a:pPr>
              <a:endParaRPr sz="3200" kern="0">
                <a:solidFill>
                  <a:srgbClr val="FFFFFF"/>
                </a:solidFill>
                <a:latin typeface="微软雅黑"/>
                <a:ea typeface="Helvetica Light"/>
                <a:cs typeface="Helvetica Light"/>
                <a:sym typeface="Helvetica Light"/>
              </a:endParaRPr>
            </a:p>
          </p:txBody>
        </p:sp>
        <p:sp>
          <p:nvSpPr>
            <p:cNvPr id="12" name="Shape 2206"/>
            <p:cNvSpPr/>
            <p:nvPr/>
          </p:nvSpPr>
          <p:spPr>
            <a:xfrm>
              <a:off x="4439461" y="4443381"/>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ln/>
          </p:spPr>
          <p:style>
            <a:lnRef idx="3">
              <a:schemeClr val="lt1"/>
            </a:lnRef>
            <a:fillRef idx="1">
              <a:schemeClr val="accent6"/>
            </a:fillRef>
            <a:effectRef idx="1">
              <a:schemeClr val="accent6"/>
            </a:effectRef>
            <a:fontRef idx="minor">
              <a:schemeClr val="lt1"/>
            </a:fontRef>
          </p:style>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200">
                  <a:solidFill>
                    <a:srgbClr val="FFFFFF"/>
                  </a:solidFill>
                  <a:latin typeface="Helvetica Light"/>
                  <a:ea typeface="Helvetica Light"/>
                  <a:cs typeface="Helvetica Light"/>
                  <a:sym typeface="Helvetica Light"/>
                </a:defRPr>
              </a:pPr>
              <a:endParaRPr sz="3200" kern="0">
                <a:solidFill>
                  <a:srgbClr val="FFFFFF"/>
                </a:solidFill>
                <a:latin typeface="微软雅黑"/>
                <a:ea typeface="Helvetica Light"/>
                <a:cs typeface="Helvetica Light"/>
                <a:sym typeface="Helvetica Light"/>
              </a:endParaRPr>
            </a:p>
          </p:txBody>
        </p:sp>
        <p:sp>
          <p:nvSpPr>
            <p:cNvPr id="13" name="Shape 2207"/>
            <p:cNvSpPr/>
            <p:nvPr/>
          </p:nvSpPr>
          <p:spPr>
            <a:xfrm>
              <a:off x="2246608" y="4443381"/>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ln/>
          </p:spPr>
          <p:style>
            <a:lnRef idx="3">
              <a:schemeClr val="lt1"/>
            </a:lnRef>
            <a:fillRef idx="1">
              <a:schemeClr val="accent6"/>
            </a:fillRef>
            <a:effectRef idx="1">
              <a:schemeClr val="accent6"/>
            </a:effectRef>
            <a:fontRef idx="minor">
              <a:schemeClr val="lt1"/>
            </a:fontRef>
          </p:style>
          <p:txBody>
            <a:bodyPr lIns="38100" tIns="38100" rIns="38100" bIns="381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200">
                  <a:solidFill>
                    <a:srgbClr val="FFFFFF"/>
                  </a:solidFill>
                  <a:latin typeface="Helvetica Light"/>
                  <a:ea typeface="Helvetica Light"/>
                  <a:cs typeface="Helvetica Light"/>
                  <a:sym typeface="Helvetica Light"/>
                </a:defRPr>
              </a:pPr>
              <a:endParaRPr sz="3200" kern="0">
                <a:solidFill>
                  <a:srgbClr val="FFFFFF"/>
                </a:solidFill>
                <a:latin typeface="微软雅黑"/>
                <a:ea typeface="Helvetica Light"/>
                <a:cs typeface="Helvetica Light"/>
                <a:sym typeface="Helvetica Light"/>
              </a:endParaRPr>
            </a:p>
          </p:txBody>
        </p:sp>
        <p:grpSp>
          <p:nvGrpSpPr>
            <p:cNvPr id="14" name="Group 2"/>
            <p:cNvGrpSpPr/>
            <p:nvPr/>
          </p:nvGrpSpPr>
          <p:grpSpPr>
            <a:xfrm>
              <a:off x="4452960" y="4728330"/>
              <a:ext cx="521998" cy="521999"/>
              <a:chOff x="3712472" y="2651901"/>
              <a:chExt cx="521998" cy="521999"/>
            </a:xfrm>
          </p:grpSpPr>
          <p:sp>
            <p:nvSpPr>
              <p:cNvPr id="15" name="Shape 2214"/>
              <p:cNvSpPr/>
              <p:nvPr/>
            </p:nvSpPr>
            <p:spPr>
              <a:xfrm>
                <a:off x="3712472"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p:spPr>
            <p:style>
              <a:lnRef idx="2">
                <a:schemeClr val="dk1"/>
              </a:lnRef>
              <a:fillRef idx="1">
                <a:schemeClr val="lt1"/>
              </a:fillRef>
              <a:effectRef idx="0">
                <a:schemeClr val="dk1"/>
              </a:effectRef>
              <a:fontRef idx="minor">
                <a:schemeClr val="dk1"/>
              </a:fontRef>
            </p:style>
            <p:txBody>
              <a:bodyPr wrap="square" lIns="50800" tIns="50800" rIns="50800" bIns="508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100" b="1">
                    <a:latin typeface="Kontrapunkt Bob Bold"/>
                    <a:ea typeface="Kontrapunkt Bob Bold"/>
                    <a:cs typeface="Kontrapunkt Bob Bold"/>
                    <a:sym typeface="Kontrapunkt Bob Bold"/>
                  </a:defRPr>
                </a:pPr>
                <a:endParaRPr sz="3100" b="1" kern="0">
                  <a:solidFill>
                    <a:prstClr val="black"/>
                  </a:solidFill>
                  <a:latin typeface="微软雅黑"/>
                  <a:ea typeface="Kontrapunkt Bob Bold"/>
                  <a:cs typeface="Kontrapunkt Bob Bold"/>
                  <a:sym typeface="Kontrapunkt Bob Bold"/>
                </a:endParaRPr>
              </a:p>
            </p:txBody>
          </p:sp>
          <p:grpSp>
            <p:nvGrpSpPr>
              <p:cNvPr id="16" name="Group 2217"/>
              <p:cNvGrpSpPr/>
              <p:nvPr/>
            </p:nvGrpSpPr>
            <p:grpSpPr>
              <a:xfrm>
                <a:off x="3878843" y="2769409"/>
                <a:ext cx="188787" cy="265098"/>
                <a:chOff x="0" y="0"/>
                <a:chExt cx="390413" cy="548221"/>
              </a:xfrm>
            </p:grpSpPr>
            <p:sp>
              <p:nvSpPr>
                <p:cNvPr id="17" name="Shape 2215"/>
                <p:cNvSpPr/>
                <p:nvPr/>
              </p:nvSpPr>
              <p:spPr>
                <a:xfrm>
                  <a:off x="0" y="46251"/>
                  <a:ext cx="390413" cy="501970"/>
                </a:xfrm>
                <a:custGeom>
                  <a:avLst/>
                  <a:gdLst/>
                  <a:ahLst/>
                  <a:cxnLst>
                    <a:cxn ang="0">
                      <a:pos x="wd2" y="hd2"/>
                    </a:cxn>
                    <a:cxn ang="5400000">
                      <a:pos x="wd2" y="hd2"/>
                    </a:cxn>
                    <a:cxn ang="10800000">
                      <a:pos x="wd2" y="hd2"/>
                    </a:cxn>
                    <a:cxn ang="16200000">
                      <a:pos x="wd2" y="hd2"/>
                    </a:cxn>
                  </a:cxnLst>
                  <a:rect l="0" t="0" r="r" b="b"/>
                  <a:pathLst>
                    <a:path w="21600" h="21600" extrusionOk="0">
                      <a:moveTo>
                        <a:pt x="19441" y="0"/>
                      </a:moveTo>
                      <a:lnTo>
                        <a:pt x="17589" y="3600"/>
                      </a:lnTo>
                      <a:lnTo>
                        <a:pt x="4011" y="3600"/>
                      </a:lnTo>
                      <a:lnTo>
                        <a:pt x="2159" y="0"/>
                      </a:lnTo>
                      <a:cubicBezTo>
                        <a:pt x="972" y="0"/>
                        <a:pt x="0" y="756"/>
                        <a:pt x="0" y="1679"/>
                      </a:cubicBezTo>
                      <a:lnTo>
                        <a:pt x="0" y="19921"/>
                      </a:lnTo>
                      <a:cubicBezTo>
                        <a:pt x="0" y="20844"/>
                        <a:pt x="972" y="21600"/>
                        <a:pt x="2159" y="21600"/>
                      </a:cubicBezTo>
                      <a:lnTo>
                        <a:pt x="19441" y="21600"/>
                      </a:lnTo>
                      <a:cubicBezTo>
                        <a:pt x="20628" y="21600"/>
                        <a:pt x="21600" y="20844"/>
                        <a:pt x="21600" y="19921"/>
                      </a:cubicBezTo>
                      <a:lnTo>
                        <a:pt x="21600" y="1679"/>
                      </a:lnTo>
                      <a:cubicBezTo>
                        <a:pt x="21600" y="756"/>
                        <a:pt x="20628" y="0"/>
                        <a:pt x="19441" y="0"/>
                      </a:cubicBezTo>
                      <a:close/>
                    </a:path>
                  </a:pathLst>
                </a:custGeom>
                <a:ln/>
              </p:spPr>
              <p:style>
                <a:lnRef idx="2">
                  <a:schemeClr val="dk1"/>
                </a:lnRef>
                <a:fillRef idx="1">
                  <a:schemeClr val="lt1"/>
                </a:fillRef>
                <a:effectRef idx="0">
                  <a:schemeClr val="dk1"/>
                </a:effectRef>
                <a:fontRef idx="minor">
                  <a:schemeClr val="dk1"/>
                </a:fontRef>
              </p:style>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200">
                      <a:solidFill>
                        <a:srgbClr val="FFFFFF"/>
                      </a:solidFill>
                      <a:latin typeface="Helvetica Light"/>
                      <a:ea typeface="Helvetica Light"/>
                      <a:cs typeface="Helvetica Light"/>
                      <a:sym typeface="Helvetica Light"/>
                    </a:defRPr>
                  </a:pPr>
                  <a:endParaRPr sz="3200" kern="0">
                    <a:solidFill>
                      <a:srgbClr val="FFFFFF"/>
                    </a:solidFill>
                    <a:latin typeface="微软雅黑"/>
                    <a:ea typeface="Helvetica Light"/>
                    <a:cs typeface="Helvetica Light"/>
                    <a:sym typeface="Helvetica Light"/>
                  </a:endParaRPr>
                </a:p>
              </p:txBody>
            </p:sp>
            <p:sp>
              <p:nvSpPr>
                <p:cNvPr id="18" name="Shape 2216"/>
                <p:cNvSpPr/>
                <p:nvPr/>
              </p:nvSpPr>
              <p:spPr>
                <a:xfrm>
                  <a:off x="68773" y="0"/>
                  <a:ext cx="250985" cy="111555"/>
                </a:xfrm>
                <a:custGeom>
                  <a:avLst/>
                  <a:gdLst/>
                  <a:ahLst/>
                  <a:cxnLst>
                    <a:cxn ang="0">
                      <a:pos x="wd2" y="hd2"/>
                    </a:cxn>
                    <a:cxn ang="5400000">
                      <a:pos x="wd2" y="hd2"/>
                    </a:cxn>
                    <a:cxn ang="10800000">
                      <a:pos x="wd2" y="hd2"/>
                    </a:cxn>
                    <a:cxn ang="16200000">
                      <a:pos x="wd2" y="hd2"/>
                    </a:cxn>
                  </a:cxnLst>
                  <a:rect l="0" t="0" r="r" b="b"/>
                  <a:pathLst>
                    <a:path w="21600" h="21600" extrusionOk="0">
                      <a:moveTo>
                        <a:pt x="19441" y="21600"/>
                      </a:moveTo>
                      <a:lnTo>
                        <a:pt x="21600" y="10800"/>
                      </a:lnTo>
                      <a:lnTo>
                        <a:pt x="16369" y="10800"/>
                      </a:lnTo>
                      <a:lnTo>
                        <a:pt x="14641" y="0"/>
                      </a:lnTo>
                      <a:lnTo>
                        <a:pt x="6959" y="0"/>
                      </a:lnTo>
                      <a:lnTo>
                        <a:pt x="5231" y="10800"/>
                      </a:lnTo>
                      <a:lnTo>
                        <a:pt x="0" y="10800"/>
                      </a:lnTo>
                      <a:lnTo>
                        <a:pt x="2159" y="21600"/>
                      </a:lnTo>
                      <a:cubicBezTo>
                        <a:pt x="2159" y="21600"/>
                        <a:pt x="19441" y="21600"/>
                        <a:pt x="19441" y="21600"/>
                      </a:cubicBezTo>
                      <a:close/>
                    </a:path>
                  </a:pathLst>
                </a:custGeom>
                <a:ln/>
              </p:spPr>
              <p:style>
                <a:lnRef idx="2">
                  <a:schemeClr val="dk1"/>
                </a:lnRef>
                <a:fillRef idx="1">
                  <a:schemeClr val="lt1"/>
                </a:fillRef>
                <a:effectRef idx="0">
                  <a:schemeClr val="dk1"/>
                </a:effectRef>
                <a:fontRef idx="minor">
                  <a:schemeClr val="dk1"/>
                </a:fontRef>
              </p:style>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200">
                      <a:solidFill>
                        <a:srgbClr val="FFFFFF"/>
                      </a:solidFill>
                      <a:latin typeface="Helvetica Light"/>
                      <a:ea typeface="Helvetica Light"/>
                      <a:cs typeface="Helvetica Light"/>
                      <a:sym typeface="Helvetica Light"/>
                    </a:defRPr>
                  </a:pPr>
                  <a:endParaRPr sz="3200" kern="0">
                    <a:solidFill>
                      <a:srgbClr val="FFFFFF"/>
                    </a:solidFill>
                    <a:latin typeface="微软雅黑"/>
                    <a:ea typeface="Helvetica Light"/>
                    <a:cs typeface="Helvetica Light"/>
                    <a:sym typeface="Helvetica Light"/>
                  </a:endParaRPr>
                </a:p>
              </p:txBody>
            </p:sp>
          </p:grpSp>
        </p:grpSp>
        <p:grpSp>
          <p:nvGrpSpPr>
            <p:cNvPr id="19" name="Group 1"/>
            <p:cNvGrpSpPr/>
            <p:nvPr/>
          </p:nvGrpSpPr>
          <p:grpSpPr>
            <a:xfrm>
              <a:off x="2247077" y="4717387"/>
              <a:ext cx="521998" cy="521999"/>
              <a:chOff x="1506589" y="2640958"/>
              <a:chExt cx="521998" cy="521999"/>
            </a:xfrm>
          </p:grpSpPr>
          <p:sp>
            <p:nvSpPr>
              <p:cNvPr id="20" name="Shape 2220"/>
              <p:cNvSpPr/>
              <p:nvPr/>
            </p:nvSpPr>
            <p:spPr>
              <a:xfrm>
                <a:off x="1506589" y="2640958"/>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p:spPr>
            <p:style>
              <a:lnRef idx="2">
                <a:schemeClr val="dk1"/>
              </a:lnRef>
              <a:fillRef idx="1">
                <a:schemeClr val="lt1"/>
              </a:fillRef>
              <a:effectRef idx="0">
                <a:schemeClr val="dk1"/>
              </a:effectRef>
              <a:fontRef idx="minor">
                <a:schemeClr val="dk1"/>
              </a:fontRef>
            </p:style>
            <p:txBody>
              <a:bodyPr wrap="square" lIns="50800" tIns="50800" rIns="50800" bIns="508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100" b="1">
                    <a:latin typeface="Kontrapunkt Bob Bold"/>
                    <a:ea typeface="Kontrapunkt Bob Bold"/>
                    <a:cs typeface="Kontrapunkt Bob Bold"/>
                    <a:sym typeface="Kontrapunkt Bob Bold"/>
                  </a:defRPr>
                </a:pPr>
                <a:endParaRPr sz="3100" b="1" kern="0">
                  <a:solidFill>
                    <a:prstClr val="black"/>
                  </a:solidFill>
                  <a:latin typeface="微软雅黑"/>
                  <a:ea typeface="Kontrapunkt Bob Bold"/>
                  <a:cs typeface="Kontrapunkt Bob Bold"/>
                  <a:sym typeface="Kontrapunkt Bob Bold"/>
                </a:endParaRPr>
              </a:p>
            </p:txBody>
          </p:sp>
          <p:sp>
            <p:nvSpPr>
              <p:cNvPr id="22" name="Shape 2221"/>
              <p:cNvSpPr/>
              <p:nvPr/>
            </p:nvSpPr>
            <p:spPr>
              <a:xfrm>
                <a:off x="1633470" y="2769409"/>
                <a:ext cx="276863" cy="265096"/>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ln/>
            </p:spPr>
            <p:style>
              <a:lnRef idx="2">
                <a:schemeClr val="dk1"/>
              </a:lnRef>
              <a:fillRef idx="1">
                <a:schemeClr val="lt1"/>
              </a:fillRef>
              <a:effectRef idx="0">
                <a:schemeClr val="dk1"/>
              </a:effectRef>
              <a:fontRef idx="minor">
                <a:schemeClr val="dk1"/>
              </a:fontRef>
            </p:style>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200">
                    <a:solidFill>
                      <a:srgbClr val="FFFFFF"/>
                    </a:solidFill>
                    <a:latin typeface="Helvetica Light"/>
                    <a:ea typeface="Helvetica Light"/>
                    <a:cs typeface="Helvetica Light"/>
                    <a:sym typeface="Helvetica Light"/>
                  </a:defRPr>
                </a:pPr>
                <a:endParaRPr sz="3200" kern="0">
                  <a:solidFill>
                    <a:srgbClr val="FFFFFF"/>
                  </a:solidFill>
                  <a:latin typeface="微软雅黑"/>
                  <a:ea typeface="Helvetica Light"/>
                  <a:cs typeface="Helvetica Light"/>
                  <a:sym typeface="Helvetica Light"/>
                </a:endParaRPr>
              </a:p>
            </p:txBody>
          </p:sp>
        </p:grpSp>
        <p:grpSp>
          <p:nvGrpSpPr>
            <p:cNvPr id="23" name="Group 3"/>
            <p:cNvGrpSpPr/>
            <p:nvPr/>
          </p:nvGrpSpPr>
          <p:grpSpPr>
            <a:xfrm>
              <a:off x="6658375" y="4728330"/>
              <a:ext cx="521998" cy="521999"/>
              <a:chOff x="5917887" y="2651901"/>
              <a:chExt cx="521998" cy="521999"/>
            </a:xfrm>
          </p:grpSpPr>
          <p:sp>
            <p:nvSpPr>
              <p:cNvPr id="24" name="Shape 2224"/>
              <p:cNvSpPr/>
              <p:nvPr/>
            </p:nvSpPr>
            <p:spPr>
              <a:xfrm>
                <a:off x="5917887"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p:spPr>
            <p:style>
              <a:lnRef idx="2">
                <a:schemeClr val="dk1"/>
              </a:lnRef>
              <a:fillRef idx="1">
                <a:schemeClr val="lt1"/>
              </a:fillRef>
              <a:effectRef idx="0">
                <a:schemeClr val="dk1"/>
              </a:effectRef>
              <a:fontRef idx="minor">
                <a:schemeClr val="dk1"/>
              </a:fontRef>
            </p:style>
            <p:txBody>
              <a:bodyPr wrap="square" lIns="50800" tIns="50800" rIns="50800" bIns="508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100" b="1">
                    <a:latin typeface="Kontrapunkt Bob Bold"/>
                    <a:ea typeface="Kontrapunkt Bob Bold"/>
                    <a:cs typeface="Kontrapunkt Bob Bold"/>
                    <a:sym typeface="Kontrapunkt Bob Bold"/>
                  </a:defRPr>
                </a:pPr>
                <a:endParaRPr sz="3100" b="1" kern="0">
                  <a:solidFill>
                    <a:prstClr val="black"/>
                  </a:solidFill>
                  <a:latin typeface="微软雅黑"/>
                  <a:ea typeface="Kontrapunkt Bob Bold"/>
                  <a:cs typeface="Kontrapunkt Bob Bold"/>
                  <a:sym typeface="Kontrapunkt Bob Bold"/>
                </a:endParaRPr>
              </a:p>
            </p:txBody>
          </p:sp>
          <p:sp>
            <p:nvSpPr>
              <p:cNvPr id="25" name="Shape 2225"/>
              <p:cNvSpPr/>
              <p:nvPr/>
            </p:nvSpPr>
            <p:spPr>
              <a:xfrm>
                <a:off x="6067226" y="2798035"/>
                <a:ext cx="223320" cy="223320"/>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ln/>
            </p:spPr>
            <p:style>
              <a:lnRef idx="2">
                <a:schemeClr val="dk1"/>
              </a:lnRef>
              <a:fillRef idx="1">
                <a:schemeClr val="lt1"/>
              </a:fillRef>
              <a:effectRef idx="0">
                <a:schemeClr val="dk1"/>
              </a:effectRef>
              <a:fontRef idx="minor">
                <a:schemeClr val="dk1"/>
              </a:fontRef>
            </p:style>
            <p:txBody>
              <a:bodyPr wrap="square" lIns="38100" tIns="38100" rIns="38100" bIns="3810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200">
                    <a:solidFill>
                      <a:srgbClr val="FFFFFF"/>
                    </a:solidFill>
                    <a:latin typeface="Helvetica Light"/>
                    <a:ea typeface="Helvetica Light"/>
                    <a:cs typeface="Helvetica Light"/>
                    <a:sym typeface="Helvetica Light"/>
                  </a:defRPr>
                </a:pPr>
                <a:endParaRPr sz="3200" kern="0">
                  <a:solidFill>
                    <a:srgbClr val="FFFFFF"/>
                  </a:solidFill>
                  <a:latin typeface="微软雅黑"/>
                  <a:ea typeface="Helvetica Light"/>
                  <a:cs typeface="Helvetica Light"/>
                  <a:sym typeface="Helvetica Light"/>
                </a:endParaRPr>
              </a:p>
            </p:txBody>
          </p:sp>
        </p:grpSp>
        <p:sp>
          <p:nvSpPr>
            <p:cNvPr id="26" name="TextBox 45"/>
            <p:cNvSpPr txBox="1"/>
            <p:nvPr/>
          </p:nvSpPr>
          <p:spPr>
            <a:xfrm>
              <a:off x="2768563" y="4829423"/>
              <a:ext cx="1698481" cy="307777"/>
            </a:xfrm>
            <a:prstGeom prst="rect">
              <a:avLst/>
            </a:prstGeom>
            <a:ln>
              <a:noFill/>
            </a:ln>
          </p:spPr>
          <p:style>
            <a:lnRef idx="3">
              <a:schemeClr val="lt1"/>
            </a:lnRef>
            <a:fillRef idx="1">
              <a:schemeClr val="accent6"/>
            </a:fillRef>
            <a:effectRef idx="1">
              <a:schemeClr val="accent6"/>
            </a:effectRef>
            <a:fontRef idx="minor">
              <a:schemeClr val="lt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176924"/>
              <a:r>
                <a:rPr lang="zh-CN" altLang="en-US" sz="2000" dirty="0">
                  <a:solidFill>
                    <a:srgbClr val="FFFFFF"/>
                  </a:solidFill>
                  <a:latin typeface="微软雅黑"/>
                  <a:ea typeface="微软雅黑"/>
                </a:rPr>
                <a:t>编译</a:t>
              </a:r>
              <a:endParaRPr lang="en-GB" altLang="zh-CN" sz="2000" dirty="0">
                <a:solidFill>
                  <a:srgbClr val="FFFFFF"/>
                </a:solidFill>
                <a:latin typeface="微软雅黑"/>
                <a:ea typeface="微软雅黑"/>
              </a:endParaRPr>
            </a:p>
          </p:txBody>
        </p:sp>
        <p:sp>
          <p:nvSpPr>
            <p:cNvPr id="27" name="TextBox 46"/>
            <p:cNvSpPr txBox="1"/>
            <p:nvPr/>
          </p:nvSpPr>
          <p:spPr>
            <a:xfrm>
              <a:off x="5108820" y="4827259"/>
              <a:ext cx="1412750" cy="307777"/>
            </a:xfrm>
            <a:prstGeom prst="rect">
              <a:avLst/>
            </a:prstGeom>
            <a:ln>
              <a:noFill/>
            </a:ln>
          </p:spPr>
          <p:style>
            <a:lnRef idx="3">
              <a:schemeClr val="lt1"/>
            </a:lnRef>
            <a:fillRef idx="1">
              <a:schemeClr val="accent6"/>
            </a:fillRef>
            <a:effectRef idx="1">
              <a:schemeClr val="accent6"/>
            </a:effectRef>
            <a:fontRef idx="minor">
              <a:schemeClr val="lt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176924"/>
              <a:r>
                <a:rPr lang="zh-CN" altLang="en-US" sz="2000" dirty="0">
                  <a:solidFill>
                    <a:srgbClr val="FFFFFF"/>
                  </a:solidFill>
                  <a:latin typeface="微软雅黑"/>
                  <a:ea typeface="微软雅黑"/>
                </a:rPr>
                <a:t>链接装配</a:t>
              </a:r>
              <a:endParaRPr lang="en-GB" altLang="zh-CN" sz="2000" dirty="0">
                <a:solidFill>
                  <a:srgbClr val="FFFFFF"/>
                </a:solidFill>
                <a:latin typeface="微软雅黑"/>
                <a:ea typeface="微软雅黑"/>
              </a:endParaRPr>
            </a:p>
          </p:txBody>
        </p:sp>
        <p:sp>
          <p:nvSpPr>
            <p:cNvPr id="28" name="TextBox 47"/>
            <p:cNvSpPr txBox="1"/>
            <p:nvPr/>
          </p:nvSpPr>
          <p:spPr>
            <a:xfrm>
              <a:off x="7210575" y="4810937"/>
              <a:ext cx="1530300" cy="307777"/>
            </a:xfrm>
            <a:prstGeom prst="rect">
              <a:avLst/>
            </a:prstGeom>
            <a:ln>
              <a:noFill/>
            </a:ln>
          </p:spPr>
          <p:style>
            <a:lnRef idx="3">
              <a:schemeClr val="lt1"/>
            </a:lnRef>
            <a:fillRef idx="1">
              <a:schemeClr val="accent6"/>
            </a:fillRef>
            <a:effectRef idx="1">
              <a:schemeClr val="accent6"/>
            </a:effectRef>
            <a:fontRef idx="minor">
              <a:schemeClr val="lt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176924"/>
              <a:r>
                <a:rPr lang="zh-CN" altLang="en-US" sz="2000" dirty="0">
                  <a:solidFill>
                    <a:srgbClr val="FFFFFF"/>
                  </a:solidFill>
                  <a:latin typeface="微软雅黑"/>
                  <a:ea typeface="微软雅黑"/>
                </a:rPr>
                <a:t>运行</a:t>
              </a:r>
              <a:endParaRPr lang="en-GB" altLang="zh-CN" sz="2000" dirty="0">
                <a:solidFill>
                  <a:srgbClr val="FFFFFF"/>
                </a:solidFill>
                <a:latin typeface="微软雅黑"/>
                <a:ea typeface="微软雅黑"/>
              </a:endParaRPr>
            </a:p>
          </p:txBody>
        </p:sp>
      </p:grpSp>
    </p:spTree>
    <p:extLst>
      <p:ext uri="{BB962C8B-B14F-4D97-AF65-F5344CB8AC3E}">
        <p14:creationId xmlns:p14="http://schemas.microsoft.com/office/powerpoint/2010/main" val="170094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strVal val="#ppt_w+.3"/>
                                          </p:val>
                                        </p:tav>
                                        <p:tav tm="100000">
                                          <p:val>
                                            <p:strVal val="#ppt_w"/>
                                          </p:val>
                                        </p:tav>
                                      </p:tavLst>
                                    </p:anim>
                                    <p:anim calcmode="lin" valueType="num">
                                      <p:cBhvr>
                                        <p:cTn id="8" dur="500" fill="hold"/>
                                        <p:tgtEl>
                                          <p:spTgt spid="33"/>
                                        </p:tgtEl>
                                        <p:attrNameLst>
                                          <p:attrName>ppt_h</p:attrName>
                                        </p:attrNameLst>
                                      </p:cBhvr>
                                      <p:tavLst>
                                        <p:tav tm="0">
                                          <p:val>
                                            <p:strVal val="#ppt_h"/>
                                          </p:val>
                                        </p:tav>
                                        <p:tav tm="100000">
                                          <p:val>
                                            <p:strVal val="#ppt_h"/>
                                          </p:val>
                                        </p:tav>
                                      </p:tavLst>
                                    </p:anim>
                                    <p:animEffect transition="in" filter="fade">
                                      <p:cBhvr>
                                        <p:cTn id="9" dur="500"/>
                                        <p:tgtEl>
                                          <p:spTgt spid="3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strips(downLeft)">
                                      <p:cBhvr>
                                        <p:cTn id="14" dur="5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strVal val="#ppt_w+.3"/>
                                          </p:val>
                                        </p:tav>
                                        <p:tav tm="100000">
                                          <p:val>
                                            <p:strVal val="#ppt_w"/>
                                          </p:val>
                                        </p:tav>
                                      </p:tavLst>
                                    </p:anim>
                                    <p:anim calcmode="lin" valueType="num">
                                      <p:cBhvr>
                                        <p:cTn id="20" dur="500" fill="hold"/>
                                        <p:tgtEl>
                                          <p:spTgt spid="34"/>
                                        </p:tgtEl>
                                        <p:attrNameLst>
                                          <p:attrName>ppt_h</p:attrName>
                                        </p:attrNameLst>
                                      </p:cBhvr>
                                      <p:tavLst>
                                        <p:tav tm="0">
                                          <p:val>
                                            <p:strVal val="#ppt_h"/>
                                          </p:val>
                                        </p:tav>
                                        <p:tav tm="100000">
                                          <p:val>
                                            <p:strVal val="#ppt_h"/>
                                          </p:val>
                                        </p:tav>
                                      </p:tavLst>
                                    </p:anim>
                                    <p:animEffect transition="in" filter="fade">
                                      <p:cBhvr>
                                        <p:cTn id="21" dur="500"/>
                                        <p:tgtEl>
                                          <p:spTgt spid="34"/>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strips(downLeft)">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29" grpId="0"/>
      <p:bldP spid="34"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）作业控制块（</a:t>
            </a:r>
            <a:r>
              <a:rPr lang="en-US" altLang="zh-CN" sz="2400" b="1" dirty="0">
                <a:solidFill>
                  <a:srgbClr val="4C7E51"/>
                </a:solidFill>
                <a:latin typeface="微软雅黑" panose="020B0503020204020204" pitchFamily="34" charset="-122"/>
                <a:ea typeface="微软雅黑" panose="020B0503020204020204" pitchFamily="34" charset="-122"/>
              </a:rPr>
              <a:t>Job Control Block</a:t>
            </a:r>
            <a:r>
              <a:rPr lang="zh-CN" altLang="en-US" sz="2400" b="1" dirty="0">
                <a:solidFill>
                  <a:srgbClr val="4C7E51"/>
                </a:solidFill>
                <a:latin typeface="微软雅黑" panose="020B0503020204020204" pitchFamily="34" charset="-122"/>
                <a:ea typeface="微软雅黑" panose="020B0503020204020204" pitchFamily="34" charset="-122"/>
              </a:rPr>
              <a:t>，</a:t>
            </a:r>
            <a:r>
              <a:rPr lang="en-US" altLang="zh-CN" sz="2400" b="1" dirty="0">
                <a:solidFill>
                  <a:srgbClr val="4C7E51"/>
                </a:solidFill>
                <a:latin typeface="微软雅黑" panose="020B0503020204020204" pitchFamily="34" charset="-122"/>
                <a:ea typeface="微软雅黑" panose="020B0503020204020204" pitchFamily="34" charset="-122"/>
              </a:rPr>
              <a:t>JCB</a:t>
            </a:r>
            <a:r>
              <a:rPr lang="zh-CN" altLang="en-US" sz="2400" b="1" dirty="0">
                <a:solidFill>
                  <a:srgbClr val="4C7E51"/>
                </a:solidFill>
                <a:latin typeface="微软雅黑" panose="020B0503020204020204" pitchFamily="34" charset="-122"/>
                <a:ea typeface="微软雅黑" panose="020B0503020204020204" pitchFamily="34" charset="-122"/>
              </a:rPr>
              <a:t>）</a:t>
            </a:r>
          </a:p>
        </p:txBody>
      </p:sp>
      <p:sp>
        <p:nvSpPr>
          <p:cNvPr id="3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批处理系统中的作业</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3" name="文本框 54"/>
          <p:cNvSpPr txBox="1">
            <a:spLocks noChangeArrowheads="1"/>
          </p:cNvSpPr>
          <p:nvPr/>
        </p:nvSpPr>
        <p:spPr bwMode="auto">
          <a:xfrm>
            <a:off x="1107897" y="1963661"/>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作业控制块</a:t>
            </a:r>
          </a:p>
        </p:txBody>
      </p:sp>
      <p:sp>
        <p:nvSpPr>
          <p:cNvPr id="29" name="文本框 19"/>
          <p:cNvSpPr txBox="1">
            <a:spLocks noChangeArrowheads="1"/>
          </p:cNvSpPr>
          <p:nvPr/>
        </p:nvSpPr>
        <p:spPr bwMode="auto">
          <a:xfrm>
            <a:off x="1126172" y="2331599"/>
            <a:ext cx="1029179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400" dirty="0">
                <a:latin typeface="Times New Roman" pitchFamily="18" charset="0"/>
              </a:rPr>
              <a:t>是作业在系统中存在的标志，保存了系统对作业进行管理和调度的全部信息。通常包括：作业标识、用户名称、用户帐户、作业类型、作业状态、调度信息、资源需求、进入系统时间、开始处理时间、作业完成时间、作业退出时间、资源使用情况等。</a:t>
            </a:r>
          </a:p>
        </p:txBody>
      </p:sp>
      <p:sp>
        <p:nvSpPr>
          <p:cNvPr id="34" name="文本框 54"/>
          <p:cNvSpPr txBox="1">
            <a:spLocks noChangeArrowheads="1"/>
          </p:cNvSpPr>
          <p:nvPr/>
        </p:nvSpPr>
        <p:spPr bwMode="auto">
          <a:xfrm>
            <a:off x="1091855" y="3884663"/>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作业的生命周期</a:t>
            </a:r>
          </a:p>
        </p:txBody>
      </p:sp>
      <p:sp>
        <p:nvSpPr>
          <p:cNvPr id="35" name="文本框 19"/>
          <p:cNvSpPr txBox="1">
            <a:spLocks noChangeArrowheads="1"/>
          </p:cNvSpPr>
          <p:nvPr/>
        </p:nvSpPr>
        <p:spPr bwMode="auto">
          <a:xfrm>
            <a:off x="1110130" y="4324793"/>
            <a:ext cx="1029179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400" dirty="0">
                <a:latin typeface="Times New Roman" pitchFamily="18" charset="0"/>
              </a:rPr>
              <a:t>作业进入系统时，由“作业注册”程序为作业建立</a:t>
            </a:r>
            <a:r>
              <a:rPr kumimoji="1" lang="en-US" altLang="zh-CN" sz="2400" dirty="0">
                <a:latin typeface="Times New Roman" pitchFamily="18" charset="0"/>
              </a:rPr>
              <a:t>JCB</a:t>
            </a:r>
            <a:r>
              <a:rPr kumimoji="1" lang="zh-CN" altLang="en-US" sz="2400" dirty="0">
                <a:latin typeface="Times New Roman" pitchFamily="18" charset="0"/>
              </a:rPr>
              <a:t>，然后根据作业类型将其放到相应的作业后备队列等待调度；</a:t>
            </a:r>
            <a:endParaRPr kumimoji="1" lang="en-US" altLang="zh-CN" sz="2400" dirty="0">
              <a:latin typeface="Times New Roman" pitchFamily="18" charset="0"/>
            </a:endParaRPr>
          </a:p>
          <a:p>
            <a:pPr marL="0" lvl="2" indent="0">
              <a:buBlip>
                <a:blip r:embed="rId3"/>
              </a:buBlip>
            </a:pPr>
            <a:r>
              <a:rPr kumimoji="1" lang="zh-CN" altLang="en-US" sz="2400" dirty="0">
                <a:latin typeface="Times New Roman" pitchFamily="18" charset="0"/>
              </a:rPr>
              <a:t>调度程序按一定的调度算法将调度到的作业装入内存；</a:t>
            </a:r>
            <a:endParaRPr kumimoji="1" lang="en-US" altLang="zh-CN" sz="2400" dirty="0">
              <a:latin typeface="Times New Roman" pitchFamily="18" charset="0"/>
            </a:endParaRPr>
          </a:p>
          <a:p>
            <a:pPr marL="0" lvl="2" indent="0">
              <a:buBlip>
                <a:blip r:embed="rId3"/>
              </a:buBlip>
            </a:pPr>
            <a:r>
              <a:rPr kumimoji="1" lang="zh-CN" altLang="en-US" sz="2400" dirty="0">
                <a:latin typeface="Times New Roman" pitchFamily="18" charset="0"/>
              </a:rPr>
              <a:t>作业运行期间，系统按照</a:t>
            </a:r>
            <a:r>
              <a:rPr kumimoji="1" lang="en-US" altLang="zh-CN" sz="2400" dirty="0">
                <a:latin typeface="Times New Roman" pitchFamily="18" charset="0"/>
              </a:rPr>
              <a:t>JCB</a:t>
            </a:r>
            <a:r>
              <a:rPr kumimoji="1" lang="zh-CN" altLang="en-US" sz="2400" dirty="0">
                <a:latin typeface="Times New Roman" pitchFamily="18" charset="0"/>
              </a:rPr>
              <a:t>中的信息对作业进行控制；</a:t>
            </a:r>
            <a:endParaRPr kumimoji="1" lang="en-US" altLang="zh-CN" sz="2400" dirty="0">
              <a:latin typeface="Times New Roman" pitchFamily="18" charset="0"/>
            </a:endParaRPr>
          </a:p>
          <a:p>
            <a:pPr marL="0" lvl="2" indent="0">
              <a:buBlip>
                <a:blip r:embed="rId3"/>
              </a:buBlip>
            </a:pPr>
            <a:r>
              <a:rPr kumimoji="1" lang="zh-CN" altLang="en-US" sz="2400" dirty="0">
                <a:latin typeface="Times New Roman" pitchFamily="18" charset="0"/>
              </a:rPr>
              <a:t>作业执行结束，系统负责回收它的资源，撤消它的</a:t>
            </a:r>
            <a:r>
              <a:rPr kumimoji="1" lang="en-US" altLang="zh-CN" sz="2400" dirty="0">
                <a:latin typeface="Times New Roman" pitchFamily="18" charset="0"/>
              </a:rPr>
              <a:t>JCB</a:t>
            </a:r>
            <a:endParaRPr kumimoji="1" lang="zh-CN" altLang="en-US" sz="2400" dirty="0">
              <a:latin typeface="Times New Roman" pitchFamily="18" charset="0"/>
            </a:endParaRPr>
          </a:p>
        </p:txBody>
      </p:sp>
    </p:spTree>
    <p:extLst>
      <p:ext uri="{BB962C8B-B14F-4D97-AF65-F5344CB8AC3E}">
        <p14:creationId xmlns:p14="http://schemas.microsoft.com/office/powerpoint/2010/main" val="170094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strVal val="#ppt_w+.3"/>
                                          </p:val>
                                        </p:tav>
                                        <p:tav tm="100000">
                                          <p:val>
                                            <p:strVal val="#ppt_w"/>
                                          </p:val>
                                        </p:tav>
                                      </p:tavLst>
                                    </p:anim>
                                    <p:anim calcmode="lin" valueType="num">
                                      <p:cBhvr>
                                        <p:cTn id="8" dur="500" fill="hold"/>
                                        <p:tgtEl>
                                          <p:spTgt spid="33"/>
                                        </p:tgtEl>
                                        <p:attrNameLst>
                                          <p:attrName>ppt_h</p:attrName>
                                        </p:attrNameLst>
                                      </p:cBhvr>
                                      <p:tavLst>
                                        <p:tav tm="0">
                                          <p:val>
                                            <p:strVal val="#ppt_h"/>
                                          </p:val>
                                        </p:tav>
                                        <p:tav tm="100000">
                                          <p:val>
                                            <p:strVal val="#ppt_h"/>
                                          </p:val>
                                        </p:tav>
                                      </p:tavLst>
                                    </p:anim>
                                    <p:animEffect transition="in" filter="fade">
                                      <p:cBhvr>
                                        <p:cTn id="9" dur="500"/>
                                        <p:tgtEl>
                                          <p:spTgt spid="3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strips(downLeft)">
                                      <p:cBhvr>
                                        <p:cTn id="14" dur="5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strVal val="#ppt_w+.3"/>
                                          </p:val>
                                        </p:tav>
                                        <p:tav tm="100000">
                                          <p:val>
                                            <p:strVal val="#ppt_w"/>
                                          </p:val>
                                        </p:tav>
                                      </p:tavLst>
                                    </p:anim>
                                    <p:anim calcmode="lin" valueType="num">
                                      <p:cBhvr>
                                        <p:cTn id="20" dur="500" fill="hold"/>
                                        <p:tgtEl>
                                          <p:spTgt spid="34"/>
                                        </p:tgtEl>
                                        <p:attrNameLst>
                                          <p:attrName>ppt_h</p:attrName>
                                        </p:attrNameLst>
                                      </p:cBhvr>
                                      <p:tavLst>
                                        <p:tav tm="0">
                                          <p:val>
                                            <p:strVal val="#ppt_h"/>
                                          </p:val>
                                        </p:tav>
                                        <p:tav tm="100000">
                                          <p:val>
                                            <p:strVal val="#ppt_h"/>
                                          </p:val>
                                        </p:tav>
                                      </p:tavLst>
                                    </p:anim>
                                    <p:animEffect transition="in" filter="fade">
                                      <p:cBhvr>
                                        <p:cTn id="21" dur="500"/>
                                        <p:tgtEl>
                                          <p:spTgt spid="34"/>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strips(downLeft)">
                                      <p:cBhvr>
                                        <p:cTn id="2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29" grpId="0"/>
      <p:bldP spid="34" grpId="0"/>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）作业运行的三个阶段和三种状态</a:t>
            </a:r>
          </a:p>
        </p:txBody>
      </p:sp>
      <p:sp>
        <p:nvSpPr>
          <p:cNvPr id="3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批处理系统中的作业</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6" name="左大括号 35"/>
          <p:cNvSpPr/>
          <p:nvPr/>
        </p:nvSpPr>
        <p:spPr>
          <a:xfrm rot="5400000" flipH="1">
            <a:off x="2537458" y="2503168"/>
            <a:ext cx="217171" cy="2663191"/>
          </a:xfrm>
          <a:prstGeom prst="leftBrace">
            <a:avLst>
              <a:gd name="adj1" fmla="val 67366"/>
              <a:gd name="adj2" fmla="val 50000"/>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zh-CN" altLang="en-US"/>
          </a:p>
        </p:txBody>
      </p:sp>
      <p:sp>
        <p:nvSpPr>
          <p:cNvPr id="37" name="TextBox 36"/>
          <p:cNvSpPr txBox="1"/>
          <p:nvPr/>
        </p:nvSpPr>
        <p:spPr>
          <a:xfrm>
            <a:off x="2068830" y="4023360"/>
            <a:ext cx="1165860" cy="369332"/>
          </a:xfrm>
          <a:prstGeom prst="rect">
            <a:avLst/>
          </a:prstGeom>
          <a:noFill/>
        </p:spPr>
        <p:txBody>
          <a:bodyPr wrap="square" rtlCol="0">
            <a:spAutoFit/>
          </a:bodyPr>
          <a:lstStyle/>
          <a:p>
            <a:r>
              <a:rPr lang="zh-CN" altLang="en-US" dirty="0"/>
              <a:t>收容阶段</a:t>
            </a:r>
          </a:p>
        </p:txBody>
      </p:sp>
      <p:sp>
        <p:nvSpPr>
          <p:cNvPr id="38" name="左大括号 37"/>
          <p:cNvSpPr/>
          <p:nvPr/>
        </p:nvSpPr>
        <p:spPr>
          <a:xfrm rot="5400000" flipH="1">
            <a:off x="5785484" y="3236594"/>
            <a:ext cx="144782" cy="3691889"/>
          </a:xfrm>
          <a:prstGeom prst="leftBrace">
            <a:avLst>
              <a:gd name="adj1" fmla="val 67366"/>
              <a:gd name="adj2" fmla="val 50000"/>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zh-CN" altLang="en-US"/>
          </a:p>
        </p:txBody>
      </p:sp>
      <p:sp>
        <p:nvSpPr>
          <p:cNvPr id="39" name="TextBox 38"/>
          <p:cNvSpPr txBox="1"/>
          <p:nvPr/>
        </p:nvSpPr>
        <p:spPr>
          <a:xfrm>
            <a:off x="5318760" y="5238750"/>
            <a:ext cx="1165860" cy="369332"/>
          </a:xfrm>
          <a:prstGeom prst="rect">
            <a:avLst/>
          </a:prstGeom>
          <a:noFill/>
        </p:spPr>
        <p:txBody>
          <a:bodyPr wrap="square" rtlCol="0">
            <a:spAutoFit/>
          </a:bodyPr>
          <a:lstStyle/>
          <a:p>
            <a:r>
              <a:rPr lang="zh-CN" altLang="en-US" dirty="0"/>
              <a:t>运行阶段</a:t>
            </a:r>
          </a:p>
        </p:txBody>
      </p:sp>
      <p:sp>
        <p:nvSpPr>
          <p:cNvPr id="40" name="左大括号 39"/>
          <p:cNvSpPr/>
          <p:nvPr/>
        </p:nvSpPr>
        <p:spPr>
          <a:xfrm rot="5400000" flipH="1">
            <a:off x="8602979" y="2545079"/>
            <a:ext cx="110492" cy="1428750"/>
          </a:xfrm>
          <a:prstGeom prst="leftBrace">
            <a:avLst>
              <a:gd name="adj1" fmla="val 67366"/>
              <a:gd name="adj2" fmla="val 50000"/>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zh-CN" altLang="en-US"/>
          </a:p>
        </p:txBody>
      </p:sp>
      <p:sp>
        <p:nvSpPr>
          <p:cNvPr id="41" name="TextBox 40"/>
          <p:cNvSpPr txBox="1"/>
          <p:nvPr/>
        </p:nvSpPr>
        <p:spPr>
          <a:xfrm>
            <a:off x="8071772" y="3409950"/>
            <a:ext cx="1209388" cy="369332"/>
          </a:xfrm>
          <a:prstGeom prst="rect">
            <a:avLst/>
          </a:prstGeom>
          <a:noFill/>
        </p:spPr>
        <p:txBody>
          <a:bodyPr wrap="square" rtlCol="0">
            <a:spAutoFit/>
          </a:bodyPr>
          <a:lstStyle/>
          <a:p>
            <a:r>
              <a:rPr lang="zh-CN" altLang="en-US" dirty="0"/>
              <a:t>完成阶段</a:t>
            </a:r>
          </a:p>
        </p:txBody>
      </p:sp>
      <p:grpSp>
        <p:nvGrpSpPr>
          <p:cNvPr id="43" name="组合 42"/>
          <p:cNvGrpSpPr/>
          <p:nvPr/>
        </p:nvGrpSpPr>
        <p:grpSpPr>
          <a:xfrm>
            <a:off x="1074420" y="2147253"/>
            <a:ext cx="8270875" cy="2663825"/>
            <a:chOff x="1074420" y="2147253"/>
            <a:chExt cx="8270875" cy="2663825"/>
          </a:xfrm>
        </p:grpSpPr>
        <p:grpSp>
          <p:nvGrpSpPr>
            <p:cNvPr id="30" name="组合 29"/>
            <p:cNvGrpSpPr/>
            <p:nvPr/>
          </p:nvGrpSpPr>
          <p:grpSpPr>
            <a:xfrm>
              <a:off x="1074420" y="2147253"/>
              <a:ext cx="8270875" cy="2663825"/>
              <a:chOff x="1634490" y="2341563"/>
              <a:chExt cx="8270875" cy="2663825"/>
            </a:xfrm>
          </p:grpSpPr>
          <p:sp>
            <p:nvSpPr>
              <p:cNvPr id="12" name="Rectangle 5"/>
              <p:cNvSpPr>
                <a:spLocks noChangeArrowheads="1"/>
              </p:cNvSpPr>
              <p:nvPr/>
            </p:nvSpPr>
            <p:spPr bwMode="auto">
              <a:xfrm>
                <a:off x="3031808" y="2987675"/>
                <a:ext cx="1511300" cy="720725"/>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黑体" pitchFamily="49" charset="-122"/>
                  </a:rPr>
                  <a:t>后备状态</a:t>
                </a:r>
              </a:p>
            </p:txBody>
          </p:sp>
          <p:sp>
            <p:nvSpPr>
              <p:cNvPr id="13" name="Rectangle 6"/>
              <p:cNvSpPr>
                <a:spLocks noChangeArrowheads="1"/>
              </p:cNvSpPr>
              <p:nvPr/>
            </p:nvSpPr>
            <p:spPr bwMode="auto">
              <a:xfrm>
                <a:off x="5406390" y="2341563"/>
                <a:ext cx="2808288" cy="2663825"/>
              </a:xfrm>
              <a:prstGeom prst="rect">
                <a:avLst/>
              </a:prstGeom>
              <a:solidFill>
                <a:schemeClr val="bg1"/>
              </a:solidFill>
              <a:ln w="12700">
                <a:solidFill>
                  <a:srgbClr val="3399FF"/>
                </a:solidFill>
                <a:prstDash val="dash"/>
                <a:miter lim="800000"/>
                <a:headEnd/>
                <a:tailEnd/>
              </a:ln>
              <a:effectLst/>
            </p:spPr>
            <p:txBody>
              <a:bodyPr wrap="none" anchor="b" anchorCtr="1"/>
              <a:lstStyle/>
              <a:p>
                <a:pPr algn="ctr" eaLnBrk="1" hangingPunct="1"/>
                <a:r>
                  <a:rPr lang="zh-CN" altLang="zh-CN" sz="2400">
                    <a:latin typeface="黑体" pitchFamily="49" charset="-122"/>
                  </a:rPr>
                  <a:t>运行状态</a:t>
                </a:r>
              </a:p>
            </p:txBody>
          </p:sp>
          <p:sp>
            <p:nvSpPr>
              <p:cNvPr id="14" name="Rectangle 7"/>
              <p:cNvSpPr>
                <a:spLocks noChangeArrowheads="1"/>
              </p:cNvSpPr>
              <p:nvPr/>
            </p:nvSpPr>
            <p:spPr bwMode="auto">
              <a:xfrm>
                <a:off x="8502015" y="2686050"/>
                <a:ext cx="1403350" cy="547688"/>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黑体" pitchFamily="49" charset="-122"/>
                  </a:rPr>
                  <a:t>完成状态</a:t>
                </a:r>
              </a:p>
            </p:txBody>
          </p:sp>
          <p:sp>
            <p:nvSpPr>
              <p:cNvPr id="15" name="Rectangle 8"/>
              <p:cNvSpPr>
                <a:spLocks noChangeArrowheads="1"/>
              </p:cNvSpPr>
              <p:nvPr/>
            </p:nvSpPr>
            <p:spPr bwMode="auto">
              <a:xfrm>
                <a:off x="5622290" y="2586038"/>
                <a:ext cx="576263" cy="1512887"/>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黑体" pitchFamily="49" charset="-122"/>
                  </a:rPr>
                  <a:t>P1</a:t>
                </a:r>
              </a:p>
              <a:p>
                <a:pPr algn="ctr" eaLnBrk="1" hangingPunct="1"/>
                <a:r>
                  <a:rPr lang="zh-CN" altLang="zh-CN" sz="2400">
                    <a:latin typeface="黑体" pitchFamily="49" charset="-122"/>
                  </a:rPr>
                  <a:t>P2</a:t>
                </a:r>
              </a:p>
              <a:p>
                <a:pPr algn="ctr" eaLnBrk="1" hangingPunct="1"/>
                <a:r>
                  <a:rPr lang="zh-CN" altLang="zh-CN" sz="2400">
                    <a:latin typeface="黑体" pitchFamily="49" charset="-122"/>
                  </a:rPr>
                  <a:t>P3</a:t>
                </a:r>
              </a:p>
              <a:p>
                <a:pPr algn="ctr" eaLnBrk="1" hangingPunct="1"/>
                <a:r>
                  <a:rPr lang="zh-CN" altLang="zh-CN" sz="2400">
                    <a:latin typeface="Arial" pitchFamily="34" charset="0"/>
                  </a:rPr>
                  <a:t>…</a:t>
                </a:r>
                <a:endParaRPr lang="zh-CN" altLang="zh-CN" sz="2400">
                  <a:latin typeface="黑体" pitchFamily="49" charset="-122"/>
                </a:endParaRPr>
              </a:p>
            </p:txBody>
          </p:sp>
          <p:sp>
            <p:nvSpPr>
              <p:cNvPr id="16" name="Rectangle 9"/>
              <p:cNvSpPr>
                <a:spLocks noChangeArrowheads="1"/>
              </p:cNvSpPr>
              <p:nvPr/>
            </p:nvSpPr>
            <p:spPr bwMode="auto">
              <a:xfrm>
                <a:off x="6919278" y="2700338"/>
                <a:ext cx="1008062" cy="503237"/>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黑体" pitchFamily="49" charset="-122"/>
                  </a:rPr>
                  <a:t>cpu</a:t>
                </a:r>
              </a:p>
            </p:txBody>
          </p:sp>
          <p:sp>
            <p:nvSpPr>
              <p:cNvPr id="17" name="Rectangle 10"/>
              <p:cNvSpPr>
                <a:spLocks noChangeArrowheads="1"/>
              </p:cNvSpPr>
              <p:nvPr/>
            </p:nvSpPr>
            <p:spPr bwMode="auto">
              <a:xfrm>
                <a:off x="6846253" y="3997325"/>
                <a:ext cx="1081087" cy="576263"/>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黑体" pitchFamily="49" charset="-122"/>
                  </a:rPr>
                  <a:t>I/O</a:t>
                </a:r>
              </a:p>
            </p:txBody>
          </p:sp>
          <p:cxnSp>
            <p:nvCxnSpPr>
              <p:cNvPr id="20" name="AutoShape 13"/>
              <p:cNvCxnSpPr>
                <a:cxnSpLocks noChangeShapeType="1"/>
                <a:stCxn id="12" idx="3"/>
                <a:endCxn id="15" idx="1"/>
              </p:cNvCxnSpPr>
              <p:nvPr/>
            </p:nvCxnSpPr>
            <p:spPr bwMode="auto">
              <a:xfrm flipV="1">
                <a:off x="4543108" y="3342482"/>
                <a:ext cx="1079182" cy="5556"/>
              </a:xfrm>
              <a:prstGeom prst="straightConnector1">
                <a:avLst/>
              </a:prstGeom>
              <a:noFill/>
              <a:ln w="57150">
                <a:solidFill>
                  <a:srgbClr val="3399FF"/>
                </a:solidFill>
                <a:round/>
                <a:headEnd/>
                <a:tailEnd type="triangle" w="med" len="med"/>
              </a:ln>
              <a:effectLst/>
            </p:spPr>
          </p:cxnSp>
          <p:cxnSp>
            <p:nvCxnSpPr>
              <p:cNvPr id="22" name="AutoShape 14"/>
              <p:cNvCxnSpPr>
                <a:cxnSpLocks noChangeShapeType="1"/>
                <a:stCxn id="15" idx="3"/>
                <a:endCxn id="16" idx="1"/>
              </p:cNvCxnSpPr>
              <p:nvPr/>
            </p:nvCxnSpPr>
            <p:spPr bwMode="auto">
              <a:xfrm flipV="1">
                <a:off x="6208078" y="2952750"/>
                <a:ext cx="701675" cy="390525"/>
              </a:xfrm>
              <a:prstGeom prst="straightConnector1">
                <a:avLst/>
              </a:prstGeom>
              <a:noFill/>
              <a:ln w="57150">
                <a:solidFill>
                  <a:srgbClr val="3399FF"/>
                </a:solidFill>
                <a:round/>
                <a:headEnd/>
                <a:tailEnd type="triangle" w="med" len="med"/>
              </a:ln>
              <a:effectLst/>
            </p:spPr>
          </p:cxnSp>
          <p:cxnSp>
            <p:nvCxnSpPr>
              <p:cNvPr id="23" name="AutoShape 15"/>
              <p:cNvCxnSpPr>
                <a:cxnSpLocks noChangeShapeType="1"/>
                <a:stCxn id="16" idx="2"/>
                <a:endCxn id="17" idx="0"/>
              </p:cNvCxnSpPr>
              <p:nvPr/>
            </p:nvCxnSpPr>
            <p:spPr bwMode="auto">
              <a:xfrm flipH="1">
                <a:off x="7387590" y="3213100"/>
                <a:ext cx="36513" cy="774700"/>
              </a:xfrm>
              <a:prstGeom prst="straightConnector1">
                <a:avLst/>
              </a:prstGeom>
              <a:noFill/>
              <a:ln w="57150">
                <a:solidFill>
                  <a:srgbClr val="3399FF"/>
                </a:solidFill>
                <a:round/>
                <a:headEnd/>
                <a:tailEnd type="triangle" w="med" len="med"/>
              </a:ln>
              <a:effectLst/>
            </p:spPr>
          </p:cxnSp>
          <p:cxnSp>
            <p:nvCxnSpPr>
              <p:cNvPr id="24" name="AutoShape 16"/>
              <p:cNvCxnSpPr>
                <a:cxnSpLocks noChangeShapeType="1"/>
                <a:stCxn id="17" idx="1"/>
                <a:endCxn id="15" idx="2"/>
              </p:cNvCxnSpPr>
              <p:nvPr/>
            </p:nvCxnSpPr>
            <p:spPr bwMode="auto">
              <a:xfrm flipH="1" flipV="1">
                <a:off x="5911215" y="4108450"/>
                <a:ext cx="925513" cy="177800"/>
              </a:xfrm>
              <a:prstGeom prst="straightConnector1">
                <a:avLst/>
              </a:prstGeom>
              <a:noFill/>
              <a:ln w="57150">
                <a:solidFill>
                  <a:srgbClr val="3399FF"/>
                </a:solidFill>
                <a:round/>
                <a:headEnd/>
                <a:tailEnd type="triangle" w="med" len="med"/>
              </a:ln>
              <a:effectLst/>
            </p:spPr>
          </p:cxnSp>
          <p:cxnSp>
            <p:nvCxnSpPr>
              <p:cNvPr id="25" name="AutoShape 17"/>
              <p:cNvCxnSpPr>
                <a:cxnSpLocks noChangeShapeType="1"/>
                <a:stCxn id="16" idx="3"/>
                <a:endCxn id="14" idx="1"/>
              </p:cNvCxnSpPr>
              <p:nvPr/>
            </p:nvCxnSpPr>
            <p:spPr bwMode="auto">
              <a:xfrm>
                <a:off x="7936865" y="2952750"/>
                <a:ext cx="555625" cy="7938"/>
              </a:xfrm>
              <a:prstGeom prst="straightConnector1">
                <a:avLst/>
              </a:prstGeom>
              <a:noFill/>
              <a:ln w="57150">
                <a:solidFill>
                  <a:srgbClr val="3399FF"/>
                </a:solidFill>
                <a:round/>
                <a:headEnd/>
                <a:tailEnd type="triangle" w="med" len="med"/>
              </a:ln>
              <a:effectLst/>
            </p:spPr>
          </p:cxnSp>
          <p:pic>
            <p:nvPicPr>
              <p:cNvPr id="90114" name="Picture 2" descr="C:\Users\lenovo\AppData\Roaming\Tencent\Users\21481383\TIM\WinTemp\RichOle\DJ`H}]47U8G60H_DTFD20P3.png"/>
              <p:cNvPicPr>
                <a:picLocks noChangeAspect="1" noChangeArrowheads="1"/>
              </p:cNvPicPr>
              <p:nvPr/>
            </p:nvPicPr>
            <p:blipFill>
              <a:blip r:embed="rId3" cstate="print"/>
              <a:srcRect/>
              <a:stretch>
                <a:fillRect/>
              </a:stretch>
            </p:blipFill>
            <p:spPr bwMode="auto">
              <a:xfrm>
                <a:off x="1634490" y="2983230"/>
                <a:ext cx="822960" cy="811530"/>
              </a:xfrm>
              <a:prstGeom prst="rect">
                <a:avLst/>
              </a:prstGeom>
              <a:noFill/>
            </p:spPr>
          </p:pic>
          <p:cxnSp>
            <p:nvCxnSpPr>
              <p:cNvPr id="27" name="AutoShape 13"/>
              <p:cNvCxnSpPr>
                <a:cxnSpLocks noChangeShapeType="1"/>
              </p:cNvCxnSpPr>
              <p:nvPr/>
            </p:nvCxnSpPr>
            <p:spPr bwMode="auto">
              <a:xfrm flipV="1">
                <a:off x="2476183" y="3369945"/>
                <a:ext cx="557212" cy="4763"/>
              </a:xfrm>
              <a:prstGeom prst="straightConnector1">
                <a:avLst/>
              </a:prstGeom>
              <a:noFill/>
              <a:ln w="57150">
                <a:solidFill>
                  <a:srgbClr val="3399FF"/>
                </a:solidFill>
                <a:round/>
                <a:headEnd/>
                <a:tailEnd type="triangle" w="med" len="med"/>
              </a:ln>
              <a:effectLst/>
            </p:spPr>
          </p:cxnSp>
          <p:sp>
            <p:nvSpPr>
              <p:cNvPr id="28" name="TextBox 27"/>
              <p:cNvSpPr txBox="1"/>
              <p:nvPr/>
            </p:nvSpPr>
            <p:spPr>
              <a:xfrm>
                <a:off x="4652010" y="2674620"/>
                <a:ext cx="685800" cy="646331"/>
              </a:xfrm>
              <a:prstGeom prst="rect">
                <a:avLst/>
              </a:prstGeom>
              <a:noFill/>
            </p:spPr>
            <p:txBody>
              <a:bodyPr wrap="square" rtlCol="0">
                <a:spAutoFit/>
              </a:bodyPr>
              <a:lstStyle/>
              <a:p>
                <a:r>
                  <a:rPr lang="zh-CN" altLang="en-US" dirty="0"/>
                  <a:t>作业调度</a:t>
                </a:r>
              </a:p>
            </p:txBody>
          </p:sp>
        </p:grpSp>
        <p:sp>
          <p:nvSpPr>
            <p:cNvPr id="42" name="TextBox 41"/>
            <p:cNvSpPr txBox="1"/>
            <p:nvPr/>
          </p:nvSpPr>
          <p:spPr>
            <a:xfrm>
              <a:off x="5650230" y="2221230"/>
              <a:ext cx="685800" cy="646331"/>
            </a:xfrm>
            <a:prstGeom prst="rect">
              <a:avLst/>
            </a:prstGeom>
            <a:noFill/>
          </p:spPr>
          <p:txBody>
            <a:bodyPr wrap="square" rtlCol="0">
              <a:spAutoFit/>
            </a:bodyPr>
            <a:lstStyle/>
            <a:p>
              <a:r>
                <a:rPr lang="zh-CN" altLang="en-US" dirty="0"/>
                <a:t>进程调度</a:t>
              </a:r>
            </a:p>
          </p:txBody>
        </p:sp>
      </p:grpSp>
    </p:spTree>
    <p:extLst>
      <p:ext uri="{BB962C8B-B14F-4D97-AF65-F5344CB8AC3E}">
        <p14:creationId xmlns:p14="http://schemas.microsoft.com/office/powerpoint/2010/main" val="170094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down)">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down)">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down)">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down)">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down)">
                                      <p:cBhvr>
                                        <p:cTn id="3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38" grpId="0" animBg="1"/>
      <p:bldP spid="39" grpId="0"/>
      <p:bldP spid="40" grpId="0" animBg="1"/>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要解决的问题</a:t>
            </a:r>
          </a:p>
        </p:txBody>
      </p:sp>
      <p:sp>
        <p:nvSpPr>
          <p:cNvPr id="3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作业调度的主要任务</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3" name="文本框 54"/>
          <p:cNvSpPr txBox="1">
            <a:spLocks noChangeArrowheads="1"/>
          </p:cNvSpPr>
          <p:nvPr/>
        </p:nvSpPr>
        <p:spPr bwMode="auto">
          <a:xfrm>
            <a:off x="1107897" y="1963661"/>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接纳多少个作业</a:t>
            </a:r>
          </a:p>
        </p:txBody>
      </p:sp>
      <p:sp>
        <p:nvSpPr>
          <p:cNvPr id="29" name="文本框 19"/>
          <p:cNvSpPr txBox="1">
            <a:spLocks noChangeArrowheads="1"/>
          </p:cNvSpPr>
          <p:nvPr/>
        </p:nvSpPr>
        <p:spPr bwMode="auto">
          <a:xfrm>
            <a:off x="1126172" y="2331599"/>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由多道程序度决定</a:t>
            </a:r>
          </a:p>
        </p:txBody>
      </p:sp>
      <p:sp>
        <p:nvSpPr>
          <p:cNvPr id="34" name="文本框 54"/>
          <p:cNvSpPr txBox="1">
            <a:spLocks noChangeArrowheads="1"/>
          </p:cNvSpPr>
          <p:nvPr/>
        </p:nvSpPr>
        <p:spPr bwMode="auto">
          <a:xfrm>
            <a:off x="1091855" y="2970263"/>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接纳哪些作业</a:t>
            </a:r>
          </a:p>
        </p:txBody>
      </p:sp>
      <p:sp>
        <p:nvSpPr>
          <p:cNvPr id="35" name="文本框 19"/>
          <p:cNvSpPr txBox="1">
            <a:spLocks noChangeArrowheads="1"/>
          </p:cNvSpPr>
          <p:nvPr/>
        </p:nvSpPr>
        <p:spPr bwMode="auto">
          <a:xfrm>
            <a:off x="1110130" y="3410393"/>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由调度算法决定，如</a:t>
            </a:r>
            <a:r>
              <a:rPr lang="en-US" altLang="zh-CN" sz="2400" dirty="0"/>
              <a:t>FCFS</a:t>
            </a:r>
            <a:r>
              <a:rPr lang="zh-CN" altLang="en-US" sz="2400" dirty="0"/>
              <a:t>，</a:t>
            </a:r>
            <a:r>
              <a:rPr lang="en-US" altLang="zh-CN" sz="2400" dirty="0"/>
              <a:t>SJF</a:t>
            </a:r>
            <a:r>
              <a:rPr lang="zh-CN" altLang="en-US" sz="2400" dirty="0"/>
              <a:t>，优先级调度算法等</a:t>
            </a:r>
            <a:r>
              <a:rPr kumimoji="1" lang="zh-CN" altLang="en-US" sz="2400" dirty="0">
                <a:latin typeface="Times New Roman" pitchFamily="18" charset="0"/>
              </a:rPr>
              <a:t>。</a:t>
            </a:r>
            <a:endParaRPr lang="zh-CN" altLang="en-US" sz="2400" dirty="0"/>
          </a:p>
        </p:txBody>
      </p:sp>
    </p:spTree>
    <p:extLst>
      <p:ext uri="{BB962C8B-B14F-4D97-AF65-F5344CB8AC3E}">
        <p14:creationId xmlns:p14="http://schemas.microsoft.com/office/powerpoint/2010/main" val="170094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strVal val="#ppt_w+.3"/>
                                          </p:val>
                                        </p:tav>
                                        <p:tav tm="100000">
                                          <p:val>
                                            <p:strVal val="#ppt_w"/>
                                          </p:val>
                                        </p:tav>
                                      </p:tavLst>
                                    </p:anim>
                                    <p:anim calcmode="lin" valueType="num">
                                      <p:cBhvr>
                                        <p:cTn id="8" dur="500" fill="hold"/>
                                        <p:tgtEl>
                                          <p:spTgt spid="33"/>
                                        </p:tgtEl>
                                        <p:attrNameLst>
                                          <p:attrName>ppt_h</p:attrName>
                                        </p:attrNameLst>
                                      </p:cBhvr>
                                      <p:tavLst>
                                        <p:tav tm="0">
                                          <p:val>
                                            <p:strVal val="#ppt_h"/>
                                          </p:val>
                                        </p:tav>
                                        <p:tav tm="100000">
                                          <p:val>
                                            <p:strVal val="#ppt_h"/>
                                          </p:val>
                                        </p:tav>
                                      </p:tavLst>
                                    </p:anim>
                                    <p:animEffect transition="in" filter="fade">
                                      <p:cBhvr>
                                        <p:cTn id="9" dur="500"/>
                                        <p:tgtEl>
                                          <p:spTgt spid="3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strips(downLeft)">
                                      <p:cBhvr>
                                        <p:cTn id="14" dur="5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strVal val="#ppt_w+.3"/>
                                          </p:val>
                                        </p:tav>
                                        <p:tav tm="100000">
                                          <p:val>
                                            <p:strVal val="#ppt_w"/>
                                          </p:val>
                                        </p:tav>
                                      </p:tavLst>
                                    </p:anim>
                                    <p:anim calcmode="lin" valueType="num">
                                      <p:cBhvr>
                                        <p:cTn id="20" dur="500" fill="hold"/>
                                        <p:tgtEl>
                                          <p:spTgt spid="34"/>
                                        </p:tgtEl>
                                        <p:attrNameLst>
                                          <p:attrName>ppt_h</p:attrName>
                                        </p:attrNameLst>
                                      </p:cBhvr>
                                      <p:tavLst>
                                        <p:tav tm="0">
                                          <p:val>
                                            <p:strVal val="#ppt_h"/>
                                          </p:val>
                                        </p:tav>
                                        <p:tav tm="100000">
                                          <p:val>
                                            <p:strVal val="#ppt_h"/>
                                          </p:val>
                                        </p:tav>
                                      </p:tavLst>
                                    </p:anim>
                                    <p:animEffect transition="in" filter="fade">
                                      <p:cBhvr>
                                        <p:cTn id="21" dur="500"/>
                                        <p:tgtEl>
                                          <p:spTgt spid="34"/>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strips(downLeft)">
                                      <p:cBhvr>
                                        <p:cTn id="2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29" grpId="0"/>
      <p:bldP spid="34"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作业调度</a:t>
            </a:r>
          </a:p>
        </p:txBody>
      </p:sp>
      <p:sp>
        <p:nvSpPr>
          <p:cNvPr id="31" name="文本框 25"/>
          <p:cNvSpPr txBox="1">
            <a:spLocks noChangeArrowheads="1"/>
          </p:cNvSpPr>
          <p:nvPr/>
        </p:nvSpPr>
        <p:spPr bwMode="auto">
          <a:xfrm>
            <a:off x="902970" y="212725"/>
            <a:ext cx="82577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先来先服务（</a:t>
            </a:r>
            <a:r>
              <a:rPr lang="en-US" altLang="zh-CN" sz="2400" b="1" dirty="0">
                <a:solidFill>
                  <a:srgbClr val="3D7351"/>
                </a:solidFill>
                <a:latin typeface="微软雅黑" panose="020B0503020204020204" pitchFamily="34" charset="-122"/>
                <a:ea typeface="微软雅黑" panose="020B0503020204020204" pitchFamily="34" charset="-122"/>
              </a:rPr>
              <a:t>FCFS</a:t>
            </a:r>
            <a:r>
              <a:rPr lang="zh-CN" altLang="en-US" sz="2400" b="1" dirty="0">
                <a:solidFill>
                  <a:srgbClr val="3D7351"/>
                </a:solidFill>
                <a:latin typeface="微软雅黑" panose="020B0503020204020204" pitchFamily="34" charset="-122"/>
                <a:ea typeface="微软雅黑" panose="020B0503020204020204" pitchFamily="34" charset="-122"/>
              </a:rPr>
              <a:t>，</a:t>
            </a:r>
            <a:r>
              <a:rPr lang="en-US" altLang="zh-CN" sz="2400" b="1" dirty="0">
                <a:solidFill>
                  <a:srgbClr val="3D7351"/>
                </a:solidFill>
                <a:latin typeface="微软雅黑" panose="020B0503020204020204" pitchFamily="34" charset="-122"/>
                <a:ea typeface="微软雅黑" panose="020B0503020204020204" pitchFamily="34" charset="-122"/>
              </a:rPr>
              <a:t>First com First Service</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9" name="文本框 19"/>
          <p:cNvSpPr txBox="1">
            <a:spLocks noChangeArrowheads="1"/>
          </p:cNvSpPr>
          <p:nvPr/>
        </p:nvSpPr>
        <p:spPr bwMode="auto">
          <a:xfrm>
            <a:off x="1091855" y="1892926"/>
            <a:ext cx="102917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由多道程序度决定按照作业提交的</a:t>
            </a:r>
            <a:r>
              <a:rPr lang="zh-CN" altLang="en-US" sz="2400" b="1" dirty="0"/>
              <a:t>先后次序</a:t>
            </a:r>
            <a:r>
              <a:rPr lang="zh-CN" altLang="en-US" sz="2400" dirty="0"/>
              <a:t>，从后备队列中选择几个最先进入该队列的作业，将它们调入内存，为它们分配资源和创建进程，然后放入就绪队列。</a:t>
            </a:r>
            <a:endParaRPr lang="en-US" altLang="zh-CN" sz="2400" dirty="0"/>
          </a:p>
        </p:txBody>
      </p:sp>
      <p:sp>
        <p:nvSpPr>
          <p:cNvPr id="35" name="文本框 19"/>
          <p:cNvSpPr txBox="1">
            <a:spLocks noChangeArrowheads="1"/>
          </p:cNvSpPr>
          <p:nvPr/>
        </p:nvSpPr>
        <p:spPr bwMode="auto">
          <a:xfrm>
            <a:off x="1099264" y="4751771"/>
            <a:ext cx="86641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在进程被</a:t>
            </a:r>
            <a:r>
              <a:rPr lang="zh-CN" altLang="en-US" sz="2400" b="1" dirty="0"/>
              <a:t>唤醒后</a:t>
            </a:r>
            <a:r>
              <a:rPr lang="zh-CN" altLang="en-US" sz="2400" dirty="0"/>
              <a:t>（如</a:t>
            </a:r>
            <a:r>
              <a:rPr lang="en-US" altLang="zh-CN" sz="2400" dirty="0"/>
              <a:t>I/O</a:t>
            </a:r>
            <a:r>
              <a:rPr lang="zh-CN" altLang="en-US" sz="2400" dirty="0"/>
              <a:t>完成），并不立即恢复执行，通常等到当前进程出让</a:t>
            </a:r>
            <a:r>
              <a:rPr lang="en-US" altLang="zh-CN" sz="2400" dirty="0"/>
              <a:t>CPU</a:t>
            </a:r>
            <a:r>
              <a:rPr kumimoji="1" lang="zh-CN" altLang="en-US" sz="2400" dirty="0">
                <a:latin typeface="Times New Roman" pitchFamily="18" charset="0"/>
              </a:rPr>
              <a:t>。</a:t>
            </a:r>
            <a:endParaRPr lang="zh-CN" altLang="en-US" sz="2400" dirty="0"/>
          </a:p>
        </p:txBody>
      </p:sp>
      <p:pic>
        <p:nvPicPr>
          <p:cNvPr id="1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71667" y="4691092"/>
            <a:ext cx="1839912" cy="196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1142079" y="3605983"/>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12"/>
          <p:cNvSpPr/>
          <p:nvPr/>
        </p:nvSpPr>
        <p:spPr>
          <a:xfrm>
            <a:off x="2050129" y="3605983"/>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55"/>
          <p:cNvSpPr txBox="1">
            <a:spLocks noChangeArrowheads="1"/>
          </p:cNvSpPr>
          <p:nvPr/>
        </p:nvSpPr>
        <p:spPr bwMode="auto">
          <a:xfrm>
            <a:off x="996028" y="3072583"/>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进程调度</a:t>
            </a:r>
          </a:p>
        </p:txBody>
      </p:sp>
      <p:sp>
        <p:nvSpPr>
          <p:cNvPr id="15" name="文本框 19"/>
          <p:cNvSpPr txBox="1">
            <a:spLocks noChangeArrowheads="1"/>
          </p:cNvSpPr>
          <p:nvPr/>
        </p:nvSpPr>
        <p:spPr bwMode="auto">
          <a:xfrm>
            <a:off x="1109593" y="3845488"/>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从就绪队列中选择一个最先进入该队列的进程，为它分配</a:t>
            </a:r>
            <a:r>
              <a:rPr lang="en-US" altLang="zh-CN" sz="2400" dirty="0"/>
              <a:t>CPU</a:t>
            </a:r>
            <a:r>
              <a:rPr lang="zh-CN" altLang="en-US" sz="2400" dirty="0"/>
              <a:t>，使之运行；该进程一直运行到</a:t>
            </a:r>
            <a:r>
              <a:rPr lang="zh-CN" altLang="en-US" sz="2400" b="1" dirty="0"/>
              <a:t>完成或发生阻塞</a:t>
            </a:r>
            <a:r>
              <a:rPr lang="zh-CN" altLang="en-US" sz="2400" dirty="0"/>
              <a:t>。</a:t>
            </a:r>
            <a:endParaRPr lang="en-US" altLang="zh-CN" sz="2400" dirty="0"/>
          </a:p>
        </p:txBody>
      </p:sp>
    </p:spTree>
    <p:extLst>
      <p:ext uri="{BB962C8B-B14F-4D97-AF65-F5344CB8AC3E}">
        <p14:creationId xmlns:p14="http://schemas.microsoft.com/office/powerpoint/2010/main" val="170094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strips(downLeft)">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算法特点</a:t>
            </a:r>
          </a:p>
        </p:txBody>
      </p:sp>
      <p:sp>
        <p:nvSpPr>
          <p:cNvPr id="31" name="文本框 25"/>
          <p:cNvSpPr txBox="1">
            <a:spLocks noChangeArrowheads="1"/>
          </p:cNvSpPr>
          <p:nvPr/>
        </p:nvSpPr>
        <p:spPr bwMode="auto">
          <a:xfrm>
            <a:off x="902970" y="212725"/>
            <a:ext cx="82577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先来先服务（</a:t>
            </a:r>
            <a:r>
              <a:rPr lang="en-US" altLang="zh-CN" sz="2400" b="1" dirty="0">
                <a:solidFill>
                  <a:srgbClr val="3D7351"/>
                </a:solidFill>
                <a:latin typeface="微软雅黑" panose="020B0503020204020204" pitchFamily="34" charset="-122"/>
                <a:ea typeface="微软雅黑" panose="020B0503020204020204" pitchFamily="34" charset="-122"/>
              </a:rPr>
              <a:t>FCFS</a:t>
            </a:r>
            <a:r>
              <a:rPr lang="zh-CN" altLang="en-US" sz="2400" b="1" dirty="0">
                <a:solidFill>
                  <a:srgbClr val="3D7351"/>
                </a:solidFill>
                <a:latin typeface="微软雅黑" panose="020B0503020204020204" pitchFamily="34" charset="-122"/>
                <a:ea typeface="微软雅黑" panose="020B0503020204020204" pitchFamily="34" charset="-122"/>
              </a:rPr>
              <a:t>，</a:t>
            </a:r>
            <a:r>
              <a:rPr lang="en-US" altLang="zh-CN" sz="2400" b="1" dirty="0">
                <a:solidFill>
                  <a:srgbClr val="3D7351"/>
                </a:solidFill>
                <a:latin typeface="微软雅黑" panose="020B0503020204020204" pitchFamily="34" charset="-122"/>
                <a:ea typeface="微软雅黑" panose="020B0503020204020204" pitchFamily="34" charset="-122"/>
              </a:rPr>
              <a:t>First com First Service</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9" name="文本框 19"/>
          <p:cNvSpPr txBox="1">
            <a:spLocks noChangeArrowheads="1"/>
          </p:cNvSpPr>
          <p:nvPr/>
        </p:nvSpPr>
        <p:spPr bwMode="auto">
          <a:xfrm>
            <a:off x="1099264" y="1931603"/>
            <a:ext cx="1029179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简单、易于实现、服务质量不佳</a:t>
            </a:r>
            <a:endParaRPr lang="en-US" altLang="zh-CN" sz="2400" dirty="0"/>
          </a:p>
          <a:p>
            <a:pPr marL="0" lvl="2" indent="0">
              <a:buBlip>
                <a:blip r:embed="rId3"/>
              </a:buBlip>
            </a:pPr>
            <a:r>
              <a:rPr lang="zh-CN" altLang="en-US" sz="2400" dirty="0"/>
              <a:t>取决于作业（进程）提交顺序</a:t>
            </a:r>
            <a:endParaRPr lang="en-US" altLang="zh-CN" sz="2400" dirty="0"/>
          </a:p>
          <a:p>
            <a:pPr marL="0" lvl="2" indent="0">
              <a:buBlip>
                <a:blip r:embed="rId3"/>
              </a:buBlip>
            </a:pPr>
            <a:r>
              <a:rPr lang="zh-CN" altLang="en-US" sz="2400" dirty="0"/>
              <a:t>较有利于长作业（进程）或</a:t>
            </a:r>
            <a:r>
              <a:rPr lang="en-US" altLang="zh-CN" sz="2400" dirty="0"/>
              <a:t>CPU</a:t>
            </a:r>
            <a:r>
              <a:rPr lang="zh-CN" altLang="en-US" sz="2400" dirty="0"/>
              <a:t>繁忙型的作业</a:t>
            </a:r>
            <a:endParaRPr lang="en-US" altLang="zh-CN" sz="2400" dirty="0"/>
          </a:p>
          <a:p>
            <a:pPr marL="0" lvl="2" indent="0">
              <a:buBlip>
                <a:blip r:embed="rId3"/>
              </a:buBlip>
            </a:pPr>
            <a:r>
              <a:rPr lang="zh-CN" altLang="en-US" sz="2400" dirty="0"/>
              <a:t>不利于短作业（进程）或</a:t>
            </a:r>
            <a:r>
              <a:rPr lang="en-US" altLang="zh-CN" sz="2400" dirty="0"/>
              <a:t>I/O</a:t>
            </a:r>
            <a:r>
              <a:rPr lang="zh-CN" altLang="en-US" sz="2400" dirty="0"/>
              <a:t>繁忙型作业 。</a:t>
            </a:r>
          </a:p>
        </p:txBody>
      </p:sp>
      <p:pic>
        <p:nvPicPr>
          <p:cNvPr id="1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71667" y="4528864"/>
            <a:ext cx="1839912" cy="196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1142079" y="4144795"/>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12"/>
          <p:cNvSpPr/>
          <p:nvPr/>
        </p:nvSpPr>
        <p:spPr>
          <a:xfrm>
            <a:off x="2050129" y="414479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55"/>
          <p:cNvSpPr txBox="1">
            <a:spLocks noChangeArrowheads="1"/>
          </p:cNvSpPr>
          <p:nvPr/>
        </p:nvSpPr>
        <p:spPr bwMode="auto">
          <a:xfrm>
            <a:off x="996028" y="3611395"/>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用途</a:t>
            </a:r>
          </a:p>
        </p:txBody>
      </p:sp>
      <p:sp>
        <p:nvSpPr>
          <p:cNvPr id="15" name="文本框 19"/>
          <p:cNvSpPr txBox="1">
            <a:spLocks noChangeArrowheads="1"/>
          </p:cNvSpPr>
          <p:nvPr/>
        </p:nvSpPr>
        <p:spPr bwMode="auto">
          <a:xfrm>
            <a:off x="1109593" y="4428544"/>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既可用于作业调度，也可用于进程调度。</a:t>
            </a:r>
            <a:endParaRPr lang="en-US" altLang="zh-CN" sz="2400" dirty="0"/>
          </a:p>
          <a:p>
            <a:pPr marL="0" lvl="2" indent="0">
              <a:buBlip>
                <a:blip r:embed="rId3"/>
              </a:buBlip>
            </a:pPr>
            <a:r>
              <a:rPr lang="zh-CN" altLang="en-US" sz="2400" dirty="0"/>
              <a:t>很少作为进程调度的主算法，但常作为辅助调度算法。</a:t>
            </a:r>
          </a:p>
        </p:txBody>
      </p:sp>
      <p:sp>
        <p:nvSpPr>
          <p:cNvPr id="16" name="AutoShape 82"/>
          <p:cNvSpPr>
            <a:spLocks noChangeArrowheads="1"/>
          </p:cNvSpPr>
          <p:nvPr/>
        </p:nvSpPr>
        <p:spPr bwMode="auto">
          <a:xfrm>
            <a:off x="6325850" y="1581686"/>
            <a:ext cx="3730105" cy="942385"/>
          </a:xfrm>
          <a:prstGeom prst="wedgeRectCallout">
            <a:avLst>
              <a:gd name="adj1" fmla="val -45676"/>
              <a:gd name="adj2" fmla="val 71616"/>
            </a:avLst>
          </a:prstGeom>
          <a:ln>
            <a:headEnd/>
            <a:tailEnd/>
          </a:ln>
        </p:spPr>
        <p:style>
          <a:lnRef idx="1">
            <a:schemeClr val="accent6"/>
          </a:lnRef>
          <a:fillRef idx="2">
            <a:schemeClr val="accent6"/>
          </a:fillRef>
          <a:effectRef idx="1">
            <a:schemeClr val="accent6"/>
          </a:effectRef>
          <a:fontRef idx="minor">
            <a:schemeClr val="dk1"/>
          </a:fontRef>
        </p:style>
        <p:txBody>
          <a:bodyPr anchor="ctr"/>
          <a:lstStyle/>
          <a:p>
            <a:r>
              <a:rPr kumimoji="1" lang="zh-CN" altLang="en-US" sz="2000" dirty="0">
                <a:latin typeface="Tahoma" pitchFamily="34" charset="0"/>
              </a:rPr>
              <a:t>需要大量的</a:t>
            </a:r>
            <a:r>
              <a:rPr kumimoji="1" lang="en-US" altLang="zh-CN" sz="2000" dirty="0">
                <a:latin typeface="Tahoma" pitchFamily="34" charset="0"/>
              </a:rPr>
              <a:t>CPU</a:t>
            </a:r>
            <a:r>
              <a:rPr kumimoji="1" lang="zh-CN" altLang="en-US" sz="2000" dirty="0">
                <a:latin typeface="Tahoma" pitchFamily="34" charset="0"/>
              </a:rPr>
              <a:t>时间进行计算，而很少请求</a:t>
            </a:r>
            <a:r>
              <a:rPr kumimoji="1" lang="en-US" altLang="zh-CN" sz="2000" dirty="0">
                <a:latin typeface="Tahoma" pitchFamily="34" charset="0"/>
              </a:rPr>
              <a:t>I/O</a:t>
            </a:r>
            <a:r>
              <a:rPr kumimoji="1" lang="zh-CN" altLang="en-US" sz="2000" dirty="0">
                <a:latin typeface="Tahoma" pitchFamily="34" charset="0"/>
              </a:rPr>
              <a:t>。如，科学计算</a:t>
            </a:r>
          </a:p>
        </p:txBody>
      </p:sp>
      <p:sp>
        <p:nvSpPr>
          <p:cNvPr id="17" name="AutoShape 82"/>
          <p:cNvSpPr>
            <a:spLocks noChangeArrowheads="1"/>
          </p:cNvSpPr>
          <p:nvPr/>
        </p:nvSpPr>
        <p:spPr bwMode="auto">
          <a:xfrm>
            <a:off x="5962056" y="2089388"/>
            <a:ext cx="3730105" cy="942385"/>
          </a:xfrm>
          <a:prstGeom prst="wedgeRectCallout">
            <a:avLst>
              <a:gd name="adj1" fmla="val -45676"/>
              <a:gd name="adj2" fmla="val 71616"/>
            </a:avLst>
          </a:prstGeom>
          <a:ln>
            <a:headEnd/>
            <a:tailEnd/>
          </a:ln>
        </p:spPr>
        <p:style>
          <a:lnRef idx="1">
            <a:schemeClr val="accent6"/>
          </a:lnRef>
          <a:fillRef idx="2">
            <a:schemeClr val="accent6"/>
          </a:fillRef>
          <a:effectRef idx="1">
            <a:schemeClr val="accent6"/>
          </a:effectRef>
          <a:fontRef idx="minor">
            <a:schemeClr val="dk1"/>
          </a:fontRef>
        </p:style>
        <p:txBody>
          <a:bodyPr anchor="ctr"/>
          <a:lstStyle/>
          <a:p>
            <a:r>
              <a:rPr kumimoji="1" lang="zh-CN" altLang="en-US" sz="2000" dirty="0">
                <a:latin typeface="Tahoma" pitchFamily="34" charset="0"/>
              </a:rPr>
              <a:t>是指</a:t>
            </a:r>
            <a:r>
              <a:rPr kumimoji="1" lang="en-US" altLang="zh-CN" sz="2000" dirty="0">
                <a:latin typeface="Tahoma" pitchFamily="34" charset="0"/>
              </a:rPr>
              <a:t>CPU</a:t>
            </a:r>
            <a:r>
              <a:rPr kumimoji="1" lang="zh-CN" altLang="en-US" sz="2000" dirty="0">
                <a:latin typeface="Tahoma" pitchFamily="34" charset="0"/>
              </a:rPr>
              <a:t>进行处理时，需频繁地请求</a:t>
            </a:r>
            <a:r>
              <a:rPr kumimoji="1" lang="en-US" altLang="zh-CN" sz="2000" dirty="0">
                <a:latin typeface="Tahoma" pitchFamily="34" charset="0"/>
              </a:rPr>
              <a:t>I/O</a:t>
            </a:r>
            <a:r>
              <a:rPr kumimoji="1" lang="zh-CN" altLang="en-US" sz="2000" dirty="0">
                <a:latin typeface="Tahoma" pitchFamily="34" charset="0"/>
              </a:rPr>
              <a:t>。如，大多数事务处理  </a:t>
            </a:r>
          </a:p>
        </p:txBody>
      </p:sp>
    </p:spTree>
    <p:extLst>
      <p:ext uri="{BB962C8B-B14F-4D97-AF65-F5344CB8AC3E}">
        <p14:creationId xmlns:p14="http://schemas.microsoft.com/office/powerpoint/2010/main" val="150189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trips(down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5" grpId="0"/>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25"/>
          <p:cNvSpPr txBox="1">
            <a:spLocks noChangeArrowheads="1"/>
          </p:cNvSpPr>
          <p:nvPr/>
        </p:nvSpPr>
        <p:spPr bwMode="auto">
          <a:xfrm>
            <a:off x="902970" y="212725"/>
            <a:ext cx="82577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先来先服务（</a:t>
            </a:r>
            <a:r>
              <a:rPr lang="en-US" altLang="zh-CN" sz="2400" b="1" dirty="0">
                <a:solidFill>
                  <a:srgbClr val="3D7351"/>
                </a:solidFill>
                <a:latin typeface="微软雅黑" panose="020B0503020204020204" pitchFamily="34" charset="-122"/>
                <a:ea typeface="微软雅黑" panose="020B0503020204020204" pitchFamily="34" charset="-122"/>
              </a:rPr>
              <a:t>FCFS</a:t>
            </a:r>
            <a:r>
              <a:rPr lang="zh-CN" altLang="en-US" sz="2400" b="1" dirty="0">
                <a:solidFill>
                  <a:srgbClr val="3D7351"/>
                </a:solidFill>
                <a:latin typeface="微软雅黑" panose="020B0503020204020204" pitchFamily="34" charset="-122"/>
                <a:ea typeface="微软雅黑" panose="020B0503020204020204" pitchFamily="34" charset="-122"/>
              </a:rPr>
              <a:t>，</a:t>
            </a:r>
            <a:r>
              <a:rPr lang="en-US" altLang="zh-CN" sz="2400" b="1" dirty="0">
                <a:solidFill>
                  <a:srgbClr val="3D7351"/>
                </a:solidFill>
                <a:latin typeface="微软雅黑" panose="020B0503020204020204" pitchFamily="34" charset="-122"/>
                <a:ea typeface="微软雅黑" panose="020B0503020204020204" pitchFamily="34" charset="-122"/>
              </a:rPr>
              <a:t>First com First Service</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1667" y="4528864"/>
            <a:ext cx="1839912" cy="196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a:spLocks noChangeArrowheads="1"/>
          </p:cNvSpPr>
          <p:nvPr/>
        </p:nvSpPr>
        <p:spPr bwMode="auto">
          <a:xfrm>
            <a:off x="7366752" y="3484975"/>
            <a:ext cx="8636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1.99</a:t>
            </a:r>
          </a:p>
        </p:txBody>
      </p:sp>
      <p:sp>
        <p:nvSpPr>
          <p:cNvPr id="19" name="TextBox 5"/>
          <p:cNvSpPr txBox="1">
            <a:spLocks noChangeArrowheads="1"/>
          </p:cNvSpPr>
          <p:nvPr/>
        </p:nvSpPr>
        <p:spPr bwMode="auto">
          <a:xfrm>
            <a:off x="6270916" y="3484975"/>
            <a:ext cx="7191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199</a:t>
            </a:r>
          </a:p>
        </p:txBody>
      </p:sp>
      <p:sp>
        <p:nvSpPr>
          <p:cNvPr id="20" name="TextBox 5"/>
          <p:cNvSpPr txBox="1">
            <a:spLocks noChangeArrowheads="1"/>
          </p:cNvSpPr>
          <p:nvPr/>
        </p:nvSpPr>
        <p:spPr bwMode="auto">
          <a:xfrm>
            <a:off x="5363072" y="3484975"/>
            <a:ext cx="7191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202</a:t>
            </a:r>
          </a:p>
        </p:txBody>
      </p:sp>
      <p:sp>
        <p:nvSpPr>
          <p:cNvPr id="22" name="TextBox 5"/>
          <p:cNvSpPr txBox="1">
            <a:spLocks noChangeArrowheads="1"/>
          </p:cNvSpPr>
          <p:nvPr/>
        </p:nvSpPr>
        <p:spPr bwMode="auto">
          <a:xfrm>
            <a:off x="4293715" y="3484975"/>
            <a:ext cx="7905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102</a:t>
            </a:r>
          </a:p>
        </p:txBody>
      </p:sp>
      <p:sp>
        <p:nvSpPr>
          <p:cNvPr id="23" name="TextBox 5"/>
          <p:cNvSpPr txBox="1">
            <a:spLocks noChangeArrowheads="1"/>
          </p:cNvSpPr>
          <p:nvPr/>
        </p:nvSpPr>
        <p:spPr bwMode="auto">
          <a:xfrm>
            <a:off x="7366752" y="3053175"/>
            <a:ext cx="7191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100</a:t>
            </a:r>
          </a:p>
        </p:txBody>
      </p:sp>
      <p:sp>
        <p:nvSpPr>
          <p:cNvPr id="24" name="TextBox 5"/>
          <p:cNvSpPr txBox="1">
            <a:spLocks noChangeArrowheads="1"/>
          </p:cNvSpPr>
          <p:nvPr/>
        </p:nvSpPr>
        <p:spPr bwMode="auto">
          <a:xfrm>
            <a:off x="6270916" y="3053175"/>
            <a:ext cx="7191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100</a:t>
            </a:r>
          </a:p>
        </p:txBody>
      </p:sp>
      <p:sp>
        <p:nvSpPr>
          <p:cNvPr id="25" name="TextBox 5"/>
          <p:cNvSpPr txBox="1">
            <a:spLocks noChangeArrowheads="1"/>
          </p:cNvSpPr>
          <p:nvPr/>
        </p:nvSpPr>
        <p:spPr bwMode="auto">
          <a:xfrm>
            <a:off x="5363072" y="3053175"/>
            <a:ext cx="7191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102</a:t>
            </a:r>
          </a:p>
        </p:txBody>
      </p:sp>
      <p:sp>
        <p:nvSpPr>
          <p:cNvPr id="26" name="TextBox 5"/>
          <p:cNvSpPr txBox="1">
            <a:spLocks noChangeArrowheads="1"/>
          </p:cNvSpPr>
          <p:nvPr/>
        </p:nvSpPr>
        <p:spPr bwMode="auto">
          <a:xfrm>
            <a:off x="4295303" y="3053175"/>
            <a:ext cx="7191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101</a:t>
            </a:r>
          </a:p>
        </p:txBody>
      </p:sp>
      <p:sp>
        <p:nvSpPr>
          <p:cNvPr id="27" name="TextBox 5"/>
          <p:cNvSpPr txBox="1">
            <a:spLocks noChangeArrowheads="1"/>
          </p:cNvSpPr>
          <p:nvPr/>
        </p:nvSpPr>
        <p:spPr bwMode="auto">
          <a:xfrm>
            <a:off x="7511214" y="2619787"/>
            <a:ext cx="2873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a:t>
            </a:r>
          </a:p>
        </p:txBody>
      </p:sp>
      <p:sp>
        <p:nvSpPr>
          <p:cNvPr id="28" name="TextBox 5"/>
          <p:cNvSpPr txBox="1">
            <a:spLocks noChangeArrowheads="1"/>
          </p:cNvSpPr>
          <p:nvPr/>
        </p:nvSpPr>
        <p:spPr bwMode="auto">
          <a:xfrm>
            <a:off x="6272504" y="2619787"/>
            <a:ext cx="7191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100</a:t>
            </a:r>
          </a:p>
        </p:txBody>
      </p:sp>
      <p:sp>
        <p:nvSpPr>
          <p:cNvPr id="30" name="TextBox 5"/>
          <p:cNvSpPr txBox="1">
            <a:spLocks noChangeArrowheads="1"/>
          </p:cNvSpPr>
          <p:nvPr/>
        </p:nvSpPr>
        <p:spPr bwMode="auto">
          <a:xfrm>
            <a:off x="5363072" y="2619787"/>
            <a:ext cx="7905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101</a:t>
            </a:r>
          </a:p>
        </p:txBody>
      </p:sp>
      <p:sp>
        <p:nvSpPr>
          <p:cNvPr id="32" name="TextBox 5"/>
          <p:cNvSpPr txBox="1">
            <a:spLocks noChangeArrowheads="1"/>
          </p:cNvSpPr>
          <p:nvPr/>
        </p:nvSpPr>
        <p:spPr bwMode="auto">
          <a:xfrm>
            <a:off x="4438178" y="2619787"/>
            <a:ext cx="2873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a:t>
            </a:r>
          </a:p>
        </p:txBody>
      </p:sp>
      <p:sp>
        <p:nvSpPr>
          <p:cNvPr id="33" name="TextBox 5"/>
          <p:cNvSpPr txBox="1">
            <a:spLocks noChangeArrowheads="1"/>
          </p:cNvSpPr>
          <p:nvPr/>
        </p:nvSpPr>
        <p:spPr bwMode="auto">
          <a:xfrm>
            <a:off x="7511214" y="2162587"/>
            <a:ext cx="2873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a:t>
            </a:r>
          </a:p>
        </p:txBody>
      </p:sp>
      <p:sp>
        <p:nvSpPr>
          <p:cNvPr id="34" name="TextBox 5"/>
          <p:cNvSpPr txBox="1">
            <a:spLocks noChangeArrowheads="1"/>
          </p:cNvSpPr>
          <p:nvPr/>
        </p:nvSpPr>
        <p:spPr bwMode="auto">
          <a:xfrm>
            <a:off x="6415379" y="2162587"/>
            <a:ext cx="2873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a:t>
            </a:r>
          </a:p>
        </p:txBody>
      </p:sp>
      <p:sp>
        <p:nvSpPr>
          <p:cNvPr id="35" name="TextBox 5"/>
          <p:cNvSpPr txBox="1">
            <a:spLocks noChangeArrowheads="1"/>
          </p:cNvSpPr>
          <p:nvPr/>
        </p:nvSpPr>
        <p:spPr bwMode="auto">
          <a:xfrm>
            <a:off x="5580560" y="2162587"/>
            <a:ext cx="2873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a:t>
            </a:r>
          </a:p>
        </p:txBody>
      </p:sp>
      <p:sp>
        <p:nvSpPr>
          <p:cNvPr id="36" name="TextBox 5"/>
          <p:cNvSpPr txBox="1">
            <a:spLocks noChangeArrowheads="1"/>
          </p:cNvSpPr>
          <p:nvPr/>
        </p:nvSpPr>
        <p:spPr bwMode="auto">
          <a:xfrm>
            <a:off x="4438178" y="2162587"/>
            <a:ext cx="360362"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0</a:t>
            </a:r>
          </a:p>
        </p:txBody>
      </p:sp>
      <p:sp>
        <p:nvSpPr>
          <p:cNvPr id="37" name="Rectangle 8"/>
          <p:cNvSpPr>
            <a:spLocks noChangeArrowheads="1"/>
          </p:cNvSpPr>
          <p:nvPr/>
        </p:nvSpPr>
        <p:spPr bwMode="auto">
          <a:xfrm>
            <a:off x="1183009" y="4111745"/>
            <a:ext cx="5357812" cy="231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30000"/>
              </a:lnSpc>
              <a:spcBef>
                <a:spcPct val="30000"/>
              </a:spcBef>
            </a:pPr>
            <a:r>
              <a:rPr kumimoji="1" lang="zh-CN" altLang="en-US">
                <a:solidFill>
                  <a:schemeClr val="tx1"/>
                </a:solidFill>
                <a:latin typeface="Times New Roman" pitchFamily="18" charset="0"/>
              </a:rPr>
              <a:t>周转时间 </a:t>
            </a:r>
            <a:r>
              <a:rPr kumimoji="1" lang="en-US" altLang="zh-CN">
                <a:solidFill>
                  <a:schemeClr val="tx1"/>
                </a:solidFill>
                <a:latin typeface="Times New Roman" pitchFamily="18" charset="0"/>
              </a:rPr>
              <a:t>= </a:t>
            </a:r>
            <a:r>
              <a:rPr kumimoji="1" lang="zh-CN" altLang="en-US">
                <a:solidFill>
                  <a:schemeClr val="tx1"/>
                </a:solidFill>
                <a:latin typeface="Times New Roman" pitchFamily="18" charset="0"/>
              </a:rPr>
              <a:t>完成时间 － 到达时间</a:t>
            </a:r>
          </a:p>
          <a:p>
            <a:pPr algn="l" eaLnBrk="1" hangingPunct="1">
              <a:lnSpc>
                <a:spcPct val="130000"/>
              </a:lnSpc>
              <a:spcBef>
                <a:spcPct val="30000"/>
              </a:spcBef>
            </a:pPr>
            <a:r>
              <a:rPr kumimoji="1" lang="zh-CN" altLang="en-US">
                <a:solidFill>
                  <a:schemeClr val="tx1"/>
                </a:solidFill>
                <a:latin typeface="Times New Roman" pitchFamily="18" charset="0"/>
              </a:rPr>
              <a:t>平均周转时间：                  </a:t>
            </a:r>
            <a:r>
              <a:rPr kumimoji="1" lang="en-US" altLang="zh-CN">
                <a:solidFill>
                  <a:schemeClr val="tx1"/>
                </a:solidFill>
                <a:latin typeface="Times New Roman" pitchFamily="18" charset="0"/>
              </a:rPr>
              <a:t>=</a:t>
            </a:r>
          </a:p>
          <a:p>
            <a:pPr algn="l" eaLnBrk="1" hangingPunct="1">
              <a:lnSpc>
                <a:spcPct val="130000"/>
              </a:lnSpc>
              <a:spcBef>
                <a:spcPct val="30000"/>
              </a:spcBef>
            </a:pPr>
            <a:r>
              <a:rPr kumimoji="1" lang="zh-CN" altLang="en-US">
                <a:solidFill>
                  <a:schemeClr val="tx1"/>
                </a:solidFill>
                <a:latin typeface="Times New Roman" pitchFamily="18" charset="0"/>
              </a:rPr>
              <a:t>带权周转时间：周转时间</a:t>
            </a:r>
            <a:r>
              <a:rPr kumimoji="1" lang="en-US" altLang="zh-CN">
                <a:solidFill>
                  <a:schemeClr val="tx1"/>
                </a:solidFill>
                <a:latin typeface="Times New Roman" pitchFamily="18" charset="0"/>
              </a:rPr>
              <a:t>/</a:t>
            </a:r>
            <a:r>
              <a:rPr kumimoji="1" lang="zh-CN" altLang="en-US">
                <a:solidFill>
                  <a:schemeClr val="tx1"/>
                </a:solidFill>
                <a:latin typeface="Times New Roman" pitchFamily="18" charset="0"/>
              </a:rPr>
              <a:t>服务时间</a:t>
            </a:r>
          </a:p>
          <a:p>
            <a:pPr algn="l" eaLnBrk="1" hangingPunct="1">
              <a:lnSpc>
                <a:spcPct val="130000"/>
              </a:lnSpc>
              <a:spcBef>
                <a:spcPct val="30000"/>
              </a:spcBef>
            </a:pPr>
            <a:r>
              <a:rPr kumimoji="1" lang="zh-CN" altLang="en-US">
                <a:solidFill>
                  <a:schemeClr val="tx1"/>
                </a:solidFill>
                <a:latin typeface="Times New Roman" pitchFamily="18" charset="0"/>
              </a:rPr>
              <a:t>平均带权周转时间：</a:t>
            </a:r>
          </a:p>
        </p:txBody>
      </p:sp>
      <p:graphicFrame>
        <p:nvGraphicFramePr>
          <p:cNvPr id="38" name="Group 9"/>
          <p:cNvGraphicFramePr>
            <a:graphicFrameLocks noGrp="1"/>
          </p:cNvGraphicFramePr>
          <p:nvPr>
            <p:extLst>
              <p:ext uri="{D42A27DB-BD31-4B8C-83A1-F6EECF244321}">
                <p14:modId xmlns:p14="http://schemas.microsoft.com/office/powerpoint/2010/main" val="2223431372"/>
              </p:ext>
            </p:extLst>
          </p:nvPr>
        </p:nvGraphicFramePr>
        <p:xfrm>
          <a:off x="1125065" y="1297400"/>
          <a:ext cx="7200900" cy="2651760"/>
        </p:xfrm>
        <a:graphic>
          <a:graphicData uri="http://schemas.openxmlformats.org/drawingml/2006/table">
            <a:tbl>
              <a:tblPr/>
              <a:tblGrid>
                <a:gridCol w="1296987">
                  <a:extLst>
                    <a:ext uri="{9D8B030D-6E8A-4147-A177-3AD203B41FA5}">
                      <a16:colId xmlns:a16="http://schemas.microsoft.com/office/drawing/2014/main" val="20000"/>
                    </a:ext>
                  </a:extLst>
                </a:gridCol>
                <a:gridCol w="925513">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907294">
                  <a:extLst>
                    <a:ext uri="{9D8B030D-6E8A-4147-A177-3AD203B41FA5}">
                      <a16:colId xmlns:a16="http://schemas.microsoft.com/office/drawing/2014/main" val="20004"/>
                    </a:ext>
                  </a:extLst>
                </a:gridCol>
                <a:gridCol w="884903">
                  <a:extLst>
                    <a:ext uri="{9D8B030D-6E8A-4147-A177-3AD203B41FA5}">
                      <a16:colId xmlns:a16="http://schemas.microsoft.com/office/drawing/2014/main" val="20005"/>
                    </a:ext>
                  </a:extLst>
                </a:gridCol>
                <a:gridCol w="1231991">
                  <a:extLst>
                    <a:ext uri="{9D8B030D-6E8A-4147-A177-3AD203B41FA5}">
                      <a16:colId xmlns:a16="http://schemas.microsoft.com/office/drawing/2014/main" val="20006"/>
                    </a:ext>
                  </a:extLst>
                </a:gridCol>
              </a:tblGrid>
              <a:tr h="815975">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进程名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到达时间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服务时间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开始执行时间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完成时间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周转时间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带权周转时间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5613">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accent2"/>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accent2"/>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5613">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accent2"/>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5613">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accent2"/>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itchFamily="18" charset="0"/>
                          <a:ea typeface="宋体" pitchFamily="2" charset="-122"/>
                        </a:defRPr>
                      </a:lvl1pPr>
                      <a:lvl2pPr marL="742950" indent="-285750" algn="l" eaLnBrk="0" hangingPunct="0">
                        <a:spcBef>
                          <a:spcPct val="20000"/>
                        </a:spcBef>
                        <a:defRPr kumimoji="1" sz="2400">
                          <a:solidFill>
                            <a:schemeClr val="tx1"/>
                          </a:solidFill>
                          <a:latin typeface="Times New Roman" pitchFamily="18" charset="0"/>
                          <a:ea typeface="宋体" pitchFamily="2" charset="-122"/>
                        </a:defRPr>
                      </a:lvl2pPr>
                      <a:lvl3pPr marL="1143000" indent="-228600" algn="l" eaLnBrk="0" hangingPunct="0">
                        <a:spcBef>
                          <a:spcPct val="20000"/>
                        </a:spcBef>
                        <a:defRPr kumimoji="1" sz="2000">
                          <a:solidFill>
                            <a:schemeClr val="tx1"/>
                          </a:solidFill>
                          <a:latin typeface="Times New Roman" pitchFamily="18" charset="0"/>
                          <a:ea typeface="宋体" pitchFamily="2" charset="-122"/>
                        </a:defRPr>
                      </a:lvl3pPr>
                      <a:lvl4pPr marL="1600200" indent="-228600" algn="l" eaLnBrk="0" hangingPunct="0">
                        <a:spcBef>
                          <a:spcPct val="20000"/>
                        </a:spcBef>
                        <a:defRPr kumimoji="1">
                          <a:solidFill>
                            <a:schemeClr val="tx1"/>
                          </a:solidFill>
                          <a:latin typeface="Times New Roman" pitchFamily="18" charset="0"/>
                          <a:ea typeface="宋体" pitchFamily="2" charset="-122"/>
                        </a:defRPr>
                      </a:lvl4pPr>
                      <a:lvl5pPr marL="2057400" indent="-228600" algn="l"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9" name="Object 2"/>
          <p:cNvGraphicFramePr>
            <a:graphicFrameLocks noChangeAspect="1"/>
          </p:cNvGraphicFramePr>
          <p:nvPr>
            <p:extLst>
              <p:ext uri="{D42A27DB-BD31-4B8C-83A1-F6EECF244321}">
                <p14:modId xmlns:p14="http://schemas.microsoft.com/office/powerpoint/2010/main" val="3531976263"/>
              </p:ext>
            </p:extLst>
          </p:nvPr>
        </p:nvGraphicFramePr>
        <p:xfrm>
          <a:off x="3341215" y="4661038"/>
          <a:ext cx="1252538" cy="676275"/>
        </p:xfrm>
        <a:graphic>
          <a:graphicData uri="http://schemas.openxmlformats.org/presentationml/2006/ole">
            <mc:AlternateContent xmlns:mc="http://schemas.openxmlformats.org/markup-compatibility/2006">
              <mc:Choice xmlns:v="urn:schemas-microsoft-com:vml" Requires="v">
                <p:oleObj name="公式" r:id="rId4" imgW="799920" imgH="431640" progId="Equation.3">
                  <p:embed/>
                </p:oleObj>
              </mc:Choice>
              <mc:Fallback>
                <p:oleObj name="公式" r:id="rId4" imgW="79992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1215" y="4661038"/>
                        <a:ext cx="1252538"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TextBox 5"/>
          <p:cNvSpPr txBox="1">
            <a:spLocks noChangeArrowheads="1"/>
          </p:cNvSpPr>
          <p:nvPr/>
        </p:nvSpPr>
        <p:spPr bwMode="auto">
          <a:xfrm>
            <a:off x="5012853" y="4780100"/>
            <a:ext cx="86518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lang="en-US" altLang="zh-CN" b="1">
                <a:solidFill>
                  <a:schemeClr val="tx1"/>
                </a:solidFill>
              </a:rPr>
              <a:t>100</a:t>
            </a:r>
          </a:p>
        </p:txBody>
      </p:sp>
      <p:sp>
        <p:nvSpPr>
          <p:cNvPr id="41" name="Rectangle 133"/>
          <p:cNvSpPr>
            <a:spLocks noChangeArrowheads="1"/>
          </p:cNvSpPr>
          <p:nvPr/>
        </p:nvSpPr>
        <p:spPr bwMode="auto">
          <a:xfrm>
            <a:off x="3861915" y="5958025"/>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25.9975</a:t>
            </a:r>
          </a:p>
        </p:txBody>
      </p:sp>
    </p:spTree>
    <p:extLst>
      <p:ext uri="{BB962C8B-B14F-4D97-AF65-F5344CB8AC3E}">
        <p14:creationId xmlns:p14="http://schemas.microsoft.com/office/powerpoint/2010/main" val="419672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amond(in)">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box(in)">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linds(horizontal)">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checkerboard(across)">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linds(horizontal)">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linds(horizontal)">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blinds(horizontal)">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linds(horizont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blinds(horizontal)">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ox(in)">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box(in)">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ntr" presetSubtype="16"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diamond(in)">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checkerboard(across)">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16"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diamond(in)">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box(in)">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5" presetClass="entr" presetSubtype="10" fill="hold" grpId="0"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checkerboard(across)">
                                      <p:cBhvr>
                                        <p:cTn id="82" dur="500"/>
                                        <p:tgtEl>
                                          <p:spTgt spid="18"/>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2"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anim calcmode="lin" valueType="num">
                                      <p:cBhvr additive="base">
                                        <p:cTn id="87" dur="500" fill="hold"/>
                                        <p:tgtEl>
                                          <p:spTgt spid="40"/>
                                        </p:tgtEl>
                                        <p:attrNameLst>
                                          <p:attrName>ppt_x</p:attrName>
                                        </p:attrNameLst>
                                      </p:cBhvr>
                                      <p:tavLst>
                                        <p:tav tm="0">
                                          <p:val>
                                            <p:strVal val="1+#ppt_w/2"/>
                                          </p:val>
                                        </p:tav>
                                        <p:tav tm="100000">
                                          <p:val>
                                            <p:strVal val="#ppt_x"/>
                                          </p:val>
                                        </p:tav>
                                      </p:tavLst>
                                    </p:anim>
                                    <p:anim calcmode="lin" valueType="num">
                                      <p:cBhvr additive="base">
                                        <p:cTn id="88"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 presetClass="entr" presetSubtype="16" fill="hold" grpId="0" nodeType="click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box(in)">
                                      <p:cBhvr>
                                        <p:cTn id="9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2" grpId="0" animBg="1"/>
      <p:bldP spid="23" grpId="0" animBg="1"/>
      <p:bldP spid="24" grpId="0" animBg="1"/>
      <p:bldP spid="25" grpId="0" animBg="1"/>
      <p:bldP spid="26" grpId="0" animBg="1"/>
      <p:bldP spid="27" grpId="0" animBg="1"/>
      <p:bldP spid="28" grpId="0" animBg="1"/>
      <p:bldP spid="30" grpId="0" animBg="1"/>
      <p:bldP spid="32" grpId="0" animBg="1"/>
      <p:bldP spid="33" grpId="0" animBg="1"/>
      <p:bldP spid="34" grpId="0" animBg="1"/>
      <p:bldP spid="35" grpId="0" animBg="1"/>
      <p:bldP spid="36" grpId="0" animBg="1"/>
      <p:bldP spid="40" grpId="0" animBg="1"/>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作业调度</a:t>
            </a:r>
          </a:p>
        </p:txBody>
      </p:sp>
      <p:sp>
        <p:nvSpPr>
          <p:cNvPr id="31" name="文本框 25"/>
          <p:cNvSpPr txBox="1">
            <a:spLocks noChangeArrowheads="1"/>
          </p:cNvSpPr>
          <p:nvPr/>
        </p:nvSpPr>
        <p:spPr bwMode="auto">
          <a:xfrm>
            <a:off x="902970" y="212725"/>
            <a:ext cx="6852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短作业优先</a:t>
            </a:r>
            <a:r>
              <a:rPr lang="en-US" altLang="zh-CN" sz="2400" b="1" dirty="0">
                <a:solidFill>
                  <a:srgbClr val="3D7351"/>
                </a:solidFill>
                <a:latin typeface="微软雅黑" panose="020B0503020204020204" pitchFamily="34" charset="-122"/>
                <a:ea typeface="微软雅黑" panose="020B0503020204020204" pitchFamily="34" charset="-122"/>
              </a:rPr>
              <a:t>(SJF, Shortest Job First)</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9" name="文本框 19"/>
          <p:cNvSpPr txBox="1">
            <a:spLocks noChangeArrowheads="1"/>
          </p:cNvSpPr>
          <p:nvPr/>
        </p:nvSpPr>
        <p:spPr bwMode="auto">
          <a:xfrm>
            <a:off x="1091855" y="1892926"/>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从外存的作业后备队列中选择若干个</a:t>
            </a:r>
            <a:r>
              <a:rPr lang="zh-CN" altLang="en-US" sz="2400" b="1" dirty="0"/>
              <a:t>估计运行时间</a:t>
            </a:r>
            <a:r>
              <a:rPr lang="zh-CN" altLang="en-US" sz="2400" dirty="0"/>
              <a:t>最短的作业，优先将它们调入内存运行。</a:t>
            </a:r>
            <a:endParaRPr lang="en-US" altLang="zh-CN" sz="2400" dirty="0"/>
          </a:p>
        </p:txBody>
      </p:sp>
      <p:sp>
        <p:nvSpPr>
          <p:cNvPr id="12" name="矩形 11"/>
          <p:cNvSpPr/>
          <p:nvPr/>
        </p:nvSpPr>
        <p:spPr>
          <a:xfrm>
            <a:off x="1142079" y="3605983"/>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12"/>
          <p:cNvSpPr/>
          <p:nvPr/>
        </p:nvSpPr>
        <p:spPr>
          <a:xfrm>
            <a:off x="2050129" y="3605983"/>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55"/>
          <p:cNvSpPr txBox="1">
            <a:spLocks noChangeArrowheads="1"/>
          </p:cNvSpPr>
          <p:nvPr/>
        </p:nvSpPr>
        <p:spPr bwMode="auto">
          <a:xfrm>
            <a:off x="996028" y="3072583"/>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进程调度</a:t>
            </a:r>
          </a:p>
        </p:txBody>
      </p:sp>
      <p:sp>
        <p:nvSpPr>
          <p:cNvPr id="15" name="文本框 19"/>
          <p:cNvSpPr txBox="1">
            <a:spLocks noChangeArrowheads="1"/>
          </p:cNvSpPr>
          <p:nvPr/>
        </p:nvSpPr>
        <p:spPr bwMode="auto">
          <a:xfrm>
            <a:off x="1109593" y="3845488"/>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对</a:t>
            </a:r>
            <a:r>
              <a:rPr lang="zh-CN" altLang="en-US" sz="2400" b="1" dirty="0"/>
              <a:t>预计执行时间</a:t>
            </a:r>
            <a:r>
              <a:rPr lang="zh-CN" altLang="en-US" sz="2400" dirty="0"/>
              <a:t>短的进程优先分派处理机。</a:t>
            </a:r>
          </a:p>
        </p:txBody>
      </p:sp>
    </p:spTree>
    <p:extLst>
      <p:ext uri="{BB962C8B-B14F-4D97-AF65-F5344CB8AC3E}">
        <p14:creationId xmlns:p14="http://schemas.microsoft.com/office/powerpoint/2010/main" val="84519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5"/>
          <p:cNvSpPr txBox="1">
            <a:spLocks noChangeArrowheads="1"/>
          </p:cNvSpPr>
          <p:nvPr/>
        </p:nvSpPr>
        <p:spPr bwMode="auto">
          <a:xfrm>
            <a:off x="902970" y="212725"/>
            <a:ext cx="6852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短作业优先</a:t>
            </a:r>
            <a:r>
              <a:rPr lang="en-US" altLang="zh-CN" sz="2400" b="1" dirty="0">
                <a:solidFill>
                  <a:srgbClr val="3D7351"/>
                </a:solidFill>
                <a:latin typeface="微软雅黑" panose="020B0503020204020204" pitchFamily="34" charset="-122"/>
                <a:ea typeface="微软雅黑" panose="020B0503020204020204" pitchFamily="34" charset="-122"/>
              </a:rPr>
              <a:t>(SJF, Shortest Job First)</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4" name="矩形 3"/>
          <p:cNvSpPr/>
          <p:nvPr/>
        </p:nvSpPr>
        <p:spPr>
          <a:xfrm>
            <a:off x="1124341" y="143220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p:nvSpPr>
        <p:spPr>
          <a:xfrm>
            <a:off x="2032391" y="143220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5"/>
          <p:cNvSpPr txBox="1">
            <a:spLocks noChangeArrowheads="1"/>
          </p:cNvSpPr>
          <p:nvPr/>
        </p:nvSpPr>
        <p:spPr bwMode="auto">
          <a:xfrm>
            <a:off x="978290" y="89880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短进程优先调度算法例题</a:t>
            </a:r>
          </a:p>
        </p:txBody>
      </p:sp>
      <p:grpSp>
        <p:nvGrpSpPr>
          <p:cNvPr id="7" name="Group 4"/>
          <p:cNvGrpSpPr>
            <a:grpSpLocks/>
          </p:cNvGrpSpPr>
          <p:nvPr/>
        </p:nvGrpSpPr>
        <p:grpSpPr bwMode="auto">
          <a:xfrm>
            <a:off x="2570162" y="1218970"/>
            <a:ext cx="9072563" cy="4319587"/>
            <a:chOff x="68" y="754"/>
            <a:chExt cx="5715" cy="2721"/>
          </a:xfrm>
        </p:grpSpPr>
        <p:grpSp>
          <p:nvGrpSpPr>
            <p:cNvPr id="8" name="Group 5"/>
            <p:cNvGrpSpPr>
              <a:grpSpLocks/>
            </p:cNvGrpSpPr>
            <p:nvPr/>
          </p:nvGrpSpPr>
          <p:grpSpPr bwMode="auto">
            <a:xfrm>
              <a:off x="68" y="754"/>
              <a:ext cx="5715" cy="515"/>
              <a:chOff x="113" y="3051"/>
              <a:chExt cx="5715" cy="515"/>
            </a:xfrm>
          </p:grpSpPr>
          <p:sp>
            <p:nvSpPr>
              <p:cNvPr id="59" name="Line 6"/>
              <p:cNvSpPr>
                <a:spLocks noChangeShapeType="1"/>
              </p:cNvSpPr>
              <p:nvPr/>
            </p:nvSpPr>
            <p:spPr bwMode="auto">
              <a:xfrm>
                <a:off x="203" y="3566"/>
                <a:ext cx="54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7"/>
              <p:cNvSpPr>
                <a:spLocks noChangeShapeType="1"/>
              </p:cNvSpPr>
              <p:nvPr/>
            </p:nvSpPr>
            <p:spPr bwMode="auto">
              <a:xfrm>
                <a:off x="20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8"/>
              <p:cNvSpPr>
                <a:spLocks noChangeShapeType="1"/>
              </p:cNvSpPr>
              <p:nvPr/>
            </p:nvSpPr>
            <p:spPr bwMode="auto">
              <a:xfrm>
                <a:off x="47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9"/>
              <p:cNvSpPr>
                <a:spLocks noChangeShapeType="1"/>
              </p:cNvSpPr>
              <p:nvPr/>
            </p:nvSpPr>
            <p:spPr bwMode="auto">
              <a:xfrm>
                <a:off x="748"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10"/>
              <p:cNvSpPr>
                <a:spLocks noChangeShapeType="1"/>
              </p:cNvSpPr>
              <p:nvPr/>
            </p:nvSpPr>
            <p:spPr bwMode="auto">
              <a:xfrm>
                <a:off x="1020"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11"/>
              <p:cNvSpPr>
                <a:spLocks noChangeShapeType="1"/>
              </p:cNvSpPr>
              <p:nvPr/>
            </p:nvSpPr>
            <p:spPr bwMode="auto">
              <a:xfrm>
                <a:off x="1292"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12"/>
              <p:cNvSpPr>
                <a:spLocks noChangeShapeType="1"/>
              </p:cNvSpPr>
              <p:nvPr/>
            </p:nvSpPr>
            <p:spPr bwMode="auto">
              <a:xfrm>
                <a:off x="1564"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13"/>
              <p:cNvSpPr>
                <a:spLocks noChangeShapeType="1"/>
              </p:cNvSpPr>
              <p:nvPr/>
            </p:nvSpPr>
            <p:spPr bwMode="auto">
              <a:xfrm>
                <a:off x="183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14"/>
              <p:cNvSpPr>
                <a:spLocks noChangeShapeType="1"/>
              </p:cNvSpPr>
              <p:nvPr/>
            </p:nvSpPr>
            <p:spPr bwMode="auto">
              <a:xfrm>
                <a:off x="2108"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15"/>
              <p:cNvSpPr>
                <a:spLocks noChangeShapeType="1"/>
              </p:cNvSpPr>
              <p:nvPr/>
            </p:nvSpPr>
            <p:spPr bwMode="auto">
              <a:xfrm>
                <a:off x="2380"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16"/>
              <p:cNvSpPr>
                <a:spLocks noChangeShapeType="1"/>
              </p:cNvSpPr>
              <p:nvPr/>
            </p:nvSpPr>
            <p:spPr bwMode="auto">
              <a:xfrm>
                <a:off x="265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17"/>
              <p:cNvSpPr>
                <a:spLocks noChangeShapeType="1"/>
              </p:cNvSpPr>
              <p:nvPr/>
            </p:nvSpPr>
            <p:spPr bwMode="auto">
              <a:xfrm>
                <a:off x="292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Text Box 18"/>
              <p:cNvSpPr txBox="1">
                <a:spLocks noChangeArrowheads="1"/>
              </p:cNvSpPr>
              <p:nvPr/>
            </p:nvSpPr>
            <p:spPr bwMode="auto">
              <a:xfrm>
                <a:off x="113" y="306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0</a:t>
                </a:r>
              </a:p>
            </p:txBody>
          </p:sp>
          <p:sp>
            <p:nvSpPr>
              <p:cNvPr id="72" name="Text Box 19"/>
              <p:cNvSpPr txBox="1">
                <a:spLocks noChangeArrowheads="1"/>
              </p:cNvSpPr>
              <p:nvPr/>
            </p:nvSpPr>
            <p:spPr bwMode="auto">
              <a:xfrm>
                <a:off x="1473" y="306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5</a:t>
                </a:r>
              </a:p>
            </p:txBody>
          </p:sp>
          <p:sp>
            <p:nvSpPr>
              <p:cNvPr id="73" name="Text Box 20"/>
              <p:cNvSpPr txBox="1">
                <a:spLocks noChangeArrowheads="1"/>
              </p:cNvSpPr>
              <p:nvPr/>
            </p:nvSpPr>
            <p:spPr bwMode="auto">
              <a:xfrm>
                <a:off x="2789" y="306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10</a:t>
                </a:r>
              </a:p>
            </p:txBody>
          </p:sp>
          <p:sp>
            <p:nvSpPr>
              <p:cNvPr id="74" name="Line 21"/>
              <p:cNvSpPr>
                <a:spLocks noChangeShapeType="1"/>
              </p:cNvSpPr>
              <p:nvPr/>
            </p:nvSpPr>
            <p:spPr bwMode="auto">
              <a:xfrm>
                <a:off x="319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22"/>
              <p:cNvSpPr>
                <a:spLocks noChangeShapeType="1"/>
              </p:cNvSpPr>
              <p:nvPr/>
            </p:nvSpPr>
            <p:spPr bwMode="auto">
              <a:xfrm>
                <a:off x="3469"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23"/>
              <p:cNvSpPr>
                <a:spLocks noChangeShapeType="1"/>
              </p:cNvSpPr>
              <p:nvPr/>
            </p:nvSpPr>
            <p:spPr bwMode="auto">
              <a:xfrm>
                <a:off x="3741"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24"/>
              <p:cNvSpPr>
                <a:spLocks noChangeShapeType="1"/>
              </p:cNvSpPr>
              <p:nvPr/>
            </p:nvSpPr>
            <p:spPr bwMode="auto">
              <a:xfrm>
                <a:off x="401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25"/>
              <p:cNvSpPr>
                <a:spLocks noChangeShapeType="1"/>
              </p:cNvSpPr>
              <p:nvPr/>
            </p:nvSpPr>
            <p:spPr bwMode="auto">
              <a:xfrm>
                <a:off x="428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6"/>
              <p:cNvSpPr>
                <a:spLocks noChangeShapeType="1"/>
              </p:cNvSpPr>
              <p:nvPr/>
            </p:nvSpPr>
            <p:spPr bwMode="auto">
              <a:xfrm>
                <a:off x="4557"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7"/>
              <p:cNvSpPr>
                <a:spLocks noChangeShapeType="1"/>
              </p:cNvSpPr>
              <p:nvPr/>
            </p:nvSpPr>
            <p:spPr bwMode="auto">
              <a:xfrm>
                <a:off x="4829"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8"/>
              <p:cNvSpPr>
                <a:spLocks noChangeShapeType="1"/>
              </p:cNvSpPr>
              <p:nvPr/>
            </p:nvSpPr>
            <p:spPr bwMode="auto">
              <a:xfrm>
                <a:off x="5101"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9"/>
              <p:cNvSpPr>
                <a:spLocks noChangeShapeType="1"/>
              </p:cNvSpPr>
              <p:nvPr/>
            </p:nvSpPr>
            <p:spPr bwMode="auto">
              <a:xfrm>
                <a:off x="5374"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30"/>
              <p:cNvSpPr>
                <a:spLocks noChangeShapeType="1"/>
              </p:cNvSpPr>
              <p:nvPr/>
            </p:nvSpPr>
            <p:spPr bwMode="auto">
              <a:xfrm>
                <a:off x="564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Text Box 31"/>
              <p:cNvSpPr txBox="1">
                <a:spLocks noChangeArrowheads="1"/>
              </p:cNvSpPr>
              <p:nvPr/>
            </p:nvSpPr>
            <p:spPr bwMode="auto">
              <a:xfrm>
                <a:off x="4105" y="306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15</a:t>
                </a:r>
              </a:p>
            </p:txBody>
          </p:sp>
          <p:sp>
            <p:nvSpPr>
              <p:cNvPr id="85" name="Text Box 32"/>
              <p:cNvSpPr txBox="1">
                <a:spLocks noChangeArrowheads="1"/>
              </p:cNvSpPr>
              <p:nvPr/>
            </p:nvSpPr>
            <p:spPr bwMode="auto">
              <a:xfrm>
                <a:off x="5465" y="305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20</a:t>
                </a:r>
              </a:p>
            </p:txBody>
          </p:sp>
        </p:grpSp>
        <p:grpSp>
          <p:nvGrpSpPr>
            <p:cNvPr id="9" name="Group 33"/>
            <p:cNvGrpSpPr>
              <a:grpSpLocks/>
            </p:cNvGrpSpPr>
            <p:nvPr/>
          </p:nvGrpSpPr>
          <p:grpSpPr bwMode="auto">
            <a:xfrm>
              <a:off x="68" y="1253"/>
              <a:ext cx="5715" cy="2222"/>
              <a:chOff x="68" y="1253"/>
              <a:chExt cx="5715" cy="2222"/>
            </a:xfrm>
          </p:grpSpPr>
          <p:grpSp>
            <p:nvGrpSpPr>
              <p:cNvPr id="10" name="Group 34"/>
              <p:cNvGrpSpPr>
                <a:grpSpLocks/>
              </p:cNvGrpSpPr>
              <p:nvPr/>
            </p:nvGrpSpPr>
            <p:grpSpPr bwMode="auto">
              <a:xfrm>
                <a:off x="68" y="2976"/>
                <a:ext cx="5715" cy="499"/>
                <a:chOff x="113" y="4020"/>
                <a:chExt cx="5715" cy="499"/>
              </a:xfrm>
            </p:grpSpPr>
            <p:sp>
              <p:nvSpPr>
                <p:cNvPr id="32" name="Line 35"/>
                <p:cNvSpPr>
                  <a:spLocks noChangeShapeType="1"/>
                </p:cNvSpPr>
                <p:nvPr/>
              </p:nvSpPr>
              <p:spPr bwMode="auto">
                <a:xfrm>
                  <a:off x="203" y="4020"/>
                  <a:ext cx="54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6"/>
                <p:cNvSpPr>
                  <a:spLocks noChangeShapeType="1"/>
                </p:cNvSpPr>
                <p:nvPr/>
              </p:nvSpPr>
              <p:spPr bwMode="auto">
                <a:xfrm>
                  <a:off x="20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7"/>
                <p:cNvSpPr>
                  <a:spLocks noChangeShapeType="1"/>
                </p:cNvSpPr>
                <p:nvPr/>
              </p:nvSpPr>
              <p:spPr bwMode="auto">
                <a:xfrm>
                  <a:off x="47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8"/>
                <p:cNvSpPr>
                  <a:spLocks noChangeShapeType="1"/>
                </p:cNvSpPr>
                <p:nvPr/>
              </p:nvSpPr>
              <p:spPr bwMode="auto">
                <a:xfrm>
                  <a:off x="748"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9"/>
                <p:cNvSpPr>
                  <a:spLocks noChangeShapeType="1"/>
                </p:cNvSpPr>
                <p:nvPr/>
              </p:nvSpPr>
              <p:spPr bwMode="auto">
                <a:xfrm>
                  <a:off x="1020"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40"/>
                <p:cNvSpPr>
                  <a:spLocks noChangeShapeType="1"/>
                </p:cNvSpPr>
                <p:nvPr/>
              </p:nvSpPr>
              <p:spPr bwMode="auto">
                <a:xfrm>
                  <a:off x="1292"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41"/>
                <p:cNvSpPr>
                  <a:spLocks noChangeShapeType="1"/>
                </p:cNvSpPr>
                <p:nvPr/>
              </p:nvSpPr>
              <p:spPr bwMode="auto">
                <a:xfrm>
                  <a:off x="1564"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42"/>
                <p:cNvSpPr>
                  <a:spLocks noChangeShapeType="1"/>
                </p:cNvSpPr>
                <p:nvPr/>
              </p:nvSpPr>
              <p:spPr bwMode="auto">
                <a:xfrm>
                  <a:off x="183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43"/>
                <p:cNvSpPr>
                  <a:spLocks noChangeShapeType="1"/>
                </p:cNvSpPr>
                <p:nvPr/>
              </p:nvSpPr>
              <p:spPr bwMode="auto">
                <a:xfrm>
                  <a:off x="2108"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44"/>
                <p:cNvSpPr>
                  <a:spLocks noChangeShapeType="1"/>
                </p:cNvSpPr>
                <p:nvPr/>
              </p:nvSpPr>
              <p:spPr bwMode="auto">
                <a:xfrm>
                  <a:off x="2380"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45"/>
                <p:cNvSpPr>
                  <a:spLocks noChangeShapeType="1"/>
                </p:cNvSpPr>
                <p:nvPr/>
              </p:nvSpPr>
              <p:spPr bwMode="auto">
                <a:xfrm>
                  <a:off x="265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6"/>
                <p:cNvSpPr>
                  <a:spLocks noChangeShapeType="1"/>
                </p:cNvSpPr>
                <p:nvPr/>
              </p:nvSpPr>
              <p:spPr bwMode="auto">
                <a:xfrm>
                  <a:off x="292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Text Box 47"/>
                <p:cNvSpPr txBox="1">
                  <a:spLocks noChangeArrowheads="1"/>
                </p:cNvSpPr>
                <p:nvPr/>
              </p:nvSpPr>
              <p:spPr bwMode="auto">
                <a:xfrm>
                  <a:off x="113" y="423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0</a:t>
                  </a:r>
                </a:p>
              </p:txBody>
            </p:sp>
            <p:sp>
              <p:nvSpPr>
                <p:cNvPr id="45" name="Text Box 48"/>
                <p:cNvSpPr txBox="1">
                  <a:spLocks noChangeArrowheads="1"/>
                </p:cNvSpPr>
                <p:nvPr/>
              </p:nvSpPr>
              <p:spPr bwMode="auto">
                <a:xfrm>
                  <a:off x="1473" y="423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5</a:t>
                  </a:r>
                </a:p>
              </p:txBody>
            </p:sp>
            <p:sp>
              <p:nvSpPr>
                <p:cNvPr id="46" name="Text Box 49"/>
                <p:cNvSpPr txBox="1">
                  <a:spLocks noChangeArrowheads="1"/>
                </p:cNvSpPr>
                <p:nvPr/>
              </p:nvSpPr>
              <p:spPr bwMode="auto">
                <a:xfrm>
                  <a:off x="2789" y="423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10</a:t>
                  </a:r>
                </a:p>
              </p:txBody>
            </p:sp>
            <p:sp>
              <p:nvSpPr>
                <p:cNvPr id="47" name="Line 50"/>
                <p:cNvSpPr>
                  <a:spLocks noChangeShapeType="1"/>
                </p:cNvSpPr>
                <p:nvPr/>
              </p:nvSpPr>
              <p:spPr bwMode="auto">
                <a:xfrm>
                  <a:off x="319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51"/>
                <p:cNvSpPr>
                  <a:spLocks noChangeShapeType="1"/>
                </p:cNvSpPr>
                <p:nvPr/>
              </p:nvSpPr>
              <p:spPr bwMode="auto">
                <a:xfrm>
                  <a:off x="3469"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2"/>
                <p:cNvSpPr>
                  <a:spLocks noChangeShapeType="1"/>
                </p:cNvSpPr>
                <p:nvPr/>
              </p:nvSpPr>
              <p:spPr bwMode="auto">
                <a:xfrm>
                  <a:off x="3741"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3"/>
                <p:cNvSpPr>
                  <a:spLocks noChangeShapeType="1"/>
                </p:cNvSpPr>
                <p:nvPr/>
              </p:nvSpPr>
              <p:spPr bwMode="auto">
                <a:xfrm>
                  <a:off x="401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4"/>
                <p:cNvSpPr>
                  <a:spLocks noChangeShapeType="1"/>
                </p:cNvSpPr>
                <p:nvPr/>
              </p:nvSpPr>
              <p:spPr bwMode="auto">
                <a:xfrm>
                  <a:off x="428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5"/>
                <p:cNvSpPr>
                  <a:spLocks noChangeShapeType="1"/>
                </p:cNvSpPr>
                <p:nvPr/>
              </p:nvSpPr>
              <p:spPr bwMode="auto">
                <a:xfrm>
                  <a:off x="4557"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6"/>
                <p:cNvSpPr>
                  <a:spLocks noChangeShapeType="1"/>
                </p:cNvSpPr>
                <p:nvPr/>
              </p:nvSpPr>
              <p:spPr bwMode="auto">
                <a:xfrm>
                  <a:off x="4829"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7"/>
                <p:cNvSpPr>
                  <a:spLocks noChangeShapeType="1"/>
                </p:cNvSpPr>
                <p:nvPr/>
              </p:nvSpPr>
              <p:spPr bwMode="auto">
                <a:xfrm>
                  <a:off x="5101"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8"/>
                <p:cNvSpPr>
                  <a:spLocks noChangeShapeType="1"/>
                </p:cNvSpPr>
                <p:nvPr/>
              </p:nvSpPr>
              <p:spPr bwMode="auto">
                <a:xfrm>
                  <a:off x="5374"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9"/>
                <p:cNvSpPr>
                  <a:spLocks noChangeShapeType="1"/>
                </p:cNvSpPr>
                <p:nvPr/>
              </p:nvSpPr>
              <p:spPr bwMode="auto">
                <a:xfrm>
                  <a:off x="564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Text Box 60"/>
                <p:cNvSpPr txBox="1">
                  <a:spLocks noChangeArrowheads="1"/>
                </p:cNvSpPr>
                <p:nvPr/>
              </p:nvSpPr>
              <p:spPr bwMode="auto">
                <a:xfrm>
                  <a:off x="4105" y="423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15</a:t>
                  </a:r>
                </a:p>
              </p:txBody>
            </p:sp>
            <p:sp>
              <p:nvSpPr>
                <p:cNvPr id="58" name="Text Box 61"/>
                <p:cNvSpPr txBox="1">
                  <a:spLocks noChangeArrowheads="1"/>
                </p:cNvSpPr>
                <p:nvPr/>
              </p:nvSpPr>
              <p:spPr bwMode="auto">
                <a:xfrm>
                  <a:off x="5465" y="4215"/>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20</a:t>
                  </a:r>
                </a:p>
              </p:txBody>
            </p:sp>
          </p:grpSp>
          <p:sp>
            <p:nvSpPr>
              <p:cNvPr id="11" name="Line 62"/>
              <p:cNvSpPr>
                <a:spLocks noChangeShapeType="1"/>
              </p:cNvSpPr>
              <p:nvPr/>
            </p:nvSpPr>
            <p:spPr bwMode="auto">
              <a:xfrm>
                <a:off x="15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63"/>
              <p:cNvSpPr>
                <a:spLocks noChangeShapeType="1"/>
              </p:cNvSpPr>
              <p:nvPr/>
            </p:nvSpPr>
            <p:spPr bwMode="auto">
              <a:xfrm>
                <a:off x="43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64"/>
              <p:cNvSpPr>
                <a:spLocks noChangeShapeType="1"/>
              </p:cNvSpPr>
              <p:nvPr/>
            </p:nvSpPr>
            <p:spPr bwMode="auto">
              <a:xfrm>
                <a:off x="703"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65"/>
              <p:cNvSpPr>
                <a:spLocks noChangeShapeType="1"/>
              </p:cNvSpPr>
              <p:nvPr/>
            </p:nvSpPr>
            <p:spPr bwMode="auto">
              <a:xfrm>
                <a:off x="975"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66"/>
              <p:cNvSpPr>
                <a:spLocks noChangeShapeType="1"/>
              </p:cNvSpPr>
              <p:nvPr/>
            </p:nvSpPr>
            <p:spPr bwMode="auto">
              <a:xfrm>
                <a:off x="1247"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67"/>
              <p:cNvSpPr>
                <a:spLocks noChangeShapeType="1"/>
              </p:cNvSpPr>
              <p:nvPr/>
            </p:nvSpPr>
            <p:spPr bwMode="auto">
              <a:xfrm>
                <a:off x="1519"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68"/>
              <p:cNvSpPr>
                <a:spLocks noChangeShapeType="1"/>
              </p:cNvSpPr>
              <p:nvPr/>
            </p:nvSpPr>
            <p:spPr bwMode="auto">
              <a:xfrm>
                <a:off x="179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69"/>
              <p:cNvSpPr>
                <a:spLocks noChangeShapeType="1"/>
              </p:cNvSpPr>
              <p:nvPr/>
            </p:nvSpPr>
            <p:spPr bwMode="auto">
              <a:xfrm>
                <a:off x="2064"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70"/>
              <p:cNvSpPr>
                <a:spLocks noChangeShapeType="1"/>
              </p:cNvSpPr>
              <p:nvPr/>
            </p:nvSpPr>
            <p:spPr bwMode="auto">
              <a:xfrm>
                <a:off x="2336"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71"/>
              <p:cNvSpPr>
                <a:spLocks noChangeShapeType="1"/>
              </p:cNvSpPr>
              <p:nvPr/>
            </p:nvSpPr>
            <p:spPr bwMode="auto">
              <a:xfrm>
                <a:off x="260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72"/>
              <p:cNvSpPr>
                <a:spLocks noChangeShapeType="1"/>
              </p:cNvSpPr>
              <p:nvPr/>
            </p:nvSpPr>
            <p:spPr bwMode="auto">
              <a:xfrm>
                <a:off x="2880"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73"/>
              <p:cNvSpPr>
                <a:spLocks noChangeShapeType="1"/>
              </p:cNvSpPr>
              <p:nvPr/>
            </p:nvSpPr>
            <p:spPr bwMode="auto">
              <a:xfrm>
                <a:off x="3152"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74"/>
              <p:cNvSpPr>
                <a:spLocks noChangeShapeType="1"/>
              </p:cNvSpPr>
              <p:nvPr/>
            </p:nvSpPr>
            <p:spPr bwMode="auto">
              <a:xfrm>
                <a:off x="3424"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75"/>
              <p:cNvSpPr>
                <a:spLocks noChangeShapeType="1"/>
              </p:cNvSpPr>
              <p:nvPr/>
            </p:nvSpPr>
            <p:spPr bwMode="auto">
              <a:xfrm>
                <a:off x="3696"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76"/>
              <p:cNvSpPr>
                <a:spLocks noChangeShapeType="1"/>
              </p:cNvSpPr>
              <p:nvPr/>
            </p:nvSpPr>
            <p:spPr bwMode="auto">
              <a:xfrm>
                <a:off x="396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77"/>
              <p:cNvSpPr>
                <a:spLocks noChangeShapeType="1"/>
              </p:cNvSpPr>
              <p:nvPr/>
            </p:nvSpPr>
            <p:spPr bwMode="auto">
              <a:xfrm>
                <a:off x="4240"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78"/>
              <p:cNvSpPr>
                <a:spLocks noChangeShapeType="1"/>
              </p:cNvSpPr>
              <p:nvPr/>
            </p:nvSpPr>
            <p:spPr bwMode="auto">
              <a:xfrm>
                <a:off x="4512"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79"/>
              <p:cNvSpPr>
                <a:spLocks noChangeShapeType="1"/>
              </p:cNvSpPr>
              <p:nvPr/>
            </p:nvSpPr>
            <p:spPr bwMode="auto">
              <a:xfrm>
                <a:off x="4785"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80"/>
              <p:cNvSpPr>
                <a:spLocks noChangeShapeType="1"/>
              </p:cNvSpPr>
              <p:nvPr/>
            </p:nvSpPr>
            <p:spPr bwMode="auto">
              <a:xfrm>
                <a:off x="5057"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81"/>
              <p:cNvSpPr>
                <a:spLocks noChangeShapeType="1"/>
              </p:cNvSpPr>
              <p:nvPr/>
            </p:nvSpPr>
            <p:spPr bwMode="auto">
              <a:xfrm>
                <a:off x="5329"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82"/>
              <p:cNvSpPr>
                <a:spLocks noChangeShapeType="1"/>
              </p:cNvSpPr>
              <p:nvPr/>
            </p:nvSpPr>
            <p:spPr bwMode="auto">
              <a:xfrm>
                <a:off x="560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86" name="Group 83"/>
          <p:cNvGrpSpPr>
            <a:grpSpLocks/>
          </p:cNvGrpSpPr>
          <p:nvPr/>
        </p:nvGrpSpPr>
        <p:grpSpPr bwMode="auto">
          <a:xfrm>
            <a:off x="2308224" y="2227032"/>
            <a:ext cx="414338" cy="2303463"/>
            <a:chOff x="-6" y="1389"/>
            <a:chExt cx="261" cy="1451"/>
          </a:xfrm>
        </p:grpSpPr>
        <p:sp>
          <p:nvSpPr>
            <p:cNvPr id="87" name="Text Box 84"/>
            <p:cNvSpPr txBox="1">
              <a:spLocks noChangeArrowheads="1"/>
            </p:cNvSpPr>
            <p:nvPr/>
          </p:nvSpPr>
          <p:spPr bwMode="auto">
            <a:xfrm>
              <a:off x="-6" y="138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A</a:t>
              </a:r>
            </a:p>
          </p:txBody>
        </p:sp>
        <p:sp>
          <p:nvSpPr>
            <p:cNvPr id="88" name="Text Box 85"/>
            <p:cNvSpPr txBox="1">
              <a:spLocks noChangeArrowheads="1"/>
            </p:cNvSpPr>
            <p:nvPr/>
          </p:nvSpPr>
          <p:spPr bwMode="auto">
            <a:xfrm>
              <a:off x="-6" y="170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B</a:t>
              </a:r>
            </a:p>
          </p:txBody>
        </p:sp>
        <p:sp>
          <p:nvSpPr>
            <p:cNvPr id="89" name="Text Box 86"/>
            <p:cNvSpPr txBox="1">
              <a:spLocks noChangeArrowheads="1"/>
            </p:cNvSpPr>
            <p:nvPr/>
          </p:nvSpPr>
          <p:spPr bwMode="auto">
            <a:xfrm>
              <a:off x="-6" y="197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C</a:t>
              </a:r>
            </a:p>
          </p:txBody>
        </p:sp>
        <p:sp>
          <p:nvSpPr>
            <p:cNvPr id="90" name="Text Box 87"/>
            <p:cNvSpPr txBox="1">
              <a:spLocks noChangeArrowheads="1"/>
            </p:cNvSpPr>
            <p:nvPr/>
          </p:nvSpPr>
          <p:spPr bwMode="auto">
            <a:xfrm>
              <a:off x="0" y="225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D</a:t>
              </a:r>
            </a:p>
          </p:txBody>
        </p:sp>
        <p:sp>
          <p:nvSpPr>
            <p:cNvPr id="91" name="Text Box 88"/>
            <p:cNvSpPr txBox="1">
              <a:spLocks noChangeArrowheads="1"/>
            </p:cNvSpPr>
            <p:nvPr/>
          </p:nvSpPr>
          <p:spPr bwMode="auto">
            <a:xfrm>
              <a:off x="0" y="25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E</a:t>
              </a:r>
            </a:p>
          </p:txBody>
        </p:sp>
      </p:grpSp>
      <p:sp>
        <p:nvSpPr>
          <p:cNvPr id="92" name="Rectangle 89"/>
          <p:cNvSpPr>
            <a:spLocks noChangeArrowheads="1"/>
          </p:cNvSpPr>
          <p:nvPr/>
        </p:nvSpPr>
        <p:spPr bwMode="auto">
          <a:xfrm>
            <a:off x="2713037" y="2298470"/>
            <a:ext cx="1296988"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93" name="Rectangle 90"/>
          <p:cNvSpPr>
            <a:spLocks noChangeArrowheads="1"/>
          </p:cNvSpPr>
          <p:nvPr/>
        </p:nvSpPr>
        <p:spPr bwMode="auto">
          <a:xfrm>
            <a:off x="4008437" y="2731857"/>
            <a:ext cx="2593975"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94" name="Rectangle 91"/>
          <p:cNvSpPr>
            <a:spLocks noChangeArrowheads="1"/>
          </p:cNvSpPr>
          <p:nvPr/>
        </p:nvSpPr>
        <p:spPr bwMode="auto">
          <a:xfrm>
            <a:off x="7466012" y="3163657"/>
            <a:ext cx="17272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95" name="Rectangle 92"/>
          <p:cNvSpPr>
            <a:spLocks noChangeArrowheads="1"/>
          </p:cNvSpPr>
          <p:nvPr/>
        </p:nvSpPr>
        <p:spPr bwMode="auto">
          <a:xfrm>
            <a:off x="9191625" y="3595457"/>
            <a:ext cx="2160587"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96" name="Rectangle 93"/>
          <p:cNvSpPr>
            <a:spLocks noChangeArrowheads="1"/>
          </p:cNvSpPr>
          <p:nvPr/>
        </p:nvSpPr>
        <p:spPr bwMode="auto">
          <a:xfrm>
            <a:off x="6599237" y="4027257"/>
            <a:ext cx="8636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97" name="矩形 92"/>
          <p:cNvSpPr>
            <a:spLocks noChangeArrowheads="1"/>
          </p:cNvSpPr>
          <p:nvPr/>
        </p:nvSpPr>
        <p:spPr bwMode="auto">
          <a:xfrm>
            <a:off x="2416175" y="5846532"/>
            <a:ext cx="29829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          0                       3</a:t>
            </a:r>
          </a:p>
          <a:p>
            <a:pPr eaLnBrk="1" hangingPunct="1"/>
            <a:r>
              <a:rPr lang="en-US" altLang="zh-CN" sz="2000" b="1">
                <a:solidFill>
                  <a:schemeClr val="tx1"/>
                </a:solidFill>
              </a:rPr>
              <a:t>B          2                       6</a:t>
            </a:r>
          </a:p>
          <a:p>
            <a:pPr eaLnBrk="1" hangingPunct="1"/>
            <a:r>
              <a:rPr lang="en-US" altLang="zh-CN" sz="2000" b="1">
                <a:solidFill>
                  <a:schemeClr val="tx1"/>
                </a:solidFill>
              </a:rPr>
              <a:t>C          4                       4</a:t>
            </a:r>
          </a:p>
        </p:txBody>
      </p:sp>
      <p:sp>
        <p:nvSpPr>
          <p:cNvPr id="98" name="矩形 93"/>
          <p:cNvSpPr>
            <a:spLocks noChangeArrowheads="1"/>
          </p:cNvSpPr>
          <p:nvPr/>
        </p:nvSpPr>
        <p:spPr bwMode="auto">
          <a:xfrm>
            <a:off x="2773362" y="5505220"/>
            <a:ext cx="3475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Arrival Time     Server Time</a:t>
            </a:r>
          </a:p>
        </p:txBody>
      </p:sp>
      <p:sp>
        <p:nvSpPr>
          <p:cNvPr id="99" name="矩形 94"/>
          <p:cNvSpPr>
            <a:spLocks noChangeArrowheads="1"/>
          </p:cNvSpPr>
          <p:nvPr/>
        </p:nvSpPr>
        <p:spPr bwMode="auto">
          <a:xfrm>
            <a:off x="6442075" y="5846532"/>
            <a:ext cx="2984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D          6                       5</a:t>
            </a:r>
          </a:p>
          <a:p>
            <a:pPr eaLnBrk="1" hangingPunct="1"/>
            <a:r>
              <a:rPr lang="en-US" altLang="zh-CN" sz="2000" b="1">
                <a:solidFill>
                  <a:schemeClr val="tx1"/>
                </a:solidFill>
              </a:rPr>
              <a:t>E          8                       2</a:t>
            </a:r>
          </a:p>
        </p:txBody>
      </p:sp>
      <p:sp>
        <p:nvSpPr>
          <p:cNvPr id="100" name="矩形 95"/>
          <p:cNvSpPr>
            <a:spLocks noChangeArrowheads="1"/>
          </p:cNvSpPr>
          <p:nvPr/>
        </p:nvSpPr>
        <p:spPr bwMode="auto">
          <a:xfrm>
            <a:off x="6799262" y="5505220"/>
            <a:ext cx="3475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Arrival Time     Server Time</a:t>
            </a:r>
          </a:p>
        </p:txBody>
      </p:sp>
      <p:cxnSp>
        <p:nvCxnSpPr>
          <p:cNvPr id="101" name="直接连接符 100"/>
          <p:cNvCxnSpPr/>
          <p:nvPr/>
        </p:nvCxnSpPr>
        <p:spPr bwMode="auto">
          <a:xfrm>
            <a:off x="2344737" y="5862407"/>
            <a:ext cx="3929063"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2" name="直接连接符 101"/>
          <p:cNvCxnSpPr/>
          <p:nvPr/>
        </p:nvCxnSpPr>
        <p:spPr bwMode="auto">
          <a:xfrm>
            <a:off x="6416675" y="5862407"/>
            <a:ext cx="3929062"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3" name="直接连接符 102"/>
          <p:cNvCxnSpPr/>
          <p:nvPr/>
        </p:nvCxnSpPr>
        <p:spPr bwMode="auto">
          <a:xfrm rot="5400000">
            <a:off x="2129631" y="6152126"/>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4" name="直接连接符 103"/>
          <p:cNvCxnSpPr/>
          <p:nvPr/>
        </p:nvCxnSpPr>
        <p:spPr bwMode="auto">
          <a:xfrm rot="5400000">
            <a:off x="6131718" y="6164826"/>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5" name="直接连接符 104"/>
          <p:cNvCxnSpPr/>
          <p:nvPr/>
        </p:nvCxnSpPr>
        <p:spPr bwMode="auto">
          <a:xfrm>
            <a:off x="2344737" y="5505220"/>
            <a:ext cx="3929063"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6" name="直接连接符 105"/>
          <p:cNvCxnSpPr/>
          <p:nvPr/>
        </p:nvCxnSpPr>
        <p:spPr bwMode="auto">
          <a:xfrm>
            <a:off x="2344737" y="6789507"/>
            <a:ext cx="3929063"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7" name="直接连接符 106"/>
          <p:cNvCxnSpPr/>
          <p:nvPr/>
        </p:nvCxnSpPr>
        <p:spPr bwMode="auto">
          <a:xfrm>
            <a:off x="6416675" y="5505220"/>
            <a:ext cx="3929062"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8" name="直接连接符 107"/>
          <p:cNvCxnSpPr/>
          <p:nvPr/>
        </p:nvCxnSpPr>
        <p:spPr bwMode="auto">
          <a:xfrm>
            <a:off x="6416675" y="6789507"/>
            <a:ext cx="3929062"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09" name="直接连接符 108"/>
          <p:cNvCxnSpPr/>
          <p:nvPr/>
        </p:nvCxnSpPr>
        <p:spPr bwMode="auto">
          <a:xfrm rot="5400000">
            <a:off x="1702593" y="6147364"/>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10" name="直接连接符 109"/>
          <p:cNvCxnSpPr/>
          <p:nvPr/>
        </p:nvCxnSpPr>
        <p:spPr bwMode="auto">
          <a:xfrm rot="5400000">
            <a:off x="5774531" y="6147364"/>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11" name="直接连接符 110"/>
          <p:cNvCxnSpPr/>
          <p:nvPr/>
        </p:nvCxnSpPr>
        <p:spPr bwMode="auto">
          <a:xfrm rot="5400000">
            <a:off x="5630068" y="6147364"/>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12" name="直接连接符 111"/>
          <p:cNvCxnSpPr/>
          <p:nvPr/>
        </p:nvCxnSpPr>
        <p:spPr bwMode="auto">
          <a:xfrm rot="5400000">
            <a:off x="3894931" y="6147364"/>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13" name="直接连接符 112"/>
          <p:cNvCxnSpPr/>
          <p:nvPr/>
        </p:nvCxnSpPr>
        <p:spPr bwMode="auto">
          <a:xfrm rot="5400000">
            <a:off x="7916068" y="6147364"/>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14" name="直接连接符 113"/>
          <p:cNvCxnSpPr/>
          <p:nvPr/>
        </p:nvCxnSpPr>
        <p:spPr bwMode="auto">
          <a:xfrm rot="5400000">
            <a:off x="9702006" y="6147364"/>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43403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left)">
                                      <p:cBhvr>
                                        <p:cTn id="7" dur="5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
                                        </p:tgtEl>
                                        <p:attrNameLst>
                                          <p:attrName>style.visibility</p:attrName>
                                        </p:attrNameLst>
                                      </p:cBhvr>
                                      <p:to>
                                        <p:strVal val="visible"/>
                                      </p:to>
                                    </p:set>
                                    <p:animEffect transition="in" filter="wipe(left)">
                                      <p:cBhvr>
                                        <p:cTn id="12" dur="500"/>
                                        <p:tgtEl>
                                          <p:spTgt spid="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
                                        </p:tgtEl>
                                        <p:attrNameLst>
                                          <p:attrName>style.visibility</p:attrName>
                                        </p:attrNameLst>
                                      </p:cBhvr>
                                      <p:to>
                                        <p:strVal val="visible"/>
                                      </p:to>
                                    </p:set>
                                    <p:animEffect transition="in" filter="wipe(left)">
                                      <p:cBhvr>
                                        <p:cTn id="17" dur="500"/>
                                        <p:tgtEl>
                                          <p:spTgt spid="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wipe(left)">
                                      <p:cBhvr>
                                        <p:cTn id="22" dur="500"/>
                                        <p:tgtEl>
                                          <p:spTgt spid="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5"/>
                                        </p:tgtEl>
                                        <p:attrNameLst>
                                          <p:attrName>style.visibility</p:attrName>
                                        </p:attrNameLst>
                                      </p:cBhvr>
                                      <p:to>
                                        <p:strVal val="visible"/>
                                      </p:to>
                                    </p:set>
                                    <p:animEffect transition="in" filter="wipe(left)">
                                      <p:cBhvr>
                                        <p:cTn id="27"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93" grpId="0" animBg="1"/>
      <p:bldP spid="94" grpId="0" animBg="1"/>
      <p:bldP spid="95" grpId="0" animBg="1"/>
      <p:bldP spid="9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算法特点</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9" name="文本框 19"/>
          <p:cNvSpPr txBox="1">
            <a:spLocks noChangeArrowheads="1"/>
          </p:cNvSpPr>
          <p:nvPr/>
        </p:nvSpPr>
        <p:spPr bwMode="auto">
          <a:xfrm>
            <a:off x="1099264" y="1931603"/>
            <a:ext cx="1029179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能显著改善作业的平均周转时间</a:t>
            </a:r>
            <a:endParaRPr lang="en-US" altLang="zh-CN" sz="2400" dirty="0"/>
          </a:p>
          <a:p>
            <a:pPr marL="0" lvl="2" indent="0">
              <a:buBlip>
                <a:blip r:embed="rId3"/>
              </a:buBlip>
            </a:pPr>
            <a:r>
              <a:rPr lang="zh-CN" altLang="en-US" sz="2400" dirty="0"/>
              <a:t>在降低作业的平均等待时间同时，提高系统的吞吐量</a:t>
            </a:r>
            <a:endParaRPr lang="en-US" altLang="zh-CN" sz="2400" dirty="0"/>
          </a:p>
          <a:p>
            <a:pPr marL="0" lvl="2" indent="0">
              <a:buBlip>
                <a:blip r:embed="rId3"/>
              </a:buBlip>
            </a:pPr>
            <a:r>
              <a:rPr lang="zh-CN" altLang="en-US" sz="2400" dirty="0"/>
              <a:t>必须预知作业的运行时间</a:t>
            </a:r>
            <a:endParaRPr lang="en-US" altLang="zh-CN" sz="2400" dirty="0"/>
          </a:p>
          <a:p>
            <a:pPr marL="0" lvl="2" indent="0">
              <a:buBlip>
                <a:blip r:embed="rId3"/>
              </a:buBlip>
            </a:pPr>
            <a:r>
              <a:rPr lang="zh-CN" altLang="en-US" sz="2400" dirty="0"/>
              <a:t>对长作业非常不利（饥饿）</a:t>
            </a:r>
            <a:endParaRPr lang="en-US" altLang="zh-CN" sz="2400" dirty="0"/>
          </a:p>
          <a:p>
            <a:pPr marL="0" lvl="2" indent="0">
              <a:buBlip>
                <a:blip r:embed="rId3"/>
              </a:buBlip>
            </a:pPr>
            <a:r>
              <a:rPr lang="zh-CN" altLang="en-US" sz="2400" dirty="0"/>
              <a:t>人机无法实现交互</a:t>
            </a:r>
            <a:endParaRPr lang="en-US" altLang="zh-CN" sz="2400" dirty="0"/>
          </a:p>
          <a:p>
            <a:pPr marL="0" lvl="2" indent="0">
              <a:buBlip>
                <a:blip r:embed="rId3"/>
              </a:buBlip>
            </a:pPr>
            <a:r>
              <a:rPr lang="zh-CN" altLang="en-US" sz="2400" dirty="0"/>
              <a:t>未考虑作业的紧迫程度 </a:t>
            </a:r>
          </a:p>
          <a:p>
            <a:pPr marL="0" lvl="2" indent="0">
              <a:buBlip>
                <a:blip r:embed="rId3"/>
              </a:buBlip>
            </a:pPr>
            <a:endParaRPr lang="zh-CN" altLang="en-US" sz="2400" dirty="0"/>
          </a:p>
        </p:txBody>
      </p:sp>
      <p:grpSp>
        <p:nvGrpSpPr>
          <p:cNvPr id="3" name="组合 2"/>
          <p:cNvGrpSpPr/>
          <p:nvPr/>
        </p:nvGrpSpPr>
        <p:grpSpPr>
          <a:xfrm>
            <a:off x="996028" y="4363543"/>
            <a:ext cx="6377004" cy="665162"/>
            <a:chOff x="996028" y="4363543"/>
            <a:chExt cx="6377004" cy="665162"/>
          </a:xfrm>
        </p:grpSpPr>
        <p:sp>
          <p:nvSpPr>
            <p:cNvPr id="12" name="矩形 11"/>
            <p:cNvSpPr/>
            <p:nvPr/>
          </p:nvSpPr>
          <p:spPr>
            <a:xfrm>
              <a:off x="1142079" y="4896943"/>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12"/>
            <p:cNvSpPr/>
            <p:nvPr/>
          </p:nvSpPr>
          <p:spPr>
            <a:xfrm>
              <a:off x="2050129" y="4896943"/>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55"/>
            <p:cNvSpPr txBox="1">
              <a:spLocks noChangeArrowheads="1"/>
            </p:cNvSpPr>
            <p:nvPr/>
          </p:nvSpPr>
          <p:spPr bwMode="auto">
            <a:xfrm>
              <a:off x="996028" y="4363543"/>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用途</a:t>
              </a:r>
            </a:p>
          </p:txBody>
        </p:sp>
      </p:grpSp>
      <p:sp>
        <p:nvSpPr>
          <p:cNvPr id="15" name="文本框 19"/>
          <p:cNvSpPr txBox="1">
            <a:spLocks noChangeArrowheads="1"/>
          </p:cNvSpPr>
          <p:nvPr/>
        </p:nvSpPr>
        <p:spPr bwMode="auto">
          <a:xfrm>
            <a:off x="1109593" y="5180692"/>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既可用于作业调度，也可用于进程调度。</a:t>
            </a:r>
            <a:endParaRPr lang="en-US" altLang="zh-CN" sz="2400" dirty="0"/>
          </a:p>
        </p:txBody>
      </p:sp>
      <p:sp>
        <p:nvSpPr>
          <p:cNvPr id="18" name="文本框 25"/>
          <p:cNvSpPr txBox="1">
            <a:spLocks noChangeArrowheads="1"/>
          </p:cNvSpPr>
          <p:nvPr/>
        </p:nvSpPr>
        <p:spPr bwMode="auto">
          <a:xfrm>
            <a:off x="902970" y="212725"/>
            <a:ext cx="6852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短作业优先</a:t>
            </a:r>
            <a:r>
              <a:rPr lang="en-US" altLang="zh-CN" sz="2400" b="1" dirty="0">
                <a:solidFill>
                  <a:srgbClr val="3D7351"/>
                </a:solidFill>
                <a:latin typeface="微软雅黑" panose="020B0503020204020204" pitchFamily="34" charset="-122"/>
                <a:ea typeface="微软雅黑" panose="020B0503020204020204" pitchFamily="34" charset="-122"/>
              </a:rPr>
              <a:t>(SJF, Shortest Job First)</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Tree>
    <p:extLst>
      <p:ext uri="{BB962C8B-B14F-4D97-AF65-F5344CB8AC3E}">
        <p14:creationId xmlns:p14="http://schemas.microsoft.com/office/powerpoint/2010/main" val="110898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down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基本思想</a:t>
            </a:r>
          </a:p>
        </p:txBody>
      </p:sp>
      <p:sp>
        <p:nvSpPr>
          <p:cNvPr id="31" name="文本框 25"/>
          <p:cNvSpPr txBox="1">
            <a:spLocks noChangeArrowheads="1"/>
          </p:cNvSpPr>
          <p:nvPr/>
        </p:nvSpPr>
        <p:spPr bwMode="auto">
          <a:xfrm>
            <a:off x="902970" y="212725"/>
            <a:ext cx="47243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高响应比优先</a:t>
            </a:r>
            <a:r>
              <a:rPr lang="en-US" altLang="zh-CN" sz="2400" b="1" dirty="0">
                <a:solidFill>
                  <a:srgbClr val="3D7351"/>
                </a:solidFill>
                <a:latin typeface="微软雅黑" panose="020B0503020204020204" pitchFamily="34" charset="-122"/>
                <a:ea typeface="微软雅黑" panose="020B0503020204020204" pitchFamily="34" charset="-122"/>
              </a:rPr>
              <a:t>(HRRN)</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9" name="文本框 19"/>
          <p:cNvSpPr txBox="1">
            <a:spLocks noChangeArrowheads="1"/>
          </p:cNvSpPr>
          <p:nvPr/>
        </p:nvSpPr>
        <p:spPr bwMode="auto">
          <a:xfrm>
            <a:off x="1091855" y="1892926"/>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是一种动态优先级调度算法</a:t>
            </a:r>
          </a:p>
        </p:txBody>
      </p:sp>
      <p:sp>
        <p:nvSpPr>
          <p:cNvPr id="12" name="矩形 11"/>
          <p:cNvSpPr/>
          <p:nvPr/>
        </p:nvSpPr>
        <p:spPr>
          <a:xfrm>
            <a:off x="1142079" y="3311023"/>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12"/>
          <p:cNvSpPr/>
          <p:nvPr/>
        </p:nvSpPr>
        <p:spPr>
          <a:xfrm>
            <a:off x="2050129" y="3311023"/>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55"/>
          <p:cNvSpPr txBox="1">
            <a:spLocks noChangeArrowheads="1"/>
          </p:cNvSpPr>
          <p:nvPr/>
        </p:nvSpPr>
        <p:spPr bwMode="auto">
          <a:xfrm>
            <a:off x="996028" y="2777623"/>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调度规则</a:t>
            </a:r>
          </a:p>
        </p:txBody>
      </p:sp>
      <p:sp>
        <p:nvSpPr>
          <p:cNvPr id="15" name="文本框 19"/>
          <p:cNvSpPr txBox="1">
            <a:spLocks noChangeArrowheads="1"/>
          </p:cNvSpPr>
          <p:nvPr/>
        </p:nvSpPr>
        <p:spPr bwMode="auto">
          <a:xfrm>
            <a:off x="1109593" y="3550528"/>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在当前作业完成或被阻塞时，选择</a:t>
            </a:r>
            <a:r>
              <a:rPr lang="en-US" altLang="zh-CN" sz="2400" dirty="0">
                <a:solidFill>
                  <a:srgbClr val="000000"/>
                </a:solidFill>
                <a:latin typeface="黑体" pitchFamily="49" charset="-122"/>
              </a:rPr>
              <a:t>R</a:t>
            </a:r>
            <a:r>
              <a:rPr lang="en-US" altLang="zh-CN" sz="2400" baseline="-25000" dirty="0">
                <a:solidFill>
                  <a:srgbClr val="000000"/>
                </a:solidFill>
                <a:latin typeface="黑体" pitchFamily="49" charset="-122"/>
              </a:rPr>
              <a:t>P</a:t>
            </a:r>
            <a:r>
              <a:rPr lang="zh-CN" altLang="en-US" sz="2400" dirty="0">
                <a:solidFill>
                  <a:srgbClr val="000000"/>
                </a:solidFill>
                <a:latin typeface="黑体" pitchFamily="49" charset="-122"/>
              </a:rPr>
              <a:t>值最大的作业</a:t>
            </a:r>
            <a:r>
              <a:rPr lang="zh-CN" altLang="en-US" sz="2400" dirty="0"/>
              <a:t>。</a:t>
            </a:r>
          </a:p>
        </p:txBody>
      </p:sp>
      <p:sp>
        <p:nvSpPr>
          <p:cNvPr id="16" name="文本框 54"/>
          <p:cNvSpPr txBox="1">
            <a:spLocks noChangeArrowheads="1"/>
          </p:cNvSpPr>
          <p:nvPr/>
        </p:nvSpPr>
        <p:spPr bwMode="auto">
          <a:xfrm>
            <a:off x="1091855" y="4061615"/>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优点</a:t>
            </a:r>
          </a:p>
        </p:txBody>
      </p:sp>
      <p:sp>
        <p:nvSpPr>
          <p:cNvPr id="17" name="文本框 19"/>
          <p:cNvSpPr txBox="1">
            <a:spLocks noChangeArrowheads="1"/>
          </p:cNvSpPr>
          <p:nvPr/>
        </p:nvSpPr>
        <p:spPr bwMode="auto">
          <a:xfrm>
            <a:off x="1094400" y="4455787"/>
            <a:ext cx="596780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照顾了短作业；</a:t>
            </a:r>
            <a:endParaRPr lang="en-US" altLang="zh-CN" sz="2400" dirty="0"/>
          </a:p>
          <a:p>
            <a:pPr marL="0" lvl="2" indent="0">
              <a:buBlip>
                <a:blip r:embed="rId3"/>
              </a:buBlip>
            </a:pPr>
            <a:r>
              <a:rPr lang="zh-CN" altLang="en-US" sz="2400" dirty="0"/>
              <a:t>先来先服务，</a:t>
            </a:r>
            <a:r>
              <a:rPr lang="zh-CN" altLang="en-US" sz="2400" dirty="0">
                <a:solidFill>
                  <a:srgbClr val="000000"/>
                </a:solidFill>
              </a:rPr>
              <a:t>等待时间越短，</a:t>
            </a:r>
            <a:r>
              <a:rPr lang="en-US" altLang="zh-CN" sz="2400" dirty="0">
                <a:solidFill>
                  <a:srgbClr val="000000"/>
                </a:solidFill>
              </a:rPr>
              <a:t>R</a:t>
            </a:r>
            <a:r>
              <a:rPr lang="en-US" altLang="zh-CN" sz="2400" baseline="-25000" dirty="0">
                <a:solidFill>
                  <a:srgbClr val="000000"/>
                </a:solidFill>
              </a:rPr>
              <a:t>P</a:t>
            </a:r>
            <a:r>
              <a:rPr lang="zh-CN" altLang="en-US" sz="2400" dirty="0">
                <a:solidFill>
                  <a:srgbClr val="000000"/>
                </a:solidFill>
              </a:rPr>
              <a:t>越小；</a:t>
            </a:r>
            <a:endParaRPr lang="en-US" altLang="zh-CN" sz="2400" dirty="0">
              <a:solidFill>
                <a:srgbClr val="000000"/>
              </a:solidFill>
            </a:endParaRPr>
          </a:p>
          <a:p>
            <a:pPr marL="0" lvl="2" indent="0">
              <a:buBlip>
                <a:blip r:embed="rId3"/>
              </a:buBlip>
            </a:pPr>
            <a:r>
              <a:rPr lang="zh-CN" altLang="en-US" sz="2400" dirty="0">
                <a:solidFill>
                  <a:srgbClr val="000000"/>
                </a:solidFill>
              </a:rPr>
              <a:t>不会使长作业长时间得不到服务。</a:t>
            </a:r>
          </a:p>
        </p:txBody>
      </p:sp>
      <p:sp>
        <p:nvSpPr>
          <p:cNvPr id="18" name="文本框 54"/>
          <p:cNvSpPr txBox="1">
            <a:spLocks noChangeArrowheads="1"/>
          </p:cNvSpPr>
          <p:nvPr/>
        </p:nvSpPr>
        <p:spPr bwMode="auto">
          <a:xfrm>
            <a:off x="1097835" y="5644597"/>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缺点</a:t>
            </a:r>
          </a:p>
        </p:txBody>
      </p:sp>
      <p:sp>
        <p:nvSpPr>
          <p:cNvPr id="19" name="文本框 19"/>
          <p:cNvSpPr txBox="1">
            <a:spLocks noChangeArrowheads="1"/>
          </p:cNvSpPr>
          <p:nvPr/>
        </p:nvSpPr>
        <p:spPr bwMode="auto">
          <a:xfrm>
            <a:off x="1103815" y="6095121"/>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solidFill>
                  <a:srgbClr val="000000"/>
                </a:solidFill>
              </a:rPr>
              <a:t>增加系统开销。因为每次调度时，都要进行响应比</a:t>
            </a:r>
            <a:r>
              <a:rPr lang="en-US" altLang="zh-CN" sz="2400" dirty="0">
                <a:solidFill>
                  <a:srgbClr val="000000"/>
                </a:solidFill>
              </a:rPr>
              <a:t>R</a:t>
            </a:r>
            <a:r>
              <a:rPr lang="en-US" altLang="zh-CN" sz="2400" baseline="-25000" dirty="0">
                <a:solidFill>
                  <a:srgbClr val="000000"/>
                </a:solidFill>
              </a:rPr>
              <a:t>P</a:t>
            </a:r>
            <a:r>
              <a:rPr lang="zh-CN" altLang="en-US" sz="2400" dirty="0">
                <a:solidFill>
                  <a:srgbClr val="000000"/>
                </a:solidFill>
              </a:rPr>
              <a:t>的计算。</a:t>
            </a:r>
          </a:p>
        </p:txBody>
      </p:sp>
      <p:graphicFrame>
        <p:nvGraphicFramePr>
          <p:cNvPr id="3" name="对象 2"/>
          <p:cNvGraphicFramePr>
            <a:graphicFrameLocks noChangeAspect="1"/>
          </p:cNvGraphicFramePr>
          <p:nvPr>
            <p:extLst>
              <p:ext uri="{D42A27DB-BD31-4B8C-83A1-F6EECF244321}">
                <p14:modId xmlns:p14="http://schemas.microsoft.com/office/powerpoint/2010/main" val="2505743901"/>
              </p:ext>
            </p:extLst>
          </p:nvPr>
        </p:nvGraphicFramePr>
        <p:xfrm>
          <a:off x="4166792" y="2334486"/>
          <a:ext cx="6985000" cy="806450"/>
        </p:xfrm>
        <a:graphic>
          <a:graphicData uri="http://schemas.openxmlformats.org/presentationml/2006/ole">
            <mc:AlternateContent xmlns:mc="http://schemas.openxmlformats.org/markup-compatibility/2006">
              <mc:Choice xmlns:v="urn:schemas-microsoft-com:vml" Requires="v">
                <p:oleObj name="Equation" r:id="rId4" imgW="3632200" imgH="419100" progId="Equation.DSMT4">
                  <p:embed/>
                </p:oleObj>
              </mc:Choice>
              <mc:Fallback>
                <p:oleObj name="Equation" r:id="rId4" imgW="3632200" imgH="4191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6792" y="2334486"/>
                        <a:ext cx="6985000"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6031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down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50" presetClass="entr" presetSubtype="0" decel="100000" fill="hold" grpId="0" nodeType="clickEffect">
                                  <p:stCondLst>
                                    <p:cond delay="0"/>
                                  </p:stCondLst>
                                  <p:iterate type="lt">
                                    <p:tmPct val="5000"/>
                                  </p:iterate>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strVal val="#ppt_w+.3"/>
                                          </p:val>
                                        </p:tav>
                                        <p:tav tm="100000">
                                          <p:val>
                                            <p:strVal val="#ppt_w"/>
                                          </p:val>
                                        </p:tav>
                                      </p:tavLst>
                                    </p:anim>
                                    <p:anim calcmode="lin" valueType="num">
                                      <p:cBhvr>
                                        <p:cTn id="23" dur="500" fill="hold"/>
                                        <p:tgtEl>
                                          <p:spTgt spid="16"/>
                                        </p:tgtEl>
                                        <p:attrNameLst>
                                          <p:attrName>ppt_h</p:attrName>
                                        </p:attrNameLst>
                                      </p:cBhvr>
                                      <p:tavLst>
                                        <p:tav tm="0">
                                          <p:val>
                                            <p:strVal val="#ppt_h"/>
                                          </p:val>
                                        </p:tav>
                                        <p:tav tm="100000">
                                          <p:val>
                                            <p:strVal val="#ppt_h"/>
                                          </p:val>
                                        </p:tav>
                                      </p:tavLst>
                                    </p:anim>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strips(downLeft)">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50" presetClass="entr" presetSubtype="0" decel="100000" fill="hold" grpId="0" nodeType="clickEffect">
                                  <p:stCondLst>
                                    <p:cond delay="0"/>
                                  </p:stCondLst>
                                  <p:iterate type="lt">
                                    <p:tmPct val="5000"/>
                                  </p:iterate>
                                  <p:childTnLst>
                                    <p:set>
                                      <p:cBhvr>
                                        <p:cTn id="33" dur="1" fill="hold">
                                          <p:stCondLst>
                                            <p:cond delay="0"/>
                                          </p:stCondLst>
                                        </p:cTn>
                                        <p:tgtEl>
                                          <p:spTgt spid="18"/>
                                        </p:tgtEl>
                                        <p:attrNameLst>
                                          <p:attrName>style.visibility</p:attrName>
                                        </p:attrNameLst>
                                      </p:cBhvr>
                                      <p:to>
                                        <p:strVal val="visible"/>
                                      </p:to>
                                    </p:set>
                                    <p:anim calcmode="lin" valueType="num">
                                      <p:cBhvr>
                                        <p:cTn id="34" dur="500" fill="hold"/>
                                        <p:tgtEl>
                                          <p:spTgt spid="18"/>
                                        </p:tgtEl>
                                        <p:attrNameLst>
                                          <p:attrName>ppt_w</p:attrName>
                                        </p:attrNameLst>
                                      </p:cBhvr>
                                      <p:tavLst>
                                        <p:tav tm="0">
                                          <p:val>
                                            <p:strVal val="#ppt_w+.3"/>
                                          </p:val>
                                        </p:tav>
                                        <p:tav tm="100000">
                                          <p:val>
                                            <p:strVal val="#ppt_w"/>
                                          </p:val>
                                        </p:tav>
                                      </p:tavLst>
                                    </p:anim>
                                    <p:anim calcmode="lin" valueType="num">
                                      <p:cBhvr>
                                        <p:cTn id="35" dur="500" fill="hold"/>
                                        <p:tgtEl>
                                          <p:spTgt spid="18"/>
                                        </p:tgtEl>
                                        <p:attrNameLst>
                                          <p:attrName>ppt_h</p:attrName>
                                        </p:attrNameLst>
                                      </p:cBhvr>
                                      <p:tavLst>
                                        <p:tav tm="0">
                                          <p:val>
                                            <p:strVal val="#ppt_h"/>
                                          </p:val>
                                        </p:tav>
                                        <p:tav tm="100000">
                                          <p:val>
                                            <p:strVal val="#ppt_h"/>
                                          </p:val>
                                        </p:tav>
                                      </p:tavLst>
                                    </p:anim>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strips(downLeft)">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5" grpId="0"/>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例</a:t>
            </a:r>
          </a:p>
        </p:txBody>
      </p:sp>
      <p:sp>
        <p:nvSpPr>
          <p:cNvPr id="31" name="文本框 25"/>
          <p:cNvSpPr txBox="1">
            <a:spLocks noChangeArrowheads="1"/>
          </p:cNvSpPr>
          <p:nvPr/>
        </p:nvSpPr>
        <p:spPr bwMode="auto">
          <a:xfrm>
            <a:off x="902970" y="212725"/>
            <a:ext cx="47243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高响应比优先</a:t>
            </a:r>
            <a:r>
              <a:rPr lang="en-US" altLang="zh-CN" sz="2400" b="1" dirty="0">
                <a:solidFill>
                  <a:srgbClr val="3D7351"/>
                </a:solidFill>
                <a:latin typeface="微软雅黑" panose="020B0503020204020204" pitchFamily="34" charset="-122"/>
                <a:ea typeface="微软雅黑" panose="020B0503020204020204" pitchFamily="34" charset="-122"/>
              </a:rPr>
              <a:t>(HRRN)</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20" name="Group 8"/>
          <p:cNvGrpSpPr>
            <a:grpSpLocks/>
          </p:cNvGrpSpPr>
          <p:nvPr/>
        </p:nvGrpSpPr>
        <p:grpSpPr bwMode="auto">
          <a:xfrm>
            <a:off x="2319641" y="1115807"/>
            <a:ext cx="9072563" cy="4319587"/>
            <a:chOff x="68" y="754"/>
            <a:chExt cx="5715" cy="2721"/>
          </a:xfrm>
        </p:grpSpPr>
        <p:grpSp>
          <p:nvGrpSpPr>
            <p:cNvPr id="22" name="Group 9"/>
            <p:cNvGrpSpPr>
              <a:grpSpLocks/>
            </p:cNvGrpSpPr>
            <p:nvPr/>
          </p:nvGrpSpPr>
          <p:grpSpPr bwMode="auto">
            <a:xfrm>
              <a:off x="68" y="754"/>
              <a:ext cx="5715" cy="515"/>
              <a:chOff x="113" y="3051"/>
              <a:chExt cx="5715" cy="515"/>
            </a:xfrm>
          </p:grpSpPr>
          <p:sp>
            <p:nvSpPr>
              <p:cNvPr id="76" name="Line 10"/>
              <p:cNvSpPr>
                <a:spLocks noChangeShapeType="1"/>
              </p:cNvSpPr>
              <p:nvPr/>
            </p:nvSpPr>
            <p:spPr bwMode="auto">
              <a:xfrm>
                <a:off x="203" y="3566"/>
                <a:ext cx="54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1"/>
              <p:cNvSpPr>
                <a:spLocks noChangeShapeType="1"/>
              </p:cNvSpPr>
              <p:nvPr/>
            </p:nvSpPr>
            <p:spPr bwMode="auto">
              <a:xfrm>
                <a:off x="20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2"/>
              <p:cNvSpPr>
                <a:spLocks noChangeShapeType="1"/>
              </p:cNvSpPr>
              <p:nvPr/>
            </p:nvSpPr>
            <p:spPr bwMode="auto">
              <a:xfrm>
                <a:off x="47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13"/>
              <p:cNvSpPr>
                <a:spLocks noChangeShapeType="1"/>
              </p:cNvSpPr>
              <p:nvPr/>
            </p:nvSpPr>
            <p:spPr bwMode="auto">
              <a:xfrm>
                <a:off x="748"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14"/>
              <p:cNvSpPr>
                <a:spLocks noChangeShapeType="1"/>
              </p:cNvSpPr>
              <p:nvPr/>
            </p:nvSpPr>
            <p:spPr bwMode="auto">
              <a:xfrm>
                <a:off x="1020"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15"/>
              <p:cNvSpPr>
                <a:spLocks noChangeShapeType="1"/>
              </p:cNvSpPr>
              <p:nvPr/>
            </p:nvSpPr>
            <p:spPr bwMode="auto">
              <a:xfrm>
                <a:off x="1292"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16"/>
              <p:cNvSpPr>
                <a:spLocks noChangeShapeType="1"/>
              </p:cNvSpPr>
              <p:nvPr/>
            </p:nvSpPr>
            <p:spPr bwMode="auto">
              <a:xfrm>
                <a:off x="1564"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17"/>
              <p:cNvSpPr>
                <a:spLocks noChangeShapeType="1"/>
              </p:cNvSpPr>
              <p:nvPr/>
            </p:nvSpPr>
            <p:spPr bwMode="auto">
              <a:xfrm>
                <a:off x="183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18"/>
              <p:cNvSpPr>
                <a:spLocks noChangeShapeType="1"/>
              </p:cNvSpPr>
              <p:nvPr/>
            </p:nvSpPr>
            <p:spPr bwMode="auto">
              <a:xfrm>
                <a:off x="2108"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19"/>
              <p:cNvSpPr>
                <a:spLocks noChangeShapeType="1"/>
              </p:cNvSpPr>
              <p:nvPr/>
            </p:nvSpPr>
            <p:spPr bwMode="auto">
              <a:xfrm>
                <a:off x="2380"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20"/>
              <p:cNvSpPr>
                <a:spLocks noChangeShapeType="1"/>
              </p:cNvSpPr>
              <p:nvPr/>
            </p:nvSpPr>
            <p:spPr bwMode="auto">
              <a:xfrm>
                <a:off x="265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Line 21"/>
              <p:cNvSpPr>
                <a:spLocks noChangeShapeType="1"/>
              </p:cNvSpPr>
              <p:nvPr/>
            </p:nvSpPr>
            <p:spPr bwMode="auto">
              <a:xfrm>
                <a:off x="292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Text Box 22"/>
              <p:cNvSpPr txBox="1">
                <a:spLocks noChangeArrowheads="1"/>
              </p:cNvSpPr>
              <p:nvPr/>
            </p:nvSpPr>
            <p:spPr bwMode="auto">
              <a:xfrm>
                <a:off x="113" y="306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0</a:t>
                </a:r>
              </a:p>
            </p:txBody>
          </p:sp>
          <p:sp>
            <p:nvSpPr>
              <p:cNvPr id="89" name="Text Box 23"/>
              <p:cNvSpPr txBox="1">
                <a:spLocks noChangeArrowheads="1"/>
              </p:cNvSpPr>
              <p:nvPr/>
            </p:nvSpPr>
            <p:spPr bwMode="auto">
              <a:xfrm>
                <a:off x="1473" y="306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5</a:t>
                </a:r>
              </a:p>
            </p:txBody>
          </p:sp>
          <p:sp>
            <p:nvSpPr>
              <p:cNvPr id="90" name="Text Box 24"/>
              <p:cNvSpPr txBox="1">
                <a:spLocks noChangeArrowheads="1"/>
              </p:cNvSpPr>
              <p:nvPr/>
            </p:nvSpPr>
            <p:spPr bwMode="auto">
              <a:xfrm>
                <a:off x="2789" y="306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10</a:t>
                </a:r>
              </a:p>
            </p:txBody>
          </p:sp>
          <p:sp>
            <p:nvSpPr>
              <p:cNvPr id="91" name="Line 25"/>
              <p:cNvSpPr>
                <a:spLocks noChangeShapeType="1"/>
              </p:cNvSpPr>
              <p:nvPr/>
            </p:nvSpPr>
            <p:spPr bwMode="auto">
              <a:xfrm>
                <a:off x="319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26"/>
              <p:cNvSpPr>
                <a:spLocks noChangeShapeType="1"/>
              </p:cNvSpPr>
              <p:nvPr/>
            </p:nvSpPr>
            <p:spPr bwMode="auto">
              <a:xfrm>
                <a:off x="3469"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27"/>
              <p:cNvSpPr>
                <a:spLocks noChangeShapeType="1"/>
              </p:cNvSpPr>
              <p:nvPr/>
            </p:nvSpPr>
            <p:spPr bwMode="auto">
              <a:xfrm>
                <a:off x="3741"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28"/>
              <p:cNvSpPr>
                <a:spLocks noChangeShapeType="1"/>
              </p:cNvSpPr>
              <p:nvPr/>
            </p:nvSpPr>
            <p:spPr bwMode="auto">
              <a:xfrm>
                <a:off x="401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29"/>
              <p:cNvSpPr>
                <a:spLocks noChangeShapeType="1"/>
              </p:cNvSpPr>
              <p:nvPr/>
            </p:nvSpPr>
            <p:spPr bwMode="auto">
              <a:xfrm>
                <a:off x="428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30"/>
              <p:cNvSpPr>
                <a:spLocks noChangeShapeType="1"/>
              </p:cNvSpPr>
              <p:nvPr/>
            </p:nvSpPr>
            <p:spPr bwMode="auto">
              <a:xfrm>
                <a:off x="4557"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31"/>
              <p:cNvSpPr>
                <a:spLocks noChangeShapeType="1"/>
              </p:cNvSpPr>
              <p:nvPr/>
            </p:nvSpPr>
            <p:spPr bwMode="auto">
              <a:xfrm>
                <a:off x="4829"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32"/>
              <p:cNvSpPr>
                <a:spLocks noChangeShapeType="1"/>
              </p:cNvSpPr>
              <p:nvPr/>
            </p:nvSpPr>
            <p:spPr bwMode="auto">
              <a:xfrm>
                <a:off x="5101"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33"/>
              <p:cNvSpPr>
                <a:spLocks noChangeShapeType="1"/>
              </p:cNvSpPr>
              <p:nvPr/>
            </p:nvSpPr>
            <p:spPr bwMode="auto">
              <a:xfrm>
                <a:off x="5374"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34"/>
              <p:cNvSpPr>
                <a:spLocks noChangeShapeType="1"/>
              </p:cNvSpPr>
              <p:nvPr/>
            </p:nvSpPr>
            <p:spPr bwMode="auto">
              <a:xfrm>
                <a:off x="564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Text Box 35"/>
              <p:cNvSpPr txBox="1">
                <a:spLocks noChangeArrowheads="1"/>
              </p:cNvSpPr>
              <p:nvPr/>
            </p:nvSpPr>
            <p:spPr bwMode="auto">
              <a:xfrm>
                <a:off x="4105" y="306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15</a:t>
                </a:r>
              </a:p>
            </p:txBody>
          </p:sp>
          <p:sp>
            <p:nvSpPr>
              <p:cNvPr id="102" name="Text Box 36"/>
              <p:cNvSpPr txBox="1">
                <a:spLocks noChangeArrowheads="1"/>
              </p:cNvSpPr>
              <p:nvPr/>
            </p:nvSpPr>
            <p:spPr bwMode="auto">
              <a:xfrm>
                <a:off x="5465" y="305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20</a:t>
                </a:r>
              </a:p>
            </p:txBody>
          </p:sp>
        </p:grpSp>
        <p:grpSp>
          <p:nvGrpSpPr>
            <p:cNvPr id="23" name="Group 37"/>
            <p:cNvGrpSpPr>
              <a:grpSpLocks/>
            </p:cNvGrpSpPr>
            <p:nvPr/>
          </p:nvGrpSpPr>
          <p:grpSpPr bwMode="auto">
            <a:xfrm>
              <a:off x="68" y="1253"/>
              <a:ext cx="5715" cy="2222"/>
              <a:chOff x="68" y="1253"/>
              <a:chExt cx="5715" cy="2222"/>
            </a:xfrm>
          </p:grpSpPr>
          <p:grpSp>
            <p:nvGrpSpPr>
              <p:cNvPr id="24" name="Group 38"/>
              <p:cNvGrpSpPr>
                <a:grpSpLocks/>
              </p:cNvGrpSpPr>
              <p:nvPr/>
            </p:nvGrpSpPr>
            <p:grpSpPr bwMode="auto">
              <a:xfrm>
                <a:off x="68" y="2976"/>
                <a:ext cx="5715" cy="499"/>
                <a:chOff x="113" y="4020"/>
                <a:chExt cx="5715" cy="499"/>
              </a:xfrm>
            </p:grpSpPr>
            <p:sp>
              <p:nvSpPr>
                <p:cNvPr id="48" name="Line 39"/>
                <p:cNvSpPr>
                  <a:spLocks noChangeShapeType="1"/>
                </p:cNvSpPr>
                <p:nvPr/>
              </p:nvSpPr>
              <p:spPr bwMode="auto">
                <a:xfrm>
                  <a:off x="203" y="4020"/>
                  <a:ext cx="54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0"/>
                <p:cNvSpPr>
                  <a:spLocks noChangeShapeType="1"/>
                </p:cNvSpPr>
                <p:nvPr/>
              </p:nvSpPr>
              <p:spPr bwMode="auto">
                <a:xfrm>
                  <a:off x="20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41"/>
                <p:cNvSpPr>
                  <a:spLocks noChangeShapeType="1"/>
                </p:cNvSpPr>
                <p:nvPr/>
              </p:nvSpPr>
              <p:spPr bwMode="auto">
                <a:xfrm>
                  <a:off x="47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42"/>
                <p:cNvSpPr>
                  <a:spLocks noChangeShapeType="1"/>
                </p:cNvSpPr>
                <p:nvPr/>
              </p:nvSpPr>
              <p:spPr bwMode="auto">
                <a:xfrm>
                  <a:off x="748"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43"/>
                <p:cNvSpPr>
                  <a:spLocks noChangeShapeType="1"/>
                </p:cNvSpPr>
                <p:nvPr/>
              </p:nvSpPr>
              <p:spPr bwMode="auto">
                <a:xfrm>
                  <a:off x="1020"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44"/>
                <p:cNvSpPr>
                  <a:spLocks noChangeShapeType="1"/>
                </p:cNvSpPr>
                <p:nvPr/>
              </p:nvSpPr>
              <p:spPr bwMode="auto">
                <a:xfrm>
                  <a:off x="1292"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45"/>
                <p:cNvSpPr>
                  <a:spLocks noChangeShapeType="1"/>
                </p:cNvSpPr>
                <p:nvPr/>
              </p:nvSpPr>
              <p:spPr bwMode="auto">
                <a:xfrm>
                  <a:off x="1564"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46"/>
                <p:cNvSpPr>
                  <a:spLocks noChangeShapeType="1"/>
                </p:cNvSpPr>
                <p:nvPr/>
              </p:nvSpPr>
              <p:spPr bwMode="auto">
                <a:xfrm>
                  <a:off x="183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47"/>
                <p:cNvSpPr>
                  <a:spLocks noChangeShapeType="1"/>
                </p:cNvSpPr>
                <p:nvPr/>
              </p:nvSpPr>
              <p:spPr bwMode="auto">
                <a:xfrm>
                  <a:off x="2108"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48"/>
                <p:cNvSpPr>
                  <a:spLocks noChangeShapeType="1"/>
                </p:cNvSpPr>
                <p:nvPr/>
              </p:nvSpPr>
              <p:spPr bwMode="auto">
                <a:xfrm>
                  <a:off x="2380"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49"/>
                <p:cNvSpPr>
                  <a:spLocks noChangeShapeType="1"/>
                </p:cNvSpPr>
                <p:nvPr/>
              </p:nvSpPr>
              <p:spPr bwMode="auto">
                <a:xfrm>
                  <a:off x="265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0"/>
                <p:cNvSpPr>
                  <a:spLocks noChangeShapeType="1"/>
                </p:cNvSpPr>
                <p:nvPr/>
              </p:nvSpPr>
              <p:spPr bwMode="auto">
                <a:xfrm>
                  <a:off x="292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Text Box 51"/>
                <p:cNvSpPr txBox="1">
                  <a:spLocks noChangeArrowheads="1"/>
                </p:cNvSpPr>
                <p:nvPr/>
              </p:nvSpPr>
              <p:spPr bwMode="auto">
                <a:xfrm>
                  <a:off x="113" y="423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0</a:t>
                  </a:r>
                </a:p>
              </p:txBody>
            </p:sp>
            <p:sp>
              <p:nvSpPr>
                <p:cNvPr id="62" name="Text Box 52"/>
                <p:cNvSpPr txBox="1">
                  <a:spLocks noChangeArrowheads="1"/>
                </p:cNvSpPr>
                <p:nvPr/>
              </p:nvSpPr>
              <p:spPr bwMode="auto">
                <a:xfrm>
                  <a:off x="1473" y="423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5</a:t>
                  </a:r>
                </a:p>
              </p:txBody>
            </p:sp>
            <p:sp>
              <p:nvSpPr>
                <p:cNvPr id="63" name="Text Box 53"/>
                <p:cNvSpPr txBox="1">
                  <a:spLocks noChangeArrowheads="1"/>
                </p:cNvSpPr>
                <p:nvPr/>
              </p:nvSpPr>
              <p:spPr bwMode="auto">
                <a:xfrm>
                  <a:off x="2789" y="423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10</a:t>
                  </a:r>
                </a:p>
              </p:txBody>
            </p:sp>
            <p:sp>
              <p:nvSpPr>
                <p:cNvPr id="64" name="Line 54"/>
                <p:cNvSpPr>
                  <a:spLocks noChangeShapeType="1"/>
                </p:cNvSpPr>
                <p:nvPr/>
              </p:nvSpPr>
              <p:spPr bwMode="auto">
                <a:xfrm>
                  <a:off x="319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55"/>
                <p:cNvSpPr>
                  <a:spLocks noChangeShapeType="1"/>
                </p:cNvSpPr>
                <p:nvPr/>
              </p:nvSpPr>
              <p:spPr bwMode="auto">
                <a:xfrm>
                  <a:off x="3469"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56"/>
                <p:cNvSpPr>
                  <a:spLocks noChangeShapeType="1"/>
                </p:cNvSpPr>
                <p:nvPr/>
              </p:nvSpPr>
              <p:spPr bwMode="auto">
                <a:xfrm>
                  <a:off x="3741"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57"/>
                <p:cNvSpPr>
                  <a:spLocks noChangeShapeType="1"/>
                </p:cNvSpPr>
                <p:nvPr/>
              </p:nvSpPr>
              <p:spPr bwMode="auto">
                <a:xfrm>
                  <a:off x="401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58"/>
                <p:cNvSpPr>
                  <a:spLocks noChangeShapeType="1"/>
                </p:cNvSpPr>
                <p:nvPr/>
              </p:nvSpPr>
              <p:spPr bwMode="auto">
                <a:xfrm>
                  <a:off x="428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59"/>
                <p:cNvSpPr>
                  <a:spLocks noChangeShapeType="1"/>
                </p:cNvSpPr>
                <p:nvPr/>
              </p:nvSpPr>
              <p:spPr bwMode="auto">
                <a:xfrm>
                  <a:off x="4557"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60"/>
                <p:cNvSpPr>
                  <a:spLocks noChangeShapeType="1"/>
                </p:cNvSpPr>
                <p:nvPr/>
              </p:nvSpPr>
              <p:spPr bwMode="auto">
                <a:xfrm>
                  <a:off x="4829"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61"/>
                <p:cNvSpPr>
                  <a:spLocks noChangeShapeType="1"/>
                </p:cNvSpPr>
                <p:nvPr/>
              </p:nvSpPr>
              <p:spPr bwMode="auto">
                <a:xfrm>
                  <a:off x="5101"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62"/>
                <p:cNvSpPr>
                  <a:spLocks noChangeShapeType="1"/>
                </p:cNvSpPr>
                <p:nvPr/>
              </p:nvSpPr>
              <p:spPr bwMode="auto">
                <a:xfrm>
                  <a:off x="5374"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63"/>
                <p:cNvSpPr>
                  <a:spLocks noChangeShapeType="1"/>
                </p:cNvSpPr>
                <p:nvPr/>
              </p:nvSpPr>
              <p:spPr bwMode="auto">
                <a:xfrm>
                  <a:off x="564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Text Box 64"/>
                <p:cNvSpPr txBox="1">
                  <a:spLocks noChangeArrowheads="1"/>
                </p:cNvSpPr>
                <p:nvPr/>
              </p:nvSpPr>
              <p:spPr bwMode="auto">
                <a:xfrm>
                  <a:off x="4105" y="423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15</a:t>
                  </a:r>
                </a:p>
              </p:txBody>
            </p:sp>
            <p:sp>
              <p:nvSpPr>
                <p:cNvPr id="75" name="Text Box 65"/>
                <p:cNvSpPr txBox="1">
                  <a:spLocks noChangeArrowheads="1"/>
                </p:cNvSpPr>
                <p:nvPr/>
              </p:nvSpPr>
              <p:spPr bwMode="auto">
                <a:xfrm>
                  <a:off x="5465" y="4215"/>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20</a:t>
                  </a:r>
                </a:p>
              </p:txBody>
            </p:sp>
          </p:grpSp>
          <p:sp>
            <p:nvSpPr>
              <p:cNvPr id="25" name="Line 66"/>
              <p:cNvSpPr>
                <a:spLocks noChangeShapeType="1"/>
              </p:cNvSpPr>
              <p:nvPr/>
            </p:nvSpPr>
            <p:spPr bwMode="auto">
              <a:xfrm>
                <a:off x="15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67"/>
              <p:cNvSpPr>
                <a:spLocks noChangeShapeType="1"/>
              </p:cNvSpPr>
              <p:nvPr/>
            </p:nvSpPr>
            <p:spPr bwMode="auto">
              <a:xfrm>
                <a:off x="43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68"/>
              <p:cNvSpPr>
                <a:spLocks noChangeShapeType="1"/>
              </p:cNvSpPr>
              <p:nvPr/>
            </p:nvSpPr>
            <p:spPr bwMode="auto">
              <a:xfrm>
                <a:off x="703"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69"/>
              <p:cNvSpPr>
                <a:spLocks noChangeShapeType="1"/>
              </p:cNvSpPr>
              <p:nvPr/>
            </p:nvSpPr>
            <p:spPr bwMode="auto">
              <a:xfrm>
                <a:off x="975"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70"/>
              <p:cNvSpPr>
                <a:spLocks noChangeShapeType="1"/>
              </p:cNvSpPr>
              <p:nvPr/>
            </p:nvSpPr>
            <p:spPr bwMode="auto">
              <a:xfrm>
                <a:off x="1247"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71"/>
              <p:cNvSpPr>
                <a:spLocks noChangeShapeType="1"/>
              </p:cNvSpPr>
              <p:nvPr/>
            </p:nvSpPr>
            <p:spPr bwMode="auto">
              <a:xfrm>
                <a:off x="1519"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72"/>
              <p:cNvSpPr>
                <a:spLocks noChangeShapeType="1"/>
              </p:cNvSpPr>
              <p:nvPr/>
            </p:nvSpPr>
            <p:spPr bwMode="auto">
              <a:xfrm>
                <a:off x="179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73"/>
              <p:cNvSpPr>
                <a:spLocks noChangeShapeType="1"/>
              </p:cNvSpPr>
              <p:nvPr/>
            </p:nvSpPr>
            <p:spPr bwMode="auto">
              <a:xfrm>
                <a:off x="2064"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74"/>
              <p:cNvSpPr>
                <a:spLocks noChangeShapeType="1"/>
              </p:cNvSpPr>
              <p:nvPr/>
            </p:nvSpPr>
            <p:spPr bwMode="auto">
              <a:xfrm>
                <a:off x="2336"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75"/>
              <p:cNvSpPr>
                <a:spLocks noChangeShapeType="1"/>
              </p:cNvSpPr>
              <p:nvPr/>
            </p:nvSpPr>
            <p:spPr bwMode="auto">
              <a:xfrm>
                <a:off x="260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76"/>
              <p:cNvSpPr>
                <a:spLocks noChangeShapeType="1"/>
              </p:cNvSpPr>
              <p:nvPr/>
            </p:nvSpPr>
            <p:spPr bwMode="auto">
              <a:xfrm>
                <a:off x="2880"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77"/>
              <p:cNvSpPr>
                <a:spLocks noChangeShapeType="1"/>
              </p:cNvSpPr>
              <p:nvPr/>
            </p:nvSpPr>
            <p:spPr bwMode="auto">
              <a:xfrm>
                <a:off x="3152"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78"/>
              <p:cNvSpPr>
                <a:spLocks noChangeShapeType="1"/>
              </p:cNvSpPr>
              <p:nvPr/>
            </p:nvSpPr>
            <p:spPr bwMode="auto">
              <a:xfrm>
                <a:off x="3424"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79"/>
              <p:cNvSpPr>
                <a:spLocks noChangeShapeType="1"/>
              </p:cNvSpPr>
              <p:nvPr/>
            </p:nvSpPr>
            <p:spPr bwMode="auto">
              <a:xfrm>
                <a:off x="3696"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80"/>
              <p:cNvSpPr>
                <a:spLocks noChangeShapeType="1"/>
              </p:cNvSpPr>
              <p:nvPr/>
            </p:nvSpPr>
            <p:spPr bwMode="auto">
              <a:xfrm>
                <a:off x="396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81"/>
              <p:cNvSpPr>
                <a:spLocks noChangeShapeType="1"/>
              </p:cNvSpPr>
              <p:nvPr/>
            </p:nvSpPr>
            <p:spPr bwMode="auto">
              <a:xfrm>
                <a:off x="4240"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82"/>
              <p:cNvSpPr>
                <a:spLocks noChangeShapeType="1"/>
              </p:cNvSpPr>
              <p:nvPr/>
            </p:nvSpPr>
            <p:spPr bwMode="auto">
              <a:xfrm>
                <a:off x="4512"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83"/>
              <p:cNvSpPr>
                <a:spLocks noChangeShapeType="1"/>
              </p:cNvSpPr>
              <p:nvPr/>
            </p:nvSpPr>
            <p:spPr bwMode="auto">
              <a:xfrm>
                <a:off x="4785"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84"/>
              <p:cNvSpPr>
                <a:spLocks noChangeShapeType="1"/>
              </p:cNvSpPr>
              <p:nvPr/>
            </p:nvSpPr>
            <p:spPr bwMode="auto">
              <a:xfrm>
                <a:off x="5057"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85"/>
              <p:cNvSpPr>
                <a:spLocks noChangeShapeType="1"/>
              </p:cNvSpPr>
              <p:nvPr/>
            </p:nvSpPr>
            <p:spPr bwMode="auto">
              <a:xfrm>
                <a:off x="5329"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86"/>
              <p:cNvSpPr>
                <a:spLocks noChangeShapeType="1"/>
              </p:cNvSpPr>
              <p:nvPr/>
            </p:nvSpPr>
            <p:spPr bwMode="auto">
              <a:xfrm>
                <a:off x="560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03" name="Group 87"/>
          <p:cNvGrpSpPr>
            <a:grpSpLocks/>
          </p:cNvGrpSpPr>
          <p:nvPr/>
        </p:nvGrpSpPr>
        <p:grpSpPr bwMode="auto">
          <a:xfrm>
            <a:off x="2057703" y="2123869"/>
            <a:ext cx="414338" cy="2303463"/>
            <a:chOff x="-6" y="1389"/>
            <a:chExt cx="261" cy="1451"/>
          </a:xfrm>
        </p:grpSpPr>
        <p:sp>
          <p:nvSpPr>
            <p:cNvPr id="104" name="Text Box 88"/>
            <p:cNvSpPr txBox="1">
              <a:spLocks noChangeArrowheads="1"/>
            </p:cNvSpPr>
            <p:nvPr/>
          </p:nvSpPr>
          <p:spPr bwMode="auto">
            <a:xfrm>
              <a:off x="-6" y="138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A</a:t>
              </a:r>
            </a:p>
          </p:txBody>
        </p:sp>
        <p:sp>
          <p:nvSpPr>
            <p:cNvPr id="105" name="Text Box 89"/>
            <p:cNvSpPr txBox="1">
              <a:spLocks noChangeArrowheads="1"/>
            </p:cNvSpPr>
            <p:nvPr/>
          </p:nvSpPr>
          <p:spPr bwMode="auto">
            <a:xfrm>
              <a:off x="-6" y="170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B</a:t>
              </a:r>
            </a:p>
          </p:txBody>
        </p:sp>
        <p:sp>
          <p:nvSpPr>
            <p:cNvPr id="106" name="Text Box 90"/>
            <p:cNvSpPr txBox="1">
              <a:spLocks noChangeArrowheads="1"/>
            </p:cNvSpPr>
            <p:nvPr/>
          </p:nvSpPr>
          <p:spPr bwMode="auto">
            <a:xfrm>
              <a:off x="-6" y="197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C</a:t>
              </a:r>
            </a:p>
          </p:txBody>
        </p:sp>
        <p:sp>
          <p:nvSpPr>
            <p:cNvPr id="107" name="Text Box 91"/>
            <p:cNvSpPr txBox="1">
              <a:spLocks noChangeArrowheads="1"/>
            </p:cNvSpPr>
            <p:nvPr/>
          </p:nvSpPr>
          <p:spPr bwMode="auto">
            <a:xfrm>
              <a:off x="0" y="225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D</a:t>
              </a:r>
            </a:p>
          </p:txBody>
        </p:sp>
        <p:sp>
          <p:nvSpPr>
            <p:cNvPr id="108" name="Text Box 92"/>
            <p:cNvSpPr txBox="1">
              <a:spLocks noChangeArrowheads="1"/>
            </p:cNvSpPr>
            <p:nvPr/>
          </p:nvSpPr>
          <p:spPr bwMode="auto">
            <a:xfrm>
              <a:off x="0" y="25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E</a:t>
              </a:r>
            </a:p>
          </p:txBody>
        </p:sp>
      </p:grpSp>
      <p:sp>
        <p:nvSpPr>
          <p:cNvPr id="109" name="Rectangle 93"/>
          <p:cNvSpPr>
            <a:spLocks noChangeArrowheads="1"/>
          </p:cNvSpPr>
          <p:nvPr/>
        </p:nvSpPr>
        <p:spPr bwMode="auto">
          <a:xfrm>
            <a:off x="2462516" y="2195307"/>
            <a:ext cx="1296988"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0" name="Rectangle 94"/>
          <p:cNvSpPr>
            <a:spLocks noChangeArrowheads="1"/>
          </p:cNvSpPr>
          <p:nvPr/>
        </p:nvSpPr>
        <p:spPr bwMode="auto">
          <a:xfrm>
            <a:off x="3757916" y="2628694"/>
            <a:ext cx="2593975"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1" name="Rectangle 95"/>
          <p:cNvSpPr>
            <a:spLocks noChangeArrowheads="1"/>
          </p:cNvSpPr>
          <p:nvPr/>
        </p:nvSpPr>
        <p:spPr bwMode="auto">
          <a:xfrm>
            <a:off x="6351891" y="3060494"/>
            <a:ext cx="17272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2" name="Rectangle 96"/>
          <p:cNvSpPr>
            <a:spLocks noChangeArrowheads="1"/>
          </p:cNvSpPr>
          <p:nvPr/>
        </p:nvSpPr>
        <p:spPr bwMode="auto">
          <a:xfrm>
            <a:off x="8941104" y="3492294"/>
            <a:ext cx="2160587"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3" name="Rectangle 97"/>
          <p:cNvSpPr>
            <a:spLocks noChangeArrowheads="1"/>
          </p:cNvSpPr>
          <p:nvPr/>
        </p:nvSpPr>
        <p:spPr bwMode="auto">
          <a:xfrm>
            <a:off x="8077504" y="3924094"/>
            <a:ext cx="8636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4" name="矩形 92"/>
          <p:cNvSpPr>
            <a:spLocks noChangeArrowheads="1"/>
          </p:cNvSpPr>
          <p:nvPr/>
        </p:nvSpPr>
        <p:spPr bwMode="auto">
          <a:xfrm>
            <a:off x="2165654" y="5743369"/>
            <a:ext cx="29829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          0                       3</a:t>
            </a:r>
          </a:p>
          <a:p>
            <a:pPr eaLnBrk="1" hangingPunct="1"/>
            <a:r>
              <a:rPr lang="en-US" altLang="zh-CN" sz="2000" b="1">
                <a:solidFill>
                  <a:schemeClr val="tx1"/>
                </a:solidFill>
              </a:rPr>
              <a:t>B          2                       6</a:t>
            </a:r>
          </a:p>
          <a:p>
            <a:pPr eaLnBrk="1" hangingPunct="1"/>
            <a:r>
              <a:rPr lang="en-US" altLang="zh-CN" sz="2000" b="1">
                <a:solidFill>
                  <a:schemeClr val="tx1"/>
                </a:solidFill>
              </a:rPr>
              <a:t>C          4                       4</a:t>
            </a:r>
          </a:p>
        </p:txBody>
      </p:sp>
      <p:sp>
        <p:nvSpPr>
          <p:cNvPr id="115" name="矩形 93"/>
          <p:cNvSpPr>
            <a:spLocks noChangeArrowheads="1"/>
          </p:cNvSpPr>
          <p:nvPr/>
        </p:nvSpPr>
        <p:spPr bwMode="auto">
          <a:xfrm>
            <a:off x="2522841" y="5402057"/>
            <a:ext cx="3475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Arrival Time     Server Time</a:t>
            </a:r>
          </a:p>
        </p:txBody>
      </p:sp>
      <p:sp>
        <p:nvSpPr>
          <p:cNvPr id="116" name="矩形 94"/>
          <p:cNvSpPr>
            <a:spLocks noChangeArrowheads="1"/>
          </p:cNvSpPr>
          <p:nvPr/>
        </p:nvSpPr>
        <p:spPr bwMode="auto">
          <a:xfrm>
            <a:off x="6191554" y="5743369"/>
            <a:ext cx="2984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D          6                       5</a:t>
            </a:r>
          </a:p>
          <a:p>
            <a:pPr eaLnBrk="1" hangingPunct="1"/>
            <a:r>
              <a:rPr lang="en-US" altLang="zh-CN" sz="2000" b="1">
                <a:solidFill>
                  <a:schemeClr val="tx1"/>
                </a:solidFill>
              </a:rPr>
              <a:t>E          8                       2</a:t>
            </a:r>
          </a:p>
        </p:txBody>
      </p:sp>
      <p:sp>
        <p:nvSpPr>
          <p:cNvPr id="117" name="矩形 95"/>
          <p:cNvSpPr>
            <a:spLocks noChangeArrowheads="1"/>
          </p:cNvSpPr>
          <p:nvPr/>
        </p:nvSpPr>
        <p:spPr bwMode="auto">
          <a:xfrm>
            <a:off x="6548741" y="5402057"/>
            <a:ext cx="3475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Arrival Time     Server Time</a:t>
            </a:r>
          </a:p>
        </p:txBody>
      </p:sp>
      <p:cxnSp>
        <p:nvCxnSpPr>
          <p:cNvPr id="118" name="直接连接符 117"/>
          <p:cNvCxnSpPr/>
          <p:nvPr/>
        </p:nvCxnSpPr>
        <p:spPr bwMode="auto">
          <a:xfrm>
            <a:off x="2094216" y="5759244"/>
            <a:ext cx="3929063"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19" name="直接连接符 118"/>
          <p:cNvCxnSpPr/>
          <p:nvPr/>
        </p:nvCxnSpPr>
        <p:spPr bwMode="auto">
          <a:xfrm>
            <a:off x="6166154" y="5759244"/>
            <a:ext cx="3929062"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0" name="直接连接符 119"/>
          <p:cNvCxnSpPr/>
          <p:nvPr/>
        </p:nvCxnSpPr>
        <p:spPr bwMode="auto">
          <a:xfrm rot="5400000">
            <a:off x="1879110" y="6048963"/>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1" name="直接连接符 120"/>
          <p:cNvCxnSpPr/>
          <p:nvPr/>
        </p:nvCxnSpPr>
        <p:spPr bwMode="auto">
          <a:xfrm rot="5400000">
            <a:off x="5881197" y="6061663"/>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2" name="直接连接符 121"/>
          <p:cNvCxnSpPr/>
          <p:nvPr/>
        </p:nvCxnSpPr>
        <p:spPr bwMode="auto">
          <a:xfrm>
            <a:off x="2094216" y="5402057"/>
            <a:ext cx="3929063"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3" name="直接连接符 122"/>
          <p:cNvCxnSpPr/>
          <p:nvPr/>
        </p:nvCxnSpPr>
        <p:spPr bwMode="auto">
          <a:xfrm>
            <a:off x="2094216" y="6686344"/>
            <a:ext cx="3929063"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4" name="直接连接符 123"/>
          <p:cNvCxnSpPr/>
          <p:nvPr/>
        </p:nvCxnSpPr>
        <p:spPr bwMode="auto">
          <a:xfrm>
            <a:off x="6166154" y="5402057"/>
            <a:ext cx="3929062"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5" name="直接连接符 124"/>
          <p:cNvCxnSpPr/>
          <p:nvPr/>
        </p:nvCxnSpPr>
        <p:spPr bwMode="auto">
          <a:xfrm>
            <a:off x="6166154" y="6686344"/>
            <a:ext cx="3929062"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6" name="直接连接符 125"/>
          <p:cNvCxnSpPr/>
          <p:nvPr/>
        </p:nvCxnSpPr>
        <p:spPr bwMode="auto">
          <a:xfrm rot="5400000">
            <a:off x="1452072" y="6044201"/>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7" name="直接连接符 126"/>
          <p:cNvCxnSpPr/>
          <p:nvPr/>
        </p:nvCxnSpPr>
        <p:spPr bwMode="auto">
          <a:xfrm rot="5400000">
            <a:off x="5524010" y="6044201"/>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8" name="直接连接符 127"/>
          <p:cNvCxnSpPr/>
          <p:nvPr/>
        </p:nvCxnSpPr>
        <p:spPr bwMode="auto">
          <a:xfrm rot="5400000">
            <a:off x="5379547" y="6044201"/>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9" name="直接连接符 128"/>
          <p:cNvCxnSpPr/>
          <p:nvPr/>
        </p:nvCxnSpPr>
        <p:spPr bwMode="auto">
          <a:xfrm rot="5400000">
            <a:off x="3644410" y="6044201"/>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0" name="直接连接符 129"/>
          <p:cNvCxnSpPr/>
          <p:nvPr/>
        </p:nvCxnSpPr>
        <p:spPr bwMode="auto">
          <a:xfrm rot="5400000">
            <a:off x="7665547" y="6044201"/>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1" name="直接连接符 130"/>
          <p:cNvCxnSpPr/>
          <p:nvPr/>
        </p:nvCxnSpPr>
        <p:spPr bwMode="auto">
          <a:xfrm rot="5400000">
            <a:off x="9451485" y="6044201"/>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049112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wipe(left)">
                                      <p:cBhvr>
                                        <p:cTn id="7" dur="5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wipe(left)">
                                      <p:cBhvr>
                                        <p:cTn id="12" dur="500"/>
                                        <p:tgtEl>
                                          <p:spTgt spid="1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
                                        </p:tgtEl>
                                        <p:attrNameLst>
                                          <p:attrName>style.visibility</p:attrName>
                                        </p:attrNameLst>
                                      </p:cBhvr>
                                      <p:to>
                                        <p:strVal val="visible"/>
                                      </p:to>
                                    </p:set>
                                    <p:animEffect transition="in" filter="wipe(left)">
                                      <p:cBhvr>
                                        <p:cTn id="17" dur="500"/>
                                        <p:tgtEl>
                                          <p:spTgt spid="1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wipe(left)">
                                      <p:cBhvr>
                                        <p:cTn id="22" dur="500"/>
                                        <p:tgtEl>
                                          <p:spTgt spid="1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wipe(left)">
                                      <p:cBhvr>
                                        <p:cTn id="27"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10" grpId="0" animBg="1"/>
      <p:bldP spid="111" grpId="0" animBg="1"/>
      <p:bldP spid="112" grpId="0" animBg="1"/>
      <p:bldP spid="1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）轮转法的基本原理</a:t>
            </a:r>
          </a:p>
        </p:txBody>
      </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轮转调度算法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2" name="文本框 19"/>
          <p:cNvSpPr txBox="1">
            <a:spLocks noChangeArrowheads="1"/>
          </p:cNvSpPr>
          <p:nvPr/>
        </p:nvSpPr>
        <p:spPr bwMode="auto">
          <a:xfrm>
            <a:off x="1126172" y="1962899"/>
            <a:ext cx="10291796"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600" dirty="0"/>
              <a:t>将系统中所有的就绪进程按照</a:t>
            </a:r>
            <a:r>
              <a:rPr lang="en-US" altLang="zh-CN" sz="2600" dirty="0"/>
              <a:t>FCFS</a:t>
            </a:r>
            <a:r>
              <a:rPr lang="zh-CN" altLang="en-US" sz="2600" dirty="0"/>
              <a:t>原则，排成一个</a:t>
            </a:r>
            <a:r>
              <a:rPr lang="zh-CN" altLang="en-US" sz="2600" dirty="0">
                <a:solidFill>
                  <a:schemeClr val="accent2"/>
                </a:solidFill>
              </a:rPr>
              <a:t>队列</a:t>
            </a:r>
            <a:r>
              <a:rPr lang="zh-CN" altLang="en-US" sz="2600" dirty="0"/>
              <a:t>。</a:t>
            </a:r>
            <a:endParaRPr lang="en-US" altLang="zh-CN" sz="2600" dirty="0"/>
          </a:p>
          <a:p>
            <a:pPr marL="0" lvl="2" indent="0">
              <a:buBlip>
                <a:blip r:embed="rId3"/>
              </a:buBlip>
            </a:pPr>
            <a:r>
              <a:rPr lang="zh-CN" altLang="en-US" sz="2600" dirty="0"/>
              <a:t>每次调度时将</a:t>
            </a:r>
            <a:r>
              <a:rPr lang="en-US" altLang="zh-CN" sz="2600" dirty="0"/>
              <a:t>CPU</a:t>
            </a:r>
            <a:r>
              <a:rPr lang="zh-CN" altLang="en-US" sz="2600" dirty="0"/>
              <a:t>分派给</a:t>
            </a:r>
            <a:r>
              <a:rPr lang="zh-CN" altLang="en-US" sz="2600" dirty="0">
                <a:solidFill>
                  <a:schemeClr val="accent2"/>
                </a:solidFill>
              </a:rPr>
              <a:t>队首进程</a:t>
            </a:r>
            <a:r>
              <a:rPr lang="zh-CN" altLang="en-US" sz="2600" dirty="0"/>
              <a:t>，让其</a:t>
            </a:r>
            <a:r>
              <a:rPr lang="zh-CN" altLang="en-US" sz="2600" dirty="0">
                <a:solidFill>
                  <a:schemeClr val="accent2"/>
                </a:solidFill>
              </a:rPr>
              <a:t>执行一个时间片</a:t>
            </a:r>
            <a:r>
              <a:rPr lang="zh-CN" altLang="en-US" sz="2600" dirty="0"/>
              <a:t>。时间片的</a:t>
            </a:r>
            <a:r>
              <a:rPr lang="zh-CN" altLang="en-US" sz="2600" dirty="0">
                <a:solidFill>
                  <a:schemeClr val="accent2"/>
                </a:solidFill>
              </a:rPr>
              <a:t>长度</a:t>
            </a:r>
            <a:r>
              <a:rPr lang="zh-CN" altLang="en-US" sz="2600" dirty="0"/>
              <a:t>从几个</a:t>
            </a:r>
            <a:r>
              <a:rPr lang="en-US" altLang="zh-CN" sz="2600" dirty="0" err="1"/>
              <a:t>ms</a:t>
            </a:r>
            <a:r>
              <a:rPr lang="zh-CN" altLang="en-US" sz="2600" dirty="0"/>
              <a:t>到几百</a:t>
            </a:r>
            <a:r>
              <a:rPr lang="en-US" altLang="zh-CN" sz="2600" dirty="0" err="1"/>
              <a:t>ms</a:t>
            </a:r>
            <a:r>
              <a:rPr lang="zh-CN" altLang="en-US" sz="2600" dirty="0"/>
              <a:t>。</a:t>
            </a:r>
            <a:endParaRPr lang="en-US" altLang="zh-CN" sz="2600" dirty="0"/>
          </a:p>
          <a:p>
            <a:pPr marL="0" lvl="2" indent="0">
              <a:buBlip>
                <a:blip r:embed="rId3"/>
              </a:buBlip>
            </a:pPr>
            <a:r>
              <a:rPr lang="zh-CN" altLang="en-US" sz="2600" dirty="0"/>
              <a:t>在一个时间片结束时，发生</a:t>
            </a:r>
            <a:r>
              <a:rPr lang="zh-CN" altLang="en-US" sz="2600" dirty="0">
                <a:solidFill>
                  <a:schemeClr val="accent2"/>
                </a:solidFill>
              </a:rPr>
              <a:t>时钟中断</a:t>
            </a:r>
            <a:r>
              <a:rPr lang="zh-CN" altLang="en-US" sz="2600" dirty="0"/>
              <a:t>。</a:t>
            </a:r>
            <a:endParaRPr lang="en-US" altLang="zh-CN" sz="2600" dirty="0"/>
          </a:p>
          <a:p>
            <a:pPr marL="0" lvl="2" indent="0">
              <a:buBlip>
                <a:blip r:embed="rId3"/>
              </a:buBlip>
            </a:pPr>
            <a:r>
              <a:rPr lang="zh-CN" altLang="en-US" sz="2600" dirty="0"/>
              <a:t>调度程序据此</a:t>
            </a:r>
            <a:r>
              <a:rPr lang="zh-CN" altLang="en-US" sz="2600" dirty="0">
                <a:solidFill>
                  <a:schemeClr val="accent2"/>
                </a:solidFill>
              </a:rPr>
              <a:t>暂停当前进程的执行</a:t>
            </a:r>
            <a:r>
              <a:rPr lang="zh-CN" altLang="en-US" sz="2600" dirty="0"/>
              <a:t>，将其送到</a:t>
            </a:r>
            <a:r>
              <a:rPr lang="zh-CN" altLang="en-US" sz="2600" dirty="0">
                <a:solidFill>
                  <a:schemeClr val="accent2"/>
                </a:solidFill>
              </a:rPr>
              <a:t>就绪队列的末尾</a:t>
            </a:r>
            <a:r>
              <a:rPr lang="zh-CN" altLang="en-US" sz="2600" dirty="0"/>
              <a:t>，并通过上下文切换</a:t>
            </a:r>
            <a:r>
              <a:rPr lang="zh-CN" altLang="en-US" sz="2600" dirty="0">
                <a:solidFill>
                  <a:schemeClr val="accent2"/>
                </a:solidFill>
              </a:rPr>
              <a:t>执行当前的队首进程</a:t>
            </a:r>
            <a:r>
              <a:rPr lang="zh-CN" altLang="en-US" sz="2600" dirty="0"/>
              <a:t>。</a:t>
            </a:r>
            <a:endParaRPr lang="en-US" altLang="zh-CN" sz="2600" dirty="0"/>
          </a:p>
          <a:p>
            <a:pPr marL="0" lvl="2" indent="0">
              <a:buBlip>
                <a:blip r:embed="rId3"/>
              </a:buBlip>
            </a:pPr>
            <a:r>
              <a:rPr lang="zh-CN" altLang="en-US" sz="2600" dirty="0"/>
              <a:t>进程可以</a:t>
            </a:r>
            <a:r>
              <a:rPr lang="zh-CN" altLang="en-US" sz="2600" dirty="0">
                <a:solidFill>
                  <a:schemeClr val="accent2"/>
                </a:solidFill>
              </a:rPr>
              <a:t>未使用完一个时间片</a:t>
            </a:r>
            <a:r>
              <a:rPr lang="zh-CN" altLang="en-US" sz="2600" dirty="0"/>
              <a:t>，就</a:t>
            </a:r>
            <a:r>
              <a:rPr lang="zh-CN" altLang="en-US" sz="2600" dirty="0">
                <a:solidFill>
                  <a:schemeClr val="accent2"/>
                </a:solidFill>
              </a:rPr>
              <a:t>出让</a:t>
            </a:r>
            <a:r>
              <a:rPr lang="en-US" altLang="zh-CN" sz="2600" dirty="0"/>
              <a:t>CPU</a:t>
            </a:r>
            <a:endParaRPr lang="zh-CN" altLang="en-US" sz="2600" dirty="0"/>
          </a:p>
        </p:txBody>
      </p:sp>
      <p:pic>
        <p:nvPicPr>
          <p:cNvPr id="3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2316" y="4887097"/>
            <a:ext cx="2173287"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10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barn(inVertical)">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barn(inVertical)">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barn(inVertical)">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barn(inVertical)">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2">
                                            <p:txEl>
                                              <p:pRg st="4" end="4"/>
                                            </p:txEl>
                                          </p:spTgt>
                                        </p:tgtEl>
                                        <p:attrNameLst>
                                          <p:attrName>style.visibility</p:attrName>
                                        </p:attrNameLst>
                                      </p:cBhvr>
                                      <p:to>
                                        <p:strVal val="visible"/>
                                      </p:to>
                                    </p:set>
                                    <p:animEffect transition="in" filter="barn(inVertical)">
                                      <p:cBhvr>
                                        <p:cTn id="27"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3"/>
          <p:cNvSpPr/>
          <p:nvPr/>
        </p:nvSpPr>
        <p:spPr bwMode="gray">
          <a:xfrm flipV="1">
            <a:off x="1666294" y="3885248"/>
            <a:ext cx="1609352" cy="1453237"/>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5" name="箭头1"/>
          <p:cNvSpPr/>
          <p:nvPr/>
        </p:nvSpPr>
        <p:spPr bwMode="gray">
          <a:xfrm>
            <a:off x="1655944" y="2662849"/>
            <a:ext cx="1609352" cy="165444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6" name="文本1"/>
          <p:cNvSpPr>
            <a:spLocks noChangeArrowheads="1"/>
          </p:cNvSpPr>
          <p:nvPr/>
        </p:nvSpPr>
        <p:spPr bwMode="gray">
          <a:xfrm>
            <a:off x="5058697" y="1893325"/>
            <a:ext cx="5515897" cy="2016304"/>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7" name="标题1"/>
          <p:cNvSpPr>
            <a:spLocks noChangeArrowheads="1"/>
          </p:cNvSpPr>
          <p:nvPr/>
        </p:nvSpPr>
        <p:spPr bwMode="gray">
          <a:xfrm>
            <a:off x="3211616" y="2331164"/>
            <a:ext cx="1847082"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一个时间片尚未用完</a:t>
            </a:r>
            <a:endParaRPr kumimoji="0" lang="zh-CN" altLang="zh-CN" sz="2400" b="1" i="0" u="none" strike="noStrike" kern="1200" cap="none" spc="0" normalizeH="0" baseline="0" noProof="0" dirty="0">
              <a:ln>
                <a:noFill/>
              </a:ln>
              <a:solidFill>
                <a:sysClr val="window" lastClr="FFFFFF">
                  <a:lumMod val="95000"/>
                </a:sysClr>
              </a:solidFill>
              <a:effectLst/>
              <a:uLnTx/>
              <a:uFillTx/>
              <a:cs typeface="+mn-ea"/>
              <a:sym typeface="+mn-lt"/>
            </a:endParaRPr>
          </a:p>
        </p:txBody>
      </p:sp>
      <p:sp>
        <p:nvSpPr>
          <p:cNvPr id="10" name="文本3"/>
          <p:cNvSpPr>
            <a:spLocks noChangeArrowheads="1"/>
          </p:cNvSpPr>
          <p:nvPr/>
        </p:nvSpPr>
        <p:spPr bwMode="ltGray">
          <a:xfrm>
            <a:off x="5058696" y="4302549"/>
            <a:ext cx="5515897" cy="1800201"/>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lang="zh-CN" altLang="zh-CN" sz="1600" dirty="0">
              <a:solidFill>
                <a:srgbClr val="4D4D4D"/>
              </a:solidFill>
              <a:cs typeface="+mn-ea"/>
              <a:sym typeface="+mn-lt"/>
            </a:endParaRPr>
          </a:p>
        </p:txBody>
      </p:sp>
      <p:sp>
        <p:nvSpPr>
          <p:cNvPr id="11" name="标题3"/>
          <p:cNvSpPr>
            <a:spLocks noChangeArrowheads="1"/>
          </p:cNvSpPr>
          <p:nvPr/>
        </p:nvSpPr>
        <p:spPr bwMode="gray">
          <a:xfrm>
            <a:off x="3275646" y="4610621"/>
            <a:ext cx="1789401" cy="1154559"/>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一个时间片用完</a:t>
            </a:r>
            <a:endParaRPr lang="zh-CN" altLang="zh-CN" sz="2400" b="1" dirty="0">
              <a:solidFill>
                <a:sysClr val="window" lastClr="FFFFFF">
                  <a:lumMod val="95000"/>
                </a:sysClr>
              </a:solidFill>
              <a:cs typeface="+mn-ea"/>
              <a:sym typeface="+mn-lt"/>
            </a:endParaRPr>
          </a:p>
        </p:txBody>
      </p:sp>
      <p:sp>
        <p:nvSpPr>
          <p:cNvPr id="12" name="Oval 19"/>
          <p:cNvSpPr>
            <a:spLocks noChangeArrowheads="1"/>
          </p:cNvSpPr>
          <p:nvPr/>
        </p:nvSpPr>
        <p:spPr bwMode="auto">
          <a:xfrm>
            <a:off x="1139335" y="3351857"/>
            <a:ext cx="1440000" cy="1440000"/>
          </a:xfrm>
          <a:prstGeom prst="roundRect">
            <a:avLst/>
          </a:prstGeom>
          <a:ln/>
        </p:spPr>
        <p:style>
          <a:lnRef idx="3">
            <a:schemeClr val="lt1"/>
          </a:lnRef>
          <a:fillRef idx="1">
            <a:schemeClr val="accent6"/>
          </a:fillRef>
          <a:effectRef idx="1">
            <a:schemeClr val="accent6"/>
          </a:effectRef>
          <a:fontRef idx="minor">
            <a:schemeClr val="lt1"/>
          </a:fontRef>
        </p:style>
        <p:txBody>
          <a:bodyPr lIns="126000" rIns="126000" bIns="180000" anchor="ctr"/>
          <a:lstStyle/>
          <a:p>
            <a:pPr algn="ctr">
              <a:lnSpc>
                <a:spcPct val="120000"/>
              </a:lnSpc>
            </a:pPr>
            <a:r>
              <a:rPr lang="zh-CN" altLang="en-US" sz="2400" b="1" kern="0" dirty="0">
                <a:solidFill>
                  <a:srgbClr val="F9F9F9"/>
                </a:solidFill>
                <a:cs typeface="+mn-ea"/>
                <a:sym typeface="+mn-lt"/>
              </a:rPr>
              <a:t>切换</a:t>
            </a:r>
            <a:endParaRPr lang="en-US" altLang="zh-CN" sz="2400" b="1" kern="0" dirty="0">
              <a:solidFill>
                <a:srgbClr val="F9F9F9"/>
              </a:solidFill>
              <a:cs typeface="+mn-ea"/>
              <a:sym typeface="+mn-lt"/>
            </a:endParaRPr>
          </a:p>
          <a:p>
            <a:pPr algn="ctr">
              <a:lnSpc>
                <a:spcPct val="120000"/>
              </a:lnSpc>
            </a:pPr>
            <a:r>
              <a:rPr lang="zh-CN" altLang="en-US" sz="2400" b="1" kern="0" dirty="0">
                <a:solidFill>
                  <a:srgbClr val="F9F9F9"/>
                </a:solidFill>
                <a:cs typeface="+mn-ea"/>
                <a:sym typeface="+mn-lt"/>
              </a:rPr>
              <a:t>时机</a:t>
            </a:r>
          </a:p>
        </p:txBody>
      </p:sp>
      <p:sp>
        <p:nvSpPr>
          <p:cNvPr id="14" name="矩形 13"/>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矩形 1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）进程切换时机</a:t>
            </a:r>
          </a:p>
        </p:txBody>
      </p:sp>
      <p:sp>
        <p:nvSpPr>
          <p:cNvPr id="17" name="文本框 19"/>
          <p:cNvSpPr txBox="1">
            <a:spLocks noChangeArrowheads="1"/>
          </p:cNvSpPr>
          <p:nvPr/>
        </p:nvSpPr>
        <p:spPr bwMode="auto">
          <a:xfrm>
            <a:off x="5385191" y="2050952"/>
            <a:ext cx="515867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b="1" dirty="0"/>
              <a:t>原因：</a:t>
            </a:r>
            <a:r>
              <a:rPr lang="zh-CN" altLang="en-US" sz="2400" dirty="0"/>
              <a:t>进程运行结束；进程阻塞</a:t>
            </a:r>
            <a:endParaRPr lang="en-US" altLang="zh-CN" sz="2400" dirty="0"/>
          </a:p>
          <a:p>
            <a:pPr marL="0" lvl="2" indent="0">
              <a:buBlip>
                <a:blip r:embed="rId2"/>
              </a:buBlip>
            </a:pPr>
            <a:r>
              <a:rPr lang="zh-CN" altLang="en-US" sz="2400" b="1" dirty="0"/>
              <a:t>操作：</a:t>
            </a:r>
            <a:r>
              <a:rPr lang="zh-CN" altLang="en-US" sz="2400" dirty="0"/>
              <a:t>立即激活调度程序；调度就绪队列队首的进程运行；启动一个新的时间片。</a:t>
            </a:r>
            <a:endParaRPr lang="en-US" altLang="zh-CN" sz="2400" dirty="0"/>
          </a:p>
        </p:txBody>
      </p:sp>
      <p:sp>
        <p:nvSpPr>
          <p:cNvPr id="18" name="文本框 19"/>
          <p:cNvSpPr txBox="1">
            <a:spLocks noChangeArrowheads="1"/>
          </p:cNvSpPr>
          <p:nvPr/>
        </p:nvSpPr>
        <p:spPr bwMode="auto">
          <a:xfrm>
            <a:off x="5385191" y="4435672"/>
            <a:ext cx="504191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b="1" dirty="0"/>
              <a:t>原因：</a:t>
            </a:r>
            <a:r>
              <a:rPr lang="zh-CN" altLang="en-US" sz="2400" dirty="0"/>
              <a:t>进程尚未运行结束</a:t>
            </a:r>
            <a:endParaRPr lang="en-US" altLang="zh-CN" sz="2400" dirty="0"/>
          </a:p>
          <a:p>
            <a:pPr marL="0" lvl="2" indent="0">
              <a:buBlip>
                <a:blip r:embed="rId2"/>
              </a:buBlip>
            </a:pPr>
            <a:r>
              <a:rPr lang="zh-CN" altLang="en-US" sz="2400" b="1" dirty="0"/>
              <a:t>操作：</a:t>
            </a:r>
            <a:r>
              <a:rPr lang="zh-CN" altLang="en-US" sz="2400" dirty="0"/>
              <a:t>计时器中断处理程序激活；调度程序将进程送至就绪队列的末尾。</a:t>
            </a:r>
          </a:p>
        </p:txBody>
      </p:sp>
      <p:sp>
        <p:nvSpPr>
          <p:cNvPr id="19"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轮转调度算法</a:t>
            </a:r>
          </a:p>
        </p:txBody>
      </p:sp>
    </p:spTree>
    <p:extLst>
      <p:ext uri="{BB962C8B-B14F-4D97-AF65-F5344CB8AC3E}">
        <p14:creationId xmlns:p14="http://schemas.microsoft.com/office/powerpoint/2010/main" val="77927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trips(downLef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strips(downLeft)">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10" grpId="0" animBg="1"/>
      <p:bldP spid="11" grpId="0" animBg="1"/>
      <p:bldP spid="12" grpId="0" animBg="1"/>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78290" y="1120021"/>
            <a:ext cx="6377004" cy="665162"/>
            <a:chOff x="978290" y="1120021"/>
            <a:chExt cx="6377004" cy="665162"/>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）例：</a:t>
              </a: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轮转调度算法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15" name="Group 9"/>
          <p:cNvGrpSpPr>
            <a:grpSpLocks/>
          </p:cNvGrpSpPr>
          <p:nvPr/>
        </p:nvGrpSpPr>
        <p:grpSpPr bwMode="auto">
          <a:xfrm>
            <a:off x="2319641" y="1071563"/>
            <a:ext cx="9072563" cy="4319587"/>
            <a:chOff x="68" y="754"/>
            <a:chExt cx="5715" cy="2721"/>
          </a:xfrm>
        </p:grpSpPr>
        <p:grpSp>
          <p:nvGrpSpPr>
            <p:cNvPr id="16" name="Group 10"/>
            <p:cNvGrpSpPr>
              <a:grpSpLocks/>
            </p:cNvGrpSpPr>
            <p:nvPr/>
          </p:nvGrpSpPr>
          <p:grpSpPr bwMode="auto">
            <a:xfrm>
              <a:off x="68" y="754"/>
              <a:ext cx="5715" cy="515"/>
              <a:chOff x="113" y="3051"/>
              <a:chExt cx="5715" cy="515"/>
            </a:xfrm>
          </p:grpSpPr>
          <p:sp>
            <p:nvSpPr>
              <p:cNvPr id="72" name="Line 11"/>
              <p:cNvSpPr>
                <a:spLocks noChangeShapeType="1"/>
              </p:cNvSpPr>
              <p:nvPr/>
            </p:nvSpPr>
            <p:spPr bwMode="auto">
              <a:xfrm>
                <a:off x="203" y="3566"/>
                <a:ext cx="54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2"/>
              <p:cNvSpPr>
                <a:spLocks noChangeShapeType="1"/>
              </p:cNvSpPr>
              <p:nvPr/>
            </p:nvSpPr>
            <p:spPr bwMode="auto">
              <a:xfrm>
                <a:off x="20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3"/>
              <p:cNvSpPr>
                <a:spLocks noChangeShapeType="1"/>
              </p:cNvSpPr>
              <p:nvPr/>
            </p:nvSpPr>
            <p:spPr bwMode="auto">
              <a:xfrm>
                <a:off x="47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4"/>
              <p:cNvSpPr>
                <a:spLocks noChangeShapeType="1"/>
              </p:cNvSpPr>
              <p:nvPr/>
            </p:nvSpPr>
            <p:spPr bwMode="auto">
              <a:xfrm>
                <a:off x="748"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5"/>
              <p:cNvSpPr>
                <a:spLocks noChangeShapeType="1"/>
              </p:cNvSpPr>
              <p:nvPr/>
            </p:nvSpPr>
            <p:spPr bwMode="auto">
              <a:xfrm>
                <a:off x="1020"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6"/>
              <p:cNvSpPr>
                <a:spLocks noChangeShapeType="1"/>
              </p:cNvSpPr>
              <p:nvPr/>
            </p:nvSpPr>
            <p:spPr bwMode="auto">
              <a:xfrm>
                <a:off x="1292"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7"/>
              <p:cNvSpPr>
                <a:spLocks noChangeShapeType="1"/>
              </p:cNvSpPr>
              <p:nvPr/>
            </p:nvSpPr>
            <p:spPr bwMode="auto">
              <a:xfrm>
                <a:off x="1564"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18"/>
              <p:cNvSpPr>
                <a:spLocks noChangeShapeType="1"/>
              </p:cNvSpPr>
              <p:nvPr/>
            </p:nvSpPr>
            <p:spPr bwMode="auto">
              <a:xfrm>
                <a:off x="183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19"/>
              <p:cNvSpPr>
                <a:spLocks noChangeShapeType="1"/>
              </p:cNvSpPr>
              <p:nvPr/>
            </p:nvSpPr>
            <p:spPr bwMode="auto">
              <a:xfrm>
                <a:off x="2108"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0"/>
              <p:cNvSpPr>
                <a:spLocks noChangeShapeType="1"/>
              </p:cNvSpPr>
              <p:nvPr/>
            </p:nvSpPr>
            <p:spPr bwMode="auto">
              <a:xfrm>
                <a:off x="2380"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1"/>
              <p:cNvSpPr>
                <a:spLocks noChangeShapeType="1"/>
              </p:cNvSpPr>
              <p:nvPr/>
            </p:nvSpPr>
            <p:spPr bwMode="auto">
              <a:xfrm>
                <a:off x="265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22"/>
              <p:cNvSpPr>
                <a:spLocks noChangeShapeType="1"/>
              </p:cNvSpPr>
              <p:nvPr/>
            </p:nvSpPr>
            <p:spPr bwMode="auto">
              <a:xfrm>
                <a:off x="292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Text Box 23"/>
              <p:cNvSpPr txBox="1">
                <a:spLocks noChangeArrowheads="1"/>
              </p:cNvSpPr>
              <p:nvPr/>
            </p:nvSpPr>
            <p:spPr bwMode="auto">
              <a:xfrm>
                <a:off x="113" y="306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0</a:t>
                </a:r>
              </a:p>
            </p:txBody>
          </p:sp>
          <p:sp>
            <p:nvSpPr>
              <p:cNvPr id="85" name="Text Box 24"/>
              <p:cNvSpPr txBox="1">
                <a:spLocks noChangeArrowheads="1"/>
              </p:cNvSpPr>
              <p:nvPr/>
            </p:nvSpPr>
            <p:spPr bwMode="auto">
              <a:xfrm>
                <a:off x="1473" y="306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5</a:t>
                </a:r>
              </a:p>
            </p:txBody>
          </p:sp>
          <p:sp>
            <p:nvSpPr>
              <p:cNvPr id="86" name="Text Box 25"/>
              <p:cNvSpPr txBox="1">
                <a:spLocks noChangeArrowheads="1"/>
              </p:cNvSpPr>
              <p:nvPr/>
            </p:nvSpPr>
            <p:spPr bwMode="auto">
              <a:xfrm>
                <a:off x="2789" y="306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10</a:t>
                </a:r>
              </a:p>
            </p:txBody>
          </p:sp>
          <p:sp>
            <p:nvSpPr>
              <p:cNvPr id="87" name="Line 26"/>
              <p:cNvSpPr>
                <a:spLocks noChangeShapeType="1"/>
              </p:cNvSpPr>
              <p:nvPr/>
            </p:nvSpPr>
            <p:spPr bwMode="auto">
              <a:xfrm>
                <a:off x="319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27"/>
              <p:cNvSpPr>
                <a:spLocks noChangeShapeType="1"/>
              </p:cNvSpPr>
              <p:nvPr/>
            </p:nvSpPr>
            <p:spPr bwMode="auto">
              <a:xfrm>
                <a:off x="3469"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28"/>
              <p:cNvSpPr>
                <a:spLocks noChangeShapeType="1"/>
              </p:cNvSpPr>
              <p:nvPr/>
            </p:nvSpPr>
            <p:spPr bwMode="auto">
              <a:xfrm>
                <a:off x="3741"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29"/>
              <p:cNvSpPr>
                <a:spLocks noChangeShapeType="1"/>
              </p:cNvSpPr>
              <p:nvPr/>
            </p:nvSpPr>
            <p:spPr bwMode="auto">
              <a:xfrm>
                <a:off x="4013"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0"/>
              <p:cNvSpPr>
                <a:spLocks noChangeShapeType="1"/>
              </p:cNvSpPr>
              <p:nvPr/>
            </p:nvSpPr>
            <p:spPr bwMode="auto">
              <a:xfrm>
                <a:off x="4285"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31"/>
              <p:cNvSpPr>
                <a:spLocks noChangeShapeType="1"/>
              </p:cNvSpPr>
              <p:nvPr/>
            </p:nvSpPr>
            <p:spPr bwMode="auto">
              <a:xfrm>
                <a:off x="4557"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32"/>
              <p:cNvSpPr>
                <a:spLocks noChangeShapeType="1"/>
              </p:cNvSpPr>
              <p:nvPr/>
            </p:nvSpPr>
            <p:spPr bwMode="auto">
              <a:xfrm>
                <a:off x="4829"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33"/>
              <p:cNvSpPr>
                <a:spLocks noChangeShapeType="1"/>
              </p:cNvSpPr>
              <p:nvPr/>
            </p:nvSpPr>
            <p:spPr bwMode="auto">
              <a:xfrm>
                <a:off x="5101"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34"/>
              <p:cNvSpPr>
                <a:spLocks noChangeShapeType="1"/>
              </p:cNvSpPr>
              <p:nvPr/>
            </p:nvSpPr>
            <p:spPr bwMode="auto">
              <a:xfrm>
                <a:off x="5374"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35"/>
              <p:cNvSpPr>
                <a:spLocks noChangeShapeType="1"/>
              </p:cNvSpPr>
              <p:nvPr/>
            </p:nvSpPr>
            <p:spPr bwMode="auto">
              <a:xfrm>
                <a:off x="5646" y="338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Text Box 36"/>
              <p:cNvSpPr txBox="1">
                <a:spLocks noChangeArrowheads="1"/>
              </p:cNvSpPr>
              <p:nvPr/>
            </p:nvSpPr>
            <p:spPr bwMode="auto">
              <a:xfrm>
                <a:off x="4105" y="306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15</a:t>
                </a:r>
              </a:p>
            </p:txBody>
          </p:sp>
          <p:sp>
            <p:nvSpPr>
              <p:cNvPr id="98" name="Text Box 37"/>
              <p:cNvSpPr txBox="1">
                <a:spLocks noChangeArrowheads="1"/>
              </p:cNvSpPr>
              <p:nvPr/>
            </p:nvSpPr>
            <p:spPr bwMode="auto">
              <a:xfrm>
                <a:off x="5465" y="305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20</a:t>
                </a:r>
              </a:p>
            </p:txBody>
          </p:sp>
        </p:grpSp>
        <p:grpSp>
          <p:nvGrpSpPr>
            <p:cNvPr id="17" name="Group 38"/>
            <p:cNvGrpSpPr>
              <a:grpSpLocks/>
            </p:cNvGrpSpPr>
            <p:nvPr/>
          </p:nvGrpSpPr>
          <p:grpSpPr bwMode="auto">
            <a:xfrm>
              <a:off x="68" y="1253"/>
              <a:ext cx="5715" cy="2222"/>
              <a:chOff x="68" y="1253"/>
              <a:chExt cx="5715" cy="2222"/>
            </a:xfrm>
          </p:grpSpPr>
          <p:grpSp>
            <p:nvGrpSpPr>
              <p:cNvPr id="18" name="Group 39"/>
              <p:cNvGrpSpPr>
                <a:grpSpLocks/>
              </p:cNvGrpSpPr>
              <p:nvPr/>
            </p:nvGrpSpPr>
            <p:grpSpPr bwMode="auto">
              <a:xfrm>
                <a:off x="68" y="2976"/>
                <a:ext cx="5715" cy="499"/>
                <a:chOff x="113" y="4020"/>
                <a:chExt cx="5715" cy="499"/>
              </a:xfrm>
            </p:grpSpPr>
            <p:sp>
              <p:nvSpPr>
                <p:cNvPr id="44" name="Line 40"/>
                <p:cNvSpPr>
                  <a:spLocks noChangeShapeType="1"/>
                </p:cNvSpPr>
                <p:nvPr/>
              </p:nvSpPr>
              <p:spPr bwMode="auto">
                <a:xfrm>
                  <a:off x="203" y="4020"/>
                  <a:ext cx="54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1"/>
                <p:cNvSpPr>
                  <a:spLocks noChangeShapeType="1"/>
                </p:cNvSpPr>
                <p:nvPr/>
              </p:nvSpPr>
              <p:spPr bwMode="auto">
                <a:xfrm>
                  <a:off x="20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2"/>
                <p:cNvSpPr>
                  <a:spLocks noChangeShapeType="1"/>
                </p:cNvSpPr>
                <p:nvPr/>
              </p:nvSpPr>
              <p:spPr bwMode="auto">
                <a:xfrm>
                  <a:off x="47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3"/>
                <p:cNvSpPr>
                  <a:spLocks noChangeShapeType="1"/>
                </p:cNvSpPr>
                <p:nvPr/>
              </p:nvSpPr>
              <p:spPr bwMode="auto">
                <a:xfrm>
                  <a:off x="748"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4"/>
                <p:cNvSpPr>
                  <a:spLocks noChangeShapeType="1"/>
                </p:cNvSpPr>
                <p:nvPr/>
              </p:nvSpPr>
              <p:spPr bwMode="auto">
                <a:xfrm>
                  <a:off x="1020"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5"/>
                <p:cNvSpPr>
                  <a:spLocks noChangeShapeType="1"/>
                </p:cNvSpPr>
                <p:nvPr/>
              </p:nvSpPr>
              <p:spPr bwMode="auto">
                <a:xfrm>
                  <a:off x="1292"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46"/>
                <p:cNvSpPr>
                  <a:spLocks noChangeShapeType="1"/>
                </p:cNvSpPr>
                <p:nvPr/>
              </p:nvSpPr>
              <p:spPr bwMode="auto">
                <a:xfrm>
                  <a:off x="1564"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47"/>
                <p:cNvSpPr>
                  <a:spLocks noChangeShapeType="1"/>
                </p:cNvSpPr>
                <p:nvPr/>
              </p:nvSpPr>
              <p:spPr bwMode="auto">
                <a:xfrm>
                  <a:off x="183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48"/>
                <p:cNvSpPr>
                  <a:spLocks noChangeShapeType="1"/>
                </p:cNvSpPr>
                <p:nvPr/>
              </p:nvSpPr>
              <p:spPr bwMode="auto">
                <a:xfrm>
                  <a:off x="2108"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49"/>
                <p:cNvSpPr>
                  <a:spLocks noChangeShapeType="1"/>
                </p:cNvSpPr>
                <p:nvPr/>
              </p:nvSpPr>
              <p:spPr bwMode="auto">
                <a:xfrm>
                  <a:off x="2380"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0"/>
                <p:cNvSpPr>
                  <a:spLocks noChangeShapeType="1"/>
                </p:cNvSpPr>
                <p:nvPr/>
              </p:nvSpPr>
              <p:spPr bwMode="auto">
                <a:xfrm>
                  <a:off x="265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1"/>
                <p:cNvSpPr>
                  <a:spLocks noChangeShapeType="1"/>
                </p:cNvSpPr>
                <p:nvPr/>
              </p:nvSpPr>
              <p:spPr bwMode="auto">
                <a:xfrm>
                  <a:off x="292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Text Box 52"/>
                <p:cNvSpPr txBox="1">
                  <a:spLocks noChangeArrowheads="1"/>
                </p:cNvSpPr>
                <p:nvPr/>
              </p:nvSpPr>
              <p:spPr bwMode="auto">
                <a:xfrm>
                  <a:off x="113" y="423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0</a:t>
                  </a:r>
                </a:p>
              </p:txBody>
            </p:sp>
            <p:sp>
              <p:nvSpPr>
                <p:cNvPr id="58" name="Text Box 53"/>
                <p:cNvSpPr txBox="1">
                  <a:spLocks noChangeArrowheads="1"/>
                </p:cNvSpPr>
                <p:nvPr/>
              </p:nvSpPr>
              <p:spPr bwMode="auto">
                <a:xfrm>
                  <a:off x="1473" y="4231"/>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5</a:t>
                  </a:r>
                </a:p>
              </p:txBody>
            </p:sp>
            <p:sp>
              <p:nvSpPr>
                <p:cNvPr id="59" name="Text Box 54"/>
                <p:cNvSpPr txBox="1">
                  <a:spLocks noChangeArrowheads="1"/>
                </p:cNvSpPr>
                <p:nvPr/>
              </p:nvSpPr>
              <p:spPr bwMode="auto">
                <a:xfrm>
                  <a:off x="2789" y="423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10</a:t>
                  </a:r>
                </a:p>
              </p:txBody>
            </p:sp>
            <p:sp>
              <p:nvSpPr>
                <p:cNvPr id="60" name="Line 55"/>
                <p:cNvSpPr>
                  <a:spLocks noChangeShapeType="1"/>
                </p:cNvSpPr>
                <p:nvPr/>
              </p:nvSpPr>
              <p:spPr bwMode="auto">
                <a:xfrm>
                  <a:off x="319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56"/>
                <p:cNvSpPr>
                  <a:spLocks noChangeShapeType="1"/>
                </p:cNvSpPr>
                <p:nvPr/>
              </p:nvSpPr>
              <p:spPr bwMode="auto">
                <a:xfrm>
                  <a:off x="3469"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57"/>
                <p:cNvSpPr>
                  <a:spLocks noChangeShapeType="1"/>
                </p:cNvSpPr>
                <p:nvPr/>
              </p:nvSpPr>
              <p:spPr bwMode="auto">
                <a:xfrm>
                  <a:off x="3741"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58"/>
                <p:cNvSpPr>
                  <a:spLocks noChangeShapeType="1"/>
                </p:cNvSpPr>
                <p:nvPr/>
              </p:nvSpPr>
              <p:spPr bwMode="auto">
                <a:xfrm>
                  <a:off x="4013"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59"/>
                <p:cNvSpPr>
                  <a:spLocks noChangeShapeType="1"/>
                </p:cNvSpPr>
                <p:nvPr/>
              </p:nvSpPr>
              <p:spPr bwMode="auto">
                <a:xfrm>
                  <a:off x="4285"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0"/>
                <p:cNvSpPr>
                  <a:spLocks noChangeShapeType="1"/>
                </p:cNvSpPr>
                <p:nvPr/>
              </p:nvSpPr>
              <p:spPr bwMode="auto">
                <a:xfrm>
                  <a:off x="4557"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1"/>
                <p:cNvSpPr>
                  <a:spLocks noChangeShapeType="1"/>
                </p:cNvSpPr>
                <p:nvPr/>
              </p:nvSpPr>
              <p:spPr bwMode="auto">
                <a:xfrm>
                  <a:off x="4829"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2"/>
                <p:cNvSpPr>
                  <a:spLocks noChangeShapeType="1"/>
                </p:cNvSpPr>
                <p:nvPr/>
              </p:nvSpPr>
              <p:spPr bwMode="auto">
                <a:xfrm>
                  <a:off x="5101"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63"/>
                <p:cNvSpPr>
                  <a:spLocks noChangeShapeType="1"/>
                </p:cNvSpPr>
                <p:nvPr/>
              </p:nvSpPr>
              <p:spPr bwMode="auto">
                <a:xfrm>
                  <a:off x="5374"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64"/>
                <p:cNvSpPr>
                  <a:spLocks noChangeShapeType="1"/>
                </p:cNvSpPr>
                <p:nvPr/>
              </p:nvSpPr>
              <p:spPr bwMode="auto">
                <a:xfrm>
                  <a:off x="5646" y="4020"/>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Text Box 65"/>
                <p:cNvSpPr txBox="1">
                  <a:spLocks noChangeArrowheads="1"/>
                </p:cNvSpPr>
                <p:nvPr/>
              </p:nvSpPr>
              <p:spPr bwMode="auto">
                <a:xfrm>
                  <a:off x="4105" y="4231"/>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15</a:t>
                  </a:r>
                </a:p>
              </p:txBody>
            </p:sp>
            <p:sp>
              <p:nvSpPr>
                <p:cNvPr id="71" name="Text Box 66"/>
                <p:cNvSpPr txBox="1">
                  <a:spLocks noChangeArrowheads="1"/>
                </p:cNvSpPr>
                <p:nvPr/>
              </p:nvSpPr>
              <p:spPr bwMode="auto">
                <a:xfrm>
                  <a:off x="5465" y="4215"/>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kumimoji="1" lang="en-US" altLang="zh-CN" b="1">
                      <a:solidFill>
                        <a:schemeClr val="tx1"/>
                      </a:solidFill>
                      <a:latin typeface="Times New Roman" pitchFamily="18" charset="0"/>
                    </a:rPr>
                    <a:t>20</a:t>
                  </a:r>
                </a:p>
              </p:txBody>
            </p:sp>
          </p:grpSp>
          <p:sp>
            <p:nvSpPr>
              <p:cNvPr id="19" name="Line 67"/>
              <p:cNvSpPr>
                <a:spLocks noChangeShapeType="1"/>
              </p:cNvSpPr>
              <p:nvPr/>
            </p:nvSpPr>
            <p:spPr bwMode="auto">
              <a:xfrm>
                <a:off x="15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68"/>
              <p:cNvSpPr>
                <a:spLocks noChangeShapeType="1"/>
              </p:cNvSpPr>
              <p:nvPr/>
            </p:nvSpPr>
            <p:spPr bwMode="auto">
              <a:xfrm>
                <a:off x="43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69"/>
              <p:cNvSpPr>
                <a:spLocks noChangeShapeType="1"/>
              </p:cNvSpPr>
              <p:nvPr/>
            </p:nvSpPr>
            <p:spPr bwMode="auto">
              <a:xfrm>
                <a:off x="703"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70"/>
              <p:cNvSpPr>
                <a:spLocks noChangeShapeType="1"/>
              </p:cNvSpPr>
              <p:nvPr/>
            </p:nvSpPr>
            <p:spPr bwMode="auto">
              <a:xfrm>
                <a:off x="975"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71"/>
              <p:cNvSpPr>
                <a:spLocks noChangeShapeType="1"/>
              </p:cNvSpPr>
              <p:nvPr/>
            </p:nvSpPr>
            <p:spPr bwMode="auto">
              <a:xfrm>
                <a:off x="1247"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72"/>
              <p:cNvSpPr>
                <a:spLocks noChangeShapeType="1"/>
              </p:cNvSpPr>
              <p:nvPr/>
            </p:nvSpPr>
            <p:spPr bwMode="auto">
              <a:xfrm>
                <a:off x="1519"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73"/>
              <p:cNvSpPr>
                <a:spLocks noChangeShapeType="1"/>
              </p:cNvSpPr>
              <p:nvPr/>
            </p:nvSpPr>
            <p:spPr bwMode="auto">
              <a:xfrm>
                <a:off x="179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74"/>
              <p:cNvSpPr>
                <a:spLocks noChangeShapeType="1"/>
              </p:cNvSpPr>
              <p:nvPr/>
            </p:nvSpPr>
            <p:spPr bwMode="auto">
              <a:xfrm>
                <a:off x="2064"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75"/>
              <p:cNvSpPr>
                <a:spLocks noChangeShapeType="1"/>
              </p:cNvSpPr>
              <p:nvPr/>
            </p:nvSpPr>
            <p:spPr bwMode="auto">
              <a:xfrm>
                <a:off x="2336"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76"/>
              <p:cNvSpPr>
                <a:spLocks noChangeShapeType="1"/>
              </p:cNvSpPr>
              <p:nvPr/>
            </p:nvSpPr>
            <p:spPr bwMode="auto">
              <a:xfrm>
                <a:off x="260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77"/>
              <p:cNvSpPr>
                <a:spLocks noChangeShapeType="1"/>
              </p:cNvSpPr>
              <p:nvPr/>
            </p:nvSpPr>
            <p:spPr bwMode="auto">
              <a:xfrm>
                <a:off x="2880"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78"/>
              <p:cNvSpPr>
                <a:spLocks noChangeShapeType="1"/>
              </p:cNvSpPr>
              <p:nvPr/>
            </p:nvSpPr>
            <p:spPr bwMode="auto">
              <a:xfrm>
                <a:off x="3152"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79"/>
              <p:cNvSpPr>
                <a:spLocks noChangeShapeType="1"/>
              </p:cNvSpPr>
              <p:nvPr/>
            </p:nvSpPr>
            <p:spPr bwMode="auto">
              <a:xfrm>
                <a:off x="3424"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80"/>
              <p:cNvSpPr>
                <a:spLocks noChangeShapeType="1"/>
              </p:cNvSpPr>
              <p:nvPr/>
            </p:nvSpPr>
            <p:spPr bwMode="auto">
              <a:xfrm>
                <a:off x="3696"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81"/>
              <p:cNvSpPr>
                <a:spLocks noChangeShapeType="1"/>
              </p:cNvSpPr>
              <p:nvPr/>
            </p:nvSpPr>
            <p:spPr bwMode="auto">
              <a:xfrm>
                <a:off x="3968"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82"/>
              <p:cNvSpPr>
                <a:spLocks noChangeShapeType="1"/>
              </p:cNvSpPr>
              <p:nvPr/>
            </p:nvSpPr>
            <p:spPr bwMode="auto">
              <a:xfrm>
                <a:off x="4240"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83"/>
              <p:cNvSpPr>
                <a:spLocks noChangeShapeType="1"/>
              </p:cNvSpPr>
              <p:nvPr/>
            </p:nvSpPr>
            <p:spPr bwMode="auto">
              <a:xfrm>
                <a:off x="4512"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84"/>
              <p:cNvSpPr>
                <a:spLocks noChangeShapeType="1"/>
              </p:cNvSpPr>
              <p:nvPr/>
            </p:nvSpPr>
            <p:spPr bwMode="auto">
              <a:xfrm>
                <a:off x="4785"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85"/>
              <p:cNvSpPr>
                <a:spLocks noChangeShapeType="1"/>
              </p:cNvSpPr>
              <p:nvPr/>
            </p:nvSpPr>
            <p:spPr bwMode="auto">
              <a:xfrm>
                <a:off x="5057"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86"/>
              <p:cNvSpPr>
                <a:spLocks noChangeShapeType="1"/>
              </p:cNvSpPr>
              <p:nvPr/>
            </p:nvSpPr>
            <p:spPr bwMode="auto">
              <a:xfrm>
                <a:off x="5329"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87"/>
              <p:cNvSpPr>
                <a:spLocks noChangeShapeType="1"/>
              </p:cNvSpPr>
              <p:nvPr/>
            </p:nvSpPr>
            <p:spPr bwMode="auto">
              <a:xfrm>
                <a:off x="5601" y="1253"/>
                <a:ext cx="0" cy="17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9" name="Group 88"/>
          <p:cNvGrpSpPr>
            <a:grpSpLocks/>
          </p:cNvGrpSpPr>
          <p:nvPr/>
        </p:nvGrpSpPr>
        <p:grpSpPr bwMode="auto">
          <a:xfrm>
            <a:off x="2057703" y="2079625"/>
            <a:ext cx="414338" cy="2303463"/>
            <a:chOff x="-6" y="1389"/>
            <a:chExt cx="261" cy="1451"/>
          </a:xfrm>
        </p:grpSpPr>
        <p:sp>
          <p:nvSpPr>
            <p:cNvPr id="100" name="Text Box 89"/>
            <p:cNvSpPr txBox="1">
              <a:spLocks noChangeArrowheads="1"/>
            </p:cNvSpPr>
            <p:nvPr/>
          </p:nvSpPr>
          <p:spPr bwMode="auto">
            <a:xfrm>
              <a:off x="-6" y="138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A</a:t>
              </a:r>
            </a:p>
          </p:txBody>
        </p:sp>
        <p:sp>
          <p:nvSpPr>
            <p:cNvPr id="101" name="Text Box 90"/>
            <p:cNvSpPr txBox="1">
              <a:spLocks noChangeArrowheads="1"/>
            </p:cNvSpPr>
            <p:nvPr/>
          </p:nvSpPr>
          <p:spPr bwMode="auto">
            <a:xfrm>
              <a:off x="-6" y="170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B</a:t>
              </a:r>
            </a:p>
          </p:txBody>
        </p:sp>
        <p:sp>
          <p:nvSpPr>
            <p:cNvPr id="102" name="Text Box 91"/>
            <p:cNvSpPr txBox="1">
              <a:spLocks noChangeArrowheads="1"/>
            </p:cNvSpPr>
            <p:nvPr/>
          </p:nvSpPr>
          <p:spPr bwMode="auto">
            <a:xfrm>
              <a:off x="-6" y="197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C</a:t>
              </a:r>
            </a:p>
          </p:txBody>
        </p:sp>
        <p:sp>
          <p:nvSpPr>
            <p:cNvPr id="103" name="Text Box 92"/>
            <p:cNvSpPr txBox="1">
              <a:spLocks noChangeArrowheads="1"/>
            </p:cNvSpPr>
            <p:nvPr/>
          </p:nvSpPr>
          <p:spPr bwMode="auto">
            <a:xfrm>
              <a:off x="0" y="225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D</a:t>
              </a:r>
            </a:p>
          </p:txBody>
        </p:sp>
        <p:sp>
          <p:nvSpPr>
            <p:cNvPr id="104" name="Text Box 93"/>
            <p:cNvSpPr txBox="1">
              <a:spLocks noChangeArrowheads="1"/>
            </p:cNvSpPr>
            <p:nvPr/>
          </p:nvSpPr>
          <p:spPr bwMode="auto">
            <a:xfrm>
              <a:off x="0" y="25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chemeClr val="tx1"/>
                  </a:solidFill>
                  <a:latin typeface="Times New Roman" pitchFamily="18" charset="0"/>
                </a:rPr>
                <a:t>E</a:t>
              </a:r>
            </a:p>
          </p:txBody>
        </p:sp>
      </p:grpSp>
      <p:sp>
        <p:nvSpPr>
          <p:cNvPr id="105" name="Rectangle 94"/>
          <p:cNvSpPr>
            <a:spLocks noChangeArrowheads="1"/>
          </p:cNvSpPr>
          <p:nvPr/>
        </p:nvSpPr>
        <p:spPr bwMode="auto">
          <a:xfrm>
            <a:off x="2457754" y="2151063"/>
            <a:ext cx="871537"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06" name="Rectangle 95"/>
          <p:cNvSpPr>
            <a:spLocks noChangeArrowheads="1"/>
          </p:cNvSpPr>
          <p:nvPr/>
        </p:nvSpPr>
        <p:spPr bwMode="auto">
          <a:xfrm>
            <a:off x="3326116" y="2584450"/>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07" name="Rectangle 99"/>
          <p:cNvSpPr>
            <a:spLocks noChangeArrowheads="1"/>
          </p:cNvSpPr>
          <p:nvPr/>
        </p:nvSpPr>
        <p:spPr bwMode="auto">
          <a:xfrm>
            <a:off x="3757916" y="21510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08" name="Rectangle 100"/>
          <p:cNvSpPr>
            <a:spLocks noChangeArrowheads="1"/>
          </p:cNvSpPr>
          <p:nvPr/>
        </p:nvSpPr>
        <p:spPr bwMode="auto">
          <a:xfrm>
            <a:off x="4189716" y="25828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09" name="Rectangle 101"/>
          <p:cNvSpPr>
            <a:spLocks noChangeArrowheads="1"/>
          </p:cNvSpPr>
          <p:nvPr/>
        </p:nvSpPr>
        <p:spPr bwMode="auto">
          <a:xfrm>
            <a:off x="4621516" y="30146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0" name="Rectangle 102"/>
          <p:cNvSpPr>
            <a:spLocks noChangeArrowheads="1"/>
          </p:cNvSpPr>
          <p:nvPr/>
        </p:nvSpPr>
        <p:spPr bwMode="auto">
          <a:xfrm>
            <a:off x="5053316" y="25828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1" name="Rectangle 103"/>
          <p:cNvSpPr>
            <a:spLocks noChangeArrowheads="1"/>
          </p:cNvSpPr>
          <p:nvPr/>
        </p:nvSpPr>
        <p:spPr bwMode="auto">
          <a:xfrm>
            <a:off x="5485116" y="3448050"/>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2" name="Rectangle 104"/>
          <p:cNvSpPr>
            <a:spLocks noChangeArrowheads="1"/>
          </p:cNvSpPr>
          <p:nvPr/>
        </p:nvSpPr>
        <p:spPr bwMode="auto">
          <a:xfrm>
            <a:off x="5918504" y="3016250"/>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3" name="Rectangle 105"/>
          <p:cNvSpPr>
            <a:spLocks noChangeArrowheads="1"/>
          </p:cNvSpPr>
          <p:nvPr/>
        </p:nvSpPr>
        <p:spPr bwMode="auto">
          <a:xfrm>
            <a:off x="6348716" y="25828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4" name="Rectangle 106"/>
          <p:cNvSpPr>
            <a:spLocks noChangeArrowheads="1"/>
          </p:cNvSpPr>
          <p:nvPr/>
        </p:nvSpPr>
        <p:spPr bwMode="auto">
          <a:xfrm>
            <a:off x="6782104" y="3879850"/>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5" name="Rectangle 107"/>
          <p:cNvSpPr>
            <a:spLocks noChangeArrowheads="1"/>
          </p:cNvSpPr>
          <p:nvPr/>
        </p:nvSpPr>
        <p:spPr bwMode="auto">
          <a:xfrm>
            <a:off x="7215491" y="3448050"/>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6" name="Rectangle 108"/>
          <p:cNvSpPr>
            <a:spLocks noChangeArrowheads="1"/>
          </p:cNvSpPr>
          <p:nvPr/>
        </p:nvSpPr>
        <p:spPr bwMode="auto">
          <a:xfrm>
            <a:off x="7645704" y="30146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7" name="Rectangle 109"/>
          <p:cNvSpPr>
            <a:spLocks noChangeArrowheads="1"/>
          </p:cNvSpPr>
          <p:nvPr/>
        </p:nvSpPr>
        <p:spPr bwMode="auto">
          <a:xfrm>
            <a:off x="8077504" y="25828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8" name="Rectangle 110"/>
          <p:cNvSpPr>
            <a:spLocks noChangeArrowheads="1"/>
          </p:cNvSpPr>
          <p:nvPr/>
        </p:nvSpPr>
        <p:spPr bwMode="auto">
          <a:xfrm>
            <a:off x="8509304" y="3879850"/>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19" name="Rectangle 111"/>
          <p:cNvSpPr>
            <a:spLocks noChangeArrowheads="1"/>
          </p:cNvSpPr>
          <p:nvPr/>
        </p:nvSpPr>
        <p:spPr bwMode="auto">
          <a:xfrm>
            <a:off x="8942691" y="3448050"/>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0" name="Rectangle 112"/>
          <p:cNvSpPr>
            <a:spLocks noChangeArrowheads="1"/>
          </p:cNvSpPr>
          <p:nvPr/>
        </p:nvSpPr>
        <p:spPr bwMode="auto">
          <a:xfrm>
            <a:off x="9372904" y="30146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1" name="Rectangle 113"/>
          <p:cNvSpPr>
            <a:spLocks noChangeArrowheads="1"/>
          </p:cNvSpPr>
          <p:nvPr/>
        </p:nvSpPr>
        <p:spPr bwMode="auto">
          <a:xfrm>
            <a:off x="9804704" y="2582863"/>
            <a:ext cx="431800"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2" name="Rectangle 114"/>
          <p:cNvSpPr>
            <a:spLocks noChangeArrowheads="1"/>
          </p:cNvSpPr>
          <p:nvPr/>
        </p:nvSpPr>
        <p:spPr bwMode="auto">
          <a:xfrm>
            <a:off x="10230154" y="3448050"/>
            <a:ext cx="871537" cy="431800"/>
          </a:xfrm>
          <a:prstGeom prst="rect">
            <a:avLst/>
          </a:prstGeom>
          <a:solidFill>
            <a:srgbClr val="0000FF"/>
          </a:solidFill>
          <a:ln w="25400">
            <a:solidFill>
              <a:schemeClr val="tx1"/>
            </a:solidFill>
            <a:miter lim="800000"/>
            <a:headEnd/>
            <a:tailEnd/>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3" name="矩形 105"/>
          <p:cNvSpPr>
            <a:spLocks noChangeArrowheads="1"/>
          </p:cNvSpPr>
          <p:nvPr/>
        </p:nvSpPr>
        <p:spPr bwMode="auto">
          <a:xfrm>
            <a:off x="2416370" y="5699125"/>
            <a:ext cx="29829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          0                       3</a:t>
            </a:r>
          </a:p>
          <a:p>
            <a:pPr eaLnBrk="1" hangingPunct="1"/>
            <a:r>
              <a:rPr lang="en-US" altLang="zh-CN" sz="2000" b="1">
                <a:solidFill>
                  <a:schemeClr val="tx1"/>
                </a:solidFill>
              </a:rPr>
              <a:t>B          2                       6</a:t>
            </a:r>
          </a:p>
          <a:p>
            <a:pPr eaLnBrk="1" hangingPunct="1"/>
            <a:r>
              <a:rPr lang="en-US" altLang="zh-CN" sz="2000" b="1">
                <a:solidFill>
                  <a:schemeClr val="tx1"/>
                </a:solidFill>
              </a:rPr>
              <a:t>C          4                       4</a:t>
            </a:r>
          </a:p>
        </p:txBody>
      </p:sp>
      <p:sp>
        <p:nvSpPr>
          <p:cNvPr id="124" name="矩形 106"/>
          <p:cNvSpPr>
            <a:spLocks noChangeArrowheads="1"/>
          </p:cNvSpPr>
          <p:nvPr/>
        </p:nvSpPr>
        <p:spPr bwMode="auto">
          <a:xfrm>
            <a:off x="2773557" y="5357813"/>
            <a:ext cx="3475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Arrival Time     Server Time</a:t>
            </a:r>
          </a:p>
        </p:txBody>
      </p:sp>
      <p:sp>
        <p:nvSpPr>
          <p:cNvPr id="125" name="矩形 107"/>
          <p:cNvSpPr>
            <a:spLocks noChangeArrowheads="1"/>
          </p:cNvSpPr>
          <p:nvPr/>
        </p:nvSpPr>
        <p:spPr bwMode="auto">
          <a:xfrm>
            <a:off x="6442270" y="5699125"/>
            <a:ext cx="2984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D          6                       5</a:t>
            </a:r>
          </a:p>
          <a:p>
            <a:pPr eaLnBrk="1" hangingPunct="1"/>
            <a:r>
              <a:rPr lang="en-US" altLang="zh-CN" sz="2000" b="1">
                <a:solidFill>
                  <a:schemeClr val="tx1"/>
                </a:solidFill>
              </a:rPr>
              <a:t>E          8                       2</a:t>
            </a:r>
          </a:p>
        </p:txBody>
      </p:sp>
      <p:sp>
        <p:nvSpPr>
          <p:cNvPr id="126" name="矩形 108"/>
          <p:cNvSpPr>
            <a:spLocks noChangeArrowheads="1"/>
          </p:cNvSpPr>
          <p:nvPr/>
        </p:nvSpPr>
        <p:spPr bwMode="auto">
          <a:xfrm>
            <a:off x="6799457" y="5357813"/>
            <a:ext cx="3475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a:solidFill>
                  <a:schemeClr val="tx1"/>
                </a:solidFill>
              </a:rPr>
              <a:t>Arrival Time     Server Time</a:t>
            </a:r>
          </a:p>
        </p:txBody>
      </p:sp>
      <p:cxnSp>
        <p:nvCxnSpPr>
          <p:cNvPr id="127" name="直接连接符 126"/>
          <p:cNvCxnSpPr/>
          <p:nvPr/>
        </p:nvCxnSpPr>
        <p:spPr bwMode="auto">
          <a:xfrm>
            <a:off x="2344932" y="5715000"/>
            <a:ext cx="3929063"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8" name="直接连接符 127"/>
          <p:cNvCxnSpPr/>
          <p:nvPr/>
        </p:nvCxnSpPr>
        <p:spPr bwMode="auto">
          <a:xfrm>
            <a:off x="6416870" y="5715000"/>
            <a:ext cx="3929062"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29" name="直接连接符 128"/>
          <p:cNvCxnSpPr/>
          <p:nvPr/>
        </p:nvCxnSpPr>
        <p:spPr bwMode="auto">
          <a:xfrm rot="5400000">
            <a:off x="2129826" y="6004719"/>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0" name="直接连接符 129"/>
          <p:cNvCxnSpPr/>
          <p:nvPr/>
        </p:nvCxnSpPr>
        <p:spPr bwMode="auto">
          <a:xfrm rot="5400000">
            <a:off x="6131913" y="6017419"/>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1" name="直接连接符 130"/>
          <p:cNvCxnSpPr/>
          <p:nvPr/>
        </p:nvCxnSpPr>
        <p:spPr bwMode="auto">
          <a:xfrm>
            <a:off x="2344932" y="5357813"/>
            <a:ext cx="3929063"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2" name="直接连接符 131"/>
          <p:cNvCxnSpPr/>
          <p:nvPr/>
        </p:nvCxnSpPr>
        <p:spPr bwMode="auto">
          <a:xfrm>
            <a:off x="2344932" y="6642100"/>
            <a:ext cx="3929063"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3" name="直接连接符 132"/>
          <p:cNvCxnSpPr/>
          <p:nvPr/>
        </p:nvCxnSpPr>
        <p:spPr bwMode="auto">
          <a:xfrm>
            <a:off x="6416870" y="5357813"/>
            <a:ext cx="3929062"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4" name="直接连接符 133"/>
          <p:cNvCxnSpPr/>
          <p:nvPr/>
        </p:nvCxnSpPr>
        <p:spPr bwMode="auto">
          <a:xfrm>
            <a:off x="6416870" y="6642100"/>
            <a:ext cx="3929062"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5" name="直接连接符 134"/>
          <p:cNvCxnSpPr/>
          <p:nvPr/>
        </p:nvCxnSpPr>
        <p:spPr bwMode="auto">
          <a:xfrm rot="5400000">
            <a:off x="1702788" y="5999957"/>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6" name="直接连接符 135"/>
          <p:cNvCxnSpPr/>
          <p:nvPr/>
        </p:nvCxnSpPr>
        <p:spPr bwMode="auto">
          <a:xfrm rot="5400000">
            <a:off x="5774726" y="5999957"/>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7" name="直接连接符 136"/>
          <p:cNvCxnSpPr/>
          <p:nvPr/>
        </p:nvCxnSpPr>
        <p:spPr bwMode="auto">
          <a:xfrm rot="5400000">
            <a:off x="5630263" y="5999957"/>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8" name="直接连接符 137"/>
          <p:cNvCxnSpPr/>
          <p:nvPr/>
        </p:nvCxnSpPr>
        <p:spPr bwMode="auto">
          <a:xfrm rot="5400000">
            <a:off x="3895126" y="5999957"/>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39" name="直接连接符 138"/>
          <p:cNvCxnSpPr/>
          <p:nvPr/>
        </p:nvCxnSpPr>
        <p:spPr bwMode="auto">
          <a:xfrm rot="5400000">
            <a:off x="7916263" y="5999957"/>
            <a:ext cx="1285875" cy="1588"/>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cxnSp>
        <p:nvCxnSpPr>
          <p:cNvPr id="140" name="直接连接符 139"/>
          <p:cNvCxnSpPr/>
          <p:nvPr/>
        </p:nvCxnSpPr>
        <p:spPr bwMode="auto">
          <a:xfrm rot="5400000">
            <a:off x="9702201" y="5999957"/>
            <a:ext cx="1285875" cy="1587"/>
          </a:xfrm>
          <a:prstGeom prst="line">
            <a:avLst/>
          </a:prstGeom>
          <a:ln>
            <a:headEnd type="none" w="sm" len="sm"/>
            <a:tailEnd type="none" w="med" len="med"/>
          </a:ln>
        </p:spPr>
        <p:style>
          <a:lnRef idx="1">
            <a:schemeClr val="accent6"/>
          </a:lnRef>
          <a:fillRef idx="0">
            <a:schemeClr val="accent6"/>
          </a:fillRef>
          <a:effectRef idx="0">
            <a:schemeClr val="accent6"/>
          </a:effectRef>
          <a:fontRef idx="minor">
            <a:schemeClr val="tx1"/>
          </a:fontRef>
        </p:style>
      </p:cxnSp>
      <p:sp>
        <p:nvSpPr>
          <p:cNvPr id="141" name="文本框 54"/>
          <p:cNvSpPr txBox="1">
            <a:spLocks noChangeArrowheads="1"/>
          </p:cNvSpPr>
          <p:nvPr/>
        </p:nvSpPr>
        <p:spPr bwMode="auto">
          <a:xfrm>
            <a:off x="1117732" y="2108170"/>
            <a:ext cx="748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solidFill>
                  <a:srgbClr val="595959"/>
                </a:solidFill>
                <a:latin typeface="微软雅黑" panose="020B0503020204020204" pitchFamily="34" charset="-122"/>
                <a:ea typeface="微软雅黑" panose="020B0503020204020204" pitchFamily="34" charset="-122"/>
              </a:rPr>
              <a:t>Q=1</a:t>
            </a:r>
            <a:endParaRPr lang="zh-CN" altLang="en-US" sz="2000" b="1"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652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141"/>
                                        </p:tgtEl>
                                        <p:attrNameLst>
                                          <p:attrName>style.visibility</p:attrName>
                                        </p:attrNameLst>
                                      </p:cBhvr>
                                      <p:to>
                                        <p:strVal val="visible"/>
                                      </p:to>
                                    </p:set>
                                    <p:anim calcmode="lin" valueType="num">
                                      <p:cBhvr>
                                        <p:cTn id="7" dur="500" fill="hold"/>
                                        <p:tgtEl>
                                          <p:spTgt spid="141"/>
                                        </p:tgtEl>
                                        <p:attrNameLst>
                                          <p:attrName>ppt_w</p:attrName>
                                        </p:attrNameLst>
                                      </p:cBhvr>
                                      <p:tavLst>
                                        <p:tav tm="0">
                                          <p:val>
                                            <p:strVal val="#ppt_w+.3"/>
                                          </p:val>
                                        </p:tav>
                                        <p:tav tm="100000">
                                          <p:val>
                                            <p:strVal val="#ppt_w"/>
                                          </p:val>
                                        </p:tav>
                                      </p:tavLst>
                                    </p:anim>
                                    <p:anim calcmode="lin" valueType="num">
                                      <p:cBhvr>
                                        <p:cTn id="8" dur="500" fill="hold"/>
                                        <p:tgtEl>
                                          <p:spTgt spid="141"/>
                                        </p:tgtEl>
                                        <p:attrNameLst>
                                          <p:attrName>ppt_h</p:attrName>
                                        </p:attrNameLst>
                                      </p:cBhvr>
                                      <p:tavLst>
                                        <p:tav tm="0">
                                          <p:val>
                                            <p:strVal val="#ppt_h"/>
                                          </p:val>
                                        </p:tav>
                                        <p:tav tm="100000">
                                          <p:val>
                                            <p:strVal val="#ppt_h"/>
                                          </p:val>
                                        </p:tav>
                                      </p:tavLst>
                                    </p:anim>
                                    <p:animEffect transition="in" filter="fade">
                                      <p:cBhvr>
                                        <p:cTn id="9" dur="500"/>
                                        <p:tgtEl>
                                          <p:spTgt spid="141"/>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05"/>
                                        </p:tgtEl>
                                        <p:attrNameLst>
                                          <p:attrName>style.visibility</p:attrName>
                                        </p:attrNameLst>
                                      </p:cBhvr>
                                      <p:to>
                                        <p:strVal val="visible"/>
                                      </p:to>
                                    </p:set>
                                    <p:animEffect transition="in" filter="wipe(left)">
                                      <p:cBhvr>
                                        <p:cTn id="14" dur="500"/>
                                        <p:tgtEl>
                                          <p:spTgt spid="10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6"/>
                                        </p:tgtEl>
                                        <p:attrNameLst>
                                          <p:attrName>style.visibility</p:attrName>
                                        </p:attrNameLst>
                                      </p:cBhvr>
                                      <p:to>
                                        <p:strVal val="visible"/>
                                      </p:to>
                                    </p:set>
                                    <p:animEffect transition="in" filter="wipe(left)">
                                      <p:cBhvr>
                                        <p:cTn id="19" dur="500"/>
                                        <p:tgtEl>
                                          <p:spTgt spid="10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7"/>
                                        </p:tgtEl>
                                        <p:attrNameLst>
                                          <p:attrName>style.visibility</p:attrName>
                                        </p:attrNameLst>
                                      </p:cBhvr>
                                      <p:to>
                                        <p:strVal val="visible"/>
                                      </p:to>
                                    </p:set>
                                    <p:animEffect transition="in" filter="wipe(left)">
                                      <p:cBhvr>
                                        <p:cTn id="24" dur="500"/>
                                        <p:tgtEl>
                                          <p:spTgt spid="10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8"/>
                                        </p:tgtEl>
                                        <p:attrNameLst>
                                          <p:attrName>style.visibility</p:attrName>
                                        </p:attrNameLst>
                                      </p:cBhvr>
                                      <p:to>
                                        <p:strVal val="visible"/>
                                      </p:to>
                                    </p:set>
                                    <p:animEffect transition="in" filter="wipe(left)">
                                      <p:cBhvr>
                                        <p:cTn id="29" dur="500"/>
                                        <p:tgtEl>
                                          <p:spTgt spid="10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9"/>
                                        </p:tgtEl>
                                        <p:attrNameLst>
                                          <p:attrName>style.visibility</p:attrName>
                                        </p:attrNameLst>
                                      </p:cBhvr>
                                      <p:to>
                                        <p:strVal val="visible"/>
                                      </p:to>
                                    </p:set>
                                    <p:animEffect transition="in" filter="wipe(left)">
                                      <p:cBhvr>
                                        <p:cTn id="34" dur="500"/>
                                        <p:tgtEl>
                                          <p:spTgt spid="10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wipe(left)">
                                      <p:cBhvr>
                                        <p:cTn id="39" dur="500"/>
                                        <p:tgtEl>
                                          <p:spTgt spid="1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1"/>
                                        </p:tgtEl>
                                        <p:attrNameLst>
                                          <p:attrName>style.visibility</p:attrName>
                                        </p:attrNameLst>
                                      </p:cBhvr>
                                      <p:to>
                                        <p:strVal val="visible"/>
                                      </p:to>
                                    </p:set>
                                    <p:animEffect transition="in" filter="wipe(left)">
                                      <p:cBhvr>
                                        <p:cTn id="44" dur="500"/>
                                        <p:tgtEl>
                                          <p:spTgt spid="1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2"/>
                                        </p:tgtEl>
                                        <p:attrNameLst>
                                          <p:attrName>style.visibility</p:attrName>
                                        </p:attrNameLst>
                                      </p:cBhvr>
                                      <p:to>
                                        <p:strVal val="visible"/>
                                      </p:to>
                                    </p:set>
                                    <p:animEffect transition="in" filter="wipe(left)">
                                      <p:cBhvr>
                                        <p:cTn id="49" dur="500"/>
                                        <p:tgtEl>
                                          <p:spTgt spid="11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3"/>
                                        </p:tgtEl>
                                        <p:attrNameLst>
                                          <p:attrName>style.visibility</p:attrName>
                                        </p:attrNameLst>
                                      </p:cBhvr>
                                      <p:to>
                                        <p:strVal val="visible"/>
                                      </p:to>
                                    </p:set>
                                    <p:animEffect transition="in" filter="wipe(left)">
                                      <p:cBhvr>
                                        <p:cTn id="54" dur="500"/>
                                        <p:tgtEl>
                                          <p:spTgt spid="11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14"/>
                                        </p:tgtEl>
                                        <p:attrNameLst>
                                          <p:attrName>style.visibility</p:attrName>
                                        </p:attrNameLst>
                                      </p:cBhvr>
                                      <p:to>
                                        <p:strVal val="visible"/>
                                      </p:to>
                                    </p:set>
                                    <p:animEffect transition="in" filter="wipe(left)">
                                      <p:cBhvr>
                                        <p:cTn id="59" dur="500"/>
                                        <p:tgtEl>
                                          <p:spTgt spid="11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15"/>
                                        </p:tgtEl>
                                        <p:attrNameLst>
                                          <p:attrName>style.visibility</p:attrName>
                                        </p:attrNameLst>
                                      </p:cBhvr>
                                      <p:to>
                                        <p:strVal val="visible"/>
                                      </p:to>
                                    </p:set>
                                    <p:animEffect transition="in" filter="wipe(left)">
                                      <p:cBhvr>
                                        <p:cTn id="64" dur="500"/>
                                        <p:tgtEl>
                                          <p:spTgt spid="11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16"/>
                                        </p:tgtEl>
                                        <p:attrNameLst>
                                          <p:attrName>style.visibility</p:attrName>
                                        </p:attrNameLst>
                                      </p:cBhvr>
                                      <p:to>
                                        <p:strVal val="visible"/>
                                      </p:to>
                                    </p:set>
                                    <p:animEffect transition="in" filter="wipe(left)">
                                      <p:cBhvr>
                                        <p:cTn id="69" dur="500"/>
                                        <p:tgtEl>
                                          <p:spTgt spid="11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17"/>
                                        </p:tgtEl>
                                        <p:attrNameLst>
                                          <p:attrName>style.visibility</p:attrName>
                                        </p:attrNameLst>
                                      </p:cBhvr>
                                      <p:to>
                                        <p:strVal val="visible"/>
                                      </p:to>
                                    </p:set>
                                    <p:animEffect transition="in" filter="wipe(left)">
                                      <p:cBhvr>
                                        <p:cTn id="74" dur="500"/>
                                        <p:tgtEl>
                                          <p:spTgt spid="117"/>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18"/>
                                        </p:tgtEl>
                                        <p:attrNameLst>
                                          <p:attrName>style.visibility</p:attrName>
                                        </p:attrNameLst>
                                      </p:cBhvr>
                                      <p:to>
                                        <p:strVal val="visible"/>
                                      </p:to>
                                    </p:set>
                                    <p:animEffect transition="in" filter="wipe(left)">
                                      <p:cBhvr>
                                        <p:cTn id="79" dur="500"/>
                                        <p:tgtEl>
                                          <p:spTgt spid="118"/>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19"/>
                                        </p:tgtEl>
                                        <p:attrNameLst>
                                          <p:attrName>style.visibility</p:attrName>
                                        </p:attrNameLst>
                                      </p:cBhvr>
                                      <p:to>
                                        <p:strVal val="visible"/>
                                      </p:to>
                                    </p:set>
                                    <p:animEffect transition="in" filter="wipe(left)">
                                      <p:cBhvr>
                                        <p:cTn id="84" dur="500"/>
                                        <p:tgtEl>
                                          <p:spTgt spid="11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20"/>
                                        </p:tgtEl>
                                        <p:attrNameLst>
                                          <p:attrName>style.visibility</p:attrName>
                                        </p:attrNameLst>
                                      </p:cBhvr>
                                      <p:to>
                                        <p:strVal val="visible"/>
                                      </p:to>
                                    </p:set>
                                    <p:animEffect transition="in" filter="wipe(left)">
                                      <p:cBhvr>
                                        <p:cTn id="89" dur="500"/>
                                        <p:tgtEl>
                                          <p:spTgt spid="12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21"/>
                                        </p:tgtEl>
                                        <p:attrNameLst>
                                          <p:attrName>style.visibility</p:attrName>
                                        </p:attrNameLst>
                                      </p:cBhvr>
                                      <p:to>
                                        <p:strVal val="visible"/>
                                      </p:to>
                                    </p:set>
                                    <p:animEffect transition="in" filter="wipe(left)">
                                      <p:cBhvr>
                                        <p:cTn id="94" dur="500"/>
                                        <p:tgtEl>
                                          <p:spTgt spid="12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22"/>
                                        </p:tgtEl>
                                        <p:attrNameLst>
                                          <p:attrName>style.visibility</p:attrName>
                                        </p:attrNameLst>
                                      </p:cBhvr>
                                      <p:to>
                                        <p:strVal val="visible"/>
                                      </p:to>
                                    </p:set>
                                    <p:animEffect transition="in" filter="wipe(left)">
                                      <p:cBhvr>
                                        <p:cTn id="99"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4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78290" y="1120021"/>
            <a:ext cx="6377004" cy="665162"/>
            <a:chOff x="978290" y="1120021"/>
            <a:chExt cx="6377004" cy="665162"/>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）时间片大小的确定</a:t>
              </a: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轮转调度算法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2" name="文本框 19"/>
          <p:cNvSpPr txBox="1">
            <a:spLocks noChangeArrowheads="1"/>
          </p:cNvSpPr>
          <p:nvPr/>
        </p:nvSpPr>
        <p:spPr bwMode="auto">
          <a:xfrm>
            <a:off x="1137509" y="4468902"/>
            <a:ext cx="10291796"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600" dirty="0"/>
              <a:t>有利于短作业，公平。</a:t>
            </a:r>
            <a:endParaRPr lang="en-US" altLang="zh-CN" sz="2600" dirty="0"/>
          </a:p>
          <a:p>
            <a:pPr marL="0" lvl="2" indent="0">
              <a:buBlip>
                <a:blip r:embed="rId3"/>
              </a:buBlip>
            </a:pPr>
            <a:r>
              <a:rPr lang="zh-CN" altLang="en-US" sz="2400" dirty="0"/>
              <a:t>长作业的上下文切换的总时间增长。</a:t>
            </a:r>
            <a:endParaRPr lang="en-US" altLang="zh-CN" sz="2400" dirty="0"/>
          </a:p>
        </p:txBody>
      </p:sp>
      <p:pic>
        <p:nvPicPr>
          <p:cNvPr id="3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2316" y="4887096"/>
            <a:ext cx="2173287"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p:cNvGrpSpPr/>
          <p:nvPr/>
        </p:nvGrpSpPr>
        <p:grpSpPr>
          <a:xfrm>
            <a:off x="961962" y="3618937"/>
            <a:ext cx="6377004" cy="665162"/>
            <a:chOff x="978290" y="1120021"/>
            <a:chExt cx="6377004" cy="665162"/>
          </a:xfrm>
        </p:grpSpPr>
        <p:sp>
          <p:nvSpPr>
            <p:cNvPr id="11" name="矩形 10"/>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2" name="矩形 11"/>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调度算法的优缺点</a:t>
              </a:r>
            </a:p>
          </p:txBody>
        </p:sp>
      </p:grpSp>
      <p:sp>
        <p:nvSpPr>
          <p:cNvPr id="14" name="文本框 19"/>
          <p:cNvSpPr txBox="1">
            <a:spLocks noChangeArrowheads="1"/>
          </p:cNvSpPr>
          <p:nvPr/>
        </p:nvSpPr>
        <p:spPr bwMode="auto">
          <a:xfrm>
            <a:off x="1091855" y="1892926"/>
            <a:ext cx="102917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无穷大：退化为</a:t>
            </a:r>
            <a:r>
              <a:rPr lang="en-US" altLang="zh-CN" sz="2400" dirty="0"/>
              <a:t>FCFS</a:t>
            </a:r>
            <a:r>
              <a:rPr lang="zh-CN" altLang="en-US" sz="2400" dirty="0"/>
              <a:t>算法</a:t>
            </a:r>
            <a:endParaRPr lang="en-US" altLang="zh-CN" sz="2400" dirty="0"/>
          </a:p>
          <a:p>
            <a:pPr marL="0" lvl="2" indent="0">
              <a:buBlip>
                <a:blip r:embed="rId3"/>
              </a:buBlip>
            </a:pPr>
            <a:r>
              <a:rPr lang="zh-CN" altLang="en-US" sz="2400" dirty="0"/>
              <a:t>太小：增加系统开销</a:t>
            </a:r>
            <a:endParaRPr lang="en-US" altLang="zh-CN" sz="2400" dirty="0"/>
          </a:p>
          <a:p>
            <a:pPr marL="0" lvl="2" indent="0">
              <a:buBlip>
                <a:blip r:embed="rId3"/>
              </a:buBlip>
            </a:pPr>
            <a:r>
              <a:rPr lang="zh-CN" altLang="en-US" sz="2400" dirty="0"/>
              <a:t>时间片大小一般选取略大于一次典型的交互所需要的时间。</a:t>
            </a:r>
            <a:endParaRPr lang="en-US" altLang="zh-CN" sz="2400" dirty="0"/>
          </a:p>
        </p:txBody>
      </p:sp>
    </p:spTree>
    <p:extLst>
      <p:ext uri="{BB962C8B-B14F-4D97-AF65-F5344CB8AC3E}">
        <p14:creationId xmlns:p14="http://schemas.microsoft.com/office/powerpoint/2010/main" val="272152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strips(downLeft)">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基本思想</a:t>
            </a:r>
          </a:p>
        </p:txBody>
      </p:sp>
      <p:sp>
        <p:nvSpPr>
          <p:cNvPr id="31" name="文本框 25"/>
          <p:cNvSpPr txBox="1">
            <a:spLocks noChangeArrowheads="1"/>
          </p:cNvSpPr>
          <p:nvPr/>
        </p:nvSpPr>
        <p:spPr bwMode="auto">
          <a:xfrm>
            <a:off x="902970" y="212725"/>
            <a:ext cx="6237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3D7351"/>
                </a:solidFill>
                <a:latin typeface="微软雅黑" panose="020B0503020204020204" pitchFamily="34" charset="-122"/>
                <a:ea typeface="微软雅黑" panose="020B0503020204020204" pitchFamily="34" charset="-122"/>
              </a:rPr>
              <a:t>7.</a:t>
            </a:r>
            <a:r>
              <a:rPr lang="zh-CN" altLang="en-US" sz="2400" b="1" dirty="0">
                <a:solidFill>
                  <a:srgbClr val="3D7351"/>
                </a:solidFill>
                <a:latin typeface="微软雅黑" panose="020B0503020204020204" pitchFamily="34" charset="-122"/>
                <a:ea typeface="微软雅黑" panose="020B0503020204020204" pitchFamily="34" charset="-122"/>
              </a:rPr>
              <a:t>优先级</a:t>
            </a:r>
            <a:r>
              <a:rPr lang="en-US" altLang="zh-CN" sz="2400" b="1" dirty="0">
                <a:solidFill>
                  <a:srgbClr val="3D7351"/>
                </a:solidFill>
                <a:latin typeface="微软雅黑" panose="020B0503020204020204" pitchFamily="34" charset="-122"/>
                <a:ea typeface="微软雅黑" panose="020B0503020204020204" pitchFamily="34" charset="-122"/>
              </a:rPr>
              <a:t>(SJF, Shortest Job First)</a:t>
            </a:r>
            <a:r>
              <a:rPr lang="zh-CN" altLang="en-US" sz="2400" b="1" dirty="0">
                <a:solidFill>
                  <a:srgbClr val="3D7351"/>
                </a:solidFill>
                <a:latin typeface="微软雅黑" panose="020B0503020204020204" pitchFamily="34" charset="-122"/>
                <a:ea typeface="微软雅黑" panose="020B0503020204020204" pitchFamily="34" charset="-122"/>
              </a:rPr>
              <a:t>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9" name="文本框 19"/>
          <p:cNvSpPr txBox="1">
            <a:spLocks noChangeArrowheads="1"/>
          </p:cNvSpPr>
          <p:nvPr/>
        </p:nvSpPr>
        <p:spPr bwMode="auto">
          <a:xfrm>
            <a:off x="1091855" y="1892926"/>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基于作业的紧迫程度，由外部赋予作业相应的优先级，调度时按优先级的高低进行调度。</a:t>
            </a:r>
          </a:p>
        </p:txBody>
      </p:sp>
      <p:grpSp>
        <p:nvGrpSpPr>
          <p:cNvPr id="3" name="组合 2"/>
          <p:cNvGrpSpPr/>
          <p:nvPr/>
        </p:nvGrpSpPr>
        <p:grpSpPr>
          <a:xfrm>
            <a:off x="996028" y="2777623"/>
            <a:ext cx="6377004" cy="665162"/>
            <a:chOff x="996028" y="2777623"/>
            <a:chExt cx="6377004" cy="665162"/>
          </a:xfrm>
        </p:grpSpPr>
        <p:sp>
          <p:nvSpPr>
            <p:cNvPr id="12" name="矩形 11"/>
            <p:cNvSpPr/>
            <p:nvPr/>
          </p:nvSpPr>
          <p:spPr>
            <a:xfrm>
              <a:off x="1142079" y="3311023"/>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12"/>
            <p:cNvSpPr/>
            <p:nvPr/>
          </p:nvSpPr>
          <p:spPr>
            <a:xfrm>
              <a:off x="2050129" y="3311023"/>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55"/>
            <p:cNvSpPr txBox="1">
              <a:spLocks noChangeArrowheads="1"/>
            </p:cNvSpPr>
            <p:nvPr/>
          </p:nvSpPr>
          <p:spPr bwMode="auto">
            <a:xfrm>
              <a:off x="996028" y="2777623"/>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应用范围</a:t>
              </a:r>
            </a:p>
          </p:txBody>
        </p:sp>
      </p:grpSp>
      <p:sp>
        <p:nvSpPr>
          <p:cNvPr id="15" name="文本框 19"/>
          <p:cNvSpPr txBox="1">
            <a:spLocks noChangeArrowheads="1"/>
          </p:cNvSpPr>
          <p:nvPr/>
        </p:nvSpPr>
        <p:spPr bwMode="auto">
          <a:xfrm>
            <a:off x="1109593" y="3550528"/>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用于批处理系统中的作业调度算法、多种操作系统及实时系统中的进程调度算法。</a:t>
            </a:r>
          </a:p>
        </p:txBody>
      </p:sp>
      <p:sp>
        <p:nvSpPr>
          <p:cNvPr id="16" name="文本框 54"/>
          <p:cNvSpPr txBox="1">
            <a:spLocks noChangeArrowheads="1"/>
          </p:cNvSpPr>
          <p:nvPr/>
        </p:nvSpPr>
        <p:spPr bwMode="auto">
          <a:xfrm>
            <a:off x="1091855" y="4371323"/>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作业调度</a:t>
            </a:r>
          </a:p>
        </p:txBody>
      </p:sp>
      <p:sp>
        <p:nvSpPr>
          <p:cNvPr id="17" name="文本框 19"/>
          <p:cNvSpPr txBox="1">
            <a:spLocks noChangeArrowheads="1"/>
          </p:cNvSpPr>
          <p:nvPr/>
        </p:nvSpPr>
        <p:spPr bwMode="auto">
          <a:xfrm>
            <a:off x="1097835" y="4807099"/>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从后备队列中选择若干个优先权最高的作业调入内存。</a:t>
            </a:r>
          </a:p>
        </p:txBody>
      </p:sp>
      <p:sp>
        <p:nvSpPr>
          <p:cNvPr id="18" name="文本框 54"/>
          <p:cNvSpPr txBox="1">
            <a:spLocks noChangeArrowheads="1"/>
          </p:cNvSpPr>
          <p:nvPr/>
        </p:nvSpPr>
        <p:spPr bwMode="auto">
          <a:xfrm>
            <a:off x="1097835" y="5290645"/>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进程调度</a:t>
            </a:r>
          </a:p>
        </p:txBody>
      </p:sp>
      <p:sp>
        <p:nvSpPr>
          <p:cNvPr id="19" name="文本框 19"/>
          <p:cNvSpPr txBox="1">
            <a:spLocks noChangeArrowheads="1"/>
          </p:cNvSpPr>
          <p:nvPr/>
        </p:nvSpPr>
        <p:spPr bwMode="auto">
          <a:xfrm>
            <a:off x="1103815" y="5726421"/>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是把处理机分配给就绪队列中具有最高优先权的进程。</a:t>
            </a:r>
          </a:p>
        </p:txBody>
      </p:sp>
    </p:spTree>
    <p:extLst>
      <p:ext uri="{BB962C8B-B14F-4D97-AF65-F5344CB8AC3E}">
        <p14:creationId xmlns:p14="http://schemas.microsoft.com/office/powerpoint/2010/main" val="3711689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down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50" presetClass="entr" presetSubtype="0" decel="100000" fill="hold" grpId="0" nodeType="clickEffect">
                                  <p:stCondLst>
                                    <p:cond delay="0"/>
                                  </p:stCondLst>
                                  <p:iterate type="lt">
                                    <p:tmPct val="5000"/>
                                  </p:iterate>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strVal val="#ppt_w+.3"/>
                                          </p:val>
                                        </p:tav>
                                        <p:tav tm="100000">
                                          <p:val>
                                            <p:strVal val="#ppt_w"/>
                                          </p:val>
                                        </p:tav>
                                      </p:tavLst>
                                    </p:anim>
                                    <p:anim calcmode="lin" valueType="num">
                                      <p:cBhvr>
                                        <p:cTn id="23" dur="500" fill="hold"/>
                                        <p:tgtEl>
                                          <p:spTgt spid="16"/>
                                        </p:tgtEl>
                                        <p:attrNameLst>
                                          <p:attrName>ppt_h</p:attrName>
                                        </p:attrNameLst>
                                      </p:cBhvr>
                                      <p:tavLst>
                                        <p:tav tm="0">
                                          <p:val>
                                            <p:strVal val="#ppt_h"/>
                                          </p:val>
                                        </p:tav>
                                        <p:tav tm="100000">
                                          <p:val>
                                            <p:strVal val="#ppt_h"/>
                                          </p:val>
                                        </p:tav>
                                      </p:tavLst>
                                    </p:anim>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strips(downLeft)">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50" presetClass="entr" presetSubtype="0" decel="100000" fill="hold" grpId="0" nodeType="clickEffect">
                                  <p:stCondLst>
                                    <p:cond delay="0"/>
                                  </p:stCondLst>
                                  <p:iterate type="lt">
                                    <p:tmPct val="5000"/>
                                  </p:iterate>
                                  <p:childTnLst>
                                    <p:set>
                                      <p:cBhvr>
                                        <p:cTn id="33" dur="1" fill="hold">
                                          <p:stCondLst>
                                            <p:cond delay="0"/>
                                          </p:stCondLst>
                                        </p:cTn>
                                        <p:tgtEl>
                                          <p:spTgt spid="18"/>
                                        </p:tgtEl>
                                        <p:attrNameLst>
                                          <p:attrName>style.visibility</p:attrName>
                                        </p:attrNameLst>
                                      </p:cBhvr>
                                      <p:to>
                                        <p:strVal val="visible"/>
                                      </p:to>
                                    </p:set>
                                    <p:anim calcmode="lin" valueType="num">
                                      <p:cBhvr>
                                        <p:cTn id="34" dur="500" fill="hold"/>
                                        <p:tgtEl>
                                          <p:spTgt spid="18"/>
                                        </p:tgtEl>
                                        <p:attrNameLst>
                                          <p:attrName>ppt_w</p:attrName>
                                        </p:attrNameLst>
                                      </p:cBhvr>
                                      <p:tavLst>
                                        <p:tav tm="0">
                                          <p:val>
                                            <p:strVal val="#ppt_w+.3"/>
                                          </p:val>
                                        </p:tav>
                                        <p:tav tm="100000">
                                          <p:val>
                                            <p:strVal val="#ppt_w"/>
                                          </p:val>
                                        </p:tav>
                                      </p:tavLst>
                                    </p:anim>
                                    <p:anim calcmode="lin" valueType="num">
                                      <p:cBhvr>
                                        <p:cTn id="35" dur="500" fill="hold"/>
                                        <p:tgtEl>
                                          <p:spTgt spid="18"/>
                                        </p:tgtEl>
                                        <p:attrNameLst>
                                          <p:attrName>ppt_h</p:attrName>
                                        </p:attrNameLst>
                                      </p:cBhvr>
                                      <p:tavLst>
                                        <p:tav tm="0">
                                          <p:val>
                                            <p:strVal val="#ppt_h"/>
                                          </p:val>
                                        </p:tav>
                                        <p:tav tm="100000">
                                          <p:val>
                                            <p:strVal val="#ppt_h"/>
                                          </p:val>
                                        </p:tav>
                                      </p:tavLst>
                                    </p:anim>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strips(downLeft)">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5" grpId="0"/>
      <p:bldP spid="16" grpId="0"/>
      <p:bldP spid="17" grpId="0"/>
      <p:bldP spid="18"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6286175" y="2367448"/>
            <a:ext cx="4470450" cy="3965040"/>
          </a:xfrm>
          <a:prstGeom prst="rect">
            <a:avLst/>
          </a:prstGeom>
          <a:solidFill>
            <a:schemeClr val="bg1">
              <a:lumMod val="85000"/>
            </a:schemeClr>
          </a:solidFill>
          <a:ln>
            <a:solidFill>
              <a:srgbClr val="E8E8E6"/>
            </a:solid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a:cs typeface="+mn-ea"/>
              <a:sym typeface="+mn-lt"/>
            </a:endParaRPr>
          </a:p>
        </p:txBody>
      </p:sp>
      <p:grpSp>
        <p:nvGrpSpPr>
          <p:cNvPr id="3" name="组合 2"/>
          <p:cNvGrpSpPr/>
          <p:nvPr/>
        </p:nvGrpSpPr>
        <p:grpSpPr>
          <a:xfrm>
            <a:off x="978290" y="1120021"/>
            <a:ext cx="6377004" cy="665162"/>
            <a:chOff x="978290" y="1120021"/>
            <a:chExt cx="6377004" cy="665162"/>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）优先级调度算法的类型</a:t>
              </a:r>
            </a:p>
          </p:txBody>
        </p:sp>
      </p:grpSp>
      <p:sp>
        <p:nvSpPr>
          <p:cNvPr id="31"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7.</a:t>
            </a:r>
            <a:r>
              <a:rPr lang="zh-CN" altLang="en-US" sz="2400" b="1" dirty="0">
                <a:solidFill>
                  <a:srgbClr val="3D7351"/>
                </a:solidFill>
                <a:latin typeface="微软雅黑" panose="020B0503020204020204" pitchFamily="34" charset="-122"/>
                <a:ea typeface="微软雅黑" panose="020B0503020204020204" pitchFamily="34" charset="-122"/>
              </a:rPr>
              <a:t>优先级调度算法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5" name="矩形 14"/>
          <p:cNvSpPr/>
          <p:nvPr/>
        </p:nvSpPr>
        <p:spPr>
          <a:xfrm>
            <a:off x="1124342" y="2367448"/>
            <a:ext cx="4470450" cy="3965040"/>
          </a:xfrm>
          <a:prstGeom prst="rect">
            <a:avLst/>
          </a:prstGeom>
          <a:solidFill>
            <a:schemeClr val="bg1">
              <a:lumMod val="85000"/>
            </a:schemeClr>
          </a:solidFill>
          <a:ln>
            <a:solidFill>
              <a:srgbClr val="E8E8E6"/>
            </a:solid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a:cs typeface="+mn-ea"/>
              <a:sym typeface="+mn-lt"/>
            </a:endParaRPr>
          </a:p>
        </p:txBody>
      </p:sp>
      <p:sp>
        <p:nvSpPr>
          <p:cNvPr id="16" name="AutoShape 12"/>
          <p:cNvSpPr>
            <a:spLocks noChangeArrowheads="1"/>
          </p:cNvSpPr>
          <p:nvPr/>
        </p:nvSpPr>
        <p:spPr bwMode="auto">
          <a:xfrm>
            <a:off x="1124342" y="1972299"/>
            <a:ext cx="4470449" cy="790298"/>
          </a:xfrm>
          <a:prstGeom prst="homePlate">
            <a:avLst>
              <a:gd name="adj" fmla="val 63872"/>
            </a:avLst>
          </a:prstGeom>
          <a:solidFill>
            <a:schemeClr val="accent1"/>
          </a:solidFill>
          <a:ln w="9525">
            <a:noFill/>
            <a:miter lim="800000"/>
          </a:ln>
        </p:spPr>
        <p:txBody>
          <a:bodyPr wrap="none" lIns="91472" tIns="45736" rIns="91472" bIns="45736" anchor="ctr"/>
          <a:lstStyle/>
          <a:p>
            <a:pPr algn="ctr"/>
            <a:r>
              <a:rPr lang="zh-CN" altLang="en-US" sz="2800" b="1" dirty="0">
                <a:solidFill>
                  <a:prstClr val="white"/>
                </a:solidFill>
                <a:cs typeface="+mn-ea"/>
                <a:sym typeface="+mn-lt"/>
              </a:rPr>
              <a:t>非抢占式优先权算法</a:t>
            </a:r>
          </a:p>
        </p:txBody>
      </p:sp>
      <p:sp>
        <p:nvSpPr>
          <p:cNvPr id="17" name="TextBox 16"/>
          <p:cNvSpPr txBox="1"/>
          <p:nvPr/>
        </p:nvSpPr>
        <p:spPr>
          <a:xfrm>
            <a:off x="1179873" y="2905784"/>
            <a:ext cx="4341177" cy="3305553"/>
          </a:xfrm>
          <a:prstGeom prst="rect">
            <a:avLst/>
          </a:prstGeom>
          <a:noFill/>
          <a:ln>
            <a:noFill/>
          </a:ln>
        </p:spPr>
        <p:txBody>
          <a:bodyPr wrap="square" lIns="91472" tIns="45736" rIns="91472" bIns="45736" rtlCol="0">
            <a:spAutoFit/>
          </a:bodyPr>
          <a:lstStyle/>
          <a:p>
            <a:pPr>
              <a:lnSpc>
                <a:spcPct val="120000"/>
              </a:lnSpc>
              <a:spcBef>
                <a:spcPct val="30000"/>
              </a:spcBef>
              <a:defRPr/>
            </a:pPr>
            <a:r>
              <a:rPr kumimoji="1" lang="zh-CN" altLang="en-US" sz="2400" dirty="0"/>
              <a:t>处理机分配给就绪队列优先权最高的进程后，该进程就</a:t>
            </a:r>
            <a:r>
              <a:rPr kumimoji="1" lang="zh-CN" altLang="en-US" sz="2400" dirty="0">
                <a:solidFill>
                  <a:srgbClr val="0066FF"/>
                </a:solidFill>
              </a:rPr>
              <a:t>一直执行下去，直至完成</a:t>
            </a:r>
            <a:r>
              <a:rPr kumimoji="1" lang="zh-CN" altLang="en-US" sz="2400" dirty="0"/>
              <a:t>；或因发生某事件使该进程放弃处理机时，才进行</a:t>
            </a:r>
            <a:r>
              <a:rPr kumimoji="1" lang="en-US" altLang="zh-CN" sz="2400" dirty="0" err="1"/>
              <a:t>CPU的重新分配</a:t>
            </a:r>
            <a:r>
              <a:rPr kumimoji="1" lang="zh-CN" altLang="en-US" sz="2400" dirty="0"/>
              <a:t>。</a:t>
            </a:r>
          </a:p>
          <a:p>
            <a:pPr>
              <a:lnSpc>
                <a:spcPct val="120000"/>
              </a:lnSpc>
              <a:spcBef>
                <a:spcPct val="30000"/>
              </a:spcBef>
              <a:defRPr/>
            </a:pPr>
            <a:r>
              <a:rPr kumimoji="1" lang="zh-CN" altLang="en-US" sz="2400" b="1" kern="0" dirty="0">
                <a:solidFill>
                  <a:srgbClr val="0066FF"/>
                </a:solidFill>
              </a:rPr>
              <a:t>应用范围：</a:t>
            </a:r>
            <a:r>
              <a:rPr kumimoji="1" lang="zh-CN" altLang="en-US" sz="2400" dirty="0"/>
              <a:t>批处理系统、实时性要求不严的实时系统。</a:t>
            </a:r>
          </a:p>
        </p:txBody>
      </p:sp>
      <p:sp>
        <p:nvSpPr>
          <p:cNvPr id="19" name="AutoShape 12"/>
          <p:cNvSpPr>
            <a:spLocks noChangeArrowheads="1"/>
          </p:cNvSpPr>
          <p:nvPr/>
        </p:nvSpPr>
        <p:spPr bwMode="auto">
          <a:xfrm flipH="1">
            <a:off x="6286175" y="1972299"/>
            <a:ext cx="4470450" cy="790298"/>
          </a:xfrm>
          <a:prstGeom prst="homePlate">
            <a:avLst>
              <a:gd name="adj" fmla="val 63872"/>
            </a:avLst>
          </a:prstGeom>
          <a:solidFill>
            <a:schemeClr val="accent2"/>
          </a:solidFill>
          <a:ln w="9525">
            <a:noFill/>
            <a:miter lim="800000"/>
          </a:ln>
        </p:spPr>
        <p:txBody>
          <a:bodyPr wrap="none" lIns="91472" tIns="45736" rIns="91472" bIns="45736" anchor="ctr"/>
          <a:lstStyle/>
          <a:p>
            <a:pPr algn="ctr"/>
            <a:r>
              <a:rPr lang="zh-CN" altLang="en-US" sz="2800" b="1" dirty="0">
                <a:solidFill>
                  <a:prstClr val="white"/>
                </a:solidFill>
                <a:cs typeface="+mn-ea"/>
                <a:sym typeface="+mn-lt"/>
              </a:rPr>
              <a:t>抢占式优先权算法</a:t>
            </a:r>
          </a:p>
        </p:txBody>
      </p:sp>
      <p:sp>
        <p:nvSpPr>
          <p:cNvPr id="20" name="TextBox 19"/>
          <p:cNvSpPr txBox="1"/>
          <p:nvPr/>
        </p:nvSpPr>
        <p:spPr>
          <a:xfrm>
            <a:off x="6286175" y="2891036"/>
            <a:ext cx="4470449" cy="3305553"/>
          </a:xfrm>
          <a:prstGeom prst="rect">
            <a:avLst/>
          </a:prstGeom>
          <a:noFill/>
        </p:spPr>
        <p:txBody>
          <a:bodyPr wrap="square" lIns="91472" tIns="45736" rIns="91472" bIns="45736" rtlCol="0">
            <a:spAutoFit/>
          </a:bodyPr>
          <a:lstStyle/>
          <a:p>
            <a:pPr>
              <a:lnSpc>
                <a:spcPct val="120000"/>
              </a:lnSpc>
              <a:spcBef>
                <a:spcPct val="30000"/>
              </a:spcBef>
              <a:defRPr/>
            </a:pPr>
            <a:r>
              <a:rPr kumimoji="1" lang="zh-CN" altLang="en-US" sz="2400" dirty="0"/>
              <a:t>处理机分配给就绪队列优先权最高的进程后，只要出现另一个优先权更高的进程时，</a:t>
            </a:r>
            <a:r>
              <a:rPr kumimoji="1" lang="zh-CN" altLang="en-US" sz="2400" dirty="0">
                <a:solidFill>
                  <a:srgbClr val="FF3300"/>
                </a:solidFill>
              </a:rPr>
              <a:t>便停止原来执行进程，</a:t>
            </a:r>
            <a:r>
              <a:rPr kumimoji="1" lang="zh-CN" altLang="en-US" sz="2400" dirty="0"/>
              <a:t>把处理机分配给新出现的优先权最高的进程。</a:t>
            </a:r>
            <a:endParaRPr kumimoji="1" lang="en-US" altLang="zh-CN" sz="2400" dirty="0"/>
          </a:p>
          <a:p>
            <a:pPr>
              <a:lnSpc>
                <a:spcPct val="120000"/>
              </a:lnSpc>
              <a:spcBef>
                <a:spcPct val="30000"/>
              </a:spcBef>
              <a:defRPr/>
            </a:pPr>
            <a:r>
              <a:rPr kumimoji="1" lang="zh-CN" altLang="en-US" sz="2400" b="1" dirty="0">
                <a:solidFill>
                  <a:srgbClr val="FF3300"/>
                </a:solidFill>
              </a:rPr>
              <a:t>应用范围：</a:t>
            </a:r>
            <a:r>
              <a:rPr kumimoji="1" lang="zh-CN" altLang="en-US" sz="2400" dirty="0"/>
              <a:t>实时性要求比较严格的实时系统。</a:t>
            </a:r>
          </a:p>
        </p:txBody>
      </p:sp>
    </p:spTree>
    <p:extLst>
      <p:ext uri="{BB962C8B-B14F-4D97-AF65-F5344CB8AC3E}">
        <p14:creationId xmlns:p14="http://schemas.microsoft.com/office/powerpoint/2010/main" val="117524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1+#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500"/>
                                        <p:tgtEl>
                                          <p:spTgt spid="15"/>
                                        </p:tgtEl>
                                      </p:cBhvr>
                                    </p:animEffect>
                                  </p:childTnLst>
                                </p:cTn>
                              </p:par>
                              <p:par>
                                <p:cTn id="20" presetID="22" presetClass="entr" presetSubtype="8" fill="hold" grpId="0" nodeType="withEffect">
                                  <p:stCondLst>
                                    <p:cond delay="0"/>
                                  </p:stCondLst>
                                  <p:iterate type="lt">
                                    <p:tmPct val="30000"/>
                                  </p:iterate>
                                  <p:childTnLst>
                                    <p:set>
                                      <p:cBhvr>
                                        <p:cTn id="21" dur="1" fill="hold">
                                          <p:stCondLst>
                                            <p:cond delay="0"/>
                                          </p:stCondLst>
                                        </p:cTn>
                                        <p:tgtEl>
                                          <p:spTgt spid="17"/>
                                        </p:tgtEl>
                                        <p:attrNameLst>
                                          <p:attrName>style.visibility</p:attrName>
                                        </p:attrNameLst>
                                      </p:cBhvr>
                                      <p:to>
                                        <p:strVal val="visible"/>
                                      </p:to>
                                    </p:set>
                                    <p:animEffect transition="in" filter="wipe(left)">
                                      <p:cBhvr>
                                        <p:cTn id="22" dur="100"/>
                                        <p:tgtEl>
                                          <p:spTgt spid="17"/>
                                        </p:tgtEl>
                                      </p:cBhvr>
                                    </p:animEffect>
                                  </p:childTnLst>
                                </p:cTn>
                              </p:par>
                              <p:par>
                                <p:cTn id="23" presetID="36" presetClass="emph" presetSubtype="0" fill="hold" grpId="1" nodeType="withEffect">
                                  <p:stCondLst>
                                    <p:cond delay="0"/>
                                  </p:stCondLst>
                                  <p:iterate type="lt">
                                    <p:tmPct val="30000"/>
                                  </p:iterate>
                                  <p:childTnLst>
                                    <p:animScale>
                                      <p:cBhvr>
                                        <p:cTn id="24" dur="50" autoRev="1" fill="hold">
                                          <p:stCondLst>
                                            <p:cond delay="0"/>
                                          </p:stCondLst>
                                        </p:cTn>
                                        <p:tgtEl>
                                          <p:spTgt spid="17"/>
                                        </p:tgtEl>
                                      </p:cBhvr>
                                      <p:to x="80000" y="100000"/>
                                    </p:animScale>
                                    <p:anim by="(#ppt_w*0.10)" calcmode="lin" valueType="num">
                                      <p:cBhvr>
                                        <p:cTn id="25" dur="50" autoRev="1" fill="hold">
                                          <p:stCondLst>
                                            <p:cond delay="0"/>
                                          </p:stCondLst>
                                        </p:cTn>
                                        <p:tgtEl>
                                          <p:spTgt spid="17"/>
                                        </p:tgtEl>
                                        <p:attrNameLst>
                                          <p:attrName>ppt_x</p:attrName>
                                        </p:attrNameLst>
                                      </p:cBhvr>
                                    </p:anim>
                                    <p:anim by="(-#ppt_w*0.10)" calcmode="lin" valueType="num">
                                      <p:cBhvr>
                                        <p:cTn id="26" dur="50" autoRev="1" fill="hold">
                                          <p:stCondLst>
                                            <p:cond delay="0"/>
                                          </p:stCondLst>
                                        </p:cTn>
                                        <p:tgtEl>
                                          <p:spTgt spid="17"/>
                                        </p:tgtEl>
                                        <p:attrNameLst>
                                          <p:attrName>ppt_y</p:attrName>
                                        </p:attrNameLst>
                                      </p:cBhvr>
                                    </p:anim>
                                    <p:animRot by="-480000">
                                      <p:cBhvr>
                                        <p:cTn id="27" dur="50" autoRev="1" fill="hold">
                                          <p:stCondLst>
                                            <p:cond delay="0"/>
                                          </p:stCondLst>
                                        </p:cTn>
                                        <p:tgtEl>
                                          <p:spTgt spid="17"/>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up)">
                                      <p:cBhvr>
                                        <p:cTn id="32" dur="500"/>
                                        <p:tgtEl>
                                          <p:spTgt spid="22"/>
                                        </p:tgtEl>
                                      </p:cBhvr>
                                    </p:animEffect>
                                  </p:childTnLst>
                                </p:cTn>
                              </p:par>
                              <p:par>
                                <p:cTn id="33" presetID="22" presetClass="entr" presetSubtype="8" fill="hold" grpId="0" nodeType="withEffect">
                                  <p:stCondLst>
                                    <p:cond delay="0"/>
                                  </p:stCondLst>
                                  <p:iterate type="lt">
                                    <p:tmPct val="30000"/>
                                  </p:iterate>
                                  <p:childTnLst>
                                    <p:set>
                                      <p:cBhvr>
                                        <p:cTn id="34" dur="1" fill="hold">
                                          <p:stCondLst>
                                            <p:cond delay="0"/>
                                          </p:stCondLst>
                                        </p:cTn>
                                        <p:tgtEl>
                                          <p:spTgt spid="20"/>
                                        </p:tgtEl>
                                        <p:attrNameLst>
                                          <p:attrName>style.visibility</p:attrName>
                                        </p:attrNameLst>
                                      </p:cBhvr>
                                      <p:to>
                                        <p:strVal val="visible"/>
                                      </p:to>
                                    </p:set>
                                    <p:animEffect transition="in" filter="wipe(left)">
                                      <p:cBhvr>
                                        <p:cTn id="35" dur="1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5" grpId="0" animBg="1"/>
      <p:bldP spid="16" grpId="0" animBg="1"/>
      <p:bldP spid="17" grpId="0"/>
      <p:bldP spid="17" grpId="1"/>
      <p:bldP spid="19" grpId="0" animBg="1"/>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3"/>
          <p:cNvSpPr/>
          <p:nvPr/>
        </p:nvSpPr>
        <p:spPr bwMode="gray">
          <a:xfrm flipV="1">
            <a:off x="1666294" y="3885248"/>
            <a:ext cx="1609352" cy="1453237"/>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5" name="箭头1"/>
          <p:cNvSpPr/>
          <p:nvPr/>
        </p:nvSpPr>
        <p:spPr bwMode="gray">
          <a:xfrm>
            <a:off x="1655944" y="2662849"/>
            <a:ext cx="1609352" cy="165444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6" name="文本1"/>
          <p:cNvSpPr>
            <a:spLocks noChangeArrowheads="1"/>
          </p:cNvSpPr>
          <p:nvPr/>
        </p:nvSpPr>
        <p:spPr bwMode="gray">
          <a:xfrm>
            <a:off x="5058697" y="1893325"/>
            <a:ext cx="6459793" cy="2016304"/>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7" name="标题1"/>
          <p:cNvSpPr>
            <a:spLocks noChangeArrowheads="1"/>
          </p:cNvSpPr>
          <p:nvPr/>
        </p:nvSpPr>
        <p:spPr bwMode="gray">
          <a:xfrm>
            <a:off x="3376482" y="2331164"/>
            <a:ext cx="1682215"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noProof="0" dirty="0">
                <a:solidFill>
                  <a:sysClr val="window" lastClr="FFFFFF">
                    <a:lumMod val="95000"/>
                  </a:sysClr>
                </a:solidFill>
                <a:cs typeface="+mn-ea"/>
                <a:sym typeface="+mn-lt"/>
              </a:rPr>
              <a:t>静态</a:t>
            </a:r>
            <a:endParaRPr lang="en-US" altLang="zh-CN" sz="2400" b="1" noProof="0" dirty="0">
              <a:solidFill>
                <a:sysClr val="window" lastClr="FFFFFF">
                  <a:lumMod val="95000"/>
                </a:sysClr>
              </a:solidFill>
              <a:cs typeface="+mn-ea"/>
              <a:sym typeface="+mn-lt"/>
            </a:endParaRPr>
          </a:p>
          <a:p>
            <a:pPr lvl="0" algn="ctr" fontAlgn="base">
              <a:lnSpc>
                <a:spcPct val="120000"/>
              </a:lnSpc>
              <a:spcBef>
                <a:spcPct val="0"/>
              </a:spcBef>
              <a:spcAft>
                <a:spcPct val="0"/>
              </a:spcAft>
              <a:defRPr/>
            </a:pPr>
            <a:r>
              <a:rPr lang="zh-CN" altLang="en-US" sz="2400" b="1" noProof="0" dirty="0">
                <a:solidFill>
                  <a:sysClr val="window" lastClr="FFFFFF">
                    <a:lumMod val="95000"/>
                  </a:sysClr>
                </a:solidFill>
                <a:cs typeface="+mn-ea"/>
                <a:sym typeface="+mn-lt"/>
              </a:rPr>
              <a:t>优先级</a:t>
            </a:r>
            <a:endParaRPr kumimoji="0" lang="zh-CN" altLang="zh-CN" sz="2400" b="1" i="0" u="none" strike="noStrike" kern="1200" cap="none" spc="0" normalizeH="0" baseline="0" noProof="0" dirty="0">
              <a:ln>
                <a:noFill/>
              </a:ln>
              <a:solidFill>
                <a:sysClr val="window" lastClr="FFFFFF">
                  <a:lumMod val="95000"/>
                </a:sysClr>
              </a:solidFill>
              <a:effectLst/>
              <a:uLnTx/>
              <a:uFillTx/>
              <a:cs typeface="+mn-ea"/>
              <a:sym typeface="+mn-lt"/>
            </a:endParaRPr>
          </a:p>
        </p:txBody>
      </p:sp>
      <p:sp>
        <p:nvSpPr>
          <p:cNvPr id="10" name="文本3"/>
          <p:cNvSpPr>
            <a:spLocks noChangeArrowheads="1"/>
          </p:cNvSpPr>
          <p:nvPr/>
        </p:nvSpPr>
        <p:spPr bwMode="ltGray">
          <a:xfrm>
            <a:off x="5058696" y="4071857"/>
            <a:ext cx="6459794" cy="2030893"/>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lang="zh-CN" altLang="zh-CN" sz="1600" dirty="0">
              <a:solidFill>
                <a:srgbClr val="4D4D4D"/>
              </a:solidFill>
              <a:cs typeface="+mn-ea"/>
              <a:sym typeface="+mn-lt"/>
            </a:endParaRPr>
          </a:p>
        </p:txBody>
      </p:sp>
      <p:sp>
        <p:nvSpPr>
          <p:cNvPr id="11" name="标题3"/>
          <p:cNvSpPr>
            <a:spLocks noChangeArrowheads="1"/>
          </p:cNvSpPr>
          <p:nvPr/>
        </p:nvSpPr>
        <p:spPr bwMode="gray">
          <a:xfrm>
            <a:off x="3376482" y="4610621"/>
            <a:ext cx="1688565" cy="1154559"/>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动态</a:t>
            </a:r>
            <a:endParaRPr lang="en-US" altLang="zh-CN" sz="2400" b="1" dirty="0">
              <a:solidFill>
                <a:sysClr val="window" lastClr="FFFFFF">
                  <a:lumMod val="95000"/>
                </a:sysClr>
              </a:solidFill>
              <a:cs typeface="+mn-ea"/>
              <a:sym typeface="+mn-lt"/>
            </a:endParaRPr>
          </a:p>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优先级</a:t>
            </a:r>
            <a:endParaRPr lang="zh-CN" altLang="zh-CN" sz="2400" b="1" dirty="0">
              <a:solidFill>
                <a:sysClr val="window" lastClr="FFFFFF">
                  <a:lumMod val="95000"/>
                </a:sysClr>
              </a:solidFill>
              <a:cs typeface="+mn-ea"/>
              <a:sym typeface="+mn-lt"/>
            </a:endParaRPr>
          </a:p>
        </p:txBody>
      </p:sp>
      <p:sp>
        <p:nvSpPr>
          <p:cNvPr id="12" name="Oval 19"/>
          <p:cNvSpPr>
            <a:spLocks noChangeArrowheads="1"/>
          </p:cNvSpPr>
          <p:nvPr/>
        </p:nvSpPr>
        <p:spPr bwMode="auto">
          <a:xfrm>
            <a:off x="1139335" y="3351857"/>
            <a:ext cx="1440000" cy="1440000"/>
          </a:xfrm>
          <a:prstGeom prst="roundRect">
            <a:avLst/>
          </a:prstGeom>
          <a:ln/>
        </p:spPr>
        <p:style>
          <a:lnRef idx="3">
            <a:schemeClr val="lt1"/>
          </a:lnRef>
          <a:fillRef idx="1">
            <a:schemeClr val="accent6"/>
          </a:fillRef>
          <a:effectRef idx="1">
            <a:schemeClr val="accent6"/>
          </a:effectRef>
          <a:fontRef idx="minor">
            <a:schemeClr val="lt1"/>
          </a:fontRef>
        </p:style>
        <p:txBody>
          <a:bodyPr lIns="126000" rIns="126000" bIns="180000" anchor="ctr"/>
          <a:lstStyle/>
          <a:p>
            <a:pPr algn="ctr">
              <a:lnSpc>
                <a:spcPct val="120000"/>
              </a:lnSpc>
            </a:pPr>
            <a:r>
              <a:rPr lang="zh-CN" altLang="en-US" sz="2400" b="1" kern="0" dirty="0">
                <a:solidFill>
                  <a:srgbClr val="F9F9F9"/>
                </a:solidFill>
                <a:cs typeface="+mn-ea"/>
                <a:sym typeface="+mn-lt"/>
              </a:rPr>
              <a:t>优先级类型</a:t>
            </a:r>
          </a:p>
        </p:txBody>
      </p:sp>
      <p:sp>
        <p:nvSpPr>
          <p:cNvPr id="14" name="矩形 13"/>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矩形 1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）优先级类型</a:t>
            </a:r>
          </a:p>
        </p:txBody>
      </p:sp>
      <p:sp>
        <p:nvSpPr>
          <p:cNvPr id="17" name="文本框 19"/>
          <p:cNvSpPr txBox="1">
            <a:spLocks noChangeArrowheads="1"/>
          </p:cNvSpPr>
          <p:nvPr/>
        </p:nvSpPr>
        <p:spPr bwMode="auto">
          <a:xfrm>
            <a:off x="5385190" y="2050952"/>
            <a:ext cx="564660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r>
              <a:rPr lang="zh-CN" altLang="en-US" sz="2400" dirty="0"/>
              <a:t>进程优先级在创建进程时确定，整个运行期间保持不变。</a:t>
            </a:r>
          </a:p>
          <a:p>
            <a:pPr marL="0" lvl="2" indent="0">
              <a:buBlip>
                <a:blip r:embed="rId2"/>
              </a:buBlip>
            </a:pPr>
            <a:r>
              <a:rPr lang="zh-CN" altLang="en-US" sz="2400" b="1" dirty="0"/>
              <a:t>优点：</a:t>
            </a:r>
            <a:r>
              <a:rPr lang="zh-CN" altLang="en-US" sz="2400" dirty="0"/>
              <a:t>简单易行，系统开销小，</a:t>
            </a:r>
            <a:endParaRPr lang="en-US" altLang="zh-CN" sz="2400" dirty="0"/>
          </a:p>
          <a:p>
            <a:pPr marL="0" lvl="2" indent="0">
              <a:buBlip>
                <a:blip r:embed="rId2"/>
              </a:buBlip>
            </a:pPr>
            <a:r>
              <a:rPr lang="zh-CN" altLang="en-US" sz="2400" b="1" dirty="0"/>
              <a:t>缺点：</a:t>
            </a:r>
            <a:r>
              <a:rPr lang="zh-CN" altLang="en-US" sz="2400" dirty="0"/>
              <a:t>不够精确；可能会出现低优先权作业长期不被调度。</a:t>
            </a:r>
          </a:p>
        </p:txBody>
      </p:sp>
      <p:sp>
        <p:nvSpPr>
          <p:cNvPr id="18" name="文本框 19"/>
          <p:cNvSpPr txBox="1">
            <a:spLocks noChangeArrowheads="1"/>
          </p:cNvSpPr>
          <p:nvPr/>
        </p:nvSpPr>
        <p:spPr bwMode="auto">
          <a:xfrm>
            <a:off x="5385191" y="4170208"/>
            <a:ext cx="600056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r>
              <a:rPr lang="zh-CN" altLang="en-US" sz="2400" dirty="0"/>
              <a:t>进程创建时赋予的优先权可以随进程的推进或等待时间的增加而改变。</a:t>
            </a:r>
            <a:endParaRPr lang="en-US" altLang="zh-CN" sz="2400" dirty="0"/>
          </a:p>
          <a:p>
            <a:pPr marL="342900" lvl="2" indent="-342900">
              <a:buBlip>
                <a:blip r:embed="rId2"/>
              </a:buBlip>
            </a:pPr>
            <a:r>
              <a:rPr lang="zh-CN" altLang="en-US" sz="2400" b="1" dirty="0"/>
              <a:t>优点：</a:t>
            </a:r>
            <a:r>
              <a:rPr lang="zh-CN" altLang="en-US" sz="2400" dirty="0"/>
              <a:t>长短兼顾，可防止某类作业长时间垄断</a:t>
            </a:r>
            <a:r>
              <a:rPr lang="en-US" altLang="zh-CN" sz="2400" dirty="0"/>
              <a:t>CPU</a:t>
            </a:r>
          </a:p>
          <a:p>
            <a:pPr marL="342900" lvl="2" indent="-342900">
              <a:buBlip>
                <a:blip r:embed="rId2"/>
              </a:buBlip>
            </a:pPr>
            <a:r>
              <a:rPr lang="zh-CN" altLang="en-US" sz="2400" b="1" dirty="0"/>
              <a:t>缺点：</a:t>
            </a:r>
            <a:r>
              <a:rPr lang="zh-CN" altLang="en-US" sz="2400" dirty="0"/>
              <a:t>增加了系统的开销</a:t>
            </a:r>
            <a:endParaRPr lang="en-US" altLang="zh-CN" sz="2400" dirty="0"/>
          </a:p>
        </p:txBody>
      </p:sp>
      <p:sp>
        <p:nvSpPr>
          <p:cNvPr id="20"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7.</a:t>
            </a:r>
            <a:r>
              <a:rPr lang="zh-CN" altLang="en-US" sz="2400" b="1" dirty="0">
                <a:solidFill>
                  <a:srgbClr val="3D7351"/>
                </a:solidFill>
                <a:latin typeface="微软雅黑" panose="020B0503020204020204" pitchFamily="34" charset="-122"/>
                <a:ea typeface="微软雅黑" panose="020B0503020204020204" pitchFamily="34" charset="-122"/>
              </a:rPr>
              <a:t>优先级调度算法</a:t>
            </a:r>
          </a:p>
        </p:txBody>
      </p:sp>
      <p:sp>
        <p:nvSpPr>
          <p:cNvPr id="22" name="AutoShape 10"/>
          <p:cNvSpPr>
            <a:spLocks noChangeArrowheads="1"/>
          </p:cNvSpPr>
          <p:nvPr/>
        </p:nvSpPr>
        <p:spPr bwMode="auto">
          <a:xfrm>
            <a:off x="6768583" y="674390"/>
            <a:ext cx="2428875" cy="1246117"/>
          </a:xfrm>
          <a:prstGeom prst="wedgeRectCallout">
            <a:avLst>
              <a:gd name="adj1" fmla="val -50561"/>
              <a:gd name="adj2" fmla="val 62786"/>
            </a:avLst>
          </a:prstGeom>
          <a:solidFill>
            <a:srgbClr val="FFFFFF"/>
          </a:solidFill>
          <a:ln w="9525">
            <a:solidFill>
              <a:schemeClr val="tx1"/>
            </a:solidFill>
            <a:miter lim="800000"/>
            <a:headEnd/>
            <a:tailEnd/>
          </a:ln>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1800" b="0" dirty="0">
                <a:latin typeface="Tahoma" pitchFamily="34" charset="0"/>
              </a:rPr>
              <a:t>确定优先级的依据：</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进程类型</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进程对资源的需求</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用户要求</a:t>
            </a:r>
          </a:p>
        </p:txBody>
      </p:sp>
    </p:spTree>
    <p:extLst>
      <p:ext uri="{BB962C8B-B14F-4D97-AF65-F5344CB8AC3E}">
        <p14:creationId xmlns:p14="http://schemas.microsoft.com/office/powerpoint/2010/main" val="255009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trips(downLef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linds(horizontal)">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xit" presetSubtype="0" fill="hold" grpId="1" nodeType="clickEffect">
                                  <p:stCondLst>
                                    <p:cond delay="0"/>
                                  </p:stCondLst>
                                  <p:childTnLst>
                                    <p:animEffect transition="out" filter="dissolve">
                                      <p:cBhvr>
                                        <p:cTn id="44" dur="500"/>
                                        <p:tgtEl>
                                          <p:spTgt spid="22"/>
                                        </p:tgtEl>
                                      </p:cBhvr>
                                    </p:animEffect>
                                    <p:set>
                                      <p:cBhvr>
                                        <p:cTn id="45" dur="1" fill="hold">
                                          <p:stCondLst>
                                            <p:cond delay="499"/>
                                          </p:stCondLst>
                                        </p:cTn>
                                        <p:tgtEl>
                                          <p:spTgt spid="2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8" presetClass="entr" presetSubtype="12"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strips(downLeft)">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10" grpId="0" animBg="1"/>
      <p:bldP spid="11" grpId="0" animBg="1"/>
      <p:bldP spid="12" grpId="0" animBg="1"/>
      <p:bldP spid="17" grpId="0"/>
      <p:bldP spid="18" grpId="0"/>
      <p:bldP spid="22" grpId="0" animBg="1"/>
      <p:bldP spid="22"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78290" y="1120021"/>
            <a:ext cx="6377004" cy="665162"/>
            <a:chOff x="978290" y="1120021"/>
            <a:chExt cx="6377004" cy="665162"/>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基本思想</a:t>
              </a: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4" name="文本框 19"/>
          <p:cNvSpPr txBox="1">
            <a:spLocks noChangeArrowheads="1"/>
          </p:cNvSpPr>
          <p:nvPr/>
        </p:nvSpPr>
        <p:spPr bwMode="auto">
          <a:xfrm>
            <a:off x="1091855" y="1892926"/>
            <a:ext cx="10291796" cy="234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将不同类型或性质的就绪进程固定分配在</a:t>
            </a:r>
            <a:r>
              <a:rPr lang="zh-CN" altLang="en-US" sz="2400" b="1" dirty="0">
                <a:solidFill>
                  <a:schemeClr val="accent2"/>
                </a:solidFill>
              </a:rPr>
              <a:t>不同的就绪队列</a:t>
            </a:r>
            <a:r>
              <a:rPr lang="zh-CN" altLang="en-US" sz="2400" dirty="0"/>
              <a:t>；</a:t>
            </a:r>
            <a:endParaRPr lang="en-US" altLang="zh-CN" sz="2400" dirty="0"/>
          </a:p>
          <a:p>
            <a:pPr marL="0" lvl="2" indent="0">
              <a:buBlip>
                <a:blip r:embed="rId3"/>
              </a:buBlip>
            </a:pPr>
            <a:r>
              <a:rPr lang="zh-CN" altLang="en-US" sz="2400" dirty="0"/>
              <a:t>不同的就绪队列采用</a:t>
            </a:r>
            <a:r>
              <a:rPr lang="zh-CN" altLang="en-US" sz="2400" b="1" dirty="0">
                <a:solidFill>
                  <a:schemeClr val="accent2"/>
                </a:solidFill>
              </a:rPr>
              <a:t>不同的调度算法</a:t>
            </a:r>
            <a:r>
              <a:rPr lang="zh-CN" altLang="en-US" sz="2400" dirty="0"/>
              <a:t>；</a:t>
            </a:r>
            <a:endParaRPr lang="en-US" altLang="zh-CN" sz="2400" dirty="0"/>
          </a:p>
          <a:p>
            <a:pPr marL="0" lvl="2" indent="0">
              <a:buBlip>
                <a:blip r:embed="rId3"/>
              </a:buBlip>
            </a:pPr>
            <a:r>
              <a:rPr lang="zh-CN" altLang="en-US" sz="2400" dirty="0"/>
              <a:t>一个就绪队列中的</a:t>
            </a:r>
            <a:r>
              <a:rPr lang="zh-CN" altLang="en-US" sz="2400" b="1" dirty="0">
                <a:solidFill>
                  <a:schemeClr val="accent2"/>
                </a:solidFill>
              </a:rPr>
              <a:t>进程</a:t>
            </a:r>
            <a:r>
              <a:rPr lang="zh-CN" altLang="en-US" sz="2400" dirty="0"/>
              <a:t>可以设置</a:t>
            </a:r>
            <a:r>
              <a:rPr lang="zh-CN" altLang="en-US" sz="2400" b="1" dirty="0">
                <a:solidFill>
                  <a:schemeClr val="accent2"/>
                </a:solidFill>
              </a:rPr>
              <a:t>不同的优先级</a:t>
            </a:r>
            <a:r>
              <a:rPr lang="zh-CN" altLang="en-US" sz="2400" dirty="0"/>
              <a:t>；</a:t>
            </a:r>
            <a:endParaRPr lang="en-US" altLang="zh-CN" sz="2400" dirty="0"/>
          </a:p>
          <a:p>
            <a:pPr marL="0" lvl="2" indent="0">
              <a:buBlip>
                <a:blip r:embed="rId3"/>
              </a:buBlip>
            </a:pPr>
            <a:r>
              <a:rPr lang="zh-CN" altLang="en-US" sz="2400" dirty="0"/>
              <a:t>不同的</a:t>
            </a:r>
            <a:r>
              <a:rPr lang="zh-CN" altLang="en-US" sz="2400" b="1" dirty="0">
                <a:solidFill>
                  <a:schemeClr val="accent2"/>
                </a:solidFill>
              </a:rPr>
              <a:t>就绪队列</a:t>
            </a:r>
            <a:r>
              <a:rPr lang="zh-CN" altLang="en-US" sz="2400" dirty="0"/>
              <a:t>本身也可以设置</a:t>
            </a:r>
            <a:r>
              <a:rPr lang="zh-CN" altLang="en-US" sz="2400" b="1" dirty="0">
                <a:solidFill>
                  <a:schemeClr val="accent2"/>
                </a:solidFill>
              </a:rPr>
              <a:t>不同的优先级</a:t>
            </a:r>
            <a:r>
              <a:rPr lang="zh-CN" altLang="en-US" sz="2400" dirty="0"/>
              <a:t>。</a:t>
            </a:r>
            <a:endParaRPr lang="en-US" altLang="zh-CN" sz="2400" dirty="0"/>
          </a:p>
          <a:p>
            <a:pPr marL="514350" indent="-457200">
              <a:lnSpc>
                <a:spcPct val="110000"/>
              </a:lnSpc>
            </a:pPr>
            <a:r>
              <a:rPr lang="zh-CN" altLang="en-US" sz="2400" b="1" dirty="0">
                <a:solidFill>
                  <a:schemeClr val="accent2"/>
                </a:solidFill>
              </a:rPr>
              <a:t>举例：</a:t>
            </a:r>
            <a:r>
              <a:rPr lang="zh-CN" altLang="en-US" sz="2400" b="1" dirty="0"/>
              <a:t>多处理机系统</a:t>
            </a:r>
          </a:p>
          <a:p>
            <a:pPr marL="0" lvl="2" indent="0">
              <a:buBlip>
                <a:blip r:embed="rId3"/>
              </a:buBlip>
            </a:pPr>
            <a:endParaRPr lang="en-US" altLang="zh-CN" sz="2400" dirty="0"/>
          </a:p>
        </p:txBody>
      </p:sp>
      <p:sp>
        <p:nvSpPr>
          <p:cNvPr id="15"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8.</a:t>
            </a:r>
            <a:r>
              <a:rPr lang="zh-CN" altLang="en-US" sz="2400" b="1" dirty="0">
                <a:solidFill>
                  <a:srgbClr val="3D7351"/>
                </a:solidFill>
                <a:latin typeface="微软雅黑" panose="020B0503020204020204" pitchFamily="34" charset="-122"/>
                <a:ea typeface="微软雅黑" panose="020B0503020204020204" pitchFamily="34" charset="-122"/>
              </a:rPr>
              <a:t>多队列调度算法</a:t>
            </a:r>
          </a:p>
        </p:txBody>
      </p:sp>
    </p:spTree>
    <p:extLst>
      <p:ext uri="{BB962C8B-B14F-4D97-AF65-F5344CB8AC3E}">
        <p14:creationId xmlns:p14="http://schemas.microsoft.com/office/powerpoint/2010/main" val="313096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down)">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arn(inVertical)">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wipe(down)">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barn(inVertical)">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barn(inVertical)">
                                      <p:cBhvr>
                                        <p:cTn id="27"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a:grpSpLocks/>
          </p:cNvGrpSpPr>
          <p:nvPr/>
        </p:nvGrpSpPr>
        <p:grpSpPr bwMode="auto">
          <a:xfrm>
            <a:off x="6349890" y="1481828"/>
            <a:ext cx="576262" cy="2374900"/>
            <a:chOff x="0" y="0"/>
            <a:chExt cx="363" cy="1497"/>
          </a:xfrm>
        </p:grpSpPr>
        <p:sp>
          <p:nvSpPr>
            <p:cNvPr id="4" name="Line 3"/>
            <p:cNvSpPr>
              <a:spLocks noChangeShapeType="1"/>
            </p:cNvSpPr>
            <p:nvPr/>
          </p:nvSpPr>
          <p:spPr bwMode="auto">
            <a:xfrm>
              <a:off x="363" y="0"/>
              <a:ext cx="0" cy="1497"/>
            </a:xfrm>
            <a:prstGeom prst="line">
              <a:avLst/>
            </a:prstGeom>
            <a:noFill/>
            <a:ln w="5715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Text Box 4"/>
            <p:cNvSpPr txBox="1">
              <a:spLocks noChangeArrowheads="1"/>
            </p:cNvSpPr>
            <p:nvPr/>
          </p:nvSpPr>
          <p:spPr bwMode="auto">
            <a:xfrm>
              <a:off x="0" y="544"/>
              <a:ext cx="34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a:solidFill>
                    <a:srgbClr val="FF0066"/>
                  </a:solidFill>
                  <a:latin typeface="黑体" pitchFamily="49" charset="-122"/>
                  <a:ea typeface="黑体" pitchFamily="49" charset="-122"/>
                </a:rPr>
                <a:t>优先权</a:t>
              </a:r>
            </a:p>
          </p:txBody>
        </p:sp>
      </p:grpSp>
      <p:grpSp>
        <p:nvGrpSpPr>
          <p:cNvPr id="6" name="Group 7"/>
          <p:cNvGrpSpPr>
            <a:grpSpLocks/>
          </p:cNvGrpSpPr>
          <p:nvPr/>
        </p:nvGrpSpPr>
        <p:grpSpPr bwMode="auto">
          <a:xfrm>
            <a:off x="8077090" y="3209028"/>
            <a:ext cx="73025" cy="501650"/>
            <a:chOff x="0" y="0"/>
            <a:chExt cx="46" cy="317"/>
          </a:xfrm>
        </p:grpSpPr>
        <p:sp>
          <p:nvSpPr>
            <p:cNvPr id="7" name="Oval 8"/>
            <p:cNvSpPr>
              <a:spLocks noChangeArrowheads="1"/>
            </p:cNvSpPr>
            <p:nvPr/>
          </p:nvSpPr>
          <p:spPr bwMode="auto">
            <a:xfrm>
              <a:off x="0" y="0"/>
              <a:ext cx="46" cy="45"/>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latin typeface="Tahoma" pitchFamily="34" charset="0"/>
                <a:ea typeface="黑体" pitchFamily="49" charset="-122"/>
              </a:endParaRPr>
            </a:p>
          </p:txBody>
        </p:sp>
        <p:sp>
          <p:nvSpPr>
            <p:cNvPr id="8" name="Oval 9"/>
            <p:cNvSpPr>
              <a:spLocks noChangeArrowheads="1"/>
            </p:cNvSpPr>
            <p:nvPr/>
          </p:nvSpPr>
          <p:spPr bwMode="auto">
            <a:xfrm>
              <a:off x="0" y="136"/>
              <a:ext cx="46" cy="45"/>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latin typeface="Tahoma" pitchFamily="34" charset="0"/>
                <a:ea typeface="黑体" pitchFamily="49" charset="-122"/>
              </a:endParaRPr>
            </a:p>
          </p:txBody>
        </p:sp>
        <p:sp>
          <p:nvSpPr>
            <p:cNvPr id="9" name="Oval 10"/>
            <p:cNvSpPr>
              <a:spLocks noChangeArrowheads="1"/>
            </p:cNvSpPr>
            <p:nvPr/>
          </p:nvSpPr>
          <p:spPr bwMode="auto">
            <a:xfrm>
              <a:off x="0" y="272"/>
              <a:ext cx="46" cy="45"/>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latin typeface="Tahoma" pitchFamily="34" charset="0"/>
                <a:ea typeface="黑体" pitchFamily="49" charset="-122"/>
              </a:endParaRPr>
            </a:p>
          </p:txBody>
        </p:sp>
      </p:grpSp>
      <p:grpSp>
        <p:nvGrpSpPr>
          <p:cNvPr id="10" name="Group 11"/>
          <p:cNvGrpSpPr>
            <a:grpSpLocks/>
          </p:cNvGrpSpPr>
          <p:nvPr/>
        </p:nvGrpSpPr>
        <p:grpSpPr bwMode="auto">
          <a:xfrm>
            <a:off x="5162441" y="754753"/>
            <a:ext cx="2236789" cy="581025"/>
            <a:chOff x="432" y="0"/>
            <a:chExt cx="1409" cy="367"/>
          </a:xfrm>
        </p:grpSpPr>
        <p:sp>
          <p:nvSpPr>
            <p:cNvPr id="11" name="Line 12"/>
            <p:cNvSpPr>
              <a:spLocks noChangeShapeType="1"/>
            </p:cNvSpPr>
            <p:nvPr/>
          </p:nvSpPr>
          <p:spPr bwMode="auto">
            <a:xfrm>
              <a:off x="581" y="367"/>
              <a:ext cx="1234" cy="0"/>
            </a:xfrm>
            <a:prstGeom prst="line">
              <a:avLst/>
            </a:prstGeom>
            <a:noFill/>
            <a:ln w="38100">
              <a:solidFill>
                <a:srgbClr val="00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Text Box 13"/>
            <p:cNvSpPr txBox="1">
              <a:spLocks noChangeArrowheads="1"/>
            </p:cNvSpPr>
            <p:nvPr/>
          </p:nvSpPr>
          <p:spPr bwMode="auto">
            <a:xfrm>
              <a:off x="432" y="0"/>
              <a:ext cx="1409"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000" dirty="0">
                  <a:latin typeface="黑体" pitchFamily="49" charset="-122"/>
                  <a:ea typeface="黑体" pitchFamily="49" charset="-122"/>
                </a:rPr>
                <a:t>新入就绪队列进程</a:t>
              </a:r>
            </a:p>
          </p:txBody>
        </p:sp>
      </p:grpSp>
      <p:grpSp>
        <p:nvGrpSpPr>
          <p:cNvPr id="13" name="Group 14"/>
          <p:cNvGrpSpPr>
            <a:grpSpLocks/>
          </p:cNvGrpSpPr>
          <p:nvPr/>
        </p:nvGrpSpPr>
        <p:grpSpPr bwMode="auto">
          <a:xfrm>
            <a:off x="9158177" y="1034153"/>
            <a:ext cx="1362075" cy="457200"/>
            <a:chOff x="0" y="0"/>
            <a:chExt cx="858" cy="288"/>
          </a:xfrm>
        </p:grpSpPr>
        <p:sp>
          <p:nvSpPr>
            <p:cNvPr id="14" name="Line 15"/>
            <p:cNvSpPr>
              <a:spLocks noChangeShapeType="1"/>
            </p:cNvSpPr>
            <p:nvPr/>
          </p:nvSpPr>
          <p:spPr bwMode="auto">
            <a:xfrm flipV="1">
              <a:off x="0" y="145"/>
              <a:ext cx="447" cy="1"/>
            </a:xfrm>
            <a:prstGeom prst="line">
              <a:avLst/>
            </a:prstGeom>
            <a:noFill/>
            <a:ln w="38100">
              <a:solidFill>
                <a:srgbClr val="00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Text Box 16"/>
            <p:cNvSpPr txBox="1">
              <a:spLocks noChangeArrowheads="1"/>
            </p:cNvSpPr>
            <p:nvPr/>
          </p:nvSpPr>
          <p:spPr bwMode="auto">
            <a:xfrm>
              <a:off x="454" y="0"/>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dirty="0">
                  <a:latin typeface="黑体" pitchFamily="49" charset="-122"/>
                  <a:ea typeface="黑体" pitchFamily="49" charset="-122"/>
                </a:rPr>
                <a:t>CPU</a:t>
              </a:r>
            </a:p>
          </p:txBody>
        </p:sp>
      </p:grpSp>
      <p:grpSp>
        <p:nvGrpSpPr>
          <p:cNvPr id="16" name="Group 17"/>
          <p:cNvGrpSpPr>
            <a:grpSpLocks/>
          </p:cNvGrpSpPr>
          <p:nvPr/>
        </p:nvGrpSpPr>
        <p:grpSpPr bwMode="auto">
          <a:xfrm>
            <a:off x="10577972" y="1034153"/>
            <a:ext cx="1344613" cy="457200"/>
            <a:chOff x="0" y="0"/>
            <a:chExt cx="847" cy="288"/>
          </a:xfrm>
        </p:grpSpPr>
        <p:sp>
          <p:nvSpPr>
            <p:cNvPr id="17" name="Line 18"/>
            <p:cNvSpPr>
              <a:spLocks noChangeShapeType="1"/>
            </p:cNvSpPr>
            <p:nvPr/>
          </p:nvSpPr>
          <p:spPr bwMode="auto">
            <a:xfrm flipV="1">
              <a:off x="0" y="144"/>
              <a:ext cx="340" cy="1"/>
            </a:xfrm>
            <a:prstGeom prst="line">
              <a:avLst/>
            </a:prstGeom>
            <a:noFill/>
            <a:ln w="38100">
              <a:solidFill>
                <a:srgbClr val="00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19"/>
            <p:cNvSpPr txBox="1">
              <a:spLocks noChangeArrowheads="1"/>
            </p:cNvSpPr>
            <p:nvPr/>
          </p:nvSpPr>
          <p:spPr bwMode="auto">
            <a:xfrm>
              <a:off x="347" y="0"/>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dirty="0">
                  <a:latin typeface="黑体" pitchFamily="49" charset="-122"/>
                  <a:ea typeface="黑体" pitchFamily="49" charset="-122"/>
                </a:rPr>
                <a:t>完成</a:t>
              </a:r>
            </a:p>
          </p:txBody>
        </p:sp>
      </p:grpSp>
      <p:sp>
        <p:nvSpPr>
          <p:cNvPr id="19" name="Line 20"/>
          <p:cNvSpPr>
            <a:spLocks noChangeShapeType="1"/>
          </p:cNvSpPr>
          <p:nvPr/>
        </p:nvSpPr>
        <p:spPr bwMode="auto">
          <a:xfrm>
            <a:off x="9158177" y="1335778"/>
            <a:ext cx="431800"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p:cNvSpPr>
            <a:spLocks noChangeShapeType="1"/>
          </p:cNvSpPr>
          <p:nvPr/>
        </p:nvSpPr>
        <p:spPr bwMode="auto">
          <a:xfrm>
            <a:off x="9661415" y="1335778"/>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2"/>
          <p:cNvSpPr>
            <a:spLocks noChangeShapeType="1"/>
          </p:cNvSpPr>
          <p:nvPr/>
        </p:nvSpPr>
        <p:spPr bwMode="auto">
          <a:xfrm flipH="1">
            <a:off x="6997590" y="1767578"/>
            <a:ext cx="2663825"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3"/>
          <p:cNvSpPr>
            <a:spLocks noChangeShapeType="1"/>
          </p:cNvSpPr>
          <p:nvPr/>
        </p:nvSpPr>
        <p:spPr bwMode="auto">
          <a:xfrm>
            <a:off x="7069027" y="1840603"/>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
          <p:cNvSpPr>
            <a:spLocks noChangeShapeType="1"/>
          </p:cNvSpPr>
          <p:nvPr/>
        </p:nvSpPr>
        <p:spPr bwMode="auto">
          <a:xfrm>
            <a:off x="7069027" y="2345428"/>
            <a:ext cx="288925" cy="0"/>
          </a:xfrm>
          <a:prstGeom prst="line">
            <a:avLst/>
          </a:prstGeom>
          <a:noFill/>
          <a:ln w="38100">
            <a:solidFill>
              <a:srgbClr val="6666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5"/>
          <p:cNvSpPr>
            <a:spLocks noChangeShapeType="1"/>
          </p:cNvSpPr>
          <p:nvPr/>
        </p:nvSpPr>
        <p:spPr bwMode="auto">
          <a:xfrm>
            <a:off x="9158177" y="688078"/>
            <a:ext cx="0" cy="358775"/>
          </a:xfrm>
          <a:prstGeom prst="line">
            <a:avLst/>
          </a:prstGeom>
          <a:noFill/>
          <a:ln w="38100">
            <a:solidFill>
              <a:srgbClr val="66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26"/>
          <p:cNvSpPr txBox="1">
            <a:spLocks noChangeArrowheads="1"/>
          </p:cNvSpPr>
          <p:nvPr/>
        </p:nvSpPr>
        <p:spPr bwMode="auto">
          <a:xfrm>
            <a:off x="8777177" y="383278"/>
            <a:ext cx="6413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1800">
                <a:latin typeface="黑体" pitchFamily="49" charset="-122"/>
                <a:ea typeface="黑体" pitchFamily="49" charset="-122"/>
              </a:rPr>
              <a:t>Head</a:t>
            </a:r>
          </a:p>
        </p:txBody>
      </p:sp>
      <p:grpSp>
        <p:nvGrpSpPr>
          <p:cNvPr id="26" name="Group 27"/>
          <p:cNvGrpSpPr>
            <a:grpSpLocks/>
          </p:cNvGrpSpPr>
          <p:nvPr/>
        </p:nvGrpSpPr>
        <p:grpSpPr bwMode="auto">
          <a:xfrm>
            <a:off x="7356365" y="1046853"/>
            <a:ext cx="1801812" cy="504825"/>
            <a:chOff x="0" y="0"/>
            <a:chExt cx="1135" cy="318"/>
          </a:xfrm>
        </p:grpSpPr>
        <p:sp>
          <p:nvSpPr>
            <p:cNvPr id="27" name="AutoShape 28"/>
            <p:cNvSpPr>
              <a:spLocks noChangeArrowheads="1"/>
            </p:cNvSpPr>
            <p:nvPr/>
          </p:nvSpPr>
          <p:spPr bwMode="auto">
            <a:xfrm>
              <a:off x="1" y="0"/>
              <a:ext cx="1134" cy="318"/>
            </a:xfrm>
            <a:prstGeom prst="flowChartProcess">
              <a:avLst/>
            </a:prstGeom>
            <a:solidFill>
              <a:srgbClr val="CCECFF"/>
            </a:solidFill>
            <a:ln w="9525">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lang="zh-CN" altLang="zh-CN" sz="2400">
                  <a:latin typeface="黑体" pitchFamily="49" charset="-122"/>
                  <a:ea typeface="黑体" pitchFamily="49" charset="-122"/>
                </a:rPr>
                <a:t>就绪队列1</a:t>
              </a:r>
            </a:p>
          </p:txBody>
        </p:sp>
        <p:sp>
          <p:nvSpPr>
            <p:cNvPr id="28" name="Rectangle 29"/>
            <p:cNvSpPr>
              <a:spLocks noChangeArrowheads="1"/>
            </p:cNvSpPr>
            <p:nvPr/>
          </p:nvSpPr>
          <p:spPr bwMode="auto">
            <a:xfrm>
              <a:off x="0" y="7"/>
              <a:ext cx="91" cy="311"/>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latin typeface="Tahoma" pitchFamily="34" charset="0"/>
                <a:ea typeface="黑体" pitchFamily="49" charset="-122"/>
              </a:endParaRPr>
            </a:p>
          </p:txBody>
        </p:sp>
      </p:grpSp>
      <p:grpSp>
        <p:nvGrpSpPr>
          <p:cNvPr id="29" name="Group 30"/>
          <p:cNvGrpSpPr>
            <a:grpSpLocks/>
          </p:cNvGrpSpPr>
          <p:nvPr/>
        </p:nvGrpSpPr>
        <p:grpSpPr bwMode="auto">
          <a:xfrm>
            <a:off x="7357952" y="1983478"/>
            <a:ext cx="1800225" cy="504825"/>
            <a:chOff x="0" y="0"/>
            <a:chExt cx="1134" cy="318"/>
          </a:xfrm>
        </p:grpSpPr>
        <p:sp>
          <p:nvSpPr>
            <p:cNvPr id="30" name="AutoShape 31"/>
            <p:cNvSpPr>
              <a:spLocks noChangeArrowheads="1"/>
            </p:cNvSpPr>
            <p:nvPr/>
          </p:nvSpPr>
          <p:spPr bwMode="auto">
            <a:xfrm>
              <a:off x="0" y="0"/>
              <a:ext cx="1134" cy="318"/>
            </a:xfrm>
            <a:prstGeom prst="flowChartProcess">
              <a:avLst/>
            </a:prstGeom>
            <a:solidFill>
              <a:srgbClr val="CCECFF"/>
            </a:solidFill>
            <a:ln w="9525">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lang="zh-CN" altLang="zh-CN" sz="2400">
                  <a:latin typeface="黑体" pitchFamily="49" charset="-122"/>
                  <a:ea typeface="黑体" pitchFamily="49" charset="-122"/>
                </a:rPr>
                <a:t>就绪队列2</a:t>
              </a:r>
            </a:p>
          </p:txBody>
        </p:sp>
        <p:sp>
          <p:nvSpPr>
            <p:cNvPr id="31" name="Rectangle 32"/>
            <p:cNvSpPr>
              <a:spLocks noChangeArrowheads="1"/>
            </p:cNvSpPr>
            <p:nvPr/>
          </p:nvSpPr>
          <p:spPr bwMode="auto">
            <a:xfrm>
              <a:off x="0" y="7"/>
              <a:ext cx="91" cy="311"/>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latin typeface="Tahoma" pitchFamily="34" charset="0"/>
                <a:ea typeface="黑体" pitchFamily="49" charset="-122"/>
              </a:endParaRPr>
            </a:p>
          </p:txBody>
        </p:sp>
      </p:grpSp>
      <p:grpSp>
        <p:nvGrpSpPr>
          <p:cNvPr id="32" name="Group 33"/>
          <p:cNvGrpSpPr>
            <a:grpSpLocks/>
          </p:cNvGrpSpPr>
          <p:nvPr/>
        </p:nvGrpSpPr>
        <p:grpSpPr bwMode="auto">
          <a:xfrm>
            <a:off x="7357952" y="4072628"/>
            <a:ext cx="1801813" cy="504825"/>
            <a:chOff x="0" y="0"/>
            <a:chExt cx="1135" cy="318"/>
          </a:xfrm>
        </p:grpSpPr>
        <p:sp>
          <p:nvSpPr>
            <p:cNvPr id="33" name="AutoShape 34"/>
            <p:cNvSpPr>
              <a:spLocks noChangeArrowheads="1"/>
            </p:cNvSpPr>
            <p:nvPr/>
          </p:nvSpPr>
          <p:spPr bwMode="auto">
            <a:xfrm>
              <a:off x="1" y="0"/>
              <a:ext cx="1134" cy="318"/>
            </a:xfrm>
            <a:prstGeom prst="flowChartProcess">
              <a:avLst/>
            </a:prstGeom>
            <a:solidFill>
              <a:srgbClr val="CCECFF"/>
            </a:solidFill>
            <a:ln w="9525">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lang="zh-CN" altLang="zh-CN" sz="2400">
                  <a:latin typeface="黑体" pitchFamily="49" charset="-122"/>
                  <a:ea typeface="黑体" pitchFamily="49" charset="-122"/>
                </a:rPr>
                <a:t>就绪队列n</a:t>
              </a:r>
            </a:p>
          </p:txBody>
        </p:sp>
        <p:sp>
          <p:nvSpPr>
            <p:cNvPr id="34" name="Rectangle 35"/>
            <p:cNvSpPr>
              <a:spLocks noChangeArrowheads="1"/>
            </p:cNvSpPr>
            <p:nvPr/>
          </p:nvSpPr>
          <p:spPr bwMode="auto">
            <a:xfrm>
              <a:off x="0" y="6"/>
              <a:ext cx="91" cy="311"/>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latin typeface="Tahoma" pitchFamily="34" charset="0"/>
                <a:ea typeface="黑体" pitchFamily="49" charset="-122"/>
              </a:endParaRPr>
            </a:p>
          </p:txBody>
        </p:sp>
      </p:grpSp>
      <p:grpSp>
        <p:nvGrpSpPr>
          <p:cNvPr id="35" name="Group 36"/>
          <p:cNvGrpSpPr>
            <a:grpSpLocks/>
          </p:cNvGrpSpPr>
          <p:nvPr/>
        </p:nvGrpSpPr>
        <p:grpSpPr bwMode="auto">
          <a:xfrm>
            <a:off x="9158177" y="1983478"/>
            <a:ext cx="1347788" cy="457200"/>
            <a:chOff x="0" y="0"/>
            <a:chExt cx="849" cy="288"/>
          </a:xfrm>
        </p:grpSpPr>
        <p:sp>
          <p:nvSpPr>
            <p:cNvPr id="36" name="Line 37"/>
            <p:cNvSpPr>
              <a:spLocks noChangeShapeType="1"/>
            </p:cNvSpPr>
            <p:nvPr/>
          </p:nvSpPr>
          <p:spPr bwMode="auto">
            <a:xfrm flipV="1">
              <a:off x="0" y="144"/>
              <a:ext cx="447" cy="1"/>
            </a:xfrm>
            <a:prstGeom prst="line">
              <a:avLst/>
            </a:prstGeom>
            <a:noFill/>
            <a:ln w="38100">
              <a:solidFill>
                <a:srgbClr val="00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Text Box 38"/>
            <p:cNvSpPr txBox="1">
              <a:spLocks noChangeArrowheads="1"/>
            </p:cNvSpPr>
            <p:nvPr/>
          </p:nvSpPr>
          <p:spPr bwMode="auto">
            <a:xfrm>
              <a:off x="445" y="0"/>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dirty="0">
                  <a:latin typeface="黑体" pitchFamily="49" charset="-122"/>
                  <a:ea typeface="黑体" pitchFamily="49" charset="-122"/>
                </a:rPr>
                <a:t>CPU</a:t>
              </a:r>
            </a:p>
          </p:txBody>
        </p:sp>
      </p:grpSp>
      <p:grpSp>
        <p:nvGrpSpPr>
          <p:cNvPr id="38" name="Group 39"/>
          <p:cNvGrpSpPr>
            <a:grpSpLocks/>
          </p:cNvGrpSpPr>
          <p:nvPr/>
        </p:nvGrpSpPr>
        <p:grpSpPr bwMode="auto">
          <a:xfrm>
            <a:off x="10592720" y="1983478"/>
            <a:ext cx="1330325" cy="457200"/>
            <a:chOff x="0" y="0"/>
            <a:chExt cx="838" cy="288"/>
          </a:xfrm>
        </p:grpSpPr>
        <p:sp>
          <p:nvSpPr>
            <p:cNvPr id="39" name="Line 40"/>
            <p:cNvSpPr>
              <a:spLocks noChangeShapeType="1"/>
            </p:cNvSpPr>
            <p:nvPr/>
          </p:nvSpPr>
          <p:spPr bwMode="auto">
            <a:xfrm flipV="1">
              <a:off x="0" y="144"/>
              <a:ext cx="340" cy="1"/>
            </a:xfrm>
            <a:prstGeom prst="line">
              <a:avLst/>
            </a:prstGeom>
            <a:noFill/>
            <a:ln w="38100">
              <a:solidFill>
                <a:srgbClr val="00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Text Box 41"/>
            <p:cNvSpPr txBox="1">
              <a:spLocks noChangeArrowheads="1"/>
            </p:cNvSpPr>
            <p:nvPr/>
          </p:nvSpPr>
          <p:spPr bwMode="auto">
            <a:xfrm>
              <a:off x="338" y="0"/>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dirty="0">
                  <a:latin typeface="黑体" pitchFamily="49" charset="-122"/>
                  <a:ea typeface="黑体" pitchFamily="49" charset="-122"/>
                </a:rPr>
                <a:t>完成</a:t>
              </a:r>
            </a:p>
          </p:txBody>
        </p:sp>
      </p:grpSp>
      <p:sp>
        <p:nvSpPr>
          <p:cNvPr id="41" name="Line 42"/>
          <p:cNvSpPr>
            <a:spLocks noChangeShapeType="1"/>
          </p:cNvSpPr>
          <p:nvPr/>
        </p:nvSpPr>
        <p:spPr bwMode="auto">
          <a:xfrm>
            <a:off x="9158177" y="2345428"/>
            <a:ext cx="431800"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43"/>
          <p:cNvSpPr>
            <a:spLocks noChangeShapeType="1"/>
          </p:cNvSpPr>
          <p:nvPr/>
        </p:nvSpPr>
        <p:spPr bwMode="auto">
          <a:xfrm>
            <a:off x="9661415" y="2345428"/>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44"/>
          <p:cNvSpPr>
            <a:spLocks noChangeShapeType="1"/>
          </p:cNvSpPr>
          <p:nvPr/>
        </p:nvSpPr>
        <p:spPr bwMode="auto">
          <a:xfrm flipH="1">
            <a:off x="6997590" y="2777228"/>
            <a:ext cx="2663825"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45"/>
          <p:cNvSpPr>
            <a:spLocks noChangeShapeType="1"/>
          </p:cNvSpPr>
          <p:nvPr/>
        </p:nvSpPr>
        <p:spPr bwMode="auto">
          <a:xfrm>
            <a:off x="7069027" y="2847078"/>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46"/>
          <p:cNvSpPr>
            <a:spLocks noChangeShapeType="1"/>
          </p:cNvSpPr>
          <p:nvPr/>
        </p:nvSpPr>
        <p:spPr bwMode="auto">
          <a:xfrm>
            <a:off x="7069027" y="3351903"/>
            <a:ext cx="288925" cy="0"/>
          </a:xfrm>
          <a:prstGeom prst="line">
            <a:avLst/>
          </a:prstGeom>
          <a:noFill/>
          <a:ln w="38100">
            <a:solidFill>
              <a:srgbClr val="6666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47"/>
          <p:cNvSpPr>
            <a:spLocks noChangeShapeType="1"/>
          </p:cNvSpPr>
          <p:nvPr/>
        </p:nvSpPr>
        <p:spPr bwMode="auto">
          <a:xfrm>
            <a:off x="9158177" y="3424928"/>
            <a:ext cx="431800"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48"/>
          <p:cNvSpPr>
            <a:spLocks noChangeShapeType="1"/>
          </p:cNvSpPr>
          <p:nvPr/>
        </p:nvSpPr>
        <p:spPr bwMode="auto">
          <a:xfrm>
            <a:off x="9661415" y="3424928"/>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49"/>
          <p:cNvSpPr>
            <a:spLocks noChangeShapeType="1"/>
          </p:cNvSpPr>
          <p:nvPr/>
        </p:nvSpPr>
        <p:spPr bwMode="auto">
          <a:xfrm flipH="1">
            <a:off x="6997590" y="3783703"/>
            <a:ext cx="2663825"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50"/>
          <p:cNvSpPr>
            <a:spLocks noChangeShapeType="1"/>
          </p:cNvSpPr>
          <p:nvPr/>
        </p:nvSpPr>
        <p:spPr bwMode="auto">
          <a:xfrm>
            <a:off x="7069027" y="3783703"/>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51"/>
          <p:cNvSpPr>
            <a:spLocks noChangeShapeType="1"/>
          </p:cNvSpPr>
          <p:nvPr/>
        </p:nvSpPr>
        <p:spPr bwMode="auto">
          <a:xfrm>
            <a:off x="7069027" y="4288528"/>
            <a:ext cx="288925" cy="0"/>
          </a:xfrm>
          <a:prstGeom prst="line">
            <a:avLst/>
          </a:prstGeom>
          <a:noFill/>
          <a:ln w="38100">
            <a:solidFill>
              <a:srgbClr val="6666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 name="Group 52"/>
          <p:cNvGrpSpPr>
            <a:grpSpLocks/>
          </p:cNvGrpSpPr>
          <p:nvPr/>
        </p:nvGrpSpPr>
        <p:grpSpPr bwMode="auto">
          <a:xfrm>
            <a:off x="9158177" y="3961503"/>
            <a:ext cx="1304925" cy="457200"/>
            <a:chOff x="0" y="0"/>
            <a:chExt cx="822" cy="288"/>
          </a:xfrm>
        </p:grpSpPr>
        <p:sp>
          <p:nvSpPr>
            <p:cNvPr id="52" name="Line 53"/>
            <p:cNvSpPr>
              <a:spLocks noChangeShapeType="1"/>
            </p:cNvSpPr>
            <p:nvPr/>
          </p:nvSpPr>
          <p:spPr bwMode="auto">
            <a:xfrm flipV="1">
              <a:off x="0" y="144"/>
              <a:ext cx="447" cy="1"/>
            </a:xfrm>
            <a:prstGeom prst="line">
              <a:avLst/>
            </a:prstGeom>
            <a:noFill/>
            <a:ln w="38100">
              <a:solidFill>
                <a:srgbClr val="00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Text Box 54"/>
            <p:cNvSpPr txBox="1">
              <a:spLocks noChangeArrowheads="1"/>
            </p:cNvSpPr>
            <p:nvPr/>
          </p:nvSpPr>
          <p:spPr bwMode="auto">
            <a:xfrm>
              <a:off x="418" y="0"/>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dirty="0">
                  <a:latin typeface="黑体" pitchFamily="49" charset="-122"/>
                  <a:ea typeface="黑体" pitchFamily="49" charset="-122"/>
                </a:rPr>
                <a:t>CPU</a:t>
              </a:r>
            </a:p>
          </p:txBody>
        </p:sp>
      </p:grpSp>
      <p:grpSp>
        <p:nvGrpSpPr>
          <p:cNvPr id="54" name="Group 55"/>
          <p:cNvGrpSpPr>
            <a:grpSpLocks/>
          </p:cNvGrpSpPr>
          <p:nvPr/>
        </p:nvGrpSpPr>
        <p:grpSpPr bwMode="auto">
          <a:xfrm>
            <a:off x="10548476" y="3961503"/>
            <a:ext cx="1344613" cy="457200"/>
            <a:chOff x="0" y="0"/>
            <a:chExt cx="847" cy="288"/>
          </a:xfrm>
        </p:grpSpPr>
        <p:sp>
          <p:nvSpPr>
            <p:cNvPr id="55" name="Line 56"/>
            <p:cNvSpPr>
              <a:spLocks noChangeShapeType="1"/>
            </p:cNvSpPr>
            <p:nvPr/>
          </p:nvSpPr>
          <p:spPr bwMode="auto">
            <a:xfrm>
              <a:off x="0" y="145"/>
              <a:ext cx="347" cy="0"/>
            </a:xfrm>
            <a:prstGeom prst="line">
              <a:avLst/>
            </a:prstGeom>
            <a:noFill/>
            <a:ln w="38100">
              <a:solidFill>
                <a:srgbClr val="00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Text Box 57"/>
            <p:cNvSpPr txBox="1">
              <a:spLocks noChangeArrowheads="1"/>
            </p:cNvSpPr>
            <p:nvPr/>
          </p:nvSpPr>
          <p:spPr bwMode="auto">
            <a:xfrm>
              <a:off x="347" y="0"/>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dirty="0">
                  <a:latin typeface="黑体" pitchFamily="49" charset="-122"/>
                  <a:ea typeface="黑体" pitchFamily="49" charset="-122"/>
                </a:rPr>
                <a:t>完成</a:t>
              </a:r>
            </a:p>
          </p:txBody>
        </p:sp>
      </p:grpSp>
      <p:sp>
        <p:nvSpPr>
          <p:cNvPr id="57" name="Line 58"/>
          <p:cNvSpPr>
            <a:spLocks noChangeShapeType="1"/>
          </p:cNvSpPr>
          <p:nvPr/>
        </p:nvSpPr>
        <p:spPr bwMode="auto">
          <a:xfrm>
            <a:off x="9158177" y="4361553"/>
            <a:ext cx="431800"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59"/>
          <p:cNvSpPr>
            <a:spLocks noChangeShapeType="1"/>
          </p:cNvSpPr>
          <p:nvPr/>
        </p:nvSpPr>
        <p:spPr bwMode="auto">
          <a:xfrm>
            <a:off x="9661415" y="4361553"/>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60"/>
          <p:cNvSpPr>
            <a:spLocks noChangeShapeType="1"/>
          </p:cNvSpPr>
          <p:nvPr/>
        </p:nvSpPr>
        <p:spPr bwMode="auto">
          <a:xfrm flipH="1">
            <a:off x="6997590" y="4866378"/>
            <a:ext cx="2663825" cy="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61"/>
          <p:cNvSpPr>
            <a:spLocks noChangeShapeType="1"/>
          </p:cNvSpPr>
          <p:nvPr/>
        </p:nvSpPr>
        <p:spPr bwMode="auto">
          <a:xfrm>
            <a:off x="7069027" y="4431403"/>
            <a:ext cx="0" cy="431800"/>
          </a:xfrm>
          <a:prstGeom prst="line">
            <a:avLst/>
          </a:prstGeom>
          <a:noFill/>
          <a:ln w="38100">
            <a:solidFill>
              <a:srgbClr val="6666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Line 62"/>
          <p:cNvSpPr>
            <a:spLocks noChangeShapeType="1"/>
          </p:cNvSpPr>
          <p:nvPr/>
        </p:nvSpPr>
        <p:spPr bwMode="auto">
          <a:xfrm>
            <a:off x="7069027" y="4431403"/>
            <a:ext cx="288925" cy="0"/>
          </a:xfrm>
          <a:prstGeom prst="line">
            <a:avLst/>
          </a:prstGeom>
          <a:noFill/>
          <a:ln w="38100">
            <a:solidFill>
              <a:srgbClr val="6666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8.</a:t>
            </a:r>
            <a:r>
              <a:rPr lang="zh-CN" altLang="en-US" sz="2400" b="1" dirty="0">
                <a:solidFill>
                  <a:srgbClr val="3D7351"/>
                </a:solidFill>
                <a:latin typeface="微软雅黑" panose="020B0503020204020204" pitchFamily="34" charset="-122"/>
                <a:ea typeface="微软雅黑" panose="020B0503020204020204" pitchFamily="34" charset="-122"/>
              </a:rPr>
              <a:t>多级反馈队列</a:t>
            </a:r>
          </a:p>
        </p:txBody>
      </p:sp>
      <p:grpSp>
        <p:nvGrpSpPr>
          <p:cNvPr id="63" name="组合 62"/>
          <p:cNvGrpSpPr/>
          <p:nvPr/>
        </p:nvGrpSpPr>
        <p:grpSpPr>
          <a:xfrm>
            <a:off x="978290" y="1120021"/>
            <a:ext cx="6377004" cy="665162"/>
            <a:chOff x="978290" y="1120021"/>
            <a:chExt cx="6377004" cy="665162"/>
          </a:xfrm>
        </p:grpSpPr>
        <p:sp>
          <p:nvSpPr>
            <p:cNvPr id="64" name="矩形 63"/>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5" name="矩形 6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）调度机制</a:t>
              </a:r>
            </a:p>
          </p:txBody>
        </p:sp>
      </p:grpSp>
      <p:sp>
        <p:nvSpPr>
          <p:cNvPr id="67" name="文本框 19"/>
          <p:cNvSpPr txBox="1">
            <a:spLocks noChangeArrowheads="1"/>
          </p:cNvSpPr>
          <p:nvPr/>
        </p:nvSpPr>
        <p:spPr bwMode="auto">
          <a:xfrm>
            <a:off x="1019985" y="1935770"/>
            <a:ext cx="5358482"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600" dirty="0">
                <a:solidFill>
                  <a:srgbClr val="000000"/>
                </a:solidFill>
              </a:rPr>
              <a:t>设置</a:t>
            </a:r>
            <a:r>
              <a:rPr lang="zh-CN" altLang="en-US" sz="2600" b="1" dirty="0">
                <a:solidFill>
                  <a:schemeClr val="accent2"/>
                </a:solidFill>
              </a:rPr>
              <a:t>多个就绪队列</a:t>
            </a:r>
            <a:r>
              <a:rPr lang="zh-CN" altLang="en-US" sz="2600" dirty="0">
                <a:solidFill>
                  <a:srgbClr val="000000"/>
                </a:solidFill>
              </a:rPr>
              <a:t>，并为各个队列赋予</a:t>
            </a:r>
            <a:r>
              <a:rPr lang="zh-CN" altLang="en-US" sz="2600" b="1" dirty="0">
                <a:solidFill>
                  <a:schemeClr val="accent2"/>
                </a:solidFill>
              </a:rPr>
              <a:t>不同的优先权</a:t>
            </a:r>
            <a:r>
              <a:rPr lang="zh-CN" altLang="en-US" sz="2600" dirty="0">
                <a:solidFill>
                  <a:srgbClr val="000000"/>
                </a:solidFill>
              </a:rPr>
              <a:t>，</a:t>
            </a:r>
            <a:r>
              <a:rPr lang="zh-CN" altLang="en-US" sz="2600" dirty="0"/>
              <a:t>第一个队列的优先级最高，优先级依次降低。</a:t>
            </a:r>
            <a:endParaRPr lang="en-US" altLang="zh-CN" sz="2600" dirty="0">
              <a:solidFill>
                <a:srgbClr val="000000"/>
              </a:solidFill>
            </a:endParaRPr>
          </a:p>
          <a:p>
            <a:pPr marL="0" lvl="2" indent="0">
              <a:buBlip>
                <a:blip r:embed="rId2"/>
              </a:buBlip>
            </a:pPr>
            <a:r>
              <a:rPr lang="zh-CN" altLang="en-US" sz="2600" dirty="0">
                <a:solidFill>
                  <a:srgbClr val="000000"/>
                </a:solidFill>
              </a:rPr>
              <a:t>赋予各个队列中进程执行</a:t>
            </a:r>
            <a:r>
              <a:rPr lang="zh-CN" altLang="en-US" sz="2600" b="1" dirty="0">
                <a:solidFill>
                  <a:schemeClr val="accent2"/>
                </a:solidFill>
              </a:rPr>
              <a:t>时间片</a:t>
            </a:r>
            <a:r>
              <a:rPr lang="zh-CN" altLang="en-US" sz="2600" dirty="0">
                <a:solidFill>
                  <a:srgbClr val="000000"/>
                </a:solidFill>
              </a:rPr>
              <a:t>的大小也各</a:t>
            </a:r>
            <a:r>
              <a:rPr lang="zh-CN" altLang="en-US" sz="2600" b="1" dirty="0">
                <a:solidFill>
                  <a:schemeClr val="accent2"/>
                </a:solidFill>
              </a:rPr>
              <a:t>不相同</a:t>
            </a:r>
            <a:r>
              <a:rPr lang="zh-CN" altLang="en-US" sz="2600" dirty="0">
                <a:solidFill>
                  <a:srgbClr val="000000"/>
                </a:solidFill>
              </a:rPr>
              <a:t>。优先权愈高，时间片愈小。</a:t>
            </a:r>
            <a:endParaRPr lang="en-US" altLang="zh-CN" sz="2600" dirty="0">
              <a:solidFill>
                <a:srgbClr val="000000"/>
              </a:solidFill>
            </a:endParaRPr>
          </a:p>
          <a:p>
            <a:pPr marL="0" lvl="2" indent="0">
              <a:buBlip>
                <a:blip r:embed="rId2"/>
              </a:buBlip>
            </a:pPr>
            <a:r>
              <a:rPr lang="zh-CN" altLang="en-US" sz="2600" b="1" dirty="0">
                <a:solidFill>
                  <a:schemeClr val="accent2"/>
                </a:solidFill>
              </a:rPr>
              <a:t>新进程</a:t>
            </a:r>
            <a:r>
              <a:rPr lang="zh-CN" altLang="en-US" sz="2600" dirty="0">
                <a:solidFill>
                  <a:srgbClr val="000000"/>
                </a:solidFill>
              </a:rPr>
              <a:t>进入内存后，放在第一队列未尾，先来先服务；一个时间片内运行不完，则转下一队列。</a:t>
            </a:r>
            <a:endParaRPr lang="en-US" altLang="zh-CN" sz="2600" dirty="0">
              <a:solidFill>
                <a:srgbClr val="000000"/>
              </a:solidFill>
            </a:endParaRPr>
          </a:p>
          <a:p>
            <a:pPr marL="0" lvl="2" indent="0">
              <a:buBlip>
                <a:blip r:embed="rId2"/>
              </a:buBlip>
            </a:pPr>
            <a:r>
              <a:rPr lang="zh-CN" altLang="en-US" sz="2600" dirty="0">
                <a:solidFill>
                  <a:srgbClr val="000000"/>
                </a:solidFill>
              </a:rPr>
              <a:t>按队列顺序运行，最后一个队列按</a:t>
            </a:r>
            <a:r>
              <a:rPr lang="zh-CN" altLang="en-US" sz="2600" b="1" dirty="0">
                <a:solidFill>
                  <a:schemeClr val="accent2"/>
                </a:solidFill>
              </a:rPr>
              <a:t>时间片轮转</a:t>
            </a:r>
            <a:r>
              <a:rPr lang="zh-CN" altLang="en-US" sz="2600" dirty="0">
                <a:solidFill>
                  <a:srgbClr val="000000"/>
                </a:solidFill>
              </a:rPr>
              <a:t>，其余按</a:t>
            </a:r>
            <a:r>
              <a:rPr lang="en-US" altLang="zh-CN" sz="2600" b="1" dirty="0">
                <a:solidFill>
                  <a:schemeClr val="accent2"/>
                </a:solidFill>
              </a:rPr>
              <a:t>FCFS</a:t>
            </a:r>
            <a:r>
              <a:rPr lang="zh-CN" altLang="en-US" sz="2600" dirty="0">
                <a:solidFill>
                  <a:srgbClr val="000000"/>
                </a:solidFill>
              </a:rPr>
              <a:t>运行。</a:t>
            </a:r>
            <a:endParaRPr lang="zh-CN" altLang="en-US" sz="2600" dirty="0"/>
          </a:p>
        </p:txBody>
      </p:sp>
      <p:sp>
        <p:nvSpPr>
          <p:cNvPr id="68" name="Text Box 54"/>
          <p:cNvSpPr txBox="1">
            <a:spLocks noChangeArrowheads="1"/>
          </p:cNvSpPr>
          <p:nvPr/>
        </p:nvSpPr>
        <p:spPr bwMode="auto">
          <a:xfrm>
            <a:off x="7069027" y="5286375"/>
            <a:ext cx="3851275" cy="391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0800" rIns="0" bIns="10800">
            <a:spAutoFit/>
          </a:bodyPr>
          <a:lstStyle/>
          <a:p>
            <a:pPr algn="ctr"/>
            <a:r>
              <a:rPr lang="en-US" altLang="zh-CN" dirty="0">
                <a:ea typeface="宋体" pitchFamily="2" charset="-122"/>
              </a:rPr>
              <a:t>(</a:t>
            </a:r>
            <a:r>
              <a:rPr lang="zh-CN" altLang="en-US" sz="2400" dirty="0">
                <a:latin typeface="黑体" pitchFamily="49" charset="-122"/>
                <a:ea typeface="黑体" pitchFamily="49" charset="-122"/>
              </a:rPr>
              <a:t>时间片：</a:t>
            </a:r>
            <a:r>
              <a:rPr lang="en-US" altLang="zh-CN" sz="2400" dirty="0">
                <a:latin typeface="黑体" pitchFamily="49" charset="-122"/>
                <a:ea typeface="黑体" pitchFamily="49" charset="-122"/>
              </a:rPr>
              <a:t>S1&lt;S2&lt;S3&lt;…&lt;Sn)</a:t>
            </a:r>
          </a:p>
        </p:txBody>
      </p:sp>
    </p:spTree>
    <p:extLst>
      <p:ext uri="{BB962C8B-B14F-4D97-AF65-F5344CB8AC3E}">
        <p14:creationId xmlns:p14="http://schemas.microsoft.com/office/powerpoint/2010/main" val="174455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7">
                                            <p:txEl>
                                              <p:pRg st="0" end="0"/>
                                            </p:txEl>
                                          </p:spTgt>
                                        </p:tgtEl>
                                        <p:attrNameLst>
                                          <p:attrName>style.visibility</p:attrName>
                                        </p:attrNameLst>
                                      </p:cBhvr>
                                      <p:to>
                                        <p:strVal val="visible"/>
                                      </p:to>
                                    </p:set>
                                    <p:animEffect transition="in" filter="wipe(down)">
                                      <p:cBhvr>
                                        <p:cTn id="7" dur="500"/>
                                        <p:tgtEl>
                                          <p:spTgt spid="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7">
                                            <p:txEl>
                                              <p:pRg st="1" end="1"/>
                                            </p:txEl>
                                          </p:spTgt>
                                        </p:tgtEl>
                                        <p:attrNameLst>
                                          <p:attrName>style.visibility</p:attrName>
                                        </p:attrNameLst>
                                      </p:cBhvr>
                                      <p:to>
                                        <p:strVal val="visible"/>
                                      </p:to>
                                    </p:set>
                                    <p:animEffect transition="in" filter="barn(inVertical)">
                                      <p:cBhvr>
                                        <p:cTn id="17" dur="500"/>
                                        <p:tgtEl>
                                          <p:spTgt spid="6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down)">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7">
                                            <p:txEl>
                                              <p:pRg st="2" end="2"/>
                                            </p:txEl>
                                          </p:spTgt>
                                        </p:tgtEl>
                                        <p:attrNameLst>
                                          <p:attrName>style.visibility</p:attrName>
                                        </p:attrNameLst>
                                      </p:cBhvr>
                                      <p:to>
                                        <p:strVal val="visible"/>
                                      </p:to>
                                    </p:set>
                                    <p:animEffect transition="in" filter="barn(inVertical)">
                                      <p:cBhvr>
                                        <p:cTn id="27" dur="500"/>
                                        <p:tgtEl>
                                          <p:spTgt spid="6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trips(downRigh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trips(downRigh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strips(downRigh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strips(downRight)">
                                      <p:cBhvr>
                                        <p:cTn id="47" dur="500"/>
                                        <p:tgtEl>
                                          <p:spTgt spid="19"/>
                                        </p:tgtEl>
                                      </p:cBhvr>
                                    </p:animEffect>
                                  </p:childTnLst>
                                </p:cTn>
                              </p:par>
                            </p:childTnLst>
                          </p:cTn>
                        </p:par>
                        <p:par>
                          <p:cTn id="48" fill="hold">
                            <p:stCondLst>
                              <p:cond delay="500"/>
                            </p:stCondLst>
                            <p:childTnLst>
                              <p:par>
                                <p:cTn id="49" presetID="18" presetClass="entr" presetSubtype="12"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strips(downLeft)">
                                      <p:cBhvr>
                                        <p:cTn id="51" dur="500"/>
                                        <p:tgtEl>
                                          <p:spTgt spid="20"/>
                                        </p:tgtEl>
                                      </p:cBhvr>
                                    </p:animEffect>
                                  </p:childTnLst>
                                </p:cTn>
                              </p:par>
                            </p:childTnLst>
                          </p:cTn>
                        </p:par>
                        <p:par>
                          <p:cTn id="52" fill="hold">
                            <p:stCondLst>
                              <p:cond delay="1000"/>
                            </p:stCondLst>
                            <p:childTnLst>
                              <p:par>
                                <p:cTn id="53" presetID="18" presetClass="entr" presetSubtype="12"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strips(downLeft)">
                                      <p:cBhvr>
                                        <p:cTn id="55" dur="500"/>
                                        <p:tgtEl>
                                          <p:spTgt spid="21"/>
                                        </p:tgtEl>
                                      </p:cBhvr>
                                    </p:animEffect>
                                  </p:childTnLst>
                                </p:cTn>
                              </p:par>
                            </p:childTnLst>
                          </p:cTn>
                        </p:par>
                        <p:par>
                          <p:cTn id="56" fill="hold">
                            <p:stCondLst>
                              <p:cond delay="1500"/>
                            </p:stCondLst>
                            <p:childTnLst>
                              <p:par>
                                <p:cTn id="57" presetID="18" presetClass="entr" presetSubtype="12"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strips(downLeft)">
                                      <p:cBhvr>
                                        <p:cTn id="59" dur="500"/>
                                        <p:tgtEl>
                                          <p:spTgt spid="22"/>
                                        </p:tgtEl>
                                      </p:cBhvr>
                                    </p:animEffect>
                                  </p:childTnLst>
                                </p:cTn>
                              </p:par>
                            </p:childTnLst>
                          </p:cTn>
                        </p:par>
                        <p:par>
                          <p:cTn id="60" fill="hold">
                            <p:stCondLst>
                              <p:cond delay="2000"/>
                            </p:stCondLst>
                            <p:childTnLst>
                              <p:par>
                                <p:cTn id="61" presetID="18" presetClass="entr" presetSubtype="6"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strips(downRight)">
                                      <p:cBhvr>
                                        <p:cTn id="63" dur="5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18" presetClass="entr" presetSubtype="6" fill="hold" nodeType="click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strips(downRight)">
                                      <p:cBhvr>
                                        <p:cTn id="68" dur="5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6" fill="hold" nodeType="click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strips(downRight)">
                                      <p:cBhvr>
                                        <p:cTn id="73" dur="500"/>
                                        <p:tgtEl>
                                          <p:spTgt spid="38"/>
                                        </p:tgtEl>
                                      </p:cBhvr>
                                    </p:animEffect>
                                  </p:childTnLst>
                                </p:cTn>
                              </p:par>
                            </p:childTnLst>
                          </p:cTn>
                        </p:par>
                      </p:childTnLst>
                    </p:cTn>
                  </p:par>
                  <p:par>
                    <p:cTn id="74" fill="hold">
                      <p:stCondLst>
                        <p:cond delay="indefinite"/>
                      </p:stCondLst>
                      <p:childTnLst>
                        <p:par>
                          <p:cTn id="75" fill="hold">
                            <p:stCondLst>
                              <p:cond delay="0"/>
                            </p:stCondLst>
                            <p:childTnLst>
                              <p:par>
                                <p:cTn id="76" presetID="18" presetClass="entr" presetSubtype="6" fill="hold" grpId="0" nodeType="click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strips(downRight)">
                                      <p:cBhvr>
                                        <p:cTn id="78" dur="500"/>
                                        <p:tgtEl>
                                          <p:spTgt spid="41"/>
                                        </p:tgtEl>
                                      </p:cBhvr>
                                    </p:animEffect>
                                  </p:childTnLst>
                                </p:cTn>
                              </p:par>
                            </p:childTnLst>
                          </p:cTn>
                        </p:par>
                        <p:par>
                          <p:cTn id="79" fill="hold">
                            <p:stCondLst>
                              <p:cond delay="500"/>
                            </p:stCondLst>
                            <p:childTnLst>
                              <p:par>
                                <p:cTn id="80" presetID="18" presetClass="entr" presetSubtype="12" fill="hold" grpId="0" nodeType="after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strips(downLeft)">
                                      <p:cBhvr>
                                        <p:cTn id="82" dur="500"/>
                                        <p:tgtEl>
                                          <p:spTgt spid="42"/>
                                        </p:tgtEl>
                                      </p:cBhvr>
                                    </p:animEffect>
                                  </p:childTnLst>
                                </p:cTn>
                              </p:par>
                            </p:childTnLst>
                          </p:cTn>
                        </p:par>
                        <p:par>
                          <p:cTn id="83" fill="hold">
                            <p:stCondLst>
                              <p:cond delay="1000"/>
                            </p:stCondLst>
                            <p:childTnLst>
                              <p:par>
                                <p:cTn id="84" presetID="18" presetClass="entr" presetSubtype="12" fill="hold" grpId="0" nodeType="after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strips(downLeft)">
                                      <p:cBhvr>
                                        <p:cTn id="86" dur="500"/>
                                        <p:tgtEl>
                                          <p:spTgt spid="43"/>
                                        </p:tgtEl>
                                      </p:cBhvr>
                                    </p:animEffect>
                                  </p:childTnLst>
                                </p:cTn>
                              </p:par>
                            </p:childTnLst>
                          </p:cTn>
                        </p:par>
                        <p:par>
                          <p:cTn id="87" fill="hold">
                            <p:stCondLst>
                              <p:cond delay="1500"/>
                            </p:stCondLst>
                            <p:childTnLst>
                              <p:par>
                                <p:cTn id="88" presetID="18" presetClass="entr" presetSubtype="12" fill="hold" grpId="0" nodeType="after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strips(downLeft)">
                                      <p:cBhvr>
                                        <p:cTn id="90" dur="500"/>
                                        <p:tgtEl>
                                          <p:spTgt spid="44"/>
                                        </p:tgtEl>
                                      </p:cBhvr>
                                    </p:animEffect>
                                  </p:childTnLst>
                                </p:cTn>
                              </p:par>
                            </p:childTnLst>
                          </p:cTn>
                        </p:par>
                        <p:par>
                          <p:cTn id="91" fill="hold">
                            <p:stCondLst>
                              <p:cond delay="2000"/>
                            </p:stCondLst>
                            <p:childTnLst>
                              <p:par>
                                <p:cTn id="92" presetID="18" presetClass="entr" presetSubtype="6" fill="hold" grpId="0" nodeType="after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strips(downRight)">
                                      <p:cBhvr>
                                        <p:cTn id="94" dur="500"/>
                                        <p:tgtEl>
                                          <p:spTgt spid="45"/>
                                        </p:tgtEl>
                                      </p:cBhvr>
                                    </p:animEffect>
                                  </p:childTnLst>
                                </p:cTn>
                              </p:par>
                            </p:childTnLst>
                          </p:cTn>
                        </p:par>
                      </p:childTnLst>
                    </p:cTn>
                  </p:par>
                  <p:par>
                    <p:cTn id="95" fill="hold">
                      <p:stCondLst>
                        <p:cond delay="indefinite"/>
                      </p:stCondLst>
                      <p:childTnLst>
                        <p:par>
                          <p:cTn id="96" fill="hold">
                            <p:stCondLst>
                              <p:cond delay="0"/>
                            </p:stCondLst>
                            <p:childTnLst>
                              <p:par>
                                <p:cTn id="97" presetID="18" presetClass="entr" presetSubtype="6" fill="hold" grpId="0" nodeType="click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strips(downRight)">
                                      <p:cBhvr>
                                        <p:cTn id="99" dur="500"/>
                                        <p:tgtEl>
                                          <p:spTgt spid="46"/>
                                        </p:tgtEl>
                                      </p:cBhvr>
                                    </p:animEffect>
                                  </p:childTnLst>
                                </p:cTn>
                              </p:par>
                            </p:childTnLst>
                          </p:cTn>
                        </p:par>
                        <p:par>
                          <p:cTn id="100" fill="hold">
                            <p:stCondLst>
                              <p:cond delay="500"/>
                            </p:stCondLst>
                            <p:childTnLst>
                              <p:par>
                                <p:cTn id="101" presetID="18" presetClass="entr" presetSubtype="12" fill="hold" grpId="0" nodeType="after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strips(downLeft)">
                                      <p:cBhvr>
                                        <p:cTn id="103" dur="500"/>
                                        <p:tgtEl>
                                          <p:spTgt spid="47"/>
                                        </p:tgtEl>
                                      </p:cBhvr>
                                    </p:animEffect>
                                  </p:childTnLst>
                                </p:cTn>
                              </p:par>
                            </p:childTnLst>
                          </p:cTn>
                        </p:par>
                        <p:par>
                          <p:cTn id="104" fill="hold">
                            <p:stCondLst>
                              <p:cond delay="1000"/>
                            </p:stCondLst>
                            <p:childTnLst>
                              <p:par>
                                <p:cTn id="105" presetID="18" presetClass="entr" presetSubtype="12" fill="hold" grpId="0" nodeType="after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strips(downLeft)">
                                      <p:cBhvr>
                                        <p:cTn id="107" dur="500"/>
                                        <p:tgtEl>
                                          <p:spTgt spid="48"/>
                                        </p:tgtEl>
                                      </p:cBhvr>
                                    </p:animEffect>
                                  </p:childTnLst>
                                </p:cTn>
                              </p:par>
                            </p:childTnLst>
                          </p:cTn>
                        </p:par>
                        <p:par>
                          <p:cTn id="108" fill="hold">
                            <p:stCondLst>
                              <p:cond delay="1500"/>
                            </p:stCondLst>
                            <p:childTnLst>
                              <p:par>
                                <p:cTn id="109" presetID="18" presetClass="entr" presetSubtype="12" fill="hold" grpId="0" nodeType="afterEffect">
                                  <p:stCondLst>
                                    <p:cond delay="0"/>
                                  </p:stCondLst>
                                  <p:childTnLst>
                                    <p:set>
                                      <p:cBhvr>
                                        <p:cTn id="110" dur="1" fill="hold">
                                          <p:stCondLst>
                                            <p:cond delay="0"/>
                                          </p:stCondLst>
                                        </p:cTn>
                                        <p:tgtEl>
                                          <p:spTgt spid="49"/>
                                        </p:tgtEl>
                                        <p:attrNameLst>
                                          <p:attrName>style.visibility</p:attrName>
                                        </p:attrNameLst>
                                      </p:cBhvr>
                                      <p:to>
                                        <p:strVal val="visible"/>
                                      </p:to>
                                    </p:set>
                                    <p:animEffect transition="in" filter="strips(downLeft)">
                                      <p:cBhvr>
                                        <p:cTn id="111" dur="500"/>
                                        <p:tgtEl>
                                          <p:spTgt spid="49"/>
                                        </p:tgtEl>
                                      </p:cBhvr>
                                    </p:animEffect>
                                  </p:childTnLst>
                                </p:cTn>
                              </p:par>
                            </p:childTnLst>
                          </p:cTn>
                        </p:par>
                        <p:par>
                          <p:cTn id="112" fill="hold">
                            <p:stCondLst>
                              <p:cond delay="2000"/>
                            </p:stCondLst>
                            <p:childTnLst>
                              <p:par>
                                <p:cTn id="113" presetID="18" presetClass="entr" presetSubtype="6" fill="hold" grpId="0" nodeType="after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strips(downRight)">
                                      <p:cBhvr>
                                        <p:cTn id="115" dur="500"/>
                                        <p:tgtEl>
                                          <p:spTgt spid="50"/>
                                        </p:tgtEl>
                                      </p:cBhvr>
                                    </p:animEffect>
                                  </p:childTnLst>
                                </p:cTn>
                              </p:par>
                            </p:childTnLst>
                          </p:cTn>
                        </p:par>
                      </p:childTnLst>
                    </p:cTn>
                  </p:par>
                  <p:par>
                    <p:cTn id="116" fill="hold">
                      <p:stCondLst>
                        <p:cond delay="indefinite"/>
                      </p:stCondLst>
                      <p:childTnLst>
                        <p:par>
                          <p:cTn id="117" fill="hold">
                            <p:stCondLst>
                              <p:cond delay="0"/>
                            </p:stCondLst>
                            <p:childTnLst>
                              <p:par>
                                <p:cTn id="118" presetID="18" presetClass="entr" presetSubtype="6" fill="hold" nodeType="click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strips(downRight)">
                                      <p:cBhvr>
                                        <p:cTn id="120" dur="500"/>
                                        <p:tgtEl>
                                          <p:spTgt spid="51"/>
                                        </p:tgtEl>
                                      </p:cBhvr>
                                    </p:animEffect>
                                  </p:childTnLst>
                                </p:cTn>
                              </p:par>
                            </p:childTnLst>
                          </p:cTn>
                        </p:par>
                      </p:childTnLst>
                    </p:cTn>
                  </p:par>
                  <p:par>
                    <p:cTn id="121" fill="hold">
                      <p:stCondLst>
                        <p:cond delay="indefinite"/>
                      </p:stCondLst>
                      <p:childTnLst>
                        <p:par>
                          <p:cTn id="122" fill="hold">
                            <p:stCondLst>
                              <p:cond delay="0"/>
                            </p:stCondLst>
                            <p:childTnLst>
                              <p:par>
                                <p:cTn id="123" presetID="18" presetClass="entr" presetSubtype="6" fill="hold" nodeType="click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strips(downRight)">
                                      <p:cBhvr>
                                        <p:cTn id="125" dur="500"/>
                                        <p:tgtEl>
                                          <p:spTgt spid="54"/>
                                        </p:tgtEl>
                                      </p:cBhvr>
                                    </p:animEffect>
                                  </p:childTnLst>
                                </p:cTn>
                              </p:par>
                            </p:childTnLst>
                          </p:cTn>
                        </p:par>
                      </p:childTnLst>
                    </p:cTn>
                  </p:par>
                  <p:par>
                    <p:cTn id="126" fill="hold">
                      <p:stCondLst>
                        <p:cond delay="indefinite"/>
                      </p:stCondLst>
                      <p:childTnLst>
                        <p:par>
                          <p:cTn id="127" fill="hold">
                            <p:stCondLst>
                              <p:cond delay="0"/>
                            </p:stCondLst>
                            <p:childTnLst>
                              <p:par>
                                <p:cTn id="128" presetID="18" presetClass="entr" presetSubtype="6" fill="hold" grpId="0" nodeType="clickEffect">
                                  <p:stCondLst>
                                    <p:cond delay="0"/>
                                  </p:stCondLst>
                                  <p:childTnLst>
                                    <p:set>
                                      <p:cBhvr>
                                        <p:cTn id="129" dur="1" fill="hold">
                                          <p:stCondLst>
                                            <p:cond delay="0"/>
                                          </p:stCondLst>
                                        </p:cTn>
                                        <p:tgtEl>
                                          <p:spTgt spid="57"/>
                                        </p:tgtEl>
                                        <p:attrNameLst>
                                          <p:attrName>style.visibility</p:attrName>
                                        </p:attrNameLst>
                                      </p:cBhvr>
                                      <p:to>
                                        <p:strVal val="visible"/>
                                      </p:to>
                                    </p:set>
                                    <p:animEffect transition="in" filter="strips(downRight)">
                                      <p:cBhvr>
                                        <p:cTn id="130" dur="500"/>
                                        <p:tgtEl>
                                          <p:spTgt spid="57"/>
                                        </p:tgtEl>
                                      </p:cBhvr>
                                    </p:animEffect>
                                  </p:childTnLst>
                                </p:cTn>
                              </p:par>
                            </p:childTnLst>
                          </p:cTn>
                        </p:par>
                        <p:par>
                          <p:cTn id="131" fill="hold">
                            <p:stCondLst>
                              <p:cond delay="500"/>
                            </p:stCondLst>
                            <p:childTnLst>
                              <p:par>
                                <p:cTn id="132" presetID="18" presetClass="entr" presetSubtype="12" fill="hold" grpId="0" nodeType="afterEffect">
                                  <p:stCondLst>
                                    <p:cond delay="0"/>
                                  </p:stCondLst>
                                  <p:childTnLst>
                                    <p:set>
                                      <p:cBhvr>
                                        <p:cTn id="133" dur="1" fill="hold">
                                          <p:stCondLst>
                                            <p:cond delay="0"/>
                                          </p:stCondLst>
                                        </p:cTn>
                                        <p:tgtEl>
                                          <p:spTgt spid="58"/>
                                        </p:tgtEl>
                                        <p:attrNameLst>
                                          <p:attrName>style.visibility</p:attrName>
                                        </p:attrNameLst>
                                      </p:cBhvr>
                                      <p:to>
                                        <p:strVal val="visible"/>
                                      </p:to>
                                    </p:set>
                                    <p:animEffect transition="in" filter="strips(downLeft)">
                                      <p:cBhvr>
                                        <p:cTn id="134" dur="500"/>
                                        <p:tgtEl>
                                          <p:spTgt spid="58"/>
                                        </p:tgtEl>
                                      </p:cBhvr>
                                    </p:animEffect>
                                  </p:childTnLst>
                                </p:cTn>
                              </p:par>
                            </p:childTnLst>
                          </p:cTn>
                        </p:par>
                        <p:par>
                          <p:cTn id="135" fill="hold">
                            <p:stCondLst>
                              <p:cond delay="1000"/>
                            </p:stCondLst>
                            <p:childTnLst>
                              <p:par>
                                <p:cTn id="136" presetID="18" presetClass="entr" presetSubtype="12" fill="hold" grpId="0" nodeType="afterEffect">
                                  <p:stCondLst>
                                    <p:cond delay="0"/>
                                  </p:stCondLst>
                                  <p:childTnLst>
                                    <p:set>
                                      <p:cBhvr>
                                        <p:cTn id="137" dur="1" fill="hold">
                                          <p:stCondLst>
                                            <p:cond delay="0"/>
                                          </p:stCondLst>
                                        </p:cTn>
                                        <p:tgtEl>
                                          <p:spTgt spid="59"/>
                                        </p:tgtEl>
                                        <p:attrNameLst>
                                          <p:attrName>style.visibility</p:attrName>
                                        </p:attrNameLst>
                                      </p:cBhvr>
                                      <p:to>
                                        <p:strVal val="visible"/>
                                      </p:to>
                                    </p:set>
                                    <p:animEffect transition="in" filter="strips(downLeft)">
                                      <p:cBhvr>
                                        <p:cTn id="138" dur="500"/>
                                        <p:tgtEl>
                                          <p:spTgt spid="59"/>
                                        </p:tgtEl>
                                      </p:cBhvr>
                                    </p:animEffect>
                                  </p:childTnLst>
                                </p:cTn>
                              </p:par>
                            </p:childTnLst>
                          </p:cTn>
                        </p:par>
                        <p:par>
                          <p:cTn id="139" fill="hold">
                            <p:stCondLst>
                              <p:cond delay="1500"/>
                            </p:stCondLst>
                            <p:childTnLst>
                              <p:par>
                                <p:cTn id="140" presetID="18" presetClass="entr" presetSubtype="3" fill="hold" grpId="0" nodeType="afterEffect">
                                  <p:stCondLst>
                                    <p:cond delay="0"/>
                                  </p:stCondLst>
                                  <p:childTnLst>
                                    <p:set>
                                      <p:cBhvr>
                                        <p:cTn id="141" dur="1" fill="hold">
                                          <p:stCondLst>
                                            <p:cond delay="0"/>
                                          </p:stCondLst>
                                        </p:cTn>
                                        <p:tgtEl>
                                          <p:spTgt spid="60"/>
                                        </p:tgtEl>
                                        <p:attrNameLst>
                                          <p:attrName>style.visibility</p:attrName>
                                        </p:attrNameLst>
                                      </p:cBhvr>
                                      <p:to>
                                        <p:strVal val="visible"/>
                                      </p:to>
                                    </p:set>
                                    <p:animEffect transition="in" filter="strips(upRight)">
                                      <p:cBhvr>
                                        <p:cTn id="142" dur="500"/>
                                        <p:tgtEl>
                                          <p:spTgt spid="60"/>
                                        </p:tgtEl>
                                      </p:cBhvr>
                                    </p:animEffect>
                                  </p:childTnLst>
                                </p:cTn>
                              </p:par>
                            </p:childTnLst>
                          </p:cTn>
                        </p:par>
                      </p:childTnLst>
                    </p:cTn>
                  </p:par>
                  <p:par>
                    <p:cTn id="143" fill="hold">
                      <p:stCondLst>
                        <p:cond delay="indefinite"/>
                      </p:stCondLst>
                      <p:childTnLst>
                        <p:par>
                          <p:cTn id="144" fill="hold">
                            <p:stCondLst>
                              <p:cond delay="0"/>
                            </p:stCondLst>
                            <p:childTnLst>
                              <p:par>
                                <p:cTn id="145" presetID="16" presetClass="entr" presetSubtype="21" fill="hold" nodeType="clickEffect">
                                  <p:stCondLst>
                                    <p:cond delay="0"/>
                                  </p:stCondLst>
                                  <p:childTnLst>
                                    <p:set>
                                      <p:cBhvr>
                                        <p:cTn id="146" dur="1" fill="hold">
                                          <p:stCondLst>
                                            <p:cond delay="0"/>
                                          </p:stCondLst>
                                        </p:cTn>
                                        <p:tgtEl>
                                          <p:spTgt spid="67">
                                            <p:txEl>
                                              <p:pRg st="3" end="3"/>
                                            </p:txEl>
                                          </p:spTgt>
                                        </p:tgtEl>
                                        <p:attrNameLst>
                                          <p:attrName>style.visibility</p:attrName>
                                        </p:attrNameLst>
                                      </p:cBhvr>
                                      <p:to>
                                        <p:strVal val="visible"/>
                                      </p:to>
                                    </p:set>
                                    <p:animEffect transition="in" filter="barn(inVertical)">
                                      <p:cBhvr>
                                        <p:cTn id="147" dur="500"/>
                                        <p:tgtEl>
                                          <p:spTgt spid="67">
                                            <p:txEl>
                                              <p:pRg st="3" end="3"/>
                                            </p:txEl>
                                          </p:spTgt>
                                        </p:tgtEl>
                                      </p:cBhvr>
                                    </p:animEffect>
                                  </p:childTnLst>
                                </p:cTn>
                              </p:par>
                            </p:childTnLst>
                          </p:cTn>
                        </p:par>
                        <p:par>
                          <p:cTn id="148" fill="hold">
                            <p:stCondLst>
                              <p:cond delay="500"/>
                            </p:stCondLst>
                            <p:childTnLst>
                              <p:par>
                                <p:cTn id="149" presetID="18" presetClass="entr" presetSubtype="6" fill="hold" grpId="0" nodeType="afterEffect">
                                  <p:stCondLst>
                                    <p:cond delay="0"/>
                                  </p:stCondLst>
                                  <p:childTnLst>
                                    <p:set>
                                      <p:cBhvr>
                                        <p:cTn id="150" dur="1" fill="hold">
                                          <p:stCondLst>
                                            <p:cond delay="0"/>
                                          </p:stCondLst>
                                        </p:cTn>
                                        <p:tgtEl>
                                          <p:spTgt spid="61"/>
                                        </p:tgtEl>
                                        <p:attrNameLst>
                                          <p:attrName>style.visibility</p:attrName>
                                        </p:attrNameLst>
                                      </p:cBhvr>
                                      <p:to>
                                        <p:strVal val="visible"/>
                                      </p:to>
                                    </p:set>
                                    <p:animEffect transition="in" filter="strips(downRight)">
                                      <p:cBhvr>
                                        <p:cTn id="151"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7" grpId="0" animBg="1"/>
      <p:bldP spid="58" grpId="0" animBg="1"/>
      <p:bldP spid="59" grpId="0" animBg="1"/>
      <p:bldP spid="60" grpId="0" animBg="1"/>
      <p:bldP spid="61" grpId="0" animBg="1"/>
      <p:bldP spid="6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8.</a:t>
            </a:r>
            <a:r>
              <a:rPr lang="zh-CN" altLang="en-US" sz="2400" b="1" dirty="0">
                <a:solidFill>
                  <a:srgbClr val="3D7351"/>
                </a:solidFill>
                <a:latin typeface="微软雅黑" panose="020B0503020204020204" pitchFamily="34" charset="-122"/>
                <a:ea typeface="微软雅黑" panose="020B0503020204020204" pitchFamily="34" charset="-122"/>
              </a:rPr>
              <a:t>多级反馈队列</a:t>
            </a:r>
          </a:p>
        </p:txBody>
      </p:sp>
      <p:grpSp>
        <p:nvGrpSpPr>
          <p:cNvPr id="63" name="组合 62"/>
          <p:cNvGrpSpPr/>
          <p:nvPr/>
        </p:nvGrpSpPr>
        <p:grpSpPr>
          <a:xfrm>
            <a:off x="978290" y="1120021"/>
            <a:ext cx="6377004" cy="665162"/>
            <a:chOff x="978290" y="1120021"/>
            <a:chExt cx="6377004" cy="665162"/>
          </a:xfrm>
        </p:grpSpPr>
        <p:sp>
          <p:nvSpPr>
            <p:cNvPr id="64" name="矩形 63"/>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5" name="矩形 6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）调度算法的性能</a:t>
              </a:r>
              <a:r>
                <a:rPr lang="en-US" altLang="zh-CN" sz="2400" b="1" dirty="0">
                  <a:solidFill>
                    <a:srgbClr val="4C7E51"/>
                  </a:solidFill>
                  <a:latin typeface="微软雅黑" panose="020B0503020204020204" pitchFamily="34" charset="-122"/>
                  <a:ea typeface="微软雅黑" panose="020B0503020204020204" pitchFamily="34" charset="-122"/>
                </a:rPr>
                <a:t>——</a:t>
              </a:r>
              <a:r>
                <a:rPr lang="zh-CN" altLang="en-US" sz="2400" b="1" dirty="0">
                  <a:solidFill>
                    <a:srgbClr val="4C7E51"/>
                  </a:solidFill>
                  <a:latin typeface="微软雅黑" panose="020B0503020204020204" pitchFamily="34" charset="-122"/>
                  <a:ea typeface="微软雅黑" panose="020B0503020204020204" pitchFamily="34" charset="-122"/>
                </a:rPr>
                <a:t>抢占调度方式</a:t>
              </a:r>
            </a:p>
          </p:txBody>
        </p:sp>
      </p:grpSp>
      <p:sp>
        <p:nvSpPr>
          <p:cNvPr id="67" name="文本框 19"/>
          <p:cNvSpPr txBox="1">
            <a:spLocks noChangeArrowheads="1"/>
          </p:cNvSpPr>
          <p:nvPr/>
        </p:nvSpPr>
        <p:spPr bwMode="auto">
          <a:xfrm>
            <a:off x="1124341" y="2584699"/>
            <a:ext cx="5358482"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600" dirty="0">
                <a:solidFill>
                  <a:srgbClr val="000000"/>
                </a:solidFill>
              </a:rPr>
              <a:t>终端型作业用户</a:t>
            </a:r>
            <a:endParaRPr lang="en-US" altLang="zh-CN" sz="2600" dirty="0">
              <a:solidFill>
                <a:srgbClr val="000000"/>
              </a:solidFill>
            </a:endParaRPr>
          </a:p>
          <a:p>
            <a:pPr marL="0" lvl="2" indent="0">
              <a:buBlip>
                <a:blip r:embed="rId2"/>
              </a:buBlip>
            </a:pPr>
            <a:r>
              <a:rPr lang="zh-CN" altLang="en-US" sz="2600" dirty="0">
                <a:solidFill>
                  <a:srgbClr val="000000"/>
                </a:solidFill>
              </a:rPr>
              <a:t>短批处理作业用户</a:t>
            </a:r>
            <a:endParaRPr lang="en-US" altLang="zh-CN" sz="2600" dirty="0">
              <a:solidFill>
                <a:srgbClr val="000000"/>
              </a:solidFill>
            </a:endParaRPr>
          </a:p>
          <a:p>
            <a:pPr marL="0" lvl="2" indent="0">
              <a:buBlip>
                <a:blip r:embed="rId2"/>
              </a:buBlip>
            </a:pPr>
            <a:r>
              <a:rPr lang="zh-CN" altLang="en-US" sz="2600" dirty="0">
                <a:solidFill>
                  <a:srgbClr val="000000"/>
                </a:solidFill>
              </a:rPr>
              <a:t>长批处理作业用户</a:t>
            </a:r>
          </a:p>
        </p:txBody>
      </p:sp>
      <p:sp>
        <p:nvSpPr>
          <p:cNvPr id="69" name="文本框 54"/>
          <p:cNvSpPr txBox="1">
            <a:spLocks noChangeArrowheads="1"/>
          </p:cNvSpPr>
          <p:nvPr/>
        </p:nvSpPr>
        <p:spPr bwMode="auto">
          <a:xfrm>
            <a:off x="1124341" y="1982084"/>
            <a:ext cx="48013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具有较好的性能，能照顾到各种用户利益</a:t>
            </a:r>
          </a:p>
        </p:txBody>
      </p:sp>
    </p:spTree>
    <p:extLst>
      <p:ext uri="{BB962C8B-B14F-4D97-AF65-F5344CB8AC3E}">
        <p14:creationId xmlns:p14="http://schemas.microsoft.com/office/powerpoint/2010/main" val="114363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69"/>
                                        </p:tgtEl>
                                        <p:attrNameLst>
                                          <p:attrName>style.visibility</p:attrName>
                                        </p:attrNameLst>
                                      </p:cBhvr>
                                      <p:to>
                                        <p:strVal val="visible"/>
                                      </p:to>
                                    </p:set>
                                    <p:anim calcmode="lin" valueType="num">
                                      <p:cBhvr>
                                        <p:cTn id="7" dur="500" fill="hold"/>
                                        <p:tgtEl>
                                          <p:spTgt spid="69"/>
                                        </p:tgtEl>
                                        <p:attrNameLst>
                                          <p:attrName>ppt_w</p:attrName>
                                        </p:attrNameLst>
                                      </p:cBhvr>
                                      <p:tavLst>
                                        <p:tav tm="0">
                                          <p:val>
                                            <p:strVal val="#ppt_w+.3"/>
                                          </p:val>
                                        </p:tav>
                                        <p:tav tm="100000">
                                          <p:val>
                                            <p:strVal val="#ppt_w"/>
                                          </p:val>
                                        </p:tav>
                                      </p:tavLst>
                                    </p:anim>
                                    <p:anim calcmode="lin" valueType="num">
                                      <p:cBhvr>
                                        <p:cTn id="8" dur="500" fill="hold"/>
                                        <p:tgtEl>
                                          <p:spTgt spid="69"/>
                                        </p:tgtEl>
                                        <p:attrNameLst>
                                          <p:attrName>ppt_h</p:attrName>
                                        </p:attrNameLst>
                                      </p:cBhvr>
                                      <p:tavLst>
                                        <p:tav tm="0">
                                          <p:val>
                                            <p:strVal val="#ppt_h"/>
                                          </p:val>
                                        </p:tav>
                                        <p:tav tm="100000">
                                          <p:val>
                                            <p:strVal val="#ppt_h"/>
                                          </p:val>
                                        </p:tav>
                                      </p:tavLst>
                                    </p:anim>
                                    <p:animEffect transition="in" filter="fade">
                                      <p:cBhvr>
                                        <p:cTn id="9" dur="500"/>
                                        <p:tgtEl>
                                          <p:spTgt spid="69"/>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67"/>
                                        </p:tgtEl>
                                        <p:attrNameLst>
                                          <p:attrName>style.visibility</p:attrName>
                                        </p:attrNameLst>
                                      </p:cBhvr>
                                      <p:to>
                                        <p:strVal val="visible"/>
                                      </p:to>
                                    </p:set>
                                    <p:animEffect transition="in" filter="strips(downLeft)">
                                      <p:cBhvr>
                                        <p:cTn id="14"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zh-CN" altLang="en-US"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谢谢收看！</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本节结束！</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40266"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147451370"/>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2215</TotalTime>
  <Words>1944</Words>
  <Application>Microsoft Office PowerPoint</Application>
  <PresentationFormat>宽屏</PresentationFormat>
  <Paragraphs>341</Paragraphs>
  <Slides>25</Slides>
  <Notes>19</Notes>
  <HiddenSlides>0</HiddenSlides>
  <MMClips>0</MMClips>
  <ScaleCrop>false</ScaleCrop>
  <HeadingPairs>
    <vt:vector size="8" baseType="variant">
      <vt:variant>
        <vt:lpstr>已用的字体</vt:lpstr>
      </vt:variant>
      <vt:variant>
        <vt:i4>11</vt:i4>
      </vt:variant>
      <vt:variant>
        <vt:lpstr>主题</vt:lpstr>
      </vt:variant>
      <vt:variant>
        <vt:i4>4</vt:i4>
      </vt:variant>
      <vt:variant>
        <vt:lpstr>嵌入 OLE 服务器</vt:lpstr>
      </vt:variant>
      <vt:variant>
        <vt:i4>2</vt:i4>
      </vt:variant>
      <vt:variant>
        <vt:lpstr>幻灯片标题</vt:lpstr>
      </vt:variant>
      <vt:variant>
        <vt:i4>25</vt:i4>
      </vt:variant>
    </vt:vector>
  </HeadingPairs>
  <TitlesOfParts>
    <vt:vector size="42" baseType="lpstr">
      <vt:lpstr>等线</vt:lpstr>
      <vt:lpstr>等线 Light</vt:lpstr>
      <vt:lpstr>方正清刻本悦宋简体</vt:lpstr>
      <vt:lpstr>黑体</vt:lpstr>
      <vt:lpstr>微软雅黑</vt:lpstr>
      <vt:lpstr>Arial</vt:lpstr>
      <vt:lpstr>Calibri</vt:lpstr>
      <vt:lpstr>Impact</vt:lpstr>
      <vt:lpstr>Tahoma</vt:lpstr>
      <vt:lpstr>Times New Roman</vt:lpstr>
      <vt:lpstr>Wingdings</vt:lpstr>
      <vt:lpstr>1_Office 主题​​</vt:lpstr>
      <vt:lpstr>2_Office 主题​​</vt:lpstr>
      <vt:lpstr>Office 主题​​</vt:lpstr>
      <vt:lpstr>3_Office 主题​​</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子 麦</cp:lastModifiedBy>
  <cp:revision>167</cp:revision>
  <dcterms:created xsi:type="dcterms:W3CDTF">2016-05-18T19:05:46Z</dcterms:created>
  <dcterms:modified xsi:type="dcterms:W3CDTF">2023-10-19T01:26:10Z</dcterms:modified>
</cp:coreProperties>
</file>