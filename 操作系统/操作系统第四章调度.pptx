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6" r:id="rId2"/>
    <p:sldMasterId id="2147483698" r:id="rId3"/>
  </p:sldMasterIdLst>
  <p:notesMasterIdLst>
    <p:notesMasterId r:id="rId19"/>
  </p:notesMasterIdLst>
  <p:sldIdLst>
    <p:sldId id="328" r:id="rId4"/>
    <p:sldId id="260" r:id="rId5"/>
    <p:sldId id="330" r:id="rId6"/>
    <p:sldId id="302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5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294" autoAdjust="0"/>
  </p:normalViewPr>
  <p:slideViewPr>
    <p:cSldViewPr snapToGrid="0">
      <p:cViewPr varScale="1">
        <p:scale>
          <a:sx n="69" d="100"/>
          <a:sy n="69" d="100"/>
        </p:scale>
        <p:origin x="73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93AD-7C06-486F-9754-D5B73F7C37DE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DE87-FC43-4F0C-9C51-E666AB0AC5F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4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/>
              <a:t>Bradley Hand ITC</a:t>
            </a:r>
            <a:endParaRPr lang="zh-CN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22D08D-015A-4468-8FD6-8EC1A3ED6E35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262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1200" dirty="0"/>
              <a:t>处理机是计算机系统中的重要资源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1200" dirty="0"/>
              <a:t>处理机调度算法对整个计算机系统的综合性能指标有重要影响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EDE87-FC43-4F0C-9C51-E666AB0AC5F3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EDE87-FC43-4F0C-9C51-E666AB0AC5F3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模板来自于 </a:t>
            </a:r>
            <a:r>
              <a:rPr lang="en-US" altLang="zh-CN"/>
              <a:t>http://www.ypppt.com</a:t>
            </a:r>
            <a:endParaRPr lang="zh-CN" altLang="en-US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3724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9587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D7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08571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1909627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08571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909627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15586" y="545879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79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829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3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6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71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988828"/>
            <a:ext cx="10515600" cy="5188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7" name="组合 9"/>
          <p:cNvGrpSpPr/>
          <p:nvPr userDrawn="1"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11" name="矩形 10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文本框 31"/>
          <p:cNvSpPr txBox="1"/>
          <p:nvPr userDrawn="1"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71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 dirty="0">
          <a:solidFill>
            <a:srgbClr val="3D735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2048669"/>
            <a:ext cx="7246275" cy="2760663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95747" y="2251341"/>
            <a:ext cx="31099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5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操作系统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39822" y="3912068"/>
            <a:ext cx="4417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200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32"/>
          <p:cNvSpPr txBox="1">
            <a:spLocks noChangeArrowheads="1"/>
          </p:cNvSpPr>
          <p:nvPr/>
        </p:nvSpPr>
        <p:spPr bwMode="auto">
          <a:xfrm>
            <a:off x="5512250" y="4270955"/>
            <a:ext cx="1383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主讲人：房斐斐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143375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896100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6"/>
          <p:cNvSpPr txBox="1"/>
          <p:nvPr/>
        </p:nvSpPr>
        <p:spPr>
          <a:xfrm>
            <a:off x="3668362" y="3208741"/>
            <a:ext cx="49485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第四章 处理机调度与死锁</a:t>
            </a:r>
          </a:p>
        </p:txBody>
      </p:sp>
    </p:spTree>
    <p:extLst>
      <p:ext uri="{BB962C8B-B14F-4D97-AF65-F5344CB8AC3E}">
        <p14:creationId xmlns:p14="http://schemas.microsoft.com/office/powerpoint/2010/main" val="264625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2048669"/>
            <a:ext cx="7246275" cy="2760663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3152633" y="2055523"/>
            <a:ext cx="5631333" cy="2109625"/>
            <a:chOff x="4806642" y="1998681"/>
            <a:chExt cx="4845226" cy="2109625"/>
          </a:xfrm>
        </p:grpSpPr>
        <p:sp>
          <p:nvSpPr>
            <p:cNvPr id="15" name="文本框 13"/>
            <p:cNvSpPr txBox="1">
              <a:spLocks noChangeArrowheads="1"/>
            </p:cNvSpPr>
            <p:nvPr/>
          </p:nvSpPr>
          <p:spPr bwMode="auto">
            <a:xfrm>
              <a:off x="7948242" y="2022136"/>
              <a:ext cx="170362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调度的基本概念</a:t>
              </a:r>
            </a:p>
          </p:txBody>
        </p:sp>
        <p:sp>
          <p:nvSpPr>
            <p:cNvPr id="16" name="文本框 14"/>
            <p:cNvSpPr txBox="1">
              <a:spLocks noChangeArrowheads="1"/>
            </p:cNvSpPr>
            <p:nvPr/>
          </p:nvSpPr>
          <p:spPr bwMode="auto">
            <a:xfrm>
              <a:off x="7948242" y="2571456"/>
              <a:ext cx="10415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调度算法</a:t>
              </a:r>
            </a:p>
          </p:txBody>
        </p:sp>
        <p:sp>
          <p:nvSpPr>
            <p:cNvPr id="18" name="文本框 15"/>
            <p:cNvSpPr txBox="1">
              <a:spLocks noChangeArrowheads="1"/>
            </p:cNvSpPr>
            <p:nvPr/>
          </p:nvSpPr>
          <p:spPr bwMode="auto">
            <a:xfrm>
              <a:off x="7948242" y="3120776"/>
              <a:ext cx="10415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实时调度</a:t>
              </a:r>
            </a:p>
          </p:txBody>
        </p:sp>
        <p:sp>
          <p:nvSpPr>
            <p:cNvPr id="19" name="文本框 16"/>
            <p:cNvSpPr txBox="1">
              <a:spLocks noChangeArrowheads="1"/>
            </p:cNvSpPr>
            <p:nvPr/>
          </p:nvSpPr>
          <p:spPr bwMode="auto">
            <a:xfrm>
              <a:off x="7948242" y="3670096"/>
              <a:ext cx="148295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多处理机调度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96132" y="1998681"/>
              <a:ext cx="6062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4.1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96133" y="2548001"/>
              <a:ext cx="64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4.2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496132" y="3097321"/>
              <a:ext cx="6464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4.3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496132" y="3646641"/>
              <a:ext cx="6464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4.4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806642" y="2938055"/>
              <a:ext cx="2088107" cy="992892"/>
              <a:chOff x="2995095" y="2938055"/>
              <a:chExt cx="2088107" cy="992892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2995095" y="2938055"/>
                <a:ext cx="2088107" cy="992892"/>
                <a:chOff x="3053227" y="2938055"/>
                <a:chExt cx="2088107" cy="992892"/>
              </a:xfrm>
            </p:grpSpPr>
            <p:sp>
              <p:nvSpPr>
                <p:cNvPr id="28" name="文本框 27"/>
                <p:cNvSpPr txBox="1"/>
                <p:nvPr/>
              </p:nvSpPr>
              <p:spPr>
                <a:xfrm>
                  <a:off x="3630124" y="3469282"/>
                  <a:ext cx="127415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>
                      <a:solidFill>
                        <a:srgbClr val="708265"/>
                      </a:solidFill>
                      <a:latin typeface="Impact" panose="020B0806030902050204" pitchFamily="34" charset="0"/>
                      <a:ea typeface="微软雅黑 Light" panose="020B0502040204020203" pitchFamily="34" charset="-122"/>
                    </a:rPr>
                    <a:t>CONTENT</a:t>
                  </a:r>
                  <a:endParaRPr lang="zh-CN" altLang="en-US" sz="2400" dirty="0">
                    <a:solidFill>
                      <a:srgbClr val="708265"/>
                    </a:solidFill>
                    <a:latin typeface="Impact" panose="020B0806030902050204" pitchFamily="34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3053227" y="2938055"/>
                  <a:ext cx="208810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3600" dirty="0">
                      <a:solidFill>
                        <a:srgbClr val="708265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</a:rPr>
                    <a:t>第四章</a:t>
                  </a:r>
                </a:p>
              </p:txBody>
            </p:sp>
          </p:grpSp>
          <p:sp>
            <p:nvSpPr>
              <p:cNvPr id="26" name="L 形 25"/>
              <p:cNvSpPr/>
              <p:nvPr/>
            </p:nvSpPr>
            <p:spPr>
              <a:xfrm rot="2493705" flipH="1" flipV="1">
                <a:off x="4575036" y="3364836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708265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L 形 26"/>
              <p:cNvSpPr/>
              <p:nvPr/>
            </p:nvSpPr>
            <p:spPr>
              <a:xfrm rot="2493705" flipH="1" flipV="1">
                <a:off x="4649233" y="3364836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708265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6">
            <a:extLst>
              <a:ext uri="{FF2B5EF4-FFF2-40B4-BE49-F238E27FC236}">
                <a16:creationId xmlns:a16="http://schemas.microsoft.com/office/drawing/2014/main" id="{DC6244D3-966F-461C-420D-B471EE773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7788" y="4281122"/>
            <a:ext cx="6976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死锁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B16F1F-9E6C-FDDD-5F0E-85E45E87A454}"/>
              </a:ext>
            </a:extLst>
          </p:cNvPr>
          <p:cNvSpPr txBox="1"/>
          <p:nvPr/>
        </p:nvSpPr>
        <p:spPr>
          <a:xfrm>
            <a:off x="6292326" y="4257667"/>
            <a:ext cx="75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4.5</a:t>
            </a:r>
            <a:endParaRPr lang="zh-CN" altLang="en-US" sz="2400" dirty="0">
              <a:solidFill>
                <a:srgbClr val="708265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690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14252" y="1106028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22138" y="1106027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5400000">
            <a:off x="2363844" y="1373222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1014252" y="1976953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722138" y="1976952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5" name="等腰三角形 64"/>
          <p:cNvSpPr/>
          <p:nvPr/>
        </p:nvSpPr>
        <p:spPr>
          <a:xfrm rot="5400000">
            <a:off x="2363844" y="2244147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1014252" y="2846136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722138" y="2846135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8" name="等腰三角形 67"/>
          <p:cNvSpPr/>
          <p:nvPr/>
        </p:nvSpPr>
        <p:spPr>
          <a:xfrm rot="5400000">
            <a:off x="2363844" y="3113330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1014252" y="3730709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722138" y="3730708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1" name="等腰三角形 70"/>
          <p:cNvSpPr/>
          <p:nvPr/>
        </p:nvSpPr>
        <p:spPr>
          <a:xfrm rot="5400000">
            <a:off x="2363844" y="3997903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20487" name="文本框 5"/>
          <p:cNvSpPr txBox="1">
            <a:spLocks noChangeArrowheads="1"/>
          </p:cNvSpPr>
          <p:nvPr/>
        </p:nvSpPr>
        <p:spPr bwMode="auto">
          <a:xfrm>
            <a:off x="1071855" y="1204453"/>
            <a:ext cx="592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8" name="文本框 71"/>
          <p:cNvSpPr txBox="1">
            <a:spLocks noChangeArrowheads="1"/>
          </p:cNvSpPr>
          <p:nvPr/>
        </p:nvSpPr>
        <p:spPr bwMode="auto">
          <a:xfrm>
            <a:off x="1071855" y="2075441"/>
            <a:ext cx="6461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89" name="文本框 87"/>
          <p:cNvSpPr txBox="1">
            <a:spLocks noChangeArrowheads="1"/>
          </p:cNvSpPr>
          <p:nvPr/>
        </p:nvSpPr>
        <p:spPr bwMode="auto">
          <a:xfrm>
            <a:off x="1071855" y="2943894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0490" name="文本框 88"/>
          <p:cNvSpPr txBox="1">
            <a:spLocks noChangeArrowheads="1"/>
          </p:cNvSpPr>
          <p:nvPr/>
        </p:nvSpPr>
        <p:spPr bwMode="auto">
          <a:xfrm>
            <a:off x="1071855" y="3828530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32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0" name="AutoShape 115"/>
          <p:cNvSpPr>
            <a:spLocks/>
          </p:cNvSpPr>
          <p:nvPr/>
        </p:nvSpPr>
        <p:spPr bwMode="auto">
          <a:xfrm>
            <a:off x="1970380" y="1275891"/>
            <a:ext cx="401638" cy="44132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sp>
        <p:nvSpPr>
          <p:cNvPr id="91" name="AutoShape 29"/>
          <p:cNvSpPr>
            <a:spLocks/>
          </p:cNvSpPr>
          <p:nvPr/>
        </p:nvSpPr>
        <p:spPr bwMode="auto">
          <a:xfrm>
            <a:off x="1970380" y="2151641"/>
            <a:ext cx="430213" cy="4318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598" y="2167"/>
                </a:moveTo>
                <a:cubicBezTo>
                  <a:pt x="3598" y="2549"/>
                  <a:pt x="3517" y="2902"/>
                  <a:pt x="3358" y="3213"/>
                </a:cubicBezTo>
                <a:cubicBezTo>
                  <a:pt x="3197" y="3525"/>
                  <a:pt x="2981" y="3792"/>
                  <a:pt x="2707" y="4006"/>
                </a:cubicBezTo>
                <a:lnTo>
                  <a:pt x="2707" y="21050"/>
                </a:lnTo>
                <a:cubicBezTo>
                  <a:pt x="2707" y="21203"/>
                  <a:pt x="2663" y="21329"/>
                  <a:pt x="2580" y="21438"/>
                </a:cubicBezTo>
                <a:cubicBezTo>
                  <a:pt x="2492" y="21547"/>
                  <a:pt x="2386" y="21599"/>
                  <a:pt x="2262" y="21599"/>
                </a:cubicBezTo>
                <a:lnTo>
                  <a:pt x="1348" y="21599"/>
                </a:lnTo>
                <a:cubicBezTo>
                  <a:pt x="1221" y="21599"/>
                  <a:pt x="1118" y="21544"/>
                  <a:pt x="1038" y="21438"/>
                </a:cubicBezTo>
                <a:cubicBezTo>
                  <a:pt x="954" y="21329"/>
                  <a:pt x="913" y="21203"/>
                  <a:pt x="913" y="21050"/>
                </a:cubicBezTo>
                <a:lnTo>
                  <a:pt x="913" y="4006"/>
                </a:lnTo>
                <a:cubicBezTo>
                  <a:pt x="641" y="3792"/>
                  <a:pt x="421" y="3525"/>
                  <a:pt x="252" y="3213"/>
                </a:cubicBezTo>
                <a:cubicBezTo>
                  <a:pt x="83" y="2902"/>
                  <a:pt x="0" y="2549"/>
                  <a:pt x="0" y="2167"/>
                </a:cubicBezTo>
                <a:cubicBezTo>
                  <a:pt x="0" y="1574"/>
                  <a:pt x="176" y="1069"/>
                  <a:pt x="528" y="640"/>
                </a:cubicBezTo>
                <a:cubicBezTo>
                  <a:pt x="878" y="211"/>
                  <a:pt x="1304" y="0"/>
                  <a:pt x="1804" y="0"/>
                </a:cubicBezTo>
                <a:cubicBezTo>
                  <a:pt x="2296" y="0"/>
                  <a:pt x="2719" y="211"/>
                  <a:pt x="3069" y="640"/>
                </a:cubicBezTo>
                <a:cubicBezTo>
                  <a:pt x="3422" y="1069"/>
                  <a:pt x="3598" y="1571"/>
                  <a:pt x="3598" y="2167"/>
                </a:cubicBezTo>
                <a:moveTo>
                  <a:pt x="20838" y="2476"/>
                </a:moveTo>
                <a:cubicBezTo>
                  <a:pt x="21063" y="2323"/>
                  <a:pt x="21247" y="2297"/>
                  <a:pt x="21389" y="2391"/>
                </a:cubicBezTo>
                <a:cubicBezTo>
                  <a:pt x="21529" y="2485"/>
                  <a:pt x="21599" y="2684"/>
                  <a:pt x="21599" y="2996"/>
                </a:cubicBezTo>
                <a:lnTo>
                  <a:pt x="21599" y="13515"/>
                </a:lnTo>
                <a:cubicBezTo>
                  <a:pt x="21599" y="13803"/>
                  <a:pt x="21526" y="14106"/>
                  <a:pt x="21382" y="14420"/>
                </a:cubicBezTo>
                <a:cubicBezTo>
                  <a:pt x="21237" y="14737"/>
                  <a:pt x="21056" y="14966"/>
                  <a:pt x="20838" y="15119"/>
                </a:cubicBezTo>
                <a:cubicBezTo>
                  <a:pt x="19954" y="15757"/>
                  <a:pt x="19146" y="16165"/>
                  <a:pt x="18412" y="16350"/>
                </a:cubicBezTo>
                <a:cubicBezTo>
                  <a:pt x="17678" y="16529"/>
                  <a:pt x="17036" y="16606"/>
                  <a:pt x="16490" y="16567"/>
                </a:cubicBezTo>
                <a:cubicBezTo>
                  <a:pt x="15849" y="16526"/>
                  <a:pt x="15281" y="16371"/>
                  <a:pt x="14791" y="16103"/>
                </a:cubicBezTo>
                <a:cubicBezTo>
                  <a:pt x="14392" y="15851"/>
                  <a:pt x="14003" y="15607"/>
                  <a:pt x="13623" y="15378"/>
                </a:cubicBezTo>
                <a:cubicBezTo>
                  <a:pt x="13244" y="15146"/>
                  <a:pt x="12857" y="14946"/>
                  <a:pt x="12458" y="14773"/>
                </a:cubicBezTo>
                <a:cubicBezTo>
                  <a:pt x="12059" y="14599"/>
                  <a:pt x="11640" y="14461"/>
                  <a:pt x="11197" y="14358"/>
                </a:cubicBezTo>
                <a:cubicBezTo>
                  <a:pt x="10757" y="14256"/>
                  <a:pt x="10269" y="14203"/>
                  <a:pt x="9738" y="14203"/>
                </a:cubicBezTo>
                <a:cubicBezTo>
                  <a:pt x="9310" y="14220"/>
                  <a:pt x="8825" y="14306"/>
                  <a:pt x="8286" y="14455"/>
                </a:cubicBezTo>
                <a:cubicBezTo>
                  <a:pt x="7824" y="14588"/>
                  <a:pt x="7266" y="14799"/>
                  <a:pt x="6605" y="15090"/>
                </a:cubicBezTo>
                <a:cubicBezTo>
                  <a:pt x="5944" y="15381"/>
                  <a:pt x="5207" y="15792"/>
                  <a:pt x="4394" y="16327"/>
                </a:cubicBezTo>
                <a:cubicBezTo>
                  <a:pt x="4169" y="16476"/>
                  <a:pt x="3978" y="16494"/>
                  <a:pt x="3826" y="16382"/>
                </a:cubicBezTo>
                <a:cubicBezTo>
                  <a:pt x="3674" y="16268"/>
                  <a:pt x="3598" y="16059"/>
                  <a:pt x="3598" y="15751"/>
                </a:cubicBezTo>
                <a:lnTo>
                  <a:pt x="3598" y="5273"/>
                </a:lnTo>
                <a:cubicBezTo>
                  <a:pt x="3598" y="4964"/>
                  <a:pt x="3674" y="4653"/>
                  <a:pt x="3826" y="4347"/>
                </a:cubicBezTo>
                <a:cubicBezTo>
                  <a:pt x="3978" y="4036"/>
                  <a:pt x="4169" y="3807"/>
                  <a:pt x="4394" y="3654"/>
                </a:cubicBezTo>
                <a:cubicBezTo>
                  <a:pt x="5207" y="3143"/>
                  <a:pt x="5941" y="2737"/>
                  <a:pt x="6597" y="2447"/>
                </a:cubicBezTo>
                <a:cubicBezTo>
                  <a:pt x="7253" y="2156"/>
                  <a:pt x="7816" y="1944"/>
                  <a:pt x="8286" y="1812"/>
                </a:cubicBezTo>
                <a:cubicBezTo>
                  <a:pt x="8832" y="1665"/>
                  <a:pt x="9317" y="1580"/>
                  <a:pt x="9738" y="1559"/>
                </a:cubicBezTo>
                <a:cubicBezTo>
                  <a:pt x="10269" y="1559"/>
                  <a:pt x="10757" y="1612"/>
                  <a:pt x="11197" y="1715"/>
                </a:cubicBezTo>
                <a:cubicBezTo>
                  <a:pt x="11640" y="1818"/>
                  <a:pt x="12059" y="1956"/>
                  <a:pt x="12458" y="2135"/>
                </a:cubicBezTo>
                <a:cubicBezTo>
                  <a:pt x="12857" y="2306"/>
                  <a:pt x="13242" y="2508"/>
                  <a:pt x="13619" y="2737"/>
                </a:cubicBezTo>
                <a:cubicBezTo>
                  <a:pt x="13993" y="2967"/>
                  <a:pt x="14385" y="3207"/>
                  <a:pt x="14791" y="3463"/>
                </a:cubicBezTo>
                <a:cubicBezTo>
                  <a:pt x="15281" y="3736"/>
                  <a:pt x="15849" y="3889"/>
                  <a:pt x="16490" y="3924"/>
                </a:cubicBezTo>
                <a:cubicBezTo>
                  <a:pt x="17036" y="3965"/>
                  <a:pt x="17678" y="3889"/>
                  <a:pt x="18412" y="3707"/>
                </a:cubicBezTo>
                <a:cubicBezTo>
                  <a:pt x="19146" y="3522"/>
                  <a:pt x="19957" y="3113"/>
                  <a:pt x="20838" y="247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1969976" y="3019783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93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4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5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6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7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98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grpSp>
        <p:nvGrpSpPr>
          <p:cNvPr id="6" name="Group 587"/>
          <p:cNvGrpSpPr>
            <a:grpSpLocks/>
          </p:cNvGrpSpPr>
          <p:nvPr/>
        </p:nvGrpSpPr>
        <p:grpSpPr bwMode="auto">
          <a:xfrm>
            <a:off x="1960425" y="3951757"/>
            <a:ext cx="522416" cy="461865"/>
            <a:chOff x="1530350" y="5719762"/>
            <a:chExt cx="452438" cy="400050"/>
          </a:xfrm>
          <a:solidFill>
            <a:srgbClr val="FFFFFF"/>
          </a:solidFill>
        </p:grpSpPr>
        <p:sp>
          <p:nvSpPr>
            <p:cNvPr id="100" name="Freeform 533"/>
            <p:cNvSpPr>
              <a:spLocks noChangeArrowheads="1"/>
            </p:cNvSpPr>
            <p:nvPr/>
          </p:nvSpPr>
          <p:spPr bwMode="auto">
            <a:xfrm>
              <a:off x="1593850" y="59213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1" name="Freeform 534"/>
            <p:cNvSpPr>
              <a:spLocks noChangeArrowheads="1"/>
            </p:cNvSpPr>
            <p:nvPr/>
          </p:nvSpPr>
          <p:spPr bwMode="auto">
            <a:xfrm>
              <a:off x="1593850" y="59848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2" name="Freeform 535"/>
            <p:cNvSpPr>
              <a:spLocks noChangeArrowheads="1"/>
            </p:cNvSpPr>
            <p:nvPr/>
          </p:nvSpPr>
          <p:spPr bwMode="auto">
            <a:xfrm>
              <a:off x="1663700" y="5857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3" name="Freeform 536"/>
            <p:cNvSpPr>
              <a:spLocks noChangeArrowheads="1"/>
            </p:cNvSpPr>
            <p:nvPr/>
          </p:nvSpPr>
          <p:spPr bwMode="auto">
            <a:xfrm>
              <a:off x="1663700" y="59213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4" name="Freeform 537"/>
            <p:cNvSpPr>
              <a:spLocks noChangeArrowheads="1"/>
            </p:cNvSpPr>
            <p:nvPr/>
          </p:nvSpPr>
          <p:spPr bwMode="auto">
            <a:xfrm>
              <a:off x="1663700" y="5984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5" name="Freeform 538"/>
            <p:cNvSpPr>
              <a:spLocks noChangeArrowheads="1"/>
            </p:cNvSpPr>
            <p:nvPr/>
          </p:nvSpPr>
          <p:spPr bwMode="auto">
            <a:xfrm>
              <a:off x="1530350" y="5719762"/>
              <a:ext cx="452438" cy="400050"/>
            </a:xfrm>
            <a:custGeom>
              <a:avLst/>
              <a:gdLst>
                <a:gd name="T0" fmla="*/ 1029 w 1255"/>
                <a:gd name="T1" fmla="*/ 75 h 1113"/>
                <a:gd name="T2" fmla="*/ 75 w 1255"/>
                <a:gd name="T3" fmla="*/ 0 h 1113"/>
                <a:gd name="T4" fmla="*/ 0 w 1255"/>
                <a:gd name="T5" fmla="*/ 953 h 1113"/>
                <a:gd name="T6" fmla="*/ 644 w 1255"/>
                <a:gd name="T7" fmla="*/ 1029 h 1113"/>
                <a:gd name="T8" fmla="*/ 1254 w 1255"/>
                <a:gd name="T9" fmla="*/ 736 h 1113"/>
                <a:gd name="T10" fmla="*/ 335 w 1255"/>
                <a:gd name="T11" fmla="*/ 75 h 1113"/>
                <a:gd name="T12" fmla="*/ 694 w 1255"/>
                <a:gd name="T13" fmla="*/ 167 h 1113"/>
                <a:gd name="T14" fmla="*/ 335 w 1255"/>
                <a:gd name="T15" fmla="*/ 75 h 1113"/>
                <a:gd name="T16" fmla="*/ 937 w 1255"/>
                <a:gd name="T17" fmla="*/ 251 h 1113"/>
                <a:gd name="T18" fmla="*/ 878 w 1255"/>
                <a:gd name="T19" fmla="*/ 368 h 1113"/>
                <a:gd name="T20" fmla="*/ 661 w 1255"/>
                <a:gd name="T21" fmla="*/ 385 h 1113"/>
                <a:gd name="T22" fmla="*/ 552 w 1255"/>
                <a:gd name="T23" fmla="*/ 494 h 1113"/>
                <a:gd name="T24" fmla="*/ 510 w 1255"/>
                <a:gd name="T25" fmla="*/ 736 h 1113"/>
                <a:gd name="T26" fmla="*/ 92 w 1255"/>
                <a:gd name="T27" fmla="*/ 920 h 1113"/>
                <a:gd name="T28" fmla="*/ 845 w 1255"/>
                <a:gd name="T29" fmla="*/ 435 h 1113"/>
                <a:gd name="T30" fmla="*/ 911 w 1255"/>
                <a:gd name="T31" fmla="*/ 435 h 1113"/>
                <a:gd name="T32" fmla="*/ 845 w 1255"/>
                <a:gd name="T33" fmla="*/ 435 h 1113"/>
                <a:gd name="T34" fmla="*/ 577 w 1255"/>
                <a:gd name="T35" fmla="*/ 769 h 1113"/>
                <a:gd name="T36" fmla="*/ 577 w 1255"/>
                <a:gd name="T37" fmla="*/ 703 h 1113"/>
                <a:gd name="T38" fmla="*/ 878 w 1255"/>
                <a:gd name="T39" fmla="*/ 1079 h 1113"/>
                <a:gd name="T40" fmla="*/ 878 w 1255"/>
                <a:gd name="T41" fmla="*/ 1004 h 1113"/>
                <a:gd name="T42" fmla="*/ 878 w 1255"/>
                <a:gd name="T43" fmla="*/ 1079 h 1113"/>
                <a:gd name="T44" fmla="*/ 945 w 1255"/>
                <a:gd name="T45" fmla="*/ 728 h 1113"/>
                <a:gd name="T46" fmla="*/ 878 w 1255"/>
                <a:gd name="T47" fmla="*/ 803 h 1113"/>
                <a:gd name="T48" fmla="*/ 661 w 1255"/>
                <a:gd name="T49" fmla="*/ 627 h 1113"/>
                <a:gd name="T50" fmla="*/ 694 w 1255"/>
                <a:gd name="T51" fmla="*/ 585 h 1113"/>
                <a:gd name="T52" fmla="*/ 878 w 1255"/>
                <a:gd name="T53" fmla="*/ 669 h 1113"/>
                <a:gd name="T54" fmla="*/ 1045 w 1255"/>
                <a:gd name="T55" fmla="*/ 544 h 1113"/>
                <a:gd name="T56" fmla="*/ 1087 w 1255"/>
                <a:gd name="T57" fmla="*/ 585 h 1113"/>
                <a:gd name="T58" fmla="*/ 1146 w 1255"/>
                <a:gd name="T59" fmla="*/ 736 h 1113"/>
                <a:gd name="T60" fmla="*/ 1221 w 1255"/>
                <a:gd name="T61" fmla="*/ 736 h 1113"/>
                <a:gd name="T62" fmla="*/ 1179 w 1255"/>
                <a:gd name="T63" fmla="*/ 769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5" h="1113">
                  <a:moveTo>
                    <a:pt x="1029" y="402"/>
                  </a:moveTo>
                  <a:cubicBezTo>
                    <a:pt x="1029" y="75"/>
                    <a:pt x="1029" y="75"/>
                    <a:pt x="1029" y="75"/>
                  </a:cubicBezTo>
                  <a:cubicBezTo>
                    <a:pt x="1029" y="34"/>
                    <a:pt x="995" y="0"/>
                    <a:pt x="953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4" y="0"/>
                    <a:pt x="0" y="34"/>
                    <a:pt x="0" y="75"/>
                  </a:cubicBezTo>
                  <a:cubicBezTo>
                    <a:pt x="0" y="953"/>
                    <a:pt x="0" y="953"/>
                    <a:pt x="0" y="953"/>
                  </a:cubicBezTo>
                  <a:cubicBezTo>
                    <a:pt x="0" y="995"/>
                    <a:pt x="34" y="1029"/>
                    <a:pt x="75" y="1029"/>
                  </a:cubicBezTo>
                  <a:cubicBezTo>
                    <a:pt x="644" y="1029"/>
                    <a:pt x="644" y="1029"/>
                    <a:pt x="644" y="1029"/>
                  </a:cubicBezTo>
                  <a:cubicBezTo>
                    <a:pt x="711" y="1079"/>
                    <a:pt x="795" y="1112"/>
                    <a:pt x="878" y="1112"/>
                  </a:cubicBezTo>
                  <a:cubicBezTo>
                    <a:pt x="1087" y="1112"/>
                    <a:pt x="1254" y="945"/>
                    <a:pt x="1254" y="736"/>
                  </a:cubicBezTo>
                  <a:cubicBezTo>
                    <a:pt x="1254" y="585"/>
                    <a:pt x="1162" y="460"/>
                    <a:pt x="1029" y="402"/>
                  </a:cubicBezTo>
                  <a:close/>
                  <a:moveTo>
                    <a:pt x="335" y="75"/>
                  </a:moveTo>
                  <a:cubicBezTo>
                    <a:pt x="694" y="75"/>
                    <a:pt x="694" y="75"/>
                    <a:pt x="694" y="75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335" y="167"/>
                    <a:pt x="335" y="167"/>
                    <a:pt x="335" y="167"/>
                  </a:cubicBezTo>
                  <a:lnTo>
                    <a:pt x="335" y="75"/>
                  </a:lnTo>
                  <a:close/>
                  <a:moveTo>
                    <a:pt x="92" y="251"/>
                  </a:moveTo>
                  <a:cubicBezTo>
                    <a:pt x="937" y="251"/>
                    <a:pt x="937" y="251"/>
                    <a:pt x="937" y="251"/>
                  </a:cubicBezTo>
                  <a:cubicBezTo>
                    <a:pt x="937" y="368"/>
                    <a:pt x="937" y="368"/>
                    <a:pt x="937" y="368"/>
                  </a:cubicBezTo>
                  <a:cubicBezTo>
                    <a:pt x="920" y="368"/>
                    <a:pt x="895" y="368"/>
                    <a:pt x="878" y="368"/>
                  </a:cubicBezTo>
                  <a:cubicBezTo>
                    <a:pt x="795" y="368"/>
                    <a:pt x="719" y="393"/>
                    <a:pt x="661" y="435"/>
                  </a:cubicBezTo>
                  <a:cubicBezTo>
                    <a:pt x="661" y="385"/>
                    <a:pt x="661" y="385"/>
                    <a:pt x="661" y="385"/>
                  </a:cubicBezTo>
                  <a:cubicBezTo>
                    <a:pt x="552" y="385"/>
                    <a:pt x="552" y="385"/>
                    <a:pt x="552" y="385"/>
                  </a:cubicBezTo>
                  <a:cubicBezTo>
                    <a:pt x="552" y="494"/>
                    <a:pt x="552" y="494"/>
                    <a:pt x="552" y="494"/>
                  </a:cubicBezTo>
                  <a:cubicBezTo>
                    <a:pt x="602" y="494"/>
                    <a:pt x="602" y="494"/>
                    <a:pt x="602" y="494"/>
                  </a:cubicBezTo>
                  <a:cubicBezTo>
                    <a:pt x="544" y="560"/>
                    <a:pt x="510" y="644"/>
                    <a:pt x="510" y="736"/>
                  </a:cubicBezTo>
                  <a:cubicBezTo>
                    <a:pt x="510" y="803"/>
                    <a:pt x="527" y="870"/>
                    <a:pt x="560" y="920"/>
                  </a:cubicBezTo>
                  <a:cubicBezTo>
                    <a:pt x="92" y="920"/>
                    <a:pt x="92" y="920"/>
                    <a:pt x="92" y="920"/>
                  </a:cubicBezTo>
                  <a:lnTo>
                    <a:pt x="92" y="251"/>
                  </a:lnTo>
                  <a:close/>
                  <a:moveTo>
                    <a:pt x="845" y="435"/>
                  </a:moveTo>
                  <a:cubicBezTo>
                    <a:pt x="845" y="418"/>
                    <a:pt x="861" y="402"/>
                    <a:pt x="878" y="402"/>
                  </a:cubicBezTo>
                  <a:cubicBezTo>
                    <a:pt x="895" y="402"/>
                    <a:pt x="911" y="418"/>
                    <a:pt x="911" y="435"/>
                  </a:cubicBezTo>
                  <a:cubicBezTo>
                    <a:pt x="911" y="452"/>
                    <a:pt x="895" y="468"/>
                    <a:pt x="878" y="468"/>
                  </a:cubicBezTo>
                  <a:cubicBezTo>
                    <a:pt x="861" y="468"/>
                    <a:pt x="845" y="452"/>
                    <a:pt x="845" y="435"/>
                  </a:cubicBezTo>
                  <a:close/>
                  <a:moveTo>
                    <a:pt x="610" y="736"/>
                  </a:moveTo>
                  <a:cubicBezTo>
                    <a:pt x="610" y="761"/>
                    <a:pt x="594" y="769"/>
                    <a:pt x="577" y="769"/>
                  </a:cubicBezTo>
                  <a:cubicBezTo>
                    <a:pt x="560" y="769"/>
                    <a:pt x="544" y="761"/>
                    <a:pt x="544" y="736"/>
                  </a:cubicBezTo>
                  <a:cubicBezTo>
                    <a:pt x="544" y="719"/>
                    <a:pt x="560" y="703"/>
                    <a:pt x="577" y="703"/>
                  </a:cubicBezTo>
                  <a:cubicBezTo>
                    <a:pt x="594" y="703"/>
                    <a:pt x="610" y="719"/>
                    <a:pt x="610" y="736"/>
                  </a:cubicBezTo>
                  <a:close/>
                  <a:moveTo>
                    <a:pt x="878" y="1079"/>
                  </a:moveTo>
                  <a:cubicBezTo>
                    <a:pt x="861" y="1079"/>
                    <a:pt x="845" y="1062"/>
                    <a:pt x="845" y="1045"/>
                  </a:cubicBezTo>
                  <a:cubicBezTo>
                    <a:pt x="845" y="1020"/>
                    <a:pt x="861" y="1004"/>
                    <a:pt x="878" y="1004"/>
                  </a:cubicBezTo>
                  <a:cubicBezTo>
                    <a:pt x="895" y="1004"/>
                    <a:pt x="911" y="1020"/>
                    <a:pt x="911" y="1045"/>
                  </a:cubicBezTo>
                  <a:cubicBezTo>
                    <a:pt x="911" y="1062"/>
                    <a:pt x="895" y="1079"/>
                    <a:pt x="878" y="1079"/>
                  </a:cubicBezTo>
                  <a:close/>
                  <a:moveTo>
                    <a:pt x="1087" y="585"/>
                  </a:moveTo>
                  <a:cubicBezTo>
                    <a:pt x="945" y="728"/>
                    <a:pt x="945" y="728"/>
                    <a:pt x="945" y="728"/>
                  </a:cubicBezTo>
                  <a:lnTo>
                    <a:pt x="945" y="736"/>
                  </a:lnTo>
                  <a:cubicBezTo>
                    <a:pt x="945" y="778"/>
                    <a:pt x="920" y="803"/>
                    <a:pt x="878" y="803"/>
                  </a:cubicBezTo>
                  <a:cubicBezTo>
                    <a:pt x="845" y="803"/>
                    <a:pt x="811" y="778"/>
                    <a:pt x="811" y="744"/>
                  </a:cubicBezTo>
                  <a:cubicBezTo>
                    <a:pt x="661" y="627"/>
                    <a:pt x="661" y="627"/>
                    <a:pt x="661" y="627"/>
                  </a:cubicBezTo>
                  <a:cubicBezTo>
                    <a:pt x="652" y="619"/>
                    <a:pt x="644" y="594"/>
                    <a:pt x="652" y="585"/>
                  </a:cubicBezTo>
                  <a:cubicBezTo>
                    <a:pt x="661" y="577"/>
                    <a:pt x="686" y="569"/>
                    <a:pt x="694" y="585"/>
                  </a:cubicBezTo>
                  <a:cubicBezTo>
                    <a:pt x="836" y="686"/>
                    <a:pt x="836" y="686"/>
                    <a:pt x="836" y="686"/>
                  </a:cubicBezTo>
                  <a:cubicBezTo>
                    <a:pt x="845" y="677"/>
                    <a:pt x="861" y="669"/>
                    <a:pt x="878" y="669"/>
                  </a:cubicBezTo>
                  <a:cubicBezTo>
                    <a:pt x="895" y="669"/>
                    <a:pt x="903" y="677"/>
                    <a:pt x="911" y="677"/>
                  </a:cubicBezTo>
                  <a:cubicBezTo>
                    <a:pt x="1045" y="544"/>
                    <a:pt x="1045" y="544"/>
                    <a:pt x="1045" y="544"/>
                  </a:cubicBezTo>
                  <a:cubicBezTo>
                    <a:pt x="1062" y="535"/>
                    <a:pt x="1079" y="535"/>
                    <a:pt x="1087" y="544"/>
                  </a:cubicBezTo>
                  <a:cubicBezTo>
                    <a:pt x="1104" y="552"/>
                    <a:pt x="1096" y="569"/>
                    <a:pt x="1087" y="585"/>
                  </a:cubicBezTo>
                  <a:close/>
                  <a:moveTo>
                    <a:pt x="1179" y="769"/>
                  </a:moveTo>
                  <a:cubicBezTo>
                    <a:pt x="1162" y="769"/>
                    <a:pt x="1146" y="761"/>
                    <a:pt x="1146" y="736"/>
                  </a:cubicBezTo>
                  <a:cubicBezTo>
                    <a:pt x="1146" y="719"/>
                    <a:pt x="1162" y="703"/>
                    <a:pt x="1179" y="703"/>
                  </a:cubicBezTo>
                  <a:cubicBezTo>
                    <a:pt x="1204" y="703"/>
                    <a:pt x="1221" y="719"/>
                    <a:pt x="1221" y="736"/>
                  </a:cubicBezTo>
                  <a:cubicBezTo>
                    <a:pt x="1221" y="761"/>
                    <a:pt x="1204" y="769"/>
                    <a:pt x="1179" y="769"/>
                  </a:cubicBezTo>
                  <a:close/>
                  <a:moveTo>
                    <a:pt x="1179" y="769"/>
                  </a:moveTo>
                  <a:lnTo>
                    <a:pt x="1179" y="769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8" name="直接连接符 7"/>
          <p:cNvCxnSpPr>
            <a:stCxn id="4" idx="0"/>
          </p:cNvCxnSpPr>
          <p:nvPr/>
        </p:nvCxnSpPr>
        <p:spPr>
          <a:xfrm flipV="1">
            <a:off x="2878430" y="1496553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878430" y="2364366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2878430" y="3224881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2878430" y="4106342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3683293" y="1444166"/>
            <a:ext cx="106362" cy="10477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3683293" y="2299279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683293" y="3170906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3683293" y="4041255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4018414" y="1268902"/>
            <a:ext cx="5109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理解并掌握处理机调度的概念、层次</a:t>
            </a:r>
          </a:p>
        </p:txBody>
      </p:sp>
      <p:sp>
        <p:nvSpPr>
          <p:cNvPr id="55" name="文本框 54"/>
          <p:cNvSpPr txBox="1">
            <a:spLocks noChangeArrowheads="1"/>
          </p:cNvSpPr>
          <p:nvPr/>
        </p:nvSpPr>
        <p:spPr bwMode="auto">
          <a:xfrm>
            <a:off x="4039998" y="2064923"/>
            <a:ext cx="69585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FCFS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SJF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、优先级和高响应比优先调度算法</a:t>
            </a:r>
          </a:p>
        </p:txBody>
      </p:sp>
      <p:sp>
        <p:nvSpPr>
          <p:cNvPr id="57" name="文本框 56"/>
          <p:cNvSpPr txBox="1">
            <a:spLocks noChangeArrowheads="1"/>
          </p:cNvSpPr>
          <p:nvPr/>
        </p:nvSpPr>
        <p:spPr bwMode="auto">
          <a:xfrm>
            <a:off x="4026350" y="2969535"/>
            <a:ext cx="66479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理解并掌握进程调度的任务、机制、方式和算法</a:t>
            </a:r>
          </a:p>
        </p:txBody>
      </p:sp>
      <p:sp>
        <p:nvSpPr>
          <p:cNvPr id="59" name="文本框 58"/>
          <p:cNvSpPr txBox="1">
            <a:spLocks noChangeArrowheads="1"/>
          </p:cNvSpPr>
          <p:nvPr/>
        </p:nvSpPr>
        <p:spPr bwMode="auto">
          <a:xfrm>
            <a:off x="4053646" y="3886869"/>
            <a:ext cx="4493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理解并掌握实时调度的几种算法</a:t>
            </a:r>
          </a:p>
        </p:txBody>
      </p:sp>
      <p:sp>
        <p:nvSpPr>
          <p:cNvPr id="62" name="矩形 61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7" name="组合 76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78" name="矩形 77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80" name="文本框 25"/>
          <p:cNvSpPr txBox="1">
            <a:spLocks noChangeArrowheads="1"/>
          </p:cNvSpPr>
          <p:nvPr/>
        </p:nvSpPr>
        <p:spPr bwMode="auto">
          <a:xfrm>
            <a:off x="902970" y="199077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本章学习目标</a:t>
            </a:r>
          </a:p>
        </p:txBody>
      </p:sp>
      <p:sp>
        <p:nvSpPr>
          <p:cNvPr id="63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1057468" y="4622648"/>
            <a:ext cx="882372" cy="781051"/>
          </a:xfrm>
          <a:prstGeom prst="round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765354" y="4622647"/>
            <a:ext cx="892232" cy="781051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58" name="等腰三角形 57"/>
          <p:cNvSpPr/>
          <p:nvPr/>
        </p:nvSpPr>
        <p:spPr>
          <a:xfrm rot="5400000">
            <a:off x="2407060" y="4889842"/>
            <a:ext cx="769145" cy="258567"/>
          </a:xfrm>
          <a:prstGeom prst="triangle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1071116" y="5520869"/>
            <a:ext cx="882372" cy="781051"/>
          </a:xfrm>
          <a:prstGeom prst="round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779002" y="5520868"/>
            <a:ext cx="892232" cy="781051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3" name="等腰三角形 72"/>
          <p:cNvSpPr/>
          <p:nvPr/>
        </p:nvSpPr>
        <p:spPr>
          <a:xfrm rot="5400000">
            <a:off x="2420708" y="5788063"/>
            <a:ext cx="769145" cy="258567"/>
          </a:xfrm>
          <a:prstGeom prst="triangle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1AAA55"/>
              </a:solidFill>
            </a:endParaRPr>
          </a:p>
        </p:txBody>
      </p:sp>
      <p:sp>
        <p:nvSpPr>
          <p:cNvPr id="74" name="文本框 87"/>
          <p:cNvSpPr txBox="1">
            <a:spLocks noChangeArrowheads="1"/>
          </p:cNvSpPr>
          <p:nvPr/>
        </p:nvSpPr>
        <p:spPr bwMode="auto">
          <a:xfrm>
            <a:off x="1115071" y="4720406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05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5" name="文本框 88"/>
          <p:cNvSpPr txBox="1">
            <a:spLocks noChangeArrowheads="1"/>
          </p:cNvSpPr>
          <p:nvPr/>
        </p:nvSpPr>
        <p:spPr bwMode="auto">
          <a:xfrm>
            <a:off x="1128719" y="5618690"/>
            <a:ext cx="64611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06</a:t>
            </a:r>
            <a:endParaRPr lang="zh-CN" altLang="en-US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9" name="Group 2"/>
          <p:cNvGrpSpPr>
            <a:grpSpLocks/>
          </p:cNvGrpSpPr>
          <p:nvPr/>
        </p:nvGrpSpPr>
        <p:grpSpPr bwMode="auto">
          <a:xfrm>
            <a:off x="2013192" y="4796295"/>
            <a:ext cx="413920" cy="409944"/>
            <a:chOff x="1569458" y="688424"/>
            <a:chExt cx="334962" cy="331788"/>
          </a:xfrm>
          <a:solidFill>
            <a:srgbClr val="FFFFFF"/>
          </a:solidFill>
        </p:grpSpPr>
        <p:sp>
          <p:nvSpPr>
            <p:cNvPr id="81" name="Freeform 11"/>
            <p:cNvSpPr>
              <a:spLocks noChangeArrowheads="1"/>
            </p:cNvSpPr>
            <p:nvPr/>
          </p:nvSpPr>
          <p:spPr bwMode="auto">
            <a:xfrm>
              <a:off x="1587500" y="901699"/>
              <a:ext cx="42863" cy="77788"/>
            </a:xfrm>
            <a:custGeom>
              <a:avLst/>
              <a:gdLst>
                <a:gd name="T0" fmla="*/ 0 w 118"/>
                <a:gd name="T1" fmla="*/ 183 h 218"/>
                <a:gd name="T2" fmla="*/ 25 w 118"/>
                <a:gd name="T3" fmla="*/ 217 h 218"/>
                <a:gd name="T4" fmla="*/ 84 w 118"/>
                <a:gd name="T5" fmla="*/ 217 h 218"/>
                <a:gd name="T6" fmla="*/ 117 w 118"/>
                <a:gd name="T7" fmla="*/ 183 h 218"/>
                <a:gd name="T8" fmla="*/ 117 w 118"/>
                <a:gd name="T9" fmla="*/ 0 h 218"/>
                <a:gd name="T10" fmla="*/ 17 w 118"/>
                <a:gd name="T11" fmla="*/ 91 h 218"/>
                <a:gd name="T12" fmla="*/ 0 w 118"/>
                <a:gd name="T13" fmla="*/ 75 h 218"/>
                <a:gd name="T14" fmla="*/ 0 w 118"/>
                <a:gd name="T15" fmla="*/ 183 h 218"/>
                <a:gd name="T16" fmla="*/ 0 w 118"/>
                <a:gd name="T17" fmla="*/ 183 h 218"/>
                <a:gd name="T18" fmla="*/ 0 w 118"/>
                <a:gd name="T19" fmla="*/ 18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218">
                  <a:moveTo>
                    <a:pt x="0" y="183"/>
                  </a:moveTo>
                  <a:cubicBezTo>
                    <a:pt x="0" y="200"/>
                    <a:pt x="8" y="217"/>
                    <a:pt x="25" y="217"/>
                  </a:cubicBezTo>
                  <a:cubicBezTo>
                    <a:pt x="84" y="217"/>
                    <a:pt x="84" y="217"/>
                    <a:pt x="84" y="217"/>
                  </a:cubicBezTo>
                  <a:cubicBezTo>
                    <a:pt x="100" y="217"/>
                    <a:pt x="117" y="200"/>
                    <a:pt x="117" y="183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183"/>
                  </a:lnTo>
                  <a:close/>
                  <a:moveTo>
                    <a:pt x="0" y="183"/>
                  </a:moveTo>
                  <a:lnTo>
                    <a:pt x="0" y="18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2" name="Freeform 12"/>
            <p:cNvSpPr>
              <a:spLocks noChangeArrowheads="1"/>
            </p:cNvSpPr>
            <p:nvPr/>
          </p:nvSpPr>
          <p:spPr bwMode="auto">
            <a:xfrm>
              <a:off x="1657350" y="858837"/>
              <a:ext cx="42863" cy="120650"/>
            </a:xfrm>
            <a:custGeom>
              <a:avLst/>
              <a:gdLst>
                <a:gd name="T0" fmla="*/ 0 w 118"/>
                <a:gd name="T1" fmla="*/ 301 h 336"/>
                <a:gd name="T2" fmla="*/ 34 w 118"/>
                <a:gd name="T3" fmla="*/ 335 h 336"/>
                <a:gd name="T4" fmla="*/ 84 w 118"/>
                <a:gd name="T5" fmla="*/ 335 h 336"/>
                <a:gd name="T6" fmla="*/ 117 w 118"/>
                <a:gd name="T7" fmla="*/ 301 h 336"/>
                <a:gd name="T8" fmla="*/ 117 w 118"/>
                <a:gd name="T9" fmla="*/ 76 h 336"/>
                <a:gd name="T10" fmla="*/ 42 w 118"/>
                <a:gd name="T11" fmla="*/ 0 h 336"/>
                <a:gd name="T12" fmla="*/ 0 w 118"/>
                <a:gd name="T13" fmla="*/ 42 h 336"/>
                <a:gd name="T14" fmla="*/ 0 w 118"/>
                <a:gd name="T15" fmla="*/ 301 h 336"/>
                <a:gd name="T16" fmla="*/ 0 w 118"/>
                <a:gd name="T17" fmla="*/ 301 h 336"/>
                <a:gd name="T18" fmla="*/ 0 w 118"/>
                <a:gd name="T19" fmla="*/ 30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336">
                  <a:moveTo>
                    <a:pt x="0" y="301"/>
                  </a:moveTo>
                  <a:cubicBezTo>
                    <a:pt x="0" y="318"/>
                    <a:pt x="17" y="335"/>
                    <a:pt x="34" y="335"/>
                  </a:cubicBezTo>
                  <a:cubicBezTo>
                    <a:pt x="84" y="335"/>
                    <a:pt x="84" y="335"/>
                    <a:pt x="84" y="335"/>
                  </a:cubicBezTo>
                  <a:cubicBezTo>
                    <a:pt x="101" y="335"/>
                    <a:pt x="117" y="318"/>
                    <a:pt x="117" y="301"/>
                  </a:cubicBezTo>
                  <a:cubicBezTo>
                    <a:pt x="117" y="76"/>
                    <a:pt x="117" y="76"/>
                    <a:pt x="117" y="7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0" y="301"/>
                  </a:lnTo>
                  <a:close/>
                  <a:moveTo>
                    <a:pt x="0" y="301"/>
                  </a:moveTo>
                  <a:lnTo>
                    <a:pt x="0" y="30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3" name="Freeform 13"/>
            <p:cNvSpPr>
              <a:spLocks noChangeArrowheads="1"/>
            </p:cNvSpPr>
            <p:nvPr/>
          </p:nvSpPr>
          <p:spPr bwMode="auto">
            <a:xfrm>
              <a:off x="1727200" y="858837"/>
              <a:ext cx="42863" cy="120650"/>
            </a:xfrm>
            <a:custGeom>
              <a:avLst/>
              <a:gdLst>
                <a:gd name="T0" fmla="*/ 92 w 118"/>
                <a:gd name="T1" fmla="*/ 335 h 336"/>
                <a:gd name="T2" fmla="*/ 117 w 118"/>
                <a:gd name="T3" fmla="*/ 301 h 336"/>
                <a:gd name="T4" fmla="*/ 117 w 118"/>
                <a:gd name="T5" fmla="*/ 0 h 336"/>
                <a:gd name="T6" fmla="*/ 0 w 118"/>
                <a:gd name="T7" fmla="*/ 118 h 336"/>
                <a:gd name="T8" fmla="*/ 0 w 118"/>
                <a:gd name="T9" fmla="*/ 301 h 336"/>
                <a:gd name="T10" fmla="*/ 33 w 118"/>
                <a:gd name="T11" fmla="*/ 335 h 336"/>
                <a:gd name="T12" fmla="*/ 92 w 118"/>
                <a:gd name="T13" fmla="*/ 335 h 336"/>
                <a:gd name="T14" fmla="*/ 92 w 118"/>
                <a:gd name="T15" fmla="*/ 335 h 336"/>
                <a:gd name="T16" fmla="*/ 92 w 118"/>
                <a:gd name="T17" fmla="*/ 335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336">
                  <a:moveTo>
                    <a:pt x="92" y="335"/>
                  </a:moveTo>
                  <a:cubicBezTo>
                    <a:pt x="108" y="335"/>
                    <a:pt x="117" y="318"/>
                    <a:pt x="117" y="30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318"/>
                    <a:pt x="16" y="335"/>
                    <a:pt x="33" y="335"/>
                  </a:cubicBezTo>
                  <a:lnTo>
                    <a:pt x="92" y="335"/>
                  </a:lnTo>
                  <a:close/>
                  <a:moveTo>
                    <a:pt x="92" y="335"/>
                  </a:moveTo>
                  <a:lnTo>
                    <a:pt x="92" y="335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4" name="Freeform 14"/>
            <p:cNvSpPr>
              <a:spLocks noChangeArrowheads="1"/>
            </p:cNvSpPr>
            <p:nvPr/>
          </p:nvSpPr>
          <p:spPr bwMode="auto">
            <a:xfrm>
              <a:off x="1795463" y="817562"/>
              <a:ext cx="46037" cy="163512"/>
            </a:xfrm>
            <a:custGeom>
              <a:avLst/>
              <a:gdLst>
                <a:gd name="T0" fmla="*/ 0 w 126"/>
                <a:gd name="T1" fmla="*/ 41 h 452"/>
                <a:gd name="T2" fmla="*/ 0 w 126"/>
                <a:gd name="T3" fmla="*/ 417 h 452"/>
                <a:gd name="T4" fmla="*/ 33 w 126"/>
                <a:gd name="T5" fmla="*/ 451 h 452"/>
                <a:gd name="T6" fmla="*/ 92 w 126"/>
                <a:gd name="T7" fmla="*/ 451 h 452"/>
                <a:gd name="T8" fmla="*/ 125 w 126"/>
                <a:gd name="T9" fmla="*/ 417 h 452"/>
                <a:gd name="T10" fmla="*/ 125 w 126"/>
                <a:gd name="T11" fmla="*/ 66 h 452"/>
                <a:gd name="T12" fmla="*/ 50 w 126"/>
                <a:gd name="T13" fmla="*/ 0 h 452"/>
                <a:gd name="T14" fmla="*/ 0 w 126"/>
                <a:gd name="T15" fmla="*/ 41 h 452"/>
                <a:gd name="T16" fmla="*/ 0 w 126"/>
                <a:gd name="T17" fmla="*/ 41 h 452"/>
                <a:gd name="T18" fmla="*/ 0 w 126"/>
                <a:gd name="T19" fmla="*/ 4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6" h="452">
                  <a:moveTo>
                    <a:pt x="0" y="41"/>
                  </a:moveTo>
                  <a:cubicBezTo>
                    <a:pt x="0" y="417"/>
                    <a:pt x="0" y="417"/>
                    <a:pt x="0" y="417"/>
                  </a:cubicBezTo>
                  <a:cubicBezTo>
                    <a:pt x="0" y="434"/>
                    <a:pt x="17" y="451"/>
                    <a:pt x="33" y="451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109" y="451"/>
                    <a:pt x="125" y="434"/>
                    <a:pt x="125" y="417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50" y="0"/>
                    <a:pt x="50" y="0"/>
                    <a:pt x="50" y="0"/>
                  </a:cubicBez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5" name="Freeform 15"/>
            <p:cNvSpPr>
              <a:spLocks noChangeArrowheads="1"/>
            </p:cNvSpPr>
            <p:nvPr/>
          </p:nvSpPr>
          <p:spPr bwMode="auto">
            <a:xfrm>
              <a:off x="1576388" y="744537"/>
              <a:ext cx="261937" cy="163512"/>
            </a:xfrm>
            <a:custGeom>
              <a:avLst/>
              <a:gdLst>
                <a:gd name="T0" fmla="*/ 234 w 728"/>
                <a:gd name="T1" fmla="*/ 284 h 452"/>
                <a:gd name="T2" fmla="*/ 292 w 728"/>
                <a:gd name="T3" fmla="*/ 284 h 452"/>
                <a:gd name="T4" fmla="*/ 359 w 728"/>
                <a:gd name="T5" fmla="*/ 351 h 452"/>
                <a:gd name="T6" fmla="*/ 401 w 728"/>
                <a:gd name="T7" fmla="*/ 368 h 452"/>
                <a:gd name="T8" fmla="*/ 434 w 728"/>
                <a:gd name="T9" fmla="*/ 351 h 452"/>
                <a:gd name="T10" fmla="*/ 660 w 728"/>
                <a:gd name="T11" fmla="*/ 134 h 452"/>
                <a:gd name="T12" fmla="*/ 694 w 728"/>
                <a:gd name="T13" fmla="*/ 167 h 452"/>
                <a:gd name="T14" fmla="*/ 710 w 728"/>
                <a:gd name="T15" fmla="*/ 175 h 452"/>
                <a:gd name="T16" fmla="*/ 727 w 728"/>
                <a:gd name="T17" fmla="*/ 159 h 452"/>
                <a:gd name="T18" fmla="*/ 727 w 728"/>
                <a:gd name="T19" fmla="*/ 33 h 452"/>
                <a:gd name="T20" fmla="*/ 719 w 728"/>
                <a:gd name="T21" fmla="*/ 8 h 452"/>
                <a:gd name="T22" fmla="*/ 694 w 728"/>
                <a:gd name="T23" fmla="*/ 0 h 452"/>
                <a:gd name="T24" fmla="*/ 568 w 728"/>
                <a:gd name="T25" fmla="*/ 0 h 452"/>
                <a:gd name="T26" fmla="*/ 551 w 728"/>
                <a:gd name="T27" fmla="*/ 8 h 452"/>
                <a:gd name="T28" fmla="*/ 551 w 728"/>
                <a:gd name="T29" fmla="*/ 33 h 452"/>
                <a:gd name="T30" fmla="*/ 585 w 728"/>
                <a:gd name="T31" fmla="*/ 58 h 452"/>
                <a:gd name="T32" fmla="*/ 426 w 728"/>
                <a:gd name="T33" fmla="*/ 217 h 452"/>
                <a:gd name="T34" fmla="*/ 401 w 728"/>
                <a:gd name="T35" fmla="*/ 225 h 452"/>
                <a:gd name="T36" fmla="*/ 368 w 728"/>
                <a:gd name="T37" fmla="*/ 217 h 452"/>
                <a:gd name="T38" fmla="*/ 292 w 728"/>
                <a:gd name="T39" fmla="*/ 142 h 452"/>
                <a:gd name="T40" fmla="*/ 234 w 728"/>
                <a:gd name="T41" fmla="*/ 142 h 452"/>
                <a:gd name="T42" fmla="*/ 8 w 728"/>
                <a:gd name="T43" fmla="*/ 359 h 452"/>
                <a:gd name="T44" fmla="*/ 0 w 728"/>
                <a:gd name="T45" fmla="*/ 393 h 452"/>
                <a:gd name="T46" fmla="*/ 8 w 728"/>
                <a:gd name="T47" fmla="*/ 426 h 452"/>
                <a:gd name="T48" fmla="*/ 25 w 728"/>
                <a:gd name="T49" fmla="*/ 435 h 452"/>
                <a:gd name="T50" fmla="*/ 83 w 728"/>
                <a:gd name="T51" fmla="*/ 435 h 452"/>
                <a:gd name="T52" fmla="*/ 234 w 728"/>
                <a:gd name="T53" fmla="*/ 284 h 452"/>
                <a:gd name="T54" fmla="*/ 234 w 728"/>
                <a:gd name="T55" fmla="*/ 284 h 452"/>
                <a:gd name="T56" fmla="*/ 234 w 728"/>
                <a:gd name="T57" fmla="*/ 284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8" h="452">
                  <a:moveTo>
                    <a:pt x="234" y="284"/>
                  </a:moveTo>
                  <a:cubicBezTo>
                    <a:pt x="250" y="267"/>
                    <a:pt x="276" y="267"/>
                    <a:pt x="292" y="284"/>
                  </a:cubicBezTo>
                  <a:cubicBezTo>
                    <a:pt x="359" y="351"/>
                    <a:pt x="359" y="351"/>
                    <a:pt x="359" y="351"/>
                  </a:cubicBezTo>
                  <a:cubicBezTo>
                    <a:pt x="376" y="368"/>
                    <a:pt x="384" y="368"/>
                    <a:pt x="401" y="368"/>
                  </a:cubicBezTo>
                  <a:cubicBezTo>
                    <a:pt x="418" y="368"/>
                    <a:pt x="426" y="368"/>
                    <a:pt x="434" y="351"/>
                  </a:cubicBezTo>
                  <a:cubicBezTo>
                    <a:pt x="660" y="134"/>
                    <a:pt x="660" y="134"/>
                    <a:pt x="660" y="134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702" y="175"/>
                    <a:pt x="710" y="175"/>
                    <a:pt x="710" y="175"/>
                  </a:cubicBezTo>
                  <a:cubicBezTo>
                    <a:pt x="719" y="175"/>
                    <a:pt x="727" y="167"/>
                    <a:pt x="727" y="159"/>
                  </a:cubicBezTo>
                  <a:cubicBezTo>
                    <a:pt x="727" y="33"/>
                    <a:pt x="727" y="33"/>
                    <a:pt x="727" y="33"/>
                  </a:cubicBezTo>
                  <a:cubicBezTo>
                    <a:pt x="727" y="25"/>
                    <a:pt x="727" y="16"/>
                    <a:pt x="719" y="8"/>
                  </a:cubicBezTo>
                  <a:cubicBezTo>
                    <a:pt x="710" y="0"/>
                    <a:pt x="702" y="0"/>
                    <a:pt x="694" y="0"/>
                  </a:cubicBezTo>
                  <a:cubicBezTo>
                    <a:pt x="568" y="0"/>
                    <a:pt x="568" y="0"/>
                    <a:pt x="568" y="0"/>
                  </a:cubicBezTo>
                  <a:cubicBezTo>
                    <a:pt x="560" y="0"/>
                    <a:pt x="551" y="0"/>
                    <a:pt x="551" y="8"/>
                  </a:cubicBezTo>
                  <a:cubicBezTo>
                    <a:pt x="543" y="16"/>
                    <a:pt x="551" y="25"/>
                    <a:pt x="551" y="33"/>
                  </a:cubicBezTo>
                  <a:cubicBezTo>
                    <a:pt x="585" y="58"/>
                    <a:pt x="585" y="58"/>
                    <a:pt x="585" y="58"/>
                  </a:cubicBezTo>
                  <a:cubicBezTo>
                    <a:pt x="426" y="217"/>
                    <a:pt x="426" y="217"/>
                    <a:pt x="426" y="217"/>
                  </a:cubicBezTo>
                  <a:cubicBezTo>
                    <a:pt x="426" y="225"/>
                    <a:pt x="409" y="225"/>
                    <a:pt x="401" y="225"/>
                  </a:cubicBezTo>
                  <a:cubicBezTo>
                    <a:pt x="393" y="225"/>
                    <a:pt x="376" y="225"/>
                    <a:pt x="368" y="217"/>
                  </a:cubicBezTo>
                  <a:cubicBezTo>
                    <a:pt x="292" y="142"/>
                    <a:pt x="292" y="142"/>
                    <a:pt x="292" y="142"/>
                  </a:cubicBezTo>
                  <a:cubicBezTo>
                    <a:pt x="276" y="125"/>
                    <a:pt x="250" y="125"/>
                    <a:pt x="234" y="142"/>
                  </a:cubicBezTo>
                  <a:cubicBezTo>
                    <a:pt x="8" y="359"/>
                    <a:pt x="8" y="359"/>
                    <a:pt x="8" y="359"/>
                  </a:cubicBezTo>
                  <a:cubicBezTo>
                    <a:pt x="0" y="368"/>
                    <a:pt x="0" y="384"/>
                    <a:pt x="0" y="393"/>
                  </a:cubicBezTo>
                  <a:cubicBezTo>
                    <a:pt x="0" y="410"/>
                    <a:pt x="0" y="418"/>
                    <a:pt x="8" y="426"/>
                  </a:cubicBezTo>
                  <a:cubicBezTo>
                    <a:pt x="25" y="435"/>
                    <a:pt x="25" y="435"/>
                    <a:pt x="25" y="435"/>
                  </a:cubicBezTo>
                  <a:cubicBezTo>
                    <a:pt x="41" y="451"/>
                    <a:pt x="67" y="451"/>
                    <a:pt x="83" y="435"/>
                  </a:cubicBezTo>
                  <a:lnTo>
                    <a:pt x="234" y="284"/>
                  </a:lnTo>
                  <a:close/>
                  <a:moveTo>
                    <a:pt x="234" y="284"/>
                  </a:moveTo>
                  <a:lnTo>
                    <a:pt x="234" y="28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6" name="Freeform 16"/>
            <p:cNvSpPr>
              <a:spLocks noChangeArrowheads="1"/>
            </p:cNvSpPr>
            <p:nvPr/>
          </p:nvSpPr>
          <p:spPr bwMode="auto">
            <a:xfrm>
              <a:off x="1569458" y="688424"/>
              <a:ext cx="334962" cy="331788"/>
            </a:xfrm>
            <a:custGeom>
              <a:avLst/>
              <a:gdLst>
                <a:gd name="T0" fmla="*/ 887 w 929"/>
                <a:gd name="T1" fmla="*/ 0 h 921"/>
                <a:gd name="T2" fmla="*/ 836 w 929"/>
                <a:gd name="T3" fmla="*/ 50 h 921"/>
                <a:gd name="T4" fmla="*/ 836 w 929"/>
                <a:gd name="T5" fmla="*/ 837 h 921"/>
                <a:gd name="T6" fmla="*/ 51 w 929"/>
                <a:gd name="T7" fmla="*/ 837 h 921"/>
                <a:gd name="T8" fmla="*/ 0 w 929"/>
                <a:gd name="T9" fmla="*/ 878 h 921"/>
                <a:gd name="T10" fmla="*/ 51 w 929"/>
                <a:gd name="T11" fmla="*/ 920 h 921"/>
                <a:gd name="T12" fmla="*/ 887 w 929"/>
                <a:gd name="T13" fmla="*/ 920 h 921"/>
                <a:gd name="T14" fmla="*/ 928 w 929"/>
                <a:gd name="T15" fmla="*/ 878 h 921"/>
                <a:gd name="T16" fmla="*/ 928 w 929"/>
                <a:gd name="T17" fmla="*/ 50 h 921"/>
                <a:gd name="T18" fmla="*/ 887 w 929"/>
                <a:gd name="T19" fmla="*/ 0 h 921"/>
                <a:gd name="T20" fmla="*/ 887 w 929"/>
                <a:gd name="T21" fmla="*/ 0 h 921"/>
                <a:gd name="T22" fmla="*/ 887 w 929"/>
                <a:gd name="T23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29" h="921">
                  <a:moveTo>
                    <a:pt x="887" y="0"/>
                  </a:moveTo>
                  <a:cubicBezTo>
                    <a:pt x="862" y="0"/>
                    <a:pt x="836" y="26"/>
                    <a:pt x="836" y="50"/>
                  </a:cubicBezTo>
                  <a:cubicBezTo>
                    <a:pt x="836" y="837"/>
                    <a:pt x="836" y="837"/>
                    <a:pt x="836" y="837"/>
                  </a:cubicBezTo>
                  <a:cubicBezTo>
                    <a:pt x="51" y="837"/>
                    <a:pt x="51" y="837"/>
                    <a:pt x="51" y="837"/>
                  </a:cubicBezTo>
                  <a:cubicBezTo>
                    <a:pt x="26" y="837"/>
                    <a:pt x="0" y="853"/>
                    <a:pt x="0" y="878"/>
                  </a:cubicBezTo>
                  <a:cubicBezTo>
                    <a:pt x="0" y="903"/>
                    <a:pt x="26" y="920"/>
                    <a:pt x="51" y="920"/>
                  </a:cubicBezTo>
                  <a:cubicBezTo>
                    <a:pt x="887" y="920"/>
                    <a:pt x="887" y="920"/>
                    <a:pt x="887" y="920"/>
                  </a:cubicBezTo>
                  <a:cubicBezTo>
                    <a:pt x="912" y="920"/>
                    <a:pt x="928" y="903"/>
                    <a:pt x="928" y="878"/>
                  </a:cubicBezTo>
                  <a:cubicBezTo>
                    <a:pt x="928" y="50"/>
                    <a:pt x="928" y="50"/>
                    <a:pt x="928" y="50"/>
                  </a:cubicBezTo>
                  <a:cubicBezTo>
                    <a:pt x="928" y="26"/>
                    <a:pt x="903" y="0"/>
                    <a:pt x="887" y="0"/>
                  </a:cubicBezTo>
                  <a:close/>
                  <a:moveTo>
                    <a:pt x="887" y="0"/>
                  </a:move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grpSp>
        <p:nvGrpSpPr>
          <p:cNvPr id="10" name="Group 587"/>
          <p:cNvGrpSpPr>
            <a:grpSpLocks/>
          </p:cNvGrpSpPr>
          <p:nvPr/>
        </p:nvGrpSpPr>
        <p:grpSpPr bwMode="auto">
          <a:xfrm>
            <a:off x="2017289" y="5741917"/>
            <a:ext cx="522416" cy="461865"/>
            <a:chOff x="1530350" y="5719762"/>
            <a:chExt cx="452438" cy="400050"/>
          </a:xfrm>
          <a:solidFill>
            <a:srgbClr val="FFFFFF"/>
          </a:solidFill>
        </p:grpSpPr>
        <p:sp>
          <p:nvSpPr>
            <p:cNvPr id="88" name="Freeform 533"/>
            <p:cNvSpPr>
              <a:spLocks noChangeArrowheads="1"/>
            </p:cNvSpPr>
            <p:nvPr/>
          </p:nvSpPr>
          <p:spPr bwMode="auto">
            <a:xfrm>
              <a:off x="1593850" y="59213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89" name="Freeform 534"/>
            <p:cNvSpPr>
              <a:spLocks noChangeArrowheads="1"/>
            </p:cNvSpPr>
            <p:nvPr/>
          </p:nvSpPr>
          <p:spPr bwMode="auto">
            <a:xfrm>
              <a:off x="1593850" y="5984874"/>
              <a:ext cx="42863" cy="39688"/>
            </a:xfrm>
            <a:custGeom>
              <a:avLst/>
              <a:gdLst>
                <a:gd name="T0" fmla="*/ 0 w 118"/>
                <a:gd name="T1" fmla="*/ 0 h 110"/>
                <a:gd name="T2" fmla="*/ 117 w 118"/>
                <a:gd name="T3" fmla="*/ 0 h 110"/>
                <a:gd name="T4" fmla="*/ 117 w 118"/>
                <a:gd name="T5" fmla="*/ 109 h 110"/>
                <a:gd name="T6" fmla="*/ 0 w 118"/>
                <a:gd name="T7" fmla="*/ 109 h 110"/>
                <a:gd name="T8" fmla="*/ 0 w 118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10">
                  <a:moveTo>
                    <a:pt x="0" y="0"/>
                  </a:moveTo>
                  <a:lnTo>
                    <a:pt x="117" y="0"/>
                  </a:lnTo>
                  <a:lnTo>
                    <a:pt x="117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6" name="Freeform 535"/>
            <p:cNvSpPr>
              <a:spLocks noChangeArrowheads="1"/>
            </p:cNvSpPr>
            <p:nvPr/>
          </p:nvSpPr>
          <p:spPr bwMode="auto">
            <a:xfrm>
              <a:off x="1663700" y="5857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7" name="Freeform 536"/>
            <p:cNvSpPr>
              <a:spLocks noChangeArrowheads="1"/>
            </p:cNvSpPr>
            <p:nvPr/>
          </p:nvSpPr>
          <p:spPr bwMode="auto">
            <a:xfrm>
              <a:off x="1663700" y="59213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8" name="Freeform 537"/>
            <p:cNvSpPr>
              <a:spLocks noChangeArrowheads="1"/>
            </p:cNvSpPr>
            <p:nvPr/>
          </p:nvSpPr>
          <p:spPr bwMode="auto">
            <a:xfrm>
              <a:off x="1663700" y="5984874"/>
              <a:ext cx="39688" cy="39688"/>
            </a:xfrm>
            <a:custGeom>
              <a:avLst/>
              <a:gdLst>
                <a:gd name="T0" fmla="*/ 0 w 110"/>
                <a:gd name="T1" fmla="*/ 0 h 110"/>
                <a:gd name="T2" fmla="*/ 109 w 110"/>
                <a:gd name="T3" fmla="*/ 0 h 110"/>
                <a:gd name="T4" fmla="*/ 109 w 110"/>
                <a:gd name="T5" fmla="*/ 109 h 110"/>
                <a:gd name="T6" fmla="*/ 0 w 110"/>
                <a:gd name="T7" fmla="*/ 109 h 110"/>
                <a:gd name="T8" fmla="*/ 0 w 110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110">
                  <a:moveTo>
                    <a:pt x="0" y="0"/>
                  </a:moveTo>
                  <a:lnTo>
                    <a:pt x="109" y="0"/>
                  </a:lnTo>
                  <a:lnTo>
                    <a:pt x="109" y="109"/>
                  </a:lnTo>
                  <a:lnTo>
                    <a:pt x="0" y="109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  <p:sp>
          <p:nvSpPr>
            <p:cNvPr id="109" name="Freeform 538"/>
            <p:cNvSpPr>
              <a:spLocks noChangeArrowheads="1"/>
            </p:cNvSpPr>
            <p:nvPr/>
          </p:nvSpPr>
          <p:spPr bwMode="auto">
            <a:xfrm>
              <a:off x="1530350" y="5719762"/>
              <a:ext cx="452438" cy="400050"/>
            </a:xfrm>
            <a:custGeom>
              <a:avLst/>
              <a:gdLst>
                <a:gd name="T0" fmla="*/ 1029 w 1255"/>
                <a:gd name="T1" fmla="*/ 75 h 1113"/>
                <a:gd name="T2" fmla="*/ 75 w 1255"/>
                <a:gd name="T3" fmla="*/ 0 h 1113"/>
                <a:gd name="T4" fmla="*/ 0 w 1255"/>
                <a:gd name="T5" fmla="*/ 953 h 1113"/>
                <a:gd name="T6" fmla="*/ 644 w 1255"/>
                <a:gd name="T7" fmla="*/ 1029 h 1113"/>
                <a:gd name="T8" fmla="*/ 1254 w 1255"/>
                <a:gd name="T9" fmla="*/ 736 h 1113"/>
                <a:gd name="T10" fmla="*/ 335 w 1255"/>
                <a:gd name="T11" fmla="*/ 75 h 1113"/>
                <a:gd name="T12" fmla="*/ 694 w 1255"/>
                <a:gd name="T13" fmla="*/ 167 h 1113"/>
                <a:gd name="T14" fmla="*/ 335 w 1255"/>
                <a:gd name="T15" fmla="*/ 75 h 1113"/>
                <a:gd name="T16" fmla="*/ 937 w 1255"/>
                <a:gd name="T17" fmla="*/ 251 h 1113"/>
                <a:gd name="T18" fmla="*/ 878 w 1255"/>
                <a:gd name="T19" fmla="*/ 368 h 1113"/>
                <a:gd name="T20" fmla="*/ 661 w 1255"/>
                <a:gd name="T21" fmla="*/ 385 h 1113"/>
                <a:gd name="T22" fmla="*/ 552 w 1255"/>
                <a:gd name="T23" fmla="*/ 494 h 1113"/>
                <a:gd name="T24" fmla="*/ 510 w 1255"/>
                <a:gd name="T25" fmla="*/ 736 h 1113"/>
                <a:gd name="T26" fmla="*/ 92 w 1255"/>
                <a:gd name="T27" fmla="*/ 920 h 1113"/>
                <a:gd name="T28" fmla="*/ 845 w 1255"/>
                <a:gd name="T29" fmla="*/ 435 h 1113"/>
                <a:gd name="T30" fmla="*/ 911 w 1255"/>
                <a:gd name="T31" fmla="*/ 435 h 1113"/>
                <a:gd name="T32" fmla="*/ 845 w 1255"/>
                <a:gd name="T33" fmla="*/ 435 h 1113"/>
                <a:gd name="T34" fmla="*/ 577 w 1255"/>
                <a:gd name="T35" fmla="*/ 769 h 1113"/>
                <a:gd name="T36" fmla="*/ 577 w 1255"/>
                <a:gd name="T37" fmla="*/ 703 h 1113"/>
                <a:gd name="T38" fmla="*/ 878 w 1255"/>
                <a:gd name="T39" fmla="*/ 1079 h 1113"/>
                <a:gd name="T40" fmla="*/ 878 w 1255"/>
                <a:gd name="T41" fmla="*/ 1004 h 1113"/>
                <a:gd name="T42" fmla="*/ 878 w 1255"/>
                <a:gd name="T43" fmla="*/ 1079 h 1113"/>
                <a:gd name="T44" fmla="*/ 945 w 1255"/>
                <a:gd name="T45" fmla="*/ 728 h 1113"/>
                <a:gd name="T46" fmla="*/ 878 w 1255"/>
                <a:gd name="T47" fmla="*/ 803 h 1113"/>
                <a:gd name="T48" fmla="*/ 661 w 1255"/>
                <a:gd name="T49" fmla="*/ 627 h 1113"/>
                <a:gd name="T50" fmla="*/ 694 w 1255"/>
                <a:gd name="T51" fmla="*/ 585 h 1113"/>
                <a:gd name="T52" fmla="*/ 878 w 1255"/>
                <a:gd name="T53" fmla="*/ 669 h 1113"/>
                <a:gd name="T54" fmla="*/ 1045 w 1255"/>
                <a:gd name="T55" fmla="*/ 544 h 1113"/>
                <a:gd name="T56" fmla="*/ 1087 w 1255"/>
                <a:gd name="T57" fmla="*/ 585 h 1113"/>
                <a:gd name="T58" fmla="*/ 1146 w 1255"/>
                <a:gd name="T59" fmla="*/ 736 h 1113"/>
                <a:gd name="T60" fmla="*/ 1221 w 1255"/>
                <a:gd name="T61" fmla="*/ 736 h 1113"/>
                <a:gd name="T62" fmla="*/ 1179 w 1255"/>
                <a:gd name="T63" fmla="*/ 769 h 1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5" h="1113">
                  <a:moveTo>
                    <a:pt x="1029" y="402"/>
                  </a:moveTo>
                  <a:cubicBezTo>
                    <a:pt x="1029" y="75"/>
                    <a:pt x="1029" y="75"/>
                    <a:pt x="1029" y="75"/>
                  </a:cubicBezTo>
                  <a:cubicBezTo>
                    <a:pt x="1029" y="34"/>
                    <a:pt x="995" y="0"/>
                    <a:pt x="953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4" y="0"/>
                    <a:pt x="0" y="34"/>
                    <a:pt x="0" y="75"/>
                  </a:cubicBezTo>
                  <a:cubicBezTo>
                    <a:pt x="0" y="953"/>
                    <a:pt x="0" y="953"/>
                    <a:pt x="0" y="953"/>
                  </a:cubicBezTo>
                  <a:cubicBezTo>
                    <a:pt x="0" y="995"/>
                    <a:pt x="34" y="1029"/>
                    <a:pt x="75" y="1029"/>
                  </a:cubicBezTo>
                  <a:cubicBezTo>
                    <a:pt x="644" y="1029"/>
                    <a:pt x="644" y="1029"/>
                    <a:pt x="644" y="1029"/>
                  </a:cubicBezTo>
                  <a:cubicBezTo>
                    <a:pt x="711" y="1079"/>
                    <a:pt x="795" y="1112"/>
                    <a:pt x="878" y="1112"/>
                  </a:cubicBezTo>
                  <a:cubicBezTo>
                    <a:pt x="1087" y="1112"/>
                    <a:pt x="1254" y="945"/>
                    <a:pt x="1254" y="736"/>
                  </a:cubicBezTo>
                  <a:cubicBezTo>
                    <a:pt x="1254" y="585"/>
                    <a:pt x="1162" y="460"/>
                    <a:pt x="1029" y="402"/>
                  </a:cubicBezTo>
                  <a:close/>
                  <a:moveTo>
                    <a:pt x="335" y="75"/>
                  </a:moveTo>
                  <a:cubicBezTo>
                    <a:pt x="694" y="75"/>
                    <a:pt x="694" y="75"/>
                    <a:pt x="694" y="75"/>
                  </a:cubicBezTo>
                  <a:cubicBezTo>
                    <a:pt x="694" y="167"/>
                    <a:pt x="694" y="167"/>
                    <a:pt x="694" y="167"/>
                  </a:cubicBezTo>
                  <a:cubicBezTo>
                    <a:pt x="335" y="167"/>
                    <a:pt x="335" y="167"/>
                    <a:pt x="335" y="167"/>
                  </a:cubicBezTo>
                  <a:lnTo>
                    <a:pt x="335" y="75"/>
                  </a:lnTo>
                  <a:close/>
                  <a:moveTo>
                    <a:pt x="92" y="251"/>
                  </a:moveTo>
                  <a:cubicBezTo>
                    <a:pt x="937" y="251"/>
                    <a:pt x="937" y="251"/>
                    <a:pt x="937" y="251"/>
                  </a:cubicBezTo>
                  <a:cubicBezTo>
                    <a:pt x="937" y="368"/>
                    <a:pt x="937" y="368"/>
                    <a:pt x="937" y="368"/>
                  </a:cubicBezTo>
                  <a:cubicBezTo>
                    <a:pt x="920" y="368"/>
                    <a:pt x="895" y="368"/>
                    <a:pt x="878" y="368"/>
                  </a:cubicBezTo>
                  <a:cubicBezTo>
                    <a:pt x="795" y="368"/>
                    <a:pt x="719" y="393"/>
                    <a:pt x="661" y="435"/>
                  </a:cubicBezTo>
                  <a:cubicBezTo>
                    <a:pt x="661" y="385"/>
                    <a:pt x="661" y="385"/>
                    <a:pt x="661" y="385"/>
                  </a:cubicBezTo>
                  <a:cubicBezTo>
                    <a:pt x="552" y="385"/>
                    <a:pt x="552" y="385"/>
                    <a:pt x="552" y="385"/>
                  </a:cubicBezTo>
                  <a:cubicBezTo>
                    <a:pt x="552" y="494"/>
                    <a:pt x="552" y="494"/>
                    <a:pt x="552" y="494"/>
                  </a:cubicBezTo>
                  <a:cubicBezTo>
                    <a:pt x="602" y="494"/>
                    <a:pt x="602" y="494"/>
                    <a:pt x="602" y="494"/>
                  </a:cubicBezTo>
                  <a:cubicBezTo>
                    <a:pt x="544" y="560"/>
                    <a:pt x="510" y="644"/>
                    <a:pt x="510" y="736"/>
                  </a:cubicBezTo>
                  <a:cubicBezTo>
                    <a:pt x="510" y="803"/>
                    <a:pt x="527" y="870"/>
                    <a:pt x="560" y="920"/>
                  </a:cubicBezTo>
                  <a:cubicBezTo>
                    <a:pt x="92" y="920"/>
                    <a:pt x="92" y="920"/>
                    <a:pt x="92" y="920"/>
                  </a:cubicBezTo>
                  <a:lnTo>
                    <a:pt x="92" y="251"/>
                  </a:lnTo>
                  <a:close/>
                  <a:moveTo>
                    <a:pt x="845" y="435"/>
                  </a:moveTo>
                  <a:cubicBezTo>
                    <a:pt x="845" y="418"/>
                    <a:pt x="861" y="402"/>
                    <a:pt x="878" y="402"/>
                  </a:cubicBezTo>
                  <a:cubicBezTo>
                    <a:pt x="895" y="402"/>
                    <a:pt x="911" y="418"/>
                    <a:pt x="911" y="435"/>
                  </a:cubicBezTo>
                  <a:cubicBezTo>
                    <a:pt x="911" y="452"/>
                    <a:pt x="895" y="468"/>
                    <a:pt x="878" y="468"/>
                  </a:cubicBezTo>
                  <a:cubicBezTo>
                    <a:pt x="861" y="468"/>
                    <a:pt x="845" y="452"/>
                    <a:pt x="845" y="435"/>
                  </a:cubicBezTo>
                  <a:close/>
                  <a:moveTo>
                    <a:pt x="610" y="736"/>
                  </a:moveTo>
                  <a:cubicBezTo>
                    <a:pt x="610" y="761"/>
                    <a:pt x="594" y="769"/>
                    <a:pt x="577" y="769"/>
                  </a:cubicBezTo>
                  <a:cubicBezTo>
                    <a:pt x="560" y="769"/>
                    <a:pt x="544" y="761"/>
                    <a:pt x="544" y="736"/>
                  </a:cubicBezTo>
                  <a:cubicBezTo>
                    <a:pt x="544" y="719"/>
                    <a:pt x="560" y="703"/>
                    <a:pt x="577" y="703"/>
                  </a:cubicBezTo>
                  <a:cubicBezTo>
                    <a:pt x="594" y="703"/>
                    <a:pt x="610" y="719"/>
                    <a:pt x="610" y="736"/>
                  </a:cubicBezTo>
                  <a:close/>
                  <a:moveTo>
                    <a:pt x="878" y="1079"/>
                  </a:moveTo>
                  <a:cubicBezTo>
                    <a:pt x="861" y="1079"/>
                    <a:pt x="845" y="1062"/>
                    <a:pt x="845" y="1045"/>
                  </a:cubicBezTo>
                  <a:cubicBezTo>
                    <a:pt x="845" y="1020"/>
                    <a:pt x="861" y="1004"/>
                    <a:pt x="878" y="1004"/>
                  </a:cubicBezTo>
                  <a:cubicBezTo>
                    <a:pt x="895" y="1004"/>
                    <a:pt x="911" y="1020"/>
                    <a:pt x="911" y="1045"/>
                  </a:cubicBezTo>
                  <a:cubicBezTo>
                    <a:pt x="911" y="1062"/>
                    <a:pt x="895" y="1079"/>
                    <a:pt x="878" y="1079"/>
                  </a:cubicBezTo>
                  <a:close/>
                  <a:moveTo>
                    <a:pt x="1087" y="585"/>
                  </a:moveTo>
                  <a:cubicBezTo>
                    <a:pt x="945" y="728"/>
                    <a:pt x="945" y="728"/>
                    <a:pt x="945" y="728"/>
                  </a:cubicBezTo>
                  <a:lnTo>
                    <a:pt x="945" y="736"/>
                  </a:lnTo>
                  <a:cubicBezTo>
                    <a:pt x="945" y="778"/>
                    <a:pt x="920" y="803"/>
                    <a:pt x="878" y="803"/>
                  </a:cubicBezTo>
                  <a:cubicBezTo>
                    <a:pt x="845" y="803"/>
                    <a:pt x="811" y="778"/>
                    <a:pt x="811" y="744"/>
                  </a:cubicBezTo>
                  <a:cubicBezTo>
                    <a:pt x="661" y="627"/>
                    <a:pt x="661" y="627"/>
                    <a:pt x="661" y="627"/>
                  </a:cubicBezTo>
                  <a:cubicBezTo>
                    <a:pt x="652" y="619"/>
                    <a:pt x="644" y="594"/>
                    <a:pt x="652" y="585"/>
                  </a:cubicBezTo>
                  <a:cubicBezTo>
                    <a:pt x="661" y="577"/>
                    <a:pt x="686" y="569"/>
                    <a:pt x="694" y="585"/>
                  </a:cubicBezTo>
                  <a:cubicBezTo>
                    <a:pt x="836" y="686"/>
                    <a:pt x="836" y="686"/>
                    <a:pt x="836" y="686"/>
                  </a:cubicBezTo>
                  <a:cubicBezTo>
                    <a:pt x="845" y="677"/>
                    <a:pt x="861" y="669"/>
                    <a:pt x="878" y="669"/>
                  </a:cubicBezTo>
                  <a:cubicBezTo>
                    <a:pt x="895" y="669"/>
                    <a:pt x="903" y="677"/>
                    <a:pt x="911" y="677"/>
                  </a:cubicBezTo>
                  <a:cubicBezTo>
                    <a:pt x="1045" y="544"/>
                    <a:pt x="1045" y="544"/>
                    <a:pt x="1045" y="544"/>
                  </a:cubicBezTo>
                  <a:cubicBezTo>
                    <a:pt x="1062" y="535"/>
                    <a:pt x="1079" y="535"/>
                    <a:pt x="1087" y="544"/>
                  </a:cubicBezTo>
                  <a:cubicBezTo>
                    <a:pt x="1104" y="552"/>
                    <a:pt x="1096" y="569"/>
                    <a:pt x="1087" y="585"/>
                  </a:cubicBezTo>
                  <a:close/>
                  <a:moveTo>
                    <a:pt x="1179" y="769"/>
                  </a:moveTo>
                  <a:cubicBezTo>
                    <a:pt x="1162" y="769"/>
                    <a:pt x="1146" y="761"/>
                    <a:pt x="1146" y="736"/>
                  </a:cubicBezTo>
                  <a:cubicBezTo>
                    <a:pt x="1146" y="719"/>
                    <a:pt x="1162" y="703"/>
                    <a:pt x="1179" y="703"/>
                  </a:cubicBezTo>
                  <a:cubicBezTo>
                    <a:pt x="1204" y="703"/>
                    <a:pt x="1221" y="719"/>
                    <a:pt x="1221" y="736"/>
                  </a:cubicBezTo>
                  <a:cubicBezTo>
                    <a:pt x="1221" y="761"/>
                    <a:pt x="1204" y="769"/>
                    <a:pt x="1179" y="769"/>
                  </a:cubicBezTo>
                  <a:close/>
                  <a:moveTo>
                    <a:pt x="1179" y="769"/>
                  </a:moveTo>
                  <a:lnTo>
                    <a:pt x="1179" y="769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Open Sans Light"/>
                <a:ea typeface="+mn-ea"/>
                <a:cs typeface="Open Sans Light"/>
              </a:endParaRPr>
            </a:p>
          </p:txBody>
        </p:sp>
      </p:grpSp>
      <p:cxnSp>
        <p:nvCxnSpPr>
          <p:cNvPr id="110" name="直接连接符 109"/>
          <p:cNvCxnSpPr/>
          <p:nvPr/>
        </p:nvCxnSpPr>
        <p:spPr>
          <a:xfrm flipV="1">
            <a:off x="2921646" y="5001393"/>
            <a:ext cx="908050" cy="476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 flipV="1">
            <a:off x="2935294" y="5896502"/>
            <a:ext cx="908050" cy="63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/>
          <p:cNvSpPr/>
          <p:nvPr/>
        </p:nvSpPr>
        <p:spPr>
          <a:xfrm>
            <a:off x="3726509" y="4947418"/>
            <a:ext cx="106362" cy="10636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13" name="椭圆 112"/>
          <p:cNvSpPr/>
          <p:nvPr/>
        </p:nvSpPr>
        <p:spPr>
          <a:xfrm>
            <a:off x="3740157" y="5831415"/>
            <a:ext cx="106362" cy="10636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14" name="文本框 56"/>
          <p:cNvSpPr txBox="1">
            <a:spLocks noChangeArrowheads="1"/>
          </p:cNvSpPr>
          <p:nvPr/>
        </p:nvSpPr>
        <p:spPr bwMode="auto">
          <a:xfrm>
            <a:off x="4096862" y="4786991"/>
            <a:ext cx="57246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理解死锁的概念、产生的原因和处理方法</a:t>
            </a:r>
          </a:p>
        </p:txBody>
      </p:sp>
      <p:sp>
        <p:nvSpPr>
          <p:cNvPr id="115" name="文本框 58"/>
          <p:cNvSpPr txBox="1">
            <a:spLocks noChangeArrowheads="1"/>
          </p:cNvSpPr>
          <p:nvPr/>
        </p:nvSpPr>
        <p:spPr bwMode="auto">
          <a:xfrm>
            <a:off x="4110510" y="5677029"/>
            <a:ext cx="66479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理解并掌握预防、避免、检测与解除死锁的方法</a:t>
            </a:r>
          </a:p>
        </p:txBody>
      </p:sp>
    </p:spTree>
    <p:extLst>
      <p:ext uri="{BB962C8B-B14F-4D97-AF65-F5344CB8AC3E}">
        <p14:creationId xmlns:p14="http://schemas.microsoft.com/office/powerpoint/2010/main" val="90357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57" grpId="0"/>
      <p:bldP spid="59" grpId="0"/>
      <p:bldP spid="114" grpId="0"/>
      <p:bldP spid="1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729551" y="1483991"/>
            <a:ext cx="6989586" cy="1104503"/>
            <a:chOff x="3621789" y="2876749"/>
            <a:chExt cx="5471412" cy="1104503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调度的基本概念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7082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4.1</a:t>
              </a:r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sp>
        <p:nvSpPr>
          <p:cNvPr id="16" name="文本框 21"/>
          <p:cNvSpPr txBox="1">
            <a:spLocks noChangeArrowheads="1"/>
          </p:cNvSpPr>
          <p:nvPr/>
        </p:nvSpPr>
        <p:spPr bwMode="auto">
          <a:xfrm>
            <a:off x="2439935" y="2924208"/>
            <a:ext cx="9032928" cy="390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处理机调度要解决的问题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2"/>
                </a:solidFill>
              </a:rPr>
              <a:t>       WHAT</a:t>
            </a:r>
            <a:r>
              <a:rPr lang="zh-CN" altLang="en-US" sz="2400" dirty="0"/>
              <a:t>：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按什么原则分配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进程调度算法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目标：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提高处理机利用率、公平性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2"/>
                </a:solidFill>
              </a:rPr>
              <a:t>       WHEN</a:t>
            </a:r>
            <a:r>
              <a:rPr lang="zh-CN" altLang="en-US" sz="2400" dirty="0"/>
              <a:t>：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何时分配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进程调度的时机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2"/>
                </a:solidFill>
              </a:rPr>
              <a:t>       HOW</a:t>
            </a:r>
            <a:r>
              <a:rPr lang="zh-CN" altLang="en-US" sz="2400" dirty="0"/>
              <a:t>：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如何分配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CPU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调度过程（进程的上下文切换）</a:t>
            </a:r>
            <a:endParaRPr lang="en-US" altLang="zh-CN" sz="2400" dirty="0" err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15"/>
          <p:cNvSpPr>
            <a:spLocks/>
          </p:cNvSpPr>
          <p:nvPr/>
        </p:nvSpPr>
        <p:spPr bwMode="auto">
          <a:xfrm>
            <a:off x="2574359" y="3688697"/>
            <a:ext cx="266700" cy="2936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rgbClr val="404040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sp>
        <p:nvSpPr>
          <p:cNvPr id="19" name="AutoShape 115"/>
          <p:cNvSpPr>
            <a:spLocks/>
          </p:cNvSpPr>
          <p:nvPr/>
        </p:nvSpPr>
        <p:spPr bwMode="auto">
          <a:xfrm>
            <a:off x="2594619" y="4746874"/>
            <a:ext cx="266700" cy="2936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rgbClr val="404040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  <p:sp>
        <p:nvSpPr>
          <p:cNvPr id="20" name="AutoShape 115"/>
          <p:cNvSpPr>
            <a:spLocks/>
          </p:cNvSpPr>
          <p:nvPr/>
        </p:nvSpPr>
        <p:spPr bwMode="auto">
          <a:xfrm>
            <a:off x="2601990" y="5858951"/>
            <a:ext cx="266700" cy="2936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357" y="18801"/>
                </a:moveTo>
                <a:cubicBezTo>
                  <a:pt x="21518" y="18965"/>
                  <a:pt x="21599" y="19177"/>
                  <a:pt x="21599" y="19436"/>
                </a:cubicBezTo>
                <a:cubicBezTo>
                  <a:pt x="21599" y="19580"/>
                  <a:pt x="21518" y="19775"/>
                  <a:pt x="21357" y="20018"/>
                </a:cubicBezTo>
                <a:cubicBezTo>
                  <a:pt x="21193" y="20261"/>
                  <a:pt x="20989" y="20504"/>
                  <a:pt x="20746" y="20741"/>
                </a:cubicBezTo>
                <a:cubicBezTo>
                  <a:pt x="20503" y="20978"/>
                  <a:pt x="20260" y="21184"/>
                  <a:pt x="20023" y="21348"/>
                </a:cubicBezTo>
                <a:cubicBezTo>
                  <a:pt x="19783" y="21518"/>
                  <a:pt x="19593" y="21599"/>
                  <a:pt x="19447" y="21599"/>
                </a:cubicBezTo>
                <a:cubicBezTo>
                  <a:pt x="19189" y="21599"/>
                  <a:pt x="18975" y="21515"/>
                  <a:pt x="18811" y="21343"/>
                </a:cubicBezTo>
                <a:lnTo>
                  <a:pt x="13957" y="16502"/>
                </a:lnTo>
                <a:cubicBezTo>
                  <a:pt x="13217" y="16980"/>
                  <a:pt x="12428" y="17350"/>
                  <a:pt x="11589" y="17604"/>
                </a:cubicBezTo>
                <a:cubicBezTo>
                  <a:pt x="10750" y="17864"/>
                  <a:pt x="9891" y="17991"/>
                  <a:pt x="9007" y="17991"/>
                </a:cubicBezTo>
                <a:cubicBezTo>
                  <a:pt x="7769" y="17991"/>
                  <a:pt x="6608" y="17759"/>
                  <a:pt x="5517" y="17290"/>
                </a:cubicBezTo>
                <a:cubicBezTo>
                  <a:pt x="4427" y="16822"/>
                  <a:pt x="3469" y="16175"/>
                  <a:pt x="2644" y="15353"/>
                </a:cubicBezTo>
                <a:cubicBezTo>
                  <a:pt x="1816" y="14534"/>
                  <a:pt x="1172" y="13580"/>
                  <a:pt x="700" y="12487"/>
                </a:cubicBezTo>
                <a:cubicBezTo>
                  <a:pt x="231" y="11400"/>
                  <a:pt x="0" y="10236"/>
                  <a:pt x="0" y="8999"/>
                </a:cubicBezTo>
                <a:cubicBezTo>
                  <a:pt x="0" y="7768"/>
                  <a:pt x="231" y="6602"/>
                  <a:pt x="700" y="5515"/>
                </a:cubicBezTo>
                <a:cubicBezTo>
                  <a:pt x="1169" y="4422"/>
                  <a:pt x="1816" y="3467"/>
                  <a:pt x="2644" y="2645"/>
                </a:cubicBezTo>
                <a:cubicBezTo>
                  <a:pt x="3469" y="1827"/>
                  <a:pt x="4424" y="1180"/>
                  <a:pt x="5512" y="708"/>
                </a:cubicBezTo>
                <a:cubicBezTo>
                  <a:pt x="6600" y="237"/>
                  <a:pt x="7764" y="0"/>
                  <a:pt x="9007" y="0"/>
                </a:cubicBezTo>
                <a:cubicBezTo>
                  <a:pt x="10244" y="0"/>
                  <a:pt x="11403" y="237"/>
                  <a:pt x="12488" y="708"/>
                </a:cubicBezTo>
                <a:cubicBezTo>
                  <a:pt x="13573" y="1180"/>
                  <a:pt x="14530" y="1827"/>
                  <a:pt x="15358" y="2645"/>
                </a:cubicBezTo>
                <a:cubicBezTo>
                  <a:pt x="16183" y="3467"/>
                  <a:pt x="16830" y="4422"/>
                  <a:pt x="17299" y="5515"/>
                </a:cubicBezTo>
                <a:cubicBezTo>
                  <a:pt x="17768" y="6602"/>
                  <a:pt x="18003" y="7768"/>
                  <a:pt x="18003" y="8999"/>
                </a:cubicBezTo>
                <a:cubicBezTo>
                  <a:pt x="18003" y="9886"/>
                  <a:pt x="17873" y="10747"/>
                  <a:pt x="17616" y="11589"/>
                </a:cubicBezTo>
                <a:cubicBezTo>
                  <a:pt x="17359" y="12433"/>
                  <a:pt x="16991" y="13218"/>
                  <a:pt x="16514" y="13947"/>
                </a:cubicBezTo>
                <a:lnTo>
                  <a:pt x="21357" y="18801"/>
                </a:lnTo>
                <a:close/>
                <a:moveTo>
                  <a:pt x="3596" y="8999"/>
                </a:moveTo>
                <a:cubicBezTo>
                  <a:pt x="3596" y="9759"/>
                  <a:pt x="3740" y="10465"/>
                  <a:pt x="4028" y="11117"/>
                </a:cubicBezTo>
                <a:cubicBezTo>
                  <a:pt x="4317" y="11770"/>
                  <a:pt x="4707" y="12337"/>
                  <a:pt x="5193" y="12820"/>
                </a:cubicBezTo>
                <a:cubicBezTo>
                  <a:pt x="5679" y="13300"/>
                  <a:pt x="6252" y="13684"/>
                  <a:pt x="6908" y="13969"/>
                </a:cubicBezTo>
                <a:cubicBezTo>
                  <a:pt x="7566" y="14252"/>
                  <a:pt x="8264" y="14393"/>
                  <a:pt x="9004" y="14393"/>
                </a:cubicBezTo>
                <a:cubicBezTo>
                  <a:pt x="9744" y="14393"/>
                  <a:pt x="10439" y="14252"/>
                  <a:pt x="11092" y="13969"/>
                </a:cubicBezTo>
                <a:cubicBezTo>
                  <a:pt x="11745" y="13684"/>
                  <a:pt x="12318" y="13300"/>
                  <a:pt x="12801" y="12820"/>
                </a:cubicBezTo>
                <a:cubicBezTo>
                  <a:pt x="13290" y="12337"/>
                  <a:pt x="13677" y="11770"/>
                  <a:pt x="13965" y="11117"/>
                </a:cubicBezTo>
                <a:cubicBezTo>
                  <a:pt x="14254" y="10465"/>
                  <a:pt x="14398" y="9759"/>
                  <a:pt x="14398" y="8999"/>
                </a:cubicBezTo>
                <a:cubicBezTo>
                  <a:pt x="14398" y="8259"/>
                  <a:pt x="14254" y="7565"/>
                  <a:pt x="13965" y="6912"/>
                </a:cubicBezTo>
                <a:cubicBezTo>
                  <a:pt x="13674" y="6257"/>
                  <a:pt x="13290" y="5684"/>
                  <a:pt x="12801" y="5192"/>
                </a:cubicBezTo>
                <a:cubicBezTo>
                  <a:pt x="12315" y="4704"/>
                  <a:pt x="11745" y="4317"/>
                  <a:pt x="11092" y="4032"/>
                </a:cubicBezTo>
                <a:cubicBezTo>
                  <a:pt x="10439" y="3749"/>
                  <a:pt x="9741" y="3605"/>
                  <a:pt x="9004" y="3605"/>
                </a:cubicBezTo>
                <a:cubicBezTo>
                  <a:pt x="8267" y="3605"/>
                  <a:pt x="7566" y="3749"/>
                  <a:pt x="6908" y="4032"/>
                </a:cubicBezTo>
                <a:cubicBezTo>
                  <a:pt x="6252" y="4317"/>
                  <a:pt x="5676" y="4704"/>
                  <a:pt x="5193" y="5192"/>
                </a:cubicBezTo>
                <a:cubicBezTo>
                  <a:pt x="4707" y="5684"/>
                  <a:pt x="4317" y="6257"/>
                  <a:pt x="4028" y="6912"/>
                </a:cubicBezTo>
                <a:cubicBezTo>
                  <a:pt x="3740" y="7565"/>
                  <a:pt x="3596" y="8256"/>
                  <a:pt x="3596" y="8999"/>
                </a:cubicBezTo>
                <a:moveTo>
                  <a:pt x="9007" y="5591"/>
                </a:moveTo>
                <a:cubicBezTo>
                  <a:pt x="9185" y="5591"/>
                  <a:pt x="9343" y="5656"/>
                  <a:pt x="9473" y="5785"/>
                </a:cubicBezTo>
                <a:cubicBezTo>
                  <a:pt x="9603" y="5918"/>
                  <a:pt x="9668" y="6082"/>
                  <a:pt x="9668" y="6279"/>
                </a:cubicBezTo>
                <a:cubicBezTo>
                  <a:pt x="9668" y="6460"/>
                  <a:pt x="9603" y="6616"/>
                  <a:pt x="9473" y="6745"/>
                </a:cubicBezTo>
                <a:cubicBezTo>
                  <a:pt x="9343" y="6878"/>
                  <a:pt x="9185" y="6943"/>
                  <a:pt x="9007" y="6943"/>
                </a:cubicBezTo>
                <a:cubicBezTo>
                  <a:pt x="8439" y="6943"/>
                  <a:pt x="7953" y="7144"/>
                  <a:pt x="7552" y="7536"/>
                </a:cubicBezTo>
                <a:cubicBezTo>
                  <a:pt x="7151" y="7934"/>
                  <a:pt x="6950" y="8423"/>
                  <a:pt x="6950" y="8996"/>
                </a:cubicBezTo>
                <a:cubicBezTo>
                  <a:pt x="6950" y="9180"/>
                  <a:pt x="6885" y="9332"/>
                  <a:pt x="6755" y="9465"/>
                </a:cubicBezTo>
                <a:cubicBezTo>
                  <a:pt x="6622" y="9595"/>
                  <a:pt x="6467" y="9657"/>
                  <a:pt x="6289" y="9657"/>
                </a:cubicBezTo>
                <a:cubicBezTo>
                  <a:pt x="6080" y="9657"/>
                  <a:pt x="5913" y="9595"/>
                  <a:pt x="5786" y="9465"/>
                </a:cubicBezTo>
                <a:cubicBezTo>
                  <a:pt x="5659" y="9332"/>
                  <a:pt x="5599" y="9180"/>
                  <a:pt x="5599" y="8996"/>
                </a:cubicBezTo>
                <a:cubicBezTo>
                  <a:pt x="5599" y="8539"/>
                  <a:pt x="5684" y="8104"/>
                  <a:pt x="5862" y="7686"/>
                </a:cubicBezTo>
                <a:cubicBezTo>
                  <a:pt x="6037" y="7271"/>
                  <a:pt x="6280" y="6907"/>
                  <a:pt x="6597" y="6590"/>
                </a:cubicBezTo>
                <a:cubicBezTo>
                  <a:pt x="6905" y="6277"/>
                  <a:pt x="7264" y="6028"/>
                  <a:pt x="7676" y="5856"/>
                </a:cubicBezTo>
                <a:cubicBezTo>
                  <a:pt x="8086" y="5681"/>
                  <a:pt x="8529" y="5591"/>
                  <a:pt x="9007" y="5591"/>
                </a:cubicBezTo>
              </a:path>
            </a:pathLst>
          </a:custGeom>
          <a:solidFill>
            <a:srgbClr val="404040"/>
          </a:solidFill>
          <a:ln>
            <a:noFill/>
          </a:ln>
          <a:effectLst/>
        </p:spPr>
        <p:txBody>
          <a:bodyPr lIns="101578" tIns="101578" rIns="101578" bIns="101578" anchor="ctr"/>
          <a:lstStyle/>
          <a:p>
            <a:pPr defTabSz="9141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5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ea typeface="+mn-ea"/>
              <a:cs typeface="Gill Sans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62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处理机调度的层次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046271" y="4210076"/>
            <a:ext cx="3465675" cy="1808882"/>
            <a:chOff x="5046271" y="4210076"/>
            <a:chExt cx="3465675" cy="1808882"/>
          </a:xfrm>
        </p:grpSpPr>
        <p:grpSp>
          <p:nvGrpSpPr>
            <p:cNvPr id="5" name="组合 4"/>
            <p:cNvGrpSpPr/>
            <p:nvPr/>
          </p:nvGrpSpPr>
          <p:grpSpPr>
            <a:xfrm>
              <a:off x="5046271" y="4210076"/>
              <a:ext cx="3465675" cy="1808882"/>
              <a:chOff x="2732611" y="4284414"/>
              <a:chExt cx="3465675" cy="1808882"/>
            </a:xfrm>
          </p:grpSpPr>
          <p:sp>
            <p:nvSpPr>
              <p:cNvPr id="6" name="六边形 5"/>
              <p:cNvSpPr/>
              <p:nvPr/>
            </p:nvSpPr>
            <p:spPr>
              <a:xfrm>
                <a:off x="2745674" y="4375855"/>
                <a:ext cx="1336469" cy="1152128"/>
              </a:xfrm>
              <a:prstGeom prst="hexagon">
                <a:avLst/>
              </a:prstGeom>
              <a:gradFill flip="none" rotWithShape="1">
                <a:gsLst>
                  <a:gs pos="0">
                    <a:srgbClr val="00B0F0"/>
                  </a:gs>
                  <a:gs pos="41000">
                    <a:srgbClr val="007DDA"/>
                  </a:gs>
                  <a:gs pos="97000">
                    <a:srgbClr val="005696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六边形 6"/>
              <p:cNvSpPr/>
              <p:nvPr/>
            </p:nvSpPr>
            <p:spPr>
              <a:xfrm>
                <a:off x="2732611" y="4297477"/>
                <a:ext cx="1336469" cy="1152128"/>
              </a:xfrm>
              <a:prstGeom prst="hexagon">
                <a:avLst/>
              </a:prstGeom>
              <a:gradFill flip="none" rotWithShape="1">
                <a:gsLst>
                  <a:gs pos="0">
                    <a:srgbClr val="57D3FF"/>
                  </a:gs>
                  <a:gs pos="71000">
                    <a:srgbClr val="00B0F0"/>
                  </a:gs>
                  <a:gs pos="97000">
                    <a:srgbClr val="0091FE"/>
                  </a:gs>
                </a:gsLst>
                <a:path path="rect">
                  <a:fillToRect l="100000" t="100000"/>
                </a:path>
                <a:tileRect r="-100000" b="-100000"/>
              </a:gradFill>
              <a:ln w="6350"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六边形 7"/>
              <p:cNvSpPr/>
              <p:nvPr/>
            </p:nvSpPr>
            <p:spPr>
              <a:xfrm>
                <a:off x="4861817" y="4362792"/>
                <a:ext cx="1336469" cy="1152128"/>
              </a:xfrm>
              <a:prstGeom prst="hexagon">
                <a:avLst/>
              </a:prstGeom>
              <a:gradFill flip="none" rotWithShape="1">
                <a:gsLst>
                  <a:gs pos="0">
                    <a:srgbClr val="A8E53B"/>
                  </a:gs>
                  <a:gs pos="55000">
                    <a:srgbClr val="679D07"/>
                  </a:gs>
                  <a:gs pos="97000">
                    <a:srgbClr val="416305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六边形 8"/>
              <p:cNvSpPr/>
              <p:nvPr/>
            </p:nvSpPr>
            <p:spPr>
              <a:xfrm>
                <a:off x="4848754" y="4284414"/>
                <a:ext cx="1336469" cy="1152128"/>
              </a:xfrm>
              <a:prstGeom prst="hexagon">
                <a:avLst/>
              </a:prstGeom>
              <a:gradFill flip="none" rotWithShape="1">
                <a:gsLst>
                  <a:gs pos="0">
                    <a:srgbClr val="A8E53B"/>
                  </a:gs>
                  <a:gs pos="70000">
                    <a:srgbClr val="A1B90F"/>
                  </a:gs>
                  <a:gs pos="97000">
                    <a:srgbClr val="6FA808"/>
                  </a:gs>
                </a:gsLst>
                <a:path path="rect">
                  <a:fillToRect l="100000" t="100000"/>
                </a:path>
                <a:tileRect r="-100000" b="-100000"/>
              </a:gradFill>
              <a:ln w="6350"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六边形 9"/>
              <p:cNvSpPr/>
              <p:nvPr/>
            </p:nvSpPr>
            <p:spPr>
              <a:xfrm>
                <a:off x="3811595" y="4941168"/>
                <a:ext cx="1336469" cy="1152128"/>
              </a:xfrm>
              <a:prstGeom prst="hexagon">
                <a:avLst/>
              </a:prstGeom>
              <a:gradFill flip="none" rotWithShape="1">
                <a:gsLst>
                  <a:gs pos="0">
                    <a:srgbClr val="C49500"/>
                  </a:gs>
                  <a:gs pos="32000">
                    <a:srgbClr val="E06B0A"/>
                  </a:gs>
                  <a:gs pos="97000">
                    <a:srgbClr val="884106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六边形 10"/>
              <p:cNvSpPr/>
              <p:nvPr/>
            </p:nvSpPr>
            <p:spPr>
              <a:xfrm>
                <a:off x="3798532" y="4862790"/>
                <a:ext cx="1336469" cy="1152128"/>
              </a:xfrm>
              <a:prstGeom prst="hexagon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5180604" y="4383868"/>
              <a:ext cx="10609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b="1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2400" dirty="0">
                  <a:solidFill>
                    <a:schemeClr val="bg1"/>
                  </a:solidFill>
                </a:rPr>
                <a:t>高级调度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41529" y="4942203"/>
              <a:ext cx="10609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b="1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2400" dirty="0">
                  <a:solidFill>
                    <a:schemeClr val="bg1"/>
                  </a:solidFill>
                </a:rPr>
                <a:t>中级调度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313455" y="4387891"/>
              <a:ext cx="10609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b="1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2400" dirty="0">
                  <a:solidFill>
                    <a:schemeClr val="bg1"/>
                  </a:solidFill>
                </a:rPr>
                <a:t>低级调度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756076" y="1992601"/>
            <a:ext cx="2041399" cy="2829946"/>
            <a:chOff x="3756076" y="1992601"/>
            <a:chExt cx="2041399" cy="2829946"/>
          </a:xfrm>
        </p:grpSpPr>
        <p:sp>
          <p:nvSpPr>
            <p:cNvPr id="12" name="矩形 11"/>
            <p:cNvSpPr/>
            <p:nvPr/>
          </p:nvSpPr>
          <p:spPr>
            <a:xfrm>
              <a:off x="3756076" y="1992601"/>
              <a:ext cx="2041399" cy="1580641"/>
            </a:xfrm>
            <a:prstGeom prst="rect">
              <a:avLst/>
            </a:prstGeom>
            <a:gradFill flip="none" rotWithShape="1">
              <a:gsLst>
                <a:gs pos="0">
                  <a:srgbClr val="57D3FF"/>
                </a:gs>
                <a:gs pos="71000">
                  <a:srgbClr val="00B0F0"/>
                </a:gs>
                <a:gs pos="97000">
                  <a:srgbClr val="0091FE"/>
                </a:gs>
              </a:gsLst>
              <a:path path="rect">
                <a:fillToRect l="100000" t="100000"/>
              </a:path>
              <a:tileRect r="-100000" b="-100000"/>
            </a:gradFill>
            <a:ln w="63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854721" y="2068981"/>
              <a:ext cx="1844106" cy="142787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3854722" y="2099912"/>
              <a:ext cx="1873418" cy="2722635"/>
              <a:chOff x="1171663" y="1332609"/>
              <a:chExt cx="1873418" cy="2722635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1171663" y="1332609"/>
                <a:ext cx="187341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又称作业调度，作业调度的周期较长，几分钟一次。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任意多边形 22"/>
              <p:cNvSpPr/>
              <p:nvPr/>
            </p:nvSpPr>
            <p:spPr>
              <a:xfrm>
                <a:off x="1994234" y="2825078"/>
                <a:ext cx="404949" cy="1230166"/>
              </a:xfrm>
              <a:custGeom>
                <a:avLst/>
                <a:gdLst>
                  <a:gd name="connsiteX0" fmla="*/ 404949 w 404949"/>
                  <a:gd name="connsiteY0" fmla="*/ 1737360 h 1737360"/>
                  <a:gd name="connsiteX1" fmla="*/ 0 w 404949"/>
                  <a:gd name="connsiteY1" fmla="*/ 1737360 h 1737360"/>
                  <a:gd name="connsiteX2" fmla="*/ 0 w 404949"/>
                  <a:gd name="connsiteY2" fmla="*/ 0 h 1737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4949" h="1737360">
                    <a:moveTo>
                      <a:pt x="404949" y="1737360"/>
                    </a:moveTo>
                    <a:lnTo>
                      <a:pt x="0" y="1737360"/>
                    </a:lnTo>
                    <a:lnTo>
                      <a:pt x="0" y="0"/>
                    </a:lnTo>
                  </a:path>
                </a:pathLst>
              </a:custGeom>
              <a:noFill/>
              <a:ln w="57150">
                <a:solidFill>
                  <a:schemeClr val="bg1">
                    <a:lumMod val="75000"/>
                  </a:schemeClr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7885784" y="1992601"/>
            <a:ext cx="2496974" cy="2844104"/>
            <a:chOff x="7885784" y="1992601"/>
            <a:chExt cx="2496974" cy="2844104"/>
          </a:xfrm>
        </p:grpSpPr>
        <p:sp>
          <p:nvSpPr>
            <p:cNvPr id="14" name="矩形 13"/>
            <p:cNvSpPr/>
            <p:nvPr/>
          </p:nvSpPr>
          <p:spPr>
            <a:xfrm>
              <a:off x="7885784" y="1992601"/>
              <a:ext cx="2496974" cy="1580641"/>
            </a:xfrm>
            <a:prstGeom prst="rect">
              <a:avLst/>
            </a:prstGeom>
            <a:gradFill flip="none" rotWithShape="1">
              <a:gsLst>
                <a:gs pos="0">
                  <a:srgbClr val="A8E53B"/>
                </a:gs>
                <a:gs pos="70000">
                  <a:srgbClr val="A1B90F"/>
                </a:gs>
                <a:gs pos="97000">
                  <a:srgbClr val="6FA808"/>
                </a:gs>
              </a:gsLst>
              <a:path path="rect">
                <a:fillToRect l="100000" t="100000"/>
              </a:path>
              <a:tileRect r="-100000" b="-100000"/>
            </a:gradFill>
            <a:ln w="63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7957132" y="2068981"/>
              <a:ext cx="2289147" cy="142787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7998076" y="2054231"/>
              <a:ext cx="2289147" cy="2782474"/>
              <a:chOff x="5315017" y="1286928"/>
              <a:chExt cx="2289147" cy="2782474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5315017" y="1286928"/>
                <a:ext cx="2289147" cy="1261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>
                  <a:lnSpc>
                    <a:spcPct val="130000"/>
                  </a:lnSpc>
                </a:pPr>
                <a:r>
                  <a:rPr lang="zh-CN" altLang="en-US" sz="2000" dirty="0"/>
                  <a:t>又称进程调度，运行频率最高，</a:t>
                </a:r>
                <a:r>
                  <a:rPr lang="en-US" altLang="zh-CN" sz="2000" dirty="0"/>
                  <a:t>10-100ms</a:t>
                </a:r>
                <a:r>
                  <a:rPr lang="zh-CN" altLang="en-US" sz="2000" dirty="0"/>
                  <a:t>一次。</a:t>
                </a:r>
              </a:p>
            </p:txBody>
          </p:sp>
          <p:sp>
            <p:nvSpPr>
              <p:cNvPr id="26" name="任意多边形 25"/>
              <p:cNvSpPr/>
              <p:nvPr/>
            </p:nvSpPr>
            <p:spPr>
              <a:xfrm flipH="1">
                <a:off x="5858040" y="2825078"/>
                <a:ext cx="404949" cy="1244324"/>
              </a:xfrm>
              <a:custGeom>
                <a:avLst/>
                <a:gdLst>
                  <a:gd name="connsiteX0" fmla="*/ 404949 w 404949"/>
                  <a:gd name="connsiteY0" fmla="*/ 1737360 h 1737360"/>
                  <a:gd name="connsiteX1" fmla="*/ 0 w 404949"/>
                  <a:gd name="connsiteY1" fmla="*/ 1737360 h 1737360"/>
                  <a:gd name="connsiteX2" fmla="*/ 0 w 404949"/>
                  <a:gd name="connsiteY2" fmla="*/ 0 h 1737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4949" h="1737360">
                    <a:moveTo>
                      <a:pt x="404949" y="1737360"/>
                    </a:moveTo>
                    <a:lnTo>
                      <a:pt x="0" y="1737360"/>
                    </a:lnTo>
                    <a:lnTo>
                      <a:pt x="0" y="0"/>
                    </a:lnTo>
                  </a:path>
                </a:pathLst>
              </a:custGeom>
              <a:noFill/>
              <a:ln w="57150">
                <a:solidFill>
                  <a:schemeClr val="bg1">
                    <a:lumMod val="75000"/>
                  </a:schemeClr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5820930" y="1992601"/>
            <a:ext cx="2041399" cy="2778791"/>
            <a:chOff x="5820930" y="1992601"/>
            <a:chExt cx="2041399" cy="2778791"/>
          </a:xfrm>
        </p:grpSpPr>
        <p:sp>
          <p:nvSpPr>
            <p:cNvPr id="13" name="矩形 12"/>
            <p:cNvSpPr/>
            <p:nvPr/>
          </p:nvSpPr>
          <p:spPr>
            <a:xfrm>
              <a:off x="5820930" y="1992601"/>
              <a:ext cx="2041399" cy="1580641"/>
            </a:xfrm>
            <a:prstGeom prst="rect">
              <a:avLst/>
            </a:prstGeom>
            <a:gradFill flip="none" rotWithShape="1">
              <a:gsLst>
                <a:gs pos="0">
                  <a:srgbClr val="FFC000"/>
                </a:gs>
                <a:gs pos="71000">
                  <a:schemeClr val="accent6"/>
                </a:gs>
                <a:gs pos="97000">
                  <a:srgbClr val="F28416"/>
                </a:gs>
              </a:gsLst>
              <a:path path="rect">
                <a:fillToRect l="100000" t="100000"/>
              </a:path>
              <a:tileRect r="-100000" b="-100000"/>
            </a:gradFill>
            <a:ln w="63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5919575" y="2068981"/>
              <a:ext cx="1844106" cy="142787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5919576" y="2109134"/>
              <a:ext cx="1844106" cy="2662258"/>
              <a:chOff x="3236517" y="1341831"/>
              <a:chExt cx="1844106" cy="2662258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3236517" y="1341831"/>
                <a:ext cx="184410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负责内外存交换，介于高级与低级调度之间。</a:t>
                </a:r>
              </a:p>
            </p:txBody>
          </p:sp>
          <p:cxnSp>
            <p:nvCxnSpPr>
              <p:cNvPr id="29" name="直接连接符 28"/>
              <p:cNvCxnSpPr/>
              <p:nvPr/>
            </p:nvCxnSpPr>
            <p:spPr>
              <a:xfrm flipH="1" flipV="1">
                <a:off x="4110430" y="2825078"/>
                <a:ext cx="26629" cy="1179011"/>
              </a:xfrm>
              <a:prstGeom prst="line">
                <a:avLst/>
              </a:prstGeom>
              <a:noFill/>
              <a:ln w="57150">
                <a:solidFill>
                  <a:schemeClr val="bg1">
                    <a:lumMod val="75000"/>
                  </a:schemeClr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32" name="文本框 19"/>
          <p:cNvSpPr txBox="1">
            <a:spLocks noChangeArrowheads="1"/>
          </p:cNvSpPr>
          <p:nvPr/>
        </p:nvSpPr>
        <p:spPr bwMode="auto">
          <a:xfrm>
            <a:off x="933660" y="923855"/>
            <a:ext cx="95939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处理机是计算机系统中的重要资源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处理机调度算法对整个计算机系统的综合性能指标有重要影响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36183" y="1267809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544233" y="1267809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5622481" y="1640311"/>
            <a:ext cx="573533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>
              <a:buBlip>
                <a:blip r:embed="rId3"/>
              </a:buBlip>
            </a:pPr>
            <a:r>
              <a:rPr lang="zh-CN" altLang="en-US" sz="2400" dirty="0"/>
              <a:t>根据某种算法，把外存上处于后备队列中的那些作业调入内存。</a:t>
            </a: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5490132" y="734409"/>
            <a:ext cx="6377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）高级调度</a:t>
            </a:r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作业调度、长程调度、接纳调度</a:t>
            </a:r>
          </a:p>
        </p:txBody>
      </p: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924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处理机调度的层次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58188" y="1388061"/>
            <a:ext cx="4211638" cy="4752975"/>
            <a:chOff x="1202572" y="1388061"/>
            <a:chExt cx="4211638" cy="4752975"/>
          </a:xfrm>
        </p:grpSpPr>
        <p:sp>
          <p:nvSpPr>
            <p:cNvPr id="17" name="AutoShape 27"/>
            <p:cNvSpPr>
              <a:spLocks noChangeArrowheads="1"/>
            </p:cNvSpPr>
            <p:nvPr/>
          </p:nvSpPr>
          <p:spPr bwMode="auto">
            <a:xfrm>
              <a:off x="1202573" y="1388061"/>
              <a:ext cx="902958" cy="1152525"/>
            </a:xfrm>
            <a:prstGeom prst="foldedCorner">
              <a:avLst>
                <a:gd name="adj" fmla="val 125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800" b="1">
                  <a:solidFill>
                    <a:srgbClr val="CB210F"/>
                  </a:solidFill>
                </a:rPr>
                <a:t>$END</a:t>
              </a:r>
            </a:p>
            <a:p>
              <a:r>
                <a:rPr lang="en-US" altLang="zh-CN" sz="1800" b="1">
                  <a:solidFill>
                    <a:srgbClr val="CB210F"/>
                  </a:solidFill>
                </a:rPr>
                <a:t>…</a:t>
              </a:r>
            </a:p>
            <a:p>
              <a:r>
                <a:rPr lang="en-US" altLang="zh-CN" sz="1800" b="1">
                  <a:solidFill>
                    <a:srgbClr val="CB210F"/>
                  </a:solidFill>
                </a:rPr>
                <a:t>$LOAD</a:t>
              </a:r>
            </a:p>
            <a:p>
              <a:r>
                <a:rPr lang="en-US" altLang="zh-CN" sz="1800">
                  <a:solidFill>
                    <a:srgbClr val="CB210F"/>
                  </a:solidFill>
                </a:rPr>
                <a:t>…</a:t>
              </a:r>
            </a:p>
          </p:txBody>
        </p:sp>
        <p:sp>
          <p:nvSpPr>
            <p:cNvPr id="18" name="AutoShape 27"/>
            <p:cNvSpPr>
              <a:spLocks noChangeArrowheads="1"/>
            </p:cNvSpPr>
            <p:nvPr/>
          </p:nvSpPr>
          <p:spPr bwMode="auto">
            <a:xfrm>
              <a:off x="1202572" y="4988511"/>
              <a:ext cx="939053" cy="1152525"/>
            </a:xfrm>
            <a:prstGeom prst="foldedCorner">
              <a:avLst>
                <a:gd name="adj" fmla="val 125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800" b="1">
                  <a:solidFill>
                    <a:srgbClr val="CB210F"/>
                  </a:solidFill>
                </a:rPr>
                <a:t>$END</a:t>
              </a:r>
            </a:p>
            <a:p>
              <a:r>
                <a:rPr lang="en-US" altLang="zh-CN" sz="1800" b="1">
                  <a:solidFill>
                    <a:srgbClr val="CB210F"/>
                  </a:solidFill>
                </a:rPr>
                <a:t>…</a:t>
              </a:r>
            </a:p>
            <a:p>
              <a:r>
                <a:rPr lang="en-US" altLang="zh-CN" sz="1800" b="1">
                  <a:solidFill>
                    <a:srgbClr val="CB210F"/>
                  </a:solidFill>
                </a:rPr>
                <a:t>$LOAD</a:t>
              </a:r>
            </a:p>
            <a:p>
              <a:r>
                <a:rPr lang="en-US" altLang="zh-CN" sz="1800">
                  <a:solidFill>
                    <a:srgbClr val="CB210F"/>
                  </a:solidFill>
                </a:rPr>
                <a:t>…</a:t>
              </a:r>
            </a:p>
          </p:txBody>
        </p:sp>
        <p:sp>
          <p:nvSpPr>
            <p:cNvPr id="19" name="AutoShape 27"/>
            <p:cNvSpPr>
              <a:spLocks noChangeArrowheads="1"/>
            </p:cNvSpPr>
            <p:nvPr/>
          </p:nvSpPr>
          <p:spPr bwMode="auto">
            <a:xfrm>
              <a:off x="1202573" y="3188286"/>
              <a:ext cx="927022" cy="1152525"/>
            </a:xfrm>
            <a:prstGeom prst="foldedCorner">
              <a:avLst>
                <a:gd name="adj" fmla="val 125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800" b="1">
                  <a:solidFill>
                    <a:srgbClr val="CB210F"/>
                  </a:solidFill>
                </a:rPr>
                <a:t>$END</a:t>
              </a:r>
            </a:p>
            <a:p>
              <a:r>
                <a:rPr lang="en-US" altLang="zh-CN" sz="1800" b="1">
                  <a:solidFill>
                    <a:srgbClr val="CB210F"/>
                  </a:solidFill>
                </a:rPr>
                <a:t>…</a:t>
              </a:r>
            </a:p>
            <a:p>
              <a:r>
                <a:rPr lang="en-US" altLang="zh-CN" sz="1800" b="1">
                  <a:solidFill>
                    <a:srgbClr val="CB210F"/>
                  </a:solidFill>
                </a:rPr>
                <a:t>$LOAD</a:t>
              </a:r>
            </a:p>
            <a:p>
              <a:r>
                <a:rPr lang="en-US" altLang="zh-CN" sz="1800">
                  <a:solidFill>
                    <a:srgbClr val="CB210F"/>
                  </a:solidFill>
                </a:rPr>
                <a:t>…</a:t>
              </a:r>
            </a:p>
          </p:txBody>
        </p:sp>
        <p:sp>
          <p:nvSpPr>
            <p:cNvPr id="20" name="WordArt 11"/>
            <p:cNvSpPr>
              <a:spLocks noChangeArrowheads="1" noChangeShapeType="1" noTextEdit="1"/>
            </p:cNvSpPr>
            <p:nvPr/>
          </p:nvSpPr>
          <p:spPr bwMode="auto">
            <a:xfrm>
              <a:off x="2929773" y="2827923"/>
              <a:ext cx="576262" cy="1079500"/>
            </a:xfrm>
            <a:prstGeom prst="rect">
              <a:avLst/>
            </a:prstGeom>
          </p:spPr>
          <p:txBody>
            <a:bodyPr wrap="none" fromWordArt="1">
              <a:prstTxWarp prst="textCascadeUp">
                <a:avLst>
                  <a:gd name="adj" fmla="val 44444"/>
                </a:avLst>
              </a:prstTxWarp>
              <a:scene3d>
                <a:camera prst="legacyPerspectiveFront">
                  <a:rot lat="20519989" lon="1080000" rev="0"/>
                </a:camera>
                <a:lightRig rig="legacyHarsh2" dir="b"/>
              </a:scene3d>
              <a:sp3d extrusionH="430200" prstMaterial="legacyMatte">
                <a:extrusionClr>
                  <a:srgbClr val="FF6600"/>
                </a:extrusionClr>
              </a:sp3d>
            </a:bodyPr>
            <a:lstStyle/>
            <a:p>
              <a:r>
                <a:rPr lang="en-US" altLang="zh-CN" sz="3600" kern="10" dirty="0">
                  <a:ln w="9525"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E701"/>
                      </a:gs>
                      <a:gs pos="100000">
                        <a:srgbClr val="FE3E02"/>
                      </a:gs>
                    </a:gsLst>
                    <a:lin ang="5400000" scaled="1"/>
                  </a:gradFill>
                  <a:latin typeface="宋体"/>
                  <a:ea typeface="宋体"/>
                </a:rPr>
                <a:t>?</a:t>
              </a:r>
              <a:endPara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/>
                <a:ea typeface="宋体"/>
              </a:endParaRPr>
            </a:p>
          </p:txBody>
        </p:sp>
        <p:sp>
          <p:nvSpPr>
            <p:cNvPr id="23" name="AutoShape 12"/>
            <p:cNvSpPr>
              <a:spLocks noChangeArrowheads="1"/>
            </p:cNvSpPr>
            <p:nvPr/>
          </p:nvSpPr>
          <p:spPr bwMode="auto">
            <a:xfrm rot="18186047">
              <a:off x="1840748" y="4432886"/>
              <a:ext cx="1258887" cy="211137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AutoShape 13"/>
            <p:cNvSpPr>
              <a:spLocks noChangeArrowheads="1"/>
            </p:cNvSpPr>
            <p:nvPr/>
          </p:nvSpPr>
          <p:spPr bwMode="auto">
            <a:xfrm>
              <a:off x="2066173" y="3477211"/>
              <a:ext cx="773112" cy="23495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AutoShape 14"/>
            <p:cNvSpPr>
              <a:spLocks noChangeArrowheads="1"/>
            </p:cNvSpPr>
            <p:nvPr/>
          </p:nvSpPr>
          <p:spPr bwMode="auto">
            <a:xfrm rot="3508472">
              <a:off x="1833604" y="2341355"/>
              <a:ext cx="1258887" cy="21590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6" name="Picture 15" descr="4842200622818194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523498" y="2469148"/>
              <a:ext cx="1890712" cy="189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" name="Text Box 16"/>
            <p:cNvSpPr txBox="1">
              <a:spLocks noChangeArrowheads="1"/>
            </p:cNvSpPr>
            <p:nvPr/>
          </p:nvSpPr>
          <p:spPr bwMode="auto">
            <a:xfrm>
              <a:off x="2786898" y="2540586"/>
              <a:ext cx="1439862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</a:rPr>
                <a:t>高级调度</a:t>
              </a:r>
            </a:p>
          </p:txBody>
        </p:sp>
      </p:grpSp>
      <p:sp>
        <p:nvSpPr>
          <p:cNvPr id="33" name="文本框 54"/>
          <p:cNvSpPr txBox="1">
            <a:spLocks noChangeArrowheads="1"/>
          </p:cNvSpPr>
          <p:nvPr/>
        </p:nvSpPr>
        <p:spPr bwMode="auto">
          <a:xfrm>
            <a:off x="5619739" y="1578049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主要功能</a:t>
            </a:r>
          </a:p>
        </p:txBody>
      </p:sp>
      <p:sp>
        <p:nvSpPr>
          <p:cNvPr id="34" name="文本框 53"/>
          <p:cNvSpPr txBox="1">
            <a:spLocks noChangeArrowheads="1"/>
          </p:cNvSpPr>
          <p:nvPr/>
        </p:nvSpPr>
        <p:spPr bwMode="auto">
          <a:xfrm>
            <a:off x="5642530" y="2935703"/>
            <a:ext cx="44704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>
              <a:buBlip>
                <a:blip r:embed="rId3"/>
              </a:buBlip>
            </a:pPr>
            <a:r>
              <a:rPr lang="zh-CN" altLang="en-US" sz="2400" dirty="0"/>
              <a:t>选择作业</a:t>
            </a:r>
            <a:endParaRPr lang="en-US" altLang="zh-CN" sz="2400" dirty="0"/>
          </a:p>
          <a:p>
            <a:pPr>
              <a:buBlip>
                <a:blip r:embed="rId3"/>
              </a:buBlip>
            </a:pPr>
            <a:r>
              <a:rPr lang="zh-CN" altLang="en-US" sz="2400" dirty="0"/>
              <a:t>为作业创建进程</a:t>
            </a:r>
            <a:endParaRPr lang="en-US" altLang="zh-CN" sz="2400" dirty="0"/>
          </a:p>
          <a:p>
            <a:pPr>
              <a:buBlip>
                <a:blip r:embed="rId3"/>
              </a:buBlip>
            </a:pPr>
            <a:r>
              <a:rPr lang="zh-CN" altLang="en-US" sz="2400" dirty="0"/>
              <a:t>分配资源</a:t>
            </a:r>
            <a:endParaRPr lang="en-US" altLang="zh-CN" sz="2400" dirty="0"/>
          </a:p>
          <a:p>
            <a:pPr>
              <a:buBlip>
                <a:blip r:embed="rId3"/>
              </a:buBlip>
            </a:pPr>
            <a:r>
              <a:rPr lang="zh-CN" altLang="en-US" sz="2400" dirty="0"/>
              <a:t>插入就绪队列</a:t>
            </a:r>
          </a:p>
        </p:txBody>
      </p:sp>
      <p:sp>
        <p:nvSpPr>
          <p:cNvPr id="35" name="文本框 54"/>
          <p:cNvSpPr txBox="1">
            <a:spLocks noChangeArrowheads="1"/>
          </p:cNvSpPr>
          <p:nvPr/>
        </p:nvSpPr>
        <p:spPr bwMode="auto">
          <a:xfrm>
            <a:off x="5639788" y="287344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主要任务</a:t>
            </a:r>
          </a:p>
        </p:txBody>
      </p:sp>
      <p:sp>
        <p:nvSpPr>
          <p:cNvPr id="36" name="文本框 53"/>
          <p:cNvSpPr txBox="1">
            <a:spLocks noChangeArrowheads="1"/>
          </p:cNvSpPr>
          <p:nvPr/>
        </p:nvSpPr>
        <p:spPr bwMode="auto">
          <a:xfrm>
            <a:off x="5666594" y="4934781"/>
            <a:ext cx="610630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 marL="0" lvl="1" indent="0">
              <a:buBlip>
                <a:blip r:embed="rId3"/>
              </a:buBlip>
            </a:pPr>
            <a:r>
              <a:rPr lang="zh-CN" altLang="en-US" sz="2400" dirty="0"/>
              <a:t>批处理系统中配有作业调度</a:t>
            </a:r>
            <a:endParaRPr lang="en-US" altLang="zh-CN" sz="2400" dirty="0"/>
          </a:p>
          <a:p>
            <a:pPr marL="0" lvl="1" indent="0">
              <a:buBlip>
                <a:blip r:embed="rId3"/>
              </a:buBlip>
            </a:pPr>
            <a:r>
              <a:rPr lang="zh-CN" altLang="en-US" sz="2400" dirty="0"/>
              <a:t>分时和实时系统中通常没有作业调度，但有接纳控制措施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37" name="文本框 54"/>
          <p:cNvSpPr txBox="1">
            <a:spLocks noChangeArrowheads="1"/>
          </p:cNvSpPr>
          <p:nvPr/>
        </p:nvSpPr>
        <p:spPr bwMode="auto">
          <a:xfrm>
            <a:off x="5663852" y="4906809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应用范围</a:t>
            </a:r>
          </a:p>
        </p:txBody>
      </p:sp>
      <p:sp>
        <p:nvSpPr>
          <p:cNvPr id="3" name="矩形 2"/>
          <p:cNvSpPr/>
          <p:nvPr/>
        </p:nvSpPr>
        <p:spPr>
          <a:xfrm>
            <a:off x="648929" y="1076632"/>
            <a:ext cx="1716140" cy="5633884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11246" y="2650947"/>
            <a:ext cx="4391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外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12" y="4383589"/>
            <a:ext cx="962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内存</a:t>
            </a:r>
          </a:p>
        </p:txBody>
      </p:sp>
    </p:spTree>
    <p:extLst>
      <p:ext uri="{BB962C8B-B14F-4D97-AF65-F5344CB8AC3E}">
        <p14:creationId xmlns:p14="http://schemas.microsoft.com/office/powerpoint/2010/main" val="170094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3" grpId="0"/>
      <p:bldP spid="34" grpId="0"/>
      <p:bldP spid="35" grpId="0"/>
      <p:bldP spid="36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36183" y="1713579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544233" y="1713579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5622481" y="2086081"/>
            <a:ext cx="607221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 marL="0" lvl="1" indent="0">
              <a:buBlip>
                <a:blip r:embed="rId3"/>
              </a:buBlip>
            </a:pPr>
            <a:r>
              <a:rPr lang="zh-CN" altLang="en-US" sz="2400" dirty="0"/>
              <a:t>根据某种算法，决定就绪队列中哪个进程先获得处理机，并由分派程序执行将处理机分配给被选中的进程。</a:t>
            </a: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5490132" y="1180179"/>
            <a:ext cx="6377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）低级调度</a:t>
            </a:r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进程调度、短程调度</a:t>
            </a:r>
          </a:p>
        </p:txBody>
      </p: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924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处理机调度的层次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54"/>
          <p:cNvSpPr txBox="1">
            <a:spLocks noChangeArrowheads="1"/>
          </p:cNvSpPr>
          <p:nvPr/>
        </p:nvSpPr>
        <p:spPr bwMode="auto">
          <a:xfrm>
            <a:off x="5619739" y="2023819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主要功能</a:t>
            </a:r>
          </a:p>
        </p:txBody>
      </p:sp>
      <p:sp>
        <p:nvSpPr>
          <p:cNvPr id="34" name="文本框 53"/>
          <p:cNvSpPr txBox="1">
            <a:spLocks noChangeArrowheads="1"/>
          </p:cNvSpPr>
          <p:nvPr/>
        </p:nvSpPr>
        <p:spPr bwMode="auto">
          <a:xfrm>
            <a:off x="5642529" y="3718369"/>
            <a:ext cx="582356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>
              <a:buBlip>
                <a:blip r:embed="rId3"/>
              </a:buBlip>
            </a:pPr>
            <a:r>
              <a:rPr lang="zh-CN" altLang="en-US" sz="2400" dirty="0"/>
              <a:t>分配资源保存处理机的现场信息</a:t>
            </a:r>
            <a:endParaRPr lang="en-US" altLang="zh-CN" sz="2400" dirty="0"/>
          </a:p>
          <a:p>
            <a:pPr>
              <a:buBlip>
                <a:blip r:embed="rId3"/>
              </a:buBlip>
            </a:pPr>
            <a:r>
              <a:rPr lang="zh-CN" altLang="en-US" sz="2400" dirty="0"/>
              <a:t>按某种算法选取进程</a:t>
            </a:r>
            <a:endParaRPr lang="en-US" altLang="zh-CN" sz="2400" dirty="0"/>
          </a:p>
          <a:p>
            <a:pPr>
              <a:buBlip>
                <a:blip r:embed="rId3"/>
              </a:buBlip>
            </a:pPr>
            <a:r>
              <a:rPr lang="zh-CN" altLang="en-US" sz="2400" dirty="0"/>
              <a:t>分配处理器</a:t>
            </a:r>
            <a:endParaRPr lang="en-US" altLang="zh-CN" sz="2400" dirty="0"/>
          </a:p>
        </p:txBody>
      </p:sp>
      <p:sp>
        <p:nvSpPr>
          <p:cNvPr id="35" name="文本框 54"/>
          <p:cNvSpPr txBox="1">
            <a:spLocks noChangeArrowheads="1"/>
          </p:cNvSpPr>
          <p:nvPr/>
        </p:nvSpPr>
        <p:spPr bwMode="auto">
          <a:xfrm>
            <a:off x="5639788" y="3656107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主要任务</a:t>
            </a:r>
          </a:p>
        </p:txBody>
      </p:sp>
      <p:sp>
        <p:nvSpPr>
          <p:cNvPr id="36" name="文本框 53"/>
          <p:cNvSpPr txBox="1">
            <a:spLocks noChangeArrowheads="1"/>
          </p:cNvSpPr>
          <p:nvPr/>
        </p:nvSpPr>
        <p:spPr bwMode="auto">
          <a:xfrm>
            <a:off x="5666593" y="5426873"/>
            <a:ext cx="60281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>
              <a:buBlip>
                <a:blip r:embed="rId3"/>
              </a:buBlip>
            </a:pPr>
            <a:r>
              <a:rPr lang="zh-CN" altLang="en-US" sz="2400" dirty="0"/>
              <a:t>批处理系统、实时系统、分时系统都配备</a:t>
            </a:r>
          </a:p>
        </p:txBody>
      </p:sp>
      <p:sp>
        <p:nvSpPr>
          <p:cNvPr id="37" name="文本框 54"/>
          <p:cNvSpPr txBox="1">
            <a:spLocks noChangeArrowheads="1"/>
          </p:cNvSpPr>
          <p:nvPr/>
        </p:nvSpPr>
        <p:spPr bwMode="auto">
          <a:xfrm>
            <a:off x="5663852" y="536461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应用范围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854327" y="1878932"/>
            <a:ext cx="4427537" cy="4176713"/>
            <a:chOff x="4716463" y="2324100"/>
            <a:chExt cx="4427537" cy="4176713"/>
          </a:xfrm>
        </p:grpSpPr>
        <p:sp>
          <p:nvSpPr>
            <p:cNvPr id="29" name="AutoShape 27"/>
            <p:cNvSpPr>
              <a:spLocks noChangeArrowheads="1"/>
            </p:cNvSpPr>
            <p:nvPr/>
          </p:nvSpPr>
          <p:spPr bwMode="auto">
            <a:xfrm>
              <a:off x="4787900" y="2324100"/>
              <a:ext cx="1023352" cy="1152525"/>
            </a:xfrm>
            <a:prstGeom prst="foldedCorner">
              <a:avLst>
                <a:gd name="adj" fmla="val 125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800" b="1" dirty="0">
                  <a:solidFill>
                    <a:srgbClr val="CB210F"/>
                  </a:solidFill>
                </a:rPr>
                <a:t>process</a:t>
              </a:r>
            </a:p>
            <a:p>
              <a:r>
                <a:rPr lang="en-US" altLang="zh-CN" sz="1800" b="1" dirty="0">
                  <a:solidFill>
                    <a:srgbClr val="CB210F"/>
                  </a:solidFill>
                </a:rPr>
                <a:t>…</a:t>
              </a:r>
            </a:p>
            <a:p>
              <a:endParaRPr lang="en-US" altLang="zh-CN" sz="1800" b="1" dirty="0">
                <a:solidFill>
                  <a:srgbClr val="CB210F"/>
                </a:solidFill>
              </a:endParaRPr>
            </a:p>
            <a:p>
              <a:r>
                <a:rPr lang="en-US" altLang="zh-CN" sz="1800" dirty="0">
                  <a:solidFill>
                    <a:srgbClr val="CB210F"/>
                  </a:solidFill>
                </a:rPr>
                <a:t>…</a:t>
              </a:r>
            </a:p>
          </p:txBody>
        </p:sp>
        <p:sp>
          <p:nvSpPr>
            <p:cNvPr id="30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6659563" y="3981450"/>
              <a:ext cx="576262" cy="1079500"/>
            </a:xfrm>
            <a:prstGeom prst="rect">
              <a:avLst/>
            </a:prstGeom>
          </p:spPr>
          <p:txBody>
            <a:bodyPr wrap="none" fromWordArt="1">
              <a:prstTxWarp prst="textCascadeUp">
                <a:avLst>
                  <a:gd name="adj" fmla="val 44444"/>
                </a:avLst>
              </a:prstTxWarp>
              <a:scene3d>
                <a:camera prst="legacyPerspectiveFront">
                  <a:rot lat="20519959" lon="1080000" rev="0"/>
                </a:camera>
                <a:lightRig rig="legacyHarsh2" dir="b"/>
              </a:scene3d>
              <a:sp3d extrusionH="430200" prstMaterial="legacyMatte">
                <a:extrusionClr>
                  <a:srgbClr val="FF6600"/>
                </a:extrusionClr>
              </a:sp3d>
            </a:bodyPr>
            <a:lstStyle/>
            <a:p>
              <a:r>
                <a:rPr lang="en-US" altLang="zh-CN" sz="3600" kern="10" dirty="0">
                  <a:ln w="9525"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E701"/>
                      </a:gs>
                      <a:gs pos="100000">
                        <a:srgbClr val="FE3E02"/>
                      </a:gs>
                    </a:gsLst>
                    <a:lin ang="5400000" scaled="1"/>
                  </a:gradFill>
                  <a:latin typeface="宋体"/>
                  <a:ea typeface="宋体"/>
                </a:rPr>
                <a:t>?</a:t>
              </a:r>
              <a:endPara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/>
                <a:ea typeface="宋体"/>
              </a:endParaRPr>
            </a:p>
          </p:txBody>
        </p:sp>
        <p:sp>
          <p:nvSpPr>
            <p:cNvPr id="32" name="AutoShape 13"/>
            <p:cNvSpPr>
              <a:spLocks noChangeArrowheads="1"/>
            </p:cNvSpPr>
            <p:nvPr/>
          </p:nvSpPr>
          <p:spPr bwMode="auto">
            <a:xfrm rot="18186047">
              <a:off x="5570538" y="5368925"/>
              <a:ext cx="1258888" cy="211137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AutoShape 14"/>
            <p:cNvSpPr>
              <a:spLocks noChangeArrowheads="1"/>
            </p:cNvSpPr>
            <p:nvPr/>
          </p:nvSpPr>
          <p:spPr bwMode="auto">
            <a:xfrm>
              <a:off x="5795963" y="4340225"/>
              <a:ext cx="773112" cy="23495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AutoShape 15"/>
            <p:cNvSpPr>
              <a:spLocks noChangeArrowheads="1"/>
            </p:cNvSpPr>
            <p:nvPr/>
          </p:nvSpPr>
          <p:spPr bwMode="auto">
            <a:xfrm rot="3508472">
              <a:off x="5563394" y="3277394"/>
              <a:ext cx="1258888" cy="215900"/>
            </a:xfrm>
            <a:custGeom>
              <a:avLst/>
              <a:gdLst>
                <a:gd name="T0" fmla="*/ 2147483647 w 21600"/>
                <a:gd name="T1" fmla="*/ 0 h 21600"/>
                <a:gd name="T2" fmla="*/ 0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AutoShape 27"/>
            <p:cNvSpPr>
              <a:spLocks noChangeArrowheads="1"/>
            </p:cNvSpPr>
            <p:nvPr/>
          </p:nvSpPr>
          <p:spPr bwMode="auto">
            <a:xfrm>
              <a:off x="4716463" y="3763963"/>
              <a:ext cx="1046662" cy="1152525"/>
            </a:xfrm>
            <a:prstGeom prst="foldedCorner">
              <a:avLst>
                <a:gd name="adj" fmla="val 125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800" b="1" dirty="0">
                  <a:solidFill>
                    <a:srgbClr val="CB210F"/>
                  </a:solidFill>
                </a:rPr>
                <a:t>process</a:t>
              </a:r>
            </a:p>
            <a:p>
              <a:r>
                <a:rPr lang="en-US" altLang="zh-CN" sz="1800" b="1" dirty="0">
                  <a:solidFill>
                    <a:srgbClr val="CB210F"/>
                  </a:solidFill>
                </a:rPr>
                <a:t>…</a:t>
              </a:r>
            </a:p>
            <a:p>
              <a:endParaRPr lang="en-US" altLang="zh-CN" sz="1800" b="1" dirty="0">
                <a:solidFill>
                  <a:srgbClr val="CB210F"/>
                </a:solidFill>
              </a:endParaRPr>
            </a:p>
            <a:p>
              <a:r>
                <a:rPr lang="en-US" altLang="zh-CN" sz="1800" dirty="0">
                  <a:solidFill>
                    <a:srgbClr val="CB210F"/>
                  </a:solidFill>
                </a:rPr>
                <a:t>…</a:t>
              </a:r>
            </a:p>
          </p:txBody>
        </p:sp>
        <p:sp>
          <p:nvSpPr>
            <p:cNvPr id="41" name="AutoShape 27"/>
            <p:cNvSpPr>
              <a:spLocks noChangeArrowheads="1"/>
            </p:cNvSpPr>
            <p:nvPr/>
          </p:nvSpPr>
          <p:spPr bwMode="auto">
            <a:xfrm>
              <a:off x="4787900" y="5348288"/>
              <a:ext cx="1035383" cy="1152525"/>
            </a:xfrm>
            <a:prstGeom prst="foldedCorner">
              <a:avLst>
                <a:gd name="adj" fmla="val 125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zh-CN" sz="1800" b="1" dirty="0">
                  <a:solidFill>
                    <a:srgbClr val="CB210F"/>
                  </a:solidFill>
                </a:rPr>
                <a:t>process</a:t>
              </a:r>
            </a:p>
            <a:p>
              <a:r>
                <a:rPr lang="en-US" altLang="zh-CN" sz="1800" b="1" dirty="0">
                  <a:solidFill>
                    <a:srgbClr val="CB210F"/>
                  </a:solidFill>
                </a:rPr>
                <a:t>…</a:t>
              </a:r>
            </a:p>
            <a:p>
              <a:endParaRPr lang="en-US" altLang="zh-CN" sz="1800" b="1" dirty="0">
                <a:solidFill>
                  <a:srgbClr val="CB210F"/>
                </a:solidFill>
              </a:endParaRPr>
            </a:p>
            <a:p>
              <a:r>
                <a:rPr lang="en-US" altLang="zh-CN" sz="1800" dirty="0">
                  <a:solidFill>
                    <a:srgbClr val="CB210F"/>
                  </a:solidFill>
                </a:rPr>
                <a:t>…</a:t>
              </a:r>
            </a:p>
          </p:txBody>
        </p:sp>
        <p:pic>
          <p:nvPicPr>
            <p:cNvPr id="42" name="Picture 18" descr="4842200622818194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316788" y="3332163"/>
              <a:ext cx="1827212" cy="1827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6516688" y="3476625"/>
              <a:ext cx="1439862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tx2"/>
                  </a:solidFill>
                </a:rPr>
                <a:t>低级调度</a:t>
              </a:r>
            </a:p>
          </p:txBody>
        </p:sp>
      </p:grpSp>
      <p:sp>
        <p:nvSpPr>
          <p:cNvPr id="23" name="矩形 22"/>
          <p:cNvSpPr/>
          <p:nvPr/>
        </p:nvSpPr>
        <p:spPr>
          <a:xfrm>
            <a:off x="516194" y="1641844"/>
            <a:ext cx="1848875" cy="461602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60527" y="2768778"/>
            <a:ext cx="4391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内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9617" y="4764276"/>
            <a:ext cx="134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处理器</a:t>
            </a:r>
          </a:p>
        </p:txBody>
      </p:sp>
    </p:spTree>
    <p:extLst>
      <p:ext uri="{BB962C8B-B14F-4D97-AF65-F5344CB8AC3E}">
        <p14:creationId xmlns:p14="http://schemas.microsoft.com/office/powerpoint/2010/main" val="170094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3" grpId="0"/>
      <p:bldP spid="34" grpId="0"/>
      <p:bldP spid="35" grpId="0"/>
      <p:bldP spid="36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36183" y="1713579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544233" y="1713579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5622480" y="2086081"/>
            <a:ext cx="620456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 marL="0" lvl="1" indent="0">
              <a:buBlip>
                <a:blip r:embed="rId3"/>
              </a:buBlip>
            </a:pPr>
            <a:r>
              <a:rPr lang="zh-CN" altLang="en-US" sz="2400" dirty="0"/>
              <a:t>按一定算法在内存和外存之间进行进程对换。</a:t>
            </a:r>
            <a:endParaRPr lang="en-US" altLang="zh-CN" sz="2400" dirty="0"/>
          </a:p>
          <a:p>
            <a:pPr marL="0" lvl="1" indent="0">
              <a:buBlip>
                <a:blip r:embed="rId3"/>
              </a:buBlip>
            </a:pPr>
            <a:r>
              <a:rPr lang="zh-CN" altLang="en-US" sz="2400" dirty="0"/>
              <a:t>目的：缓解内存紧张情况，提高内存利用率和系统吞吐量。</a:t>
            </a:r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5490132" y="1180179"/>
            <a:ext cx="6377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）中级调度</a:t>
            </a:r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内存调度、中程调度</a:t>
            </a:r>
          </a:p>
        </p:txBody>
      </p: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924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处理机调度的层次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54"/>
          <p:cNvSpPr txBox="1">
            <a:spLocks noChangeArrowheads="1"/>
          </p:cNvSpPr>
          <p:nvPr/>
        </p:nvSpPr>
        <p:spPr bwMode="auto">
          <a:xfrm>
            <a:off x="5619739" y="2023819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主要功能</a:t>
            </a:r>
          </a:p>
        </p:txBody>
      </p:sp>
      <p:sp>
        <p:nvSpPr>
          <p:cNvPr id="34" name="文本框 53"/>
          <p:cNvSpPr txBox="1">
            <a:spLocks noChangeArrowheads="1"/>
          </p:cNvSpPr>
          <p:nvPr/>
        </p:nvSpPr>
        <p:spPr bwMode="auto">
          <a:xfrm>
            <a:off x="5642529" y="3718369"/>
            <a:ext cx="630482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>
              <a:buBlip>
                <a:blip r:embed="rId3"/>
              </a:buBlip>
            </a:pPr>
            <a:r>
              <a:rPr lang="zh-CN" altLang="en-US" sz="2400" dirty="0"/>
              <a:t>将内存中处于阻塞状态的某些进程换至外存，腾出内存空间以便将外存上已具备执行条件的进程换入内存。</a:t>
            </a:r>
            <a:endParaRPr lang="en-US" altLang="zh-CN" sz="2400" dirty="0"/>
          </a:p>
        </p:txBody>
      </p:sp>
      <p:sp>
        <p:nvSpPr>
          <p:cNvPr id="35" name="文本框 54"/>
          <p:cNvSpPr txBox="1">
            <a:spLocks noChangeArrowheads="1"/>
          </p:cNvSpPr>
          <p:nvPr/>
        </p:nvSpPr>
        <p:spPr bwMode="auto">
          <a:xfrm>
            <a:off x="5639788" y="3656107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主要任务</a:t>
            </a:r>
          </a:p>
        </p:txBody>
      </p:sp>
      <p:sp>
        <p:nvSpPr>
          <p:cNvPr id="36" name="文本框 53"/>
          <p:cNvSpPr txBox="1">
            <a:spLocks noChangeArrowheads="1"/>
          </p:cNvSpPr>
          <p:nvPr/>
        </p:nvSpPr>
        <p:spPr bwMode="auto">
          <a:xfrm>
            <a:off x="5666593" y="5426873"/>
            <a:ext cx="60281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 marL="0" lvl="1" indent="0">
              <a:buBlip>
                <a:blip r:embed="rId3"/>
              </a:buBlip>
            </a:pPr>
            <a:r>
              <a:rPr lang="zh-CN" altLang="en-US" sz="2400" dirty="0"/>
              <a:t>分时系统和具有虚拟存储器的系统中</a:t>
            </a:r>
          </a:p>
        </p:txBody>
      </p:sp>
      <p:sp>
        <p:nvSpPr>
          <p:cNvPr id="37" name="文本框 54"/>
          <p:cNvSpPr txBox="1">
            <a:spLocks noChangeArrowheads="1"/>
          </p:cNvSpPr>
          <p:nvPr/>
        </p:nvSpPr>
        <p:spPr bwMode="auto">
          <a:xfrm>
            <a:off x="5663852" y="536461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应用范围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795256" y="1197088"/>
            <a:ext cx="4260336" cy="4356519"/>
            <a:chOff x="998632" y="1388812"/>
            <a:chExt cx="4260336" cy="4356519"/>
          </a:xfrm>
        </p:grpSpPr>
        <p:sp>
          <p:nvSpPr>
            <p:cNvPr id="23" name="Oval 7"/>
            <p:cNvSpPr>
              <a:spLocks noChangeArrowheads="1"/>
            </p:cNvSpPr>
            <p:nvPr/>
          </p:nvSpPr>
          <p:spPr bwMode="auto">
            <a:xfrm>
              <a:off x="998632" y="3729206"/>
              <a:ext cx="2004094" cy="2016125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135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1670393" y="1388812"/>
              <a:ext cx="3588575" cy="4321175"/>
              <a:chOff x="1730553" y="1388812"/>
              <a:chExt cx="3588575" cy="4321175"/>
            </a:xfrm>
          </p:grpSpPr>
          <p:sp>
            <p:nvSpPr>
              <p:cNvPr id="24" name="Rectangle 8"/>
              <p:cNvSpPr>
                <a:spLocks noChangeArrowheads="1"/>
              </p:cNvSpPr>
              <p:nvPr/>
            </p:nvSpPr>
            <p:spPr bwMode="auto">
              <a:xfrm>
                <a:off x="4166603" y="1388812"/>
                <a:ext cx="1152525" cy="4321175"/>
              </a:xfrm>
              <a:prstGeom prst="rect">
                <a:avLst/>
              </a:prstGeom>
              <a:solidFill>
                <a:srgbClr val="002F8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Rectangle 10"/>
              <p:cNvSpPr>
                <a:spLocks noChangeArrowheads="1"/>
              </p:cNvSpPr>
              <p:nvPr/>
            </p:nvSpPr>
            <p:spPr bwMode="auto">
              <a:xfrm>
                <a:off x="4166603" y="2109537"/>
                <a:ext cx="1152525" cy="720725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P4</a:t>
                </a:r>
              </a:p>
            </p:txBody>
          </p:sp>
          <p:sp>
            <p:nvSpPr>
              <p:cNvPr id="26" name="Rectangle 11"/>
              <p:cNvSpPr>
                <a:spLocks noChangeArrowheads="1"/>
              </p:cNvSpPr>
              <p:nvPr/>
            </p:nvSpPr>
            <p:spPr bwMode="auto">
              <a:xfrm>
                <a:off x="4166603" y="2830262"/>
                <a:ext cx="1152525" cy="720725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P5</a:t>
                </a:r>
              </a:p>
            </p:txBody>
          </p:sp>
          <p:sp>
            <p:nvSpPr>
              <p:cNvPr id="27" name="Rectangle 12"/>
              <p:cNvSpPr>
                <a:spLocks noChangeArrowheads="1"/>
              </p:cNvSpPr>
              <p:nvPr/>
            </p:nvSpPr>
            <p:spPr bwMode="auto">
              <a:xfrm>
                <a:off x="4165016" y="4989262"/>
                <a:ext cx="1152525" cy="720725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P6</a:t>
                </a:r>
              </a:p>
            </p:txBody>
          </p:sp>
          <p:sp>
            <p:nvSpPr>
              <p:cNvPr id="28" name="Rectangle 14"/>
              <p:cNvSpPr>
                <a:spLocks noChangeArrowheads="1"/>
              </p:cNvSpPr>
              <p:nvPr/>
            </p:nvSpPr>
            <p:spPr bwMode="auto">
              <a:xfrm>
                <a:off x="1730553" y="3836737"/>
                <a:ext cx="647700" cy="504825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P1</a:t>
                </a:r>
              </a:p>
            </p:txBody>
          </p:sp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1730553" y="4413000"/>
                <a:ext cx="639679" cy="53197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/>
                  <a:t>P2</a:t>
                </a:r>
              </a:p>
            </p:txBody>
          </p:sp>
          <p:sp>
            <p:nvSpPr>
              <p:cNvPr id="45" name="Rectangle 16"/>
              <p:cNvSpPr>
                <a:spLocks noChangeArrowheads="1"/>
              </p:cNvSpPr>
              <p:nvPr/>
            </p:nvSpPr>
            <p:spPr bwMode="auto">
              <a:xfrm>
                <a:off x="1732559" y="5060701"/>
                <a:ext cx="637673" cy="533984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dirty="0"/>
                  <a:t>P3</a:t>
                </a:r>
              </a:p>
            </p:txBody>
          </p:sp>
          <p:sp>
            <p:nvSpPr>
              <p:cNvPr id="46" name="WordArt 1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590341" y="3692275"/>
                <a:ext cx="576262" cy="1079500"/>
              </a:xfrm>
              <a:prstGeom prst="rect">
                <a:avLst/>
              </a:prstGeom>
            </p:spPr>
            <p:txBody>
              <a:bodyPr wrap="none" fromWordArt="1">
                <a:prstTxWarp prst="textCascadeUp">
                  <a:avLst>
                    <a:gd name="adj" fmla="val 44444"/>
                  </a:avLst>
                </a:prstTxWarp>
                <a:scene3d>
                  <a:camera prst="legacyPerspectiveFront">
                    <a:rot lat="20519959" lon="1080000" rev="0"/>
                  </a:camera>
                  <a:lightRig rig="legacyHarsh2" dir="b"/>
                </a:scene3d>
                <a:sp3d extrusionH="430200" prstMaterial="legacyMatte">
                  <a:extrusionClr>
                    <a:srgbClr val="FF6600"/>
                  </a:extrusionClr>
                </a:sp3d>
              </a:bodyPr>
              <a:lstStyle/>
              <a:p>
                <a:r>
                  <a:rPr lang="en-US" altLang="zh-CN" sz="3600" kern="10">
                    <a:ln w="9525">
                      <a:round/>
                      <a:headEnd/>
                      <a:tailEnd/>
                    </a:ln>
                    <a:gradFill rotWithShape="1">
                      <a:gsLst>
                        <a:gs pos="0">
                          <a:srgbClr val="FFE701"/>
                        </a:gs>
                        <a:gs pos="100000">
                          <a:srgbClr val="FE3E02"/>
                        </a:gs>
                      </a:gsLst>
                      <a:lin ang="5400000" scaled="1"/>
                    </a:gradFill>
                    <a:latin typeface="宋体"/>
                    <a:ea typeface="宋体"/>
                  </a:rPr>
                  <a:t>?</a:t>
                </a:r>
                <a:endParaRPr lang="zh-CN" altLang="en-US" sz="3600" kern="10">
                  <a:ln w="9525"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E701"/>
                      </a:gs>
                      <a:gs pos="100000">
                        <a:srgbClr val="FE3E02"/>
                      </a:gs>
                    </a:gsLst>
                    <a:lin ang="5400000" scaled="1"/>
                  </a:gradFill>
                  <a:latin typeface="宋体"/>
                  <a:ea typeface="宋体"/>
                </a:endParaRPr>
              </a:p>
            </p:txBody>
          </p:sp>
          <p:sp>
            <p:nvSpPr>
              <p:cNvPr id="47" name="Text Box 21"/>
              <p:cNvSpPr txBox="1">
                <a:spLocks noChangeArrowheads="1"/>
              </p:cNvSpPr>
              <p:nvPr/>
            </p:nvSpPr>
            <p:spPr bwMode="auto">
              <a:xfrm>
                <a:off x="2437816" y="3404937"/>
                <a:ext cx="143986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>
                    <a:solidFill>
                      <a:schemeClr val="tx2"/>
                    </a:solidFill>
                  </a:rPr>
                  <a:t>中级调度</a:t>
                </a:r>
              </a:p>
            </p:txBody>
          </p:sp>
          <p:sp>
            <p:nvSpPr>
              <p:cNvPr id="48" name="Line 22"/>
              <p:cNvSpPr>
                <a:spLocks noChangeShapeType="1"/>
              </p:cNvSpPr>
              <p:nvPr/>
            </p:nvSpPr>
            <p:spPr bwMode="auto">
              <a:xfrm flipV="1">
                <a:off x="2382253" y="4052636"/>
                <a:ext cx="1208088" cy="74195"/>
              </a:xfrm>
              <a:prstGeom prst="line">
                <a:avLst/>
              </a:prstGeom>
              <a:noFill/>
              <a:ln w="38100">
                <a:solidFill>
                  <a:srgbClr val="33CC33"/>
                </a:solidFill>
                <a:round/>
                <a:headEnd type="arrow" w="med" len="med"/>
                <a:tailEnd type="arrow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23"/>
              <p:cNvSpPr>
                <a:spLocks noChangeShapeType="1"/>
              </p:cNvSpPr>
              <p:nvPr/>
            </p:nvSpPr>
            <p:spPr bwMode="auto">
              <a:xfrm flipV="1">
                <a:off x="2370221" y="4268536"/>
                <a:ext cx="1220120" cy="411747"/>
              </a:xfrm>
              <a:prstGeom prst="line">
                <a:avLst/>
              </a:prstGeom>
              <a:noFill/>
              <a:ln w="38100">
                <a:solidFill>
                  <a:srgbClr val="33CC33"/>
                </a:solidFill>
                <a:round/>
                <a:headEnd type="arrow" w="med" len="med"/>
                <a:tailEnd type="arrow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24"/>
              <p:cNvSpPr>
                <a:spLocks noChangeShapeType="1"/>
              </p:cNvSpPr>
              <p:nvPr/>
            </p:nvSpPr>
            <p:spPr bwMode="auto">
              <a:xfrm flipV="1">
                <a:off x="2382253" y="4413000"/>
                <a:ext cx="1352550" cy="844800"/>
              </a:xfrm>
              <a:prstGeom prst="line">
                <a:avLst/>
              </a:prstGeom>
              <a:noFill/>
              <a:ln w="38100">
                <a:solidFill>
                  <a:srgbClr val="33CC33"/>
                </a:solidFill>
                <a:round/>
                <a:headEnd type="arrow" w="med" len="med"/>
                <a:tailEnd type="arrow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9" name="TextBox 28"/>
          <p:cNvSpPr txBox="1"/>
          <p:nvPr/>
        </p:nvSpPr>
        <p:spPr>
          <a:xfrm>
            <a:off x="1404402" y="2834455"/>
            <a:ext cx="12627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外存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8670" y="5572997"/>
            <a:ext cx="1248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内存</a:t>
            </a:r>
          </a:p>
        </p:txBody>
      </p:sp>
    </p:spTree>
    <p:extLst>
      <p:ext uri="{BB962C8B-B14F-4D97-AF65-F5344CB8AC3E}">
        <p14:creationId xmlns:p14="http://schemas.microsoft.com/office/powerpoint/2010/main" val="170094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3" grpId="0"/>
      <p:bldP spid="34" grpId="0"/>
      <p:bldP spid="35" grpId="0"/>
      <p:bldP spid="36" grpId="0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924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处理机调度的层次</a:t>
            </a:r>
          </a:p>
        </p:txBody>
      </p:sp>
      <p:grpSp>
        <p:nvGrpSpPr>
          <p:cNvPr id="29" name="Group 56"/>
          <p:cNvGrpSpPr>
            <a:grpSpLocks/>
          </p:cNvGrpSpPr>
          <p:nvPr/>
        </p:nvGrpSpPr>
        <p:grpSpPr bwMode="auto">
          <a:xfrm>
            <a:off x="2621799" y="1094874"/>
            <a:ext cx="8610600" cy="5607468"/>
            <a:chOff x="113" y="445"/>
            <a:chExt cx="5424" cy="3771"/>
          </a:xfrm>
        </p:grpSpPr>
        <p:sp>
          <p:nvSpPr>
            <p:cNvPr id="30" name="Rectangle 5"/>
            <p:cNvSpPr>
              <a:spLocks noChangeArrowheads="1"/>
            </p:cNvSpPr>
            <p:nvPr/>
          </p:nvSpPr>
          <p:spPr bwMode="auto">
            <a:xfrm>
              <a:off x="113" y="445"/>
              <a:ext cx="5424" cy="3771"/>
            </a:xfrm>
            <a:prstGeom prst="rect">
              <a:avLst/>
            </a:prstGeom>
            <a:solidFill>
              <a:srgbClr val="FF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99"/>
              </a:extrusionClr>
            </a:sp3d>
          </p:spPr>
          <p:txBody>
            <a:bodyPr wrap="none" anchor="ctr">
              <a:flatTx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>
                  <a:solidFill>
                    <a:srgbClr val="FF0000"/>
                  </a:solidFill>
                  <a:latin typeface="Times New Roman" pitchFamily="18" charset="0"/>
                </a:rPr>
                <a:t>（中级调度）</a:t>
              </a:r>
            </a:p>
            <a:p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2" name="Rectangle 6"/>
            <p:cNvSpPr>
              <a:spLocks noChangeArrowheads="1"/>
            </p:cNvSpPr>
            <p:nvPr/>
          </p:nvSpPr>
          <p:spPr bwMode="auto">
            <a:xfrm>
              <a:off x="209" y="1305"/>
              <a:ext cx="5136" cy="2766"/>
            </a:xfrm>
            <a:prstGeom prst="rect">
              <a:avLst/>
            </a:prstGeom>
            <a:solidFill>
              <a:schemeClr val="tx2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tx2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38" name="Rectangle 7"/>
            <p:cNvSpPr>
              <a:spLocks noChangeArrowheads="1"/>
            </p:cNvSpPr>
            <p:nvPr/>
          </p:nvSpPr>
          <p:spPr bwMode="auto">
            <a:xfrm>
              <a:off x="2321" y="1952"/>
              <a:ext cx="2928" cy="1937"/>
            </a:xfrm>
            <a:prstGeom prst="rect">
              <a:avLst/>
            </a:prstGeom>
            <a:solidFill>
              <a:srgbClr val="FF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99"/>
              </a:extrusionClr>
            </a:sp3d>
          </p:spPr>
          <p:txBody>
            <a:bodyPr wrap="none" anchor="ctr">
              <a:flatTx/>
            </a:bodyPr>
            <a:lstStyle/>
            <a:p>
              <a:endParaRPr kumimoji="1" lang="zh-CN" altLang="zh-CN" sz="2800" b="1">
                <a:solidFill>
                  <a:srgbClr val="002F8C"/>
                </a:solidFill>
                <a:latin typeface="Times New Roman" pitchFamily="18" charset="0"/>
                <a:ea typeface="华文中宋" pitchFamily="2" charset="-122"/>
              </a:endParaRPr>
            </a:p>
          </p:txBody>
        </p:sp>
        <p:sp>
          <p:nvSpPr>
            <p:cNvPr id="39" name="Oval 8"/>
            <p:cNvSpPr>
              <a:spLocks noChangeArrowheads="1"/>
            </p:cNvSpPr>
            <p:nvPr/>
          </p:nvSpPr>
          <p:spPr bwMode="auto">
            <a:xfrm>
              <a:off x="2767" y="2132"/>
              <a:ext cx="768" cy="541"/>
            </a:xfrm>
            <a:prstGeom prst="ellipse">
              <a:avLst/>
            </a:prstGeom>
            <a:solidFill>
              <a:srgbClr val="003399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9"/>
            <p:cNvSpPr txBox="1">
              <a:spLocks noChangeArrowheads="1"/>
            </p:cNvSpPr>
            <p:nvPr/>
          </p:nvSpPr>
          <p:spPr bwMode="auto">
            <a:xfrm>
              <a:off x="2827" y="2293"/>
              <a:ext cx="765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chemeClr val="bg1"/>
                  </a:solidFill>
                  <a:latin typeface="Times New Roman" pitchFamily="18" charset="0"/>
                  <a:ea typeface="华文中宋" pitchFamily="2" charset="-122"/>
                </a:rPr>
                <a:t>活动就绪</a:t>
              </a:r>
            </a:p>
          </p:txBody>
        </p:sp>
        <p:sp>
          <p:nvSpPr>
            <p:cNvPr id="41" name="Oval 10"/>
            <p:cNvSpPr>
              <a:spLocks noChangeArrowheads="1"/>
            </p:cNvSpPr>
            <p:nvPr/>
          </p:nvSpPr>
          <p:spPr bwMode="auto">
            <a:xfrm>
              <a:off x="4351" y="2132"/>
              <a:ext cx="768" cy="496"/>
            </a:xfrm>
            <a:prstGeom prst="ellipse">
              <a:avLst/>
            </a:prstGeom>
            <a:solidFill>
              <a:srgbClr val="003399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Text Box 11"/>
            <p:cNvSpPr txBox="1">
              <a:spLocks noChangeArrowheads="1"/>
            </p:cNvSpPr>
            <p:nvPr/>
          </p:nvSpPr>
          <p:spPr bwMode="auto">
            <a:xfrm>
              <a:off x="4495" y="2222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  <a:ea typeface="华文中宋" pitchFamily="2" charset="-122"/>
                </a:rPr>
                <a:t>运行</a:t>
              </a:r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auto">
            <a:xfrm>
              <a:off x="2753" y="3258"/>
              <a:ext cx="816" cy="541"/>
            </a:xfrm>
            <a:prstGeom prst="ellipse">
              <a:avLst/>
            </a:prstGeom>
            <a:solidFill>
              <a:srgbClr val="003399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Text Box 13"/>
            <p:cNvSpPr txBox="1">
              <a:spLocks noChangeArrowheads="1"/>
            </p:cNvSpPr>
            <p:nvPr/>
          </p:nvSpPr>
          <p:spPr bwMode="auto">
            <a:xfrm>
              <a:off x="2812" y="3399"/>
              <a:ext cx="77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chemeClr val="bg1"/>
                  </a:solidFill>
                  <a:latin typeface="Times New Roman" pitchFamily="18" charset="0"/>
                  <a:ea typeface="华文中宋" pitchFamily="2" charset="-122"/>
                </a:rPr>
                <a:t>活动阻塞</a:t>
              </a:r>
            </a:p>
          </p:txBody>
        </p:sp>
        <p:sp>
          <p:nvSpPr>
            <p:cNvPr id="53" name="Oval 14"/>
            <p:cNvSpPr>
              <a:spLocks noChangeArrowheads="1"/>
            </p:cNvSpPr>
            <p:nvPr/>
          </p:nvSpPr>
          <p:spPr bwMode="auto">
            <a:xfrm>
              <a:off x="641" y="2155"/>
              <a:ext cx="768" cy="495"/>
            </a:xfrm>
            <a:prstGeom prst="ellipse">
              <a:avLst/>
            </a:prstGeom>
            <a:solidFill>
              <a:srgbClr val="003399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Text Box 15"/>
            <p:cNvSpPr txBox="1">
              <a:spLocks noChangeArrowheads="1"/>
            </p:cNvSpPr>
            <p:nvPr/>
          </p:nvSpPr>
          <p:spPr bwMode="auto">
            <a:xfrm>
              <a:off x="682" y="2259"/>
              <a:ext cx="788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chemeClr val="bg1"/>
                  </a:solidFill>
                  <a:latin typeface="Times New Roman" pitchFamily="18" charset="0"/>
                  <a:ea typeface="华文中宋" pitchFamily="2" charset="-122"/>
                </a:rPr>
                <a:t>静止就绪</a:t>
              </a:r>
            </a:p>
          </p:txBody>
        </p:sp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641" y="3281"/>
              <a:ext cx="768" cy="495"/>
            </a:xfrm>
            <a:prstGeom prst="ellipse">
              <a:avLst/>
            </a:prstGeom>
            <a:solidFill>
              <a:srgbClr val="003399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Text Box 17"/>
            <p:cNvSpPr txBox="1">
              <a:spLocks noChangeArrowheads="1"/>
            </p:cNvSpPr>
            <p:nvPr/>
          </p:nvSpPr>
          <p:spPr bwMode="auto">
            <a:xfrm>
              <a:off x="671" y="3378"/>
              <a:ext cx="776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chemeClr val="bg1"/>
                  </a:solidFill>
                  <a:latin typeface="Times New Roman" pitchFamily="18" charset="0"/>
                  <a:ea typeface="华文中宋" pitchFamily="2" charset="-122"/>
                </a:rPr>
                <a:t>静止阻塞</a:t>
              </a:r>
            </a:p>
          </p:txBody>
        </p:sp>
        <p:sp>
          <p:nvSpPr>
            <p:cNvPr id="58" name="Line 18"/>
            <p:cNvSpPr>
              <a:spLocks noChangeShapeType="1"/>
            </p:cNvSpPr>
            <p:nvPr/>
          </p:nvSpPr>
          <p:spPr bwMode="auto">
            <a:xfrm flipH="1">
              <a:off x="3521" y="2492"/>
              <a:ext cx="86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19"/>
            <p:cNvSpPr>
              <a:spLocks noChangeShapeType="1"/>
            </p:cNvSpPr>
            <p:nvPr/>
          </p:nvSpPr>
          <p:spPr bwMode="auto">
            <a:xfrm>
              <a:off x="3487" y="2295"/>
              <a:ext cx="91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20"/>
            <p:cNvSpPr>
              <a:spLocks noChangeShapeType="1"/>
            </p:cNvSpPr>
            <p:nvPr/>
          </p:nvSpPr>
          <p:spPr bwMode="auto">
            <a:xfrm flipH="1">
              <a:off x="3487" y="2656"/>
              <a:ext cx="1296" cy="72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21"/>
            <p:cNvSpPr>
              <a:spLocks noChangeShapeType="1"/>
            </p:cNvSpPr>
            <p:nvPr/>
          </p:nvSpPr>
          <p:spPr bwMode="auto">
            <a:xfrm flipV="1">
              <a:off x="3151" y="2656"/>
              <a:ext cx="0" cy="6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22"/>
            <p:cNvSpPr>
              <a:spLocks noChangeShapeType="1"/>
            </p:cNvSpPr>
            <p:nvPr/>
          </p:nvSpPr>
          <p:spPr bwMode="auto">
            <a:xfrm flipV="1">
              <a:off x="1041" y="2650"/>
              <a:ext cx="0" cy="63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Oval 23"/>
            <p:cNvSpPr>
              <a:spLocks noChangeArrowheads="1"/>
            </p:cNvSpPr>
            <p:nvPr/>
          </p:nvSpPr>
          <p:spPr bwMode="auto">
            <a:xfrm>
              <a:off x="1361" y="1235"/>
              <a:ext cx="768" cy="496"/>
            </a:xfrm>
            <a:prstGeom prst="ellipse">
              <a:avLst/>
            </a:prstGeom>
            <a:solidFill>
              <a:srgbClr val="003399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Text Box 24"/>
            <p:cNvSpPr txBox="1">
              <a:spLocks noChangeArrowheads="1"/>
            </p:cNvSpPr>
            <p:nvPr/>
          </p:nvSpPr>
          <p:spPr bwMode="auto">
            <a:xfrm>
              <a:off x="1457" y="1382"/>
              <a:ext cx="650" cy="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70000"/>
                </a:lnSpc>
                <a:spcBef>
                  <a:spcPct val="35000"/>
                </a:spcBef>
              </a:pPr>
              <a:r>
                <a:rPr kumimoji="1" lang="zh-CN" altLang="en-US" b="1" dirty="0">
                  <a:solidFill>
                    <a:schemeClr val="bg1"/>
                  </a:solidFill>
                  <a:latin typeface="Times New Roman" pitchFamily="18" charset="0"/>
                  <a:ea typeface="华文中宋" pitchFamily="2" charset="-122"/>
                </a:rPr>
                <a:t>新状态</a:t>
              </a:r>
            </a:p>
          </p:txBody>
        </p:sp>
        <p:sp>
          <p:nvSpPr>
            <p:cNvPr id="65" name="Line 25"/>
            <p:cNvSpPr>
              <a:spLocks noChangeShapeType="1"/>
            </p:cNvSpPr>
            <p:nvPr/>
          </p:nvSpPr>
          <p:spPr bwMode="auto">
            <a:xfrm flipH="1">
              <a:off x="993" y="1659"/>
              <a:ext cx="528" cy="4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26"/>
            <p:cNvSpPr>
              <a:spLocks noChangeShapeType="1"/>
            </p:cNvSpPr>
            <p:nvPr/>
          </p:nvSpPr>
          <p:spPr bwMode="auto">
            <a:xfrm>
              <a:off x="2049" y="1614"/>
              <a:ext cx="768" cy="69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7" name="AutoShape 27"/>
            <p:cNvCxnSpPr>
              <a:cxnSpLocks noChangeShapeType="1"/>
            </p:cNvCxnSpPr>
            <p:nvPr/>
          </p:nvCxnSpPr>
          <p:spPr bwMode="auto">
            <a:xfrm rot="-5400000" flipH="1" flipV="1">
              <a:off x="2984" y="461"/>
              <a:ext cx="95" cy="3438"/>
            </a:xfrm>
            <a:prstGeom prst="curvedConnector3">
              <a:avLst>
                <a:gd name="adj1" fmla="val -523764"/>
              </a:avLst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</p:spPr>
        </p:cxnSp>
        <p:sp>
          <p:nvSpPr>
            <p:cNvPr id="68" name="Rectangle 28"/>
            <p:cNvSpPr>
              <a:spLocks noChangeArrowheads="1"/>
            </p:cNvSpPr>
            <p:nvPr/>
          </p:nvSpPr>
          <p:spPr bwMode="auto">
            <a:xfrm>
              <a:off x="3343" y="1425"/>
              <a:ext cx="960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华文中宋" pitchFamily="2" charset="-122"/>
                </a:rPr>
                <a:t>Suspend</a:t>
              </a:r>
            </a:p>
          </p:txBody>
        </p:sp>
        <p:sp>
          <p:nvSpPr>
            <p:cNvPr id="69" name="Rectangle 29"/>
            <p:cNvSpPr>
              <a:spLocks noChangeArrowheads="1"/>
            </p:cNvSpPr>
            <p:nvPr/>
          </p:nvSpPr>
          <p:spPr bwMode="auto">
            <a:xfrm>
              <a:off x="1409" y="2492"/>
              <a:ext cx="1056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华文中宋" pitchFamily="2" charset="-122"/>
                </a:rPr>
                <a:t>Suspend</a:t>
              </a:r>
            </a:p>
          </p:txBody>
        </p:sp>
        <p:sp>
          <p:nvSpPr>
            <p:cNvPr id="70" name="Rectangle 30"/>
            <p:cNvSpPr>
              <a:spLocks noChangeArrowheads="1"/>
            </p:cNvSpPr>
            <p:nvPr/>
          </p:nvSpPr>
          <p:spPr bwMode="auto">
            <a:xfrm>
              <a:off x="1457" y="3574"/>
              <a:ext cx="1056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华文中宋" pitchFamily="2" charset="-122"/>
                </a:rPr>
                <a:t>Suspend</a:t>
              </a:r>
            </a:p>
          </p:txBody>
        </p:sp>
        <p:sp>
          <p:nvSpPr>
            <p:cNvPr id="71" name="Rectangle 31"/>
            <p:cNvSpPr>
              <a:spLocks noChangeArrowheads="1"/>
            </p:cNvSpPr>
            <p:nvPr/>
          </p:nvSpPr>
          <p:spPr bwMode="auto">
            <a:xfrm>
              <a:off x="3524" y="1952"/>
              <a:ext cx="1043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华文中宋" pitchFamily="2" charset="-122"/>
                </a:rPr>
                <a:t>Dispatch</a:t>
              </a:r>
            </a:p>
          </p:txBody>
        </p:sp>
        <p:sp>
          <p:nvSpPr>
            <p:cNvPr id="72" name="Rectangle 32"/>
            <p:cNvSpPr>
              <a:spLocks noChangeArrowheads="1"/>
            </p:cNvSpPr>
            <p:nvPr/>
          </p:nvSpPr>
          <p:spPr bwMode="auto">
            <a:xfrm>
              <a:off x="4063" y="2968"/>
              <a:ext cx="864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华文中宋" pitchFamily="2" charset="-122"/>
                </a:rPr>
                <a:t>Block </a:t>
              </a:r>
            </a:p>
          </p:txBody>
        </p:sp>
        <p:sp>
          <p:nvSpPr>
            <p:cNvPr id="73" name="Rectangle 33"/>
            <p:cNvSpPr>
              <a:spLocks noChangeArrowheads="1"/>
            </p:cNvSpPr>
            <p:nvPr/>
          </p:nvSpPr>
          <p:spPr bwMode="auto">
            <a:xfrm>
              <a:off x="2608" y="2876"/>
              <a:ext cx="1071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华文中宋" pitchFamily="2" charset="-122"/>
                </a:rPr>
                <a:t>Wackeup</a:t>
              </a:r>
            </a:p>
          </p:txBody>
        </p:sp>
        <p:sp>
          <p:nvSpPr>
            <p:cNvPr id="74" name="Rectangle 34"/>
            <p:cNvSpPr>
              <a:spLocks noChangeArrowheads="1"/>
            </p:cNvSpPr>
            <p:nvPr/>
          </p:nvSpPr>
          <p:spPr bwMode="auto">
            <a:xfrm>
              <a:off x="1361" y="3168"/>
              <a:ext cx="960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华文中宋" pitchFamily="2" charset="-122"/>
                </a:rPr>
                <a:t>Activate</a:t>
              </a:r>
            </a:p>
          </p:txBody>
        </p:sp>
        <p:sp>
          <p:nvSpPr>
            <p:cNvPr id="75" name="Rectangle 35"/>
            <p:cNvSpPr>
              <a:spLocks noChangeArrowheads="1"/>
            </p:cNvSpPr>
            <p:nvPr/>
          </p:nvSpPr>
          <p:spPr bwMode="auto">
            <a:xfrm>
              <a:off x="1457" y="2042"/>
              <a:ext cx="960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华文中宋" pitchFamily="2" charset="-122"/>
                </a:rPr>
                <a:t>Activate</a:t>
              </a:r>
            </a:p>
          </p:txBody>
        </p:sp>
        <p:sp>
          <p:nvSpPr>
            <p:cNvPr id="76" name="Rectangle 36"/>
            <p:cNvSpPr>
              <a:spLocks noChangeArrowheads="1"/>
            </p:cNvSpPr>
            <p:nvPr/>
          </p:nvSpPr>
          <p:spPr bwMode="auto">
            <a:xfrm>
              <a:off x="3521" y="2447"/>
              <a:ext cx="960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华文中宋" pitchFamily="2" charset="-122"/>
                </a:rPr>
                <a:t>Timeout</a:t>
              </a:r>
            </a:p>
          </p:txBody>
        </p:sp>
        <p:sp>
          <p:nvSpPr>
            <p:cNvPr id="77" name="Rectangle 37"/>
            <p:cNvSpPr>
              <a:spLocks noChangeArrowheads="1"/>
            </p:cNvSpPr>
            <p:nvPr/>
          </p:nvSpPr>
          <p:spPr bwMode="auto">
            <a:xfrm>
              <a:off x="401" y="2898"/>
              <a:ext cx="1536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华文中宋" pitchFamily="2" charset="-122"/>
                </a:rPr>
                <a:t>Event  Occurs</a:t>
              </a:r>
            </a:p>
          </p:txBody>
        </p:sp>
        <p:sp>
          <p:nvSpPr>
            <p:cNvPr id="78" name="Rectangle 38"/>
            <p:cNvSpPr>
              <a:spLocks noChangeArrowheads="1"/>
            </p:cNvSpPr>
            <p:nvPr/>
          </p:nvSpPr>
          <p:spPr bwMode="auto">
            <a:xfrm>
              <a:off x="3894" y="3180"/>
              <a:ext cx="1234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华文中宋" pitchFamily="2" charset="-122"/>
                </a:rPr>
                <a:t>Event wait</a:t>
              </a:r>
            </a:p>
          </p:txBody>
        </p:sp>
        <p:sp>
          <p:nvSpPr>
            <p:cNvPr id="79" name="Rectangle 39"/>
            <p:cNvSpPr>
              <a:spLocks noChangeArrowheads="1"/>
            </p:cNvSpPr>
            <p:nvPr/>
          </p:nvSpPr>
          <p:spPr bwMode="auto">
            <a:xfrm>
              <a:off x="393" y="1637"/>
              <a:ext cx="644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华文中宋" pitchFamily="2" charset="-122"/>
                </a:rPr>
                <a:t>Admit</a:t>
              </a:r>
            </a:p>
          </p:txBody>
        </p:sp>
        <p:sp>
          <p:nvSpPr>
            <p:cNvPr id="80" name="Line 40"/>
            <p:cNvSpPr>
              <a:spLocks noChangeShapeType="1"/>
            </p:cNvSpPr>
            <p:nvPr/>
          </p:nvSpPr>
          <p:spPr bwMode="auto">
            <a:xfrm>
              <a:off x="1025" y="1772"/>
              <a:ext cx="1296" cy="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41"/>
            <p:cNvSpPr>
              <a:spLocks noChangeShapeType="1"/>
            </p:cNvSpPr>
            <p:nvPr/>
          </p:nvSpPr>
          <p:spPr bwMode="auto">
            <a:xfrm>
              <a:off x="1025" y="1862"/>
              <a:ext cx="144" cy="9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42"/>
            <p:cNvSpPr>
              <a:spLocks noChangeShapeType="1"/>
            </p:cNvSpPr>
            <p:nvPr/>
          </p:nvSpPr>
          <p:spPr bwMode="auto">
            <a:xfrm>
              <a:off x="1409" y="2357"/>
              <a:ext cx="13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43"/>
            <p:cNvSpPr>
              <a:spLocks noChangeShapeType="1"/>
            </p:cNvSpPr>
            <p:nvPr/>
          </p:nvSpPr>
          <p:spPr bwMode="auto">
            <a:xfrm flipH="1">
              <a:off x="1409" y="2492"/>
              <a:ext cx="13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44"/>
            <p:cNvSpPr>
              <a:spLocks noChangeShapeType="1"/>
            </p:cNvSpPr>
            <p:nvPr/>
          </p:nvSpPr>
          <p:spPr bwMode="auto">
            <a:xfrm>
              <a:off x="1409" y="3483"/>
              <a:ext cx="13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45"/>
            <p:cNvSpPr>
              <a:spLocks noChangeShapeType="1"/>
            </p:cNvSpPr>
            <p:nvPr/>
          </p:nvSpPr>
          <p:spPr bwMode="auto">
            <a:xfrm flipH="1">
              <a:off x="1361" y="3619"/>
              <a:ext cx="13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Text Box 46"/>
            <p:cNvSpPr txBox="1">
              <a:spLocks noChangeArrowheads="1"/>
            </p:cNvSpPr>
            <p:nvPr/>
          </p:nvSpPr>
          <p:spPr bwMode="auto">
            <a:xfrm>
              <a:off x="3905" y="3574"/>
              <a:ext cx="12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>
                  <a:solidFill>
                    <a:srgbClr val="FF0000"/>
                  </a:solidFill>
                  <a:latin typeface="Times New Roman" pitchFamily="18" charset="0"/>
                </a:rPr>
                <a:t>（进程调度）</a:t>
              </a:r>
            </a:p>
          </p:txBody>
        </p:sp>
        <p:sp>
          <p:nvSpPr>
            <p:cNvPr id="87" name="Text Box 47"/>
            <p:cNvSpPr txBox="1">
              <a:spLocks noChangeArrowheads="1"/>
            </p:cNvSpPr>
            <p:nvPr/>
          </p:nvSpPr>
          <p:spPr bwMode="auto">
            <a:xfrm>
              <a:off x="4001" y="1297"/>
              <a:ext cx="12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rgbClr val="FF0000"/>
                  </a:solidFill>
                  <a:latin typeface="Times New Roman" pitchFamily="18" charset="0"/>
                </a:rPr>
                <a:t>（中级调度）</a:t>
              </a:r>
            </a:p>
          </p:txBody>
        </p:sp>
        <p:sp>
          <p:nvSpPr>
            <p:cNvPr id="88" name="Oval 48"/>
            <p:cNvSpPr>
              <a:spLocks noChangeArrowheads="1"/>
            </p:cNvSpPr>
            <p:nvPr/>
          </p:nvSpPr>
          <p:spPr bwMode="auto">
            <a:xfrm>
              <a:off x="1022" y="565"/>
              <a:ext cx="721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Text Box 49"/>
            <p:cNvSpPr txBox="1">
              <a:spLocks noChangeArrowheads="1"/>
            </p:cNvSpPr>
            <p:nvPr/>
          </p:nvSpPr>
          <p:spPr bwMode="auto">
            <a:xfrm>
              <a:off x="1164" y="627"/>
              <a:ext cx="5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latin typeface="Times New Roman" pitchFamily="18" charset="0"/>
                  <a:ea typeface="华文中宋" pitchFamily="2" charset="-122"/>
                </a:rPr>
                <a:t>后备</a:t>
              </a:r>
            </a:p>
          </p:txBody>
        </p:sp>
        <p:sp>
          <p:nvSpPr>
            <p:cNvPr id="90" name="Line 50"/>
            <p:cNvSpPr>
              <a:spLocks noChangeShapeType="1"/>
            </p:cNvSpPr>
            <p:nvPr/>
          </p:nvSpPr>
          <p:spPr bwMode="auto">
            <a:xfrm>
              <a:off x="1539" y="945"/>
              <a:ext cx="158" cy="2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Rectangle 51"/>
            <p:cNvSpPr>
              <a:spLocks noChangeArrowheads="1"/>
            </p:cNvSpPr>
            <p:nvPr/>
          </p:nvSpPr>
          <p:spPr bwMode="auto">
            <a:xfrm>
              <a:off x="3968" y="666"/>
              <a:ext cx="126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 dirty="0">
                  <a:solidFill>
                    <a:srgbClr val="FF0000"/>
                  </a:solidFill>
                  <a:latin typeface="Times New Roman" pitchFamily="18" charset="0"/>
                </a:rPr>
                <a:t>（作业调度）</a:t>
              </a:r>
            </a:p>
          </p:txBody>
        </p:sp>
        <p:sp>
          <p:nvSpPr>
            <p:cNvPr id="92" name="Text Box 52"/>
            <p:cNvSpPr txBox="1">
              <a:spLocks noChangeArrowheads="1"/>
            </p:cNvSpPr>
            <p:nvPr/>
          </p:nvSpPr>
          <p:spPr bwMode="auto">
            <a:xfrm>
              <a:off x="2225" y="628"/>
              <a:ext cx="1296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002F8C"/>
                  </a:solidFill>
                  <a:latin typeface="Times New Roman" pitchFamily="18" charset="0"/>
                  <a:ea typeface="华文中宋" pitchFamily="2" charset="-122"/>
                </a:rPr>
                <a:t>外存输入井</a:t>
              </a:r>
            </a:p>
          </p:txBody>
        </p:sp>
        <p:sp>
          <p:nvSpPr>
            <p:cNvPr id="93" name="Text Box 53"/>
            <p:cNvSpPr txBox="1">
              <a:spLocks noChangeArrowheads="1"/>
            </p:cNvSpPr>
            <p:nvPr/>
          </p:nvSpPr>
          <p:spPr bwMode="auto">
            <a:xfrm>
              <a:off x="2366" y="1244"/>
              <a:ext cx="1296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chemeClr val="bg1"/>
                  </a:solidFill>
                  <a:latin typeface="Times New Roman" pitchFamily="18" charset="0"/>
                  <a:ea typeface="华文中宋" pitchFamily="2" charset="-122"/>
                </a:rPr>
                <a:t>外存对换区</a:t>
              </a:r>
            </a:p>
          </p:txBody>
        </p:sp>
        <p:sp>
          <p:nvSpPr>
            <p:cNvPr id="94" name="Rectangle 54"/>
            <p:cNvSpPr>
              <a:spLocks noChangeArrowheads="1"/>
            </p:cNvSpPr>
            <p:nvPr/>
          </p:nvSpPr>
          <p:spPr bwMode="auto">
            <a:xfrm>
              <a:off x="4961" y="2536"/>
              <a:ext cx="336" cy="5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2F8C"/>
                  </a:solidFill>
                  <a:latin typeface="Times New Roman" pitchFamily="18" charset="0"/>
                  <a:ea typeface="华文中宋" pitchFamily="2" charset="-122"/>
                </a:rPr>
                <a:t>内存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0947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4341" y="1653421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2391" y="1653421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1098607" y="2025923"/>
            <a:ext cx="607221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 marL="0" lvl="1" indent="0">
              <a:buBlip>
                <a:blip r:embed="rId3"/>
              </a:buBlip>
            </a:pP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78290" y="1120021"/>
            <a:ext cx="6377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）共同目标</a:t>
            </a:r>
          </a:p>
        </p:txBody>
      </p: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539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处理机调度算法的目标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54"/>
          <p:cNvSpPr txBox="1">
            <a:spLocks noChangeArrowheads="1"/>
          </p:cNvSpPr>
          <p:nvPr/>
        </p:nvSpPr>
        <p:spPr bwMode="auto">
          <a:xfrm>
            <a:off x="1107897" y="1963661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提高资源利用率</a:t>
            </a:r>
          </a:p>
        </p:txBody>
      </p:sp>
      <p:sp>
        <p:nvSpPr>
          <p:cNvPr id="34" name="文本框 53"/>
          <p:cNvSpPr txBox="1">
            <a:spLocks noChangeArrowheads="1"/>
          </p:cNvSpPr>
          <p:nvPr/>
        </p:nvSpPr>
        <p:spPr bwMode="auto">
          <a:xfrm>
            <a:off x="1082559" y="3249123"/>
            <a:ext cx="582356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>
              <a:buBlip>
                <a:blip r:embed="rId3"/>
              </a:buBlip>
            </a:pPr>
            <a:r>
              <a:rPr lang="zh-CN" altLang="en-US" sz="2400" dirty="0"/>
              <a:t>分配处理器不出现进程饥饿现象</a:t>
            </a:r>
            <a:endParaRPr lang="en-US" altLang="zh-CN" sz="2400" dirty="0"/>
          </a:p>
          <a:p>
            <a:pPr>
              <a:buBlip>
                <a:blip r:embed="rId3"/>
              </a:buBlip>
            </a:pPr>
            <a:r>
              <a:rPr lang="zh-CN" altLang="en-US" sz="2400" dirty="0"/>
              <a:t>公平性是相对的</a:t>
            </a:r>
            <a:endParaRPr lang="en-US" altLang="zh-CN" sz="2400" dirty="0"/>
          </a:p>
        </p:txBody>
      </p:sp>
      <p:sp>
        <p:nvSpPr>
          <p:cNvPr id="35" name="文本框 54"/>
          <p:cNvSpPr txBox="1">
            <a:spLocks noChangeArrowheads="1"/>
          </p:cNvSpPr>
          <p:nvPr/>
        </p:nvSpPr>
        <p:spPr bwMode="auto">
          <a:xfrm>
            <a:off x="1079818" y="3186861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公平性</a:t>
            </a:r>
          </a:p>
        </p:txBody>
      </p:sp>
      <p:sp>
        <p:nvSpPr>
          <p:cNvPr id="36" name="文本框 53"/>
          <p:cNvSpPr txBox="1">
            <a:spLocks noChangeArrowheads="1"/>
          </p:cNvSpPr>
          <p:nvPr/>
        </p:nvSpPr>
        <p:spPr bwMode="auto">
          <a:xfrm>
            <a:off x="1082559" y="4572603"/>
            <a:ext cx="71590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 marL="0" lvl="1" indent="0">
              <a:buBlip>
                <a:blip r:embed="rId3"/>
              </a:buBlip>
            </a:pPr>
            <a:r>
              <a:rPr lang="zh-CN" altLang="en-US" sz="2400" dirty="0"/>
              <a:t>合理安排不同类型的作业：</a:t>
            </a:r>
            <a:r>
              <a:rPr lang="en-US" altLang="zh-CN" sz="2400" dirty="0"/>
              <a:t>CPU</a:t>
            </a:r>
            <a:r>
              <a:rPr lang="zh-CN" altLang="en-US" sz="2400" dirty="0"/>
              <a:t>繁忙型、</a:t>
            </a:r>
            <a:r>
              <a:rPr lang="en-US" altLang="zh-CN" sz="2400" dirty="0"/>
              <a:t>I/O</a:t>
            </a:r>
            <a:r>
              <a:rPr lang="zh-CN" altLang="en-US" sz="2400" dirty="0"/>
              <a:t>繁忙型</a:t>
            </a:r>
            <a:endParaRPr lang="en-US" altLang="zh-CN" sz="2400" dirty="0"/>
          </a:p>
        </p:txBody>
      </p:sp>
      <p:sp>
        <p:nvSpPr>
          <p:cNvPr id="37" name="文本框 54"/>
          <p:cNvSpPr txBox="1">
            <a:spLocks noChangeArrowheads="1"/>
          </p:cNvSpPr>
          <p:nvPr/>
        </p:nvSpPr>
        <p:spPr bwMode="auto">
          <a:xfrm>
            <a:off x="1091850" y="4510341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平衡性</a:t>
            </a:r>
          </a:p>
        </p:txBody>
      </p:sp>
      <p:graphicFrame>
        <p:nvGraphicFramePr>
          <p:cNvPr id="84994" name="Object 3"/>
          <p:cNvGraphicFramePr>
            <a:graphicFrameLocks noChangeAspect="1"/>
          </p:cNvGraphicFramePr>
          <p:nvPr/>
        </p:nvGraphicFramePr>
        <p:xfrm>
          <a:off x="1500272" y="2241211"/>
          <a:ext cx="6913563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17560" imgH="419040" progId="Equation.DSMT4">
                  <p:embed/>
                </p:oleObj>
              </mc:Choice>
              <mc:Fallback>
                <p:oleObj name="Equation" r:id="rId4" imgW="3517560" imgH="419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272" y="2241211"/>
                        <a:ext cx="6913563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53"/>
          <p:cNvSpPr txBox="1">
            <a:spLocks noChangeArrowheads="1"/>
          </p:cNvSpPr>
          <p:nvPr/>
        </p:nvSpPr>
        <p:spPr bwMode="auto">
          <a:xfrm>
            <a:off x="1078545" y="5507054"/>
            <a:ext cx="71590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 marL="0" lvl="1" indent="0">
              <a:buBlip>
                <a:blip r:embed="rId3"/>
              </a:buBlip>
            </a:pPr>
            <a:r>
              <a:rPr lang="zh-CN" altLang="en-US" sz="2400" dirty="0"/>
              <a:t>根据需要准确执行所制定的策略</a:t>
            </a:r>
          </a:p>
        </p:txBody>
      </p:sp>
      <p:sp>
        <p:nvSpPr>
          <p:cNvPr id="25" name="文本框 54"/>
          <p:cNvSpPr txBox="1">
            <a:spLocks noChangeArrowheads="1"/>
          </p:cNvSpPr>
          <p:nvPr/>
        </p:nvSpPr>
        <p:spPr bwMode="auto">
          <a:xfrm>
            <a:off x="1075804" y="5444794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策略强制执行</a:t>
            </a:r>
          </a:p>
        </p:txBody>
      </p:sp>
    </p:spTree>
    <p:extLst>
      <p:ext uri="{BB962C8B-B14F-4D97-AF65-F5344CB8AC3E}">
        <p14:creationId xmlns:p14="http://schemas.microsoft.com/office/powerpoint/2010/main" val="170094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3" grpId="0"/>
      <p:bldP spid="34" grpId="0"/>
      <p:bldP spid="35" grpId="0"/>
      <p:bldP spid="36" grpId="0"/>
      <p:bldP spid="37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4341" y="1653421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2391" y="1653421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1098606" y="2025923"/>
            <a:ext cx="889963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 marL="0" lvl="1" indent="0">
              <a:buBlip>
                <a:blip r:embed="rId3"/>
              </a:buBlip>
            </a:pPr>
            <a:r>
              <a:rPr lang="zh-CN" altLang="en-US" sz="2400" b="1" dirty="0"/>
              <a:t>周转时间</a:t>
            </a:r>
            <a:r>
              <a:rPr lang="en-US" altLang="zh-CN" sz="2400" b="1" dirty="0"/>
              <a:t>(T</a:t>
            </a:r>
            <a:r>
              <a:rPr lang="en-US" altLang="zh-CN" sz="2400" b="1" baseline="-25000" dirty="0"/>
              <a:t>i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：</a:t>
            </a:r>
            <a:r>
              <a:rPr lang="zh-CN" altLang="en-US" sz="2400" dirty="0"/>
              <a:t>是指从作业（进程）被提交给系统开始，到作业完成为止的这段时间间隔。</a:t>
            </a:r>
            <a:endParaRPr lang="en-US" altLang="zh-CN" sz="2400" dirty="0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78290" y="1120021"/>
            <a:ext cx="6377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）批处理系统目标</a:t>
            </a:r>
          </a:p>
        </p:txBody>
      </p: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539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处理机调度算法的目标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54"/>
          <p:cNvSpPr txBox="1">
            <a:spLocks noChangeArrowheads="1"/>
          </p:cNvSpPr>
          <p:nvPr/>
        </p:nvSpPr>
        <p:spPr bwMode="auto">
          <a:xfrm>
            <a:off x="1107897" y="1963661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平均周转时间短</a:t>
            </a:r>
          </a:p>
        </p:txBody>
      </p:sp>
      <p:sp>
        <p:nvSpPr>
          <p:cNvPr id="24" name="文本框 53"/>
          <p:cNvSpPr txBox="1">
            <a:spLocks noChangeArrowheads="1"/>
          </p:cNvSpPr>
          <p:nvPr/>
        </p:nvSpPr>
        <p:spPr bwMode="auto">
          <a:xfrm>
            <a:off x="1078545" y="5507054"/>
            <a:ext cx="71590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en-US" altLang="zh-CN" sz="2400" dirty="0"/>
          </a:p>
          <a:p>
            <a:pPr marL="0" lvl="1" indent="0">
              <a:buBlip>
                <a:blip r:embed="rId3"/>
              </a:buBlip>
            </a:pPr>
            <a:r>
              <a:rPr lang="zh-CN" altLang="en-US" sz="2400" b="1" dirty="0"/>
              <a:t>平均周转时间</a:t>
            </a:r>
            <a:r>
              <a:rPr lang="zh-CN" altLang="en-US" sz="2400" dirty="0"/>
              <a:t>：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3198654" y="3190295"/>
            <a:ext cx="8305800" cy="2464552"/>
            <a:chOff x="2982078" y="3082007"/>
            <a:chExt cx="8305800" cy="2464552"/>
          </a:xfrm>
        </p:grpSpPr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2982078" y="3082007"/>
              <a:ext cx="8305800" cy="24645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kumimoji="1" lang="zh-CN" altLang="zh-CN" b="1"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18" name="Rectangle 6"/>
            <p:cNvSpPr>
              <a:spLocks noChangeArrowheads="1"/>
            </p:cNvSpPr>
            <p:nvPr/>
          </p:nvSpPr>
          <p:spPr bwMode="auto">
            <a:xfrm>
              <a:off x="3932567" y="3200824"/>
              <a:ext cx="3352800" cy="419839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b="1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在后备队列中等待时间</a:t>
              </a:r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3932567" y="3758391"/>
              <a:ext cx="3352800" cy="419839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b="1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就绪队列等待时间</a:t>
              </a:r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3932567" y="4352054"/>
              <a:ext cx="3352800" cy="419839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b="1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CPU</a:t>
              </a:r>
              <a:r>
                <a:rPr kumimoji="1" lang="zh-CN" altLang="en-US" b="1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上执行时间</a:t>
              </a:r>
            </a:p>
          </p:txBody>
        </p:sp>
        <p:sp>
          <p:nvSpPr>
            <p:cNvPr id="22" name="Rectangle 9"/>
            <p:cNvSpPr>
              <a:spLocks noChangeArrowheads="1"/>
            </p:cNvSpPr>
            <p:nvPr/>
          </p:nvSpPr>
          <p:spPr bwMode="auto">
            <a:xfrm>
              <a:off x="3932567" y="4969782"/>
              <a:ext cx="3352800" cy="419839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b="1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阻塞队列中等待时间</a:t>
              </a:r>
            </a:p>
          </p:txBody>
        </p:sp>
        <p:sp>
          <p:nvSpPr>
            <p:cNvPr id="23" name="AutoShape 10"/>
            <p:cNvSpPr>
              <a:spLocks/>
            </p:cNvSpPr>
            <p:nvPr/>
          </p:nvSpPr>
          <p:spPr bwMode="auto">
            <a:xfrm>
              <a:off x="3643815" y="3340772"/>
              <a:ext cx="242385" cy="1880934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3186615" y="3200824"/>
              <a:ext cx="533400" cy="2119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b="1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作业周转时间</a:t>
              </a:r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>
              <a:off x="10730415" y="3410744"/>
              <a:ext cx="533400" cy="2119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b="1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进程周转时间</a:t>
              </a:r>
            </a:p>
          </p:txBody>
        </p:sp>
        <p:sp>
          <p:nvSpPr>
            <p:cNvPr id="28" name="AutoShape 13"/>
            <p:cNvSpPr>
              <a:spLocks/>
            </p:cNvSpPr>
            <p:nvPr/>
          </p:nvSpPr>
          <p:spPr bwMode="auto">
            <a:xfrm>
              <a:off x="7315195" y="3804307"/>
              <a:ext cx="266951" cy="1539411"/>
            </a:xfrm>
            <a:prstGeom prst="rightBrace">
              <a:avLst>
                <a:gd name="adj1" fmla="val 36667"/>
                <a:gd name="adj2" fmla="val 49551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" name="Group 14"/>
            <p:cNvGrpSpPr>
              <a:grpSpLocks/>
            </p:cNvGrpSpPr>
            <p:nvPr/>
          </p:nvGrpSpPr>
          <p:grpSpPr bwMode="auto">
            <a:xfrm>
              <a:off x="3178595" y="4842816"/>
              <a:ext cx="477838" cy="489813"/>
              <a:chOff x="2208" y="960"/>
              <a:chExt cx="301" cy="33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55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b="1">
                    <a:solidFill>
                      <a:schemeClr val="tx1"/>
                    </a:solidFill>
                    <a:latin typeface="华文中宋" pitchFamily="2" charset="-122"/>
                    <a:ea typeface="华文中宋" pitchFamily="2" charset="-122"/>
                  </a:rPr>
                  <a:t>T</a:t>
                </a:r>
              </a:p>
            </p:txBody>
          </p:sp>
          <p:sp>
            <p:nvSpPr>
              <p:cNvPr id="41" name="Rectangle 16"/>
              <p:cNvSpPr>
                <a:spLocks noChangeArrowheads="1"/>
              </p:cNvSpPr>
              <p:nvPr/>
            </p:nvSpPr>
            <p:spPr bwMode="auto">
              <a:xfrm>
                <a:off x="2352" y="1008"/>
                <a:ext cx="15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kumimoji="1" lang="en-US" altLang="zh-CN" b="1" dirty="0" err="1">
                    <a:solidFill>
                      <a:schemeClr val="tx1"/>
                    </a:solidFill>
                    <a:latin typeface="华文中宋" pitchFamily="2" charset="-122"/>
                    <a:ea typeface="华文中宋" pitchFamily="2" charset="-122"/>
                  </a:rPr>
                  <a:t>i</a:t>
                </a:r>
                <a:endParaRPr kumimoji="1" lang="en-US" altLang="zh-CN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endParaRPr>
              </a:p>
            </p:txBody>
          </p:sp>
        </p:grpSp>
        <p:sp>
          <p:nvSpPr>
            <p:cNvPr id="30" name="Rectangle 18"/>
            <p:cNvSpPr>
              <a:spLocks noChangeArrowheads="1"/>
            </p:cNvSpPr>
            <p:nvPr/>
          </p:nvSpPr>
          <p:spPr bwMode="auto">
            <a:xfrm>
              <a:off x="10742447" y="5052738"/>
              <a:ext cx="477838" cy="476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T</a:t>
              </a:r>
              <a:r>
                <a:rPr kumimoji="1" lang="en-US" altLang="zh-CN" sz="2800" b="1" baseline="-2500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i</a:t>
              </a:r>
            </a:p>
          </p:txBody>
        </p:sp>
        <p:sp>
          <p:nvSpPr>
            <p:cNvPr id="32" name="Rectangle 20"/>
            <p:cNvSpPr>
              <a:spLocks noChangeArrowheads="1"/>
            </p:cNvSpPr>
            <p:nvPr/>
          </p:nvSpPr>
          <p:spPr bwMode="auto">
            <a:xfrm>
              <a:off x="7615990" y="4093063"/>
              <a:ext cx="1654594" cy="923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kumimoji="1" lang="zh-CN" altLang="en-US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每个进程在每个状态下</a:t>
              </a:r>
              <a:r>
                <a:rPr kumimoji="1" lang="zh-CN" altLang="en-US" b="1" dirty="0">
                  <a:solidFill>
                    <a:srgbClr val="FF0000"/>
                  </a:solidFill>
                  <a:latin typeface="华文中宋" pitchFamily="2" charset="-122"/>
                  <a:ea typeface="华文中宋" pitchFamily="2" charset="-122"/>
                </a:rPr>
                <a:t>可能经历多次</a:t>
              </a:r>
            </a:p>
          </p:txBody>
        </p:sp>
        <p:sp>
          <p:nvSpPr>
            <p:cNvPr id="38" name="AutoShape 21"/>
            <p:cNvSpPr>
              <a:spLocks noChangeArrowheads="1"/>
            </p:cNvSpPr>
            <p:nvPr/>
          </p:nvSpPr>
          <p:spPr bwMode="auto">
            <a:xfrm>
              <a:off x="9198394" y="4393536"/>
              <a:ext cx="1524000" cy="279893"/>
            </a:xfrm>
            <a:prstGeom prst="notchedRightArrow">
              <a:avLst>
                <a:gd name="adj1" fmla="val 50000"/>
                <a:gd name="adj2" fmla="val 1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Rectangle 22"/>
            <p:cNvSpPr>
              <a:spLocks noChangeArrowheads="1"/>
            </p:cNvSpPr>
            <p:nvPr/>
          </p:nvSpPr>
          <p:spPr bwMode="auto">
            <a:xfrm>
              <a:off x="9488990" y="3783870"/>
              <a:ext cx="838200" cy="14417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全部时间</a:t>
              </a:r>
            </a:p>
            <a:p>
              <a:endParaRPr kumimoji="1"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endParaRPr>
            </a:p>
            <a:p>
              <a:r>
                <a:rPr kumimoji="1" lang="zh-CN" altLang="en-US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之和</a:t>
              </a:r>
            </a:p>
          </p:txBody>
        </p:sp>
      </p:grpSp>
      <p:graphicFrame>
        <p:nvGraphicFramePr>
          <p:cNvPr id="86019" name="Object 3"/>
          <p:cNvGraphicFramePr>
            <a:graphicFrameLocks noChangeAspect="1"/>
          </p:cNvGraphicFramePr>
          <p:nvPr/>
        </p:nvGraphicFramePr>
        <p:xfrm>
          <a:off x="3625531" y="5709236"/>
          <a:ext cx="1863725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12447" imgH="431613" progId="Equation.3">
                  <p:embed/>
                </p:oleObj>
              </mc:Choice>
              <mc:Fallback>
                <p:oleObj name="公式" r:id="rId4" imgW="812447" imgH="43161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531" y="5709236"/>
                        <a:ext cx="1863725" cy="842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094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4341" y="1653421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2391" y="1653421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78290" y="1120021"/>
            <a:ext cx="6377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）批处理系统目标</a:t>
            </a:r>
          </a:p>
        </p:txBody>
      </p: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539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处理机调度算法的目标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54"/>
          <p:cNvSpPr txBox="1">
            <a:spLocks noChangeArrowheads="1"/>
          </p:cNvSpPr>
          <p:nvPr/>
        </p:nvSpPr>
        <p:spPr bwMode="auto">
          <a:xfrm>
            <a:off x="1107897" y="1963661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平均周转时间短</a:t>
            </a:r>
          </a:p>
        </p:txBody>
      </p:sp>
      <p:sp>
        <p:nvSpPr>
          <p:cNvPr id="29" name="文本框 19"/>
          <p:cNvSpPr txBox="1">
            <a:spLocks noChangeArrowheads="1"/>
          </p:cNvSpPr>
          <p:nvPr/>
        </p:nvSpPr>
        <p:spPr bwMode="auto">
          <a:xfrm>
            <a:off x="1126172" y="2331599"/>
            <a:ext cx="1029179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带权周转时间</a:t>
            </a:r>
            <a:r>
              <a:rPr lang="en-US" altLang="zh-CN" sz="2400" b="1" dirty="0"/>
              <a:t>(W)</a:t>
            </a:r>
            <a:r>
              <a:rPr lang="zh-CN" altLang="en-US" sz="2400" b="1" dirty="0"/>
              <a:t>：</a:t>
            </a:r>
            <a:r>
              <a:rPr lang="zh-CN" altLang="en-US" sz="2400" dirty="0"/>
              <a:t>用于反映调度性能的指标，</a:t>
            </a:r>
            <a:r>
              <a:rPr lang="en-US" altLang="zh-CN" sz="2400" dirty="0"/>
              <a:t>                  Ts</a:t>
            </a:r>
            <a:r>
              <a:rPr lang="zh-CN" altLang="en-US" sz="2400" dirty="0"/>
              <a:t>为实际服务时间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平均带权周转时间：</a:t>
            </a:r>
            <a:r>
              <a:rPr lang="zh-CN" altLang="en-US" sz="2400" dirty="0"/>
              <a:t>  </a:t>
            </a:r>
          </a:p>
        </p:txBody>
      </p:sp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7572793" y="2205540"/>
          <a:ext cx="11525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000" imgH="393480" progId="Equation.3">
                  <p:embed/>
                </p:oleObj>
              </mc:Choice>
              <mc:Fallback>
                <p:oleObj name="Equation" r:id="rId4" imgW="495000" imgH="393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793" y="2205540"/>
                        <a:ext cx="1152525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4" name="Object 4"/>
          <p:cNvGraphicFramePr>
            <a:graphicFrameLocks noChangeAspect="1"/>
          </p:cNvGraphicFramePr>
          <p:nvPr/>
        </p:nvGraphicFramePr>
        <p:xfrm>
          <a:off x="1397669" y="3237665"/>
          <a:ext cx="302418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75920" imgH="444307" progId="Equation.3">
                  <p:embed/>
                </p:oleObj>
              </mc:Choice>
              <mc:Fallback>
                <p:oleObj name="公式" r:id="rId6" imgW="875920" imgH="44430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669" y="3237665"/>
                        <a:ext cx="3024188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54"/>
          <p:cNvSpPr txBox="1">
            <a:spLocks noChangeArrowheads="1"/>
          </p:cNvSpPr>
          <p:nvPr/>
        </p:nvSpPr>
        <p:spPr bwMode="auto">
          <a:xfrm>
            <a:off x="1091855" y="4125335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系统吞吐量高</a:t>
            </a:r>
          </a:p>
        </p:txBody>
      </p:sp>
      <p:sp>
        <p:nvSpPr>
          <p:cNvPr id="35" name="文本框 19"/>
          <p:cNvSpPr txBox="1">
            <a:spLocks noChangeArrowheads="1"/>
          </p:cNvSpPr>
          <p:nvPr/>
        </p:nvSpPr>
        <p:spPr bwMode="auto">
          <a:xfrm>
            <a:off x="1110130" y="4565465"/>
            <a:ext cx="1029179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吞吐量：</a:t>
            </a:r>
            <a:r>
              <a:rPr lang="zh-CN" altLang="en-US" sz="2400" dirty="0"/>
              <a:t>单位时间内系统所完成的作业数。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策略：</a:t>
            </a:r>
            <a:r>
              <a:rPr lang="zh-CN" altLang="en-US" sz="2400" dirty="0"/>
              <a:t>选择短服务业运行。</a:t>
            </a:r>
            <a:endParaRPr lang="en-US" altLang="zh-CN" sz="2400" dirty="0"/>
          </a:p>
        </p:txBody>
      </p:sp>
      <p:sp>
        <p:nvSpPr>
          <p:cNvPr id="37" name="文本框 54"/>
          <p:cNvSpPr txBox="1">
            <a:spLocks noChangeArrowheads="1"/>
          </p:cNvSpPr>
          <p:nvPr/>
        </p:nvSpPr>
        <p:spPr bwMode="auto">
          <a:xfrm>
            <a:off x="1075807" y="5420775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处理机利用率高</a:t>
            </a:r>
          </a:p>
        </p:txBody>
      </p:sp>
      <p:sp>
        <p:nvSpPr>
          <p:cNvPr id="42" name="文本框 19"/>
          <p:cNvSpPr txBox="1">
            <a:spLocks noChangeArrowheads="1"/>
          </p:cNvSpPr>
          <p:nvPr/>
        </p:nvSpPr>
        <p:spPr bwMode="auto">
          <a:xfrm>
            <a:off x="1094082" y="5788713"/>
            <a:ext cx="102917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策略：</a:t>
            </a:r>
            <a:r>
              <a:rPr lang="zh-CN" altLang="en-US" sz="2400" dirty="0"/>
              <a:t>选择计算量大的作业运行。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0094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7" grpId="0"/>
      <p:bldP spid="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4341" y="1653421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2391" y="1653421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78290" y="1120021"/>
            <a:ext cx="6377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）分时系统目标</a:t>
            </a:r>
          </a:p>
        </p:txBody>
      </p: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539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处理机调度算法的目标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54"/>
          <p:cNvSpPr txBox="1">
            <a:spLocks noChangeArrowheads="1"/>
          </p:cNvSpPr>
          <p:nvPr/>
        </p:nvSpPr>
        <p:spPr bwMode="auto">
          <a:xfrm>
            <a:off x="1107897" y="1963661"/>
            <a:ext cx="14670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响应时间快</a:t>
            </a:r>
          </a:p>
        </p:txBody>
      </p:sp>
      <p:sp>
        <p:nvSpPr>
          <p:cNvPr id="29" name="文本框 19"/>
          <p:cNvSpPr txBox="1">
            <a:spLocks noChangeArrowheads="1"/>
          </p:cNvSpPr>
          <p:nvPr/>
        </p:nvSpPr>
        <p:spPr bwMode="auto">
          <a:xfrm>
            <a:off x="1126172" y="2331599"/>
            <a:ext cx="1029179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响应时间：</a:t>
            </a:r>
            <a:r>
              <a:rPr lang="zh-CN" altLang="en-US" sz="2400" dirty="0"/>
              <a:t>从用户通过键盘提交一个请求开始，到首次产生响应为止（显示出结果）的一段时间间隔。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包括三部分：</a:t>
            </a:r>
            <a:r>
              <a:rPr lang="zh-CN" altLang="en-US" sz="2400" dirty="0"/>
              <a:t>  </a:t>
            </a:r>
          </a:p>
        </p:txBody>
      </p:sp>
      <p:sp>
        <p:nvSpPr>
          <p:cNvPr id="34" name="文本框 54"/>
          <p:cNvSpPr txBox="1">
            <a:spLocks noChangeArrowheads="1"/>
          </p:cNvSpPr>
          <p:nvPr/>
        </p:nvSpPr>
        <p:spPr bwMode="auto">
          <a:xfrm>
            <a:off x="1091855" y="4654743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均衡性</a:t>
            </a:r>
          </a:p>
        </p:txBody>
      </p:sp>
      <p:sp>
        <p:nvSpPr>
          <p:cNvPr id="35" name="文本框 19"/>
          <p:cNvSpPr txBox="1">
            <a:spLocks noChangeArrowheads="1"/>
          </p:cNvSpPr>
          <p:nvPr/>
        </p:nvSpPr>
        <p:spPr bwMode="auto">
          <a:xfrm>
            <a:off x="1110130" y="5094873"/>
            <a:ext cx="102917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均衡性：</a:t>
            </a:r>
            <a:r>
              <a:rPr lang="zh-CN" altLang="en-US" sz="2400" dirty="0"/>
              <a:t>指系统响应时间的快慢应与用户所请求服务的复杂性相适应。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3415231" y="3178263"/>
            <a:ext cx="5644514" cy="1802814"/>
            <a:chOff x="4413887" y="3082007"/>
            <a:chExt cx="5644514" cy="1802814"/>
          </a:xfrm>
        </p:grpSpPr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4413887" y="3082007"/>
              <a:ext cx="5644514" cy="180281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kumimoji="1" lang="zh-CN" altLang="zh-CN" b="1"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5364374" y="3200824"/>
              <a:ext cx="4477458" cy="369332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kumimoji="1" lang="zh-CN" altLang="en-US" b="1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把请求信息从键盘传送到处理机的时间；</a:t>
              </a:r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auto">
            <a:xfrm>
              <a:off x="5364374" y="3758391"/>
              <a:ext cx="4453393" cy="369332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2"/>
              <a:r>
                <a:rPr kumimoji="1" lang="zh-CN" altLang="en-US" b="1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处理机对请求信息进行处理的时间；</a:t>
              </a:r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>
              <a:off x="5364375" y="4352054"/>
              <a:ext cx="4465425" cy="369332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2"/>
              <a:r>
                <a:rPr kumimoji="1" lang="zh-CN" altLang="en-US" b="1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将响应信息回送到终端显示器的时间。</a:t>
              </a:r>
              <a:endParaRPr kumimoji="1" lang="en-US" altLang="zh-CN" b="1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22" name="AutoShape 10"/>
            <p:cNvSpPr>
              <a:spLocks/>
            </p:cNvSpPr>
            <p:nvPr/>
          </p:nvSpPr>
          <p:spPr bwMode="auto">
            <a:xfrm>
              <a:off x="5113421" y="3340772"/>
              <a:ext cx="204587" cy="1351544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>
              <a:off x="4618423" y="3393336"/>
              <a:ext cx="533400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b="1" dirty="0">
                  <a:latin typeface="华文中宋" pitchFamily="2" charset="-122"/>
                  <a:ea typeface="华文中宋" pitchFamily="2" charset="-122"/>
                </a:rPr>
                <a:t>响应</a:t>
              </a:r>
              <a:r>
                <a:rPr kumimoji="1" lang="zh-CN" altLang="en-US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时间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094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29" grpId="0"/>
      <p:bldP spid="34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4341" y="1653421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2391" y="1653421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78290" y="1120021"/>
            <a:ext cx="6377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）实时系统目标</a:t>
            </a:r>
          </a:p>
        </p:txBody>
      </p: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539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处理机调度算法的目标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54"/>
          <p:cNvSpPr txBox="1">
            <a:spLocks noChangeArrowheads="1"/>
          </p:cNvSpPr>
          <p:nvPr/>
        </p:nvSpPr>
        <p:spPr bwMode="auto">
          <a:xfrm>
            <a:off x="1107897" y="1963661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截止时间的保证</a:t>
            </a:r>
          </a:p>
        </p:txBody>
      </p:sp>
      <p:sp>
        <p:nvSpPr>
          <p:cNvPr id="29" name="文本框 19"/>
          <p:cNvSpPr txBox="1">
            <a:spLocks noChangeArrowheads="1"/>
          </p:cNvSpPr>
          <p:nvPr/>
        </p:nvSpPr>
        <p:spPr bwMode="auto">
          <a:xfrm>
            <a:off x="1126172" y="2331599"/>
            <a:ext cx="1029179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b="1" dirty="0"/>
              <a:t>截止时间：</a:t>
            </a:r>
            <a:r>
              <a:rPr lang="zh-CN" altLang="en-US" sz="2400" dirty="0"/>
              <a:t>某任务必须开始或完成的最迟时间。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这是实时系统调度算法的一个主要目标。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en-US" altLang="zh-CN" sz="2400" dirty="0"/>
              <a:t>HRT</a:t>
            </a:r>
            <a:r>
              <a:rPr lang="zh-CN" altLang="en-US" sz="2400" dirty="0"/>
              <a:t>任务与</a:t>
            </a:r>
            <a:r>
              <a:rPr lang="en-US" altLang="zh-CN" sz="2400" dirty="0"/>
              <a:t>SRT</a:t>
            </a:r>
            <a:r>
              <a:rPr lang="zh-CN" altLang="en-US" sz="2400" dirty="0"/>
              <a:t>任务对截止时间的要求有所差异。</a:t>
            </a:r>
          </a:p>
        </p:txBody>
      </p:sp>
      <p:sp>
        <p:nvSpPr>
          <p:cNvPr id="34" name="文本框 54"/>
          <p:cNvSpPr txBox="1">
            <a:spLocks noChangeArrowheads="1"/>
          </p:cNvSpPr>
          <p:nvPr/>
        </p:nvSpPr>
        <p:spPr bwMode="auto">
          <a:xfrm>
            <a:off x="1091855" y="3595927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可预测性</a:t>
            </a:r>
          </a:p>
        </p:txBody>
      </p:sp>
      <p:sp>
        <p:nvSpPr>
          <p:cNvPr id="35" name="文本框 19"/>
          <p:cNvSpPr txBox="1">
            <a:spLocks noChangeArrowheads="1"/>
          </p:cNvSpPr>
          <p:nvPr/>
        </p:nvSpPr>
        <p:spPr bwMode="auto">
          <a:xfrm>
            <a:off x="1110130" y="4036057"/>
            <a:ext cx="102917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如多媒体系统中的视频播放就提供了请求的可预测性。</a:t>
            </a:r>
          </a:p>
        </p:txBody>
      </p:sp>
    </p:spTree>
    <p:extLst>
      <p:ext uri="{BB962C8B-B14F-4D97-AF65-F5344CB8AC3E}">
        <p14:creationId xmlns:p14="http://schemas.microsoft.com/office/powerpoint/2010/main" val="170094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29" grpId="0"/>
      <p:bldP spid="34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2242517" y="2946258"/>
            <a:ext cx="596900" cy="656791"/>
          </a:xfrm>
          <a:custGeom>
            <a:avLst/>
            <a:gdLst>
              <a:gd name="connsiteX0" fmla="*/ 0 w 561975"/>
              <a:gd name="connsiteY0" fmla="*/ 0 h 547688"/>
              <a:gd name="connsiteX1" fmla="*/ 552450 w 561975"/>
              <a:gd name="connsiteY1" fmla="*/ 547688 h 547688"/>
              <a:gd name="connsiteX2" fmla="*/ 561975 w 561975"/>
              <a:gd name="connsiteY2" fmla="*/ 0 h 547688"/>
              <a:gd name="connsiteX3" fmla="*/ 0 w 561975"/>
              <a:gd name="connsiteY3" fmla="*/ 0 h 547688"/>
              <a:gd name="connsiteX0" fmla="*/ 0 w 576263"/>
              <a:gd name="connsiteY0" fmla="*/ 0 h 547688"/>
              <a:gd name="connsiteX1" fmla="*/ 566738 w 576263"/>
              <a:gd name="connsiteY1" fmla="*/ 547688 h 547688"/>
              <a:gd name="connsiteX2" fmla="*/ 576263 w 576263"/>
              <a:gd name="connsiteY2" fmla="*/ 0 h 547688"/>
              <a:gd name="connsiteX3" fmla="*/ 0 w 576263"/>
              <a:gd name="connsiteY3" fmla="*/ 0 h 547688"/>
              <a:gd name="connsiteX0" fmla="*/ 0 w 576263"/>
              <a:gd name="connsiteY0" fmla="*/ 0 h 571500"/>
              <a:gd name="connsiteX1" fmla="*/ 566738 w 576263"/>
              <a:gd name="connsiteY1" fmla="*/ 571500 h 571500"/>
              <a:gd name="connsiteX2" fmla="*/ 576263 w 576263"/>
              <a:gd name="connsiteY2" fmla="*/ 0 h 571500"/>
              <a:gd name="connsiteX3" fmla="*/ 0 w 576263"/>
              <a:gd name="connsiteY3" fmla="*/ 0 h 571500"/>
              <a:gd name="connsiteX0" fmla="*/ 0 w 576263"/>
              <a:gd name="connsiteY0" fmla="*/ 0 h 576263"/>
              <a:gd name="connsiteX1" fmla="*/ 571335 w 576263"/>
              <a:gd name="connsiteY1" fmla="*/ 576263 h 576263"/>
              <a:gd name="connsiteX2" fmla="*/ 576263 w 576263"/>
              <a:gd name="connsiteY2" fmla="*/ 0 h 576263"/>
              <a:gd name="connsiteX3" fmla="*/ 0 w 576263"/>
              <a:gd name="connsiteY3" fmla="*/ 0 h 576263"/>
              <a:gd name="connsiteX0" fmla="*/ 0 w 576448"/>
              <a:gd name="connsiteY0" fmla="*/ 0 h 576263"/>
              <a:gd name="connsiteX1" fmla="*/ 575933 w 576448"/>
              <a:gd name="connsiteY1" fmla="*/ 576263 h 576263"/>
              <a:gd name="connsiteX2" fmla="*/ 576263 w 576448"/>
              <a:gd name="connsiteY2" fmla="*/ 0 h 576263"/>
              <a:gd name="connsiteX3" fmla="*/ 0 w 576448"/>
              <a:gd name="connsiteY3" fmla="*/ 0 h 57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48" h="576263">
                <a:moveTo>
                  <a:pt x="0" y="0"/>
                </a:moveTo>
                <a:lnTo>
                  <a:pt x="575933" y="576263"/>
                </a:lnTo>
                <a:cubicBezTo>
                  <a:pt x="577576" y="384175"/>
                  <a:pt x="574620" y="192088"/>
                  <a:pt x="57626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19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32100" y="2949865"/>
            <a:ext cx="9359900" cy="657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anchor="ctr"/>
          <a:lstStyle/>
          <a:p>
            <a:pPr algn="ctr">
              <a:defRPr/>
            </a:pPr>
            <a:r>
              <a:rPr lang="zh-CN" altLang="en-US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谢谢收看！</a:t>
            </a:r>
            <a:endParaRPr lang="zh-CN" altLang="en-US" sz="28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2182092"/>
            <a:ext cx="9312276" cy="775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3200" spc="2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本节结束！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9312275" y="2178052"/>
            <a:ext cx="853701" cy="779317"/>
          </a:xfrm>
          <a:prstGeom prst="rtTriangle">
            <a:avLst/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81830" y="3921022"/>
            <a:ext cx="6906409" cy="169277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45137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2493</TotalTime>
  <Words>999</Words>
  <Application>Microsoft Office PowerPoint</Application>
  <PresentationFormat>宽屏</PresentationFormat>
  <Paragraphs>258</Paragraphs>
  <Slides>15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Gill Sans</vt:lpstr>
      <vt:lpstr>等线</vt:lpstr>
      <vt:lpstr>等线 Light</vt:lpstr>
      <vt:lpstr>方正清刻本悦宋简体</vt:lpstr>
      <vt:lpstr>华文中宋</vt:lpstr>
      <vt:lpstr>宋体</vt:lpstr>
      <vt:lpstr>微软雅黑</vt:lpstr>
      <vt:lpstr>微软雅黑 Light</vt:lpstr>
      <vt:lpstr>Arial</vt:lpstr>
      <vt:lpstr>Calibri</vt:lpstr>
      <vt:lpstr>Impact</vt:lpstr>
      <vt:lpstr>Open Sans Light</vt:lpstr>
      <vt:lpstr>Times New Roman</vt:lpstr>
      <vt:lpstr>1_Office 主题​​</vt:lpstr>
      <vt:lpstr>2_Office 主题​​</vt:lpstr>
      <vt:lpstr>3_Office 主题​​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1.处理机调度的层次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子 麦</cp:lastModifiedBy>
  <cp:revision>170</cp:revision>
  <dcterms:created xsi:type="dcterms:W3CDTF">2016-05-18T19:05:46Z</dcterms:created>
  <dcterms:modified xsi:type="dcterms:W3CDTF">2023-10-17T01:23:24Z</dcterms:modified>
</cp:coreProperties>
</file>