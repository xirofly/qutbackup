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425" r:id="rId2"/>
    <p:sldId id="449" r:id="rId3"/>
    <p:sldId id="440" r:id="rId4"/>
    <p:sldId id="450" r:id="rId5"/>
    <p:sldId id="368" r:id="rId6"/>
    <p:sldId id="285" r:id="rId7"/>
    <p:sldId id="367" r:id="rId8"/>
    <p:sldId id="369" r:id="rId9"/>
    <p:sldId id="370" r:id="rId10"/>
    <p:sldId id="287" r:id="rId11"/>
    <p:sldId id="451" r:id="rId12"/>
    <p:sldId id="286" r:id="rId13"/>
    <p:sldId id="288" r:id="rId14"/>
    <p:sldId id="453" r:id="rId15"/>
    <p:sldId id="454" r:id="rId16"/>
    <p:sldId id="455" r:id="rId17"/>
    <p:sldId id="452" r:id="rId18"/>
    <p:sldId id="456" r:id="rId19"/>
    <p:sldId id="457" r:id="rId20"/>
    <p:sldId id="442" r:id="rId21"/>
    <p:sldId id="393" r:id="rId22"/>
    <p:sldId id="459" r:id="rId23"/>
    <p:sldId id="394" r:id="rId24"/>
    <p:sldId id="395" r:id="rId25"/>
    <p:sldId id="315" r:id="rId26"/>
    <p:sldId id="396" r:id="rId27"/>
    <p:sldId id="448" r:id="rId28"/>
    <p:sldId id="316" r:id="rId29"/>
    <p:sldId id="397" r:id="rId30"/>
    <p:sldId id="398" r:id="rId31"/>
    <p:sldId id="474" r:id="rId32"/>
    <p:sldId id="476" r:id="rId33"/>
    <p:sldId id="460" r:id="rId34"/>
    <p:sldId id="477" r:id="rId35"/>
    <p:sldId id="461" r:id="rId36"/>
    <p:sldId id="462" r:id="rId37"/>
    <p:sldId id="475" r:id="rId38"/>
    <p:sldId id="403" r:id="rId39"/>
    <p:sldId id="405" r:id="rId40"/>
    <p:sldId id="406" r:id="rId41"/>
    <p:sldId id="330" r:id="rId42"/>
    <p:sldId id="478" r:id="rId43"/>
    <p:sldId id="480" r:id="rId44"/>
    <p:sldId id="481" r:id="rId45"/>
    <p:sldId id="482" r:id="rId46"/>
    <p:sldId id="479" r:id="rId47"/>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68" autoAdjust="0"/>
    <p:restoredTop sz="90929"/>
  </p:normalViewPr>
  <p:slideViewPr>
    <p:cSldViewPr>
      <p:cViewPr varScale="1">
        <p:scale>
          <a:sx n="86" d="100"/>
          <a:sy n="86" d="100"/>
        </p:scale>
        <p:origin x="1253"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BFDF8BF1-1146-73D4-EF74-3FB74BDFEB3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143363" name="Rectangle 3">
            <a:extLst>
              <a:ext uri="{FF2B5EF4-FFF2-40B4-BE49-F238E27FC236}">
                <a16:creationId xmlns:a16="http://schemas.microsoft.com/office/drawing/2014/main" id="{F45AA69C-79DB-0395-9D96-3CEA7D9CC43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0F1A40B0-4366-4E82-A910-A4FD8FD7D0CC}" type="datetimeFigureOut">
              <a:rPr lang="zh-CN" altLang="en-US"/>
              <a:pPr>
                <a:defRPr/>
              </a:pPr>
              <a:t>2024/1/1</a:t>
            </a:fld>
            <a:endParaRPr lang="en-US" altLang="zh-CN"/>
          </a:p>
        </p:txBody>
      </p:sp>
      <p:sp>
        <p:nvSpPr>
          <p:cNvPr id="2052" name="Rectangle 4">
            <a:extLst>
              <a:ext uri="{FF2B5EF4-FFF2-40B4-BE49-F238E27FC236}">
                <a16:creationId xmlns:a16="http://schemas.microsoft.com/office/drawing/2014/main" id="{D0B435FB-3186-A55B-38EF-D7E5FF0B10F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5" name="Rectangle 5">
            <a:extLst>
              <a:ext uri="{FF2B5EF4-FFF2-40B4-BE49-F238E27FC236}">
                <a16:creationId xmlns:a16="http://schemas.microsoft.com/office/drawing/2014/main" id="{5925F853-F1FA-82B2-6DC2-F5818A2E82F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366" name="Rectangle 6">
            <a:extLst>
              <a:ext uri="{FF2B5EF4-FFF2-40B4-BE49-F238E27FC236}">
                <a16:creationId xmlns:a16="http://schemas.microsoft.com/office/drawing/2014/main" id="{D98E57A7-21CC-DCC3-A3EB-2509D547D29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143367" name="Rectangle 7">
            <a:extLst>
              <a:ext uri="{FF2B5EF4-FFF2-40B4-BE49-F238E27FC236}">
                <a16:creationId xmlns:a16="http://schemas.microsoft.com/office/drawing/2014/main" id="{76AF428C-B6F7-EA65-7AF6-6C80F9DB757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B33E7BA5-67F6-414D-83A3-0B8EC7D047AE}"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647C6016-1DEE-5C3D-6DAB-4BFFBEEC551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8CEA80E0-1EAE-4AFF-A53E-5825EE455770}" type="slidenum">
              <a:rPr lang="en-US" altLang="zh-CN">
                <a:latin typeface="Times New Roman" panose="02020603050405020304" pitchFamily="18" charset="0"/>
              </a:rPr>
              <a:pPr algn="r" eaLnBrk="1" hangingPunct="1">
                <a:spcBef>
                  <a:spcPct val="0"/>
                </a:spcBef>
              </a:pPr>
              <a:t>3</a:t>
            </a:fld>
            <a:endParaRPr lang="en-US" altLang="zh-CN">
              <a:latin typeface="Times New Roman" panose="02020603050405020304" pitchFamily="18" charset="0"/>
            </a:endParaRPr>
          </a:p>
        </p:txBody>
      </p:sp>
      <p:sp>
        <p:nvSpPr>
          <p:cNvPr id="7171" name="Rectangle 2">
            <a:extLst>
              <a:ext uri="{FF2B5EF4-FFF2-40B4-BE49-F238E27FC236}">
                <a16:creationId xmlns:a16="http://schemas.microsoft.com/office/drawing/2014/main" id="{C205F178-6795-E7B3-F82F-5F87D2385D90}"/>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9041AAC8-F62B-0C87-560D-3AC839513A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9007EA00-B3A8-5B54-9CD4-DA526D4276E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2BED8134-2943-4980-A2F5-259FD45232F9}" type="slidenum">
              <a:rPr lang="en-US" altLang="zh-CN">
                <a:latin typeface="Times New Roman" panose="02020603050405020304" pitchFamily="18" charset="0"/>
              </a:rPr>
              <a:pPr algn="r" eaLnBrk="1" hangingPunct="1">
                <a:spcBef>
                  <a:spcPct val="0"/>
                </a:spcBef>
              </a:pPr>
              <a:t>20</a:t>
            </a:fld>
            <a:endParaRPr lang="en-US" altLang="zh-CN">
              <a:latin typeface="Times New Roman" panose="02020603050405020304" pitchFamily="18" charset="0"/>
            </a:endParaRPr>
          </a:p>
        </p:txBody>
      </p:sp>
      <p:sp>
        <p:nvSpPr>
          <p:cNvPr id="25603" name="Rectangle 2">
            <a:extLst>
              <a:ext uri="{FF2B5EF4-FFF2-40B4-BE49-F238E27FC236}">
                <a16:creationId xmlns:a16="http://schemas.microsoft.com/office/drawing/2014/main" id="{26BB2138-7D9C-9620-897D-EFA898D6F18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2B2512F9-A378-30E8-1772-0D65D7A5E4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807EA0D1-7F44-1414-FA29-8CF2D91EA7B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7FDEC0CD-5978-4AC4-8F07-CE7CB0298B43}" type="slidenum">
              <a:rPr lang="en-US" altLang="zh-CN">
                <a:latin typeface="Times New Roman" panose="02020603050405020304" pitchFamily="18" charset="0"/>
              </a:rPr>
              <a:pPr algn="r" eaLnBrk="1" hangingPunct="1">
                <a:spcBef>
                  <a:spcPct val="0"/>
                </a:spcBef>
              </a:pPr>
              <a:t>31</a:t>
            </a:fld>
            <a:endParaRPr lang="en-US" altLang="zh-CN">
              <a:latin typeface="Times New Roman" panose="02020603050405020304" pitchFamily="18" charset="0"/>
            </a:endParaRPr>
          </a:p>
        </p:txBody>
      </p:sp>
      <p:sp>
        <p:nvSpPr>
          <p:cNvPr id="37891" name="Rectangle 2">
            <a:extLst>
              <a:ext uri="{FF2B5EF4-FFF2-40B4-BE49-F238E27FC236}">
                <a16:creationId xmlns:a16="http://schemas.microsoft.com/office/drawing/2014/main" id="{371B8DD9-CB0D-A158-197E-036D5433D03E}"/>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C2061C67-0BE0-D544-05F0-13C5B12D59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1DB0CB3-516E-BC63-E2E0-8590C5362AD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A94C9ACE-92EB-4F4D-A567-41B0E2BA3195}" type="slidenum">
              <a:rPr lang="en-US" altLang="zh-CN">
                <a:latin typeface="Times New Roman" panose="02020603050405020304" pitchFamily="18" charset="0"/>
              </a:rPr>
              <a:pPr algn="r" eaLnBrk="1" hangingPunct="1">
                <a:spcBef>
                  <a:spcPct val="0"/>
                </a:spcBef>
              </a:pPr>
              <a:t>37</a:t>
            </a:fld>
            <a:endParaRPr lang="en-US"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D39F6EAE-9F4A-D0F6-3853-F57A49B07506}"/>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47474A81-BB5F-05B1-C2FB-B8FAE210D9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8E8E3090-0607-F048-D4E9-1ECE0C89186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FBC864-FE1B-682C-17D0-891D36D993F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1043BA6-3EC0-FCC4-D54B-A441A665F217}"/>
              </a:ext>
            </a:extLst>
          </p:cNvPr>
          <p:cNvSpPr>
            <a:spLocks noGrp="1" noChangeArrowheads="1"/>
          </p:cNvSpPr>
          <p:nvPr>
            <p:ph type="sldNum" sz="quarter" idx="12"/>
          </p:nvPr>
        </p:nvSpPr>
        <p:spPr>
          <a:ln/>
        </p:spPr>
        <p:txBody>
          <a:bodyPr/>
          <a:lstStyle>
            <a:lvl1pPr>
              <a:defRPr/>
            </a:lvl1pPr>
          </a:lstStyle>
          <a:p>
            <a:pPr>
              <a:defRPr/>
            </a:pPr>
            <a:fld id="{7A778F9D-723F-4581-AF8E-AAF2A4C91416}" type="slidenum">
              <a:rPr lang="en-US" altLang="zh-CN"/>
              <a:pPr>
                <a:defRPr/>
              </a:pPr>
              <a:t>‹#›</a:t>
            </a:fld>
            <a:endParaRPr lang="en-US" altLang="zh-CN"/>
          </a:p>
        </p:txBody>
      </p:sp>
    </p:spTree>
    <p:extLst>
      <p:ext uri="{BB962C8B-B14F-4D97-AF65-F5344CB8AC3E}">
        <p14:creationId xmlns:p14="http://schemas.microsoft.com/office/powerpoint/2010/main" val="2909914956"/>
      </p:ext>
    </p:extLst>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7087067-C569-7B36-9175-35AFD3B7B93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1D10FCE-7228-1FF2-1A48-0DCEF63E92E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277AE69-C4F1-94AE-57CB-5667E0BF4C5B}"/>
              </a:ext>
            </a:extLst>
          </p:cNvPr>
          <p:cNvSpPr>
            <a:spLocks noGrp="1" noChangeArrowheads="1"/>
          </p:cNvSpPr>
          <p:nvPr>
            <p:ph type="sldNum" sz="quarter" idx="12"/>
          </p:nvPr>
        </p:nvSpPr>
        <p:spPr>
          <a:ln/>
        </p:spPr>
        <p:txBody>
          <a:bodyPr/>
          <a:lstStyle>
            <a:lvl1pPr>
              <a:defRPr/>
            </a:lvl1pPr>
          </a:lstStyle>
          <a:p>
            <a:pPr>
              <a:defRPr/>
            </a:pPr>
            <a:fld id="{A60CC53E-33F4-4824-A119-5BFFC3CD4B83}" type="slidenum">
              <a:rPr lang="en-US" altLang="zh-CN"/>
              <a:pPr>
                <a:defRPr/>
              </a:pPr>
              <a:t>‹#›</a:t>
            </a:fld>
            <a:endParaRPr lang="en-US" altLang="zh-CN"/>
          </a:p>
        </p:txBody>
      </p:sp>
    </p:spTree>
    <p:extLst>
      <p:ext uri="{BB962C8B-B14F-4D97-AF65-F5344CB8AC3E}">
        <p14:creationId xmlns:p14="http://schemas.microsoft.com/office/powerpoint/2010/main" val="1255654642"/>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1B2F17C-6D35-AD8B-9C62-94714E634E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BB6B833-F9F8-8975-ACEF-D5015AC458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E78D9C6-34B7-84FF-E21C-65F3E546B8E4}"/>
              </a:ext>
            </a:extLst>
          </p:cNvPr>
          <p:cNvSpPr>
            <a:spLocks noGrp="1" noChangeArrowheads="1"/>
          </p:cNvSpPr>
          <p:nvPr>
            <p:ph type="sldNum" sz="quarter" idx="12"/>
          </p:nvPr>
        </p:nvSpPr>
        <p:spPr>
          <a:ln/>
        </p:spPr>
        <p:txBody>
          <a:bodyPr/>
          <a:lstStyle>
            <a:lvl1pPr>
              <a:defRPr/>
            </a:lvl1pPr>
          </a:lstStyle>
          <a:p>
            <a:pPr>
              <a:defRPr/>
            </a:pPr>
            <a:fld id="{F411C0A2-4EE2-4921-A8F3-8A91EF3BF5E1}" type="slidenum">
              <a:rPr lang="en-US" altLang="zh-CN"/>
              <a:pPr>
                <a:defRPr/>
              </a:pPr>
              <a:t>‹#›</a:t>
            </a:fld>
            <a:endParaRPr lang="en-US" altLang="zh-CN"/>
          </a:p>
        </p:txBody>
      </p:sp>
    </p:spTree>
    <p:extLst>
      <p:ext uri="{BB962C8B-B14F-4D97-AF65-F5344CB8AC3E}">
        <p14:creationId xmlns:p14="http://schemas.microsoft.com/office/powerpoint/2010/main" val="4271269839"/>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5B1EB10-2D91-9597-2E4D-ABF02CBC1F8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4E7698D-CD52-0173-5242-DD65C3BE2D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F573F23-6ABA-7A29-15E1-ABF8DB7B1301}"/>
              </a:ext>
            </a:extLst>
          </p:cNvPr>
          <p:cNvSpPr>
            <a:spLocks noGrp="1" noChangeArrowheads="1"/>
          </p:cNvSpPr>
          <p:nvPr>
            <p:ph type="sldNum" sz="quarter" idx="12"/>
          </p:nvPr>
        </p:nvSpPr>
        <p:spPr>
          <a:ln/>
        </p:spPr>
        <p:txBody>
          <a:bodyPr/>
          <a:lstStyle>
            <a:lvl1pPr>
              <a:defRPr/>
            </a:lvl1pPr>
          </a:lstStyle>
          <a:p>
            <a:pPr>
              <a:defRPr/>
            </a:pPr>
            <a:fld id="{978C20F5-C18C-42BD-969A-846B47B50DB9}" type="slidenum">
              <a:rPr lang="en-US" altLang="zh-CN"/>
              <a:pPr>
                <a:defRPr/>
              </a:pPr>
              <a:t>‹#›</a:t>
            </a:fld>
            <a:endParaRPr lang="en-US" altLang="zh-CN"/>
          </a:p>
        </p:txBody>
      </p:sp>
    </p:spTree>
    <p:extLst>
      <p:ext uri="{BB962C8B-B14F-4D97-AF65-F5344CB8AC3E}">
        <p14:creationId xmlns:p14="http://schemas.microsoft.com/office/powerpoint/2010/main" val="2087293437"/>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841D253-93DE-F64E-B4D9-E613A8A637E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3794AC21-291C-A1B0-63F6-DEA36CB0DD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F12E4D7-FC5A-CF61-64B4-EF9937B9BA00}"/>
              </a:ext>
            </a:extLst>
          </p:cNvPr>
          <p:cNvSpPr>
            <a:spLocks noGrp="1" noChangeArrowheads="1"/>
          </p:cNvSpPr>
          <p:nvPr>
            <p:ph type="sldNum" sz="quarter" idx="12"/>
          </p:nvPr>
        </p:nvSpPr>
        <p:spPr>
          <a:ln/>
        </p:spPr>
        <p:txBody>
          <a:bodyPr/>
          <a:lstStyle>
            <a:lvl1pPr>
              <a:defRPr/>
            </a:lvl1pPr>
          </a:lstStyle>
          <a:p>
            <a:pPr>
              <a:defRPr/>
            </a:pPr>
            <a:fld id="{F9C03FE7-B636-4202-BF25-4F6EEC88C00C}" type="slidenum">
              <a:rPr lang="en-US" altLang="zh-CN"/>
              <a:pPr>
                <a:defRPr/>
              </a:pPr>
              <a:t>‹#›</a:t>
            </a:fld>
            <a:endParaRPr lang="en-US" altLang="zh-CN"/>
          </a:p>
        </p:txBody>
      </p:sp>
    </p:spTree>
    <p:extLst>
      <p:ext uri="{BB962C8B-B14F-4D97-AF65-F5344CB8AC3E}">
        <p14:creationId xmlns:p14="http://schemas.microsoft.com/office/powerpoint/2010/main" val="2228029475"/>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DFF4557F-33C3-97B4-1E42-E4A048A553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261410D7-60CB-AB29-9014-BC0DE815526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ECDD494-35C4-304C-42F8-DA4A7E64588B}"/>
              </a:ext>
            </a:extLst>
          </p:cNvPr>
          <p:cNvSpPr>
            <a:spLocks noGrp="1" noChangeArrowheads="1"/>
          </p:cNvSpPr>
          <p:nvPr>
            <p:ph type="sldNum" sz="quarter" idx="12"/>
          </p:nvPr>
        </p:nvSpPr>
        <p:spPr>
          <a:ln/>
        </p:spPr>
        <p:txBody>
          <a:bodyPr/>
          <a:lstStyle>
            <a:lvl1pPr>
              <a:defRPr/>
            </a:lvl1pPr>
          </a:lstStyle>
          <a:p>
            <a:pPr>
              <a:defRPr/>
            </a:pPr>
            <a:fld id="{7E4F41B8-A037-4D4D-8A3F-F6184409029F}" type="slidenum">
              <a:rPr lang="en-US" altLang="zh-CN"/>
              <a:pPr>
                <a:defRPr/>
              </a:pPr>
              <a:t>‹#›</a:t>
            </a:fld>
            <a:endParaRPr lang="en-US" altLang="zh-CN"/>
          </a:p>
        </p:txBody>
      </p:sp>
    </p:spTree>
    <p:extLst>
      <p:ext uri="{BB962C8B-B14F-4D97-AF65-F5344CB8AC3E}">
        <p14:creationId xmlns:p14="http://schemas.microsoft.com/office/powerpoint/2010/main" val="2736404693"/>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587820F-DE2F-FE08-630F-DCC701D762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60F27545-BA89-5C82-C00D-8078AB1DC3B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8820D6C-F065-5833-527B-BEBFE4D4F201}"/>
              </a:ext>
            </a:extLst>
          </p:cNvPr>
          <p:cNvSpPr>
            <a:spLocks noGrp="1" noChangeArrowheads="1"/>
          </p:cNvSpPr>
          <p:nvPr>
            <p:ph type="sldNum" sz="quarter" idx="12"/>
          </p:nvPr>
        </p:nvSpPr>
        <p:spPr>
          <a:ln/>
        </p:spPr>
        <p:txBody>
          <a:bodyPr/>
          <a:lstStyle>
            <a:lvl1pPr>
              <a:defRPr/>
            </a:lvl1pPr>
          </a:lstStyle>
          <a:p>
            <a:pPr>
              <a:defRPr/>
            </a:pPr>
            <a:fld id="{3B590EEE-9AFD-478A-804A-6965C8B62706}" type="slidenum">
              <a:rPr lang="en-US" altLang="zh-CN"/>
              <a:pPr>
                <a:defRPr/>
              </a:pPr>
              <a:t>‹#›</a:t>
            </a:fld>
            <a:endParaRPr lang="en-US" altLang="zh-CN"/>
          </a:p>
        </p:txBody>
      </p:sp>
    </p:spTree>
    <p:extLst>
      <p:ext uri="{BB962C8B-B14F-4D97-AF65-F5344CB8AC3E}">
        <p14:creationId xmlns:p14="http://schemas.microsoft.com/office/powerpoint/2010/main" val="85983187"/>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5505E10-5826-FA34-3D92-9D1DAD7818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FE3EF43-6630-7D3B-E60A-762A143CD07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328AAD1-7457-9354-C75D-4291DE2912D6}"/>
              </a:ext>
            </a:extLst>
          </p:cNvPr>
          <p:cNvSpPr>
            <a:spLocks noGrp="1" noChangeArrowheads="1"/>
          </p:cNvSpPr>
          <p:nvPr>
            <p:ph type="sldNum" sz="quarter" idx="12"/>
          </p:nvPr>
        </p:nvSpPr>
        <p:spPr>
          <a:ln/>
        </p:spPr>
        <p:txBody>
          <a:bodyPr/>
          <a:lstStyle>
            <a:lvl1pPr>
              <a:defRPr/>
            </a:lvl1pPr>
          </a:lstStyle>
          <a:p>
            <a:pPr>
              <a:defRPr/>
            </a:pPr>
            <a:fld id="{34096E1D-770A-4F1D-BDC6-6997A0CD842F}" type="slidenum">
              <a:rPr lang="en-US" altLang="zh-CN"/>
              <a:pPr>
                <a:defRPr/>
              </a:pPr>
              <a:t>‹#›</a:t>
            </a:fld>
            <a:endParaRPr lang="en-US" altLang="zh-CN"/>
          </a:p>
        </p:txBody>
      </p:sp>
    </p:spTree>
    <p:extLst>
      <p:ext uri="{BB962C8B-B14F-4D97-AF65-F5344CB8AC3E}">
        <p14:creationId xmlns:p14="http://schemas.microsoft.com/office/powerpoint/2010/main" val="563989949"/>
      </p:ext>
    </p:extLst>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2F826534-FAED-A7B2-8FD3-9D57F432B0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CF488BD-89F0-E7F0-4C7D-FF5B57AC3DA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6B72EF8-08EC-E737-158F-A181D5F995B8}"/>
              </a:ext>
            </a:extLst>
          </p:cNvPr>
          <p:cNvSpPr>
            <a:spLocks noGrp="1" noChangeArrowheads="1"/>
          </p:cNvSpPr>
          <p:nvPr>
            <p:ph type="sldNum" sz="quarter" idx="12"/>
          </p:nvPr>
        </p:nvSpPr>
        <p:spPr>
          <a:ln/>
        </p:spPr>
        <p:txBody>
          <a:bodyPr/>
          <a:lstStyle>
            <a:lvl1pPr>
              <a:defRPr/>
            </a:lvl1pPr>
          </a:lstStyle>
          <a:p>
            <a:pPr>
              <a:defRPr/>
            </a:pPr>
            <a:fld id="{6BE0CE98-1707-4B5C-B310-A0C4C240EE12}" type="slidenum">
              <a:rPr lang="en-US" altLang="zh-CN"/>
              <a:pPr>
                <a:defRPr/>
              </a:pPr>
              <a:t>‹#›</a:t>
            </a:fld>
            <a:endParaRPr lang="en-US" altLang="zh-CN"/>
          </a:p>
        </p:txBody>
      </p:sp>
    </p:spTree>
    <p:extLst>
      <p:ext uri="{BB962C8B-B14F-4D97-AF65-F5344CB8AC3E}">
        <p14:creationId xmlns:p14="http://schemas.microsoft.com/office/powerpoint/2010/main" val="1598425227"/>
      </p:ext>
    </p:extLst>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6EAADEF-89DE-9CBF-2A81-175BDE67E43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50727D8-5A51-9288-E781-4CA248FAEE1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786EBAD-BA32-24DA-028D-AAE4E2BC6E1C}"/>
              </a:ext>
            </a:extLst>
          </p:cNvPr>
          <p:cNvSpPr>
            <a:spLocks noGrp="1" noChangeArrowheads="1"/>
          </p:cNvSpPr>
          <p:nvPr>
            <p:ph type="sldNum" sz="quarter" idx="12"/>
          </p:nvPr>
        </p:nvSpPr>
        <p:spPr>
          <a:ln/>
        </p:spPr>
        <p:txBody>
          <a:bodyPr/>
          <a:lstStyle>
            <a:lvl1pPr>
              <a:defRPr/>
            </a:lvl1pPr>
          </a:lstStyle>
          <a:p>
            <a:pPr>
              <a:defRPr/>
            </a:pPr>
            <a:fld id="{9ED8914F-7EB9-4763-9F1A-DCF400F1A102}" type="slidenum">
              <a:rPr lang="en-US" altLang="zh-CN"/>
              <a:pPr>
                <a:defRPr/>
              </a:pPr>
              <a:t>‹#›</a:t>
            </a:fld>
            <a:endParaRPr lang="en-US" altLang="zh-CN"/>
          </a:p>
        </p:txBody>
      </p:sp>
    </p:spTree>
    <p:extLst>
      <p:ext uri="{BB962C8B-B14F-4D97-AF65-F5344CB8AC3E}">
        <p14:creationId xmlns:p14="http://schemas.microsoft.com/office/powerpoint/2010/main" val="2218512062"/>
      </p:ext>
    </p:extLst>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526AB1E-A725-2F21-D627-0F7D6144DA3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452B746-8507-C265-4328-C49A80D6D3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FA9E3DD-D848-E5EE-ED7F-5C73BB124A1A}"/>
              </a:ext>
            </a:extLst>
          </p:cNvPr>
          <p:cNvSpPr>
            <a:spLocks noGrp="1" noChangeArrowheads="1"/>
          </p:cNvSpPr>
          <p:nvPr>
            <p:ph type="sldNum" sz="quarter" idx="12"/>
          </p:nvPr>
        </p:nvSpPr>
        <p:spPr>
          <a:ln/>
        </p:spPr>
        <p:txBody>
          <a:bodyPr/>
          <a:lstStyle>
            <a:lvl1pPr>
              <a:defRPr/>
            </a:lvl1pPr>
          </a:lstStyle>
          <a:p>
            <a:pPr>
              <a:defRPr/>
            </a:pPr>
            <a:fld id="{B5F7C5B1-96AE-482C-A1AB-98FF95A14F87}" type="slidenum">
              <a:rPr lang="en-US" altLang="zh-CN"/>
              <a:pPr>
                <a:defRPr/>
              </a:pPr>
              <a:t>‹#›</a:t>
            </a:fld>
            <a:endParaRPr lang="en-US" altLang="zh-CN"/>
          </a:p>
        </p:txBody>
      </p:sp>
    </p:spTree>
    <p:extLst>
      <p:ext uri="{BB962C8B-B14F-4D97-AF65-F5344CB8AC3E}">
        <p14:creationId xmlns:p14="http://schemas.microsoft.com/office/powerpoint/2010/main" val="4176041891"/>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E4AEC58-093F-0839-FEAE-40A74D94796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FDE7BEC-62A8-815B-4029-0E1F46ED8F0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E63D9F23-C8C3-6264-72F4-7397DF5670F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pPr>
              <a:defRPr/>
            </a:pPr>
            <a:endParaRPr lang="en-US" altLang="zh-CN"/>
          </a:p>
        </p:txBody>
      </p:sp>
      <p:sp>
        <p:nvSpPr>
          <p:cNvPr id="1029" name="Rectangle 5">
            <a:extLst>
              <a:ext uri="{FF2B5EF4-FFF2-40B4-BE49-F238E27FC236}">
                <a16:creationId xmlns:a16="http://schemas.microsoft.com/office/drawing/2014/main" id="{67D1B7D0-3E3B-A0FE-4200-C74AE0FCA69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D73E5AE2-5681-DE3B-919A-1A49C4AB044B}"/>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A3DD9BFF-6910-40E0-90CC-918AD60B6470}" type="slidenum">
              <a:rPr lang="en-US" altLang="zh-CN"/>
              <a:pPr>
                <a:defRPr/>
              </a:pPr>
              <a:t>‹#›</a:t>
            </a:fld>
            <a:endParaRPr lang="en-US" altLang="zh-CN"/>
          </a:p>
        </p:txBody>
      </p:sp>
      <p:pic>
        <p:nvPicPr>
          <p:cNvPr id="1031" name="Picture 7" descr="E:\课件素材\背景图片1\BJ1246.jpg">
            <a:extLst>
              <a:ext uri="{FF2B5EF4-FFF2-40B4-BE49-F238E27FC236}">
                <a16:creationId xmlns:a16="http://schemas.microsoft.com/office/drawing/2014/main" id="{52B1ACB7-87F6-120E-9DCC-B8E634EFE63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8" descr="E:\课件素材\背景图片1\BJ1357.JPG">
            <a:extLst>
              <a:ext uri="{FF2B5EF4-FFF2-40B4-BE49-F238E27FC236}">
                <a16:creationId xmlns:a16="http://schemas.microsoft.com/office/drawing/2014/main" id="{85D68918-CAB0-4666-598F-D3C5B91BDF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629400"/>
            <a:ext cx="914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9">
            <a:extLst>
              <a:ext uri="{FF2B5EF4-FFF2-40B4-BE49-F238E27FC236}">
                <a16:creationId xmlns:a16="http://schemas.microsoft.com/office/drawing/2014/main" id="{8BCB5B25-6CD5-915E-BE51-8B46BED860FD}"/>
              </a:ext>
            </a:extLst>
          </p:cNvPr>
          <p:cNvSpPr txBox="1">
            <a:spLocks noChangeArrowheads="1"/>
          </p:cNvSpPr>
          <p:nvPr/>
        </p:nvSpPr>
        <p:spPr bwMode="auto">
          <a:xfrm>
            <a:off x="720725" y="34925"/>
            <a:ext cx="3130550" cy="400050"/>
          </a:xfrm>
          <a:prstGeom prst="rect">
            <a:avLst/>
          </a:prstGeom>
          <a:noFill/>
          <a:ln>
            <a:noFill/>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2000">
                <a:latin typeface="华文行楷" pitchFamily="2" charset="-122"/>
                <a:ea typeface="华文行楷" pitchFamily="2" charset="-122"/>
              </a:rPr>
              <a:t>第八章 磁盘存储器的管理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a:extLst>
              <a:ext uri="{FF2B5EF4-FFF2-40B4-BE49-F238E27FC236}">
                <a16:creationId xmlns:a16="http://schemas.microsoft.com/office/drawing/2014/main" id="{9F92BAFB-FB45-C867-675B-0E60B2898398}"/>
              </a:ext>
            </a:extLst>
          </p:cNvPr>
          <p:cNvSpPr>
            <a:spLocks noGrp="1" noChangeArrowheads="1"/>
          </p:cNvSpPr>
          <p:nvPr>
            <p:ph type="ctrTitle" idx="4294967295"/>
          </p:nvPr>
        </p:nvSpPr>
        <p:spPr>
          <a:xfrm>
            <a:off x="685800" y="2130425"/>
            <a:ext cx="7772400" cy="1470025"/>
          </a:xfrm>
        </p:spPr>
        <p:txBody>
          <a:bodyPr/>
          <a:lstStyle/>
          <a:p>
            <a:pPr eaLnBrk="1" hangingPunct="1"/>
            <a:r>
              <a:rPr kumimoji="0" lang="zh-CN" altLang="en-US" sz="4800" b="1">
                <a:solidFill>
                  <a:srgbClr val="660066"/>
                </a:solidFill>
                <a:latin typeface="楷体_GB2312" pitchFamily="1" charset="-122"/>
                <a:ea typeface="楷体_GB2312" pitchFamily="1" charset="-122"/>
              </a:rPr>
              <a:t>第八章  磁盘存储器的管理</a:t>
            </a: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a:extLst>
              <a:ext uri="{FF2B5EF4-FFF2-40B4-BE49-F238E27FC236}">
                <a16:creationId xmlns:a16="http://schemas.microsoft.com/office/drawing/2014/main" id="{29F1D65B-55B8-011D-2115-635EED7A1F01}"/>
              </a:ext>
            </a:extLst>
          </p:cNvPr>
          <p:cNvSpPr>
            <a:spLocks noGrp="1" noChangeArrowheads="1"/>
          </p:cNvSpPr>
          <p:nvPr>
            <p:ph idx="1"/>
          </p:nvPr>
        </p:nvSpPr>
        <p:spPr>
          <a:xfrm>
            <a:off x="357188" y="1412875"/>
            <a:ext cx="8429625" cy="4873625"/>
          </a:xfrm>
        </p:spPr>
        <p:txBody>
          <a:bodyPr/>
          <a:lstStyle/>
          <a:p>
            <a:pPr marL="457200" indent="-457200">
              <a:spcBef>
                <a:spcPts val="1200"/>
              </a:spcBef>
            </a:pPr>
            <a:r>
              <a:rPr lang="zh-CN" altLang="en-US" sz="2800" b="1">
                <a:solidFill>
                  <a:schemeClr val="accent2"/>
                </a:solidFill>
              </a:rPr>
              <a:t>对磁盘存储器管理的主要任务和要求是：</a:t>
            </a:r>
            <a:r>
              <a:rPr lang="zh-CN" altLang="en-US" sz="2800"/>
              <a:t></a:t>
            </a:r>
          </a:p>
          <a:p>
            <a:pPr lvl="1">
              <a:spcBef>
                <a:spcPts val="1200"/>
              </a:spcBef>
            </a:pPr>
            <a:r>
              <a:rPr lang="zh-CN" altLang="en-US"/>
              <a:t>有效地利用存储空间；</a:t>
            </a:r>
            <a:endParaRPr lang="en-US" altLang="zh-CN"/>
          </a:p>
          <a:p>
            <a:pPr lvl="2">
              <a:spcBef>
                <a:spcPts val="1200"/>
              </a:spcBef>
            </a:pPr>
            <a:r>
              <a:rPr lang="zh-CN" altLang="en-US"/>
              <a:t>采用合理的文件分配方式</a:t>
            </a:r>
          </a:p>
          <a:p>
            <a:pPr lvl="1">
              <a:spcBef>
                <a:spcPts val="1200"/>
              </a:spcBef>
            </a:pPr>
            <a:r>
              <a:rPr lang="zh-CN" altLang="en-US"/>
              <a:t>提高磁盘的</a:t>
            </a:r>
            <a:r>
              <a:rPr lang="en-US" altLang="zh-CN"/>
              <a:t>I/O</a:t>
            </a:r>
            <a:r>
              <a:rPr lang="zh-CN" altLang="en-US"/>
              <a:t>速度；</a:t>
            </a:r>
            <a:endParaRPr lang="en-US" altLang="zh-CN"/>
          </a:p>
          <a:p>
            <a:pPr lvl="2">
              <a:spcBef>
                <a:spcPts val="1200"/>
              </a:spcBef>
            </a:pPr>
            <a:r>
              <a:rPr lang="zh-CN" altLang="en-US"/>
              <a:t>采用磁盘调整缓存等</a:t>
            </a:r>
            <a:endParaRPr lang="en-US" altLang="zh-CN"/>
          </a:p>
          <a:p>
            <a:pPr lvl="1">
              <a:spcBef>
                <a:spcPts val="1200"/>
              </a:spcBef>
            </a:pPr>
            <a:r>
              <a:rPr lang="zh-CN" altLang="en-US"/>
              <a:t>提高磁盘系统的可靠性。</a:t>
            </a:r>
            <a:endParaRPr lang="en-US" altLang="zh-CN"/>
          </a:p>
          <a:p>
            <a:pPr lvl="2">
              <a:spcBef>
                <a:spcPts val="1200"/>
              </a:spcBef>
            </a:pPr>
            <a:r>
              <a:rPr lang="zh-CN" altLang="en-US"/>
              <a:t>冗余措施</a:t>
            </a:r>
            <a:endParaRPr lang="en-US" altLang="zh-CN"/>
          </a:p>
          <a:p>
            <a:pPr lvl="2">
              <a:spcBef>
                <a:spcPts val="1200"/>
              </a:spcBef>
            </a:pPr>
            <a:r>
              <a:rPr lang="zh-CN" altLang="en-US"/>
              <a:t>后备系统</a:t>
            </a:r>
            <a:endParaRPr lang="en-US" altLang="zh-CN"/>
          </a:p>
        </p:txBody>
      </p:sp>
      <p:sp>
        <p:nvSpPr>
          <p:cNvPr id="5123" name="标题 1">
            <a:extLst>
              <a:ext uri="{FF2B5EF4-FFF2-40B4-BE49-F238E27FC236}">
                <a16:creationId xmlns:a16="http://schemas.microsoft.com/office/drawing/2014/main" id="{7399FC1A-6A21-646F-1076-24B881D6FC39}"/>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8  </a:t>
            </a:r>
            <a:r>
              <a:rPr lang="zh-CN" altLang="en-US" b="1">
                <a:solidFill>
                  <a:srgbClr val="660066"/>
                </a:solidFill>
                <a:ea typeface="楷体_GB2312" pitchFamily="1" charset="-122"/>
              </a:rPr>
              <a:t>磁盘存储器的管理</a:t>
            </a:r>
            <a:endParaRPr lang="zh-CN" altLang="en-US"/>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EA748D5-6044-F086-1BE4-6DCB5C27A86A}"/>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8.1 </a:t>
            </a:r>
            <a:r>
              <a:rPr lang="zh-CN" altLang="en-US" b="1">
                <a:solidFill>
                  <a:srgbClr val="660066"/>
                </a:solidFill>
                <a:latin typeface="楷体_GB2312" pitchFamily="1" charset="-122"/>
                <a:ea typeface="楷体_GB2312" pitchFamily="1" charset="-122"/>
              </a:rPr>
              <a:t>外存的组织方式</a:t>
            </a:r>
          </a:p>
        </p:txBody>
      </p:sp>
    </p:spTree>
  </p:cSld>
  <p:clrMapOvr>
    <a:masterClrMapping/>
  </p:clrMapOvr>
  <p:transition advClick="0">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0899328F-3AD6-C381-53FA-8E16326F1A87}"/>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8.1  </a:t>
            </a:r>
            <a:r>
              <a:rPr lang="zh-CN" altLang="en-US" b="1">
                <a:solidFill>
                  <a:srgbClr val="660066"/>
                </a:solidFill>
                <a:ea typeface="楷体_GB2312" pitchFamily="1" charset="-122"/>
              </a:rPr>
              <a:t>外存的组织方式</a:t>
            </a:r>
            <a:r>
              <a:rPr lang="zh-CN" altLang="en-US" b="1"/>
              <a:t> </a:t>
            </a:r>
            <a:endParaRPr lang="zh-CN" altLang="en-US"/>
          </a:p>
        </p:txBody>
      </p:sp>
      <p:sp>
        <p:nvSpPr>
          <p:cNvPr id="8195" name="内容占位符 2">
            <a:extLst>
              <a:ext uri="{FF2B5EF4-FFF2-40B4-BE49-F238E27FC236}">
                <a16:creationId xmlns:a16="http://schemas.microsoft.com/office/drawing/2014/main" id="{EAEF0449-7574-D53B-5F3A-BFB16B72866E}"/>
              </a:ext>
            </a:extLst>
          </p:cNvPr>
          <p:cNvSpPr>
            <a:spLocks noGrp="1" noChangeArrowheads="1"/>
          </p:cNvSpPr>
          <p:nvPr>
            <p:ph idx="1"/>
          </p:nvPr>
        </p:nvSpPr>
        <p:spPr>
          <a:xfrm>
            <a:off x="357188" y="1981200"/>
            <a:ext cx="8358187" cy="4114800"/>
          </a:xfrm>
        </p:spPr>
        <p:txBody>
          <a:bodyPr/>
          <a:lstStyle/>
          <a:p>
            <a:pPr>
              <a:lnSpc>
                <a:spcPct val="110000"/>
              </a:lnSpc>
            </a:pPr>
            <a:r>
              <a:rPr lang="zh-CN" altLang="en-US" sz="2800" b="1">
                <a:solidFill>
                  <a:schemeClr val="accent2"/>
                </a:solidFill>
                <a:latin typeface="宋体" panose="02010600030101010101" pitchFamily="2" charset="-122"/>
              </a:rPr>
              <a:t>连续组织方式</a:t>
            </a:r>
            <a:endParaRPr lang="en-US" altLang="zh-CN" sz="2800" b="1">
              <a:solidFill>
                <a:schemeClr val="accent2"/>
              </a:solidFill>
              <a:latin typeface="宋体" panose="02010600030101010101" pitchFamily="2" charset="-122"/>
            </a:endParaRPr>
          </a:p>
          <a:p>
            <a:pPr lvl="1">
              <a:lnSpc>
                <a:spcPct val="110000"/>
              </a:lnSpc>
            </a:pPr>
            <a:r>
              <a:rPr lang="zh-CN" altLang="en-US" sz="2400">
                <a:latin typeface="宋体" panose="02010600030101010101" pitchFamily="2" charset="-122"/>
              </a:rPr>
              <a:t>需要连续的磁盘空间</a:t>
            </a:r>
            <a:endParaRPr lang="en-US" altLang="zh-CN" sz="2400">
              <a:latin typeface="宋体" panose="02010600030101010101" pitchFamily="2" charset="-122"/>
            </a:endParaRPr>
          </a:p>
          <a:p>
            <a:pPr lvl="1">
              <a:lnSpc>
                <a:spcPct val="110000"/>
              </a:lnSpc>
            </a:pPr>
            <a:r>
              <a:rPr lang="zh-CN" altLang="en-US" sz="2400">
                <a:latin typeface="宋体" panose="02010600030101010101" pitchFamily="2" charset="-122"/>
              </a:rPr>
              <a:t>文件物理结构是</a:t>
            </a:r>
            <a:r>
              <a:rPr lang="zh-CN" altLang="en-US" sz="2400" b="1">
                <a:latin typeface="宋体" panose="02010600030101010101" pitchFamily="2" charset="-122"/>
              </a:rPr>
              <a:t>顺序式</a:t>
            </a:r>
            <a:r>
              <a:rPr lang="zh-CN" altLang="en-US" sz="2400">
                <a:latin typeface="宋体" panose="02010600030101010101" pitchFamily="2" charset="-122"/>
              </a:rPr>
              <a:t>的文件结构</a:t>
            </a:r>
            <a:endParaRPr lang="en-US" altLang="zh-CN" sz="2400">
              <a:latin typeface="宋体" panose="02010600030101010101" pitchFamily="2" charset="-122"/>
            </a:endParaRPr>
          </a:p>
          <a:p>
            <a:pPr>
              <a:lnSpc>
                <a:spcPct val="110000"/>
              </a:lnSpc>
            </a:pPr>
            <a:r>
              <a:rPr lang="zh-CN" altLang="en-US" sz="2800" b="1">
                <a:solidFill>
                  <a:schemeClr val="accent2"/>
                </a:solidFill>
                <a:latin typeface="宋体" panose="02010600030101010101" pitchFamily="2" charset="-122"/>
              </a:rPr>
              <a:t>链接组织方式</a:t>
            </a:r>
            <a:endParaRPr lang="en-US" altLang="zh-CN" sz="2800" b="1">
              <a:solidFill>
                <a:schemeClr val="accent2"/>
              </a:solidFill>
              <a:latin typeface="宋体" panose="02010600030101010101" pitchFamily="2" charset="-122"/>
            </a:endParaRPr>
          </a:p>
          <a:p>
            <a:pPr lvl="1">
              <a:lnSpc>
                <a:spcPct val="110000"/>
              </a:lnSpc>
            </a:pPr>
            <a:r>
              <a:rPr lang="zh-CN" altLang="en-US" sz="2400">
                <a:latin typeface="宋体" panose="02010600030101010101" pitchFamily="2" charset="-122"/>
              </a:rPr>
              <a:t>可以为文件分配不连续的磁盘空间，用链接指针链接</a:t>
            </a:r>
            <a:endParaRPr lang="en-US" altLang="zh-CN" sz="2400">
              <a:latin typeface="宋体" panose="02010600030101010101" pitchFamily="2" charset="-122"/>
            </a:endParaRPr>
          </a:p>
          <a:p>
            <a:pPr lvl="1">
              <a:lnSpc>
                <a:spcPct val="110000"/>
              </a:lnSpc>
            </a:pPr>
            <a:r>
              <a:rPr lang="zh-CN" altLang="en-US" sz="2400">
                <a:latin typeface="宋体" panose="02010600030101010101" pitchFamily="2" charset="-122"/>
              </a:rPr>
              <a:t>文件物理结构是</a:t>
            </a:r>
            <a:r>
              <a:rPr lang="zh-CN" altLang="en-US" sz="2400" b="1">
                <a:latin typeface="宋体" panose="02010600030101010101" pitchFamily="2" charset="-122"/>
              </a:rPr>
              <a:t>链接式</a:t>
            </a:r>
            <a:r>
              <a:rPr lang="zh-CN" altLang="en-US" sz="2400">
                <a:latin typeface="宋体" panose="02010600030101010101" pitchFamily="2" charset="-122"/>
              </a:rPr>
              <a:t>文件结构</a:t>
            </a:r>
            <a:endParaRPr lang="en-US" altLang="zh-CN" sz="2400">
              <a:latin typeface="宋体" panose="02010600030101010101" pitchFamily="2" charset="-122"/>
            </a:endParaRPr>
          </a:p>
          <a:p>
            <a:pPr>
              <a:lnSpc>
                <a:spcPct val="110000"/>
              </a:lnSpc>
            </a:pPr>
            <a:r>
              <a:rPr lang="zh-CN" altLang="en-US" sz="2800" b="1">
                <a:solidFill>
                  <a:schemeClr val="accent2"/>
                </a:solidFill>
                <a:latin typeface="宋体" panose="02010600030101010101" pitchFamily="2" charset="-122"/>
              </a:rPr>
              <a:t>索引组织方式</a:t>
            </a:r>
            <a:endParaRPr lang="en-US" altLang="zh-CN" sz="2800" b="1">
              <a:solidFill>
                <a:schemeClr val="accent2"/>
              </a:solidFill>
              <a:latin typeface="宋体" panose="02010600030101010101" pitchFamily="2" charset="-122"/>
            </a:endParaRPr>
          </a:p>
          <a:p>
            <a:pPr lvl="1">
              <a:lnSpc>
                <a:spcPct val="110000"/>
              </a:lnSpc>
            </a:pPr>
            <a:r>
              <a:rPr lang="zh-CN" altLang="en-US" sz="2400">
                <a:latin typeface="宋体" panose="02010600030101010101" pitchFamily="2" charset="-122"/>
              </a:rPr>
              <a:t>可以为文件分配不连续的磁盘空间，采用索引组织方式</a:t>
            </a:r>
            <a:endParaRPr lang="en-US" altLang="zh-CN" sz="2400">
              <a:latin typeface="宋体" panose="02010600030101010101" pitchFamily="2" charset="-122"/>
            </a:endParaRPr>
          </a:p>
          <a:p>
            <a:pPr lvl="1">
              <a:lnSpc>
                <a:spcPct val="110000"/>
              </a:lnSpc>
            </a:pPr>
            <a:r>
              <a:rPr lang="zh-CN" altLang="en-US" sz="2400">
                <a:latin typeface="宋体" panose="02010600030101010101" pitchFamily="2" charset="-122"/>
              </a:rPr>
              <a:t>文件物理结构是</a:t>
            </a:r>
            <a:r>
              <a:rPr lang="zh-CN" altLang="en-US" sz="2400" b="1">
                <a:latin typeface="宋体" panose="02010600030101010101" pitchFamily="2" charset="-122"/>
              </a:rPr>
              <a:t>索引式</a:t>
            </a:r>
            <a:r>
              <a:rPr lang="zh-CN" altLang="en-US" sz="2400">
                <a:latin typeface="宋体" panose="02010600030101010101" pitchFamily="2" charset="-122"/>
              </a:rPr>
              <a:t>文件结构</a:t>
            </a:r>
            <a:endParaRPr lang="zh-CN" altLang="en-US" b="1">
              <a:solidFill>
                <a:schemeClr val="accent2"/>
              </a:solidFill>
              <a:latin typeface="宋体" panose="02010600030101010101" pitchFamily="2" charset="-122"/>
            </a:endParaRPr>
          </a:p>
        </p:txBody>
      </p:sp>
      <p:sp>
        <p:nvSpPr>
          <p:cNvPr id="8196" name="Text Box 5">
            <a:extLst>
              <a:ext uri="{FF2B5EF4-FFF2-40B4-BE49-F238E27FC236}">
                <a16:creationId xmlns:a16="http://schemas.microsoft.com/office/drawing/2014/main" id="{DDDB9272-93D5-C4D7-3345-EFC2976D4D3C}"/>
              </a:ext>
            </a:extLst>
          </p:cNvPr>
          <p:cNvSpPr txBox="1">
            <a:spLocks noChangeArrowheads="1"/>
          </p:cNvSpPr>
          <p:nvPr/>
        </p:nvSpPr>
        <p:spPr bwMode="auto">
          <a:xfrm>
            <a:off x="357188" y="1333500"/>
            <a:ext cx="4791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b="1">
                <a:solidFill>
                  <a:srgbClr val="C00000"/>
                </a:solidFill>
                <a:latin typeface="Arial" panose="020B0604020202020204" pitchFamily="34" charset="0"/>
              </a:rPr>
              <a:t>常用的外存组织方式有：</a:t>
            </a: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3FB60D4F-4079-99F5-278A-13CA9BEC9787}"/>
              </a:ext>
            </a:extLst>
          </p:cNvPr>
          <p:cNvSpPr>
            <a:spLocks noGrp="1" noChangeArrowheads="1"/>
          </p:cNvSpPr>
          <p:nvPr>
            <p:ph type="title"/>
          </p:nvPr>
        </p:nvSpPr>
        <p:spPr>
          <a:xfrm>
            <a:off x="685800" y="260350"/>
            <a:ext cx="7772400" cy="1143000"/>
          </a:xfrm>
        </p:spPr>
        <p:txBody>
          <a:bodyPr/>
          <a:lstStyle/>
          <a:p>
            <a:r>
              <a:rPr lang="en-US" altLang="zh-CN" b="1">
                <a:solidFill>
                  <a:srgbClr val="660066"/>
                </a:solidFill>
                <a:ea typeface="楷体_GB2312" pitchFamily="1" charset="-122"/>
              </a:rPr>
              <a:t>8.1.1  </a:t>
            </a:r>
            <a:r>
              <a:rPr lang="zh-CN" altLang="en-US" b="1">
                <a:solidFill>
                  <a:srgbClr val="660066"/>
                </a:solidFill>
                <a:ea typeface="楷体_GB2312" pitchFamily="1" charset="-122"/>
              </a:rPr>
              <a:t>连续组织方式</a:t>
            </a:r>
            <a:r>
              <a:rPr lang="zh-CN" altLang="en-US" b="1"/>
              <a:t> </a:t>
            </a:r>
            <a:endParaRPr lang="zh-CN" altLang="en-US"/>
          </a:p>
        </p:txBody>
      </p:sp>
      <p:sp>
        <p:nvSpPr>
          <p:cNvPr id="9219" name="内容占位符 2">
            <a:extLst>
              <a:ext uri="{FF2B5EF4-FFF2-40B4-BE49-F238E27FC236}">
                <a16:creationId xmlns:a16="http://schemas.microsoft.com/office/drawing/2014/main" id="{E1C5C4B1-DCEB-9CBA-5237-76EECAE7845E}"/>
              </a:ext>
            </a:extLst>
          </p:cNvPr>
          <p:cNvSpPr>
            <a:spLocks noGrp="1" noChangeArrowheads="1"/>
          </p:cNvSpPr>
          <p:nvPr>
            <p:ph idx="1"/>
          </p:nvPr>
        </p:nvSpPr>
        <p:spPr>
          <a:xfrm>
            <a:off x="357188" y="1196975"/>
            <a:ext cx="8358187" cy="4899025"/>
          </a:xfrm>
        </p:spPr>
        <p:txBody>
          <a:bodyPr/>
          <a:lstStyle/>
          <a:p>
            <a:pPr>
              <a:lnSpc>
                <a:spcPct val="120000"/>
              </a:lnSpc>
            </a:pPr>
            <a:r>
              <a:rPr lang="zh-CN" altLang="en-US" sz="2800" b="1">
                <a:solidFill>
                  <a:schemeClr val="accent2"/>
                </a:solidFill>
                <a:latin typeface="宋体" panose="02010600030101010101" pitchFamily="2" charset="-122"/>
              </a:rPr>
              <a:t>连续分配方式</a:t>
            </a:r>
            <a:r>
              <a:rPr lang="zh-CN" altLang="en-US" sz="2800">
                <a:latin typeface="宋体" panose="02010600030101010101" pitchFamily="2" charset="-122"/>
              </a:rPr>
              <a:t>（磁带，磁盘都可采用）</a:t>
            </a:r>
          </a:p>
          <a:p>
            <a:pPr lvl="1"/>
            <a:r>
              <a:rPr lang="zh-CN" altLang="zh-CN" sz="2400">
                <a:latin typeface="宋体" panose="02010600030101010101" pitchFamily="2" charset="-122"/>
              </a:rPr>
              <a:t>每个文件分配一组相邻盘块</a:t>
            </a:r>
            <a:r>
              <a:rPr lang="zh-CN" altLang="en-US" sz="2400">
                <a:latin typeface="宋体" panose="02010600030101010101" pitchFamily="2" charset="-122"/>
              </a:rPr>
              <a:t>，通常位于一条磁道上</a:t>
            </a:r>
            <a:r>
              <a:rPr lang="zh-CN" altLang="zh-CN" sz="2400">
                <a:latin typeface="宋体" panose="02010600030101010101" pitchFamily="2" charset="-122"/>
              </a:rPr>
              <a:t>。</a:t>
            </a:r>
            <a:endParaRPr lang="en-US" altLang="zh-CN" sz="2400">
              <a:latin typeface="宋体" panose="02010600030101010101" pitchFamily="2" charset="-122"/>
            </a:endParaRPr>
          </a:p>
          <a:p>
            <a:pPr lvl="1"/>
            <a:r>
              <a:rPr lang="zh-CN" altLang="en-US" sz="2400" b="1">
                <a:solidFill>
                  <a:schemeClr val="accent2"/>
                </a:solidFill>
                <a:latin typeface="宋体" panose="02010600030101010101" pitchFamily="2" charset="-122"/>
              </a:rPr>
              <a:t>文件结构：</a:t>
            </a:r>
            <a:r>
              <a:rPr lang="zh-CN" altLang="en-US" sz="2400">
                <a:latin typeface="宋体" panose="02010600030101010101" pitchFamily="2" charset="-122"/>
              </a:rPr>
              <a:t>顺序文件结构</a:t>
            </a:r>
            <a:endParaRPr lang="en-US" altLang="zh-CN" sz="2400">
              <a:latin typeface="宋体" panose="02010600030101010101" pitchFamily="2" charset="-122"/>
            </a:endParaRPr>
          </a:p>
          <a:p>
            <a:pPr lvl="1"/>
            <a:r>
              <a:rPr lang="zh-CN" altLang="en-US" sz="2400" b="1">
                <a:solidFill>
                  <a:schemeClr val="accent2"/>
                </a:solidFill>
                <a:latin typeface="宋体" panose="02010600030101010101" pitchFamily="2" charset="-122"/>
              </a:rPr>
              <a:t>物理文件：</a:t>
            </a:r>
            <a:r>
              <a:rPr lang="zh-CN" altLang="en-US" sz="2400">
                <a:latin typeface="宋体" panose="02010600030101010101" pitchFamily="2" charset="-122"/>
              </a:rPr>
              <a:t>顺序文件</a:t>
            </a:r>
          </a:p>
          <a:p>
            <a:pPr lvl="1"/>
            <a:r>
              <a:rPr lang="zh-CN" altLang="en-US" sz="2400">
                <a:latin typeface="宋体" panose="02010600030101010101" pitchFamily="2" charset="-122"/>
              </a:rPr>
              <a:t>文件对应</a:t>
            </a:r>
            <a:r>
              <a:rPr lang="zh-CN" altLang="en-US" sz="2400" b="1">
                <a:solidFill>
                  <a:srgbClr val="C00000"/>
                </a:solidFill>
                <a:latin typeface="宋体" panose="02010600030101010101" pitchFamily="2" charset="-122"/>
              </a:rPr>
              <a:t>目录项（属性）</a:t>
            </a:r>
            <a:r>
              <a:rPr lang="zh-CN" altLang="en-US" sz="2400">
                <a:latin typeface="宋体" panose="02010600030101010101" pitchFamily="2" charset="-122"/>
              </a:rPr>
              <a:t>中包含：</a:t>
            </a:r>
          </a:p>
          <a:p>
            <a:pPr lvl="2"/>
            <a:r>
              <a:rPr lang="zh-CN" altLang="en-US">
                <a:latin typeface="宋体" panose="02010600030101010101" pitchFamily="2" charset="-122"/>
              </a:rPr>
              <a:t>始址、总块数、最后一块字节数。 </a:t>
            </a:r>
          </a:p>
          <a:p>
            <a:pPr lvl="1"/>
            <a:r>
              <a:rPr lang="zh-CN" altLang="en-US" sz="2400" b="1">
                <a:solidFill>
                  <a:schemeClr val="accent2"/>
                </a:solidFill>
                <a:latin typeface="宋体" panose="02010600030101010101" pitchFamily="2" charset="-122"/>
              </a:rPr>
              <a:t>优点：</a:t>
            </a:r>
            <a:endParaRPr lang="zh-CN" altLang="en-US" sz="2400">
              <a:latin typeface="宋体" panose="02010600030101010101" pitchFamily="2" charset="-122"/>
            </a:endParaRPr>
          </a:p>
          <a:p>
            <a:pPr lvl="2"/>
            <a:r>
              <a:rPr lang="zh-CN" altLang="en-US">
                <a:latin typeface="宋体" panose="02010600030101010101" pitchFamily="2" charset="-122"/>
              </a:rPr>
              <a:t>顺序访问容易；访问速度快</a:t>
            </a:r>
            <a:endParaRPr lang="en-US" altLang="zh-CN">
              <a:latin typeface="宋体" panose="02010600030101010101" pitchFamily="2" charset="-122"/>
            </a:endParaRPr>
          </a:p>
          <a:p>
            <a:pPr lvl="1"/>
            <a:r>
              <a:rPr lang="zh-CN" altLang="en-US" sz="2400" b="1">
                <a:solidFill>
                  <a:schemeClr val="accent2"/>
                </a:solidFill>
                <a:latin typeface="宋体" panose="02010600030101010101" pitchFamily="2" charset="-122"/>
              </a:rPr>
              <a:t>缺点：</a:t>
            </a:r>
          </a:p>
          <a:p>
            <a:pPr lvl="2"/>
            <a:r>
              <a:rPr lang="zh-CN" altLang="en-US">
                <a:latin typeface="宋体" panose="02010600030101010101" pitchFamily="2" charset="-122"/>
              </a:rPr>
              <a:t>要求连续空间，一段时间后需利用紧凑消除磁盘碎片</a:t>
            </a:r>
          </a:p>
          <a:p>
            <a:pPr lvl="2"/>
            <a:r>
              <a:rPr lang="zh-CN" altLang="en-US">
                <a:latin typeface="宋体" panose="02010600030101010101" pitchFamily="2" charset="-122"/>
              </a:rPr>
              <a:t>必须事先知道文件长度，文件不易动态增长；</a:t>
            </a:r>
            <a:endParaRPr lang="en-US" altLang="zh-CN">
              <a:latin typeface="宋体" panose="02010600030101010101" pitchFamily="2" charset="-122"/>
            </a:endParaRPr>
          </a:p>
          <a:p>
            <a:pPr lvl="2"/>
            <a:r>
              <a:rPr lang="zh-CN" altLang="en-US">
                <a:latin typeface="宋体" panose="02010600030101010101" pitchFamily="2" charset="-122"/>
              </a:rPr>
              <a:t>为保持有序性，文件不能灵活地删除和插入记录。</a:t>
            </a:r>
          </a:p>
        </p:txBody>
      </p:sp>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a:extLst>
              <a:ext uri="{FF2B5EF4-FFF2-40B4-BE49-F238E27FC236}">
                <a16:creationId xmlns:a16="http://schemas.microsoft.com/office/drawing/2014/main" id="{F0AD6A9B-4542-F0FA-6369-A3AAF2B85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763" y="1341438"/>
            <a:ext cx="7805737"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ext Box 8">
            <a:extLst>
              <a:ext uri="{FF2B5EF4-FFF2-40B4-BE49-F238E27FC236}">
                <a16:creationId xmlns:a16="http://schemas.microsoft.com/office/drawing/2014/main" id="{8F51FCB7-E3B8-D6EA-66FA-A34DD8E511DA}"/>
              </a:ext>
            </a:extLst>
          </p:cNvPr>
          <p:cNvSpPr txBox="1">
            <a:spLocks noChangeArrowheads="1"/>
          </p:cNvSpPr>
          <p:nvPr/>
        </p:nvSpPr>
        <p:spPr bwMode="auto">
          <a:xfrm>
            <a:off x="2555875" y="6135688"/>
            <a:ext cx="4614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  </a:t>
            </a:r>
            <a:r>
              <a:rPr lang="zh-CN" altLang="en-US" sz="2400" b="1"/>
              <a:t>磁盘空间的连续组织方式 </a:t>
            </a:r>
          </a:p>
        </p:txBody>
      </p:sp>
      <p:sp>
        <p:nvSpPr>
          <p:cNvPr id="10244" name="Text Box 6">
            <a:extLst>
              <a:ext uri="{FF2B5EF4-FFF2-40B4-BE49-F238E27FC236}">
                <a16:creationId xmlns:a16="http://schemas.microsoft.com/office/drawing/2014/main" id="{E39C8262-FB14-9FD9-143A-E61AB6900B4F}"/>
              </a:ext>
            </a:extLst>
          </p:cNvPr>
          <p:cNvSpPr txBox="1">
            <a:spLocks noChangeArrowheads="1"/>
          </p:cNvSpPr>
          <p:nvPr/>
        </p:nvSpPr>
        <p:spPr bwMode="auto">
          <a:xfrm>
            <a:off x="355600" y="630238"/>
            <a:ext cx="2759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b="1">
                <a:solidFill>
                  <a:srgbClr val="C00000"/>
                </a:solidFill>
                <a:latin typeface="Arial" panose="020B0604020202020204" pitchFamily="34" charset="0"/>
              </a:rPr>
              <a:t>连续分配方式</a:t>
            </a:r>
            <a:r>
              <a:rPr lang="zh-CN" altLang="en-US" b="1"/>
              <a:t> </a:t>
            </a:r>
          </a:p>
        </p:txBody>
      </p:sp>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30D1C254-18D1-9E57-BF9E-E9E92D163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8" y="1084263"/>
            <a:ext cx="8258175"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 Box 8">
            <a:extLst>
              <a:ext uri="{FF2B5EF4-FFF2-40B4-BE49-F238E27FC236}">
                <a16:creationId xmlns:a16="http://schemas.microsoft.com/office/drawing/2014/main" id="{19539A9E-A00A-56DF-4200-37AB4E0E38C7}"/>
              </a:ext>
            </a:extLst>
          </p:cNvPr>
          <p:cNvSpPr txBox="1">
            <a:spLocks noChangeArrowheads="1"/>
          </p:cNvSpPr>
          <p:nvPr/>
        </p:nvSpPr>
        <p:spPr bwMode="auto">
          <a:xfrm>
            <a:off x="1619250" y="6181725"/>
            <a:ext cx="6224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  </a:t>
            </a:r>
            <a:r>
              <a:rPr lang="zh-CN" altLang="en-US" sz="2400" b="1"/>
              <a:t>磁盘空间的连续组织方式 （紧凑之后） </a:t>
            </a:r>
          </a:p>
        </p:txBody>
      </p:sp>
      <p:sp>
        <p:nvSpPr>
          <p:cNvPr id="11268" name="Text Box 6">
            <a:extLst>
              <a:ext uri="{FF2B5EF4-FFF2-40B4-BE49-F238E27FC236}">
                <a16:creationId xmlns:a16="http://schemas.microsoft.com/office/drawing/2014/main" id="{EA93491B-203C-BFC3-8DEF-7807BDB39D88}"/>
              </a:ext>
            </a:extLst>
          </p:cNvPr>
          <p:cNvSpPr txBox="1">
            <a:spLocks noChangeArrowheads="1"/>
          </p:cNvSpPr>
          <p:nvPr/>
        </p:nvSpPr>
        <p:spPr bwMode="auto">
          <a:xfrm>
            <a:off x="355600" y="630238"/>
            <a:ext cx="2759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b="1">
                <a:solidFill>
                  <a:srgbClr val="C00000"/>
                </a:solidFill>
                <a:latin typeface="Arial" panose="020B0604020202020204" pitchFamily="34" charset="0"/>
              </a:rPr>
              <a:t>连续分配方式</a:t>
            </a:r>
            <a:r>
              <a:rPr lang="zh-CN" altLang="en-US" b="1"/>
              <a:t> </a:t>
            </a:r>
          </a:p>
        </p:txBody>
      </p:sp>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72CCEC9D-D23C-B87E-329E-6C01125EBBCD}"/>
              </a:ext>
            </a:extLst>
          </p:cNvPr>
          <p:cNvSpPr>
            <a:spLocks noGrp="1" noChangeArrowheads="1"/>
          </p:cNvSpPr>
          <p:nvPr>
            <p:ph type="title"/>
          </p:nvPr>
        </p:nvSpPr>
        <p:spPr>
          <a:xfrm>
            <a:off x="685800" y="260350"/>
            <a:ext cx="7772400" cy="1143000"/>
          </a:xfrm>
        </p:spPr>
        <p:txBody>
          <a:bodyPr/>
          <a:lstStyle/>
          <a:p>
            <a:r>
              <a:rPr lang="en-US" altLang="zh-CN" b="1">
                <a:solidFill>
                  <a:srgbClr val="660066"/>
                </a:solidFill>
                <a:ea typeface="楷体_GB2312" pitchFamily="1" charset="-122"/>
              </a:rPr>
              <a:t>8.1.2  </a:t>
            </a:r>
            <a:r>
              <a:rPr lang="zh-CN" altLang="en-US" b="1">
                <a:solidFill>
                  <a:srgbClr val="660066"/>
                </a:solidFill>
                <a:ea typeface="楷体_GB2312" pitchFamily="1" charset="-122"/>
              </a:rPr>
              <a:t>链接组织方式</a:t>
            </a:r>
          </a:p>
        </p:txBody>
      </p:sp>
      <p:sp>
        <p:nvSpPr>
          <p:cNvPr id="12291" name="内容占位符 2">
            <a:extLst>
              <a:ext uri="{FF2B5EF4-FFF2-40B4-BE49-F238E27FC236}">
                <a16:creationId xmlns:a16="http://schemas.microsoft.com/office/drawing/2014/main" id="{0E92B363-8C0B-E3B8-316B-EFECC1BA8F83}"/>
              </a:ext>
            </a:extLst>
          </p:cNvPr>
          <p:cNvSpPr>
            <a:spLocks noGrp="1" noChangeArrowheads="1"/>
          </p:cNvSpPr>
          <p:nvPr>
            <p:ph idx="1"/>
          </p:nvPr>
        </p:nvSpPr>
        <p:spPr>
          <a:xfrm>
            <a:off x="357188" y="1357313"/>
            <a:ext cx="8429625" cy="4667250"/>
          </a:xfrm>
        </p:spPr>
        <p:txBody>
          <a:bodyPr/>
          <a:lstStyle/>
          <a:p>
            <a:pPr>
              <a:lnSpc>
                <a:spcPct val="120000"/>
              </a:lnSpc>
            </a:pPr>
            <a:r>
              <a:rPr lang="zh-CN" altLang="en-US" sz="2800" b="1">
                <a:solidFill>
                  <a:schemeClr val="accent2"/>
                </a:solidFill>
                <a:latin typeface="宋体" panose="02010600030101010101" pitchFamily="2" charset="-122"/>
              </a:rPr>
              <a:t>链接组织方式</a:t>
            </a:r>
          </a:p>
          <a:p>
            <a:pPr lvl="1">
              <a:lnSpc>
                <a:spcPct val="120000"/>
              </a:lnSpc>
            </a:pPr>
            <a:r>
              <a:rPr lang="zh-CN" altLang="en-US" sz="2400">
                <a:latin typeface="宋体" panose="02010600030101010101" pitchFamily="2" charset="-122"/>
              </a:rPr>
              <a:t>将一个文件放在不连续的物理块中，每个物理块通过指针链接起来。</a:t>
            </a:r>
          </a:p>
          <a:p>
            <a:pPr>
              <a:lnSpc>
                <a:spcPct val="120000"/>
              </a:lnSpc>
            </a:pPr>
            <a:r>
              <a:rPr lang="zh-CN" altLang="en-US" sz="2800" b="1">
                <a:solidFill>
                  <a:schemeClr val="accent2"/>
                </a:solidFill>
                <a:latin typeface="宋体" panose="02010600030101010101" pitchFamily="2" charset="-122"/>
              </a:rPr>
              <a:t>优点：</a:t>
            </a:r>
            <a:endParaRPr lang="en-US" altLang="zh-CN" sz="2800" b="1">
              <a:solidFill>
                <a:schemeClr val="accent2"/>
              </a:solidFill>
              <a:latin typeface="宋体" panose="02010600030101010101" pitchFamily="2" charset="-122"/>
            </a:endParaRPr>
          </a:p>
          <a:p>
            <a:pPr lvl="1">
              <a:lnSpc>
                <a:spcPct val="120000"/>
              </a:lnSpc>
            </a:pPr>
            <a:r>
              <a:rPr lang="zh-CN" altLang="en-US" sz="2400">
                <a:latin typeface="宋体" panose="02010600030101010101" pitchFamily="2" charset="-122"/>
              </a:rPr>
              <a:t>消除了外部碎片，提高了外存利用率；</a:t>
            </a:r>
          </a:p>
          <a:p>
            <a:pPr lvl="1">
              <a:lnSpc>
                <a:spcPct val="120000"/>
              </a:lnSpc>
            </a:pPr>
            <a:r>
              <a:rPr lang="zh-CN" altLang="en-US" sz="2400">
                <a:latin typeface="宋体" panose="02010600030101010101" pitchFamily="2" charset="-122"/>
              </a:rPr>
              <a:t>方便对文件进行插入、删除和修改记录操作。</a:t>
            </a:r>
          </a:p>
          <a:p>
            <a:pPr lvl="1">
              <a:lnSpc>
                <a:spcPct val="120000"/>
              </a:lnSpc>
            </a:pPr>
            <a:r>
              <a:rPr lang="zh-CN" altLang="en-US" sz="2400">
                <a:latin typeface="宋体" panose="02010600030101010101" pitchFamily="2" charset="-122"/>
              </a:rPr>
              <a:t>无须事先知道文件长度，根据文件当前需要分配必须的盘块；动态增长时可再分配盘块；</a:t>
            </a:r>
          </a:p>
          <a:p>
            <a:pPr>
              <a:lnSpc>
                <a:spcPct val="120000"/>
              </a:lnSpc>
            </a:pPr>
            <a:r>
              <a:rPr lang="zh-CN" altLang="en-US" sz="2800" b="1">
                <a:solidFill>
                  <a:schemeClr val="accent2"/>
                </a:solidFill>
                <a:latin typeface="宋体" panose="02010600030101010101" pitchFamily="2" charset="-122"/>
              </a:rPr>
              <a:t>缺点：</a:t>
            </a:r>
          </a:p>
          <a:p>
            <a:pPr lvl="1">
              <a:lnSpc>
                <a:spcPct val="120000"/>
              </a:lnSpc>
            </a:pPr>
            <a:r>
              <a:rPr lang="zh-CN" altLang="en-US" sz="2400">
                <a:latin typeface="宋体" panose="02010600030101010101" pitchFamily="2" charset="-122"/>
              </a:rPr>
              <a:t>不能支持高效地直接存取</a:t>
            </a: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a:extLst>
              <a:ext uri="{FF2B5EF4-FFF2-40B4-BE49-F238E27FC236}">
                <a16:creationId xmlns:a16="http://schemas.microsoft.com/office/drawing/2014/main" id="{3DD329A5-2EDD-9E94-D624-DAACDF7C3FB7}"/>
              </a:ext>
            </a:extLst>
          </p:cNvPr>
          <p:cNvSpPr>
            <a:spLocks noGrp="1"/>
          </p:cNvSpPr>
          <p:nvPr>
            <p:ph idx="1"/>
          </p:nvPr>
        </p:nvSpPr>
        <p:spPr>
          <a:xfrm>
            <a:off x="357188" y="642938"/>
            <a:ext cx="8429625" cy="5715000"/>
          </a:xfrm>
        </p:spPr>
        <p:txBody>
          <a:bodyPr/>
          <a:lstStyle/>
          <a:p>
            <a:pPr>
              <a:lnSpc>
                <a:spcPct val="110000"/>
              </a:lnSpc>
              <a:defRPr/>
            </a:pPr>
            <a:r>
              <a:rPr lang="zh-CN" altLang="en-US" sz="2800" dirty="0"/>
              <a:t>链接方式又可分为以下两种：</a:t>
            </a:r>
          </a:p>
          <a:p>
            <a:pPr lvl="1">
              <a:lnSpc>
                <a:spcPct val="110000"/>
              </a:lnSpc>
              <a:defRPr/>
            </a:pPr>
            <a:r>
              <a:rPr lang="zh-CN" altLang="en-US" sz="2400" b="1" dirty="0">
                <a:solidFill>
                  <a:schemeClr val="accent2"/>
                </a:solidFill>
              </a:rPr>
              <a:t>隐式链接</a:t>
            </a:r>
            <a:endParaRPr lang="en-US" altLang="zh-CN" sz="2400" b="1" dirty="0">
              <a:solidFill>
                <a:schemeClr val="accent2"/>
              </a:solidFill>
            </a:endParaRPr>
          </a:p>
          <a:p>
            <a:pPr lvl="1">
              <a:lnSpc>
                <a:spcPct val="110000"/>
              </a:lnSpc>
              <a:defRPr/>
            </a:pPr>
            <a:r>
              <a:rPr lang="zh-CN" altLang="en-US" sz="2400" b="1" dirty="0">
                <a:solidFill>
                  <a:schemeClr val="accent2"/>
                </a:solidFill>
              </a:rPr>
              <a:t>显式链接</a:t>
            </a:r>
            <a:endParaRPr lang="en-US" altLang="zh-CN" sz="2400" b="1" dirty="0">
              <a:solidFill>
                <a:schemeClr val="accent2"/>
              </a:solidFill>
            </a:endParaRPr>
          </a:p>
          <a:p>
            <a:pPr lvl="1">
              <a:defRPr/>
            </a:pPr>
            <a:endParaRPr lang="zh-CN" altLang="en-US" sz="2400" b="1" dirty="0">
              <a:solidFill>
                <a:schemeClr val="accent2"/>
              </a:solidFill>
            </a:endParaRPr>
          </a:p>
          <a:p>
            <a:pPr lvl="1">
              <a:buFontTx/>
              <a:buNone/>
              <a:defRPr/>
            </a:pPr>
            <a:endParaRPr lang="zh-CN" altLang="en-US" sz="2400" b="1" dirty="0">
              <a:solidFill>
                <a:schemeClr val="accent2"/>
              </a:solidFill>
            </a:endParaRPr>
          </a:p>
          <a:p>
            <a:pPr marL="342900" lvl="1" indent="-342900">
              <a:lnSpc>
                <a:spcPct val="110000"/>
              </a:lnSpc>
              <a:buFontTx/>
              <a:buChar char="•"/>
              <a:defRPr/>
            </a:pPr>
            <a:r>
              <a:rPr lang="zh-CN" altLang="en-US" dirty="0">
                <a:cs typeface="+mn-cs"/>
              </a:rPr>
              <a:t>文件目录的每个目录项中，都含有指向链接文件第一个盘块和最后一个盘块的指针。</a:t>
            </a:r>
          </a:p>
          <a:p>
            <a:pPr marL="342900" lvl="1" indent="-342900">
              <a:lnSpc>
                <a:spcPct val="110000"/>
              </a:lnSpc>
              <a:buFontTx/>
              <a:buChar char="•"/>
              <a:defRPr/>
            </a:pPr>
            <a:r>
              <a:rPr lang="zh-CN" altLang="en-US" b="1" dirty="0">
                <a:solidFill>
                  <a:schemeClr val="accent2"/>
                </a:solidFill>
                <a:latin typeface="宋体" pitchFamily="2" charset="-122"/>
                <a:cs typeface="+mn-cs"/>
              </a:rPr>
              <a:t>特点 ：</a:t>
            </a:r>
          </a:p>
          <a:p>
            <a:pPr lvl="1">
              <a:lnSpc>
                <a:spcPct val="110000"/>
              </a:lnSpc>
              <a:defRPr/>
            </a:pPr>
            <a:r>
              <a:rPr lang="zh-CN" altLang="en-US" sz="2400" dirty="0"/>
              <a:t>只适合顺序访问，对随机访问效率极低；  </a:t>
            </a:r>
          </a:p>
          <a:p>
            <a:pPr lvl="1">
              <a:lnSpc>
                <a:spcPct val="110000"/>
              </a:lnSpc>
              <a:defRPr/>
            </a:pPr>
            <a:r>
              <a:rPr lang="zh-CN" altLang="en-US" sz="2400" dirty="0"/>
              <a:t>只通过链接指针来将一大批离散的盘块链接起来，可靠性较差。</a:t>
            </a:r>
          </a:p>
        </p:txBody>
      </p:sp>
      <p:sp>
        <p:nvSpPr>
          <p:cNvPr id="13315" name="Text Box 6">
            <a:extLst>
              <a:ext uri="{FF2B5EF4-FFF2-40B4-BE49-F238E27FC236}">
                <a16:creationId xmlns:a16="http://schemas.microsoft.com/office/drawing/2014/main" id="{AC08C4B5-3DBC-0E2A-A446-B86922D34BEE}"/>
              </a:ext>
            </a:extLst>
          </p:cNvPr>
          <p:cNvSpPr txBox="1">
            <a:spLocks noChangeArrowheads="1"/>
          </p:cNvSpPr>
          <p:nvPr/>
        </p:nvSpPr>
        <p:spPr bwMode="auto">
          <a:xfrm>
            <a:off x="323850" y="2349500"/>
            <a:ext cx="25749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、隐式链接</a:t>
            </a:r>
            <a:r>
              <a:rPr lang="zh-CN" altLang="en-US" b="1"/>
              <a:t> </a:t>
            </a: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5">
            <a:extLst>
              <a:ext uri="{FF2B5EF4-FFF2-40B4-BE49-F238E27FC236}">
                <a16:creationId xmlns:a16="http://schemas.microsoft.com/office/drawing/2014/main" id="{80117316-3562-30BB-33EA-B65CE9DC10F7}"/>
              </a:ext>
            </a:extLst>
          </p:cNvPr>
          <p:cNvSpPr txBox="1">
            <a:spLocks noChangeArrowheads="1"/>
          </p:cNvSpPr>
          <p:nvPr/>
        </p:nvSpPr>
        <p:spPr bwMode="auto">
          <a:xfrm>
            <a:off x="357188" y="571500"/>
            <a:ext cx="2530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、隐式链接</a:t>
            </a:r>
            <a:r>
              <a:rPr lang="zh-CN" altLang="en-US" sz="2800" b="1"/>
              <a:t> </a:t>
            </a:r>
          </a:p>
        </p:txBody>
      </p:sp>
      <p:sp>
        <p:nvSpPr>
          <p:cNvPr id="14339" name="Text Box 6">
            <a:extLst>
              <a:ext uri="{FF2B5EF4-FFF2-40B4-BE49-F238E27FC236}">
                <a16:creationId xmlns:a16="http://schemas.microsoft.com/office/drawing/2014/main" id="{41B936E2-1DC2-436D-68ED-5B3DC9F8476D}"/>
              </a:ext>
            </a:extLst>
          </p:cNvPr>
          <p:cNvSpPr txBox="1">
            <a:spLocks noChangeArrowheads="1"/>
          </p:cNvSpPr>
          <p:nvPr/>
        </p:nvSpPr>
        <p:spPr bwMode="auto">
          <a:xfrm>
            <a:off x="539750" y="5084763"/>
            <a:ext cx="4229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8-2 </a:t>
            </a:r>
            <a:r>
              <a:rPr lang="zh-CN" altLang="en-US" sz="2400" b="1"/>
              <a:t>磁盘空间的链接式分配 </a:t>
            </a:r>
          </a:p>
        </p:txBody>
      </p:sp>
      <p:pic>
        <p:nvPicPr>
          <p:cNvPr id="14340" name="Picture 5">
            <a:extLst>
              <a:ext uri="{FF2B5EF4-FFF2-40B4-BE49-F238E27FC236}">
                <a16:creationId xmlns:a16="http://schemas.microsoft.com/office/drawing/2014/main" id="{0E3A1BC6-1995-9F23-62FE-954C9BD96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 y="1196975"/>
            <a:ext cx="5211763"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Group 40">
            <a:extLst>
              <a:ext uri="{FF2B5EF4-FFF2-40B4-BE49-F238E27FC236}">
                <a16:creationId xmlns:a16="http://schemas.microsoft.com/office/drawing/2014/main" id="{2C242C21-EB6D-E830-57E4-B137A5FF1D7B}"/>
              </a:ext>
            </a:extLst>
          </p:cNvPr>
          <p:cNvGraphicFramePr>
            <a:graphicFrameLocks noGrp="1"/>
          </p:cNvGraphicFramePr>
          <p:nvPr/>
        </p:nvGraphicFramePr>
        <p:xfrm>
          <a:off x="5630863" y="2205038"/>
          <a:ext cx="3262312" cy="2524124"/>
        </p:xfrm>
        <a:graphic>
          <a:graphicData uri="http://schemas.openxmlformats.org/drawingml/2006/table">
            <a:tbl>
              <a:tblPr/>
              <a:tblGrid>
                <a:gridCol w="720725">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tblGrid>
              <a:tr h="695049">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块号</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下一页</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下一页的指针</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（块号）</a:t>
                      </a: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15">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rgbClr val="C00000"/>
                          </a:solidFill>
                          <a:effectLst/>
                          <a:latin typeface="Times New Roman" pitchFamily="18" charset="0"/>
                          <a:ea typeface="宋体" pitchFamily="2" charset="-122"/>
                        </a:rPr>
                        <a:t>9</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16</a:t>
                      </a:r>
                      <a:endParaRPr kumimoji="1" lang="zh-CN" altLang="zh-CN" sz="1800" b="0" i="0" u="none" strike="noStrike" cap="none" normalizeH="0" baseline="0">
                        <a:ln>
                          <a:noFill/>
                        </a:ln>
                        <a:solidFill>
                          <a:schemeClr val="accent2"/>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15">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16</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a:t>
                      </a:r>
                      <a:endParaRPr kumimoji="1" lang="zh-CN" altLang="zh-CN" sz="1800" b="0" i="0" u="none" strike="noStrike" cap="none" normalizeH="0" baseline="0">
                        <a:ln>
                          <a:noFill/>
                        </a:ln>
                        <a:solidFill>
                          <a:schemeClr val="accent2"/>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15">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3</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10</a:t>
                      </a:r>
                      <a:endParaRPr kumimoji="1" lang="zh-CN" altLang="zh-CN" sz="1800" b="0" i="0" u="none" strike="noStrike" cap="none" normalizeH="0" baseline="0">
                        <a:ln>
                          <a:noFill/>
                        </a:ln>
                        <a:solidFill>
                          <a:schemeClr val="accent2"/>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15">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10</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4</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25</a:t>
                      </a:r>
                      <a:endParaRPr kumimoji="1" lang="zh-CN" altLang="zh-CN" sz="1800" b="0" i="0" u="none" strike="noStrike" cap="none" normalizeH="0" baseline="0">
                        <a:ln>
                          <a:noFill/>
                        </a:ln>
                        <a:solidFill>
                          <a:schemeClr val="accent2"/>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15">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accent2"/>
                          </a:solidFill>
                          <a:effectLst/>
                          <a:latin typeface="Times New Roman" pitchFamily="18" charset="0"/>
                          <a:ea typeface="宋体" pitchFamily="2" charset="-122"/>
                        </a:rPr>
                        <a:t>25</a:t>
                      </a:r>
                    </a:p>
                  </a:txBody>
                  <a:tcPr marT="45727" marB="4572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rgbClr val="C00000"/>
                          </a:solidFill>
                          <a:effectLst/>
                          <a:latin typeface="Times New Roman" pitchFamily="18" charset="0"/>
                          <a:ea typeface="宋体" pitchFamily="2" charset="-122"/>
                        </a:rPr>
                        <a:t>无</a:t>
                      </a:r>
                      <a:endParaRPr kumimoji="1" lang="zh-CN" altLang="zh-CN" sz="1800" b="0" i="0" u="none" strike="noStrike" cap="none" normalizeH="0" baseline="0">
                        <a:ln>
                          <a:noFill/>
                        </a:ln>
                        <a:solidFill>
                          <a:srgbClr val="C00000"/>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rgbClr val="C00000"/>
                          </a:solidFill>
                          <a:effectLst/>
                          <a:latin typeface="Times New Roman" pitchFamily="18" charset="0"/>
                          <a:ea typeface="宋体" pitchFamily="2" charset="-122"/>
                        </a:rPr>
                        <a:t>-1</a:t>
                      </a:r>
                      <a:endParaRPr kumimoji="1" lang="zh-CN" altLang="zh-CN" sz="1800" b="0" i="0" u="none" strike="noStrike" cap="none" normalizeH="0" baseline="0">
                        <a:ln>
                          <a:noFill/>
                        </a:ln>
                        <a:solidFill>
                          <a:srgbClr val="C00000"/>
                        </a:solidFill>
                        <a:effectLst/>
                        <a:latin typeface="Times New Roman" pitchFamily="18"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矩形 7">
            <a:extLst>
              <a:ext uri="{FF2B5EF4-FFF2-40B4-BE49-F238E27FC236}">
                <a16:creationId xmlns:a16="http://schemas.microsoft.com/office/drawing/2014/main" id="{3D9EA520-DB15-0EE9-32BC-7426D6193EB7}"/>
              </a:ext>
            </a:extLst>
          </p:cNvPr>
          <p:cNvSpPr>
            <a:spLocks noChangeArrowheads="1"/>
          </p:cNvSpPr>
          <p:nvPr/>
        </p:nvSpPr>
        <p:spPr bwMode="auto">
          <a:xfrm>
            <a:off x="5245100" y="2881313"/>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0</a:t>
            </a:r>
          </a:p>
        </p:txBody>
      </p:sp>
      <p:sp>
        <p:nvSpPr>
          <p:cNvPr id="8" name="矩形 8">
            <a:extLst>
              <a:ext uri="{FF2B5EF4-FFF2-40B4-BE49-F238E27FC236}">
                <a16:creationId xmlns:a16="http://schemas.microsoft.com/office/drawing/2014/main" id="{E051D52A-BDBF-7D82-90D7-BD3D500B4A4D}"/>
              </a:ext>
            </a:extLst>
          </p:cNvPr>
          <p:cNvSpPr>
            <a:spLocks noChangeArrowheads="1"/>
          </p:cNvSpPr>
          <p:nvPr/>
        </p:nvSpPr>
        <p:spPr bwMode="auto">
          <a:xfrm>
            <a:off x="5245100" y="3233738"/>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1</a:t>
            </a:r>
          </a:p>
        </p:txBody>
      </p:sp>
      <p:sp>
        <p:nvSpPr>
          <p:cNvPr id="9" name="矩形 9">
            <a:extLst>
              <a:ext uri="{FF2B5EF4-FFF2-40B4-BE49-F238E27FC236}">
                <a16:creationId xmlns:a16="http://schemas.microsoft.com/office/drawing/2014/main" id="{A015E523-3283-4C64-4760-5831E2BFA16C}"/>
              </a:ext>
            </a:extLst>
          </p:cNvPr>
          <p:cNvSpPr>
            <a:spLocks noChangeArrowheads="1"/>
          </p:cNvSpPr>
          <p:nvPr/>
        </p:nvSpPr>
        <p:spPr bwMode="auto">
          <a:xfrm>
            <a:off x="5245100" y="3605213"/>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2</a:t>
            </a:r>
          </a:p>
        </p:txBody>
      </p:sp>
      <p:sp>
        <p:nvSpPr>
          <p:cNvPr id="10" name="矩形 10">
            <a:extLst>
              <a:ext uri="{FF2B5EF4-FFF2-40B4-BE49-F238E27FC236}">
                <a16:creationId xmlns:a16="http://schemas.microsoft.com/office/drawing/2014/main" id="{7F6F7335-789E-D944-BCE9-4B0BADA9D13B}"/>
              </a:ext>
            </a:extLst>
          </p:cNvPr>
          <p:cNvSpPr>
            <a:spLocks noChangeArrowheads="1"/>
          </p:cNvSpPr>
          <p:nvPr/>
        </p:nvSpPr>
        <p:spPr bwMode="auto">
          <a:xfrm>
            <a:off x="5245100" y="3951288"/>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3</a:t>
            </a:r>
          </a:p>
        </p:txBody>
      </p:sp>
      <p:sp>
        <p:nvSpPr>
          <p:cNvPr id="11" name="矩形 7">
            <a:extLst>
              <a:ext uri="{FF2B5EF4-FFF2-40B4-BE49-F238E27FC236}">
                <a16:creationId xmlns:a16="http://schemas.microsoft.com/office/drawing/2014/main" id="{B3DE8D35-8BFB-6559-1071-CC59798BBAA0}"/>
              </a:ext>
            </a:extLst>
          </p:cNvPr>
          <p:cNvSpPr>
            <a:spLocks noChangeArrowheads="1"/>
          </p:cNvSpPr>
          <p:nvPr/>
        </p:nvSpPr>
        <p:spPr bwMode="auto">
          <a:xfrm>
            <a:off x="5148263" y="2362200"/>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1800" b="1"/>
              <a:t>页</a:t>
            </a:r>
            <a:endParaRPr lang="en-US" altLang="zh-CN" sz="1800" b="1"/>
          </a:p>
        </p:txBody>
      </p:sp>
      <p:sp>
        <p:nvSpPr>
          <p:cNvPr id="12" name="矩形 10">
            <a:extLst>
              <a:ext uri="{FF2B5EF4-FFF2-40B4-BE49-F238E27FC236}">
                <a16:creationId xmlns:a16="http://schemas.microsoft.com/office/drawing/2014/main" id="{D4967831-D042-3BF3-F058-7325A460CD24}"/>
              </a:ext>
            </a:extLst>
          </p:cNvPr>
          <p:cNvSpPr>
            <a:spLocks noChangeArrowheads="1"/>
          </p:cNvSpPr>
          <p:nvPr/>
        </p:nvSpPr>
        <p:spPr bwMode="auto">
          <a:xfrm>
            <a:off x="5245100" y="4333875"/>
            <a:ext cx="31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a:t>4</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a:extLst>
              <a:ext uri="{FF2B5EF4-FFF2-40B4-BE49-F238E27FC236}">
                <a16:creationId xmlns:a16="http://schemas.microsoft.com/office/drawing/2014/main" id="{1F5A2E41-02F0-55E9-22B7-57A28D8F6AA7}"/>
              </a:ext>
            </a:extLst>
          </p:cNvPr>
          <p:cNvSpPr>
            <a:spLocks noGrp="1"/>
          </p:cNvSpPr>
          <p:nvPr>
            <p:ph idx="1"/>
          </p:nvPr>
        </p:nvSpPr>
        <p:spPr>
          <a:xfrm>
            <a:off x="357188" y="1125538"/>
            <a:ext cx="8429625" cy="5232400"/>
          </a:xfrm>
        </p:spPr>
        <p:txBody>
          <a:bodyPr/>
          <a:lstStyle/>
          <a:p>
            <a:pPr marL="342900" lvl="1" indent="-342900">
              <a:lnSpc>
                <a:spcPct val="110000"/>
              </a:lnSpc>
              <a:buFontTx/>
              <a:buChar char="•"/>
              <a:defRPr/>
            </a:pPr>
            <a:r>
              <a:rPr lang="zh-CN" altLang="en-US" dirty="0">
                <a:cs typeface="+mn-cs"/>
              </a:rPr>
              <a:t>把用于链接的指针显式存放在内存的一张表</a:t>
            </a:r>
            <a:r>
              <a:rPr lang="en-US" altLang="zh-CN" dirty="0">
                <a:cs typeface="+mn-cs"/>
              </a:rPr>
              <a:t>(FAT)</a:t>
            </a:r>
            <a:r>
              <a:rPr lang="zh-CN" altLang="en-US" dirty="0">
                <a:cs typeface="+mn-cs"/>
              </a:rPr>
              <a:t>中，查找在内存中进行。</a:t>
            </a:r>
            <a:endParaRPr lang="en-US" altLang="zh-CN" dirty="0">
              <a:cs typeface="+mn-cs"/>
            </a:endParaRPr>
          </a:p>
          <a:p>
            <a:pPr marL="342900" lvl="1" indent="-342900">
              <a:lnSpc>
                <a:spcPct val="110000"/>
              </a:lnSpc>
              <a:buFontTx/>
              <a:buChar char="•"/>
              <a:defRPr/>
            </a:pPr>
            <a:r>
              <a:rPr lang="zh-CN" altLang="en-US" dirty="0">
                <a:cs typeface="+mn-cs"/>
              </a:rPr>
              <a:t>利用文件分配表</a:t>
            </a:r>
            <a:r>
              <a:rPr lang="en-US" altLang="zh-CN" dirty="0">
                <a:cs typeface="+mn-cs"/>
              </a:rPr>
              <a:t>FAT</a:t>
            </a:r>
            <a:r>
              <a:rPr lang="zh-CN" altLang="en-US" dirty="0">
                <a:cs typeface="+mn-cs"/>
              </a:rPr>
              <a:t>，记录文件的盘块号。</a:t>
            </a:r>
          </a:p>
        </p:txBody>
      </p:sp>
      <p:sp>
        <p:nvSpPr>
          <p:cNvPr id="15363" name="Text Box 5">
            <a:extLst>
              <a:ext uri="{FF2B5EF4-FFF2-40B4-BE49-F238E27FC236}">
                <a16:creationId xmlns:a16="http://schemas.microsoft.com/office/drawing/2014/main" id="{CF165D01-F204-1832-C2B0-3193C58B4406}"/>
              </a:ext>
            </a:extLst>
          </p:cNvPr>
          <p:cNvSpPr txBox="1">
            <a:spLocks noChangeArrowheads="1"/>
          </p:cNvSpPr>
          <p:nvPr/>
        </p:nvSpPr>
        <p:spPr bwMode="auto">
          <a:xfrm>
            <a:off x="357188" y="571500"/>
            <a:ext cx="2562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、显式链接</a:t>
            </a:r>
            <a:r>
              <a:rPr lang="zh-CN" altLang="en-US" sz="2800" b="1"/>
              <a:t> </a:t>
            </a:r>
          </a:p>
        </p:txBody>
      </p:sp>
      <p:sp>
        <p:nvSpPr>
          <p:cNvPr id="15364" name="Text Box 5">
            <a:extLst>
              <a:ext uri="{FF2B5EF4-FFF2-40B4-BE49-F238E27FC236}">
                <a16:creationId xmlns:a16="http://schemas.microsoft.com/office/drawing/2014/main" id="{D1F95777-14CF-B454-F532-8290D1DB1DE7}"/>
              </a:ext>
            </a:extLst>
          </p:cNvPr>
          <p:cNvSpPr txBox="1">
            <a:spLocks noChangeArrowheads="1"/>
          </p:cNvSpPr>
          <p:nvPr/>
        </p:nvSpPr>
        <p:spPr bwMode="auto">
          <a:xfrm>
            <a:off x="2771775" y="6021388"/>
            <a:ext cx="3152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8-3  </a:t>
            </a:r>
            <a:r>
              <a:rPr lang="zh-CN" altLang="en-US" sz="2400" b="1"/>
              <a:t>显式链接结构 </a:t>
            </a:r>
          </a:p>
        </p:txBody>
      </p:sp>
      <p:graphicFrame>
        <p:nvGraphicFramePr>
          <p:cNvPr id="15365" name="Object 6">
            <a:extLst>
              <a:ext uri="{FF2B5EF4-FFF2-40B4-BE49-F238E27FC236}">
                <a16:creationId xmlns:a16="http://schemas.microsoft.com/office/drawing/2014/main" id="{9FB209D2-20AE-D0DC-B90A-4031E14AB7A6}"/>
              </a:ext>
            </a:extLst>
          </p:cNvPr>
          <p:cNvGraphicFramePr>
            <a:graphicFrameLocks noChangeAspect="1"/>
          </p:cNvGraphicFramePr>
          <p:nvPr/>
        </p:nvGraphicFramePr>
        <p:xfrm>
          <a:off x="1619250" y="2603500"/>
          <a:ext cx="6121400" cy="3327400"/>
        </p:xfrm>
        <a:graphic>
          <a:graphicData uri="http://schemas.openxmlformats.org/presentationml/2006/ole">
            <mc:AlternateContent xmlns:mc="http://schemas.openxmlformats.org/markup-compatibility/2006">
              <mc:Choice xmlns:v="urn:schemas-microsoft-com:vml" Requires="v">
                <p:oleObj name="VISIO" r:id="rId2" imgW="2506980" imgH="1310640" progId="Visio.Drawing.11">
                  <p:embed/>
                </p:oleObj>
              </mc:Choice>
              <mc:Fallback>
                <p:oleObj name="VISIO" r:id="rId2" imgW="2506980" imgH="1310640"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603500"/>
                        <a:ext cx="6121400" cy="332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64CBADF-4146-E63B-18BC-6B95480A1130}"/>
              </a:ext>
            </a:extLst>
          </p:cNvPr>
          <p:cNvSpPr txBox="1">
            <a:spLocks/>
          </p:cNvSpPr>
          <p:nvPr/>
        </p:nvSpPr>
        <p:spPr>
          <a:xfrm>
            <a:off x="685800" y="341313"/>
            <a:ext cx="7772400" cy="1143000"/>
          </a:xfrm>
          <a:prstGeom prst="rect">
            <a:avLst/>
          </a:prstGeom>
        </p:spPr>
        <p:txBody>
          <a:bodyPr/>
          <a:lstStyle/>
          <a:p>
            <a:pPr algn="ctr">
              <a:defRPr/>
            </a:pPr>
            <a:r>
              <a:rPr lang="en-US" altLang="zh-CN" sz="4400" b="1" kern="0" dirty="0">
                <a:solidFill>
                  <a:srgbClr val="660066"/>
                </a:solidFill>
                <a:latin typeface="+mj-lt"/>
                <a:ea typeface="楷体_GB2312" pitchFamily="49" charset="-122"/>
                <a:cs typeface="+mj-cs"/>
              </a:rPr>
              <a:t>8.1.3  FAT</a:t>
            </a:r>
            <a:r>
              <a:rPr lang="zh-CN" altLang="en-US" sz="4400" b="1" kern="0" dirty="0">
                <a:solidFill>
                  <a:srgbClr val="660066"/>
                </a:solidFill>
                <a:latin typeface="+mj-lt"/>
                <a:ea typeface="楷体_GB2312" pitchFamily="49" charset="-122"/>
                <a:cs typeface="+mj-cs"/>
              </a:rPr>
              <a:t>技术</a:t>
            </a:r>
          </a:p>
        </p:txBody>
      </p:sp>
      <p:sp>
        <p:nvSpPr>
          <p:cNvPr id="6" name="内容占位符 2">
            <a:extLst>
              <a:ext uri="{FF2B5EF4-FFF2-40B4-BE49-F238E27FC236}">
                <a16:creationId xmlns:a16="http://schemas.microsoft.com/office/drawing/2014/main" id="{A75AA9F3-EBAA-25AC-ABFF-8D05819EA93F}"/>
              </a:ext>
            </a:extLst>
          </p:cNvPr>
          <p:cNvSpPr txBox="1">
            <a:spLocks/>
          </p:cNvSpPr>
          <p:nvPr/>
        </p:nvSpPr>
        <p:spPr>
          <a:xfrm>
            <a:off x="250825" y="1196975"/>
            <a:ext cx="8642350" cy="4827588"/>
          </a:xfrm>
          <a:prstGeom prst="rect">
            <a:avLst/>
          </a:prstGeom>
        </p:spPr>
        <p:txBody>
          <a:bodyPr/>
          <a:lstStyle/>
          <a:p>
            <a:pPr marL="342900"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微软公司早、中期推出的操作系统都是采用</a:t>
            </a:r>
            <a:r>
              <a:rPr lang="en-US" altLang="zh-CN" sz="2800" b="1" kern="0" dirty="0">
                <a:solidFill>
                  <a:schemeClr val="accent2"/>
                </a:solidFill>
                <a:latin typeface="宋体" pitchFamily="2" charset="-122"/>
                <a:ea typeface="+mn-ea"/>
              </a:rPr>
              <a:t>FAT</a:t>
            </a:r>
            <a:r>
              <a:rPr lang="zh-CN" altLang="en-US" sz="2800" b="1" kern="0" dirty="0">
                <a:solidFill>
                  <a:schemeClr val="accent2"/>
                </a:solidFill>
                <a:latin typeface="宋体" pitchFamily="2" charset="-122"/>
                <a:ea typeface="+mn-ea"/>
              </a:rPr>
              <a:t>技术</a:t>
            </a:r>
          </a:p>
          <a:p>
            <a:pPr marL="742950" lvl="1" indent="-285750">
              <a:lnSpc>
                <a:spcPct val="110000"/>
              </a:lnSpc>
              <a:spcBef>
                <a:spcPct val="20000"/>
              </a:spcBef>
              <a:buFontTx/>
              <a:buChar char="–"/>
              <a:defRPr/>
            </a:pPr>
            <a:r>
              <a:rPr lang="en-US" altLang="zh-CN" kern="0" dirty="0">
                <a:latin typeface="宋体" pitchFamily="2" charset="-122"/>
                <a:ea typeface="+mn-ea"/>
              </a:rPr>
              <a:t>MSDOS</a:t>
            </a:r>
            <a:r>
              <a:rPr lang="zh-CN" altLang="en-US" kern="0" dirty="0">
                <a:latin typeface="宋体" pitchFamily="2" charset="-122"/>
                <a:ea typeface="+mn-ea"/>
              </a:rPr>
              <a:t>：</a:t>
            </a:r>
            <a:r>
              <a:rPr lang="en-US" altLang="zh-CN" kern="0" dirty="0">
                <a:latin typeface="宋体" pitchFamily="2" charset="-122"/>
                <a:ea typeface="+mn-ea"/>
              </a:rPr>
              <a:t>FAT12</a:t>
            </a:r>
            <a:r>
              <a:rPr lang="zh-CN" altLang="en-US" kern="0" dirty="0">
                <a:latin typeface="宋体" pitchFamily="2" charset="-122"/>
                <a:ea typeface="+mn-ea"/>
              </a:rPr>
              <a:t>、</a:t>
            </a:r>
            <a:r>
              <a:rPr lang="en-US" altLang="zh-CN" kern="0" dirty="0">
                <a:latin typeface="宋体" pitchFamily="2" charset="-122"/>
                <a:ea typeface="+mn-ea"/>
              </a:rPr>
              <a:t>FAT16</a:t>
            </a:r>
          </a:p>
          <a:p>
            <a:pPr marL="742950" lvl="1" indent="-285750">
              <a:lnSpc>
                <a:spcPct val="110000"/>
              </a:lnSpc>
              <a:spcBef>
                <a:spcPct val="20000"/>
              </a:spcBef>
              <a:buFontTx/>
              <a:buChar char="–"/>
              <a:defRPr/>
            </a:pPr>
            <a:r>
              <a:rPr lang="en-US" altLang="zh-CN" kern="0" dirty="0">
                <a:latin typeface="宋体" pitchFamily="2" charset="-122"/>
                <a:ea typeface="+mn-ea"/>
              </a:rPr>
              <a:t>Windows95</a:t>
            </a:r>
            <a:r>
              <a:rPr lang="zh-CN" altLang="en-US" kern="0" dirty="0">
                <a:latin typeface="宋体" pitchFamily="2" charset="-122"/>
                <a:ea typeface="+mn-ea"/>
              </a:rPr>
              <a:t>、</a:t>
            </a:r>
            <a:r>
              <a:rPr lang="en-US" altLang="zh-CN" kern="0" dirty="0">
                <a:latin typeface="宋体" pitchFamily="2" charset="-122"/>
                <a:ea typeface="+mn-ea"/>
              </a:rPr>
              <a:t>Windows98</a:t>
            </a:r>
            <a:r>
              <a:rPr lang="zh-CN" altLang="en-US" kern="0" dirty="0">
                <a:latin typeface="宋体" pitchFamily="2" charset="-122"/>
                <a:ea typeface="+mn-ea"/>
              </a:rPr>
              <a:t>：</a:t>
            </a:r>
            <a:r>
              <a:rPr lang="en-US" altLang="zh-CN" kern="0" dirty="0">
                <a:latin typeface="宋体" pitchFamily="2" charset="-122"/>
                <a:ea typeface="+mn-ea"/>
              </a:rPr>
              <a:t>FAT32</a:t>
            </a:r>
          </a:p>
          <a:p>
            <a:pPr marL="742950" lvl="1" indent="-285750">
              <a:lnSpc>
                <a:spcPct val="110000"/>
              </a:lnSpc>
              <a:spcBef>
                <a:spcPct val="20000"/>
              </a:spcBef>
              <a:buFontTx/>
              <a:buChar char="–"/>
              <a:defRPr/>
            </a:pPr>
            <a:r>
              <a:rPr lang="en-US" altLang="zh-CN" kern="0" dirty="0">
                <a:latin typeface="宋体" pitchFamily="2" charset="-122"/>
                <a:ea typeface="+mn-ea"/>
              </a:rPr>
              <a:t>Windows NT/2000/XP</a:t>
            </a:r>
            <a:r>
              <a:rPr lang="zh-CN" altLang="en-US" kern="0" dirty="0">
                <a:latin typeface="宋体" pitchFamily="2" charset="-122"/>
                <a:ea typeface="+mn-ea"/>
              </a:rPr>
              <a:t>：</a:t>
            </a:r>
            <a:r>
              <a:rPr lang="en-US" altLang="zh-CN" kern="0" dirty="0">
                <a:latin typeface="宋体" pitchFamily="2" charset="-122"/>
                <a:ea typeface="+mn-ea"/>
              </a:rPr>
              <a:t>NTFS</a:t>
            </a:r>
            <a:endParaRPr lang="zh-CN" altLang="en-US" kern="0" dirty="0">
              <a:latin typeface="宋体" pitchFamily="2" charset="-122"/>
              <a:ea typeface="+mn-ea"/>
            </a:endParaRPr>
          </a:p>
          <a:p>
            <a:pPr marL="342900" indent="-342900">
              <a:lnSpc>
                <a:spcPct val="110000"/>
              </a:lnSpc>
              <a:spcBef>
                <a:spcPct val="20000"/>
              </a:spcBef>
              <a:buFontTx/>
              <a:buChar char="•"/>
              <a:defRPr/>
            </a:pPr>
            <a:r>
              <a:rPr lang="en-US" altLang="zh-CN" sz="2800" b="1" kern="0" dirty="0">
                <a:solidFill>
                  <a:schemeClr val="accent2"/>
                </a:solidFill>
                <a:latin typeface="宋体" pitchFamily="2" charset="-122"/>
                <a:ea typeface="+mn-ea"/>
              </a:rPr>
              <a:t>FAT</a:t>
            </a:r>
          </a:p>
          <a:p>
            <a:pPr marL="742950" lvl="1" indent="-285750">
              <a:lnSpc>
                <a:spcPct val="110000"/>
              </a:lnSpc>
              <a:spcBef>
                <a:spcPct val="20000"/>
              </a:spcBef>
              <a:buFontTx/>
              <a:buChar char="–"/>
              <a:defRPr/>
            </a:pPr>
            <a:r>
              <a:rPr lang="zh-CN" altLang="en-US" kern="0" dirty="0">
                <a:latin typeface="宋体" pitchFamily="2" charset="-122"/>
                <a:ea typeface="+mn-ea"/>
              </a:rPr>
              <a:t>引入了</a:t>
            </a:r>
            <a:r>
              <a:rPr lang="zh-CN" altLang="en-US" b="1" kern="0" dirty="0">
                <a:solidFill>
                  <a:schemeClr val="accent2"/>
                </a:solidFill>
                <a:latin typeface="宋体" pitchFamily="2" charset="-122"/>
                <a:ea typeface="+mn-ea"/>
              </a:rPr>
              <a:t>卷</a:t>
            </a:r>
            <a:r>
              <a:rPr lang="zh-CN" altLang="en-US" kern="0" dirty="0">
                <a:latin typeface="宋体" pitchFamily="2" charset="-122"/>
                <a:ea typeface="+mn-ea"/>
              </a:rPr>
              <a:t>；</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支持将一个物理磁盘分成</a:t>
            </a:r>
            <a:r>
              <a:rPr lang="zh-CN" altLang="en-US" b="1" kern="0" dirty="0">
                <a:solidFill>
                  <a:schemeClr val="accent2"/>
                </a:solidFill>
                <a:latin typeface="宋体" pitchFamily="2" charset="-122"/>
                <a:ea typeface="+mn-ea"/>
              </a:rPr>
              <a:t>四个逻辑磁盘</a:t>
            </a:r>
            <a:r>
              <a:rPr lang="zh-CN" altLang="en-US" kern="0" dirty="0">
                <a:latin typeface="宋体" pitchFamily="2" charset="-122"/>
                <a:ea typeface="+mn-ea"/>
              </a:rPr>
              <a:t>，每个逻辑磁盘就是一个卷（也称分区）；</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一个卷中包含了</a:t>
            </a:r>
            <a:r>
              <a:rPr lang="zh-CN" altLang="en-US" b="1" kern="0" dirty="0">
                <a:solidFill>
                  <a:schemeClr val="accent2"/>
                </a:solidFill>
                <a:latin typeface="宋体" pitchFamily="2" charset="-122"/>
                <a:ea typeface="+mn-ea"/>
              </a:rPr>
              <a:t>文件信息</a:t>
            </a:r>
            <a:r>
              <a:rPr lang="zh-CN" altLang="en-US" kern="0" dirty="0">
                <a:latin typeface="宋体" pitchFamily="2" charset="-122"/>
                <a:ea typeface="+mn-ea"/>
              </a:rPr>
              <a:t>、</a:t>
            </a:r>
            <a:r>
              <a:rPr lang="zh-CN" altLang="en-US" b="1" kern="0" dirty="0">
                <a:solidFill>
                  <a:schemeClr val="accent2"/>
                </a:solidFill>
                <a:latin typeface="宋体" pitchFamily="2" charset="-122"/>
                <a:ea typeface="+mn-ea"/>
              </a:rPr>
              <a:t>一组文件</a:t>
            </a:r>
            <a:r>
              <a:rPr lang="zh-CN" altLang="en-US" kern="0" dirty="0">
                <a:latin typeface="宋体" pitchFamily="2" charset="-122"/>
                <a:ea typeface="+mn-ea"/>
              </a:rPr>
              <a:t>以及</a:t>
            </a:r>
            <a:r>
              <a:rPr lang="zh-CN" altLang="en-US" b="1" kern="0" dirty="0">
                <a:solidFill>
                  <a:schemeClr val="accent2"/>
                </a:solidFill>
                <a:latin typeface="宋体" pitchFamily="2" charset="-122"/>
                <a:ea typeface="+mn-ea"/>
              </a:rPr>
              <a:t>空闲空间</a:t>
            </a:r>
            <a:r>
              <a:rPr lang="zh-CN" altLang="en-US" kern="0" dirty="0">
                <a:latin typeface="宋体" pitchFamily="2" charset="-122"/>
                <a:ea typeface="+mn-ea"/>
              </a:rPr>
              <a:t>；</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每个卷专门有一个单独的区存放</a:t>
            </a:r>
            <a:r>
              <a:rPr lang="zh-CN" altLang="en-US" b="1" kern="0" dirty="0">
                <a:solidFill>
                  <a:schemeClr val="accent2"/>
                </a:solidFill>
                <a:latin typeface="宋体" pitchFamily="2" charset="-122"/>
                <a:ea typeface="+mn-ea"/>
              </a:rPr>
              <a:t>目录</a:t>
            </a:r>
            <a:r>
              <a:rPr lang="zh-CN" altLang="en-US" kern="0" dirty="0">
                <a:latin typeface="宋体" pitchFamily="2" charset="-122"/>
                <a:ea typeface="+mn-ea"/>
              </a:rPr>
              <a:t>、</a:t>
            </a:r>
            <a:r>
              <a:rPr lang="en-US" altLang="zh-CN" b="1" kern="0" dirty="0">
                <a:solidFill>
                  <a:schemeClr val="accent2"/>
                </a:solidFill>
                <a:latin typeface="宋体" pitchFamily="2" charset="-122"/>
                <a:ea typeface="+mn-ea"/>
              </a:rPr>
              <a:t>FAT</a:t>
            </a:r>
            <a:r>
              <a:rPr lang="zh-CN" altLang="en-US" b="1" kern="0" dirty="0">
                <a:solidFill>
                  <a:schemeClr val="accent2"/>
                </a:solidFill>
                <a:latin typeface="宋体" pitchFamily="2" charset="-122"/>
                <a:ea typeface="+mn-ea"/>
              </a:rPr>
              <a:t>表</a:t>
            </a:r>
            <a:r>
              <a:rPr lang="zh-CN" altLang="en-US" kern="0" dirty="0">
                <a:latin typeface="宋体" pitchFamily="2" charset="-122"/>
                <a:ea typeface="+mn-ea"/>
              </a:rPr>
              <a:t>和</a:t>
            </a:r>
            <a:r>
              <a:rPr lang="zh-CN" altLang="en-US" b="1" kern="0" dirty="0">
                <a:solidFill>
                  <a:schemeClr val="accent2"/>
                </a:solidFill>
                <a:latin typeface="宋体" pitchFamily="2" charset="-122"/>
                <a:ea typeface="+mn-ea"/>
              </a:rPr>
              <a:t>逻辑驱动器字母</a:t>
            </a:r>
            <a:r>
              <a:rPr lang="zh-CN" altLang="en-US" kern="0" dirty="0">
                <a:latin typeface="宋体" pitchFamily="2" charset="-122"/>
                <a:ea typeface="+mn-ea"/>
              </a:rPr>
              <a:t>。</a:t>
            </a:r>
            <a:endParaRPr lang="en-US" altLang="zh-CN" kern="0" dirty="0">
              <a:latin typeface="宋体" pitchFamily="2" charset="-122"/>
              <a:ea typeface="+mn-ea"/>
            </a:endParaRP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5">
            <a:extLst>
              <a:ext uri="{FF2B5EF4-FFF2-40B4-BE49-F238E27FC236}">
                <a16:creationId xmlns:a16="http://schemas.microsoft.com/office/drawing/2014/main" id="{C193CBF7-BC7A-D2B1-5246-E103782C5166}"/>
              </a:ext>
            </a:extLst>
          </p:cNvPr>
          <p:cNvGraphicFramePr>
            <a:graphicFrameLocks noChangeAspect="1"/>
          </p:cNvGraphicFramePr>
          <p:nvPr/>
        </p:nvGraphicFramePr>
        <p:xfrm>
          <a:off x="4375150" y="830263"/>
          <a:ext cx="5310188" cy="5056187"/>
        </p:xfrm>
        <a:graphic>
          <a:graphicData uri="http://schemas.openxmlformats.org/presentationml/2006/ole">
            <mc:AlternateContent xmlns:mc="http://schemas.openxmlformats.org/markup-compatibility/2006">
              <mc:Choice xmlns:v="urn:schemas-microsoft-com:vml" Requires="v">
                <p:oleObj name="VISIO" r:id="rId2" imgW="2301240" imgH="2186940" progId="Visio.Drawing.11">
                  <p:embed/>
                </p:oleObj>
              </mc:Choice>
              <mc:Fallback>
                <p:oleObj name="VISIO" r:id="rId2" imgW="2301240" imgH="218694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5150" y="830263"/>
                        <a:ext cx="5310188" cy="505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1" name="Text Box 6">
            <a:extLst>
              <a:ext uri="{FF2B5EF4-FFF2-40B4-BE49-F238E27FC236}">
                <a16:creationId xmlns:a16="http://schemas.microsoft.com/office/drawing/2014/main" id="{C3E6A5BA-0056-B97E-983E-7F07C10F4383}"/>
              </a:ext>
            </a:extLst>
          </p:cNvPr>
          <p:cNvSpPr txBox="1">
            <a:spLocks noChangeArrowheads="1"/>
          </p:cNvSpPr>
          <p:nvPr/>
        </p:nvSpPr>
        <p:spPr bwMode="auto">
          <a:xfrm>
            <a:off x="4284663" y="6021388"/>
            <a:ext cx="4751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t>图 </a:t>
            </a:r>
            <a:r>
              <a:rPr lang="en-US" altLang="zh-CN" sz="2400" b="1"/>
              <a:t>8-4  MS-DOS</a:t>
            </a:r>
            <a:r>
              <a:rPr lang="zh-CN" altLang="en-US" sz="2400" b="1"/>
              <a:t>的文件物理结构</a:t>
            </a:r>
          </a:p>
        </p:txBody>
      </p:sp>
      <p:sp>
        <p:nvSpPr>
          <p:cNvPr id="17412" name="Text Box 4">
            <a:extLst>
              <a:ext uri="{FF2B5EF4-FFF2-40B4-BE49-F238E27FC236}">
                <a16:creationId xmlns:a16="http://schemas.microsoft.com/office/drawing/2014/main" id="{91DC73DB-269E-E4B6-F49F-12032CB3A124}"/>
              </a:ext>
            </a:extLst>
          </p:cNvPr>
          <p:cNvSpPr txBox="1">
            <a:spLocks noChangeArrowheads="1"/>
          </p:cNvSpPr>
          <p:nvPr/>
        </p:nvSpPr>
        <p:spPr bwMode="auto">
          <a:xfrm>
            <a:off x="357188" y="404813"/>
            <a:ext cx="2022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a:t>
            </a:r>
            <a:r>
              <a:rPr kumimoji="0" lang="en-US" altLang="zh-CN" b="1">
                <a:solidFill>
                  <a:srgbClr val="C00000"/>
                </a:solidFill>
                <a:latin typeface="Arial" panose="020B0604020202020204" pitchFamily="34" charset="0"/>
              </a:rPr>
              <a:t>FAT12</a:t>
            </a:r>
            <a:endParaRPr kumimoji="0" lang="zh-CN" altLang="en-US" b="1">
              <a:solidFill>
                <a:srgbClr val="C00000"/>
              </a:solidFill>
              <a:latin typeface="Arial" panose="020B0604020202020204" pitchFamily="34" charset="0"/>
            </a:endParaRPr>
          </a:p>
        </p:txBody>
      </p:sp>
      <p:sp>
        <p:nvSpPr>
          <p:cNvPr id="6" name="内容占位符 2">
            <a:extLst>
              <a:ext uri="{FF2B5EF4-FFF2-40B4-BE49-F238E27FC236}">
                <a16:creationId xmlns:a16="http://schemas.microsoft.com/office/drawing/2014/main" id="{A86A6579-9726-7FFB-B27D-7FC3EE921B55}"/>
              </a:ext>
            </a:extLst>
          </p:cNvPr>
          <p:cNvSpPr txBox="1">
            <a:spLocks/>
          </p:cNvSpPr>
          <p:nvPr/>
        </p:nvSpPr>
        <p:spPr>
          <a:xfrm>
            <a:off x="250825" y="908050"/>
            <a:ext cx="4105275" cy="5045075"/>
          </a:xfrm>
          <a:prstGeom prst="rect">
            <a:avLst/>
          </a:prstGeom>
        </p:spPr>
        <p:txBody>
          <a:bodyPr/>
          <a:lstStyle/>
          <a:p>
            <a:pPr marL="342900" indent="-342900">
              <a:lnSpc>
                <a:spcPct val="110000"/>
              </a:lnSpc>
              <a:spcBef>
                <a:spcPct val="20000"/>
              </a:spcBef>
              <a:defRPr/>
            </a:pPr>
            <a:r>
              <a:rPr lang="zh-CN" altLang="en-US" sz="2800" b="1" kern="0" dirty="0">
                <a:solidFill>
                  <a:schemeClr val="accent2"/>
                </a:solidFill>
                <a:latin typeface="宋体" pitchFamily="2" charset="-122"/>
                <a:ea typeface="+mn-ea"/>
              </a:rPr>
              <a:t>早期的</a:t>
            </a:r>
            <a:r>
              <a:rPr lang="en-US" altLang="zh-CN" sz="2800" b="1" kern="0" dirty="0">
                <a:solidFill>
                  <a:schemeClr val="accent2"/>
                </a:solidFill>
                <a:latin typeface="宋体" pitchFamily="2" charset="-122"/>
                <a:ea typeface="+mn-ea"/>
              </a:rPr>
              <a:t>FAT12</a:t>
            </a:r>
            <a:r>
              <a:rPr lang="zh-CN" altLang="en-US" sz="2800" b="1" kern="0" dirty="0">
                <a:solidFill>
                  <a:schemeClr val="accent2"/>
                </a:solidFill>
                <a:latin typeface="宋体" pitchFamily="2" charset="-122"/>
                <a:ea typeface="+mn-ea"/>
              </a:rPr>
              <a:t>文件系统</a:t>
            </a:r>
            <a:endParaRPr lang="en-US" altLang="zh-CN" sz="2800" b="1" kern="0" dirty="0">
              <a:solidFill>
                <a:schemeClr val="accent2"/>
              </a:solidFill>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以</a:t>
            </a:r>
            <a:r>
              <a:rPr lang="zh-CN" altLang="en-US" b="1" kern="0" dirty="0">
                <a:solidFill>
                  <a:schemeClr val="accent2"/>
                </a:solidFill>
                <a:latin typeface="宋体" pitchFamily="2" charset="-122"/>
                <a:ea typeface="+mn-ea"/>
              </a:rPr>
              <a:t>盘块</a:t>
            </a:r>
            <a:r>
              <a:rPr lang="zh-CN" altLang="en-US" kern="0" dirty="0">
                <a:latin typeface="宋体" pitchFamily="2" charset="-122"/>
                <a:ea typeface="+mn-ea"/>
              </a:rPr>
              <a:t>为基本分配单位</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每个分区都配有两张相同的文件分配表</a:t>
            </a:r>
            <a:r>
              <a:rPr lang="en-US" altLang="zh-CN" b="1" kern="0" dirty="0">
                <a:solidFill>
                  <a:schemeClr val="accent2"/>
                </a:solidFill>
                <a:latin typeface="宋体" pitchFamily="2" charset="-122"/>
                <a:ea typeface="+mn-ea"/>
              </a:rPr>
              <a:t>FAT1</a:t>
            </a:r>
            <a:r>
              <a:rPr lang="zh-CN" altLang="en-US" kern="0" dirty="0">
                <a:latin typeface="宋体" pitchFamily="2" charset="-122"/>
                <a:ea typeface="+mn-ea"/>
              </a:rPr>
              <a:t>和</a:t>
            </a:r>
            <a:r>
              <a:rPr lang="en-US" altLang="zh-CN" b="1" kern="0" dirty="0">
                <a:solidFill>
                  <a:schemeClr val="accent2"/>
                </a:solidFill>
                <a:latin typeface="宋体" pitchFamily="2" charset="-122"/>
                <a:ea typeface="+mn-ea"/>
              </a:rPr>
              <a:t>FAT2</a:t>
            </a:r>
          </a:p>
          <a:p>
            <a:pPr marL="342900" indent="-342900">
              <a:lnSpc>
                <a:spcPct val="110000"/>
              </a:lnSpc>
              <a:spcBef>
                <a:spcPct val="20000"/>
              </a:spcBef>
              <a:buFontTx/>
              <a:buChar char="•"/>
              <a:defRPr/>
            </a:pPr>
            <a:r>
              <a:rPr lang="en-US" altLang="zh-CN" kern="0" dirty="0">
                <a:latin typeface="宋体" pitchFamily="2" charset="-122"/>
                <a:ea typeface="+mn-ea"/>
              </a:rPr>
              <a:t>FAT</a:t>
            </a:r>
            <a:r>
              <a:rPr lang="zh-CN" altLang="en-US" kern="0" dirty="0">
                <a:latin typeface="宋体" pitchFamily="2" charset="-122"/>
                <a:ea typeface="+mn-ea"/>
              </a:rPr>
              <a:t>的每个表项中存放下一个盘块号</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文件的第一个盘块号放在文件的</a:t>
            </a:r>
            <a:r>
              <a:rPr lang="en-US" altLang="zh-CN" kern="0" dirty="0">
                <a:latin typeface="宋体" pitchFamily="2" charset="-122"/>
                <a:ea typeface="+mn-ea"/>
              </a:rPr>
              <a:t>FCB</a:t>
            </a:r>
            <a:r>
              <a:rPr lang="zh-CN" altLang="en-US" kern="0" dirty="0">
                <a:latin typeface="宋体" pitchFamily="2" charset="-122"/>
                <a:ea typeface="+mn-ea"/>
              </a:rPr>
              <a:t>中</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每个</a:t>
            </a:r>
            <a:r>
              <a:rPr lang="en-US" altLang="zh-CN" kern="0" dirty="0">
                <a:latin typeface="宋体" pitchFamily="2" charset="-122"/>
                <a:ea typeface="+mn-ea"/>
              </a:rPr>
              <a:t>FAT</a:t>
            </a:r>
            <a:r>
              <a:rPr lang="zh-CN" altLang="en-US" kern="0" dirty="0">
                <a:latin typeface="宋体" pitchFamily="2" charset="-122"/>
                <a:ea typeface="+mn-ea"/>
              </a:rPr>
              <a:t>表项为</a:t>
            </a:r>
            <a:r>
              <a:rPr lang="en-US" altLang="zh-CN" kern="0" dirty="0">
                <a:latin typeface="宋体" pitchFamily="2" charset="-122"/>
                <a:ea typeface="+mn-ea"/>
              </a:rPr>
              <a:t>12</a:t>
            </a:r>
            <a:r>
              <a:rPr lang="zh-CN" altLang="en-US" kern="0" dirty="0">
                <a:latin typeface="宋体" pitchFamily="2" charset="-122"/>
                <a:ea typeface="+mn-ea"/>
              </a:rPr>
              <a:t>位（</a:t>
            </a:r>
            <a:r>
              <a:rPr lang="en-US" altLang="zh-CN" kern="0" dirty="0">
                <a:latin typeface="宋体" pitchFamily="2" charset="-122"/>
                <a:ea typeface="+mn-ea"/>
              </a:rPr>
              <a:t>12</a:t>
            </a:r>
            <a:r>
              <a:rPr lang="zh-CN" altLang="en-US" kern="0" dirty="0">
                <a:latin typeface="宋体" pitchFamily="2" charset="-122"/>
                <a:ea typeface="+mn-ea"/>
              </a:rPr>
              <a:t>位</a:t>
            </a:r>
            <a:r>
              <a:rPr lang="en-US" altLang="zh-CN" kern="0" dirty="0">
                <a:latin typeface="宋体" pitchFamily="2" charset="-122"/>
                <a:ea typeface="+mn-ea"/>
              </a:rPr>
              <a:t>int</a:t>
            </a:r>
            <a:r>
              <a:rPr lang="zh-CN" altLang="en-US" kern="0">
                <a:latin typeface="宋体" pitchFamily="2" charset="-122"/>
                <a:ea typeface="+mn-ea"/>
              </a:rPr>
              <a:t>类型），</a:t>
            </a:r>
            <a:r>
              <a:rPr lang="zh-CN" altLang="en-US" kern="0" dirty="0">
                <a:latin typeface="宋体" pitchFamily="2" charset="-122"/>
                <a:ea typeface="+mn-ea"/>
              </a:rPr>
              <a:t>最多允许有</a:t>
            </a:r>
            <a:r>
              <a:rPr lang="en-US" altLang="zh-CN" kern="0" dirty="0">
                <a:latin typeface="宋体" pitchFamily="2" charset="-122"/>
                <a:ea typeface="+mn-ea"/>
              </a:rPr>
              <a:t>4096</a:t>
            </a:r>
            <a:r>
              <a:rPr lang="zh-CN" altLang="en-US" kern="0" dirty="0">
                <a:latin typeface="宋体" pitchFamily="2" charset="-122"/>
                <a:ea typeface="+mn-ea"/>
              </a:rPr>
              <a:t>个表项，假定每个盘块为</a:t>
            </a:r>
            <a:r>
              <a:rPr lang="en-US" altLang="zh-CN" kern="0" dirty="0">
                <a:latin typeface="宋体" pitchFamily="2" charset="-122"/>
                <a:ea typeface="+mn-ea"/>
              </a:rPr>
              <a:t>512B</a:t>
            </a:r>
            <a:r>
              <a:rPr lang="zh-CN" altLang="en-US" kern="0" dirty="0">
                <a:latin typeface="宋体" pitchFamily="2" charset="-122"/>
                <a:ea typeface="+mn-ea"/>
              </a:rPr>
              <a:t>，每个磁盘分区的容量为</a:t>
            </a:r>
            <a:r>
              <a:rPr lang="en-US" altLang="zh-CN" kern="0" dirty="0">
                <a:latin typeface="宋体" pitchFamily="2" charset="-122"/>
                <a:ea typeface="+mn-ea"/>
              </a:rPr>
              <a:t>2MB</a:t>
            </a:r>
            <a:r>
              <a:rPr lang="zh-CN" altLang="en-US" kern="0" dirty="0">
                <a:latin typeface="宋体" pitchFamily="2" charset="-122"/>
                <a:ea typeface="+mn-ea"/>
              </a:rPr>
              <a:t>，一个物理磁盘最大的容量为</a:t>
            </a:r>
            <a:r>
              <a:rPr lang="en-US" altLang="zh-CN" kern="0" dirty="0">
                <a:latin typeface="宋体" pitchFamily="2" charset="-122"/>
                <a:ea typeface="+mn-ea"/>
              </a:rPr>
              <a:t>8MB</a:t>
            </a: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a:extLst>
              <a:ext uri="{FF2B5EF4-FFF2-40B4-BE49-F238E27FC236}">
                <a16:creationId xmlns:a16="http://schemas.microsoft.com/office/drawing/2014/main" id="{A419038C-1673-34FC-A263-452687D875F2}"/>
              </a:ext>
            </a:extLst>
          </p:cNvPr>
          <p:cNvSpPr txBox="1">
            <a:spLocks noChangeArrowheads="1"/>
          </p:cNvSpPr>
          <p:nvPr/>
        </p:nvSpPr>
        <p:spPr bwMode="auto">
          <a:xfrm>
            <a:off x="357188" y="404813"/>
            <a:ext cx="2022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a:t>
            </a:r>
            <a:r>
              <a:rPr kumimoji="0" lang="en-US" altLang="zh-CN" b="1">
                <a:solidFill>
                  <a:srgbClr val="C00000"/>
                </a:solidFill>
                <a:latin typeface="Arial" panose="020B0604020202020204" pitchFamily="34" charset="0"/>
              </a:rPr>
              <a:t>FAT12</a:t>
            </a:r>
            <a:endParaRPr kumimoji="0" lang="zh-CN" altLang="en-US" b="1">
              <a:solidFill>
                <a:srgbClr val="C00000"/>
              </a:solidFill>
              <a:latin typeface="Arial" panose="020B0604020202020204" pitchFamily="34" charset="0"/>
            </a:endParaRPr>
          </a:p>
        </p:txBody>
      </p:sp>
      <p:sp>
        <p:nvSpPr>
          <p:cNvPr id="6" name="内容占位符 2">
            <a:extLst>
              <a:ext uri="{FF2B5EF4-FFF2-40B4-BE49-F238E27FC236}">
                <a16:creationId xmlns:a16="http://schemas.microsoft.com/office/drawing/2014/main" id="{5CC32006-95AC-7CCA-26F1-81266B966C7B}"/>
              </a:ext>
            </a:extLst>
          </p:cNvPr>
          <p:cNvSpPr txBox="1">
            <a:spLocks/>
          </p:cNvSpPr>
          <p:nvPr/>
        </p:nvSpPr>
        <p:spPr>
          <a:xfrm>
            <a:off x="250825" y="908050"/>
            <a:ext cx="8569325" cy="5045075"/>
          </a:xfrm>
          <a:prstGeom prst="rect">
            <a:avLst/>
          </a:prstGeom>
        </p:spPr>
        <p:txBody>
          <a:bodyPr/>
          <a:lstStyle/>
          <a:p>
            <a:pPr marL="342900" indent="-342900">
              <a:lnSpc>
                <a:spcPct val="110000"/>
              </a:lnSpc>
              <a:spcBef>
                <a:spcPct val="20000"/>
              </a:spcBef>
              <a:defRPr/>
            </a:pPr>
            <a:r>
              <a:rPr lang="zh-CN" altLang="en-US" sz="2800" b="1" kern="0" dirty="0">
                <a:solidFill>
                  <a:schemeClr val="accent2"/>
                </a:solidFill>
                <a:latin typeface="宋体" pitchFamily="2" charset="-122"/>
                <a:ea typeface="+mn-ea"/>
              </a:rPr>
              <a:t>以簇为单位的</a:t>
            </a:r>
            <a:r>
              <a:rPr lang="en-US" altLang="zh-CN" sz="2800" b="1" kern="0" dirty="0">
                <a:solidFill>
                  <a:schemeClr val="accent2"/>
                </a:solidFill>
                <a:latin typeface="宋体" pitchFamily="2" charset="-122"/>
                <a:ea typeface="+mn-ea"/>
              </a:rPr>
              <a:t>FAT12</a:t>
            </a:r>
            <a:r>
              <a:rPr lang="zh-CN" altLang="en-US" sz="2800" b="1" kern="0" dirty="0">
                <a:solidFill>
                  <a:schemeClr val="accent2"/>
                </a:solidFill>
                <a:latin typeface="宋体" pitchFamily="2" charset="-122"/>
                <a:ea typeface="+mn-ea"/>
              </a:rPr>
              <a:t>文件系统</a:t>
            </a:r>
            <a:endParaRPr lang="en-US" altLang="zh-CN" sz="2800" b="1" kern="0" dirty="0">
              <a:solidFill>
                <a:schemeClr val="accent2"/>
              </a:solidFill>
              <a:latin typeface="宋体" pitchFamily="2" charset="-122"/>
              <a:ea typeface="+mn-ea"/>
            </a:endParaRPr>
          </a:p>
          <a:p>
            <a:pPr marL="342900" indent="-342900">
              <a:lnSpc>
                <a:spcPct val="110000"/>
              </a:lnSpc>
              <a:spcBef>
                <a:spcPct val="20000"/>
              </a:spcBef>
              <a:buFontTx/>
              <a:buChar char="•"/>
              <a:defRPr/>
            </a:pPr>
            <a:r>
              <a:rPr lang="zh-CN" altLang="en-US" b="1" kern="0" dirty="0">
                <a:solidFill>
                  <a:schemeClr val="accent2"/>
                </a:solidFill>
                <a:latin typeface="宋体" pitchFamily="2" charset="-122"/>
                <a:ea typeface="+mn-ea"/>
              </a:rPr>
              <a:t>簇</a:t>
            </a:r>
            <a:r>
              <a:rPr lang="en-US" altLang="zh-CN" b="1" kern="0" dirty="0">
                <a:solidFill>
                  <a:schemeClr val="accent2"/>
                </a:solidFill>
                <a:latin typeface="宋体" pitchFamily="2" charset="-122"/>
                <a:ea typeface="+mn-ea"/>
              </a:rPr>
              <a:t>(cluster)</a:t>
            </a:r>
            <a:r>
              <a:rPr lang="zh-CN" altLang="en-US" kern="0" dirty="0">
                <a:latin typeface="宋体" pitchFamily="2" charset="-122"/>
                <a:ea typeface="+mn-ea"/>
              </a:rPr>
              <a:t>是一组相邻的扇区，为一个虚拟扇区；</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以</a:t>
            </a:r>
            <a:r>
              <a:rPr lang="zh-CN" altLang="en-US" b="1" kern="0" dirty="0">
                <a:solidFill>
                  <a:schemeClr val="accent2"/>
                </a:solidFill>
                <a:latin typeface="宋体" pitchFamily="2" charset="-122"/>
                <a:ea typeface="+mn-ea"/>
              </a:rPr>
              <a:t>簇</a:t>
            </a:r>
            <a:r>
              <a:rPr lang="zh-CN" altLang="en-US" kern="0" dirty="0">
                <a:latin typeface="宋体" pitchFamily="2" charset="-122"/>
                <a:ea typeface="+mn-ea"/>
              </a:rPr>
              <a:t>作为盘块分配的基本单位；</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kern="0" dirty="0">
                <a:latin typeface="宋体" pitchFamily="2" charset="-122"/>
                <a:ea typeface="+mn-ea"/>
              </a:rPr>
              <a:t>簇的大小一般是</a:t>
            </a:r>
            <a:r>
              <a:rPr lang="en-US" altLang="zh-CN" kern="0" dirty="0">
                <a:latin typeface="宋体" pitchFamily="2" charset="-122"/>
                <a:ea typeface="+mn-ea"/>
              </a:rPr>
              <a:t>2</a:t>
            </a:r>
            <a:r>
              <a:rPr lang="en-US" altLang="zh-CN" kern="0" baseline="30000" dirty="0">
                <a:latin typeface="宋体" pitchFamily="2" charset="-122"/>
                <a:ea typeface="+mn-ea"/>
              </a:rPr>
              <a:t>n</a:t>
            </a:r>
            <a:r>
              <a:rPr lang="zh-CN" altLang="en-US" kern="0" dirty="0">
                <a:latin typeface="宋体" pitchFamily="2" charset="-122"/>
                <a:ea typeface="+mn-ea"/>
              </a:rPr>
              <a:t>个盘块</a:t>
            </a:r>
            <a:endParaRPr lang="en-US" altLang="zh-CN" kern="0" dirty="0">
              <a:latin typeface="宋体" pitchFamily="2" charset="-122"/>
              <a:ea typeface="+mn-ea"/>
            </a:endParaRPr>
          </a:p>
          <a:p>
            <a:pPr marL="342900" indent="-342900">
              <a:lnSpc>
                <a:spcPct val="110000"/>
              </a:lnSpc>
              <a:spcBef>
                <a:spcPct val="20000"/>
              </a:spcBef>
              <a:buFontTx/>
              <a:buChar char="•"/>
              <a:defRPr/>
            </a:pPr>
            <a:r>
              <a:rPr lang="en-US" altLang="zh-CN" kern="0" dirty="0">
                <a:latin typeface="宋体" pitchFamily="2" charset="-122"/>
                <a:ea typeface="+mn-ea"/>
              </a:rPr>
              <a:t>MS-DOS</a:t>
            </a:r>
            <a:r>
              <a:rPr lang="zh-CN" altLang="en-US" kern="0" dirty="0">
                <a:latin typeface="宋体" pitchFamily="2" charset="-122"/>
                <a:ea typeface="+mn-ea"/>
              </a:rPr>
              <a:t>中簇的容量：</a:t>
            </a:r>
            <a:r>
              <a:rPr lang="en-US" altLang="zh-CN" kern="0" dirty="0">
                <a:latin typeface="宋体" pitchFamily="2" charset="-122"/>
                <a:ea typeface="+mn-ea"/>
              </a:rPr>
              <a:t>1</a:t>
            </a:r>
            <a:r>
              <a:rPr lang="zh-CN" altLang="en-US" kern="0" dirty="0">
                <a:latin typeface="宋体" pitchFamily="2" charset="-122"/>
                <a:ea typeface="+mn-ea"/>
              </a:rPr>
              <a:t>、</a:t>
            </a:r>
            <a:r>
              <a:rPr lang="en-US" altLang="zh-CN" kern="0" dirty="0">
                <a:latin typeface="宋体" pitchFamily="2" charset="-122"/>
                <a:ea typeface="+mn-ea"/>
              </a:rPr>
              <a:t>2</a:t>
            </a:r>
            <a:r>
              <a:rPr lang="zh-CN" altLang="en-US" kern="0" dirty="0">
                <a:latin typeface="宋体" pitchFamily="2" charset="-122"/>
                <a:ea typeface="+mn-ea"/>
              </a:rPr>
              <a:t>、</a:t>
            </a:r>
            <a:r>
              <a:rPr lang="en-US" altLang="zh-CN" kern="0" dirty="0">
                <a:latin typeface="宋体" pitchFamily="2" charset="-122"/>
                <a:ea typeface="+mn-ea"/>
              </a:rPr>
              <a:t>4</a:t>
            </a:r>
            <a:r>
              <a:rPr lang="zh-CN" altLang="en-US" kern="0" dirty="0">
                <a:latin typeface="宋体" pitchFamily="2" charset="-122"/>
                <a:ea typeface="+mn-ea"/>
              </a:rPr>
              <a:t>、</a:t>
            </a:r>
            <a:r>
              <a:rPr lang="en-US" altLang="zh-CN" kern="0" dirty="0">
                <a:latin typeface="宋体" pitchFamily="2" charset="-122"/>
                <a:ea typeface="+mn-ea"/>
              </a:rPr>
              <a:t>8</a:t>
            </a:r>
            <a:r>
              <a:rPr lang="zh-CN" altLang="en-US" kern="0" dirty="0">
                <a:latin typeface="宋体" pitchFamily="2" charset="-122"/>
                <a:ea typeface="+mn-ea"/>
              </a:rPr>
              <a:t>个扇区</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b="1" kern="0" dirty="0">
                <a:solidFill>
                  <a:schemeClr val="accent2"/>
                </a:solidFill>
                <a:latin typeface="宋体" pitchFamily="2" charset="-122"/>
                <a:ea typeface="+mn-ea"/>
              </a:rPr>
              <a:t>优点：</a:t>
            </a:r>
            <a:endParaRPr lang="en-US" altLang="zh-CN" b="1" kern="0" dirty="0">
              <a:solidFill>
                <a:schemeClr val="accent2"/>
              </a:solidFill>
              <a:latin typeface="宋体" pitchFamily="2" charset="-122"/>
              <a:ea typeface="+mn-ea"/>
            </a:endParaRPr>
          </a:p>
          <a:p>
            <a:pPr marL="742950" lvl="1" indent="-285750">
              <a:lnSpc>
                <a:spcPct val="110000"/>
              </a:lnSpc>
              <a:spcBef>
                <a:spcPct val="20000"/>
              </a:spcBef>
              <a:buFontTx/>
              <a:buChar char="–"/>
              <a:defRPr/>
            </a:pPr>
            <a:r>
              <a:rPr lang="en-US" altLang="zh-CN" kern="0" dirty="0">
                <a:latin typeface="宋体" pitchFamily="2" charset="-122"/>
                <a:ea typeface="+mn-ea"/>
              </a:rPr>
              <a:t>FAT</a:t>
            </a:r>
            <a:r>
              <a:rPr lang="zh-CN" altLang="en-US" kern="0" dirty="0">
                <a:latin typeface="宋体" pitchFamily="2" charset="-122"/>
                <a:ea typeface="+mn-ea"/>
              </a:rPr>
              <a:t>表占用的存储空间减少；</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减少访问</a:t>
            </a:r>
            <a:r>
              <a:rPr lang="en-US" altLang="zh-CN" kern="0" dirty="0">
                <a:latin typeface="宋体" pitchFamily="2" charset="-122"/>
                <a:ea typeface="+mn-ea"/>
              </a:rPr>
              <a:t>FAT</a:t>
            </a:r>
            <a:r>
              <a:rPr lang="zh-CN" altLang="en-US" kern="0" dirty="0">
                <a:latin typeface="宋体" pitchFamily="2" charset="-122"/>
                <a:ea typeface="+mn-ea"/>
              </a:rPr>
              <a:t>表的存取开销。</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b="1" kern="0" dirty="0">
                <a:solidFill>
                  <a:schemeClr val="accent2"/>
                </a:solidFill>
                <a:latin typeface="宋体" pitchFamily="2" charset="-122"/>
                <a:ea typeface="+mn-ea"/>
              </a:rPr>
              <a:t>缺点：</a:t>
            </a:r>
            <a:endParaRPr lang="en-US" altLang="zh-CN" b="1" kern="0" dirty="0">
              <a:solidFill>
                <a:schemeClr val="accent2"/>
              </a:solidFill>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簇内碎片增大；</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磁盘容量受限，通常只能为数十</a:t>
            </a:r>
            <a:r>
              <a:rPr lang="en-US" altLang="zh-CN" kern="0" dirty="0">
                <a:latin typeface="宋体" pitchFamily="2" charset="-122"/>
                <a:ea typeface="+mn-ea"/>
              </a:rPr>
              <a:t>MB</a:t>
            </a:r>
          </a:p>
          <a:p>
            <a:pPr marL="742950" lvl="1" indent="-285750">
              <a:lnSpc>
                <a:spcPct val="110000"/>
              </a:lnSpc>
              <a:spcBef>
                <a:spcPct val="20000"/>
              </a:spcBef>
              <a:buFontTx/>
              <a:buChar char="–"/>
              <a:defRPr/>
            </a:pPr>
            <a:r>
              <a:rPr lang="zh-CN" altLang="en-US" kern="0" dirty="0">
                <a:latin typeface="宋体" pitchFamily="2" charset="-122"/>
                <a:ea typeface="+mn-ea"/>
              </a:rPr>
              <a:t>只支持短文件名（</a:t>
            </a:r>
            <a:r>
              <a:rPr lang="en-US" altLang="zh-CN" kern="0" dirty="0">
                <a:latin typeface="宋体" pitchFamily="2" charset="-122"/>
                <a:ea typeface="+mn-ea"/>
              </a:rPr>
              <a:t>8+3</a:t>
            </a:r>
            <a:r>
              <a:rPr lang="zh-CN" altLang="en-US" kern="0" dirty="0">
                <a:latin typeface="宋体" pitchFamily="2" charset="-122"/>
                <a:ea typeface="+mn-ea"/>
              </a:rPr>
              <a:t>）。</a:t>
            </a:r>
            <a:endParaRPr lang="en-US" altLang="zh-CN" kern="0" dirty="0">
              <a:latin typeface="宋体" pitchFamily="2" charset="-122"/>
              <a:ea typeface="+mn-ea"/>
            </a:endParaRPr>
          </a:p>
        </p:txBody>
      </p:sp>
      <p:pic>
        <p:nvPicPr>
          <p:cNvPr id="72708" name="Picture 4" descr="C:\Documents and Settings\xxy\Local Settings\Temporary Internet Files\Content.IE5\SL5QXHWH\13B0XS030-501M0[1].jpg">
            <a:extLst>
              <a:ext uri="{FF2B5EF4-FFF2-40B4-BE49-F238E27FC236}">
                <a16:creationId xmlns:a16="http://schemas.microsoft.com/office/drawing/2014/main" id="{18EB7E5E-9A1F-7C63-F61D-E56704836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0" y="5084763"/>
            <a:ext cx="143986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云形标注 8">
            <a:extLst>
              <a:ext uri="{FF2B5EF4-FFF2-40B4-BE49-F238E27FC236}">
                <a16:creationId xmlns:a16="http://schemas.microsoft.com/office/drawing/2014/main" id="{7204BC54-F61E-47AB-403A-B035A4588897}"/>
              </a:ext>
            </a:extLst>
          </p:cNvPr>
          <p:cNvSpPr>
            <a:spLocks noChangeArrowheads="1"/>
          </p:cNvSpPr>
          <p:nvPr/>
        </p:nvSpPr>
        <p:spPr bwMode="auto">
          <a:xfrm>
            <a:off x="4932363" y="3141663"/>
            <a:ext cx="2879725" cy="1943100"/>
          </a:xfrm>
          <a:prstGeom prst="cloudCallout">
            <a:avLst>
              <a:gd name="adj1" fmla="val 46199"/>
              <a:gd name="adj2" fmla="val 74546"/>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 name="矩形 6">
            <a:extLst>
              <a:ext uri="{FF2B5EF4-FFF2-40B4-BE49-F238E27FC236}">
                <a16:creationId xmlns:a16="http://schemas.microsoft.com/office/drawing/2014/main" id="{7DA0F911-E0E7-E6DE-FAF7-C82534658536}"/>
              </a:ext>
            </a:extLst>
          </p:cNvPr>
          <p:cNvSpPr/>
          <p:nvPr/>
        </p:nvSpPr>
        <p:spPr>
          <a:xfrm>
            <a:off x="5219700" y="3284538"/>
            <a:ext cx="2376488" cy="1570037"/>
          </a:xfrm>
          <a:prstGeom prst="rect">
            <a:avLst/>
          </a:prstGeom>
        </p:spPr>
        <p:txBody>
          <a:bodyPr>
            <a:spAutoFit/>
          </a:bodyPr>
          <a:lstStyle/>
          <a:p>
            <a:pPr eaLnBrk="1" hangingPunct="1">
              <a:defRPr/>
            </a:pPr>
            <a:r>
              <a:rPr lang="zh-CN" altLang="en-US" b="1" kern="0" dirty="0">
                <a:solidFill>
                  <a:srgbClr val="C00000"/>
                </a:solidFill>
                <a:latin typeface="宋体" pitchFamily="2" charset="-122"/>
              </a:rPr>
              <a:t>如果簇的容量为</a:t>
            </a:r>
            <a:r>
              <a:rPr lang="en-US" altLang="zh-CN" b="1" kern="0" dirty="0">
                <a:solidFill>
                  <a:srgbClr val="C00000"/>
                </a:solidFill>
                <a:latin typeface="宋体" pitchFamily="2" charset="-122"/>
              </a:rPr>
              <a:t>8</a:t>
            </a:r>
            <a:r>
              <a:rPr lang="zh-CN" altLang="en-US" b="1" kern="0" dirty="0">
                <a:solidFill>
                  <a:srgbClr val="C00000"/>
                </a:solidFill>
                <a:latin typeface="宋体" pitchFamily="2" charset="-122"/>
              </a:rPr>
              <a:t>个扇区，则一个物理磁盘最大的容量为</a:t>
            </a:r>
            <a:r>
              <a:rPr lang="en-US" altLang="zh-CN" b="1" kern="0" dirty="0">
                <a:solidFill>
                  <a:srgbClr val="C00000"/>
                </a:solidFill>
                <a:latin typeface="宋体" pitchFamily="2" charset="-122"/>
              </a:rPr>
              <a:t>?</a:t>
            </a:r>
            <a:endParaRPr lang="zh-CN" altLang="en-US" b="1" dirty="0">
              <a:solidFill>
                <a:srgbClr val="C00000"/>
              </a:solidFill>
            </a:endParaRPr>
          </a:p>
        </p:txBody>
      </p:sp>
      <p:sp>
        <p:nvSpPr>
          <p:cNvPr id="8" name="矩形 7">
            <a:extLst>
              <a:ext uri="{FF2B5EF4-FFF2-40B4-BE49-F238E27FC236}">
                <a16:creationId xmlns:a16="http://schemas.microsoft.com/office/drawing/2014/main" id="{94FC8F22-D6A4-B18A-23FA-F0E4B9A35C96}"/>
              </a:ext>
            </a:extLst>
          </p:cNvPr>
          <p:cNvSpPr>
            <a:spLocks noChangeArrowheads="1"/>
          </p:cNvSpPr>
          <p:nvPr/>
        </p:nvSpPr>
        <p:spPr bwMode="auto">
          <a:xfrm>
            <a:off x="5219700" y="3290888"/>
            <a:ext cx="25558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solidFill>
                  <a:srgbClr val="C00000"/>
                </a:solidFill>
              </a:rPr>
              <a:t>答案为：最大分区空间为</a:t>
            </a:r>
            <a:r>
              <a:rPr lang="en-US" altLang="zh-CN" sz="2400" b="1">
                <a:solidFill>
                  <a:srgbClr val="C00000"/>
                </a:solidFill>
              </a:rPr>
              <a:t>2</a:t>
            </a:r>
            <a:r>
              <a:rPr lang="en-US" altLang="zh-CN" sz="2400" b="1" baseline="30000">
                <a:solidFill>
                  <a:srgbClr val="C00000"/>
                </a:solidFill>
              </a:rPr>
              <a:t>12</a:t>
            </a:r>
            <a:r>
              <a:rPr lang="en-US" altLang="zh-CN" sz="2400" b="1">
                <a:solidFill>
                  <a:srgbClr val="C00000"/>
                </a:solidFill>
              </a:rPr>
              <a:t>*8* 512B=16MB</a:t>
            </a:r>
            <a:r>
              <a:rPr lang="zh-CN" altLang="en-US" sz="2400" b="1">
                <a:solidFill>
                  <a:srgbClr val="C00000"/>
                </a:solidFill>
              </a:rPr>
              <a:t>；物理磁盘最大容量为</a:t>
            </a:r>
            <a:r>
              <a:rPr lang="en-US" altLang="zh-CN" sz="2400" b="1">
                <a:solidFill>
                  <a:srgbClr val="C00000"/>
                </a:solidFill>
              </a:rPr>
              <a:t>64MB</a:t>
            </a:r>
            <a:endParaRPr lang="zh-CN" altLang="en-US" sz="2400" b="1">
              <a:solidFill>
                <a:srgbClr val="C00000"/>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708"/>
                                        </p:tgtEl>
                                        <p:attrNameLst>
                                          <p:attrName>style.visibility</p:attrName>
                                        </p:attrNameLst>
                                      </p:cBhvr>
                                      <p:to>
                                        <p:strVal val="visible"/>
                                      </p:to>
                                    </p:set>
                                    <p:animEffect transition="in" filter="fade">
                                      <p:cBhvr>
                                        <p:cTn id="17" dur="1000"/>
                                        <p:tgtEl>
                                          <p:spTgt spid="72708"/>
                                        </p:tgtEl>
                                      </p:cBhvr>
                                    </p:animEffect>
                                    <p:anim calcmode="lin" valueType="num">
                                      <p:cBhvr>
                                        <p:cTn id="18" dur="1000" fill="hold"/>
                                        <p:tgtEl>
                                          <p:spTgt spid="72708"/>
                                        </p:tgtEl>
                                        <p:attrNameLst>
                                          <p:attrName>ppt_x</p:attrName>
                                        </p:attrNameLst>
                                      </p:cBhvr>
                                      <p:tavLst>
                                        <p:tav tm="0">
                                          <p:val>
                                            <p:strVal val="#ppt_x"/>
                                          </p:val>
                                        </p:tav>
                                        <p:tav tm="100000">
                                          <p:val>
                                            <p:strVal val="#ppt_x"/>
                                          </p:val>
                                        </p:tav>
                                      </p:tavLst>
                                    </p:anim>
                                    <p:anim calcmode="lin" valueType="num">
                                      <p:cBhvr>
                                        <p:cTn id="19" dur="1000" fill="hold"/>
                                        <p:tgtEl>
                                          <p:spTgt spid="72708"/>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xit" presetSubtype="0" fill="hold" grpId="1" nodeType="clickEffect">
                                  <p:stCondLst>
                                    <p:cond delay="0"/>
                                  </p:stCondLst>
                                  <p:childTnLst>
                                    <p:animEffect transition="out" filter="fade">
                                      <p:cBhvr>
                                        <p:cTn id="23" dur="2000"/>
                                        <p:tgtEl>
                                          <p:spTgt spid="7"/>
                                        </p:tgtEl>
                                      </p:cBhvr>
                                    </p:animEffect>
                                    <p:set>
                                      <p:cBhvr>
                                        <p:cTn id="24" dur="1" fill="hold">
                                          <p:stCondLst>
                                            <p:cond delay="1999"/>
                                          </p:stCondLst>
                                        </p:cTn>
                                        <p:tgtEl>
                                          <p:spTgt spid="7"/>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strVal val="#ppt_w*0.70"/>
                                          </p:val>
                                        </p:tav>
                                        <p:tav tm="100000">
                                          <p:val>
                                            <p:strVal val="#ppt_w"/>
                                          </p:val>
                                        </p:tav>
                                      </p:tavLst>
                                    </p:anim>
                                    <p:anim calcmode="lin" valueType="num">
                                      <p:cBhvr>
                                        <p:cTn id="30" dur="1000" fill="hold"/>
                                        <p:tgtEl>
                                          <p:spTgt spid="8"/>
                                        </p:tgtEl>
                                        <p:attrNameLst>
                                          <p:attrName>ppt_h</p:attrName>
                                        </p:attrNameLst>
                                      </p:cBhvr>
                                      <p:tavLst>
                                        <p:tav tm="0">
                                          <p:val>
                                            <p:strVal val="#ppt_h"/>
                                          </p:val>
                                        </p:tav>
                                        <p:tav tm="100000">
                                          <p:val>
                                            <p:strVal val="#ppt_h"/>
                                          </p:val>
                                        </p:tav>
                                      </p:tavLst>
                                    </p:anim>
                                    <p:animEffect transition="in" filter="fade">
                                      <p:cBhvr>
                                        <p:cTn id="3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7" grpId="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a:extLst>
              <a:ext uri="{FF2B5EF4-FFF2-40B4-BE49-F238E27FC236}">
                <a16:creationId xmlns:a16="http://schemas.microsoft.com/office/drawing/2014/main" id="{F3F5EE4C-2D2B-6F7D-7480-3CCF691EFB6D}"/>
              </a:ext>
            </a:extLst>
          </p:cNvPr>
          <p:cNvSpPr txBox="1">
            <a:spLocks noChangeArrowheads="1"/>
          </p:cNvSpPr>
          <p:nvPr/>
        </p:nvSpPr>
        <p:spPr bwMode="auto">
          <a:xfrm>
            <a:off x="357188" y="404813"/>
            <a:ext cx="2022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dirty="0">
                <a:solidFill>
                  <a:srgbClr val="C00000"/>
                </a:solidFill>
                <a:latin typeface="Arial" panose="020B0604020202020204" pitchFamily="34" charset="0"/>
              </a:rPr>
              <a:t>2</a:t>
            </a:r>
            <a:r>
              <a:rPr kumimoji="0" lang="zh-CN" altLang="en-US" b="1" dirty="0">
                <a:solidFill>
                  <a:srgbClr val="C00000"/>
                </a:solidFill>
                <a:latin typeface="Arial" panose="020B0604020202020204" pitchFamily="34" charset="0"/>
              </a:rPr>
              <a:t>、</a:t>
            </a:r>
            <a:r>
              <a:rPr kumimoji="0" lang="en-US" altLang="zh-CN" b="1" dirty="0">
                <a:solidFill>
                  <a:srgbClr val="C00000"/>
                </a:solidFill>
                <a:latin typeface="Arial" panose="020B0604020202020204" pitchFamily="34" charset="0"/>
              </a:rPr>
              <a:t>FAT16</a:t>
            </a:r>
            <a:endParaRPr kumimoji="0" lang="zh-CN" altLang="en-US" b="1" dirty="0">
              <a:solidFill>
                <a:srgbClr val="C00000"/>
              </a:solidFill>
              <a:latin typeface="Arial" panose="020B0604020202020204" pitchFamily="34" charset="0"/>
            </a:endParaRPr>
          </a:p>
        </p:txBody>
      </p:sp>
      <p:sp>
        <p:nvSpPr>
          <p:cNvPr id="6" name="内容占位符 2">
            <a:extLst>
              <a:ext uri="{FF2B5EF4-FFF2-40B4-BE49-F238E27FC236}">
                <a16:creationId xmlns:a16="http://schemas.microsoft.com/office/drawing/2014/main" id="{250501C8-084D-0BC4-9DAB-CC1A253B0E07}"/>
              </a:ext>
            </a:extLst>
          </p:cNvPr>
          <p:cNvSpPr txBox="1">
            <a:spLocks/>
          </p:cNvSpPr>
          <p:nvPr/>
        </p:nvSpPr>
        <p:spPr>
          <a:xfrm>
            <a:off x="250825" y="908050"/>
            <a:ext cx="8569325" cy="1584325"/>
          </a:xfrm>
          <a:prstGeom prst="rect">
            <a:avLst/>
          </a:prstGeom>
        </p:spPr>
        <p:txBody>
          <a:bodyPr/>
          <a:lstStyle/>
          <a:p>
            <a:pPr marL="342900" indent="-342900">
              <a:lnSpc>
                <a:spcPct val="105000"/>
              </a:lnSpc>
              <a:spcBef>
                <a:spcPct val="20000"/>
              </a:spcBef>
              <a:buFontTx/>
              <a:buChar char="•"/>
              <a:defRPr/>
            </a:pPr>
            <a:r>
              <a:rPr lang="zh-CN" altLang="en-US" kern="0" dirty="0">
                <a:latin typeface="宋体" pitchFamily="2" charset="-122"/>
                <a:ea typeface="+mn-ea"/>
              </a:rPr>
              <a:t>每个</a:t>
            </a:r>
            <a:r>
              <a:rPr lang="en-US" altLang="zh-CN" kern="0" dirty="0">
                <a:latin typeface="宋体" pitchFamily="2" charset="-122"/>
                <a:ea typeface="+mn-ea"/>
              </a:rPr>
              <a:t>FAT</a:t>
            </a:r>
            <a:r>
              <a:rPr lang="zh-CN" altLang="en-US" kern="0" dirty="0">
                <a:latin typeface="宋体" pitchFamily="2" charset="-122"/>
                <a:ea typeface="+mn-ea"/>
              </a:rPr>
              <a:t>表项为</a:t>
            </a:r>
            <a:r>
              <a:rPr lang="en-US" altLang="zh-CN" kern="0" dirty="0">
                <a:latin typeface="宋体" pitchFamily="2" charset="-122"/>
                <a:ea typeface="+mn-ea"/>
              </a:rPr>
              <a:t>16</a:t>
            </a:r>
            <a:r>
              <a:rPr lang="zh-CN" altLang="en-US" kern="0" dirty="0">
                <a:latin typeface="宋体" pitchFamily="2" charset="-122"/>
                <a:ea typeface="+mn-ea"/>
              </a:rPr>
              <a:t>位，最多允许有</a:t>
            </a:r>
            <a:r>
              <a:rPr lang="en-US" altLang="zh-CN" kern="0" dirty="0">
                <a:latin typeface="宋体" pitchFamily="2" charset="-122"/>
                <a:ea typeface="+mn-ea"/>
              </a:rPr>
              <a:t>65536(64K)</a:t>
            </a:r>
            <a:r>
              <a:rPr lang="zh-CN" altLang="en-US" kern="0" dirty="0">
                <a:latin typeface="宋体" pitchFamily="2" charset="-122"/>
                <a:ea typeface="+mn-ea"/>
              </a:rPr>
              <a:t>个表项</a:t>
            </a:r>
            <a:endParaRPr lang="en-US" altLang="zh-CN" kern="0" dirty="0">
              <a:latin typeface="宋体" pitchFamily="2" charset="-122"/>
              <a:ea typeface="+mn-ea"/>
            </a:endParaRPr>
          </a:p>
          <a:p>
            <a:pPr marL="342900" indent="-342900">
              <a:lnSpc>
                <a:spcPct val="105000"/>
              </a:lnSpc>
              <a:spcBef>
                <a:spcPct val="20000"/>
              </a:spcBef>
              <a:buFontTx/>
              <a:buChar char="•"/>
              <a:defRPr/>
            </a:pPr>
            <a:r>
              <a:rPr lang="zh-CN" altLang="en-US" kern="0" dirty="0">
                <a:latin typeface="宋体" pitchFamily="2" charset="-122"/>
              </a:rPr>
              <a:t>簇的容量：</a:t>
            </a:r>
            <a:r>
              <a:rPr lang="en-US" altLang="zh-CN" kern="0" dirty="0">
                <a:latin typeface="宋体" pitchFamily="2" charset="-122"/>
              </a:rPr>
              <a:t>4</a:t>
            </a:r>
            <a:r>
              <a:rPr lang="zh-CN" altLang="en-US" kern="0" dirty="0">
                <a:latin typeface="宋体" pitchFamily="2" charset="-122"/>
              </a:rPr>
              <a:t>、</a:t>
            </a:r>
            <a:r>
              <a:rPr lang="en-US" altLang="zh-CN" kern="0" dirty="0">
                <a:latin typeface="宋体" pitchFamily="2" charset="-122"/>
              </a:rPr>
              <a:t>8</a:t>
            </a:r>
            <a:r>
              <a:rPr lang="zh-CN" altLang="en-US" kern="0" dirty="0">
                <a:latin typeface="宋体" pitchFamily="2" charset="-122"/>
              </a:rPr>
              <a:t>、</a:t>
            </a:r>
            <a:r>
              <a:rPr lang="en-US" altLang="zh-CN" kern="0" dirty="0">
                <a:latin typeface="宋体" pitchFamily="2" charset="-122"/>
              </a:rPr>
              <a:t>…</a:t>
            </a:r>
            <a:r>
              <a:rPr lang="zh-CN" altLang="en-US" kern="0" dirty="0">
                <a:latin typeface="宋体" pitchFamily="2" charset="-122"/>
              </a:rPr>
              <a:t>、</a:t>
            </a:r>
            <a:r>
              <a:rPr lang="en-US" altLang="zh-CN" kern="0" dirty="0">
                <a:latin typeface="宋体" pitchFamily="2" charset="-122"/>
              </a:rPr>
              <a:t>64</a:t>
            </a:r>
            <a:r>
              <a:rPr lang="zh-CN" altLang="en-US" kern="0" dirty="0">
                <a:latin typeface="宋体" pitchFamily="2" charset="-122"/>
              </a:rPr>
              <a:t>个扇区</a:t>
            </a:r>
            <a:endParaRPr lang="en-US" altLang="zh-CN" kern="0" dirty="0">
              <a:latin typeface="宋体" pitchFamily="2" charset="-122"/>
              <a:ea typeface="+mn-ea"/>
            </a:endParaRPr>
          </a:p>
          <a:p>
            <a:pPr marL="342900" indent="-342900">
              <a:lnSpc>
                <a:spcPct val="105000"/>
              </a:lnSpc>
              <a:spcBef>
                <a:spcPct val="20000"/>
              </a:spcBef>
              <a:buFontTx/>
              <a:buChar char="•"/>
              <a:defRPr/>
            </a:pPr>
            <a:r>
              <a:rPr lang="zh-CN" altLang="en-US" kern="0" dirty="0">
                <a:latin typeface="宋体" pitchFamily="2" charset="-122"/>
                <a:ea typeface="+mn-ea"/>
              </a:rPr>
              <a:t>可以管理的最大分区空间：</a:t>
            </a:r>
            <a:r>
              <a:rPr lang="en-US" altLang="zh-CN" kern="0" dirty="0">
                <a:latin typeface="宋体" pitchFamily="2" charset="-122"/>
                <a:ea typeface="+mn-ea"/>
              </a:rPr>
              <a:t>64KB*64*512B=2GB</a:t>
            </a:r>
          </a:p>
        </p:txBody>
      </p:sp>
      <p:sp>
        <p:nvSpPr>
          <p:cNvPr id="19460" name="Text Box 4">
            <a:extLst>
              <a:ext uri="{FF2B5EF4-FFF2-40B4-BE49-F238E27FC236}">
                <a16:creationId xmlns:a16="http://schemas.microsoft.com/office/drawing/2014/main" id="{002DE7DF-F53F-D6D4-7991-26612185B06F}"/>
              </a:ext>
            </a:extLst>
          </p:cNvPr>
          <p:cNvSpPr txBox="1">
            <a:spLocks noChangeArrowheads="1"/>
          </p:cNvSpPr>
          <p:nvPr/>
        </p:nvSpPr>
        <p:spPr bwMode="auto">
          <a:xfrm>
            <a:off x="352425" y="2205038"/>
            <a:ext cx="2024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a:t>
            </a:r>
            <a:r>
              <a:rPr kumimoji="0" lang="en-US" altLang="zh-CN" b="1">
                <a:solidFill>
                  <a:srgbClr val="C00000"/>
                </a:solidFill>
                <a:latin typeface="Arial" panose="020B0604020202020204" pitchFamily="34" charset="0"/>
              </a:rPr>
              <a:t>FAT32</a:t>
            </a:r>
            <a:endParaRPr kumimoji="0" lang="zh-CN" altLang="en-US" b="1">
              <a:solidFill>
                <a:srgbClr val="C00000"/>
              </a:solidFill>
              <a:latin typeface="Arial" panose="020B0604020202020204" pitchFamily="34" charset="0"/>
            </a:endParaRPr>
          </a:p>
        </p:txBody>
      </p:sp>
      <p:sp>
        <p:nvSpPr>
          <p:cNvPr id="7" name="内容占位符 2">
            <a:extLst>
              <a:ext uri="{FF2B5EF4-FFF2-40B4-BE49-F238E27FC236}">
                <a16:creationId xmlns:a16="http://schemas.microsoft.com/office/drawing/2014/main" id="{716009B9-A86D-20D0-1889-47889C517C6F}"/>
              </a:ext>
            </a:extLst>
          </p:cNvPr>
          <p:cNvSpPr txBox="1">
            <a:spLocks/>
          </p:cNvSpPr>
          <p:nvPr/>
        </p:nvSpPr>
        <p:spPr>
          <a:xfrm>
            <a:off x="250825" y="2708275"/>
            <a:ext cx="8893175" cy="1584325"/>
          </a:xfrm>
          <a:prstGeom prst="rect">
            <a:avLst/>
          </a:prstGeom>
        </p:spPr>
        <p:txBody>
          <a:bodyPr/>
          <a:lstStyle/>
          <a:p>
            <a:pPr marL="342900" indent="-342900">
              <a:lnSpc>
                <a:spcPct val="105000"/>
              </a:lnSpc>
              <a:spcBef>
                <a:spcPct val="20000"/>
              </a:spcBef>
              <a:buFontTx/>
              <a:buChar char="•"/>
              <a:defRPr/>
            </a:pPr>
            <a:r>
              <a:rPr lang="zh-CN" altLang="en-US" kern="0" dirty="0">
                <a:latin typeface="宋体" pitchFamily="2" charset="-122"/>
                <a:ea typeface="+mn-ea"/>
              </a:rPr>
              <a:t>每个</a:t>
            </a:r>
            <a:r>
              <a:rPr lang="en-US" altLang="zh-CN" kern="0" dirty="0">
                <a:latin typeface="宋体" pitchFamily="2" charset="-122"/>
                <a:ea typeface="+mn-ea"/>
              </a:rPr>
              <a:t>FAT</a:t>
            </a:r>
            <a:r>
              <a:rPr lang="zh-CN" altLang="en-US" kern="0" dirty="0">
                <a:latin typeface="宋体" pitchFamily="2" charset="-122"/>
                <a:ea typeface="+mn-ea"/>
              </a:rPr>
              <a:t>表项为</a:t>
            </a:r>
            <a:r>
              <a:rPr lang="en-US" altLang="zh-CN" kern="0" dirty="0">
                <a:latin typeface="宋体" pitchFamily="2" charset="-122"/>
                <a:ea typeface="+mn-ea"/>
              </a:rPr>
              <a:t>32</a:t>
            </a:r>
            <a:r>
              <a:rPr lang="zh-CN" altLang="en-US" kern="0" dirty="0">
                <a:latin typeface="宋体" pitchFamily="2" charset="-122"/>
                <a:ea typeface="+mn-ea"/>
              </a:rPr>
              <a:t>位，每一簇在表项中占</a:t>
            </a:r>
            <a:r>
              <a:rPr lang="en-US" altLang="zh-CN" kern="0" dirty="0">
                <a:latin typeface="宋体" pitchFamily="2" charset="-122"/>
                <a:ea typeface="+mn-ea"/>
              </a:rPr>
              <a:t>4</a:t>
            </a:r>
            <a:r>
              <a:rPr lang="zh-CN" altLang="en-US" kern="0" dirty="0">
                <a:latin typeface="宋体" pitchFamily="2" charset="-122"/>
                <a:ea typeface="+mn-ea"/>
              </a:rPr>
              <a:t>字节</a:t>
            </a:r>
            <a:endParaRPr lang="en-US" altLang="zh-CN" kern="0" dirty="0">
              <a:latin typeface="宋体" pitchFamily="2" charset="-122"/>
              <a:ea typeface="+mn-ea"/>
            </a:endParaRPr>
          </a:p>
          <a:p>
            <a:pPr marL="342900" indent="-342900">
              <a:lnSpc>
                <a:spcPct val="105000"/>
              </a:lnSpc>
              <a:spcBef>
                <a:spcPct val="20000"/>
              </a:spcBef>
              <a:buFontTx/>
              <a:buChar char="•"/>
              <a:defRPr/>
            </a:pPr>
            <a:r>
              <a:rPr lang="zh-CN" altLang="en-US" kern="0" dirty="0">
                <a:latin typeface="宋体" pitchFamily="2" charset="-122"/>
              </a:rPr>
              <a:t>簇的容量：</a:t>
            </a:r>
            <a:r>
              <a:rPr lang="en-US" altLang="zh-CN" kern="0" dirty="0">
                <a:latin typeface="宋体" pitchFamily="2" charset="-122"/>
              </a:rPr>
              <a:t>4KB~32KB</a:t>
            </a:r>
            <a:r>
              <a:rPr lang="zh-CN" altLang="en-US" kern="0" dirty="0">
                <a:latin typeface="宋体" pitchFamily="2" charset="-122"/>
              </a:rPr>
              <a:t>（即</a:t>
            </a:r>
            <a:r>
              <a:rPr lang="en-US" altLang="zh-CN" kern="0" dirty="0">
                <a:latin typeface="宋体" pitchFamily="2" charset="-122"/>
              </a:rPr>
              <a:t>8~64</a:t>
            </a:r>
            <a:r>
              <a:rPr lang="zh-CN" altLang="en-US" kern="0" dirty="0">
                <a:latin typeface="宋体" pitchFamily="2" charset="-122"/>
              </a:rPr>
              <a:t>个扇区）</a:t>
            </a:r>
            <a:endParaRPr lang="en-US" altLang="zh-CN" kern="0" dirty="0">
              <a:latin typeface="宋体" pitchFamily="2" charset="-122"/>
              <a:ea typeface="+mn-ea"/>
            </a:endParaRPr>
          </a:p>
          <a:p>
            <a:pPr marL="342900" indent="-342900">
              <a:lnSpc>
                <a:spcPct val="105000"/>
              </a:lnSpc>
              <a:spcBef>
                <a:spcPct val="20000"/>
              </a:spcBef>
              <a:buFontTx/>
              <a:buChar char="•"/>
              <a:defRPr/>
            </a:pPr>
            <a:r>
              <a:rPr lang="zh-CN" altLang="en-US" kern="0" dirty="0">
                <a:latin typeface="宋体" pitchFamily="2" charset="-122"/>
                <a:ea typeface="+mn-ea"/>
              </a:rPr>
              <a:t>可以管理的最大分区空间：</a:t>
            </a:r>
            <a:r>
              <a:rPr lang="en-US" altLang="zh-CN" kern="0" dirty="0">
                <a:latin typeface="宋体" pitchFamily="2" charset="-122"/>
                <a:ea typeface="+mn-ea"/>
              </a:rPr>
              <a:t>2</a:t>
            </a:r>
            <a:r>
              <a:rPr lang="en-US" altLang="zh-CN" kern="0" baseline="30000" dirty="0">
                <a:latin typeface="宋体" pitchFamily="2" charset="-122"/>
                <a:ea typeface="+mn-ea"/>
              </a:rPr>
              <a:t>32-4</a:t>
            </a:r>
            <a:r>
              <a:rPr lang="en-US" altLang="zh-CN" kern="0" dirty="0">
                <a:latin typeface="宋体" pitchFamily="2" charset="-122"/>
                <a:ea typeface="+mn-ea"/>
              </a:rPr>
              <a:t>*4KB=1TB</a:t>
            </a:r>
            <a:r>
              <a:rPr lang="zh-CN" altLang="en-US" kern="0" dirty="0">
                <a:latin typeface="宋体" pitchFamily="2" charset="-122"/>
                <a:ea typeface="+mn-ea"/>
              </a:rPr>
              <a:t>（设簇的容量为</a:t>
            </a:r>
            <a:r>
              <a:rPr lang="en-US" altLang="zh-CN" kern="0" dirty="0">
                <a:latin typeface="宋体" pitchFamily="2" charset="-122"/>
                <a:ea typeface="+mn-ea"/>
              </a:rPr>
              <a:t>4KB</a:t>
            </a:r>
            <a:r>
              <a:rPr lang="zh-CN" altLang="en-US" kern="0" dirty="0">
                <a:latin typeface="宋体" pitchFamily="2" charset="-122"/>
                <a:ea typeface="+mn-ea"/>
              </a:rPr>
              <a:t>）</a:t>
            </a:r>
            <a:endParaRPr lang="en-US" altLang="zh-CN" kern="0" dirty="0">
              <a:latin typeface="宋体" pitchFamily="2" charset="-122"/>
              <a:ea typeface="+mn-ea"/>
            </a:endParaRPr>
          </a:p>
          <a:p>
            <a:pPr marL="342900" indent="-342900">
              <a:lnSpc>
                <a:spcPct val="105000"/>
              </a:lnSpc>
              <a:spcBef>
                <a:spcPct val="20000"/>
              </a:spcBef>
              <a:buFontTx/>
              <a:buChar char="•"/>
              <a:defRPr/>
            </a:pPr>
            <a:r>
              <a:rPr lang="zh-CN" altLang="en-US" b="1" kern="0" dirty="0">
                <a:solidFill>
                  <a:schemeClr val="accent2"/>
                </a:solidFill>
                <a:latin typeface="宋体" pitchFamily="2" charset="-122"/>
                <a:ea typeface="+mn-ea"/>
              </a:rPr>
              <a:t>缺点：</a:t>
            </a:r>
            <a:endParaRPr lang="en-US" altLang="zh-CN" b="1" kern="0" dirty="0">
              <a:solidFill>
                <a:schemeClr val="accent2"/>
              </a:solidFill>
              <a:latin typeface="宋体" pitchFamily="2" charset="-122"/>
              <a:ea typeface="+mn-ea"/>
            </a:endParaRPr>
          </a:p>
          <a:p>
            <a:pPr marL="800100" lvl="1" indent="-342900">
              <a:lnSpc>
                <a:spcPct val="105000"/>
              </a:lnSpc>
              <a:spcBef>
                <a:spcPct val="20000"/>
              </a:spcBef>
              <a:buFontTx/>
              <a:buChar char="•"/>
              <a:defRPr/>
            </a:pPr>
            <a:r>
              <a:rPr lang="zh-CN" altLang="en-US" kern="0" dirty="0">
                <a:latin typeface="宋体" pitchFamily="2" charset="-122"/>
                <a:ea typeface="+mn-ea"/>
              </a:rPr>
              <a:t>文件分配表的扩大，使得运行速度慢于</a:t>
            </a:r>
            <a:r>
              <a:rPr lang="en-US" altLang="zh-CN" kern="0" dirty="0">
                <a:latin typeface="宋体" pitchFamily="2" charset="-122"/>
                <a:ea typeface="+mn-ea"/>
              </a:rPr>
              <a:t>FAT32</a:t>
            </a:r>
            <a:r>
              <a:rPr lang="zh-CN" altLang="en-US" kern="0" dirty="0">
                <a:latin typeface="宋体" pitchFamily="2" charset="-122"/>
                <a:ea typeface="+mn-ea"/>
              </a:rPr>
              <a:t>；</a:t>
            </a:r>
            <a:endParaRPr lang="en-US" altLang="zh-CN" kern="0" dirty="0">
              <a:latin typeface="宋体" pitchFamily="2" charset="-122"/>
              <a:ea typeface="+mn-ea"/>
            </a:endParaRPr>
          </a:p>
          <a:p>
            <a:pPr marL="800100" lvl="1" indent="-342900">
              <a:lnSpc>
                <a:spcPct val="105000"/>
              </a:lnSpc>
              <a:spcBef>
                <a:spcPct val="20000"/>
              </a:spcBef>
              <a:buFontTx/>
              <a:buChar char="•"/>
              <a:defRPr/>
            </a:pPr>
            <a:r>
              <a:rPr lang="en-US" altLang="zh-CN" kern="0" dirty="0">
                <a:latin typeface="宋体" pitchFamily="2" charset="-122"/>
                <a:ea typeface="+mn-ea"/>
              </a:rPr>
              <a:t>FAT32</a:t>
            </a:r>
            <a:r>
              <a:rPr lang="zh-CN" altLang="en-US" kern="0" dirty="0">
                <a:latin typeface="宋体" pitchFamily="2" charset="-122"/>
                <a:ea typeface="+mn-ea"/>
              </a:rPr>
              <a:t>有最小管理空间的限制</a:t>
            </a:r>
            <a:r>
              <a:rPr lang="en-US" altLang="zh-CN" kern="0" dirty="0">
                <a:latin typeface="宋体" pitchFamily="2" charset="-122"/>
                <a:ea typeface="+mn-ea"/>
              </a:rPr>
              <a:t>(</a:t>
            </a:r>
            <a:r>
              <a:rPr lang="en-US" altLang="zh-CN" kern="0" dirty="0">
                <a:latin typeface="宋体" pitchFamily="2" charset="-122"/>
              </a:rPr>
              <a:t>4KB)</a:t>
            </a:r>
            <a:r>
              <a:rPr lang="zh-CN" altLang="en-US" kern="0" dirty="0">
                <a:latin typeface="宋体" pitchFamily="2" charset="-122"/>
                <a:ea typeface="+mn-ea"/>
              </a:rPr>
              <a:t>，不支持容量小于</a:t>
            </a:r>
            <a:r>
              <a:rPr lang="en-US" altLang="zh-CN" kern="0" dirty="0">
                <a:latin typeface="宋体" pitchFamily="2" charset="-122"/>
                <a:ea typeface="+mn-ea"/>
              </a:rPr>
              <a:t>512MB</a:t>
            </a:r>
            <a:r>
              <a:rPr lang="zh-CN" altLang="en-US" kern="0" dirty="0">
                <a:latin typeface="宋体" pitchFamily="2" charset="-122"/>
                <a:ea typeface="+mn-ea"/>
              </a:rPr>
              <a:t>的分区；</a:t>
            </a:r>
            <a:endParaRPr lang="en-US" altLang="zh-CN" kern="0" dirty="0">
              <a:latin typeface="宋体" pitchFamily="2" charset="-122"/>
              <a:ea typeface="+mn-ea"/>
            </a:endParaRPr>
          </a:p>
          <a:p>
            <a:pPr marL="800100" lvl="1" indent="-342900">
              <a:lnSpc>
                <a:spcPct val="105000"/>
              </a:lnSpc>
              <a:spcBef>
                <a:spcPct val="20000"/>
              </a:spcBef>
              <a:buFontTx/>
              <a:buChar char="•"/>
              <a:defRPr/>
            </a:pPr>
            <a:r>
              <a:rPr lang="zh-CN" altLang="en-US" kern="0" dirty="0">
                <a:latin typeface="宋体" pitchFamily="2" charset="-122"/>
                <a:ea typeface="+mn-ea"/>
              </a:rPr>
              <a:t>单个文件的长度不能大于</a:t>
            </a:r>
            <a:r>
              <a:rPr lang="en-US" altLang="zh-CN" kern="0" dirty="0">
                <a:latin typeface="宋体" pitchFamily="2" charset="-122"/>
                <a:ea typeface="+mn-ea"/>
              </a:rPr>
              <a:t>4GB</a:t>
            </a:r>
            <a:r>
              <a:rPr lang="zh-CN" altLang="en-US" kern="0" dirty="0">
                <a:latin typeface="宋体" pitchFamily="2" charset="-122"/>
                <a:ea typeface="+mn-ea"/>
              </a:rPr>
              <a:t>；</a:t>
            </a:r>
            <a:endParaRPr lang="en-US" altLang="zh-CN" kern="0" dirty="0">
              <a:latin typeface="宋体" pitchFamily="2" charset="-122"/>
              <a:ea typeface="+mn-ea"/>
            </a:endParaRPr>
          </a:p>
          <a:p>
            <a:pPr marL="800100" lvl="1" indent="-342900">
              <a:lnSpc>
                <a:spcPct val="105000"/>
              </a:lnSpc>
              <a:spcBef>
                <a:spcPct val="20000"/>
              </a:spcBef>
              <a:buFontTx/>
              <a:buChar char="•"/>
              <a:defRPr/>
            </a:pPr>
            <a:r>
              <a:rPr lang="zh-CN" altLang="en-US" kern="0" dirty="0">
                <a:latin typeface="宋体" pitchFamily="2" charset="-122"/>
                <a:ea typeface="+mn-ea"/>
              </a:rPr>
              <a:t>不能保持向下兼容。</a:t>
            </a:r>
            <a:endParaRPr lang="en-US" altLang="zh-CN" kern="0" dirty="0">
              <a:latin typeface="宋体" pitchFamily="2" charset="-122"/>
              <a:ea typeface="+mn-ea"/>
            </a:endParaRPr>
          </a:p>
        </p:txBody>
      </p:sp>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40">
            <a:extLst>
              <a:ext uri="{FF2B5EF4-FFF2-40B4-BE49-F238E27FC236}">
                <a16:creationId xmlns:a16="http://schemas.microsoft.com/office/drawing/2014/main" id="{B30B322A-9573-3242-1526-1BFE95F621BE}"/>
              </a:ext>
            </a:extLst>
          </p:cNvPr>
          <p:cNvGraphicFramePr>
            <a:graphicFrameLocks noGrp="1"/>
          </p:cNvGraphicFramePr>
          <p:nvPr/>
        </p:nvGraphicFramePr>
        <p:xfrm>
          <a:off x="1476375" y="1268413"/>
          <a:ext cx="6335713" cy="3255960"/>
        </p:xfrm>
        <a:graphic>
          <a:graphicData uri="http://schemas.openxmlformats.org/drawingml/2006/table">
            <a:tbl>
              <a:tblPr/>
              <a:tblGrid>
                <a:gridCol w="1150938">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944687">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tblGrid>
              <a:tr h="695094">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扇区容量</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扇区数</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宋体" pitchFamily="2" charset="-122"/>
                        </a:rPr>
                        <a:t>（盘块数）</a:t>
                      </a:r>
                      <a:endParaRPr kumimoji="1" lang="en-US" altLang="zh-CN" sz="1800" b="1"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FAT12</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FAT16</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宋体" pitchFamily="2" charset="-122"/>
                        </a:rPr>
                        <a:t>FAT32</a:t>
                      </a:r>
                      <a:endParaRPr kumimoji="1" lang="zh-CN" altLang="en-US" sz="1800" b="1"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0.5KB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4MB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4</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8MB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128MB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4KB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8</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16MB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256MB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1TB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8KB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16</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512MB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2TB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16KB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32</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1024MB</a:t>
                      </a:r>
                      <a:r>
                        <a:rPr kumimoji="1" lang="zh-CN" altLang="en-US" sz="1800" b="0" i="0" u="none" strike="noStrike" cap="none" normalizeH="0" baseline="0">
                          <a:ln>
                            <a:noFill/>
                          </a:ln>
                          <a:solidFill>
                            <a:schemeClr val="tx1"/>
                          </a:solidFill>
                          <a:effectLst/>
                          <a:latin typeface="Times New Roman" pitchFamily="18" charset="0"/>
                          <a:ea typeface="宋体" pitchFamily="2" charset="-122"/>
                        </a:rPr>
                        <a:t>（</a:t>
                      </a:r>
                      <a:r>
                        <a:rPr kumimoji="1" lang="en-US" altLang="zh-CN" sz="1800" b="0" i="0" u="none" strike="noStrike" cap="none" normalizeH="0" baseline="0">
                          <a:ln>
                            <a:noFill/>
                          </a:ln>
                          <a:solidFill>
                            <a:schemeClr val="tx1"/>
                          </a:solidFill>
                          <a:effectLst/>
                          <a:latin typeface="Times New Roman" pitchFamily="18" charset="0"/>
                          <a:ea typeface="宋体" pitchFamily="2" charset="-122"/>
                        </a:rPr>
                        <a:t>1GB</a:t>
                      </a:r>
                      <a:r>
                        <a:rPr kumimoji="1" lang="zh-CN" altLang="en-US" sz="1800" b="0" i="0" u="none" strike="noStrike" cap="none" normalizeH="0" baseline="0">
                          <a:ln>
                            <a:noFill/>
                          </a:ln>
                          <a:solidFill>
                            <a:schemeClr val="tx1"/>
                          </a:solidFill>
                          <a:effectLst/>
                          <a:latin typeface="Times New Roman" pitchFamily="18" charset="0"/>
                          <a:ea typeface="宋体" pitchFamily="2" charset="-122"/>
                        </a:rPr>
                        <a:t>）</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2TB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3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32KB</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64</a:t>
                      </a: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2048MB</a:t>
                      </a:r>
                      <a:r>
                        <a:rPr kumimoji="1" lang="zh-CN" altLang="en-US" sz="1800" b="0" i="0" u="none" strike="noStrike" cap="none" normalizeH="0" baseline="0">
                          <a:ln>
                            <a:noFill/>
                          </a:ln>
                          <a:solidFill>
                            <a:schemeClr val="tx1"/>
                          </a:solidFill>
                          <a:effectLst/>
                          <a:latin typeface="Times New Roman" pitchFamily="18" charset="0"/>
                          <a:ea typeface="宋体" pitchFamily="2" charset="-122"/>
                        </a:rPr>
                        <a:t>（</a:t>
                      </a:r>
                      <a:r>
                        <a:rPr kumimoji="1" lang="en-US" altLang="zh-CN" sz="1800" b="0" i="0" u="none" strike="noStrike" cap="none" normalizeH="0" baseline="0">
                          <a:ln>
                            <a:noFill/>
                          </a:ln>
                          <a:solidFill>
                            <a:schemeClr val="tx1"/>
                          </a:solidFill>
                          <a:effectLst/>
                          <a:latin typeface="Times New Roman" pitchFamily="18" charset="0"/>
                          <a:ea typeface="宋体" pitchFamily="2" charset="-122"/>
                        </a:rPr>
                        <a:t>2GB</a:t>
                      </a:r>
                      <a:r>
                        <a:rPr kumimoji="1" lang="zh-CN" altLang="en-US" sz="1800" b="0" i="0" u="none" strike="noStrike" cap="none" normalizeH="0" baseline="0">
                          <a:ln>
                            <a:noFill/>
                          </a:ln>
                          <a:solidFill>
                            <a:schemeClr val="tx1"/>
                          </a:solidFill>
                          <a:effectLst/>
                          <a:latin typeface="Times New Roman" pitchFamily="18" charset="0"/>
                          <a:ea typeface="宋体" pitchFamily="2" charset="-122"/>
                        </a:rPr>
                        <a:t>）</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2TB</a:t>
                      </a:r>
                      <a:endParaRPr kumimoji="1" lang="zh-CN" altLang="zh-CN" sz="1800" b="0" i="0" u="none" strike="noStrike" cap="none" normalizeH="0" baseline="0">
                        <a:ln>
                          <a:noFill/>
                        </a:ln>
                        <a:solidFill>
                          <a:schemeClr val="tx1"/>
                        </a:solidFill>
                        <a:effectLst/>
                        <a:latin typeface="Times New Roman" pitchFamily="18"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0538" name="Text Box 4">
            <a:extLst>
              <a:ext uri="{FF2B5EF4-FFF2-40B4-BE49-F238E27FC236}">
                <a16:creationId xmlns:a16="http://schemas.microsoft.com/office/drawing/2014/main" id="{ABB36F47-5A38-A79C-7559-E967A24FB3BB}"/>
              </a:ext>
            </a:extLst>
          </p:cNvPr>
          <p:cNvSpPr txBox="1">
            <a:spLocks noChangeArrowheads="1"/>
          </p:cNvSpPr>
          <p:nvPr/>
        </p:nvSpPr>
        <p:spPr bwMode="auto">
          <a:xfrm>
            <a:off x="827088" y="4622800"/>
            <a:ext cx="7632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t>图 </a:t>
            </a:r>
            <a:r>
              <a:rPr lang="en-US" altLang="zh-CN" sz="2400" b="1"/>
              <a:t>8-5  FAT</a:t>
            </a:r>
            <a:r>
              <a:rPr lang="zh-CN" altLang="en-US" sz="2400" b="1"/>
              <a:t>中簇的大小与最大分区的对应关系</a:t>
            </a:r>
          </a:p>
        </p:txBody>
      </p:sp>
      <p:cxnSp>
        <p:nvCxnSpPr>
          <p:cNvPr id="5" name="直接连接符 4">
            <a:extLst>
              <a:ext uri="{FF2B5EF4-FFF2-40B4-BE49-F238E27FC236}">
                <a16:creationId xmlns:a16="http://schemas.microsoft.com/office/drawing/2014/main" id="{D00F185A-4FB4-F2D6-F2AD-6C75F177D365}"/>
              </a:ext>
            </a:extLst>
          </p:cNvPr>
          <p:cNvCxnSpPr>
            <a:cxnSpLocks noChangeShapeType="1"/>
          </p:cNvCxnSpPr>
          <p:nvPr/>
        </p:nvCxnSpPr>
        <p:spPr bwMode="auto">
          <a:xfrm>
            <a:off x="1547813" y="2295525"/>
            <a:ext cx="3240087"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sp>
        <p:nvSpPr>
          <p:cNvPr id="6" name="椭圆 5">
            <a:extLst>
              <a:ext uri="{FF2B5EF4-FFF2-40B4-BE49-F238E27FC236}">
                <a16:creationId xmlns:a16="http://schemas.microsoft.com/office/drawing/2014/main" id="{8834D007-A504-956D-93DD-60457E7AA682}"/>
              </a:ext>
            </a:extLst>
          </p:cNvPr>
          <p:cNvSpPr>
            <a:spLocks noChangeArrowheads="1"/>
          </p:cNvSpPr>
          <p:nvPr/>
        </p:nvSpPr>
        <p:spPr bwMode="auto">
          <a:xfrm>
            <a:off x="3924300" y="1989138"/>
            <a:ext cx="792163" cy="287337"/>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cxnSp>
        <p:nvCxnSpPr>
          <p:cNvPr id="7" name="直接连接符 6">
            <a:extLst>
              <a:ext uri="{FF2B5EF4-FFF2-40B4-BE49-F238E27FC236}">
                <a16:creationId xmlns:a16="http://schemas.microsoft.com/office/drawing/2014/main" id="{6CA8B819-1BAA-0FDE-5720-7C09A5654B4A}"/>
              </a:ext>
            </a:extLst>
          </p:cNvPr>
          <p:cNvCxnSpPr>
            <a:cxnSpLocks noChangeShapeType="1"/>
          </p:cNvCxnSpPr>
          <p:nvPr/>
        </p:nvCxnSpPr>
        <p:spPr bwMode="auto">
          <a:xfrm>
            <a:off x="1568450" y="3397250"/>
            <a:ext cx="3240088"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sp>
        <p:nvSpPr>
          <p:cNvPr id="8" name="椭圆 7">
            <a:extLst>
              <a:ext uri="{FF2B5EF4-FFF2-40B4-BE49-F238E27FC236}">
                <a16:creationId xmlns:a16="http://schemas.microsoft.com/office/drawing/2014/main" id="{D0842421-5045-B53E-7980-89949FCB01AA}"/>
              </a:ext>
            </a:extLst>
          </p:cNvPr>
          <p:cNvSpPr>
            <a:spLocks noChangeArrowheads="1"/>
          </p:cNvSpPr>
          <p:nvPr/>
        </p:nvSpPr>
        <p:spPr bwMode="auto">
          <a:xfrm>
            <a:off x="3944938" y="3090863"/>
            <a:ext cx="792162" cy="287337"/>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cxnSp>
        <p:nvCxnSpPr>
          <p:cNvPr id="9" name="直接连接符 8">
            <a:extLst>
              <a:ext uri="{FF2B5EF4-FFF2-40B4-BE49-F238E27FC236}">
                <a16:creationId xmlns:a16="http://schemas.microsoft.com/office/drawing/2014/main" id="{84512D44-CCA5-FA86-757C-469085A2E1F3}"/>
              </a:ext>
            </a:extLst>
          </p:cNvPr>
          <p:cNvCxnSpPr>
            <a:cxnSpLocks noChangeShapeType="1"/>
          </p:cNvCxnSpPr>
          <p:nvPr/>
        </p:nvCxnSpPr>
        <p:spPr bwMode="auto">
          <a:xfrm flipV="1">
            <a:off x="1547813" y="4467225"/>
            <a:ext cx="5111750"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sp>
        <p:nvSpPr>
          <p:cNvPr id="10" name="椭圆 9">
            <a:extLst>
              <a:ext uri="{FF2B5EF4-FFF2-40B4-BE49-F238E27FC236}">
                <a16:creationId xmlns:a16="http://schemas.microsoft.com/office/drawing/2014/main" id="{65471999-9786-A70F-C2E8-3120B0CD08E7}"/>
              </a:ext>
            </a:extLst>
          </p:cNvPr>
          <p:cNvSpPr>
            <a:spLocks noChangeArrowheads="1"/>
          </p:cNvSpPr>
          <p:nvPr/>
        </p:nvSpPr>
        <p:spPr bwMode="auto">
          <a:xfrm>
            <a:off x="4859338" y="4189413"/>
            <a:ext cx="1873250" cy="287337"/>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cxnSp>
        <p:nvCxnSpPr>
          <p:cNvPr id="12" name="直接连接符 11">
            <a:extLst>
              <a:ext uri="{FF2B5EF4-FFF2-40B4-BE49-F238E27FC236}">
                <a16:creationId xmlns:a16="http://schemas.microsoft.com/office/drawing/2014/main" id="{E322E1BF-2DE4-3C99-967E-A6FAB0584747}"/>
              </a:ext>
            </a:extLst>
          </p:cNvPr>
          <p:cNvCxnSpPr>
            <a:cxnSpLocks noChangeShapeType="1"/>
          </p:cNvCxnSpPr>
          <p:nvPr/>
        </p:nvCxnSpPr>
        <p:spPr bwMode="auto">
          <a:xfrm>
            <a:off x="1568450" y="3429000"/>
            <a:ext cx="6119813" cy="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sp>
        <p:nvSpPr>
          <p:cNvPr id="13" name="椭圆 12">
            <a:extLst>
              <a:ext uri="{FF2B5EF4-FFF2-40B4-BE49-F238E27FC236}">
                <a16:creationId xmlns:a16="http://schemas.microsoft.com/office/drawing/2014/main" id="{48D8789B-1F2F-EA3A-4BC0-4F520015ED01}"/>
              </a:ext>
            </a:extLst>
          </p:cNvPr>
          <p:cNvSpPr>
            <a:spLocks noChangeArrowheads="1"/>
          </p:cNvSpPr>
          <p:nvPr/>
        </p:nvSpPr>
        <p:spPr bwMode="auto">
          <a:xfrm>
            <a:off x="6875463" y="3119438"/>
            <a:ext cx="792162" cy="288925"/>
          </a:xfrm>
          <a:prstGeom prst="ellipse">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0-#ppt_w/2"/>
                                          </p:val>
                                        </p:tav>
                                        <p:tav tm="100000">
                                          <p:val>
                                            <p:strVal val="#ppt_x"/>
                                          </p:val>
                                        </p:tav>
                                      </p:tavLst>
                                    </p:anim>
                                    <p:anim calcmode="lin" valueType="num">
                                      <p:cBhvr additive="base">
                                        <p:cTn id="4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C9117198-1F2D-A027-CD15-FBDC5DD613AD}"/>
              </a:ext>
            </a:extLst>
          </p:cNvPr>
          <p:cNvSpPr txBox="1">
            <a:spLocks/>
          </p:cNvSpPr>
          <p:nvPr/>
        </p:nvSpPr>
        <p:spPr>
          <a:xfrm>
            <a:off x="685800" y="341313"/>
            <a:ext cx="7772400" cy="1143000"/>
          </a:xfrm>
          <a:prstGeom prst="rect">
            <a:avLst/>
          </a:prstGeom>
        </p:spPr>
        <p:txBody>
          <a:bodyPr/>
          <a:lstStyle/>
          <a:p>
            <a:pPr algn="ctr">
              <a:defRPr/>
            </a:pPr>
            <a:r>
              <a:rPr lang="en-US" altLang="zh-CN" sz="4400" b="1" kern="0" dirty="0">
                <a:solidFill>
                  <a:srgbClr val="660066"/>
                </a:solidFill>
                <a:latin typeface="+mj-lt"/>
                <a:ea typeface="楷体_GB2312" pitchFamily="49" charset="-122"/>
                <a:cs typeface="+mj-cs"/>
              </a:rPr>
              <a:t>8.1.4  NTFS</a:t>
            </a:r>
            <a:r>
              <a:rPr lang="zh-CN" altLang="en-US" sz="4400" b="1" kern="0" dirty="0">
                <a:solidFill>
                  <a:srgbClr val="660066"/>
                </a:solidFill>
                <a:latin typeface="+mj-lt"/>
                <a:ea typeface="楷体_GB2312" pitchFamily="49" charset="-122"/>
                <a:cs typeface="+mj-cs"/>
              </a:rPr>
              <a:t>的文件组织方式</a:t>
            </a:r>
          </a:p>
        </p:txBody>
      </p:sp>
      <p:sp>
        <p:nvSpPr>
          <p:cNvPr id="6" name="内容占位符 2">
            <a:extLst>
              <a:ext uri="{FF2B5EF4-FFF2-40B4-BE49-F238E27FC236}">
                <a16:creationId xmlns:a16="http://schemas.microsoft.com/office/drawing/2014/main" id="{668E97AE-6843-24EB-4205-10087CD1230E}"/>
              </a:ext>
            </a:extLst>
          </p:cNvPr>
          <p:cNvSpPr txBox="1">
            <a:spLocks/>
          </p:cNvSpPr>
          <p:nvPr/>
        </p:nvSpPr>
        <p:spPr>
          <a:xfrm>
            <a:off x="250825" y="1700213"/>
            <a:ext cx="8642350" cy="4324350"/>
          </a:xfrm>
          <a:prstGeom prst="rect">
            <a:avLst/>
          </a:prstGeom>
        </p:spPr>
        <p:txBody>
          <a:bodyPr/>
          <a:lstStyle/>
          <a:p>
            <a:pPr marL="342900" lvl="1"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使用</a:t>
            </a:r>
            <a:r>
              <a:rPr lang="en-US" altLang="zh-CN" sz="2800" b="1" kern="0" dirty="0">
                <a:solidFill>
                  <a:schemeClr val="accent2"/>
                </a:solidFill>
                <a:latin typeface="宋体" pitchFamily="2" charset="-122"/>
                <a:ea typeface="+mn-ea"/>
              </a:rPr>
              <a:t>64</a:t>
            </a:r>
            <a:r>
              <a:rPr lang="zh-CN" altLang="en-US" sz="2800" b="1" kern="0" dirty="0">
                <a:solidFill>
                  <a:schemeClr val="accent2"/>
                </a:solidFill>
                <a:latin typeface="宋体" pitchFamily="2" charset="-122"/>
                <a:ea typeface="+mn-ea"/>
              </a:rPr>
              <a:t>位磁盘地址；</a:t>
            </a:r>
            <a:endParaRPr lang="en-US" altLang="zh-CN" sz="2800" b="1" kern="0" dirty="0">
              <a:solidFill>
                <a:schemeClr val="accent2"/>
              </a:solidFill>
              <a:latin typeface="宋体" pitchFamily="2" charset="-122"/>
              <a:ea typeface="+mn-ea"/>
            </a:endParaRPr>
          </a:p>
          <a:p>
            <a:pPr marL="342900" lvl="1"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支持长文件名：</a:t>
            </a:r>
            <a:endParaRPr lang="en-US" altLang="zh-CN" sz="2800" b="1" kern="0" dirty="0">
              <a:solidFill>
                <a:schemeClr val="accent2"/>
              </a:solidFill>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单个文件名</a:t>
            </a:r>
            <a:r>
              <a:rPr lang="en-US" altLang="zh-CN" kern="0" dirty="0">
                <a:latin typeface="宋体" pitchFamily="2" charset="-122"/>
                <a:ea typeface="+mn-ea"/>
              </a:rPr>
              <a:t>255</a:t>
            </a:r>
            <a:r>
              <a:rPr lang="zh-CN" altLang="en-US" kern="0" dirty="0">
                <a:latin typeface="宋体" pitchFamily="2" charset="-122"/>
                <a:ea typeface="+mn-ea"/>
              </a:rPr>
              <a:t>个字符以内；</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全路径名为</a:t>
            </a:r>
            <a:r>
              <a:rPr lang="en-US" altLang="zh-CN" kern="0" dirty="0">
                <a:latin typeface="宋体" pitchFamily="2" charset="-122"/>
                <a:ea typeface="+mn-ea"/>
              </a:rPr>
              <a:t>32767</a:t>
            </a:r>
            <a:r>
              <a:rPr lang="zh-CN" altLang="en-US" kern="0" dirty="0">
                <a:latin typeface="宋体" pitchFamily="2" charset="-122"/>
                <a:ea typeface="+mn-ea"/>
              </a:rPr>
              <a:t>个字符。</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具有系统容错功能；</a:t>
            </a:r>
            <a:endParaRPr lang="en-US" altLang="zh-CN" sz="2800" b="1" kern="0" dirty="0">
              <a:solidFill>
                <a:schemeClr val="accent2"/>
              </a:solidFill>
              <a:latin typeface="宋体" pitchFamily="2" charset="-122"/>
              <a:ea typeface="+mn-ea"/>
            </a:endParaRPr>
          </a:p>
          <a:p>
            <a:pPr marL="342900"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能保证系统中数据一致性；</a:t>
            </a:r>
            <a:endParaRPr lang="en-US" altLang="zh-CN" sz="2800" b="1" kern="0" dirty="0">
              <a:solidFill>
                <a:schemeClr val="accent2"/>
              </a:solidFill>
              <a:latin typeface="宋体" pitchFamily="2" charset="-122"/>
              <a:ea typeface="+mn-ea"/>
            </a:endParaRPr>
          </a:p>
          <a:p>
            <a:pPr marL="342900"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提供了对文件加密、压缩等功能。</a:t>
            </a:r>
            <a:endParaRPr lang="en-US" altLang="zh-CN" sz="2800" b="1" kern="0" dirty="0">
              <a:solidFill>
                <a:schemeClr val="accent2"/>
              </a:solidFill>
              <a:latin typeface="宋体" pitchFamily="2" charset="-122"/>
              <a:ea typeface="+mn-ea"/>
            </a:endParaRPr>
          </a:p>
        </p:txBody>
      </p:sp>
      <p:sp>
        <p:nvSpPr>
          <p:cNvPr id="21508" name="Text Box 4">
            <a:extLst>
              <a:ext uri="{FF2B5EF4-FFF2-40B4-BE49-F238E27FC236}">
                <a16:creationId xmlns:a16="http://schemas.microsoft.com/office/drawing/2014/main" id="{8EF1DAA2-2DA5-21BF-BBE4-C911CDE57C52}"/>
              </a:ext>
            </a:extLst>
          </p:cNvPr>
          <p:cNvSpPr txBox="1">
            <a:spLocks noChangeArrowheads="1"/>
          </p:cNvSpPr>
          <p:nvPr/>
        </p:nvSpPr>
        <p:spPr bwMode="auto">
          <a:xfrm>
            <a:off x="357188" y="1044575"/>
            <a:ext cx="3130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a:t>
            </a:r>
            <a:r>
              <a:rPr kumimoji="0" lang="en-US" altLang="zh-CN" b="1">
                <a:solidFill>
                  <a:srgbClr val="C00000"/>
                </a:solidFill>
                <a:latin typeface="Arial" panose="020B0604020202020204" pitchFamily="34" charset="0"/>
              </a:rPr>
              <a:t>NTFS</a:t>
            </a:r>
            <a:r>
              <a:rPr kumimoji="0" lang="zh-CN" altLang="en-US" b="1">
                <a:solidFill>
                  <a:srgbClr val="C00000"/>
                </a:solidFill>
                <a:latin typeface="Arial" panose="020B0604020202020204" pitchFamily="34" charset="0"/>
              </a:rPr>
              <a:t>新特征</a:t>
            </a:r>
          </a:p>
        </p:txBody>
      </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E54E98C-B081-C6E4-BF67-6A0698AF89C0}"/>
              </a:ext>
            </a:extLst>
          </p:cNvPr>
          <p:cNvSpPr txBox="1">
            <a:spLocks/>
          </p:cNvSpPr>
          <p:nvPr/>
        </p:nvSpPr>
        <p:spPr>
          <a:xfrm>
            <a:off x="250825" y="1052513"/>
            <a:ext cx="8642350" cy="4972050"/>
          </a:xfrm>
          <a:prstGeom prst="rect">
            <a:avLst/>
          </a:prstGeom>
        </p:spPr>
        <p:txBody>
          <a:bodyPr/>
          <a:lstStyle/>
          <a:p>
            <a:pPr marL="342900" lvl="1"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以簇作为磁盘空间分配和回收的基本单位</a:t>
            </a:r>
            <a:endParaRPr lang="en-US" altLang="zh-CN" sz="2800" b="1" kern="0" dirty="0">
              <a:solidFill>
                <a:schemeClr val="accent2"/>
              </a:solidFill>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卷上簇的大小也称为“卷因子”，由格式化命令指定；</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簇的大小可以为：</a:t>
            </a:r>
            <a:r>
              <a:rPr lang="en-US" altLang="zh-CN" kern="0" dirty="0">
                <a:latin typeface="宋体" pitchFamily="2" charset="-122"/>
                <a:ea typeface="+mn-ea"/>
              </a:rPr>
              <a:t>512B</a:t>
            </a:r>
            <a:r>
              <a:rPr lang="zh-CN" altLang="en-US" kern="0" dirty="0">
                <a:latin typeface="宋体" pitchFamily="2" charset="-122"/>
                <a:ea typeface="+mn-ea"/>
              </a:rPr>
              <a:t>、</a:t>
            </a:r>
            <a:r>
              <a:rPr lang="en-US" altLang="zh-CN" kern="0" dirty="0">
                <a:latin typeface="宋体" pitchFamily="2" charset="-122"/>
                <a:ea typeface="+mn-ea"/>
              </a:rPr>
              <a:t>1KB</a:t>
            </a:r>
            <a:r>
              <a:rPr lang="zh-CN" altLang="en-US" kern="0" dirty="0">
                <a:latin typeface="宋体" pitchFamily="2" charset="-122"/>
                <a:ea typeface="+mn-ea"/>
              </a:rPr>
              <a:t>、</a:t>
            </a:r>
            <a:r>
              <a:rPr lang="en-US" altLang="zh-CN" kern="0" dirty="0">
                <a:latin typeface="宋体" pitchFamily="2" charset="-122"/>
                <a:ea typeface="+mn-ea"/>
              </a:rPr>
              <a:t>…</a:t>
            </a:r>
            <a:r>
              <a:rPr lang="zh-CN" altLang="en-US" kern="0" dirty="0">
                <a:latin typeface="宋体" pitchFamily="2" charset="-122"/>
                <a:ea typeface="+mn-ea"/>
              </a:rPr>
              <a:t>、</a:t>
            </a:r>
            <a:r>
              <a:rPr lang="en-US" altLang="zh-CN" kern="0" dirty="0">
                <a:latin typeface="宋体" pitchFamily="2" charset="-122"/>
                <a:ea typeface="+mn-ea"/>
              </a:rPr>
              <a:t>64KB</a:t>
            </a:r>
            <a:r>
              <a:rPr lang="zh-CN" altLang="en-US" kern="0" dirty="0">
                <a:latin typeface="宋体" pitchFamily="2" charset="-122"/>
                <a:ea typeface="+mn-ea"/>
              </a:rPr>
              <a:t>；</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a:t>
            </a:r>
            <a:r>
              <a:rPr lang="en-US" altLang="zh-CN" kern="0" dirty="0">
                <a:latin typeface="宋体" pitchFamily="2" charset="-122"/>
                <a:ea typeface="+mn-ea"/>
              </a:rPr>
              <a:t>512MB</a:t>
            </a:r>
            <a:r>
              <a:rPr lang="zh-CN" altLang="en-US" kern="0" dirty="0">
                <a:latin typeface="宋体" pitchFamily="2" charset="-122"/>
                <a:ea typeface="+mn-ea"/>
              </a:rPr>
              <a:t>的小磁盘，默认簇大小为</a:t>
            </a:r>
            <a:r>
              <a:rPr lang="en-US" altLang="zh-CN" kern="0" dirty="0">
                <a:latin typeface="宋体" pitchFamily="2" charset="-122"/>
                <a:ea typeface="+mn-ea"/>
              </a:rPr>
              <a:t>512</a:t>
            </a:r>
            <a:r>
              <a:rPr lang="zh-CN" altLang="en-US" kern="0" dirty="0">
                <a:latin typeface="宋体" pitchFamily="2" charset="-122"/>
                <a:ea typeface="+mn-ea"/>
              </a:rPr>
              <a:t>字节；</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en-US" altLang="zh-CN" kern="0" dirty="0">
                <a:latin typeface="宋体" pitchFamily="2" charset="-122"/>
              </a:rPr>
              <a:t>1GB</a:t>
            </a:r>
            <a:r>
              <a:rPr lang="zh-CN" altLang="en-US" kern="0" dirty="0">
                <a:latin typeface="宋体" pitchFamily="2" charset="-122"/>
              </a:rPr>
              <a:t>的磁盘，默认簇大小为</a:t>
            </a:r>
            <a:r>
              <a:rPr lang="en-US" altLang="zh-CN" kern="0" dirty="0">
                <a:latin typeface="宋体" pitchFamily="2" charset="-122"/>
              </a:rPr>
              <a:t>1KB</a:t>
            </a:r>
          </a:p>
          <a:p>
            <a:pPr marL="742950" lvl="1" indent="-285750">
              <a:lnSpc>
                <a:spcPct val="110000"/>
              </a:lnSpc>
              <a:spcBef>
                <a:spcPct val="20000"/>
              </a:spcBef>
              <a:buFontTx/>
              <a:buChar char="–"/>
              <a:defRPr/>
            </a:pPr>
            <a:r>
              <a:rPr lang="en-US" altLang="zh-CN" kern="0" dirty="0">
                <a:latin typeface="宋体" pitchFamily="2" charset="-122"/>
              </a:rPr>
              <a:t>2GB</a:t>
            </a:r>
            <a:r>
              <a:rPr lang="zh-CN" altLang="en-US" kern="0" dirty="0">
                <a:latin typeface="宋体" pitchFamily="2" charset="-122"/>
              </a:rPr>
              <a:t>的磁盘，默认簇大小为</a:t>
            </a:r>
            <a:r>
              <a:rPr lang="en-US" altLang="zh-CN" kern="0" dirty="0">
                <a:latin typeface="宋体" pitchFamily="2" charset="-122"/>
              </a:rPr>
              <a:t>4KB</a:t>
            </a:r>
            <a:endParaRPr lang="en-US" altLang="zh-CN" kern="0" dirty="0">
              <a:latin typeface="宋体" pitchFamily="2" charset="-122"/>
              <a:ea typeface="+mn-ea"/>
            </a:endParaRPr>
          </a:p>
          <a:p>
            <a:pPr marL="342900"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簇的定位采用逻辑簇号</a:t>
            </a:r>
            <a:r>
              <a:rPr lang="en-US" altLang="zh-CN" sz="2800" b="1" kern="0" dirty="0">
                <a:solidFill>
                  <a:schemeClr val="accent2"/>
                </a:solidFill>
                <a:latin typeface="宋体" pitchFamily="2" charset="-122"/>
                <a:ea typeface="+mn-ea"/>
              </a:rPr>
              <a:t>(LCN)</a:t>
            </a:r>
            <a:r>
              <a:rPr lang="zh-CN" altLang="en-US" sz="2800" b="1" kern="0" dirty="0">
                <a:solidFill>
                  <a:schemeClr val="accent2"/>
                </a:solidFill>
                <a:latin typeface="宋体" pitchFamily="2" charset="-122"/>
                <a:ea typeface="+mn-ea"/>
              </a:rPr>
              <a:t>或虚拟簇号</a:t>
            </a:r>
            <a:r>
              <a:rPr lang="en-US" altLang="zh-CN" sz="2800" b="1" kern="0" dirty="0">
                <a:solidFill>
                  <a:schemeClr val="accent2"/>
                </a:solidFill>
                <a:latin typeface="宋体" pitchFamily="2" charset="-122"/>
                <a:ea typeface="+mn-ea"/>
              </a:rPr>
              <a:t>(VCN)</a:t>
            </a:r>
          </a:p>
          <a:p>
            <a:pPr marL="742950" lvl="1" indent="-285750">
              <a:lnSpc>
                <a:spcPct val="110000"/>
              </a:lnSpc>
              <a:spcBef>
                <a:spcPct val="20000"/>
              </a:spcBef>
              <a:buFontTx/>
              <a:buChar char="–"/>
              <a:defRPr/>
            </a:pPr>
            <a:r>
              <a:rPr lang="en-US" altLang="zh-CN" kern="0" dirty="0">
                <a:latin typeface="宋体" pitchFamily="2" charset="-122"/>
              </a:rPr>
              <a:t>LCN</a:t>
            </a:r>
            <a:r>
              <a:rPr lang="zh-CN" altLang="en-US" kern="0" dirty="0">
                <a:latin typeface="宋体" pitchFamily="2" charset="-122"/>
              </a:rPr>
              <a:t>以卷为单位，整个卷中所有的簇按顺序编号</a:t>
            </a:r>
            <a:endParaRPr lang="en-US" altLang="zh-CN" kern="0" dirty="0">
              <a:latin typeface="宋体" pitchFamily="2" charset="-122"/>
            </a:endParaRPr>
          </a:p>
          <a:p>
            <a:pPr marL="742950" lvl="1" indent="-285750">
              <a:lnSpc>
                <a:spcPct val="110000"/>
              </a:lnSpc>
              <a:spcBef>
                <a:spcPct val="20000"/>
              </a:spcBef>
              <a:buFontTx/>
              <a:buChar char="–"/>
              <a:defRPr/>
            </a:pPr>
            <a:r>
              <a:rPr lang="en-US" altLang="zh-CN" kern="0" dirty="0">
                <a:latin typeface="宋体" pitchFamily="2" charset="-122"/>
              </a:rPr>
              <a:t>VCN</a:t>
            </a:r>
            <a:r>
              <a:rPr lang="zh-CN" altLang="en-US" kern="0" dirty="0">
                <a:latin typeface="宋体" pitchFamily="2" charset="-122"/>
              </a:rPr>
              <a:t>以文件为单位，属于某个文件的簇按顺序编号</a:t>
            </a:r>
            <a:endParaRPr lang="en-US" altLang="zh-CN" kern="0" dirty="0">
              <a:latin typeface="宋体" pitchFamily="2" charset="-122"/>
            </a:endParaRPr>
          </a:p>
        </p:txBody>
      </p:sp>
      <p:sp>
        <p:nvSpPr>
          <p:cNvPr id="22531" name="Text Box 4">
            <a:extLst>
              <a:ext uri="{FF2B5EF4-FFF2-40B4-BE49-F238E27FC236}">
                <a16:creationId xmlns:a16="http://schemas.microsoft.com/office/drawing/2014/main" id="{81C0B7A3-8830-1555-77EB-80ADC19C60A5}"/>
              </a:ext>
            </a:extLst>
          </p:cNvPr>
          <p:cNvSpPr txBox="1">
            <a:spLocks noChangeArrowheads="1"/>
          </p:cNvSpPr>
          <p:nvPr/>
        </p:nvSpPr>
        <p:spPr bwMode="auto">
          <a:xfrm>
            <a:off x="357188" y="468313"/>
            <a:ext cx="2471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、磁盘组织</a:t>
            </a:r>
          </a:p>
        </p:txBody>
      </p:sp>
    </p:spTree>
  </p:cSld>
  <p:clrMapOvr>
    <a:masterClrMapping/>
  </p:clrMapOvr>
  <p:transition>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6A3D6A69-DBBE-CAF0-28EC-6BDD68F98BA1}"/>
              </a:ext>
            </a:extLst>
          </p:cNvPr>
          <p:cNvSpPr txBox="1">
            <a:spLocks/>
          </p:cNvSpPr>
          <p:nvPr/>
        </p:nvSpPr>
        <p:spPr>
          <a:xfrm>
            <a:off x="250825" y="977900"/>
            <a:ext cx="8642350" cy="4972050"/>
          </a:xfrm>
          <a:prstGeom prst="rect">
            <a:avLst/>
          </a:prstGeom>
        </p:spPr>
        <p:txBody>
          <a:bodyPr/>
          <a:lstStyle/>
          <a:p>
            <a:pPr marL="342900" lvl="1"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以卷为单位，卷中所有文件信息、目录信息及可用的未分配空间信息，均以记录的形式存储在</a:t>
            </a:r>
            <a:r>
              <a:rPr lang="en-US" altLang="zh-CN" sz="2800" b="1" kern="0" dirty="0">
                <a:solidFill>
                  <a:schemeClr val="accent2"/>
                </a:solidFill>
                <a:latin typeface="宋体" pitchFamily="2" charset="-122"/>
                <a:ea typeface="+mn-ea"/>
              </a:rPr>
              <a:t>MFT</a:t>
            </a:r>
            <a:r>
              <a:rPr lang="zh-CN" altLang="en-US" sz="2800" b="1" kern="0" dirty="0">
                <a:solidFill>
                  <a:schemeClr val="accent2"/>
                </a:solidFill>
                <a:latin typeface="宋体" pitchFamily="2" charset="-122"/>
                <a:ea typeface="+mn-ea"/>
              </a:rPr>
              <a:t>中。</a:t>
            </a:r>
            <a:endParaRPr lang="en-US" altLang="zh-CN" sz="2800" b="1" kern="0" dirty="0">
              <a:solidFill>
                <a:schemeClr val="accent2"/>
              </a:solidFill>
              <a:latin typeface="宋体" pitchFamily="2" charset="-122"/>
              <a:ea typeface="+mn-ea"/>
            </a:endParaRPr>
          </a:p>
          <a:p>
            <a:pPr marL="342900" lvl="1" indent="-342900">
              <a:lnSpc>
                <a:spcPct val="110000"/>
              </a:lnSpc>
              <a:spcBef>
                <a:spcPct val="20000"/>
              </a:spcBef>
              <a:buFontTx/>
              <a:buChar char="•"/>
              <a:defRPr/>
            </a:pPr>
            <a:r>
              <a:rPr lang="zh-CN" altLang="en-US" sz="2800" b="1" kern="0" dirty="0">
                <a:solidFill>
                  <a:schemeClr val="accent2"/>
                </a:solidFill>
                <a:latin typeface="宋体" pitchFamily="2" charset="-122"/>
                <a:ea typeface="+mn-ea"/>
              </a:rPr>
              <a:t>主控文件表</a:t>
            </a:r>
            <a:r>
              <a:rPr lang="en-US" altLang="zh-CN" sz="2800" b="1" kern="0" dirty="0">
                <a:solidFill>
                  <a:schemeClr val="accent2"/>
                </a:solidFill>
                <a:latin typeface="宋体" pitchFamily="2" charset="-122"/>
                <a:ea typeface="+mn-ea"/>
              </a:rPr>
              <a:t>(MFT)</a:t>
            </a:r>
          </a:p>
          <a:p>
            <a:pPr marL="742950" lvl="1" indent="-285750">
              <a:lnSpc>
                <a:spcPct val="110000"/>
              </a:lnSpc>
              <a:spcBef>
                <a:spcPct val="20000"/>
              </a:spcBef>
              <a:buFontTx/>
              <a:buChar char="–"/>
              <a:defRPr/>
            </a:pPr>
            <a:r>
              <a:rPr lang="zh-CN" altLang="en-US" kern="0" dirty="0">
                <a:latin typeface="宋体" pitchFamily="2" charset="-122"/>
                <a:ea typeface="+mn-ea"/>
              </a:rPr>
              <a:t>每个文件一条记录；</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en-US" altLang="zh-CN" kern="0" dirty="0">
                <a:latin typeface="宋体" pitchFamily="2" charset="-122"/>
                <a:ea typeface="+mn-ea"/>
              </a:rPr>
              <a:t>MFT</a:t>
            </a:r>
            <a:r>
              <a:rPr lang="zh-CN" altLang="en-US" kern="0" dirty="0">
                <a:latin typeface="宋体" pitchFamily="2" charset="-122"/>
                <a:ea typeface="+mn-ea"/>
              </a:rPr>
              <a:t>本身占有一条记录；</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ea typeface="+mn-ea"/>
              </a:rPr>
              <a:t>每条记录固定为</a:t>
            </a:r>
            <a:r>
              <a:rPr lang="en-US" altLang="zh-CN" kern="0" dirty="0">
                <a:latin typeface="宋体" pitchFamily="2" charset="-122"/>
                <a:ea typeface="+mn-ea"/>
              </a:rPr>
              <a:t>1KB</a:t>
            </a:r>
            <a:r>
              <a:rPr lang="zh-CN" altLang="en-US" kern="0" dirty="0">
                <a:latin typeface="宋体" pitchFamily="2" charset="-122"/>
                <a:ea typeface="+mn-ea"/>
              </a:rPr>
              <a:t>；</a:t>
            </a:r>
            <a:endParaRPr lang="en-US" altLang="zh-CN" kern="0" dirty="0">
              <a:latin typeface="宋体" pitchFamily="2" charset="-122"/>
              <a:ea typeface="+mn-ea"/>
            </a:endParaRPr>
          </a:p>
          <a:p>
            <a:pPr marL="742950" lvl="1" indent="-285750">
              <a:lnSpc>
                <a:spcPct val="110000"/>
              </a:lnSpc>
              <a:spcBef>
                <a:spcPct val="20000"/>
              </a:spcBef>
              <a:buFontTx/>
              <a:buChar char="–"/>
              <a:defRPr/>
            </a:pPr>
            <a:r>
              <a:rPr lang="zh-CN" altLang="en-US" kern="0" dirty="0">
                <a:latin typeface="宋体" pitchFamily="2" charset="-122"/>
              </a:rPr>
              <a:t>每条记录称为一个文件的元数据，也称文件控制字；</a:t>
            </a:r>
            <a:endParaRPr lang="en-US" altLang="zh-CN" kern="0" dirty="0">
              <a:latin typeface="宋体" pitchFamily="2" charset="-122"/>
            </a:endParaRPr>
          </a:p>
          <a:p>
            <a:pPr marL="742950" lvl="1" indent="-285750">
              <a:lnSpc>
                <a:spcPct val="110000"/>
              </a:lnSpc>
              <a:spcBef>
                <a:spcPct val="20000"/>
              </a:spcBef>
              <a:buFontTx/>
              <a:buChar char="–"/>
              <a:defRPr/>
            </a:pPr>
            <a:r>
              <a:rPr lang="zh-CN" altLang="en-US" kern="0" dirty="0">
                <a:latin typeface="宋体" pitchFamily="2" charset="-122"/>
              </a:rPr>
              <a:t>每个元数据都将其对应文件的所有信息（包括文件的内容等）组织在所对应文件的一组属性中：</a:t>
            </a:r>
            <a:endParaRPr lang="en-US" altLang="zh-CN" kern="0" dirty="0">
              <a:latin typeface="宋体" pitchFamily="2" charset="-122"/>
            </a:endParaRPr>
          </a:p>
          <a:p>
            <a:pPr marL="1200150" lvl="2" indent="-285750">
              <a:lnSpc>
                <a:spcPct val="110000"/>
              </a:lnSpc>
              <a:spcBef>
                <a:spcPct val="20000"/>
              </a:spcBef>
              <a:buFontTx/>
              <a:buChar char="–"/>
              <a:defRPr/>
            </a:pPr>
            <a:r>
              <a:rPr lang="zh-CN" altLang="en-US" kern="0" dirty="0">
                <a:latin typeface="宋体" pitchFamily="2" charset="-122"/>
              </a:rPr>
              <a:t>文件小，属性直接记录在元数据中；</a:t>
            </a:r>
            <a:endParaRPr lang="en-US" altLang="zh-CN" kern="0" dirty="0">
              <a:latin typeface="宋体" pitchFamily="2" charset="-122"/>
            </a:endParaRPr>
          </a:p>
          <a:p>
            <a:pPr marL="1200150" lvl="2" indent="-285750">
              <a:lnSpc>
                <a:spcPct val="110000"/>
              </a:lnSpc>
              <a:spcBef>
                <a:spcPct val="20000"/>
              </a:spcBef>
              <a:buFontTx/>
              <a:buChar char="–"/>
              <a:defRPr/>
            </a:pPr>
            <a:r>
              <a:rPr lang="zh-CN" altLang="en-US" kern="0" dirty="0">
                <a:latin typeface="宋体" pitchFamily="2" charset="-122"/>
              </a:rPr>
              <a:t>文件大，元数据中只记录文件的一部分属性，其余的保存在其他簇中，将链接指针存在元数据中。</a:t>
            </a:r>
            <a:endParaRPr lang="en-US" altLang="zh-CN" kern="0" dirty="0">
              <a:latin typeface="宋体" pitchFamily="2" charset="-122"/>
            </a:endParaRPr>
          </a:p>
        </p:txBody>
      </p:sp>
      <p:sp>
        <p:nvSpPr>
          <p:cNvPr id="23555" name="Text Box 4">
            <a:extLst>
              <a:ext uri="{FF2B5EF4-FFF2-40B4-BE49-F238E27FC236}">
                <a16:creationId xmlns:a16="http://schemas.microsoft.com/office/drawing/2014/main" id="{256B7BAE-0E0F-88C0-C75A-387E8AC09036}"/>
              </a:ext>
            </a:extLst>
          </p:cNvPr>
          <p:cNvSpPr txBox="1">
            <a:spLocks noChangeArrowheads="1"/>
          </p:cNvSpPr>
          <p:nvPr/>
        </p:nvSpPr>
        <p:spPr bwMode="auto">
          <a:xfrm>
            <a:off x="357188" y="425450"/>
            <a:ext cx="24717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、文件组织</a:t>
            </a: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AA98C15-91C3-3382-6BFE-82F5D1CD0760}"/>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8.2 </a:t>
            </a:r>
            <a:r>
              <a:rPr lang="zh-CN" altLang="en-US" b="1">
                <a:solidFill>
                  <a:srgbClr val="660066"/>
                </a:solidFill>
                <a:latin typeface="楷体_GB2312" pitchFamily="1" charset="-122"/>
                <a:ea typeface="楷体_GB2312" pitchFamily="1" charset="-122"/>
              </a:rPr>
              <a:t>文件存储空间的管理</a:t>
            </a:r>
          </a:p>
        </p:txBody>
      </p:sp>
    </p:spTree>
  </p:cSld>
  <p:clrMapOvr>
    <a:masterClrMapping/>
  </p:clrMapOvr>
  <p:transition advClick="0">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4A1F623C-52AA-C654-16AB-7B0415759388}"/>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8.2</a:t>
            </a:r>
            <a:r>
              <a:rPr lang="zh-CN" altLang="en-US" b="1">
                <a:solidFill>
                  <a:srgbClr val="660066"/>
                </a:solidFill>
                <a:ea typeface="楷体_GB2312" pitchFamily="1" charset="-122"/>
              </a:rPr>
              <a:t>  文件存储空间的管理</a:t>
            </a:r>
            <a:endParaRPr lang="zh-CN" altLang="en-US"/>
          </a:p>
        </p:txBody>
      </p:sp>
      <p:sp>
        <p:nvSpPr>
          <p:cNvPr id="26627" name="内容占位符 2">
            <a:extLst>
              <a:ext uri="{FF2B5EF4-FFF2-40B4-BE49-F238E27FC236}">
                <a16:creationId xmlns:a16="http://schemas.microsoft.com/office/drawing/2014/main" id="{D488E665-47A7-4CB3-33AB-1919DEAFC73F}"/>
              </a:ext>
            </a:extLst>
          </p:cNvPr>
          <p:cNvSpPr>
            <a:spLocks noGrp="1" noChangeArrowheads="1"/>
          </p:cNvSpPr>
          <p:nvPr>
            <p:ph idx="1"/>
          </p:nvPr>
        </p:nvSpPr>
        <p:spPr>
          <a:xfrm>
            <a:off x="357188" y="1412875"/>
            <a:ext cx="8429625" cy="5230813"/>
          </a:xfrm>
        </p:spPr>
        <p:txBody>
          <a:bodyPr/>
          <a:lstStyle/>
          <a:p>
            <a:pPr>
              <a:lnSpc>
                <a:spcPct val="90000"/>
              </a:lnSpc>
              <a:spcBef>
                <a:spcPts val="1200"/>
              </a:spcBef>
            </a:pPr>
            <a:r>
              <a:rPr lang="zh-CN" altLang="en-US" sz="2800" b="1">
                <a:solidFill>
                  <a:schemeClr val="accent2"/>
                </a:solidFill>
              </a:rPr>
              <a:t>为文件分配磁盘时，需要的数据结构包括：</a:t>
            </a:r>
            <a:endParaRPr lang="zh-CN" altLang="en-US" sz="2800"/>
          </a:p>
          <a:p>
            <a:pPr lvl="1">
              <a:lnSpc>
                <a:spcPct val="90000"/>
              </a:lnSpc>
              <a:spcBef>
                <a:spcPts val="1200"/>
              </a:spcBef>
            </a:pPr>
            <a:r>
              <a:rPr lang="zh-CN" altLang="en-US" sz="2400"/>
              <a:t>文件分配表（</a:t>
            </a:r>
            <a:r>
              <a:rPr lang="en-US" altLang="zh-CN" sz="2400"/>
              <a:t>FAT</a:t>
            </a:r>
            <a:r>
              <a:rPr lang="zh-CN" altLang="en-US" sz="2400"/>
              <a:t>）</a:t>
            </a:r>
            <a:endParaRPr lang="en-US" altLang="zh-CN" sz="2400"/>
          </a:p>
          <a:p>
            <a:pPr lvl="1">
              <a:lnSpc>
                <a:spcPct val="90000"/>
              </a:lnSpc>
              <a:spcBef>
                <a:spcPts val="1200"/>
              </a:spcBef>
            </a:pPr>
            <a:r>
              <a:rPr lang="zh-CN" altLang="en-US" sz="2400"/>
              <a:t>磁盘分配表（</a:t>
            </a:r>
            <a:r>
              <a:rPr lang="en-US" altLang="zh-CN" sz="2400"/>
              <a:t>DAT</a:t>
            </a:r>
            <a:r>
              <a:rPr lang="zh-CN" altLang="en-US" sz="2400"/>
              <a:t>）</a:t>
            </a:r>
          </a:p>
          <a:p>
            <a:pPr>
              <a:lnSpc>
                <a:spcPct val="90000"/>
              </a:lnSpc>
              <a:spcBef>
                <a:spcPts val="1200"/>
              </a:spcBef>
            </a:pPr>
            <a:r>
              <a:rPr lang="zh-CN" altLang="en-US" sz="2800" b="1">
                <a:solidFill>
                  <a:schemeClr val="accent2"/>
                </a:solidFill>
              </a:rPr>
              <a:t>磁盘空间的基本分配单位：</a:t>
            </a:r>
            <a:endParaRPr lang="en-US" altLang="zh-CN" sz="2800" b="1">
              <a:solidFill>
                <a:schemeClr val="accent2"/>
              </a:solidFill>
            </a:endParaRPr>
          </a:p>
          <a:p>
            <a:pPr lvl="1">
              <a:lnSpc>
                <a:spcPct val="90000"/>
              </a:lnSpc>
              <a:spcBef>
                <a:spcPts val="1200"/>
              </a:spcBef>
            </a:pPr>
            <a:r>
              <a:rPr lang="zh-CN" altLang="en-US" sz="2400" b="1">
                <a:solidFill>
                  <a:schemeClr val="accent2"/>
                </a:solidFill>
              </a:rPr>
              <a:t>磁盘块</a:t>
            </a:r>
            <a:endParaRPr lang="en-US" altLang="zh-CN" sz="2400"/>
          </a:p>
          <a:p>
            <a:pPr>
              <a:lnSpc>
                <a:spcPct val="90000"/>
              </a:lnSpc>
              <a:spcBef>
                <a:spcPts val="1200"/>
              </a:spcBef>
            </a:pPr>
            <a:r>
              <a:rPr lang="zh-CN" altLang="en-US" sz="2800" b="1">
                <a:solidFill>
                  <a:schemeClr val="accent2"/>
                </a:solidFill>
              </a:rPr>
              <a:t>文件存储空间的管理方法：</a:t>
            </a:r>
            <a:endParaRPr lang="en-US" altLang="zh-CN" sz="2800" b="1">
              <a:solidFill>
                <a:schemeClr val="accent2"/>
              </a:solidFill>
            </a:endParaRPr>
          </a:p>
          <a:p>
            <a:pPr lvl="1">
              <a:lnSpc>
                <a:spcPct val="90000"/>
              </a:lnSpc>
              <a:spcBef>
                <a:spcPts val="1200"/>
              </a:spcBef>
            </a:pPr>
            <a:r>
              <a:rPr lang="zh-CN" altLang="en-US" sz="2400"/>
              <a:t>空闲表法和空闲链表法</a:t>
            </a:r>
            <a:endParaRPr lang="en-US" altLang="zh-CN" sz="2400"/>
          </a:p>
          <a:p>
            <a:pPr lvl="1">
              <a:lnSpc>
                <a:spcPct val="90000"/>
              </a:lnSpc>
              <a:spcBef>
                <a:spcPts val="1200"/>
              </a:spcBef>
            </a:pPr>
            <a:r>
              <a:rPr lang="zh-CN" altLang="en-US" sz="2400"/>
              <a:t>位示图法</a:t>
            </a:r>
            <a:endParaRPr lang="en-US" altLang="zh-CN" sz="2400"/>
          </a:p>
          <a:p>
            <a:pPr lvl="1">
              <a:lnSpc>
                <a:spcPct val="90000"/>
              </a:lnSpc>
              <a:spcBef>
                <a:spcPts val="1200"/>
              </a:spcBef>
            </a:pPr>
            <a:r>
              <a:rPr lang="zh-CN" altLang="en-US" sz="2400"/>
              <a:t>成组链接法</a:t>
            </a:r>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40A5CC21-D5D0-DB00-F9DD-86BA38C293FF}"/>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8.2.1</a:t>
            </a:r>
            <a:r>
              <a:rPr lang="zh-CN" altLang="en-US" b="1">
                <a:solidFill>
                  <a:srgbClr val="660066"/>
                </a:solidFill>
                <a:ea typeface="楷体_GB2312" pitchFamily="1" charset="-122"/>
              </a:rPr>
              <a:t> 空闲表法和空闲链表法</a:t>
            </a:r>
            <a:r>
              <a:rPr lang="zh-CN" altLang="en-US" b="1"/>
              <a:t> </a:t>
            </a:r>
            <a:endParaRPr lang="zh-CN" altLang="en-US"/>
          </a:p>
        </p:txBody>
      </p:sp>
      <p:sp>
        <p:nvSpPr>
          <p:cNvPr id="27651" name="内容占位符 2">
            <a:extLst>
              <a:ext uri="{FF2B5EF4-FFF2-40B4-BE49-F238E27FC236}">
                <a16:creationId xmlns:a16="http://schemas.microsoft.com/office/drawing/2014/main" id="{0BDD1B7B-952D-1324-16A2-38FADFA8684F}"/>
              </a:ext>
            </a:extLst>
          </p:cNvPr>
          <p:cNvSpPr>
            <a:spLocks noGrp="1" noChangeArrowheads="1"/>
          </p:cNvSpPr>
          <p:nvPr>
            <p:ph idx="1"/>
          </p:nvPr>
        </p:nvSpPr>
        <p:spPr>
          <a:xfrm>
            <a:off x="357188" y="1412875"/>
            <a:ext cx="8429625" cy="5230813"/>
          </a:xfrm>
        </p:spPr>
        <p:txBody>
          <a:bodyPr/>
          <a:lstStyle/>
          <a:p>
            <a:pPr>
              <a:lnSpc>
                <a:spcPct val="90000"/>
              </a:lnSpc>
              <a:spcBef>
                <a:spcPts val="120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、空闲表法（属于连续分配方式）</a:t>
            </a:r>
          </a:p>
          <a:p>
            <a:pPr>
              <a:lnSpc>
                <a:spcPct val="90000"/>
              </a:lnSpc>
              <a:spcBef>
                <a:spcPts val="1200"/>
              </a:spcBef>
            </a:pPr>
            <a:r>
              <a:rPr lang="zh-CN" altLang="en-US" sz="2800" b="1">
                <a:solidFill>
                  <a:schemeClr val="accent2"/>
                </a:solidFill>
              </a:rPr>
              <a:t>分配：</a:t>
            </a:r>
            <a:r>
              <a:rPr lang="zh-CN" altLang="en-US" sz="2800"/>
              <a:t>首次</a:t>
            </a:r>
            <a:r>
              <a:rPr lang="en-US" altLang="zh-CN" sz="2800"/>
              <a:t>/</a:t>
            </a:r>
            <a:r>
              <a:rPr lang="zh-CN" altLang="en-US" sz="2800"/>
              <a:t>循环首次</a:t>
            </a:r>
            <a:r>
              <a:rPr lang="en-US" altLang="zh-CN" sz="2800"/>
              <a:t>/</a:t>
            </a:r>
            <a:r>
              <a:rPr lang="zh-CN" altLang="en-US" sz="2800"/>
              <a:t>最佳</a:t>
            </a:r>
            <a:r>
              <a:rPr lang="en-US" altLang="zh-CN" sz="2800"/>
              <a:t>/</a:t>
            </a:r>
            <a:r>
              <a:rPr lang="zh-CN" altLang="en-US" sz="2800"/>
              <a:t>最坏</a:t>
            </a:r>
          </a:p>
          <a:p>
            <a:pPr>
              <a:lnSpc>
                <a:spcPct val="90000"/>
              </a:lnSpc>
              <a:spcBef>
                <a:spcPts val="1200"/>
              </a:spcBef>
            </a:pPr>
            <a:r>
              <a:rPr lang="zh-CN" altLang="en-US" sz="2800" b="1">
                <a:solidFill>
                  <a:schemeClr val="accent2"/>
                </a:solidFill>
              </a:rPr>
              <a:t>回收：</a:t>
            </a:r>
            <a:r>
              <a:rPr lang="zh-CN" altLang="en-US" sz="2800"/>
              <a:t>判断是否合并。</a:t>
            </a:r>
          </a:p>
          <a:p>
            <a:pPr>
              <a:lnSpc>
                <a:spcPct val="90000"/>
              </a:lnSpc>
              <a:spcBef>
                <a:spcPts val="1200"/>
              </a:spcBef>
            </a:pPr>
            <a:r>
              <a:rPr lang="zh-CN" altLang="en-US" sz="2800"/>
              <a:t>由于连续分配比较快，因此对对换空间及小文件的管理适用。</a:t>
            </a:r>
          </a:p>
        </p:txBody>
      </p:sp>
      <p:sp>
        <p:nvSpPr>
          <p:cNvPr id="27652" name="Text Box 7">
            <a:extLst>
              <a:ext uri="{FF2B5EF4-FFF2-40B4-BE49-F238E27FC236}">
                <a16:creationId xmlns:a16="http://schemas.microsoft.com/office/drawing/2014/main" id="{B1393043-0945-FD7C-F80C-3A28026234B0}"/>
              </a:ext>
            </a:extLst>
          </p:cNvPr>
          <p:cNvSpPr txBox="1">
            <a:spLocks noChangeArrowheads="1"/>
          </p:cNvSpPr>
          <p:nvPr/>
        </p:nvSpPr>
        <p:spPr bwMode="auto">
          <a:xfrm>
            <a:off x="3276600" y="6165850"/>
            <a:ext cx="275907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8-9  </a:t>
            </a:r>
            <a:r>
              <a:rPr lang="zh-CN" altLang="en-US" sz="2400" b="1"/>
              <a:t>空闲盘块表 </a:t>
            </a:r>
          </a:p>
        </p:txBody>
      </p:sp>
      <p:graphicFrame>
        <p:nvGraphicFramePr>
          <p:cNvPr id="6" name="Group 38">
            <a:extLst>
              <a:ext uri="{FF2B5EF4-FFF2-40B4-BE49-F238E27FC236}">
                <a16:creationId xmlns:a16="http://schemas.microsoft.com/office/drawing/2014/main" id="{6C1CBBBB-E196-95B7-A3AE-1735356A3C6F}"/>
              </a:ext>
            </a:extLst>
          </p:cNvPr>
          <p:cNvGraphicFramePr>
            <a:graphicFrameLocks noGrp="1"/>
          </p:cNvGraphicFramePr>
          <p:nvPr/>
        </p:nvGraphicFramePr>
        <p:xfrm>
          <a:off x="685800" y="4076700"/>
          <a:ext cx="8077200" cy="1982792"/>
        </p:xfrm>
        <a:graphic>
          <a:graphicData uri="http://schemas.openxmlformats.org/drawingml/2006/table">
            <a:tbl>
              <a:tblPr/>
              <a:tblGrid>
                <a:gridCol w="26924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gridCol w="2692400">
                  <a:extLst>
                    <a:ext uri="{9D8B030D-6E8A-4147-A177-3AD203B41FA5}">
                      <a16:colId xmlns:a16="http://schemas.microsoft.com/office/drawing/2014/main" val="20002"/>
                    </a:ext>
                  </a:extLst>
                </a:gridCol>
              </a:tblGrid>
              <a:tr h="396784">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序号</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第一空闲盘块号</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空闲盘块数</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1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784">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9</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18">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784">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a:extLst>
              <a:ext uri="{FF2B5EF4-FFF2-40B4-BE49-F238E27FC236}">
                <a16:creationId xmlns:a16="http://schemas.microsoft.com/office/drawing/2014/main" id="{DB63C395-62A3-F9BF-54F4-CD5E68E58378}"/>
              </a:ext>
            </a:extLst>
          </p:cNvPr>
          <p:cNvSpPr>
            <a:spLocks noGrp="1" noChangeArrowheads="1"/>
          </p:cNvSpPr>
          <p:nvPr>
            <p:ph idx="1"/>
          </p:nvPr>
        </p:nvSpPr>
        <p:spPr>
          <a:xfrm>
            <a:off x="250825" y="476250"/>
            <a:ext cx="8642350" cy="6094413"/>
          </a:xfrm>
        </p:spPr>
        <p:txBody>
          <a:bodyPr/>
          <a:lstStyle/>
          <a:p>
            <a:pPr>
              <a:lnSpc>
                <a:spcPct val="110000"/>
              </a:lnSpc>
              <a:spcBef>
                <a:spcPts val="60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、空闲链表法</a:t>
            </a:r>
          </a:p>
          <a:p>
            <a:pPr>
              <a:lnSpc>
                <a:spcPct val="110000"/>
              </a:lnSpc>
              <a:spcBef>
                <a:spcPts val="600"/>
              </a:spcBef>
            </a:pPr>
            <a:r>
              <a:rPr lang="zh-CN" altLang="en-US" sz="2800" b="1">
                <a:solidFill>
                  <a:schemeClr val="accent2"/>
                </a:solidFill>
              </a:rPr>
              <a:t>空闲盘块链</a:t>
            </a:r>
          </a:p>
          <a:p>
            <a:pPr lvl="1">
              <a:lnSpc>
                <a:spcPct val="110000"/>
              </a:lnSpc>
              <a:spcBef>
                <a:spcPts val="600"/>
              </a:spcBef>
            </a:pPr>
            <a:r>
              <a:rPr lang="zh-CN" altLang="en-US" sz="2400"/>
              <a:t>将磁盘上的所有空闲空间以盘块为单位串成一条链，每一个盘块都有指向后继盘块的指针。</a:t>
            </a:r>
            <a:endParaRPr lang="en-US" altLang="zh-CN" sz="2400"/>
          </a:p>
          <a:p>
            <a:pPr lvl="1">
              <a:lnSpc>
                <a:spcPct val="110000"/>
              </a:lnSpc>
              <a:spcBef>
                <a:spcPts val="600"/>
              </a:spcBef>
            </a:pPr>
            <a:r>
              <a:rPr lang="zh-CN" altLang="en-US" sz="2400" b="1">
                <a:solidFill>
                  <a:schemeClr val="accent2"/>
                </a:solidFill>
              </a:rPr>
              <a:t>优点：</a:t>
            </a:r>
            <a:r>
              <a:rPr lang="zh-CN" altLang="en-US" sz="2400"/>
              <a:t>用于分配和回收一个盘块的过程非常简单</a:t>
            </a:r>
          </a:p>
          <a:p>
            <a:pPr lvl="1">
              <a:lnSpc>
                <a:spcPct val="110000"/>
              </a:lnSpc>
              <a:spcBef>
                <a:spcPts val="600"/>
              </a:spcBef>
            </a:pPr>
            <a:r>
              <a:rPr lang="zh-CN" altLang="en-US" sz="2400" b="1">
                <a:solidFill>
                  <a:schemeClr val="accent2"/>
                </a:solidFill>
              </a:rPr>
              <a:t>缺点</a:t>
            </a:r>
            <a:r>
              <a:rPr lang="zh-CN" altLang="en-US" sz="2400"/>
              <a:t>：可能该链很长，在为一个文件分配盘块时，可能要重复操作多次，分配和回收效率很低。</a:t>
            </a:r>
            <a:endParaRPr lang="en-US" altLang="zh-CN" sz="2400"/>
          </a:p>
          <a:p>
            <a:pPr>
              <a:lnSpc>
                <a:spcPct val="110000"/>
              </a:lnSpc>
              <a:spcBef>
                <a:spcPts val="600"/>
              </a:spcBef>
            </a:pPr>
            <a:r>
              <a:rPr lang="zh-CN" altLang="en-US" sz="2800" b="1">
                <a:solidFill>
                  <a:schemeClr val="accent2"/>
                </a:solidFill>
              </a:rPr>
              <a:t>空闲盘区链</a:t>
            </a:r>
            <a:endParaRPr lang="zh-CN" altLang="en-US" sz="2800"/>
          </a:p>
          <a:p>
            <a:pPr lvl="1">
              <a:lnSpc>
                <a:spcPct val="110000"/>
              </a:lnSpc>
              <a:spcBef>
                <a:spcPts val="600"/>
              </a:spcBef>
            </a:pPr>
            <a:r>
              <a:rPr lang="zh-CN" altLang="en-US" sz="2400"/>
              <a:t>将磁盘上的所有空闲盘区串成一条链，每个盘区含有：用于指示下一个空闲盘区的指针、指明本盘区大小的信息</a:t>
            </a:r>
            <a:endParaRPr lang="en-US" altLang="zh-CN" sz="2400"/>
          </a:p>
          <a:p>
            <a:pPr lvl="1">
              <a:lnSpc>
                <a:spcPct val="110000"/>
              </a:lnSpc>
              <a:spcBef>
                <a:spcPts val="600"/>
              </a:spcBef>
            </a:pPr>
            <a:r>
              <a:rPr lang="zh-CN" altLang="en-US" sz="2400"/>
              <a:t>一个盘区含多个盘块，类似于内存分区分配与回收</a:t>
            </a:r>
            <a:r>
              <a:rPr lang="en-US" altLang="zh-CN" sz="2400"/>
              <a:t>(</a:t>
            </a:r>
            <a:r>
              <a:rPr lang="zh-CN" altLang="en-US" sz="2400"/>
              <a:t>合并</a:t>
            </a:r>
            <a:r>
              <a:rPr lang="en-US" altLang="zh-CN" sz="2400"/>
              <a:t>)</a:t>
            </a:r>
          </a:p>
          <a:p>
            <a:pPr lvl="1">
              <a:lnSpc>
                <a:spcPct val="110000"/>
              </a:lnSpc>
              <a:spcBef>
                <a:spcPts val="600"/>
              </a:spcBef>
            </a:pPr>
            <a:r>
              <a:rPr lang="zh-CN" altLang="en-US" sz="2400"/>
              <a:t>分配通常采用首次适应算法，为了提高对空闲盘区的检索速度，可采用显式链接方法。</a:t>
            </a: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6D6B0C54-3EC7-935E-F170-8FDA0B79F479}"/>
              </a:ext>
            </a:extLst>
          </p:cNvPr>
          <p:cNvSpPr>
            <a:spLocks noGrp="1" noChangeArrowheads="1"/>
          </p:cNvSpPr>
          <p:nvPr>
            <p:ph type="title"/>
          </p:nvPr>
        </p:nvSpPr>
        <p:spPr>
          <a:xfrm>
            <a:off x="685800" y="285750"/>
            <a:ext cx="7772400" cy="1143000"/>
          </a:xfrm>
        </p:spPr>
        <p:txBody>
          <a:bodyPr/>
          <a:lstStyle/>
          <a:p>
            <a:r>
              <a:rPr lang="en-US" altLang="zh-CN" b="1">
                <a:solidFill>
                  <a:srgbClr val="660066"/>
                </a:solidFill>
                <a:ea typeface="楷体_GB2312" pitchFamily="1" charset="-122"/>
              </a:rPr>
              <a:t>8.2.2 </a:t>
            </a:r>
            <a:r>
              <a:rPr lang="zh-CN" altLang="en-US" b="1">
                <a:solidFill>
                  <a:srgbClr val="660066"/>
                </a:solidFill>
                <a:ea typeface="楷体_GB2312" pitchFamily="1" charset="-122"/>
              </a:rPr>
              <a:t>位示图法</a:t>
            </a:r>
          </a:p>
        </p:txBody>
      </p:sp>
      <p:sp>
        <p:nvSpPr>
          <p:cNvPr id="29699" name="内容占位符 2">
            <a:extLst>
              <a:ext uri="{FF2B5EF4-FFF2-40B4-BE49-F238E27FC236}">
                <a16:creationId xmlns:a16="http://schemas.microsoft.com/office/drawing/2014/main" id="{BAF651F1-AF5E-3A09-655C-73567EA71E08}"/>
              </a:ext>
            </a:extLst>
          </p:cNvPr>
          <p:cNvSpPr>
            <a:spLocks noGrp="1" noChangeArrowheads="1"/>
          </p:cNvSpPr>
          <p:nvPr>
            <p:ph idx="1"/>
          </p:nvPr>
        </p:nvSpPr>
        <p:spPr>
          <a:xfrm>
            <a:off x="357188" y="1714500"/>
            <a:ext cx="8429625" cy="1571625"/>
          </a:xfrm>
        </p:spPr>
        <p:txBody>
          <a:bodyPr/>
          <a:lstStyle/>
          <a:p>
            <a:r>
              <a:rPr lang="zh-CN" altLang="en-US" sz="2800"/>
              <a:t>位示图是利用二进制的一位来表示磁盘中的一个盘块的使用情况，</a:t>
            </a:r>
            <a:r>
              <a:rPr lang="en-US" altLang="zh-CN" sz="2800"/>
              <a:t>0</a:t>
            </a:r>
            <a:r>
              <a:rPr lang="zh-CN" altLang="en-US" sz="2800"/>
              <a:t>表示盘块空闲，</a:t>
            </a:r>
            <a:r>
              <a:rPr lang="en-US" altLang="zh-CN" sz="2800"/>
              <a:t>1</a:t>
            </a:r>
            <a:r>
              <a:rPr lang="zh-CN" altLang="en-US" sz="2800"/>
              <a:t>表示已分配。</a:t>
            </a:r>
          </a:p>
        </p:txBody>
      </p:sp>
      <p:sp>
        <p:nvSpPr>
          <p:cNvPr id="29700" name="Text Box 5">
            <a:extLst>
              <a:ext uri="{FF2B5EF4-FFF2-40B4-BE49-F238E27FC236}">
                <a16:creationId xmlns:a16="http://schemas.microsoft.com/office/drawing/2014/main" id="{701674E3-9434-FB0B-ACB9-A205EC45266B}"/>
              </a:ext>
            </a:extLst>
          </p:cNvPr>
          <p:cNvSpPr txBox="1">
            <a:spLocks noChangeArrowheads="1"/>
          </p:cNvSpPr>
          <p:nvPr/>
        </p:nvSpPr>
        <p:spPr bwMode="auto">
          <a:xfrm>
            <a:off x="284163" y="1214438"/>
            <a:ext cx="21478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、位示图 </a:t>
            </a:r>
          </a:p>
        </p:txBody>
      </p:sp>
      <p:sp>
        <p:nvSpPr>
          <p:cNvPr id="29701" name="Text Box 6">
            <a:extLst>
              <a:ext uri="{FF2B5EF4-FFF2-40B4-BE49-F238E27FC236}">
                <a16:creationId xmlns:a16="http://schemas.microsoft.com/office/drawing/2014/main" id="{B638E93F-3F47-BFE7-F16C-28821DE67D55}"/>
              </a:ext>
            </a:extLst>
          </p:cNvPr>
          <p:cNvSpPr txBox="1">
            <a:spLocks noChangeArrowheads="1"/>
          </p:cNvSpPr>
          <p:nvPr/>
        </p:nvSpPr>
        <p:spPr bwMode="auto">
          <a:xfrm>
            <a:off x="3733800" y="6215063"/>
            <a:ext cx="2293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8-10  </a:t>
            </a:r>
            <a:r>
              <a:rPr lang="zh-CN" altLang="en-US" sz="2400" b="1"/>
              <a:t>位示图 </a:t>
            </a:r>
          </a:p>
        </p:txBody>
      </p:sp>
      <p:pic>
        <p:nvPicPr>
          <p:cNvPr id="29702" name="Picture 7" descr="C:\WINDOWS\Desktop\未标题-1 拷贝.gif">
            <a:extLst>
              <a:ext uri="{FF2B5EF4-FFF2-40B4-BE49-F238E27FC236}">
                <a16:creationId xmlns:a16="http://schemas.microsoft.com/office/drawing/2014/main" id="{31AF428C-D080-5176-EE1B-06EF065DA2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 y="2643188"/>
            <a:ext cx="8669338"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a:extLst>
              <a:ext uri="{FF2B5EF4-FFF2-40B4-BE49-F238E27FC236}">
                <a16:creationId xmlns:a16="http://schemas.microsoft.com/office/drawing/2014/main" id="{F69B3116-CAFE-C3FA-AE8C-D4E7F7B7660E}"/>
              </a:ext>
            </a:extLst>
          </p:cNvPr>
          <p:cNvSpPr txBox="1">
            <a:spLocks/>
          </p:cNvSpPr>
          <p:nvPr/>
        </p:nvSpPr>
        <p:spPr bwMode="auto">
          <a:xfrm>
            <a:off x="357188" y="571500"/>
            <a:ext cx="842962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800100" indent="-3429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120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、盘块的分配：</a:t>
            </a:r>
          </a:p>
          <a:p>
            <a:pPr lvl="1">
              <a:spcBef>
                <a:spcPts val="1200"/>
              </a:spcBef>
              <a:buFontTx/>
              <a:buChar char="•"/>
            </a:pPr>
            <a:r>
              <a:rPr lang="zh-CN" altLang="en-US" sz="2400"/>
              <a:t>顺序扫描，找一个或一组</a:t>
            </a:r>
            <a:r>
              <a:rPr lang="en-US" altLang="zh-CN" sz="2400"/>
              <a:t>=0</a:t>
            </a:r>
            <a:r>
              <a:rPr lang="zh-CN" altLang="en-US" sz="2400"/>
              <a:t>的块；</a:t>
            </a:r>
            <a:endParaRPr lang="en-US" altLang="zh-CN" sz="2400"/>
          </a:p>
          <a:p>
            <a:pPr lvl="1">
              <a:spcBef>
                <a:spcPts val="1200"/>
              </a:spcBef>
              <a:buFontTx/>
              <a:buChar char="•"/>
            </a:pPr>
            <a:r>
              <a:rPr lang="zh-CN" altLang="en-US" sz="2400"/>
              <a:t>根据找到的行</a:t>
            </a:r>
            <a:r>
              <a:rPr lang="en-US" altLang="zh-CN" sz="2400"/>
              <a:t>/</a:t>
            </a:r>
            <a:r>
              <a:rPr lang="zh-CN" altLang="en-US" sz="2400"/>
              <a:t>列得以盘块号。</a:t>
            </a:r>
            <a:r>
              <a:rPr lang="en-US" altLang="zh-CN" sz="2400"/>
              <a:t>b=n(i-1)+j；( n</a:t>
            </a:r>
            <a:r>
              <a:rPr lang="zh-CN" altLang="en-US" sz="2400"/>
              <a:t>代表每行的位数</a:t>
            </a:r>
            <a:r>
              <a:rPr lang="en-US" altLang="zh-CN" sz="2400"/>
              <a:t>)</a:t>
            </a:r>
          </a:p>
          <a:p>
            <a:pPr lvl="1">
              <a:spcBef>
                <a:spcPts val="1200"/>
              </a:spcBef>
              <a:buFontTx/>
              <a:buChar char="•"/>
            </a:pPr>
            <a:r>
              <a:rPr lang="zh-CN" altLang="en-US" sz="2400"/>
              <a:t>修改位图，令</a:t>
            </a:r>
            <a:r>
              <a:rPr lang="en-US" altLang="zh-CN" sz="2400"/>
              <a:t>map[i, j]=1。</a:t>
            </a:r>
          </a:p>
          <a:p>
            <a:pPr lvl="1">
              <a:spcBef>
                <a:spcPts val="1200"/>
              </a:spcBef>
              <a:buFontTx/>
              <a:buChar char="•"/>
            </a:pPr>
            <a:endParaRPr lang="en-US" altLang="zh-CN" sz="1200"/>
          </a:p>
          <a:p>
            <a:pPr>
              <a:spcBef>
                <a:spcPts val="120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、盘块的回收：</a:t>
            </a:r>
            <a:endParaRPr kumimoji="0" lang="en-US" altLang="zh-CN" b="1">
              <a:solidFill>
                <a:srgbClr val="C00000"/>
              </a:solidFill>
              <a:latin typeface="Arial" panose="020B0604020202020204" pitchFamily="34" charset="0"/>
            </a:endParaRPr>
          </a:p>
          <a:p>
            <a:pPr lvl="1">
              <a:spcBef>
                <a:spcPts val="1200"/>
              </a:spcBef>
              <a:buFontTx/>
              <a:buChar char="•"/>
            </a:pPr>
            <a:r>
              <a:rPr lang="zh-CN" altLang="en-US" sz="2400"/>
              <a:t>由磁块号得</a:t>
            </a:r>
            <a:r>
              <a:rPr lang="en-US" altLang="zh-CN" sz="2400"/>
              <a:t>(i,j)</a:t>
            </a:r>
          </a:p>
          <a:p>
            <a:pPr lvl="1">
              <a:spcBef>
                <a:spcPts val="1200"/>
              </a:spcBef>
              <a:buFontTx/>
              <a:buNone/>
            </a:pPr>
            <a:r>
              <a:rPr lang="en-US" altLang="zh-CN" sz="2400"/>
              <a:t>           i= (b-1) div n +1        j= (b-1) mod n +1</a:t>
            </a:r>
          </a:p>
          <a:p>
            <a:pPr lvl="1">
              <a:spcBef>
                <a:spcPts val="1200"/>
              </a:spcBef>
              <a:buFontTx/>
              <a:buChar char="•"/>
            </a:pPr>
            <a:r>
              <a:rPr lang="zh-CN" altLang="en-US" sz="2400"/>
              <a:t>修改位图：令</a:t>
            </a:r>
            <a:r>
              <a:rPr lang="en-US" altLang="zh-CN" sz="2400"/>
              <a:t>map[i, j]=0</a:t>
            </a:r>
            <a:endParaRPr lang="zh-CN" altLang="en-US" sz="2400"/>
          </a:p>
          <a:p>
            <a:pPr>
              <a:spcBef>
                <a:spcPts val="1200"/>
              </a:spcBef>
            </a:pPr>
            <a:r>
              <a:rPr lang="zh-CN" altLang="en-US" sz="2800" b="1">
                <a:solidFill>
                  <a:schemeClr val="accent2"/>
                </a:solidFill>
              </a:rPr>
              <a:t>特点：</a:t>
            </a:r>
            <a:r>
              <a:rPr lang="zh-CN" altLang="en-US" sz="2800"/>
              <a:t>易于访问；占空间少，可放入内存，查找速度快。</a:t>
            </a:r>
            <a:endParaRPr lang="zh-CN" altLang="en-US" sz="2400"/>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9D8631B6-E455-6341-FEB4-098752AD85C3}"/>
              </a:ext>
            </a:extLst>
          </p:cNvPr>
          <p:cNvSpPr>
            <a:spLocks noGrp="1" noChangeArrowheads="1"/>
          </p:cNvSpPr>
          <p:nvPr>
            <p:ph type="title"/>
          </p:nvPr>
        </p:nvSpPr>
        <p:spPr>
          <a:xfrm>
            <a:off x="685800" y="260350"/>
            <a:ext cx="7772400" cy="1143000"/>
          </a:xfrm>
        </p:spPr>
        <p:txBody>
          <a:bodyPr/>
          <a:lstStyle/>
          <a:p>
            <a:r>
              <a:rPr lang="en-US" altLang="zh-CN" b="1">
                <a:solidFill>
                  <a:srgbClr val="660066"/>
                </a:solidFill>
                <a:ea typeface="楷体_GB2312" pitchFamily="1" charset="-122"/>
              </a:rPr>
              <a:t>8.2.3 </a:t>
            </a:r>
            <a:r>
              <a:rPr lang="zh-CN" altLang="en-US" b="1">
                <a:solidFill>
                  <a:srgbClr val="660066"/>
                </a:solidFill>
                <a:ea typeface="楷体_GB2312" pitchFamily="1" charset="-122"/>
              </a:rPr>
              <a:t>成组链接法</a:t>
            </a:r>
            <a:r>
              <a:rPr lang="zh-CN" altLang="en-US" b="1"/>
              <a:t> </a:t>
            </a:r>
            <a:endParaRPr lang="zh-CN" altLang="en-US"/>
          </a:p>
        </p:txBody>
      </p:sp>
      <p:sp>
        <p:nvSpPr>
          <p:cNvPr id="31747" name="内容占位符 2">
            <a:extLst>
              <a:ext uri="{FF2B5EF4-FFF2-40B4-BE49-F238E27FC236}">
                <a16:creationId xmlns:a16="http://schemas.microsoft.com/office/drawing/2014/main" id="{0F12613A-B572-9F06-2BAE-CE8F5894AE51}"/>
              </a:ext>
            </a:extLst>
          </p:cNvPr>
          <p:cNvSpPr>
            <a:spLocks noGrp="1" noChangeArrowheads="1"/>
          </p:cNvSpPr>
          <p:nvPr>
            <p:ph idx="1"/>
          </p:nvPr>
        </p:nvSpPr>
        <p:spPr>
          <a:xfrm>
            <a:off x="285750" y="1285875"/>
            <a:ext cx="8572500" cy="5214938"/>
          </a:xfrm>
        </p:spPr>
        <p:txBody>
          <a:bodyPr/>
          <a:lstStyle/>
          <a:p>
            <a:r>
              <a:rPr lang="zh-CN" altLang="en-US" sz="2800"/>
              <a:t>空闲表法和空闲链表法都不适用于大型文件系统。</a:t>
            </a:r>
            <a:endParaRPr lang="en-US" altLang="zh-CN" sz="2800"/>
          </a:p>
          <a:p>
            <a:r>
              <a:rPr lang="en-US" altLang="zh-CN" sz="2800"/>
              <a:t>UNIX</a:t>
            </a:r>
            <a:r>
              <a:rPr lang="zh-CN" altLang="en-US" sz="2800"/>
              <a:t>系统中采用的是成组链接法，将上述两种方法相结合形成一种空闲盘块管理方法。</a:t>
            </a:r>
            <a:endParaRPr lang="en-US" altLang="zh-CN" sz="2800"/>
          </a:p>
          <a:p>
            <a:pPr>
              <a:buFontTx/>
              <a:buNone/>
            </a:pPr>
            <a:endParaRPr lang="en-US" altLang="zh-CN" sz="3600"/>
          </a:p>
        </p:txBody>
      </p:sp>
      <p:pic>
        <p:nvPicPr>
          <p:cNvPr id="31748" name="Picture 5" descr="F:\操作系统教材\插图\第十章\10.2.bmp">
            <a:extLst>
              <a:ext uri="{FF2B5EF4-FFF2-40B4-BE49-F238E27FC236}">
                <a16:creationId xmlns:a16="http://schemas.microsoft.com/office/drawing/2014/main" id="{C0A14166-28B9-FC9A-F40C-02E7D5F36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25" y="2786063"/>
            <a:ext cx="5857875" cy="3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矩形 5">
            <a:extLst>
              <a:ext uri="{FF2B5EF4-FFF2-40B4-BE49-F238E27FC236}">
                <a16:creationId xmlns:a16="http://schemas.microsoft.com/office/drawing/2014/main" id="{4D62B0EE-A0EC-4751-68F6-6C3A8A59194E}"/>
              </a:ext>
            </a:extLst>
          </p:cNvPr>
          <p:cNvSpPr>
            <a:spLocks noChangeArrowheads="1"/>
          </p:cNvSpPr>
          <p:nvPr/>
        </p:nvSpPr>
        <p:spPr bwMode="auto">
          <a:xfrm>
            <a:off x="142875" y="3101975"/>
            <a:ext cx="457200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a:t>s-nfree :</a:t>
            </a:r>
            <a:r>
              <a:rPr kumimoji="0" lang="zh-CN" altLang="en-US" sz="2400"/>
              <a:t>空闲块数</a:t>
            </a:r>
          </a:p>
          <a:p>
            <a:pPr eaLnBrk="1" hangingPunct="1">
              <a:lnSpc>
                <a:spcPct val="150000"/>
              </a:lnSpc>
              <a:spcBef>
                <a:spcPct val="0"/>
              </a:spcBef>
              <a:buFontTx/>
              <a:buNone/>
            </a:pPr>
            <a:r>
              <a:rPr kumimoji="0" lang="en-US" altLang="zh-CN" sz="2400"/>
              <a:t>s_free[100]</a:t>
            </a:r>
            <a:r>
              <a:rPr kumimoji="0" lang="zh-CN" altLang="en-US" sz="2400"/>
              <a:t>：空闲块块号</a:t>
            </a:r>
          </a:p>
          <a:p>
            <a:pPr eaLnBrk="1" hangingPunct="1">
              <a:lnSpc>
                <a:spcPct val="150000"/>
              </a:lnSpc>
              <a:spcBef>
                <a:spcPct val="0"/>
              </a:spcBef>
              <a:buFontTx/>
              <a:buNone/>
            </a:pPr>
            <a:r>
              <a:rPr kumimoji="0" lang="en-US" altLang="zh-CN" sz="2400"/>
              <a:t>s_flock</a:t>
            </a:r>
            <a:r>
              <a:rPr kumimoji="0" lang="zh-CN" altLang="en-US" sz="2400"/>
              <a:t>：锁位</a:t>
            </a:r>
          </a:p>
        </p:txBody>
      </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a:extLst>
              <a:ext uri="{FF2B5EF4-FFF2-40B4-BE49-F238E27FC236}">
                <a16:creationId xmlns:a16="http://schemas.microsoft.com/office/drawing/2014/main" id="{AD007AEB-2DAE-38F5-4953-B47DCE981155}"/>
              </a:ext>
            </a:extLst>
          </p:cNvPr>
          <p:cNvSpPr>
            <a:spLocks noGrp="1" noChangeArrowheads="1"/>
          </p:cNvSpPr>
          <p:nvPr>
            <p:ph idx="1"/>
          </p:nvPr>
        </p:nvSpPr>
        <p:spPr>
          <a:xfrm>
            <a:off x="285750" y="1285875"/>
            <a:ext cx="8572500" cy="5214938"/>
          </a:xfrm>
        </p:spPr>
        <p:txBody>
          <a:bodyPr/>
          <a:lstStyle/>
          <a:p>
            <a:r>
              <a:rPr lang="zh-CN" altLang="en-US" sz="2400"/>
              <a:t>空闲盘块号栈</a:t>
            </a:r>
          </a:p>
          <a:p>
            <a:r>
              <a:rPr lang="zh-CN" altLang="en-US" sz="2400"/>
              <a:t>文件区中的所有空闲盘块，被分成若干个组</a:t>
            </a:r>
          </a:p>
          <a:p>
            <a:r>
              <a:rPr lang="zh-CN" altLang="en-US" sz="2400"/>
              <a:t>将每一组含有的盘块总数</a:t>
            </a:r>
            <a:r>
              <a:rPr lang="en-US" altLang="zh-CN" sz="2400"/>
              <a:t>N</a:t>
            </a:r>
            <a:r>
              <a:rPr lang="zh-CN" altLang="en-US" sz="2400"/>
              <a:t>和该组所有的盘块号，记入其前一组的第一个盘块的</a:t>
            </a:r>
            <a:r>
              <a:rPr lang="en-US" altLang="zh-CN" sz="2400"/>
              <a:t>S.free(0)~S.free(99)</a:t>
            </a:r>
            <a:r>
              <a:rPr lang="zh-CN" altLang="en-US" sz="2400"/>
              <a:t>中。</a:t>
            </a:r>
          </a:p>
          <a:p>
            <a:r>
              <a:rPr lang="zh-CN" altLang="en-US" sz="2400"/>
              <a:t>将第一组的盘块总数和所有的盘块号，记入空闲盘块号栈中，作为当前可供分配的空闲盘块号。</a:t>
            </a:r>
          </a:p>
          <a:p>
            <a:r>
              <a:rPr lang="zh-CN" altLang="en-US" sz="2400"/>
              <a:t>最末一组只有</a:t>
            </a:r>
            <a:r>
              <a:rPr lang="en-US" altLang="zh-CN" sz="2400"/>
              <a:t>99</a:t>
            </a:r>
            <a:r>
              <a:rPr lang="zh-CN" altLang="en-US" sz="2400"/>
              <a:t>个盘块，其盘块号分别记入其前一组的</a:t>
            </a:r>
            <a:r>
              <a:rPr lang="en-US" altLang="zh-CN" sz="2400"/>
              <a:t>S.free(1)~S.free(99)</a:t>
            </a:r>
            <a:r>
              <a:rPr lang="zh-CN" altLang="en-US" sz="2400"/>
              <a:t>中。</a:t>
            </a:r>
          </a:p>
        </p:txBody>
      </p:sp>
      <p:sp>
        <p:nvSpPr>
          <p:cNvPr id="32771" name="Text Box 5">
            <a:extLst>
              <a:ext uri="{FF2B5EF4-FFF2-40B4-BE49-F238E27FC236}">
                <a16:creationId xmlns:a16="http://schemas.microsoft.com/office/drawing/2014/main" id="{145DD13A-1AD0-A6E5-8E01-9ACED10BF66D}"/>
              </a:ext>
            </a:extLst>
          </p:cNvPr>
          <p:cNvSpPr txBox="1">
            <a:spLocks noChangeArrowheads="1"/>
          </p:cNvSpPr>
          <p:nvPr/>
        </p:nvSpPr>
        <p:spPr bwMode="auto">
          <a:xfrm>
            <a:off x="357188" y="642938"/>
            <a:ext cx="4156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、空闲盘块的组织</a:t>
            </a:r>
            <a:r>
              <a:rPr lang="zh-CN" altLang="en-US" sz="2800" b="1"/>
              <a:t> </a:t>
            </a:r>
          </a:p>
        </p:txBody>
      </p:sp>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5">
            <a:extLst>
              <a:ext uri="{FF2B5EF4-FFF2-40B4-BE49-F238E27FC236}">
                <a16:creationId xmlns:a16="http://schemas.microsoft.com/office/drawing/2014/main" id="{3C77B50F-1FA2-839C-E156-EC6BD9560B50}"/>
              </a:ext>
            </a:extLst>
          </p:cNvPr>
          <p:cNvSpPr txBox="1">
            <a:spLocks noChangeArrowheads="1"/>
          </p:cNvSpPr>
          <p:nvPr/>
        </p:nvSpPr>
        <p:spPr bwMode="auto">
          <a:xfrm>
            <a:off x="381000" y="476250"/>
            <a:ext cx="4105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、空闲盘块的组织</a:t>
            </a:r>
            <a:r>
              <a:rPr lang="zh-CN" altLang="en-US" sz="2800" b="1"/>
              <a:t> </a:t>
            </a:r>
          </a:p>
        </p:txBody>
      </p:sp>
      <p:graphicFrame>
        <p:nvGraphicFramePr>
          <p:cNvPr id="33795" name="Object 6">
            <a:extLst>
              <a:ext uri="{FF2B5EF4-FFF2-40B4-BE49-F238E27FC236}">
                <a16:creationId xmlns:a16="http://schemas.microsoft.com/office/drawing/2014/main" id="{464C319B-A2F0-E13C-4A6D-F6403AC3EDE1}"/>
              </a:ext>
            </a:extLst>
          </p:cNvPr>
          <p:cNvGraphicFramePr>
            <a:graphicFrameLocks noChangeAspect="1"/>
          </p:cNvGraphicFramePr>
          <p:nvPr/>
        </p:nvGraphicFramePr>
        <p:xfrm>
          <a:off x="0" y="981075"/>
          <a:ext cx="9144000" cy="5327650"/>
        </p:xfrm>
        <a:graphic>
          <a:graphicData uri="http://schemas.openxmlformats.org/presentationml/2006/ole">
            <mc:AlternateContent xmlns:mc="http://schemas.openxmlformats.org/markup-compatibility/2006">
              <mc:Choice xmlns:v="urn:schemas-microsoft-com:vml" Requires="v">
                <p:oleObj name="Visio" r:id="rId2" imgW="4750613" imgH="2766365" progId="Visio.Drawing.11">
                  <p:embed/>
                </p:oleObj>
              </mc:Choice>
              <mc:Fallback>
                <p:oleObj name="Visio" r:id="rId2" imgW="4750613" imgH="2766365"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81075"/>
                        <a:ext cx="9144000" cy="532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6" name="Text Box 7">
            <a:extLst>
              <a:ext uri="{FF2B5EF4-FFF2-40B4-BE49-F238E27FC236}">
                <a16:creationId xmlns:a16="http://schemas.microsoft.com/office/drawing/2014/main" id="{A2AF7DD3-E8FF-ECF9-4EE3-52EE634F3D07}"/>
              </a:ext>
            </a:extLst>
          </p:cNvPr>
          <p:cNvSpPr txBox="1">
            <a:spLocks noChangeArrowheads="1"/>
          </p:cNvSpPr>
          <p:nvPr/>
        </p:nvSpPr>
        <p:spPr bwMode="auto">
          <a:xfrm>
            <a:off x="2484438" y="6207125"/>
            <a:ext cx="444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8-11  </a:t>
            </a:r>
            <a:r>
              <a:rPr lang="zh-CN" altLang="en-US" sz="2400" b="1"/>
              <a:t>空闲盘块的成组链接法 </a:t>
            </a:r>
          </a:p>
        </p:txBody>
      </p:sp>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5">
            <a:extLst>
              <a:ext uri="{FF2B5EF4-FFF2-40B4-BE49-F238E27FC236}">
                <a16:creationId xmlns:a16="http://schemas.microsoft.com/office/drawing/2014/main" id="{4BECEF6C-787F-EFE0-FDDD-F5A8294FD586}"/>
              </a:ext>
            </a:extLst>
          </p:cNvPr>
          <p:cNvSpPr txBox="1">
            <a:spLocks noChangeArrowheads="1"/>
          </p:cNvSpPr>
          <p:nvPr/>
        </p:nvSpPr>
        <p:spPr bwMode="auto">
          <a:xfrm>
            <a:off x="381000" y="642938"/>
            <a:ext cx="53244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、空闲盘块的分配与回收</a:t>
            </a:r>
            <a:r>
              <a:rPr lang="zh-CN" altLang="en-US" sz="2800" b="1"/>
              <a:t> </a:t>
            </a:r>
          </a:p>
        </p:txBody>
      </p:sp>
      <p:sp>
        <p:nvSpPr>
          <p:cNvPr id="34819" name="内容占位符 2">
            <a:extLst>
              <a:ext uri="{FF2B5EF4-FFF2-40B4-BE49-F238E27FC236}">
                <a16:creationId xmlns:a16="http://schemas.microsoft.com/office/drawing/2014/main" id="{4A24FF11-C1A2-82D6-2314-5E6699C66EC2}"/>
              </a:ext>
            </a:extLst>
          </p:cNvPr>
          <p:cNvSpPr txBox="1">
            <a:spLocks/>
          </p:cNvSpPr>
          <p:nvPr/>
        </p:nvSpPr>
        <p:spPr bwMode="auto">
          <a:xfrm>
            <a:off x="285750" y="1285875"/>
            <a:ext cx="85725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1200"/>
              </a:spcBef>
              <a:buFontTx/>
              <a:buNone/>
            </a:pPr>
            <a:r>
              <a:rPr lang="en-US" altLang="zh-CN" sz="2800" b="1">
                <a:solidFill>
                  <a:schemeClr val="accent2"/>
                </a:solidFill>
              </a:rPr>
              <a:t>1）</a:t>
            </a:r>
            <a:r>
              <a:rPr lang="zh-CN" altLang="en-US" sz="2800" b="1">
                <a:solidFill>
                  <a:schemeClr val="accent2"/>
                </a:solidFill>
              </a:rPr>
              <a:t>分配</a:t>
            </a:r>
            <a:endParaRPr lang="en-US" altLang="zh-CN" sz="2800" b="1">
              <a:solidFill>
                <a:schemeClr val="accent2"/>
              </a:solidFill>
            </a:endParaRPr>
          </a:p>
          <a:p>
            <a:pPr>
              <a:spcBef>
                <a:spcPts val="1200"/>
              </a:spcBef>
            </a:pPr>
            <a:r>
              <a:rPr lang="zh-CN" altLang="en-US" sz="2400"/>
              <a:t>首先检查空闲盘块号栈是否上锁，如未上锁，便从栈顶取出一空闲盘块号，将与之对应的盘块分配给用户，然后将栈顶指针下移一格。</a:t>
            </a:r>
            <a:endParaRPr lang="en-US" altLang="zh-CN" sz="2400"/>
          </a:p>
          <a:p>
            <a:pPr>
              <a:spcBef>
                <a:spcPts val="1200"/>
              </a:spcBef>
            </a:pPr>
            <a:r>
              <a:rPr lang="zh-CN" altLang="en-US" sz="2400"/>
              <a:t>若该盘块号已是栈底，即</a:t>
            </a:r>
            <a:r>
              <a:rPr lang="en-US" altLang="zh-CN" sz="2400"/>
              <a:t>S.free(0)</a:t>
            </a:r>
            <a:r>
              <a:rPr lang="zh-CN" altLang="en-US" sz="2400"/>
              <a:t>，这是当前栈中最后一个可分配的盘块号。由于在该盘块号所对应的盘块中记有下一组可用的盘块号，因此，须调用磁盘读过程，将栈底盘块号所对应盘块的内容读入栈中，作为新的盘块号栈的内容，并把原栈底对应的盘块分配出去。</a:t>
            </a:r>
            <a:endParaRPr lang="en-US" altLang="zh-CN" sz="2400"/>
          </a:p>
          <a:p>
            <a:pPr>
              <a:spcBef>
                <a:spcPts val="1200"/>
              </a:spcBef>
            </a:pPr>
            <a:r>
              <a:rPr lang="zh-CN" altLang="en-US" sz="2400"/>
              <a:t>然后，再分配一相应的缓冲区</a:t>
            </a:r>
            <a:r>
              <a:rPr lang="en-US" altLang="zh-CN" sz="2400"/>
              <a:t>(</a:t>
            </a:r>
            <a:r>
              <a:rPr lang="zh-CN" altLang="en-US" sz="2400"/>
              <a:t>作为该盘块的缓冲区</a:t>
            </a:r>
            <a:r>
              <a:rPr lang="en-US" altLang="zh-CN" sz="2400"/>
              <a:t>)</a:t>
            </a:r>
            <a:r>
              <a:rPr lang="zh-CN" altLang="en-US" sz="2400"/>
              <a:t>。最后，把栈中的空闲盘块数减</a:t>
            </a:r>
            <a:r>
              <a:rPr lang="en-US" altLang="zh-CN" sz="2400"/>
              <a:t>1</a:t>
            </a:r>
            <a:r>
              <a:rPr lang="zh-CN" altLang="en-US" sz="2400"/>
              <a:t>并返回。</a:t>
            </a:r>
            <a:endParaRPr lang="en-US" altLang="zh-CN" sz="2800"/>
          </a:p>
        </p:txBody>
      </p:sp>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5">
            <a:extLst>
              <a:ext uri="{FF2B5EF4-FFF2-40B4-BE49-F238E27FC236}">
                <a16:creationId xmlns:a16="http://schemas.microsoft.com/office/drawing/2014/main" id="{9733BD7C-A6BD-92BF-864D-1CC35A95EB3A}"/>
              </a:ext>
            </a:extLst>
          </p:cNvPr>
          <p:cNvSpPr txBox="1">
            <a:spLocks noChangeArrowheads="1"/>
          </p:cNvSpPr>
          <p:nvPr/>
        </p:nvSpPr>
        <p:spPr bwMode="auto">
          <a:xfrm>
            <a:off x="381000" y="642938"/>
            <a:ext cx="5375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、空闲盘块的分配与回收</a:t>
            </a:r>
            <a:r>
              <a:rPr lang="zh-CN" altLang="en-US" sz="2800" b="1"/>
              <a:t> </a:t>
            </a:r>
          </a:p>
        </p:txBody>
      </p:sp>
      <p:sp>
        <p:nvSpPr>
          <p:cNvPr id="35843" name="内容占位符 2">
            <a:extLst>
              <a:ext uri="{FF2B5EF4-FFF2-40B4-BE49-F238E27FC236}">
                <a16:creationId xmlns:a16="http://schemas.microsoft.com/office/drawing/2014/main" id="{B5EADA46-BEDA-C710-F523-36B6C81DE4E8}"/>
              </a:ext>
            </a:extLst>
          </p:cNvPr>
          <p:cNvSpPr txBox="1">
            <a:spLocks/>
          </p:cNvSpPr>
          <p:nvPr/>
        </p:nvSpPr>
        <p:spPr bwMode="auto">
          <a:xfrm>
            <a:off x="285750" y="1285875"/>
            <a:ext cx="85725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ts val="1200"/>
              </a:spcBef>
              <a:buFontTx/>
              <a:buNone/>
            </a:pPr>
            <a:r>
              <a:rPr lang="en-US" altLang="zh-CN" sz="2800" b="1">
                <a:solidFill>
                  <a:schemeClr val="accent2"/>
                </a:solidFill>
              </a:rPr>
              <a:t>2）</a:t>
            </a:r>
            <a:r>
              <a:rPr lang="zh-CN" altLang="en-US" sz="2800" b="1">
                <a:solidFill>
                  <a:schemeClr val="accent2"/>
                </a:solidFill>
              </a:rPr>
              <a:t>回收</a:t>
            </a:r>
            <a:endParaRPr lang="en-US" altLang="zh-CN" sz="2800" b="1">
              <a:solidFill>
                <a:schemeClr val="accent2"/>
              </a:solidFill>
            </a:endParaRPr>
          </a:p>
          <a:p>
            <a:pPr>
              <a:spcBef>
                <a:spcPts val="1200"/>
              </a:spcBef>
            </a:pPr>
            <a:r>
              <a:rPr lang="zh-CN" altLang="en-US" sz="2400"/>
              <a:t>将回收盘块的盘块号记入空闲盘块号栈的顶部，并执行空闲盘块数加</a:t>
            </a:r>
            <a:r>
              <a:rPr lang="en-US" altLang="zh-CN" sz="2400"/>
              <a:t>1</a:t>
            </a:r>
            <a:r>
              <a:rPr lang="zh-CN" altLang="en-US" sz="2400"/>
              <a:t>操作。</a:t>
            </a:r>
            <a:endParaRPr lang="en-US" altLang="zh-CN" sz="2400"/>
          </a:p>
          <a:p>
            <a:pPr>
              <a:spcBef>
                <a:spcPts val="1200"/>
              </a:spcBef>
            </a:pPr>
            <a:r>
              <a:rPr lang="zh-CN" altLang="en-US" sz="2400"/>
              <a:t>当栈中空闲盘块号数目已达</a:t>
            </a:r>
            <a:r>
              <a:rPr lang="en-US" altLang="zh-CN" sz="2400"/>
              <a:t>100</a:t>
            </a:r>
            <a:r>
              <a:rPr lang="zh-CN" altLang="en-US" sz="2400"/>
              <a:t>时， 表示栈已满，便将现有栈中的</a:t>
            </a:r>
            <a:r>
              <a:rPr lang="en-US" altLang="zh-CN" sz="2400"/>
              <a:t>100</a:t>
            </a:r>
            <a:r>
              <a:rPr lang="zh-CN" altLang="en-US" sz="2400"/>
              <a:t>个盘块号， 记入新回收的盘块中，再将其盘块号作为新栈底。</a:t>
            </a:r>
            <a:endParaRPr lang="en-US" altLang="zh-CN" sz="2800"/>
          </a:p>
          <a:p>
            <a:pPr>
              <a:spcBef>
                <a:spcPts val="1200"/>
              </a:spcBef>
            </a:pPr>
            <a:endParaRPr lang="en-US" altLang="zh-CN" sz="2800"/>
          </a:p>
          <a:p>
            <a:pPr>
              <a:spcBef>
                <a:spcPts val="1200"/>
              </a:spcBef>
            </a:pPr>
            <a:endParaRPr lang="en-US" altLang="zh-CN" sz="2800"/>
          </a:p>
        </p:txBody>
      </p:sp>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88BED11-5B42-F5C5-64C4-5955CE97746D}"/>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8.3 </a:t>
            </a:r>
            <a:r>
              <a:rPr lang="zh-CN" altLang="en-US" b="1">
                <a:solidFill>
                  <a:srgbClr val="660066"/>
                </a:solidFill>
                <a:latin typeface="楷体_GB2312" pitchFamily="1" charset="-122"/>
                <a:ea typeface="楷体_GB2312" pitchFamily="1" charset="-122"/>
              </a:rPr>
              <a:t>提高磁盘</a:t>
            </a:r>
            <a:r>
              <a:rPr lang="en-US" altLang="zh-CN" b="1">
                <a:solidFill>
                  <a:srgbClr val="660066"/>
                </a:solidFill>
                <a:latin typeface="楷体_GB2312" pitchFamily="1" charset="-122"/>
                <a:ea typeface="楷体_GB2312" pitchFamily="1" charset="-122"/>
              </a:rPr>
              <a:t>I/O</a:t>
            </a:r>
            <a:r>
              <a:rPr lang="zh-CN" altLang="en-US" b="1">
                <a:solidFill>
                  <a:srgbClr val="660066"/>
                </a:solidFill>
                <a:latin typeface="楷体_GB2312" pitchFamily="1" charset="-122"/>
                <a:ea typeface="楷体_GB2312" pitchFamily="1" charset="-122"/>
              </a:rPr>
              <a:t>速度的途径</a:t>
            </a:r>
          </a:p>
        </p:txBody>
      </p:sp>
    </p:spTree>
  </p:cSld>
  <p:clrMapOvr>
    <a:masterClrMapping/>
  </p:clrMapOvr>
  <p:transition advClick="0">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9C21D352-4DCB-1FF8-433E-493BBD1A4597}"/>
              </a:ext>
            </a:extLst>
          </p:cNvPr>
          <p:cNvSpPr>
            <a:spLocks noGrp="1" noChangeArrowheads="1"/>
          </p:cNvSpPr>
          <p:nvPr>
            <p:ph type="title"/>
          </p:nvPr>
        </p:nvSpPr>
        <p:spPr>
          <a:xfrm>
            <a:off x="357188" y="428625"/>
            <a:ext cx="8429625" cy="1143000"/>
          </a:xfrm>
        </p:spPr>
        <p:txBody>
          <a:bodyPr/>
          <a:lstStyle/>
          <a:p>
            <a:r>
              <a:rPr lang="en-US" altLang="zh-CN" b="1">
                <a:solidFill>
                  <a:srgbClr val="660066"/>
                </a:solidFill>
                <a:ea typeface="楷体_GB2312" pitchFamily="1" charset="-122"/>
              </a:rPr>
              <a:t>8.3  </a:t>
            </a:r>
            <a:r>
              <a:rPr lang="zh-CN" altLang="en-US" b="1">
                <a:solidFill>
                  <a:srgbClr val="660066"/>
                </a:solidFill>
                <a:ea typeface="楷体_GB2312" pitchFamily="1" charset="-122"/>
              </a:rPr>
              <a:t>提高磁盘</a:t>
            </a:r>
            <a:r>
              <a:rPr lang="en-US" altLang="zh-CN" b="1">
                <a:solidFill>
                  <a:srgbClr val="660066"/>
                </a:solidFill>
                <a:ea typeface="楷体_GB2312" pitchFamily="1" charset="-122"/>
              </a:rPr>
              <a:t>I/O</a:t>
            </a:r>
            <a:r>
              <a:rPr lang="zh-CN" altLang="en-US" b="1">
                <a:solidFill>
                  <a:srgbClr val="660066"/>
                </a:solidFill>
                <a:ea typeface="楷体_GB2312" pitchFamily="1" charset="-122"/>
              </a:rPr>
              <a:t>速度的途径</a:t>
            </a:r>
          </a:p>
        </p:txBody>
      </p:sp>
      <p:sp>
        <p:nvSpPr>
          <p:cNvPr id="38915" name="内容占位符 2">
            <a:extLst>
              <a:ext uri="{FF2B5EF4-FFF2-40B4-BE49-F238E27FC236}">
                <a16:creationId xmlns:a16="http://schemas.microsoft.com/office/drawing/2014/main" id="{7E2ED90B-607C-7D8D-BBB1-89197274704D}"/>
              </a:ext>
            </a:extLst>
          </p:cNvPr>
          <p:cNvSpPr>
            <a:spLocks noGrp="1" noChangeArrowheads="1"/>
          </p:cNvSpPr>
          <p:nvPr>
            <p:ph idx="1"/>
          </p:nvPr>
        </p:nvSpPr>
        <p:spPr>
          <a:xfrm>
            <a:off x="357188" y="1484313"/>
            <a:ext cx="8429625" cy="4945062"/>
          </a:xfrm>
        </p:spPr>
        <p:txBody>
          <a:bodyPr/>
          <a:lstStyle/>
          <a:p>
            <a:pPr>
              <a:lnSpc>
                <a:spcPct val="120000"/>
              </a:lnSpc>
            </a:pPr>
            <a:r>
              <a:rPr lang="zh-CN" altLang="en-US" sz="2800" b="1">
                <a:solidFill>
                  <a:schemeClr val="accent2"/>
                </a:solidFill>
              </a:rPr>
              <a:t>提高对文件的访问速度，有三种途径：</a:t>
            </a:r>
          </a:p>
          <a:p>
            <a:pPr lvl="1">
              <a:lnSpc>
                <a:spcPct val="120000"/>
              </a:lnSpc>
            </a:pPr>
            <a:r>
              <a:rPr lang="zh-CN" altLang="en-US" sz="2400"/>
              <a:t>改进文件的目录结构以及检索目录的方法，以减少对目录的查找时间；</a:t>
            </a:r>
            <a:endParaRPr lang="en-US" altLang="zh-CN" sz="2400"/>
          </a:p>
          <a:p>
            <a:pPr lvl="1">
              <a:lnSpc>
                <a:spcPct val="120000"/>
              </a:lnSpc>
            </a:pPr>
            <a:r>
              <a:rPr lang="zh-CN" altLang="en-US" sz="2400"/>
              <a:t>选取好的文件存储结构，以提高对文件的访问速度；</a:t>
            </a:r>
            <a:endParaRPr lang="en-US" altLang="zh-CN" sz="2400"/>
          </a:p>
          <a:p>
            <a:pPr lvl="1">
              <a:lnSpc>
                <a:spcPct val="120000"/>
              </a:lnSpc>
            </a:pPr>
            <a:r>
              <a:rPr lang="zh-CN" altLang="en-US" sz="2400"/>
              <a:t>提高磁盘的</a:t>
            </a:r>
            <a:r>
              <a:rPr lang="en-US" altLang="zh-CN" sz="2400"/>
              <a:t>I/O</a:t>
            </a:r>
            <a:r>
              <a:rPr lang="zh-CN" altLang="en-US" sz="2400"/>
              <a:t>速度，能将文件中的数据快速地从磁盘传送到内存中。</a:t>
            </a:r>
            <a:endParaRPr lang="en-US" altLang="zh-CN" sz="2400"/>
          </a:p>
          <a:p>
            <a:pPr lvl="2">
              <a:lnSpc>
                <a:spcPct val="120000"/>
              </a:lnSpc>
            </a:pPr>
            <a:r>
              <a:rPr lang="zh-CN" altLang="en-US"/>
              <a:t>最主要的技术是采用磁盘高速缓存。</a:t>
            </a: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D8638B05-B3DB-3758-6548-B6E1B981A9CB}"/>
              </a:ext>
            </a:extLst>
          </p:cNvPr>
          <p:cNvSpPr>
            <a:spLocks noGrp="1" noChangeArrowheads="1"/>
          </p:cNvSpPr>
          <p:nvPr>
            <p:ph type="title"/>
          </p:nvPr>
        </p:nvSpPr>
        <p:spPr>
          <a:xfrm>
            <a:off x="357188" y="428625"/>
            <a:ext cx="8429625" cy="1143000"/>
          </a:xfrm>
        </p:spPr>
        <p:txBody>
          <a:bodyPr/>
          <a:lstStyle/>
          <a:p>
            <a:r>
              <a:rPr lang="en-US" altLang="zh-CN" b="1">
                <a:solidFill>
                  <a:srgbClr val="660066"/>
                </a:solidFill>
                <a:ea typeface="楷体_GB2312" pitchFamily="1" charset="-122"/>
              </a:rPr>
              <a:t>8.3.1 </a:t>
            </a:r>
            <a:r>
              <a:rPr lang="zh-CN" altLang="en-US" b="1">
                <a:solidFill>
                  <a:srgbClr val="660066"/>
                </a:solidFill>
                <a:ea typeface="楷体_GB2312" pitchFamily="1" charset="-122"/>
              </a:rPr>
              <a:t>磁盘高速缓存</a:t>
            </a:r>
            <a:r>
              <a:rPr lang="en-US" altLang="zh-CN" b="1">
                <a:solidFill>
                  <a:srgbClr val="660066"/>
                </a:solidFill>
                <a:ea typeface="楷体_GB2312" pitchFamily="1" charset="-122"/>
              </a:rPr>
              <a:t>(Disk Cache)</a:t>
            </a:r>
            <a:endParaRPr lang="zh-CN" altLang="en-US" b="1">
              <a:solidFill>
                <a:srgbClr val="660066"/>
              </a:solidFill>
              <a:ea typeface="楷体_GB2312" pitchFamily="1" charset="-122"/>
            </a:endParaRPr>
          </a:p>
        </p:txBody>
      </p:sp>
      <p:sp>
        <p:nvSpPr>
          <p:cNvPr id="39939" name="内容占位符 2">
            <a:extLst>
              <a:ext uri="{FF2B5EF4-FFF2-40B4-BE49-F238E27FC236}">
                <a16:creationId xmlns:a16="http://schemas.microsoft.com/office/drawing/2014/main" id="{2F542066-2265-FA70-85D6-CABCA870FB83}"/>
              </a:ext>
            </a:extLst>
          </p:cNvPr>
          <p:cNvSpPr>
            <a:spLocks noGrp="1" noChangeArrowheads="1"/>
          </p:cNvSpPr>
          <p:nvPr>
            <p:ph idx="1"/>
          </p:nvPr>
        </p:nvSpPr>
        <p:spPr>
          <a:xfrm>
            <a:off x="357188" y="1484313"/>
            <a:ext cx="8429625" cy="4945062"/>
          </a:xfrm>
        </p:spPr>
        <p:txBody>
          <a:bodyPr/>
          <a:lstStyle/>
          <a:p>
            <a:pPr>
              <a:lnSpc>
                <a:spcPct val="120000"/>
              </a:lnSpc>
            </a:pPr>
            <a:r>
              <a:rPr lang="zh-CN" altLang="en-US" sz="2800" b="1">
                <a:solidFill>
                  <a:schemeClr val="accent2"/>
                </a:solidFill>
              </a:rPr>
              <a:t>磁盘高速缓存</a:t>
            </a:r>
          </a:p>
          <a:p>
            <a:pPr lvl="1">
              <a:lnSpc>
                <a:spcPct val="120000"/>
              </a:lnSpc>
            </a:pPr>
            <a:r>
              <a:rPr lang="zh-CN" altLang="en-US" sz="2400"/>
              <a:t>是指在内存中为磁盘盘块设置的一个缓冲区，在缓冲区中保存了某些盘块的副本；</a:t>
            </a:r>
            <a:endParaRPr lang="en-US" altLang="zh-CN" sz="2400"/>
          </a:p>
          <a:p>
            <a:pPr lvl="1"/>
            <a:r>
              <a:rPr lang="zh-CN" altLang="en-US" sz="2400"/>
              <a:t>逻辑上是磁盘、物理上是驻留在内存中的盘块；</a:t>
            </a:r>
          </a:p>
          <a:p>
            <a:pPr lvl="1"/>
            <a:r>
              <a:rPr lang="zh-CN" altLang="en-US" sz="2400"/>
              <a:t>固定大小和可变大小。</a:t>
            </a:r>
            <a:endParaRPr lang="en-US" altLang="zh-CN" sz="2400"/>
          </a:p>
          <a:p>
            <a:pPr>
              <a:lnSpc>
                <a:spcPct val="120000"/>
              </a:lnSpc>
            </a:pPr>
            <a:r>
              <a:rPr lang="zh-CN" altLang="en-US" sz="2800" b="1">
                <a:solidFill>
                  <a:schemeClr val="accent2"/>
                </a:solidFill>
              </a:rPr>
              <a:t>设计磁盘高速缓存时需要考虑的问题：</a:t>
            </a:r>
          </a:p>
          <a:p>
            <a:pPr lvl="1">
              <a:lnSpc>
                <a:spcPct val="120000"/>
              </a:lnSpc>
            </a:pPr>
            <a:r>
              <a:rPr lang="zh-CN" altLang="en-US" sz="2400"/>
              <a:t>如何将磁盘高速缓存中的数据传送给请求进程；</a:t>
            </a:r>
            <a:endParaRPr lang="en-US" altLang="zh-CN" sz="2400"/>
          </a:p>
          <a:p>
            <a:pPr lvl="1">
              <a:lnSpc>
                <a:spcPct val="120000"/>
              </a:lnSpc>
            </a:pPr>
            <a:r>
              <a:rPr lang="zh-CN" altLang="en-US" sz="2400"/>
              <a:t>采用什么样的置换策略；</a:t>
            </a:r>
            <a:endParaRPr lang="en-US" altLang="zh-CN" sz="2400"/>
          </a:p>
          <a:p>
            <a:pPr lvl="1">
              <a:lnSpc>
                <a:spcPct val="120000"/>
              </a:lnSpc>
            </a:pPr>
            <a:r>
              <a:rPr lang="zh-CN" altLang="en-US" sz="2400"/>
              <a:t>已修改的盘块数据在何时被写回磁盘。</a:t>
            </a:r>
            <a:endParaRPr lang="en-US" altLang="zh-CN" sz="2400"/>
          </a:p>
        </p:txBody>
      </p:sp>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a:extLst>
              <a:ext uri="{FF2B5EF4-FFF2-40B4-BE49-F238E27FC236}">
                <a16:creationId xmlns:a16="http://schemas.microsoft.com/office/drawing/2014/main" id="{D8249BFD-1C6B-69D2-330F-3A46663E3101}"/>
              </a:ext>
            </a:extLst>
          </p:cNvPr>
          <p:cNvSpPr>
            <a:spLocks noGrp="1" noChangeArrowheads="1"/>
          </p:cNvSpPr>
          <p:nvPr>
            <p:ph idx="1"/>
          </p:nvPr>
        </p:nvSpPr>
        <p:spPr>
          <a:xfrm>
            <a:off x="357188" y="1125538"/>
            <a:ext cx="8429625" cy="5303837"/>
          </a:xfrm>
        </p:spPr>
        <p:txBody>
          <a:bodyPr/>
          <a:lstStyle/>
          <a:p>
            <a:r>
              <a:rPr lang="zh-CN" altLang="en-US" sz="2800" b="1">
                <a:solidFill>
                  <a:schemeClr val="accent2"/>
                </a:solidFill>
              </a:rPr>
              <a:t>数据交付：</a:t>
            </a:r>
            <a:r>
              <a:rPr lang="zh-CN" altLang="en-US" sz="2800"/>
              <a:t>指将磁盘高速缓存中的数据传送给请求者进程</a:t>
            </a:r>
          </a:p>
          <a:p>
            <a:r>
              <a:rPr lang="zh-CN" altLang="en-US" sz="2800" b="1">
                <a:solidFill>
                  <a:schemeClr val="accent2"/>
                </a:solidFill>
              </a:rPr>
              <a:t>数据交付方式：</a:t>
            </a:r>
          </a:p>
          <a:p>
            <a:pPr lvl="1"/>
            <a:r>
              <a:rPr lang="zh-CN" altLang="en-US" sz="2400" b="1"/>
              <a:t>数据交付：</a:t>
            </a:r>
            <a:r>
              <a:rPr lang="zh-CN" altLang="en-US" sz="2400"/>
              <a:t>直接将高速缓存中的数据传送到请求者进程的内存工作区中。</a:t>
            </a:r>
          </a:p>
          <a:p>
            <a:pPr lvl="1"/>
            <a:r>
              <a:rPr lang="zh-CN" altLang="en-US" sz="2400" b="1"/>
              <a:t>指针交付：</a:t>
            </a:r>
            <a:r>
              <a:rPr lang="zh-CN" altLang="en-US" sz="2400"/>
              <a:t>只将指向高速缓存中某区域的指针交付给请求者进程。</a:t>
            </a:r>
            <a:endParaRPr lang="en-US" altLang="zh-CN" sz="2400"/>
          </a:p>
          <a:p>
            <a:pPr lvl="1"/>
            <a:endParaRPr lang="en-US" altLang="zh-CN" sz="1600"/>
          </a:p>
          <a:p>
            <a:pPr lvl="1"/>
            <a:endParaRPr lang="en-US" altLang="zh-CN" sz="1400"/>
          </a:p>
          <a:p>
            <a:r>
              <a:rPr lang="zh-CN" altLang="en-US" sz="2800" b="1">
                <a:solidFill>
                  <a:schemeClr val="accent2"/>
                </a:solidFill>
              </a:rPr>
              <a:t>常用算法：</a:t>
            </a:r>
            <a:endParaRPr lang="en-US" altLang="zh-CN" sz="2800" b="1">
              <a:solidFill>
                <a:schemeClr val="accent2"/>
              </a:solidFill>
            </a:endParaRPr>
          </a:p>
          <a:p>
            <a:pPr lvl="1"/>
            <a:r>
              <a:rPr lang="zh-CN" altLang="en-US" sz="2400"/>
              <a:t>最近最久未使用算法</a:t>
            </a:r>
            <a:r>
              <a:rPr lang="en-US" altLang="zh-CN" sz="2400"/>
              <a:t>LRU</a:t>
            </a:r>
          </a:p>
          <a:p>
            <a:pPr lvl="1"/>
            <a:r>
              <a:rPr lang="zh-CN" altLang="en-US" sz="2400"/>
              <a:t>最近未使用算法</a:t>
            </a:r>
            <a:r>
              <a:rPr lang="en-US" altLang="zh-CN" sz="2400"/>
              <a:t>NRU</a:t>
            </a:r>
          </a:p>
          <a:p>
            <a:pPr lvl="1"/>
            <a:r>
              <a:rPr lang="zh-CN" altLang="en-US" sz="2400"/>
              <a:t>最少使用算法</a:t>
            </a:r>
            <a:r>
              <a:rPr lang="en-US" altLang="zh-CN" sz="2400"/>
              <a:t>LFU</a:t>
            </a:r>
            <a:endParaRPr lang="zh-CN" altLang="en-US" sz="2400"/>
          </a:p>
        </p:txBody>
      </p:sp>
      <p:sp>
        <p:nvSpPr>
          <p:cNvPr id="40963" name="Text Box 5">
            <a:extLst>
              <a:ext uri="{FF2B5EF4-FFF2-40B4-BE49-F238E27FC236}">
                <a16:creationId xmlns:a16="http://schemas.microsoft.com/office/drawing/2014/main" id="{3837B208-8615-7BEC-C043-A69385395B2E}"/>
              </a:ext>
            </a:extLst>
          </p:cNvPr>
          <p:cNvSpPr txBox="1">
            <a:spLocks noChangeArrowheads="1"/>
          </p:cNvSpPr>
          <p:nvPr/>
        </p:nvSpPr>
        <p:spPr bwMode="auto">
          <a:xfrm>
            <a:off x="254000" y="476250"/>
            <a:ext cx="41021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、数据交付方式</a:t>
            </a:r>
          </a:p>
        </p:txBody>
      </p:sp>
      <p:sp>
        <p:nvSpPr>
          <p:cNvPr id="40964" name="Text Box 4">
            <a:extLst>
              <a:ext uri="{FF2B5EF4-FFF2-40B4-BE49-F238E27FC236}">
                <a16:creationId xmlns:a16="http://schemas.microsoft.com/office/drawing/2014/main" id="{8590107D-76D8-3385-C8EF-FE98D963A75E}"/>
              </a:ext>
            </a:extLst>
          </p:cNvPr>
          <p:cNvSpPr txBox="1">
            <a:spLocks noChangeArrowheads="1"/>
          </p:cNvSpPr>
          <p:nvPr/>
        </p:nvSpPr>
        <p:spPr bwMode="auto">
          <a:xfrm>
            <a:off x="250825" y="4144963"/>
            <a:ext cx="3057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、置换算法</a:t>
            </a:r>
          </a:p>
        </p:txBody>
      </p:sp>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a:extLst>
              <a:ext uri="{FF2B5EF4-FFF2-40B4-BE49-F238E27FC236}">
                <a16:creationId xmlns:a16="http://schemas.microsoft.com/office/drawing/2014/main" id="{6422C767-57CE-4F28-4676-27CCCC910B41}"/>
              </a:ext>
            </a:extLst>
          </p:cNvPr>
          <p:cNvSpPr>
            <a:spLocks noGrp="1"/>
          </p:cNvSpPr>
          <p:nvPr>
            <p:ph idx="1"/>
          </p:nvPr>
        </p:nvSpPr>
        <p:spPr>
          <a:xfrm>
            <a:off x="285750" y="1052513"/>
            <a:ext cx="8501063" cy="4114800"/>
          </a:xfrm>
        </p:spPr>
        <p:txBody>
          <a:bodyPr/>
          <a:lstStyle/>
          <a:p>
            <a:pPr>
              <a:defRPr/>
            </a:pPr>
            <a:r>
              <a:rPr lang="zh-CN" altLang="en-US" sz="2800" b="1" dirty="0">
                <a:solidFill>
                  <a:schemeClr val="accent2"/>
                </a:solidFill>
              </a:rPr>
              <a:t>置换时需考虑的因素：</a:t>
            </a:r>
            <a:endParaRPr lang="en-US" altLang="zh-CN" sz="2800" b="1" dirty="0">
              <a:solidFill>
                <a:schemeClr val="accent2"/>
              </a:solidFill>
            </a:endParaRPr>
          </a:p>
          <a:p>
            <a:pPr lvl="1">
              <a:defRPr/>
            </a:pPr>
            <a:r>
              <a:rPr lang="zh-CN" altLang="en-US" sz="2400" dirty="0"/>
              <a:t>访问频率；</a:t>
            </a:r>
            <a:endParaRPr lang="en-US" altLang="zh-CN" sz="2400" dirty="0"/>
          </a:p>
          <a:p>
            <a:pPr lvl="1">
              <a:defRPr/>
            </a:pPr>
            <a:r>
              <a:rPr lang="zh-CN" altLang="en-US" sz="2400" dirty="0"/>
              <a:t>可预见性；</a:t>
            </a:r>
            <a:endParaRPr lang="en-US" altLang="zh-CN" sz="2400" dirty="0"/>
          </a:p>
          <a:p>
            <a:pPr lvl="1">
              <a:defRPr/>
            </a:pPr>
            <a:r>
              <a:rPr lang="zh-CN" altLang="en-US" sz="2400" dirty="0"/>
              <a:t>数据的一致性。</a:t>
            </a:r>
            <a:endParaRPr lang="en-US" altLang="zh-CN" sz="2400" dirty="0"/>
          </a:p>
          <a:p>
            <a:pPr marL="342900" lvl="1" indent="-342900">
              <a:buFontTx/>
              <a:buChar char="•"/>
              <a:defRPr/>
            </a:pPr>
            <a:r>
              <a:rPr lang="zh-CN" altLang="en-US" b="1" dirty="0">
                <a:solidFill>
                  <a:schemeClr val="accent2"/>
                </a:solidFill>
                <a:cs typeface="+mn-cs"/>
              </a:rPr>
              <a:t>置换的策略：</a:t>
            </a:r>
            <a:endParaRPr lang="en-US" altLang="zh-CN" b="1" dirty="0">
              <a:solidFill>
                <a:schemeClr val="accent2"/>
              </a:solidFill>
              <a:cs typeface="+mn-cs"/>
            </a:endParaRPr>
          </a:p>
          <a:p>
            <a:pPr lvl="1">
              <a:defRPr/>
            </a:pPr>
            <a:r>
              <a:rPr lang="zh-CN" altLang="en-US" sz="2400" dirty="0"/>
              <a:t>对于会严重影响到数据一致性的盘块数据和很久都可能不再使用的盘块数据，都放在</a:t>
            </a:r>
            <a:r>
              <a:rPr lang="en-US" altLang="zh-CN" sz="2400" dirty="0"/>
              <a:t>LRU</a:t>
            </a:r>
            <a:r>
              <a:rPr lang="zh-CN" altLang="en-US" sz="2400" dirty="0"/>
              <a:t>链的头部，使它们优先写回磁盘。</a:t>
            </a:r>
            <a:endParaRPr lang="en-US" altLang="zh-CN" sz="2400" dirty="0"/>
          </a:p>
          <a:p>
            <a:pPr lvl="1">
              <a:defRPr/>
            </a:pPr>
            <a:endParaRPr lang="en-US" altLang="zh-CN" dirty="0"/>
          </a:p>
          <a:p>
            <a:pPr marL="342900" lvl="1" indent="-342900">
              <a:buFontTx/>
              <a:buChar char="•"/>
              <a:defRPr/>
            </a:pPr>
            <a:r>
              <a:rPr lang="zh-CN" altLang="en-US" b="1" dirty="0">
                <a:solidFill>
                  <a:schemeClr val="accent2"/>
                </a:solidFill>
                <a:cs typeface="+mn-cs"/>
              </a:rPr>
              <a:t>经常被访问的盘块一直保留在调整缓存中，会移至</a:t>
            </a:r>
            <a:r>
              <a:rPr lang="en-US" altLang="zh-CN" b="1" dirty="0">
                <a:solidFill>
                  <a:schemeClr val="accent2"/>
                </a:solidFill>
                <a:cs typeface="+mn-cs"/>
              </a:rPr>
              <a:t>LRU</a:t>
            </a:r>
            <a:r>
              <a:rPr lang="zh-CN" altLang="en-US" b="1" dirty="0">
                <a:solidFill>
                  <a:schemeClr val="accent2"/>
                </a:solidFill>
                <a:cs typeface="+mn-cs"/>
              </a:rPr>
              <a:t>的链尾；一直未被访问的元素有可能移到链首，会被写回磁盘。在</a:t>
            </a:r>
            <a:r>
              <a:rPr lang="en-US" altLang="zh-CN" b="1" dirty="0">
                <a:solidFill>
                  <a:schemeClr val="accent2"/>
                </a:solidFill>
                <a:cs typeface="+mn-cs"/>
              </a:rPr>
              <a:t>UNIX</a:t>
            </a:r>
            <a:r>
              <a:rPr lang="zh-CN" altLang="en-US" b="1" dirty="0">
                <a:solidFill>
                  <a:schemeClr val="accent2"/>
                </a:solidFill>
                <a:cs typeface="+mn-cs"/>
              </a:rPr>
              <a:t>中用系统调用</a:t>
            </a:r>
            <a:r>
              <a:rPr lang="en-US" altLang="zh-CN" b="1" dirty="0">
                <a:solidFill>
                  <a:schemeClr val="accent2"/>
                </a:solidFill>
                <a:cs typeface="+mn-cs"/>
              </a:rPr>
              <a:t>SYNC</a:t>
            </a:r>
            <a:r>
              <a:rPr lang="zh-CN" altLang="en-US" b="1" dirty="0">
                <a:solidFill>
                  <a:schemeClr val="accent2"/>
                </a:solidFill>
                <a:cs typeface="+mn-cs"/>
              </a:rPr>
              <a:t>实现</a:t>
            </a:r>
          </a:p>
        </p:txBody>
      </p:sp>
      <p:sp>
        <p:nvSpPr>
          <p:cNvPr id="41987" name="Text Box 4">
            <a:extLst>
              <a:ext uri="{FF2B5EF4-FFF2-40B4-BE49-F238E27FC236}">
                <a16:creationId xmlns:a16="http://schemas.microsoft.com/office/drawing/2014/main" id="{4631A8F8-3D3A-D8B4-80AD-0396BE4515CF}"/>
              </a:ext>
            </a:extLst>
          </p:cNvPr>
          <p:cNvSpPr txBox="1">
            <a:spLocks noChangeArrowheads="1"/>
          </p:cNvSpPr>
          <p:nvPr/>
        </p:nvSpPr>
        <p:spPr bwMode="auto">
          <a:xfrm>
            <a:off x="361950" y="476250"/>
            <a:ext cx="3057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、置换算法</a:t>
            </a:r>
          </a:p>
        </p:txBody>
      </p:sp>
      <p:sp>
        <p:nvSpPr>
          <p:cNvPr id="41988" name="Text Box 4">
            <a:extLst>
              <a:ext uri="{FF2B5EF4-FFF2-40B4-BE49-F238E27FC236}">
                <a16:creationId xmlns:a16="http://schemas.microsoft.com/office/drawing/2014/main" id="{33AE7587-719D-058B-1C5F-FB1523FAE03F}"/>
              </a:ext>
            </a:extLst>
          </p:cNvPr>
          <p:cNvSpPr txBox="1">
            <a:spLocks noChangeArrowheads="1"/>
          </p:cNvSpPr>
          <p:nvPr/>
        </p:nvSpPr>
        <p:spPr bwMode="auto">
          <a:xfrm>
            <a:off x="357188" y="4578350"/>
            <a:ext cx="4214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、周期性地写回磁盘</a:t>
            </a:r>
            <a:r>
              <a:rPr lang="zh-CN" altLang="en-US" sz="2800" b="1"/>
              <a:t> </a:t>
            </a:r>
          </a:p>
        </p:txBody>
      </p:sp>
    </p:spTree>
  </p:cSld>
  <p:clrMapOvr>
    <a:masterClrMapping/>
  </p:clrMapOvr>
  <p:transition>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55C6B916-0A09-E8CF-9366-146F2BDAB4D3}"/>
              </a:ext>
            </a:extLst>
          </p:cNvPr>
          <p:cNvSpPr>
            <a:spLocks noGrp="1" noChangeArrowheads="1"/>
          </p:cNvSpPr>
          <p:nvPr>
            <p:ph type="title"/>
          </p:nvPr>
        </p:nvSpPr>
        <p:spPr>
          <a:xfrm>
            <a:off x="285750" y="341313"/>
            <a:ext cx="8572500" cy="1143000"/>
          </a:xfrm>
        </p:spPr>
        <p:txBody>
          <a:bodyPr/>
          <a:lstStyle/>
          <a:p>
            <a:r>
              <a:rPr lang="en-US" altLang="zh-CN" b="1">
                <a:solidFill>
                  <a:srgbClr val="660066"/>
                </a:solidFill>
                <a:ea typeface="楷体_GB2312" pitchFamily="1" charset="-122"/>
              </a:rPr>
              <a:t>8.3.2 </a:t>
            </a:r>
            <a:r>
              <a:rPr lang="zh-CN" altLang="en-US" b="1">
                <a:solidFill>
                  <a:srgbClr val="660066"/>
                </a:solidFill>
                <a:ea typeface="楷体_GB2312" pitchFamily="1" charset="-122"/>
              </a:rPr>
              <a:t>提高磁盘</a:t>
            </a:r>
            <a:r>
              <a:rPr lang="en-US" altLang="zh-CN" b="1">
                <a:solidFill>
                  <a:srgbClr val="660066"/>
                </a:solidFill>
                <a:ea typeface="楷体_GB2312" pitchFamily="1" charset="-122"/>
              </a:rPr>
              <a:t>I/O</a:t>
            </a:r>
            <a:r>
              <a:rPr lang="zh-CN" altLang="en-US" b="1">
                <a:solidFill>
                  <a:srgbClr val="660066"/>
                </a:solidFill>
                <a:ea typeface="楷体_GB2312" pitchFamily="1" charset="-122"/>
              </a:rPr>
              <a:t>速度的其它方法</a:t>
            </a:r>
          </a:p>
        </p:txBody>
      </p:sp>
      <p:sp>
        <p:nvSpPr>
          <p:cNvPr id="43011" name="内容占位符 2">
            <a:extLst>
              <a:ext uri="{FF2B5EF4-FFF2-40B4-BE49-F238E27FC236}">
                <a16:creationId xmlns:a16="http://schemas.microsoft.com/office/drawing/2014/main" id="{98D87ACA-6980-D8CF-D295-87C4196944F3}"/>
              </a:ext>
            </a:extLst>
          </p:cNvPr>
          <p:cNvSpPr>
            <a:spLocks noGrp="1" noChangeArrowheads="1"/>
          </p:cNvSpPr>
          <p:nvPr>
            <p:ph idx="1"/>
          </p:nvPr>
        </p:nvSpPr>
        <p:spPr>
          <a:xfrm>
            <a:off x="179388" y="1268413"/>
            <a:ext cx="8856662" cy="4827587"/>
          </a:xfrm>
        </p:spPr>
        <p:txBody>
          <a:bodyPr/>
          <a:lstStyle/>
          <a:p>
            <a:r>
              <a:rPr lang="zh-CN" altLang="en-US" sz="2800" b="1">
                <a:solidFill>
                  <a:schemeClr val="accent2"/>
                </a:solidFill>
              </a:rPr>
              <a:t>提前读</a:t>
            </a:r>
          </a:p>
          <a:p>
            <a:r>
              <a:rPr lang="zh-CN" altLang="en-US" sz="2800" b="1">
                <a:solidFill>
                  <a:schemeClr val="accent2"/>
                </a:solidFill>
              </a:rPr>
              <a:t>延迟写</a:t>
            </a:r>
          </a:p>
          <a:p>
            <a:pPr lvl="1"/>
            <a:r>
              <a:rPr lang="zh-CN" altLang="en-US" sz="2400"/>
              <a:t>访问频率高的磁盘块放在替换队列的尾部，减少回写次数</a:t>
            </a:r>
          </a:p>
          <a:p>
            <a:r>
              <a:rPr lang="zh-CN" altLang="en-US" sz="2800" b="1">
                <a:solidFill>
                  <a:schemeClr val="accent2"/>
                </a:solidFill>
              </a:rPr>
              <a:t>优化物理块的分布</a:t>
            </a:r>
          </a:p>
          <a:p>
            <a:pPr lvl="1"/>
            <a:r>
              <a:rPr lang="zh-CN" altLang="en-US" sz="2400"/>
              <a:t>目的是减小磁头移动距离</a:t>
            </a:r>
          </a:p>
          <a:p>
            <a:pPr lvl="1"/>
            <a:r>
              <a:rPr lang="zh-CN" altLang="en-US" sz="2400"/>
              <a:t>簇分配方式：一个簇为多个连续的块</a:t>
            </a:r>
          </a:p>
          <a:p>
            <a:r>
              <a:rPr lang="zh-CN" altLang="en-US" sz="2800" b="1">
                <a:solidFill>
                  <a:schemeClr val="accent2"/>
                </a:solidFill>
              </a:rPr>
              <a:t>虚拟盘</a:t>
            </a:r>
          </a:p>
          <a:p>
            <a:pPr lvl="1"/>
            <a:r>
              <a:rPr lang="zh-CN" altLang="en-US" sz="2400" b="1"/>
              <a:t>虚拟盘：</a:t>
            </a:r>
            <a:r>
              <a:rPr lang="zh-CN" altLang="en-US" sz="2400"/>
              <a:t>利用内存空间仿真磁盘，又称为</a:t>
            </a:r>
            <a:r>
              <a:rPr lang="en-US" altLang="zh-CN" sz="2400"/>
              <a:t>RAM</a:t>
            </a:r>
            <a:r>
              <a:rPr lang="zh-CN" altLang="en-US" sz="2400"/>
              <a:t>盘</a:t>
            </a:r>
            <a:endParaRPr lang="en-US" altLang="zh-CN" sz="2400"/>
          </a:p>
          <a:p>
            <a:pPr lvl="1"/>
            <a:r>
              <a:rPr lang="zh-CN" altLang="en-US" sz="2400"/>
              <a:t>虚拟盘可以接受所有标准的磁盘操作，常用于存放临时文件</a:t>
            </a:r>
            <a:endParaRPr lang="en-US" altLang="zh-CN" sz="2400"/>
          </a:p>
          <a:p>
            <a:pPr lvl="1"/>
            <a:r>
              <a:rPr lang="zh-CN" altLang="en-US" sz="2400"/>
              <a:t>和磁盘高速缓存区别：虚拟盘由用户控制；磁盘高速缓存由系统控制。</a:t>
            </a:r>
            <a:endParaRPr lang="zh-CN" altLang="en-US"/>
          </a:p>
        </p:txBody>
      </p:sp>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5DCBF25-EA78-7BFE-3486-70FB43409E97}"/>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8.4 </a:t>
            </a:r>
            <a:r>
              <a:rPr lang="zh-CN" altLang="en-US" b="1">
                <a:solidFill>
                  <a:srgbClr val="660066"/>
                </a:solidFill>
                <a:latin typeface="楷体_GB2312" pitchFamily="1" charset="-122"/>
                <a:ea typeface="楷体_GB2312" pitchFamily="1" charset="-122"/>
              </a:rPr>
              <a:t>提高磁盘可靠性的技术</a:t>
            </a:r>
          </a:p>
        </p:txBody>
      </p:sp>
    </p:spTree>
  </p:cSld>
  <p:clrMapOvr>
    <a:masterClrMapping/>
  </p:clrMapOvr>
  <p:transition advClick="0">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F8ED137D-53C9-53AC-0067-627D323B5055}"/>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8.4  </a:t>
            </a:r>
            <a:r>
              <a:rPr lang="zh-CN" altLang="en-US" b="1">
                <a:solidFill>
                  <a:srgbClr val="660066"/>
                </a:solidFill>
                <a:ea typeface="楷体_GB2312" pitchFamily="1" charset="-122"/>
              </a:rPr>
              <a:t>提高磁盘可靠性的技术</a:t>
            </a:r>
          </a:p>
        </p:txBody>
      </p:sp>
      <p:sp>
        <p:nvSpPr>
          <p:cNvPr id="44035" name="内容占位符 2">
            <a:extLst>
              <a:ext uri="{FF2B5EF4-FFF2-40B4-BE49-F238E27FC236}">
                <a16:creationId xmlns:a16="http://schemas.microsoft.com/office/drawing/2014/main" id="{C1D2067E-594E-EE47-E343-120AF2A80646}"/>
              </a:ext>
            </a:extLst>
          </p:cNvPr>
          <p:cNvSpPr>
            <a:spLocks noGrp="1"/>
          </p:cNvSpPr>
          <p:nvPr>
            <p:ph idx="1"/>
          </p:nvPr>
        </p:nvSpPr>
        <p:spPr>
          <a:xfrm>
            <a:off x="357188" y="1341438"/>
            <a:ext cx="8429625" cy="5500687"/>
          </a:xfrm>
          <a:solidFill>
            <a:schemeClr val="bg1"/>
          </a:solidFill>
        </p:spPr>
        <p:txBody>
          <a:bodyPr/>
          <a:lstStyle/>
          <a:p>
            <a:pPr>
              <a:spcBef>
                <a:spcPts val="600"/>
              </a:spcBef>
              <a:defRPr/>
            </a:pPr>
            <a:r>
              <a:rPr lang="zh-CN" altLang="en-US" sz="2800" b="1" dirty="0">
                <a:solidFill>
                  <a:schemeClr val="accent2"/>
                </a:solidFill>
              </a:rPr>
              <a:t>确保文件系统安全性措施：</a:t>
            </a:r>
            <a:endParaRPr lang="en-US" altLang="zh-CN" sz="2800" b="1" dirty="0">
              <a:solidFill>
                <a:schemeClr val="accent2"/>
              </a:solidFill>
            </a:endParaRPr>
          </a:p>
          <a:p>
            <a:pPr lvl="1">
              <a:spcBef>
                <a:spcPts val="600"/>
              </a:spcBef>
              <a:defRPr/>
            </a:pPr>
            <a:r>
              <a:rPr lang="zh-CN" altLang="en-US" sz="2400" b="1" dirty="0"/>
              <a:t>存取控制机制：</a:t>
            </a:r>
            <a:r>
              <a:rPr lang="zh-CN" altLang="en-US" sz="2400" dirty="0"/>
              <a:t>防止人为因素</a:t>
            </a:r>
            <a:endParaRPr lang="en-US" altLang="zh-CN" sz="2400" dirty="0"/>
          </a:p>
          <a:p>
            <a:pPr lvl="1">
              <a:spcBef>
                <a:spcPts val="600"/>
              </a:spcBef>
              <a:defRPr/>
            </a:pPr>
            <a:r>
              <a:rPr lang="zh-CN" altLang="en-US" sz="2400" b="1" dirty="0"/>
              <a:t>系统容错技术：</a:t>
            </a:r>
            <a:r>
              <a:rPr lang="zh-CN" altLang="en-US" sz="2400" dirty="0"/>
              <a:t>防止系统因素</a:t>
            </a:r>
            <a:endParaRPr lang="en-US" altLang="zh-CN" sz="2400" dirty="0"/>
          </a:p>
          <a:p>
            <a:pPr lvl="1">
              <a:spcBef>
                <a:spcPts val="600"/>
              </a:spcBef>
              <a:defRPr/>
            </a:pPr>
            <a:r>
              <a:rPr lang="zh-CN" altLang="en-US" sz="2400" b="1" dirty="0"/>
              <a:t>后备系统：</a:t>
            </a:r>
            <a:r>
              <a:rPr lang="zh-CN" altLang="en-US" sz="2400" dirty="0"/>
              <a:t>防止自然因素</a:t>
            </a:r>
            <a:endParaRPr lang="en-US" altLang="zh-CN" sz="2400" dirty="0"/>
          </a:p>
          <a:p>
            <a:pPr marL="342900" lvl="1" indent="-342900">
              <a:spcBef>
                <a:spcPts val="600"/>
              </a:spcBef>
              <a:buFontTx/>
              <a:buChar char="•"/>
              <a:defRPr/>
            </a:pPr>
            <a:r>
              <a:rPr lang="zh-CN" altLang="en-US" b="1" dirty="0">
                <a:solidFill>
                  <a:schemeClr val="accent2"/>
                </a:solidFill>
                <a:cs typeface="+mn-cs"/>
              </a:rPr>
              <a:t>容错技术：</a:t>
            </a:r>
            <a:r>
              <a:rPr lang="zh-CN" altLang="en-US" dirty="0">
                <a:cs typeface="+mn-cs"/>
              </a:rPr>
              <a:t>通过在系统中设置冗余部件的办法，提高系统可靠性的一种技术。</a:t>
            </a:r>
            <a:endParaRPr lang="en-US" altLang="zh-CN" dirty="0">
              <a:cs typeface="+mn-cs"/>
            </a:endParaRPr>
          </a:p>
          <a:p>
            <a:pPr marL="342900" lvl="1" indent="-342900">
              <a:spcBef>
                <a:spcPts val="600"/>
              </a:spcBef>
              <a:buFontTx/>
              <a:buChar char="•"/>
              <a:defRPr/>
            </a:pPr>
            <a:r>
              <a:rPr lang="zh-CN" altLang="en-US" b="1" dirty="0">
                <a:solidFill>
                  <a:schemeClr val="accent2"/>
                </a:solidFill>
              </a:rPr>
              <a:t>磁盘容错技术：</a:t>
            </a:r>
            <a:r>
              <a:rPr lang="zh-CN" altLang="en-US" dirty="0"/>
              <a:t>通过增加冗余的磁盘驱动器、磁盘控制器等，来提高磁盘系统的可靠性的一种技术。</a:t>
            </a:r>
            <a:endParaRPr lang="en-US" altLang="zh-CN" dirty="0"/>
          </a:p>
          <a:p>
            <a:pPr>
              <a:spcBef>
                <a:spcPts val="600"/>
              </a:spcBef>
              <a:defRPr/>
            </a:pPr>
            <a:r>
              <a:rPr lang="zh-CN" altLang="en-US" sz="2800" dirty="0"/>
              <a:t>磁盘容错技术分为三级：</a:t>
            </a:r>
          </a:p>
          <a:p>
            <a:pPr lvl="1">
              <a:spcBef>
                <a:spcPts val="600"/>
              </a:spcBef>
              <a:defRPr/>
            </a:pPr>
            <a:r>
              <a:rPr lang="en-US" altLang="zh-CN" sz="2400" b="1" dirty="0">
                <a:solidFill>
                  <a:schemeClr val="accent2"/>
                </a:solidFill>
              </a:rPr>
              <a:t>SFT-I</a:t>
            </a:r>
            <a:r>
              <a:rPr lang="zh-CN" altLang="en-US" sz="2400" dirty="0"/>
              <a:t>是低级磁盘容错技术</a:t>
            </a:r>
          </a:p>
          <a:p>
            <a:pPr lvl="1">
              <a:spcBef>
                <a:spcPts val="600"/>
              </a:spcBef>
              <a:defRPr/>
            </a:pPr>
            <a:r>
              <a:rPr lang="en-US" altLang="zh-CN" sz="2400" b="1" dirty="0">
                <a:solidFill>
                  <a:schemeClr val="accent2"/>
                </a:solidFill>
              </a:rPr>
              <a:t>SFT-II</a:t>
            </a:r>
            <a:r>
              <a:rPr lang="zh-CN" altLang="en-US" sz="2400" dirty="0"/>
              <a:t>是中级磁盘容错技术</a:t>
            </a:r>
          </a:p>
          <a:p>
            <a:pPr lvl="1">
              <a:spcBef>
                <a:spcPts val="600"/>
              </a:spcBef>
              <a:defRPr/>
            </a:pPr>
            <a:r>
              <a:rPr lang="en-US" altLang="zh-CN" sz="2400" b="1" dirty="0">
                <a:solidFill>
                  <a:schemeClr val="accent2"/>
                </a:solidFill>
              </a:rPr>
              <a:t>SFT-III</a:t>
            </a:r>
            <a:r>
              <a:rPr lang="zh-CN" altLang="en-US" sz="2400" dirty="0"/>
              <a:t>是系统高级容错技术</a:t>
            </a:r>
            <a:endParaRPr lang="zh-CN" altLang="en-US" dirty="0">
              <a:cs typeface="+mn-cs"/>
            </a:endParaRPr>
          </a:p>
        </p:txBody>
      </p:sp>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a:extLst>
              <a:ext uri="{FF2B5EF4-FFF2-40B4-BE49-F238E27FC236}">
                <a16:creationId xmlns:a16="http://schemas.microsoft.com/office/drawing/2014/main" id="{8C8A1EA1-49CB-6F96-DCC5-1200F5369FCE}"/>
              </a:ext>
            </a:extLst>
          </p:cNvPr>
          <p:cNvSpPr>
            <a:spLocks noGrp="1" noChangeArrowheads="1"/>
          </p:cNvSpPr>
          <p:nvPr>
            <p:ph idx="1"/>
          </p:nvPr>
        </p:nvSpPr>
        <p:spPr>
          <a:xfrm>
            <a:off x="250825" y="1341438"/>
            <a:ext cx="8713788" cy="3890962"/>
          </a:xfrm>
        </p:spPr>
        <p:txBody>
          <a:bodyPr/>
          <a:lstStyle/>
          <a:p>
            <a:pPr>
              <a:lnSpc>
                <a:spcPct val="120000"/>
              </a:lnSpc>
              <a:spcBef>
                <a:spcPts val="600"/>
              </a:spcBef>
            </a:pPr>
            <a:r>
              <a:rPr lang="en-US" altLang="zh-CN" sz="2800" b="1">
                <a:solidFill>
                  <a:schemeClr val="accent2"/>
                </a:solidFill>
              </a:rPr>
              <a:t>SFT-I</a:t>
            </a:r>
            <a:r>
              <a:rPr lang="zh-CN" altLang="en-US" sz="2800" b="1">
                <a:solidFill>
                  <a:schemeClr val="accent2"/>
                </a:solidFill>
              </a:rPr>
              <a:t>是最基本的磁盘容错技术，主要用于防止磁盘表面发生缺陷所引起的数据丢失，包括：</a:t>
            </a:r>
            <a:endParaRPr lang="en-US" altLang="zh-CN" sz="2800" b="1">
              <a:solidFill>
                <a:schemeClr val="accent2"/>
              </a:solidFill>
            </a:endParaRPr>
          </a:p>
          <a:p>
            <a:pPr>
              <a:lnSpc>
                <a:spcPct val="120000"/>
              </a:lnSpc>
              <a:spcBef>
                <a:spcPts val="600"/>
              </a:spcBef>
              <a:buFontTx/>
              <a:buNone/>
            </a:pPr>
            <a:r>
              <a:rPr lang="en-US" altLang="zh-CN" b="1">
                <a:solidFill>
                  <a:srgbClr val="C00000"/>
                </a:solidFill>
              </a:rPr>
              <a:t>1</a:t>
            </a:r>
            <a:r>
              <a:rPr lang="zh-CN" altLang="en-US" b="1">
                <a:solidFill>
                  <a:srgbClr val="C00000"/>
                </a:solidFill>
              </a:rPr>
              <a:t>、双份目录和双份文件分配表</a:t>
            </a:r>
            <a:endParaRPr lang="en-US" altLang="zh-CN" b="1">
              <a:solidFill>
                <a:srgbClr val="C00000"/>
              </a:solidFill>
            </a:endParaRPr>
          </a:p>
          <a:p>
            <a:pPr>
              <a:lnSpc>
                <a:spcPct val="120000"/>
              </a:lnSpc>
              <a:spcBef>
                <a:spcPts val="600"/>
              </a:spcBef>
              <a:buFontTx/>
              <a:buNone/>
            </a:pPr>
            <a:r>
              <a:rPr lang="en-US" altLang="zh-CN" b="1">
                <a:solidFill>
                  <a:srgbClr val="C00000"/>
                </a:solidFill>
              </a:rPr>
              <a:t>2</a:t>
            </a:r>
            <a:r>
              <a:rPr lang="zh-CN" altLang="en-US" b="1">
                <a:solidFill>
                  <a:srgbClr val="C00000"/>
                </a:solidFill>
              </a:rPr>
              <a:t>、热修复重定向和写后读校验</a:t>
            </a:r>
            <a:endParaRPr lang="en-US" altLang="zh-CN" b="1">
              <a:solidFill>
                <a:srgbClr val="C00000"/>
              </a:solidFill>
            </a:endParaRPr>
          </a:p>
          <a:p>
            <a:pPr lvl="1">
              <a:lnSpc>
                <a:spcPct val="120000"/>
              </a:lnSpc>
              <a:spcBef>
                <a:spcPts val="600"/>
              </a:spcBef>
            </a:pPr>
            <a:r>
              <a:rPr lang="zh-CN" altLang="en-US" sz="2400" b="1"/>
              <a:t>热修复重定向：</a:t>
            </a:r>
            <a:r>
              <a:rPr lang="zh-CN" altLang="en-US" sz="2400"/>
              <a:t>系统将磁盘容量的很小一部分（</a:t>
            </a:r>
            <a:r>
              <a:rPr lang="en-US" altLang="zh-CN" sz="2400"/>
              <a:t>2%~3%</a:t>
            </a:r>
            <a:r>
              <a:rPr lang="zh-CN" altLang="en-US" sz="2400"/>
              <a:t>）作为热修复重定向，用于存放当发现磁盘有缺陷时的待写数据。</a:t>
            </a:r>
            <a:endParaRPr lang="en-US" altLang="zh-CN" sz="2400"/>
          </a:p>
          <a:p>
            <a:pPr lvl="1">
              <a:lnSpc>
                <a:spcPct val="120000"/>
              </a:lnSpc>
              <a:spcBef>
                <a:spcPts val="600"/>
              </a:spcBef>
            </a:pPr>
            <a:r>
              <a:rPr lang="zh-CN" altLang="en-US" sz="2400" b="1"/>
              <a:t>写后读校验方式</a:t>
            </a:r>
            <a:r>
              <a:rPr lang="zh-CN" altLang="en-US" sz="2400"/>
              <a:t>。</a:t>
            </a:r>
          </a:p>
        </p:txBody>
      </p:sp>
      <p:sp>
        <p:nvSpPr>
          <p:cNvPr id="47107" name="标题 1">
            <a:extLst>
              <a:ext uri="{FF2B5EF4-FFF2-40B4-BE49-F238E27FC236}">
                <a16:creationId xmlns:a16="http://schemas.microsoft.com/office/drawing/2014/main" id="{63B36913-E89A-3DA9-F45D-4931025D31B7}"/>
              </a:ext>
            </a:extLst>
          </p:cNvPr>
          <p:cNvSpPr>
            <a:spLocks noGrp="1" noChangeArrowheads="1"/>
          </p:cNvSpPr>
          <p:nvPr>
            <p:ph type="title"/>
          </p:nvPr>
        </p:nvSpPr>
        <p:spPr>
          <a:xfrm>
            <a:off x="685800" y="341313"/>
            <a:ext cx="7772400" cy="1143000"/>
          </a:xfrm>
        </p:spPr>
        <p:txBody>
          <a:bodyPr/>
          <a:lstStyle/>
          <a:p>
            <a:r>
              <a:rPr lang="en-US" altLang="zh-CN" b="1">
                <a:solidFill>
                  <a:srgbClr val="660066"/>
                </a:solidFill>
                <a:ea typeface="楷体_GB2312" pitchFamily="1" charset="-122"/>
              </a:rPr>
              <a:t>8.4.1  </a:t>
            </a:r>
            <a:r>
              <a:rPr lang="zh-CN" altLang="en-US" b="1">
                <a:solidFill>
                  <a:srgbClr val="660066"/>
                </a:solidFill>
                <a:ea typeface="楷体_GB2312" pitchFamily="1" charset="-122"/>
              </a:rPr>
              <a:t>第一级容错技术</a:t>
            </a:r>
            <a:r>
              <a:rPr lang="en-US" altLang="zh-CN" b="1">
                <a:solidFill>
                  <a:srgbClr val="660066"/>
                </a:solidFill>
                <a:ea typeface="楷体_GB2312" pitchFamily="1" charset="-122"/>
              </a:rPr>
              <a:t>SFT-I</a:t>
            </a:r>
            <a:endParaRPr lang="zh-CN" altLang="en-US" b="1">
              <a:solidFill>
                <a:srgbClr val="660066"/>
              </a:solidFill>
              <a:ea typeface="楷体_GB2312" pitchFamily="1" charset="-122"/>
            </a:endParaRPr>
          </a:p>
        </p:txBody>
      </p:sp>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a:extLst>
              <a:ext uri="{FF2B5EF4-FFF2-40B4-BE49-F238E27FC236}">
                <a16:creationId xmlns:a16="http://schemas.microsoft.com/office/drawing/2014/main" id="{6B9E3AC0-59FA-DCD5-DC38-7BA597C5B580}"/>
              </a:ext>
            </a:extLst>
          </p:cNvPr>
          <p:cNvSpPr>
            <a:spLocks noGrp="1" noChangeArrowheads="1"/>
          </p:cNvSpPr>
          <p:nvPr>
            <p:ph idx="1"/>
          </p:nvPr>
        </p:nvSpPr>
        <p:spPr>
          <a:xfrm>
            <a:off x="250825" y="1341438"/>
            <a:ext cx="8713788" cy="3890962"/>
          </a:xfrm>
        </p:spPr>
        <p:txBody>
          <a:bodyPr/>
          <a:lstStyle/>
          <a:p>
            <a:pPr>
              <a:lnSpc>
                <a:spcPct val="120000"/>
              </a:lnSpc>
              <a:spcBef>
                <a:spcPts val="600"/>
              </a:spcBef>
            </a:pPr>
            <a:r>
              <a:rPr lang="en-US" altLang="zh-CN" sz="2800" b="1">
                <a:solidFill>
                  <a:schemeClr val="accent2"/>
                </a:solidFill>
              </a:rPr>
              <a:t>SFT-II</a:t>
            </a:r>
            <a:r>
              <a:rPr lang="zh-CN" altLang="en-US" sz="2800" b="1">
                <a:solidFill>
                  <a:schemeClr val="accent2"/>
                </a:solidFill>
              </a:rPr>
              <a:t>主要用于防止磁盘驱动器和磁盘控制器故障所引起的系统不正常工作，包括：</a:t>
            </a:r>
            <a:endParaRPr lang="en-US" altLang="zh-CN" sz="2800" b="1">
              <a:solidFill>
                <a:schemeClr val="accent2"/>
              </a:solidFill>
            </a:endParaRPr>
          </a:p>
          <a:p>
            <a:pPr>
              <a:lnSpc>
                <a:spcPct val="120000"/>
              </a:lnSpc>
              <a:spcBef>
                <a:spcPts val="600"/>
              </a:spcBef>
              <a:buFontTx/>
              <a:buNone/>
            </a:pPr>
            <a:r>
              <a:rPr lang="en-US" altLang="zh-CN" b="1">
                <a:solidFill>
                  <a:srgbClr val="C00000"/>
                </a:solidFill>
              </a:rPr>
              <a:t>1</a:t>
            </a:r>
            <a:r>
              <a:rPr lang="zh-CN" altLang="en-US" b="1">
                <a:solidFill>
                  <a:srgbClr val="C00000"/>
                </a:solidFill>
              </a:rPr>
              <a:t>、磁盘镜像</a:t>
            </a:r>
            <a:r>
              <a:rPr lang="en-US" altLang="zh-CN" b="1">
                <a:solidFill>
                  <a:srgbClr val="C00000"/>
                </a:solidFill>
              </a:rPr>
              <a:t>(Disk Mirroring)</a:t>
            </a:r>
          </a:p>
        </p:txBody>
      </p:sp>
      <p:graphicFrame>
        <p:nvGraphicFramePr>
          <p:cNvPr id="48131" name="Object 6">
            <a:extLst>
              <a:ext uri="{FF2B5EF4-FFF2-40B4-BE49-F238E27FC236}">
                <a16:creationId xmlns:a16="http://schemas.microsoft.com/office/drawing/2014/main" id="{779606EF-504A-B955-AA38-DB46EB52F0D0}"/>
              </a:ext>
            </a:extLst>
          </p:cNvPr>
          <p:cNvGraphicFramePr>
            <a:graphicFrameLocks noChangeAspect="1"/>
          </p:cNvGraphicFramePr>
          <p:nvPr/>
        </p:nvGraphicFramePr>
        <p:xfrm>
          <a:off x="1695450" y="3284538"/>
          <a:ext cx="6019800" cy="2586037"/>
        </p:xfrm>
        <a:graphic>
          <a:graphicData uri="http://schemas.openxmlformats.org/presentationml/2006/ole">
            <mc:AlternateContent xmlns:mc="http://schemas.openxmlformats.org/markup-compatibility/2006">
              <mc:Choice xmlns:v="urn:schemas-microsoft-com:vml" Requires="v">
                <p:oleObj name="VISIO" r:id="rId2" imgW="1828800" imgH="784860" progId="Visio.Drawing.11">
                  <p:embed/>
                </p:oleObj>
              </mc:Choice>
              <mc:Fallback>
                <p:oleObj name="VISIO" r:id="rId2" imgW="1828800" imgH="784860"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450" y="3284538"/>
                        <a:ext cx="6019800" cy="258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Text Box 7">
            <a:extLst>
              <a:ext uri="{FF2B5EF4-FFF2-40B4-BE49-F238E27FC236}">
                <a16:creationId xmlns:a16="http://schemas.microsoft.com/office/drawing/2014/main" id="{C88B09C1-3269-35D6-DB60-307C38DB6985}"/>
              </a:ext>
            </a:extLst>
          </p:cNvPr>
          <p:cNvSpPr txBox="1">
            <a:spLocks noChangeArrowheads="1"/>
          </p:cNvSpPr>
          <p:nvPr/>
        </p:nvSpPr>
        <p:spPr bwMode="auto">
          <a:xfrm>
            <a:off x="2971800" y="5991225"/>
            <a:ext cx="3222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8-13  </a:t>
            </a:r>
            <a:r>
              <a:rPr lang="zh-CN" altLang="en-US" sz="2400" b="1"/>
              <a:t>磁盘镜像示意 </a:t>
            </a:r>
          </a:p>
        </p:txBody>
      </p:sp>
      <p:sp>
        <p:nvSpPr>
          <p:cNvPr id="48133" name="标题 1">
            <a:extLst>
              <a:ext uri="{FF2B5EF4-FFF2-40B4-BE49-F238E27FC236}">
                <a16:creationId xmlns:a16="http://schemas.microsoft.com/office/drawing/2014/main" id="{90822E97-676A-DDEE-AB3D-A74BBD8505C6}"/>
              </a:ext>
            </a:extLst>
          </p:cNvPr>
          <p:cNvSpPr>
            <a:spLocks noGrp="1" noChangeArrowheads="1"/>
          </p:cNvSpPr>
          <p:nvPr>
            <p:ph type="title"/>
          </p:nvPr>
        </p:nvSpPr>
        <p:spPr>
          <a:xfrm>
            <a:off x="685800" y="341313"/>
            <a:ext cx="7772400" cy="1143000"/>
          </a:xfrm>
        </p:spPr>
        <p:txBody>
          <a:bodyPr/>
          <a:lstStyle/>
          <a:p>
            <a:r>
              <a:rPr lang="en-US" altLang="zh-CN" b="1">
                <a:solidFill>
                  <a:srgbClr val="660066"/>
                </a:solidFill>
                <a:ea typeface="楷体_GB2312" pitchFamily="1" charset="-122"/>
              </a:rPr>
              <a:t>8.4.2  </a:t>
            </a:r>
            <a:r>
              <a:rPr lang="zh-CN" altLang="en-US" b="1">
                <a:solidFill>
                  <a:srgbClr val="660066"/>
                </a:solidFill>
                <a:ea typeface="楷体_GB2312" pitchFamily="1" charset="-122"/>
              </a:rPr>
              <a:t>第二级容错技术</a:t>
            </a:r>
            <a:r>
              <a:rPr lang="en-US" altLang="zh-CN" b="1">
                <a:solidFill>
                  <a:srgbClr val="660066"/>
                </a:solidFill>
                <a:ea typeface="楷体_GB2312" pitchFamily="1" charset="-122"/>
              </a:rPr>
              <a:t>SFT-II</a:t>
            </a:r>
            <a:endParaRPr lang="zh-CN" altLang="en-US" b="1">
              <a:solidFill>
                <a:srgbClr val="660066"/>
              </a:solidFill>
              <a:ea typeface="楷体_GB2312" pitchFamily="1" charset="-122"/>
            </a:endParaRPr>
          </a:p>
        </p:txBody>
      </p:sp>
    </p:spTree>
  </p:cSld>
  <p:clrMapOvr>
    <a:masterClrMapping/>
  </p:clrMapOvr>
  <p:transition>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a:extLst>
              <a:ext uri="{FF2B5EF4-FFF2-40B4-BE49-F238E27FC236}">
                <a16:creationId xmlns:a16="http://schemas.microsoft.com/office/drawing/2014/main" id="{A6E08B27-4206-EBF5-D872-D67B4F8DEFBB}"/>
              </a:ext>
            </a:extLst>
          </p:cNvPr>
          <p:cNvSpPr txBox="1">
            <a:spLocks noChangeArrowheads="1"/>
          </p:cNvSpPr>
          <p:nvPr/>
        </p:nvSpPr>
        <p:spPr bwMode="auto">
          <a:xfrm>
            <a:off x="357188" y="762000"/>
            <a:ext cx="5526087" cy="682625"/>
          </a:xfrm>
          <a:prstGeom prst="rect">
            <a:avLst/>
          </a:prstGeom>
          <a:noFill/>
          <a:ln w="9525">
            <a:noFill/>
            <a:miter lim="800000"/>
            <a:headEnd/>
            <a:tailEnd/>
          </a:ln>
        </p:spPr>
        <p:txBody>
          <a:bodyPr wrap="none">
            <a:spAutoFit/>
          </a:bodyPr>
          <a:lstStyle/>
          <a:p>
            <a:pPr marL="342900" indent="-342900">
              <a:lnSpc>
                <a:spcPct val="120000"/>
              </a:lnSpc>
              <a:spcBef>
                <a:spcPts val="600"/>
              </a:spcBef>
              <a:defRPr/>
            </a:pPr>
            <a:r>
              <a:rPr lang="en-US" altLang="zh-CN" sz="3200" b="1" dirty="0">
                <a:solidFill>
                  <a:srgbClr val="C00000"/>
                </a:solidFill>
                <a:latin typeface="+mn-lt"/>
                <a:ea typeface="+mn-ea"/>
              </a:rPr>
              <a:t>2</a:t>
            </a:r>
            <a:r>
              <a:rPr lang="zh-CN" altLang="en-US" sz="3200" b="1" dirty="0">
                <a:solidFill>
                  <a:srgbClr val="C00000"/>
                </a:solidFill>
                <a:latin typeface="+mn-lt"/>
                <a:ea typeface="+mn-ea"/>
              </a:rPr>
              <a:t>、磁盘双工</a:t>
            </a:r>
            <a:r>
              <a:rPr lang="en-US" altLang="zh-CN" sz="3200" b="1" dirty="0">
                <a:solidFill>
                  <a:srgbClr val="C00000"/>
                </a:solidFill>
                <a:latin typeface="+mn-lt"/>
                <a:ea typeface="+mn-ea"/>
              </a:rPr>
              <a:t>(Disk </a:t>
            </a:r>
            <a:r>
              <a:rPr lang="en-US" altLang="zh-CN" sz="3200" b="1" dirty="0" err="1">
                <a:solidFill>
                  <a:srgbClr val="C00000"/>
                </a:solidFill>
                <a:latin typeface="+mn-lt"/>
                <a:ea typeface="+mn-ea"/>
              </a:rPr>
              <a:t>Duplexing</a:t>
            </a:r>
            <a:r>
              <a:rPr lang="en-US" altLang="zh-CN" sz="3200" b="1" dirty="0">
                <a:solidFill>
                  <a:srgbClr val="C00000"/>
                </a:solidFill>
                <a:latin typeface="+mn-lt"/>
                <a:ea typeface="+mn-ea"/>
              </a:rPr>
              <a:t>)</a:t>
            </a:r>
            <a:r>
              <a:rPr lang="zh-CN" altLang="en-US" sz="3200" b="1" dirty="0">
                <a:solidFill>
                  <a:srgbClr val="C00000"/>
                </a:solidFill>
                <a:latin typeface="+mn-lt"/>
                <a:ea typeface="+mn-ea"/>
              </a:rPr>
              <a:t> </a:t>
            </a:r>
          </a:p>
        </p:txBody>
      </p:sp>
      <p:sp>
        <p:nvSpPr>
          <p:cNvPr id="49155" name="Text Box 5">
            <a:extLst>
              <a:ext uri="{FF2B5EF4-FFF2-40B4-BE49-F238E27FC236}">
                <a16:creationId xmlns:a16="http://schemas.microsoft.com/office/drawing/2014/main" id="{AF1B14F8-9C70-7188-3B3C-BA66FF641C2D}"/>
              </a:ext>
            </a:extLst>
          </p:cNvPr>
          <p:cNvSpPr txBox="1">
            <a:spLocks noChangeArrowheads="1"/>
          </p:cNvSpPr>
          <p:nvPr/>
        </p:nvSpPr>
        <p:spPr bwMode="auto">
          <a:xfrm>
            <a:off x="3124200" y="5791200"/>
            <a:ext cx="3222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8-14  </a:t>
            </a:r>
            <a:r>
              <a:rPr lang="zh-CN" altLang="en-US" sz="2400" b="1"/>
              <a:t>磁盘双工示意 </a:t>
            </a:r>
          </a:p>
        </p:txBody>
      </p:sp>
      <p:graphicFrame>
        <p:nvGraphicFramePr>
          <p:cNvPr id="49156" name="Object 6">
            <a:extLst>
              <a:ext uri="{FF2B5EF4-FFF2-40B4-BE49-F238E27FC236}">
                <a16:creationId xmlns:a16="http://schemas.microsoft.com/office/drawing/2014/main" id="{89909A00-851E-B5A0-036D-AA970FFD8D3F}"/>
              </a:ext>
            </a:extLst>
          </p:cNvPr>
          <p:cNvGraphicFramePr>
            <a:graphicFrameLocks noChangeAspect="1"/>
          </p:cNvGraphicFramePr>
          <p:nvPr/>
        </p:nvGraphicFramePr>
        <p:xfrm>
          <a:off x="1828800" y="1676400"/>
          <a:ext cx="5867400" cy="3902075"/>
        </p:xfrm>
        <a:graphic>
          <a:graphicData uri="http://schemas.openxmlformats.org/presentationml/2006/ole">
            <mc:AlternateContent xmlns:mc="http://schemas.openxmlformats.org/markup-compatibility/2006">
              <mc:Choice xmlns:v="urn:schemas-microsoft-com:vml" Requires="v">
                <p:oleObj name="VISIO" r:id="rId2" imgW="1722120" imgH="1143000" progId="Visio.Drawing.11">
                  <p:embed/>
                </p:oleObj>
              </mc:Choice>
              <mc:Fallback>
                <p:oleObj name="VISIO" r:id="rId2" imgW="1722120" imgH="1143000"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76400"/>
                        <a:ext cx="58674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a:extLst>
              <a:ext uri="{FF2B5EF4-FFF2-40B4-BE49-F238E27FC236}">
                <a16:creationId xmlns:a16="http://schemas.microsoft.com/office/drawing/2014/main" id="{2288D475-5AED-3F6C-2359-42D52C57BA6E}"/>
              </a:ext>
            </a:extLst>
          </p:cNvPr>
          <p:cNvSpPr>
            <a:spLocks noGrp="1" noChangeArrowheads="1"/>
          </p:cNvSpPr>
          <p:nvPr>
            <p:ph idx="1"/>
          </p:nvPr>
        </p:nvSpPr>
        <p:spPr>
          <a:xfrm>
            <a:off x="250825" y="1409700"/>
            <a:ext cx="8713788" cy="3890963"/>
          </a:xfrm>
        </p:spPr>
        <p:txBody>
          <a:bodyPr/>
          <a:lstStyle/>
          <a:p>
            <a:pPr>
              <a:lnSpc>
                <a:spcPct val="120000"/>
              </a:lnSpc>
              <a:spcBef>
                <a:spcPts val="600"/>
              </a:spcBef>
            </a:pPr>
            <a:r>
              <a:rPr lang="zh-CN" altLang="en-US" sz="2800" b="1">
                <a:solidFill>
                  <a:schemeClr val="accent2"/>
                </a:solidFill>
              </a:rPr>
              <a:t>集群：</a:t>
            </a:r>
            <a:r>
              <a:rPr lang="zh-CN" altLang="en-US" sz="2800"/>
              <a:t>是一组相互独立的、通过高速网络互联的计算机，它们构成统一的计算机系统，并以单一系统的模式加以管理。一个客户与集群相互作用时，集群像是一个独立的服务器。</a:t>
            </a:r>
            <a:endParaRPr lang="en-US" altLang="zh-CN" sz="2800"/>
          </a:p>
          <a:p>
            <a:pPr>
              <a:lnSpc>
                <a:spcPct val="120000"/>
              </a:lnSpc>
              <a:spcBef>
                <a:spcPts val="600"/>
              </a:spcBef>
            </a:pPr>
            <a:r>
              <a:rPr lang="zh-CN" altLang="en-US" sz="2800" b="1">
                <a:solidFill>
                  <a:schemeClr val="accent2"/>
                </a:solidFill>
              </a:rPr>
              <a:t>集群系统的工作模式有：</a:t>
            </a:r>
            <a:endParaRPr lang="en-US" altLang="zh-CN" sz="2800" b="1">
              <a:solidFill>
                <a:schemeClr val="accent2"/>
              </a:solidFill>
            </a:endParaRPr>
          </a:p>
          <a:p>
            <a:pPr lvl="1">
              <a:lnSpc>
                <a:spcPct val="120000"/>
              </a:lnSpc>
              <a:spcBef>
                <a:spcPts val="600"/>
              </a:spcBef>
            </a:pPr>
            <a:r>
              <a:rPr lang="zh-CN" altLang="en-US" sz="2400"/>
              <a:t>热备份模式</a:t>
            </a:r>
            <a:endParaRPr lang="en-US" altLang="zh-CN" sz="2400"/>
          </a:p>
          <a:p>
            <a:pPr lvl="1">
              <a:lnSpc>
                <a:spcPct val="120000"/>
              </a:lnSpc>
              <a:spcBef>
                <a:spcPts val="600"/>
              </a:spcBef>
            </a:pPr>
            <a:r>
              <a:rPr lang="zh-CN" altLang="en-US" sz="2400"/>
              <a:t>互为备份模式</a:t>
            </a:r>
            <a:endParaRPr lang="en-US" altLang="zh-CN" sz="2400"/>
          </a:p>
          <a:p>
            <a:pPr lvl="1">
              <a:lnSpc>
                <a:spcPct val="120000"/>
              </a:lnSpc>
              <a:spcBef>
                <a:spcPts val="600"/>
              </a:spcBef>
            </a:pPr>
            <a:r>
              <a:rPr lang="zh-CN" altLang="en-US" sz="2400"/>
              <a:t>公用磁盘模式</a:t>
            </a:r>
            <a:endParaRPr lang="en-US" altLang="zh-CN" sz="2400"/>
          </a:p>
          <a:p>
            <a:pPr>
              <a:lnSpc>
                <a:spcPct val="120000"/>
              </a:lnSpc>
              <a:spcBef>
                <a:spcPts val="600"/>
              </a:spcBef>
            </a:pPr>
            <a:endParaRPr lang="en-US" altLang="zh-CN" sz="2800"/>
          </a:p>
          <a:p>
            <a:pPr>
              <a:lnSpc>
                <a:spcPct val="120000"/>
              </a:lnSpc>
              <a:spcBef>
                <a:spcPts val="600"/>
              </a:spcBef>
              <a:buFontTx/>
              <a:buNone/>
            </a:pPr>
            <a:endParaRPr lang="zh-CN" altLang="en-US" sz="2400"/>
          </a:p>
        </p:txBody>
      </p:sp>
      <p:sp>
        <p:nvSpPr>
          <p:cNvPr id="50179" name="标题 1">
            <a:extLst>
              <a:ext uri="{FF2B5EF4-FFF2-40B4-BE49-F238E27FC236}">
                <a16:creationId xmlns:a16="http://schemas.microsoft.com/office/drawing/2014/main" id="{362D74C2-C9A2-1F70-D1F3-A67C01A2E48B}"/>
              </a:ext>
            </a:extLst>
          </p:cNvPr>
          <p:cNvSpPr>
            <a:spLocks noGrp="1" noChangeArrowheads="1"/>
          </p:cNvSpPr>
          <p:nvPr>
            <p:ph type="title"/>
          </p:nvPr>
        </p:nvSpPr>
        <p:spPr>
          <a:xfrm>
            <a:off x="685800" y="341313"/>
            <a:ext cx="7772400" cy="1143000"/>
          </a:xfrm>
        </p:spPr>
        <p:txBody>
          <a:bodyPr/>
          <a:lstStyle/>
          <a:p>
            <a:r>
              <a:rPr lang="en-US" altLang="zh-CN" b="1">
                <a:solidFill>
                  <a:srgbClr val="660066"/>
                </a:solidFill>
                <a:ea typeface="楷体_GB2312" pitchFamily="1" charset="-122"/>
              </a:rPr>
              <a:t>8.4.4  </a:t>
            </a:r>
            <a:r>
              <a:rPr lang="zh-CN" altLang="en-US" b="1">
                <a:solidFill>
                  <a:srgbClr val="660066"/>
                </a:solidFill>
                <a:ea typeface="楷体_GB2312" pitchFamily="1" charset="-122"/>
              </a:rPr>
              <a:t>基于集群技术的容错功能</a:t>
            </a:r>
          </a:p>
        </p:txBody>
      </p:sp>
    </p:spTree>
  </p:cSld>
  <p:clrMapOvr>
    <a:masterClrMapping/>
  </p:clrMapOvr>
  <p:transition>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a:extLst>
              <a:ext uri="{FF2B5EF4-FFF2-40B4-BE49-F238E27FC236}">
                <a16:creationId xmlns:a16="http://schemas.microsoft.com/office/drawing/2014/main" id="{36C13ECD-0675-CB6D-6442-4B2E0EFC1552}"/>
              </a:ext>
            </a:extLst>
          </p:cNvPr>
          <p:cNvSpPr>
            <a:spLocks noGrp="1" noChangeArrowheads="1"/>
          </p:cNvSpPr>
          <p:nvPr>
            <p:ph idx="1"/>
          </p:nvPr>
        </p:nvSpPr>
        <p:spPr>
          <a:xfrm>
            <a:off x="250825" y="1052513"/>
            <a:ext cx="8713788" cy="4176712"/>
          </a:xfrm>
        </p:spPr>
        <p:txBody>
          <a:bodyPr/>
          <a:lstStyle/>
          <a:p>
            <a:pPr>
              <a:lnSpc>
                <a:spcPct val="110000"/>
              </a:lnSpc>
              <a:spcBef>
                <a:spcPts val="600"/>
              </a:spcBef>
            </a:pPr>
            <a:r>
              <a:rPr lang="zh-CN" altLang="en-US" sz="2400"/>
              <a:t>两台完全相同的服务器，一主一从，各装入一块网卡，通过一条镜像服务器链路</a:t>
            </a:r>
            <a:r>
              <a:rPr lang="en-US" altLang="zh-CN" sz="2400"/>
              <a:t>MSL</a:t>
            </a:r>
            <a:r>
              <a:rPr lang="zh-CN" altLang="en-US" sz="2400"/>
              <a:t>连接。平时主服务器运行，备份服务器监视。主服务器出现故障，备份服务器自动切换成主服务器。</a:t>
            </a:r>
            <a:endParaRPr lang="en-US" altLang="zh-CN" sz="2400"/>
          </a:p>
          <a:p>
            <a:pPr>
              <a:lnSpc>
                <a:spcPct val="110000"/>
              </a:lnSpc>
              <a:spcBef>
                <a:spcPts val="600"/>
              </a:spcBef>
            </a:pPr>
            <a:r>
              <a:rPr lang="zh-CN" altLang="en-US" sz="2400"/>
              <a:t>如果采用</a:t>
            </a:r>
            <a:r>
              <a:rPr lang="en-US" altLang="zh-CN" sz="2400"/>
              <a:t>FDDI</a:t>
            </a:r>
            <a:r>
              <a:rPr lang="zh-CN" altLang="en-US" sz="2400"/>
              <a:t>单模光纤，两台服务器间的距离可达</a:t>
            </a:r>
            <a:r>
              <a:rPr lang="en-US" altLang="zh-CN" sz="2400"/>
              <a:t>20</a:t>
            </a:r>
            <a:r>
              <a:rPr lang="zh-CN" altLang="en-US" sz="2400"/>
              <a:t>公里。</a:t>
            </a:r>
            <a:endParaRPr lang="en-US" altLang="zh-CN" sz="2400"/>
          </a:p>
          <a:p>
            <a:pPr>
              <a:lnSpc>
                <a:spcPct val="110000"/>
              </a:lnSpc>
              <a:spcBef>
                <a:spcPts val="600"/>
              </a:spcBef>
            </a:pPr>
            <a:r>
              <a:rPr lang="zh-CN" altLang="en-US" sz="2400"/>
              <a:t>系统中必须设置某种机制检测主服务器中数据的改变。</a:t>
            </a:r>
            <a:endParaRPr lang="en-US" altLang="zh-CN" sz="2400"/>
          </a:p>
          <a:p>
            <a:pPr>
              <a:lnSpc>
                <a:spcPct val="110000"/>
              </a:lnSpc>
              <a:spcBef>
                <a:spcPts val="600"/>
              </a:spcBef>
            </a:pPr>
            <a:r>
              <a:rPr lang="zh-CN" altLang="en-US" sz="2400" b="1">
                <a:solidFill>
                  <a:schemeClr val="accent2"/>
                </a:solidFill>
              </a:rPr>
              <a:t>优点：</a:t>
            </a:r>
            <a:r>
              <a:rPr lang="zh-CN" altLang="en-US" sz="2400"/>
              <a:t>提高了可用性，易于实现，支持远程热备。</a:t>
            </a:r>
            <a:endParaRPr lang="en-US" altLang="zh-CN" sz="2400"/>
          </a:p>
          <a:p>
            <a:pPr>
              <a:lnSpc>
                <a:spcPct val="110000"/>
              </a:lnSpc>
              <a:spcBef>
                <a:spcPts val="600"/>
              </a:spcBef>
            </a:pPr>
            <a:r>
              <a:rPr lang="zh-CN" altLang="en-US" sz="2400" b="1">
                <a:solidFill>
                  <a:schemeClr val="accent2"/>
                </a:solidFill>
              </a:rPr>
              <a:t>缺点：</a:t>
            </a:r>
            <a:r>
              <a:rPr lang="zh-CN" altLang="en-US" sz="2400"/>
              <a:t>系统使用效率只有</a:t>
            </a:r>
            <a:r>
              <a:rPr lang="en-US" altLang="zh-CN" sz="2400"/>
              <a:t>50%</a:t>
            </a:r>
            <a:r>
              <a:rPr lang="zh-CN" altLang="en-US" sz="2400"/>
              <a:t>。</a:t>
            </a:r>
            <a:endParaRPr lang="en-US" altLang="zh-CN" sz="2400"/>
          </a:p>
        </p:txBody>
      </p:sp>
      <p:sp>
        <p:nvSpPr>
          <p:cNvPr id="6" name="Text Box 4">
            <a:extLst>
              <a:ext uri="{FF2B5EF4-FFF2-40B4-BE49-F238E27FC236}">
                <a16:creationId xmlns:a16="http://schemas.microsoft.com/office/drawing/2014/main" id="{B1D89F48-20BD-2A54-85C5-74E7E15AE1C4}"/>
              </a:ext>
            </a:extLst>
          </p:cNvPr>
          <p:cNvSpPr txBox="1">
            <a:spLocks noChangeArrowheads="1"/>
          </p:cNvSpPr>
          <p:nvPr/>
        </p:nvSpPr>
        <p:spPr bwMode="auto">
          <a:xfrm>
            <a:off x="250825" y="404813"/>
            <a:ext cx="3686175" cy="682625"/>
          </a:xfrm>
          <a:prstGeom prst="rect">
            <a:avLst/>
          </a:prstGeom>
          <a:noFill/>
          <a:ln w="9525">
            <a:noFill/>
            <a:miter lim="800000"/>
            <a:headEnd/>
            <a:tailEnd/>
          </a:ln>
        </p:spPr>
        <p:txBody>
          <a:bodyPr wrap="none">
            <a:spAutoFit/>
          </a:bodyPr>
          <a:lstStyle/>
          <a:p>
            <a:pPr marL="342900" indent="-342900">
              <a:lnSpc>
                <a:spcPct val="120000"/>
              </a:lnSpc>
              <a:spcBef>
                <a:spcPts val="600"/>
              </a:spcBef>
              <a:defRPr/>
            </a:pPr>
            <a:r>
              <a:rPr lang="en-US" altLang="zh-CN" sz="3200" b="1" dirty="0">
                <a:solidFill>
                  <a:srgbClr val="C00000"/>
                </a:solidFill>
                <a:latin typeface="+mn-lt"/>
                <a:ea typeface="+mn-ea"/>
              </a:rPr>
              <a:t>1</a:t>
            </a:r>
            <a:r>
              <a:rPr lang="zh-CN" altLang="en-US" sz="3200" b="1" dirty="0">
                <a:solidFill>
                  <a:srgbClr val="C00000"/>
                </a:solidFill>
                <a:latin typeface="+mn-lt"/>
                <a:ea typeface="+mn-ea"/>
              </a:rPr>
              <a:t>、双机热备份模式</a:t>
            </a:r>
          </a:p>
        </p:txBody>
      </p:sp>
      <p:pic>
        <p:nvPicPr>
          <p:cNvPr id="51204" name="Picture 3">
            <a:extLst>
              <a:ext uri="{FF2B5EF4-FFF2-40B4-BE49-F238E27FC236}">
                <a16:creationId xmlns:a16="http://schemas.microsoft.com/office/drawing/2014/main" id="{9DCAB74D-C759-2B55-87DF-27119782F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4652963"/>
            <a:ext cx="70231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Text Box 5">
            <a:extLst>
              <a:ext uri="{FF2B5EF4-FFF2-40B4-BE49-F238E27FC236}">
                <a16:creationId xmlns:a16="http://schemas.microsoft.com/office/drawing/2014/main" id="{11CB979E-3240-E6A3-4260-7D4BC35D755D}"/>
              </a:ext>
            </a:extLst>
          </p:cNvPr>
          <p:cNvSpPr txBox="1">
            <a:spLocks noChangeArrowheads="1"/>
          </p:cNvSpPr>
          <p:nvPr/>
        </p:nvSpPr>
        <p:spPr bwMode="auto">
          <a:xfrm>
            <a:off x="3124200" y="6351588"/>
            <a:ext cx="3532188"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8-15  </a:t>
            </a:r>
            <a:r>
              <a:rPr lang="zh-CN" altLang="en-US" sz="2400" b="1"/>
              <a:t>双机热备份模式 </a:t>
            </a:r>
          </a:p>
        </p:txBody>
      </p:sp>
    </p:spTree>
  </p:cSld>
  <p:clrMapOvr>
    <a:masterClrMapping/>
  </p:clrMapOvr>
  <p:transition>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a:extLst>
              <a:ext uri="{FF2B5EF4-FFF2-40B4-BE49-F238E27FC236}">
                <a16:creationId xmlns:a16="http://schemas.microsoft.com/office/drawing/2014/main" id="{37249400-4C32-960D-A8B9-4B0D35485555}"/>
              </a:ext>
            </a:extLst>
          </p:cNvPr>
          <p:cNvSpPr>
            <a:spLocks noGrp="1" noChangeArrowheads="1"/>
          </p:cNvSpPr>
          <p:nvPr>
            <p:ph idx="1"/>
          </p:nvPr>
        </p:nvSpPr>
        <p:spPr>
          <a:xfrm>
            <a:off x="250825" y="1052513"/>
            <a:ext cx="8713788" cy="4176712"/>
          </a:xfrm>
        </p:spPr>
        <p:txBody>
          <a:bodyPr/>
          <a:lstStyle/>
          <a:p>
            <a:pPr>
              <a:lnSpc>
                <a:spcPct val="110000"/>
              </a:lnSpc>
              <a:spcBef>
                <a:spcPts val="600"/>
              </a:spcBef>
            </a:pPr>
            <a:r>
              <a:rPr lang="zh-CN" altLang="en-US" sz="2400"/>
              <a:t>两台服务器均为在线服务器，各自完成自己的任务，它们之间通过某种专线连接；</a:t>
            </a:r>
            <a:endParaRPr lang="en-US" altLang="zh-CN" sz="2400"/>
          </a:p>
          <a:p>
            <a:pPr>
              <a:lnSpc>
                <a:spcPct val="110000"/>
              </a:lnSpc>
              <a:spcBef>
                <a:spcPts val="600"/>
              </a:spcBef>
            </a:pPr>
            <a:r>
              <a:rPr lang="zh-CN" altLang="en-US" sz="2400"/>
              <a:t>服务器上的两台硬盘，一个用于装载系统程序和应用程序，另一个用于接收另一台服务器发来的备份数据。</a:t>
            </a:r>
            <a:endParaRPr lang="en-US" altLang="zh-CN" sz="2400"/>
          </a:p>
          <a:p>
            <a:pPr>
              <a:lnSpc>
                <a:spcPct val="110000"/>
              </a:lnSpc>
              <a:spcBef>
                <a:spcPts val="600"/>
              </a:spcBef>
            </a:pPr>
            <a:r>
              <a:rPr lang="zh-CN" altLang="en-US" sz="2400" b="1">
                <a:solidFill>
                  <a:schemeClr val="accent2"/>
                </a:solidFill>
              </a:rPr>
              <a:t>优点：</a:t>
            </a:r>
            <a:r>
              <a:rPr lang="zh-CN" altLang="en-US" sz="2400"/>
              <a:t>两台服务器都可处理任务，系统效率高。</a:t>
            </a:r>
            <a:endParaRPr lang="en-US" altLang="zh-CN" sz="2400"/>
          </a:p>
        </p:txBody>
      </p:sp>
      <p:sp>
        <p:nvSpPr>
          <p:cNvPr id="6" name="Text Box 4">
            <a:extLst>
              <a:ext uri="{FF2B5EF4-FFF2-40B4-BE49-F238E27FC236}">
                <a16:creationId xmlns:a16="http://schemas.microsoft.com/office/drawing/2014/main" id="{4FC8AD40-2683-2EE6-1227-62D4B6C91B9D}"/>
              </a:ext>
            </a:extLst>
          </p:cNvPr>
          <p:cNvSpPr txBox="1">
            <a:spLocks noChangeArrowheads="1"/>
          </p:cNvSpPr>
          <p:nvPr/>
        </p:nvSpPr>
        <p:spPr bwMode="auto">
          <a:xfrm>
            <a:off x="250825" y="404813"/>
            <a:ext cx="4098925" cy="682625"/>
          </a:xfrm>
          <a:prstGeom prst="rect">
            <a:avLst/>
          </a:prstGeom>
          <a:noFill/>
          <a:ln w="9525">
            <a:noFill/>
            <a:miter lim="800000"/>
            <a:headEnd/>
            <a:tailEnd/>
          </a:ln>
        </p:spPr>
        <p:txBody>
          <a:bodyPr wrap="none">
            <a:spAutoFit/>
          </a:bodyPr>
          <a:lstStyle/>
          <a:p>
            <a:pPr marL="342900" indent="-342900">
              <a:lnSpc>
                <a:spcPct val="120000"/>
              </a:lnSpc>
              <a:spcBef>
                <a:spcPts val="600"/>
              </a:spcBef>
              <a:defRPr/>
            </a:pPr>
            <a:r>
              <a:rPr lang="en-US" altLang="zh-CN" sz="3200" b="1" dirty="0">
                <a:solidFill>
                  <a:srgbClr val="C00000"/>
                </a:solidFill>
                <a:latin typeface="+mn-lt"/>
                <a:ea typeface="+mn-ea"/>
              </a:rPr>
              <a:t>2</a:t>
            </a:r>
            <a:r>
              <a:rPr lang="zh-CN" altLang="en-US" sz="3200" b="1" dirty="0">
                <a:solidFill>
                  <a:srgbClr val="C00000"/>
                </a:solidFill>
                <a:latin typeface="+mn-lt"/>
                <a:ea typeface="+mn-ea"/>
              </a:rPr>
              <a:t>、双机互为备份模式</a:t>
            </a:r>
          </a:p>
        </p:txBody>
      </p:sp>
      <p:sp>
        <p:nvSpPr>
          <p:cNvPr id="52228" name="Text Box 5">
            <a:extLst>
              <a:ext uri="{FF2B5EF4-FFF2-40B4-BE49-F238E27FC236}">
                <a16:creationId xmlns:a16="http://schemas.microsoft.com/office/drawing/2014/main" id="{637BDBFF-09F1-35D9-E69E-FDB43D7BC0EB}"/>
              </a:ext>
            </a:extLst>
          </p:cNvPr>
          <p:cNvSpPr txBox="1">
            <a:spLocks noChangeArrowheads="1"/>
          </p:cNvSpPr>
          <p:nvPr/>
        </p:nvSpPr>
        <p:spPr bwMode="auto">
          <a:xfrm>
            <a:off x="3124200" y="6351588"/>
            <a:ext cx="3532188"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8-16  </a:t>
            </a:r>
            <a:r>
              <a:rPr lang="zh-CN" altLang="en-US" sz="2400" b="1"/>
              <a:t>双机热备份模式 </a:t>
            </a:r>
          </a:p>
        </p:txBody>
      </p:sp>
      <p:pic>
        <p:nvPicPr>
          <p:cNvPr id="52229" name="Picture 2">
            <a:extLst>
              <a:ext uri="{FF2B5EF4-FFF2-40B4-BE49-F238E27FC236}">
                <a16:creationId xmlns:a16="http://schemas.microsoft.com/office/drawing/2014/main" id="{D55912F1-CBB0-545E-7938-9C597E212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613" y="3284538"/>
            <a:ext cx="6213475"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a:extLst>
              <a:ext uri="{FF2B5EF4-FFF2-40B4-BE49-F238E27FC236}">
                <a16:creationId xmlns:a16="http://schemas.microsoft.com/office/drawing/2014/main" id="{D0581EA4-28C5-3286-C304-A83C947AECEB}"/>
              </a:ext>
            </a:extLst>
          </p:cNvPr>
          <p:cNvSpPr>
            <a:spLocks noGrp="1" noChangeArrowheads="1"/>
          </p:cNvSpPr>
          <p:nvPr>
            <p:ph idx="1"/>
          </p:nvPr>
        </p:nvSpPr>
        <p:spPr>
          <a:xfrm>
            <a:off x="250825" y="1052513"/>
            <a:ext cx="8713788" cy="4176712"/>
          </a:xfrm>
        </p:spPr>
        <p:txBody>
          <a:bodyPr/>
          <a:lstStyle/>
          <a:p>
            <a:pPr>
              <a:lnSpc>
                <a:spcPct val="130000"/>
              </a:lnSpc>
              <a:spcBef>
                <a:spcPts val="600"/>
              </a:spcBef>
            </a:pPr>
            <a:r>
              <a:rPr lang="zh-CN" altLang="en-US" sz="2400"/>
              <a:t>将多台计算机连接到一台公共的磁盘系统上，每台计算机使用磁盘的一个卷。</a:t>
            </a:r>
            <a:endParaRPr lang="en-US" altLang="zh-CN" sz="2400"/>
          </a:p>
          <a:p>
            <a:pPr>
              <a:lnSpc>
                <a:spcPct val="130000"/>
              </a:lnSpc>
              <a:spcBef>
                <a:spcPts val="600"/>
              </a:spcBef>
            </a:pPr>
            <a:r>
              <a:rPr lang="zh-CN" altLang="en-US" sz="2400"/>
              <a:t>某台计算机发生故障，系统将重新进行配置，根据某种策略选择另一台替代机器，替代机器对发生故障的机器的卷拥有所有权，可接替故障计算机所承担的任务。</a:t>
            </a:r>
            <a:endParaRPr lang="en-US" altLang="zh-CN" sz="2400"/>
          </a:p>
          <a:p>
            <a:pPr>
              <a:lnSpc>
                <a:spcPct val="130000"/>
              </a:lnSpc>
              <a:spcBef>
                <a:spcPts val="600"/>
              </a:spcBef>
            </a:pPr>
            <a:r>
              <a:rPr lang="zh-CN" altLang="en-US" sz="2400" b="1">
                <a:solidFill>
                  <a:schemeClr val="accent2"/>
                </a:solidFill>
              </a:rPr>
              <a:t>优点：</a:t>
            </a:r>
            <a:r>
              <a:rPr lang="zh-CN" altLang="en-US" sz="2400"/>
              <a:t>消除了信息复制的时间，减少了网络和服务器的开销</a:t>
            </a:r>
            <a:endParaRPr lang="en-US" altLang="zh-CN" sz="2400"/>
          </a:p>
        </p:txBody>
      </p:sp>
      <p:sp>
        <p:nvSpPr>
          <p:cNvPr id="6" name="Text Box 4">
            <a:extLst>
              <a:ext uri="{FF2B5EF4-FFF2-40B4-BE49-F238E27FC236}">
                <a16:creationId xmlns:a16="http://schemas.microsoft.com/office/drawing/2014/main" id="{9D33918F-3239-895D-AA6F-02F8A095E073}"/>
              </a:ext>
            </a:extLst>
          </p:cNvPr>
          <p:cNvSpPr txBox="1">
            <a:spLocks noChangeArrowheads="1"/>
          </p:cNvSpPr>
          <p:nvPr/>
        </p:nvSpPr>
        <p:spPr bwMode="auto">
          <a:xfrm>
            <a:off x="250825" y="404813"/>
            <a:ext cx="3275013" cy="682625"/>
          </a:xfrm>
          <a:prstGeom prst="rect">
            <a:avLst/>
          </a:prstGeom>
          <a:noFill/>
          <a:ln w="9525">
            <a:noFill/>
            <a:miter lim="800000"/>
            <a:headEnd/>
            <a:tailEnd/>
          </a:ln>
        </p:spPr>
        <p:txBody>
          <a:bodyPr wrap="none">
            <a:spAutoFit/>
          </a:bodyPr>
          <a:lstStyle/>
          <a:p>
            <a:pPr marL="342900" indent="-342900">
              <a:lnSpc>
                <a:spcPct val="120000"/>
              </a:lnSpc>
              <a:spcBef>
                <a:spcPts val="600"/>
              </a:spcBef>
              <a:defRPr/>
            </a:pPr>
            <a:r>
              <a:rPr lang="en-US" altLang="zh-CN" sz="3200" b="1" dirty="0">
                <a:solidFill>
                  <a:srgbClr val="C00000"/>
                </a:solidFill>
                <a:latin typeface="+mn-lt"/>
                <a:ea typeface="+mn-ea"/>
              </a:rPr>
              <a:t>3</a:t>
            </a:r>
            <a:r>
              <a:rPr lang="zh-CN" altLang="en-US" sz="3200" b="1" dirty="0">
                <a:solidFill>
                  <a:srgbClr val="C00000"/>
                </a:solidFill>
                <a:latin typeface="+mn-lt"/>
                <a:ea typeface="+mn-ea"/>
              </a:rPr>
              <a:t>、公用磁盘模式</a:t>
            </a:r>
          </a:p>
        </p:txBody>
      </p:sp>
    </p:spTree>
  </p:cSld>
  <p:clrMapOvr>
    <a:masterClrMapping/>
  </p:clrMapOvr>
  <p:transition>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a:extLst>
              <a:ext uri="{FF2B5EF4-FFF2-40B4-BE49-F238E27FC236}">
                <a16:creationId xmlns:a16="http://schemas.microsoft.com/office/drawing/2014/main" id="{C5F99495-571C-99A9-8425-7410850287B2}"/>
              </a:ext>
            </a:extLst>
          </p:cNvPr>
          <p:cNvSpPr>
            <a:spLocks noGrp="1" noChangeArrowheads="1"/>
          </p:cNvSpPr>
          <p:nvPr>
            <p:ph idx="1"/>
          </p:nvPr>
        </p:nvSpPr>
        <p:spPr>
          <a:xfrm>
            <a:off x="250825" y="1341438"/>
            <a:ext cx="8713788" cy="3890962"/>
          </a:xfrm>
        </p:spPr>
        <p:txBody>
          <a:bodyPr/>
          <a:lstStyle/>
          <a:p>
            <a:pPr>
              <a:lnSpc>
                <a:spcPct val="120000"/>
              </a:lnSpc>
              <a:spcBef>
                <a:spcPts val="600"/>
              </a:spcBef>
            </a:pPr>
            <a:r>
              <a:rPr lang="zh-CN" altLang="en-US" sz="2800" b="1">
                <a:solidFill>
                  <a:schemeClr val="accent2"/>
                </a:solidFill>
              </a:rPr>
              <a:t>配备后备系统的原因：</a:t>
            </a:r>
            <a:endParaRPr lang="en-US" altLang="zh-CN" sz="2800" b="1">
              <a:solidFill>
                <a:schemeClr val="accent2"/>
              </a:solidFill>
            </a:endParaRPr>
          </a:p>
          <a:p>
            <a:pPr lvl="1">
              <a:lnSpc>
                <a:spcPct val="120000"/>
              </a:lnSpc>
              <a:spcBef>
                <a:spcPts val="600"/>
              </a:spcBef>
            </a:pPr>
            <a:r>
              <a:rPr lang="zh-CN" altLang="en-US" sz="2400"/>
              <a:t>磁盘系统不够大，无法容纳系统运行过程中所有的数据；</a:t>
            </a:r>
            <a:endParaRPr lang="en-US" altLang="zh-CN" sz="2400"/>
          </a:p>
          <a:p>
            <a:pPr lvl="2">
              <a:lnSpc>
                <a:spcPct val="120000"/>
              </a:lnSpc>
              <a:spcBef>
                <a:spcPts val="600"/>
              </a:spcBef>
            </a:pPr>
            <a:r>
              <a:rPr lang="zh-CN" altLang="en-US" sz="2200" b="1"/>
              <a:t>措施：</a:t>
            </a:r>
            <a:r>
              <a:rPr lang="zh-CN" altLang="en-US" sz="2200"/>
              <a:t>把暂时不需要但仍然有用的数据存放在后备系统中。</a:t>
            </a:r>
            <a:endParaRPr lang="en-US" altLang="zh-CN" sz="2200"/>
          </a:p>
          <a:p>
            <a:pPr lvl="1">
              <a:lnSpc>
                <a:spcPct val="120000"/>
              </a:lnSpc>
              <a:spcBef>
                <a:spcPts val="600"/>
              </a:spcBef>
            </a:pPr>
            <a:r>
              <a:rPr lang="zh-CN" altLang="en-US" sz="2400"/>
              <a:t>防止系统发生故障或病毒。</a:t>
            </a:r>
            <a:endParaRPr lang="en-US" altLang="zh-CN" sz="2400"/>
          </a:p>
          <a:p>
            <a:pPr lvl="2">
              <a:lnSpc>
                <a:spcPct val="120000"/>
              </a:lnSpc>
              <a:spcBef>
                <a:spcPts val="600"/>
              </a:spcBef>
            </a:pPr>
            <a:r>
              <a:rPr lang="zh-CN" altLang="en-US" sz="2200" b="1"/>
              <a:t>措施：</a:t>
            </a:r>
            <a:r>
              <a:rPr lang="zh-CN" altLang="en-US" sz="2200"/>
              <a:t>将比较重要的数据存放在后备系统中。</a:t>
            </a:r>
            <a:endParaRPr lang="en-US" altLang="zh-CN" sz="2200"/>
          </a:p>
          <a:p>
            <a:pPr>
              <a:lnSpc>
                <a:spcPct val="120000"/>
              </a:lnSpc>
              <a:spcBef>
                <a:spcPts val="600"/>
              </a:spcBef>
            </a:pPr>
            <a:r>
              <a:rPr lang="zh-CN" altLang="en-US" sz="2800" b="1">
                <a:solidFill>
                  <a:schemeClr val="accent2"/>
                </a:solidFill>
              </a:rPr>
              <a:t>后备系统的常用设备：</a:t>
            </a:r>
            <a:endParaRPr lang="en-US" altLang="zh-CN" sz="2800" b="1">
              <a:solidFill>
                <a:schemeClr val="accent2"/>
              </a:solidFill>
            </a:endParaRPr>
          </a:p>
          <a:p>
            <a:pPr lvl="1">
              <a:lnSpc>
                <a:spcPct val="120000"/>
              </a:lnSpc>
              <a:spcBef>
                <a:spcPts val="600"/>
              </a:spcBef>
            </a:pPr>
            <a:r>
              <a:rPr lang="zh-CN" altLang="en-US" sz="2400"/>
              <a:t>磁带机</a:t>
            </a:r>
            <a:endParaRPr lang="en-US" altLang="zh-CN" sz="2400"/>
          </a:p>
          <a:p>
            <a:pPr lvl="1">
              <a:lnSpc>
                <a:spcPct val="120000"/>
              </a:lnSpc>
              <a:spcBef>
                <a:spcPts val="600"/>
              </a:spcBef>
            </a:pPr>
            <a:r>
              <a:rPr lang="zh-CN" altLang="en-US" sz="2400"/>
              <a:t>硬盘</a:t>
            </a:r>
            <a:endParaRPr lang="en-US" altLang="zh-CN" sz="2400"/>
          </a:p>
          <a:p>
            <a:pPr lvl="1">
              <a:lnSpc>
                <a:spcPct val="120000"/>
              </a:lnSpc>
              <a:spcBef>
                <a:spcPts val="600"/>
              </a:spcBef>
            </a:pPr>
            <a:r>
              <a:rPr lang="zh-CN" altLang="en-US" sz="2400"/>
              <a:t>光盘驱动器</a:t>
            </a:r>
            <a:endParaRPr lang="en-US" altLang="zh-CN" sz="2400"/>
          </a:p>
        </p:txBody>
      </p:sp>
      <p:sp>
        <p:nvSpPr>
          <p:cNvPr id="54275" name="标题 1">
            <a:extLst>
              <a:ext uri="{FF2B5EF4-FFF2-40B4-BE49-F238E27FC236}">
                <a16:creationId xmlns:a16="http://schemas.microsoft.com/office/drawing/2014/main" id="{99062BC5-EDFE-2150-88B3-ACE14261E50A}"/>
              </a:ext>
            </a:extLst>
          </p:cNvPr>
          <p:cNvSpPr>
            <a:spLocks noGrp="1" noChangeArrowheads="1"/>
          </p:cNvSpPr>
          <p:nvPr>
            <p:ph type="title"/>
          </p:nvPr>
        </p:nvSpPr>
        <p:spPr>
          <a:xfrm>
            <a:off x="685800" y="341313"/>
            <a:ext cx="7772400" cy="1143000"/>
          </a:xfrm>
        </p:spPr>
        <p:txBody>
          <a:bodyPr/>
          <a:lstStyle/>
          <a:p>
            <a:r>
              <a:rPr lang="en-US" altLang="zh-CN" b="1">
                <a:solidFill>
                  <a:srgbClr val="660066"/>
                </a:solidFill>
                <a:ea typeface="楷体_GB2312" pitchFamily="1" charset="-122"/>
              </a:rPr>
              <a:t>8.4.5  </a:t>
            </a:r>
            <a:r>
              <a:rPr lang="zh-CN" altLang="en-US" b="1">
                <a:solidFill>
                  <a:srgbClr val="660066"/>
                </a:solidFill>
                <a:ea typeface="楷体_GB2312" pitchFamily="1" charset="-122"/>
              </a:rPr>
              <a:t>后备系统</a:t>
            </a:r>
          </a:p>
        </p:txBody>
      </p:sp>
    </p:spTree>
  </p:cSld>
  <p:clrMapOvr>
    <a:masterClrMapping/>
  </p:clrMapOvr>
  <p:transition>
    <p:blinds dir="vert"/>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6600"/>
      </a:hlink>
      <a:folHlink>
        <a:srgbClr val="0099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5412</TotalTime>
  <Words>3495</Words>
  <Application>Microsoft Office PowerPoint</Application>
  <PresentationFormat>全屏显示(4:3)</PresentationFormat>
  <Paragraphs>385</Paragraphs>
  <Slides>46</Slides>
  <Notes>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55" baseType="lpstr">
      <vt:lpstr>华文行楷</vt:lpstr>
      <vt:lpstr>楷体_GB2312</vt:lpstr>
      <vt:lpstr>宋体</vt:lpstr>
      <vt:lpstr>Arial</vt:lpstr>
      <vt:lpstr>Calibri</vt:lpstr>
      <vt:lpstr>Times New Roman</vt:lpstr>
      <vt:lpstr>默认设计模板</vt:lpstr>
      <vt:lpstr>VISIO</vt:lpstr>
      <vt:lpstr>Visio</vt:lpstr>
      <vt:lpstr>第八章  磁盘存储器的管理</vt:lpstr>
      <vt:lpstr>8  磁盘存储器的管理</vt:lpstr>
      <vt:lpstr>8.1 外存的组织方式</vt:lpstr>
      <vt:lpstr>8.1  外存的组织方式 </vt:lpstr>
      <vt:lpstr>8.1.1  连续组织方式 </vt:lpstr>
      <vt:lpstr>PowerPoint 演示文稿</vt:lpstr>
      <vt:lpstr>PowerPoint 演示文稿</vt:lpstr>
      <vt:lpstr>8.1.2  链接组织方式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 文件存储空间的管理</vt:lpstr>
      <vt:lpstr>8.2  文件存储空间的管理</vt:lpstr>
      <vt:lpstr>8.2.1 空闲表法和空闲链表法 </vt:lpstr>
      <vt:lpstr>PowerPoint 演示文稿</vt:lpstr>
      <vt:lpstr>8.2.2 位示图法</vt:lpstr>
      <vt:lpstr>PowerPoint 演示文稿</vt:lpstr>
      <vt:lpstr>8.2.3 成组链接法 </vt:lpstr>
      <vt:lpstr>PowerPoint 演示文稿</vt:lpstr>
      <vt:lpstr>PowerPoint 演示文稿</vt:lpstr>
      <vt:lpstr>PowerPoint 演示文稿</vt:lpstr>
      <vt:lpstr>PowerPoint 演示文稿</vt:lpstr>
      <vt:lpstr>8.3 提高磁盘I/O速度的途径</vt:lpstr>
      <vt:lpstr>8.3  提高磁盘I/O速度的途径</vt:lpstr>
      <vt:lpstr>8.3.1 磁盘高速缓存(Disk Cache)</vt:lpstr>
      <vt:lpstr>PowerPoint 演示文稿</vt:lpstr>
      <vt:lpstr>PowerPoint 演示文稿</vt:lpstr>
      <vt:lpstr>8.3.2 提高磁盘I/O速度的其它方法</vt:lpstr>
      <vt:lpstr>8.4 提高磁盘可靠性的技术</vt:lpstr>
      <vt:lpstr>8.4  提高磁盘可靠性的技术</vt:lpstr>
      <vt:lpstr>8.4.1  第一级容错技术SFT-I</vt:lpstr>
      <vt:lpstr>8.4.2  第二级容错技术SFT-II</vt:lpstr>
      <vt:lpstr>PowerPoint 演示文稿</vt:lpstr>
      <vt:lpstr>8.4.4  基于集群技术的容错功能</vt:lpstr>
      <vt:lpstr>PowerPoint 演示文稿</vt:lpstr>
      <vt:lpstr>PowerPoint 演示文稿</vt:lpstr>
      <vt:lpstr>PowerPoint 演示文稿</vt:lpstr>
      <vt:lpstr>8.4.5  后备系统</vt:lpstr>
    </vt:vector>
  </TitlesOfParts>
  <Company>西安火炬电脑公司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zero fly</cp:lastModifiedBy>
  <cp:revision>314</cp:revision>
  <dcterms:created xsi:type="dcterms:W3CDTF">2002-11-18T09:20:27Z</dcterms:created>
  <dcterms:modified xsi:type="dcterms:W3CDTF">2024-01-01T14:04:57Z</dcterms:modified>
</cp:coreProperties>
</file>