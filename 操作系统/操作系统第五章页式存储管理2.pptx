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84" r:id="rId3"/>
  </p:sldMasterIdLst>
  <p:notesMasterIdLst>
    <p:notesMasterId r:id="rId19"/>
  </p:notesMasterIdLst>
  <p:handoutMasterIdLst>
    <p:handoutMasterId r:id="rId20"/>
  </p:handoutMasterIdLst>
  <p:sldIdLst>
    <p:sldId id="289" r:id="rId4"/>
    <p:sldId id="375" r:id="rId5"/>
    <p:sldId id="376" r:id="rId6"/>
    <p:sldId id="377" r:id="rId7"/>
    <p:sldId id="378" r:id="rId8"/>
    <p:sldId id="386" r:id="rId9"/>
    <p:sldId id="379" r:id="rId10"/>
    <p:sldId id="380" r:id="rId11"/>
    <p:sldId id="387" r:id="rId12"/>
    <p:sldId id="381" r:id="rId13"/>
    <p:sldId id="382" r:id="rId14"/>
    <p:sldId id="388" r:id="rId15"/>
    <p:sldId id="384" r:id="rId16"/>
    <p:sldId id="385" r:id="rId17"/>
    <p:sldId id="290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7" autoAdjust="0"/>
    <p:restoredTop sz="94757" autoAdjust="0"/>
  </p:normalViewPr>
  <p:slideViewPr>
    <p:cSldViewPr snapToGrid="0">
      <p:cViewPr varScale="1">
        <p:scale>
          <a:sx n="69" d="100"/>
          <a:sy n="69" d="100"/>
        </p:scale>
        <p:origin x="73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-3360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CB84B-6A00-4441-A8E6-9FCA71C6ADFF}" type="datetimeFigureOut">
              <a:rPr lang="zh-CN" altLang="en-US" smtClean="0"/>
              <a:t>2023-10-31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28514-98A0-40EF-8E2B-A346CE837D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6775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093AD-7C06-486F-9754-D5B73F7C37DE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3EDE87-FC43-4F0C-9C51-E666AB0AC5F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440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3646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08993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58951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模板来自于 </a:t>
            </a:r>
            <a:r>
              <a:rPr lang="en-US" altLang="zh-CN"/>
              <a:t>http://www.ypppt.com</a:t>
            </a:r>
            <a:endParaRPr lang="zh-CN" altLang="en-US" dirty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5ED1824-6DB2-4029-B0DF-1D3CDCF11CDA}" type="slidenum">
              <a:rPr lang="zh-CN" altLang="en-US" smtClean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>
              <a:solidFill>
                <a:prstClr val="black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3724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32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/>
          <a:srcRect r="42146" b="48018"/>
          <a:stretch/>
        </p:blipFill>
        <p:spPr>
          <a:xfrm>
            <a:off x="7346062" y="2511276"/>
            <a:ext cx="4845938" cy="434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32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481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202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143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20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971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064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247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05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350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389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79587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73060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4813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标题 1"/>
          <p:cNvSpPr txBox="1">
            <a:spLocks/>
          </p:cNvSpPr>
          <p:nvPr userDrawn="1"/>
        </p:nvSpPr>
        <p:spPr>
          <a:xfrm>
            <a:off x="848833" y="202028"/>
            <a:ext cx="3967716" cy="457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3D735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00202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1437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085715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1909627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085715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1909627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862035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9715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020646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932479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53051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3502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315586" y="545879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953898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6064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2328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4813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2027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1437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2035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9715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0646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247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051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3502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389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3.gif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16" cstate="print"/>
          <a:srcRect r="42146" b="48018"/>
          <a:stretch/>
        </p:blipFill>
        <p:spPr>
          <a:xfrm>
            <a:off x="7346062" y="2511276"/>
            <a:ext cx="4845938" cy="434672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7954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6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98" r:id="rId13"/>
    <p:sldLayoutId id="2147483700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00E00-5D83-46E2-B18B-6027595511CC}" type="datetimeFigureOut">
              <a:rPr lang="zh-CN" altLang="en-US" smtClean="0"/>
              <a:pPr/>
              <a:t>2023-10-31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988828"/>
            <a:ext cx="10515600" cy="51881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11" name="矩形 10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14" name="文本框 31"/>
          <p:cNvSpPr txBox="1"/>
          <p:nvPr userDrawn="1"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954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400" b="1" kern="1200" dirty="0">
          <a:solidFill>
            <a:srgbClr val="3D735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3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954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3.gif"/><Relationship Id="rId4" Type="http://schemas.openxmlformats.org/officeDocument/2006/relationships/audio" Target="../media/audio2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472862" y="2048669"/>
            <a:ext cx="7246275" cy="2760663"/>
          </a:xfrm>
          <a:prstGeom prst="rect">
            <a:avLst/>
          </a:prstGeom>
          <a:noFill/>
          <a:ln w="38100" cap="flat">
            <a:solidFill>
              <a:srgbClr val="3D735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595747" y="2251341"/>
            <a:ext cx="310997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500" dirty="0">
                <a:solidFill>
                  <a:srgbClr val="3D735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操作系统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939822" y="3912068"/>
            <a:ext cx="4417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200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32"/>
          <p:cNvSpPr txBox="1">
            <a:spLocks noChangeArrowheads="1"/>
          </p:cNvSpPr>
          <p:nvPr/>
        </p:nvSpPr>
        <p:spPr bwMode="auto">
          <a:xfrm>
            <a:off x="5512250" y="4270955"/>
            <a:ext cx="13838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主讲人：房斐斐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143375" y="4409454"/>
            <a:ext cx="1299913" cy="0"/>
          </a:xfrm>
          <a:prstGeom prst="line">
            <a:avLst/>
          </a:prstGeom>
          <a:ln>
            <a:solidFill>
              <a:srgbClr val="3D7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896100" y="4409454"/>
            <a:ext cx="1299913" cy="0"/>
          </a:xfrm>
          <a:prstGeom prst="line">
            <a:avLst/>
          </a:prstGeom>
          <a:ln>
            <a:solidFill>
              <a:srgbClr val="3D7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6"/>
          <p:cNvSpPr txBox="1"/>
          <p:nvPr/>
        </p:nvSpPr>
        <p:spPr>
          <a:xfrm>
            <a:off x="4382256" y="3187225"/>
            <a:ext cx="42795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3D735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第五章 存储器管理</a:t>
            </a:r>
          </a:p>
        </p:txBody>
      </p:sp>
    </p:spTree>
    <p:extLst>
      <p:ext uri="{BB962C8B-B14F-4D97-AF65-F5344CB8AC3E}">
        <p14:creationId xmlns:p14="http://schemas.microsoft.com/office/powerpoint/2010/main" val="2646257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439936" y="1137130"/>
            <a:ext cx="7246275" cy="1733178"/>
          </a:xfrm>
          <a:prstGeom prst="rect">
            <a:avLst/>
          </a:prstGeom>
          <a:noFill/>
          <a:ln w="38100" cap="flat">
            <a:solidFill>
              <a:srgbClr val="3D735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2729551" y="1483991"/>
            <a:ext cx="6989586" cy="1104503"/>
            <a:chOff x="3621789" y="2876749"/>
            <a:chExt cx="5471412" cy="1104503"/>
          </a:xfrm>
        </p:grpSpPr>
        <p:sp>
          <p:nvSpPr>
            <p:cNvPr id="31" name="矩形 30"/>
            <p:cNvSpPr/>
            <p:nvPr/>
          </p:nvSpPr>
          <p:spPr bwMode="auto">
            <a:xfrm>
              <a:off x="4971853" y="3707291"/>
              <a:ext cx="123825" cy="123825"/>
            </a:xfrm>
            <a:prstGeom prst="rect">
              <a:avLst/>
            </a:prstGeom>
            <a:solidFill>
              <a:srgbClr val="708265"/>
            </a:solidFill>
            <a:ln>
              <a:solidFill>
                <a:srgbClr val="7082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595959"/>
                </a:solidFill>
              </a:endParaRPr>
            </a:p>
          </p:txBody>
        </p:sp>
        <p:sp>
          <p:nvSpPr>
            <p:cNvPr id="32" name="文本框 13"/>
            <p:cNvSpPr txBox="1">
              <a:spLocks noChangeArrowheads="1"/>
            </p:cNvSpPr>
            <p:nvPr/>
          </p:nvSpPr>
          <p:spPr bwMode="auto">
            <a:xfrm>
              <a:off x="5095677" y="3596166"/>
              <a:ext cx="137784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 bwMode="auto">
            <a:xfrm>
              <a:off x="7136457" y="3705704"/>
              <a:ext cx="123825" cy="125413"/>
            </a:xfrm>
            <a:prstGeom prst="rect">
              <a:avLst/>
            </a:prstGeom>
            <a:solidFill>
              <a:srgbClr val="708265"/>
            </a:solidFill>
            <a:ln>
              <a:solidFill>
                <a:srgbClr val="7082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595959"/>
                </a:solidFill>
              </a:endParaRPr>
            </a:p>
          </p:txBody>
        </p:sp>
        <p:sp>
          <p:nvSpPr>
            <p:cNvPr id="34" name="文本框 13"/>
            <p:cNvSpPr txBox="1">
              <a:spLocks noChangeArrowheads="1"/>
            </p:cNvSpPr>
            <p:nvPr/>
          </p:nvSpPr>
          <p:spPr bwMode="auto">
            <a:xfrm>
              <a:off x="7260281" y="3596167"/>
              <a:ext cx="129951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13"/>
            <p:cNvSpPr txBox="1">
              <a:spLocks noChangeArrowheads="1"/>
            </p:cNvSpPr>
            <p:nvPr/>
          </p:nvSpPr>
          <p:spPr bwMode="auto">
            <a:xfrm>
              <a:off x="4813114" y="2890068"/>
              <a:ext cx="4280087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4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页式存储管理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3655926" y="3396477"/>
              <a:ext cx="12741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rgbClr val="708265"/>
                  </a:solidFill>
                  <a:latin typeface="Impact" panose="020B0806030902050204" pitchFamily="34" charset="0"/>
                  <a:ea typeface="微软雅黑 Light" panose="020B0502040204020203" pitchFamily="34" charset="-122"/>
                </a:rPr>
                <a:t>PART</a:t>
              </a:r>
              <a:endParaRPr lang="zh-CN" altLang="en-US" sz="3200" dirty="0">
                <a:solidFill>
                  <a:srgbClr val="708265"/>
                </a:solidFill>
                <a:latin typeface="Impact" panose="020B0806030902050204" pitchFamily="34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3621789" y="2876749"/>
              <a:ext cx="13424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>
                  <a:solidFill>
                    <a:srgbClr val="7082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5.3</a:t>
              </a:r>
              <a:endParaRPr lang="zh-CN" altLang="en-US" sz="4000" dirty="0">
                <a:solidFill>
                  <a:srgbClr val="70826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4293004" y="3250218"/>
              <a:ext cx="207440" cy="104457"/>
              <a:chOff x="4093098" y="3134123"/>
              <a:chExt cx="107723" cy="54244"/>
            </a:xfrm>
          </p:grpSpPr>
          <p:sp>
            <p:nvSpPr>
              <p:cNvPr id="39" name="L 形 38"/>
              <p:cNvSpPr/>
              <p:nvPr/>
            </p:nvSpPr>
            <p:spPr>
              <a:xfrm rot="2493705" flipH="1" flipV="1">
                <a:off x="4093098" y="3134123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6F8163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rgbClr val="708265"/>
                  </a:solidFill>
                </a:endParaRPr>
              </a:p>
            </p:txBody>
          </p:sp>
          <p:sp>
            <p:nvSpPr>
              <p:cNvPr id="40" name="L 形 39"/>
              <p:cNvSpPr/>
              <p:nvPr/>
            </p:nvSpPr>
            <p:spPr>
              <a:xfrm rot="2493705" flipH="1" flipV="1">
                <a:off x="4146578" y="3134123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6F8163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rgbClr val="708265"/>
                  </a:solidFill>
                </a:endParaRPr>
              </a:p>
            </p:txBody>
          </p:sp>
        </p:grpSp>
      </p:grpSp>
      <p:sp>
        <p:nvSpPr>
          <p:cNvPr id="16" name="文本框 21"/>
          <p:cNvSpPr txBox="1">
            <a:spLocks noChangeArrowheads="1"/>
          </p:cNvSpPr>
          <p:nvPr/>
        </p:nvSpPr>
        <p:spPr bwMode="auto">
          <a:xfrm>
            <a:off x="2439935" y="3087211"/>
            <a:ext cx="7279201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/>
              <a:t>         连续分配方式会产生很多碎片，并且不容易找到较大的空间。促使人们产生了分散分配的管理思想。</a:t>
            </a:r>
            <a:endParaRPr lang="en-US" altLang="zh-CN" sz="2400" dirty="0"/>
          </a:p>
          <a:p>
            <a:r>
              <a:rPr lang="en-US" altLang="zh-CN" sz="2400" dirty="0"/>
              <a:t>          </a:t>
            </a:r>
            <a:r>
              <a:rPr lang="zh-CN" altLang="en-US" sz="2400" dirty="0"/>
              <a:t>根据分配时所分配地址空间的基本单位不同，分为：</a:t>
            </a:r>
          </a:p>
          <a:p>
            <a:endParaRPr lang="en-US" altLang="zh-CN" sz="2400" dirty="0"/>
          </a:p>
        </p:txBody>
      </p:sp>
      <p:grpSp>
        <p:nvGrpSpPr>
          <p:cNvPr id="2" name="组合 1"/>
          <p:cNvGrpSpPr/>
          <p:nvPr/>
        </p:nvGrpSpPr>
        <p:grpSpPr>
          <a:xfrm>
            <a:off x="4415356" y="4750423"/>
            <a:ext cx="1944539" cy="400110"/>
            <a:chOff x="4312324" y="4351175"/>
            <a:chExt cx="1944539" cy="400110"/>
          </a:xfrm>
        </p:grpSpPr>
        <p:sp>
          <p:nvSpPr>
            <p:cNvPr id="15" name="文本框 54"/>
            <p:cNvSpPr txBox="1">
              <a:spLocks noChangeArrowheads="1"/>
            </p:cNvSpPr>
            <p:nvPr/>
          </p:nvSpPr>
          <p:spPr bwMode="auto">
            <a:xfrm>
              <a:off x="4533314" y="4351175"/>
              <a:ext cx="172354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分页存储管理</a:t>
              </a:r>
            </a:p>
          </p:txBody>
        </p:sp>
        <p:sp>
          <p:nvSpPr>
            <p:cNvPr id="19" name="AutoShape 115"/>
            <p:cNvSpPr>
              <a:spLocks/>
            </p:cNvSpPr>
            <p:nvPr/>
          </p:nvSpPr>
          <p:spPr bwMode="auto">
            <a:xfrm>
              <a:off x="4312324" y="4409231"/>
              <a:ext cx="266700" cy="2936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357" y="18801"/>
                  </a:moveTo>
                  <a:cubicBezTo>
                    <a:pt x="21518" y="18965"/>
                    <a:pt x="21599" y="19177"/>
                    <a:pt x="21599" y="19436"/>
                  </a:cubicBezTo>
                  <a:cubicBezTo>
                    <a:pt x="21599" y="19580"/>
                    <a:pt x="21518" y="19775"/>
                    <a:pt x="21357" y="20018"/>
                  </a:cubicBezTo>
                  <a:cubicBezTo>
                    <a:pt x="21193" y="20261"/>
                    <a:pt x="20989" y="20504"/>
                    <a:pt x="20746" y="20741"/>
                  </a:cubicBezTo>
                  <a:cubicBezTo>
                    <a:pt x="20503" y="20978"/>
                    <a:pt x="20260" y="21184"/>
                    <a:pt x="20023" y="21348"/>
                  </a:cubicBezTo>
                  <a:cubicBezTo>
                    <a:pt x="19783" y="21518"/>
                    <a:pt x="19593" y="21599"/>
                    <a:pt x="19447" y="21599"/>
                  </a:cubicBezTo>
                  <a:cubicBezTo>
                    <a:pt x="19189" y="21599"/>
                    <a:pt x="18975" y="21515"/>
                    <a:pt x="18811" y="21343"/>
                  </a:cubicBezTo>
                  <a:lnTo>
                    <a:pt x="13957" y="16502"/>
                  </a:lnTo>
                  <a:cubicBezTo>
                    <a:pt x="13217" y="16980"/>
                    <a:pt x="12428" y="17350"/>
                    <a:pt x="11589" y="17604"/>
                  </a:cubicBezTo>
                  <a:cubicBezTo>
                    <a:pt x="10750" y="17864"/>
                    <a:pt x="9891" y="17991"/>
                    <a:pt x="9007" y="17991"/>
                  </a:cubicBezTo>
                  <a:cubicBezTo>
                    <a:pt x="7769" y="17991"/>
                    <a:pt x="6608" y="17759"/>
                    <a:pt x="5517" y="17290"/>
                  </a:cubicBezTo>
                  <a:cubicBezTo>
                    <a:pt x="4427" y="16822"/>
                    <a:pt x="3469" y="16175"/>
                    <a:pt x="2644" y="15353"/>
                  </a:cubicBezTo>
                  <a:cubicBezTo>
                    <a:pt x="1816" y="14534"/>
                    <a:pt x="1172" y="13580"/>
                    <a:pt x="700" y="12487"/>
                  </a:cubicBezTo>
                  <a:cubicBezTo>
                    <a:pt x="231" y="11400"/>
                    <a:pt x="0" y="10236"/>
                    <a:pt x="0" y="8999"/>
                  </a:cubicBezTo>
                  <a:cubicBezTo>
                    <a:pt x="0" y="7768"/>
                    <a:pt x="231" y="6602"/>
                    <a:pt x="700" y="5515"/>
                  </a:cubicBezTo>
                  <a:cubicBezTo>
                    <a:pt x="1169" y="4422"/>
                    <a:pt x="1816" y="3467"/>
                    <a:pt x="2644" y="2645"/>
                  </a:cubicBezTo>
                  <a:cubicBezTo>
                    <a:pt x="3469" y="1827"/>
                    <a:pt x="4424" y="1180"/>
                    <a:pt x="5512" y="708"/>
                  </a:cubicBezTo>
                  <a:cubicBezTo>
                    <a:pt x="6600" y="237"/>
                    <a:pt x="7764" y="0"/>
                    <a:pt x="9007" y="0"/>
                  </a:cubicBezTo>
                  <a:cubicBezTo>
                    <a:pt x="10244" y="0"/>
                    <a:pt x="11403" y="237"/>
                    <a:pt x="12488" y="708"/>
                  </a:cubicBezTo>
                  <a:cubicBezTo>
                    <a:pt x="13573" y="1180"/>
                    <a:pt x="14530" y="1827"/>
                    <a:pt x="15358" y="2645"/>
                  </a:cubicBezTo>
                  <a:cubicBezTo>
                    <a:pt x="16183" y="3467"/>
                    <a:pt x="16830" y="4422"/>
                    <a:pt x="17299" y="5515"/>
                  </a:cubicBezTo>
                  <a:cubicBezTo>
                    <a:pt x="17768" y="6602"/>
                    <a:pt x="18003" y="7768"/>
                    <a:pt x="18003" y="8999"/>
                  </a:cubicBezTo>
                  <a:cubicBezTo>
                    <a:pt x="18003" y="9886"/>
                    <a:pt x="17873" y="10747"/>
                    <a:pt x="17616" y="11589"/>
                  </a:cubicBezTo>
                  <a:cubicBezTo>
                    <a:pt x="17359" y="12433"/>
                    <a:pt x="16991" y="13218"/>
                    <a:pt x="16514" y="13947"/>
                  </a:cubicBezTo>
                  <a:lnTo>
                    <a:pt x="21357" y="18801"/>
                  </a:lnTo>
                  <a:close/>
                  <a:moveTo>
                    <a:pt x="3596" y="8999"/>
                  </a:moveTo>
                  <a:cubicBezTo>
                    <a:pt x="3596" y="9759"/>
                    <a:pt x="3740" y="10465"/>
                    <a:pt x="4028" y="11117"/>
                  </a:cubicBezTo>
                  <a:cubicBezTo>
                    <a:pt x="4317" y="11770"/>
                    <a:pt x="4707" y="12337"/>
                    <a:pt x="5193" y="12820"/>
                  </a:cubicBezTo>
                  <a:cubicBezTo>
                    <a:pt x="5679" y="13300"/>
                    <a:pt x="6252" y="13684"/>
                    <a:pt x="6908" y="13969"/>
                  </a:cubicBezTo>
                  <a:cubicBezTo>
                    <a:pt x="7566" y="14252"/>
                    <a:pt x="8264" y="14393"/>
                    <a:pt x="9004" y="14393"/>
                  </a:cubicBezTo>
                  <a:cubicBezTo>
                    <a:pt x="9744" y="14393"/>
                    <a:pt x="10439" y="14252"/>
                    <a:pt x="11092" y="13969"/>
                  </a:cubicBezTo>
                  <a:cubicBezTo>
                    <a:pt x="11745" y="13684"/>
                    <a:pt x="12318" y="13300"/>
                    <a:pt x="12801" y="12820"/>
                  </a:cubicBezTo>
                  <a:cubicBezTo>
                    <a:pt x="13290" y="12337"/>
                    <a:pt x="13677" y="11770"/>
                    <a:pt x="13965" y="11117"/>
                  </a:cubicBezTo>
                  <a:cubicBezTo>
                    <a:pt x="14254" y="10465"/>
                    <a:pt x="14398" y="9759"/>
                    <a:pt x="14398" y="8999"/>
                  </a:cubicBezTo>
                  <a:cubicBezTo>
                    <a:pt x="14398" y="8259"/>
                    <a:pt x="14254" y="7565"/>
                    <a:pt x="13965" y="6912"/>
                  </a:cubicBezTo>
                  <a:cubicBezTo>
                    <a:pt x="13674" y="6257"/>
                    <a:pt x="13290" y="5684"/>
                    <a:pt x="12801" y="5192"/>
                  </a:cubicBezTo>
                  <a:cubicBezTo>
                    <a:pt x="12315" y="4704"/>
                    <a:pt x="11745" y="4317"/>
                    <a:pt x="11092" y="4032"/>
                  </a:cubicBezTo>
                  <a:cubicBezTo>
                    <a:pt x="10439" y="3749"/>
                    <a:pt x="9741" y="3605"/>
                    <a:pt x="9004" y="3605"/>
                  </a:cubicBezTo>
                  <a:cubicBezTo>
                    <a:pt x="8267" y="3605"/>
                    <a:pt x="7566" y="3749"/>
                    <a:pt x="6908" y="4032"/>
                  </a:cubicBezTo>
                  <a:cubicBezTo>
                    <a:pt x="6252" y="4317"/>
                    <a:pt x="5676" y="4704"/>
                    <a:pt x="5193" y="5192"/>
                  </a:cubicBezTo>
                  <a:cubicBezTo>
                    <a:pt x="4707" y="5684"/>
                    <a:pt x="4317" y="6257"/>
                    <a:pt x="4028" y="6912"/>
                  </a:cubicBezTo>
                  <a:cubicBezTo>
                    <a:pt x="3740" y="7565"/>
                    <a:pt x="3596" y="8256"/>
                    <a:pt x="3596" y="8999"/>
                  </a:cubicBezTo>
                  <a:moveTo>
                    <a:pt x="9007" y="5591"/>
                  </a:moveTo>
                  <a:cubicBezTo>
                    <a:pt x="9185" y="5591"/>
                    <a:pt x="9343" y="5656"/>
                    <a:pt x="9473" y="5785"/>
                  </a:cubicBezTo>
                  <a:cubicBezTo>
                    <a:pt x="9603" y="5918"/>
                    <a:pt x="9668" y="6082"/>
                    <a:pt x="9668" y="6279"/>
                  </a:cubicBezTo>
                  <a:cubicBezTo>
                    <a:pt x="9668" y="6460"/>
                    <a:pt x="9603" y="6616"/>
                    <a:pt x="9473" y="6745"/>
                  </a:cubicBezTo>
                  <a:cubicBezTo>
                    <a:pt x="9343" y="6878"/>
                    <a:pt x="9185" y="6943"/>
                    <a:pt x="9007" y="6943"/>
                  </a:cubicBezTo>
                  <a:cubicBezTo>
                    <a:pt x="8439" y="6943"/>
                    <a:pt x="7953" y="7144"/>
                    <a:pt x="7552" y="7536"/>
                  </a:cubicBezTo>
                  <a:cubicBezTo>
                    <a:pt x="7151" y="7934"/>
                    <a:pt x="6950" y="8423"/>
                    <a:pt x="6950" y="8996"/>
                  </a:cubicBezTo>
                  <a:cubicBezTo>
                    <a:pt x="6950" y="9180"/>
                    <a:pt x="6885" y="9332"/>
                    <a:pt x="6755" y="9465"/>
                  </a:cubicBezTo>
                  <a:cubicBezTo>
                    <a:pt x="6622" y="9595"/>
                    <a:pt x="6467" y="9657"/>
                    <a:pt x="6289" y="9657"/>
                  </a:cubicBezTo>
                  <a:cubicBezTo>
                    <a:pt x="6080" y="9657"/>
                    <a:pt x="5913" y="9595"/>
                    <a:pt x="5786" y="9465"/>
                  </a:cubicBezTo>
                  <a:cubicBezTo>
                    <a:pt x="5659" y="9332"/>
                    <a:pt x="5599" y="9180"/>
                    <a:pt x="5599" y="8996"/>
                  </a:cubicBezTo>
                  <a:cubicBezTo>
                    <a:pt x="5599" y="8539"/>
                    <a:pt x="5684" y="8104"/>
                    <a:pt x="5862" y="7686"/>
                  </a:cubicBezTo>
                  <a:cubicBezTo>
                    <a:pt x="6037" y="7271"/>
                    <a:pt x="6280" y="6907"/>
                    <a:pt x="6597" y="6590"/>
                  </a:cubicBezTo>
                  <a:cubicBezTo>
                    <a:pt x="6905" y="6277"/>
                    <a:pt x="7264" y="6028"/>
                    <a:pt x="7676" y="5856"/>
                  </a:cubicBezTo>
                  <a:cubicBezTo>
                    <a:pt x="8086" y="5681"/>
                    <a:pt x="8529" y="5591"/>
                    <a:pt x="9007" y="5591"/>
                  </a:cubicBezTo>
                </a:path>
              </a:pathLst>
            </a:custGeom>
            <a:solidFill>
              <a:srgbClr val="404040"/>
            </a:solidFill>
            <a:ln>
              <a:noFill/>
            </a:ln>
            <a:effectLst/>
          </p:spPr>
          <p:txBody>
            <a:bodyPr lIns="101578" tIns="101578" rIns="101578" bIns="101578" anchor="ctr"/>
            <a:lstStyle/>
            <a:p>
              <a:pPr defTabSz="91419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 sz="5800" dirty="0">
                <a:solidFill>
                  <a:srgbClr val="44C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+mn-ea"/>
                <a:cs typeface="Gill Sans" charset="0"/>
                <a:sym typeface="Gill Sans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415356" y="5289631"/>
            <a:ext cx="2183091" cy="400110"/>
            <a:chOff x="4312324" y="4890383"/>
            <a:chExt cx="2183091" cy="400110"/>
          </a:xfrm>
        </p:grpSpPr>
        <p:sp>
          <p:nvSpPr>
            <p:cNvPr id="17" name="文本框 54"/>
            <p:cNvSpPr txBox="1">
              <a:spLocks noChangeArrowheads="1"/>
            </p:cNvSpPr>
            <p:nvPr/>
          </p:nvSpPr>
          <p:spPr bwMode="auto">
            <a:xfrm>
              <a:off x="4515386" y="4890383"/>
              <a:ext cx="1980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分段式存储管理</a:t>
              </a:r>
            </a:p>
          </p:txBody>
        </p:sp>
        <p:sp>
          <p:nvSpPr>
            <p:cNvPr id="20" name="AutoShape 115"/>
            <p:cNvSpPr>
              <a:spLocks/>
            </p:cNvSpPr>
            <p:nvPr/>
          </p:nvSpPr>
          <p:spPr bwMode="auto">
            <a:xfrm>
              <a:off x="4312324" y="4965877"/>
              <a:ext cx="266700" cy="2936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357" y="18801"/>
                  </a:moveTo>
                  <a:cubicBezTo>
                    <a:pt x="21518" y="18965"/>
                    <a:pt x="21599" y="19177"/>
                    <a:pt x="21599" y="19436"/>
                  </a:cubicBezTo>
                  <a:cubicBezTo>
                    <a:pt x="21599" y="19580"/>
                    <a:pt x="21518" y="19775"/>
                    <a:pt x="21357" y="20018"/>
                  </a:cubicBezTo>
                  <a:cubicBezTo>
                    <a:pt x="21193" y="20261"/>
                    <a:pt x="20989" y="20504"/>
                    <a:pt x="20746" y="20741"/>
                  </a:cubicBezTo>
                  <a:cubicBezTo>
                    <a:pt x="20503" y="20978"/>
                    <a:pt x="20260" y="21184"/>
                    <a:pt x="20023" y="21348"/>
                  </a:cubicBezTo>
                  <a:cubicBezTo>
                    <a:pt x="19783" y="21518"/>
                    <a:pt x="19593" y="21599"/>
                    <a:pt x="19447" y="21599"/>
                  </a:cubicBezTo>
                  <a:cubicBezTo>
                    <a:pt x="19189" y="21599"/>
                    <a:pt x="18975" y="21515"/>
                    <a:pt x="18811" y="21343"/>
                  </a:cubicBezTo>
                  <a:lnTo>
                    <a:pt x="13957" y="16502"/>
                  </a:lnTo>
                  <a:cubicBezTo>
                    <a:pt x="13217" y="16980"/>
                    <a:pt x="12428" y="17350"/>
                    <a:pt x="11589" y="17604"/>
                  </a:cubicBezTo>
                  <a:cubicBezTo>
                    <a:pt x="10750" y="17864"/>
                    <a:pt x="9891" y="17991"/>
                    <a:pt x="9007" y="17991"/>
                  </a:cubicBezTo>
                  <a:cubicBezTo>
                    <a:pt x="7769" y="17991"/>
                    <a:pt x="6608" y="17759"/>
                    <a:pt x="5517" y="17290"/>
                  </a:cubicBezTo>
                  <a:cubicBezTo>
                    <a:pt x="4427" y="16822"/>
                    <a:pt x="3469" y="16175"/>
                    <a:pt x="2644" y="15353"/>
                  </a:cubicBezTo>
                  <a:cubicBezTo>
                    <a:pt x="1816" y="14534"/>
                    <a:pt x="1172" y="13580"/>
                    <a:pt x="700" y="12487"/>
                  </a:cubicBezTo>
                  <a:cubicBezTo>
                    <a:pt x="231" y="11400"/>
                    <a:pt x="0" y="10236"/>
                    <a:pt x="0" y="8999"/>
                  </a:cubicBezTo>
                  <a:cubicBezTo>
                    <a:pt x="0" y="7768"/>
                    <a:pt x="231" y="6602"/>
                    <a:pt x="700" y="5515"/>
                  </a:cubicBezTo>
                  <a:cubicBezTo>
                    <a:pt x="1169" y="4422"/>
                    <a:pt x="1816" y="3467"/>
                    <a:pt x="2644" y="2645"/>
                  </a:cubicBezTo>
                  <a:cubicBezTo>
                    <a:pt x="3469" y="1827"/>
                    <a:pt x="4424" y="1180"/>
                    <a:pt x="5512" y="708"/>
                  </a:cubicBezTo>
                  <a:cubicBezTo>
                    <a:pt x="6600" y="237"/>
                    <a:pt x="7764" y="0"/>
                    <a:pt x="9007" y="0"/>
                  </a:cubicBezTo>
                  <a:cubicBezTo>
                    <a:pt x="10244" y="0"/>
                    <a:pt x="11403" y="237"/>
                    <a:pt x="12488" y="708"/>
                  </a:cubicBezTo>
                  <a:cubicBezTo>
                    <a:pt x="13573" y="1180"/>
                    <a:pt x="14530" y="1827"/>
                    <a:pt x="15358" y="2645"/>
                  </a:cubicBezTo>
                  <a:cubicBezTo>
                    <a:pt x="16183" y="3467"/>
                    <a:pt x="16830" y="4422"/>
                    <a:pt x="17299" y="5515"/>
                  </a:cubicBezTo>
                  <a:cubicBezTo>
                    <a:pt x="17768" y="6602"/>
                    <a:pt x="18003" y="7768"/>
                    <a:pt x="18003" y="8999"/>
                  </a:cubicBezTo>
                  <a:cubicBezTo>
                    <a:pt x="18003" y="9886"/>
                    <a:pt x="17873" y="10747"/>
                    <a:pt x="17616" y="11589"/>
                  </a:cubicBezTo>
                  <a:cubicBezTo>
                    <a:pt x="17359" y="12433"/>
                    <a:pt x="16991" y="13218"/>
                    <a:pt x="16514" y="13947"/>
                  </a:cubicBezTo>
                  <a:lnTo>
                    <a:pt x="21357" y="18801"/>
                  </a:lnTo>
                  <a:close/>
                  <a:moveTo>
                    <a:pt x="3596" y="8999"/>
                  </a:moveTo>
                  <a:cubicBezTo>
                    <a:pt x="3596" y="9759"/>
                    <a:pt x="3740" y="10465"/>
                    <a:pt x="4028" y="11117"/>
                  </a:cubicBezTo>
                  <a:cubicBezTo>
                    <a:pt x="4317" y="11770"/>
                    <a:pt x="4707" y="12337"/>
                    <a:pt x="5193" y="12820"/>
                  </a:cubicBezTo>
                  <a:cubicBezTo>
                    <a:pt x="5679" y="13300"/>
                    <a:pt x="6252" y="13684"/>
                    <a:pt x="6908" y="13969"/>
                  </a:cubicBezTo>
                  <a:cubicBezTo>
                    <a:pt x="7566" y="14252"/>
                    <a:pt x="8264" y="14393"/>
                    <a:pt x="9004" y="14393"/>
                  </a:cubicBezTo>
                  <a:cubicBezTo>
                    <a:pt x="9744" y="14393"/>
                    <a:pt x="10439" y="14252"/>
                    <a:pt x="11092" y="13969"/>
                  </a:cubicBezTo>
                  <a:cubicBezTo>
                    <a:pt x="11745" y="13684"/>
                    <a:pt x="12318" y="13300"/>
                    <a:pt x="12801" y="12820"/>
                  </a:cubicBezTo>
                  <a:cubicBezTo>
                    <a:pt x="13290" y="12337"/>
                    <a:pt x="13677" y="11770"/>
                    <a:pt x="13965" y="11117"/>
                  </a:cubicBezTo>
                  <a:cubicBezTo>
                    <a:pt x="14254" y="10465"/>
                    <a:pt x="14398" y="9759"/>
                    <a:pt x="14398" y="8999"/>
                  </a:cubicBezTo>
                  <a:cubicBezTo>
                    <a:pt x="14398" y="8259"/>
                    <a:pt x="14254" y="7565"/>
                    <a:pt x="13965" y="6912"/>
                  </a:cubicBezTo>
                  <a:cubicBezTo>
                    <a:pt x="13674" y="6257"/>
                    <a:pt x="13290" y="5684"/>
                    <a:pt x="12801" y="5192"/>
                  </a:cubicBezTo>
                  <a:cubicBezTo>
                    <a:pt x="12315" y="4704"/>
                    <a:pt x="11745" y="4317"/>
                    <a:pt x="11092" y="4032"/>
                  </a:cubicBezTo>
                  <a:cubicBezTo>
                    <a:pt x="10439" y="3749"/>
                    <a:pt x="9741" y="3605"/>
                    <a:pt x="9004" y="3605"/>
                  </a:cubicBezTo>
                  <a:cubicBezTo>
                    <a:pt x="8267" y="3605"/>
                    <a:pt x="7566" y="3749"/>
                    <a:pt x="6908" y="4032"/>
                  </a:cubicBezTo>
                  <a:cubicBezTo>
                    <a:pt x="6252" y="4317"/>
                    <a:pt x="5676" y="4704"/>
                    <a:pt x="5193" y="5192"/>
                  </a:cubicBezTo>
                  <a:cubicBezTo>
                    <a:pt x="4707" y="5684"/>
                    <a:pt x="4317" y="6257"/>
                    <a:pt x="4028" y="6912"/>
                  </a:cubicBezTo>
                  <a:cubicBezTo>
                    <a:pt x="3740" y="7565"/>
                    <a:pt x="3596" y="8256"/>
                    <a:pt x="3596" y="8999"/>
                  </a:cubicBezTo>
                  <a:moveTo>
                    <a:pt x="9007" y="5591"/>
                  </a:moveTo>
                  <a:cubicBezTo>
                    <a:pt x="9185" y="5591"/>
                    <a:pt x="9343" y="5656"/>
                    <a:pt x="9473" y="5785"/>
                  </a:cubicBezTo>
                  <a:cubicBezTo>
                    <a:pt x="9603" y="5918"/>
                    <a:pt x="9668" y="6082"/>
                    <a:pt x="9668" y="6279"/>
                  </a:cubicBezTo>
                  <a:cubicBezTo>
                    <a:pt x="9668" y="6460"/>
                    <a:pt x="9603" y="6616"/>
                    <a:pt x="9473" y="6745"/>
                  </a:cubicBezTo>
                  <a:cubicBezTo>
                    <a:pt x="9343" y="6878"/>
                    <a:pt x="9185" y="6943"/>
                    <a:pt x="9007" y="6943"/>
                  </a:cubicBezTo>
                  <a:cubicBezTo>
                    <a:pt x="8439" y="6943"/>
                    <a:pt x="7953" y="7144"/>
                    <a:pt x="7552" y="7536"/>
                  </a:cubicBezTo>
                  <a:cubicBezTo>
                    <a:pt x="7151" y="7934"/>
                    <a:pt x="6950" y="8423"/>
                    <a:pt x="6950" y="8996"/>
                  </a:cubicBezTo>
                  <a:cubicBezTo>
                    <a:pt x="6950" y="9180"/>
                    <a:pt x="6885" y="9332"/>
                    <a:pt x="6755" y="9465"/>
                  </a:cubicBezTo>
                  <a:cubicBezTo>
                    <a:pt x="6622" y="9595"/>
                    <a:pt x="6467" y="9657"/>
                    <a:pt x="6289" y="9657"/>
                  </a:cubicBezTo>
                  <a:cubicBezTo>
                    <a:pt x="6080" y="9657"/>
                    <a:pt x="5913" y="9595"/>
                    <a:pt x="5786" y="9465"/>
                  </a:cubicBezTo>
                  <a:cubicBezTo>
                    <a:pt x="5659" y="9332"/>
                    <a:pt x="5599" y="9180"/>
                    <a:pt x="5599" y="8996"/>
                  </a:cubicBezTo>
                  <a:cubicBezTo>
                    <a:pt x="5599" y="8539"/>
                    <a:pt x="5684" y="8104"/>
                    <a:pt x="5862" y="7686"/>
                  </a:cubicBezTo>
                  <a:cubicBezTo>
                    <a:pt x="6037" y="7271"/>
                    <a:pt x="6280" y="6907"/>
                    <a:pt x="6597" y="6590"/>
                  </a:cubicBezTo>
                  <a:cubicBezTo>
                    <a:pt x="6905" y="6277"/>
                    <a:pt x="7264" y="6028"/>
                    <a:pt x="7676" y="5856"/>
                  </a:cubicBezTo>
                  <a:cubicBezTo>
                    <a:pt x="8086" y="5681"/>
                    <a:pt x="8529" y="5591"/>
                    <a:pt x="9007" y="5591"/>
                  </a:cubicBezTo>
                </a:path>
              </a:pathLst>
            </a:custGeom>
            <a:solidFill>
              <a:srgbClr val="404040"/>
            </a:solidFill>
            <a:ln>
              <a:noFill/>
            </a:ln>
            <a:effectLst/>
          </p:spPr>
          <p:txBody>
            <a:bodyPr lIns="101578" tIns="101578" rIns="101578" bIns="101578" anchor="ctr"/>
            <a:lstStyle/>
            <a:p>
              <a:pPr defTabSz="91419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 sz="5800" dirty="0">
                <a:solidFill>
                  <a:srgbClr val="44C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+mn-ea"/>
                <a:cs typeface="Gill Sans" charset="0"/>
                <a:sym typeface="Gill Sans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415356" y="5814079"/>
            <a:ext cx="2201019" cy="400110"/>
            <a:chOff x="4312324" y="5414831"/>
            <a:chExt cx="2201019" cy="400110"/>
          </a:xfrm>
        </p:grpSpPr>
        <p:sp>
          <p:nvSpPr>
            <p:cNvPr id="18" name="文本框 54"/>
            <p:cNvSpPr txBox="1">
              <a:spLocks noChangeArrowheads="1"/>
            </p:cNvSpPr>
            <p:nvPr/>
          </p:nvSpPr>
          <p:spPr bwMode="auto">
            <a:xfrm>
              <a:off x="4533314" y="5414831"/>
              <a:ext cx="19800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段页式存储管理</a:t>
              </a:r>
            </a:p>
          </p:txBody>
        </p:sp>
        <p:sp>
          <p:nvSpPr>
            <p:cNvPr id="21" name="AutoShape 115"/>
            <p:cNvSpPr>
              <a:spLocks/>
            </p:cNvSpPr>
            <p:nvPr/>
          </p:nvSpPr>
          <p:spPr bwMode="auto">
            <a:xfrm>
              <a:off x="4312324" y="5468042"/>
              <a:ext cx="266700" cy="2936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357" y="18801"/>
                  </a:moveTo>
                  <a:cubicBezTo>
                    <a:pt x="21518" y="18965"/>
                    <a:pt x="21599" y="19177"/>
                    <a:pt x="21599" y="19436"/>
                  </a:cubicBezTo>
                  <a:cubicBezTo>
                    <a:pt x="21599" y="19580"/>
                    <a:pt x="21518" y="19775"/>
                    <a:pt x="21357" y="20018"/>
                  </a:cubicBezTo>
                  <a:cubicBezTo>
                    <a:pt x="21193" y="20261"/>
                    <a:pt x="20989" y="20504"/>
                    <a:pt x="20746" y="20741"/>
                  </a:cubicBezTo>
                  <a:cubicBezTo>
                    <a:pt x="20503" y="20978"/>
                    <a:pt x="20260" y="21184"/>
                    <a:pt x="20023" y="21348"/>
                  </a:cubicBezTo>
                  <a:cubicBezTo>
                    <a:pt x="19783" y="21518"/>
                    <a:pt x="19593" y="21599"/>
                    <a:pt x="19447" y="21599"/>
                  </a:cubicBezTo>
                  <a:cubicBezTo>
                    <a:pt x="19189" y="21599"/>
                    <a:pt x="18975" y="21515"/>
                    <a:pt x="18811" y="21343"/>
                  </a:cubicBezTo>
                  <a:lnTo>
                    <a:pt x="13957" y="16502"/>
                  </a:lnTo>
                  <a:cubicBezTo>
                    <a:pt x="13217" y="16980"/>
                    <a:pt x="12428" y="17350"/>
                    <a:pt x="11589" y="17604"/>
                  </a:cubicBezTo>
                  <a:cubicBezTo>
                    <a:pt x="10750" y="17864"/>
                    <a:pt x="9891" y="17991"/>
                    <a:pt x="9007" y="17991"/>
                  </a:cubicBezTo>
                  <a:cubicBezTo>
                    <a:pt x="7769" y="17991"/>
                    <a:pt x="6608" y="17759"/>
                    <a:pt x="5517" y="17290"/>
                  </a:cubicBezTo>
                  <a:cubicBezTo>
                    <a:pt x="4427" y="16822"/>
                    <a:pt x="3469" y="16175"/>
                    <a:pt x="2644" y="15353"/>
                  </a:cubicBezTo>
                  <a:cubicBezTo>
                    <a:pt x="1816" y="14534"/>
                    <a:pt x="1172" y="13580"/>
                    <a:pt x="700" y="12487"/>
                  </a:cubicBezTo>
                  <a:cubicBezTo>
                    <a:pt x="231" y="11400"/>
                    <a:pt x="0" y="10236"/>
                    <a:pt x="0" y="8999"/>
                  </a:cubicBezTo>
                  <a:cubicBezTo>
                    <a:pt x="0" y="7768"/>
                    <a:pt x="231" y="6602"/>
                    <a:pt x="700" y="5515"/>
                  </a:cubicBezTo>
                  <a:cubicBezTo>
                    <a:pt x="1169" y="4422"/>
                    <a:pt x="1816" y="3467"/>
                    <a:pt x="2644" y="2645"/>
                  </a:cubicBezTo>
                  <a:cubicBezTo>
                    <a:pt x="3469" y="1827"/>
                    <a:pt x="4424" y="1180"/>
                    <a:pt x="5512" y="708"/>
                  </a:cubicBezTo>
                  <a:cubicBezTo>
                    <a:pt x="6600" y="237"/>
                    <a:pt x="7764" y="0"/>
                    <a:pt x="9007" y="0"/>
                  </a:cubicBezTo>
                  <a:cubicBezTo>
                    <a:pt x="10244" y="0"/>
                    <a:pt x="11403" y="237"/>
                    <a:pt x="12488" y="708"/>
                  </a:cubicBezTo>
                  <a:cubicBezTo>
                    <a:pt x="13573" y="1180"/>
                    <a:pt x="14530" y="1827"/>
                    <a:pt x="15358" y="2645"/>
                  </a:cubicBezTo>
                  <a:cubicBezTo>
                    <a:pt x="16183" y="3467"/>
                    <a:pt x="16830" y="4422"/>
                    <a:pt x="17299" y="5515"/>
                  </a:cubicBezTo>
                  <a:cubicBezTo>
                    <a:pt x="17768" y="6602"/>
                    <a:pt x="18003" y="7768"/>
                    <a:pt x="18003" y="8999"/>
                  </a:cubicBezTo>
                  <a:cubicBezTo>
                    <a:pt x="18003" y="9886"/>
                    <a:pt x="17873" y="10747"/>
                    <a:pt x="17616" y="11589"/>
                  </a:cubicBezTo>
                  <a:cubicBezTo>
                    <a:pt x="17359" y="12433"/>
                    <a:pt x="16991" y="13218"/>
                    <a:pt x="16514" y="13947"/>
                  </a:cubicBezTo>
                  <a:lnTo>
                    <a:pt x="21357" y="18801"/>
                  </a:lnTo>
                  <a:close/>
                  <a:moveTo>
                    <a:pt x="3596" y="8999"/>
                  </a:moveTo>
                  <a:cubicBezTo>
                    <a:pt x="3596" y="9759"/>
                    <a:pt x="3740" y="10465"/>
                    <a:pt x="4028" y="11117"/>
                  </a:cubicBezTo>
                  <a:cubicBezTo>
                    <a:pt x="4317" y="11770"/>
                    <a:pt x="4707" y="12337"/>
                    <a:pt x="5193" y="12820"/>
                  </a:cubicBezTo>
                  <a:cubicBezTo>
                    <a:pt x="5679" y="13300"/>
                    <a:pt x="6252" y="13684"/>
                    <a:pt x="6908" y="13969"/>
                  </a:cubicBezTo>
                  <a:cubicBezTo>
                    <a:pt x="7566" y="14252"/>
                    <a:pt x="8264" y="14393"/>
                    <a:pt x="9004" y="14393"/>
                  </a:cubicBezTo>
                  <a:cubicBezTo>
                    <a:pt x="9744" y="14393"/>
                    <a:pt x="10439" y="14252"/>
                    <a:pt x="11092" y="13969"/>
                  </a:cubicBezTo>
                  <a:cubicBezTo>
                    <a:pt x="11745" y="13684"/>
                    <a:pt x="12318" y="13300"/>
                    <a:pt x="12801" y="12820"/>
                  </a:cubicBezTo>
                  <a:cubicBezTo>
                    <a:pt x="13290" y="12337"/>
                    <a:pt x="13677" y="11770"/>
                    <a:pt x="13965" y="11117"/>
                  </a:cubicBezTo>
                  <a:cubicBezTo>
                    <a:pt x="14254" y="10465"/>
                    <a:pt x="14398" y="9759"/>
                    <a:pt x="14398" y="8999"/>
                  </a:cubicBezTo>
                  <a:cubicBezTo>
                    <a:pt x="14398" y="8259"/>
                    <a:pt x="14254" y="7565"/>
                    <a:pt x="13965" y="6912"/>
                  </a:cubicBezTo>
                  <a:cubicBezTo>
                    <a:pt x="13674" y="6257"/>
                    <a:pt x="13290" y="5684"/>
                    <a:pt x="12801" y="5192"/>
                  </a:cubicBezTo>
                  <a:cubicBezTo>
                    <a:pt x="12315" y="4704"/>
                    <a:pt x="11745" y="4317"/>
                    <a:pt x="11092" y="4032"/>
                  </a:cubicBezTo>
                  <a:cubicBezTo>
                    <a:pt x="10439" y="3749"/>
                    <a:pt x="9741" y="3605"/>
                    <a:pt x="9004" y="3605"/>
                  </a:cubicBezTo>
                  <a:cubicBezTo>
                    <a:pt x="8267" y="3605"/>
                    <a:pt x="7566" y="3749"/>
                    <a:pt x="6908" y="4032"/>
                  </a:cubicBezTo>
                  <a:cubicBezTo>
                    <a:pt x="6252" y="4317"/>
                    <a:pt x="5676" y="4704"/>
                    <a:pt x="5193" y="5192"/>
                  </a:cubicBezTo>
                  <a:cubicBezTo>
                    <a:pt x="4707" y="5684"/>
                    <a:pt x="4317" y="6257"/>
                    <a:pt x="4028" y="6912"/>
                  </a:cubicBezTo>
                  <a:cubicBezTo>
                    <a:pt x="3740" y="7565"/>
                    <a:pt x="3596" y="8256"/>
                    <a:pt x="3596" y="8999"/>
                  </a:cubicBezTo>
                  <a:moveTo>
                    <a:pt x="9007" y="5591"/>
                  </a:moveTo>
                  <a:cubicBezTo>
                    <a:pt x="9185" y="5591"/>
                    <a:pt x="9343" y="5656"/>
                    <a:pt x="9473" y="5785"/>
                  </a:cubicBezTo>
                  <a:cubicBezTo>
                    <a:pt x="9603" y="5918"/>
                    <a:pt x="9668" y="6082"/>
                    <a:pt x="9668" y="6279"/>
                  </a:cubicBezTo>
                  <a:cubicBezTo>
                    <a:pt x="9668" y="6460"/>
                    <a:pt x="9603" y="6616"/>
                    <a:pt x="9473" y="6745"/>
                  </a:cubicBezTo>
                  <a:cubicBezTo>
                    <a:pt x="9343" y="6878"/>
                    <a:pt x="9185" y="6943"/>
                    <a:pt x="9007" y="6943"/>
                  </a:cubicBezTo>
                  <a:cubicBezTo>
                    <a:pt x="8439" y="6943"/>
                    <a:pt x="7953" y="7144"/>
                    <a:pt x="7552" y="7536"/>
                  </a:cubicBezTo>
                  <a:cubicBezTo>
                    <a:pt x="7151" y="7934"/>
                    <a:pt x="6950" y="8423"/>
                    <a:pt x="6950" y="8996"/>
                  </a:cubicBezTo>
                  <a:cubicBezTo>
                    <a:pt x="6950" y="9180"/>
                    <a:pt x="6885" y="9332"/>
                    <a:pt x="6755" y="9465"/>
                  </a:cubicBezTo>
                  <a:cubicBezTo>
                    <a:pt x="6622" y="9595"/>
                    <a:pt x="6467" y="9657"/>
                    <a:pt x="6289" y="9657"/>
                  </a:cubicBezTo>
                  <a:cubicBezTo>
                    <a:pt x="6080" y="9657"/>
                    <a:pt x="5913" y="9595"/>
                    <a:pt x="5786" y="9465"/>
                  </a:cubicBezTo>
                  <a:cubicBezTo>
                    <a:pt x="5659" y="9332"/>
                    <a:pt x="5599" y="9180"/>
                    <a:pt x="5599" y="8996"/>
                  </a:cubicBezTo>
                  <a:cubicBezTo>
                    <a:pt x="5599" y="8539"/>
                    <a:pt x="5684" y="8104"/>
                    <a:pt x="5862" y="7686"/>
                  </a:cubicBezTo>
                  <a:cubicBezTo>
                    <a:pt x="6037" y="7271"/>
                    <a:pt x="6280" y="6907"/>
                    <a:pt x="6597" y="6590"/>
                  </a:cubicBezTo>
                  <a:cubicBezTo>
                    <a:pt x="6905" y="6277"/>
                    <a:pt x="7264" y="6028"/>
                    <a:pt x="7676" y="5856"/>
                  </a:cubicBezTo>
                  <a:cubicBezTo>
                    <a:pt x="8086" y="5681"/>
                    <a:pt x="8529" y="5591"/>
                    <a:pt x="9007" y="5591"/>
                  </a:cubicBezTo>
                </a:path>
              </a:pathLst>
            </a:custGeom>
            <a:solidFill>
              <a:srgbClr val="404040"/>
            </a:solidFill>
            <a:ln>
              <a:noFill/>
            </a:ln>
            <a:effectLst/>
          </p:spPr>
          <p:txBody>
            <a:bodyPr lIns="101578" tIns="101578" rIns="101578" bIns="101578" anchor="ctr"/>
            <a:lstStyle/>
            <a:p>
              <a:pPr defTabSz="91419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 sz="5800" dirty="0">
                <a:solidFill>
                  <a:srgbClr val="44C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ea typeface="+mn-ea"/>
                <a:cs typeface="Gill Sans" charset="0"/>
                <a:sym typeface="Gill S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6292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6144" y="1662658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4194" y="1662658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980094" y="1129258"/>
            <a:ext cx="35930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）基本思想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19"/>
          <p:cNvSpPr txBox="1">
            <a:spLocks noChangeArrowheads="1"/>
          </p:cNvSpPr>
          <p:nvPr/>
        </p:nvSpPr>
        <p:spPr bwMode="auto">
          <a:xfrm>
            <a:off x="1090267" y="1895059"/>
            <a:ext cx="953418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允许作业存放在若干个不相邻的分区中，既可免去移动内存信息而产生的工作量，又可充分利用主存空间，尽量减少主存碎片。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将一个进程直接分散地分配到许多不相邻的分区中。</a:t>
            </a:r>
          </a:p>
        </p:txBody>
      </p:sp>
      <p:sp>
        <p:nvSpPr>
          <p:cNvPr id="48" name="矩形 47"/>
          <p:cNvSpPr/>
          <p:nvPr/>
        </p:nvSpPr>
        <p:spPr>
          <a:xfrm>
            <a:off x="1126144" y="3630302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2034194" y="3630302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1" name="文本框 55"/>
          <p:cNvSpPr txBox="1">
            <a:spLocks noChangeArrowheads="1"/>
          </p:cNvSpPr>
          <p:nvPr/>
        </p:nvSpPr>
        <p:spPr bwMode="auto">
          <a:xfrm>
            <a:off x="980094" y="3096902"/>
            <a:ext cx="35930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）离散分配的三种方式</a:t>
            </a:r>
          </a:p>
        </p:txBody>
      </p:sp>
      <p:sp>
        <p:nvSpPr>
          <p:cNvPr id="52" name="文本框 19"/>
          <p:cNvSpPr txBox="1">
            <a:spLocks noChangeArrowheads="1"/>
          </p:cNvSpPr>
          <p:nvPr/>
        </p:nvSpPr>
        <p:spPr bwMode="auto">
          <a:xfrm>
            <a:off x="1090267" y="3862703"/>
            <a:ext cx="953418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分页存储管理（考虑存储器利用率）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分段存储管理（考虑用户要求）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段页式存储管理</a:t>
            </a:r>
            <a:r>
              <a:rPr lang="en-US" altLang="zh-CN" sz="2400" dirty="0"/>
              <a:t>(</a:t>
            </a:r>
            <a:r>
              <a:rPr lang="zh-CN" altLang="en-US" sz="2400" dirty="0"/>
              <a:t>考虑存储器利用率和用户要求</a:t>
            </a:r>
            <a:r>
              <a:rPr lang="en-US" altLang="zh-CN" sz="2400" dirty="0"/>
              <a:t>)</a:t>
            </a:r>
            <a:endParaRPr lang="en-US" altLang="zh-CN" sz="2000" dirty="0"/>
          </a:p>
        </p:txBody>
      </p:sp>
      <p:sp>
        <p:nvSpPr>
          <p:cNvPr id="16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离散分配</a:t>
            </a:r>
          </a:p>
        </p:txBody>
      </p:sp>
    </p:spTree>
    <p:extLst>
      <p:ext uri="{BB962C8B-B14F-4D97-AF65-F5344CB8AC3E}">
        <p14:creationId xmlns:p14="http://schemas.microsoft.com/office/powerpoint/2010/main" val="1393988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6144" y="1662658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4194" y="1662658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980094" y="1129258"/>
            <a:ext cx="35930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）页面和物理块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19"/>
          <p:cNvSpPr txBox="1">
            <a:spLocks noChangeArrowheads="1"/>
          </p:cNvSpPr>
          <p:nvPr/>
        </p:nvSpPr>
        <p:spPr bwMode="auto">
          <a:xfrm>
            <a:off x="1061239" y="2344993"/>
            <a:ext cx="105937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将一个进程的逻辑地址空间分成若干个大小相等的片，称为页面</a:t>
            </a:r>
            <a:r>
              <a:rPr lang="en-US" altLang="zh-CN" sz="2400" dirty="0"/>
              <a:t>(page)</a:t>
            </a:r>
            <a:r>
              <a:rPr lang="zh-CN" altLang="en-US" sz="2400" dirty="0"/>
              <a:t>或页。</a:t>
            </a:r>
          </a:p>
        </p:txBody>
      </p:sp>
      <p:sp>
        <p:nvSpPr>
          <p:cNvPr id="16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38475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分页存储管理的基本方法</a:t>
            </a:r>
          </a:p>
        </p:txBody>
      </p:sp>
      <p:sp>
        <p:nvSpPr>
          <p:cNvPr id="17" name="文本框 52"/>
          <p:cNvSpPr txBox="1">
            <a:spLocks noChangeArrowheads="1"/>
          </p:cNvSpPr>
          <p:nvPr/>
        </p:nvSpPr>
        <p:spPr bwMode="auto">
          <a:xfrm>
            <a:off x="1058313" y="1898280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页面：</a:t>
            </a:r>
          </a:p>
        </p:txBody>
      </p:sp>
      <p:sp>
        <p:nvSpPr>
          <p:cNvPr id="18" name="文本框 19"/>
          <p:cNvSpPr txBox="1">
            <a:spLocks noChangeArrowheads="1"/>
          </p:cNvSpPr>
          <p:nvPr/>
        </p:nvSpPr>
        <p:spPr bwMode="auto">
          <a:xfrm>
            <a:off x="1061239" y="3244257"/>
            <a:ext cx="1059373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把内存空间分成与页面相同大小的若干个存储块，称为（物理）块或页框</a:t>
            </a:r>
            <a:r>
              <a:rPr lang="en-US" altLang="zh-CN" sz="2400" dirty="0"/>
              <a:t>( frame)</a:t>
            </a:r>
            <a:r>
              <a:rPr lang="zh-CN" altLang="en-US" sz="2400" dirty="0"/>
              <a:t>。</a:t>
            </a:r>
          </a:p>
        </p:txBody>
      </p:sp>
      <p:sp>
        <p:nvSpPr>
          <p:cNvPr id="19" name="文本框 52"/>
          <p:cNvSpPr txBox="1">
            <a:spLocks noChangeArrowheads="1"/>
          </p:cNvSpPr>
          <p:nvPr/>
        </p:nvSpPr>
        <p:spPr bwMode="auto">
          <a:xfrm>
            <a:off x="1058313" y="2826572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物理块：</a:t>
            </a:r>
          </a:p>
        </p:txBody>
      </p:sp>
      <p:sp>
        <p:nvSpPr>
          <p:cNvPr id="20" name="文本框 19"/>
          <p:cNvSpPr txBox="1">
            <a:spLocks noChangeArrowheads="1"/>
          </p:cNvSpPr>
          <p:nvPr/>
        </p:nvSpPr>
        <p:spPr bwMode="auto">
          <a:xfrm>
            <a:off x="1017697" y="4917838"/>
            <a:ext cx="1059373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在为进程分配内存时,以块为单位将进程中的若干页分别装入多个可以不相邻接的块中。</a:t>
            </a:r>
          </a:p>
          <a:p>
            <a:pPr marL="0" lvl="2" indent="0">
              <a:buBlip>
                <a:blip r:embed="rId3"/>
              </a:buBlip>
            </a:pPr>
            <a:endParaRPr lang="zh-CN" altLang="en-US" sz="2400" dirty="0"/>
          </a:p>
        </p:txBody>
      </p:sp>
      <p:sp>
        <p:nvSpPr>
          <p:cNvPr id="22" name="文本框 52"/>
          <p:cNvSpPr txBox="1">
            <a:spLocks noChangeArrowheads="1"/>
          </p:cNvSpPr>
          <p:nvPr/>
        </p:nvSpPr>
        <p:spPr bwMode="auto">
          <a:xfrm>
            <a:off x="1029285" y="4529181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分页存储：</a:t>
            </a:r>
          </a:p>
        </p:txBody>
      </p:sp>
      <p:sp>
        <p:nvSpPr>
          <p:cNvPr id="23" name="文本框 19"/>
          <p:cNvSpPr txBox="1">
            <a:spLocks noChangeArrowheads="1"/>
          </p:cNvSpPr>
          <p:nvPr/>
        </p:nvSpPr>
        <p:spPr bwMode="auto">
          <a:xfrm>
            <a:off x="1003183" y="6194466"/>
            <a:ext cx="105937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进程的最后一页经常装不满一块而形成了不可利用的碎片。</a:t>
            </a:r>
          </a:p>
        </p:txBody>
      </p:sp>
      <p:sp>
        <p:nvSpPr>
          <p:cNvPr id="24" name="文本框 52"/>
          <p:cNvSpPr txBox="1">
            <a:spLocks noChangeArrowheads="1"/>
          </p:cNvSpPr>
          <p:nvPr/>
        </p:nvSpPr>
        <p:spPr bwMode="auto">
          <a:xfrm>
            <a:off x="1000257" y="5704211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页内碎片：</a:t>
            </a:r>
          </a:p>
        </p:txBody>
      </p:sp>
      <p:sp>
        <p:nvSpPr>
          <p:cNvPr id="25" name="文本框 52"/>
          <p:cNvSpPr txBox="1">
            <a:spLocks noChangeArrowheads="1"/>
          </p:cNvSpPr>
          <p:nvPr/>
        </p:nvSpPr>
        <p:spPr bwMode="auto">
          <a:xfrm>
            <a:off x="1051059" y="4042965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顺序编号：</a:t>
            </a:r>
          </a:p>
        </p:txBody>
      </p:sp>
      <p:sp>
        <p:nvSpPr>
          <p:cNvPr id="26" name="AutoShape 22"/>
          <p:cNvSpPr>
            <a:spLocks noChangeArrowheads="1"/>
          </p:cNvSpPr>
          <p:nvPr/>
        </p:nvSpPr>
        <p:spPr bwMode="auto">
          <a:xfrm>
            <a:off x="7289852" y="1148630"/>
            <a:ext cx="3639405" cy="1028056"/>
          </a:xfrm>
          <a:prstGeom prst="wedgeRoundRectCallout">
            <a:avLst>
              <a:gd name="adj1" fmla="val -52782"/>
              <a:gd name="adj2" fmla="val 68091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en-US" sz="2200" b="1" dirty="0">
                <a:solidFill>
                  <a:schemeClr val="accent2"/>
                </a:solidFill>
              </a:rPr>
              <a:t>页面大小：</a:t>
            </a:r>
            <a:endParaRPr lang="en-US" altLang="zh-CN" sz="2200" b="1" dirty="0">
              <a:solidFill>
                <a:schemeClr val="accent2"/>
              </a:solidFill>
            </a:endParaRP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en-US" sz="2000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2000" baseline="60000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n</a:t>
            </a: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 Bytes 一般在：512B ~ 8K</a:t>
            </a:r>
          </a:p>
        </p:txBody>
      </p:sp>
    </p:spTree>
    <p:extLst>
      <p:ext uri="{BB962C8B-B14F-4D97-AF65-F5344CB8AC3E}">
        <p14:creationId xmlns:p14="http://schemas.microsoft.com/office/powerpoint/2010/main" val="3012545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17" grpId="0"/>
      <p:bldP spid="18" grpId="0"/>
      <p:bldP spid="19" grpId="0"/>
      <p:bldP spid="20" grpId="0"/>
      <p:bldP spid="22" grpId="0"/>
      <p:bldP spid="23" grpId="0"/>
      <p:bldP spid="24" grpId="0"/>
      <p:bldP spid="25" grpId="0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6144" y="1662658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4194" y="1662658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980094" y="1129258"/>
            <a:ext cx="35930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）地址结构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19"/>
          <p:cNvSpPr txBox="1">
            <a:spLocks noChangeArrowheads="1"/>
          </p:cNvSpPr>
          <p:nvPr/>
        </p:nvSpPr>
        <p:spPr bwMode="auto">
          <a:xfrm>
            <a:off x="1090267" y="2374021"/>
            <a:ext cx="10593733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800" dirty="0"/>
              <a:t>一页的大小为</a:t>
            </a:r>
            <a:r>
              <a:rPr lang="en-US" altLang="zh-CN" sz="2800" dirty="0"/>
              <a:t>2</a:t>
            </a:r>
            <a:r>
              <a:rPr lang="zh-CN" altLang="en-US" sz="2800" dirty="0"/>
              <a:t>的整数次幂</a:t>
            </a:r>
            <a:endParaRPr lang="en-US" altLang="zh-CN" sz="28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800" dirty="0"/>
              <a:t>地址的高位部分为页号</a:t>
            </a:r>
            <a:endParaRPr lang="en-US" altLang="zh-CN" sz="28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800" dirty="0"/>
              <a:t>低位部分为页内地址</a:t>
            </a:r>
          </a:p>
        </p:txBody>
      </p:sp>
      <p:sp>
        <p:nvSpPr>
          <p:cNvPr id="16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38475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分页存储管理的基本方法</a:t>
            </a:r>
          </a:p>
        </p:txBody>
      </p:sp>
      <p:sp>
        <p:nvSpPr>
          <p:cNvPr id="17" name="文本框 52"/>
          <p:cNvSpPr txBox="1">
            <a:spLocks noChangeArrowheads="1"/>
          </p:cNvSpPr>
          <p:nvPr/>
        </p:nvSpPr>
        <p:spPr bwMode="auto">
          <a:xfrm>
            <a:off x="1058313" y="1898280"/>
            <a:ext cx="441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分页地址结构：页号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页内地址</a:t>
            </a:r>
          </a:p>
        </p:txBody>
      </p:sp>
      <p:sp>
        <p:nvSpPr>
          <p:cNvPr id="20" name="文本框 19"/>
          <p:cNvSpPr txBox="1">
            <a:spLocks noChangeArrowheads="1"/>
          </p:cNvSpPr>
          <p:nvPr/>
        </p:nvSpPr>
        <p:spPr bwMode="auto">
          <a:xfrm>
            <a:off x="1118403" y="5537525"/>
            <a:ext cx="101216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800" dirty="0"/>
              <a:t>页面大小为：</a:t>
            </a:r>
            <a:r>
              <a:rPr lang="en-US" altLang="zh-CN" sz="2800" dirty="0"/>
              <a:t>2</a:t>
            </a:r>
            <a:r>
              <a:rPr lang="en-US" altLang="zh-CN" sz="2800" baseline="30000" dirty="0"/>
              <a:t>12</a:t>
            </a:r>
            <a:r>
              <a:rPr lang="en-US" altLang="zh-CN" sz="2800" dirty="0"/>
              <a:t>=4KB     </a:t>
            </a:r>
            <a:r>
              <a:rPr lang="zh-CN" altLang="en-US" sz="2800" dirty="0"/>
              <a:t>空间最多允许有</a:t>
            </a:r>
            <a:r>
              <a:rPr lang="en-US" altLang="zh-CN" sz="2800" dirty="0"/>
              <a:t>1M页：2</a:t>
            </a:r>
            <a:r>
              <a:rPr lang="en-US" altLang="zh-CN" sz="2800" baseline="30000" dirty="0"/>
              <a:t>20</a:t>
            </a:r>
            <a:r>
              <a:rPr lang="en-US" altLang="zh-CN" sz="2800" dirty="0"/>
              <a:t>=1M</a:t>
            </a:r>
            <a:endParaRPr lang="zh-CN" altLang="en-US" sz="2800" dirty="0"/>
          </a:p>
        </p:txBody>
      </p:sp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726" y="1671776"/>
            <a:ext cx="5761037" cy="265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AutoShape 7"/>
          <p:cNvSpPr>
            <a:spLocks/>
          </p:cNvSpPr>
          <p:nvPr/>
        </p:nvSpPr>
        <p:spPr bwMode="auto">
          <a:xfrm rot="16200000">
            <a:off x="8532019" y="1955146"/>
            <a:ext cx="431800" cy="5329237"/>
          </a:xfrm>
          <a:prstGeom prst="leftBrace">
            <a:avLst>
              <a:gd name="adj1" fmla="val 10284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" name="Text Box 9"/>
          <p:cNvSpPr txBox="1">
            <a:spLocks noChangeArrowheads="1"/>
          </p:cNvSpPr>
          <p:nvPr/>
        </p:nvSpPr>
        <p:spPr bwMode="auto">
          <a:xfrm>
            <a:off x="8099425" y="4908690"/>
            <a:ext cx="1408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/>
              <a:t>32</a:t>
            </a:r>
            <a:r>
              <a:rPr lang="zh-CN" altLang="en-US" b="1"/>
              <a:t>位地址</a:t>
            </a:r>
          </a:p>
        </p:txBody>
      </p:sp>
    </p:spTree>
    <p:extLst>
      <p:ext uri="{BB962C8B-B14F-4D97-AF65-F5344CB8AC3E}">
        <p14:creationId xmlns:p14="http://schemas.microsoft.com/office/powerpoint/2010/main" val="3632389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17" grpId="0"/>
      <p:bldP spid="20" grpId="0"/>
      <p:bldP spid="32" grpId="0" animBg="1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6144" y="1662658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4194" y="1662658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980094" y="1129258"/>
            <a:ext cx="35930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）地址结构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38475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分页存储管理的基本方法</a:t>
            </a:r>
          </a:p>
        </p:txBody>
      </p:sp>
      <p:sp>
        <p:nvSpPr>
          <p:cNvPr id="23" name="文本框 19"/>
          <p:cNvSpPr txBox="1">
            <a:spLocks noChangeArrowheads="1"/>
          </p:cNvSpPr>
          <p:nvPr/>
        </p:nvSpPr>
        <p:spPr bwMode="auto">
          <a:xfrm>
            <a:off x="1090267" y="2530987"/>
            <a:ext cx="5556830" cy="198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800" dirty="0"/>
              <a:t>设</a:t>
            </a:r>
            <a:r>
              <a:rPr lang="en-US" altLang="zh-CN" sz="2800" dirty="0"/>
              <a:t>A — </a:t>
            </a:r>
            <a:r>
              <a:rPr lang="zh-CN" altLang="en-US" sz="2800" dirty="0"/>
              <a:t>逻辑地址空间中的地址    </a:t>
            </a:r>
            <a:endParaRPr lang="en-US" altLang="zh-CN" sz="2800" dirty="0"/>
          </a:p>
          <a:p>
            <a:pPr marL="0" lvl="2" indent="0"/>
            <a:r>
              <a:rPr lang="en-US" altLang="zh-CN" sz="2800" dirty="0"/>
              <a:t>        L — </a:t>
            </a:r>
            <a:r>
              <a:rPr lang="zh-CN" altLang="en-US" sz="2800" dirty="0"/>
              <a:t>页面大小 </a:t>
            </a:r>
          </a:p>
          <a:p>
            <a:pPr lvl="1">
              <a:lnSpc>
                <a:spcPct val="120000"/>
              </a:lnSpc>
            </a:pPr>
            <a:r>
              <a:rPr lang="zh-CN" altLang="en-US" sz="2800" dirty="0"/>
              <a:t>则       </a:t>
            </a:r>
            <a:r>
              <a:rPr lang="zh-CN" altLang="en-US" sz="2800" b="1" dirty="0">
                <a:solidFill>
                  <a:schemeClr val="accent2"/>
                </a:solidFill>
              </a:rPr>
              <a:t>页号</a:t>
            </a:r>
            <a:r>
              <a:rPr lang="en-US" altLang="zh-CN" sz="2800" b="1" dirty="0">
                <a:solidFill>
                  <a:schemeClr val="accent2"/>
                </a:solidFill>
              </a:rPr>
              <a:t>P</a:t>
            </a:r>
            <a:r>
              <a:rPr lang="en-US" altLang="zh-CN" sz="2800" dirty="0"/>
              <a:t> = INT [ A / L ]</a:t>
            </a:r>
          </a:p>
          <a:p>
            <a:pPr lvl="1">
              <a:lnSpc>
                <a:spcPct val="120000"/>
              </a:lnSpc>
            </a:pPr>
            <a:r>
              <a:rPr lang="en-US" altLang="zh-CN" sz="2800" dirty="0"/>
              <a:t>           </a:t>
            </a:r>
            <a:r>
              <a:rPr lang="en-US" altLang="zh-CN" sz="2800" b="1" dirty="0" err="1">
                <a:solidFill>
                  <a:schemeClr val="accent2"/>
                </a:solidFill>
              </a:rPr>
              <a:t>页内地址d</a:t>
            </a:r>
            <a:r>
              <a:rPr lang="en-US" altLang="zh-CN" sz="2800" dirty="0"/>
              <a:t> = [A] MOD L </a:t>
            </a:r>
          </a:p>
        </p:txBody>
      </p:sp>
      <p:sp>
        <p:nvSpPr>
          <p:cNvPr id="24" name="文本框 52"/>
          <p:cNvSpPr txBox="1">
            <a:spLocks noChangeArrowheads="1"/>
          </p:cNvSpPr>
          <p:nvPr/>
        </p:nvSpPr>
        <p:spPr bwMode="auto">
          <a:xfrm>
            <a:off x="1090267" y="1991901"/>
            <a:ext cx="36695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页号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和页内地址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的求法</a:t>
            </a:r>
          </a:p>
        </p:txBody>
      </p:sp>
      <p:sp>
        <p:nvSpPr>
          <p:cNvPr id="35" name="文本框 19"/>
          <p:cNvSpPr txBox="1">
            <a:spLocks noChangeArrowheads="1"/>
          </p:cNvSpPr>
          <p:nvPr/>
        </p:nvSpPr>
        <p:spPr bwMode="auto">
          <a:xfrm>
            <a:off x="1090266" y="4529652"/>
            <a:ext cx="5873241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800" dirty="0"/>
              <a:t>例 ：</a:t>
            </a:r>
            <a:endParaRPr lang="en-US" altLang="zh-CN" sz="2800" dirty="0"/>
          </a:p>
          <a:p>
            <a:pPr marL="0" lvl="2" indent="0"/>
            <a:r>
              <a:rPr lang="en-US" altLang="zh-CN" sz="2800" dirty="0"/>
              <a:t>A = 1502 B       L = 1 KB</a:t>
            </a:r>
          </a:p>
          <a:p>
            <a:pPr marL="0" lvl="2" indent="0"/>
            <a:r>
              <a:rPr lang="en-US" altLang="zh-CN" sz="2800" dirty="0"/>
              <a:t>P = INT [ A / L ] = INT [1502/1024 ] = 1</a:t>
            </a:r>
          </a:p>
          <a:p>
            <a:pPr marL="0" lvl="2" indent="0"/>
            <a:r>
              <a:rPr lang="en-US" altLang="zh-CN" sz="2800" dirty="0"/>
              <a:t>d = [ A ] MOD L = [ 1502 ] MOD 1024 =478</a:t>
            </a:r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777" y="212725"/>
            <a:ext cx="2855913" cy="634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6709" y="212725"/>
            <a:ext cx="2322513" cy="657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4216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6144" y="1662658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4194" y="1662658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980094" y="1129258"/>
            <a:ext cx="35930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）页表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19"/>
          <p:cNvSpPr txBox="1">
            <a:spLocks noChangeArrowheads="1"/>
          </p:cNvSpPr>
          <p:nvPr/>
        </p:nvSpPr>
        <p:spPr bwMode="auto">
          <a:xfrm>
            <a:off x="1090268" y="1866031"/>
            <a:ext cx="4244432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5"/>
              </a:buBlip>
            </a:pPr>
            <a:r>
              <a:rPr lang="zh-CN" altLang="en-US" sz="2800" dirty="0"/>
              <a:t>实现从页号到物理块号的地址映射。</a:t>
            </a:r>
          </a:p>
          <a:p>
            <a:pPr marL="0" lvl="2" indent="0">
              <a:buBlip>
                <a:blip r:embed="rId5"/>
              </a:buBlip>
            </a:pPr>
            <a:r>
              <a:rPr lang="zh-CN" altLang="en-US" sz="2800" dirty="0"/>
              <a:t>页表中存放着块号，通常还包括一存取控制字段。</a:t>
            </a:r>
            <a:endParaRPr lang="en-US" altLang="zh-CN" sz="2800" dirty="0"/>
          </a:p>
          <a:p>
            <a:pPr marL="0" lvl="2" indent="0">
              <a:buBlip>
                <a:blip r:embed="rId5"/>
              </a:buBlip>
            </a:pPr>
            <a:r>
              <a:rPr lang="zh-CN" altLang="en-US" sz="2800" dirty="0"/>
              <a:t>系统为每个进程建立的一张页面映射表。</a:t>
            </a:r>
          </a:p>
        </p:txBody>
      </p:sp>
      <p:sp>
        <p:nvSpPr>
          <p:cNvPr id="16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38475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分页存储管理的基本方法</a:t>
            </a:r>
          </a:p>
        </p:txBody>
      </p:sp>
      <p:sp>
        <p:nvSpPr>
          <p:cNvPr id="22" name="Rectangle 2"/>
          <p:cNvSpPr>
            <a:spLocks noChangeArrowheads="1"/>
          </p:cNvSpPr>
          <p:nvPr/>
        </p:nvSpPr>
        <p:spPr bwMode="auto">
          <a:xfrm>
            <a:off x="4648900" y="1114322"/>
            <a:ext cx="77724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85000"/>
              <a:buFont typeface="Wingdings" pitchFamily="2" charset="2"/>
              <a:buChar char="°"/>
              <a:defRPr sz="3200">
                <a:solidFill>
                  <a:schemeClr val="bg2"/>
                </a:solidFill>
                <a:latin typeface="Arial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85000"/>
              <a:buFont typeface="Wingdings" pitchFamily="2" charset="2"/>
              <a:buChar char="±"/>
              <a:defRPr sz="2800">
                <a:solidFill>
                  <a:schemeClr val="bg2"/>
                </a:solidFill>
                <a:latin typeface="Arial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85000"/>
              <a:buFont typeface="Wingdings" pitchFamily="2" charset="2"/>
              <a:buChar char="²"/>
              <a:defRPr sz="2400">
                <a:solidFill>
                  <a:schemeClr val="bg2"/>
                </a:solidFill>
                <a:latin typeface="Arial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SzPct val="85000"/>
              <a:buFont typeface="Wingdings" pitchFamily="2" charset="2"/>
              <a:buChar char="l"/>
              <a:defRPr sz="2000">
                <a:solidFill>
                  <a:schemeClr val="bg2"/>
                </a:solidFill>
                <a:latin typeface="Arial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SzPct val="85000"/>
              <a:buFont typeface="Wingdings" pitchFamily="2" charset="2"/>
              <a:buChar char="l"/>
              <a:defRPr sz="2000">
                <a:solidFill>
                  <a:schemeClr val="bg2"/>
                </a:solidFill>
                <a:latin typeface="Arial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itchFamily="2" charset="2"/>
              <a:buChar char="l"/>
              <a:defRPr sz="2000">
                <a:solidFill>
                  <a:schemeClr val="bg2"/>
                </a:solidFill>
                <a:latin typeface="Arial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itchFamily="2" charset="2"/>
              <a:buChar char="l"/>
              <a:defRPr sz="2000">
                <a:solidFill>
                  <a:schemeClr val="bg2"/>
                </a:solidFill>
                <a:latin typeface="Arial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itchFamily="2" charset="2"/>
              <a:buChar char="l"/>
              <a:defRPr sz="2000">
                <a:solidFill>
                  <a:schemeClr val="bg2"/>
                </a:solidFill>
                <a:latin typeface="Arial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5000"/>
              <a:buFont typeface="Wingdings" pitchFamily="2" charset="2"/>
              <a:buChar char="l"/>
              <a:defRPr sz="2000">
                <a:solidFill>
                  <a:schemeClr val="bg2"/>
                </a:solidFill>
                <a:latin typeface="Arial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itchFamily="34" charset="0"/>
              <a:buNone/>
            </a:pPr>
            <a:endParaRPr lang="zh-CN" altLang="zh-CN" sz="2400">
              <a:solidFill>
                <a:schemeClr val="tx1"/>
              </a:solidFill>
              <a:latin typeface="Times New Roman" pitchFamily="18" charset="0"/>
              <a:ea typeface="黑体" pitchFamily="49" charset="-122"/>
            </a:endParaRPr>
          </a:p>
        </p:txBody>
      </p:sp>
      <p:grpSp>
        <p:nvGrpSpPr>
          <p:cNvPr id="25" name="Group 4"/>
          <p:cNvGrpSpPr>
            <a:grpSpLocks/>
          </p:cNvGrpSpPr>
          <p:nvPr/>
        </p:nvGrpSpPr>
        <p:grpSpPr bwMode="auto">
          <a:xfrm>
            <a:off x="10767125" y="1187347"/>
            <a:ext cx="990600" cy="4343400"/>
            <a:chOff x="0" y="0"/>
            <a:chExt cx="624" cy="2736"/>
          </a:xfrm>
        </p:grpSpPr>
        <p:grpSp>
          <p:nvGrpSpPr>
            <p:cNvPr id="26" name="Group 5"/>
            <p:cNvGrpSpPr>
              <a:grpSpLocks/>
            </p:cNvGrpSpPr>
            <p:nvPr/>
          </p:nvGrpSpPr>
          <p:grpSpPr bwMode="auto">
            <a:xfrm>
              <a:off x="0" y="240"/>
              <a:ext cx="624" cy="2496"/>
              <a:chOff x="0" y="0"/>
              <a:chExt cx="624" cy="2496"/>
            </a:xfrm>
          </p:grpSpPr>
          <p:sp>
            <p:nvSpPr>
              <p:cNvPr id="36" name="Rectangle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624" cy="192"/>
              </a:xfrm>
              <a:prstGeom prst="rect">
                <a:avLst/>
              </a:prstGeom>
              <a:solidFill>
                <a:srgbClr val="663300"/>
              </a:solidFill>
              <a:ln w="9525">
                <a:solidFill>
                  <a:srgbClr val="FF33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zh-CN" altLang="zh-CN" sz="2000" b="1">
                    <a:solidFill>
                      <a:schemeClr val="bg1"/>
                    </a:solidFill>
                    <a:latin typeface="黑体" pitchFamily="49" charset="-122"/>
                    <a:ea typeface="黑体" pitchFamily="49" charset="-122"/>
                  </a:rPr>
                  <a:t>0</a:t>
                </a:r>
              </a:p>
            </p:txBody>
          </p:sp>
          <p:sp>
            <p:nvSpPr>
              <p:cNvPr id="37" name="Rectangle 7"/>
              <p:cNvSpPr>
                <a:spLocks noChangeArrowheads="1"/>
              </p:cNvSpPr>
              <p:nvPr/>
            </p:nvSpPr>
            <p:spPr bwMode="auto">
              <a:xfrm>
                <a:off x="0" y="192"/>
                <a:ext cx="624" cy="192"/>
              </a:xfrm>
              <a:prstGeom prst="rect">
                <a:avLst/>
              </a:prstGeom>
              <a:solidFill>
                <a:srgbClr val="663300"/>
              </a:solidFill>
              <a:ln w="9525">
                <a:solidFill>
                  <a:srgbClr val="FF33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zh-CN" altLang="zh-CN" sz="2000" b="1">
                    <a:solidFill>
                      <a:schemeClr val="bg1"/>
                    </a:solidFill>
                    <a:latin typeface="黑体" pitchFamily="49" charset="-122"/>
                    <a:ea typeface="黑体" pitchFamily="49" charset="-122"/>
                  </a:rPr>
                  <a:t>1</a:t>
                </a:r>
              </a:p>
            </p:txBody>
          </p:sp>
          <p:sp>
            <p:nvSpPr>
              <p:cNvPr id="38" name="Rectangle 8"/>
              <p:cNvSpPr>
                <a:spLocks noChangeArrowheads="1"/>
              </p:cNvSpPr>
              <p:nvPr/>
            </p:nvSpPr>
            <p:spPr bwMode="auto">
              <a:xfrm>
                <a:off x="0" y="384"/>
                <a:ext cx="624" cy="192"/>
              </a:xfrm>
              <a:prstGeom prst="rect">
                <a:avLst/>
              </a:prstGeom>
              <a:solidFill>
                <a:srgbClr val="663300"/>
              </a:solidFill>
              <a:ln w="9525">
                <a:solidFill>
                  <a:srgbClr val="FF33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zh-CN" altLang="zh-CN" sz="2000" b="1">
                    <a:solidFill>
                      <a:schemeClr val="bg1"/>
                    </a:solidFill>
                    <a:latin typeface="黑体" pitchFamily="49" charset="-122"/>
                    <a:ea typeface="黑体" pitchFamily="49" charset="-122"/>
                  </a:rPr>
                  <a:t>2</a:t>
                </a:r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0" y="576"/>
                <a:ext cx="624" cy="192"/>
              </a:xfrm>
              <a:prstGeom prst="rect">
                <a:avLst/>
              </a:prstGeom>
              <a:solidFill>
                <a:srgbClr val="663300"/>
              </a:solidFill>
              <a:ln w="9525">
                <a:solidFill>
                  <a:srgbClr val="FF33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zh-CN" altLang="zh-CN" sz="2000" b="1">
                    <a:solidFill>
                      <a:schemeClr val="bg1"/>
                    </a:solidFill>
                    <a:latin typeface="黑体" pitchFamily="49" charset="-122"/>
                    <a:ea typeface="黑体" pitchFamily="49" charset="-122"/>
                  </a:rPr>
                  <a:t>3</a:t>
                </a:r>
              </a:p>
            </p:txBody>
          </p:sp>
          <p:sp>
            <p:nvSpPr>
              <p:cNvPr id="40" name="Rectangle 10"/>
              <p:cNvSpPr>
                <a:spLocks noChangeArrowheads="1"/>
              </p:cNvSpPr>
              <p:nvPr/>
            </p:nvSpPr>
            <p:spPr bwMode="auto">
              <a:xfrm>
                <a:off x="0" y="768"/>
                <a:ext cx="624" cy="192"/>
              </a:xfrm>
              <a:prstGeom prst="rect">
                <a:avLst/>
              </a:prstGeom>
              <a:solidFill>
                <a:srgbClr val="663300"/>
              </a:solidFill>
              <a:ln w="9525">
                <a:solidFill>
                  <a:srgbClr val="FF33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zh-CN" altLang="zh-CN" sz="2000" b="1">
                    <a:solidFill>
                      <a:schemeClr val="bg1"/>
                    </a:solidFill>
                    <a:latin typeface="黑体" pitchFamily="49" charset="-122"/>
                    <a:ea typeface="黑体" pitchFamily="49" charset="-122"/>
                  </a:rPr>
                  <a:t>4</a:t>
                </a:r>
              </a:p>
            </p:txBody>
          </p:sp>
          <p:sp>
            <p:nvSpPr>
              <p:cNvPr id="41" name="Rectangle 11"/>
              <p:cNvSpPr>
                <a:spLocks noChangeArrowheads="1"/>
              </p:cNvSpPr>
              <p:nvPr/>
            </p:nvSpPr>
            <p:spPr bwMode="auto">
              <a:xfrm>
                <a:off x="0" y="960"/>
                <a:ext cx="624" cy="192"/>
              </a:xfrm>
              <a:prstGeom prst="rect">
                <a:avLst/>
              </a:prstGeom>
              <a:solidFill>
                <a:srgbClr val="663300"/>
              </a:solidFill>
              <a:ln w="9525">
                <a:solidFill>
                  <a:srgbClr val="FF33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zh-CN" altLang="zh-CN" sz="2000" b="1">
                    <a:solidFill>
                      <a:schemeClr val="bg1"/>
                    </a:solidFill>
                    <a:latin typeface="黑体" pitchFamily="49" charset="-122"/>
                    <a:ea typeface="黑体" pitchFamily="49" charset="-122"/>
                  </a:rPr>
                  <a:t>5</a:t>
                </a:r>
              </a:p>
            </p:txBody>
          </p:sp>
          <p:sp>
            <p:nvSpPr>
              <p:cNvPr id="42" name="Rectangle 12"/>
              <p:cNvSpPr>
                <a:spLocks noChangeArrowheads="1"/>
              </p:cNvSpPr>
              <p:nvPr/>
            </p:nvSpPr>
            <p:spPr bwMode="auto">
              <a:xfrm>
                <a:off x="0" y="1152"/>
                <a:ext cx="624" cy="192"/>
              </a:xfrm>
              <a:prstGeom prst="rect">
                <a:avLst/>
              </a:prstGeom>
              <a:solidFill>
                <a:srgbClr val="663300"/>
              </a:solidFill>
              <a:ln w="9525">
                <a:solidFill>
                  <a:srgbClr val="FF33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zh-CN" altLang="zh-CN" sz="2000" b="1">
                    <a:solidFill>
                      <a:schemeClr val="bg1"/>
                    </a:solidFill>
                    <a:latin typeface="黑体" pitchFamily="49" charset="-122"/>
                    <a:ea typeface="黑体" pitchFamily="49" charset="-122"/>
                  </a:rPr>
                  <a:t>6</a:t>
                </a:r>
              </a:p>
            </p:txBody>
          </p:sp>
          <p:sp>
            <p:nvSpPr>
              <p:cNvPr id="43" name="Rectangle 13"/>
              <p:cNvSpPr>
                <a:spLocks noChangeArrowheads="1"/>
              </p:cNvSpPr>
              <p:nvPr/>
            </p:nvSpPr>
            <p:spPr bwMode="auto">
              <a:xfrm>
                <a:off x="0" y="1344"/>
                <a:ext cx="624" cy="192"/>
              </a:xfrm>
              <a:prstGeom prst="rect">
                <a:avLst/>
              </a:prstGeom>
              <a:solidFill>
                <a:srgbClr val="663300"/>
              </a:solidFill>
              <a:ln w="9525">
                <a:solidFill>
                  <a:srgbClr val="FF33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zh-CN" altLang="zh-CN" sz="2000" b="1">
                    <a:solidFill>
                      <a:schemeClr val="bg1"/>
                    </a:solidFill>
                    <a:latin typeface="黑体" pitchFamily="49" charset="-122"/>
                    <a:ea typeface="黑体" pitchFamily="49" charset="-122"/>
                  </a:rPr>
                  <a:t>7</a:t>
                </a:r>
              </a:p>
            </p:txBody>
          </p:sp>
          <p:sp>
            <p:nvSpPr>
              <p:cNvPr id="44" name="Rectangle 14"/>
              <p:cNvSpPr>
                <a:spLocks noChangeArrowheads="1"/>
              </p:cNvSpPr>
              <p:nvPr/>
            </p:nvSpPr>
            <p:spPr bwMode="auto">
              <a:xfrm>
                <a:off x="0" y="1536"/>
                <a:ext cx="624" cy="192"/>
              </a:xfrm>
              <a:prstGeom prst="rect">
                <a:avLst/>
              </a:prstGeom>
              <a:solidFill>
                <a:srgbClr val="663300"/>
              </a:solidFill>
              <a:ln w="9525">
                <a:solidFill>
                  <a:srgbClr val="FF33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zh-CN" altLang="zh-CN" sz="2000" b="1">
                    <a:solidFill>
                      <a:schemeClr val="bg1"/>
                    </a:solidFill>
                    <a:latin typeface="黑体" pitchFamily="49" charset="-122"/>
                    <a:ea typeface="黑体" pitchFamily="49" charset="-122"/>
                  </a:rPr>
                  <a:t>8</a:t>
                </a:r>
              </a:p>
            </p:txBody>
          </p:sp>
          <p:sp>
            <p:nvSpPr>
              <p:cNvPr id="45" name="Rectangle 15"/>
              <p:cNvSpPr>
                <a:spLocks noChangeArrowheads="1"/>
              </p:cNvSpPr>
              <p:nvPr/>
            </p:nvSpPr>
            <p:spPr bwMode="auto">
              <a:xfrm>
                <a:off x="0" y="1728"/>
                <a:ext cx="624" cy="192"/>
              </a:xfrm>
              <a:prstGeom prst="rect">
                <a:avLst/>
              </a:prstGeom>
              <a:solidFill>
                <a:srgbClr val="663300"/>
              </a:solidFill>
              <a:ln w="9525">
                <a:solidFill>
                  <a:srgbClr val="FF33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zh-CN" altLang="zh-CN" sz="2000" b="1">
                    <a:solidFill>
                      <a:schemeClr val="bg1"/>
                    </a:solidFill>
                    <a:latin typeface="黑体" pitchFamily="49" charset="-122"/>
                    <a:ea typeface="黑体" pitchFamily="49" charset="-122"/>
                  </a:rPr>
                  <a:t>9</a:t>
                </a:r>
              </a:p>
            </p:txBody>
          </p:sp>
          <p:sp>
            <p:nvSpPr>
              <p:cNvPr id="46" name="Rectangle 16"/>
              <p:cNvSpPr>
                <a:spLocks noChangeArrowheads="1"/>
              </p:cNvSpPr>
              <p:nvPr/>
            </p:nvSpPr>
            <p:spPr bwMode="auto">
              <a:xfrm>
                <a:off x="0" y="2304"/>
                <a:ext cx="624" cy="192"/>
              </a:xfrm>
              <a:prstGeom prst="rect">
                <a:avLst/>
              </a:prstGeom>
              <a:solidFill>
                <a:srgbClr val="663300"/>
              </a:solidFill>
              <a:ln w="9525">
                <a:solidFill>
                  <a:srgbClr val="FF33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48" name="Rectangle 17"/>
              <p:cNvSpPr>
                <a:spLocks noChangeArrowheads="1"/>
              </p:cNvSpPr>
              <p:nvPr/>
            </p:nvSpPr>
            <p:spPr bwMode="auto">
              <a:xfrm>
                <a:off x="0" y="2112"/>
                <a:ext cx="624" cy="192"/>
              </a:xfrm>
              <a:prstGeom prst="rect">
                <a:avLst/>
              </a:prstGeom>
              <a:solidFill>
                <a:srgbClr val="663300"/>
              </a:solidFill>
              <a:ln w="9525">
                <a:solidFill>
                  <a:srgbClr val="FF33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zh-CN" altLang="zh-CN" sz="2000" b="1">
                    <a:solidFill>
                      <a:schemeClr val="bg1"/>
                    </a:solidFill>
                    <a:latin typeface="黑体" pitchFamily="49" charset="-122"/>
                    <a:ea typeface="黑体" pitchFamily="49" charset="-122"/>
                  </a:rPr>
                  <a:t>11</a:t>
                </a:r>
              </a:p>
            </p:txBody>
          </p:sp>
          <p:sp>
            <p:nvSpPr>
              <p:cNvPr id="50" name="Rectangle 18"/>
              <p:cNvSpPr>
                <a:spLocks noChangeArrowheads="1"/>
              </p:cNvSpPr>
              <p:nvPr/>
            </p:nvSpPr>
            <p:spPr bwMode="auto">
              <a:xfrm>
                <a:off x="0" y="1920"/>
                <a:ext cx="624" cy="192"/>
              </a:xfrm>
              <a:prstGeom prst="rect">
                <a:avLst/>
              </a:prstGeom>
              <a:solidFill>
                <a:srgbClr val="663300"/>
              </a:solidFill>
              <a:ln w="9525">
                <a:solidFill>
                  <a:srgbClr val="FF33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zh-CN" altLang="zh-CN" sz="2000" b="1">
                    <a:solidFill>
                      <a:schemeClr val="bg1"/>
                    </a:solidFill>
                    <a:latin typeface="黑体" pitchFamily="49" charset="-122"/>
                    <a:ea typeface="黑体" pitchFamily="49" charset="-122"/>
                  </a:rPr>
                  <a:t>10</a:t>
                </a:r>
              </a:p>
            </p:txBody>
          </p:sp>
          <p:sp>
            <p:nvSpPr>
              <p:cNvPr id="51" name="Line 19"/>
              <p:cNvSpPr>
                <a:spLocks noChangeShapeType="1"/>
              </p:cNvSpPr>
              <p:nvPr/>
            </p:nvSpPr>
            <p:spPr bwMode="auto">
              <a:xfrm>
                <a:off x="0" y="249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4" name="Text Box 20"/>
            <p:cNvSpPr txBox="1">
              <a:spLocks noChangeArrowheads="1"/>
            </p:cNvSpPr>
            <p:nvPr/>
          </p:nvSpPr>
          <p:spPr bwMode="auto">
            <a:xfrm>
              <a:off x="116" y="0"/>
              <a:ext cx="4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°"/>
                <a:defRPr sz="32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±"/>
                <a:defRPr sz="28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²"/>
                <a:defRPr sz="24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r>
                <a:rPr lang="zh-CN" altLang="zh-CN" sz="1800">
                  <a:solidFill>
                    <a:schemeClr val="bg1"/>
                  </a:solidFill>
                  <a:latin typeface="Times New Roman" pitchFamily="18" charset="0"/>
                  <a:ea typeface="黑体" pitchFamily="49" charset="-122"/>
                </a:rPr>
                <a:t>内存</a:t>
              </a:r>
            </a:p>
          </p:txBody>
        </p:sp>
      </p:grpSp>
      <p:grpSp>
        <p:nvGrpSpPr>
          <p:cNvPr id="52" name="Group 21"/>
          <p:cNvGrpSpPr>
            <a:grpSpLocks/>
          </p:cNvGrpSpPr>
          <p:nvPr/>
        </p:nvGrpSpPr>
        <p:grpSpPr bwMode="auto">
          <a:xfrm>
            <a:off x="5907469" y="1190522"/>
            <a:ext cx="1416050" cy="2895600"/>
            <a:chOff x="-100" y="0"/>
            <a:chExt cx="892" cy="1824"/>
          </a:xfrm>
        </p:grpSpPr>
        <p:grpSp>
          <p:nvGrpSpPr>
            <p:cNvPr id="53" name="Group 22"/>
            <p:cNvGrpSpPr>
              <a:grpSpLocks/>
            </p:cNvGrpSpPr>
            <p:nvPr/>
          </p:nvGrpSpPr>
          <p:grpSpPr bwMode="auto">
            <a:xfrm>
              <a:off x="48" y="480"/>
              <a:ext cx="624" cy="1344"/>
              <a:chOff x="0" y="0"/>
              <a:chExt cx="624" cy="1344"/>
            </a:xfrm>
          </p:grpSpPr>
          <p:sp>
            <p:nvSpPr>
              <p:cNvPr id="55" name="Rectangle 2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624" cy="192"/>
              </a:xfrm>
              <a:prstGeom prst="rect">
                <a:avLst/>
              </a:prstGeom>
              <a:solidFill>
                <a:srgbClr val="F3FBFF"/>
              </a:solidFill>
              <a:ln w="9525">
                <a:solidFill>
                  <a:srgbClr val="00CC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zh-CN" altLang="zh-CN" sz="2000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rPr>
                  <a:t>第0页</a:t>
                </a:r>
              </a:p>
            </p:txBody>
          </p:sp>
          <p:sp>
            <p:nvSpPr>
              <p:cNvPr id="56" name="Rectangle 24"/>
              <p:cNvSpPr>
                <a:spLocks noChangeArrowheads="1"/>
              </p:cNvSpPr>
              <p:nvPr/>
            </p:nvSpPr>
            <p:spPr bwMode="auto">
              <a:xfrm>
                <a:off x="0" y="192"/>
                <a:ext cx="624" cy="192"/>
              </a:xfrm>
              <a:prstGeom prst="rect">
                <a:avLst/>
              </a:prstGeom>
              <a:solidFill>
                <a:srgbClr val="F3FBFF"/>
              </a:solidFill>
              <a:ln w="9525">
                <a:solidFill>
                  <a:srgbClr val="00CC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zh-CN" altLang="zh-CN" sz="2000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rPr>
                  <a:t>第1页</a:t>
                </a:r>
              </a:p>
            </p:txBody>
          </p:sp>
          <p:sp>
            <p:nvSpPr>
              <p:cNvPr id="57" name="Rectangle 25"/>
              <p:cNvSpPr>
                <a:spLocks noChangeArrowheads="1"/>
              </p:cNvSpPr>
              <p:nvPr/>
            </p:nvSpPr>
            <p:spPr bwMode="auto">
              <a:xfrm>
                <a:off x="0" y="384"/>
                <a:ext cx="624" cy="192"/>
              </a:xfrm>
              <a:prstGeom prst="rect">
                <a:avLst/>
              </a:prstGeom>
              <a:solidFill>
                <a:srgbClr val="F3FBFF"/>
              </a:solidFill>
              <a:ln w="9525">
                <a:solidFill>
                  <a:srgbClr val="00CC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zh-CN" altLang="zh-CN" sz="2000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rPr>
                  <a:t>第2页</a:t>
                </a:r>
              </a:p>
            </p:txBody>
          </p:sp>
          <p:sp>
            <p:nvSpPr>
              <p:cNvPr id="58" name="Rectangle 26"/>
              <p:cNvSpPr>
                <a:spLocks noChangeArrowheads="1"/>
              </p:cNvSpPr>
              <p:nvPr/>
            </p:nvSpPr>
            <p:spPr bwMode="auto">
              <a:xfrm>
                <a:off x="0" y="576"/>
                <a:ext cx="624" cy="192"/>
              </a:xfrm>
              <a:prstGeom prst="rect">
                <a:avLst/>
              </a:prstGeom>
              <a:solidFill>
                <a:srgbClr val="F3FBFF"/>
              </a:solidFill>
              <a:ln w="9525">
                <a:solidFill>
                  <a:srgbClr val="00CC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zh-CN" altLang="zh-CN" sz="2000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rPr>
                  <a:t>第3页</a:t>
                </a:r>
              </a:p>
            </p:txBody>
          </p:sp>
          <p:sp>
            <p:nvSpPr>
              <p:cNvPr id="59" name="Rectangle 27"/>
              <p:cNvSpPr>
                <a:spLocks noChangeArrowheads="1"/>
              </p:cNvSpPr>
              <p:nvPr/>
            </p:nvSpPr>
            <p:spPr bwMode="auto">
              <a:xfrm>
                <a:off x="0" y="768"/>
                <a:ext cx="624" cy="192"/>
              </a:xfrm>
              <a:prstGeom prst="rect">
                <a:avLst/>
              </a:prstGeom>
              <a:solidFill>
                <a:srgbClr val="F3FBFF"/>
              </a:solidFill>
              <a:ln w="9525">
                <a:solidFill>
                  <a:srgbClr val="00CC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zh-CN" altLang="zh-CN" sz="2000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rPr>
                  <a:t>第4页</a:t>
                </a:r>
              </a:p>
            </p:txBody>
          </p:sp>
          <p:sp>
            <p:nvSpPr>
              <p:cNvPr id="60" name="Rectangle 28"/>
              <p:cNvSpPr>
                <a:spLocks noChangeArrowheads="1"/>
              </p:cNvSpPr>
              <p:nvPr/>
            </p:nvSpPr>
            <p:spPr bwMode="auto">
              <a:xfrm>
                <a:off x="0" y="960"/>
                <a:ext cx="624" cy="192"/>
              </a:xfrm>
              <a:prstGeom prst="rect">
                <a:avLst/>
              </a:prstGeom>
              <a:solidFill>
                <a:srgbClr val="F3FBFF"/>
              </a:solidFill>
              <a:ln w="9525">
                <a:solidFill>
                  <a:srgbClr val="00CC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zh-CN" altLang="zh-CN" sz="2000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rPr>
                  <a:t>第5页</a:t>
                </a:r>
              </a:p>
            </p:txBody>
          </p:sp>
          <p:grpSp>
            <p:nvGrpSpPr>
              <p:cNvPr id="61" name="Group 29"/>
              <p:cNvGrpSpPr>
                <a:grpSpLocks/>
              </p:cNvGrpSpPr>
              <p:nvPr/>
            </p:nvGrpSpPr>
            <p:grpSpPr bwMode="auto">
              <a:xfrm>
                <a:off x="0" y="1152"/>
                <a:ext cx="624" cy="192"/>
                <a:chOff x="0" y="0"/>
                <a:chExt cx="624" cy="192"/>
              </a:xfrm>
            </p:grpSpPr>
            <p:sp>
              <p:nvSpPr>
                <p:cNvPr id="62" name="Rectangle 30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24" cy="144"/>
                </a:xfrm>
                <a:prstGeom prst="rect">
                  <a:avLst/>
                </a:prstGeom>
                <a:solidFill>
                  <a:srgbClr val="F3FBFF"/>
                </a:solidFill>
                <a:ln w="9525">
                  <a:solidFill>
                    <a:srgbClr val="00CC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itchFamily="2" charset="2"/>
                    <a:buChar char="°"/>
                    <a:defRPr sz="3200">
                      <a:solidFill>
                        <a:schemeClr val="bg2"/>
                      </a:solidFill>
                      <a:latin typeface="Arial" pitchFamily="34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itchFamily="2" charset="2"/>
                    <a:buChar char="±"/>
                    <a:defRPr sz="2800">
                      <a:solidFill>
                        <a:schemeClr val="bg2"/>
                      </a:solidFill>
                      <a:latin typeface="Arial" pitchFamily="34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itchFamily="2" charset="2"/>
                    <a:buChar char="²"/>
                    <a:defRPr sz="2400">
                      <a:solidFill>
                        <a:schemeClr val="bg2"/>
                      </a:solidFill>
                      <a:latin typeface="Arial" pitchFamily="34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itchFamily="34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 typeface="Arial" pitchFamily="34" charset="0"/>
                    <a:buNone/>
                  </a:pPr>
                  <a:endParaRPr lang="zh-CN" altLang="zh-CN" sz="2000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endParaRPr>
                </a:p>
              </p:txBody>
            </p:sp>
            <p:sp>
              <p:nvSpPr>
                <p:cNvPr id="63" name="Line 31"/>
                <p:cNvSpPr>
                  <a:spLocks noChangeShapeType="1"/>
                </p:cNvSpPr>
                <p:nvPr/>
              </p:nvSpPr>
              <p:spPr bwMode="auto">
                <a:xfrm>
                  <a:off x="0" y="144"/>
                  <a:ext cx="624" cy="0"/>
                </a:xfrm>
                <a:prstGeom prst="line">
                  <a:avLst/>
                </a:prstGeom>
                <a:noFill/>
                <a:ln w="9525">
                  <a:solidFill>
                    <a:srgbClr val="00CC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" name="Rectangle 3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24" cy="192"/>
                </a:xfrm>
                <a:prstGeom prst="rect">
                  <a:avLst/>
                </a:prstGeom>
                <a:noFill/>
                <a:ln w="9525">
                  <a:solidFill>
                    <a:srgbClr val="00CC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EC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itchFamily="2" charset="2"/>
                    <a:buChar char="°"/>
                    <a:defRPr sz="3200">
                      <a:solidFill>
                        <a:schemeClr val="bg2"/>
                      </a:solidFill>
                      <a:latin typeface="Arial" pitchFamily="34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itchFamily="2" charset="2"/>
                    <a:buChar char="±"/>
                    <a:defRPr sz="2800">
                      <a:solidFill>
                        <a:schemeClr val="bg2"/>
                      </a:solidFill>
                      <a:latin typeface="Arial" pitchFamily="34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itchFamily="2" charset="2"/>
                    <a:buChar char="²"/>
                    <a:defRPr sz="2400">
                      <a:solidFill>
                        <a:schemeClr val="bg2"/>
                      </a:solidFill>
                      <a:latin typeface="Arial" pitchFamily="34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itchFamily="34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SzPct val="85000"/>
                    <a:buFont typeface="Wingdings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SzPct val="85000"/>
                    <a:buFont typeface="Wingdings" pitchFamily="2" charset="2"/>
                    <a:buChar char="l"/>
                    <a:defRPr sz="2000">
                      <a:solidFill>
                        <a:schemeClr val="bg2"/>
                      </a:solidFill>
                      <a:latin typeface="Arial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 typeface="Arial" pitchFamily="34" charset="0"/>
                    <a:buNone/>
                  </a:pPr>
                  <a:r>
                    <a:rPr lang="zh-CN" altLang="zh-CN" sz="2000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rPr>
                    <a:t>第6页</a:t>
                  </a:r>
                </a:p>
              </p:txBody>
            </p:sp>
          </p:grpSp>
        </p:grpSp>
        <p:sp>
          <p:nvSpPr>
            <p:cNvPr id="54" name="Text Box 33"/>
            <p:cNvSpPr txBox="1">
              <a:spLocks noChangeArrowheads="1"/>
            </p:cNvSpPr>
            <p:nvPr/>
          </p:nvSpPr>
          <p:spPr bwMode="auto">
            <a:xfrm>
              <a:off x="-100" y="0"/>
              <a:ext cx="8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°"/>
                <a:defRPr sz="32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±"/>
                <a:defRPr sz="28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²"/>
                <a:defRPr sz="24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r>
                <a:rPr lang="zh-CN" altLang="zh-CN" sz="2400" dirty="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rPr>
                <a:t>用户作业</a:t>
              </a:r>
            </a:p>
          </p:txBody>
        </p:sp>
      </p:grpSp>
      <p:grpSp>
        <p:nvGrpSpPr>
          <p:cNvPr id="65" name="Group 34"/>
          <p:cNvGrpSpPr>
            <a:grpSpLocks/>
          </p:cNvGrpSpPr>
          <p:nvPr/>
        </p:nvGrpSpPr>
        <p:grpSpPr bwMode="auto">
          <a:xfrm>
            <a:off x="7455600" y="850797"/>
            <a:ext cx="1905000" cy="3455988"/>
            <a:chOff x="0" y="0"/>
            <a:chExt cx="1200" cy="1870"/>
          </a:xfrm>
        </p:grpSpPr>
        <p:grpSp>
          <p:nvGrpSpPr>
            <p:cNvPr id="66" name="Group 35"/>
            <p:cNvGrpSpPr>
              <a:grpSpLocks/>
            </p:cNvGrpSpPr>
            <p:nvPr/>
          </p:nvGrpSpPr>
          <p:grpSpPr bwMode="auto">
            <a:xfrm>
              <a:off x="0" y="335"/>
              <a:ext cx="1200" cy="1535"/>
              <a:chOff x="0" y="0"/>
              <a:chExt cx="1200" cy="1871"/>
            </a:xfrm>
          </p:grpSpPr>
          <p:sp>
            <p:nvSpPr>
              <p:cNvPr id="68" name="Rectangle 36"/>
              <p:cNvSpPr>
                <a:spLocks noChangeArrowheads="1"/>
              </p:cNvSpPr>
              <p:nvPr/>
            </p:nvSpPr>
            <p:spPr bwMode="auto">
              <a:xfrm>
                <a:off x="600" y="0"/>
                <a:ext cx="600" cy="230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buFont typeface="Wingdings" pitchFamily="2" charset="2"/>
                  <a:buNone/>
                </a:pPr>
                <a:r>
                  <a:rPr lang="zh-CN" altLang="zh-CN" sz="2400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rPr>
                  <a:t>块号</a:t>
                </a:r>
              </a:p>
            </p:txBody>
          </p:sp>
          <p:sp>
            <p:nvSpPr>
              <p:cNvPr id="69" name="Rectangle 3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600" cy="230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buFont typeface="Wingdings" pitchFamily="2" charset="2"/>
                  <a:buNone/>
                </a:pPr>
                <a:r>
                  <a:rPr lang="zh-CN" altLang="zh-CN" sz="2400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rPr>
                  <a:t>页号</a:t>
                </a:r>
              </a:p>
            </p:txBody>
          </p:sp>
          <p:sp>
            <p:nvSpPr>
              <p:cNvPr id="70" name="Rectangle 38"/>
              <p:cNvSpPr>
                <a:spLocks noChangeArrowheads="1"/>
              </p:cNvSpPr>
              <p:nvPr/>
            </p:nvSpPr>
            <p:spPr bwMode="auto">
              <a:xfrm>
                <a:off x="600" y="1380"/>
                <a:ext cx="600" cy="230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buFont typeface="Wingdings" pitchFamily="2" charset="2"/>
                  <a:buNone/>
                </a:pPr>
                <a:r>
                  <a:rPr lang="zh-CN" altLang="zh-CN" sz="2400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rPr>
                  <a:t>10</a:t>
                </a:r>
              </a:p>
            </p:txBody>
          </p:sp>
          <p:sp>
            <p:nvSpPr>
              <p:cNvPr id="71" name="Rectangle 39"/>
              <p:cNvSpPr>
                <a:spLocks noChangeArrowheads="1"/>
              </p:cNvSpPr>
              <p:nvPr/>
            </p:nvSpPr>
            <p:spPr bwMode="auto">
              <a:xfrm>
                <a:off x="0" y="1380"/>
                <a:ext cx="600" cy="230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buFont typeface="Wingdings" pitchFamily="2" charset="2"/>
                  <a:buNone/>
                </a:pPr>
                <a:r>
                  <a:rPr lang="zh-CN" altLang="zh-CN" sz="2400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rPr>
                  <a:t>5</a:t>
                </a:r>
              </a:p>
            </p:txBody>
          </p:sp>
          <p:sp>
            <p:nvSpPr>
              <p:cNvPr id="72" name="Rectangle 40"/>
              <p:cNvSpPr>
                <a:spLocks noChangeArrowheads="1"/>
              </p:cNvSpPr>
              <p:nvPr/>
            </p:nvSpPr>
            <p:spPr bwMode="auto">
              <a:xfrm>
                <a:off x="600" y="1610"/>
                <a:ext cx="600" cy="261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buFont typeface="Wingdings" pitchFamily="2" charset="2"/>
                  <a:buNone/>
                </a:pPr>
                <a:r>
                  <a:rPr lang="zh-CN" altLang="zh-CN" sz="2400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rPr>
                  <a:t>11</a:t>
                </a:r>
              </a:p>
            </p:txBody>
          </p:sp>
          <p:sp>
            <p:nvSpPr>
              <p:cNvPr id="73" name="Rectangle 41"/>
              <p:cNvSpPr>
                <a:spLocks noChangeArrowheads="1"/>
              </p:cNvSpPr>
              <p:nvPr/>
            </p:nvSpPr>
            <p:spPr bwMode="auto">
              <a:xfrm>
                <a:off x="0" y="1610"/>
                <a:ext cx="600" cy="261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buFont typeface="Wingdings" pitchFamily="2" charset="2"/>
                  <a:buNone/>
                </a:pPr>
                <a:r>
                  <a:rPr lang="zh-CN" altLang="zh-CN" sz="2400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rPr>
                  <a:t>6</a:t>
                </a:r>
              </a:p>
            </p:txBody>
          </p:sp>
          <p:sp>
            <p:nvSpPr>
              <p:cNvPr id="74" name="Rectangle 42"/>
              <p:cNvSpPr>
                <a:spLocks noChangeArrowheads="1"/>
              </p:cNvSpPr>
              <p:nvPr/>
            </p:nvSpPr>
            <p:spPr bwMode="auto">
              <a:xfrm>
                <a:off x="600" y="1150"/>
                <a:ext cx="600" cy="230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buFont typeface="Wingdings" pitchFamily="2" charset="2"/>
                  <a:buNone/>
                </a:pPr>
                <a:r>
                  <a:rPr lang="zh-CN" altLang="zh-CN" sz="2400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rPr>
                  <a:t>9</a:t>
                </a:r>
              </a:p>
            </p:txBody>
          </p:sp>
          <p:sp>
            <p:nvSpPr>
              <p:cNvPr id="75" name="Rectangle 43"/>
              <p:cNvSpPr>
                <a:spLocks noChangeArrowheads="1"/>
              </p:cNvSpPr>
              <p:nvPr/>
            </p:nvSpPr>
            <p:spPr bwMode="auto">
              <a:xfrm>
                <a:off x="0" y="1150"/>
                <a:ext cx="600" cy="230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buFont typeface="Wingdings" pitchFamily="2" charset="2"/>
                  <a:buNone/>
                </a:pPr>
                <a:r>
                  <a:rPr lang="zh-CN" altLang="zh-CN" sz="2400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rPr>
                  <a:t>4</a:t>
                </a:r>
              </a:p>
            </p:txBody>
          </p:sp>
          <p:sp>
            <p:nvSpPr>
              <p:cNvPr id="76" name="Rectangle 44"/>
              <p:cNvSpPr>
                <a:spLocks noChangeArrowheads="1"/>
              </p:cNvSpPr>
              <p:nvPr/>
            </p:nvSpPr>
            <p:spPr bwMode="auto">
              <a:xfrm>
                <a:off x="600" y="920"/>
                <a:ext cx="600" cy="230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buFont typeface="Wingdings" pitchFamily="2" charset="2"/>
                  <a:buNone/>
                </a:pPr>
                <a:r>
                  <a:rPr lang="zh-CN" altLang="zh-CN" sz="2400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rPr>
                  <a:t>5</a:t>
                </a:r>
              </a:p>
            </p:txBody>
          </p:sp>
          <p:sp>
            <p:nvSpPr>
              <p:cNvPr id="77" name="Rectangle 45"/>
              <p:cNvSpPr>
                <a:spLocks noChangeArrowheads="1"/>
              </p:cNvSpPr>
              <p:nvPr/>
            </p:nvSpPr>
            <p:spPr bwMode="auto">
              <a:xfrm>
                <a:off x="0" y="920"/>
                <a:ext cx="600" cy="230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buFont typeface="Wingdings" pitchFamily="2" charset="2"/>
                  <a:buNone/>
                </a:pPr>
                <a:r>
                  <a:rPr lang="zh-CN" altLang="zh-CN" sz="2400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rPr>
                  <a:t>3</a:t>
                </a:r>
              </a:p>
            </p:txBody>
          </p:sp>
          <p:sp>
            <p:nvSpPr>
              <p:cNvPr id="78" name="Rectangle 46"/>
              <p:cNvSpPr>
                <a:spLocks noChangeArrowheads="1"/>
              </p:cNvSpPr>
              <p:nvPr/>
            </p:nvSpPr>
            <p:spPr bwMode="auto">
              <a:xfrm>
                <a:off x="600" y="690"/>
                <a:ext cx="600" cy="230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buFont typeface="Wingdings" pitchFamily="2" charset="2"/>
                  <a:buNone/>
                </a:pPr>
                <a:r>
                  <a:rPr lang="zh-CN" altLang="zh-CN" sz="2400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rPr>
                  <a:t>3</a:t>
                </a:r>
              </a:p>
            </p:txBody>
          </p:sp>
          <p:sp>
            <p:nvSpPr>
              <p:cNvPr id="79" name="Rectangle 47"/>
              <p:cNvSpPr>
                <a:spLocks noChangeArrowheads="1"/>
              </p:cNvSpPr>
              <p:nvPr/>
            </p:nvSpPr>
            <p:spPr bwMode="auto">
              <a:xfrm>
                <a:off x="0" y="690"/>
                <a:ext cx="600" cy="230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buFont typeface="Wingdings" pitchFamily="2" charset="2"/>
                  <a:buNone/>
                </a:pPr>
                <a:r>
                  <a:rPr lang="zh-CN" altLang="zh-CN" sz="2400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rPr>
                  <a:t>2</a:t>
                </a:r>
              </a:p>
            </p:txBody>
          </p:sp>
          <p:sp>
            <p:nvSpPr>
              <p:cNvPr id="80" name="Rectangle 48"/>
              <p:cNvSpPr>
                <a:spLocks noChangeArrowheads="1"/>
              </p:cNvSpPr>
              <p:nvPr/>
            </p:nvSpPr>
            <p:spPr bwMode="auto">
              <a:xfrm>
                <a:off x="600" y="460"/>
                <a:ext cx="600" cy="230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buFont typeface="Wingdings" pitchFamily="2" charset="2"/>
                  <a:buNone/>
                </a:pPr>
                <a:r>
                  <a:rPr lang="zh-CN" altLang="zh-CN" sz="2400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rPr>
                  <a:t>7</a:t>
                </a:r>
              </a:p>
            </p:txBody>
          </p:sp>
          <p:sp>
            <p:nvSpPr>
              <p:cNvPr id="81" name="Rectangle 49"/>
              <p:cNvSpPr>
                <a:spLocks noChangeArrowheads="1"/>
              </p:cNvSpPr>
              <p:nvPr/>
            </p:nvSpPr>
            <p:spPr bwMode="auto">
              <a:xfrm>
                <a:off x="0" y="460"/>
                <a:ext cx="600" cy="230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buFont typeface="Wingdings" pitchFamily="2" charset="2"/>
                  <a:buNone/>
                </a:pPr>
                <a:r>
                  <a:rPr lang="zh-CN" altLang="zh-CN" sz="2400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rPr>
                  <a:t>1</a:t>
                </a:r>
              </a:p>
            </p:txBody>
          </p:sp>
          <p:sp>
            <p:nvSpPr>
              <p:cNvPr id="82" name="Rectangle 50"/>
              <p:cNvSpPr>
                <a:spLocks noChangeArrowheads="1"/>
              </p:cNvSpPr>
              <p:nvPr/>
            </p:nvSpPr>
            <p:spPr bwMode="auto">
              <a:xfrm>
                <a:off x="600" y="230"/>
                <a:ext cx="600" cy="230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buFont typeface="Wingdings" pitchFamily="2" charset="2"/>
                  <a:buNone/>
                </a:pPr>
                <a:r>
                  <a:rPr lang="zh-CN" altLang="zh-CN" sz="2400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rPr>
                  <a:t>2</a:t>
                </a:r>
              </a:p>
            </p:txBody>
          </p:sp>
          <p:sp>
            <p:nvSpPr>
              <p:cNvPr id="83" name="Rectangle 51"/>
              <p:cNvSpPr>
                <a:spLocks noChangeArrowheads="1"/>
              </p:cNvSpPr>
              <p:nvPr/>
            </p:nvSpPr>
            <p:spPr bwMode="auto">
              <a:xfrm>
                <a:off x="0" y="230"/>
                <a:ext cx="600" cy="230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buFont typeface="Wingdings" pitchFamily="2" charset="2"/>
                  <a:buNone/>
                </a:pPr>
                <a:r>
                  <a:rPr lang="zh-CN" altLang="zh-CN" sz="2400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rPr>
                  <a:t>0</a:t>
                </a:r>
              </a:p>
            </p:txBody>
          </p:sp>
          <p:sp>
            <p:nvSpPr>
              <p:cNvPr id="84" name="Line 52"/>
              <p:cNvSpPr>
                <a:spLocks noChangeShapeType="1"/>
              </p:cNvSpPr>
              <p:nvPr/>
            </p:nvSpPr>
            <p:spPr bwMode="auto">
              <a:xfrm>
                <a:off x="0" y="460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Line 53"/>
              <p:cNvSpPr>
                <a:spLocks noChangeShapeType="1"/>
              </p:cNvSpPr>
              <p:nvPr/>
            </p:nvSpPr>
            <p:spPr bwMode="auto">
              <a:xfrm>
                <a:off x="0" y="690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Line 54"/>
              <p:cNvSpPr>
                <a:spLocks noChangeShapeType="1"/>
              </p:cNvSpPr>
              <p:nvPr/>
            </p:nvSpPr>
            <p:spPr bwMode="auto">
              <a:xfrm>
                <a:off x="0" y="920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Line 55"/>
              <p:cNvSpPr>
                <a:spLocks noChangeShapeType="1"/>
              </p:cNvSpPr>
              <p:nvPr/>
            </p:nvSpPr>
            <p:spPr bwMode="auto">
              <a:xfrm>
                <a:off x="0" y="1150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Line 56"/>
              <p:cNvSpPr>
                <a:spLocks noChangeShapeType="1"/>
              </p:cNvSpPr>
              <p:nvPr/>
            </p:nvSpPr>
            <p:spPr bwMode="auto">
              <a:xfrm>
                <a:off x="0" y="1380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Line 57"/>
              <p:cNvSpPr>
                <a:spLocks noChangeShapeType="1"/>
              </p:cNvSpPr>
              <p:nvPr/>
            </p:nvSpPr>
            <p:spPr bwMode="auto">
              <a:xfrm>
                <a:off x="0" y="1871"/>
                <a:ext cx="1200" cy="0"/>
              </a:xfrm>
              <a:prstGeom prst="line">
                <a:avLst/>
              </a:prstGeom>
              <a:noFill/>
              <a:ln w="28575" cap="sq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Line 58"/>
              <p:cNvSpPr>
                <a:spLocks noChangeShapeType="1"/>
              </p:cNvSpPr>
              <p:nvPr/>
            </p:nvSpPr>
            <p:spPr bwMode="auto">
              <a:xfrm>
                <a:off x="0" y="1610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Line 59"/>
              <p:cNvSpPr>
                <a:spLocks noChangeShapeType="1"/>
              </p:cNvSpPr>
              <p:nvPr/>
            </p:nvSpPr>
            <p:spPr bwMode="auto">
              <a:xfrm>
                <a:off x="0" y="230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Line 60"/>
              <p:cNvSpPr>
                <a:spLocks noChangeShapeType="1"/>
              </p:cNvSpPr>
              <p:nvPr/>
            </p:nvSpPr>
            <p:spPr bwMode="auto">
              <a:xfrm>
                <a:off x="0" y="230"/>
                <a:ext cx="0" cy="1641"/>
              </a:xfrm>
              <a:prstGeom prst="line">
                <a:avLst/>
              </a:prstGeom>
              <a:noFill/>
              <a:ln w="28575" cap="sq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Line 61"/>
              <p:cNvSpPr>
                <a:spLocks noChangeShapeType="1"/>
              </p:cNvSpPr>
              <p:nvPr/>
            </p:nvSpPr>
            <p:spPr bwMode="auto">
              <a:xfrm>
                <a:off x="600" y="230"/>
                <a:ext cx="0" cy="164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Line 62"/>
              <p:cNvSpPr>
                <a:spLocks noChangeShapeType="1"/>
              </p:cNvSpPr>
              <p:nvPr/>
            </p:nvSpPr>
            <p:spPr bwMode="auto">
              <a:xfrm>
                <a:off x="1200" y="230"/>
                <a:ext cx="0" cy="1641"/>
              </a:xfrm>
              <a:prstGeom prst="line">
                <a:avLst/>
              </a:prstGeom>
              <a:noFill/>
              <a:ln w="28575" cap="sq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7" name="Text Box 63"/>
            <p:cNvSpPr txBox="1">
              <a:spLocks noChangeArrowheads="1"/>
            </p:cNvSpPr>
            <p:nvPr/>
          </p:nvSpPr>
          <p:spPr bwMode="auto">
            <a:xfrm>
              <a:off x="314" y="0"/>
              <a:ext cx="5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°"/>
                <a:defRPr sz="32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±"/>
                <a:defRPr sz="28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²"/>
                <a:defRPr sz="24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r>
                <a:rPr lang="zh-CN" altLang="zh-CN" sz="240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rPr>
                <a:t>页表</a:t>
              </a:r>
            </a:p>
          </p:txBody>
        </p:sp>
      </p:grpSp>
      <p:grpSp>
        <p:nvGrpSpPr>
          <p:cNvPr id="95" name="Group 64"/>
          <p:cNvGrpSpPr>
            <a:grpSpLocks/>
          </p:cNvGrpSpPr>
          <p:nvPr/>
        </p:nvGrpSpPr>
        <p:grpSpPr bwMode="auto">
          <a:xfrm>
            <a:off x="1322363" y="4992164"/>
            <a:ext cx="7669843" cy="1450619"/>
            <a:chOff x="-155" y="0"/>
            <a:chExt cx="3703" cy="530"/>
          </a:xfrm>
        </p:grpSpPr>
        <p:sp>
          <p:nvSpPr>
            <p:cNvPr id="96" name="Rectangle 65"/>
            <p:cNvSpPr>
              <a:spLocks noChangeArrowheads="1"/>
            </p:cNvSpPr>
            <p:nvPr/>
          </p:nvSpPr>
          <p:spPr bwMode="auto">
            <a:xfrm>
              <a:off x="-155" y="0"/>
              <a:ext cx="2159" cy="24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°"/>
                <a:defRPr sz="32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±"/>
                <a:defRPr sz="28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²"/>
                <a:defRPr sz="24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r>
                <a:rPr lang="zh-CN" altLang="zh-CN" sz="2800" dirty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0000,0000,0000,0000,0101</a:t>
              </a:r>
            </a:p>
          </p:txBody>
        </p:sp>
        <p:sp>
          <p:nvSpPr>
            <p:cNvPr id="97" name="Rectangle 66"/>
            <p:cNvSpPr>
              <a:spLocks noChangeArrowheads="1"/>
            </p:cNvSpPr>
            <p:nvPr/>
          </p:nvSpPr>
          <p:spPr bwMode="auto">
            <a:xfrm>
              <a:off x="2004" y="0"/>
              <a:ext cx="1544" cy="24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°"/>
                <a:defRPr sz="32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±"/>
                <a:defRPr sz="28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²"/>
                <a:defRPr sz="24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r>
                <a:rPr lang="zh-CN" altLang="zh-CN" sz="2800" dirty="0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,0001,0000,0000</a:t>
              </a:r>
            </a:p>
          </p:txBody>
        </p:sp>
        <p:sp>
          <p:nvSpPr>
            <p:cNvPr id="98" name="Text Box 67"/>
            <p:cNvSpPr txBox="1">
              <a:spLocks noChangeArrowheads="1"/>
            </p:cNvSpPr>
            <p:nvPr/>
          </p:nvSpPr>
          <p:spPr bwMode="auto">
            <a:xfrm>
              <a:off x="0" y="242"/>
              <a:ext cx="35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°"/>
                <a:defRPr sz="32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±"/>
                <a:defRPr sz="28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²"/>
                <a:defRPr sz="24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r>
                <a:rPr lang="zh-CN" altLang="zh-CN" sz="2400" dirty="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rPr>
                <a:t>第3页256字节的物理地址（页大小：4K）</a:t>
              </a:r>
            </a:p>
          </p:txBody>
        </p:sp>
      </p:grpSp>
      <p:grpSp>
        <p:nvGrpSpPr>
          <p:cNvPr id="99" name="Group 68"/>
          <p:cNvGrpSpPr>
            <a:grpSpLocks/>
          </p:cNvGrpSpPr>
          <p:nvPr/>
        </p:nvGrpSpPr>
        <p:grpSpPr bwMode="auto">
          <a:xfrm>
            <a:off x="9982900" y="2181122"/>
            <a:ext cx="990600" cy="3048000"/>
            <a:chOff x="0" y="0"/>
            <a:chExt cx="624" cy="1920"/>
          </a:xfrm>
        </p:grpSpPr>
        <p:sp>
          <p:nvSpPr>
            <p:cNvPr id="100" name="Rectangle 69"/>
            <p:cNvSpPr>
              <a:spLocks noChangeArrowheads="1"/>
            </p:cNvSpPr>
            <p:nvPr/>
          </p:nvSpPr>
          <p:spPr bwMode="auto">
            <a:xfrm>
              <a:off x="0" y="0"/>
              <a:ext cx="624" cy="192"/>
            </a:xfrm>
            <a:prstGeom prst="rect">
              <a:avLst/>
            </a:prstGeom>
            <a:solidFill>
              <a:srgbClr val="E9F7FF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°"/>
                <a:defRPr sz="32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±"/>
                <a:defRPr sz="28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²"/>
                <a:defRPr sz="24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r>
                <a:rPr lang="zh-CN" altLang="zh-CN" sz="200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rPr>
                <a:t>第0页</a:t>
              </a:r>
            </a:p>
          </p:txBody>
        </p:sp>
        <p:sp>
          <p:nvSpPr>
            <p:cNvPr id="101" name="Rectangle 70"/>
            <p:cNvSpPr>
              <a:spLocks noChangeArrowheads="1"/>
            </p:cNvSpPr>
            <p:nvPr/>
          </p:nvSpPr>
          <p:spPr bwMode="auto">
            <a:xfrm>
              <a:off x="0" y="960"/>
              <a:ext cx="624" cy="192"/>
            </a:xfrm>
            <a:prstGeom prst="rect">
              <a:avLst/>
            </a:prstGeom>
            <a:solidFill>
              <a:srgbClr val="E9F7FF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°"/>
                <a:defRPr sz="32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±"/>
                <a:defRPr sz="28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²"/>
                <a:defRPr sz="24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r>
                <a:rPr lang="zh-CN" altLang="zh-CN" sz="200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rPr>
                <a:t>第1页</a:t>
              </a:r>
            </a:p>
          </p:txBody>
        </p:sp>
        <p:sp>
          <p:nvSpPr>
            <p:cNvPr id="102" name="Rectangle 71"/>
            <p:cNvSpPr>
              <a:spLocks noChangeArrowheads="1"/>
            </p:cNvSpPr>
            <p:nvPr/>
          </p:nvSpPr>
          <p:spPr bwMode="auto">
            <a:xfrm>
              <a:off x="0" y="192"/>
              <a:ext cx="624" cy="192"/>
            </a:xfrm>
            <a:prstGeom prst="rect">
              <a:avLst/>
            </a:prstGeom>
            <a:solidFill>
              <a:srgbClr val="E9F7FF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°"/>
                <a:defRPr sz="32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±"/>
                <a:defRPr sz="28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²"/>
                <a:defRPr sz="24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r>
                <a:rPr lang="zh-CN" altLang="zh-CN" sz="200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rPr>
                <a:t>第2页</a:t>
              </a:r>
            </a:p>
          </p:txBody>
        </p:sp>
        <p:sp>
          <p:nvSpPr>
            <p:cNvPr id="103" name="Rectangle 72"/>
            <p:cNvSpPr>
              <a:spLocks noChangeArrowheads="1"/>
            </p:cNvSpPr>
            <p:nvPr/>
          </p:nvSpPr>
          <p:spPr bwMode="auto">
            <a:xfrm>
              <a:off x="0" y="576"/>
              <a:ext cx="624" cy="192"/>
            </a:xfrm>
            <a:prstGeom prst="rect">
              <a:avLst/>
            </a:prstGeom>
            <a:solidFill>
              <a:srgbClr val="E9F7FF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°"/>
                <a:defRPr sz="32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±"/>
                <a:defRPr sz="28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²"/>
                <a:defRPr sz="24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r>
                <a:rPr lang="zh-CN" altLang="zh-CN" sz="200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rPr>
                <a:t>第3页</a:t>
              </a:r>
            </a:p>
          </p:txBody>
        </p:sp>
        <p:sp>
          <p:nvSpPr>
            <p:cNvPr id="104" name="Rectangle 73"/>
            <p:cNvSpPr>
              <a:spLocks noChangeArrowheads="1"/>
            </p:cNvSpPr>
            <p:nvPr/>
          </p:nvSpPr>
          <p:spPr bwMode="auto">
            <a:xfrm>
              <a:off x="0" y="1344"/>
              <a:ext cx="624" cy="192"/>
            </a:xfrm>
            <a:prstGeom prst="rect">
              <a:avLst/>
            </a:prstGeom>
            <a:solidFill>
              <a:srgbClr val="E9F7FF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°"/>
                <a:defRPr sz="32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±"/>
                <a:defRPr sz="28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²"/>
                <a:defRPr sz="24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r>
                <a:rPr lang="zh-CN" altLang="zh-CN" sz="200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rPr>
                <a:t>第4页</a:t>
              </a:r>
            </a:p>
          </p:txBody>
        </p:sp>
        <p:sp>
          <p:nvSpPr>
            <p:cNvPr id="105" name="Rectangle 74"/>
            <p:cNvSpPr>
              <a:spLocks noChangeArrowheads="1"/>
            </p:cNvSpPr>
            <p:nvPr/>
          </p:nvSpPr>
          <p:spPr bwMode="auto">
            <a:xfrm>
              <a:off x="0" y="1536"/>
              <a:ext cx="624" cy="192"/>
            </a:xfrm>
            <a:prstGeom prst="rect">
              <a:avLst/>
            </a:prstGeom>
            <a:solidFill>
              <a:srgbClr val="E9F7FF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°"/>
                <a:defRPr sz="32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±"/>
                <a:defRPr sz="28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²"/>
                <a:defRPr sz="24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r>
                <a:rPr lang="zh-CN" altLang="zh-CN" sz="200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rPr>
                <a:t>第5页</a:t>
              </a:r>
            </a:p>
          </p:txBody>
        </p:sp>
        <p:grpSp>
          <p:nvGrpSpPr>
            <p:cNvPr id="106" name="Group 75"/>
            <p:cNvGrpSpPr>
              <a:grpSpLocks/>
            </p:cNvGrpSpPr>
            <p:nvPr/>
          </p:nvGrpSpPr>
          <p:grpSpPr bwMode="auto">
            <a:xfrm>
              <a:off x="0" y="1728"/>
              <a:ext cx="624" cy="192"/>
              <a:chOff x="0" y="0"/>
              <a:chExt cx="624" cy="192"/>
            </a:xfrm>
          </p:grpSpPr>
          <p:sp>
            <p:nvSpPr>
              <p:cNvPr id="107" name="Rectangle 7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624" cy="144"/>
              </a:xfrm>
              <a:prstGeom prst="rect">
                <a:avLst/>
              </a:prstGeom>
              <a:solidFill>
                <a:srgbClr val="E9F7FF"/>
              </a:solidFill>
              <a:ln w="9525">
                <a:solidFill>
                  <a:srgbClr val="00CC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zh-CN" sz="200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endParaRPr>
              </a:p>
            </p:txBody>
          </p:sp>
          <p:sp>
            <p:nvSpPr>
              <p:cNvPr id="108" name="Line 77"/>
              <p:cNvSpPr>
                <a:spLocks noChangeShapeType="1"/>
              </p:cNvSpPr>
              <p:nvPr/>
            </p:nvSpPr>
            <p:spPr bwMode="auto">
              <a:xfrm>
                <a:off x="0" y="144"/>
                <a:ext cx="624" cy="0"/>
              </a:xfrm>
              <a:prstGeom prst="line">
                <a:avLst/>
              </a:prstGeom>
              <a:noFill/>
              <a:ln w="9525">
                <a:solidFill>
                  <a:srgbClr val="00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Rectangle 7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624" cy="192"/>
              </a:xfrm>
              <a:prstGeom prst="rect">
                <a:avLst/>
              </a:prstGeom>
              <a:noFill/>
              <a:ln w="9525">
                <a:solidFill>
                  <a:srgbClr val="00CC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EC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zh-CN" altLang="zh-CN" sz="2000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rPr>
                  <a:t>第6页</a:t>
                </a:r>
              </a:p>
            </p:txBody>
          </p:sp>
        </p:grpSp>
      </p:grpSp>
      <p:grpSp>
        <p:nvGrpSpPr>
          <p:cNvPr id="110" name="Group 79"/>
          <p:cNvGrpSpPr>
            <a:grpSpLocks/>
          </p:cNvGrpSpPr>
          <p:nvPr/>
        </p:nvGrpSpPr>
        <p:grpSpPr bwMode="auto">
          <a:xfrm>
            <a:off x="10744900" y="2181122"/>
            <a:ext cx="990600" cy="3048000"/>
            <a:chOff x="0" y="0"/>
            <a:chExt cx="624" cy="1920"/>
          </a:xfrm>
        </p:grpSpPr>
        <p:sp>
          <p:nvSpPr>
            <p:cNvPr id="111" name="Rectangle 80"/>
            <p:cNvSpPr>
              <a:spLocks noChangeArrowheads="1"/>
            </p:cNvSpPr>
            <p:nvPr/>
          </p:nvSpPr>
          <p:spPr bwMode="auto">
            <a:xfrm>
              <a:off x="0" y="0"/>
              <a:ext cx="624" cy="192"/>
            </a:xfrm>
            <a:prstGeom prst="rect">
              <a:avLst/>
            </a:prstGeom>
            <a:solidFill>
              <a:srgbClr val="F3FBFF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°"/>
                <a:defRPr sz="32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±"/>
                <a:defRPr sz="28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²"/>
                <a:defRPr sz="24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r>
                <a:rPr lang="zh-CN" altLang="zh-CN" sz="200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rPr>
                <a:t>第0页</a:t>
              </a:r>
            </a:p>
          </p:txBody>
        </p:sp>
        <p:sp>
          <p:nvSpPr>
            <p:cNvPr id="112" name="Rectangle 81"/>
            <p:cNvSpPr>
              <a:spLocks noChangeArrowheads="1"/>
            </p:cNvSpPr>
            <p:nvPr/>
          </p:nvSpPr>
          <p:spPr bwMode="auto">
            <a:xfrm>
              <a:off x="0" y="960"/>
              <a:ext cx="624" cy="192"/>
            </a:xfrm>
            <a:prstGeom prst="rect">
              <a:avLst/>
            </a:prstGeom>
            <a:solidFill>
              <a:srgbClr val="F3FBFF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°"/>
                <a:defRPr sz="32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±"/>
                <a:defRPr sz="28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²"/>
                <a:defRPr sz="24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r>
                <a:rPr lang="zh-CN" altLang="zh-CN" sz="200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rPr>
                <a:t>第1页</a:t>
              </a:r>
            </a:p>
          </p:txBody>
        </p:sp>
        <p:sp>
          <p:nvSpPr>
            <p:cNvPr id="113" name="Rectangle 82"/>
            <p:cNvSpPr>
              <a:spLocks noChangeArrowheads="1"/>
            </p:cNvSpPr>
            <p:nvPr/>
          </p:nvSpPr>
          <p:spPr bwMode="auto">
            <a:xfrm>
              <a:off x="0" y="192"/>
              <a:ext cx="624" cy="192"/>
            </a:xfrm>
            <a:prstGeom prst="rect">
              <a:avLst/>
            </a:prstGeom>
            <a:solidFill>
              <a:srgbClr val="F3FBFF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°"/>
                <a:defRPr sz="32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±"/>
                <a:defRPr sz="28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²"/>
                <a:defRPr sz="24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r>
                <a:rPr lang="zh-CN" altLang="zh-CN" sz="200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rPr>
                <a:t>第2页</a:t>
              </a:r>
            </a:p>
          </p:txBody>
        </p:sp>
        <p:sp>
          <p:nvSpPr>
            <p:cNvPr id="114" name="Rectangle 83"/>
            <p:cNvSpPr>
              <a:spLocks noChangeArrowheads="1"/>
            </p:cNvSpPr>
            <p:nvPr/>
          </p:nvSpPr>
          <p:spPr bwMode="auto">
            <a:xfrm>
              <a:off x="0" y="576"/>
              <a:ext cx="624" cy="192"/>
            </a:xfrm>
            <a:prstGeom prst="rect">
              <a:avLst/>
            </a:prstGeom>
            <a:solidFill>
              <a:srgbClr val="F3FBFF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°"/>
                <a:defRPr sz="32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±"/>
                <a:defRPr sz="28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²"/>
                <a:defRPr sz="24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r>
                <a:rPr lang="zh-CN" altLang="zh-CN" sz="200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rPr>
                <a:t>第3页</a:t>
              </a:r>
            </a:p>
          </p:txBody>
        </p:sp>
        <p:sp>
          <p:nvSpPr>
            <p:cNvPr id="115" name="Rectangle 84"/>
            <p:cNvSpPr>
              <a:spLocks noChangeArrowheads="1"/>
            </p:cNvSpPr>
            <p:nvPr/>
          </p:nvSpPr>
          <p:spPr bwMode="auto">
            <a:xfrm>
              <a:off x="0" y="1344"/>
              <a:ext cx="624" cy="192"/>
            </a:xfrm>
            <a:prstGeom prst="rect">
              <a:avLst/>
            </a:prstGeom>
            <a:solidFill>
              <a:srgbClr val="F3FBFF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°"/>
                <a:defRPr sz="32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±"/>
                <a:defRPr sz="28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²"/>
                <a:defRPr sz="24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r>
                <a:rPr lang="zh-CN" altLang="zh-CN" sz="200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rPr>
                <a:t>第4页</a:t>
              </a:r>
            </a:p>
          </p:txBody>
        </p:sp>
        <p:sp>
          <p:nvSpPr>
            <p:cNvPr id="116" name="Rectangle 85"/>
            <p:cNvSpPr>
              <a:spLocks noChangeArrowheads="1"/>
            </p:cNvSpPr>
            <p:nvPr/>
          </p:nvSpPr>
          <p:spPr bwMode="auto">
            <a:xfrm>
              <a:off x="0" y="1536"/>
              <a:ext cx="624" cy="192"/>
            </a:xfrm>
            <a:prstGeom prst="rect">
              <a:avLst/>
            </a:prstGeom>
            <a:solidFill>
              <a:srgbClr val="F3FBFF"/>
            </a:solidFill>
            <a:ln w="9525">
              <a:solidFill>
                <a:srgbClr val="00CC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°"/>
                <a:defRPr sz="32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±"/>
                <a:defRPr sz="28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²"/>
                <a:defRPr sz="24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85000"/>
                <a:buFont typeface="Wingdings" pitchFamily="2" charset="2"/>
                <a:buChar char="l"/>
                <a:defRPr sz="2000">
                  <a:solidFill>
                    <a:schemeClr val="bg2"/>
                  </a:solidFill>
                  <a:latin typeface="Arial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r>
                <a:rPr lang="zh-CN" altLang="zh-CN" sz="200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rPr>
                <a:t>第5页</a:t>
              </a:r>
            </a:p>
          </p:txBody>
        </p:sp>
        <p:grpSp>
          <p:nvGrpSpPr>
            <p:cNvPr id="117" name="Group 86"/>
            <p:cNvGrpSpPr>
              <a:grpSpLocks/>
            </p:cNvGrpSpPr>
            <p:nvPr/>
          </p:nvGrpSpPr>
          <p:grpSpPr bwMode="auto">
            <a:xfrm>
              <a:off x="0" y="1728"/>
              <a:ext cx="624" cy="192"/>
              <a:chOff x="0" y="0"/>
              <a:chExt cx="624" cy="192"/>
            </a:xfrm>
          </p:grpSpPr>
          <p:sp>
            <p:nvSpPr>
              <p:cNvPr id="118" name="Rectangle 8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624" cy="144"/>
              </a:xfrm>
              <a:prstGeom prst="rect">
                <a:avLst/>
              </a:prstGeom>
              <a:solidFill>
                <a:srgbClr val="F3FBFF"/>
              </a:solidFill>
              <a:ln w="9525">
                <a:solidFill>
                  <a:srgbClr val="00CC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zh-CN" sz="2000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endParaRPr>
              </a:p>
            </p:txBody>
          </p:sp>
          <p:sp>
            <p:nvSpPr>
              <p:cNvPr id="119" name="Line 88"/>
              <p:cNvSpPr>
                <a:spLocks noChangeShapeType="1"/>
              </p:cNvSpPr>
              <p:nvPr/>
            </p:nvSpPr>
            <p:spPr bwMode="auto">
              <a:xfrm>
                <a:off x="0" y="144"/>
                <a:ext cx="624" cy="0"/>
              </a:xfrm>
              <a:prstGeom prst="line">
                <a:avLst/>
              </a:prstGeom>
              <a:noFill/>
              <a:ln w="9525">
                <a:solidFill>
                  <a:srgbClr val="00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Rectangle 89"/>
              <p:cNvSpPr>
                <a:spLocks noChangeArrowheads="1"/>
              </p:cNvSpPr>
              <p:nvPr/>
            </p:nvSpPr>
            <p:spPr bwMode="auto">
              <a:xfrm>
                <a:off x="0" y="0"/>
                <a:ext cx="624" cy="192"/>
              </a:xfrm>
              <a:prstGeom prst="rect">
                <a:avLst/>
              </a:prstGeom>
              <a:noFill/>
              <a:ln w="9525">
                <a:solidFill>
                  <a:srgbClr val="00CC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EC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°"/>
                  <a:defRPr sz="32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±"/>
                  <a:defRPr sz="28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²"/>
                  <a:defRPr sz="24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5000"/>
                  <a:buFont typeface="Wingdings" pitchFamily="2" charset="2"/>
                  <a:buChar char="l"/>
                  <a:defRPr sz="2000">
                    <a:solidFill>
                      <a:schemeClr val="bg2"/>
                    </a:solidFill>
                    <a:latin typeface="Arial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zh-CN" altLang="zh-CN" sz="2000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rPr>
                  <a:t>第6页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827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0"/>
                                            </p:cond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4" presetClass="entr" presetSubtype="16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6144" y="1662658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4194" y="1662658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1126144" y="1938935"/>
            <a:ext cx="57354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实现从逻辑地址到物理地址的转换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19"/>
          <p:cNvSpPr txBox="1">
            <a:spLocks noChangeArrowheads="1"/>
          </p:cNvSpPr>
          <p:nvPr/>
        </p:nvSpPr>
        <p:spPr bwMode="auto">
          <a:xfrm>
            <a:off x="1126144" y="2485009"/>
            <a:ext cx="974818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800" dirty="0"/>
              <a:t>利用页面映射表，实现将逻辑地址中页号，转换为内存中的物理块号。</a:t>
            </a:r>
            <a:endParaRPr lang="en-US" altLang="zh-CN" sz="2800" dirty="0"/>
          </a:p>
        </p:txBody>
      </p:sp>
      <p:sp>
        <p:nvSpPr>
          <p:cNvPr id="16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23086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地址变换机构</a:t>
            </a:r>
          </a:p>
        </p:txBody>
      </p:sp>
      <p:sp>
        <p:nvSpPr>
          <p:cNvPr id="82" name="文本框 55"/>
          <p:cNvSpPr txBox="1">
            <a:spLocks noChangeArrowheads="1"/>
          </p:cNvSpPr>
          <p:nvPr/>
        </p:nvSpPr>
        <p:spPr bwMode="auto">
          <a:xfrm>
            <a:off x="980094" y="1129258"/>
            <a:ext cx="35930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）任务</a:t>
            </a:r>
          </a:p>
        </p:txBody>
      </p:sp>
      <p:sp>
        <p:nvSpPr>
          <p:cNvPr id="83" name="矩形 82"/>
          <p:cNvSpPr/>
          <p:nvPr/>
        </p:nvSpPr>
        <p:spPr>
          <a:xfrm>
            <a:off x="1126144" y="3995370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4" name="矩形 83"/>
          <p:cNvSpPr/>
          <p:nvPr/>
        </p:nvSpPr>
        <p:spPr>
          <a:xfrm>
            <a:off x="2034194" y="3995370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5" name="文本框 55"/>
          <p:cNvSpPr txBox="1">
            <a:spLocks noChangeArrowheads="1"/>
          </p:cNvSpPr>
          <p:nvPr/>
        </p:nvSpPr>
        <p:spPr bwMode="auto">
          <a:xfrm>
            <a:off x="1126144" y="4271647"/>
            <a:ext cx="57354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在系统内设置一地址变换机构</a:t>
            </a:r>
          </a:p>
        </p:txBody>
      </p:sp>
      <p:sp>
        <p:nvSpPr>
          <p:cNvPr id="87" name="文本框 55"/>
          <p:cNvSpPr txBox="1">
            <a:spLocks noChangeArrowheads="1"/>
          </p:cNvSpPr>
          <p:nvPr/>
        </p:nvSpPr>
        <p:spPr bwMode="auto">
          <a:xfrm>
            <a:off x="980094" y="3461970"/>
            <a:ext cx="35930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）手段</a:t>
            </a:r>
          </a:p>
        </p:txBody>
      </p:sp>
    </p:spTree>
    <p:extLst>
      <p:ext uri="{BB962C8B-B14F-4D97-AF65-F5344CB8AC3E}">
        <p14:creationId xmlns:p14="http://schemas.microsoft.com/office/powerpoint/2010/main" val="29332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23086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地址变换机构</a:t>
            </a:r>
          </a:p>
        </p:txBody>
      </p:sp>
      <p:sp>
        <p:nvSpPr>
          <p:cNvPr id="31" name="矩形 30"/>
          <p:cNvSpPr/>
          <p:nvPr/>
        </p:nvSpPr>
        <p:spPr>
          <a:xfrm>
            <a:off x="1204363" y="1452529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2112413" y="1452529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3" name="文本框 55"/>
          <p:cNvSpPr txBox="1">
            <a:spLocks noChangeArrowheads="1"/>
          </p:cNvSpPr>
          <p:nvPr/>
        </p:nvSpPr>
        <p:spPr bwMode="auto">
          <a:xfrm>
            <a:off x="1058313" y="919129"/>
            <a:ext cx="35930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）基本的地址变换机构</a:t>
            </a:r>
          </a:p>
        </p:txBody>
      </p:sp>
      <p:sp>
        <p:nvSpPr>
          <p:cNvPr id="34" name="文本框 19"/>
          <p:cNvSpPr txBox="1">
            <a:spLocks noChangeArrowheads="1"/>
          </p:cNvSpPr>
          <p:nvPr/>
        </p:nvSpPr>
        <p:spPr bwMode="auto">
          <a:xfrm>
            <a:off x="1173105" y="2401375"/>
            <a:ext cx="10277997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800" dirty="0"/>
              <a:t>对于较小系统，页表的功能可以由一组专门的寄存器来实现，一个页表项用一个寄存器，具有很高的访问速度。但寄存器成本较高。</a:t>
            </a:r>
            <a:endParaRPr lang="en-US" altLang="zh-CN" sz="28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800" dirty="0"/>
              <a:t>现代计算机页表都很长，因此页表驻留在内存中。只在系统中配置一个页表寄存器</a:t>
            </a:r>
            <a:r>
              <a:rPr lang="en-US" altLang="zh-CN" sz="2800" dirty="0"/>
              <a:t>(PTR)</a:t>
            </a:r>
            <a:r>
              <a:rPr lang="zh-CN" altLang="en-US" sz="2800" dirty="0"/>
              <a:t>，用于存放运行进程的页表始址和页表长度。</a:t>
            </a:r>
          </a:p>
        </p:txBody>
      </p:sp>
      <p:sp>
        <p:nvSpPr>
          <p:cNvPr id="82" name="文本框 55"/>
          <p:cNvSpPr txBox="1">
            <a:spLocks noChangeArrowheads="1"/>
          </p:cNvSpPr>
          <p:nvPr/>
        </p:nvSpPr>
        <p:spPr bwMode="auto">
          <a:xfrm>
            <a:off x="1126144" y="1739458"/>
            <a:ext cx="57354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通过设置页表寄存器实现</a:t>
            </a:r>
          </a:p>
        </p:txBody>
      </p:sp>
    </p:spTree>
    <p:extLst>
      <p:ext uri="{BB962C8B-B14F-4D97-AF65-F5344CB8AC3E}">
        <p14:creationId xmlns:p14="http://schemas.microsoft.com/office/powerpoint/2010/main" val="287536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6144" y="1662658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4194" y="1662658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980094" y="1129258"/>
            <a:ext cx="57354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19"/>
          <p:cNvSpPr txBox="1">
            <a:spLocks noChangeArrowheads="1"/>
          </p:cNvSpPr>
          <p:nvPr/>
        </p:nvSpPr>
        <p:spPr bwMode="auto">
          <a:xfrm>
            <a:off x="1090268" y="1866031"/>
            <a:ext cx="4628362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800" dirty="0"/>
              <a:t>某分页系统，主存容量为</a:t>
            </a:r>
            <a:r>
              <a:rPr lang="en-US" altLang="zh-CN" sz="2800" dirty="0"/>
              <a:t>64K</a:t>
            </a:r>
            <a:r>
              <a:rPr lang="zh-CN" altLang="en-US" sz="2800" dirty="0"/>
              <a:t>，页面大小为</a:t>
            </a:r>
            <a:r>
              <a:rPr lang="en-US" altLang="zh-CN" sz="2800" dirty="0"/>
              <a:t>1K</a:t>
            </a:r>
            <a:r>
              <a:rPr lang="zh-CN" altLang="en-US" sz="2800" dirty="0"/>
              <a:t>，对一个</a:t>
            </a:r>
            <a:r>
              <a:rPr lang="en-US" altLang="zh-CN" sz="2800" dirty="0"/>
              <a:t>4</a:t>
            </a:r>
            <a:r>
              <a:rPr lang="zh-CN" altLang="en-US" sz="2800" dirty="0"/>
              <a:t>页大的作业，其</a:t>
            </a:r>
            <a:r>
              <a:rPr lang="en-US" altLang="zh-CN" sz="2800" dirty="0"/>
              <a:t>0</a:t>
            </a:r>
            <a:r>
              <a:rPr lang="zh-CN" altLang="en-US" sz="2800" dirty="0"/>
              <a:t>、</a:t>
            </a:r>
            <a:r>
              <a:rPr lang="en-US" altLang="zh-CN" sz="2800" dirty="0"/>
              <a:t>1</a:t>
            </a:r>
            <a:r>
              <a:rPr lang="zh-CN" altLang="en-US" sz="2800" dirty="0"/>
              <a:t>、</a:t>
            </a:r>
            <a:r>
              <a:rPr lang="en-US" altLang="zh-CN" sz="2800" dirty="0"/>
              <a:t>2</a:t>
            </a:r>
            <a:r>
              <a:rPr lang="zh-CN" altLang="en-US" sz="2800" dirty="0"/>
              <a:t>、</a:t>
            </a:r>
            <a:r>
              <a:rPr lang="en-US" altLang="zh-CN" sz="2800" dirty="0"/>
              <a:t>3</a:t>
            </a:r>
            <a:r>
              <a:rPr lang="zh-CN" altLang="en-US" sz="2800" dirty="0"/>
              <a:t>页分别被分配到主存的</a:t>
            </a:r>
            <a:r>
              <a:rPr lang="en-US" altLang="zh-CN" sz="2800" dirty="0"/>
              <a:t>2</a:t>
            </a:r>
            <a:r>
              <a:rPr lang="zh-CN" altLang="en-US" sz="2800" dirty="0"/>
              <a:t>、</a:t>
            </a:r>
            <a:r>
              <a:rPr lang="en-US" altLang="zh-CN" sz="2800" dirty="0"/>
              <a:t>4</a:t>
            </a:r>
            <a:r>
              <a:rPr lang="zh-CN" altLang="en-US" sz="2800" dirty="0"/>
              <a:t>、</a:t>
            </a:r>
            <a:r>
              <a:rPr lang="en-US" altLang="zh-CN" sz="2800" dirty="0"/>
              <a:t>6</a:t>
            </a:r>
            <a:r>
              <a:rPr lang="zh-CN" altLang="en-US" sz="2800" dirty="0"/>
              <a:t>、</a:t>
            </a:r>
            <a:r>
              <a:rPr lang="en-US" altLang="zh-CN" sz="2800" dirty="0"/>
              <a:t>7</a:t>
            </a:r>
            <a:r>
              <a:rPr lang="zh-CN" altLang="en-US" sz="2800" dirty="0"/>
              <a:t>块中。将十进制的逻辑地址</a:t>
            </a:r>
            <a:r>
              <a:rPr lang="en-US" altLang="zh-CN" sz="2800" dirty="0"/>
              <a:t>3500</a:t>
            </a:r>
            <a:r>
              <a:rPr lang="zh-CN" altLang="en-US" sz="2800" dirty="0"/>
              <a:t>转换为物理地址的地址转换图</a:t>
            </a:r>
          </a:p>
        </p:txBody>
      </p:sp>
      <p:sp>
        <p:nvSpPr>
          <p:cNvPr id="16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23086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地址变换机构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8157929"/>
              </p:ext>
            </p:extLst>
          </p:nvPr>
        </p:nvGraphicFramePr>
        <p:xfrm>
          <a:off x="5460149" y="416556"/>
          <a:ext cx="6553200" cy="447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490793" imgH="2386727" progId="Visio.Drawing.11">
                  <p:embed/>
                </p:oleObj>
              </mc:Choice>
              <mc:Fallback>
                <p:oleObj name="Visio" r:id="rId4" imgW="3490793" imgH="238672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0149" y="416556"/>
                        <a:ext cx="6553200" cy="447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" name="Rectangle 7"/>
          <p:cNvSpPr>
            <a:spLocks noChangeArrowheads="1"/>
          </p:cNvSpPr>
          <p:nvPr/>
        </p:nvSpPr>
        <p:spPr bwMode="auto">
          <a:xfrm>
            <a:off x="1082602" y="4990342"/>
            <a:ext cx="975957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逻辑地址</a:t>
            </a:r>
            <a:r>
              <a:rPr lang="en-US" altLang="zh-CN" b="1" dirty="0"/>
              <a:t>3500</a:t>
            </a:r>
            <a:r>
              <a:rPr lang="zh-CN" altLang="en-US" b="1" dirty="0"/>
              <a:t>：</a:t>
            </a:r>
          </a:p>
          <a:p>
            <a:pPr eaLnBrk="1" hangingPunct="1"/>
            <a:r>
              <a:rPr lang="en-US" altLang="zh-CN" sz="2800" dirty="0"/>
              <a:t>1.</a:t>
            </a:r>
            <a:r>
              <a:rPr lang="zh-CN" altLang="en-US" sz="2800" dirty="0"/>
              <a:t>页号</a:t>
            </a:r>
            <a:r>
              <a:rPr lang="en-US" altLang="zh-CN" sz="2800" dirty="0"/>
              <a:t>=3500/1K=3</a:t>
            </a:r>
          </a:p>
          <a:p>
            <a:pPr eaLnBrk="1" hangingPunct="1"/>
            <a:r>
              <a:rPr lang="en-US" altLang="zh-CN" sz="2800" dirty="0"/>
              <a:t>2.</a:t>
            </a:r>
            <a:r>
              <a:rPr lang="zh-CN" altLang="en-US" sz="2800" dirty="0"/>
              <a:t>页内地址</a:t>
            </a:r>
            <a:r>
              <a:rPr lang="en-US" altLang="zh-CN" sz="2800" dirty="0"/>
              <a:t>=3500 MOD 1024=428</a:t>
            </a:r>
            <a:r>
              <a:rPr lang="zh-CN" altLang="en-US" sz="2800" dirty="0"/>
              <a:t>，</a:t>
            </a:r>
          </a:p>
          <a:p>
            <a:pPr eaLnBrk="1" hangingPunct="1"/>
            <a:r>
              <a:rPr lang="en-US" altLang="zh-CN" sz="2800" dirty="0"/>
              <a:t>3.</a:t>
            </a:r>
            <a:r>
              <a:rPr lang="zh-CN" altLang="en-US" sz="2800" dirty="0"/>
              <a:t>查页表找到对应得物理块为</a:t>
            </a:r>
            <a:r>
              <a:rPr lang="en-US" altLang="zh-CN" sz="2800" dirty="0"/>
              <a:t>7</a:t>
            </a:r>
            <a:r>
              <a:rPr lang="zh-CN" altLang="en-US" sz="2800" dirty="0"/>
              <a:t>，物理地址</a:t>
            </a:r>
            <a:r>
              <a:rPr lang="en-US" altLang="zh-CN" sz="2800" dirty="0"/>
              <a:t>=7*1K+428=7596</a:t>
            </a: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8790916" y="195827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dirty="0">
                <a:solidFill>
                  <a:srgbClr val="CC0000"/>
                </a:solidFill>
              </a:rPr>
              <a:t>①</a:t>
            </a: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6096202" y="3491206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dirty="0">
                <a:solidFill>
                  <a:srgbClr val="CC0000"/>
                </a:solidFill>
              </a:rPr>
              <a:t>②</a:t>
            </a: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8797263" y="346033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dirty="0">
                <a:solidFill>
                  <a:srgbClr val="CC0000"/>
                </a:solidFill>
              </a:rPr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294762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8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6144" y="1662658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4194" y="1662658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980094" y="1129258"/>
            <a:ext cx="57354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）具有快表的地址变换机制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19"/>
          <p:cNvSpPr txBox="1">
            <a:spLocks noChangeArrowheads="1"/>
          </p:cNvSpPr>
          <p:nvPr/>
        </p:nvSpPr>
        <p:spPr bwMode="auto">
          <a:xfrm>
            <a:off x="1090267" y="2388535"/>
            <a:ext cx="1015830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由于页表是存放在内存中的，这使</a:t>
            </a:r>
            <a:r>
              <a:rPr lang="en-US" altLang="zh-CN" sz="2400" dirty="0"/>
              <a:t>CPU</a:t>
            </a:r>
            <a:r>
              <a:rPr lang="zh-CN" altLang="en-US" sz="2400" dirty="0"/>
              <a:t>每次要存取一个数据时，都要两次访问内存。使计算机的处理速度降低近</a:t>
            </a:r>
            <a:r>
              <a:rPr lang="en-US" altLang="zh-CN" sz="2400" dirty="0"/>
              <a:t>1/2</a:t>
            </a:r>
            <a:r>
              <a:rPr lang="zh-CN" altLang="en-US" sz="2400" dirty="0"/>
              <a:t>。</a:t>
            </a:r>
          </a:p>
        </p:txBody>
      </p:sp>
      <p:sp>
        <p:nvSpPr>
          <p:cNvPr id="16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23086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地址变换机构</a:t>
            </a:r>
          </a:p>
        </p:txBody>
      </p:sp>
      <p:sp>
        <p:nvSpPr>
          <p:cNvPr id="82" name="文本框 52"/>
          <p:cNvSpPr txBox="1">
            <a:spLocks noChangeArrowheads="1"/>
          </p:cNvSpPr>
          <p:nvPr/>
        </p:nvSpPr>
        <p:spPr bwMode="auto">
          <a:xfrm>
            <a:off x="1058313" y="1898280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问题的提出</a:t>
            </a:r>
          </a:p>
        </p:txBody>
      </p:sp>
      <p:sp>
        <p:nvSpPr>
          <p:cNvPr id="83" name="文本框 19"/>
          <p:cNvSpPr txBox="1">
            <a:spLocks noChangeArrowheads="1"/>
          </p:cNvSpPr>
          <p:nvPr/>
        </p:nvSpPr>
        <p:spPr bwMode="auto">
          <a:xfrm>
            <a:off x="1095570" y="3779721"/>
            <a:ext cx="1015830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为了提高地址的变换速度，在地址变换机构中，增设的一个具有并行查寻能力的特殊高速缓冲存储器。</a:t>
            </a:r>
          </a:p>
        </p:txBody>
      </p:sp>
      <p:sp>
        <p:nvSpPr>
          <p:cNvPr id="84" name="文本框 52"/>
          <p:cNvSpPr txBox="1">
            <a:spLocks noChangeArrowheads="1"/>
          </p:cNvSpPr>
          <p:nvPr/>
        </p:nvSpPr>
        <p:spPr bwMode="auto">
          <a:xfrm>
            <a:off x="1063616" y="3289466"/>
            <a:ext cx="26468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联想存储器或快表</a:t>
            </a:r>
          </a:p>
        </p:txBody>
      </p:sp>
      <p:sp>
        <p:nvSpPr>
          <p:cNvPr id="85" name="文本框 19"/>
          <p:cNvSpPr txBox="1">
            <a:spLocks noChangeArrowheads="1"/>
          </p:cNvSpPr>
          <p:nvPr/>
        </p:nvSpPr>
        <p:spPr bwMode="auto">
          <a:xfrm>
            <a:off x="2972731" y="4634485"/>
            <a:ext cx="64039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存放当前访问的那些页表项。</a:t>
            </a:r>
          </a:p>
        </p:txBody>
      </p:sp>
      <p:sp>
        <p:nvSpPr>
          <p:cNvPr id="86" name="文本框 52"/>
          <p:cNvSpPr txBox="1">
            <a:spLocks noChangeArrowheads="1"/>
          </p:cNvSpPr>
          <p:nvPr/>
        </p:nvSpPr>
        <p:spPr bwMode="auto">
          <a:xfrm>
            <a:off x="1096978" y="4620409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快表的作用</a:t>
            </a:r>
          </a:p>
        </p:txBody>
      </p:sp>
      <p:sp>
        <p:nvSpPr>
          <p:cNvPr id="87" name="文本框 19"/>
          <p:cNvSpPr txBox="1">
            <a:spLocks noChangeArrowheads="1"/>
          </p:cNvSpPr>
          <p:nvPr/>
        </p:nvSpPr>
        <p:spPr bwMode="auto">
          <a:xfrm>
            <a:off x="2972869" y="5222317"/>
            <a:ext cx="64039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取决于对快表的访问命中率。</a:t>
            </a:r>
          </a:p>
        </p:txBody>
      </p:sp>
      <p:sp>
        <p:nvSpPr>
          <p:cNvPr id="88" name="文本框 52"/>
          <p:cNvSpPr txBox="1">
            <a:spLocks noChangeArrowheads="1"/>
          </p:cNvSpPr>
          <p:nvPr/>
        </p:nvSpPr>
        <p:spPr bwMode="auto">
          <a:xfrm>
            <a:off x="1097116" y="5208241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快表的效果</a:t>
            </a:r>
          </a:p>
        </p:txBody>
      </p:sp>
      <p:sp>
        <p:nvSpPr>
          <p:cNvPr id="89" name="文本框 19"/>
          <p:cNvSpPr txBox="1">
            <a:spLocks noChangeArrowheads="1"/>
          </p:cNvSpPr>
          <p:nvPr/>
        </p:nvSpPr>
        <p:spPr bwMode="auto">
          <a:xfrm>
            <a:off x="2987383" y="5817403"/>
            <a:ext cx="64039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通常存放</a:t>
            </a:r>
            <a:r>
              <a:rPr lang="en-US" altLang="zh-CN" sz="2400" dirty="0"/>
              <a:t>16-512</a:t>
            </a:r>
            <a:r>
              <a:rPr lang="zh-CN" altLang="en-US" sz="2400" dirty="0"/>
              <a:t>个页表项。</a:t>
            </a:r>
          </a:p>
        </p:txBody>
      </p:sp>
      <p:sp>
        <p:nvSpPr>
          <p:cNvPr id="90" name="文本框 52"/>
          <p:cNvSpPr txBox="1">
            <a:spLocks noChangeArrowheads="1"/>
          </p:cNvSpPr>
          <p:nvPr/>
        </p:nvSpPr>
        <p:spPr bwMode="auto">
          <a:xfrm>
            <a:off x="1111630" y="5803327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快表的大小</a:t>
            </a:r>
          </a:p>
        </p:txBody>
      </p:sp>
    </p:spTree>
    <p:extLst>
      <p:ext uri="{BB962C8B-B14F-4D97-AF65-F5344CB8AC3E}">
        <p14:creationId xmlns:p14="http://schemas.microsoft.com/office/powerpoint/2010/main" val="1715490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6144" y="1479776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4194" y="1479776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980094" y="946376"/>
            <a:ext cx="57354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）具有快表的地址变换机制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23086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地址变换机构</a:t>
            </a: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2045262"/>
              </p:ext>
            </p:extLst>
          </p:nvPr>
        </p:nvGraphicFramePr>
        <p:xfrm>
          <a:off x="2611451" y="1154439"/>
          <a:ext cx="9144000" cy="571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562533" imgH="2225223" progId="Visio.Drawing.11">
                  <p:embed/>
                </p:oleObj>
              </mc:Choice>
              <mc:Fallback>
                <p:oleObj name="Visio" r:id="rId3" imgW="3562533" imgH="2225223" progId="Visio.Drawing.11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451" y="1154439"/>
                        <a:ext cx="9144000" cy="571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6938976" y="27813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dirty="0">
                <a:solidFill>
                  <a:srgbClr val="CC0000"/>
                </a:solidFill>
              </a:rPr>
              <a:t>①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6600061" y="225107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dirty="0">
                <a:solidFill>
                  <a:srgbClr val="CC0000"/>
                </a:solidFill>
              </a:rPr>
              <a:t>②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3601774" y="335039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dirty="0">
                <a:solidFill>
                  <a:srgbClr val="CC0000"/>
                </a:solidFill>
              </a:rPr>
              <a:t>③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7648258" y="5491112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dirty="0">
                <a:solidFill>
                  <a:srgbClr val="CC0000"/>
                </a:solidFill>
              </a:rPr>
              <a:t>④</a:t>
            </a:r>
          </a:p>
        </p:txBody>
      </p:sp>
    </p:spTree>
    <p:extLst>
      <p:ext uri="{BB962C8B-B14F-4D97-AF65-F5344CB8AC3E}">
        <p14:creationId xmlns:p14="http://schemas.microsoft.com/office/powerpoint/2010/main" val="31727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6144" y="1662658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4194" y="1662658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980094" y="1129258"/>
            <a:ext cx="57354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内存的有效访问时间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19"/>
          <p:cNvSpPr txBox="1">
            <a:spLocks noChangeArrowheads="1"/>
          </p:cNvSpPr>
          <p:nvPr/>
        </p:nvSpPr>
        <p:spPr bwMode="auto">
          <a:xfrm>
            <a:off x="1090267" y="1938601"/>
            <a:ext cx="1015830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800" dirty="0"/>
              <a:t>从进程发出指定逻辑地址的访问请求，经过地址变换，到内存中找到对应的实际物理地址单元并取出数据，所需花费的总时间。</a:t>
            </a:r>
            <a:endParaRPr lang="zh-CN" altLang="en-US" sz="2800" b="1" dirty="0"/>
          </a:p>
        </p:txBody>
      </p:sp>
      <p:sp>
        <p:nvSpPr>
          <p:cNvPr id="16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32319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访问内存的有效时间</a:t>
            </a:r>
          </a:p>
        </p:txBody>
      </p:sp>
      <p:sp>
        <p:nvSpPr>
          <p:cNvPr id="83" name="文本框 19"/>
          <p:cNvSpPr txBox="1">
            <a:spLocks noChangeArrowheads="1"/>
          </p:cNvSpPr>
          <p:nvPr/>
        </p:nvSpPr>
        <p:spPr bwMode="auto">
          <a:xfrm>
            <a:off x="1095570" y="2986615"/>
            <a:ext cx="10158304" cy="2376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800" dirty="0"/>
              <a:t>假定访问一次内存的时间为</a:t>
            </a:r>
            <a:r>
              <a:rPr lang="en-US" altLang="zh-CN" sz="2800" dirty="0"/>
              <a:t>t</a:t>
            </a:r>
            <a:r>
              <a:rPr lang="zh-CN" altLang="en-US" sz="2800" dirty="0"/>
              <a:t>，</a:t>
            </a:r>
            <a:r>
              <a:rPr lang="el-GR" altLang="zh-CN" sz="2800" dirty="0"/>
              <a:t>λ</a:t>
            </a:r>
            <a:r>
              <a:rPr lang="zh-CN" altLang="en-US" sz="2800" dirty="0"/>
              <a:t>为查找快表所需要的时间，</a:t>
            </a:r>
            <a:r>
              <a:rPr lang="en-US" altLang="zh-CN" sz="2800" dirty="0"/>
              <a:t>a</a:t>
            </a:r>
            <a:r>
              <a:rPr lang="zh-CN" altLang="en-US" sz="2800" dirty="0"/>
              <a:t>为快表的命中率，则：</a:t>
            </a:r>
            <a:endParaRPr lang="en-US" altLang="zh-CN" sz="2800" dirty="0"/>
          </a:p>
          <a:p>
            <a:pPr lvl="1">
              <a:lnSpc>
                <a:spcPct val="110000"/>
              </a:lnSpc>
            </a:pPr>
            <a:r>
              <a:rPr lang="zh-CN" altLang="en-US" sz="2800" dirty="0"/>
              <a:t>基本分页存储管理方式中：</a:t>
            </a:r>
            <a:r>
              <a:rPr lang="en-US" altLang="zh-CN" sz="2800" dirty="0"/>
              <a:t>EAT=2t</a:t>
            </a:r>
          </a:p>
          <a:p>
            <a:pPr lvl="1">
              <a:lnSpc>
                <a:spcPct val="110000"/>
              </a:lnSpc>
            </a:pPr>
            <a:r>
              <a:rPr lang="zh-CN" altLang="en-US" sz="2800" dirty="0"/>
              <a:t>引入快表的分页存储管理方式中：</a:t>
            </a:r>
            <a:endParaRPr lang="en-US" altLang="zh-CN" sz="2800" dirty="0"/>
          </a:p>
          <a:p>
            <a:pPr lvl="1">
              <a:lnSpc>
                <a:spcPct val="110000"/>
              </a:lnSpc>
            </a:pPr>
            <a:r>
              <a:rPr lang="en-US" altLang="zh-CN" sz="2800" dirty="0"/>
              <a:t>EAT=a ×</a:t>
            </a:r>
            <a:r>
              <a:rPr lang="el-GR" altLang="zh-CN" sz="2800" dirty="0"/>
              <a:t> λ</a:t>
            </a:r>
            <a:r>
              <a:rPr lang="en-US" altLang="zh-CN" sz="2800" dirty="0"/>
              <a:t>+(t+</a:t>
            </a:r>
            <a:r>
              <a:rPr lang="el-GR" altLang="zh-CN" sz="2800" dirty="0"/>
              <a:t> λ</a:t>
            </a:r>
            <a:r>
              <a:rPr lang="en-US" altLang="zh-CN" sz="2800" dirty="0"/>
              <a:t>)(1-a)+t=2t+</a:t>
            </a:r>
            <a:r>
              <a:rPr lang="el-GR" altLang="zh-CN" sz="2800" dirty="0"/>
              <a:t> λ</a:t>
            </a:r>
            <a:r>
              <a:rPr lang="en-US" altLang="zh-CN" sz="2800" dirty="0"/>
              <a:t>-t × a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1732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8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6144" y="1662658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34194" y="1662658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980094" y="1129258"/>
            <a:ext cx="57354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19"/>
          <p:cNvSpPr txBox="1">
            <a:spLocks noChangeArrowheads="1"/>
          </p:cNvSpPr>
          <p:nvPr/>
        </p:nvSpPr>
        <p:spPr bwMode="auto">
          <a:xfrm>
            <a:off x="1090267" y="1938601"/>
            <a:ext cx="10158304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800" dirty="0"/>
              <a:t>在一个引入了快表的分页存储系统中，页表放在内存中，多数活动页表项都可以存在快表中。假定一次内存访问时间是</a:t>
            </a:r>
            <a:r>
              <a:rPr lang="en-US" altLang="zh-CN" sz="2800" dirty="0"/>
              <a:t>100ns</a:t>
            </a:r>
            <a:r>
              <a:rPr lang="zh-CN" altLang="en-US" sz="2800" dirty="0"/>
              <a:t>，查找快表的时间为</a:t>
            </a:r>
            <a:r>
              <a:rPr lang="en-US" altLang="zh-CN" sz="2800" dirty="0"/>
              <a:t>20ns</a:t>
            </a:r>
            <a:r>
              <a:rPr lang="zh-CN" altLang="en-US" sz="2800" dirty="0"/>
              <a:t>，若快表的命中率是</a:t>
            </a:r>
            <a:r>
              <a:rPr lang="en-US" altLang="zh-CN" sz="2800" dirty="0"/>
              <a:t>85</a:t>
            </a:r>
            <a:r>
              <a:rPr lang="zh-CN" altLang="en-US" sz="2800" dirty="0"/>
              <a:t>％，则访问内存的有效时间为多少？若快表的命中率为</a:t>
            </a:r>
            <a:r>
              <a:rPr lang="en-US" altLang="zh-CN" sz="2800" dirty="0"/>
              <a:t>50</a:t>
            </a:r>
            <a:r>
              <a:rPr lang="zh-CN" altLang="en-US" sz="2800" dirty="0"/>
              <a:t>％，那么访问内存的有效时间为多少？</a:t>
            </a:r>
          </a:p>
        </p:txBody>
      </p:sp>
      <p:sp>
        <p:nvSpPr>
          <p:cNvPr id="16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32319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访问内存的有效时间</a:t>
            </a:r>
          </a:p>
        </p:txBody>
      </p:sp>
      <p:sp>
        <p:nvSpPr>
          <p:cNvPr id="83" name="文本框 19"/>
          <p:cNvSpPr txBox="1">
            <a:spLocks noChangeArrowheads="1"/>
          </p:cNvSpPr>
          <p:nvPr/>
        </p:nvSpPr>
        <p:spPr bwMode="auto">
          <a:xfrm>
            <a:off x="1090267" y="4250483"/>
            <a:ext cx="10158304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/>
              <a:t>解：当快表的命中率为</a:t>
            </a:r>
            <a:r>
              <a:rPr lang="en-US" altLang="zh-CN" sz="2800" dirty="0"/>
              <a:t>85</a:t>
            </a:r>
            <a:r>
              <a:rPr lang="zh-CN" altLang="en-US" sz="2800" dirty="0"/>
              <a:t>％时，有效存取时间为：</a:t>
            </a:r>
          </a:p>
          <a:p>
            <a:r>
              <a:rPr lang="en-US" altLang="zh-CN" sz="2800" dirty="0"/>
              <a:t>         EAT=0.85×20</a:t>
            </a:r>
            <a:r>
              <a:rPr lang="zh-CN" altLang="en-US" sz="2800" dirty="0"/>
              <a:t>＋</a:t>
            </a:r>
            <a:r>
              <a:rPr lang="en-US" altLang="zh-CN" sz="2800" dirty="0"/>
              <a:t>(100+20)×(1</a:t>
            </a:r>
            <a:r>
              <a:rPr lang="zh-CN" altLang="en-US" sz="2800" dirty="0"/>
              <a:t>－</a:t>
            </a:r>
            <a:r>
              <a:rPr lang="en-US" altLang="zh-CN" sz="2800" dirty="0"/>
              <a:t>0.85)</a:t>
            </a:r>
            <a:r>
              <a:rPr lang="zh-CN" altLang="en-US" sz="2800" dirty="0"/>
              <a:t> ＋ </a:t>
            </a:r>
            <a:r>
              <a:rPr lang="en-US" altLang="zh-CN" sz="2800" dirty="0"/>
              <a:t>100</a:t>
            </a:r>
            <a:r>
              <a:rPr lang="zh-CN" altLang="en-US" sz="2800" dirty="0"/>
              <a:t>＝</a:t>
            </a:r>
            <a:r>
              <a:rPr lang="en-US" altLang="zh-CN" sz="2800" dirty="0"/>
              <a:t>135ns</a:t>
            </a:r>
          </a:p>
          <a:p>
            <a:r>
              <a:rPr lang="zh-CN" altLang="en-US" sz="2800" dirty="0"/>
              <a:t>         当快表的命中率为</a:t>
            </a:r>
            <a:r>
              <a:rPr lang="en-US" altLang="zh-CN" sz="2800" dirty="0"/>
              <a:t>50</a:t>
            </a:r>
            <a:r>
              <a:rPr lang="zh-CN" altLang="en-US" sz="2800" dirty="0"/>
              <a:t>％时，有效存取时间为：</a:t>
            </a:r>
          </a:p>
          <a:p>
            <a:r>
              <a:rPr lang="zh-CN" altLang="en-US" sz="2800" dirty="0"/>
              <a:t>          </a:t>
            </a:r>
            <a:r>
              <a:rPr lang="en-US" altLang="zh-CN" sz="2800" dirty="0"/>
              <a:t>EAT=0. 5×20</a:t>
            </a:r>
            <a:r>
              <a:rPr lang="zh-CN" altLang="en-US" sz="2800" dirty="0"/>
              <a:t>＋</a:t>
            </a:r>
            <a:r>
              <a:rPr lang="en-US" altLang="zh-CN" sz="2800" dirty="0"/>
              <a:t>(100+20)×(1</a:t>
            </a:r>
            <a:r>
              <a:rPr lang="zh-CN" altLang="en-US" sz="2800" dirty="0"/>
              <a:t>－</a:t>
            </a:r>
            <a:r>
              <a:rPr lang="en-US" altLang="zh-CN" sz="2800" dirty="0"/>
              <a:t>0.5)</a:t>
            </a:r>
            <a:r>
              <a:rPr lang="zh-CN" altLang="en-US" sz="2800" dirty="0"/>
              <a:t> ＋ </a:t>
            </a:r>
            <a:r>
              <a:rPr lang="en-US" altLang="zh-CN" sz="2800" dirty="0"/>
              <a:t>100</a:t>
            </a:r>
            <a:r>
              <a:rPr lang="zh-CN" altLang="en-US" sz="2800" dirty="0"/>
              <a:t>＝</a:t>
            </a:r>
            <a:r>
              <a:rPr lang="en-US" altLang="zh-CN" sz="2800" dirty="0"/>
              <a:t>170ns</a:t>
            </a:r>
          </a:p>
        </p:txBody>
      </p:sp>
    </p:spTree>
    <p:extLst>
      <p:ext uri="{BB962C8B-B14F-4D97-AF65-F5344CB8AC3E}">
        <p14:creationId xmlns:p14="http://schemas.microsoft.com/office/powerpoint/2010/main" val="85396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8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>
            <a:off x="2242517" y="2946258"/>
            <a:ext cx="596900" cy="656791"/>
          </a:xfrm>
          <a:custGeom>
            <a:avLst/>
            <a:gdLst>
              <a:gd name="connsiteX0" fmla="*/ 0 w 561975"/>
              <a:gd name="connsiteY0" fmla="*/ 0 h 547688"/>
              <a:gd name="connsiteX1" fmla="*/ 552450 w 561975"/>
              <a:gd name="connsiteY1" fmla="*/ 547688 h 547688"/>
              <a:gd name="connsiteX2" fmla="*/ 561975 w 561975"/>
              <a:gd name="connsiteY2" fmla="*/ 0 h 547688"/>
              <a:gd name="connsiteX3" fmla="*/ 0 w 561975"/>
              <a:gd name="connsiteY3" fmla="*/ 0 h 547688"/>
              <a:gd name="connsiteX0" fmla="*/ 0 w 576263"/>
              <a:gd name="connsiteY0" fmla="*/ 0 h 547688"/>
              <a:gd name="connsiteX1" fmla="*/ 566738 w 576263"/>
              <a:gd name="connsiteY1" fmla="*/ 547688 h 547688"/>
              <a:gd name="connsiteX2" fmla="*/ 576263 w 576263"/>
              <a:gd name="connsiteY2" fmla="*/ 0 h 547688"/>
              <a:gd name="connsiteX3" fmla="*/ 0 w 576263"/>
              <a:gd name="connsiteY3" fmla="*/ 0 h 547688"/>
              <a:gd name="connsiteX0" fmla="*/ 0 w 576263"/>
              <a:gd name="connsiteY0" fmla="*/ 0 h 571500"/>
              <a:gd name="connsiteX1" fmla="*/ 566738 w 576263"/>
              <a:gd name="connsiteY1" fmla="*/ 571500 h 571500"/>
              <a:gd name="connsiteX2" fmla="*/ 576263 w 576263"/>
              <a:gd name="connsiteY2" fmla="*/ 0 h 571500"/>
              <a:gd name="connsiteX3" fmla="*/ 0 w 576263"/>
              <a:gd name="connsiteY3" fmla="*/ 0 h 571500"/>
              <a:gd name="connsiteX0" fmla="*/ 0 w 576263"/>
              <a:gd name="connsiteY0" fmla="*/ 0 h 576263"/>
              <a:gd name="connsiteX1" fmla="*/ 571335 w 576263"/>
              <a:gd name="connsiteY1" fmla="*/ 576263 h 576263"/>
              <a:gd name="connsiteX2" fmla="*/ 576263 w 576263"/>
              <a:gd name="connsiteY2" fmla="*/ 0 h 576263"/>
              <a:gd name="connsiteX3" fmla="*/ 0 w 576263"/>
              <a:gd name="connsiteY3" fmla="*/ 0 h 576263"/>
              <a:gd name="connsiteX0" fmla="*/ 0 w 576448"/>
              <a:gd name="connsiteY0" fmla="*/ 0 h 576263"/>
              <a:gd name="connsiteX1" fmla="*/ 575933 w 576448"/>
              <a:gd name="connsiteY1" fmla="*/ 576263 h 576263"/>
              <a:gd name="connsiteX2" fmla="*/ 576263 w 576448"/>
              <a:gd name="connsiteY2" fmla="*/ 0 h 576263"/>
              <a:gd name="connsiteX3" fmla="*/ 0 w 576448"/>
              <a:gd name="connsiteY3" fmla="*/ 0 h 576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448" h="576263">
                <a:moveTo>
                  <a:pt x="0" y="0"/>
                </a:moveTo>
                <a:lnTo>
                  <a:pt x="575933" y="576263"/>
                </a:lnTo>
                <a:cubicBezTo>
                  <a:pt x="577576" y="384175"/>
                  <a:pt x="574620" y="192088"/>
                  <a:pt x="576263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6194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32100" y="2949865"/>
            <a:ext cx="9359900" cy="65722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80000" bIns="0" anchor="ctr"/>
          <a:lstStyle/>
          <a:p>
            <a:pPr algn="ctr">
              <a:defRPr/>
            </a:pPr>
            <a:r>
              <a:rPr lang="zh-CN" altLang="en-US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eiryo" panose="020B0604030504040204" pitchFamily="34" charset="-128"/>
              </a:rPr>
              <a:t>谢谢收看！</a:t>
            </a:r>
            <a:endParaRPr lang="zh-CN" altLang="en-US" sz="2800" dirty="0">
              <a:solidFill>
                <a:srgbClr val="CEEAB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eiryo" panose="020B0604030504040204" pitchFamily="34" charset="-128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" y="2182092"/>
            <a:ext cx="9312276" cy="7752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3200" spc="200" dirty="0">
                <a:solidFill>
                  <a:srgbClr val="FFFFFF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r>
              <a:rPr lang="zh-CN" altLang="en-US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本节结束！</a:t>
            </a:r>
          </a:p>
        </p:txBody>
      </p:sp>
      <p:sp>
        <p:nvSpPr>
          <p:cNvPr id="6" name="直角三角形 5"/>
          <p:cNvSpPr/>
          <p:nvPr/>
        </p:nvSpPr>
        <p:spPr>
          <a:xfrm>
            <a:off x="9312275" y="2178052"/>
            <a:ext cx="853701" cy="779317"/>
          </a:xfrm>
          <a:prstGeom prst="rtTriangle">
            <a:avLst/>
          </a:prstGeom>
          <a:solidFill>
            <a:srgbClr val="007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81830" y="3921022"/>
            <a:ext cx="6906409" cy="169277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1344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10898</TotalTime>
  <Words>1312</Words>
  <Application>Microsoft Office PowerPoint</Application>
  <PresentationFormat>宽屏</PresentationFormat>
  <Paragraphs>194</Paragraphs>
  <Slides>15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Gill Sans</vt:lpstr>
      <vt:lpstr>等线</vt:lpstr>
      <vt:lpstr>等线 Light</vt:lpstr>
      <vt:lpstr>方正清刻本悦宋简体</vt:lpstr>
      <vt:lpstr>黑体</vt:lpstr>
      <vt:lpstr>微软雅黑</vt:lpstr>
      <vt:lpstr>Arial</vt:lpstr>
      <vt:lpstr>Calibri</vt:lpstr>
      <vt:lpstr>Impact</vt:lpstr>
      <vt:lpstr>Times New Roman</vt:lpstr>
      <vt:lpstr>Wingdings</vt:lpstr>
      <vt:lpstr>Office 主题​​</vt:lpstr>
      <vt:lpstr>1_Office 主题​​</vt:lpstr>
      <vt:lpstr>2_Office 主题​​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子 麦</cp:lastModifiedBy>
  <cp:revision>257</cp:revision>
  <dcterms:created xsi:type="dcterms:W3CDTF">2016-05-18T19:05:46Z</dcterms:created>
  <dcterms:modified xsi:type="dcterms:W3CDTF">2023-10-31T01:50:25Z</dcterms:modified>
</cp:coreProperties>
</file>